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36"/>
  </p:notesMasterIdLst>
  <p:handoutMasterIdLst>
    <p:handoutMasterId r:id="rId37"/>
  </p:handoutMasterIdLst>
  <p:sldIdLst>
    <p:sldId id="258" r:id="rId5"/>
    <p:sldId id="294" r:id="rId6"/>
    <p:sldId id="295" r:id="rId7"/>
    <p:sldId id="319" r:id="rId8"/>
    <p:sldId id="296" r:id="rId9"/>
    <p:sldId id="297" r:id="rId10"/>
    <p:sldId id="298" r:id="rId11"/>
    <p:sldId id="301" r:id="rId12"/>
    <p:sldId id="302" r:id="rId13"/>
    <p:sldId id="303" r:id="rId14"/>
    <p:sldId id="299" r:id="rId15"/>
    <p:sldId id="300" r:id="rId16"/>
    <p:sldId id="313" r:id="rId17"/>
    <p:sldId id="304" r:id="rId18"/>
    <p:sldId id="305" r:id="rId19"/>
    <p:sldId id="306" r:id="rId20"/>
    <p:sldId id="307" r:id="rId21"/>
    <p:sldId id="308" r:id="rId22"/>
    <p:sldId id="309" r:id="rId23"/>
    <p:sldId id="267" r:id="rId24"/>
    <p:sldId id="322" r:id="rId25"/>
    <p:sldId id="310" r:id="rId26"/>
    <p:sldId id="311" r:id="rId27"/>
    <p:sldId id="315" r:id="rId28"/>
    <p:sldId id="316" r:id="rId29"/>
    <p:sldId id="317" r:id="rId30"/>
    <p:sldId id="314" r:id="rId31"/>
    <p:sldId id="318" r:id="rId32"/>
    <p:sldId id="321" r:id="rId33"/>
    <p:sldId id="293" r:id="rId34"/>
    <p:sldId id="320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58" autoAdjust="0"/>
    <p:restoredTop sz="94715"/>
  </p:normalViewPr>
  <p:slideViewPr>
    <p:cSldViewPr snapToGrid="0">
      <p:cViewPr varScale="1">
        <p:scale>
          <a:sx n="69" d="100"/>
          <a:sy n="69" d="100"/>
        </p:scale>
        <p:origin x="114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784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7.wmf"/><Relationship Id="rId4" Type="http://schemas.openxmlformats.org/officeDocument/2006/relationships/image" Target="../media/image11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4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Relationship Id="rId5" Type="http://schemas.openxmlformats.org/officeDocument/2006/relationships/image" Target="../media/image13.wmf"/><Relationship Id="rId4" Type="http://schemas.openxmlformats.org/officeDocument/2006/relationships/image" Target="../media/image18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7" Type="http://schemas.openxmlformats.org/officeDocument/2006/relationships/image" Target="../media/image32.wmf"/><Relationship Id="rId2" Type="http://schemas.openxmlformats.org/officeDocument/2006/relationships/image" Target="../media/image27.wmf"/><Relationship Id="rId1" Type="http://schemas.openxmlformats.org/officeDocument/2006/relationships/image" Target="../media/image20.wmf"/><Relationship Id="rId6" Type="http://schemas.openxmlformats.org/officeDocument/2006/relationships/image" Target="../media/image31.wmf"/><Relationship Id="rId5" Type="http://schemas.openxmlformats.org/officeDocument/2006/relationships/image" Target="../media/image30.wmf"/><Relationship Id="rId4" Type="http://schemas.openxmlformats.org/officeDocument/2006/relationships/image" Target="../media/image2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BDA6D-DC69-4DCE-BAF7-6763517D3376}" type="datetimeFigureOut">
              <a:rPr lang="en-US"/>
              <a:t>9/12/2018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77E94-A6AB-4E02-8E43-E89F9CF4757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42583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F6C43-988E-4257-9A1C-C162EF036D58}" type="datetimeFigureOut">
              <a:rPr lang="en-US"/>
              <a:t>9/12/2018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D491D0-8E1B-49C7-849B-A28568D9449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6325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832533" y="1371600"/>
            <a:ext cx="9359467" cy="297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832533" y="4462272"/>
            <a:ext cx="9359467" cy="10332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3175199" y="1943842"/>
            <a:ext cx="8500062" cy="2387600"/>
          </a:xfrm>
        </p:spPr>
        <p:txBody>
          <a:bodyPr anchor="b"/>
          <a:lstStyle>
            <a:lvl1pPr algn="l">
              <a:lnSpc>
                <a:spcPct val="90000"/>
              </a:lnSpc>
              <a:defRPr sz="6000" b="1">
                <a:solidFill>
                  <a:schemeClr val="tx1"/>
                </a:solidFill>
              </a:defRPr>
            </a:lvl1pPr>
          </a:lstStyle>
          <a:p>
            <a:r>
              <a:rPr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75199" y="4538659"/>
            <a:ext cx="8500062" cy="86532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/>
              <a:t>Click to edit Master subtitle style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9/12/2018</a:t>
            </a:fld>
            <a:endParaRPr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47549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9/12/2018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13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502152" y="-20637"/>
            <a:ext cx="7315200" cy="434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502152" y="4462272"/>
            <a:ext cx="7315200" cy="17190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3838015" y="658346"/>
            <a:ext cx="6597464" cy="3664417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5000" b="1">
                <a:solidFill>
                  <a:schemeClr val="tx1"/>
                </a:solidFill>
              </a:defRPr>
            </a:lvl1pPr>
          </a:lstStyle>
          <a:p>
            <a:r>
              <a:rPr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38014" y="4589463"/>
            <a:ext cx="6597465" cy="150018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9/12/2018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82452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80160" y="2194560"/>
            <a:ext cx="4489704" cy="3986784"/>
          </a:xfrm>
        </p:spPr>
        <p:txBody>
          <a:bodyPr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5368" y="2194560"/>
            <a:ext cx="4493424" cy="3986784"/>
          </a:xfrm>
        </p:spPr>
        <p:txBody>
          <a:bodyPr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9/12/2018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01040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0160" y="2743194"/>
            <a:ext cx="4489704" cy="3433769"/>
          </a:xfrm>
        </p:spPr>
        <p:txBody>
          <a:bodyPr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9088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9088" y="2743194"/>
            <a:ext cx="4489704" cy="3433769"/>
          </a:xfrm>
        </p:spPr>
        <p:txBody>
          <a:bodyPr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9/12/2018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1286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9/12/2018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1611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9/12/2018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0296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rPr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8896" y="2465294"/>
            <a:ext cx="5389895" cy="4392706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1818" y="2465294"/>
            <a:ext cx="3834874" cy="3711669"/>
          </a:xfrm>
        </p:spPr>
        <p:txBody>
          <a:bodyPr>
            <a:normAutofit/>
          </a:bodyPr>
          <a:lstStyle>
            <a:lvl1pPr marL="0" indent="0">
              <a:spcBef>
                <a:spcPts val="1500"/>
              </a:spcBef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9/12/2018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4742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rPr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518896" y="1828456"/>
            <a:ext cx="5389895" cy="5029544"/>
          </a:xfrm>
        </p:spPr>
        <p:txBody>
          <a:bodyPr tIns="13716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1819" y="2465293"/>
            <a:ext cx="3834874" cy="3711669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9/12/2018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136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9/12/2018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4405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8199" y="462249"/>
            <a:ext cx="9693088" cy="5714714"/>
          </a:xfrm>
        </p:spPr>
        <p:txBody>
          <a:bodyPr vert="eaVert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78199" y="6356350"/>
            <a:ext cx="1971947" cy="365125"/>
          </a:xfrm>
        </p:spPr>
        <p:txBody>
          <a:bodyPr/>
          <a:lstStyle/>
          <a:p>
            <a:fld id="{2CCFE9AC-F15C-4FA0-A6F1-298829FA691D}" type="datetimeFigureOut">
              <a:rPr lang="en-US"/>
              <a:t>9/12/2018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82374" y="6356350"/>
            <a:ext cx="5687786" cy="365125"/>
          </a:xfrm>
        </p:spPr>
        <p:txBody>
          <a:bodyPr/>
          <a:lstStyle/>
          <a:p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 rot="5400000">
            <a:off x="7523375" y="2743540"/>
            <a:ext cx="6857433" cy="137148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 rot="5400000">
            <a:off x="8267671" y="3370131"/>
            <a:ext cx="6858000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66348" y="462249"/>
            <a:ext cx="1370886" cy="5714714"/>
          </a:xfrm>
        </p:spPr>
        <p:txBody>
          <a:bodyPr vert="eaVert"/>
          <a:lstStyle/>
          <a:p>
            <a:r>
              <a:rPr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02389" y="6356350"/>
            <a:ext cx="1968898" cy="365125"/>
          </a:xfrm>
        </p:spPr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9411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347472"/>
            <a:ext cx="12188952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0" y="457200"/>
            <a:ext cx="12188952" cy="137125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280160" y="466343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2190749"/>
            <a:ext cx="9628632" cy="39862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  <a:p>
            <a:pPr lvl="5"/>
            <a:r>
              <a:rPr/>
              <a:t>Sixth</a:t>
            </a:r>
          </a:p>
          <a:p>
            <a:pPr lvl="6"/>
            <a:r>
              <a:rPr/>
              <a:t>Seventh</a:t>
            </a:r>
          </a:p>
          <a:p>
            <a:pPr lvl="7"/>
            <a:r>
              <a:rPr/>
              <a:t>Eighth</a:t>
            </a:r>
          </a:p>
          <a:p>
            <a:pPr lvl="8"/>
            <a:r>
              <a:rPr/>
              <a:t>Ninth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80160" y="6356350"/>
            <a:ext cx="19719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FE9AC-F15C-4FA0-A6F1-298829FA691D}" type="datetimeFigureOut">
              <a:rPr lang="en-US"/>
              <a:t>9/12/2018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52107" y="6356350"/>
            <a:ext cx="56877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39894" y="6356350"/>
            <a:ext cx="19688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71921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500"/>
        </a:spcBef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5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7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7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8.bin"/><Relationship Id="rId10" Type="http://schemas.openxmlformats.org/officeDocument/2006/relationships/image" Target="../media/image11.wmf"/><Relationship Id="rId4" Type="http://schemas.openxmlformats.org/officeDocument/2006/relationships/image" Target="../media/image7.wmf"/><Relationship Id="rId9" Type="http://schemas.openxmlformats.org/officeDocument/2006/relationships/oleObject" Target="../embeddings/oleObject10.bin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6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3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4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12" Type="http://schemas.openxmlformats.org/officeDocument/2006/relationships/image" Target="../media/image13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6.wmf"/><Relationship Id="rId11" Type="http://schemas.openxmlformats.org/officeDocument/2006/relationships/oleObject" Target="../embeddings/oleObject19.bin"/><Relationship Id="rId5" Type="http://schemas.openxmlformats.org/officeDocument/2006/relationships/oleObject" Target="../embeddings/oleObject16.bin"/><Relationship Id="rId10" Type="http://schemas.openxmlformats.org/officeDocument/2006/relationships/image" Target="../media/image18.wmf"/><Relationship Id="rId4" Type="http://schemas.openxmlformats.org/officeDocument/2006/relationships/image" Target="../media/image15.wmf"/><Relationship Id="rId9" Type="http://schemas.openxmlformats.org/officeDocument/2006/relationships/oleObject" Target="../embeddings/oleObject18.bin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20.w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12" Type="http://schemas.openxmlformats.org/officeDocument/2006/relationships/image" Target="../media/image24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21.wmf"/><Relationship Id="rId11" Type="http://schemas.openxmlformats.org/officeDocument/2006/relationships/oleObject" Target="../embeddings/oleObject25.bin"/><Relationship Id="rId5" Type="http://schemas.openxmlformats.org/officeDocument/2006/relationships/oleObject" Target="../embeddings/oleObject22.bin"/><Relationship Id="rId10" Type="http://schemas.openxmlformats.org/officeDocument/2006/relationships/image" Target="../media/image23.wmf"/><Relationship Id="rId4" Type="http://schemas.openxmlformats.org/officeDocument/2006/relationships/image" Target="../media/image20.wmf"/><Relationship Id="rId9" Type="http://schemas.openxmlformats.org/officeDocument/2006/relationships/oleObject" Target="../embeddings/oleObject24.bin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20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13" Type="http://schemas.openxmlformats.org/officeDocument/2006/relationships/oleObject" Target="../embeddings/oleObject32.bin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12" Type="http://schemas.openxmlformats.org/officeDocument/2006/relationships/image" Target="../media/image30.wmf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32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27.wmf"/><Relationship Id="rId11" Type="http://schemas.openxmlformats.org/officeDocument/2006/relationships/oleObject" Target="../embeddings/oleObject31.bin"/><Relationship Id="rId5" Type="http://schemas.openxmlformats.org/officeDocument/2006/relationships/oleObject" Target="../embeddings/oleObject28.bin"/><Relationship Id="rId15" Type="http://schemas.openxmlformats.org/officeDocument/2006/relationships/oleObject" Target="../embeddings/oleObject33.bin"/><Relationship Id="rId10" Type="http://schemas.openxmlformats.org/officeDocument/2006/relationships/image" Target="../media/image29.wmf"/><Relationship Id="rId4" Type="http://schemas.openxmlformats.org/officeDocument/2006/relationships/image" Target="../media/image20.wmf"/><Relationship Id="rId9" Type="http://schemas.openxmlformats.org/officeDocument/2006/relationships/oleObject" Target="../embeddings/oleObject30.bin"/><Relationship Id="rId14" Type="http://schemas.openxmlformats.org/officeDocument/2006/relationships/image" Target="../media/image31.wmf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 smtClean="0"/>
              <a:t>Topic: Sine and Cosine Rules</a:t>
            </a:r>
            <a:endParaRPr lang="en-US" sz="5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EQ: What are the sine and cosine rules and when do we apply them?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69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>
                <a:latin typeface="+mn-lt"/>
              </a:rPr>
              <a:t>Starter </a:t>
            </a:r>
            <a:endParaRPr lang="en-GB" sz="48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0317" y="2070539"/>
            <a:ext cx="10457793" cy="43197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dirty="0"/>
              <a:t>Can you find the value of x in this diagram to 2dp? </a:t>
            </a:r>
            <a:r>
              <a:rPr lang="en-GB" sz="2800" u="sng" dirty="0"/>
              <a:t>Be careful with rounding answers</a:t>
            </a:r>
            <a:r>
              <a:rPr lang="en-GB" sz="2800" dirty="0"/>
              <a:t>!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764404" y="5618922"/>
            <a:ext cx="2438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2764404" y="4628322"/>
            <a:ext cx="2438400" cy="9906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5202804" y="4628322"/>
            <a:ext cx="0" cy="9906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 flipV="1">
            <a:off x="4821804" y="3637722"/>
            <a:ext cx="381000" cy="9906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 flipV="1">
            <a:off x="3831204" y="4018722"/>
            <a:ext cx="381000" cy="9906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2943898" y="3637722"/>
            <a:ext cx="1887433" cy="71364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H="1" flipV="1">
            <a:off x="2231004" y="4247322"/>
            <a:ext cx="1981200" cy="762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 flipV="1">
            <a:off x="2231004" y="4247322"/>
            <a:ext cx="533400" cy="13716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H="1" flipV="1">
            <a:off x="2632075" y="3505201"/>
            <a:ext cx="326888" cy="8519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 rot="20353607">
            <a:off x="2742936" y="5477257"/>
            <a:ext cx="109728" cy="11887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29" name="Rectangle 28"/>
          <p:cNvSpPr/>
          <p:nvPr/>
        </p:nvSpPr>
        <p:spPr>
          <a:xfrm>
            <a:off x="5093076" y="5500050"/>
            <a:ext cx="109728" cy="11887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30" name="Rectangle 29"/>
          <p:cNvSpPr/>
          <p:nvPr/>
        </p:nvSpPr>
        <p:spPr>
          <a:xfrm rot="20353607">
            <a:off x="4191398" y="4886211"/>
            <a:ext cx="109728" cy="11887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31" name="Rectangle 30"/>
          <p:cNvSpPr/>
          <p:nvPr/>
        </p:nvSpPr>
        <p:spPr>
          <a:xfrm rot="20353607">
            <a:off x="5067367" y="4533702"/>
            <a:ext cx="109728" cy="11887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32" name="Rectangle 31"/>
          <p:cNvSpPr/>
          <p:nvPr/>
        </p:nvSpPr>
        <p:spPr>
          <a:xfrm rot="20353607">
            <a:off x="3852142" y="3998313"/>
            <a:ext cx="109728" cy="11887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33" name="Rectangle 32"/>
          <p:cNvSpPr/>
          <p:nvPr/>
        </p:nvSpPr>
        <p:spPr>
          <a:xfrm rot="20353607">
            <a:off x="4736062" y="3653755"/>
            <a:ext cx="109728" cy="11887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cxnSp>
        <p:nvCxnSpPr>
          <p:cNvPr id="41" name="Straight Connector 40"/>
          <p:cNvCxnSpPr/>
          <p:nvPr/>
        </p:nvCxnSpPr>
        <p:spPr>
          <a:xfrm>
            <a:off x="4307454" y="3766311"/>
            <a:ext cx="52388" cy="12858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4674167" y="4766436"/>
            <a:ext cx="52388" cy="12858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H="1">
            <a:off x="4940868" y="4080636"/>
            <a:ext cx="123825" cy="5238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flipH="1">
            <a:off x="3945505" y="4447349"/>
            <a:ext cx="123825" cy="5238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3790122" y="5621573"/>
            <a:ext cx="6062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12cm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179197" y="5368457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24°</a:t>
            </a:r>
          </a:p>
        </p:txBody>
      </p:sp>
      <p:sp>
        <p:nvSpPr>
          <p:cNvPr id="65" name="Arc 64"/>
          <p:cNvSpPr/>
          <p:nvPr/>
        </p:nvSpPr>
        <p:spPr>
          <a:xfrm>
            <a:off x="1690977" y="3609893"/>
            <a:ext cx="914400" cy="914400"/>
          </a:xfrm>
          <a:prstGeom prst="arc">
            <a:avLst>
              <a:gd name="adj1" fmla="val 2322943"/>
              <a:gd name="adj2" fmla="val 4034593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66" name="Arc 65"/>
          <p:cNvSpPr/>
          <p:nvPr/>
        </p:nvSpPr>
        <p:spPr>
          <a:xfrm>
            <a:off x="1974905" y="2954408"/>
            <a:ext cx="914400" cy="914400"/>
          </a:xfrm>
          <a:prstGeom prst="arc">
            <a:avLst>
              <a:gd name="adj1" fmla="val 827456"/>
              <a:gd name="adj2" fmla="val 2966019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69" name="TextBox 68"/>
          <p:cNvSpPr txBox="1"/>
          <p:nvPr/>
        </p:nvSpPr>
        <p:spPr>
          <a:xfrm>
            <a:off x="2034209" y="4899329"/>
            <a:ext cx="4940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8cm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754824" y="3551585"/>
            <a:ext cx="2632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x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336358" y="4414300"/>
            <a:ext cx="428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42°</a:t>
            </a:r>
          </a:p>
        </p:txBody>
      </p:sp>
      <p:cxnSp>
        <p:nvCxnSpPr>
          <p:cNvPr id="78" name="Straight Connector 77"/>
          <p:cNvCxnSpPr/>
          <p:nvPr/>
        </p:nvCxnSpPr>
        <p:spPr>
          <a:xfrm flipH="1" flipV="1">
            <a:off x="2635250" y="3502025"/>
            <a:ext cx="2188542" cy="13967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81"/>
          <p:cNvSpPr/>
          <p:nvPr/>
        </p:nvSpPr>
        <p:spPr>
          <a:xfrm rot="20353607">
            <a:off x="2925102" y="4217303"/>
            <a:ext cx="109728" cy="11887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83" name="Arc 82"/>
          <p:cNvSpPr/>
          <p:nvPr/>
        </p:nvSpPr>
        <p:spPr>
          <a:xfrm>
            <a:off x="2266121" y="5115341"/>
            <a:ext cx="914400" cy="914400"/>
          </a:xfrm>
          <a:prstGeom prst="arc">
            <a:avLst>
              <a:gd name="adj1" fmla="val 20728997"/>
              <a:gd name="adj2" fmla="val 39072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4" name="TextBox 83"/>
          <p:cNvSpPr txBox="1"/>
          <p:nvPr/>
        </p:nvSpPr>
        <p:spPr>
          <a:xfrm>
            <a:off x="3163295" y="4207566"/>
            <a:ext cx="4940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4cm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331598" y="3246784"/>
            <a:ext cx="6062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13cm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55321" y="2907103"/>
            <a:ext cx="12297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NOT TO SCALE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320902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 smtClean="0"/>
              <a:t>Topic: Sine and cosine Rules</a:t>
            </a:r>
            <a:br>
              <a:rPr lang="en-US" dirty="0" smtClean="0"/>
            </a:br>
            <a:r>
              <a:rPr lang="en-US" dirty="0" smtClean="0"/>
              <a:t>EQ: What are the sine and cosine </a:t>
            </a:r>
            <a:r>
              <a:rPr lang="en-US" smtClean="0"/>
              <a:t>rules and when do we use them?</a:t>
            </a:r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0" y="5998464"/>
            <a:ext cx="12192000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0" y="5998464"/>
            <a:ext cx="14554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Summary: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26152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 smtClean="0"/>
              <a:t>Topic: Sine and cosine Rules</a:t>
            </a:r>
            <a:br>
              <a:rPr lang="en-US" dirty="0" smtClean="0"/>
            </a:br>
            <a:r>
              <a:rPr lang="en-US" dirty="0" smtClean="0"/>
              <a:t>EQ: What are the sine and cosine </a:t>
            </a:r>
            <a:r>
              <a:rPr lang="en-US" smtClean="0"/>
              <a:t>rules and when do we use them?</a:t>
            </a:r>
            <a:endParaRPr lang="en-US"/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62461" y="1893905"/>
            <a:ext cx="1230610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dirty="0"/>
              <a:t>If the question concerns lengths or angles in a triangle, you </a:t>
            </a:r>
            <a:r>
              <a:rPr lang="en-GB" altLang="x-none" sz="2400" b="1" u="sng" dirty="0"/>
              <a:t>may</a:t>
            </a:r>
            <a:r>
              <a:rPr lang="en-GB" altLang="x-none" sz="2400" dirty="0"/>
              <a:t> need the sine rule or the cosine rule</a:t>
            </a:r>
            <a:r>
              <a:rPr lang="en-GB" altLang="x-none" sz="2400" dirty="0" smtClean="0"/>
              <a:t>. How to know:</a:t>
            </a:r>
            <a:endParaRPr lang="en-GB" altLang="x-none" sz="2400" dirty="0"/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36033" y="2774379"/>
            <a:ext cx="1035102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>
              <a:spcBef>
                <a:spcPct val="50000"/>
              </a:spcBef>
              <a:buFont typeface="Arial" charset="0"/>
              <a:buChar char="•"/>
            </a:pPr>
            <a:r>
              <a:rPr lang="en-GB" altLang="x-none" sz="2400" dirty="0"/>
              <a:t>First, decide if the triangle is </a:t>
            </a:r>
            <a:r>
              <a:rPr lang="en-GB" altLang="x-none" sz="2400" b="1" u="sng" dirty="0"/>
              <a:t>right-angled</a:t>
            </a:r>
            <a:r>
              <a:rPr lang="en-GB" altLang="x-none" sz="2400" dirty="0"/>
              <a:t>. 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136033" y="3296524"/>
            <a:ext cx="1253686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>
              <a:spcBef>
                <a:spcPct val="50000"/>
              </a:spcBef>
              <a:buFont typeface="Arial" charset="0"/>
              <a:buChar char="•"/>
            </a:pPr>
            <a:r>
              <a:rPr lang="en-GB" altLang="x-none" sz="2400" dirty="0"/>
              <a:t>Then, decide whether an angle is involved at all.  </a:t>
            </a: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144280" y="4737203"/>
            <a:ext cx="11611668" cy="830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>
              <a:spcBef>
                <a:spcPct val="50000"/>
              </a:spcBef>
              <a:buFont typeface="Arial" charset="0"/>
              <a:buChar char="•"/>
            </a:pPr>
            <a:r>
              <a:rPr lang="en-GB" altLang="x-none" sz="2400" dirty="0"/>
              <a:t>If it is a right-angled triangle, and there </a:t>
            </a:r>
            <a:r>
              <a:rPr lang="en-GB" altLang="x-none" sz="2400" b="1" u="sng" dirty="0"/>
              <a:t>are</a:t>
            </a:r>
            <a:r>
              <a:rPr lang="en-GB" altLang="x-none" sz="2400" dirty="0"/>
              <a:t> angles involved, you will need straightforward </a:t>
            </a:r>
            <a:r>
              <a:rPr lang="en-GB" altLang="x-none" sz="2400" b="1" u="sng" dirty="0"/>
              <a:t>Trigonometry</a:t>
            </a:r>
            <a:r>
              <a:rPr lang="en-GB" altLang="x-none" sz="2400" dirty="0"/>
              <a:t>, using </a:t>
            </a:r>
            <a:r>
              <a:rPr lang="en-GB" altLang="x-none" sz="2400" b="1" u="sng" dirty="0"/>
              <a:t>Sin</a:t>
            </a:r>
            <a:r>
              <a:rPr lang="en-GB" altLang="x-none" sz="2400" dirty="0"/>
              <a:t>, </a:t>
            </a:r>
            <a:r>
              <a:rPr lang="en-GB" altLang="x-none" sz="2400" b="1" u="sng" dirty="0"/>
              <a:t>Cos</a:t>
            </a:r>
            <a:r>
              <a:rPr lang="en-GB" altLang="x-none" sz="2400" dirty="0"/>
              <a:t> and </a:t>
            </a:r>
            <a:r>
              <a:rPr lang="en-GB" altLang="x-none" sz="2400" b="1" u="sng" dirty="0"/>
              <a:t>Tan</a:t>
            </a:r>
            <a:r>
              <a:rPr lang="en-GB" altLang="x-none" sz="2400" dirty="0"/>
              <a:t>.</a:t>
            </a: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144281" y="5781457"/>
            <a:ext cx="1108076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>
              <a:spcBef>
                <a:spcPct val="50000"/>
              </a:spcBef>
              <a:buFont typeface="Arial" charset="0"/>
              <a:buChar char="•"/>
            </a:pPr>
            <a:r>
              <a:rPr lang="en-GB" altLang="x-none" sz="2400" dirty="0"/>
              <a:t>If the triangle is </a:t>
            </a:r>
            <a:r>
              <a:rPr lang="en-GB" altLang="x-none" sz="2400" b="1" u="sng" dirty="0"/>
              <a:t>not</a:t>
            </a:r>
            <a:r>
              <a:rPr lang="en-GB" altLang="x-none" sz="2400" dirty="0"/>
              <a:t> </a:t>
            </a:r>
            <a:r>
              <a:rPr lang="en-GB" altLang="x-none" sz="2400" b="1" u="sng" dirty="0"/>
              <a:t>right-angled</a:t>
            </a:r>
            <a:r>
              <a:rPr lang="en-GB" altLang="x-none" sz="2400" dirty="0"/>
              <a:t>, you may need the </a:t>
            </a:r>
            <a:r>
              <a:rPr lang="en-GB" altLang="x-none" sz="2400" b="1" u="sng" dirty="0"/>
              <a:t>Sine Rule</a:t>
            </a:r>
            <a:r>
              <a:rPr lang="en-GB" altLang="x-none" sz="2400" dirty="0"/>
              <a:t> or the </a:t>
            </a:r>
            <a:r>
              <a:rPr lang="en-GB" altLang="x-none" sz="2400" b="1" u="sng" dirty="0"/>
              <a:t>Cosine Rule</a:t>
            </a: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152527" y="3844454"/>
            <a:ext cx="1160342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>
              <a:spcBef>
                <a:spcPct val="50000"/>
              </a:spcBef>
              <a:buFont typeface="Arial" charset="0"/>
              <a:buChar char="•"/>
            </a:pPr>
            <a:r>
              <a:rPr lang="en-GB" altLang="x-none" sz="2400" dirty="0"/>
              <a:t>If it is a right-angled triangle, and there are </a:t>
            </a:r>
            <a:r>
              <a:rPr lang="en-GB" altLang="x-none" sz="2400" b="1" u="sng" dirty="0"/>
              <a:t>no angles</a:t>
            </a:r>
            <a:r>
              <a:rPr lang="en-GB" altLang="x-none" sz="2400" dirty="0"/>
              <a:t> involved, you will need </a:t>
            </a:r>
            <a:r>
              <a:rPr lang="en-GB" altLang="x-none" sz="2400" b="1" u="sng" dirty="0"/>
              <a:t>Pythagoras’ Theorem</a:t>
            </a:r>
            <a:endParaRPr lang="en-GB" altLang="x-none" sz="2400" dirty="0"/>
          </a:p>
        </p:txBody>
      </p:sp>
    </p:spTree>
    <p:extLst>
      <p:ext uri="{BB962C8B-B14F-4D97-AF65-F5344CB8AC3E}">
        <p14:creationId xmlns:p14="http://schemas.microsoft.com/office/powerpoint/2010/main" val="1535304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6" grpId="1"/>
      <p:bldP spid="6" grpId="2"/>
      <p:bldP spid="7" grpId="0"/>
      <p:bldP spid="7" grpId="1"/>
      <p:bldP spid="8" grpId="0"/>
      <p:bldP spid="8" grpId="1"/>
      <p:bldP spid="9" grpId="0"/>
      <p:bldP spid="9" grpId="1"/>
      <p:bldP spid="10" grpId="0"/>
      <p:bldP spid="10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 smtClean="0"/>
              <a:t>Topic: Sine and cosine Rules</a:t>
            </a:r>
            <a:br>
              <a:rPr lang="en-US" dirty="0" smtClean="0"/>
            </a:br>
            <a:r>
              <a:rPr lang="en-US" dirty="0" smtClean="0"/>
              <a:t>EQ: What are the sine and cosine </a:t>
            </a:r>
            <a:r>
              <a:rPr lang="en-US" smtClean="0"/>
              <a:t>rules and when do we use them?</a:t>
            </a:r>
            <a:endParaRPr lang="en-US"/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273241" y="5637276"/>
            <a:ext cx="46085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/>
              <a:t>In any triangle </a:t>
            </a:r>
            <a:r>
              <a:rPr lang="en-GB" altLang="x-none" sz="2400" b="1" i="1"/>
              <a:t>ABC</a:t>
            </a:r>
            <a:r>
              <a:rPr lang="en-GB" altLang="x-none" sz="2400"/>
              <a:t> </a:t>
            </a: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1929004" y="1965389"/>
            <a:ext cx="460851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3600" b="1" u="sng"/>
              <a:t>The Sine Rule</a:t>
            </a:r>
            <a:r>
              <a:rPr lang="en-GB" altLang="x-none" sz="3600" b="1"/>
              <a:t>:</a:t>
            </a:r>
          </a:p>
        </p:txBody>
      </p:sp>
      <p:sp>
        <p:nvSpPr>
          <p:cNvPr id="7" name="Freeform 4"/>
          <p:cNvSpPr>
            <a:spLocks/>
          </p:cNvSpPr>
          <p:nvPr/>
        </p:nvSpPr>
        <p:spPr bwMode="auto">
          <a:xfrm>
            <a:off x="3656203" y="2759140"/>
            <a:ext cx="3384550" cy="2016125"/>
          </a:xfrm>
          <a:custGeom>
            <a:avLst/>
            <a:gdLst>
              <a:gd name="T0" fmla="*/ 0 w 2132"/>
              <a:gd name="T1" fmla="*/ 1270 h 1270"/>
              <a:gd name="T2" fmla="*/ 2132 w 2132"/>
              <a:gd name="T3" fmla="*/ 1270 h 1270"/>
              <a:gd name="T4" fmla="*/ 1406 w 2132"/>
              <a:gd name="T5" fmla="*/ 0 h 1270"/>
              <a:gd name="T6" fmla="*/ 0 w 2132"/>
              <a:gd name="T7" fmla="*/ 1270 h 1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32" h="1270">
                <a:moveTo>
                  <a:pt x="0" y="1270"/>
                </a:moveTo>
                <a:lnTo>
                  <a:pt x="2132" y="1270"/>
                </a:lnTo>
                <a:lnTo>
                  <a:pt x="1406" y="0"/>
                </a:lnTo>
                <a:lnTo>
                  <a:pt x="0" y="1270"/>
                </a:lnTo>
                <a:close/>
              </a:path>
            </a:pathLst>
          </a:custGeom>
          <a:noFill/>
          <a:ln w="38100" cmpd="sng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3295842" y="4486339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>
                <a:solidFill>
                  <a:srgbClr val="0000CC"/>
                </a:solidFill>
              </a:rPr>
              <a:t>A</a:t>
            </a: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7040754" y="4486339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>
                <a:solidFill>
                  <a:srgbClr val="0000CC"/>
                </a:solidFill>
              </a:rPr>
              <a:t>B</a:t>
            </a: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5672329" y="2327339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>
                <a:solidFill>
                  <a:srgbClr val="0000CC"/>
                </a:solidFill>
              </a:rPr>
              <a:t>C</a:t>
            </a: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6393053" y="3333815"/>
            <a:ext cx="33695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400" b="1">
                <a:solidFill>
                  <a:srgbClr val="0000CC"/>
                </a:solidFill>
              </a:rPr>
              <a:t>a</a:t>
            </a:r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4448366" y="3406840"/>
            <a:ext cx="34977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400" b="1">
                <a:solidFill>
                  <a:srgbClr val="0000CC"/>
                </a:solidFill>
              </a:rPr>
              <a:t>b</a:t>
            </a:r>
          </a:p>
        </p:txBody>
      </p:sp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5240528" y="4702240"/>
            <a:ext cx="31290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400" b="1">
                <a:solidFill>
                  <a:srgbClr val="0000CC"/>
                </a:solidFill>
              </a:rPr>
              <a:t>c</a:t>
            </a:r>
          </a:p>
        </p:txBody>
      </p:sp>
      <p:sp>
        <p:nvSpPr>
          <p:cNvPr id="14" name="Rectangle 11"/>
          <p:cNvSpPr>
            <a:spLocks noChangeArrowheads="1"/>
          </p:cNvSpPr>
          <p:nvPr/>
        </p:nvSpPr>
        <p:spPr bwMode="auto">
          <a:xfrm>
            <a:off x="-195071" y="460964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5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5669809"/>
              </p:ext>
            </p:extLst>
          </p:nvPr>
        </p:nvGraphicFramePr>
        <p:xfrm>
          <a:off x="3584766" y="5492815"/>
          <a:ext cx="3529012" cy="100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" name="Equation" r:id="rId3" imgW="1371600" imgH="393700" progId="Equation.3">
                  <p:embed/>
                </p:oleObj>
              </mc:Choice>
              <mc:Fallback>
                <p:oleObj name="Equation" r:id="rId3" imgW="13716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4766" y="5492815"/>
                        <a:ext cx="3529012" cy="1004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3"/>
          <p:cNvSpPr txBox="1">
            <a:spLocks noChangeArrowheads="1"/>
          </p:cNvSpPr>
          <p:nvPr/>
        </p:nvSpPr>
        <p:spPr bwMode="auto">
          <a:xfrm>
            <a:off x="7251511" y="5698110"/>
            <a:ext cx="720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/>
              <a:t>or</a:t>
            </a:r>
          </a:p>
        </p:txBody>
      </p:sp>
      <p:sp>
        <p:nvSpPr>
          <p:cNvPr id="17" name="Text Box 14"/>
          <p:cNvSpPr txBox="1">
            <a:spLocks noChangeArrowheads="1"/>
          </p:cNvSpPr>
          <p:nvPr/>
        </p:nvSpPr>
        <p:spPr bwMode="auto">
          <a:xfrm>
            <a:off x="8475473" y="5698110"/>
            <a:ext cx="287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x-none" altLang="x-none"/>
          </a:p>
        </p:txBody>
      </p:sp>
      <p:graphicFrame>
        <p:nvGraphicFramePr>
          <p:cNvPr id="18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049900"/>
              </p:ext>
            </p:extLst>
          </p:nvPr>
        </p:nvGraphicFramePr>
        <p:xfrm>
          <a:off x="7972236" y="5559203"/>
          <a:ext cx="3455987" cy="1011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0" name="Equation" r:id="rId5" imgW="1346040" imgH="393480" progId="Equation.3">
                  <p:embed/>
                </p:oleObj>
              </mc:Choice>
              <mc:Fallback>
                <p:oleObj name="Equation" r:id="rId5" imgW="134604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72236" y="5559203"/>
                        <a:ext cx="3455987" cy="1011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16"/>
          <p:cNvSpPr txBox="1">
            <a:spLocks noChangeArrowheads="1"/>
          </p:cNvSpPr>
          <p:nvPr/>
        </p:nvSpPr>
        <p:spPr bwMode="auto">
          <a:xfrm>
            <a:off x="1497203" y="3405251"/>
            <a:ext cx="2808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i="1">
                <a:solidFill>
                  <a:srgbClr val="0000CC"/>
                </a:solidFill>
              </a:rPr>
              <a:t>Not right-angled!</a:t>
            </a:r>
          </a:p>
        </p:txBody>
      </p:sp>
    </p:spTree>
    <p:extLst>
      <p:ext uri="{BB962C8B-B14F-4D97-AF65-F5344CB8AC3E}">
        <p14:creationId xmlns:p14="http://schemas.microsoft.com/office/powerpoint/2010/main" val="1583147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9" grpId="0"/>
      <p:bldP spid="10" grpId="0"/>
      <p:bldP spid="11" grpId="0"/>
      <p:bldP spid="12" grpId="0"/>
      <p:bldP spid="13" grpId="0"/>
      <p:bldP spid="16" grpId="0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 smtClean="0"/>
              <a:t>Topic: Sine and cosine Rules</a:t>
            </a:r>
            <a:br>
              <a:rPr lang="en-US" dirty="0" smtClean="0"/>
            </a:br>
            <a:r>
              <a:rPr lang="en-US" dirty="0" smtClean="0"/>
              <a:t>EQ: What are the sine and cosine </a:t>
            </a:r>
            <a:r>
              <a:rPr lang="en-US" smtClean="0"/>
              <a:t>rules and when do we use them?</a:t>
            </a:r>
            <a:endParaRPr lang="en-US"/>
          </a:p>
        </p:txBody>
      </p:sp>
      <p:sp>
        <p:nvSpPr>
          <p:cNvPr id="3" name="Text Box 7"/>
          <p:cNvSpPr txBox="1">
            <a:spLocks noChangeArrowheads="1"/>
          </p:cNvSpPr>
          <p:nvPr/>
        </p:nvSpPr>
        <p:spPr bwMode="auto">
          <a:xfrm>
            <a:off x="2087500" y="1904429"/>
            <a:ext cx="460851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3600" b="1" u="sng"/>
              <a:t>The Sine Rule</a:t>
            </a:r>
            <a:r>
              <a:rPr lang="en-GB" altLang="x-none" sz="3600" b="1"/>
              <a:t>:</a:t>
            </a:r>
          </a:p>
        </p:txBody>
      </p:sp>
      <p:sp>
        <p:nvSpPr>
          <p:cNvPr id="4" name="Freeform 9"/>
          <p:cNvSpPr>
            <a:spLocks/>
          </p:cNvSpPr>
          <p:nvPr/>
        </p:nvSpPr>
        <p:spPr bwMode="auto">
          <a:xfrm>
            <a:off x="4698144" y="2490916"/>
            <a:ext cx="3384550" cy="2016125"/>
          </a:xfrm>
          <a:custGeom>
            <a:avLst/>
            <a:gdLst>
              <a:gd name="T0" fmla="*/ 0 w 2132"/>
              <a:gd name="T1" fmla="*/ 1270 h 1270"/>
              <a:gd name="T2" fmla="*/ 2132 w 2132"/>
              <a:gd name="T3" fmla="*/ 1270 h 1270"/>
              <a:gd name="T4" fmla="*/ 1406 w 2132"/>
              <a:gd name="T5" fmla="*/ 0 h 1270"/>
              <a:gd name="T6" fmla="*/ 0 w 2132"/>
              <a:gd name="T7" fmla="*/ 1270 h 1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32" h="1270">
                <a:moveTo>
                  <a:pt x="0" y="1270"/>
                </a:moveTo>
                <a:lnTo>
                  <a:pt x="2132" y="1270"/>
                </a:lnTo>
                <a:lnTo>
                  <a:pt x="1406" y="0"/>
                </a:lnTo>
                <a:lnTo>
                  <a:pt x="0" y="1270"/>
                </a:lnTo>
                <a:close/>
              </a:path>
            </a:pathLst>
          </a:custGeom>
          <a:noFill/>
          <a:ln w="38100" cmpd="sng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Text Box 10"/>
          <p:cNvSpPr txBox="1">
            <a:spLocks noChangeArrowheads="1"/>
          </p:cNvSpPr>
          <p:nvPr/>
        </p:nvSpPr>
        <p:spPr bwMode="auto">
          <a:xfrm>
            <a:off x="4337783" y="4218115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>
                <a:solidFill>
                  <a:srgbClr val="0000CC"/>
                </a:solidFill>
              </a:rPr>
              <a:t>A</a:t>
            </a:r>
          </a:p>
        </p:txBody>
      </p:sp>
      <p:sp>
        <p:nvSpPr>
          <p:cNvPr id="6" name="Text Box 11"/>
          <p:cNvSpPr txBox="1">
            <a:spLocks noChangeArrowheads="1"/>
          </p:cNvSpPr>
          <p:nvPr/>
        </p:nvSpPr>
        <p:spPr bwMode="auto">
          <a:xfrm>
            <a:off x="8082695" y="4218115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>
                <a:solidFill>
                  <a:srgbClr val="0000CC"/>
                </a:solidFill>
              </a:rPr>
              <a:t>B</a:t>
            </a:r>
          </a:p>
        </p:txBody>
      </p:sp>
      <p:sp>
        <p:nvSpPr>
          <p:cNvPr id="7" name="Text Box 12"/>
          <p:cNvSpPr txBox="1">
            <a:spLocks noChangeArrowheads="1"/>
          </p:cNvSpPr>
          <p:nvPr/>
        </p:nvSpPr>
        <p:spPr bwMode="auto">
          <a:xfrm>
            <a:off x="6714270" y="2059115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>
                <a:solidFill>
                  <a:srgbClr val="0000CC"/>
                </a:solidFill>
              </a:rPr>
              <a:t>C</a:t>
            </a:r>
          </a:p>
        </p:txBody>
      </p:sp>
      <p:sp>
        <p:nvSpPr>
          <p:cNvPr id="8" name="Rectangle 13"/>
          <p:cNvSpPr>
            <a:spLocks noChangeArrowheads="1"/>
          </p:cNvSpPr>
          <p:nvPr/>
        </p:nvSpPr>
        <p:spPr bwMode="auto">
          <a:xfrm>
            <a:off x="7434994" y="3065591"/>
            <a:ext cx="33695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400" b="1">
                <a:solidFill>
                  <a:srgbClr val="0000CC"/>
                </a:solidFill>
              </a:rPr>
              <a:t>a</a:t>
            </a:r>
          </a:p>
        </p:txBody>
      </p:sp>
      <p:sp>
        <p:nvSpPr>
          <p:cNvPr id="9" name="Rectangle 14"/>
          <p:cNvSpPr>
            <a:spLocks noChangeArrowheads="1"/>
          </p:cNvSpPr>
          <p:nvPr/>
        </p:nvSpPr>
        <p:spPr bwMode="auto">
          <a:xfrm>
            <a:off x="5490307" y="3138616"/>
            <a:ext cx="34977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400" b="1">
                <a:solidFill>
                  <a:srgbClr val="0000CC"/>
                </a:solidFill>
              </a:rPr>
              <a:t>b</a:t>
            </a:r>
          </a:p>
        </p:txBody>
      </p:sp>
      <p:sp>
        <p:nvSpPr>
          <p:cNvPr id="10" name="Rectangle 15"/>
          <p:cNvSpPr>
            <a:spLocks noChangeArrowheads="1"/>
          </p:cNvSpPr>
          <p:nvPr/>
        </p:nvSpPr>
        <p:spPr bwMode="auto">
          <a:xfrm>
            <a:off x="6282469" y="4434016"/>
            <a:ext cx="31290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400" b="1">
                <a:solidFill>
                  <a:srgbClr val="0000CC"/>
                </a:solidFill>
              </a:rPr>
              <a:t>c</a:t>
            </a:r>
          </a:p>
        </p:txBody>
      </p:sp>
      <p:sp>
        <p:nvSpPr>
          <p:cNvPr id="11" name="Text Box 22"/>
          <p:cNvSpPr txBox="1">
            <a:spLocks noChangeArrowheads="1"/>
          </p:cNvSpPr>
          <p:nvPr/>
        </p:nvSpPr>
        <p:spPr bwMode="auto">
          <a:xfrm>
            <a:off x="341366" y="5032905"/>
            <a:ext cx="84978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You can only use the Sine Rule if you have a “matching pair”.</a:t>
            </a:r>
          </a:p>
        </p:txBody>
      </p:sp>
      <p:sp>
        <p:nvSpPr>
          <p:cNvPr id="12" name="Text Box 23"/>
          <p:cNvSpPr txBox="1">
            <a:spLocks noChangeArrowheads="1"/>
          </p:cNvSpPr>
          <p:nvPr/>
        </p:nvSpPr>
        <p:spPr bwMode="auto">
          <a:xfrm>
            <a:off x="341251" y="5530088"/>
            <a:ext cx="84978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You have to know one angle, and the side opposite it.</a:t>
            </a:r>
          </a:p>
        </p:txBody>
      </p:sp>
      <p:grpSp>
        <p:nvGrpSpPr>
          <p:cNvPr id="13" name="Group 26"/>
          <p:cNvGrpSpPr>
            <a:grpSpLocks/>
          </p:cNvGrpSpPr>
          <p:nvPr/>
        </p:nvGrpSpPr>
        <p:grpSpPr bwMode="auto">
          <a:xfrm>
            <a:off x="4266344" y="3065591"/>
            <a:ext cx="3602038" cy="1646237"/>
            <a:chOff x="2154" y="1117"/>
            <a:chExt cx="2269" cy="1037"/>
          </a:xfrm>
        </p:grpSpPr>
        <p:sp>
          <p:nvSpPr>
            <p:cNvPr id="14" name="Oval 27"/>
            <p:cNvSpPr>
              <a:spLocks noChangeArrowheads="1"/>
            </p:cNvSpPr>
            <p:nvPr/>
          </p:nvSpPr>
          <p:spPr bwMode="auto">
            <a:xfrm>
              <a:off x="2154" y="1836"/>
              <a:ext cx="318" cy="318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Oval 28"/>
            <p:cNvSpPr>
              <a:spLocks noChangeArrowheads="1"/>
            </p:cNvSpPr>
            <p:nvPr/>
          </p:nvSpPr>
          <p:spPr bwMode="auto">
            <a:xfrm>
              <a:off x="4105" y="1117"/>
              <a:ext cx="318" cy="318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6" name="Group 29"/>
          <p:cNvGrpSpPr>
            <a:grpSpLocks/>
          </p:cNvGrpSpPr>
          <p:nvPr/>
        </p:nvGrpSpPr>
        <p:grpSpPr bwMode="auto">
          <a:xfrm>
            <a:off x="5418870" y="3137027"/>
            <a:ext cx="3095625" cy="1574800"/>
            <a:chOff x="2880" y="1162"/>
            <a:chExt cx="1950" cy="992"/>
          </a:xfrm>
        </p:grpSpPr>
        <p:sp>
          <p:nvSpPr>
            <p:cNvPr id="17" name="Oval 30"/>
            <p:cNvSpPr>
              <a:spLocks noChangeArrowheads="1"/>
            </p:cNvSpPr>
            <p:nvPr/>
          </p:nvSpPr>
          <p:spPr bwMode="auto">
            <a:xfrm>
              <a:off x="4513" y="1836"/>
              <a:ext cx="317" cy="318"/>
            </a:xfrm>
            <a:prstGeom prst="ellips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x-none" altLang="x-none">
                <a:solidFill>
                  <a:srgbClr val="008000"/>
                </a:solidFill>
              </a:endParaRPr>
            </a:p>
          </p:txBody>
        </p:sp>
        <p:sp>
          <p:nvSpPr>
            <p:cNvPr id="18" name="Oval 31"/>
            <p:cNvSpPr>
              <a:spLocks noChangeArrowheads="1"/>
            </p:cNvSpPr>
            <p:nvPr/>
          </p:nvSpPr>
          <p:spPr bwMode="auto">
            <a:xfrm>
              <a:off x="2880" y="1162"/>
              <a:ext cx="317" cy="318"/>
            </a:xfrm>
            <a:prstGeom prst="ellips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x-none" altLang="x-none">
                <a:solidFill>
                  <a:srgbClr val="008000"/>
                </a:solidFill>
              </a:endParaRPr>
            </a:p>
          </p:txBody>
        </p:sp>
      </p:grpSp>
      <p:grpSp>
        <p:nvGrpSpPr>
          <p:cNvPr id="19" name="Group 32"/>
          <p:cNvGrpSpPr>
            <a:grpSpLocks/>
          </p:cNvGrpSpPr>
          <p:nvPr/>
        </p:nvGrpSpPr>
        <p:grpSpPr bwMode="auto">
          <a:xfrm>
            <a:off x="6211032" y="2011490"/>
            <a:ext cx="969962" cy="2925762"/>
            <a:chOff x="3379" y="453"/>
            <a:chExt cx="611" cy="1843"/>
          </a:xfrm>
        </p:grpSpPr>
        <p:sp>
          <p:nvSpPr>
            <p:cNvPr id="20" name="Oval 33"/>
            <p:cNvSpPr>
              <a:spLocks noChangeArrowheads="1"/>
            </p:cNvSpPr>
            <p:nvPr/>
          </p:nvSpPr>
          <p:spPr bwMode="auto">
            <a:xfrm>
              <a:off x="3672" y="453"/>
              <a:ext cx="318" cy="317"/>
            </a:xfrm>
            <a:prstGeom prst="ellipse">
              <a:avLst/>
            </a:prstGeom>
            <a:noFill/>
            <a:ln w="38100">
              <a:solidFill>
                <a:srgbClr val="99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x-none" altLang="x-none">
                <a:solidFill>
                  <a:srgbClr val="990099"/>
                </a:solidFill>
              </a:endParaRPr>
            </a:p>
          </p:txBody>
        </p:sp>
        <p:sp>
          <p:nvSpPr>
            <p:cNvPr id="21" name="Oval 34"/>
            <p:cNvSpPr>
              <a:spLocks noChangeArrowheads="1"/>
            </p:cNvSpPr>
            <p:nvPr/>
          </p:nvSpPr>
          <p:spPr bwMode="auto">
            <a:xfrm>
              <a:off x="3379" y="1979"/>
              <a:ext cx="318" cy="317"/>
            </a:xfrm>
            <a:prstGeom prst="ellipse">
              <a:avLst/>
            </a:prstGeom>
            <a:noFill/>
            <a:ln w="38100">
              <a:solidFill>
                <a:srgbClr val="99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x-none" altLang="x-none">
                <a:solidFill>
                  <a:srgbClr val="990099"/>
                </a:solidFill>
              </a:endParaRPr>
            </a:p>
          </p:txBody>
        </p:sp>
      </p:grpSp>
      <p:sp>
        <p:nvSpPr>
          <p:cNvPr id="22" name="Text Box 21"/>
          <p:cNvSpPr txBox="1">
            <a:spLocks noChangeArrowheads="1"/>
          </p:cNvSpPr>
          <p:nvPr/>
        </p:nvSpPr>
        <p:spPr bwMode="auto">
          <a:xfrm>
            <a:off x="341251" y="6005466"/>
            <a:ext cx="849788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dirty="0"/>
              <a:t>Then if you have just one other side or angle, you can use the </a:t>
            </a:r>
            <a:r>
              <a:rPr lang="en-GB" altLang="x-none" sz="2400" b="1" u="sng" dirty="0"/>
              <a:t>Sine Rule</a:t>
            </a:r>
            <a:r>
              <a:rPr lang="en-GB" altLang="x-none" sz="2400" dirty="0"/>
              <a:t> to find any of the other angles or sides.</a:t>
            </a:r>
          </a:p>
        </p:txBody>
      </p:sp>
    </p:spTree>
    <p:extLst>
      <p:ext uri="{BB962C8B-B14F-4D97-AF65-F5344CB8AC3E}">
        <p14:creationId xmlns:p14="http://schemas.microsoft.com/office/powerpoint/2010/main" val="1413286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 smtClean="0"/>
              <a:t>Topic: Sine and cosine Rules</a:t>
            </a:r>
            <a:br>
              <a:rPr lang="en-US" dirty="0" smtClean="0"/>
            </a:br>
            <a:r>
              <a:rPr lang="en-US" dirty="0" smtClean="0"/>
              <a:t>EQ: What are the sine and cosine </a:t>
            </a:r>
            <a:r>
              <a:rPr lang="en-US" smtClean="0"/>
              <a:t>rules and when do we use them?</a:t>
            </a:r>
            <a:endParaRPr lang="en-US"/>
          </a:p>
        </p:txBody>
      </p:sp>
      <p:sp>
        <p:nvSpPr>
          <p:cNvPr id="3" name="Freeform 4"/>
          <p:cNvSpPr>
            <a:spLocks/>
          </p:cNvSpPr>
          <p:nvPr/>
        </p:nvSpPr>
        <p:spPr bwMode="auto">
          <a:xfrm>
            <a:off x="2033779" y="2816670"/>
            <a:ext cx="3889375" cy="2159000"/>
          </a:xfrm>
          <a:custGeom>
            <a:avLst/>
            <a:gdLst>
              <a:gd name="T0" fmla="*/ 0 w 2450"/>
              <a:gd name="T1" fmla="*/ 952 h 1360"/>
              <a:gd name="T2" fmla="*/ 2087 w 2450"/>
              <a:gd name="T3" fmla="*/ 0 h 1360"/>
              <a:gd name="T4" fmla="*/ 2450 w 2450"/>
              <a:gd name="T5" fmla="*/ 1360 h 1360"/>
              <a:gd name="T6" fmla="*/ 0 w 2450"/>
              <a:gd name="T7" fmla="*/ 952 h 13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450" h="1360">
                <a:moveTo>
                  <a:pt x="0" y="952"/>
                </a:moveTo>
                <a:lnTo>
                  <a:pt x="2087" y="0"/>
                </a:lnTo>
                <a:lnTo>
                  <a:pt x="2450" y="1360"/>
                </a:lnTo>
                <a:lnTo>
                  <a:pt x="0" y="952"/>
                </a:lnTo>
                <a:close/>
              </a:path>
            </a:pathLst>
          </a:custGeom>
          <a:noFill/>
          <a:ln w="38100" cmpd="sng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3041842" y="3248471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0000CC"/>
                </a:solidFill>
              </a:rPr>
              <a:t>10cm</a:t>
            </a: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5707254" y="3608833"/>
            <a:ext cx="9366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800" i="1">
                <a:solidFill>
                  <a:srgbClr val="0000CC"/>
                </a:solidFill>
                <a:latin typeface="Times New Roman" charset="0"/>
              </a:rPr>
              <a:t>x</a:t>
            </a:r>
          </a:p>
        </p:txBody>
      </p:sp>
      <p:sp>
        <p:nvSpPr>
          <p:cNvPr id="6" name="Freeform 7"/>
          <p:cNvSpPr>
            <a:spLocks/>
          </p:cNvSpPr>
          <p:nvPr/>
        </p:nvSpPr>
        <p:spPr bwMode="auto">
          <a:xfrm>
            <a:off x="5324667" y="4462908"/>
            <a:ext cx="454025" cy="441325"/>
          </a:xfrm>
          <a:custGeom>
            <a:avLst/>
            <a:gdLst>
              <a:gd name="T0" fmla="*/ 286 w 286"/>
              <a:gd name="T1" fmla="*/ 6 h 278"/>
              <a:gd name="T2" fmla="*/ 183 w 286"/>
              <a:gd name="T3" fmla="*/ 6 h 278"/>
              <a:gd name="T4" fmla="*/ 99 w 286"/>
              <a:gd name="T5" fmla="*/ 42 h 278"/>
              <a:gd name="T6" fmla="*/ 14 w 286"/>
              <a:gd name="T7" fmla="*/ 142 h 278"/>
              <a:gd name="T8" fmla="*/ 14 w 286"/>
              <a:gd name="T9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6" h="278">
                <a:moveTo>
                  <a:pt x="286" y="6"/>
                </a:moveTo>
                <a:cubicBezTo>
                  <a:pt x="269" y="6"/>
                  <a:pt x="214" y="0"/>
                  <a:pt x="183" y="6"/>
                </a:cubicBezTo>
                <a:cubicBezTo>
                  <a:pt x="152" y="12"/>
                  <a:pt x="127" y="19"/>
                  <a:pt x="99" y="42"/>
                </a:cubicBezTo>
                <a:cubicBezTo>
                  <a:pt x="71" y="65"/>
                  <a:pt x="28" y="103"/>
                  <a:pt x="14" y="142"/>
                </a:cubicBezTo>
                <a:cubicBezTo>
                  <a:pt x="0" y="181"/>
                  <a:pt x="14" y="255"/>
                  <a:pt x="14" y="278"/>
                </a:cubicBezTo>
              </a:path>
            </a:pathLst>
          </a:custGeom>
          <a:noFill/>
          <a:ln w="38100" cmpd="sng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5346892" y="4543871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0000CC"/>
                </a:solidFill>
              </a:rPr>
              <a:t>65</a:t>
            </a:r>
            <a:r>
              <a:rPr lang="en-GB" altLang="x-none" sz="2000">
                <a:solidFill>
                  <a:srgbClr val="0000CC"/>
                </a:solidFill>
                <a:ea typeface="Arial" charset="0"/>
                <a:cs typeface="Arial" charset="0"/>
              </a:rPr>
              <a:t>°</a:t>
            </a:r>
          </a:p>
        </p:txBody>
      </p:sp>
      <p:sp>
        <p:nvSpPr>
          <p:cNvPr id="8" name="Text Box 10"/>
          <p:cNvSpPr txBox="1">
            <a:spLocks noChangeArrowheads="1"/>
          </p:cNvSpPr>
          <p:nvPr/>
        </p:nvSpPr>
        <p:spPr bwMode="auto">
          <a:xfrm>
            <a:off x="1530541" y="1951482"/>
            <a:ext cx="4679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/>
              <a:t>Finding the missing  side:</a:t>
            </a: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1962341" y="5264595"/>
            <a:ext cx="4032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Is it a right-angled triangle?</a:t>
            </a:r>
          </a:p>
        </p:txBody>
      </p:sp>
      <p:sp>
        <p:nvSpPr>
          <p:cNvPr id="10" name="Text Box 12"/>
          <p:cNvSpPr txBox="1">
            <a:spLocks noChangeArrowheads="1"/>
          </p:cNvSpPr>
          <p:nvPr/>
        </p:nvSpPr>
        <p:spPr bwMode="auto">
          <a:xfrm>
            <a:off x="1962341" y="5696395"/>
            <a:ext cx="3816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Is there a matching pair?</a:t>
            </a:r>
          </a:p>
        </p:txBody>
      </p:sp>
      <p:sp>
        <p:nvSpPr>
          <p:cNvPr id="11" name="Text Box 13"/>
          <p:cNvSpPr txBox="1">
            <a:spLocks noChangeArrowheads="1"/>
          </p:cNvSpPr>
          <p:nvPr/>
        </p:nvSpPr>
        <p:spPr bwMode="auto">
          <a:xfrm>
            <a:off x="5923154" y="5264595"/>
            <a:ext cx="720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No</a:t>
            </a:r>
          </a:p>
        </p:txBody>
      </p:sp>
      <p:sp>
        <p:nvSpPr>
          <p:cNvPr id="12" name="Text Box 14"/>
          <p:cNvSpPr txBox="1">
            <a:spLocks noChangeArrowheads="1"/>
          </p:cNvSpPr>
          <p:nvPr/>
        </p:nvSpPr>
        <p:spPr bwMode="auto">
          <a:xfrm>
            <a:off x="5923154" y="5696395"/>
            <a:ext cx="720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Yes</a:t>
            </a:r>
          </a:p>
        </p:txBody>
      </p:sp>
      <p:grpSp>
        <p:nvGrpSpPr>
          <p:cNvPr id="13" name="Group 22"/>
          <p:cNvGrpSpPr>
            <a:grpSpLocks/>
          </p:cNvGrpSpPr>
          <p:nvPr/>
        </p:nvGrpSpPr>
        <p:grpSpPr bwMode="auto">
          <a:xfrm>
            <a:off x="3114866" y="3175445"/>
            <a:ext cx="2735262" cy="1873250"/>
            <a:chOff x="1701" y="1123"/>
            <a:chExt cx="1723" cy="1128"/>
          </a:xfrm>
        </p:grpSpPr>
        <p:sp>
          <p:nvSpPr>
            <p:cNvPr id="14" name="Oval 20"/>
            <p:cNvSpPr>
              <a:spLocks noChangeArrowheads="1"/>
            </p:cNvSpPr>
            <p:nvPr/>
          </p:nvSpPr>
          <p:spPr bwMode="auto">
            <a:xfrm>
              <a:off x="3107" y="1933"/>
              <a:ext cx="317" cy="318"/>
            </a:xfrm>
            <a:prstGeom prst="ellips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x-none" altLang="x-none">
                <a:solidFill>
                  <a:srgbClr val="008000"/>
                </a:solidFill>
              </a:endParaRPr>
            </a:p>
          </p:txBody>
        </p:sp>
        <p:sp>
          <p:nvSpPr>
            <p:cNvPr id="15" name="Oval 21"/>
            <p:cNvSpPr>
              <a:spLocks noChangeArrowheads="1"/>
            </p:cNvSpPr>
            <p:nvPr/>
          </p:nvSpPr>
          <p:spPr bwMode="auto">
            <a:xfrm>
              <a:off x="1701" y="1123"/>
              <a:ext cx="317" cy="318"/>
            </a:xfrm>
            <a:prstGeom prst="ellips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x-none" altLang="x-none">
                <a:solidFill>
                  <a:srgbClr val="008000"/>
                </a:solidFill>
              </a:endParaRPr>
            </a:p>
          </p:txBody>
        </p:sp>
      </p:grpSp>
      <p:sp>
        <p:nvSpPr>
          <p:cNvPr id="16" name="Freeform 23"/>
          <p:cNvSpPr>
            <a:spLocks/>
          </p:cNvSpPr>
          <p:nvPr/>
        </p:nvSpPr>
        <p:spPr bwMode="auto">
          <a:xfrm>
            <a:off x="2770379" y="4002532"/>
            <a:ext cx="180975" cy="465138"/>
          </a:xfrm>
          <a:custGeom>
            <a:avLst/>
            <a:gdLst>
              <a:gd name="T0" fmla="*/ 0 w 114"/>
              <a:gd name="T1" fmla="*/ 0 h 293"/>
              <a:gd name="T2" fmla="*/ 52 w 114"/>
              <a:gd name="T3" fmla="*/ 36 h 293"/>
              <a:gd name="T4" fmla="*/ 76 w 114"/>
              <a:gd name="T5" fmla="*/ 68 h 293"/>
              <a:gd name="T6" fmla="*/ 104 w 114"/>
              <a:gd name="T7" fmla="*/ 120 h 293"/>
              <a:gd name="T8" fmla="*/ 114 w 114"/>
              <a:gd name="T9" fmla="*/ 188 h 293"/>
              <a:gd name="T10" fmla="*/ 103 w 114"/>
              <a:gd name="T11" fmla="*/ 257 h 293"/>
              <a:gd name="T12" fmla="*/ 91 w 114"/>
              <a:gd name="T13" fmla="*/ 293 h 2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4" h="293">
                <a:moveTo>
                  <a:pt x="0" y="0"/>
                </a:moveTo>
                <a:cubicBezTo>
                  <a:pt x="9" y="6"/>
                  <a:pt x="39" y="25"/>
                  <a:pt x="52" y="36"/>
                </a:cubicBezTo>
                <a:cubicBezTo>
                  <a:pt x="65" y="47"/>
                  <a:pt x="67" y="54"/>
                  <a:pt x="76" y="68"/>
                </a:cubicBezTo>
                <a:cubicBezTo>
                  <a:pt x="85" y="82"/>
                  <a:pt x="98" y="100"/>
                  <a:pt x="104" y="120"/>
                </a:cubicBezTo>
                <a:cubicBezTo>
                  <a:pt x="110" y="140"/>
                  <a:pt x="114" y="165"/>
                  <a:pt x="114" y="188"/>
                </a:cubicBezTo>
                <a:cubicBezTo>
                  <a:pt x="114" y="211"/>
                  <a:pt x="107" y="240"/>
                  <a:pt x="103" y="257"/>
                </a:cubicBezTo>
                <a:cubicBezTo>
                  <a:pt x="99" y="274"/>
                  <a:pt x="93" y="286"/>
                  <a:pt x="91" y="293"/>
                </a:cubicBezTo>
              </a:path>
            </a:pathLst>
          </a:custGeom>
          <a:noFill/>
          <a:ln w="38100" cmpd="sng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Text Box 24"/>
          <p:cNvSpPr txBox="1">
            <a:spLocks noChangeArrowheads="1"/>
          </p:cNvSpPr>
          <p:nvPr/>
        </p:nvSpPr>
        <p:spPr bwMode="auto">
          <a:xfrm>
            <a:off x="2394142" y="4040633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0000CC"/>
                </a:solidFill>
              </a:rPr>
              <a:t>40</a:t>
            </a:r>
            <a:r>
              <a:rPr lang="en-GB" altLang="x-none" sz="2000">
                <a:solidFill>
                  <a:srgbClr val="0000CC"/>
                </a:solidFill>
                <a:ea typeface="Arial" charset="0"/>
                <a:cs typeface="Arial" charset="0"/>
              </a:rPr>
              <a:t>°</a:t>
            </a:r>
          </a:p>
        </p:txBody>
      </p:sp>
      <p:sp>
        <p:nvSpPr>
          <p:cNvPr id="18" name="Text Box 25"/>
          <p:cNvSpPr txBox="1">
            <a:spLocks noChangeArrowheads="1"/>
          </p:cNvSpPr>
          <p:nvPr/>
        </p:nvSpPr>
        <p:spPr bwMode="auto">
          <a:xfrm>
            <a:off x="6139054" y="2383283"/>
            <a:ext cx="16557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/>
              <a:t>Not to scale</a:t>
            </a:r>
          </a:p>
        </p:txBody>
      </p:sp>
    </p:spTree>
    <p:extLst>
      <p:ext uri="{BB962C8B-B14F-4D97-AF65-F5344CB8AC3E}">
        <p14:creationId xmlns:p14="http://schemas.microsoft.com/office/powerpoint/2010/main" val="1935220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 smtClean="0"/>
              <a:t>Topic: Sine and cosine Rules</a:t>
            </a:r>
            <a:br>
              <a:rPr lang="en-US" dirty="0" smtClean="0"/>
            </a:br>
            <a:r>
              <a:rPr lang="en-US" dirty="0" smtClean="0"/>
              <a:t>EQ: What are the sine and cosine </a:t>
            </a:r>
            <a:r>
              <a:rPr lang="en-US" smtClean="0"/>
              <a:t>rules and when do we use them?</a:t>
            </a:r>
            <a:endParaRPr lang="en-US"/>
          </a:p>
        </p:txBody>
      </p:sp>
      <p:sp>
        <p:nvSpPr>
          <p:cNvPr id="3" name="Freeform 2"/>
          <p:cNvSpPr>
            <a:spLocks/>
          </p:cNvSpPr>
          <p:nvPr/>
        </p:nvSpPr>
        <p:spPr bwMode="auto">
          <a:xfrm>
            <a:off x="1351027" y="2657475"/>
            <a:ext cx="3889375" cy="2159000"/>
          </a:xfrm>
          <a:custGeom>
            <a:avLst/>
            <a:gdLst>
              <a:gd name="T0" fmla="*/ 0 w 2450"/>
              <a:gd name="T1" fmla="*/ 952 h 1360"/>
              <a:gd name="T2" fmla="*/ 2087 w 2450"/>
              <a:gd name="T3" fmla="*/ 0 h 1360"/>
              <a:gd name="T4" fmla="*/ 2450 w 2450"/>
              <a:gd name="T5" fmla="*/ 1360 h 1360"/>
              <a:gd name="T6" fmla="*/ 0 w 2450"/>
              <a:gd name="T7" fmla="*/ 952 h 13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450" h="1360">
                <a:moveTo>
                  <a:pt x="0" y="952"/>
                </a:moveTo>
                <a:lnTo>
                  <a:pt x="2087" y="0"/>
                </a:lnTo>
                <a:lnTo>
                  <a:pt x="2450" y="1360"/>
                </a:lnTo>
                <a:lnTo>
                  <a:pt x="0" y="952"/>
                </a:lnTo>
                <a:close/>
              </a:path>
            </a:pathLst>
          </a:custGeom>
          <a:noFill/>
          <a:ln w="38100" cmpd="sng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2359090" y="3089276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0000CC"/>
                </a:solidFill>
              </a:rPr>
              <a:t>10cm</a:t>
            </a:r>
          </a:p>
        </p:txBody>
      </p:sp>
      <p:sp>
        <p:nvSpPr>
          <p:cNvPr id="5" name="Freeform 5"/>
          <p:cNvSpPr>
            <a:spLocks/>
          </p:cNvSpPr>
          <p:nvPr/>
        </p:nvSpPr>
        <p:spPr bwMode="auto">
          <a:xfrm>
            <a:off x="4641915" y="4303713"/>
            <a:ext cx="454025" cy="441325"/>
          </a:xfrm>
          <a:custGeom>
            <a:avLst/>
            <a:gdLst>
              <a:gd name="T0" fmla="*/ 286 w 286"/>
              <a:gd name="T1" fmla="*/ 6 h 278"/>
              <a:gd name="T2" fmla="*/ 183 w 286"/>
              <a:gd name="T3" fmla="*/ 6 h 278"/>
              <a:gd name="T4" fmla="*/ 99 w 286"/>
              <a:gd name="T5" fmla="*/ 42 h 278"/>
              <a:gd name="T6" fmla="*/ 14 w 286"/>
              <a:gd name="T7" fmla="*/ 142 h 278"/>
              <a:gd name="T8" fmla="*/ 14 w 286"/>
              <a:gd name="T9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6" h="278">
                <a:moveTo>
                  <a:pt x="286" y="6"/>
                </a:moveTo>
                <a:cubicBezTo>
                  <a:pt x="269" y="6"/>
                  <a:pt x="214" y="0"/>
                  <a:pt x="183" y="6"/>
                </a:cubicBezTo>
                <a:cubicBezTo>
                  <a:pt x="152" y="12"/>
                  <a:pt x="127" y="19"/>
                  <a:pt x="99" y="42"/>
                </a:cubicBezTo>
                <a:cubicBezTo>
                  <a:pt x="71" y="65"/>
                  <a:pt x="28" y="103"/>
                  <a:pt x="14" y="142"/>
                </a:cubicBezTo>
                <a:cubicBezTo>
                  <a:pt x="0" y="181"/>
                  <a:pt x="14" y="255"/>
                  <a:pt x="14" y="278"/>
                </a:cubicBezTo>
              </a:path>
            </a:pathLst>
          </a:custGeom>
          <a:noFill/>
          <a:ln w="38100" cmpd="sng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4664140" y="4384676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0000CC"/>
                </a:solidFill>
              </a:rPr>
              <a:t>65</a:t>
            </a:r>
            <a:r>
              <a:rPr lang="en-GB" altLang="x-none" sz="2000">
                <a:solidFill>
                  <a:srgbClr val="0000CC"/>
                </a:solidFill>
                <a:ea typeface="Arial" charset="0"/>
                <a:cs typeface="Arial" charset="0"/>
              </a:rPr>
              <a:t>°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47789" y="1792287"/>
            <a:ext cx="4679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/>
              <a:t>Finding the missing  side:</a:t>
            </a:r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1279589" y="5105400"/>
            <a:ext cx="4032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Is it a right-angled triangle?</a:t>
            </a:r>
          </a:p>
        </p:txBody>
      </p:sp>
      <p:sp>
        <p:nvSpPr>
          <p:cNvPr id="9" name="Text Box 10"/>
          <p:cNvSpPr txBox="1">
            <a:spLocks noChangeArrowheads="1"/>
          </p:cNvSpPr>
          <p:nvPr/>
        </p:nvSpPr>
        <p:spPr bwMode="auto">
          <a:xfrm>
            <a:off x="1279589" y="5537200"/>
            <a:ext cx="3816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Is there a matching pair?</a:t>
            </a: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5240402" y="5105400"/>
            <a:ext cx="720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No</a:t>
            </a:r>
          </a:p>
        </p:txBody>
      </p:sp>
      <p:sp>
        <p:nvSpPr>
          <p:cNvPr id="11" name="Text Box 12"/>
          <p:cNvSpPr txBox="1">
            <a:spLocks noChangeArrowheads="1"/>
          </p:cNvSpPr>
          <p:nvPr/>
        </p:nvSpPr>
        <p:spPr bwMode="auto">
          <a:xfrm>
            <a:off x="5240402" y="5537200"/>
            <a:ext cx="720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Yes</a:t>
            </a:r>
          </a:p>
        </p:txBody>
      </p:sp>
      <p:sp>
        <p:nvSpPr>
          <p:cNvPr id="12" name="Text Box 13"/>
          <p:cNvSpPr txBox="1">
            <a:spLocks noChangeArrowheads="1"/>
          </p:cNvSpPr>
          <p:nvPr/>
        </p:nvSpPr>
        <p:spPr bwMode="auto">
          <a:xfrm>
            <a:off x="1279589" y="6400800"/>
            <a:ext cx="41767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Label the sides and angles.</a:t>
            </a:r>
          </a:p>
        </p:txBody>
      </p:sp>
      <p:sp>
        <p:nvSpPr>
          <p:cNvPr id="13" name="Text Box 17"/>
          <p:cNvSpPr txBox="1">
            <a:spLocks noChangeArrowheads="1"/>
          </p:cNvSpPr>
          <p:nvPr/>
        </p:nvSpPr>
        <p:spPr bwMode="auto">
          <a:xfrm>
            <a:off x="919227" y="3952875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>
                <a:solidFill>
                  <a:srgbClr val="990099"/>
                </a:solidFill>
              </a:rPr>
              <a:t>A</a:t>
            </a:r>
          </a:p>
        </p:txBody>
      </p:sp>
      <p:sp>
        <p:nvSpPr>
          <p:cNvPr id="14" name="Text Box 18"/>
          <p:cNvSpPr txBox="1">
            <a:spLocks noChangeArrowheads="1"/>
          </p:cNvSpPr>
          <p:nvPr/>
        </p:nvSpPr>
        <p:spPr bwMode="auto">
          <a:xfrm>
            <a:off x="5240402" y="4600575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>
                <a:solidFill>
                  <a:srgbClr val="990099"/>
                </a:solidFill>
              </a:rPr>
              <a:t>B</a:t>
            </a:r>
          </a:p>
        </p:txBody>
      </p:sp>
      <p:sp>
        <p:nvSpPr>
          <p:cNvPr id="15" name="Text Box 19"/>
          <p:cNvSpPr txBox="1">
            <a:spLocks noChangeArrowheads="1"/>
          </p:cNvSpPr>
          <p:nvPr/>
        </p:nvSpPr>
        <p:spPr bwMode="auto">
          <a:xfrm>
            <a:off x="4591115" y="2297112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>
                <a:solidFill>
                  <a:srgbClr val="990099"/>
                </a:solidFill>
              </a:rPr>
              <a:t>C</a:t>
            </a:r>
          </a:p>
        </p:txBody>
      </p:sp>
      <p:sp>
        <p:nvSpPr>
          <p:cNvPr id="16" name="Rectangle 20"/>
          <p:cNvSpPr>
            <a:spLocks noChangeArrowheads="1"/>
          </p:cNvSpPr>
          <p:nvPr/>
        </p:nvSpPr>
        <p:spPr bwMode="auto">
          <a:xfrm>
            <a:off x="5095939" y="3111500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800" b="1" i="1">
                <a:solidFill>
                  <a:srgbClr val="990099"/>
                </a:solidFill>
                <a:latin typeface="Times New Roman" charset="0"/>
              </a:rPr>
              <a:t>a</a:t>
            </a:r>
          </a:p>
        </p:txBody>
      </p:sp>
      <p:sp>
        <p:nvSpPr>
          <p:cNvPr id="17" name="Rectangle 21"/>
          <p:cNvSpPr>
            <a:spLocks noChangeArrowheads="1"/>
          </p:cNvSpPr>
          <p:nvPr/>
        </p:nvSpPr>
        <p:spPr bwMode="auto">
          <a:xfrm>
            <a:off x="2648014" y="2751138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800" b="1" i="1">
                <a:solidFill>
                  <a:srgbClr val="990099"/>
                </a:solidFill>
                <a:latin typeface="Times New Roman" charset="0"/>
              </a:rPr>
              <a:t>b</a:t>
            </a:r>
          </a:p>
        </p:txBody>
      </p:sp>
      <p:sp>
        <p:nvSpPr>
          <p:cNvPr id="18" name="Rectangle 22"/>
          <p:cNvSpPr>
            <a:spLocks noChangeArrowheads="1"/>
          </p:cNvSpPr>
          <p:nvPr/>
        </p:nvSpPr>
        <p:spPr bwMode="auto">
          <a:xfrm>
            <a:off x="3079814" y="4408488"/>
            <a:ext cx="3413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800" b="1" i="1">
                <a:solidFill>
                  <a:srgbClr val="990099"/>
                </a:solidFill>
                <a:latin typeface="Times New Roman" charset="0"/>
              </a:rPr>
              <a:t>c</a:t>
            </a:r>
          </a:p>
        </p:txBody>
      </p:sp>
      <p:sp>
        <p:nvSpPr>
          <p:cNvPr id="19" name="Freeform 23"/>
          <p:cNvSpPr>
            <a:spLocks/>
          </p:cNvSpPr>
          <p:nvPr/>
        </p:nvSpPr>
        <p:spPr bwMode="auto">
          <a:xfrm>
            <a:off x="2087627" y="3843337"/>
            <a:ext cx="180975" cy="465138"/>
          </a:xfrm>
          <a:custGeom>
            <a:avLst/>
            <a:gdLst>
              <a:gd name="T0" fmla="*/ 0 w 114"/>
              <a:gd name="T1" fmla="*/ 0 h 293"/>
              <a:gd name="T2" fmla="*/ 52 w 114"/>
              <a:gd name="T3" fmla="*/ 36 h 293"/>
              <a:gd name="T4" fmla="*/ 76 w 114"/>
              <a:gd name="T5" fmla="*/ 68 h 293"/>
              <a:gd name="T6" fmla="*/ 104 w 114"/>
              <a:gd name="T7" fmla="*/ 120 h 293"/>
              <a:gd name="T8" fmla="*/ 114 w 114"/>
              <a:gd name="T9" fmla="*/ 188 h 293"/>
              <a:gd name="T10" fmla="*/ 103 w 114"/>
              <a:gd name="T11" fmla="*/ 257 h 293"/>
              <a:gd name="T12" fmla="*/ 91 w 114"/>
              <a:gd name="T13" fmla="*/ 293 h 2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4" h="293">
                <a:moveTo>
                  <a:pt x="0" y="0"/>
                </a:moveTo>
                <a:cubicBezTo>
                  <a:pt x="9" y="6"/>
                  <a:pt x="39" y="25"/>
                  <a:pt x="52" y="36"/>
                </a:cubicBezTo>
                <a:cubicBezTo>
                  <a:pt x="65" y="47"/>
                  <a:pt x="67" y="54"/>
                  <a:pt x="76" y="68"/>
                </a:cubicBezTo>
                <a:cubicBezTo>
                  <a:pt x="85" y="82"/>
                  <a:pt x="98" y="100"/>
                  <a:pt x="104" y="120"/>
                </a:cubicBezTo>
                <a:cubicBezTo>
                  <a:pt x="110" y="140"/>
                  <a:pt x="114" y="165"/>
                  <a:pt x="114" y="188"/>
                </a:cubicBezTo>
                <a:cubicBezTo>
                  <a:pt x="114" y="211"/>
                  <a:pt x="107" y="240"/>
                  <a:pt x="103" y="257"/>
                </a:cubicBezTo>
                <a:cubicBezTo>
                  <a:pt x="99" y="274"/>
                  <a:pt x="93" y="286"/>
                  <a:pt x="91" y="293"/>
                </a:cubicBezTo>
              </a:path>
            </a:pathLst>
          </a:custGeom>
          <a:noFill/>
          <a:ln w="38100" cmpd="sng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Text Box 24"/>
          <p:cNvSpPr txBox="1">
            <a:spLocks noChangeArrowheads="1"/>
          </p:cNvSpPr>
          <p:nvPr/>
        </p:nvSpPr>
        <p:spPr bwMode="auto">
          <a:xfrm>
            <a:off x="1711390" y="3881438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0000CC"/>
                </a:solidFill>
              </a:rPr>
              <a:t>40</a:t>
            </a:r>
            <a:r>
              <a:rPr lang="en-GB" altLang="x-none" sz="2000">
                <a:solidFill>
                  <a:srgbClr val="0000CC"/>
                </a:solidFill>
                <a:ea typeface="Arial" charset="0"/>
                <a:cs typeface="Arial" charset="0"/>
              </a:rPr>
              <a:t>°</a:t>
            </a:r>
          </a:p>
        </p:txBody>
      </p:sp>
      <p:sp>
        <p:nvSpPr>
          <p:cNvPr id="21" name="Text Box 25"/>
          <p:cNvSpPr txBox="1">
            <a:spLocks noChangeArrowheads="1"/>
          </p:cNvSpPr>
          <p:nvPr/>
        </p:nvSpPr>
        <p:spPr bwMode="auto">
          <a:xfrm>
            <a:off x="5024502" y="3449638"/>
            <a:ext cx="9366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800" i="1">
                <a:solidFill>
                  <a:srgbClr val="0000CC"/>
                </a:solidFill>
                <a:latin typeface="Times New Roman" charset="0"/>
              </a:rPr>
              <a:t>x</a:t>
            </a:r>
          </a:p>
        </p:txBody>
      </p:sp>
      <p:sp>
        <p:nvSpPr>
          <p:cNvPr id="22" name="Text Box 26"/>
          <p:cNvSpPr txBox="1">
            <a:spLocks noChangeArrowheads="1"/>
          </p:cNvSpPr>
          <p:nvPr/>
        </p:nvSpPr>
        <p:spPr bwMode="auto">
          <a:xfrm>
            <a:off x="1279589" y="5969000"/>
            <a:ext cx="3600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Use the Sine Rule</a:t>
            </a:r>
          </a:p>
        </p:txBody>
      </p:sp>
      <p:sp>
        <p:nvSpPr>
          <p:cNvPr id="23" name="Text Box 27"/>
          <p:cNvSpPr txBox="1">
            <a:spLocks noChangeArrowheads="1"/>
          </p:cNvSpPr>
          <p:nvPr/>
        </p:nvSpPr>
        <p:spPr bwMode="auto">
          <a:xfrm>
            <a:off x="5456302" y="2224088"/>
            <a:ext cx="16557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/>
              <a:t>Not to scale</a:t>
            </a:r>
          </a:p>
        </p:txBody>
      </p:sp>
    </p:spTree>
    <p:extLst>
      <p:ext uri="{BB962C8B-B14F-4D97-AF65-F5344CB8AC3E}">
        <p14:creationId xmlns:p14="http://schemas.microsoft.com/office/powerpoint/2010/main" val="1290889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 smtClean="0"/>
              <a:t>Topic: Sine and cosine Rules</a:t>
            </a:r>
            <a:br>
              <a:rPr lang="en-US" dirty="0" smtClean="0"/>
            </a:br>
            <a:r>
              <a:rPr lang="en-US" dirty="0" smtClean="0"/>
              <a:t>EQ: What are the sine and cosine </a:t>
            </a:r>
            <a:r>
              <a:rPr lang="en-US" smtClean="0"/>
              <a:t>rules and when do we use them?</a:t>
            </a:r>
            <a:endParaRPr lang="en-US"/>
          </a:p>
        </p:txBody>
      </p:sp>
      <p:sp>
        <p:nvSpPr>
          <p:cNvPr id="3" name="Freeform 2"/>
          <p:cNvSpPr>
            <a:spLocks/>
          </p:cNvSpPr>
          <p:nvPr/>
        </p:nvSpPr>
        <p:spPr bwMode="auto">
          <a:xfrm>
            <a:off x="1495141" y="2575284"/>
            <a:ext cx="3889375" cy="2159000"/>
          </a:xfrm>
          <a:custGeom>
            <a:avLst/>
            <a:gdLst>
              <a:gd name="T0" fmla="*/ 0 w 2450"/>
              <a:gd name="T1" fmla="*/ 952 h 1360"/>
              <a:gd name="T2" fmla="*/ 2087 w 2450"/>
              <a:gd name="T3" fmla="*/ 0 h 1360"/>
              <a:gd name="T4" fmla="*/ 2450 w 2450"/>
              <a:gd name="T5" fmla="*/ 1360 h 1360"/>
              <a:gd name="T6" fmla="*/ 0 w 2450"/>
              <a:gd name="T7" fmla="*/ 952 h 13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450" h="1360">
                <a:moveTo>
                  <a:pt x="0" y="952"/>
                </a:moveTo>
                <a:lnTo>
                  <a:pt x="2087" y="0"/>
                </a:lnTo>
                <a:lnTo>
                  <a:pt x="2450" y="1360"/>
                </a:lnTo>
                <a:lnTo>
                  <a:pt x="0" y="952"/>
                </a:lnTo>
                <a:close/>
              </a:path>
            </a:pathLst>
          </a:custGeom>
          <a:noFill/>
          <a:ln w="38100" cmpd="sng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2503204" y="3007085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0000CC"/>
                </a:solidFill>
              </a:rPr>
              <a:t>10cm</a:t>
            </a:r>
          </a:p>
        </p:txBody>
      </p:sp>
      <p:sp>
        <p:nvSpPr>
          <p:cNvPr id="5" name="Freeform 4"/>
          <p:cNvSpPr>
            <a:spLocks/>
          </p:cNvSpPr>
          <p:nvPr/>
        </p:nvSpPr>
        <p:spPr bwMode="auto">
          <a:xfrm>
            <a:off x="4786029" y="4221522"/>
            <a:ext cx="454025" cy="441325"/>
          </a:xfrm>
          <a:custGeom>
            <a:avLst/>
            <a:gdLst>
              <a:gd name="T0" fmla="*/ 286 w 286"/>
              <a:gd name="T1" fmla="*/ 6 h 278"/>
              <a:gd name="T2" fmla="*/ 183 w 286"/>
              <a:gd name="T3" fmla="*/ 6 h 278"/>
              <a:gd name="T4" fmla="*/ 99 w 286"/>
              <a:gd name="T5" fmla="*/ 42 h 278"/>
              <a:gd name="T6" fmla="*/ 14 w 286"/>
              <a:gd name="T7" fmla="*/ 142 h 278"/>
              <a:gd name="T8" fmla="*/ 14 w 286"/>
              <a:gd name="T9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6" h="278">
                <a:moveTo>
                  <a:pt x="286" y="6"/>
                </a:moveTo>
                <a:cubicBezTo>
                  <a:pt x="269" y="6"/>
                  <a:pt x="214" y="0"/>
                  <a:pt x="183" y="6"/>
                </a:cubicBezTo>
                <a:cubicBezTo>
                  <a:pt x="152" y="12"/>
                  <a:pt x="127" y="19"/>
                  <a:pt x="99" y="42"/>
                </a:cubicBezTo>
                <a:cubicBezTo>
                  <a:pt x="71" y="65"/>
                  <a:pt x="28" y="103"/>
                  <a:pt x="14" y="142"/>
                </a:cubicBezTo>
                <a:cubicBezTo>
                  <a:pt x="0" y="181"/>
                  <a:pt x="14" y="255"/>
                  <a:pt x="14" y="278"/>
                </a:cubicBezTo>
              </a:path>
            </a:pathLst>
          </a:custGeom>
          <a:noFill/>
          <a:ln w="38100" cmpd="sng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4808254" y="4302485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0000CC"/>
                </a:solidFill>
              </a:rPr>
              <a:t>65</a:t>
            </a:r>
            <a:r>
              <a:rPr lang="en-GB" altLang="x-none" sz="2000">
                <a:solidFill>
                  <a:srgbClr val="0000CC"/>
                </a:solidFill>
                <a:ea typeface="Arial" charset="0"/>
                <a:cs typeface="Arial" charset="0"/>
              </a:rPr>
              <a:t>°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1103821" y="1841754"/>
            <a:ext cx="4679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/>
              <a:t>Finding the missing  side:</a:t>
            </a:r>
          </a:p>
        </p:txBody>
      </p:sp>
      <p:sp>
        <p:nvSpPr>
          <p:cNvPr id="8" name="Text Box 12"/>
          <p:cNvSpPr txBox="1">
            <a:spLocks noChangeArrowheads="1"/>
          </p:cNvSpPr>
          <p:nvPr/>
        </p:nvSpPr>
        <p:spPr bwMode="auto">
          <a:xfrm>
            <a:off x="1063341" y="3870684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>
                <a:solidFill>
                  <a:srgbClr val="990099"/>
                </a:solidFill>
              </a:rPr>
              <a:t>A</a:t>
            </a:r>
          </a:p>
        </p:txBody>
      </p:sp>
      <p:sp>
        <p:nvSpPr>
          <p:cNvPr id="9" name="Text Box 13"/>
          <p:cNvSpPr txBox="1">
            <a:spLocks noChangeArrowheads="1"/>
          </p:cNvSpPr>
          <p:nvPr/>
        </p:nvSpPr>
        <p:spPr bwMode="auto">
          <a:xfrm>
            <a:off x="5384516" y="4518384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>
                <a:solidFill>
                  <a:srgbClr val="990099"/>
                </a:solidFill>
              </a:rPr>
              <a:t>B</a:t>
            </a:r>
          </a:p>
        </p:txBody>
      </p:sp>
      <p:sp>
        <p:nvSpPr>
          <p:cNvPr id="10" name="Text Box 14"/>
          <p:cNvSpPr txBox="1">
            <a:spLocks noChangeArrowheads="1"/>
          </p:cNvSpPr>
          <p:nvPr/>
        </p:nvSpPr>
        <p:spPr bwMode="auto">
          <a:xfrm>
            <a:off x="4732721" y="2165500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>
                <a:solidFill>
                  <a:srgbClr val="990099"/>
                </a:solidFill>
              </a:rPr>
              <a:t>C</a:t>
            </a:r>
          </a:p>
        </p:txBody>
      </p:sp>
      <p:sp>
        <p:nvSpPr>
          <p:cNvPr id="11" name="Rectangle 15"/>
          <p:cNvSpPr>
            <a:spLocks noChangeArrowheads="1"/>
          </p:cNvSpPr>
          <p:nvPr/>
        </p:nvSpPr>
        <p:spPr bwMode="auto">
          <a:xfrm>
            <a:off x="5240053" y="3029309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800" b="1" i="1">
                <a:solidFill>
                  <a:srgbClr val="990099"/>
                </a:solidFill>
                <a:latin typeface="Times New Roman" charset="0"/>
              </a:rPr>
              <a:t>a</a:t>
            </a:r>
          </a:p>
        </p:txBody>
      </p:sp>
      <p:sp>
        <p:nvSpPr>
          <p:cNvPr id="12" name="Rectangle 16"/>
          <p:cNvSpPr>
            <a:spLocks noChangeArrowheads="1"/>
          </p:cNvSpPr>
          <p:nvPr/>
        </p:nvSpPr>
        <p:spPr bwMode="auto">
          <a:xfrm>
            <a:off x="2792128" y="2668947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800" b="1" i="1">
                <a:solidFill>
                  <a:srgbClr val="990099"/>
                </a:solidFill>
                <a:latin typeface="Times New Roman" charset="0"/>
              </a:rPr>
              <a:t>b</a:t>
            </a:r>
          </a:p>
        </p:txBody>
      </p:sp>
      <p:sp>
        <p:nvSpPr>
          <p:cNvPr id="13" name="Rectangle 17"/>
          <p:cNvSpPr>
            <a:spLocks noChangeArrowheads="1"/>
          </p:cNvSpPr>
          <p:nvPr/>
        </p:nvSpPr>
        <p:spPr bwMode="auto">
          <a:xfrm>
            <a:off x="3223928" y="4326297"/>
            <a:ext cx="3413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800" b="1" i="1">
                <a:solidFill>
                  <a:srgbClr val="990099"/>
                </a:solidFill>
                <a:latin typeface="Times New Roman" charset="0"/>
              </a:rPr>
              <a:t>c</a:t>
            </a:r>
          </a:p>
        </p:txBody>
      </p:sp>
      <p:sp>
        <p:nvSpPr>
          <p:cNvPr id="14" name="Freeform 18"/>
          <p:cNvSpPr>
            <a:spLocks/>
          </p:cNvSpPr>
          <p:nvPr/>
        </p:nvSpPr>
        <p:spPr bwMode="auto">
          <a:xfrm>
            <a:off x="2231741" y="3761146"/>
            <a:ext cx="180975" cy="465138"/>
          </a:xfrm>
          <a:custGeom>
            <a:avLst/>
            <a:gdLst>
              <a:gd name="T0" fmla="*/ 0 w 114"/>
              <a:gd name="T1" fmla="*/ 0 h 293"/>
              <a:gd name="T2" fmla="*/ 52 w 114"/>
              <a:gd name="T3" fmla="*/ 36 h 293"/>
              <a:gd name="T4" fmla="*/ 76 w 114"/>
              <a:gd name="T5" fmla="*/ 68 h 293"/>
              <a:gd name="T6" fmla="*/ 104 w 114"/>
              <a:gd name="T7" fmla="*/ 120 h 293"/>
              <a:gd name="T8" fmla="*/ 114 w 114"/>
              <a:gd name="T9" fmla="*/ 188 h 293"/>
              <a:gd name="T10" fmla="*/ 103 w 114"/>
              <a:gd name="T11" fmla="*/ 257 h 293"/>
              <a:gd name="T12" fmla="*/ 91 w 114"/>
              <a:gd name="T13" fmla="*/ 293 h 2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4" h="293">
                <a:moveTo>
                  <a:pt x="0" y="0"/>
                </a:moveTo>
                <a:cubicBezTo>
                  <a:pt x="9" y="6"/>
                  <a:pt x="39" y="25"/>
                  <a:pt x="52" y="36"/>
                </a:cubicBezTo>
                <a:cubicBezTo>
                  <a:pt x="65" y="47"/>
                  <a:pt x="67" y="54"/>
                  <a:pt x="76" y="68"/>
                </a:cubicBezTo>
                <a:cubicBezTo>
                  <a:pt x="85" y="82"/>
                  <a:pt x="98" y="100"/>
                  <a:pt x="104" y="120"/>
                </a:cubicBezTo>
                <a:cubicBezTo>
                  <a:pt x="110" y="140"/>
                  <a:pt x="114" y="165"/>
                  <a:pt x="114" y="188"/>
                </a:cubicBezTo>
                <a:cubicBezTo>
                  <a:pt x="114" y="211"/>
                  <a:pt x="107" y="240"/>
                  <a:pt x="103" y="257"/>
                </a:cubicBezTo>
                <a:cubicBezTo>
                  <a:pt x="99" y="274"/>
                  <a:pt x="93" y="286"/>
                  <a:pt x="91" y="293"/>
                </a:cubicBezTo>
              </a:path>
            </a:pathLst>
          </a:custGeom>
          <a:noFill/>
          <a:ln w="38100" cmpd="sng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Text Box 19"/>
          <p:cNvSpPr txBox="1">
            <a:spLocks noChangeArrowheads="1"/>
          </p:cNvSpPr>
          <p:nvPr/>
        </p:nvSpPr>
        <p:spPr bwMode="auto">
          <a:xfrm>
            <a:off x="1855504" y="3799247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0000CC"/>
                </a:solidFill>
              </a:rPr>
              <a:t>40</a:t>
            </a:r>
            <a:r>
              <a:rPr lang="en-GB" altLang="x-none" sz="2000">
                <a:solidFill>
                  <a:srgbClr val="0000CC"/>
                </a:solidFill>
                <a:ea typeface="Arial" charset="0"/>
                <a:cs typeface="Arial" charset="0"/>
              </a:rPr>
              <a:t>°</a:t>
            </a:r>
          </a:p>
        </p:txBody>
      </p:sp>
      <p:sp>
        <p:nvSpPr>
          <p:cNvPr id="16" name="Text Box 20"/>
          <p:cNvSpPr txBox="1">
            <a:spLocks noChangeArrowheads="1"/>
          </p:cNvSpPr>
          <p:nvPr/>
        </p:nvSpPr>
        <p:spPr bwMode="auto">
          <a:xfrm>
            <a:off x="5168616" y="3367447"/>
            <a:ext cx="9366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800" i="1">
                <a:solidFill>
                  <a:srgbClr val="0000CC"/>
                </a:solidFill>
                <a:latin typeface="Times New Roman" charset="0"/>
              </a:rPr>
              <a:t>x</a:t>
            </a:r>
          </a:p>
        </p:txBody>
      </p:sp>
      <p:graphicFrame>
        <p:nvGraphicFramePr>
          <p:cNvPr id="17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2563370"/>
              </p:ext>
            </p:extLst>
          </p:nvPr>
        </p:nvGraphicFramePr>
        <p:xfrm>
          <a:off x="919673" y="4948596"/>
          <a:ext cx="3167062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5" name="Equation" r:id="rId3" imgW="1371600" imgH="393700" progId="Equation.3">
                  <p:embed/>
                </p:oleObj>
              </mc:Choice>
              <mc:Fallback>
                <p:oleObj name="Equation" r:id="rId3" imgW="13716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9673" y="4948596"/>
                        <a:ext cx="3167062" cy="901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22"/>
          <p:cNvSpPr txBox="1">
            <a:spLocks noChangeArrowheads="1"/>
          </p:cNvSpPr>
          <p:nvPr/>
        </p:nvSpPr>
        <p:spPr bwMode="auto">
          <a:xfrm>
            <a:off x="919673" y="6278557"/>
            <a:ext cx="5759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We don’t need the “C” bit of the formula.</a:t>
            </a:r>
          </a:p>
        </p:txBody>
      </p:sp>
      <p:sp>
        <p:nvSpPr>
          <p:cNvPr id="19" name="Text Box 24"/>
          <p:cNvSpPr txBox="1">
            <a:spLocks noChangeArrowheads="1"/>
          </p:cNvSpPr>
          <p:nvPr/>
        </p:nvSpPr>
        <p:spPr bwMode="auto">
          <a:xfrm>
            <a:off x="4883658" y="4975584"/>
            <a:ext cx="3527425" cy="1044575"/>
          </a:xfrm>
          <a:prstGeom prst="rect">
            <a:avLst/>
          </a:prstGeom>
          <a:solidFill>
            <a:srgbClr val="FFFF00"/>
          </a:solidFill>
          <a:ln w="381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/>
              <a:t>Because we are trying to find a missing length of a side, the little letters are on top </a:t>
            </a:r>
          </a:p>
        </p:txBody>
      </p:sp>
      <p:sp>
        <p:nvSpPr>
          <p:cNvPr id="20" name="Text Box 25"/>
          <p:cNvSpPr txBox="1">
            <a:spLocks noChangeArrowheads="1"/>
          </p:cNvSpPr>
          <p:nvPr/>
        </p:nvSpPr>
        <p:spPr bwMode="auto">
          <a:xfrm>
            <a:off x="6105241" y="2012411"/>
            <a:ext cx="16557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/>
              <a:t>Not to scale</a:t>
            </a:r>
          </a:p>
        </p:txBody>
      </p:sp>
    </p:spTree>
    <p:extLst>
      <p:ext uri="{BB962C8B-B14F-4D97-AF65-F5344CB8AC3E}">
        <p14:creationId xmlns:p14="http://schemas.microsoft.com/office/powerpoint/2010/main" val="2099755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 smtClean="0"/>
              <a:t>Topic: Sine and cosine Rules</a:t>
            </a:r>
            <a:br>
              <a:rPr lang="en-US" dirty="0" smtClean="0"/>
            </a:br>
            <a:r>
              <a:rPr lang="en-US" dirty="0" smtClean="0"/>
              <a:t>EQ: What are the sine and cosine </a:t>
            </a:r>
            <a:r>
              <a:rPr lang="en-US" smtClean="0"/>
              <a:t>rules and when do we use them?</a:t>
            </a:r>
            <a:endParaRPr lang="en-US"/>
          </a:p>
        </p:txBody>
      </p:sp>
      <p:sp>
        <p:nvSpPr>
          <p:cNvPr id="3" name="Freeform 2"/>
          <p:cNvSpPr>
            <a:spLocks/>
          </p:cNvSpPr>
          <p:nvPr/>
        </p:nvSpPr>
        <p:spPr bwMode="auto">
          <a:xfrm>
            <a:off x="1521715" y="2552447"/>
            <a:ext cx="3889375" cy="2159000"/>
          </a:xfrm>
          <a:custGeom>
            <a:avLst/>
            <a:gdLst>
              <a:gd name="T0" fmla="*/ 0 w 2450"/>
              <a:gd name="T1" fmla="*/ 952 h 1360"/>
              <a:gd name="T2" fmla="*/ 2087 w 2450"/>
              <a:gd name="T3" fmla="*/ 0 h 1360"/>
              <a:gd name="T4" fmla="*/ 2450 w 2450"/>
              <a:gd name="T5" fmla="*/ 1360 h 1360"/>
              <a:gd name="T6" fmla="*/ 0 w 2450"/>
              <a:gd name="T7" fmla="*/ 952 h 13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450" h="1360">
                <a:moveTo>
                  <a:pt x="0" y="952"/>
                </a:moveTo>
                <a:lnTo>
                  <a:pt x="2087" y="0"/>
                </a:lnTo>
                <a:lnTo>
                  <a:pt x="2450" y="1360"/>
                </a:lnTo>
                <a:lnTo>
                  <a:pt x="0" y="952"/>
                </a:lnTo>
                <a:close/>
              </a:path>
            </a:pathLst>
          </a:custGeom>
          <a:noFill/>
          <a:ln w="38100" cmpd="sng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2529778" y="2984248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0000CC"/>
                </a:solidFill>
              </a:rPr>
              <a:t>10cm</a:t>
            </a:r>
          </a:p>
        </p:txBody>
      </p:sp>
      <p:sp>
        <p:nvSpPr>
          <p:cNvPr id="5" name="Freeform 4"/>
          <p:cNvSpPr>
            <a:spLocks/>
          </p:cNvSpPr>
          <p:nvPr/>
        </p:nvSpPr>
        <p:spPr bwMode="auto">
          <a:xfrm>
            <a:off x="4812603" y="4198685"/>
            <a:ext cx="454025" cy="441325"/>
          </a:xfrm>
          <a:custGeom>
            <a:avLst/>
            <a:gdLst>
              <a:gd name="T0" fmla="*/ 286 w 286"/>
              <a:gd name="T1" fmla="*/ 6 h 278"/>
              <a:gd name="T2" fmla="*/ 183 w 286"/>
              <a:gd name="T3" fmla="*/ 6 h 278"/>
              <a:gd name="T4" fmla="*/ 99 w 286"/>
              <a:gd name="T5" fmla="*/ 42 h 278"/>
              <a:gd name="T6" fmla="*/ 14 w 286"/>
              <a:gd name="T7" fmla="*/ 142 h 278"/>
              <a:gd name="T8" fmla="*/ 14 w 286"/>
              <a:gd name="T9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6" h="278">
                <a:moveTo>
                  <a:pt x="286" y="6"/>
                </a:moveTo>
                <a:cubicBezTo>
                  <a:pt x="269" y="6"/>
                  <a:pt x="214" y="0"/>
                  <a:pt x="183" y="6"/>
                </a:cubicBezTo>
                <a:cubicBezTo>
                  <a:pt x="152" y="12"/>
                  <a:pt x="127" y="19"/>
                  <a:pt x="99" y="42"/>
                </a:cubicBezTo>
                <a:cubicBezTo>
                  <a:pt x="71" y="65"/>
                  <a:pt x="28" y="103"/>
                  <a:pt x="14" y="142"/>
                </a:cubicBezTo>
                <a:cubicBezTo>
                  <a:pt x="0" y="181"/>
                  <a:pt x="14" y="255"/>
                  <a:pt x="14" y="278"/>
                </a:cubicBezTo>
              </a:path>
            </a:pathLst>
          </a:custGeom>
          <a:noFill/>
          <a:ln w="38100" cmpd="sng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4834828" y="4279648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0000CC"/>
                </a:solidFill>
              </a:rPr>
              <a:t>65</a:t>
            </a:r>
            <a:r>
              <a:rPr lang="en-GB" altLang="x-none" sz="2000">
                <a:solidFill>
                  <a:srgbClr val="0000CC"/>
                </a:solidFill>
                <a:ea typeface="Arial" charset="0"/>
                <a:cs typeface="Arial" charset="0"/>
              </a:rPr>
              <a:t>°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994093" y="1951482"/>
            <a:ext cx="4679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/>
              <a:t>Finding the missing  side:</a:t>
            </a: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1089915" y="3847847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>
                <a:solidFill>
                  <a:srgbClr val="990099"/>
                </a:solidFill>
              </a:rPr>
              <a:t>A</a:t>
            </a: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5411090" y="4495547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>
                <a:solidFill>
                  <a:srgbClr val="990099"/>
                </a:solidFill>
              </a:rPr>
              <a:t>B</a:t>
            </a: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4690365" y="2139623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>
                <a:solidFill>
                  <a:srgbClr val="990099"/>
                </a:solidFill>
              </a:rPr>
              <a:t>C</a:t>
            </a: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5266627" y="3006472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800" b="1" i="1">
                <a:solidFill>
                  <a:srgbClr val="990099"/>
                </a:solidFill>
                <a:latin typeface="Times New Roman" charset="0"/>
              </a:rPr>
              <a:t>a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818702" y="2646110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800" b="1" i="1">
                <a:solidFill>
                  <a:srgbClr val="990099"/>
                </a:solidFill>
                <a:latin typeface="Times New Roman" charset="0"/>
              </a:rPr>
              <a:t>b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3250502" y="4303460"/>
            <a:ext cx="3413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800" b="1" i="1">
                <a:solidFill>
                  <a:srgbClr val="990099"/>
                </a:solidFill>
                <a:latin typeface="Times New Roman" charset="0"/>
              </a:rPr>
              <a:t>c</a:t>
            </a:r>
          </a:p>
        </p:txBody>
      </p:sp>
      <p:sp>
        <p:nvSpPr>
          <p:cNvPr id="14" name="Freeform 13"/>
          <p:cNvSpPr>
            <a:spLocks/>
          </p:cNvSpPr>
          <p:nvPr/>
        </p:nvSpPr>
        <p:spPr bwMode="auto">
          <a:xfrm>
            <a:off x="2258315" y="3738309"/>
            <a:ext cx="180975" cy="465138"/>
          </a:xfrm>
          <a:custGeom>
            <a:avLst/>
            <a:gdLst>
              <a:gd name="T0" fmla="*/ 0 w 114"/>
              <a:gd name="T1" fmla="*/ 0 h 293"/>
              <a:gd name="T2" fmla="*/ 52 w 114"/>
              <a:gd name="T3" fmla="*/ 36 h 293"/>
              <a:gd name="T4" fmla="*/ 76 w 114"/>
              <a:gd name="T5" fmla="*/ 68 h 293"/>
              <a:gd name="T6" fmla="*/ 104 w 114"/>
              <a:gd name="T7" fmla="*/ 120 h 293"/>
              <a:gd name="T8" fmla="*/ 114 w 114"/>
              <a:gd name="T9" fmla="*/ 188 h 293"/>
              <a:gd name="T10" fmla="*/ 103 w 114"/>
              <a:gd name="T11" fmla="*/ 257 h 293"/>
              <a:gd name="T12" fmla="*/ 91 w 114"/>
              <a:gd name="T13" fmla="*/ 293 h 2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4" h="293">
                <a:moveTo>
                  <a:pt x="0" y="0"/>
                </a:moveTo>
                <a:cubicBezTo>
                  <a:pt x="9" y="6"/>
                  <a:pt x="39" y="25"/>
                  <a:pt x="52" y="36"/>
                </a:cubicBezTo>
                <a:cubicBezTo>
                  <a:pt x="65" y="47"/>
                  <a:pt x="67" y="54"/>
                  <a:pt x="76" y="68"/>
                </a:cubicBezTo>
                <a:cubicBezTo>
                  <a:pt x="85" y="82"/>
                  <a:pt x="98" y="100"/>
                  <a:pt x="104" y="120"/>
                </a:cubicBezTo>
                <a:cubicBezTo>
                  <a:pt x="110" y="140"/>
                  <a:pt x="114" y="165"/>
                  <a:pt x="114" y="188"/>
                </a:cubicBezTo>
                <a:cubicBezTo>
                  <a:pt x="114" y="211"/>
                  <a:pt x="107" y="240"/>
                  <a:pt x="103" y="257"/>
                </a:cubicBezTo>
                <a:cubicBezTo>
                  <a:pt x="99" y="274"/>
                  <a:pt x="93" y="286"/>
                  <a:pt x="91" y="293"/>
                </a:cubicBezTo>
              </a:path>
            </a:pathLst>
          </a:custGeom>
          <a:noFill/>
          <a:ln w="38100" cmpd="sng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Text Box 14"/>
          <p:cNvSpPr txBox="1">
            <a:spLocks noChangeArrowheads="1"/>
          </p:cNvSpPr>
          <p:nvPr/>
        </p:nvSpPr>
        <p:spPr bwMode="auto">
          <a:xfrm>
            <a:off x="1882078" y="3776410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0000CC"/>
                </a:solidFill>
              </a:rPr>
              <a:t>40</a:t>
            </a:r>
            <a:r>
              <a:rPr lang="en-GB" altLang="x-none" sz="2000">
                <a:solidFill>
                  <a:srgbClr val="0000CC"/>
                </a:solidFill>
                <a:ea typeface="Arial" charset="0"/>
                <a:cs typeface="Arial" charset="0"/>
              </a:rPr>
              <a:t>°</a:t>
            </a:r>
          </a:p>
        </p:txBody>
      </p:sp>
      <p:sp>
        <p:nvSpPr>
          <p:cNvPr id="16" name="Text Box 15"/>
          <p:cNvSpPr txBox="1">
            <a:spLocks noChangeArrowheads="1"/>
          </p:cNvSpPr>
          <p:nvPr/>
        </p:nvSpPr>
        <p:spPr bwMode="auto">
          <a:xfrm>
            <a:off x="5195190" y="3344610"/>
            <a:ext cx="9366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800" i="1">
                <a:solidFill>
                  <a:srgbClr val="0000CC"/>
                </a:solidFill>
                <a:latin typeface="Times New Roman" charset="0"/>
              </a:rPr>
              <a:t>x</a:t>
            </a:r>
          </a:p>
        </p:txBody>
      </p:sp>
      <p:graphicFrame>
        <p:nvGraphicFramePr>
          <p:cNvPr id="1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8663044"/>
              </p:ext>
            </p:extLst>
          </p:nvPr>
        </p:nvGraphicFramePr>
        <p:xfrm>
          <a:off x="1164527" y="5143248"/>
          <a:ext cx="2016125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9" name="Equation" r:id="rId3" imgW="850680" imgH="393480" progId="Equation.3">
                  <p:embed/>
                </p:oleObj>
              </mc:Choice>
              <mc:Fallback>
                <p:oleObj name="Equation" r:id="rId3" imgW="8506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4527" y="5143248"/>
                        <a:ext cx="2016125" cy="925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18"/>
          <p:cNvSpPr txBox="1">
            <a:spLocks noChangeArrowheads="1"/>
          </p:cNvSpPr>
          <p:nvPr/>
        </p:nvSpPr>
        <p:spPr bwMode="auto">
          <a:xfrm>
            <a:off x="712089" y="6265609"/>
            <a:ext cx="5759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Fill in the bits you know.</a:t>
            </a:r>
          </a:p>
        </p:txBody>
      </p:sp>
      <p:sp>
        <p:nvSpPr>
          <p:cNvPr id="19" name="Text Box 19"/>
          <p:cNvSpPr txBox="1">
            <a:spLocks noChangeArrowheads="1"/>
          </p:cNvSpPr>
          <p:nvPr/>
        </p:nvSpPr>
        <p:spPr bwMode="auto">
          <a:xfrm>
            <a:off x="5411090" y="5017833"/>
            <a:ext cx="3527425" cy="1044575"/>
          </a:xfrm>
          <a:prstGeom prst="rect">
            <a:avLst/>
          </a:prstGeom>
          <a:solidFill>
            <a:srgbClr val="FFFF00"/>
          </a:solidFill>
          <a:ln w="381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/>
              <a:t>Because we are trying to find a missing length of a side, the little letters are on top </a:t>
            </a:r>
          </a:p>
        </p:txBody>
      </p:sp>
      <p:sp>
        <p:nvSpPr>
          <p:cNvPr id="20" name="Text Box 20"/>
          <p:cNvSpPr txBox="1">
            <a:spLocks noChangeArrowheads="1"/>
          </p:cNvSpPr>
          <p:nvPr/>
        </p:nvSpPr>
        <p:spPr bwMode="auto">
          <a:xfrm>
            <a:off x="5580520" y="1999801"/>
            <a:ext cx="16557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/>
              <a:t>Not to scale</a:t>
            </a:r>
          </a:p>
        </p:txBody>
      </p:sp>
    </p:spTree>
    <p:extLst>
      <p:ext uri="{BB962C8B-B14F-4D97-AF65-F5344CB8AC3E}">
        <p14:creationId xmlns:p14="http://schemas.microsoft.com/office/powerpoint/2010/main" val="993497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 smtClean="0"/>
              <a:t>Topic: Sine and cosine Rules</a:t>
            </a:r>
            <a:br>
              <a:rPr lang="en-US" dirty="0" smtClean="0"/>
            </a:br>
            <a:r>
              <a:rPr lang="en-US" dirty="0" smtClean="0"/>
              <a:t>EQ: What are the sine and cosine </a:t>
            </a:r>
            <a:r>
              <a:rPr lang="en-US" smtClean="0"/>
              <a:t>rules and when do we use them?</a:t>
            </a:r>
            <a:endParaRPr lang="en-US"/>
          </a:p>
        </p:txBody>
      </p:sp>
      <p:sp>
        <p:nvSpPr>
          <p:cNvPr id="3" name="Freeform 2"/>
          <p:cNvSpPr>
            <a:spLocks/>
          </p:cNvSpPr>
          <p:nvPr/>
        </p:nvSpPr>
        <p:spPr bwMode="auto">
          <a:xfrm>
            <a:off x="1716787" y="2518664"/>
            <a:ext cx="3889375" cy="2159000"/>
          </a:xfrm>
          <a:custGeom>
            <a:avLst/>
            <a:gdLst>
              <a:gd name="T0" fmla="*/ 0 w 2450"/>
              <a:gd name="T1" fmla="*/ 952 h 1360"/>
              <a:gd name="T2" fmla="*/ 2087 w 2450"/>
              <a:gd name="T3" fmla="*/ 0 h 1360"/>
              <a:gd name="T4" fmla="*/ 2450 w 2450"/>
              <a:gd name="T5" fmla="*/ 1360 h 1360"/>
              <a:gd name="T6" fmla="*/ 0 w 2450"/>
              <a:gd name="T7" fmla="*/ 952 h 13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450" h="1360">
                <a:moveTo>
                  <a:pt x="0" y="952"/>
                </a:moveTo>
                <a:lnTo>
                  <a:pt x="2087" y="0"/>
                </a:lnTo>
                <a:lnTo>
                  <a:pt x="2450" y="1360"/>
                </a:lnTo>
                <a:lnTo>
                  <a:pt x="0" y="952"/>
                </a:lnTo>
                <a:close/>
              </a:path>
            </a:pathLst>
          </a:custGeom>
          <a:noFill/>
          <a:ln w="38100" cmpd="sng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2724850" y="2950465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0000CC"/>
                </a:solidFill>
              </a:rPr>
              <a:t>10cm</a:t>
            </a:r>
          </a:p>
        </p:txBody>
      </p:sp>
      <p:sp>
        <p:nvSpPr>
          <p:cNvPr id="5" name="Freeform 4"/>
          <p:cNvSpPr>
            <a:spLocks/>
          </p:cNvSpPr>
          <p:nvPr/>
        </p:nvSpPr>
        <p:spPr bwMode="auto">
          <a:xfrm>
            <a:off x="5007675" y="4164902"/>
            <a:ext cx="454025" cy="441325"/>
          </a:xfrm>
          <a:custGeom>
            <a:avLst/>
            <a:gdLst>
              <a:gd name="T0" fmla="*/ 286 w 286"/>
              <a:gd name="T1" fmla="*/ 6 h 278"/>
              <a:gd name="T2" fmla="*/ 183 w 286"/>
              <a:gd name="T3" fmla="*/ 6 h 278"/>
              <a:gd name="T4" fmla="*/ 99 w 286"/>
              <a:gd name="T5" fmla="*/ 42 h 278"/>
              <a:gd name="T6" fmla="*/ 14 w 286"/>
              <a:gd name="T7" fmla="*/ 142 h 278"/>
              <a:gd name="T8" fmla="*/ 14 w 286"/>
              <a:gd name="T9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6" h="278">
                <a:moveTo>
                  <a:pt x="286" y="6"/>
                </a:moveTo>
                <a:cubicBezTo>
                  <a:pt x="269" y="6"/>
                  <a:pt x="214" y="0"/>
                  <a:pt x="183" y="6"/>
                </a:cubicBezTo>
                <a:cubicBezTo>
                  <a:pt x="152" y="12"/>
                  <a:pt x="127" y="19"/>
                  <a:pt x="99" y="42"/>
                </a:cubicBezTo>
                <a:cubicBezTo>
                  <a:pt x="71" y="65"/>
                  <a:pt x="28" y="103"/>
                  <a:pt x="14" y="142"/>
                </a:cubicBezTo>
                <a:cubicBezTo>
                  <a:pt x="0" y="181"/>
                  <a:pt x="14" y="255"/>
                  <a:pt x="14" y="278"/>
                </a:cubicBezTo>
              </a:path>
            </a:pathLst>
          </a:custGeom>
          <a:noFill/>
          <a:ln w="38100" cmpd="sng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5029900" y="4245865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0000CC"/>
                </a:solidFill>
              </a:rPr>
              <a:t>65</a:t>
            </a:r>
            <a:r>
              <a:rPr lang="en-GB" altLang="x-none" sz="2000">
                <a:solidFill>
                  <a:srgbClr val="0000CC"/>
                </a:solidFill>
                <a:ea typeface="Arial" charset="0"/>
                <a:cs typeface="Arial" charset="0"/>
              </a:rPr>
              <a:t>°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1164781" y="1902714"/>
            <a:ext cx="4679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/>
              <a:t>Finding the missing  side:</a:t>
            </a: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1284987" y="3814064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>
                <a:solidFill>
                  <a:srgbClr val="990099"/>
                </a:solidFill>
              </a:rPr>
              <a:t>A</a:t>
            </a: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5606162" y="4461764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>
                <a:solidFill>
                  <a:srgbClr val="990099"/>
                </a:solidFill>
              </a:rPr>
              <a:t>B</a:t>
            </a: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4956875" y="2158301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>
                <a:solidFill>
                  <a:srgbClr val="990099"/>
                </a:solidFill>
              </a:rPr>
              <a:t>C</a:t>
            </a: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5461699" y="2972689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800" b="1" i="1">
                <a:solidFill>
                  <a:srgbClr val="990099"/>
                </a:solidFill>
                <a:latin typeface="Times New Roman" charset="0"/>
              </a:rPr>
              <a:t>a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3013774" y="2612327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800" b="1" i="1">
                <a:solidFill>
                  <a:srgbClr val="990099"/>
                </a:solidFill>
                <a:latin typeface="Times New Roman" charset="0"/>
              </a:rPr>
              <a:t>b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3445574" y="4269677"/>
            <a:ext cx="3413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800" b="1" i="1">
                <a:solidFill>
                  <a:srgbClr val="990099"/>
                </a:solidFill>
                <a:latin typeface="Times New Roman" charset="0"/>
              </a:rPr>
              <a:t>c</a:t>
            </a:r>
          </a:p>
        </p:txBody>
      </p:sp>
      <p:sp>
        <p:nvSpPr>
          <p:cNvPr id="14" name="Freeform 13"/>
          <p:cNvSpPr>
            <a:spLocks/>
          </p:cNvSpPr>
          <p:nvPr/>
        </p:nvSpPr>
        <p:spPr bwMode="auto">
          <a:xfrm>
            <a:off x="2453387" y="3704526"/>
            <a:ext cx="180975" cy="465138"/>
          </a:xfrm>
          <a:custGeom>
            <a:avLst/>
            <a:gdLst>
              <a:gd name="T0" fmla="*/ 0 w 114"/>
              <a:gd name="T1" fmla="*/ 0 h 293"/>
              <a:gd name="T2" fmla="*/ 52 w 114"/>
              <a:gd name="T3" fmla="*/ 36 h 293"/>
              <a:gd name="T4" fmla="*/ 76 w 114"/>
              <a:gd name="T5" fmla="*/ 68 h 293"/>
              <a:gd name="T6" fmla="*/ 104 w 114"/>
              <a:gd name="T7" fmla="*/ 120 h 293"/>
              <a:gd name="T8" fmla="*/ 114 w 114"/>
              <a:gd name="T9" fmla="*/ 188 h 293"/>
              <a:gd name="T10" fmla="*/ 103 w 114"/>
              <a:gd name="T11" fmla="*/ 257 h 293"/>
              <a:gd name="T12" fmla="*/ 91 w 114"/>
              <a:gd name="T13" fmla="*/ 293 h 2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4" h="293">
                <a:moveTo>
                  <a:pt x="0" y="0"/>
                </a:moveTo>
                <a:cubicBezTo>
                  <a:pt x="9" y="6"/>
                  <a:pt x="39" y="25"/>
                  <a:pt x="52" y="36"/>
                </a:cubicBezTo>
                <a:cubicBezTo>
                  <a:pt x="65" y="47"/>
                  <a:pt x="67" y="54"/>
                  <a:pt x="76" y="68"/>
                </a:cubicBezTo>
                <a:cubicBezTo>
                  <a:pt x="85" y="82"/>
                  <a:pt x="98" y="100"/>
                  <a:pt x="104" y="120"/>
                </a:cubicBezTo>
                <a:cubicBezTo>
                  <a:pt x="110" y="140"/>
                  <a:pt x="114" y="165"/>
                  <a:pt x="114" y="188"/>
                </a:cubicBezTo>
                <a:cubicBezTo>
                  <a:pt x="114" y="211"/>
                  <a:pt x="107" y="240"/>
                  <a:pt x="103" y="257"/>
                </a:cubicBezTo>
                <a:cubicBezTo>
                  <a:pt x="99" y="274"/>
                  <a:pt x="93" y="286"/>
                  <a:pt x="91" y="293"/>
                </a:cubicBezTo>
              </a:path>
            </a:pathLst>
          </a:custGeom>
          <a:noFill/>
          <a:ln w="38100" cmpd="sng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Text Box 14"/>
          <p:cNvSpPr txBox="1">
            <a:spLocks noChangeArrowheads="1"/>
          </p:cNvSpPr>
          <p:nvPr/>
        </p:nvSpPr>
        <p:spPr bwMode="auto">
          <a:xfrm>
            <a:off x="2077150" y="3742627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0000CC"/>
                </a:solidFill>
              </a:rPr>
              <a:t>40</a:t>
            </a:r>
            <a:r>
              <a:rPr lang="en-GB" altLang="x-none" sz="2000">
                <a:solidFill>
                  <a:srgbClr val="0000CC"/>
                </a:solidFill>
                <a:ea typeface="Arial" charset="0"/>
                <a:cs typeface="Arial" charset="0"/>
              </a:rPr>
              <a:t>°</a:t>
            </a:r>
          </a:p>
        </p:txBody>
      </p:sp>
      <p:sp>
        <p:nvSpPr>
          <p:cNvPr id="16" name="Text Box 15"/>
          <p:cNvSpPr txBox="1">
            <a:spLocks noChangeArrowheads="1"/>
          </p:cNvSpPr>
          <p:nvPr/>
        </p:nvSpPr>
        <p:spPr bwMode="auto">
          <a:xfrm>
            <a:off x="5390262" y="3310827"/>
            <a:ext cx="9366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800" i="1">
                <a:solidFill>
                  <a:srgbClr val="0000CC"/>
                </a:solidFill>
                <a:latin typeface="Times New Roman" charset="0"/>
              </a:rPr>
              <a:t>x</a:t>
            </a:r>
          </a:p>
        </p:txBody>
      </p:sp>
      <p:graphicFrame>
        <p:nvGraphicFramePr>
          <p:cNvPr id="1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4815111"/>
              </p:ext>
            </p:extLst>
          </p:nvPr>
        </p:nvGraphicFramePr>
        <p:xfrm>
          <a:off x="997649" y="4913660"/>
          <a:ext cx="2016125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7" name="Equation" r:id="rId3" imgW="850680" imgH="393480" progId="Equation.3">
                  <p:embed/>
                </p:oleObj>
              </mc:Choice>
              <mc:Fallback>
                <p:oleObj name="Equation" r:id="rId3" imgW="8506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7649" y="4913660"/>
                        <a:ext cx="2016125" cy="925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17"/>
          <p:cNvSpPr txBox="1">
            <a:spLocks noChangeArrowheads="1"/>
          </p:cNvSpPr>
          <p:nvPr/>
        </p:nvSpPr>
        <p:spPr bwMode="auto">
          <a:xfrm>
            <a:off x="997649" y="6165153"/>
            <a:ext cx="5759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Fill in the bits you know.</a:t>
            </a:r>
          </a:p>
        </p:txBody>
      </p:sp>
      <p:graphicFrame>
        <p:nvGraphicFramePr>
          <p:cNvPr id="19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8157037"/>
              </p:ext>
            </p:extLst>
          </p:nvPr>
        </p:nvGraphicFramePr>
        <p:xfrm>
          <a:off x="4010724" y="4921345"/>
          <a:ext cx="2447925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8" name="Equation" r:id="rId5" imgW="1066680" imgH="393480" progId="Equation.3">
                  <p:embed/>
                </p:oleObj>
              </mc:Choice>
              <mc:Fallback>
                <p:oleObj name="Equation" r:id="rId5" imgW="10666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0724" y="4921345"/>
                        <a:ext cx="2447925" cy="903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20"/>
          <p:cNvSpPr txBox="1">
            <a:spLocks noChangeArrowheads="1"/>
          </p:cNvSpPr>
          <p:nvPr/>
        </p:nvSpPr>
        <p:spPr bwMode="auto">
          <a:xfrm>
            <a:off x="5809806" y="2040826"/>
            <a:ext cx="16557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/>
              <a:t>Not to scale</a:t>
            </a:r>
          </a:p>
        </p:txBody>
      </p:sp>
    </p:spTree>
    <p:extLst>
      <p:ext uri="{BB962C8B-B14F-4D97-AF65-F5344CB8AC3E}">
        <p14:creationId xmlns:p14="http://schemas.microsoft.com/office/powerpoint/2010/main" val="1618000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 smtClean="0"/>
              <a:t>Topic: Sine and cosine Rules</a:t>
            </a:r>
            <a:br>
              <a:rPr lang="en-US" dirty="0" smtClean="0"/>
            </a:br>
            <a:r>
              <a:rPr lang="en-US" dirty="0" smtClean="0"/>
              <a:t>EQ: What are the sine and cosine </a:t>
            </a:r>
            <a:r>
              <a:rPr lang="en-US" smtClean="0"/>
              <a:t>rules and when do we use them?</a:t>
            </a:r>
            <a:endParaRPr lang="en-US"/>
          </a:p>
        </p:txBody>
      </p:sp>
      <p:sp>
        <p:nvSpPr>
          <p:cNvPr id="3" name="Freeform 2"/>
          <p:cNvSpPr>
            <a:spLocks/>
          </p:cNvSpPr>
          <p:nvPr/>
        </p:nvSpPr>
        <p:spPr bwMode="auto">
          <a:xfrm>
            <a:off x="1192531" y="2801936"/>
            <a:ext cx="3889375" cy="2159000"/>
          </a:xfrm>
          <a:custGeom>
            <a:avLst/>
            <a:gdLst>
              <a:gd name="T0" fmla="*/ 0 w 2450"/>
              <a:gd name="T1" fmla="*/ 952 h 1360"/>
              <a:gd name="T2" fmla="*/ 2087 w 2450"/>
              <a:gd name="T3" fmla="*/ 0 h 1360"/>
              <a:gd name="T4" fmla="*/ 2450 w 2450"/>
              <a:gd name="T5" fmla="*/ 1360 h 1360"/>
              <a:gd name="T6" fmla="*/ 0 w 2450"/>
              <a:gd name="T7" fmla="*/ 952 h 13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450" h="1360">
                <a:moveTo>
                  <a:pt x="0" y="952"/>
                </a:moveTo>
                <a:lnTo>
                  <a:pt x="2087" y="0"/>
                </a:lnTo>
                <a:lnTo>
                  <a:pt x="2450" y="1360"/>
                </a:lnTo>
                <a:lnTo>
                  <a:pt x="0" y="952"/>
                </a:lnTo>
                <a:close/>
              </a:path>
            </a:pathLst>
          </a:custGeom>
          <a:noFill/>
          <a:ln w="38100" cmpd="sng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2200594" y="3233737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0000CC"/>
                </a:solidFill>
              </a:rPr>
              <a:t>10cm</a:t>
            </a:r>
          </a:p>
        </p:txBody>
      </p:sp>
      <p:sp>
        <p:nvSpPr>
          <p:cNvPr id="5" name="Freeform 4"/>
          <p:cNvSpPr>
            <a:spLocks/>
          </p:cNvSpPr>
          <p:nvPr/>
        </p:nvSpPr>
        <p:spPr bwMode="auto">
          <a:xfrm>
            <a:off x="4483419" y="4448174"/>
            <a:ext cx="454025" cy="441325"/>
          </a:xfrm>
          <a:custGeom>
            <a:avLst/>
            <a:gdLst>
              <a:gd name="T0" fmla="*/ 286 w 286"/>
              <a:gd name="T1" fmla="*/ 6 h 278"/>
              <a:gd name="T2" fmla="*/ 183 w 286"/>
              <a:gd name="T3" fmla="*/ 6 h 278"/>
              <a:gd name="T4" fmla="*/ 99 w 286"/>
              <a:gd name="T5" fmla="*/ 42 h 278"/>
              <a:gd name="T6" fmla="*/ 14 w 286"/>
              <a:gd name="T7" fmla="*/ 142 h 278"/>
              <a:gd name="T8" fmla="*/ 14 w 286"/>
              <a:gd name="T9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6" h="278">
                <a:moveTo>
                  <a:pt x="286" y="6"/>
                </a:moveTo>
                <a:cubicBezTo>
                  <a:pt x="269" y="6"/>
                  <a:pt x="214" y="0"/>
                  <a:pt x="183" y="6"/>
                </a:cubicBezTo>
                <a:cubicBezTo>
                  <a:pt x="152" y="12"/>
                  <a:pt x="127" y="19"/>
                  <a:pt x="99" y="42"/>
                </a:cubicBezTo>
                <a:cubicBezTo>
                  <a:pt x="71" y="65"/>
                  <a:pt x="28" y="103"/>
                  <a:pt x="14" y="142"/>
                </a:cubicBezTo>
                <a:cubicBezTo>
                  <a:pt x="0" y="181"/>
                  <a:pt x="14" y="255"/>
                  <a:pt x="14" y="278"/>
                </a:cubicBezTo>
              </a:path>
            </a:pathLst>
          </a:custGeom>
          <a:noFill/>
          <a:ln w="38100" cmpd="sng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4505644" y="4529137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0000CC"/>
                </a:solidFill>
              </a:rPr>
              <a:t>65</a:t>
            </a:r>
            <a:r>
              <a:rPr lang="en-GB" altLang="x-none" sz="2000">
                <a:solidFill>
                  <a:srgbClr val="0000CC"/>
                </a:solidFill>
                <a:ea typeface="Arial" charset="0"/>
                <a:cs typeface="Arial" charset="0"/>
              </a:rPr>
              <a:t>°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689293" y="1936748"/>
            <a:ext cx="4679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/>
              <a:t>Finding the missing  side:</a:t>
            </a: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760731" y="4097336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>
                <a:solidFill>
                  <a:srgbClr val="990099"/>
                </a:solidFill>
              </a:rPr>
              <a:t>A</a:t>
            </a: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5081906" y="4745036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>
                <a:solidFill>
                  <a:srgbClr val="990099"/>
                </a:solidFill>
              </a:rPr>
              <a:t>B</a:t>
            </a: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4432619" y="2441573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>
                <a:solidFill>
                  <a:srgbClr val="990099"/>
                </a:solidFill>
              </a:rPr>
              <a:t>C</a:t>
            </a: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4937443" y="3255961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800" b="1" i="1">
                <a:solidFill>
                  <a:srgbClr val="990099"/>
                </a:solidFill>
                <a:latin typeface="Times New Roman" charset="0"/>
              </a:rPr>
              <a:t>a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489518" y="2895599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800" b="1" i="1">
                <a:solidFill>
                  <a:srgbClr val="990099"/>
                </a:solidFill>
                <a:latin typeface="Times New Roman" charset="0"/>
              </a:rPr>
              <a:t>b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2921318" y="4552949"/>
            <a:ext cx="3413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800" b="1" i="1">
                <a:solidFill>
                  <a:srgbClr val="990099"/>
                </a:solidFill>
                <a:latin typeface="Times New Roman" charset="0"/>
              </a:rPr>
              <a:t>c</a:t>
            </a:r>
          </a:p>
        </p:txBody>
      </p:sp>
      <p:sp>
        <p:nvSpPr>
          <p:cNvPr id="14" name="Freeform 13"/>
          <p:cNvSpPr>
            <a:spLocks/>
          </p:cNvSpPr>
          <p:nvPr/>
        </p:nvSpPr>
        <p:spPr bwMode="auto">
          <a:xfrm>
            <a:off x="1929131" y="3987798"/>
            <a:ext cx="180975" cy="465138"/>
          </a:xfrm>
          <a:custGeom>
            <a:avLst/>
            <a:gdLst>
              <a:gd name="T0" fmla="*/ 0 w 114"/>
              <a:gd name="T1" fmla="*/ 0 h 293"/>
              <a:gd name="T2" fmla="*/ 52 w 114"/>
              <a:gd name="T3" fmla="*/ 36 h 293"/>
              <a:gd name="T4" fmla="*/ 76 w 114"/>
              <a:gd name="T5" fmla="*/ 68 h 293"/>
              <a:gd name="T6" fmla="*/ 104 w 114"/>
              <a:gd name="T7" fmla="*/ 120 h 293"/>
              <a:gd name="T8" fmla="*/ 114 w 114"/>
              <a:gd name="T9" fmla="*/ 188 h 293"/>
              <a:gd name="T10" fmla="*/ 103 w 114"/>
              <a:gd name="T11" fmla="*/ 257 h 293"/>
              <a:gd name="T12" fmla="*/ 91 w 114"/>
              <a:gd name="T13" fmla="*/ 293 h 2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4" h="293">
                <a:moveTo>
                  <a:pt x="0" y="0"/>
                </a:moveTo>
                <a:cubicBezTo>
                  <a:pt x="9" y="6"/>
                  <a:pt x="39" y="25"/>
                  <a:pt x="52" y="36"/>
                </a:cubicBezTo>
                <a:cubicBezTo>
                  <a:pt x="65" y="47"/>
                  <a:pt x="67" y="54"/>
                  <a:pt x="76" y="68"/>
                </a:cubicBezTo>
                <a:cubicBezTo>
                  <a:pt x="85" y="82"/>
                  <a:pt x="98" y="100"/>
                  <a:pt x="104" y="120"/>
                </a:cubicBezTo>
                <a:cubicBezTo>
                  <a:pt x="110" y="140"/>
                  <a:pt x="114" y="165"/>
                  <a:pt x="114" y="188"/>
                </a:cubicBezTo>
                <a:cubicBezTo>
                  <a:pt x="114" y="211"/>
                  <a:pt x="107" y="240"/>
                  <a:pt x="103" y="257"/>
                </a:cubicBezTo>
                <a:cubicBezTo>
                  <a:pt x="99" y="274"/>
                  <a:pt x="93" y="286"/>
                  <a:pt x="91" y="293"/>
                </a:cubicBezTo>
              </a:path>
            </a:pathLst>
          </a:custGeom>
          <a:noFill/>
          <a:ln w="38100" cmpd="sng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Text Box 14"/>
          <p:cNvSpPr txBox="1">
            <a:spLocks noChangeArrowheads="1"/>
          </p:cNvSpPr>
          <p:nvPr/>
        </p:nvSpPr>
        <p:spPr bwMode="auto">
          <a:xfrm>
            <a:off x="1552894" y="4025899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0000CC"/>
                </a:solidFill>
              </a:rPr>
              <a:t>40</a:t>
            </a:r>
            <a:r>
              <a:rPr lang="en-GB" altLang="x-none" sz="2000">
                <a:solidFill>
                  <a:srgbClr val="0000CC"/>
                </a:solidFill>
                <a:ea typeface="Arial" charset="0"/>
                <a:cs typeface="Arial" charset="0"/>
              </a:rPr>
              <a:t>°</a:t>
            </a:r>
          </a:p>
        </p:txBody>
      </p:sp>
      <p:sp>
        <p:nvSpPr>
          <p:cNvPr id="16" name="Text Box 15"/>
          <p:cNvSpPr txBox="1">
            <a:spLocks noChangeArrowheads="1"/>
          </p:cNvSpPr>
          <p:nvPr/>
        </p:nvSpPr>
        <p:spPr bwMode="auto">
          <a:xfrm>
            <a:off x="4866006" y="3594099"/>
            <a:ext cx="9366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800" i="1">
                <a:solidFill>
                  <a:srgbClr val="0000CC"/>
                </a:solidFill>
                <a:latin typeface="Times New Roman" charset="0"/>
              </a:rPr>
              <a:t>x</a:t>
            </a:r>
          </a:p>
        </p:txBody>
      </p:sp>
      <p:graphicFrame>
        <p:nvGraphicFramePr>
          <p:cNvPr id="1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5543696"/>
              </p:ext>
            </p:extLst>
          </p:nvPr>
        </p:nvGraphicFramePr>
        <p:xfrm>
          <a:off x="473394" y="5321299"/>
          <a:ext cx="2016125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25" name="Equation" r:id="rId3" imgW="850680" imgH="393480" progId="Equation.3">
                  <p:embed/>
                </p:oleObj>
              </mc:Choice>
              <mc:Fallback>
                <p:oleObj name="Equation" r:id="rId3" imgW="8506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394" y="5321299"/>
                        <a:ext cx="2016125" cy="925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4645029"/>
              </p:ext>
            </p:extLst>
          </p:nvPr>
        </p:nvGraphicFramePr>
        <p:xfrm>
          <a:off x="3569019" y="5321298"/>
          <a:ext cx="2447925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26" name="Equation" r:id="rId5" imgW="1066680" imgH="393480" progId="Equation.3">
                  <p:embed/>
                </p:oleObj>
              </mc:Choice>
              <mc:Fallback>
                <p:oleObj name="Equation" r:id="rId5" imgW="10666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9019" y="5321298"/>
                        <a:ext cx="2447925" cy="903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6803922"/>
              </p:ext>
            </p:extLst>
          </p:nvPr>
        </p:nvGraphicFramePr>
        <p:xfrm>
          <a:off x="6604509" y="5308660"/>
          <a:ext cx="2879725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27" name="Equation" r:id="rId7" imgW="1244520" imgH="393480" progId="Equation.3">
                  <p:embed/>
                </p:oleObj>
              </mc:Choice>
              <mc:Fallback>
                <p:oleObj name="Equation" r:id="rId7" imgW="124452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4509" y="5308660"/>
                        <a:ext cx="2879725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1205296"/>
              </p:ext>
            </p:extLst>
          </p:nvPr>
        </p:nvGraphicFramePr>
        <p:xfrm>
          <a:off x="9826879" y="5558691"/>
          <a:ext cx="1263650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28" name="Equation" r:id="rId9" imgW="545760" imgH="177480" progId="Equation.3">
                  <p:embed/>
                </p:oleObj>
              </mc:Choice>
              <mc:Fallback>
                <p:oleObj name="Equation" r:id="rId9" imgW="54576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26879" y="5558691"/>
                        <a:ext cx="1263650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22"/>
          <p:cNvSpPr txBox="1">
            <a:spLocks noChangeArrowheads="1"/>
          </p:cNvSpPr>
          <p:nvPr/>
        </p:nvSpPr>
        <p:spPr bwMode="auto">
          <a:xfrm>
            <a:off x="11090529" y="5585617"/>
            <a:ext cx="5762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/>
              <a:t>cm</a:t>
            </a:r>
          </a:p>
        </p:txBody>
      </p:sp>
      <p:sp>
        <p:nvSpPr>
          <p:cNvPr id="22" name="Text Box 23"/>
          <p:cNvSpPr txBox="1">
            <a:spLocks noChangeArrowheads="1"/>
          </p:cNvSpPr>
          <p:nvPr/>
        </p:nvSpPr>
        <p:spPr bwMode="auto">
          <a:xfrm>
            <a:off x="5297806" y="2368549"/>
            <a:ext cx="16557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/>
              <a:t>Not to scale</a:t>
            </a:r>
          </a:p>
        </p:txBody>
      </p:sp>
    </p:spTree>
    <p:extLst>
      <p:ext uri="{BB962C8B-B14F-4D97-AF65-F5344CB8AC3E}">
        <p14:creationId xmlns:p14="http://schemas.microsoft.com/office/powerpoint/2010/main" val="149905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300" y="0"/>
            <a:ext cx="91520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076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 smtClean="0"/>
              <a:t>Topic: Sine and cosine Rules</a:t>
            </a:r>
            <a:br>
              <a:rPr lang="en-US" dirty="0" smtClean="0"/>
            </a:br>
            <a:r>
              <a:rPr lang="en-US" dirty="0" smtClean="0"/>
              <a:t>EQ: What are the sine and cosine </a:t>
            </a:r>
            <a:r>
              <a:rPr lang="en-US" smtClean="0"/>
              <a:t>rules and when do we use them?</a:t>
            </a:r>
            <a:endParaRPr lang="en-US"/>
          </a:p>
        </p:txBody>
      </p:sp>
      <p:sp>
        <p:nvSpPr>
          <p:cNvPr id="3" name="Freeform 2"/>
          <p:cNvSpPr>
            <a:spLocks/>
          </p:cNvSpPr>
          <p:nvPr/>
        </p:nvSpPr>
        <p:spPr bwMode="auto">
          <a:xfrm>
            <a:off x="1546098" y="3011743"/>
            <a:ext cx="3925888" cy="2257425"/>
          </a:xfrm>
          <a:custGeom>
            <a:avLst/>
            <a:gdLst>
              <a:gd name="T0" fmla="*/ 0 w 2473"/>
              <a:gd name="T1" fmla="*/ 952 h 1422"/>
              <a:gd name="T2" fmla="*/ 2087 w 2473"/>
              <a:gd name="T3" fmla="*/ 0 h 1422"/>
              <a:gd name="T4" fmla="*/ 2473 w 2473"/>
              <a:gd name="T5" fmla="*/ 1422 h 1422"/>
              <a:gd name="T6" fmla="*/ 0 w 2473"/>
              <a:gd name="T7" fmla="*/ 952 h 14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473" h="1422">
                <a:moveTo>
                  <a:pt x="0" y="952"/>
                </a:moveTo>
                <a:lnTo>
                  <a:pt x="2087" y="0"/>
                </a:lnTo>
                <a:lnTo>
                  <a:pt x="2473" y="1422"/>
                </a:lnTo>
                <a:lnTo>
                  <a:pt x="0" y="952"/>
                </a:lnTo>
                <a:close/>
              </a:path>
            </a:pathLst>
          </a:custGeom>
          <a:noFill/>
          <a:ln w="38100" cmpd="sng">
            <a:solidFill>
              <a:srgbClr val="66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2554162" y="3443543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660033"/>
                </a:solidFill>
              </a:rPr>
              <a:t>10cm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5219574" y="3803905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660033"/>
                </a:solidFill>
              </a:rPr>
              <a:t>7.1cm</a:t>
            </a:r>
          </a:p>
        </p:txBody>
      </p:sp>
      <p:sp>
        <p:nvSpPr>
          <p:cNvPr id="6" name="Freeform 5"/>
          <p:cNvSpPr>
            <a:spLocks/>
          </p:cNvSpPr>
          <p:nvPr/>
        </p:nvSpPr>
        <p:spPr bwMode="auto">
          <a:xfrm>
            <a:off x="4851273" y="4661154"/>
            <a:ext cx="439738" cy="471488"/>
          </a:xfrm>
          <a:custGeom>
            <a:avLst/>
            <a:gdLst>
              <a:gd name="T0" fmla="*/ 277 w 277"/>
              <a:gd name="T1" fmla="*/ 4 h 297"/>
              <a:gd name="T2" fmla="*/ 174 w 277"/>
              <a:gd name="T3" fmla="*/ 4 h 297"/>
              <a:gd name="T4" fmla="*/ 87 w 277"/>
              <a:gd name="T5" fmla="*/ 30 h 297"/>
              <a:gd name="T6" fmla="*/ 36 w 277"/>
              <a:gd name="T7" fmla="*/ 72 h 297"/>
              <a:gd name="T8" fmla="*/ 5 w 277"/>
              <a:gd name="T9" fmla="*/ 140 h 297"/>
              <a:gd name="T10" fmla="*/ 3 w 277"/>
              <a:gd name="T11" fmla="*/ 297 h 2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77" h="297">
                <a:moveTo>
                  <a:pt x="277" y="4"/>
                </a:moveTo>
                <a:cubicBezTo>
                  <a:pt x="260" y="4"/>
                  <a:pt x="206" y="0"/>
                  <a:pt x="174" y="4"/>
                </a:cubicBezTo>
                <a:cubicBezTo>
                  <a:pt x="142" y="8"/>
                  <a:pt x="110" y="19"/>
                  <a:pt x="87" y="30"/>
                </a:cubicBezTo>
                <a:cubicBezTo>
                  <a:pt x="64" y="41"/>
                  <a:pt x="50" y="54"/>
                  <a:pt x="36" y="72"/>
                </a:cubicBezTo>
                <a:cubicBezTo>
                  <a:pt x="22" y="90"/>
                  <a:pt x="10" y="103"/>
                  <a:pt x="5" y="140"/>
                </a:cubicBezTo>
                <a:cubicBezTo>
                  <a:pt x="0" y="177"/>
                  <a:pt x="4" y="264"/>
                  <a:pt x="3" y="297"/>
                </a:cubicBezTo>
              </a:path>
            </a:pathLst>
          </a:custGeom>
          <a:noFill/>
          <a:ln w="38100" cmpd="sng">
            <a:solidFill>
              <a:srgbClr val="66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4859212" y="4738943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660033"/>
                </a:solidFill>
              </a:rPr>
              <a:t>65</a:t>
            </a:r>
            <a:r>
              <a:rPr lang="en-GB" altLang="x-none" sz="2000">
                <a:solidFill>
                  <a:srgbClr val="660033"/>
                </a:solidFill>
                <a:ea typeface="Arial" charset="0"/>
                <a:cs typeface="Arial" charset="0"/>
              </a:rPr>
              <a:t>°</a:t>
            </a: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1042861" y="2146554"/>
            <a:ext cx="4679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/>
              <a:t>Finding the missing  angle:</a:t>
            </a: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1474661" y="5459667"/>
            <a:ext cx="4032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Is it a right-angled triangle?</a:t>
            </a: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1474661" y="5891467"/>
            <a:ext cx="3816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Is there a matching pair?</a:t>
            </a:r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5435474" y="5459667"/>
            <a:ext cx="720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No</a:t>
            </a:r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5435474" y="5891467"/>
            <a:ext cx="720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Yes</a:t>
            </a:r>
          </a:p>
        </p:txBody>
      </p:sp>
      <p:grpSp>
        <p:nvGrpSpPr>
          <p:cNvPr id="13" name="Group 12"/>
          <p:cNvGrpSpPr>
            <a:grpSpLocks/>
          </p:cNvGrpSpPr>
          <p:nvPr/>
        </p:nvGrpSpPr>
        <p:grpSpPr bwMode="auto">
          <a:xfrm>
            <a:off x="2627186" y="3370517"/>
            <a:ext cx="2735262" cy="1873250"/>
            <a:chOff x="1701" y="1123"/>
            <a:chExt cx="1723" cy="1128"/>
          </a:xfrm>
        </p:grpSpPr>
        <p:sp>
          <p:nvSpPr>
            <p:cNvPr id="14" name="Oval 13"/>
            <p:cNvSpPr>
              <a:spLocks noChangeArrowheads="1"/>
            </p:cNvSpPr>
            <p:nvPr/>
          </p:nvSpPr>
          <p:spPr bwMode="auto">
            <a:xfrm>
              <a:off x="3107" y="1933"/>
              <a:ext cx="317" cy="318"/>
            </a:xfrm>
            <a:prstGeom prst="ellips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x-none" altLang="x-none">
                <a:solidFill>
                  <a:srgbClr val="008000"/>
                </a:solidFill>
              </a:endParaRPr>
            </a:p>
          </p:txBody>
        </p:sp>
        <p:sp>
          <p:nvSpPr>
            <p:cNvPr id="15" name="Oval 14"/>
            <p:cNvSpPr>
              <a:spLocks noChangeArrowheads="1"/>
            </p:cNvSpPr>
            <p:nvPr/>
          </p:nvSpPr>
          <p:spPr bwMode="auto">
            <a:xfrm>
              <a:off x="1701" y="1123"/>
              <a:ext cx="317" cy="318"/>
            </a:xfrm>
            <a:prstGeom prst="ellips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x-none" altLang="x-none">
                <a:solidFill>
                  <a:srgbClr val="008000"/>
                </a:solidFill>
              </a:endParaRPr>
            </a:p>
          </p:txBody>
        </p:sp>
      </p:grpSp>
      <p:sp>
        <p:nvSpPr>
          <p:cNvPr id="16" name="Freeform 15"/>
          <p:cNvSpPr>
            <a:spLocks/>
          </p:cNvSpPr>
          <p:nvPr/>
        </p:nvSpPr>
        <p:spPr bwMode="auto">
          <a:xfrm>
            <a:off x="2282699" y="4197604"/>
            <a:ext cx="180975" cy="465138"/>
          </a:xfrm>
          <a:custGeom>
            <a:avLst/>
            <a:gdLst>
              <a:gd name="T0" fmla="*/ 0 w 114"/>
              <a:gd name="T1" fmla="*/ 0 h 293"/>
              <a:gd name="T2" fmla="*/ 52 w 114"/>
              <a:gd name="T3" fmla="*/ 36 h 293"/>
              <a:gd name="T4" fmla="*/ 76 w 114"/>
              <a:gd name="T5" fmla="*/ 68 h 293"/>
              <a:gd name="T6" fmla="*/ 104 w 114"/>
              <a:gd name="T7" fmla="*/ 120 h 293"/>
              <a:gd name="T8" fmla="*/ 114 w 114"/>
              <a:gd name="T9" fmla="*/ 188 h 293"/>
              <a:gd name="T10" fmla="*/ 103 w 114"/>
              <a:gd name="T11" fmla="*/ 257 h 293"/>
              <a:gd name="T12" fmla="*/ 91 w 114"/>
              <a:gd name="T13" fmla="*/ 293 h 2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4" h="293">
                <a:moveTo>
                  <a:pt x="0" y="0"/>
                </a:moveTo>
                <a:cubicBezTo>
                  <a:pt x="9" y="6"/>
                  <a:pt x="39" y="25"/>
                  <a:pt x="52" y="36"/>
                </a:cubicBezTo>
                <a:cubicBezTo>
                  <a:pt x="65" y="47"/>
                  <a:pt x="67" y="54"/>
                  <a:pt x="76" y="68"/>
                </a:cubicBezTo>
                <a:cubicBezTo>
                  <a:pt x="85" y="82"/>
                  <a:pt x="98" y="100"/>
                  <a:pt x="104" y="120"/>
                </a:cubicBezTo>
                <a:cubicBezTo>
                  <a:pt x="110" y="140"/>
                  <a:pt x="114" y="165"/>
                  <a:pt x="114" y="188"/>
                </a:cubicBezTo>
                <a:cubicBezTo>
                  <a:pt x="114" y="211"/>
                  <a:pt x="107" y="240"/>
                  <a:pt x="103" y="257"/>
                </a:cubicBezTo>
                <a:cubicBezTo>
                  <a:pt x="99" y="274"/>
                  <a:pt x="93" y="286"/>
                  <a:pt x="91" y="293"/>
                </a:cubicBezTo>
              </a:path>
            </a:pathLst>
          </a:custGeom>
          <a:noFill/>
          <a:ln w="38100" cmpd="sng">
            <a:solidFill>
              <a:srgbClr val="66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Text Box 16"/>
          <p:cNvSpPr txBox="1">
            <a:spLocks noChangeArrowheads="1"/>
          </p:cNvSpPr>
          <p:nvPr/>
        </p:nvSpPr>
        <p:spPr bwMode="auto">
          <a:xfrm>
            <a:off x="1906462" y="4235705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l-GR" altLang="x-none" sz="2000" i="1">
                <a:solidFill>
                  <a:srgbClr val="660033"/>
                </a:solidFill>
                <a:ea typeface="Arial" charset="0"/>
                <a:cs typeface="Arial" charset="0"/>
              </a:rPr>
              <a:t>θ</a:t>
            </a:r>
            <a:r>
              <a:rPr lang="en-GB" altLang="x-none" sz="2000">
                <a:solidFill>
                  <a:srgbClr val="660033"/>
                </a:solidFill>
                <a:ea typeface="Arial" charset="0"/>
                <a:cs typeface="Arial" charset="0"/>
              </a:rPr>
              <a:t>°</a:t>
            </a:r>
          </a:p>
        </p:txBody>
      </p:sp>
      <p:sp>
        <p:nvSpPr>
          <p:cNvPr id="18" name="Text Box 17"/>
          <p:cNvSpPr txBox="1">
            <a:spLocks noChangeArrowheads="1"/>
          </p:cNvSpPr>
          <p:nvPr/>
        </p:nvSpPr>
        <p:spPr bwMode="auto">
          <a:xfrm>
            <a:off x="5651374" y="2578355"/>
            <a:ext cx="16557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/>
              <a:t>Not to scale</a:t>
            </a:r>
          </a:p>
        </p:txBody>
      </p:sp>
    </p:spTree>
    <p:extLst>
      <p:ext uri="{BB962C8B-B14F-4D97-AF65-F5344CB8AC3E}">
        <p14:creationId xmlns:p14="http://schemas.microsoft.com/office/powerpoint/2010/main" val="492979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 smtClean="0"/>
              <a:t>Topic: Sine and cosine Rules</a:t>
            </a:r>
            <a:br>
              <a:rPr lang="en-US" dirty="0" smtClean="0"/>
            </a:br>
            <a:r>
              <a:rPr lang="en-US" dirty="0" smtClean="0"/>
              <a:t>EQ: What are the sine and cosine </a:t>
            </a:r>
            <a:r>
              <a:rPr lang="en-US" smtClean="0"/>
              <a:t>rules and when do we use them?</a:t>
            </a:r>
            <a:endParaRPr lang="en-US"/>
          </a:p>
        </p:txBody>
      </p:sp>
      <p:sp>
        <p:nvSpPr>
          <p:cNvPr id="3" name="Text Box 6"/>
          <p:cNvSpPr txBox="1">
            <a:spLocks noChangeArrowheads="1"/>
          </p:cNvSpPr>
          <p:nvPr/>
        </p:nvSpPr>
        <p:spPr bwMode="auto">
          <a:xfrm>
            <a:off x="542989" y="1792287"/>
            <a:ext cx="4679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/>
              <a:t>Finding the missing  angle:</a:t>
            </a:r>
          </a:p>
        </p:txBody>
      </p:sp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974789" y="5105400"/>
            <a:ext cx="4032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Is it a right-angled triangle?</a:t>
            </a:r>
          </a:p>
        </p:txBody>
      </p:sp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974789" y="5537200"/>
            <a:ext cx="3816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Is there a matching pair?</a:t>
            </a:r>
          </a:p>
        </p:txBody>
      </p:sp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4935602" y="5105400"/>
            <a:ext cx="720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No</a:t>
            </a:r>
          </a:p>
        </p:txBody>
      </p:sp>
      <p:sp>
        <p:nvSpPr>
          <p:cNvPr id="7" name="Text Box 10"/>
          <p:cNvSpPr txBox="1">
            <a:spLocks noChangeArrowheads="1"/>
          </p:cNvSpPr>
          <p:nvPr/>
        </p:nvSpPr>
        <p:spPr bwMode="auto">
          <a:xfrm>
            <a:off x="4935602" y="5537200"/>
            <a:ext cx="720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Yes</a:t>
            </a:r>
          </a:p>
        </p:txBody>
      </p:sp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974789" y="6400800"/>
            <a:ext cx="41767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Label the sides and angles.</a:t>
            </a:r>
          </a:p>
        </p:txBody>
      </p:sp>
      <p:sp>
        <p:nvSpPr>
          <p:cNvPr id="9" name="Text Box 12"/>
          <p:cNvSpPr txBox="1">
            <a:spLocks noChangeArrowheads="1"/>
          </p:cNvSpPr>
          <p:nvPr/>
        </p:nvSpPr>
        <p:spPr bwMode="auto">
          <a:xfrm>
            <a:off x="614427" y="3952875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>
                <a:solidFill>
                  <a:srgbClr val="008000"/>
                </a:solidFill>
              </a:rPr>
              <a:t>A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4935602" y="4600575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>
                <a:solidFill>
                  <a:srgbClr val="008000"/>
                </a:solidFill>
              </a:rPr>
              <a:t>B</a:t>
            </a:r>
          </a:p>
        </p:txBody>
      </p:sp>
      <p:sp>
        <p:nvSpPr>
          <p:cNvPr id="11" name="Text Box 14"/>
          <p:cNvSpPr txBox="1">
            <a:spLocks noChangeArrowheads="1"/>
          </p:cNvSpPr>
          <p:nvPr/>
        </p:nvSpPr>
        <p:spPr bwMode="auto">
          <a:xfrm>
            <a:off x="4286315" y="2297112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>
                <a:solidFill>
                  <a:srgbClr val="008000"/>
                </a:solidFill>
              </a:rPr>
              <a:t>C</a:t>
            </a:r>
          </a:p>
        </p:txBody>
      </p:sp>
      <p:sp>
        <p:nvSpPr>
          <p:cNvPr id="12" name="Rectangle 15"/>
          <p:cNvSpPr>
            <a:spLocks noChangeArrowheads="1"/>
          </p:cNvSpPr>
          <p:nvPr/>
        </p:nvSpPr>
        <p:spPr bwMode="auto">
          <a:xfrm>
            <a:off x="4791139" y="3111500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800" b="1" i="1">
                <a:solidFill>
                  <a:srgbClr val="008000"/>
                </a:solidFill>
                <a:latin typeface="Times New Roman" charset="0"/>
              </a:rPr>
              <a:t>a</a:t>
            </a:r>
          </a:p>
        </p:txBody>
      </p:sp>
      <p:sp>
        <p:nvSpPr>
          <p:cNvPr id="13" name="Rectangle 16"/>
          <p:cNvSpPr>
            <a:spLocks noChangeArrowheads="1"/>
          </p:cNvSpPr>
          <p:nvPr/>
        </p:nvSpPr>
        <p:spPr bwMode="auto">
          <a:xfrm>
            <a:off x="2343214" y="2751138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800" b="1" i="1">
                <a:solidFill>
                  <a:srgbClr val="008000"/>
                </a:solidFill>
                <a:latin typeface="Times New Roman" charset="0"/>
              </a:rPr>
              <a:t>b</a:t>
            </a:r>
          </a:p>
        </p:txBody>
      </p:sp>
      <p:sp>
        <p:nvSpPr>
          <p:cNvPr id="14" name="Rectangle 17"/>
          <p:cNvSpPr>
            <a:spLocks noChangeArrowheads="1"/>
          </p:cNvSpPr>
          <p:nvPr/>
        </p:nvSpPr>
        <p:spPr bwMode="auto">
          <a:xfrm>
            <a:off x="2775014" y="4408488"/>
            <a:ext cx="3413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800" b="1" i="1">
                <a:solidFill>
                  <a:srgbClr val="008000"/>
                </a:solidFill>
                <a:latin typeface="Times New Roman" charset="0"/>
              </a:rPr>
              <a:t>c</a:t>
            </a:r>
          </a:p>
        </p:txBody>
      </p:sp>
      <p:sp>
        <p:nvSpPr>
          <p:cNvPr id="15" name="Text Box 21"/>
          <p:cNvSpPr txBox="1">
            <a:spLocks noChangeArrowheads="1"/>
          </p:cNvSpPr>
          <p:nvPr/>
        </p:nvSpPr>
        <p:spPr bwMode="auto">
          <a:xfrm>
            <a:off x="974789" y="5969000"/>
            <a:ext cx="3600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Use the Sine Rule</a:t>
            </a:r>
          </a:p>
        </p:txBody>
      </p:sp>
      <p:sp>
        <p:nvSpPr>
          <p:cNvPr id="16" name="Freeform 42"/>
          <p:cNvSpPr>
            <a:spLocks/>
          </p:cNvSpPr>
          <p:nvPr/>
        </p:nvSpPr>
        <p:spPr bwMode="auto">
          <a:xfrm>
            <a:off x="1046226" y="2657476"/>
            <a:ext cx="3925888" cy="2257425"/>
          </a:xfrm>
          <a:custGeom>
            <a:avLst/>
            <a:gdLst>
              <a:gd name="T0" fmla="*/ 0 w 2473"/>
              <a:gd name="T1" fmla="*/ 952 h 1422"/>
              <a:gd name="T2" fmla="*/ 2087 w 2473"/>
              <a:gd name="T3" fmla="*/ 0 h 1422"/>
              <a:gd name="T4" fmla="*/ 2473 w 2473"/>
              <a:gd name="T5" fmla="*/ 1422 h 1422"/>
              <a:gd name="T6" fmla="*/ 0 w 2473"/>
              <a:gd name="T7" fmla="*/ 952 h 14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473" h="1422">
                <a:moveTo>
                  <a:pt x="0" y="952"/>
                </a:moveTo>
                <a:lnTo>
                  <a:pt x="2087" y="0"/>
                </a:lnTo>
                <a:lnTo>
                  <a:pt x="2473" y="1422"/>
                </a:lnTo>
                <a:lnTo>
                  <a:pt x="0" y="952"/>
                </a:lnTo>
                <a:close/>
              </a:path>
            </a:pathLst>
          </a:custGeom>
          <a:noFill/>
          <a:ln w="38100" cmpd="sng">
            <a:solidFill>
              <a:srgbClr val="66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Text Box 43"/>
          <p:cNvSpPr txBox="1">
            <a:spLocks noChangeArrowheads="1"/>
          </p:cNvSpPr>
          <p:nvPr/>
        </p:nvSpPr>
        <p:spPr bwMode="auto">
          <a:xfrm>
            <a:off x="2054290" y="3089276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660033"/>
                </a:solidFill>
              </a:rPr>
              <a:t>10cm</a:t>
            </a:r>
          </a:p>
        </p:txBody>
      </p:sp>
      <p:sp>
        <p:nvSpPr>
          <p:cNvPr id="18" name="Text Box 44"/>
          <p:cNvSpPr txBox="1">
            <a:spLocks noChangeArrowheads="1"/>
          </p:cNvSpPr>
          <p:nvPr/>
        </p:nvSpPr>
        <p:spPr bwMode="auto">
          <a:xfrm>
            <a:off x="4719702" y="3449638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660033"/>
                </a:solidFill>
              </a:rPr>
              <a:t>7.1cm</a:t>
            </a:r>
          </a:p>
        </p:txBody>
      </p:sp>
      <p:sp>
        <p:nvSpPr>
          <p:cNvPr id="19" name="Freeform 45"/>
          <p:cNvSpPr>
            <a:spLocks/>
          </p:cNvSpPr>
          <p:nvPr/>
        </p:nvSpPr>
        <p:spPr bwMode="auto">
          <a:xfrm>
            <a:off x="4351401" y="4306887"/>
            <a:ext cx="439738" cy="471488"/>
          </a:xfrm>
          <a:custGeom>
            <a:avLst/>
            <a:gdLst>
              <a:gd name="T0" fmla="*/ 277 w 277"/>
              <a:gd name="T1" fmla="*/ 4 h 297"/>
              <a:gd name="T2" fmla="*/ 174 w 277"/>
              <a:gd name="T3" fmla="*/ 4 h 297"/>
              <a:gd name="T4" fmla="*/ 87 w 277"/>
              <a:gd name="T5" fmla="*/ 30 h 297"/>
              <a:gd name="T6" fmla="*/ 36 w 277"/>
              <a:gd name="T7" fmla="*/ 72 h 297"/>
              <a:gd name="T8" fmla="*/ 5 w 277"/>
              <a:gd name="T9" fmla="*/ 140 h 297"/>
              <a:gd name="T10" fmla="*/ 3 w 277"/>
              <a:gd name="T11" fmla="*/ 297 h 2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77" h="297">
                <a:moveTo>
                  <a:pt x="277" y="4"/>
                </a:moveTo>
                <a:cubicBezTo>
                  <a:pt x="260" y="4"/>
                  <a:pt x="206" y="0"/>
                  <a:pt x="174" y="4"/>
                </a:cubicBezTo>
                <a:cubicBezTo>
                  <a:pt x="142" y="8"/>
                  <a:pt x="110" y="19"/>
                  <a:pt x="87" y="30"/>
                </a:cubicBezTo>
                <a:cubicBezTo>
                  <a:pt x="64" y="41"/>
                  <a:pt x="50" y="54"/>
                  <a:pt x="36" y="72"/>
                </a:cubicBezTo>
                <a:cubicBezTo>
                  <a:pt x="22" y="90"/>
                  <a:pt x="10" y="103"/>
                  <a:pt x="5" y="140"/>
                </a:cubicBezTo>
                <a:cubicBezTo>
                  <a:pt x="0" y="177"/>
                  <a:pt x="4" y="264"/>
                  <a:pt x="3" y="297"/>
                </a:cubicBezTo>
              </a:path>
            </a:pathLst>
          </a:custGeom>
          <a:noFill/>
          <a:ln w="38100" cmpd="sng">
            <a:solidFill>
              <a:srgbClr val="66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Text Box 46"/>
          <p:cNvSpPr txBox="1">
            <a:spLocks noChangeArrowheads="1"/>
          </p:cNvSpPr>
          <p:nvPr/>
        </p:nvSpPr>
        <p:spPr bwMode="auto">
          <a:xfrm>
            <a:off x="4359340" y="4384676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660033"/>
                </a:solidFill>
              </a:rPr>
              <a:t>65</a:t>
            </a:r>
            <a:r>
              <a:rPr lang="en-GB" altLang="x-none" sz="2000">
                <a:solidFill>
                  <a:srgbClr val="660033"/>
                </a:solidFill>
                <a:ea typeface="Arial" charset="0"/>
                <a:cs typeface="Arial" charset="0"/>
              </a:rPr>
              <a:t>°</a:t>
            </a:r>
          </a:p>
        </p:txBody>
      </p:sp>
      <p:sp>
        <p:nvSpPr>
          <p:cNvPr id="21" name="Freeform 50"/>
          <p:cNvSpPr>
            <a:spLocks/>
          </p:cNvSpPr>
          <p:nvPr/>
        </p:nvSpPr>
        <p:spPr bwMode="auto">
          <a:xfrm>
            <a:off x="1782827" y="3843337"/>
            <a:ext cx="180975" cy="465138"/>
          </a:xfrm>
          <a:custGeom>
            <a:avLst/>
            <a:gdLst>
              <a:gd name="T0" fmla="*/ 0 w 114"/>
              <a:gd name="T1" fmla="*/ 0 h 293"/>
              <a:gd name="T2" fmla="*/ 52 w 114"/>
              <a:gd name="T3" fmla="*/ 36 h 293"/>
              <a:gd name="T4" fmla="*/ 76 w 114"/>
              <a:gd name="T5" fmla="*/ 68 h 293"/>
              <a:gd name="T6" fmla="*/ 104 w 114"/>
              <a:gd name="T7" fmla="*/ 120 h 293"/>
              <a:gd name="T8" fmla="*/ 114 w 114"/>
              <a:gd name="T9" fmla="*/ 188 h 293"/>
              <a:gd name="T10" fmla="*/ 103 w 114"/>
              <a:gd name="T11" fmla="*/ 257 h 293"/>
              <a:gd name="T12" fmla="*/ 91 w 114"/>
              <a:gd name="T13" fmla="*/ 293 h 2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4" h="293">
                <a:moveTo>
                  <a:pt x="0" y="0"/>
                </a:moveTo>
                <a:cubicBezTo>
                  <a:pt x="9" y="6"/>
                  <a:pt x="39" y="25"/>
                  <a:pt x="52" y="36"/>
                </a:cubicBezTo>
                <a:cubicBezTo>
                  <a:pt x="65" y="47"/>
                  <a:pt x="67" y="54"/>
                  <a:pt x="76" y="68"/>
                </a:cubicBezTo>
                <a:cubicBezTo>
                  <a:pt x="85" y="82"/>
                  <a:pt x="98" y="100"/>
                  <a:pt x="104" y="120"/>
                </a:cubicBezTo>
                <a:cubicBezTo>
                  <a:pt x="110" y="140"/>
                  <a:pt x="114" y="165"/>
                  <a:pt x="114" y="188"/>
                </a:cubicBezTo>
                <a:cubicBezTo>
                  <a:pt x="114" y="211"/>
                  <a:pt x="107" y="240"/>
                  <a:pt x="103" y="257"/>
                </a:cubicBezTo>
                <a:cubicBezTo>
                  <a:pt x="99" y="274"/>
                  <a:pt x="93" y="286"/>
                  <a:pt x="91" y="293"/>
                </a:cubicBezTo>
              </a:path>
            </a:pathLst>
          </a:custGeom>
          <a:noFill/>
          <a:ln w="38100" cmpd="sng">
            <a:solidFill>
              <a:srgbClr val="66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Text Box 51"/>
          <p:cNvSpPr txBox="1">
            <a:spLocks noChangeArrowheads="1"/>
          </p:cNvSpPr>
          <p:nvPr/>
        </p:nvSpPr>
        <p:spPr bwMode="auto">
          <a:xfrm>
            <a:off x="1406590" y="3881438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l-GR" altLang="x-none" sz="2000" i="1">
                <a:solidFill>
                  <a:srgbClr val="660033"/>
                </a:solidFill>
                <a:ea typeface="Arial" charset="0"/>
                <a:cs typeface="Arial" charset="0"/>
              </a:rPr>
              <a:t>θ</a:t>
            </a:r>
            <a:r>
              <a:rPr lang="en-GB" altLang="x-none" sz="2000">
                <a:solidFill>
                  <a:srgbClr val="660033"/>
                </a:solidFill>
                <a:ea typeface="Arial" charset="0"/>
                <a:cs typeface="Arial" charset="0"/>
              </a:rPr>
              <a:t>°</a:t>
            </a:r>
          </a:p>
        </p:txBody>
      </p:sp>
      <p:sp>
        <p:nvSpPr>
          <p:cNvPr id="23" name="Text Box 52"/>
          <p:cNvSpPr txBox="1">
            <a:spLocks noChangeArrowheads="1"/>
          </p:cNvSpPr>
          <p:nvPr/>
        </p:nvSpPr>
        <p:spPr bwMode="auto">
          <a:xfrm>
            <a:off x="5151502" y="2224088"/>
            <a:ext cx="16557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/>
              <a:t>Not to scale</a:t>
            </a:r>
          </a:p>
        </p:txBody>
      </p:sp>
    </p:spTree>
    <p:extLst>
      <p:ext uri="{BB962C8B-B14F-4D97-AF65-F5344CB8AC3E}">
        <p14:creationId xmlns:p14="http://schemas.microsoft.com/office/powerpoint/2010/main" val="520445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 smtClean="0"/>
              <a:t>Topic: Sine and cosine Rules</a:t>
            </a:r>
            <a:br>
              <a:rPr lang="en-US" dirty="0" smtClean="0"/>
            </a:br>
            <a:r>
              <a:rPr lang="en-US" dirty="0" smtClean="0"/>
              <a:t>EQ: What are the sine and cosine </a:t>
            </a:r>
            <a:r>
              <a:rPr lang="en-US" smtClean="0"/>
              <a:t>rules and when do we use them?</a:t>
            </a:r>
            <a:endParaRPr lang="en-US"/>
          </a:p>
        </p:txBody>
      </p:sp>
      <p:sp>
        <p:nvSpPr>
          <p:cNvPr id="3" name="Text Box 6"/>
          <p:cNvSpPr txBox="1">
            <a:spLocks noChangeArrowheads="1"/>
          </p:cNvSpPr>
          <p:nvPr/>
        </p:nvSpPr>
        <p:spPr bwMode="auto">
          <a:xfrm>
            <a:off x="701485" y="1829562"/>
            <a:ext cx="4679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/>
              <a:t>Finding the missing  angle:</a:t>
            </a:r>
          </a:p>
        </p:txBody>
      </p:sp>
      <p:sp>
        <p:nvSpPr>
          <p:cNvPr id="4" name="Text Box 17"/>
          <p:cNvSpPr txBox="1">
            <a:spLocks noChangeArrowheads="1"/>
          </p:cNvSpPr>
          <p:nvPr/>
        </p:nvSpPr>
        <p:spPr bwMode="auto">
          <a:xfrm>
            <a:off x="490320" y="6130709"/>
            <a:ext cx="5759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We don’t need the “C” bit of the formula.</a:t>
            </a:r>
          </a:p>
        </p:txBody>
      </p:sp>
      <p:sp>
        <p:nvSpPr>
          <p:cNvPr id="5" name="Text Box 18"/>
          <p:cNvSpPr txBox="1">
            <a:spLocks noChangeArrowheads="1"/>
          </p:cNvSpPr>
          <p:nvPr/>
        </p:nvSpPr>
        <p:spPr bwMode="auto">
          <a:xfrm>
            <a:off x="737745" y="3762048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>
                <a:solidFill>
                  <a:srgbClr val="008000"/>
                </a:solidFill>
              </a:rPr>
              <a:t>A</a:t>
            </a:r>
          </a:p>
        </p:txBody>
      </p:sp>
      <p:sp>
        <p:nvSpPr>
          <p:cNvPr id="6" name="Text Box 19"/>
          <p:cNvSpPr txBox="1">
            <a:spLocks noChangeArrowheads="1"/>
          </p:cNvSpPr>
          <p:nvPr/>
        </p:nvSpPr>
        <p:spPr bwMode="auto">
          <a:xfrm>
            <a:off x="5058920" y="4409748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>
                <a:solidFill>
                  <a:srgbClr val="008000"/>
                </a:solidFill>
              </a:rPr>
              <a:t>B</a:t>
            </a:r>
          </a:p>
        </p:txBody>
      </p:sp>
      <p:sp>
        <p:nvSpPr>
          <p:cNvPr id="7" name="Text Box 20"/>
          <p:cNvSpPr txBox="1">
            <a:spLocks noChangeArrowheads="1"/>
          </p:cNvSpPr>
          <p:nvPr/>
        </p:nvSpPr>
        <p:spPr bwMode="auto">
          <a:xfrm>
            <a:off x="4377567" y="2065518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 dirty="0">
                <a:solidFill>
                  <a:srgbClr val="008000"/>
                </a:solidFill>
              </a:rPr>
              <a:t>C</a:t>
            </a:r>
          </a:p>
        </p:txBody>
      </p:sp>
      <p:sp>
        <p:nvSpPr>
          <p:cNvPr id="8" name="Rectangle 21"/>
          <p:cNvSpPr>
            <a:spLocks noChangeArrowheads="1"/>
          </p:cNvSpPr>
          <p:nvPr/>
        </p:nvSpPr>
        <p:spPr bwMode="auto">
          <a:xfrm>
            <a:off x="4914457" y="2920673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800" b="1" i="1">
                <a:solidFill>
                  <a:srgbClr val="008000"/>
                </a:solidFill>
                <a:latin typeface="Times New Roman" charset="0"/>
              </a:rPr>
              <a:t>a</a:t>
            </a:r>
          </a:p>
        </p:txBody>
      </p:sp>
      <p:sp>
        <p:nvSpPr>
          <p:cNvPr id="9" name="Rectangle 22"/>
          <p:cNvSpPr>
            <a:spLocks noChangeArrowheads="1"/>
          </p:cNvSpPr>
          <p:nvPr/>
        </p:nvSpPr>
        <p:spPr bwMode="auto">
          <a:xfrm>
            <a:off x="2466532" y="2560311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800" b="1" i="1">
                <a:solidFill>
                  <a:srgbClr val="008000"/>
                </a:solidFill>
                <a:latin typeface="Times New Roman" charset="0"/>
              </a:rPr>
              <a:t>b</a:t>
            </a:r>
          </a:p>
        </p:txBody>
      </p:sp>
      <p:sp>
        <p:nvSpPr>
          <p:cNvPr id="10" name="Rectangle 23"/>
          <p:cNvSpPr>
            <a:spLocks noChangeArrowheads="1"/>
          </p:cNvSpPr>
          <p:nvPr/>
        </p:nvSpPr>
        <p:spPr bwMode="auto">
          <a:xfrm>
            <a:off x="2898332" y="4217661"/>
            <a:ext cx="3413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800" b="1" i="1">
                <a:solidFill>
                  <a:srgbClr val="008000"/>
                </a:solidFill>
                <a:latin typeface="Times New Roman" charset="0"/>
              </a:rPr>
              <a:t>c</a:t>
            </a:r>
          </a:p>
        </p:txBody>
      </p:sp>
      <p:sp>
        <p:nvSpPr>
          <p:cNvPr id="11" name="Freeform 24"/>
          <p:cNvSpPr>
            <a:spLocks/>
          </p:cNvSpPr>
          <p:nvPr/>
        </p:nvSpPr>
        <p:spPr bwMode="auto">
          <a:xfrm>
            <a:off x="1169544" y="2466649"/>
            <a:ext cx="3925888" cy="2257425"/>
          </a:xfrm>
          <a:custGeom>
            <a:avLst/>
            <a:gdLst>
              <a:gd name="T0" fmla="*/ 0 w 2473"/>
              <a:gd name="T1" fmla="*/ 952 h 1422"/>
              <a:gd name="T2" fmla="*/ 2087 w 2473"/>
              <a:gd name="T3" fmla="*/ 0 h 1422"/>
              <a:gd name="T4" fmla="*/ 2473 w 2473"/>
              <a:gd name="T5" fmla="*/ 1422 h 1422"/>
              <a:gd name="T6" fmla="*/ 0 w 2473"/>
              <a:gd name="T7" fmla="*/ 952 h 14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473" h="1422">
                <a:moveTo>
                  <a:pt x="0" y="952"/>
                </a:moveTo>
                <a:lnTo>
                  <a:pt x="2087" y="0"/>
                </a:lnTo>
                <a:lnTo>
                  <a:pt x="2473" y="1422"/>
                </a:lnTo>
                <a:lnTo>
                  <a:pt x="0" y="952"/>
                </a:lnTo>
                <a:close/>
              </a:path>
            </a:pathLst>
          </a:custGeom>
          <a:noFill/>
          <a:ln w="38100" cmpd="sng">
            <a:solidFill>
              <a:srgbClr val="66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Text Box 25"/>
          <p:cNvSpPr txBox="1">
            <a:spLocks noChangeArrowheads="1"/>
          </p:cNvSpPr>
          <p:nvPr/>
        </p:nvSpPr>
        <p:spPr bwMode="auto">
          <a:xfrm>
            <a:off x="2177608" y="2898449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660033"/>
                </a:solidFill>
              </a:rPr>
              <a:t>10cm</a:t>
            </a:r>
          </a:p>
        </p:txBody>
      </p:sp>
      <p:sp>
        <p:nvSpPr>
          <p:cNvPr id="13" name="Text Box 26"/>
          <p:cNvSpPr txBox="1">
            <a:spLocks noChangeArrowheads="1"/>
          </p:cNvSpPr>
          <p:nvPr/>
        </p:nvSpPr>
        <p:spPr bwMode="auto">
          <a:xfrm>
            <a:off x="4843020" y="3258811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660033"/>
                </a:solidFill>
              </a:rPr>
              <a:t>7.1cm</a:t>
            </a:r>
          </a:p>
        </p:txBody>
      </p:sp>
      <p:sp>
        <p:nvSpPr>
          <p:cNvPr id="14" name="Freeform 27"/>
          <p:cNvSpPr>
            <a:spLocks/>
          </p:cNvSpPr>
          <p:nvPr/>
        </p:nvSpPr>
        <p:spPr bwMode="auto">
          <a:xfrm>
            <a:off x="4474719" y="4116060"/>
            <a:ext cx="439738" cy="471488"/>
          </a:xfrm>
          <a:custGeom>
            <a:avLst/>
            <a:gdLst>
              <a:gd name="T0" fmla="*/ 277 w 277"/>
              <a:gd name="T1" fmla="*/ 4 h 297"/>
              <a:gd name="T2" fmla="*/ 174 w 277"/>
              <a:gd name="T3" fmla="*/ 4 h 297"/>
              <a:gd name="T4" fmla="*/ 87 w 277"/>
              <a:gd name="T5" fmla="*/ 30 h 297"/>
              <a:gd name="T6" fmla="*/ 36 w 277"/>
              <a:gd name="T7" fmla="*/ 72 h 297"/>
              <a:gd name="T8" fmla="*/ 5 w 277"/>
              <a:gd name="T9" fmla="*/ 140 h 297"/>
              <a:gd name="T10" fmla="*/ 3 w 277"/>
              <a:gd name="T11" fmla="*/ 297 h 2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77" h="297">
                <a:moveTo>
                  <a:pt x="277" y="4"/>
                </a:moveTo>
                <a:cubicBezTo>
                  <a:pt x="260" y="4"/>
                  <a:pt x="206" y="0"/>
                  <a:pt x="174" y="4"/>
                </a:cubicBezTo>
                <a:cubicBezTo>
                  <a:pt x="142" y="8"/>
                  <a:pt x="110" y="19"/>
                  <a:pt x="87" y="30"/>
                </a:cubicBezTo>
                <a:cubicBezTo>
                  <a:pt x="64" y="41"/>
                  <a:pt x="50" y="54"/>
                  <a:pt x="36" y="72"/>
                </a:cubicBezTo>
                <a:cubicBezTo>
                  <a:pt x="22" y="90"/>
                  <a:pt x="10" y="103"/>
                  <a:pt x="5" y="140"/>
                </a:cubicBezTo>
                <a:cubicBezTo>
                  <a:pt x="0" y="177"/>
                  <a:pt x="4" y="264"/>
                  <a:pt x="3" y="297"/>
                </a:cubicBezTo>
              </a:path>
            </a:pathLst>
          </a:custGeom>
          <a:noFill/>
          <a:ln w="38100" cmpd="sng">
            <a:solidFill>
              <a:srgbClr val="66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Text Box 28"/>
          <p:cNvSpPr txBox="1">
            <a:spLocks noChangeArrowheads="1"/>
          </p:cNvSpPr>
          <p:nvPr/>
        </p:nvSpPr>
        <p:spPr bwMode="auto">
          <a:xfrm>
            <a:off x="4482658" y="4193849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660033"/>
                </a:solidFill>
              </a:rPr>
              <a:t>65</a:t>
            </a:r>
            <a:r>
              <a:rPr lang="en-GB" altLang="x-none" sz="2000">
                <a:solidFill>
                  <a:srgbClr val="660033"/>
                </a:solidFill>
                <a:ea typeface="Arial" charset="0"/>
                <a:cs typeface="Arial" charset="0"/>
              </a:rPr>
              <a:t>°</a:t>
            </a:r>
          </a:p>
        </p:txBody>
      </p:sp>
      <p:sp>
        <p:nvSpPr>
          <p:cNvPr id="16" name="Freeform 29"/>
          <p:cNvSpPr>
            <a:spLocks/>
          </p:cNvSpPr>
          <p:nvPr/>
        </p:nvSpPr>
        <p:spPr bwMode="auto">
          <a:xfrm>
            <a:off x="1906145" y="3652510"/>
            <a:ext cx="180975" cy="465138"/>
          </a:xfrm>
          <a:custGeom>
            <a:avLst/>
            <a:gdLst>
              <a:gd name="T0" fmla="*/ 0 w 114"/>
              <a:gd name="T1" fmla="*/ 0 h 293"/>
              <a:gd name="T2" fmla="*/ 52 w 114"/>
              <a:gd name="T3" fmla="*/ 36 h 293"/>
              <a:gd name="T4" fmla="*/ 76 w 114"/>
              <a:gd name="T5" fmla="*/ 68 h 293"/>
              <a:gd name="T6" fmla="*/ 104 w 114"/>
              <a:gd name="T7" fmla="*/ 120 h 293"/>
              <a:gd name="T8" fmla="*/ 114 w 114"/>
              <a:gd name="T9" fmla="*/ 188 h 293"/>
              <a:gd name="T10" fmla="*/ 103 w 114"/>
              <a:gd name="T11" fmla="*/ 257 h 293"/>
              <a:gd name="T12" fmla="*/ 91 w 114"/>
              <a:gd name="T13" fmla="*/ 293 h 2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4" h="293">
                <a:moveTo>
                  <a:pt x="0" y="0"/>
                </a:moveTo>
                <a:cubicBezTo>
                  <a:pt x="9" y="6"/>
                  <a:pt x="39" y="25"/>
                  <a:pt x="52" y="36"/>
                </a:cubicBezTo>
                <a:cubicBezTo>
                  <a:pt x="65" y="47"/>
                  <a:pt x="67" y="54"/>
                  <a:pt x="76" y="68"/>
                </a:cubicBezTo>
                <a:cubicBezTo>
                  <a:pt x="85" y="82"/>
                  <a:pt x="98" y="100"/>
                  <a:pt x="104" y="120"/>
                </a:cubicBezTo>
                <a:cubicBezTo>
                  <a:pt x="110" y="140"/>
                  <a:pt x="114" y="165"/>
                  <a:pt x="114" y="188"/>
                </a:cubicBezTo>
                <a:cubicBezTo>
                  <a:pt x="114" y="211"/>
                  <a:pt x="107" y="240"/>
                  <a:pt x="103" y="257"/>
                </a:cubicBezTo>
                <a:cubicBezTo>
                  <a:pt x="99" y="274"/>
                  <a:pt x="93" y="286"/>
                  <a:pt x="91" y="293"/>
                </a:cubicBezTo>
              </a:path>
            </a:pathLst>
          </a:custGeom>
          <a:noFill/>
          <a:ln w="38100" cmpd="sng">
            <a:solidFill>
              <a:srgbClr val="66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Text Box 30"/>
          <p:cNvSpPr txBox="1">
            <a:spLocks noChangeArrowheads="1"/>
          </p:cNvSpPr>
          <p:nvPr/>
        </p:nvSpPr>
        <p:spPr bwMode="auto">
          <a:xfrm>
            <a:off x="1529908" y="3690611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l-GR" altLang="x-none" sz="2000" i="1">
                <a:solidFill>
                  <a:srgbClr val="660033"/>
                </a:solidFill>
                <a:ea typeface="Arial" charset="0"/>
                <a:cs typeface="Arial" charset="0"/>
              </a:rPr>
              <a:t>θ</a:t>
            </a:r>
            <a:r>
              <a:rPr lang="en-GB" altLang="x-none" sz="2000">
                <a:solidFill>
                  <a:srgbClr val="660033"/>
                </a:solidFill>
                <a:ea typeface="Arial" charset="0"/>
                <a:cs typeface="Arial" charset="0"/>
              </a:rPr>
              <a:t>°</a:t>
            </a:r>
          </a:p>
        </p:txBody>
      </p:sp>
      <p:sp>
        <p:nvSpPr>
          <p:cNvPr id="18" name="Text Box 31"/>
          <p:cNvSpPr txBox="1">
            <a:spLocks noChangeArrowheads="1"/>
          </p:cNvSpPr>
          <p:nvPr/>
        </p:nvSpPr>
        <p:spPr bwMode="auto">
          <a:xfrm>
            <a:off x="4629979" y="4862241"/>
            <a:ext cx="3384550" cy="1044575"/>
          </a:xfrm>
          <a:prstGeom prst="rect">
            <a:avLst/>
          </a:prstGeom>
          <a:solidFill>
            <a:srgbClr val="FFFF00"/>
          </a:solidFill>
          <a:ln w="38100">
            <a:solidFill>
              <a:srgbClr val="660033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/>
              <a:t>Because we are trying to find a missing angle, the formula is the other way up. </a:t>
            </a:r>
          </a:p>
        </p:txBody>
      </p:sp>
      <p:graphicFrame>
        <p:nvGraphicFramePr>
          <p:cNvPr id="19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8612901"/>
              </p:ext>
            </p:extLst>
          </p:nvPr>
        </p:nvGraphicFramePr>
        <p:xfrm>
          <a:off x="431357" y="4836342"/>
          <a:ext cx="3311525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9" name="Equation" r:id="rId3" imgW="1346040" imgH="393480" progId="Equation.3">
                  <p:embed/>
                </p:oleObj>
              </mc:Choice>
              <mc:Fallback>
                <p:oleObj name="Equation" r:id="rId3" imgW="134604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357" y="4836342"/>
                        <a:ext cx="3311525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33"/>
          <p:cNvSpPr txBox="1">
            <a:spLocks noChangeArrowheads="1"/>
          </p:cNvSpPr>
          <p:nvPr/>
        </p:nvSpPr>
        <p:spPr bwMode="auto">
          <a:xfrm>
            <a:off x="5175253" y="2054036"/>
            <a:ext cx="16557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/>
              <a:t>Not to scale</a:t>
            </a:r>
          </a:p>
        </p:txBody>
      </p:sp>
    </p:spTree>
    <p:extLst>
      <p:ext uri="{BB962C8B-B14F-4D97-AF65-F5344CB8AC3E}">
        <p14:creationId xmlns:p14="http://schemas.microsoft.com/office/powerpoint/2010/main" val="428825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 smtClean="0"/>
              <a:t>Topic: Sine and cosine Rules</a:t>
            </a:r>
            <a:br>
              <a:rPr lang="en-US" dirty="0" smtClean="0"/>
            </a:br>
            <a:r>
              <a:rPr lang="en-US" dirty="0" smtClean="0"/>
              <a:t>EQ: What are the sine and cosine </a:t>
            </a:r>
            <a:r>
              <a:rPr lang="en-US" smtClean="0"/>
              <a:t>rules and when do we use them?</a:t>
            </a:r>
            <a:endParaRPr lang="en-US"/>
          </a:p>
        </p:txBody>
      </p:sp>
      <p:sp>
        <p:nvSpPr>
          <p:cNvPr id="3" name="Text Box 6"/>
          <p:cNvSpPr txBox="1">
            <a:spLocks noChangeArrowheads="1"/>
          </p:cNvSpPr>
          <p:nvPr/>
        </p:nvSpPr>
        <p:spPr bwMode="auto">
          <a:xfrm>
            <a:off x="1176973" y="1878330"/>
            <a:ext cx="4679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/>
              <a:t>Finding the missing  angle:</a:t>
            </a:r>
          </a:p>
        </p:txBody>
      </p:sp>
      <p:sp>
        <p:nvSpPr>
          <p:cNvPr id="4" name="Text Box 17"/>
          <p:cNvSpPr txBox="1">
            <a:spLocks noChangeArrowheads="1"/>
          </p:cNvSpPr>
          <p:nvPr/>
        </p:nvSpPr>
        <p:spPr bwMode="auto">
          <a:xfrm>
            <a:off x="1011493" y="6245691"/>
            <a:ext cx="5759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Fill in the bits you know.</a:t>
            </a:r>
          </a:p>
        </p:txBody>
      </p:sp>
      <p:sp>
        <p:nvSpPr>
          <p:cNvPr id="5" name="Text Box 18"/>
          <p:cNvSpPr txBox="1">
            <a:spLocks noChangeArrowheads="1"/>
          </p:cNvSpPr>
          <p:nvPr/>
        </p:nvSpPr>
        <p:spPr bwMode="auto">
          <a:xfrm>
            <a:off x="5078668" y="5061416"/>
            <a:ext cx="3384550" cy="1044575"/>
          </a:xfrm>
          <a:prstGeom prst="rect">
            <a:avLst/>
          </a:prstGeom>
          <a:solidFill>
            <a:srgbClr val="FFFF00"/>
          </a:solidFill>
          <a:ln w="38100">
            <a:solidFill>
              <a:srgbClr val="660033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/>
              <a:t>Because we are trying to find a missing angle, the formula is the other way up. </a:t>
            </a:r>
          </a:p>
        </p:txBody>
      </p:sp>
      <p:sp>
        <p:nvSpPr>
          <p:cNvPr id="6" name="Text Box 19"/>
          <p:cNvSpPr txBox="1">
            <a:spLocks noChangeArrowheads="1"/>
          </p:cNvSpPr>
          <p:nvPr/>
        </p:nvSpPr>
        <p:spPr bwMode="auto">
          <a:xfrm>
            <a:off x="1333755" y="3867616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>
                <a:solidFill>
                  <a:srgbClr val="008000"/>
                </a:solidFill>
              </a:rPr>
              <a:t>A</a:t>
            </a:r>
          </a:p>
        </p:txBody>
      </p:sp>
      <p:sp>
        <p:nvSpPr>
          <p:cNvPr id="7" name="Text Box 20"/>
          <p:cNvSpPr txBox="1">
            <a:spLocks noChangeArrowheads="1"/>
          </p:cNvSpPr>
          <p:nvPr/>
        </p:nvSpPr>
        <p:spPr bwMode="auto">
          <a:xfrm>
            <a:off x="5654930" y="4515316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>
                <a:solidFill>
                  <a:srgbClr val="008000"/>
                </a:solidFill>
              </a:rPr>
              <a:t>B</a:t>
            </a:r>
          </a:p>
        </p:txBody>
      </p:sp>
      <p:sp>
        <p:nvSpPr>
          <p:cNvPr id="8" name="Text Box 21"/>
          <p:cNvSpPr txBox="1">
            <a:spLocks noChangeArrowheads="1"/>
          </p:cNvSpPr>
          <p:nvPr/>
        </p:nvSpPr>
        <p:spPr bwMode="auto">
          <a:xfrm>
            <a:off x="5005643" y="2211853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>
                <a:solidFill>
                  <a:srgbClr val="008000"/>
                </a:solidFill>
              </a:rPr>
              <a:t>C</a:t>
            </a:r>
          </a:p>
        </p:txBody>
      </p:sp>
      <p:sp>
        <p:nvSpPr>
          <p:cNvPr id="9" name="Rectangle 22"/>
          <p:cNvSpPr>
            <a:spLocks noChangeArrowheads="1"/>
          </p:cNvSpPr>
          <p:nvPr/>
        </p:nvSpPr>
        <p:spPr bwMode="auto">
          <a:xfrm>
            <a:off x="5510467" y="3026241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800" b="1" i="1">
                <a:solidFill>
                  <a:srgbClr val="008000"/>
                </a:solidFill>
                <a:latin typeface="Times New Roman" charset="0"/>
              </a:rPr>
              <a:t>a</a:t>
            </a:r>
          </a:p>
        </p:txBody>
      </p:sp>
      <p:sp>
        <p:nvSpPr>
          <p:cNvPr id="10" name="Rectangle 23"/>
          <p:cNvSpPr>
            <a:spLocks noChangeArrowheads="1"/>
          </p:cNvSpPr>
          <p:nvPr/>
        </p:nvSpPr>
        <p:spPr bwMode="auto">
          <a:xfrm>
            <a:off x="3062542" y="2665879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800" b="1" i="1">
                <a:solidFill>
                  <a:srgbClr val="008000"/>
                </a:solidFill>
                <a:latin typeface="Times New Roman" charset="0"/>
              </a:rPr>
              <a:t>b</a:t>
            </a:r>
          </a:p>
        </p:txBody>
      </p:sp>
      <p:sp>
        <p:nvSpPr>
          <p:cNvPr id="11" name="Rectangle 24"/>
          <p:cNvSpPr>
            <a:spLocks noChangeArrowheads="1"/>
          </p:cNvSpPr>
          <p:nvPr/>
        </p:nvSpPr>
        <p:spPr bwMode="auto">
          <a:xfrm>
            <a:off x="3494342" y="4323229"/>
            <a:ext cx="3413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800" b="1" i="1">
                <a:solidFill>
                  <a:srgbClr val="008000"/>
                </a:solidFill>
                <a:latin typeface="Times New Roman" charset="0"/>
              </a:rPr>
              <a:t>c</a:t>
            </a:r>
          </a:p>
        </p:txBody>
      </p:sp>
      <p:sp>
        <p:nvSpPr>
          <p:cNvPr id="12" name="Freeform 25"/>
          <p:cNvSpPr>
            <a:spLocks/>
          </p:cNvSpPr>
          <p:nvPr/>
        </p:nvSpPr>
        <p:spPr bwMode="auto">
          <a:xfrm>
            <a:off x="1765554" y="2572217"/>
            <a:ext cx="3925888" cy="2257425"/>
          </a:xfrm>
          <a:custGeom>
            <a:avLst/>
            <a:gdLst>
              <a:gd name="T0" fmla="*/ 0 w 2473"/>
              <a:gd name="T1" fmla="*/ 952 h 1422"/>
              <a:gd name="T2" fmla="*/ 2087 w 2473"/>
              <a:gd name="T3" fmla="*/ 0 h 1422"/>
              <a:gd name="T4" fmla="*/ 2473 w 2473"/>
              <a:gd name="T5" fmla="*/ 1422 h 1422"/>
              <a:gd name="T6" fmla="*/ 0 w 2473"/>
              <a:gd name="T7" fmla="*/ 952 h 14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473" h="1422">
                <a:moveTo>
                  <a:pt x="0" y="952"/>
                </a:moveTo>
                <a:lnTo>
                  <a:pt x="2087" y="0"/>
                </a:lnTo>
                <a:lnTo>
                  <a:pt x="2473" y="1422"/>
                </a:lnTo>
                <a:lnTo>
                  <a:pt x="0" y="952"/>
                </a:lnTo>
                <a:close/>
              </a:path>
            </a:pathLst>
          </a:custGeom>
          <a:noFill/>
          <a:ln w="38100" cmpd="sng">
            <a:solidFill>
              <a:srgbClr val="66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Text Box 26"/>
          <p:cNvSpPr txBox="1">
            <a:spLocks noChangeArrowheads="1"/>
          </p:cNvSpPr>
          <p:nvPr/>
        </p:nvSpPr>
        <p:spPr bwMode="auto">
          <a:xfrm>
            <a:off x="2773618" y="3004017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660033"/>
                </a:solidFill>
              </a:rPr>
              <a:t>10cm</a:t>
            </a:r>
          </a:p>
        </p:txBody>
      </p:sp>
      <p:sp>
        <p:nvSpPr>
          <p:cNvPr id="14" name="Text Box 27"/>
          <p:cNvSpPr txBox="1">
            <a:spLocks noChangeArrowheads="1"/>
          </p:cNvSpPr>
          <p:nvPr/>
        </p:nvSpPr>
        <p:spPr bwMode="auto">
          <a:xfrm>
            <a:off x="5439030" y="3364379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660033"/>
                </a:solidFill>
              </a:rPr>
              <a:t>7.1cm</a:t>
            </a:r>
          </a:p>
        </p:txBody>
      </p:sp>
      <p:sp>
        <p:nvSpPr>
          <p:cNvPr id="15" name="Freeform 28"/>
          <p:cNvSpPr>
            <a:spLocks/>
          </p:cNvSpPr>
          <p:nvPr/>
        </p:nvSpPr>
        <p:spPr bwMode="auto">
          <a:xfrm>
            <a:off x="5070729" y="4221628"/>
            <a:ext cx="439738" cy="471488"/>
          </a:xfrm>
          <a:custGeom>
            <a:avLst/>
            <a:gdLst>
              <a:gd name="T0" fmla="*/ 277 w 277"/>
              <a:gd name="T1" fmla="*/ 4 h 297"/>
              <a:gd name="T2" fmla="*/ 174 w 277"/>
              <a:gd name="T3" fmla="*/ 4 h 297"/>
              <a:gd name="T4" fmla="*/ 87 w 277"/>
              <a:gd name="T5" fmla="*/ 30 h 297"/>
              <a:gd name="T6" fmla="*/ 36 w 277"/>
              <a:gd name="T7" fmla="*/ 72 h 297"/>
              <a:gd name="T8" fmla="*/ 5 w 277"/>
              <a:gd name="T9" fmla="*/ 140 h 297"/>
              <a:gd name="T10" fmla="*/ 3 w 277"/>
              <a:gd name="T11" fmla="*/ 297 h 2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77" h="297">
                <a:moveTo>
                  <a:pt x="277" y="4"/>
                </a:moveTo>
                <a:cubicBezTo>
                  <a:pt x="260" y="4"/>
                  <a:pt x="206" y="0"/>
                  <a:pt x="174" y="4"/>
                </a:cubicBezTo>
                <a:cubicBezTo>
                  <a:pt x="142" y="8"/>
                  <a:pt x="110" y="19"/>
                  <a:pt x="87" y="30"/>
                </a:cubicBezTo>
                <a:cubicBezTo>
                  <a:pt x="64" y="41"/>
                  <a:pt x="50" y="54"/>
                  <a:pt x="36" y="72"/>
                </a:cubicBezTo>
                <a:cubicBezTo>
                  <a:pt x="22" y="90"/>
                  <a:pt x="10" y="103"/>
                  <a:pt x="5" y="140"/>
                </a:cubicBezTo>
                <a:cubicBezTo>
                  <a:pt x="0" y="177"/>
                  <a:pt x="4" y="264"/>
                  <a:pt x="3" y="297"/>
                </a:cubicBezTo>
              </a:path>
            </a:pathLst>
          </a:custGeom>
          <a:noFill/>
          <a:ln w="38100" cmpd="sng">
            <a:solidFill>
              <a:srgbClr val="66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Text Box 29"/>
          <p:cNvSpPr txBox="1">
            <a:spLocks noChangeArrowheads="1"/>
          </p:cNvSpPr>
          <p:nvPr/>
        </p:nvSpPr>
        <p:spPr bwMode="auto">
          <a:xfrm>
            <a:off x="5078668" y="4299417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660033"/>
                </a:solidFill>
              </a:rPr>
              <a:t>65</a:t>
            </a:r>
            <a:r>
              <a:rPr lang="en-GB" altLang="x-none" sz="2000">
                <a:solidFill>
                  <a:srgbClr val="660033"/>
                </a:solidFill>
                <a:ea typeface="Arial" charset="0"/>
                <a:cs typeface="Arial" charset="0"/>
              </a:rPr>
              <a:t>°</a:t>
            </a:r>
          </a:p>
        </p:txBody>
      </p:sp>
      <p:sp>
        <p:nvSpPr>
          <p:cNvPr id="17" name="Freeform 30"/>
          <p:cNvSpPr>
            <a:spLocks/>
          </p:cNvSpPr>
          <p:nvPr/>
        </p:nvSpPr>
        <p:spPr bwMode="auto">
          <a:xfrm>
            <a:off x="2502155" y="3758078"/>
            <a:ext cx="180975" cy="465138"/>
          </a:xfrm>
          <a:custGeom>
            <a:avLst/>
            <a:gdLst>
              <a:gd name="T0" fmla="*/ 0 w 114"/>
              <a:gd name="T1" fmla="*/ 0 h 293"/>
              <a:gd name="T2" fmla="*/ 52 w 114"/>
              <a:gd name="T3" fmla="*/ 36 h 293"/>
              <a:gd name="T4" fmla="*/ 76 w 114"/>
              <a:gd name="T5" fmla="*/ 68 h 293"/>
              <a:gd name="T6" fmla="*/ 104 w 114"/>
              <a:gd name="T7" fmla="*/ 120 h 293"/>
              <a:gd name="T8" fmla="*/ 114 w 114"/>
              <a:gd name="T9" fmla="*/ 188 h 293"/>
              <a:gd name="T10" fmla="*/ 103 w 114"/>
              <a:gd name="T11" fmla="*/ 257 h 293"/>
              <a:gd name="T12" fmla="*/ 91 w 114"/>
              <a:gd name="T13" fmla="*/ 293 h 2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4" h="293">
                <a:moveTo>
                  <a:pt x="0" y="0"/>
                </a:moveTo>
                <a:cubicBezTo>
                  <a:pt x="9" y="6"/>
                  <a:pt x="39" y="25"/>
                  <a:pt x="52" y="36"/>
                </a:cubicBezTo>
                <a:cubicBezTo>
                  <a:pt x="65" y="47"/>
                  <a:pt x="67" y="54"/>
                  <a:pt x="76" y="68"/>
                </a:cubicBezTo>
                <a:cubicBezTo>
                  <a:pt x="85" y="82"/>
                  <a:pt x="98" y="100"/>
                  <a:pt x="104" y="120"/>
                </a:cubicBezTo>
                <a:cubicBezTo>
                  <a:pt x="110" y="140"/>
                  <a:pt x="114" y="165"/>
                  <a:pt x="114" y="188"/>
                </a:cubicBezTo>
                <a:cubicBezTo>
                  <a:pt x="114" y="211"/>
                  <a:pt x="107" y="240"/>
                  <a:pt x="103" y="257"/>
                </a:cubicBezTo>
                <a:cubicBezTo>
                  <a:pt x="99" y="274"/>
                  <a:pt x="93" y="286"/>
                  <a:pt x="91" y="293"/>
                </a:cubicBezTo>
              </a:path>
            </a:pathLst>
          </a:custGeom>
          <a:noFill/>
          <a:ln w="38100" cmpd="sng">
            <a:solidFill>
              <a:srgbClr val="66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Text Box 31"/>
          <p:cNvSpPr txBox="1">
            <a:spLocks noChangeArrowheads="1"/>
          </p:cNvSpPr>
          <p:nvPr/>
        </p:nvSpPr>
        <p:spPr bwMode="auto">
          <a:xfrm>
            <a:off x="2125918" y="3796179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l-GR" altLang="x-none" sz="2000" i="1">
                <a:solidFill>
                  <a:srgbClr val="660033"/>
                </a:solidFill>
                <a:ea typeface="Arial" charset="0"/>
                <a:cs typeface="Arial" charset="0"/>
              </a:rPr>
              <a:t>θ</a:t>
            </a:r>
            <a:r>
              <a:rPr lang="en-GB" altLang="x-none" sz="2000">
                <a:solidFill>
                  <a:srgbClr val="660033"/>
                </a:solidFill>
                <a:ea typeface="Arial" charset="0"/>
                <a:cs typeface="Arial" charset="0"/>
              </a:rPr>
              <a:t>°</a:t>
            </a:r>
          </a:p>
        </p:txBody>
      </p:sp>
      <p:graphicFrame>
        <p:nvGraphicFramePr>
          <p:cNvPr id="19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8615505"/>
              </p:ext>
            </p:extLst>
          </p:nvPr>
        </p:nvGraphicFramePr>
        <p:xfrm>
          <a:off x="961073" y="5125562"/>
          <a:ext cx="2093912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3" name="Equation" r:id="rId3" imgW="850680" imgH="393480" progId="Equation.3">
                  <p:embed/>
                </p:oleObj>
              </mc:Choice>
              <mc:Fallback>
                <p:oleObj name="Equation" r:id="rId3" imgW="8506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1073" y="5125562"/>
                        <a:ext cx="2093912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33"/>
          <p:cNvSpPr txBox="1">
            <a:spLocks noChangeArrowheads="1"/>
          </p:cNvSpPr>
          <p:nvPr/>
        </p:nvSpPr>
        <p:spPr bwMode="auto">
          <a:xfrm>
            <a:off x="5782311" y="2115017"/>
            <a:ext cx="16557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/>
              <a:t>Not to scale</a:t>
            </a:r>
          </a:p>
        </p:txBody>
      </p:sp>
    </p:spTree>
    <p:extLst>
      <p:ext uri="{BB962C8B-B14F-4D97-AF65-F5344CB8AC3E}">
        <p14:creationId xmlns:p14="http://schemas.microsoft.com/office/powerpoint/2010/main" val="1689402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 smtClean="0"/>
              <a:t>Topic: Sine and cosine Rules</a:t>
            </a:r>
            <a:br>
              <a:rPr lang="en-US" dirty="0" smtClean="0"/>
            </a:br>
            <a:r>
              <a:rPr lang="en-US" dirty="0" smtClean="0"/>
              <a:t>EQ: What are the sine and cosine </a:t>
            </a:r>
            <a:r>
              <a:rPr lang="en-US" smtClean="0"/>
              <a:t>rules and when do we use them?</a:t>
            </a:r>
            <a:endParaRPr lang="en-US"/>
          </a:p>
        </p:txBody>
      </p:sp>
      <p:sp>
        <p:nvSpPr>
          <p:cNvPr id="3" name="Text Box 6"/>
          <p:cNvSpPr txBox="1">
            <a:spLocks noChangeArrowheads="1"/>
          </p:cNvSpPr>
          <p:nvPr/>
        </p:nvSpPr>
        <p:spPr bwMode="auto">
          <a:xfrm>
            <a:off x="1372045" y="1902714"/>
            <a:ext cx="4679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/>
              <a:t>Finding the missing  angle:</a:t>
            </a:r>
          </a:p>
        </p:txBody>
      </p:sp>
      <p:sp>
        <p:nvSpPr>
          <p:cNvPr id="4" name="Text Box 17"/>
          <p:cNvSpPr txBox="1">
            <a:spLocks noChangeArrowheads="1"/>
          </p:cNvSpPr>
          <p:nvPr/>
        </p:nvSpPr>
        <p:spPr bwMode="auto">
          <a:xfrm>
            <a:off x="1156145" y="6372819"/>
            <a:ext cx="5759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Fill in the bits you know.</a:t>
            </a:r>
          </a:p>
        </p:txBody>
      </p:sp>
      <p:graphicFrame>
        <p:nvGraphicFramePr>
          <p:cNvPr id="5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4124707"/>
              </p:ext>
            </p:extLst>
          </p:nvPr>
        </p:nvGraphicFramePr>
        <p:xfrm>
          <a:off x="4180333" y="5360289"/>
          <a:ext cx="2155825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9" name="Equation" r:id="rId3" imgW="939600" imgH="393480" progId="Equation.3">
                  <p:embed/>
                </p:oleObj>
              </mc:Choice>
              <mc:Fallback>
                <p:oleObj name="Equation" r:id="rId3" imgW="9396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0333" y="5360289"/>
                        <a:ext cx="2155825" cy="903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19"/>
          <p:cNvSpPr txBox="1">
            <a:spLocks noChangeArrowheads="1"/>
          </p:cNvSpPr>
          <p:nvPr/>
        </p:nvSpPr>
        <p:spPr bwMode="auto">
          <a:xfrm>
            <a:off x="1443483" y="4063302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>
                <a:solidFill>
                  <a:srgbClr val="008000"/>
                </a:solidFill>
              </a:rPr>
              <a:t>A</a:t>
            </a:r>
          </a:p>
        </p:txBody>
      </p:sp>
      <p:sp>
        <p:nvSpPr>
          <p:cNvPr id="7" name="Text Box 20"/>
          <p:cNvSpPr txBox="1">
            <a:spLocks noChangeArrowheads="1"/>
          </p:cNvSpPr>
          <p:nvPr/>
        </p:nvSpPr>
        <p:spPr bwMode="auto">
          <a:xfrm>
            <a:off x="5764658" y="4711002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>
                <a:solidFill>
                  <a:srgbClr val="008000"/>
                </a:solidFill>
              </a:rPr>
              <a:t>B</a:t>
            </a:r>
          </a:p>
        </p:txBody>
      </p:sp>
      <p:sp>
        <p:nvSpPr>
          <p:cNvPr id="8" name="Text Box 21"/>
          <p:cNvSpPr txBox="1">
            <a:spLocks noChangeArrowheads="1"/>
          </p:cNvSpPr>
          <p:nvPr/>
        </p:nvSpPr>
        <p:spPr bwMode="auto">
          <a:xfrm>
            <a:off x="5115371" y="2407539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>
                <a:solidFill>
                  <a:srgbClr val="008000"/>
                </a:solidFill>
              </a:rPr>
              <a:t>C</a:t>
            </a:r>
          </a:p>
        </p:txBody>
      </p:sp>
      <p:sp>
        <p:nvSpPr>
          <p:cNvPr id="9" name="Rectangle 22"/>
          <p:cNvSpPr>
            <a:spLocks noChangeArrowheads="1"/>
          </p:cNvSpPr>
          <p:nvPr/>
        </p:nvSpPr>
        <p:spPr bwMode="auto">
          <a:xfrm>
            <a:off x="5620195" y="3221927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800" b="1" i="1">
                <a:solidFill>
                  <a:srgbClr val="008000"/>
                </a:solidFill>
                <a:latin typeface="Times New Roman" charset="0"/>
              </a:rPr>
              <a:t>a</a:t>
            </a:r>
          </a:p>
        </p:txBody>
      </p:sp>
      <p:sp>
        <p:nvSpPr>
          <p:cNvPr id="10" name="Rectangle 23"/>
          <p:cNvSpPr>
            <a:spLocks noChangeArrowheads="1"/>
          </p:cNvSpPr>
          <p:nvPr/>
        </p:nvSpPr>
        <p:spPr bwMode="auto">
          <a:xfrm>
            <a:off x="3172270" y="2910778"/>
            <a:ext cx="3465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400" b="1" i="1">
                <a:solidFill>
                  <a:srgbClr val="008000"/>
                </a:solidFill>
              </a:rPr>
              <a:t>b</a:t>
            </a:r>
          </a:p>
        </p:txBody>
      </p:sp>
      <p:sp>
        <p:nvSpPr>
          <p:cNvPr id="11" name="Rectangle 24"/>
          <p:cNvSpPr>
            <a:spLocks noChangeArrowheads="1"/>
          </p:cNvSpPr>
          <p:nvPr/>
        </p:nvSpPr>
        <p:spPr bwMode="auto">
          <a:xfrm>
            <a:off x="3604070" y="4518915"/>
            <a:ext cx="3413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800" b="1" i="1">
                <a:solidFill>
                  <a:srgbClr val="008000"/>
                </a:solidFill>
                <a:latin typeface="Times New Roman" charset="0"/>
              </a:rPr>
              <a:t>c</a:t>
            </a:r>
          </a:p>
        </p:txBody>
      </p:sp>
      <p:sp>
        <p:nvSpPr>
          <p:cNvPr id="12" name="Freeform 25"/>
          <p:cNvSpPr>
            <a:spLocks/>
          </p:cNvSpPr>
          <p:nvPr/>
        </p:nvSpPr>
        <p:spPr bwMode="auto">
          <a:xfrm>
            <a:off x="1875282" y="2767903"/>
            <a:ext cx="3925888" cy="2257425"/>
          </a:xfrm>
          <a:custGeom>
            <a:avLst/>
            <a:gdLst>
              <a:gd name="T0" fmla="*/ 0 w 2473"/>
              <a:gd name="T1" fmla="*/ 952 h 1422"/>
              <a:gd name="T2" fmla="*/ 2087 w 2473"/>
              <a:gd name="T3" fmla="*/ 0 h 1422"/>
              <a:gd name="T4" fmla="*/ 2473 w 2473"/>
              <a:gd name="T5" fmla="*/ 1422 h 1422"/>
              <a:gd name="T6" fmla="*/ 0 w 2473"/>
              <a:gd name="T7" fmla="*/ 952 h 14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473" h="1422">
                <a:moveTo>
                  <a:pt x="0" y="952"/>
                </a:moveTo>
                <a:lnTo>
                  <a:pt x="2087" y="0"/>
                </a:lnTo>
                <a:lnTo>
                  <a:pt x="2473" y="1422"/>
                </a:lnTo>
                <a:lnTo>
                  <a:pt x="0" y="952"/>
                </a:lnTo>
                <a:close/>
              </a:path>
            </a:pathLst>
          </a:custGeom>
          <a:noFill/>
          <a:ln w="38100" cmpd="sng">
            <a:solidFill>
              <a:srgbClr val="66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Text Box 26"/>
          <p:cNvSpPr txBox="1">
            <a:spLocks noChangeArrowheads="1"/>
          </p:cNvSpPr>
          <p:nvPr/>
        </p:nvSpPr>
        <p:spPr bwMode="auto">
          <a:xfrm>
            <a:off x="2883346" y="3199703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660033"/>
                </a:solidFill>
              </a:rPr>
              <a:t>10cm</a:t>
            </a:r>
          </a:p>
        </p:txBody>
      </p:sp>
      <p:sp>
        <p:nvSpPr>
          <p:cNvPr id="14" name="Text Box 27"/>
          <p:cNvSpPr txBox="1">
            <a:spLocks noChangeArrowheads="1"/>
          </p:cNvSpPr>
          <p:nvPr/>
        </p:nvSpPr>
        <p:spPr bwMode="auto">
          <a:xfrm>
            <a:off x="5548758" y="3560065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660033"/>
                </a:solidFill>
              </a:rPr>
              <a:t>7.1cm</a:t>
            </a:r>
          </a:p>
        </p:txBody>
      </p:sp>
      <p:sp>
        <p:nvSpPr>
          <p:cNvPr id="15" name="Freeform 28"/>
          <p:cNvSpPr>
            <a:spLocks/>
          </p:cNvSpPr>
          <p:nvPr/>
        </p:nvSpPr>
        <p:spPr bwMode="auto">
          <a:xfrm>
            <a:off x="5180457" y="4417314"/>
            <a:ext cx="439738" cy="471488"/>
          </a:xfrm>
          <a:custGeom>
            <a:avLst/>
            <a:gdLst>
              <a:gd name="T0" fmla="*/ 277 w 277"/>
              <a:gd name="T1" fmla="*/ 4 h 297"/>
              <a:gd name="T2" fmla="*/ 174 w 277"/>
              <a:gd name="T3" fmla="*/ 4 h 297"/>
              <a:gd name="T4" fmla="*/ 87 w 277"/>
              <a:gd name="T5" fmla="*/ 30 h 297"/>
              <a:gd name="T6" fmla="*/ 36 w 277"/>
              <a:gd name="T7" fmla="*/ 72 h 297"/>
              <a:gd name="T8" fmla="*/ 5 w 277"/>
              <a:gd name="T9" fmla="*/ 140 h 297"/>
              <a:gd name="T10" fmla="*/ 3 w 277"/>
              <a:gd name="T11" fmla="*/ 297 h 2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77" h="297">
                <a:moveTo>
                  <a:pt x="277" y="4"/>
                </a:moveTo>
                <a:cubicBezTo>
                  <a:pt x="260" y="4"/>
                  <a:pt x="206" y="0"/>
                  <a:pt x="174" y="4"/>
                </a:cubicBezTo>
                <a:cubicBezTo>
                  <a:pt x="142" y="8"/>
                  <a:pt x="110" y="19"/>
                  <a:pt x="87" y="30"/>
                </a:cubicBezTo>
                <a:cubicBezTo>
                  <a:pt x="64" y="41"/>
                  <a:pt x="50" y="54"/>
                  <a:pt x="36" y="72"/>
                </a:cubicBezTo>
                <a:cubicBezTo>
                  <a:pt x="22" y="90"/>
                  <a:pt x="10" y="103"/>
                  <a:pt x="5" y="140"/>
                </a:cubicBezTo>
                <a:cubicBezTo>
                  <a:pt x="0" y="177"/>
                  <a:pt x="4" y="264"/>
                  <a:pt x="3" y="297"/>
                </a:cubicBezTo>
              </a:path>
            </a:pathLst>
          </a:custGeom>
          <a:noFill/>
          <a:ln w="38100" cmpd="sng">
            <a:solidFill>
              <a:srgbClr val="66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Text Box 29"/>
          <p:cNvSpPr txBox="1">
            <a:spLocks noChangeArrowheads="1"/>
          </p:cNvSpPr>
          <p:nvPr/>
        </p:nvSpPr>
        <p:spPr bwMode="auto">
          <a:xfrm>
            <a:off x="5188396" y="4495103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660033"/>
                </a:solidFill>
              </a:rPr>
              <a:t>65</a:t>
            </a:r>
            <a:r>
              <a:rPr lang="en-GB" altLang="x-none" sz="2000">
                <a:solidFill>
                  <a:srgbClr val="660033"/>
                </a:solidFill>
                <a:ea typeface="Arial" charset="0"/>
                <a:cs typeface="Arial" charset="0"/>
              </a:rPr>
              <a:t>°</a:t>
            </a:r>
          </a:p>
        </p:txBody>
      </p:sp>
      <p:sp>
        <p:nvSpPr>
          <p:cNvPr id="17" name="Freeform 30"/>
          <p:cNvSpPr>
            <a:spLocks/>
          </p:cNvSpPr>
          <p:nvPr/>
        </p:nvSpPr>
        <p:spPr bwMode="auto">
          <a:xfrm>
            <a:off x="2611883" y="3953764"/>
            <a:ext cx="180975" cy="465138"/>
          </a:xfrm>
          <a:custGeom>
            <a:avLst/>
            <a:gdLst>
              <a:gd name="T0" fmla="*/ 0 w 114"/>
              <a:gd name="T1" fmla="*/ 0 h 293"/>
              <a:gd name="T2" fmla="*/ 52 w 114"/>
              <a:gd name="T3" fmla="*/ 36 h 293"/>
              <a:gd name="T4" fmla="*/ 76 w 114"/>
              <a:gd name="T5" fmla="*/ 68 h 293"/>
              <a:gd name="T6" fmla="*/ 104 w 114"/>
              <a:gd name="T7" fmla="*/ 120 h 293"/>
              <a:gd name="T8" fmla="*/ 114 w 114"/>
              <a:gd name="T9" fmla="*/ 188 h 293"/>
              <a:gd name="T10" fmla="*/ 103 w 114"/>
              <a:gd name="T11" fmla="*/ 257 h 293"/>
              <a:gd name="T12" fmla="*/ 91 w 114"/>
              <a:gd name="T13" fmla="*/ 293 h 2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4" h="293">
                <a:moveTo>
                  <a:pt x="0" y="0"/>
                </a:moveTo>
                <a:cubicBezTo>
                  <a:pt x="9" y="6"/>
                  <a:pt x="39" y="25"/>
                  <a:pt x="52" y="36"/>
                </a:cubicBezTo>
                <a:cubicBezTo>
                  <a:pt x="65" y="47"/>
                  <a:pt x="67" y="54"/>
                  <a:pt x="76" y="68"/>
                </a:cubicBezTo>
                <a:cubicBezTo>
                  <a:pt x="85" y="82"/>
                  <a:pt x="98" y="100"/>
                  <a:pt x="104" y="120"/>
                </a:cubicBezTo>
                <a:cubicBezTo>
                  <a:pt x="110" y="140"/>
                  <a:pt x="114" y="165"/>
                  <a:pt x="114" y="188"/>
                </a:cubicBezTo>
                <a:cubicBezTo>
                  <a:pt x="114" y="211"/>
                  <a:pt x="107" y="240"/>
                  <a:pt x="103" y="257"/>
                </a:cubicBezTo>
                <a:cubicBezTo>
                  <a:pt x="99" y="274"/>
                  <a:pt x="93" y="286"/>
                  <a:pt x="91" y="293"/>
                </a:cubicBezTo>
              </a:path>
            </a:pathLst>
          </a:custGeom>
          <a:noFill/>
          <a:ln w="38100" cmpd="sng">
            <a:solidFill>
              <a:srgbClr val="66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Text Box 31"/>
          <p:cNvSpPr txBox="1">
            <a:spLocks noChangeArrowheads="1"/>
          </p:cNvSpPr>
          <p:nvPr/>
        </p:nvSpPr>
        <p:spPr bwMode="auto">
          <a:xfrm>
            <a:off x="2235646" y="3991865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l-GR" altLang="x-none" sz="2000" i="1">
                <a:solidFill>
                  <a:srgbClr val="660033"/>
                </a:solidFill>
                <a:ea typeface="Arial" charset="0"/>
                <a:cs typeface="Arial" charset="0"/>
              </a:rPr>
              <a:t>θ</a:t>
            </a:r>
            <a:r>
              <a:rPr lang="en-GB" altLang="x-none" sz="2000">
                <a:solidFill>
                  <a:srgbClr val="660033"/>
                </a:solidFill>
                <a:ea typeface="Arial" charset="0"/>
                <a:cs typeface="Arial" charset="0"/>
              </a:rPr>
              <a:t>°</a:t>
            </a:r>
          </a:p>
        </p:txBody>
      </p:sp>
      <p:graphicFrame>
        <p:nvGraphicFramePr>
          <p:cNvPr id="19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0826044"/>
              </p:ext>
            </p:extLst>
          </p:nvPr>
        </p:nvGraphicFramePr>
        <p:xfrm>
          <a:off x="1156145" y="5360290"/>
          <a:ext cx="2093912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70" name="Equation" r:id="rId5" imgW="850680" imgH="393480" progId="Equation.3">
                  <p:embed/>
                </p:oleObj>
              </mc:Choice>
              <mc:Fallback>
                <p:oleObj name="Equation" r:id="rId5" imgW="8506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6145" y="5360290"/>
                        <a:ext cx="2093912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33"/>
          <p:cNvSpPr txBox="1">
            <a:spLocks noChangeArrowheads="1"/>
          </p:cNvSpPr>
          <p:nvPr/>
        </p:nvSpPr>
        <p:spPr bwMode="auto">
          <a:xfrm>
            <a:off x="5980558" y="2334515"/>
            <a:ext cx="16557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/>
              <a:t>Not to scale</a:t>
            </a:r>
          </a:p>
        </p:txBody>
      </p:sp>
    </p:spTree>
    <p:extLst>
      <p:ext uri="{BB962C8B-B14F-4D97-AF65-F5344CB8AC3E}">
        <p14:creationId xmlns:p14="http://schemas.microsoft.com/office/powerpoint/2010/main" val="1912755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 smtClean="0"/>
              <a:t>Topic: Sine and cosine Rules</a:t>
            </a:r>
            <a:br>
              <a:rPr lang="en-US" dirty="0" smtClean="0"/>
            </a:br>
            <a:r>
              <a:rPr lang="en-US" dirty="0" smtClean="0"/>
              <a:t>EQ: What are the sine and cosine </a:t>
            </a:r>
            <a:r>
              <a:rPr lang="en-US" smtClean="0"/>
              <a:t>rules and when do we use them?</a:t>
            </a:r>
            <a:endParaRPr lang="en-US"/>
          </a:p>
        </p:txBody>
      </p:sp>
      <p:sp>
        <p:nvSpPr>
          <p:cNvPr id="3" name="Text Box 6"/>
          <p:cNvSpPr txBox="1">
            <a:spLocks noChangeArrowheads="1"/>
          </p:cNvSpPr>
          <p:nvPr/>
        </p:nvSpPr>
        <p:spPr bwMode="auto">
          <a:xfrm>
            <a:off x="1201357" y="1723698"/>
            <a:ext cx="4679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 dirty="0"/>
              <a:t>Finding the missing  angle:</a:t>
            </a:r>
          </a:p>
        </p:txBody>
      </p:sp>
      <p:graphicFrame>
        <p:nvGraphicFramePr>
          <p:cNvPr id="4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4170073"/>
              </p:ext>
            </p:extLst>
          </p:nvPr>
        </p:nvGraphicFramePr>
        <p:xfrm>
          <a:off x="5977394" y="4818530"/>
          <a:ext cx="2820988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29" name="Equation" r:id="rId3" imgW="1218960" imgH="393480" progId="Equation.3">
                  <p:embed/>
                </p:oleObj>
              </mc:Choice>
              <mc:Fallback>
                <p:oleObj name="Equation" r:id="rId3" imgW="12189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7394" y="4818530"/>
                        <a:ext cx="2820988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155520"/>
              </p:ext>
            </p:extLst>
          </p:nvPr>
        </p:nvGraphicFramePr>
        <p:xfrm>
          <a:off x="9019608" y="5068560"/>
          <a:ext cx="3025775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30" name="Equation" r:id="rId5" imgW="1307880" imgH="177480" progId="Equation.3">
                  <p:embed/>
                </p:oleObj>
              </mc:Choice>
              <mc:Fallback>
                <p:oleObj name="Equation" r:id="rId5" imgW="130788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19608" y="5068560"/>
                        <a:ext cx="3025775" cy="41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21"/>
          <p:cNvSpPr txBox="1">
            <a:spLocks noChangeArrowheads="1"/>
          </p:cNvSpPr>
          <p:nvPr/>
        </p:nvSpPr>
        <p:spPr bwMode="auto">
          <a:xfrm>
            <a:off x="1403807" y="3691405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>
                <a:solidFill>
                  <a:srgbClr val="008000"/>
                </a:solidFill>
              </a:rPr>
              <a:t>A</a:t>
            </a:r>
          </a:p>
        </p:txBody>
      </p:sp>
      <p:sp>
        <p:nvSpPr>
          <p:cNvPr id="7" name="Text Box 22"/>
          <p:cNvSpPr txBox="1">
            <a:spLocks noChangeArrowheads="1"/>
          </p:cNvSpPr>
          <p:nvPr/>
        </p:nvSpPr>
        <p:spPr bwMode="auto">
          <a:xfrm>
            <a:off x="5724982" y="4339105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>
                <a:solidFill>
                  <a:srgbClr val="008000"/>
                </a:solidFill>
              </a:rPr>
              <a:t>B</a:t>
            </a:r>
          </a:p>
        </p:txBody>
      </p:sp>
      <p:sp>
        <p:nvSpPr>
          <p:cNvPr id="8" name="Text Box 23"/>
          <p:cNvSpPr txBox="1">
            <a:spLocks noChangeArrowheads="1"/>
          </p:cNvSpPr>
          <p:nvPr/>
        </p:nvSpPr>
        <p:spPr bwMode="auto">
          <a:xfrm>
            <a:off x="5075695" y="2035642"/>
            <a:ext cx="50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>
                <a:solidFill>
                  <a:srgbClr val="008000"/>
                </a:solidFill>
              </a:rPr>
              <a:t>C</a:t>
            </a:r>
          </a:p>
        </p:txBody>
      </p:sp>
      <p:sp>
        <p:nvSpPr>
          <p:cNvPr id="9" name="Rectangle 24"/>
          <p:cNvSpPr>
            <a:spLocks noChangeArrowheads="1"/>
          </p:cNvSpPr>
          <p:nvPr/>
        </p:nvSpPr>
        <p:spPr bwMode="auto">
          <a:xfrm>
            <a:off x="5580519" y="2850030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800" b="1" i="1">
                <a:solidFill>
                  <a:srgbClr val="008000"/>
                </a:solidFill>
                <a:latin typeface="Times New Roman" charset="0"/>
              </a:rPr>
              <a:t>a</a:t>
            </a:r>
          </a:p>
        </p:txBody>
      </p:sp>
      <p:sp>
        <p:nvSpPr>
          <p:cNvPr id="10" name="Rectangle 25"/>
          <p:cNvSpPr>
            <a:spLocks noChangeArrowheads="1"/>
          </p:cNvSpPr>
          <p:nvPr/>
        </p:nvSpPr>
        <p:spPr bwMode="auto">
          <a:xfrm>
            <a:off x="3132594" y="2489668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800" b="1" i="1">
                <a:solidFill>
                  <a:srgbClr val="008000"/>
                </a:solidFill>
                <a:latin typeface="Times New Roman" charset="0"/>
              </a:rPr>
              <a:t>b</a:t>
            </a:r>
          </a:p>
        </p:txBody>
      </p:sp>
      <p:sp>
        <p:nvSpPr>
          <p:cNvPr id="11" name="Rectangle 26"/>
          <p:cNvSpPr>
            <a:spLocks noChangeArrowheads="1"/>
          </p:cNvSpPr>
          <p:nvPr/>
        </p:nvSpPr>
        <p:spPr bwMode="auto">
          <a:xfrm>
            <a:off x="3564394" y="4147018"/>
            <a:ext cx="3413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800" b="1" i="1">
                <a:solidFill>
                  <a:srgbClr val="008000"/>
                </a:solidFill>
                <a:latin typeface="Times New Roman" charset="0"/>
              </a:rPr>
              <a:t>c</a:t>
            </a:r>
          </a:p>
        </p:txBody>
      </p:sp>
      <p:sp>
        <p:nvSpPr>
          <p:cNvPr id="12" name="Freeform 27"/>
          <p:cNvSpPr>
            <a:spLocks/>
          </p:cNvSpPr>
          <p:nvPr/>
        </p:nvSpPr>
        <p:spPr bwMode="auto">
          <a:xfrm>
            <a:off x="1835606" y="2396006"/>
            <a:ext cx="3925888" cy="2257425"/>
          </a:xfrm>
          <a:custGeom>
            <a:avLst/>
            <a:gdLst>
              <a:gd name="T0" fmla="*/ 0 w 2473"/>
              <a:gd name="T1" fmla="*/ 952 h 1422"/>
              <a:gd name="T2" fmla="*/ 2087 w 2473"/>
              <a:gd name="T3" fmla="*/ 0 h 1422"/>
              <a:gd name="T4" fmla="*/ 2473 w 2473"/>
              <a:gd name="T5" fmla="*/ 1422 h 1422"/>
              <a:gd name="T6" fmla="*/ 0 w 2473"/>
              <a:gd name="T7" fmla="*/ 952 h 14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473" h="1422">
                <a:moveTo>
                  <a:pt x="0" y="952"/>
                </a:moveTo>
                <a:lnTo>
                  <a:pt x="2087" y="0"/>
                </a:lnTo>
                <a:lnTo>
                  <a:pt x="2473" y="1422"/>
                </a:lnTo>
                <a:lnTo>
                  <a:pt x="0" y="952"/>
                </a:lnTo>
                <a:close/>
              </a:path>
            </a:pathLst>
          </a:custGeom>
          <a:noFill/>
          <a:ln w="38100" cmpd="sng">
            <a:solidFill>
              <a:srgbClr val="66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Text Box 28"/>
          <p:cNvSpPr txBox="1">
            <a:spLocks noChangeArrowheads="1"/>
          </p:cNvSpPr>
          <p:nvPr/>
        </p:nvSpPr>
        <p:spPr bwMode="auto">
          <a:xfrm>
            <a:off x="2843670" y="2827806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660033"/>
                </a:solidFill>
              </a:rPr>
              <a:t>10cm</a:t>
            </a:r>
          </a:p>
        </p:txBody>
      </p:sp>
      <p:sp>
        <p:nvSpPr>
          <p:cNvPr id="14" name="Text Box 29"/>
          <p:cNvSpPr txBox="1">
            <a:spLocks noChangeArrowheads="1"/>
          </p:cNvSpPr>
          <p:nvPr/>
        </p:nvSpPr>
        <p:spPr bwMode="auto">
          <a:xfrm>
            <a:off x="5509082" y="3188168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660033"/>
                </a:solidFill>
              </a:rPr>
              <a:t>7.1cm</a:t>
            </a:r>
          </a:p>
        </p:txBody>
      </p:sp>
      <p:sp>
        <p:nvSpPr>
          <p:cNvPr id="15" name="Freeform 30"/>
          <p:cNvSpPr>
            <a:spLocks/>
          </p:cNvSpPr>
          <p:nvPr/>
        </p:nvSpPr>
        <p:spPr bwMode="auto">
          <a:xfrm>
            <a:off x="5140781" y="4045417"/>
            <a:ext cx="439738" cy="471488"/>
          </a:xfrm>
          <a:custGeom>
            <a:avLst/>
            <a:gdLst>
              <a:gd name="T0" fmla="*/ 277 w 277"/>
              <a:gd name="T1" fmla="*/ 4 h 297"/>
              <a:gd name="T2" fmla="*/ 174 w 277"/>
              <a:gd name="T3" fmla="*/ 4 h 297"/>
              <a:gd name="T4" fmla="*/ 87 w 277"/>
              <a:gd name="T5" fmla="*/ 30 h 297"/>
              <a:gd name="T6" fmla="*/ 36 w 277"/>
              <a:gd name="T7" fmla="*/ 72 h 297"/>
              <a:gd name="T8" fmla="*/ 5 w 277"/>
              <a:gd name="T9" fmla="*/ 140 h 297"/>
              <a:gd name="T10" fmla="*/ 3 w 277"/>
              <a:gd name="T11" fmla="*/ 297 h 2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77" h="297">
                <a:moveTo>
                  <a:pt x="277" y="4"/>
                </a:moveTo>
                <a:cubicBezTo>
                  <a:pt x="260" y="4"/>
                  <a:pt x="206" y="0"/>
                  <a:pt x="174" y="4"/>
                </a:cubicBezTo>
                <a:cubicBezTo>
                  <a:pt x="142" y="8"/>
                  <a:pt x="110" y="19"/>
                  <a:pt x="87" y="30"/>
                </a:cubicBezTo>
                <a:cubicBezTo>
                  <a:pt x="64" y="41"/>
                  <a:pt x="50" y="54"/>
                  <a:pt x="36" y="72"/>
                </a:cubicBezTo>
                <a:cubicBezTo>
                  <a:pt x="22" y="90"/>
                  <a:pt x="10" y="103"/>
                  <a:pt x="5" y="140"/>
                </a:cubicBezTo>
                <a:cubicBezTo>
                  <a:pt x="0" y="177"/>
                  <a:pt x="4" y="264"/>
                  <a:pt x="3" y="297"/>
                </a:cubicBezTo>
              </a:path>
            </a:pathLst>
          </a:custGeom>
          <a:noFill/>
          <a:ln w="38100" cmpd="sng">
            <a:solidFill>
              <a:srgbClr val="66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Text Box 31"/>
          <p:cNvSpPr txBox="1">
            <a:spLocks noChangeArrowheads="1"/>
          </p:cNvSpPr>
          <p:nvPr/>
        </p:nvSpPr>
        <p:spPr bwMode="auto">
          <a:xfrm>
            <a:off x="5148720" y="4123206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660033"/>
                </a:solidFill>
              </a:rPr>
              <a:t>72</a:t>
            </a:r>
            <a:r>
              <a:rPr lang="en-GB" altLang="x-none" sz="2000">
                <a:solidFill>
                  <a:srgbClr val="660033"/>
                </a:solidFill>
                <a:ea typeface="Arial" charset="0"/>
                <a:cs typeface="Arial" charset="0"/>
              </a:rPr>
              <a:t>°</a:t>
            </a:r>
          </a:p>
        </p:txBody>
      </p:sp>
      <p:sp>
        <p:nvSpPr>
          <p:cNvPr id="17" name="Freeform 32"/>
          <p:cNvSpPr>
            <a:spLocks/>
          </p:cNvSpPr>
          <p:nvPr/>
        </p:nvSpPr>
        <p:spPr bwMode="auto">
          <a:xfrm>
            <a:off x="2572207" y="3581867"/>
            <a:ext cx="180975" cy="465138"/>
          </a:xfrm>
          <a:custGeom>
            <a:avLst/>
            <a:gdLst>
              <a:gd name="T0" fmla="*/ 0 w 114"/>
              <a:gd name="T1" fmla="*/ 0 h 293"/>
              <a:gd name="T2" fmla="*/ 52 w 114"/>
              <a:gd name="T3" fmla="*/ 36 h 293"/>
              <a:gd name="T4" fmla="*/ 76 w 114"/>
              <a:gd name="T5" fmla="*/ 68 h 293"/>
              <a:gd name="T6" fmla="*/ 104 w 114"/>
              <a:gd name="T7" fmla="*/ 120 h 293"/>
              <a:gd name="T8" fmla="*/ 114 w 114"/>
              <a:gd name="T9" fmla="*/ 188 h 293"/>
              <a:gd name="T10" fmla="*/ 103 w 114"/>
              <a:gd name="T11" fmla="*/ 257 h 293"/>
              <a:gd name="T12" fmla="*/ 91 w 114"/>
              <a:gd name="T13" fmla="*/ 293 h 2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4" h="293">
                <a:moveTo>
                  <a:pt x="0" y="0"/>
                </a:moveTo>
                <a:cubicBezTo>
                  <a:pt x="9" y="6"/>
                  <a:pt x="39" y="25"/>
                  <a:pt x="52" y="36"/>
                </a:cubicBezTo>
                <a:cubicBezTo>
                  <a:pt x="65" y="47"/>
                  <a:pt x="67" y="54"/>
                  <a:pt x="76" y="68"/>
                </a:cubicBezTo>
                <a:cubicBezTo>
                  <a:pt x="85" y="82"/>
                  <a:pt x="98" y="100"/>
                  <a:pt x="104" y="120"/>
                </a:cubicBezTo>
                <a:cubicBezTo>
                  <a:pt x="110" y="140"/>
                  <a:pt x="114" y="165"/>
                  <a:pt x="114" y="188"/>
                </a:cubicBezTo>
                <a:cubicBezTo>
                  <a:pt x="114" y="211"/>
                  <a:pt x="107" y="240"/>
                  <a:pt x="103" y="257"/>
                </a:cubicBezTo>
                <a:cubicBezTo>
                  <a:pt x="99" y="274"/>
                  <a:pt x="93" y="286"/>
                  <a:pt x="91" y="293"/>
                </a:cubicBezTo>
              </a:path>
            </a:pathLst>
          </a:custGeom>
          <a:noFill/>
          <a:ln w="38100" cmpd="sng">
            <a:solidFill>
              <a:srgbClr val="66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Text Box 33"/>
          <p:cNvSpPr txBox="1">
            <a:spLocks noChangeArrowheads="1"/>
          </p:cNvSpPr>
          <p:nvPr/>
        </p:nvSpPr>
        <p:spPr bwMode="auto">
          <a:xfrm>
            <a:off x="2195970" y="3619968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l-GR" altLang="x-none" sz="2000">
                <a:solidFill>
                  <a:srgbClr val="660033"/>
                </a:solidFill>
                <a:ea typeface="Arial" charset="0"/>
                <a:cs typeface="Arial" charset="0"/>
              </a:rPr>
              <a:t>θ</a:t>
            </a:r>
            <a:r>
              <a:rPr lang="en-GB" altLang="x-none" sz="2000">
                <a:solidFill>
                  <a:srgbClr val="660033"/>
                </a:solidFill>
                <a:ea typeface="Arial" charset="0"/>
                <a:cs typeface="Arial" charset="0"/>
              </a:rPr>
              <a:t>°</a:t>
            </a:r>
          </a:p>
        </p:txBody>
      </p:sp>
      <p:graphicFrame>
        <p:nvGraphicFramePr>
          <p:cNvPr id="19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827989"/>
              </p:ext>
            </p:extLst>
          </p:nvPr>
        </p:nvGraphicFramePr>
        <p:xfrm>
          <a:off x="3311982" y="4917027"/>
          <a:ext cx="2155825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31" name="Equation" r:id="rId7" imgW="939600" imgH="393480" progId="Equation.3">
                  <p:embed/>
                </p:oleObj>
              </mc:Choice>
              <mc:Fallback>
                <p:oleObj name="Equation" r:id="rId7" imgW="9396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1982" y="4917027"/>
                        <a:ext cx="2155825" cy="903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2843991"/>
              </p:ext>
            </p:extLst>
          </p:nvPr>
        </p:nvGraphicFramePr>
        <p:xfrm>
          <a:off x="6610807" y="6029792"/>
          <a:ext cx="2187575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32" name="Equation" r:id="rId9" imgW="685800" imgH="177480" progId="Equation.3">
                  <p:embed/>
                </p:oleObj>
              </mc:Choice>
              <mc:Fallback>
                <p:oleObj name="Equation" r:id="rId9" imgW="68580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0807" y="6029792"/>
                        <a:ext cx="2187575" cy="566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36"/>
          <p:cNvSpPr txBox="1">
            <a:spLocks noChangeArrowheads="1"/>
          </p:cNvSpPr>
          <p:nvPr/>
        </p:nvSpPr>
        <p:spPr bwMode="auto">
          <a:xfrm>
            <a:off x="4017606" y="6029792"/>
            <a:ext cx="2447925" cy="584775"/>
          </a:xfrm>
          <a:prstGeom prst="rect">
            <a:avLst/>
          </a:prstGeom>
          <a:solidFill>
            <a:srgbClr val="FFFF00"/>
          </a:solidFill>
          <a:ln w="38100">
            <a:solidFill>
              <a:srgbClr val="660033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3200" dirty="0" smtClean="0">
                <a:latin typeface="Comic Sans MS" charset="0"/>
              </a:rPr>
              <a:t>Sin </a:t>
            </a:r>
            <a:r>
              <a:rPr lang="en-GB" altLang="x-none" sz="3200" baseline="30000" dirty="0" smtClean="0">
                <a:latin typeface="Comic Sans MS" charset="0"/>
              </a:rPr>
              <a:t>-1 </a:t>
            </a:r>
            <a:r>
              <a:rPr lang="en-GB" altLang="x-none" sz="3200" dirty="0" smtClean="0">
                <a:latin typeface="Comic Sans MS" charset="0"/>
              </a:rPr>
              <a:t>= </a:t>
            </a:r>
            <a:endParaRPr lang="en-GB" altLang="x-none" sz="3200" dirty="0">
              <a:latin typeface="Comic Sans MS" charset="0"/>
            </a:endParaRPr>
          </a:p>
        </p:txBody>
      </p:sp>
      <p:graphicFrame>
        <p:nvGraphicFramePr>
          <p:cNvPr id="22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8423702"/>
              </p:ext>
            </p:extLst>
          </p:nvPr>
        </p:nvGraphicFramePr>
        <p:xfrm>
          <a:off x="331681" y="4909018"/>
          <a:ext cx="2093912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33" name="Equation" r:id="rId11" imgW="850680" imgH="393480" progId="Equation.3">
                  <p:embed/>
                </p:oleObj>
              </mc:Choice>
              <mc:Fallback>
                <p:oleObj name="Equation" r:id="rId11" imgW="8506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681" y="4909018"/>
                        <a:ext cx="2093912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38"/>
          <p:cNvSpPr txBox="1">
            <a:spLocks noChangeArrowheads="1"/>
          </p:cNvSpPr>
          <p:nvPr/>
        </p:nvSpPr>
        <p:spPr bwMode="auto">
          <a:xfrm>
            <a:off x="5940882" y="1962618"/>
            <a:ext cx="16557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/>
              <a:t>Not to scale</a:t>
            </a:r>
          </a:p>
        </p:txBody>
      </p:sp>
    </p:spTree>
    <p:extLst>
      <p:ext uri="{BB962C8B-B14F-4D97-AF65-F5344CB8AC3E}">
        <p14:creationId xmlns:p14="http://schemas.microsoft.com/office/powerpoint/2010/main" val="1903969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800" y="1054100"/>
            <a:ext cx="9537700" cy="473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644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 smtClean="0"/>
              <a:t>Topic: Sine and cosine Rules</a:t>
            </a:r>
            <a:br>
              <a:rPr lang="en-US" dirty="0" smtClean="0"/>
            </a:br>
            <a:r>
              <a:rPr lang="en-US" dirty="0" smtClean="0"/>
              <a:t>EQ: What are the sine and cosine </a:t>
            </a:r>
            <a:r>
              <a:rPr lang="en-US" smtClean="0"/>
              <a:t>rules and when do we use them?</a:t>
            </a:r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0" y="5998464"/>
            <a:ext cx="12192000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0" y="5998464"/>
            <a:ext cx="14554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Summary:</a:t>
            </a:r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984600" y="2743200"/>
            <a:ext cx="1022279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3600" dirty="0" smtClean="0"/>
              <a:t>Homework: 10 ticks Sine and Cosine Law Worksheet</a:t>
            </a:r>
          </a:p>
          <a:p>
            <a:pPr marL="285750" indent="-285750">
              <a:buFont typeface="Arial" charset="0"/>
              <a:buChar char="•"/>
            </a:pPr>
            <a:endParaRPr lang="en-US" sz="3600" dirty="0"/>
          </a:p>
          <a:p>
            <a:pPr marL="285750" indent="-285750">
              <a:buFont typeface="Arial" charset="0"/>
              <a:buChar char="•"/>
            </a:pPr>
            <a:r>
              <a:rPr lang="en-US" sz="3600" dirty="0"/>
              <a:t>C</a:t>
            </a:r>
            <a:r>
              <a:rPr lang="en-US" sz="3600" dirty="0" smtClean="0"/>
              <a:t>omplete your summary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961896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 smtClean="0"/>
              <a:t>Topic: Sine and cosine Rules</a:t>
            </a:r>
            <a:br>
              <a:rPr lang="en-US" dirty="0" smtClean="0"/>
            </a:br>
            <a:r>
              <a:rPr lang="en-US" dirty="0" smtClean="0"/>
              <a:t>EQ: What are the sine and cosine </a:t>
            </a:r>
            <a:r>
              <a:rPr lang="en-US" smtClean="0"/>
              <a:t>rules and when do we use them?</a:t>
            </a:r>
            <a:endParaRPr lang="en-US"/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1286702" y="2444424"/>
            <a:ext cx="684053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If the triangle is not right-angled, and there is not a matching pair, you will need then Cosine Rule.</a:t>
            </a: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2294764" y="1723698"/>
            <a:ext cx="460851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3600" b="1" u="sng"/>
              <a:t>The Cosine Rule</a:t>
            </a:r>
            <a:r>
              <a:rPr lang="en-GB" altLang="x-none" sz="3600" b="1"/>
              <a:t>:</a:t>
            </a:r>
          </a:p>
        </p:txBody>
      </p:sp>
      <p:grpSp>
        <p:nvGrpSpPr>
          <p:cNvPr id="5" name="Group 16"/>
          <p:cNvGrpSpPr>
            <a:grpSpLocks/>
          </p:cNvGrpSpPr>
          <p:nvPr/>
        </p:nvGrpSpPr>
        <p:grpSpPr bwMode="auto">
          <a:xfrm>
            <a:off x="2940877" y="3309610"/>
            <a:ext cx="4249737" cy="2844800"/>
            <a:chOff x="1745" y="1254"/>
            <a:chExt cx="2677" cy="1792"/>
          </a:xfrm>
        </p:grpSpPr>
        <p:sp>
          <p:nvSpPr>
            <p:cNvPr id="6" name="Freeform 6"/>
            <p:cNvSpPr>
              <a:spLocks/>
            </p:cNvSpPr>
            <p:nvPr/>
          </p:nvSpPr>
          <p:spPr bwMode="auto">
            <a:xfrm>
              <a:off x="1972" y="1526"/>
              <a:ext cx="2132" cy="1270"/>
            </a:xfrm>
            <a:custGeom>
              <a:avLst/>
              <a:gdLst>
                <a:gd name="T0" fmla="*/ 0 w 2132"/>
                <a:gd name="T1" fmla="*/ 1270 h 1270"/>
                <a:gd name="T2" fmla="*/ 2132 w 2132"/>
                <a:gd name="T3" fmla="*/ 1270 h 1270"/>
                <a:gd name="T4" fmla="*/ 1406 w 2132"/>
                <a:gd name="T5" fmla="*/ 0 h 1270"/>
                <a:gd name="T6" fmla="*/ 0 w 2132"/>
                <a:gd name="T7" fmla="*/ 1270 h 1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32" h="1270">
                  <a:moveTo>
                    <a:pt x="0" y="1270"/>
                  </a:moveTo>
                  <a:lnTo>
                    <a:pt x="2132" y="1270"/>
                  </a:lnTo>
                  <a:lnTo>
                    <a:pt x="1406" y="0"/>
                  </a:lnTo>
                  <a:lnTo>
                    <a:pt x="0" y="1270"/>
                  </a:lnTo>
                  <a:close/>
                </a:path>
              </a:pathLst>
            </a:custGeom>
            <a:noFill/>
            <a:ln w="38100" cmpd="sng">
              <a:solidFill>
                <a:srgbClr val="00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1745" y="2614"/>
              <a:ext cx="31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 altLang="x-none" sz="2400" b="1">
                  <a:solidFill>
                    <a:srgbClr val="0000CC"/>
                  </a:solidFill>
                </a:rPr>
                <a:t>A</a:t>
              </a:r>
            </a:p>
          </p:txBody>
        </p:sp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4104" y="2614"/>
              <a:ext cx="31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 altLang="x-none" sz="2400" b="1">
                  <a:solidFill>
                    <a:srgbClr val="0000CC"/>
                  </a:solidFill>
                </a:rPr>
                <a:t>B</a:t>
              </a:r>
            </a:p>
          </p:txBody>
        </p:sp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3242" y="1254"/>
              <a:ext cx="31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 altLang="x-none" sz="2400" b="1">
                  <a:solidFill>
                    <a:srgbClr val="0000CC"/>
                  </a:solidFill>
                </a:rPr>
                <a:t>C</a:t>
              </a:r>
            </a:p>
          </p:txBody>
        </p:sp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3696" y="1857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x-none" sz="2800" b="1" i="1">
                  <a:solidFill>
                    <a:srgbClr val="0000CC"/>
                  </a:solidFill>
                  <a:latin typeface="Times New Roman" charset="0"/>
                </a:rPr>
                <a:t>a</a:t>
              </a:r>
            </a:p>
          </p:txBody>
        </p:sp>
        <p:sp>
          <p:nvSpPr>
            <p:cNvPr id="11" name="Rectangle 11"/>
            <p:cNvSpPr>
              <a:spLocks noChangeArrowheads="1"/>
            </p:cNvSpPr>
            <p:nvPr/>
          </p:nvSpPr>
          <p:spPr bwMode="auto">
            <a:xfrm>
              <a:off x="2471" y="1903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x-none" sz="2800" b="1" i="1">
                  <a:solidFill>
                    <a:srgbClr val="0000CC"/>
                  </a:solidFill>
                  <a:latin typeface="Times New Roman" charset="0"/>
                </a:rPr>
                <a:t>b</a:t>
              </a:r>
            </a:p>
          </p:txBody>
        </p:sp>
        <p:sp>
          <p:nvSpPr>
            <p:cNvPr id="12" name="Rectangle 12"/>
            <p:cNvSpPr>
              <a:spLocks noChangeArrowheads="1"/>
            </p:cNvSpPr>
            <p:nvPr/>
          </p:nvSpPr>
          <p:spPr bwMode="auto">
            <a:xfrm>
              <a:off x="2970" y="2719"/>
              <a:ext cx="21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x-none" sz="2800" b="1" i="1">
                  <a:solidFill>
                    <a:srgbClr val="0000CC"/>
                  </a:solidFill>
                  <a:latin typeface="Times New Roman" charset="0"/>
                </a:rPr>
                <a:t>c</a:t>
              </a:r>
            </a:p>
          </p:txBody>
        </p:sp>
      </p:grpSp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926338" y="6332210"/>
            <a:ext cx="30241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/>
              <a:t>In any triangle </a:t>
            </a:r>
            <a:r>
              <a:rPr lang="en-GB" altLang="x-none" sz="2400" b="1" i="1"/>
              <a:t>ABC</a:t>
            </a:r>
            <a:r>
              <a:rPr lang="en-GB" altLang="x-none" sz="2400"/>
              <a:t> </a:t>
            </a:r>
          </a:p>
        </p:txBody>
      </p:sp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4166427" y="6548111"/>
            <a:ext cx="45370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x-none" altLang="x-none"/>
          </a:p>
        </p:txBody>
      </p:sp>
      <p:graphicFrame>
        <p:nvGraphicFramePr>
          <p:cNvPr id="1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8342279"/>
              </p:ext>
            </p:extLst>
          </p:nvPr>
        </p:nvGraphicFramePr>
        <p:xfrm>
          <a:off x="4094989" y="6187749"/>
          <a:ext cx="4608513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2" name="Equation" r:id="rId3" imgW="1498320" imgH="203040" progId="Equation.3">
                  <p:embed/>
                </p:oleObj>
              </mc:Choice>
              <mc:Fallback>
                <p:oleObj name="Equation" r:id="rId3" imgW="149832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4989" y="6187749"/>
                        <a:ext cx="4608513" cy="62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8621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 smtClean="0"/>
              <a:t>Topic: Sine and cosine Rules</a:t>
            </a:r>
            <a:br>
              <a:rPr lang="en-US" dirty="0" smtClean="0"/>
            </a:br>
            <a:r>
              <a:rPr lang="en-US" dirty="0" smtClean="0"/>
              <a:t>EQ: What are the sine and cosine </a:t>
            </a:r>
            <a:r>
              <a:rPr lang="en-US" smtClean="0"/>
              <a:t>rules and when do we use them?</a:t>
            </a:r>
            <a:endParaRPr lang="en-US"/>
          </a:p>
        </p:txBody>
      </p:sp>
      <p:sp>
        <p:nvSpPr>
          <p:cNvPr id="3" name="Text Box 14"/>
          <p:cNvSpPr txBox="1">
            <a:spLocks noChangeArrowheads="1"/>
          </p:cNvSpPr>
          <p:nvPr/>
        </p:nvSpPr>
        <p:spPr bwMode="auto">
          <a:xfrm>
            <a:off x="1457389" y="1832991"/>
            <a:ext cx="4679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 dirty="0"/>
              <a:t>Finding the missing </a:t>
            </a:r>
            <a:r>
              <a:rPr lang="en-GB" altLang="x-none" sz="2400" b="1" dirty="0" smtClean="0"/>
              <a:t>side</a:t>
            </a:r>
            <a:r>
              <a:rPr lang="en-GB" altLang="x-none" sz="2400" b="1" dirty="0"/>
              <a:t>:</a:t>
            </a:r>
          </a:p>
        </p:txBody>
      </p:sp>
      <p:sp>
        <p:nvSpPr>
          <p:cNvPr id="4" name="Text Box 15"/>
          <p:cNvSpPr txBox="1">
            <a:spLocks noChangeArrowheads="1"/>
          </p:cNvSpPr>
          <p:nvPr/>
        </p:nvSpPr>
        <p:spPr bwMode="auto">
          <a:xfrm>
            <a:off x="1025589" y="5479479"/>
            <a:ext cx="4032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Is it a right-angled triangle?</a:t>
            </a:r>
          </a:p>
        </p:txBody>
      </p:sp>
      <p:sp>
        <p:nvSpPr>
          <p:cNvPr id="5" name="Text Box 16"/>
          <p:cNvSpPr txBox="1">
            <a:spLocks noChangeArrowheads="1"/>
          </p:cNvSpPr>
          <p:nvPr/>
        </p:nvSpPr>
        <p:spPr bwMode="auto">
          <a:xfrm>
            <a:off x="1025589" y="5936679"/>
            <a:ext cx="3816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Is there a matching pair?</a:t>
            </a:r>
          </a:p>
        </p:txBody>
      </p:sp>
      <p:sp>
        <p:nvSpPr>
          <p:cNvPr id="6" name="Text Box 17"/>
          <p:cNvSpPr txBox="1">
            <a:spLocks noChangeArrowheads="1"/>
          </p:cNvSpPr>
          <p:nvPr/>
        </p:nvSpPr>
        <p:spPr bwMode="auto">
          <a:xfrm>
            <a:off x="4923633" y="5504879"/>
            <a:ext cx="720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No</a:t>
            </a:r>
          </a:p>
        </p:txBody>
      </p:sp>
      <p:sp>
        <p:nvSpPr>
          <p:cNvPr id="7" name="Text Box 18"/>
          <p:cNvSpPr txBox="1">
            <a:spLocks noChangeArrowheads="1"/>
          </p:cNvSpPr>
          <p:nvPr/>
        </p:nvSpPr>
        <p:spPr bwMode="auto">
          <a:xfrm>
            <a:off x="4923633" y="5948046"/>
            <a:ext cx="720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No</a:t>
            </a:r>
          </a:p>
        </p:txBody>
      </p:sp>
      <p:sp>
        <p:nvSpPr>
          <p:cNvPr id="8" name="Text Box 22"/>
          <p:cNvSpPr txBox="1">
            <a:spLocks noChangeArrowheads="1"/>
          </p:cNvSpPr>
          <p:nvPr/>
        </p:nvSpPr>
        <p:spPr bwMode="auto">
          <a:xfrm>
            <a:off x="3257614" y="2552130"/>
            <a:ext cx="7921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660033"/>
                </a:solidFill>
              </a:rPr>
              <a:t>9km</a:t>
            </a:r>
          </a:p>
        </p:txBody>
      </p:sp>
      <p:sp>
        <p:nvSpPr>
          <p:cNvPr id="9" name="Text Box 23"/>
          <p:cNvSpPr txBox="1">
            <a:spLocks noChangeArrowheads="1"/>
          </p:cNvSpPr>
          <p:nvPr/>
        </p:nvSpPr>
        <p:spPr bwMode="auto">
          <a:xfrm>
            <a:off x="3473514" y="3704655"/>
            <a:ext cx="1079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660033"/>
                </a:solidFill>
              </a:rPr>
              <a:t>12cm</a:t>
            </a:r>
          </a:p>
        </p:txBody>
      </p:sp>
      <p:sp>
        <p:nvSpPr>
          <p:cNvPr id="10" name="Freeform 24"/>
          <p:cNvSpPr>
            <a:spLocks/>
          </p:cNvSpPr>
          <p:nvPr/>
        </p:nvSpPr>
        <p:spPr bwMode="auto">
          <a:xfrm>
            <a:off x="2790889" y="2914079"/>
            <a:ext cx="127000" cy="387350"/>
          </a:xfrm>
          <a:custGeom>
            <a:avLst/>
            <a:gdLst>
              <a:gd name="T0" fmla="*/ 35 w 80"/>
              <a:gd name="T1" fmla="*/ 0 h 244"/>
              <a:gd name="T2" fmla="*/ 32 w 80"/>
              <a:gd name="T3" fmla="*/ 3 h 244"/>
              <a:gd name="T4" fmla="*/ 35 w 80"/>
              <a:gd name="T5" fmla="*/ 3 h 244"/>
              <a:gd name="T6" fmla="*/ 38 w 80"/>
              <a:gd name="T7" fmla="*/ 15 h 244"/>
              <a:gd name="T8" fmla="*/ 73 w 80"/>
              <a:gd name="T9" fmla="*/ 81 h 244"/>
              <a:gd name="T10" fmla="*/ 77 w 80"/>
              <a:gd name="T11" fmla="*/ 141 h 244"/>
              <a:gd name="T12" fmla="*/ 57 w 80"/>
              <a:gd name="T13" fmla="*/ 189 h 244"/>
              <a:gd name="T14" fmla="*/ 8 w 80"/>
              <a:gd name="T15" fmla="*/ 237 h 244"/>
              <a:gd name="T16" fmla="*/ 8 w 80"/>
              <a:gd name="T17" fmla="*/ 231 h 2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0" h="244">
                <a:moveTo>
                  <a:pt x="35" y="0"/>
                </a:moveTo>
                <a:cubicBezTo>
                  <a:pt x="35" y="0"/>
                  <a:pt x="32" y="3"/>
                  <a:pt x="32" y="3"/>
                </a:cubicBezTo>
                <a:cubicBezTo>
                  <a:pt x="32" y="3"/>
                  <a:pt x="34" y="1"/>
                  <a:pt x="35" y="3"/>
                </a:cubicBezTo>
                <a:cubicBezTo>
                  <a:pt x="36" y="5"/>
                  <a:pt x="32" y="2"/>
                  <a:pt x="38" y="15"/>
                </a:cubicBezTo>
                <a:cubicBezTo>
                  <a:pt x="44" y="28"/>
                  <a:pt x="66" y="60"/>
                  <a:pt x="73" y="81"/>
                </a:cubicBezTo>
                <a:cubicBezTo>
                  <a:pt x="80" y="102"/>
                  <a:pt x="80" y="123"/>
                  <a:pt x="77" y="141"/>
                </a:cubicBezTo>
                <a:cubicBezTo>
                  <a:pt x="74" y="159"/>
                  <a:pt x="68" y="173"/>
                  <a:pt x="57" y="189"/>
                </a:cubicBezTo>
                <a:cubicBezTo>
                  <a:pt x="46" y="205"/>
                  <a:pt x="16" y="230"/>
                  <a:pt x="8" y="237"/>
                </a:cubicBezTo>
                <a:cubicBezTo>
                  <a:pt x="0" y="244"/>
                  <a:pt x="8" y="232"/>
                  <a:pt x="8" y="231"/>
                </a:cubicBezTo>
              </a:path>
            </a:pathLst>
          </a:custGeom>
          <a:noFill/>
          <a:ln w="38100" cmpd="sng">
            <a:solidFill>
              <a:srgbClr val="66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Text Box 25"/>
          <p:cNvSpPr txBox="1">
            <a:spLocks noChangeArrowheads="1"/>
          </p:cNvSpPr>
          <p:nvPr/>
        </p:nvSpPr>
        <p:spPr bwMode="auto">
          <a:xfrm>
            <a:off x="2320990" y="2841055"/>
            <a:ext cx="720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660033"/>
                </a:solidFill>
              </a:rPr>
              <a:t>20</a:t>
            </a:r>
            <a:r>
              <a:rPr lang="en-GB" altLang="x-none" sz="2000">
                <a:solidFill>
                  <a:srgbClr val="660033"/>
                </a:solidFill>
                <a:ea typeface="Arial" charset="0"/>
                <a:cs typeface="Arial" charset="0"/>
              </a:rPr>
              <a:t>°</a:t>
            </a:r>
          </a:p>
        </p:txBody>
      </p:sp>
      <p:sp>
        <p:nvSpPr>
          <p:cNvPr id="12" name="Text Box 28"/>
          <p:cNvSpPr txBox="1">
            <a:spLocks noChangeArrowheads="1"/>
          </p:cNvSpPr>
          <p:nvPr/>
        </p:nvSpPr>
        <p:spPr bwMode="auto">
          <a:xfrm>
            <a:off x="1241489" y="2625154"/>
            <a:ext cx="43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>
                <a:solidFill>
                  <a:srgbClr val="008000"/>
                </a:solidFill>
              </a:rPr>
              <a:t>A</a:t>
            </a:r>
          </a:p>
        </p:txBody>
      </p:sp>
      <p:sp>
        <p:nvSpPr>
          <p:cNvPr id="13" name="Text Box 29"/>
          <p:cNvSpPr txBox="1">
            <a:spLocks noChangeArrowheads="1"/>
          </p:cNvSpPr>
          <p:nvPr/>
        </p:nvSpPr>
        <p:spPr bwMode="auto">
          <a:xfrm>
            <a:off x="5850001" y="4280916"/>
            <a:ext cx="43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>
                <a:solidFill>
                  <a:srgbClr val="008000"/>
                </a:solidFill>
              </a:rPr>
              <a:t>C</a:t>
            </a:r>
          </a:p>
        </p:txBody>
      </p:sp>
      <p:sp>
        <p:nvSpPr>
          <p:cNvPr id="14" name="Rectangle 30"/>
          <p:cNvSpPr>
            <a:spLocks noChangeArrowheads="1"/>
          </p:cNvSpPr>
          <p:nvPr/>
        </p:nvSpPr>
        <p:spPr bwMode="auto">
          <a:xfrm>
            <a:off x="4984814" y="2552130"/>
            <a:ext cx="35137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400">
                <a:solidFill>
                  <a:srgbClr val="008000"/>
                </a:solidFill>
              </a:rPr>
              <a:t>B</a:t>
            </a:r>
          </a:p>
        </p:txBody>
      </p:sp>
      <p:sp>
        <p:nvSpPr>
          <p:cNvPr id="15" name="Text Box 38"/>
          <p:cNvSpPr txBox="1">
            <a:spLocks noChangeArrowheads="1"/>
          </p:cNvSpPr>
          <p:nvPr/>
        </p:nvSpPr>
        <p:spPr bwMode="auto">
          <a:xfrm>
            <a:off x="5489640" y="3272854"/>
            <a:ext cx="5048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800" i="1">
                <a:solidFill>
                  <a:srgbClr val="660033"/>
                </a:solidFill>
                <a:latin typeface="Times New Roman" charset="0"/>
              </a:rPr>
              <a:t>x</a:t>
            </a:r>
          </a:p>
        </p:txBody>
      </p:sp>
      <p:sp>
        <p:nvSpPr>
          <p:cNvPr id="16" name="Text Box 39"/>
          <p:cNvSpPr txBox="1">
            <a:spLocks noChangeArrowheads="1"/>
          </p:cNvSpPr>
          <p:nvPr/>
        </p:nvSpPr>
        <p:spPr bwMode="auto">
          <a:xfrm>
            <a:off x="6767703" y="5276279"/>
            <a:ext cx="3600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Use the Cosine Rule</a:t>
            </a:r>
          </a:p>
        </p:txBody>
      </p:sp>
      <p:sp>
        <p:nvSpPr>
          <p:cNvPr id="17" name="Freeform 41"/>
          <p:cNvSpPr>
            <a:spLocks/>
          </p:cNvSpPr>
          <p:nvPr/>
        </p:nvSpPr>
        <p:spPr bwMode="auto">
          <a:xfrm>
            <a:off x="1673289" y="2912492"/>
            <a:ext cx="4176712" cy="1439863"/>
          </a:xfrm>
          <a:custGeom>
            <a:avLst/>
            <a:gdLst>
              <a:gd name="T0" fmla="*/ 0 w 2631"/>
              <a:gd name="T1" fmla="*/ 0 h 907"/>
              <a:gd name="T2" fmla="*/ 2132 w 2631"/>
              <a:gd name="T3" fmla="*/ 0 h 907"/>
              <a:gd name="T4" fmla="*/ 2631 w 2631"/>
              <a:gd name="T5" fmla="*/ 907 h 907"/>
              <a:gd name="T6" fmla="*/ 0 w 2631"/>
              <a:gd name="T7" fmla="*/ 0 h 9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631" h="907">
                <a:moveTo>
                  <a:pt x="0" y="0"/>
                </a:moveTo>
                <a:lnTo>
                  <a:pt x="2132" y="0"/>
                </a:lnTo>
                <a:lnTo>
                  <a:pt x="2631" y="907"/>
                </a:lnTo>
                <a:lnTo>
                  <a:pt x="0" y="0"/>
                </a:lnTo>
                <a:close/>
              </a:path>
            </a:pathLst>
          </a:custGeom>
          <a:noFill/>
          <a:ln w="38100" cmpd="sng">
            <a:solidFill>
              <a:srgbClr val="66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Text Box 42"/>
          <p:cNvSpPr txBox="1">
            <a:spLocks noChangeArrowheads="1"/>
          </p:cNvSpPr>
          <p:nvPr/>
        </p:nvSpPr>
        <p:spPr bwMode="auto">
          <a:xfrm>
            <a:off x="6767703" y="5761147"/>
            <a:ext cx="590391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Label the sides and angles, calling the given angle “A” and the missing side “a”.</a:t>
            </a:r>
          </a:p>
        </p:txBody>
      </p:sp>
      <p:sp>
        <p:nvSpPr>
          <p:cNvPr id="19" name="Rectangle 44"/>
          <p:cNvSpPr>
            <a:spLocks noChangeArrowheads="1"/>
          </p:cNvSpPr>
          <p:nvPr/>
        </p:nvSpPr>
        <p:spPr bwMode="auto">
          <a:xfrm>
            <a:off x="5705539" y="3295079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800" b="1" i="1">
                <a:solidFill>
                  <a:srgbClr val="008000"/>
                </a:solidFill>
                <a:latin typeface="Times New Roman" charset="0"/>
              </a:rPr>
              <a:t>a</a:t>
            </a:r>
          </a:p>
        </p:txBody>
      </p:sp>
      <p:sp>
        <p:nvSpPr>
          <p:cNvPr id="20" name="Rectangle 45"/>
          <p:cNvSpPr>
            <a:spLocks noChangeArrowheads="1"/>
          </p:cNvSpPr>
          <p:nvPr/>
        </p:nvSpPr>
        <p:spPr bwMode="auto">
          <a:xfrm>
            <a:off x="3257614" y="3633217"/>
            <a:ext cx="3465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400" b="1" i="1">
                <a:solidFill>
                  <a:srgbClr val="008000"/>
                </a:solidFill>
              </a:rPr>
              <a:t>b</a:t>
            </a:r>
          </a:p>
        </p:txBody>
      </p:sp>
      <p:sp>
        <p:nvSpPr>
          <p:cNvPr id="21" name="Rectangle 46"/>
          <p:cNvSpPr>
            <a:spLocks noChangeArrowheads="1"/>
          </p:cNvSpPr>
          <p:nvPr/>
        </p:nvSpPr>
        <p:spPr bwMode="auto">
          <a:xfrm>
            <a:off x="3041714" y="2407667"/>
            <a:ext cx="3413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800" b="1" i="1">
                <a:solidFill>
                  <a:srgbClr val="008000"/>
                </a:solidFill>
                <a:latin typeface="Times New Roman" charset="0"/>
              </a:rPr>
              <a:t>c</a:t>
            </a:r>
          </a:p>
        </p:txBody>
      </p:sp>
      <p:sp>
        <p:nvSpPr>
          <p:cNvPr id="22" name="Text Box 50"/>
          <p:cNvSpPr txBox="1">
            <a:spLocks noChangeArrowheads="1"/>
          </p:cNvSpPr>
          <p:nvPr/>
        </p:nvSpPr>
        <p:spPr bwMode="auto">
          <a:xfrm>
            <a:off x="6065902" y="2407667"/>
            <a:ext cx="16557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/>
              <a:t>Not to scale</a:t>
            </a:r>
          </a:p>
        </p:txBody>
      </p:sp>
    </p:spTree>
    <p:extLst>
      <p:ext uri="{BB962C8B-B14F-4D97-AF65-F5344CB8AC3E}">
        <p14:creationId xmlns:p14="http://schemas.microsoft.com/office/powerpoint/2010/main" val="2078594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12" grpId="0"/>
      <p:bldP spid="13" grpId="0"/>
      <p:bldP spid="14" grpId="0"/>
      <p:bldP spid="16" grpId="0"/>
      <p:bldP spid="18" grpId="0"/>
      <p:bldP spid="1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 smtClean="0"/>
              <a:t>Topic: Sine and cosine Rules</a:t>
            </a:r>
            <a:br>
              <a:rPr lang="en-US" dirty="0" smtClean="0"/>
            </a:br>
            <a:r>
              <a:rPr lang="en-US" dirty="0" smtClean="0"/>
              <a:t>EQ: What are the sine and cosine </a:t>
            </a:r>
            <a:r>
              <a:rPr lang="en-US" smtClean="0"/>
              <a:t>rules and when do we use them?</a:t>
            </a:r>
            <a:endParaRPr lang="en-US"/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1250125" y="1893951"/>
            <a:ext cx="4679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 dirty="0"/>
              <a:t>Finding the missing </a:t>
            </a:r>
            <a:r>
              <a:rPr lang="en-GB" altLang="x-none" sz="2400" b="1" dirty="0" smtClean="0"/>
              <a:t>side</a:t>
            </a:r>
            <a:r>
              <a:rPr lang="en-GB" altLang="x-none" sz="2400" b="1" dirty="0"/>
              <a:t>:</a:t>
            </a:r>
          </a:p>
        </p:txBody>
      </p:sp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3138455" y="2433092"/>
            <a:ext cx="7921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660033"/>
                </a:solidFill>
              </a:rPr>
              <a:t>9km</a:t>
            </a:r>
          </a:p>
        </p:txBody>
      </p:sp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3354355" y="3585617"/>
            <a:ext cx="1079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660033"/>
                </a:solidFill>
              </a:rPr>
              <a:t>12cm</a:t>
            </a:r>
          </a:p>
        </p:txBody>
      </p:sp>
      <p:sp>
        <p:nvSpPr>
          <p:cNvPr id="6" name="Freeform 9"/>
          <p:cNvSpPr>
            <a:spLocks/>
          </p:cNvSpPr>
          <p:nvPr/>
        </p:nvSpPr>
        <p:spPr bwMode="auto">
          <a:xfrm>
            <a:off x="2671730" y="2795041"/>
            <a:ext cx="127000" cy="387350"/>
          </a:xfrm>
          <a:custGeom>
            <a:avLst/>
            <a:gdLst>
              <a:gd name="T0" fmla="*/ 35 w 80"/>
              <a:gd name="T1" fmla="*/ 0 h 244"/>
              <a:gd name="T2" fmla="*/ 32 w 80"/>
              <a:gd name="T3" fmla="*/ 3 h 244"/>
              <a:gd name="T4" fmla="*/ 35 w 80"/>
              <a:gd name="T5" fmla="*/ 3 h 244"/>
              <a:gd name="T6" fmla="*/ 38 w 80"/>
              <a:gd name="T7" fmla="*/ 15 h 244"/>
              <a:gd name="T8" fmla="*/ 73 w 80"/>
              <a:gd name="T9" fmla="*/ 81 h 244"/>
              <a:gd name="T10" fmla="*/ 77 w 80"/>
              <a:gd name="T11" fmla="*/ 141 h 244"/>
              <a:gd name="T12" fmla="*/ 57 w 80"/>
              <a:gd name="T13" fmla="*/ 189 h 244"/>
              <a:gd name="T14" fmla="*/ 8 w 80"/>
              <a:gd name="T15" fmla="*/ 237 h 244"/>
              <a:gd name="T16" fmla="*/ 8 w 80"/>
              <a:gd name="T17" fmla="*/ 231 h 2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0" h="244">
                <a:moveTo>
                  <a:pt x="35" y="0"/>
                </a:moveTo>
                <a:cubicBezTo>
                  <a:pt x="35" y="0"/>
                  <a:pt x="32" y="3"/>
                  <a:pt x="32" y="3"/>
                </a:cubicBezTo>
                <a:cubicBezTo>
                  <a:pt x="32" y="3"/>
                  <a:pt x="34" y="1"/>
                  <a:pt x="35" y="3"/>
                </a:cubicBezTo>
                <a:cubicBezTo>
                  <a:pt x="36" y="5"/>
                  <a:pt x="32" y="2"/>
                  <a:pt x="38" y="15"/>
                </a:cubicBezTo>
                <a:cubicBezTo>
                  <a:pt x="44" y="28"/>
                  <a:pt x="66" y="60"/>
                  <a:pt x="73" y="81"/>
                </a:cubicBezTo>
                <a:cubicBezTo>
                  <a:pt x="80" y="102"/>
                  <a:pt x="80" y="123"/>
                  <a:pt x="77" y="141"/>
                </a:cubicBezTo>
                <a:cubicBezTo>
                  <a:pt x="74" y="159"/>
                  <a:pt x="68" y="173"/>
                  <a:pt x="57" y="189"/>
                </a:cubicBezTo>
                <a:cubicBezTo>
                  <a:pt x="46" y="205"/>
                  <a:pt x="16" y="230"/>
                  <a:pt x="8" y="237"/>
                </a:cubicBezTo>
                <a:cubicBezTo>
                  <a:pt x="0" y="244"/>
                  <a:pt x="8" y="232"/>
                  <a:pt x="8" y="231"/>
                </a:cubicBezTo>
              </a:path>
            </a:pathLst>
          </a:custGeom>
          <a:noFill/>
          <a:ln w="38100" cmpd="sng">
            <a:solidFill>
              <a:srgbClr val="66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Text Box 10"/>
          <p:cNvSpPr txBox="1">
            <a:spLocks noChangeArrowheads="1"/>
          </p:cNvSpPr>
          <p:nvPr/>
        </p:nvSpPr>
        <p:spPr bwMode="auto">
          <a:xfrm>
            <a:off x="2201831" y="2722017"/>
            <a:ext cx="720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660033"/>
                </a:solidFill>
              </a:rPr>
              <a:t>20</a:t>
            </a:r>
            <a:r>
              <a:rPr lang="en-GB" altLang="x-none" sz="2000">
                <a:solidFill>
                  <a:srgbClr val="660033"/>
                </a:solidFill>
                <a:ea typeface="Arial" charset="0"/>
                <a:cs typeface="Arial" charset="0"/>
              </a:rPr>
              <a:t>°</a:t>
            </a:r>
          </a:p>
        </p:txBody>
      </p:sp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1122330" y="2506116"/>
            <a:ext cx="43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>
                <a:solidFill>
                  <a:srgbClr val="008000"/>
                </a:solidFill>
              </a:rPr>
              <a:t>A</a:t>
            </a:r>
          </a:p>
        </p:txBody>
      </p:sp>
      <p:sp>
        <p:nvSpPr>
          <p:cNvPr id="9" name="Text Box 12"/>
          <p:cNvSpPr txBox="1">
            <a:spLocks noChangeArrowheads="1"/>
          </p:cNvSpPr>
          <p:nvPr/>
        </p:nvSpPr>
        <p:spPr bwMode="auto">
          <a:xfrm>
            <a:off x="5730842" y="4161878"/>
            <a:ext cx="43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>
                <a:solidFill>
                  <a:srgbClr val="008000"/>
                </a:solidFill>
              </a:rPr>
              <a:t>C</a:t>
            </a:r>
          </a:p>
        </p:txBody>
      </p:sp>
      <p:sp>
        <p:nvSpPr>
          <p:cNvPr id="10" name="Rectangle 13"/>
          <p:cNvSpPr>
            <a:spLocks noChangeArrowheads="1"/>
          </p:cNvSpPr>
          <p:nvPr/>
        </p:nvSpPr>
        <p:spPr bwMode="auto">
          <a:xfrm>
            <a:off x="4865655" y="2433092"/>
            <a:ext cx="35137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400">
                <a:solidFill>
                  <a:srgbClr val="008000"/>
                </a:solidFill>
              </a:rPr>
              <a:t>B</a:t>
            </a:r>
          </a:p>
        </p:txBody>
      </p:sp>
      <p:sp>
        <p:nvSpPr>
          <p:cNvPr id="11" name="Text Box 14"/>
          <p:cNvSpPr txBox="1">
            <a:spLocks noChangeArrowheads="1"/>
          </p:cNvSpPr>
          <p:nvPr/>
        </p:nvSpPr>
        <p:spPr bwMode="auto">
          <a:xfrm>
            <a:off x="5370481" y="3153816"/>
            <a:ext cx="5048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800" i="1">
                <a:solidFill>
                  <a:srgbClr val="660033"/>
                </a:solidFill>
                <a:latin typeface="Times New Roman" charset="0"/>
              </a:rPr>
              <a:t>x</a:t>
            </a:r>
          </a:p>
        </p:txBody>
      </p:sp>
      <p:sp>
        <p:nvSpPr>
          <p:cNvPr id="12" name="Freeform 16"/>
          <p:cNvSpPr>
            <a:spLocks/>
          </p:cNvSpPr>
          <p:nvPr/>
        </p:nvSpPr>
        <p:spPr bwMode="auto">
          <a:xfrm>
            <a:off x="1554130" y="2793454"/>
            <a:ext cx="4176712" cy="1439863"/>
          </a:xfrm>
          <a:custGeom>
            <a:avLst/>
            <a:gdLst>
              <a:gd name="T0" fmla="*/ 0 w 2631"/>
              <a:gd name="T1" fmla="*/ 0 h 907"/>
              <a:gd name="T2" fmla="*/ 2132 w 2631"/>
              <a:gd name="T3" fmla="*/ 0 h 907"/>
              <a:gd name="T4" fmla="*/ 2631 w 2631"/>
              <a:gd name="T5" fmla="*/ 907 h 907"/>
              <a:gd name="T6" fmla="*/ 0 w 2631"/>
              <a:gd name="T7" fmla="*/ 0 h 9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631" h="907">
                <a:moveTo>
                  <a:pt x="0" y="0"/>
                </a:moveTo>
                <a:lnTo>
                  <a:pt x="2132" y="0"/>
                </a:lnTo>
                <a:lnTo>
                  <a:pt x="2631" y="907"/>
                </a:lnTo>
                <a:lnTo>
                  <a:pt x="0" y="0"/>
                </a:lnTo>
                <a:close/>
              </a:path>
            </a:pathLst>
          </a:custGeom>
          <a:noFill/>
          <a:ln w="38100" cmpd="sng">
            <a:solidFill>
              <a:srgbClr val="66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Rectangle 18"/>
          <p:cNvSpPr>
            <a:spLocks noChangeArrowheads="1"/>
          </p:cNvSpPr>
          <p:nvPr/>
        </p:nvSpPr>
        <p:spPr bwMode="auto">
          <a:xfrm>
            <a:off x="5586380" y="3176041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800" b="1" i="1">
                <a:solidFill>
                  <a:srgbClr val="008000"/>
                </a:solidFill>
                <a:latin typeface="Times New Roman" charset="0"/>
              </a:rPr>
              <a:t>a</a:t>
            </a:r>
          </a:p>
        </p:txBody>
      </p:sp>
      <p:sp>
        <p:nvSpPr>
          <p:cNvPr id="14" name="Rectangle 19"/>
          <p:cNvSpPr>
            <a:spLocks noChangeArrowheads="1"/>
          </p:cNvSpPr>
          <p:nvPr/>
        </p:nvSpPr>
        <p:spPr bwMode="auto">
          <a:xfrm>
            <a:off x="3138455" y="3514179"/>
            <a:ext cx="3465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400" b="1" i="1">
                <a:solidFill>
                  <a:srgbClr val="008000"/>
                </a:solidFill>
              </a:rPr>
              <a:t>b</a:t>
            </a:r>
          </a:p>
        </p:txBody>
      </p:sp>
      <p:sp>
        <p:nvSpPr>
          <p:cNvPr id="15" name="Rectangle 20"/>
          <p:cNvSpPr>
            <a:spLocks noChangeArrowheads="1"/>
          </p:cNvSpPr>
          <p:nvPr/>
        </p:nvSpPr>
        <p:spPr bwMode="auto">
          <a:xfrm>
            <a:off x="2922555" y="2288629"/>
            <a:ext cx="3413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800" b="1" i="1">
                <a:solidFill>
                  <a:srgbClr val="008000"/>
                </a:solidFill>
                <a:latin typeface="Times New Roman" charset="0"/>
              </a:rPr>
              <a:t>c</a:t>
            </a:r>
          </a:p>
        </p:txBody>
      </p:sp>
      <p:sp>
        <p:nvSpPr>
          <p:cNvPr id="16" name="Text Box 21"/>
          <p:cNvSpPr txBox="1">
            <a:spLocks noChangeArrowheads="1"/>
          </p:cNvSpPr>
          <p:nvPr/>
        </p:nvSpPr>
        <p:spPr bwMode="auto">
          <a:xfrm>
            <a:off x="1050892" y="5155161"/>
            <a:ext cx="5759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Fill in the bits you know.</a:t>
            </a:r>
          </a:p>
        </p:txBody>
      </p:sp>
      <p:graphicFrame>
        <p:nvGraphicFramePr>
          <p:cNvPr id="17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309587"/>
              </p:ext>
            </p:extLst>
          </p:nvPr>
        </p:nvGraphicFramePr>
        <p:xfrm>
          <a:off x="1077086" y="4401776"/>
          <a:ext cx="4032250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7" name="Equation" r:id="rId3" imgW="1498320" imgH="203040" progId="Equation.3">
                  <p:embed/>
                </p:oleObj>
              </mc:Choice>
              <mc:Fallback>
                <p:oleObj name="Equation" r:id="rId3" imgW="149832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7086" y="4401776"/>
                        <a:ext cx="4032250" cy="547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29"/>
          <p:cNvSpPr txBox="1">
            <a:spLocks noChangeArrowheads="1"/>
          </p:cNvSpPr>
          <p:nvPr/>
        </p:nvSpPr>
        <p:spPr bwMode="auto">
          <a:xfrm>
            <a:off x="4531996" y="6257966"/>
            <a:ext cx="2663825" cy="584775"/>
          </a:xfrm>
          <a:prstGeom prst="rect">
            <a:avLst/>
          </a:prstGeom>
          <a:solidFill>
            <a:srgbClr val="FFFF00"/>
          </a:solidFill>
          <a:ln w="38100">
            <a:solidFill>
              <a:srgbClr val="0000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altLang="x-none" sz="3200" b="1" i="1">
                <a:latin typeface="Times New Roman" charset="0"/>
              </a:rPr>
              <a:t>x</a:t>
            </a:r>
            <a:r>
              <a:rPr lang="en-GB" altLang="x-none"/>
              <a:t> = </a:t>
            </a:r>
            <a:r>
              <a:rPr lang="en-GB" altLang="x-none" sz="2800">
                <a:ea typeface="Arial" charset="0"/>
                <a:cs typeface="Arial" charset="0"/>
              </a:rPr>
              <a:t>4.69cm</a:t>
            </a:r>
          </a:p>
        </p:txBody>
      </p:sp>
      <p:graphicFrame>
        <p:nvGraphicFramePr>
          <p:cNvPr id="19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619703"/>
              </p:ext>
            </p:extLst>
          </p:nvPr>
        </p:nvGraphicFramePr>
        <p:xfrm>
          <a:off x="1077086" y="5057672"/>
          <a:ext cx="5467350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8" name="Equation" r:id="rId5" imgW="2031840" imgH="203040" progId="Equation.3">
                  <p:embed/>
                </p:oleObj>
              </mc:Choice>
              <mc:Fallback>
                <p:oleObj name="Equation" r:id="rId5" imgW="203184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7086" y="5057672"/>
                        <a:ext cx="5467350" cy="547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01675"/>
              </p:ext>
            </p:extLst>
          </p:nvPr>
        </p:nvGraphicFramePr>
        <p:xfrm>
          <a:off x="1034224" y="5623255"/>
          <a:ext cx="5740400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9" name="Equation" r:id="rId7" imgW="2133360" imgH="228600" progId="Equation.3">
                  <p:embed/>
                </p:oleObj>
              </mc:Choice>
              <mc:Fallback>
                <p:oleObj name="Equation" r:id="rId7" imgW="213336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4224" y="5623255"/>
                        <a:ext cx="5740400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1640433"/>
              </p:ext>
            </p:extLst>
          </p:nvPr>
        </p:nvGraphicFramePr>
        <p:xfrm>
          <a:off x="7151181" y="5623255"/>
          <a:ext cx="3006725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60" name="Equation" r:id="rId9" imgW="1117440" imgH="228600" progId="Equation.3">
                  <p:embed/>
                </p:oleObj>
              </mc:Choice>
              <mc:Fallback>
                <p:oleObj name="Equation" r:id="rId9" imgW="11174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1181" y="5623255"/>
                        <a:ext cx="3006725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7305866"/>
              </p:ext>
            </p:extLst>
          </p:nvPr>
        </p:nvGraphicFramePr>
        <p:xfrm>
          <a:off x="1050892" y="6310642"/>
          <a:ext cx="147002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61" name="Equation" r:id="rId11" imgW="545760" imgH="177480" progId="Equation.3">
                  <p:embed/>
                </p:oleObj>
              </mc:Choice>
              <mc:Fallback>
                <p:oleObj name="Equation" r:id="rId11" imgW="54576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0892" y="6310642"/>
                        <a:ext cx="1470025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35"/>
          <p:cNvSpPr txBox="1">
            <a:spLocks noChangeArrowheads="1"/>
          </p:cNvSpPr>
          <p:nvPr/>
        </p:nvSpPr>
        <p:spPr bwMode="auto">
          <a:xfrm>
            <a:off x="5946743" y="2288629"/>
            <a:ext cx="16557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/>
              <a:t>Not to scale</a:t>
            </a:r>
          </a:p>
        </p:txBody>
      </p:sp>
    </p:spTree>
    <p:extLst>
      <p:ext uri="{BB962C8B-B14F-4D97-AF65-F5344CB8AC3E}">
        <p14:creationId xmlns:p14="http://schemas.microsoft.com/office/powerpoint/2010/main" val="131062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 smtClean="0"/>
              <a:t>Topic: Sine and cosine Rules</a:t>
            </a:r>
            <a:br>
              <a:rPr lang="en-US" dirty="0" smtClean="0"/>
            </a:br>
            <a:r>
              <a:rPr lang="en-US" dirty="0" smtClean="0"/>
              <a:t>EQ: What are the sine and cosine </a:t>
            </a:r>
            <a:r>
              <a:rPr lang="en-US" smtClean="0"/>
              <a:t>rules and when do we use them?</a:t>
            </a:r>
            <a:endParaRPr lang="en-US"/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1993837" y="1839585"/>
            <a:ext cx="4679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/>
              <a:t>Finding the missing  side: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2354199" y="5511473"/>
            <a:ext cx="4032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Is it a right-angled triangle?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2354199" y="5943273"/>
            <a:ext cx="3816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Is there a matching pair?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6315013" y="5511473"/>
            <a:ext cx="720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No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6315013" y="5943273"/>
            <a:ext cx="720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No</a:t>
            </a: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7970775" y="4936799"/>
            <a:ext cx="7921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0000CC"/>
                </a:solidFill>
              </a:rPr>
              <a:t>8km</a:t>
            </a: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6746812" y="3063549"/>
            <a:ext cx="7921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0000CC"/>
                </a:solidFill>
              </a:rPr>
              <a:t>5km</a:t>
            </a:r>
          </a:p>
        </p:txBody>
      </p:sp>
      <p:grpSp>
        <p:nvGrpSpPr>
          <p:cNvPr id="10" name="Group 9"/>
          <p:cNvGrpSpPr>
            <a:grpSpLocks/>
          </p:cNvGrpSpPr>
          <p:nvPr/>
        </p:nvGrpSpPr>
        <p:grpSpPr bwMode="auto">
          <a:xfrm>
            <a:off x="7323075" y="3703311"/>
            <a:ext cx="720725" cy="855663"/>
            <a:chOff x="4060" y="1384"/>
            <a:chExt cx="454" cy="539"/>
          </a:xfrm>
        </p:grpSpPr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4060" y="1384"/>
              <a:ext cx="411" cy="539"/>
            </a:xfrm>
            <a:custGeom>
              <a:avLst/>
              <a:gdLst>
                <a:gd name="T0" fmla="*/ 0 w 411"/>
                <a:gd name="T1" fmla="*/ 0 h 539"/>
                <a:gd name="T2" fmla="*/ 198 w 411"/>
                <a:gd name="T3" fmla="*/ 24 h 539"/>
                <a:gd name="T4" fmla="*/ 339 w 411"/>
                <a:gd name="T5" fmla="*/ 105 h 539"/>
                <a:gd name="T6" fmla="*/ 399 w 411"/>
                <a:gd name="T7" fmla="*/ 204 h 539"/>
                <a:gd name="T8" fmla="*/ 411 w 411"/>
                <a:gd name="T9" fmla="*/ 288 h 539"/>
                <a:gd name="T10" fmla="*/ 402 w 411"/>
                <a:gd name="T11" fmla="*/ 405 h 539"/>
                <a:gd name="T12" fmla="*/ 363 w 411"/>
                <a:gd name="T13" fmla="*/ 539 h 5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1" h="539">
                  <a:moveTo>
                    <a:pt x="0" y="0"/>
                  </a:moveTo>
                  <a:cubicBezTo>
                    <a:pt x="32" y="4"/>
                    <a:pt x="142" y="7"/>
                    <a:pt x="198" y="24"/>
                  </a:cubicBezTo>
                  <a:cubicBezTo>
                    <a:pt x="254" y="41"/>
                    <a:pt x="305" y="75"/>
                    <a:pt x="339" y="105"/>
                  </a:cubicBezTo>
                  <a:cubicBezTo>
                    <a:pt x="373" y="135"/>
                    <a:pt x="387" y="174"/>
                    <a:pt x="399" y="204"/>
                  </a:cubicBezTo>
                  <a:cubicBezTo>
                    <a:pt x="411" y="234"/>
                    <a:pt x="411" y="255"/>
                    <a:pt x="411" y="288"/>
                  </a:cubicBezTo>
                  <a:cubicBezTo>
                    <a:pt x="411" y="321"/>
                    <a:pt x="410" y="363"/>
                    <a:pt x="402" y="405"/>
                  </a:cubicBezTo>
                  <a:cubicBezTo>
                    <a:pt x="394" y="447"/>
                    <a:pt x="371" y="511"/>
                    <a:pt x="363" y="539"/>
                  </a:cubicBezTo>
                </a:path>
              </a:pathLst>
            </a:custGeom>
            <a:noFill/>
            <a:ln w="38100" cmpd="sng">
              <a:solidFill>
                <a:srgbClr val="00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Box 11"/>
            <p:cNvSpPr txBox="1">
              <a:spLocks noChangeArrowheads="1"/>
            </p:cNvSpPr>
            <p:nvPr/>
          </p:nvSpPr>
          <p:spPr bwMode="auto">
            <a:xfrm>
              <a:off x="4060" y="1480"/>
              <a:ext cx="45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 altLang="x-none" sz="2000">
                  <a:solidFill>
                    <a:srgbClr val="0000CC"/>
                  </a:solidFill>
                </a:rPr>
                <a:t>130</a:t>
              </a:r>
              <a:r>
                <a:rPr lang="en-GB" altLang="x-none" sz="2000">
                  <a:solidFill>
                    <a:srgbClr val="0000CC"/>
                  </a:solidFill>
                  <a:ea typeface="Arial" charset="0"/>
                  <a:cs typeface="Arial" charset="0"/>
                </a:rPr>
                <a:t>°</a:t>
              </a:r>
            </a:p>
          </p:txBody>
        </p:sp>
      </p:grp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1128649" y="2487286"/>
            <a:ext cx="5905500" cy="176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/>
              <a:t>A man starts at the village of Chartham and walks 5 km due South to Aylesham. Then he walks another 8 km on a bearing of 130</a:t>
            </a:r>
            <a:r>
              <a:rPr lang="en-GB" altLang="x-none" sz="2000">
                <a:ea typeface="Arial" charset="0"/>
                <a:cs typeface="Arial" charset="0"/>
              </a:rPr>
              <a:t>° to Barham.  </a:t>
            </a:r>
          </a:p>
          <a:p>
            <a:pPr>
              <a:spcBef>
                <a:spcPct val="50000"/>
              </a:spcBef>
            </a:pPr>
            <a:r>
              <a:rPr lang="en-GB" altLang="x-none" sz="2000">
                <a:ea typeface="Arial" charset="0"/>
                <a:cs typeface="Arial" charset="0"/>
              </a:rPr>
              <a:t>What is the direct distance between Chartham and Barham, in a straight line?</a:t>
            </a:r>
          </a:p>
        </p:txBody>
      </p:sp>
      <p:sp>
        <p:nvSpPr>
          <p:cNvPr id="14" name="Text Box 13"/>
          <p:cNvSpPr txBox="1">
            <a:spLocks noChangeArrowheads="1"/>
          </p:cNvSpPr>
          <p:nvPr/>
        </p:nvSpPr>
        <p:spPr bwMode="auto">
          <a:xfrm>
            <a:off x="7034149" y="4000173"/>
            <a:ext cx="43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>
                <a:solidFill>
                  <a:srgbClr val="0000CC"/>
                </a:solidFill>
              </a:rPr>
              <a:t>A</a:t>
            </a:r>
          </a:p>
        </p:txBody>
      </p:sp>
      <p:sp>
        <p:nvSpPr>
          <p:cNvPr id="15" name="Text Box 14"/>
          <p:cNvSpPr txBox="1">
            <a:spLocks noChangeArrowheads="1"/>
          </p:cNvSpPr>
          <p:nvPr/>
        </p:nvSpPr>
        <p:spPr bwMode="auto">
          <a:xfrm>
            <a:off x="7177024" y="1723698"/>
            <a:ext cx="43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>
                <a:solidFill>
                  <a:srgbClr val="0000CC"/>
                </a:solidFill>
              </a:rPr>
              <a:t>C</a:t>
            </a: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9483662" y="5871836"/>
            <a:ext cx="35137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400">
                <a:solidFill>
                  <a:srgbClr val="0000CC"/>
                </a:solidFill>
              </a:rPr>
              <a:t>B</a:t>
            </a:r>
          </a:p>
        </p:txBody>
      </p:sp>
      <p:sp>
        <p:nvSpPr>
          <p:cNvPr id="17" name="Text Box 16"/>
          <p:cNvSpPr txBox="1">
            <a:spLocks noChangeArrowheads="1"/>
          </p:cNvSpPr>
          <p:nvPr/>
        </p:nvSpPr>
        <p:spPr bwMode="auto">
          <a:xfrm>
            <a:off x="1201674" y="4503411"/>
            <a:ext cx="2952750" cy="461665"/>
          </a:xfrm>
          <a:prstGeom prst="rect">
            <a:avLst/>
          </a:prstGeom>
          <a:solidFill>
            <a:srgbClr val="FFFF00"/>
          </a:solidFill>
          <a:ln w="38100">
            <a:solidFill>
              <a:srgbClr val="0000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First, draw a sketch.</a:t>
            </a:r>
          </a:p>
        </p:txBody>
      </p:sp>
      <p:sp>
        <p:nvSpPr>
          <p:cNvPr id="18" name="Line 17"/>
          <p:cNvSpPr>
            <a:spLocks noChangeShapeType="1"/>
          </p:cNvSpPr>
          <p:nvPr/>
        </p:nvSpPr>
        <p:spPr bwMode="auto">
          <a:xfrm>
            <a:off x="7321487" y="2126924"/>
            <a:ext cx="0" cy="2016125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18"/>
          <p:cNvSpPr>
            <a:spLocks noChangeShapeType="1"/>
          </p:cNvSpPr>
          <p:nvPr/>
        </p:nvSpPr>
        <p:spPr bwMode="auto">
          <a:xfrm>
            <a:off x="7321487" y="4143049"/>
            <a:ext cx="2449512" cy="1800225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19"/>
          <p:cNvSpPr>
            <a:spLocks noChangeShapeType="1"/>
          </p:cNvSpPr>
          <p:nvPr/>
        </p:nvSpPr>
        <p:spPr bwMode="auto">
          <a:xfrm flipH="1" flipV="1">
            <a:off x="7321487" y="2126923"/>
            <a:ext cx="2449512" cy="381635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Text Box 21"/>
          <p:cNvSpPr txBox="1">
            <a:spLocks noChangeArrowheads="1"/>
          </p:cNvSpPr>
          <p:nvPr/>
        </p:nvSpPr>
        <p:spPr bwMode="auto">
          <a:xfrm>
            <a:off x="2354199" y="6519535"/>
            <a:ext cx="3600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Use the Cosine Rule</a:t>
            </a:r>
          </a:p>
        </p:txBody>
      </p:sp>
      <p:sp>
        <p:nvSpPr>
          <p:cNvPr id="22" name="Text Box 22"/>
          <p:cNvSpPr txBox="1">
            <a:spLocks noChangeArrowheads="1"/>
          </p:cNvSpPr>
          <p:nvPr/>
        </p:nvSpPr>
        <p:spPr bwMode="auto">
          <a:xfrm>
            <a:off x="8042212" y="2271386"/>
            <a:ext cx="16557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/>
              <a:t>Not to scale</a:t>
            </a:r>
          </a:p>
        </p:txBody>
      </p:sp>
    </p:spTree>
    <p:extLst>
      <p:ext uri="{BB962C8B-B14F-4D97-AF65-F5344CB8AC3E}">
        <p14:creationId xmlns:p14="http://schemas.microsoft.com/office/powerpoint/2010/main" val="1592564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3" grpId="0"/>
      <p:bldP spid="14" grpId="0"/>
      <p:bldP spid="15" grpId="0"/>
      <p:bldP spid="16" grpId="0"/>
      <p:bldP spid="17" grpId="0" animBg="1"/>
      <p:bldP spid="18" grpId="0" animBg="1"/>
      <p:bldP spid="19" grpId="0" animBg="1"/>
      <p:bldP spid="20" grpId="0" animBg="1"/>
      <p:bldP spid="2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 smtClean="0"/>
              <a:t>Topic: Sine and cosine Rules</a:t>
            </a:r>
            <a:br>
              <a:rPr lang="en-US" dirty="0" smtClean="0"/>
            </a:br>
            <a:r>
              <a:rPr lang="en-US" dirty="0" smtClean="0"/>
              <a:t>EQ: What are the sine and cosine </a:t>
            </a:r>
            <a:r>
              <a:rPr lang="en-US" smtClean="0"/>
              <a:t>rules and when do we use them?</a:t>
            </a:r>
            <a:endParaRPr lang="en-US"/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1713421" y="1839585"/>
            <a:ext cx="4679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/>
              <a:t>Finding the missing  side:</a:t>
            </a:r>
          </a:p>
        </p:txBody>
      </p:sp>
      <p:sp>
        <p:nvSpPr>
          <p:cNvPr id="4" name="Text Box 8"/>
          <p:cNvSpPr txBox="1">
            <a:spLocks noChangeArrowheads="1"/>
          </p:cNvSpPr>
          <p:nvPr/>
        </p:nvSpPr>
        <p:spPr bwMode="auto">
          <a:xfrm>
            <a:off x="9238410" y="3711248"/>
            <a:ext cx="431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800" i="1">
                <a:solidFill>
                  <a:srgbClr val="008000"/>
                </a:solidFill>
                <a:latin typeface="Times New Roman" charset="0"/>
              </a:rPr>
              <a:t>a</a:t>
            </a:r>
          </a:p>
        </p:txBody>
      </p:sp>
      <p:sp>
        <p:nvSpPr>
          <p:cNvPr id="5" name="Text Box 9"/>
          <p:cNvSpPr txBox="1">
            <a:spLocks noChangeArrowheads="1"/>
          </p:cNvSpPr>
          <p:nvPr/>
        </p:nvSpPr>
        <p:spPr bwMode="auto">
          <a:xfrm>
            <a:off x="8519273" y="4863774"/>
            <a:ext cx="7921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0000CC"/>
                </a:solidFill>
              </a:rPr>
              <a:t>8km</a:t>
            </a:r>
          </a:p>
        </p:txBody>
      </p:sp>
      <p:sp>
        <p:nvSpPr>
          <p:cNvPr id="6" name="Text Box 10"/>
          <p:cNvSpPr txBox="1">
            <a:spLocks noChangeArrowheads="1"/>
          </p:cNvSpPr>
          <p:nvPr/>
        </p:nvSpPr>
        <p:spPr bwMode="auto">
          <a:xfrm>
            <a:off x="7438186" y="2919086"/>
            <a:ext cx="7921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0000CC"/>
                </a:solidFill>
              </a:rPr>
              <a:t>5km</a:t>
            </a:r>
          </a:p>
        </p:txBody>
      </p:sp>
      <p:sp>
        <p:nvSpPr>
          <p:cNvPr id="7" name="Freeform 11"/>
          <p:cNvSpPr>
            <a:spLocks/>
          </p:cNvSpPr>
          <p:nvPr/>
        </p:nvSpPr>
        <p:spPr bwMode="auto">
          <a:xfrm>
            <a:off x="8063660" y="3698549"/>
            <a:ext cx="604838" cy="860425"/>
          </a:xfrm>
          <a:custGeom>
            <a:avLst/>
            <a:gdLst>
              <a:gd name="T0" fmla="*/ 0 w 381"/>
              <a:gd name="T1" fmla="*/ 0 h 542"/>
              <a:gd name="T2" fmla="*/ 168 w 381"/>
              <a:gd name="T3" fmla="*/ 27 h 542"/>
              <a:gd name="T4" fmla="*/ 309 w 381"/>
              <a:gd name="T5" fmla="*/ 108 h 542"/>
              <a:gd name="T6" fmla="*/ 369 w 381"/>
              <a:gd name="T7" fmla="*/ 207 h 542"/>
              <a:gd name="T8" fmla="*/ 381 w 381"/>
              <a:gd name="T9" fmla="*/ 291 h 542"/>
              <a:gd name="T10" fmla="*/ 372 w 381"/>
              <a:gd name="T11" fmla="*/ 408 h 542"/>
              <a:gd name="T12" fmla="*/ 333 w 381"/>
              <a:gd name="T13" fmla="*/ 542 h 5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81" h="542">
                <a:moveTo>
                  <a:pt x="0" y="0"/>
                </a:moveTo>
                <a:cubicBezTo>
                  <a:pt x="27" y="4"/>
                  <a:pt x="116" y="9"/>
                  <a:pt x="168" y="27"/>
                </a:cubicBezTo>
                <a:cubicBezTo>
                  <a:pt x="220" y="45"/>
                  <a:pt x="275" y="78"/>
                  <a:pt x="309" y="108"/>
                </a:cubicBezTo>
                <a:cubicBezTo>
                  <a:pt x="343" y="138"/>
                  <a:pt x="357" y="177"/>
                  <a:pt x="369" y="207"/>
                </a:cubicBezTo>
                <a:cubicBezTo>
                  <a:pt x="381" y="237"/>
                  <a:pt x="381" y="258"/>
                  <a:pt x="381" y="291"/>
                </a:cubicBezTo>
                <a:cubicBezTo>
                  <a:pt x="381" y="324"/>
                  <a:pt x="380" y="366"/>
                  <a:pt x="372" y="408"/>
                </a:cubicBezTo>
                <a:cubicBezTo>
                  <a:pt x="364" y="450"/>
                  <a:pt x="341" y="514"/>
                  <a:pt x="333" y="542"/>
                </a:cubicBezTo>
              </a:path>
            </a:pathLst>
          </a:custGeom>
          <a:noFill/>
          <a:ln w="38100" cmpd="sng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Text Box 12"/>
          <p:cNvSpPr txBox="1">
            <a:spLocks noChangeArrowheads="1"/>
          </p:cNvSpPr>
          <p:nvPr/>
        </p:nvSpPr>
        <p:spPr bwMode="auto">
          <a:xfrm>
            <a:off x="8016036" y="3855711"/>
            <a:ext cx="720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0000CC"/>
                </a:solidFill>
              </a:rPr>
              <a:t>130</a:t>
            </a:r>
            <a:r>
              <a:rPr lang="en-GB" altLang="x-none" sz="2000">
                <a:solidFill>
                  <a:srgbClr val="0000CC"/>
                </a:solidFill>
                <a:ea typeface="Arial" charset="0"/>
                <a:cs typeface="Arial" charset="0"/>
              </a:rPr>
              <a:t>°</a:t>
            </a:r>
          </a:p>
        </p:txBody>
      </p:sp>
      <p:sp>
        <p:nvSpPr>
          <p:cNvPr id="9" name="Text Box 13"/>
          <p:cNvSpPr txBox="1">
            <a:spLocks noChangeArrowheads="1"/>
          </p:cNvSpPr>
          <p:nvPr/>
        </p:nvSpPr>
        <p:spPr bwMode="auto">
          <a:xfrm>
            <a:off x="848233" y="2487286"/>
            <a:ext cx="5905500" cy="176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/>
              <a:t>A man starts at the village of Chartham and walks 5 km due South to Aylesham. Then he walks another 8 km to on a bearing of 130</a:t>
            </a:r>
            <a:r>
              <a:rPr lang="en-GB" altLang="x-none" sz="2000">
                <a:ea typeface="Arial" charset="0"/>
                <a:cs typeface="Arial" charset="0"/>
              </a:rPr>
              <a:t>° to Barham.  </a:t>
            </a:r>
          </a:p>
          <a:p>
            <a:pPr>
              <a:spcBef>
                <a:spcPct val="50000"/>
              </a:spcBef>
            </a:pPr>
            <a:r>
              <a:rPr lang="en-GB" altLang="x-none" sz="2000">
                <a:ea typeface="Arial" charset="0"/>
                <a:cs typeface="Arial" charset="0"/>
              </a:rPr>
              <a:t>What is the direct distance between Chartham and Barham, in a straight line?</a:t>
            </a:r>
          </a:p>
        </p:txBody>
      </p:sp>
      <p:sp>
        <p:nvSpPr>
          <p:cNvPr id="10" name="Text Box 14"/>
          <p:cNvSpPr txBox="1">
            <a:spLocks noChangeArrowheads="1"/>
          </p:cNvSpPr>
          <p:nvPr/>
        </p:nvSpPr>
        <p:spPr bwMode="auto">
          <a:xfrm>
            <a:off x="7727110" y="4000173"/>
            <a:ext cx="43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>
                <a:solidFill>
                  <a:srgbClr val="0000CC"/>
                </a:solidFill>
              </a:rPr>
              <a:t>A</a:t>
            </a:r>
          </a:p>
        </p:txBody>
      </p:sp>
      <p:sp>
        <p:nvSpPr>
          <p:cNvPr id="11" name="Text Box 15"/>
          <p:cNvSpPr txBox="1">
            <a:spLocks noChangeArrowheads="1"/>
          </p:cNvSpPr>
          <p:nvPr/>
        </p:nvSpPr>
        <p:spPr bwMode="auto">
          <a:xfrm>
            <a:off x="7869985" y="1723698"/>
            <a:ext cx="43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>
                <a:solidFill>
                  <a:srgbClr val="0000CC"/>
                </a:solidFill>
              </a:rPr>
              <a:t>C</a:t>
            </a:r>
          </a:p>
        </p:txBody>
      </p:sp>
      <p:sp>
        <p:nvSpPr>
          <p:cNvPr id="12" name="Rectangle 16"/>
          <p:cNvSpPr>
            <a:spLocks noChangeArrowheads="1"/>
          </p:cNvSpPr>
          <p:nvPr/>
        </p:nvSpPr>
        <p:spPr bwMode="auto">
          <a:xfrm>
            <a:off x="10176623" y="5871836"/>
            <a:ext cx="35137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400">
                <a:solidFill>
                  <a:srgbClr val="0000CC"/>
                </a:solidFill>
              </a:rPr>
              <a:t>B</a:t>
            </a:r>
          </a:p>
        </p:txBody>
      </p:sp>
      <p:sp>
        <p:nvSpPr>
          <p:cNvPr id="13" name="Freeform 18"/>
          <p:cNvSpPr>
            <a:spLocks/>
          </p:cNvSpPr>
          <p:nvPr/>
        </p:nvSpPr>
        <p:spPr bwMode="auto">
          <a:xfrm>
            <a:off x="8016035" y="2103110"/>
            <a:ext cx="2444750" cy="3841750"/>
          </a:xfrm>
          <a:custGeom>
            <a:avLst/>
            <a:gdLst>
              <a:gd name="T0" fmla="*/ 0 w 1540"/>
              <a:gd name="T1" fmla="*/ 1284 h 2420"/>
              <a:gd name="T2" fmla="*/ 0 w 1540"/>
              <a:gd name="T3" fmla="*/ 0 h 2420"/>
              <a:gd name="T4" fmla="*/ 1540 w 1540"/>
              <a:gd name="T5" fmla="*/ 2420 h 2420"/>
              <a:gd name="T6" fmla="*/ 0 w 1540"/>
              <a:gd name="T7" fmla="*/ 1284 h 24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540" h="2420">
                <a:moveTo>
                  <a:pt x="0" y="1284"/>
                </a:moveTo>
                <a:lnTo>
                  <a:pt x="0" y="0"/>
                </a:lnTo>
                <a:lnTo>
                  <a:pt x="1540" y="2420"/>
                </a:lnTo>
                <a:lnTo>
                  <a:pt x="0" y="1284"/>
                </a:lnTo>
                <a:close/>
              </a:path>
            </a:pathLst>
          </a:custGeom>
          <a:noFill/>
          <a:ln w="38100" cmpd="sng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4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0251952"/>
              </p:ext>
            </p:extLst>
          </p:nvPr>
        </p:nvGraphicFramePr>
        <p:xfrm>
          <a:off x="1497522" y="4612949"/>
          <a:ext cx="4319587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8" name="Equation" r:id="rId3" imgW="1498320" imgH="203040" progId="Equation.3">
                  <p:embed/>
                </p:oleObj>
              </mc:Choice>
              <mc:Fallback>
                <p:oleObj name="Equation" r:id="rId3" imgW="149832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7522" y="4612949"/>
                        <a:ext cx="4319587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20"/>
          <p:cNvSpPr txBox="1">
            <a:spLocks noChangeArrowheads="1"/>
          </p:cNvSpPr>
          <p:nvPr/>
        </p:nvSpPr>
        <p:spPr bwMode="auto">
          <a:xfrm>
            <a:off x="1353059" y="5367010"/>
            <a:ext cx="6049963" cy="523220"/>
          </a:xfrm>
          <a:prstGeom prst="rect">
            <a:avLst/>
          </a:prstGeom>
          <a:solidFill>
            <a:srgbClr val="FFFF00"/>
          </a:solidFill>
          <a:ln w="38100">
            <a:solidFill>
              <a:srgbClr val="0000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Call the missing length you want to find “</a:t>
            </a:r>
            <a:r>
              <a:rPr lang="en-GB" altLang="x-none" sz="2800" i="1">
                <a:latin typeface="Times New Roman" charset="0"/>
              </a:rPr>
              <a:t>a</a:t>
            </a:r>
            <a:r>
              <a:rPr lang="en-GB" altLang="x-none" sz="2400"/>
              <a:t>”</a:t>
            </a:r>
          </a:p>
        </p:txBody>
      </p:sp>
      <p:sp>
        <p:nvSpPr>
          <p:cNvPr id="16" name="Text Box 21"/>
          <p:cNvSpPr txBox="1">
            <a:spLocks noChangeArrowheads="1"/>
          </p:cNvSpPr>
          <p:nvPr/>
        </p:nvSpPr>
        <p:spPr bwMode="auto">
          <a:xfrm>
            <a:off x="1424496" y="5440036"/>
            <a:ext cx="3097212" cy="461665"/>
          </a:xfrm>
          <a:prstGeom prst="rect">
            <a:avLst/>
          </a:prstGeom>
          <a:solidFill>
            <a:srgbClr val="FFFF00"/>
          </a:solidFill>
          <a:ln w="38100">
            <a:solidFill>
              <a:srgbClr val="0000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Label the other sides</a:t>
            </a:r>
          </a:p>
        </p:txBody>
      </p:sp>
      <p:sp>
        <p:nvSpPr>
          <p:cNvPr id="17" name="Text Box 22"/>
          <p:cNvSpPr txBox="1">
            <a:spLocks noChangeArrowheads="1"/>
          </p:cNvSpPr>
          <p:nvPr/>
        </p:nvSpPr>
        <p:spPr bwMode="auto">
          <a:xfrm>
            <a:off x="7582648" y="3134986"/>
            <a:ext cx="431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800" i="1">
                <a:solidFill>
                  <a:srgbClr val="008000"/>
                </a:solidFill>
                <a:latin typeface="Times New Roman" charset="0"/>
              </a:rPr>
              <a:t>b</a:t>
            </a:r>
          </a:p>
        </p:txBody>
      </p:sp>
      <p:sp>
        <p:nvSpPr>
          <p:cNvPr id="18" name="Text Box 23"/>
          <p:cNvSpPr txBox="1">
            <a:spLocks noChangeArrowheads="1"/>
          </p:cNvSpPr>
          <p:nvPr/>
        </p:nvSpPr>
        <p:spPr bwMode="auto">
          <a:xfrm>
            <a:off x="8951073" y="5006648"/>
            <a:ext cx="431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800" i="1">
                <a:solidFill>
                  <a:srgbClr val="008000"/>
                </a:solidFill>
                <a:latin typeface="Times New Roman" charset="0"/>
              </a:rPr>
              <a:t>c</a:t>
            </a:r>
          </a:p>
        </p:txBody>
      </p:sp>
      <p:sp>
        <p:nvSpPr>
          <p:cNvPr id="19" name="Text Box 25"/>
          <p:cNvSpPr txBox="1">
            <a:spLocks noChangeArrowheads="1"/>
          </p:cNvSpPr>
          <p:nvPr/>
        </p:nvSpPr>
        <p:spPr bwMode="auto">
          <a:xfrm>
            <a:off x="1424496" y="5367010"/>
            <a:ext cx="5689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3200" i="1">
                <a:latin typeface="Times New Roman" charset="0"/>
              </a:rPr>
              <a:t>a</a:t>
            </a:r>
            <a:r>
              <a:rPr lang="en-GB" altLang="x-none" sz="2800">
                <a:ea typeface="Arial" charset="0"/>
                <a:cs typeface="Arial" charset="0"/>
              </a:rPr>
              <a:t>² = 5² + </a:t>
            </a:r>
            <a:r>
              <a:rPr lang="en-GB" altLang="x-none" sz="2800"/>
              <a:t>8² - 2 x 5 x 8 x cos130</a:t>
            </a:r>
            <a:r>
              <a:rPr lang="en-GB" altLang="x-none" sz="2800">
                <a:ea typeface="Arial" charset="0"/>
                <a:cs typeface="Arial" charset="0"/>
              </a:rPr>
              <a:t>°</a:t>
            </a:r>
          </a:p>
        </p:txBody>
      </p:sp>
      <p:sp>
        <p:nvSpPr>
          <p:cNvPr id="20" name="Text Box 26"/>
          <p:cNvSpPr txBox="1">
            <a:spLocks noChangeArrowheads="1"/>
          </p:cNvSpPr>
          <p:nvPr/>
        </p:nvSpPr>
        <p:spPr bwMode="auto">
          <a:xfrm>
            <a:off x="1424496" y="5943274"/>
            <a:ext cx="52578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3200" i="1">
                <a:latin typeface="Times New Roman" charset="0"/>
              </a:rPr>
              <a:t>a</a:t>
            </a:r>
            <a:r>
              <a:rPr lang="en-GB" altLang="x-none" sz="2800">
                <a:ea typeface="Arial" charset="0"/>
                <a:cs typeface="Arial" charset="0"/>
              </a:rPr>
              <a:t>² = 25 + </a:t>
            </a:r>
            <a:r>
              <a:rPr lang="en-GB" altLang="x-none" sz="2800"/>
              <a:t>64 - 80cos130</a:t>
            </a:r>
            <a:r>
              <a:rPr lang="en-GB" altLang="x-none" sz="2800">
                <a:ea typeface="Arial" charset="0"/>
                <a:cs typeface="Arial" charset="0"/>
              </a:rPr>
              <a:t>°</a:t>
            </a:r>
          </a:p>
        </p:txBody>
      </p:sp>
      <p:sp>
        <p:nvSpPr>
          <p:cNvPr id="21" name="Text Box 27"/>
          <p:cNvSpPr txBox="1">
            <a:spLocks noChangeArrowheads="1"/>
          </p:cNvSpPr>
          <p:nvPr/>
        </p:nvSpPr>
        <p:spPr bwMode="auto">
          <a:xfrm>
            <a:off x="5493498" y="5914774"/>
            <a:ext cx="244951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3200" i="1">
                <a:latin typeface="Times New Roman" charset="0"/>
              </a:rPr>
              <a:t>a</a:t>
            </a:r>
            <a:r>
              <a:rPr lang="en-GB" altLang="x-none" sz="2800">
                <a:ea typeface="Arial" charset="0"/>
                <a:cs typeface="Arial" charset="0"/>
              </a:rPr>
              <a:t>² = 140.42</a:t>
            </a:r>
          </a:p>
        </p:txBody>
      </p:sp>
      <p:sp>
        <p:nvSpPr>
          <p:cNvPr id="22" name="Text Box 28"/>
          <p:cNvSpPr txBox="1">
            <a:spLocks noChangeArrowheads="1"/>
          </p:cNvSpPr>
          <p:nvPr/>
        </p:nvSpPr>
        <p:spPr bwMode="auto">
          <a:xfrm>
            <a:off x="1388223" y="6333501"/>
            <a:ext cx="18716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3200" i="1">
                <a:latin typeface="Times New Roman" charset="0"/>
              </a:rPr>
              <a:t>a</a:t>
            </a:r>
            <a:r>
              <a:rPr lang="en-GB" altLang="x-none" sz="2800">
                <a:ea typeface="Arial" charset="0"/>
                <a:cs typeface="Arial" charset="0"/>
              </a:rPr>
              <a:t> = 11.85</a:t>
            </a:r>
          </a:p>
        </p:txBody>
      </p:sp>
      <p:sp>
        <p:nvSpPr>
          <p:cNvPr id="23" name="Text Box 29"/>
          <p:cNvSpPr txBox="1">
            <a:spLocks noChangeArrowheads="1"/>
          </p:cNvSpPr>
          <p:nvPr/>
        </p:nvSpPr>
        <p:spPr bwMode="auto">
          <a:xfrm>
            <a:off x="7869985" y="6169385"/>
            <a:ext cx="1871662" cy="584775"/>
          </a:xfrm>
          <a:prstGeom prst="rect">
            <a:avLst/>
          </a:prstGeom>
          <a:solidFill>
            <a:srgbClr val="FFFF00"/>
          </a:solidFill>
          <a:ln w="38100">
            <a:solidFill>
              <a:srgbClr val="0000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altLang="x-none" sz="3200">
                <a:ea typeface="Arial" charset="0"/>
                <a:cs typeface="Arial" charset="0"/>
              </a:rPr>
              <a:t>11.85km</a:t>
            </a:r>
          </a:p>
        </p:txBody>
      </p:sp>
      <p:sp>
        <p:nvSpPr>
          <p:cNvPr id="24" name="Text Box 30"/>
          <p:cNvSpPr txBox="1">
            <a:spLocks noChangeArrowheads="1"/>
          </p:cNvSpPr>
          <p:nvPr/>
        </p:nvSpPr>
        <p:spPr bwMode="auto">
          <a:xfrm>
            <a:off x="8735173" y="2271386"/>
            <a:ext cx="16557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/>
              <a:t>Not to scale</a:t>
            </a:r>
          </a:p>
        </p:txBody>
      </p:sp>
    </p:spTree>
    <p:extLst>
      <p:ext uri="{BB962C8B-B14F-4D97-AF65-F5344CB8AC3E}">
        <p14:creationId xmlns:p14="http://schemas.microsoft.com/office/powerpoint/2010/main" val="467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5" grpId="0" animBg="1"/>
      <p:bldP spid="16" grpId="0" animBg="1"/>
      <p:bldP spid="17" grpId="0"/>
      <p:bldP spid="18" grpId="0"/>
      <p:bldP spid="19" grpId="0"/>
      <p:bldP spid="20" grpId="0"/>
      <p:bldP spid="21" grpId="0"/>
      <p:bldP spid="22" grpId="0"/>
      <p:bldP spid="2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5550" y="4150868"/>
            <a:ext cx="9042400" cy="23114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206" y="865632"/>
            <a:ext cx="9740900" cy="245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155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 smtClean="0"/>
              <a:t>Topic: Sine and cosine Rules</a:t>
            </a:r>
            <a:br>
              <a:rPr lang="en-US" dirty="0" smtClean="0"/>
            </a:br>
            <a:r>
              <a:rPr lang="en-US" dirty="0" smtClean="0"/>
              <a:t>EQ: What are the sine and cosine </a:t>
            </a:r>
            <a:r>
              <a:rPr lang="en-US" smtClean="0"/>
              <a:t>rules and when do we use them?</a:t>
            </a:r>
            <a:endParaRPr lang="en-US"/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655257" y="5505199"/>
            <a:ext cx="4032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Is it a right-angled triangle?</a:t>
            </a: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657734" y="6061342"/>
            <a:ext cx="3816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Is there a matching pair?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4512882" y="5505199"/>
            <a:ext cx="720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No</a:t>
            </a: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4512882" y="6034675"/>
            <a:ext cx="720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No</a:t>
            </a:r>
          </a:p>
        </p:txBody>
      </p:sp>
      <p:sp>
        <p:nvSpPr>
          <p:cNvPr id="7" name="Text Box 21"/>
          <p:cNvSpPr txBox="1">
            <a:spLocks noChangeArrowheads="1"/>
          </p:cNvSpPr>
          <p:nvPr/>
        </p:nvSpPr>
        <p:spPr bwMode="auto">
          <a:xfrm>
            <a:off x="5731384" y="5417258"/>
            <a:ext cx="3600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Use the Cosine Rule</a:t>
            </a:r>
          </a:p>
        </p:txBody>
      </p:sp>
      <p:sp>
        <p:nvSpPr>
          <p:cNvPr id="8" name="Text Box 22"/>
          <p:cNvSpPr txBox="1">
            <a:spLocks noChangeArrowheads="1"/>
          </p:cNvSpPr>
          <p:nvPr/>
        </p:nvSpPr>
        <p:spPr bwMode="auto">
          <a:xfrm>
            <a:off x="4512882" y="3048191"/>
            <a:ext cx="431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800" i="1">
                <a:solidFill>
                  <a:srgbClr val="008000"/>
                </a:solidFill>
                <a:latin typeface="Times New Roman" charset="0"/>
              </a:rPr>
              <a:t>a</a:t>
            </a:r>
          </a:p>
        </p:txBody>
      </p:sp>
      <p:sp>
        <p:nvSpPr>
          <p:cNvPr id="9" name="Text Box 23"/>
          <p:cNvSpPr txBox="1">
            <a:spLocks noChangeArrowheads="1"/>
          </p:cNvSpPr>
          <p:nvPr/>
        </p:nvSpPr>
        <p:spPr bwMode="auto">
          <a:xfrm>
            <a:off x="4512882" y="3406967"/>
            <a:ext cx="7921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0000CC"/>
                </a:solidFill>
              </a:rPr>
              <a:t>9cm</a:t>
            </a:r>
          </a:p>
        </p:txBody>
      </p:sp>
      <p:sp>
        <p:nvSpPr>
          <p:cNvPr id="10" name="Text Box 24"/>
          <p:cNvSpPr txBox="1">
            <a:spLocks noChangeArrowheads="1"/>
          </p:cNvSpPr>
          <p:nvPr/>
        </p:nvSpPr>
        <p:spPr bwMode="auto">
          <a:xfrm>
            <a:off x="1993519" y="3406967"/>
            <a:ext cx="9350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0000CC"/>
                </a:solidFill>
              </a:rPr>
              <a:t>6cm</a:t>
            </a:r>
          </a:p>
        </p:txBody>
      </p:sp>
      <p:sp>
        <p:nvSpPr>
          <p:cNvPr id="11" name="Text Box 27"/>
          <p:cNvSpPr txBox="1">
            <a:spLocks noChangeArrowheads="1"/>
          </p:cNvSpPr>
          <p:nvPr/>
        </p:nvSpPr>
        <p:spPr bwMode="auto">
          <a:xfrm>
            <a:off x="1704594" y="4559491"/>
            <a:ext cx="43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>
                <a:solidFill>
                  <a:srgbClr val="008000"/>
                </a:solidFill>
              </a:rPr>
              <a:t>A</a:t>
            </a:r>
          </a:p>
        </p:txBody>
      </p:sp>
      <p:sp>
        <p:nvSpPr>
          <p:cNvPr id="12" name="Text Box 28"/>
          <p:cNvSpPr txBox="1">
            <a:spLocks noChangeArrowheads="1"/>
          </p:cNvSpPr>
          <p:nvPr/>
        </p:nvSpPr>
        <p:spPr bwMode="auto">
          <a:xfrm>
            <a:off x="3001582" y="2183003"/>
            <a:ext cx="43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>
                <a:solidFill>
                  <a:srgbClr val="008000"/>
                </a:solidFill>
              </a:rPr>
              <a:t>C</a:t>
            </a:r>
          </a:p>
        </p:txBody>
      </p:sp>
      <p:sp>
        <p:nvSpPr>
          <p:cNvPr id="13" name="Rectangle 29"/>
          <p:cNvSpPr>
            <a:spLocks noChangeArrowheads="1"/>
          </p:cNvSpPr>
          <p:nvPr/>
        </p:nvSpPr>
        <p:spPr bwMode="auto">
          <a:xfrm>
            <a:off x="5881307" y="4559492"/>
            <a:ext cx="35137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400">
                <a:solidFill>
                  <a:srgbClr val="008000"/>
                </a:solidFill>
              </a:rPr>
              <a:t>B</a:t>
            </a:r>
          </a:p>
        </p:txBody>
      </p:sp>
      <p:sp>
        <p:nvSpPr>
          <p:cNvPr id="14" name="Freeform 30"/>
          <p:cNvSpPr>
            <a:spLocks/>
          </p:cNvSpPr>
          <p:nvPr/>
        </p:nvSpPr>
        <p:spPr bwMode="auto">
          <a:xfrm>
            <a:off x="2088769" y="2614803"/>
            <a:ext cx="3830638" cy="2139950"/>
          </a:xfrm>
          <a:custGeom>
            <a:avLst/>
            <a:gdLst>
              <a:gd name="T0" fmla="*/ 0 w 2413"/>
              <a:gd name="T1" fmla="*/ 1348 h 1348"/>
              <a:gd name="T2" fmla="*/ 711 w 2413"/>
              <a:gd name="T3" fmla="*/ 0 h 1348"/>
              <a:gd name="T4" fmla="*/ 2413 w 2413"/>
              <a:gd name="T5" fmla="*/ 1348 h 1348"/>
              <a:gd name="T6" fmla="*/ 0 w 2413"/>
              <a:gd name="T7" fmla="*/ 1348 h 13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413" h="1348">
                <a:moveTo>
                  <a:pt x="0" y="1348"/>
                </a:moveTo>
                <a:lnTo>
                  <a:pt x="711" y="0"/>
                </a:lnTo>
                <a:lnTo>
                  <a:pt x="2413" y="1348"/>
                </a:lnTo>
                <a:lnTo>
                  <a:pt x="0" y="1348"/>
                </a:lnTo>
                <a:close/>
              </a:path>
            </a:pathLst>
          </a:custGeom>
          <a:noFill/>
          <a:ln w="38100" cmpd="sng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Text Box 31"/>
          <p:cNvSpPr txBox="1">
            <a:spLocks noChangeArrowheads="1"/>
          </p:cNvSpPr>
          <p:nvPr/>
        </p:nvSpPr>
        <p:spPr bwMode="auto">
          <a:xfrm>
            <a:off x="2280857" y="3048191"/>
            <a:ext cx="431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800" i="1">
                <a:solidFill>
                  <a:srgbClr val="008000"/>
                </a:solidFill>
                <a:latin typeface="Times New Roman" charset="0"/>
              </a:rPr>
              <a:t>b</a:t>
            </a:r>
          </a:p>
        </p:txBody>
      </p:sp>
      <p:sp>
        <p:nvSpPr>
          <p:cNvPr id="16" name="Text Box 32"/>
          <p:cNvSpPr txBox="1">
            <a:spLocks noChangeArrowheads="1"/>
          </p:cNvSpPr>
          <p:nvPr/>
        </p:nvSpPr>
        <p:spPr bwMode="auto">
          <a:xfrm>
            <a:off x="4081082" y="4775391"/>
            <a:ext cx="5762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800" i="1">
                <a:solidFill>
                  <a:srgbClr val="008000"/>
                </a:solidFill>
                <a:latin typeface="Times New Roman" charset="0"/>
              </a:rPr>
              <a:t>c</a:t>
            </a:r>
          </a:p>
        </p:txBody>
      </p:sp>
      <p:sp>
        <p:nvSpPr>
          <p:cNvPr id="17" name="Text Box 33"/>
          <p:cNvSpPr txBox="1">
            <a:spLocks noChangeArrowheads="1"/>
          </p:cNvSpPr>
          <p:nvPr/>
        </p:nvSpPr>
        <p:spPr bwMode="auto">
          <a:xfrm>
            <a:off x="3504820" y="4703954"/>
            <a:ext cx="10080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0000CC"/>
                </a:solidFill>
              </a:rPr>
              <a:t>10cm</a:t>
            </a:r>
          </a:p>
        </p:txBody>
      </p:sp>
      <p:sp>
        <p:nvSpPr>
          <p:cNvPr id="18" name="Text Box 34"/>
          <p:cNvSpPr txBox="1">
            <a:spLocks noChangeArrowheads="1"/>
          </p:cNvSpPr>
          <p:nvPr/>
        </p:nvSpPr>
        <p:spPr bwMode="auto">
          <a:xfrm>
            <a:off x="2209420" y="4342003"/>
            <a:ext cx="936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l-GR" altLang="x-none" sz="2400" i="1">
                <a:solidFill>
                  <a:srgbClr val="0000CC"/>
                </a:solidFill>
                <a:ea typeface="Arial" charset="0"/>
                <a:cs typeface="Arial" charset="0"/>
              </a:rPr>
              <a:t>θ</a:t>
            </a:r>
            <a:r>
              <a:rPr lang="en-GB" altLang="x-none" sz="2400">
                <a:solidFill>
                  <a:srgbClr val="0000CC"/>
                </a:solidFill>
                <a:ea typeface="Arial" charset="0"/>
                <a:cs typeface="Arial" charset="0"/>
              </a:rPr>
              <a:t>°</a:t>
            </a:r>
          </a:p>
        </p:txBody>
      </p:sp>
      <p:sp>
        <p:nvSpPr>
          <p:cNvPr id="19" name="Freeform 35"/>
          <p:cNvSpPr>
            <a:spLocks/>
          </p:cNvSpPr>
          <p:nvPr/>
        </p:nvSpPr>
        <p:spPr bwMode="auto">
          <a:xfrm>
            <a:off x="2371344" y="4215004"/>
            <a:ext cx="300038" cy="519113"/>
          </a:xfrm>
          <a:custGeom>
            <a:avLst/>
            <a:gdLst>
              <a:gd name="T0" fmla="*/ 0 w 189"/>
              <a:gd name="T1" fmla="*/ 0 h 327"/>
              <a:gd name="T2" fmla="*/ 93 w 189"/>
              <a:gd name="T3" fmla="*/ 30 h 327"/>
              <a:gd name="T4" fmla="*/ 135 w 189"/>
              <a:gd name="T5" fmla="*/ 60 h 327"/>
              <a:gd name="T6" fmla="*/ 168 w 189"/>
              <a:gd name="T7" fmla="*/ 93 h 327"/>
              <a:gd name="T8" fmla="*/ 186 w 189"/>
              <a:gd name="T9" fmla="*/ 144 h 327"/>
              <a:gd name="T10" fmla="*/ 186 w 189"/>
              <a:gd name="T11" fmla="*/ 222 h 327"/>
              <a:gd name="T12" fmla="*/ 171 w 189"/>
              <a:gd name="T13" fmla="*/ 327 h 3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9" h="327">
                <a:moveTo>
                  <a:pt x="0" y="0"/>
                </a:moveTo>
                <a:cubicBezTo>
                  <a:pt x="15" y="5"/>
                  <a:pt x="71" y="20"/>
                  <a:pt x="93" y="30"/>
                </a:cubicBezTo>
                <a:cubicBezTo>
                  <a:pt x="115" y="40"/>
                  <a:pt x="122" y="49"/>
                  <a:pt x="135" y="60"/>
                </a:cubicBezTo>
                <a:cubicBezTo>
                  <a:pt x="148" y="71"/>
                  <a:pt x="160" y="79"/>
                  <a:pt x="168" y="93"/>
                </a:cubicBezTo>
                <a:cubicBezTo>
                  <a:pt x="176" y="107"/>
                  <a:pt x="183" y="123"/>
                  <a:pt x="186" y="144"/>
                </a:cubicBezTo>
                <a:cubicBezTo>
                  <a:pt x="189" y="165"/>
                  <a:pt x="188" y="192"/>
                  <a:pt x="186" y="222"/>
                </a:cubicBezTo>
                <a:cubicBezTo>
                  <a:pt x="184" y="252"/>
                  <a:pt x="174" y="305"/>
                  <a:pt x="171" y="327"/>
                </a:cubicBezTo>
              </a:path>
            </a:pathLst>
          </a:custGeom>
          <a:noFill/>
          <a:ln w="38100" cmpd="sng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Text Box 36"/>
          <p:cNvSpPr txBox="1">
            <a:spLocks noChangeArrowheads="1"/>
          </p:cNvSpPr>
          <p:nvPr/>
        </p:nvSpPr>
        <p:spPr bwMode="auto">
          <a:xfrm>
            <a:off x="5731384" y="5958733"/>
            <a:ext cx="630212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/>
              <a:t>Label the sides and angles, calling the missing angle “A”</a:t>
            </a:r>
          </a:p>
        </p:txBody>
      </p:sp>
      <p:sp>
        <p:nvSpPr>
          <p:cNvPr id="21" name="Text Box 37"/>
          <p:cNvSpPr txBox="1">
            <a:spLocks noChangeArrowheads="1"/>
          </p:cNvSpPr>
          <p:nvPr/>
        </p:nvSpPr>
        <p:spPr bwMode="auto">
          <a:xfrm>
            <a:off x="1201357" y="1822641"/>
            <a:ext cx="4679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/>
              <a:t>Finding the missing  angle </a:t>
            </a:r>
            <a:r>
              <a:rPr lang="el-GR" altLang="x-none" sz="2400" b="1" i="1">
                <a:ea typeface="Arial" charset="0"/>
                <a:cs typeface="Arial" charset="0"/>
              </a:rPr>
              <a:t>θ</a:t>
            </a:r>
            <a:r>
              <a:rPr lang="en-GB" altLang="x-none" sz="2400" b="1"/>
              <a:t>:</a:t>
            </a:r>
          </a:p>
        </p:txBody>
      </p:sp>
      <p:sp>
        <p:nvSpPr>
          <p:cNvPr id="22" name="Text Box 38"/>
          <p:cNvSpPr txBox="1">
            <a:spLocks noChangeArrowheads="1"/>
          </p:cNvSpPr>
          <p:nvPr/>
        </p:nvSpPr>
        <p:spPr bwMode="auto">
          <a:xfrm>
            <a:off x="840995" y="2759266"/>
            <a:ext cx="16557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/>
              <a:t>Not to scale</a:t>
            </a:r>
          </a:p>
        </p:txBody>
      </p:sp>
    </p:spTree>
    <p:extLst>
      <p:ext uri="{BB962C8B-B14F-4D97-AF65-F5344CB8AC3E}">
        <p14:creationId xmlns:p14="http://schemas.microsoft.com/office/powerpoint/2010/main" val="1420082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15" grpId="0"/>
      <p:bldP spid="16" grpId="0"/>
      <p:bldP spid="2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 smtClean="0"/>
              <a:t>Topic: Sine and cosine Rules</a:t>
            </a:r>
            <a:br>
              <a:rPr lang="en-US" dirty="0" smtClean="0"/>
            </a:br>
            <a:r>
              <a:rPr lang="en-US" dirty="0" smtClean="0"/>
              <a:t>EQ: What are the sine and cosine </a:t>
            </a:r>
            <a:r>
              <a:rPr lang="en-US" smtClean="0"/>
              <a:t>rules and when do we use them?</a:t>
            </a:r>
            <a:endParaRPr lang="en-US"/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725869" y="1907985"/>
            <a:ext cx="4679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 b="1"/>
              <a:t>Finding the missing  angle </a:t>
            </a:r>
            <a:r>
              <a:rPr lang="el-GR" altLang="x-none" sz="2400" b="1" i="1">
                <a:ea typeface="Arial" charset="0"/>
                <a:cs typeface="Arial" charset="0"/>
              </a:rPr>
              <a:t>θ</a:t>
            </a:r>
            <a:r>
              <a:rPr lang="en-GB" altLang="x-none" sz="2400" b="1"/>
              <a:t>:</a:t>
            </a:r>
          </a:p>
        </p:txBody>
      </p:sp>
      <p:sp>
        <p:nvSpPr>
          <p:cNvPr id="4" name="Text Box 8"/>
          <p:cNvSpPr txBox="1">
            <a:spLocks noChangeArrowheads="1"/>
          </p:cNvSpPr>
          <p:nvPr/>
        </p:nvSpPr>
        <p:spPr bwMode="auto">
          <a:xfrm>
            <a:off x="7670389" y="2878742"/>
            <a:ext cx="431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800" i="1">
                <a:solidFill>
                  <a:srgbClr val="008000"/>
                </a:solidFill>
                <a:latin typeface="Times New Roman" charset="0"/>
              </a:rPr>
              <a:t>a</a:t>
            </a:r>
          </a:p>
        </p:txBody>
      </p:sp>
      <p:sp>
        <p:nvSpPr>
          <p:cNvPr id="5" name="Text Box 9"/>
          <p:cNvSpPr txBox="1">
            <a:spLocks noChangeArrowheads="1"/>
          </p:cNvSpPr>
          <p:nvPr/>
        </p:nvSpPr>
        <p:spPr bwMode="auto">
          <a:xfrm>
            <a:off x="7670389" y="3237518"/>
            <a:ext cx="7921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0000CC"/>
                </a:solidFill>
              </a:rPr>
              <a:t>9cm</a:t>
            </a:r>
          </a:p>
        </p:txBody>
      </p:sp>
      <p:sp>
        <p:nvSpPr>
          <p:cNvPr id="6" name="Text Box 10"/>
          <p:cNvSpPr txBox="1">
            <a:spLocks noChangeArrowheads="1"/>
          </p:cNvSpPr>
          <p:nvPr/>
        </p:nvSpPr>
        <p:spPr bwMode="auto">
          <a:xfrm>
            <a:off x="5151026" y="3237518"/>
            <a:ext cx="9350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0000CC"/>
                </a:solidFill>
              </a:rPr>
              <a:t>6cm</a:t>
            </a:r>
          </a:p>
        </p:txBody>
      </p:sp>
      <p:sp>
        <p:nvSpPr>
          <p:cNvPr id="7" name="Text Box 11"/>
          <p:cNvSpPr txBox="1">
            <a:spLocks noChangeArrowheads="1"/>
          </p:cNvSpPr>
          <p:nvPr/>
        </p:nvSpPr>
        <p:spPr bwMode="auto">
          <a:xfrm>
            <a:off x="4862101" y="4390042"/>
            <a:ext cx="43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>
                <a:solidFill>
                  <a:srgbClr val="008000"/>
                </a:solidFill>
              </a:rPr>
              <a:t>A</a:t>
            </a:r>
          </a:p>
        </p:txBody>
      </p:sp>
      <p:sp>
        <p:nvSpPr>
          <p:cNvPr id="8" name="Text Box 12"/>
          <p:cNvSpPr txBox="1">
            <a:spLocks noChangeArrowheads="1"/>
          </p:cNvSpPr>
          <p:nvPr/>
        </p:nvSpPr>
        <p:spPr bwMode="auto">
          <a:xfrm>
            <a:off x="6159089" y="2013554"/>
            <a:ext cx="43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400">
                <a:solidFill>
                  <a:srgbClr val="008000"/>
                </a:solidFill>
              </a:rPr>
              <a:t>C</a:t>
            </a:r>
          </a:p>
        </p:txBody>
      </p:sp>
      <p:sp>
        <p:nvSpPr>
          <p:cNvPr id="9" name="Rectangle 13"/>
          <p:cNvSpPr>
            <a:spLocks noChangeArrowheads="1"/>
          </p:cNvSpPr>
          <p:nvPr/>
        </p:nvSpPr>
        <p:spPr bwMode="auto">
          <a:xfrm>
            <a:off x="9038814" y="4390043"/>
            <a:ext cx="35137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2400">
                <a:solidFill>
                  <a:srgbClr val="008000"/>
                </a:solidFill>
              </a:rPr>
              <a:t>B</a:t>
            </a:r>
          </a:p>
        </p:txBody>
      </p:sp>
      <p:sp>
        <p:nvSpPr>
          <p:cNvPr id="10" name="Freeform 14"/>
          <p:cNvSpPr>
            <a:spLocks/>
          </p:cNvSpPr>
          <p:nvPr/>
        </p:nvSpPr>
        <p:spPr bwMode="auto">
          <a:xfrm>
            <a:off x="5246276" y="2445354"/>
            <a:ext cx="3830638" cy="2139950"/>
          </a:xfrm>
          <a:custGeom>
            <a:avLst/>
            <a:gdLst>
              <a:gd name="T0" fmla="*/ 0 w 2413"/>
              <a:gd name="T1" fmla="*/ 1348 h 1348"/>
              <a:gd name="T2" fmla="*/ 711 w 2413"/>
              <a:gd name="T3" fmla="*/ 0 h 1348"/>
              <a:gd name="T4" fmla="*/ 2413 w 2413"/>
              <a:gd name="T5" fmla="*/ 1348 h 1348"/>
              <a:gd name="T6" fmla="*/ 0 w 2413"/>
              <a:gd name="T7" fmla="*/ 1348 h 13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413" h="1348">
                <a:moveTo>
                  <a:pt x="0" y="1348"/>
                </a:moveTo>
                <a:lnTo>
                  <a:pt x="711" y="0"/>
                </a:lnTo>
                <a:lnTo>
                  <a:pt x="2413" y="1348"/>
                </a:lnTo>
                <a:lnTo>
                  <a:pt x="0" y="1348"/>
                </a:lnTo>
                <a:close/>
              </a:path>
            </a:pathLst>
          </a:custGeom>
          <a:noFill/>
          <a:ln w="38100" cmpd="sng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Text Box 15"/>
          <p:cNvSpPr txBox="1">
            <a:spLocks noChangeArrowheads="1"/>
          </p:cNvSpPr>
          <p:nvPr/>
        </p:nvSpPr>
        <p:spPr bwMode="auto">
          <a:xfrm>
            <a:off x="5438364" y="2878742"/>
            <a:ext cx="431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800" i="1">
                <a:solidFill>
                  <a:srgbClr val="008000"/>
                </a:solidFill>
                <a:latin typeface="Times New Roman" charset="0"/>
              </a:rPr>
              <a:t>b</a:t>
            </a:r>
          </a:p>
        </p:txBody>
      </p:sp>
      <p:sp>
        <p:nvSpPr>
          <p:cNvPr id="12" name="Text Box 16"/>
          <p:cNvSpPr txBox="1">
            <a:spLocks noChangeArrowheads="1"/>
          </p:cNvSpPr>
          <p:nvPr/>
        </p:nvSpPr>
        <p:spPr bwMode="auto">
          <a:xfrm>
            <a:off x="7238589" y="4605942"/>
            <a:ext cx="5762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800" i="1">
                <a:solidFill>
                  <a:srgbClr val="008000"/>
                </a:solidFill>
                <a:latin typeface="Times New Roman" charset="0"/>
              </a:rPr>
              <a:t>c</a:t>
            </a:r>
          </a:p>
        </p:txBody>
      </p:sp>
      <p:sp>
        <p:nvSpPr>
          <p:cNvPr id="13" name="Text Box 17"/>
          <p:cNvSpPr txBox="1">
            <a:spLocks noChangeArrowheads="1"/>
          </p:cNvSpPr>
          <p:nvPr/>
        </p:nvSpPr>
        <p:spPr bwMode="auto">
          <a:xfrm>
            <a:off x="6662327" y="4534505"/>
            <a:ext cx="10080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2000">
                <a:solidFill>
                  <a:srgbClr val="0000CC"/>
                </a:solidFill>
              </a:rPr>
              <a:t>10cm</a:t>
            </a:r>
          </a:p>
        </p:txBody>
      </p:sp>
      <p:sp>
        <p:nvSpPr>
          <p:cNvPr id="14" name="Text Box 18"/>
          <p:cNvSpPr txBox="1">
            <a:spLocks noChangeArrowheads="1"/>
          </p:cNvSpPr>
          <p:nvPr/>
        </p:nvSpPr>
        <p:spPr bwMode="auto">
          <a:xfrm>
            <a:off x="5366927" y="4172554"/>
            <a:ext cx="936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l-GR" altLang="x-none" sz="2400" i="1">
                <a:solidFill>
                  <a:srgbClr val="0000CC"/>
                </a:solidFill>
                <a:ea typeface="Arial" charset="0"/>
                <a:cs typeface="Arial" charset="0"/>
              </a:rPr>
              <a:t>θ</a:t>
            </a:r>
            <a:r>
              <a:rPr lang="en-GB" altLang="x-none" sz="2400">
                <a:solidFill>
                  <a:srgbClr val="0000CC"/>
                </a:solidFill>
                <a:ea typeface="Arial" charset="0"/>
                <a:cs typeface="Arial" charset="0"/>
              </a:rPr>
              <a:t>°</a:t>
            </a:r>
          </a:p>
        </p:txBody>
      </p:sp>
      <p:sp>
        <p:nvSpPr>
          <p:cNvPr id="15" name="Freeform 19"/>
          <p:cNvSpPr>
            <a:spLocks/>
          </p:cNvSpPr>
          <p:nvPr/>
        </p:nvSpPr>
        <p:spPr bwMode="auto">
          <a:xfrm>
            <a:off x="5528851" y="4045555"/>
            <a:ext cx="300038" cy="519113"/>
          </a:xfrm>
          <a:custGeom>
            <a:avLst/>
            <a:gdLst>
              <a:gd name="T0" fmla="*/ 0 w 189"/>
              <a:gd name="T1" fmla="*/ 0 h 327"/>
              <a:gd name="T2" fmla="*/ 93 w 189"/>
              <a:gd name="T3" fmla="*/ 30 h 327"/>
              <a:gd name="T4" fmla="*/ 135 w 189"/>
              <a:gd name="T5" fmla="*/ 60 h 327"/>
              <a:gd name="T6" fmla="*/ 168 w 189"/>
              <a:gd name="T7" fmla="*/ 93 h 327"/>
              <a:gd name="T8" fmla="*/ 186 w 189"/>
              <a:gd name="T9" fmla="*/ 144 h 327"/>
              <a:gd name="T10" fmla="*/ 186 w 189"/>
              <a:gd name="T11" fmla="*/ 222 h 327"/>
              <a:gd name="T12" fmla="*/ 171 w 189"/>
              <a:gd name="T13" fmla="*/ 327 h 3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9" h="327">
                <a:moveTo>
                  <a:pt x="0" y="0"/>
                </a:moveTo>
                <a:cubicBezTo>
                  <a:pt x="15" y="5"/>
                  <a:pt x="71" y="20"/>
                  <a:pt x="93" y="30"/>
                </a:cubicBezTo>
                <a:cubicBezTo>
                  <a:pt x="115" y="40"/>
                  <a:pt x="122" y="49"/>
                  <a:pt x="135" y="60"/>
                </a:cubicBezTo>
                <a:cubicBezTo>
                  <a:pt x="148" y="71"/>
                  <a:pt x="160" y="79"/>
                  <a:pt x="168" y="93"/>
                </a:cubicBezTo>
                <a:cubicBezTo>
                  <a:pt x="176" y="107"/>
                  <a:pt x="183" y="123"/>
                  <a:pt x="186" y="144"/>
                </a:cubicBezTo>
                <a:cubicBezTo>
                  <a:pt x="189" y="165"/>
                  <a:pt x="188" y="192"/>
                  <a:pt x="186" y="222"/>
                </a:cubicBezTo>
                <a:cubicBezTo>
                  <a:pt x="184" y="252"/>
                  <a:pt x="174" y="305"/>
                  <a:pt x="171" y="327"/>
                </a:cubicBezTo>
              </a:path>
            </a:pathLst>
          </a:custGeom>
          <a:noFill/>
          <a:ln w="38100" cmpd="sng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6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7174142"/>
              </p:ext>
            </p:extLst>
          </p:nvPr>
        </p:nvGraphicFramePr>
        <p:xfrm>
          <a:off x="394081" y="4940110"/>
          <a:ext cx="4175125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00" name="Equation" r:id="rId3" imgW="1498320" imgH="203040" progId="Equation.3">
                  <p:embed/>
                </p:oleObj>
              </mc:Choice>
              <mc:Fallback>
                <p:oleObj name="Equation" r:id="rId3" imgW="149832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081" y="4940110"/>
                        <a:ext cx="4175125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7299631"/>
              </p:ext>
            </p:extLst>
          </p:nvPr>
        </p:nvGraphicFramePr>
        <p:xfrm>
          <a:off x="6157501" y="5681769"/>
          <a:ext cx="2881313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01" name="Equation" r:id="rId5" imgW="1320480" imgH="177480" progId="Equation.3">
                  <p:embed/>
                </p:oleObj>
              </mc:Choice>
              <mc:Fallback>
                <p:oleObj name="Equation" r:id="rId5" imgW="132048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7501" y="5681769"/>
                        <a:ext cx="2881313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7771803"/>
              </p:ext>
            </p:extLst>
          </p:nvPr>
        </p:nvGraphicFramePr>
        <p:xfrm>
          <a:off x="394081" y="5549026"/>
          <a:ext cx="3490912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02" name="Equation" r:id="rId7" imgW="1600200" imgH="177480" progId="Equation.3">
                  <p:embed/>
                </p:oleObj>
              </mc:Choice>
              <mc:Fallback>
                <p:oleObj name="Equation" r:id="rId7" imgW="160020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081" y="5549026"/>
                        <a:ext cx="3490912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1638962"/>
              </p:ext>
            </p:extLst>
          </p:nvPr>
        </p:nvGraphicFramePr>
        <p:xfrm>
          <a:off x="6159089" y="5114446"/>
          <a:ext cx="4156075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03" name="Equation" r:id="rId9" imgW="1904760" imgH="203040" progId="Equation.3">
                  <p:embed/>
                </p:oleObj>
              </mc:Choice>
              <mc:Fallback>
                <p:oleObj name="Equation" r:id="rId9" imgW="190476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9089" y="5114446"/>
                        <a:ext cx="4156075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4747351"/>
              </p:ext>
            </p:extLst>
          </p:nvPr>
        </p:nvGraphicFramePr>
        <p:xfrm>
          <a:off x="563754" y="5976967"/>
          <a:ext cx="2216150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04" name="Equation" r:id="rId11" imgW="1015920" imgH="393480" progId="Equation.3">
                  <p:embed/>
                </p:oleObj>
              </mc:Choice>
              <mc:Fallback>
                <p:oleObj name="Equation" r:id="rId11" imgW="101592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754" y="5976967"/>
                        <a:ext cx="2216150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797887"/>
              </p:ext>
            </p:extLst>
          </p:nvPr>
        </p:nvGraphicFramePr>
        <p:xfrm>
          <a:off x="3373788" y="6220436"/>
          <a:ext cx="282575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05" name="Equation" r:id="rId13" imgW="1295280" imgH="177480" progId="Equation.3">
                  <p:embed/>
                </p:oleObj>
              </mc:Choice>
              <mc:Fallback>
                <p:oleObj name="Equation" r:id="rId13" imgW="129528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3788" y="6220436"/>
                        <a:ext cx="2825750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31"/>
          <p:cNvSpPr txBox="1">
            <a:spLocks noChangeArrowheads="1"/>
          </p:cNvSpPr>
          <p:nvPr/>
        </p:nvSpPr>
        <p:spPr bwMode="auto">
          <a:xfrm>
            <a:off x="6842507" y="6199478"/>
            <a:ext cx="2447925" cy="584775"/>
          </a:xfrm>
          <a:prstGeom prst="rect">
            <a:avLst/>
          </a:prstGeom>
          <a:solidFill>
            <a:srgbClr val="FFFF00"/>
          </a:solidFill>
          <a:ln w="38100">
            <a:solidFill>
              <a:srgbClr val="0000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 sz="3200" dirty="0" smtClean="0">
                <a:latin typeface="Comic Sans MS" charset="0"/>
              </a:rPr>
              <a:t>Cos </a:t>
            </a:r>
            <a:r>
              <a:rPr lang="en-GB" altLang="x-none" sz="3200" baseline="30000" dirty="0" smtClean="0">
                <a:latin typeface="Comic Sans MS" charset="0"/>
              </a:rPr>
              <a:t>-1 </a:t>
            </a:r>
            <a:r>
              <a:rPr lang="en-GB" altLang="x-none" sz="3200" dirty="0" smtClean="0">
                <a:latin typeface="Comic Sans MS" charset="0"/>
              </a:rPr>
              <a:t>= </a:t>
            </a:r>
            <a:endParaRPr lang="en-GB" altLang="x-none" sz="3200" dirty="0">
              <a:latin typeface="Comic Sans MS" charset="0"/>
            </a:endParaRPr>
          </a:p>
        </p:txBody>
      </p:sp>
      <p:graphicFrame>
        <p:nvGraphicFramePr>
          <p:cNvPr id="23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5769829"/>
              </p:ext>
            </p:extLst>
          </p:nvPr>
        </p:nvGraphicFramePr>
        <p:xfrm>
          <a:off x="9619172" y="6211622"/>
          <a:ext cx="2187575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06" name="Equation" r:id="rId15" imgW="685800" imgH="177480" progId="Equation.3">
                  <p:embed/>
                </p:oleObj>
              </mc:Choice>
              <mc:Fallback>
                <p:oleObj name="Equation" r:id="rId15" imgW="68580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19172" y="6211622"/>
                        <a:ext cx="2187575" cy="566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33"/>
          <p:cNvSpPr txBox="1">
            <a:spLocks noChangeArrowheads="1"/>
          </p:cNvSpPr>
          <p:nvPr/>
        </p:nvSpPr>
        <p:spPr bwMode="auto">
          <a:xfrm>
            <a:off x="3998502" y="2589817"/>
            <a:ext cx="16557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x-none"/>
              <a:t>Not to scale</a:t>
            </a:r>
          </a:p>
        </p:txBody>
      </p:sp>
    </p:spTree>
    <p:extLst>
      <p:ext uri="{BB962C8B-B14F-4D97-AF65-F5344CB8AC3E}">
        <p14:creationId xmlns:p14="http://schemas.microsoft.com/office/powerpoint/2010/main" val="1186704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901700"/>
            <a:ext cx="9144000" cy="505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73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 smtClean="0"/>
              <a:t>Topic: Sine and cosine Rules</a:t>
            </a:r>
            <a:br>
              <a:rPr lang="en-US" dirty="0" smtClean="0"/>
            </a:br>
            <a:r>
              <a:rPr lang="en-US" dirty="0" smtClean="0"/>
              <a:t>EQ: What are the sine and cosine </a:t>
            </a:r>
            <a:r>
              <a:rPr lang="en-US" smtClean="0"/>
              <a:t>rules and when do we use them?</a:t>
            </a:r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0" y="5998464"/>
            <a:ext cx="12192000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0" y="5998464"/>
            <a:ext cx="14554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Summary:</a:t>
            </a:r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984600" y="2743200"/>
            <a:ext cx="1022279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3600" dirty="0" smtClean="0"/>
              <a:t>Homework: 10 ticks Sine and Cosine Law Worksheet</a:t>
            </a:r>
          </a:p>
          <a:p>
            <a:pPr marL="285750" indent="-285750">
              <a:buFont typeface="Arial" charset="0"/>
              <a:buChar char="•"/>
            </a:pPr>
            <a:endParaRPr lang="en-US" sz="3600" dirty="0"/>
          </a:p>
          <a:p>
            <a:pPr marL="285750" indent="-285750">
              <a:buFont typeface="Arial" charset="0"/>
              <a:buChar char="•"/>
            </a:pPr>
            <a:r>
              <a:rPr lang="en-US" sz="3600" dirty="0"/>
              <a:t>C</a:t>
            </a:r>
            <a:r>
              <a:rPr lang="en-US" sz="3600" dirty="0" smtClean="0"/>
              <a:t>omplete your summary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462749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ducation 16x9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ducation_16x9.potx" id="{AA5F22BC-61EA-4F01-AB22-75117871E196}" vid="{BD0EB374-1DDC-4F15-88A9-D386288C58A6}"/>
    </a:ext>
  </a:extLst>
</a:theme>
</file>

<file path=ppt/theme/theme2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1D5F340F01F94FA2FD29A5E6DC872E" ma:contentTypeVersion="0" ma:contentTypeDescription="Create a new document." ma:contentTypeScope="" ma:versionID="141aba3b8f8cb7f331be6546df69db5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f8e4ef66d87525153bd8907774ed28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896FEF9-821E-45A6-82F2-0B1CE4CD8CF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F7A874A-6E55-415B-9061-8B2D43DC2F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1BC99BC-3A63-4255-9D4F-38C5B80A3193}">
  <ds:schemaRefs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microsoft.com/office/2006/metadata/properties"/>
    <ds:schemaRef ds:uri="http://purl.org/dc/elements/1.1/"/>
    <ds:schemaRef ds:uri="http://purl.org/dc/dcmitype/"/>
    <ds:schemaRef ds:uri="http://schemas.openxmlformats.org/package/2006/metadata/core-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1254</Words>
  <Application>Microsoft Office PowerPoint</Application>
  <PresentationFormat>Widescreen</PresentationFormat>
  <Paragraphs>344</Paragraphs>
  <Slides>31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Calibri</vt:lpstr>
      <vt:lpstr>Comic Sans MS</vt:lpstr>
      <vt:lpstr>Times New Roman</vt:lpstr>
      <vt:lpstr>Wingdings</vt:lpstr>
      <vt:lpstr>Education 16x9</vt:lpstr>
      <vt:lpstr>Equation</vt:lpstr>
      <vt:lpstr>Topic: Sine and Cosine Rules</vt:lpstr>
      <vt:lpstr>Starter </vt:lpstr>
      <vt:lpstr>Topic: Sine and cosine Rules EQ: What are the sine and cosine rules and when do we use them?</vt:lpstr>
      <vt:lpstr>Topic: Sine and cosine Rules EQ: What are the sine and cosine rules and when do we use them?</vt:lpstr>
      <vt:lpstr>Topic: Sine and cosine Rules EQ: What are the sine and cosine rules and when do we use them?</vt:lpstr>
      <vt:lpstr>Topic: Sine and cosine Rules EQ: What are the sine and cosine rules and when do we use them?</vt:lpstr>
      <vt:lpstr>Topic: Sine and cosine Rules EQ: What are the sine and cosine rules and when do we use them?</vt:lpstr>
      <vt:lpstr>Topic: Sine and cosine Rules EQ: What are the sine and cosine rules and when do we use them?</vt:lpstr>
      <vt:lpstr>Topic: Sine and cosine Rules EQ: What are the sine and cosine rules and when do we use them?</vt:lpstr>
      <vt:lpstr>Topic: Sine and cosine Rules EQ: What are the sine and cosine rules and when do we use them?</vt:lpstr>
      <vt:lpstr>Topic: Sine and cosine Rules EQ: What are the sine and cosine rules and when do we use them?</vt:lpstr>
      <vt:lpstr>Topic: Sine and cosine Rules EQ: What are the sine and cosine rules and when do we use them?</vt:lpstr>
      <vt:lpstr>PowerPoint Presentation</vt:lpstr>
      <vt:lpstr>Topic: Sine and cosine Rules EQ: What are the sine and cosine rules and when do we use them?</vt:lpstr>
      <vt:lpstr>Topic: Sine and cosine Rules EQ: What are the sine and cosine rules and when do we use them?</vt:lpstr>
      <vt:lpstr>Topic: Sine and cosine Rules EQ: What are the sine and cosine rules and when do we use them?</vt:lpstr>
      <vt:lpstr>Topic: Sine and cosine Rules EQ: What are the sine and cosine rules and when do we use them?</vt:lpstr>
      <vt:lpstr>Topic: Sine and cosine Rules EQ: What are the sine and cosine rules and when do we use them?</vt:lpstr>
      <vt:lpstr>Topic: Sine and cosine Rules EQ: What are the sine and cosine rules and when do we use them?</vt:lpstr>
      <vt:lpstr>PowerPoint Presentation</vt:lpstr>
      <vt:lpstr>Topic: Sine and cosine Rules EQ: What are the sine and cosine rules and when do we use them?</vt:lpstr>
      <vt:lpstr>Topic: Sine and cosine Rules EQ: What are the sine and cosine rules and when do we use them?</vt:lpstr>
      <vt:lpstr>Topic: Sine and cosine Rules EQ: What are the sine and cosine rules and when do we use them?</vt:lpstr>
      <vt:lpstr>Topic: Sine and cosine Rules EQ: What are the sine and cosine rules and when do we use them?</vt:lpstr>
      <vt:lpstr>Topic: Sine and cosine Rules EQ: What are the sine and cosine rules and when do we use them?</vt:lpstr>
      <vt:lpstr>Topic: Sine and cosine Rules EQ: What are the sine and cosine rules and when do we use them?</vt:lpstr>
      <vt:lpstr>PowerPoint Presentation</vt:lpstr>
      <vt:lpstr>Topic: Sine and cosine Rules EQ: What are the sine and cosine rules and when do we use them?</vt:lpstr>
      <vt:lpstr>Topic: Sine and cosine Rules EQ: What are the sine and cosine rules and when do we use them?</vt:lpstr>
      <vt:lpstr>PowerPoint Presentation</vt:lpstr>
      <vt:lpstr>Topic: Sine and cosine Rules EQ: What are the sine and cosine rules and when do we use them?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2012-09-21T18:31:34Z</dcterms:created>
  <dcterms:modified xsi:type="dcterms:W3CDTF">2018-09-12T04:35:30Z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0x0101007C1D5F340F01F94FA2FD29A5E6DC872E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
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68" r:id="rId2"/>
    <p:sldId id="269" r:id="rId3"/>
    <p:sldId id="270" r:id="rId4"/>
    <p:sldId id="271" r:id="rId5"/>
    <p:sldId id="263" r:id="rId6"/>
    <p:sldId id="264" r:id="rId7"/>
    <p:sldId id="257" r:id="rId8"/>
    <p:sldId id="258" r:id="rId9"/>
    <p:sldId id="272" r:id="rId10"/>
    <p:sldId id="273" r:id="rId11"/>
    <p:sldId id="274" r:id="rId12"/>
    <p:sldId id="266" r:id="rId13"/>
    <p:sldId id="279" r:id="rId14"/>
    <p:sldId id="276" r:id="rId15"/>
    <p:sldId id="275" r:id="rId16"/>
    <p:sldId id="277" r:id="rId17"/>
    <p:sldId id="278" r:id="rId18"/>
    <p:sldId id="262" r:id="rId19"/>
    <p:sldId id="265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46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4AA477-598F-4CCF-8F1A-33D43F97EEB0}" type="datetimeFigureOut">
              <a:rPr lang="en-AU" smtClean="0"/>
              <a:t>20/03/2018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1AD3D9-0B11-4189-8D45-47537C1CF88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60729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Lesson</a:t>
            </a:r>
            <a:r>
              <a:rPr lang="en-AU" baseline="0" dirty="0"/>
              <a:t> objective (EQ)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115308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Students need worksheet ‘</a:t>
            </a:r>
            <a:r>
              <a:rPr lang="en-AU" dirty="0" err="1"/>
              <a:t>AreaFormula</a:t>
            </a:r>
            <a:r>
              <a:rPr lang="en-AU" dirty="0"/>
              <a:t>’ once completed students need to glue into note book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34133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Each click reveals the correct formula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58631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Lesson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34270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Lesson</a:t>
            </a:r>
            <a:r>
              <a:rPr lang="en-AU" baseline="0" dirty="0"/>
              <a:t> objective (EQ)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189061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Lesson</a:t>
            </a:r>
            <a:r>
              <a:rPr lang="en-AU" baseline="0" dirty="0"/>
              <a:t> objective (EQ)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9612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Lesson</a:t>
            </a:r>
            <a:r>
              <a:rPr lang="en-AU" baseline="0" dirty="0"/>
              <a:t> objective (EQ)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45323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Check</a:t>
            </a:r>
            <a:r>
              <a:rPr lang="en-AU" baseline="0" dirty="0"/>
              <a:t> for understanding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168848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Handout – ‘</a:t>
            </a:r>
            <a:r>
              <a:rPr lang="en-AU" dirty="0" err="1"/>
              <a:t>AreaReviewWorksheet</a:t>
            </a:r>
            <a:r>
              <a:rPr lang="en-AU" dirty="0"/>
              <a:t>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065444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Lesson</a:t>
            </a:r>
            <a:r>
              <a:rPr lang="en-AU" baseline="0" dirty="0"/>
              <a:t> objective (EQ)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563141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Lesson</a:t>
            </a:r>
            <a:r>
              <a:rPr lang="en-AU" baseline="0" dirty="0"/>
              <a:t> objective (EQ)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549563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Lesson</a:t>
            </a:r>
            <a:r>
              <a:rPr lang="en-AU" baseline="0" dirty="0"/>
              <a:t> objective (EQ)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4425790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Check</a:t>
            </a:r>
            <a:r>
              <a:rPr lang="en-AU" baseline="0" dirty="0"/>
              <a:t> for understanding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2043894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Independent practice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4669399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Closure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06510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20/03/2018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736294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20/03/2018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8002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20/03/2018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47504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20/03/2018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5079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20/03/2018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32040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20/03/2018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7742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20/03/2018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3289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20/03/2018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09211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20/03/2018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43380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20/03/2018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636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20/03/2018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92835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971031-8C33-4876-9169-26F597F7E7C1}" type="datetimeFigureOut">
              <a:rPr lang="en-AU" smtClean="0"/>
              <a:t>20/03/2018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5598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/>
              <a:t>My Measurement</a:t>
            </a:r>
            <a:br>
              <a:rPr lang="en-AU" dirty="0"/>
            </a:br>
            <a:r>
              <a:rPr lang="en-AU" dirty="0"/>
              <a:t>Interactive Notebook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pPr algn="l"/>
            <a:r>
              <a:rPr lang="en-AU" dirty="0"/>
              <a:t>Name </a:t>
            </a:r>
          </a:p>
          <a:p>
            <a:pPr algn="l"/>
            <a:r>
              <a:rPr lang="en-AU" dirty="0"/>
              <a:t>Class </a:t>
            </a:r>
          </a:p>
          <a:p>
            <a:pPr algn="l"/>
            <a:r>
              <a:rPr lang="en-AU" dirty="0"/>
              <a:t>Teacher </a:t>
            </a:r>
          </a:p>
          <a:p>
            <a:pPr algn="l"/>
            <a:r>
              <a:rPr lang="en-AU" dirty="0"/>
              <a:t>Term 1 Semester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p:pic>
        <p:nvPicPr>
          <p:cNvPr id="27650" name="Picture 2" descr="http://passyworldofmathematics.com/Images/pwmImagesFour/ConvertMetricTwo550x392JPG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580112" y="3861048"/>
            <a:ext cx="3181262" cy="2267372"/>
          </a:xfrm>
          <a:prstGeom prst="rect">
            <a:avLst/>
          </a:prstGeom>
          <a:noFill/>
        </p:spPr>
      </p:pic>
      <p:pic>
        <p:nvPicPr>
          <p:cNvPr id="27652" name="Picture 4" descr="http://passyworldofmathematics.com/Images/pwmImagesFour/ConvertMetricOne550x407JPG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1628800"/>
            <a:ext cx="2976265" cy="220243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3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Page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Description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Glossary or Formula Page</a:t>
            </a:r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3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7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/>
              <a:t>24</a:t>
            </a:r>
          </a:p>
          <a:p>
            <a:r>
              <a:rPr lang="en-AU" sz="1000" dirty="0"/>
              <a:t>7</a:t>
            </a:r>
          </a:p>
          <a:p>
            <a:r>
              <a:rPr lang="en-AU" sz="1000" dirty="0"/>
              <a:t>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Essential Question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Notes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Questions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Summary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Tasks</a:t>
            </a:r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1548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Area Revision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you calculate the area of regular shapes</a:t>
            </a:r>
          </a:p>
        </p:txBody>
      </p:sp>
    </p:spTree>
    <p:extLst>
      <p:ext uri="{BB962C8B-B14F-4D97-AF65-F5344CB8AC3E}">
        <p14:creationId xmlns:p14="http://schemas.microsoft.com/office/powerpoint/2010/main" val="24587849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3600" dirty="0"/>
              <a:t>Match-Up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AU" sz="2400" dirty="0"/>
              <a:t>Match the following formula’s with the correct shapes</a:t>
            </a:r>
          </a:p>
          <a:p>
            <a:pPr marL="0" indent="0">
              <a:buNone/>
            </a:pP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5014708-CC79-4C53-9F5A-695A684D4D5D}"/>
                  </a:ext>
                </a:extLst>
              </p:cNvPr>
              <p:cNvSpPr txBox="1"/>
              <p:nvPr/>
            </p:nvSpPr>
            <p:spPr>
              <a:xfrm>
                <a:off x="1475656" y="2492896"/>
                <a:ext cx="1440160" cy="634789"/>
              </a:xfrm>
              <a:prstGeom prst="rect">
                <a:avLst/>
              </a:prstGeom>
              <a:noFill/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360</m:t>
                          </m:r>
                        </m:den>
                      </m:f>
                      <m:r>
                        <a:rPr lang="en-AU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sSup>
                        <m:sSupPr>
                          <m:ctrlPr>
                            <a:rPr lang="en-AU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5014708-CC79-4C53-9F5A-695A684D4D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5656" y="2492896"/>
                <a:ext cx="1440160" cy="63478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98313BA-9875-4215-8A81-F286BBFD889D}"/>
                  </a:ext>
                </a:extLst>
              </p:cNvPr>
              <p:cNvSpPr txBox="1"/>
              <p:nvPr/>
            </p:nvSpPr>
            <p:spPr>
              <a:xfrm>
                <a:off x="3716259" y="3073498"/>
                <a:ext cx="544771" cy="369332"/>
              </a:xfrm>
              <a:prstGeom prst="rect">
                <a:avLst/>
              </a:prstGeom>
              <a:noFill/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98313BA-9875-4215-8A81-F286BBFD88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6259" y="3073498"/>
                <a:ext cx="544771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FDF9B02-EB57-448A-B479-03ECB6CCEDBB}"/>
                  </a:ext>
                </a:extLst>
              </p:cNvPr>
              <p:cNvSpPr txBox="1"/>
              <p:nvPr/>
            </p:nvSpPr>
            <p:spPr>
              <a:xfrm>
                <a:off x="6765058" y="3575808"/>
                <a:ext cx="1008112" cy="634789"/>
              </a:xfrm>
              <a:prstGeom prst="rect">
                <a:avLst/>
              </a:prstGeom>
              <a:noFill/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FDF9B02-EB57-448A-B479-03ECB6CCED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5058" y="3575808"/>
                <a:ext cx="1008112" cy="63478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F569FF7-1E13-4D7C-8222-5FFD34C5E953}"/>
                  </a:ext>
                </a:extLst>
              </p:cNvPr>
              <p:cNvSpPr txBox="1"/>
              <p:nvPr/>
            </p:nvSpPr>
            <p:spPr>
              <a:xfrm>
                <a:off x="1475656" y="3441278"/>
                <a:ext cx="1224136" cy="369332"/>
              </a:xfrm>
              <a:prstGeom prst="rect">
                <a:avLst/>
              </a:prstGeom>
              <a:noFill/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F569FF7-1E13-4D7C-8222-5FFD34C5E9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5656" y="3441278"/>
                <a:ext cx="1224136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5195A70-25BA-4797-9B56-F3782065508A}"/>
                  </a:ext>
                </a:extLst>
              </p:cNvPr>
              <p:cNvSpPr txBox="1"/>
              <p:nvPr/>
            </p:nvSpPr>
            <p:spPr>
              <a:xfrm>
                <a:off x="3203848" y="3816306"/>
                <a:ext cx="1215752" cy="634789"/>
              </a:xfrm>
              <a:prstGeom prst="rect">
                <a:avLst/>
              </a:prstGeom>
              <a:noFill/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5195A70-25BA-4797-9B56-F378206550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3848" y="3816306"/>
                <a:ext cx="1215752" cy="63478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87E4F34-1A97-4247-8597-34593078E36F}"/>
                  </a:ext>
                </a:extLst>
              </p:cNvPr>
              <p:cNvSpPr txBox="1"/>
              <p:nvPr/>
            </p:nvSpPr>
            <p:spPr>
              <a:xfrm>
                <a:off x="3356955" y="2338921"/>
                <a:ext cx="1224136" cy="369332"/>
              </a:xfrm>
              <a:prstGeom prst="rect">
                <a:avLst/>
              </a:prstGeom>
              <a:noFill/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87E4F34-1A97-4247-8597-34593078E3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6955" y="2338921"/>
                <a:ext cx="1224136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3302E0E-7A6F-4D2F-9147-17755BCDE5C9}"/>
                  </a:ext>
                </a:extLst>
              </p:cNvPr>
              <p:cNvSpPr txBox="1"/>
              <p:nvPr/>
            </p:nvSpPr>
            <p:spPr>
              <a:xfrm>
                <a:off x="5317006" y="2506123"/>
                <a:ext cx="1224136" cy="610936"/>
              </a:xfrm>
              <a:prstGeom prst="rect">
                <a:avLst/>
              </a:prstGeom>
              <a:noFill/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3302E0E-7A6F-4D2F-9147-17755BCDE5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7006" y="2506123"/>
                <a:ext cx="1224136" cy="61093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8CF2805-C43D-48ED-8F0A-896B141440D8}"/>
                  </a:ext>
                </a:extLst>
              </p:cNvPr>
              <p:cNvSpPr txBox="1"/>
              <p:nvPr/>
            </p:nvSpPr>
            <p:spPr>
              <a:xfrm>
                <a:off x="4928579" y="3467238"/>
                <a:ext cx="1224136" cy="369332"/>
              </a:xfrm>
              <a:prstGeom prst="rect">
                <a:avLst/>
              </a:prstGeom>
              <a:noFill/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sSup>
                        <m:sSupPr>
                          <m:ctrlPr>
                            <a:rPr lang="en-AU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8CF2805-C43D-48ED-8F0A-896B141440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8579" y="3467238"/>
                <a:ext cx="1224136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006712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1548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Area Revision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you calculate the area of regular shapes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A6AB25-30B3-4A98-AD6F-7B59CAE9B4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0948" y="2060848"/>
            <a:ext cx="6115904" cy="3724795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A6A76CF-CA01-4E55-AA81-C0CB1C7087C3}"/>
              </a:ext>
            </a:extLst>
          </p:cNvPr>
          <p:cNvSpPr/>
          <p:nvPr/>
        </p:nvSpPr>
        <p:spPr>
          <a:xfrm>
            <a:off x="2771800" y="2371609"/>
            <a:ext cx="1368152" cy="4723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3739281-2AFC-4FC4-A73C-C34A9DF29D3C}"/>
              </a:ext>
            </a:extLst>
          </p:cNvPr>
          <p:cNvSpPr/>
          <p:nvPr/>
        </p:nvSpPr>
        <p:spPr>
          <a:xfrm>
            <a:off x="4244664" y="2380572"/>
            <a:ext cx="1368152" cy="4723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580D802-58DF-4095-9EF4-8EAAEBFDEDE3}"/>
              </a:ext>
            </a:extLst>
          </p:cNvPr>
          <p:cNvSpPr/>
          <p:nvPr/>
        </p:nvSpPr>
        <p:spPr>
          <a:xfrm>
            <a:off x="5717528" y="2371609"/>
            <a:ext cx="1368152" cy="4723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717790E-57CE-4C20-BDA9-1939EDCAB0EE}"/>
              </a:ext>
            </a:extLst>
          </p:cNvPr>
          <p:cNvSpPr/>
          <p:nvPr/>
        </p:nvSpPr>
        <p:spPr>
          <a:xfrm>
            <a:off x="7247190" y="2361103"/>
            <a:ext cx="1368152" cy="4723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901C70C-1C37-4167-9EFF-8A82DC72BDD8}"/>
              </a:ext>
            </a:extLst>
          </p:cNvPr>
          <p:cNvSpPr/>
          <p:nvPr/>
        </p:nvSpPr>
        <p:spPr>
          <a:xfrm>
            <a:off x="2775009" y="4000752"/>
            <a:ext cx="1368152" cy="4723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4039EEE-499F-4A26-B2B6-2E42C3C4CC44}"/>
              </a:ext>
            </a:extLst>
          </p:cNvPr>
          <p:cNvSpPr/>
          <p:nvPr/>
        </p:nvSpPr>
        <p:spPr>
          <a:xfrm>
            <a:off x="4283968" y="4011903"/>
            <a:ext cx="1368152" cy="4723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525D44A-FBE8-4120-8D2D-99210B68BAF0}"/>
              </a:ext>
            </a:extLst>
          </p:cNvPr>
          <p:cNvSpPr/>
          <p:nvPr/>
        </p:nvSpPr>
        <p:spPr>
          <a:xfrm>
            <a:off x="5761473" y="3990657"/>
            <a:ext cx="1368152" cy="4723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2A9E287-033F-459E-97A6-113BEB3F516D}"/>
              </a:ext>
            </a:extLst>
          </p:cNvPr>
          <p:cNvSpPr/>
          <p:nvPr/>
        </p:nvSpPr>
        <p:spPr>
          <a:xfrm>
            <a:off x="7238978" y="4013097"/>
            <a:ext cx="1368152" cy="4723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1455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6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11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16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21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26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31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36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6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41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Lesson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By the end of this lesson you will be able to;</a:t>
            </a:r>
          </a:p>
          <a:p>
            <a:pPr marL="0" indent="0">
              <a:buNone/>
            </a:pPr>
            <a:r>
              <a:rPr lang="en-AU" dirty="0"/>
              <a:t>- Calculate the area of a variety of shapes</a:t>
            </a:r>
          </a:p>
        </p:txBody>
      </p:sp>
    </p:spTree>
    <p:extLst>
      <p:ext uri="{BB962C8B-B14F-4D97-AF65-F5344CB8AC3E}">
        <p14:creationId xmlns:p14="http://schemas.microsoft.com/office/powerpoint/2010/main" val="11679798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Success Criteria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You will know you are successful in achieving the objective by…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Being able to calculate the area of a variety of shapes.</a:t>
            </a:r>
          </a:p>
        </p:txBody>
      </p:sp>
    </p:spTree>
    <p:extLst>
      <p:ext uri="{BB962C8B-B14F-4D97-AF65-F5344CB8AC3E}">
        <p14:creationId xmlns:p14="http://schemas.microsoft.com/office/powerpoint/2010/main" val="32093972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1548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Area Revision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you calculate the area of regular shapes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B519DB-FD01-466C-99E3-3235E22F1D21}"/>
              </a:ext>
            </a:extLst>
          </p:cNvPr>
          <p:cNvSpPr txBox="1"/>
          <p:nvPr/>
        </p:nvSpPr>
        <p:spPr>
          <a:xfrm>
            <a:off x="3270437" y="2348880"/>
            <a:ext cx="555003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The process for calculating the area of a shape is</a:t>
            </a:r>
          </a:p>
          <a:p>
            <a:endParaRPr lang="en-AU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AU" dirty="0"/>
              <a:t>Identify the shape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AU" dirty="0"/>
              <a:t>Select the correct formula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AU" dirty="0"/>
              <a:t>Make sure the units are the same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AU" dirty="0"/>
              <a:t>Substitute the values into the formula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AU" dirty="0"/>
              <a:t>Calculate the area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AU" dirty="0"/>
              <a:t>Remember to include the units</a:t>
            </a:r>
            <a:r>
              <a:rPr lang="en-AU" baseline="30000" dirty="0"/>
              <a:t>2</a:t>
            </a:r>
            <a:r>
              <a:rPr lang="en-AU" dirty="0"/>
              <a:t> in your answer</a:t>
            </a:r>
          </a:p>
        </p:txBody>
      </p:sp>
    </p:spTree>
    <p:extLst>
      <p:ext uri="{BB962C8B-B14F-4D97-AF65-F5344CB8AC3E}">
        <p14:creationId xmlns:p14="http://schemas.microsoft.com/office/powerpoint/2010/main" val="2652258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1548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Area Revision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you calculate the area of regular shapes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FA3C8E-31BA-459E-9F65-BFF7B9AEB718}"/>
              </a:ext>
            </a:extLst>
          </p:cNvPr>
          <p:cNvSpPr txBox="1"/>
          <p:nvPr/>
        </p:nvSpPr>
        <p:spPr>
          <a:xfrm>
            <a:off x="3059832" y="2276872"/>
            <a:ext cx="583264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Calculate the area of the following shape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                            </a:t>
            </a:r>
            <a:r>
              <a:rPr lang="en-AU" sz="1600" dirty="0"/>
              <a:t>12cm</a:t>
            </a:r>
          </a:p>
          <a:p>
            <a:endParaRPr lang="en-AU" dirty="0"/>
          </a:p>
          <a:p>
            <a:r>
              <a:rPr lang="en-AU" dirty="0"/>
              <a:t>Formula is Area = l x w</a:t>
            </a:r>
          </a:p>
          <a:p>
            <a:endParaRPr lang="en-AU" dirty="0"/>
          </a:p>
          <a:p>
            <a:r>
              <a:rPr lang="en-AU" dirty="0"/>
              <a:t>Substitute the values into the formula</a:t>
            </a:r>
          </a:p>
          <a:p>
            <a:r>
              <a:rPr lang="en-AU" dirty="0"/>
              <a:t>                    Area = 12cm x 5cm</a:t>
            </a:r>
          </a:p>
          <a:p>
            <a:r>
              <a:rPr lang="en-AU" dirty="0"/>
              <a:t>                    Area = 60cm </a:t>
            </a:r>
            <a:r>
              <a:rPr lang="en-AU" baseline="30000" dirty="0"/>
              <a:t>2</a:t>
            </a:r>
          </a:p>
          <a:p>
            <a:endParaRPr lang="en-AU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B970DCA-D72E-4AC0-9E6F-8946BB037BC1}"/>
              </a:ext>
            </a:extLst>
          </p:cNvPr>
          <p:cNvSpPr/>
          <p:nvPr/>
        </p:nvSpPr>
        <p:spPr>
          <a:xfrm>
            <a:off x="3270437" y="2924944"/>
            <a:ext cx="3605819" cy="136815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0349E5E-DB44-40D0-9BA7-7DF3D4D5A8CF}"/>
              </a:ext>
            </a:extLst>
          </p:cNvPr>
          <p:cNvSpPr txBox="1"/>
          <p:nvPr/>
        </p:nvSpPr>
        <p:spPr>
          <a:xfrm>
            <a:off x="7020272" y="3501008"/>
            <a:ext cx="5760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5cm</a:t>
            </a:r>
          </a:p>
        </p:txBody>
      </p:sp>
    </p:spTree>
    <p:extLst>
      <p:ext uri="{BB962C8B-B14F-4D97-AF65-F5344CB8AC3E}">
        <p14:creationId xmlns:p14="http://schemas.microsoft.com/office/powerpoint/2010/main" val="3759931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1548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Area Revision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you calculate the area of regular shapes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FA3C8E-31BA-459E-9F65-BFF7B9AEB718}"/>
              </a:ext>
            </a:extLst>
          </p:cNvPr>
          <p:cNvSpPr txBox="1"/>
          <p:nvPr/>
        </p:nvSpPr>
        <p:spPr>
          <a:xfrm>
            <a:off x="3059832" y="2276872"/>
            <a:ext cx="5832648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Calculate the area of the following shape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                            </a:t>
            </a:r>
            <a:r>
              <a:rPr lang="en-AU" sz="1600" dirty="0"/>
              <a:t>12cm</a:t>
            </a:r>
          </a:p>
          <a:p>
            <a:endParaRPr lang="en-AU" dirty="0"/>
          </a:p>
          <a:p>
            <a:r>
              <a:rPr lang="en-AU" dirty="0"/>
              <a:t>Change 50mm to _______ cm</a:t>
            </a:r>
          </a:p>
          <a:p>
            <a:endParaRPr lang="en-AU" dirty="0"/>
          </a:p>
          <a:p>
            <a:r>
              <a:rPr lang="en-AU" dirty="0"/>
              <a:t>Formula is Area = l x w</a:t>
            </a:r>
          </a:p>
          <a:p>
            <a:r>
              <a:rPr lang="en-AU" dirty="0"/>
              <a:t>Substitute the values into the formula</a:t>
            </a:r>
          </a:p>
          <a:p>
            <a:r>
              <a:rPr lang="en-AU" dirty="0"/>
              <a:t>                    Area = 12cm x 5cm</a:t>
            </a:r>
          </a:p>
          <a:p>
            <a:r>
              <a:rPr lang="en-AU" dirty="0"/>
              <a:t>                    Area = 60cm </a:t>
            </a:r>
            <a:r>
              <a:rPr lang="en-AU" baseline="30000" dirty="0"/>
              <a:t>2</a:t>
            </a:r>
          </a:p>
          <a:p>
            <a:endParaRPr lang="en-AU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B970DCA-D72E-4AC0-9E6F-8946BB037BC1}"/>
              </a:ext>
            </a:extLst>
          </p:cNvPr>
          <p:cNvSpPr/>
          <p:nvPr/>
        </p:nvSpPr>
        <p:spPr>
          <a:xfrm>
            <a:off x="3270437" y="2924944"/>
            <a:ext cx="3605819" cy="136815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0349E5E-DB44-40D0-9BA7-7DF3D4D5A8CF}"/>
              </a:ext>
            </a:extLst>
          </p:cNvPr>
          <p:cNvSpPr txBox="1"/>
          <p:nvPr/>
        </p:nvSpPr>
        <p:spPr>
          <a:xfrm>
            <a:off x="7020272" y="3501008"/>
            <a:ext cx="7920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50mm</a:t>
            </a:r>
          </a:p>
        </p:txBody>
      </p:sp>
      <p:sp>
        <p:nvSpPr>
          <p:cNvPr id="13" name="Speech Bubble: Oval 12">
            <a:extLst>
              <a:ext uri="{FF2B5EF4-FFF2-40B4-BE49-F238E27FC236}">
                <a16:creationId xmlns:a16="http://schemas.microsoft.com/office/drawing/2014/main" id="{3ADC8D65-F2E9-45D8-BACB-F86C503ED6B6}"/>
              </a:ext>
            </a:extLst>
          </p:cNvPr>
          <p:cNvSpPr/>
          <p:nvPr/>
        </p:nvSpPr>
        <p:spPr>
          <a:xfrm rot="8758045">
            <a:off x="6808242" y="3993925"/>
            <a:ext cx="1919360" cy="1954523"/>
          </a:xfrm>
          <a:prstGeom prst="wedgeEllipseCallou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C348546-7A5C-4F4A-898C-7E855CE3A378}"/>
              </a:ext>
            </a:extLst>
          </p:cNvPr>
          <p:cNvSpPr txBox="1"/>
          <p:nvPr/>
        </p:nvSpPr>
        <p:spPr>
          <a:xfrm>
            <a:off x="7236296" y="4293096"/>
            <a:ext cx="129614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Make sure the units are the same before calculating</a:t>
            </a:r>
          </a:p>
        </p:txBody>
      </p:sp>
    </p:spTree>
    <p:extLst>
      <p:ext uri="{BB962C8B-B14F-4D97-AF65-F5344CB8AC3E}">
        <p14:creationId xmlns:p14="http://schemas.microsoft.com/office/powerpoint/2010/main" val="2693013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2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20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0" dur="20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5" dur="20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19672" y="404664"/>
            <a:ext cx="57606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000" dirty="0"/>
              <a:t>Shoulder Check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10E097-9796-4ED1-8A39-273B863E6033}"/>
              </a:ext>
            </a:extLst>
          </p:cNvPr>
          <p:cNvSpPr txBox="1"/>
          <p:nvPr/>
        </p:nvSpPr>
        <p:spPr>
          <a:xfrm>
            <a:off x="1475656" y="1772816"/>
            <a:ext cx="676875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Check that the person next to you has all the notes written down.</a:t>
            </a:r>
          </a:p>
          <a:p>
            <a:endParaRPr lang="en-AU" dirty="0"/>
          </a:p>
          <a:p>
            <a:r>
              <a:rPr lang="en-AU" dirty="0"/>
              <a:t>Are they ready to move on?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</p:txBody>
      </p:sp>
      <p:sp>
        <p:nvSpPr>
          <p:cNvPr id="4" name="Arrow: Up 3">
            <a:extLst>
              <a:ext uri="{FF2B5EF4-FFF2-40B4-BE49-F238E27FC236}">
                <a16:creationId xmlns:a16="http://schemas.microsoft.com/office/drawing/2014/main" id="{259CD001-517D-41BA-BE57-3E92332E6C4C}"/>
              </a:ext>
            </a:extLst>
          </p:cNvPr>
          <p:cNvSpPr/>
          <p:nvPr/>
        </p:nvSpPr>
        <p:spPr>
          <a:xfrm>
            <a:off x="2469846" y="3284984"/>
            <a:ext cx="1944216" cy="1944216"/>
          </a:xfrm>
          <a:prstGeom prst="up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Arrow: Up 4">
            <a:extLst>
              <a:ext uri="{FF2B5EF4-FFF2-40B4-BE49-F238E27FC236}">
                <a16:creationId xmlns:a16="http://schemas.microsoft.com/office/drawing/2014/main" id="{59F796A7-5D99-4FDA-9908-4A4DC77E84C3}"/>
              </a:ext>
            </a:extLst>
          </p:cNvPr>
          <p:cNvSpPr/>
          <p:nvPr/>
        </p:nvSpPr>
        <p:spPr>
          <a:xfrm rot="10800000">
            <a:off x="5580112" y="3284984"/>
            <a:ext cx="1944216" cy="1944216"/>
          </a:xfrm>
          <a:prstGeom prst="up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0B2661-8AF7-4B17-81F5-4108F427803A}"/>
              </a:ext>
            </a:extLst>
          </p:cNvPr>
          <p:cNvSpPr txBox="1"/>
          <p:nvPr/>
        </p:nvSpPr>
        <p:spPr>
          <a:xfrm>
            <a:off x="3815915" y="2780928"/>
            <a:ext cx="20882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/>
              <a:t>Thumbs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F36C0A-B350-4A8C-895D-9D1D2A2032B6}"/>
              </a:ext>
            </a:extLst>
          </p:cNvPr>
          <p:cNvSpPr txBox="1"/>
          <p:nvPr/>
        </p:nvSpPr>
        <p:spPr>
          <a:xfrm>
            <a:off x="3059832" y="3933056"/>
            <a:ext cx="756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/>
              <a:t>Yes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74645D-CAC9-48C2-BEDF-18DD799B97A8}"/>
              </a:ext>
            </a:extLst>
          </p:cNvPr>
          <p:cNvSpPr txBox="1"/>
          <p:nvPr/>
        </p:nvSpPr>
        <p:spPr>
          <a:xfrm>
            <a:off x="6264187" y="4257092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/>
              <a:t>No</a:t>
            </a:r>
          </a:p>
        </p:txBody>
      </p:sp>
    </p:spTree>
    <p:extLst>
      <p:ext uri="{BB962C8B-B14F-4D97-AF65-F5344CB8AC3E}">
        <p14:creationId xmlns:p14="http://schemas.microsoft.com/office/powerpoint/2010/main" val="36895439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Activity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E309579-30C1-4546-ACA5-881C10C822B6}"/>
              </a:ext>
            </a:extLst>
          </p:cNvPr>
          <p:cNvPicPr>
            <a:picLocks noGrp="1"/>
          </p:cNvPicPr>
          <p:nvPr>
            <p:ph idx="1"/>
          </p:nvPr>
        </p:nvPicPr>
        <p:blipFill rotWithShape="1">
          <a:blip r:embed="rId3"/>
          <a:srcRect l="43514" t="48678" r="27800" b="34874"/>
          <a:stretch/>
        </p:blipFill>
        <p:spPr bwMode="auto">
          <a:xfrm>
            <a:off x="1619672" y="1556792"/>
            <a:ext cx="6048672" cy="259228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CE1A319-CB42-48BA-AEA8-BDABC573F8A8}"/>
              </a:ext>
            </a:extLst>
          </p:cNvPr>
          <p:cNvSpPr txBox="1"/>
          <p:nvPr/>
        </p:nvSpPr>
        <p:spPr>
          <a:xfrm>
            <a:off x="1403648" y="4653136"/>
            <a:ext cx="67687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Then do questions 5, 6, 7 &amp; 8 on both the front and back of the worksheet.</a:t>
            </a:r>
          </a:p>
        </p:txBody>
      </p:sp>
    </p:spTree>
    <p:extLst>
      <p:ext uri="{BB962C8B-B14F-4D97-AF65-F5344CB8AC3E}">
        <p14:creationId xmlns:p14="http://schemas.microsoft.com/office/powerpoint/2010/main" val="22843561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1548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Area Revision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you calculate the area of composite shapes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B519DB-FD01-466C-99E3-3235E22F1D21}"/>
              </a:ext>
            </a:extLst>
          </p:cNvPr>
          <p:cNvSpPr txBox="1"/>
          <p:nvPr/>
        </p:nvSpPr>
        <p:spPr>
          <a:xfrm>
            <a:off x="3270437" y="2348880"/>
            <a:ext cx="5550035" cy="43858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The process for calculating the area of a shape is</a:t>
            </a:r>
          </a:p>
          <a:p>
            <a:endParaRPr lang="en-AU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AU" dirty="0"/>
              <a:t>Break the shape into regular shapes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AU" dirty="0"/>
              <a:t>Identify each shape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AU" dirty="0"/>
              <a:t>Select the correct formula’s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AU" dirty="0"/>
              <a:t>Calculate the dimensions of each shape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AU" dirty="0"/>
              <a:t>Make sure the units are the same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AU" dirty="0"/>
              <a:t>Substitute the values into the formula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AU" dirty="0"/>
              <a:t>Calculate the area of each shape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AU" dirty="0"/>
              <a:t>Combine the area’s (add or subtract)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AU" dirty="0"/>
              <a:t>Remember to include the units</a:t>
            </a:r>
            <a:r>
              <a:rPr lang="en-AU" baseline="30000" dirty="0"/>
              <a:t>2</a:t>
            </a:r>
            <a:r>
              <a:rPr lang="en-AU" dirty="0"/>
              <a:t> in your answer</a:t>
            </a:r>
          </a:p>
        </p:txBody>
      </p:sp>
    </p:spTree>
    <p:extLst>
      <p:ext uri="{BB962C8B-B14F-4D97-AF65-F5344CB8AC3E}">
        <p14:creationId xmlns:p14="http://schemas.microsoft.com/office/powerpoint/2010/main" val="32701509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1548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Area Revision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you calculate the area of composite shapes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90E84BF-84EC-417C-AAD2-4B8FA9A0B771}"/>
                  </a:ext>
                </a:extLst>
              </p:cNvPr>
              <p:cNvSpPr txBox="1"/>
              <p:nvPr/>
            </p:nvSpPr>
            <p:spPr>
              <a:xfrm>
                <a:off x="3270437" y="2348880"/>
                <a:ext cx="5622043" cy="44645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Calculate the area of the following shape</a:t>
                </a:r>
              </a:p>
              <a:p>
                <a:endParaRPr lang="en-AU" dirty="0"/>
              </a:p>
              <a:p>
                <a:endParaRPr lang="en-AU" dirty="0"/>
              </a:p>
              <a:p>
                <a:endParaRPr lang="en-AU" dirty="0"/>
              </a:p>
              <a:p>
                <a:endParaRPr lang="en-AU" dirty="0"/>
              </a:p>
              <a:p>
                <a:endParaRPr lang="en-AU" dirty="0"/>
              </a:p>
              <a:p>
                <a:endParaRPr lang="en-AU" dirty="0"/>
              </a:p>
              <a:p>
                <a:r>
                  <a:rPr lang="en-AU" dirty="0"/>
                  <a:t>Break the shape into shapes you know the formula’s for</a:t>
                </a:r>
              </a:p>
              <a:p>
                <a:r>
                  <a:rPr lang="en-AU" dirty="0"/>
                  <a:t>Select the formula’s (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𝑤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AU" dirty="0"/>
                  <a:t>&amp;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AU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AU" dirty="0"/>
                  <a:t>)</a:t>
                </a:r>
              </a:p>
              <a:p>
                <a:r>
                  <a:rPr lang="en-AU" dirty="0"/>
                  <a:t>Work out dimensions: l=8cm;w=5cm;b=5cm;h=2cm</a:t>
                </a:r>
              </a:p>
              <a:p>
                <a:r>
                  <a:rPr lang="en-AU" dirty="0"/>
                  <a:t>Calculate area’s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𝑤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=8×5=40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5×2=5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  <a:p>
                <a:pPr>
                  <a:lnSpc>
                    <a:spcPct val="150000"/>
                  </a:lnSpc>
                </a:pPr>
                <a:r>
                  <a:rPr lang="en-AU" dirty="0"/>
                  <a:t>Area = 40 + 5 = 45cm</a:t>
                </a:r>
                <a:r>
                  <a:rPr lang="en-AU" baseline="30000" dirty="0"/>
                  <a:t>2</a:t>
                </a:r>
                <a:r>
                  <a:rPr lang="en-AU" dirty="0"/>
                  <a:t> 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90E84BF-84EC-417C-AAD2-4B8FA9A0B7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0437" y="2348880"/>
                <a:ext cx="5622043" cy="4464556"/>
              </a:xfrm>
              <a:prstGeom prst="rect">
                <a:avLst/>
              </a:prstGeom>
              <a:blipFill>
                <a:blip r:embed="rId3"/>
                <a:stretch>
                  <a:fillRect l="-867" t="-682" b="-13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Arrow: Pentagon 4">
            <a:extLst>
              <a:ext uri="{FF2B5EF4-FFF2-40B4-BE49-F238E27FC236}">
                <a16:creationId xmlns:a16="http://schemas.microsoft.com/office/drawing/2014/main" id="{F8ED6476-2F20-4E12-AA07-234524E6AD86}"/>
              </a:ext>
            </a:extLst>
          </p:cNvPr>
          <p:cNvSpPr/>
          <p:nvPr/>
        </p:nvSpPr>
        <p:spPr>
          <a:xfrm>
            <a:off x="4355976" y="2874914"/>
            <a:ext cx="2304256" cy="936104"/>
          </a:xfrm>
          <a:prstGeom prst="homePlat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9B54EA-6FD7-4B49-BF42-AA2DB5B920A9}"/>
              </a:ext>
            </a:extLst>
          </p:cNvPr>
          <p:cNvSpPr txBox="1"/>
          <p:nvPr/>
        </p:nvSpPr>
        <p:spPr>
          <a:xfrm>
            <a:off x="3707904" y="3212976"/>
            <a:ext cx="5040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5cm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A35CC37-F5B9-4F37-A77C-182B20E4382B}"/>
              </a:ext>
            </a:extLst>
          </p:cNvPr>
          <p:cNvSpPr txBox="1"/>
          <p:nvPr/>
        </p:nvSpPr>
        <p:spPr>
          <a:xfrm>
            <a:off x="5004918" y="3880364"/>
            <a:ext cx="5760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8cm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684D0AA-0BE4-457C-B621-A91D1B696C19}"/>
              </a:ext>
            </a:extLst>
          </p:cNvPr>
          <p:cNvCxnSpPr>
            <a:stCxn id="5" idx="1"/>
            <a:endCxn id="5" idx="3"/>
          </p:cNvCxnSpPr>
          <p:nvPr/>
        </p:nvCxnSpPr>
        <p:spPr>
          <a:xfrm>
            <a:off x="4355976" y="3342966"/>
            <a:ext cx="2304256" cy="0"/>
          </a:xfrm>
          <a:prstGeom prst="straightConnector1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08B2FA6-24B2-47AB-A7FB-F45FDBB26F52}"/>
              </a:ext>
            </a:extLst>
          </p:cNvPr>
          <p:cNvCxnSpPr/>
          <p:nvPr/>
        </p:nvCxnSpPr>
        <p:spPr>
          <a:xfrm>
            <a:off x="4429725" y="3887762"/>
            <a:ext cx="1726451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60167266-BD09-4C6D-9B7F-ABEF2E7D8970}"/>
              </a:ext>
            </a:extLst>
          </p:cNvPr>
          <p:cNvSpPr txBox="1"/>
          <p:nvPr/>
        </p:nvSpPr>
        <p:spPr>
          <a:xfrm>
            <a:off x="4951544" y="3056149"/>
            <a:ext cx="6480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10cm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9321ED3-1F34-4FFF-BFF3-900D92C60178}"/>
              </a:ext>
            </a:extLst>
          </p:cNvPr>
          <p:cNvCxnSpPr/>
          <p:nvPr/>
        </p:nvCxnSpPr>
        <p:spPr>
          <a:xfrm>
            <a:off x="6156176" y="2852936"/>
            <a:ext cx="0" cy="958082"/>
          </a:xfrm>
          <a:prstGeom prst="line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15363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1548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Area Revision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you calculate the area of composite shapes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90E84BF-84EC-417C-AAD2-4B8FA9A0B771}"/>
                  </a:ext>
                </a:extLst>
              </p:cNvPr>
              <p:cNvSpPr txBox="1"/>
              <p:nvPr/>
            </p:nvSpPr>
            <p:spPr>
              <a:xfrm>
                <a:off x="3236901" y="2024903"/>
                <a:ext cx="5622043" cy="45243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Calculate the area of the following shape (shaded part)</a:t>
                </a:r>
              </a:p>
              <a:p>
                <a:endParaRPr lang="en-AU" dirty="0"/>
              </a:p>
              <a:p>
                <a:endParaRPr lang="en-AU" dirty="0"/>
              </a:p>
              <a:p>
                <a:endParaRPr lang="en-AU" dirty="0"/>
              </a:p>
              <a:p>
                <a:endParaRPr lang="en-AU" dirty="0"/>
              </a:p>
              <a:p>
                <a:endParaRPr lang="en-AU" dirty="0"/>
              </a:p>
              <a:p>
                <a:endParaRPr lang="en-AU" dirty="0"/>
              </a:p>
              <a:p>
                <a:r>
                  <a:rPr lang="en-AU" dirty="0"/>
                  <a:t>Break the shape into shapes you know the formula’s for</a:t>
                </a:r>
              </a:p>
              <a:p>
                <a:r>
                  <a:rPr lang="en-AU" dirty="0"/>
                  <a:t>Select the formula’s (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𝑤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AU" dirty="0"/>
                  <a:t>&amp;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AU" b="0" i="0" smtClean="0">
                        <a:latin typeface="Cambria Math" panose="02040503050406030204" pitchFamily="18" charset="0"/>
                      </a:rPr>
                      <m:t>l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AU" dirty="0"/>
                  <a:t>)</a:t>
                </a:r>
              </a:p>
              <a:p>
                <a:r>
                  <a:rPr lang="en-AU" dirty="0"/>
                  <a:t>Work out dimensions: l=6cm;w=10cm;&amp;l=2cm;w=5cm</a:t>
                </a:r>
              </a:p>
              <a:p>
                <a:r>
                  <a:rPr lang="en-AU" dirty="0"/>
                  <a:t>Calculate area’s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𝑤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=6×10=60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𝑤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=2×5=10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  <a:p>
                <a:pPr>
                  <a:lnSpc>
                    <a:spcPct val="150000"/>
                  </a:lnSpc>
                </a:pPr>
                <a:endParaRPr lang="en-AU" dirty="0"/>
              </a:p>
              <a:p>
                <a:pPr algn="ctr">
                  <a:lnSpc>
                    <a:spcPct val="150000"/>
                  </a:lnSpc>
                </a:pPr>
                <a:r>
                  <a:rPr lang="en-AU" dirty="0"/>
                  <a:t>Area = 60 - 10 </a:t>
                </a:r>
                <a:r>
                  <a:rPr lang="en-AU"/>
                  <a:t>= 50m</a:t>
                </a:r>
                <a:r>
                  <a:rPr lang="en-AU" baseline="30000"/>
                  <a:t>2</a:t>
                </a:r>
                <a:r>
                  <a:rPr lang="en-AU"/>
                  <a:t> </a:t>
                </a:r>
                <a:endParaRPr lang="en-AU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90E84BF-84EC-417C-AAD2-4B8FA9A0B7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6901" y="2024903"/>
                <a:ext cx="5622043" cy="4524315"/>
              </a:xfrm>
              <a:prstGeom prst="rect">
                <a:avLst/>
              </a:prstGeom>
              <a:blipFill>
                <a:blip r:embed="rId3"/>
                <a:stretch>
                  <a:fillRect l="-976" t="-674" b="-27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>
            <a:extLst>
              <a:ext uri="{FF2B5EF4-FFF2-40B4-BE49-F238E27FC236}">
                <a16:creationId xmlns:a16="http://schemas.microsoft.com/office/drawing/2014/main" id="{0B4703C7-7735-4B5F-958E-B7C3EBC64329}"/>
              </a:ext>
            </a:extLst>
          </p:cNvPr>
          <p:cNvSpPr/>
          <p:nvPr/>
        </p:nvSpPr>
        <p:spPr>
          <a:xfrm>
            <a:off x="4018844" y="2461204"/>
            <a:ext cx="2232248" cy="122413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8A839F1-02A1-479C-98B0-17B4A8F4A2E4}"/>
              </a:ext>
            </a:extLst>
          </p:cNvPr>
          <p:cNvSpPr/>
          <p:nvPr/>
        </p:nvSpPr>
        <p:spPr>
          <a:xfrm>
            <a:off x="4450892" y="2742473"/>
            <a:ext cx="1368152" cy="576064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6FBE4B9-0CC6-4F95-B79D-9FFE990C6028}"/>
              </a:ext>
            </a:extLst>
          </p:cNvPr>
          <p:cNvSpPr txBox="1"/>
          <p:nvPr/>
        </p:nvSpPr>
        <p:spPr>
          <a:xfrm>
            <a:off x="3384470" y="2785316"/>
            <a:ext cx="5760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6m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C8A6A7D-02E2-49D0-8B01-BD8436945238}"/>
              </a:ext>
            </a:extLst>
          </p:cNvPr>
          <p:cNvSpPr txBox="1"/>
          <p:nvPr/>
        </p:nvSpPr>
        <p:spPr>
          <a:xfrm>
            <a:off x="4846936" y="3702337"/>
            <a:ext cx="5760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10m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E771375-82DD-42C2-B8FE-EB542CB7394F}"/>
              </a:ext>
            </a:extLst>
          </p:cNvPr>
          <p:cNvSpPr txBox="1"/>
          <p:nvPr/>
        </p:nvSpPr>
        <p:spPr>
          <a:xfrm>
            <a:off x="5759890" y="2919383"/>
            <a:ext cx="5760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2m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97A191D-05C3-406F-989D-EC99A71ADF84}"/>
              </a:ext>
            </a:extLst>
          </p:cNvPr>
          <p:cNvSpPr txBox="1"/>
          <p:nvPr/>
        </p:nvSpPr>
        <p:spPr>
          <a:xfrm>
            <a:off x="4846936" y="3272718"/>
            <a:ext cx="5760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5m</a:t>
            </a:r>
          </a:p>
        </p:txBody>
      </p:sp>
    </p:spTree>
    <p:extLst>
      <p:ext uri="{BB962C8B-B14F-4D97-AF65-F5344CB8AC3E}">
        <p14:creationId xmlns:p14="http://schemas.microsoft.com/office/powerpoint/2010/main" val="21134767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19672" y="1124744"/>
            <a:ext cx="57606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000" dirty="0"/>
              <a:t>Check for understanding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3B65FA3-0717-47C6-B4D8-88ADF67BAA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20" y="2636912"/>
            <a:ext cx="8748464" cy="2059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6903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Activity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AD48759-583D-4BB3-98CC-1A1EAFE67C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763688" y="1124744"/>
            <a:ext cx="5688632" cy="4896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264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Quick Write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AU" dirty="0"/>
              <a:t>Success Criteria </a:t>
            </a:r>
          </a:p>
          <a:p>
            <a:pPr marL="0" indent="0" algn="ctr">
              <a:buNone/>
            </a:pPr>
            <a:r>
              <a:rPr lang="en-AU" dirty="0"/>
              <a:t>- Being able to calculate the area of a variety of shapes.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Jot down 3 points that demonstrate you have meet the “Success Criteria”</a:t>
            </a:r>
          </a:p>
        </p:txBody>
      </p:sp>
    </p:spTree>
    <p:extLst>
      <p:ext uri="{BB962C8B-B14F-4D97-AF65-F5344CB8AC3E}">
        <p14:creationId xmlns:p14="http://schemas.microsoft.com/office/powerpoint/2010/main" val="28112399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845</TotalTime>
  <Words>773</Words>
  <Application>Microsoft Office PowerPoint</Application>
  <PresentationFormat>On-screen Show (4:3)</PresentationFormat>
  <Paragraphs>240</Paragraphs>
  <Slides>19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Cambria Math</vt:lpstr>
      <vt:lpstr>Wingdings</vt:lpstr>
      <vt:lpstr>Office Theme</vt:lpstr>
      <vt:lpstr>My Measurement Interactive Notebook</vt:lpstr>
      <vt:lpstr>PowerPoint Presentation</vt:lpstr>
      <vt:lpstr>PowerPoint Presentation</vt:lpstr>
      <vt:lpstr>PowerPoint Presentation</vt:lpstr>
      <vt:lpstr>Match-Up</vt:lpstr>
      <vt:lpstr>PowerPoint Presentation</vt:lpstr>
      <vt:lpstr>Lesson objective</vt:lpstr>
      <vt:lpstr>Success Criteria</vt:lpstr>
      <vt:lpstr>PowerPoint Presentation</vt:lpstr>
      <vt:lpstr>PowerPoint Presentation</vt:lpstr>
      <vt:lpstr>PowerPoint Presentation</vt:lpstr>
      <vt:lpstr>PowerPoint Presentation</vt:lpstr>
      <vt:lpstr>Activity</vt:lpstr>
      <vt:lpstr>PowerPoint Presentation</vt:lpstr>
      <vt:lpstr>PowerPoint Presentation</vt:lpstr>
      <vt:lpstr>PowerPoint Presentation</vt:lpstr>
      <vt:lpstr>PowerPoint Presentation</vt:lpstr>
      <vt:lpstr>Activity</vt:lpstr>
      <vt:lpstr>Quick Write</vt:lpstr>
    </vt:vector>
  </TitlesOfParts>
  <Company>The 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Mental set</dc:title>
  <dc:creator>MORGAN Adam</dc:creator>
  <cp:lastModifiedBy>KEEN Stephanie [Baldivis Secondary College]</cp:lastModifiedBy>
  <cp:revision>29</cp:revision>
  <dcterms:created xsi:type="dcterms:W3CDTF">2016-10-20T03:14:06Z</dcterms:created>
  <dcterms:modified xsi:type="dcterms:W3CDTF">2018-03-20T01:40:19Z</dcterms:modified>
</cp:coreProperties>
</file>
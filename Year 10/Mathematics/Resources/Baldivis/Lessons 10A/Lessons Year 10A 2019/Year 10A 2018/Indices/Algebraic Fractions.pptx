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336" r:id="rId4"/>
    <p:sldId id="330" r:id="rId5"/>
    <p:sldId id="284" r:id="rId6"/>
    <p:sldId id="286" r:id="rId7"/>
    <p:sldId id="321" r:id="rId8"/>
    <p:sldId id="322" r:id="rId9"/>
    <p:sldId id="323" r:id="rId10"/>
    <p:sldId id="331" r:id="rId11"/>
    <p:sldId id="285" r:id="rId12"/>
    <p:sldId id="332" r:id="rId13"/>
    <p:sldId id="324" r:id="rId14"/>
    <p:sldId id="325" r:id="rId15"/>
    <p:sldId id="326" r:id="rId16"/>
    <p:sldId id="276" r:id="rId17"/>
    <p:sldId id="277" r:id="rId18"/>
    <p:sldId id="261" r:id="rId19"/>
    <p:sldId id="333" r:id="rId20"/>
    <p:sldId id="327" r:id="rId21"/>
    <p:sldId id="334" r:id="rId22"/>
    <p:sldId id="335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11/2/18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6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8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9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2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14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7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11/2/18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4_Document1.doc"/><Relationship Id="rId4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 smtClean="0">
                <a:solidFill>
                  <a:srgbClr val="7C7F91"/>
                </a:solidFill>
                <a:latin typeface="Kiwi School Handwriting" panose="00000500000000000000" pitchFamily="2" charset="0"/>
              </a:rPr>
              <a:t>Maths</a:t>
            </a:r>
            <a:r>
              <a:rPr lang="en-US" sz="3200" b="1" smtClean="0">
                <a:solidFill>
                  <a:srgbClr val="7C7F91"/>
                </a:solidFill>
                <a:latin typeface="Kiwi School Handwriting" panose="00000500000000000000" pitchFamily="2" charset="0"/>
              </a:rPr>
              <a:t> 10A</a:t>
            </a: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 smtClean="0">
                <a:latin typeface="Kiwi School Handwriting" panose="00000500000000000000" pitchFamily="2" charset="0"/>
              </a:rPr>
              <a:t>Applying the four operations to algebraic fractions</a:t>
            </a:r>
            <a:endParaRPr lang="en-AU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=""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=""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</a:t>
            </a:r>
            <a:r>
              <a:rPr lang="en-AU" sz="4400" dirty="0" smtClean="0">
                <a:latin typeface="Kiwi School Handwriting" panose="00000500000000000000" pitchFamily="2" charset="0"/>
              </a:rPr>
              <a:t>to: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Add and subtract algebraic fractions with a numerical denominator</a:t>
            </a:r>
          </a:p>
          <a:p>
            <a:pPr marL="571500" indent="-571500"/>
            <a:r>
              <a:rPr lang="en-AU" sz="3900" dirty="0" smtClean="0">
                <a:latin typeface="Kiwi School Handwriting" panose="00000500000000000000" pitchFamily="2" charset="0"/>
              </a:rPr>
              <a:t>Multiply and Divide algebraic fractions with a numerical denominator</a:t>
            </a:r>
          </a:p>
          <a:p>
            <a:pPr marL="571500" indent="-571500"/>
            <a:endParaRPr lang="en-AU" sz="3900" dirty="0" smtClean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=""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61932"/>
              </p:ext>
            </p:extLst>
          </p:nvPr>
        </p:nvGraphicFramePr>
        <p:xfrm>
          <a:off x="1204214" y="465835"/>
          <a:ext cx="9671050" cy="593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Document" r:id="rId3" imgW="8978900" imgH="5511800" progId="Word.Document.8">
                  <p:embed/>
                </p:oleObj>
              </mc:Choice>
              <mc:Fallback>
                <p:oleObj name="Document" r:id="rId3" imgW="8978900" imgH="551180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4214" y="465835"/>
                        <a:ext cx="9671050" cy="5936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23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=""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=""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40" y="2549182"/>
            <a:ext cx="10058400" cy="2669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94" y="1366490"/>
            <a:ext cx="10246693" cy="11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first, a </a:t>
            </a:r>
            <a:r>
              <a:rPr lang="en-US" dirty="0"/>
              <a:t>g</a:t>
            </a:r>
            <a:r>
              <a:rPr lang="en-US" dirty="0" smtClean="0"/>
              <a:t>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Notice any patterns?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926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991" y="-94976"/>
            <a:ext cx="10515600" cy="1325563"/>
          </a:xfrm>
        </p:spPr>
        <p:txBody>
          <a:bodyPr/>
          <a:lstStyle/>
          <a:p>
            <a:r>
              <a:rPr lang="en-GB" smtClean="0"/>
              <a:t>Think-Pair-Share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26815" y="988268"/>
            <a:ext cx="10515600" cy="4351338"/>
          </a:xfrm>
        </p:spPr>
        <p:txBody>
          <a:bodyPr/>
          <a:lstStyle/>
          <a:p>
            <a:r>
              <a:rPr lang="en-GB" dirty="0" smtClean="0"/>
              <a:t>With a partner, discuss and figure out how you might factorise these </a:t>
            </a:r>
            <a:r>
              <a:rPr lang="en-GB" dirty="0" smtClean="0"/>
              <a:t>fractions.</a:t>
            </a:r>
            <a:endParaRPr lang="en-GB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  <m:r>
                            <a:rPr lang="en-GB" sz="2800" i="1">
                              <a:latin typeface="Cambria Math"/>
                            </a:rPr>
                            <m:t> −35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+15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𝑦</m:t>
                          </m:r>
                          <m:r>
                            <a:rPr lang="en-GB" sz="2800" i="1">
                              <a:latin typeface="Cambria Math"/>
                            </a:rPr>
                            <m:t>+18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756967" y="223544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756967" y="3258761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756967" y="439399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2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48454" y="1798695"/>
            <a:ext cx="1063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Algebraic fractions are fractions that involve algebraic expressions, rather than only numbers. The algebraic part may be in the numerator or denominator. They are added, subtracted, multiplied and divided </a:t>
            </a:r>
            <a:r>
              <a:rPr lang="en-US" sz="2400" b="1" i="1" dirty="0" smtClean="0"/>
              <a:t>in the same way as ordinary fractions</a:t>
            </a:r>
            <a:endParaRPr lang="en-US" sz="24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1588" y="1798695"/>
            <a:ext cx="1053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</a:t>
            </a:r>
          </a:p>
          <a:p>
            <a:r>
              <a:rPr lang="en-US" dirty="0" smtClean="0"/>
              <a:t>they?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88" y="3220279"/>
            <a:ext cx="1254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Adding</a:t>
            </a:r>
          </a:p>
          <a:p>
            <a:r>
              <a:rPr lang="en-US" dirty="0" smtClean="0"/>
              <a:t>and</a:t>
            </a:r>
          </a:p>
          <a:p>
            <a:r>
              <a:rPr lang="en-US" dirty="0" smtClean="0"/>
              <a:t>Subtracting</a:t>
            </a:r>
            <a:endParaRPr lang="en-US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335888" y="3146306"/>
            <a:ext cx="10273016" cy="21910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 smtClean="0"/>
              <a:t>Just as with numerical fractions, the denominators must be the same before you can add or subtract fractions. You are looking for the </a:t>
            </a:r>
            <a:r>
              <a:rPr lang="en-GB" sz="2400" i="1" dirty="0" smtClean="0"/>
              <a:t>lowest common denominator </a:t>
            </a:r>
            <a:r>
              <a:rPr lang="en-GB" sz="2400" dirty="0" smtClean="0"/>
              <a:t>(LCD)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73" y="4857474"/>
            <a:ext cx="4305300" cy="1397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155" y="4967981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64" y="1889070"/>
            <a:ext cx="4305300" cy="139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368" y="3594061"/>
            <a:ext cx="7759700" cy="1054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08" y="5647434"/>
            <a:ext cx="7721600" cy="711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64" y="4762253"/>
            <a:ext cx="82804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2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04" y="2095000"/>
            <a:ext cx="7797800" cy="66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92" y="4119006"/>
            <a:ext cx="7797800" cy="63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844" y="3053295"/>
            <a:ext cx="83947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192" y="1756829"/>
            <a:ext cx="3183151" cy="7481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2619530"/>
            <a:ext cx="7454900" cy="100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3766174"/>
            <a:ext cx="8699500" cy="62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4593715"/>
            <a:ext cx="8064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5383156"/>
            <a:ext cx="76835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844" y="6179209"/>
            <a:ext cx="6680200" cy="571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𝑡𝑟𝑦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9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CA" sz="2400" b="0" i="1" smtClean="0">
                          <a:latin typeface="Cambria Math" charset="0"/>
                        </a:rPr>
                        <m:t> −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8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−5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xplosion 2 18"/>
          <p:cNvSpPr/>
          <p:nvPr/>
        </p:nvSpPr>
        <p:spPr>
          <a:xfrm>
            <a:off x="6096001" y="1196496"/>
            <a:ext cx="7728948" cy="2132355"/>
          </a:xfrm>
          <a:prstGeom prst="irregularSeal2">
            <a:avLst/>
          </a:prstGeom>
          <a:noFill/>
          <a:ln w="603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5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3" y="476504"/>
            <a:ext cx="4607419" cy="523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1521968"/>
            <a:ext cx="9410121" cy="818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3098546"/>
            <a:ext cx="10227735" cy="693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4768596"/>
            <a:ext cx="10146701" cy="7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179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87756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Multiplying</a:t>
            </a:r>
          </a:p>
          <a:p>
            <a:r>
              <a:rPr lang="en-US" dirty="0" smtClean="0"/>
              <a:t>and</a:t>
            </a:r>
          </a:p>
          <a:p>
            <a:r>
              <a:rPr lang="en-US" dirty="0" smtClean="0"/>
              <a:t>Dividing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0" y="1933056"/>
            <a:ext cx="3450439" cy="4362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32" y="166544"/>
            <a:ext cx="8496300" cy="1257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3975100"/>
            <a:ext cx="520700" cy="8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51" y="3458821"/>
            <a:ext cx="9271000" cy="1422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05" y="5097547"/>
            <a:ext cx="8953500" cy="685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1" y="2487916"/>
            <a:ext cx="4453170" cy="84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93" y="2123848"/>
            <a:ext cx="9029700" cy="73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3270250"/>
            <a:ext cx="9080500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3708400"/>
            <a:ext cx="508000" cy="38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21" y="4584700"/>
            <a:ext cx="9045682" cy="1524000"/>
          </a:xfrm>
          <a:prstGeom prst="rect">
            <a:avLst/>
          </a:prstGeom>
        </p:spPr>
      </p:pic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Left Arrow 12"/>
          <p:cNvSpPr/>
          <p:nvPr/>
        </p:nvSpPr>
        <p:spPr>
          <a:xfrm>
            <a:off x="9931555" y="3581350"/>
            <a:ext cx="524256" cy="282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534890" y="3331001"/>
            <a:ext cx="1537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The crucial</a:t>
            </a:r>
          </a:p>
          <a:p>
            <a:pPr algn="ctr"/>
            <a:r>
              <a:rPr lang="en-US" sz="2400" dirty="0" smtClean="0"/>
              <a:t>step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925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14" y="1899318"/>
            <a:ext cx="3635382" cy="7631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2902243"/>
            <a:ext cx="7759700" cy="96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4181621"/>
            <a:ext cx="7683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847" y="5079997"/>
            <a:ext cx="7772400" cy="6096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012970" y="4248716"/>
            <a:ext cx="408079" cy="2250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651821" y="4140729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FOIL Method!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𝑇𝑟𝑦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+3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  <m:r>
                        <a:rPr lang="en-CA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÷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−4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89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810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9365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34" y="7988"/>
            <a:ext cx="5298884" cy="68500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708" y="404949"/>
            <a:ext cx="420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Does no one? </a:t>
            </a:r>
          </a:p>
          <a:p>
            <a:r>
              <a:rPr lang="en-US" sz="3600" dirty="0" smtClean="0"/>
              <a:t>Show of thumbs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755904"/>
            <a:ext cx="10496919" cy="2072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3486912"/>
            <a:ext cx="10930520" cy="14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43375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algebraic fractions and how can we solve them using the four basic mathematical operations?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756831"/>
            <a:ext cx="1564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happens when</a:t>
            </a:r>
          </a:p>
          <a:p>
            <a:r>
              <a:rPr lang="en-US" dirty="0" smtClean="0"/>
              <a:t>the algebraic part</a:t>
            </a:r>
          </a:p>
          <a:p>
            <a:r>
              <a:rPr lang="en-US" dirty="0" smtClean="0"/>
              <a:t>is in the denominator?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771470"/>
            <a:ext cx="7073900" cy="120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3004727"/>
            <a:ext cx="9207500" cy="1739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00" y="3670300"/>
            <a:ext cx="165100" cy="114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4815106"/>
            <a:ext cx="9067800" cy="1333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6130145"/>
            <a:ext cx="8077200" cy="6604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168384" y="2234772"/>
            <a:ext cx="502921" cy="256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945553" y="2116374"/>
            <a:ext cx="203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Now you try b)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715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10804774" cy="517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3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3" y="690372"/>
            <a:ext cx="11107071" cy="61676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2408" y="105597"/>
            <a:ext cx="15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Exit Slip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1203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4" y="2599509"/>
            <a:ext cx="8348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Nelson Worksheet </a:t>
            </a:r>
            <a:r>
              <a:rPr lang="mr-IN" sz="4000" dirty="0" smtClean="0"/>
              <a:t>–</a:t>
            </a:r>
            <a:r>
              <a:rPr lang="en-US" sz="4000" dirty="0" smtClean="0"/>
              <a:t> </a:t>
            </a:r>
            <a:r>
              <a:rPr lang="en-US" sz="4000" dirty="0" smtClean="0"/>
              <a:t>Algebraic Fractions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5537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480</Words>
  <Application>Microsoft Macintosh PowerPoint</Application>
  <PresentationFormat>Widescreen</PresentationFormat>
  <Paragraphs>99</Paragraphs>
  <Slides>23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Calibri</vt:lpstr>
      <vt:lpstr>Calibri Light</vt:lpstr>
      <vt:lpstr>Cambria Math</vt:lpstr>
      <vt:lpstr>Kiwi School Handwriting</vt:lpstr>
      <vt:lpstr>Mangal</vt:lpstr>
      <vt:lpstr>Arial</vt:lpstr>
      <vt:lpstr>Office Theme</vt:lpstr>
      <vt:lpstr>Microsoft Word 97 - 2004 Document</vt:lpstr>
      <vt:lpstr>Applying the four operations to algebraic fractions</vt:lpstr>
      <vt:lpstr>Learning Intentions</vt:lpstr>
      <vt:lpstr>PowerPoint Presentation</vt:lpstr>
      <vt:lpstr>Learning Intentions</vt:lpstr>
      <vt:lpstr>But first, a game</vt:lpstr>
      <vt:lpstr>Think-Pair-Share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58</cp:revision>
  <dcterms:created xsi:type="dcterms:W3CDTF">2018-02-06T06:15:13Z</dcterms:created>
  <dcterms:modified xsi:type="dcterms:W3CDTF">2018-02-11T09:21:44Z</dcterms:modified>
</cp:coreProperties>
</file>
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60" r:id="rId5"/>
    <p:sldId id="25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5/15/2018</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5/15/2018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5/15/2018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5/15/2018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5/15/2018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5/15/2018</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5/15/2018</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5/15/2018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5/15/2018</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Topic: Simultaneous equations</a:t>
            </a:r>
            <a:endParaRPr lang="en-AU" dirty="0"/>
          </a:p>
        </p:txBody>
      </p:sp>
      <p:sp>
        <p:nvSpPr>
          <p:cNvPr id="3" name="Subtitle 2"/>
          <p:cNvSpPr>
            <a:spLocks noGrp="1"/>
          </p:cNvSpPr>
          <p:nvPr>
            <p:ph type="subTitle" idx="1"/>
          </p:nvPr>
        </p:nvSpPr>
        <p:spPr/>
        <p:txBody>
          <a:bodyPr/>
          <a:lstStyle/>
          <a:p>
            <a:r>
              <a:rPr lang="en-AU" dirty="0" smtClean="0"/>
              <a:t>EQ: What are simultaneous equations?</a:t>
            </a:r>
            <a:endParaRPr lang="en-AU" dirty="0"/>
          </a:p>
        </p:txBody>
      </p:sp>
    </p:spTree>
    <p:extLst>
      <p:ext uri="{BB962C8B-B14F-4D97-AF65-F5344CB8AC3E}">
        <p14:creationId xmlns:p14="http://schemas.microsoft.com/office/powerpoint/2010/main" val="4971318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When we use simultaneous equations</a:t>
            </a:r>
            <a:endParaRPr lang="en-AU" dirty="0"/>
          </a:p>
        </p:txBody>
      </p:sp>
      <p:sp>
        <p:nvSpPr>
          <p:cNvPr id="3" name="Content Placeholder 2"/>
          <p:cNvSpPr>
            <a:spLocks noGrp="1"/>
          </p:cNvSpPr>
          <p:nvPr>
            <p:ph idx="1"/>
          </p:nvPr>
        </p:nvSpPr>
        <p:spPr/>
        <p:txBody>
          <a:bodyPr>
            <a:normAutofit/>
          </a:bodyPr>
          <a:lstStyle/>
          <a:p>
            <a:r>
              <a:rPr lang="en-US" sz="3000" dirty="0" smtClean="0"/>
              <a:t>We use simultaneous equations to </a:t>
            </a:r>
            <a:r>
              <a:rPr lang="en-US" sz="3000" dirty="0" smtClean="0">
                <a:solidFill>
                  <a:srgbClr val="FF0000"/>
                </a:solidFill>
              </a:rPr>
              <a:t>solve equations </a:t>
            </a:r>
            <a:r>
              <a:rPr lang="en-US" sz="3000" dirty="0">
                <a:solidFill>
                  <a:srgbClr val="FF0000"/>
                </a:solidFill>
              </a:rPr>
              <a:t>involving two or more </a:t>
            </a:r>
            <a:r>
              <a:rPr lang="en-US" sz="3000" dirty="0" smtClean="0">
                <a:solidFill>
                  <a:srgbClr val="FF0000"/>
                </a:solidFill>
              </a:rPr>
              <a:t>unknowns</a:t>
            </a:r>
            <a:r>
              <a:rPr lang="en-US" sz="3000" dirty="0" smtClean="0"/>
              <a:t>.</a:t>
            </a:r>
          </a:p>
          <a:p>
            <a:r>
              <a:rPr lang="en-US" sz="3000" dirty="0" smtClean="0"/>
              <a:t>In order to do this we </a:t>
            </a:r>
            <a:r>
              <a:rPr lang="en-US" sz="3000" dirty="0" smtClean="0">
                <a:solidFill>
                  <a:srgbClr val="FF0000"/>
                </a:solidFill>
              </a:rPr>
              <a:t>solve two equations simultaneously</a:t>
            </a:r>
          </a:p>
          <a:p>
            <a:r>
              <a:rPr lang="en-US" sz="3000" dirty="0" smtClean="0"/>
              <a:t>Because we are solving two equations </a:t>
            </a:r>
            <a:r>
              <a:rPr lang="en-US" sz="3000" dirty="0" smtClean="0">
                <a:solidFill>
                  <a:srgbClr val="FF0000"/>
                </a:solidFill>
              </a:rPr>
              <a:t>our solution must satisfy both equations</a:t>
            </a:r>
            <a:endParaRPr lang="en-AU" sz="3000" dirty="0">
              <a:solidFill>
                <a:srgbClr val="FF0000"/>
              </a:solidFill>
            </a:endParaRPr>
          </a:p>
        </p:txBody>
      </p:sp>
    </p:spTree>
    <p:extLst>
      <p:ext uri="{BB962C8B-B14F-4D97-AF65-F5344CB8AC3E}">
        <p14:creationId xmlns:p14="http://schemas.microsoft.com/office/powerpoint/2010/main" val="41499106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this looks like on the graph</a:t>
            </a:r>
            <a:endParaRPr lang="en-AU" dirty="0"/>
          </a:p>
        </p:txBody>
      </p:sp>
      <p:sp>
        <p:nvSpPr>
          <p:cNvPr id="3" name="Content Placeholder 2"/>
          <p:cNvSpPr>
            <a:spLocks noGrp="1"/>
          </p:cNvSpPr>
          <p:nvPr>
            <p:ph idx="1"/>
          </p:nvPr>
        </p:nvSpPr>
        <p:spPr>
          <a:xfrm>
            <a:off x="1069848" y="2121408"/>
            <a:ext cx="5626516" cy="4050792"/>
          </a:xfrm>
        </p:spPr>
        <p:txBody>
          <a:bodyPr/>
          <a:lstStyle/>
          <a:p>
            <a:r>
              <a:rPr lang="en-AU" dirty="0" smtClean="0"/>
              <a:t>The </a:t>
            </a:r>
            <a:r>
              <a:rPr lang="en-AU" dirty="0" smtClean="0">
                <a:solidFill>
                  <a:srgbClr val="FF0000"/>
                </a:solidFill>
              </a:rPr>
              <a:t>solution</a:t>
            </a:r>
            <a:r>
              <a:rPr lang="en-AU" dirty="0" smtClean="0"/>
              <a:t> for simultaneous equations is the point </a:t>
            </a:r>
            <a:r>
              <a:rPr lang="en-AU" dirty="0" smtClean="0">
                <a:solidFill>
                  <a:srgbClr val="FF0000"/>
                </a:solidFill>
              </a:rPr>
              <a:t>where the lines intersect </a:t>
            </a:r>
          </a:p>
          <a:p>
            <a:pPr marL="0" indent="0">
              <a:buNone/>
            </a:pPr>
            <a:endParaRPr lang="en-AU" dirty="0" smtClean="0"/>
          </a:p>
          <a:p>
            <a:r>
              <a:rPr lang="en-AU" dirty="0" smtClean="0"/>
              <a:t>For the example on the left the point </a:t>
            </a:r>
            <a:r>
              <a:rPr lang="en-AU" dirty="0" smtClean="0">
                <a:solidFill>
                  <a:srgbClr val="FF0000"/>
                </a:solidFill>
              </a:rPr>
              <a:t>(-1,3) is the intersection point </a:t>
            </a:r>
          </a:p>
          <a:p>
            <a:endParaRPr lang="en-AU" dirty="0"/>
          </a:p>
          <a:p>
            <a:r>
              <a:rPr lang="en-AU" dirty="0" smtClean="0"/>
              <a:t>Therefore </a:t>
            </a:r>
            <a:r>
              <a:rPr lang="en-AU" dirty="0" smtClean="0">
                <a:solidFill>
                  <a:srgbClr val="FF0000"/>
                </a:solidFill>
              </a:rPr>
              <a:t>x = -1 and y = 3, will satisfy both equations.</a:t>
            </a:r>
          </a:p>
          <a:p>
            <a:r>
              <a:rPr lang="en-AU" dirty="0" smtClean="0"/>
              <a:t>CHECK</a:t>
            </a:r>
            <a:endParaRPr lang="en-AU" dirty="0"/>
          </a:p>
        </p:txBody>
      </p:sp>
      <p:pic>
        <p:nvPicPr>
          <p:cNvPr id="4" name="Picture 3"/>
          <p:cNvPicPr>
            <a:picLocks noChangeAspect="1"/>
          </p:cNvPicPr>
          <p:nvPr/>
        </p:nvPicPr>
        <p:blipFill>
          <a:blip r:embed="rId2"/>
          <a:stretch>
            <a:fillRect/>
          </a:stretch>
        </p:blipFill>
        <p:spPr>
          <a:xfrm>
            <a:off x="6821278" y="2002380"/>
            <a:ext cx="4306970" cy="4288848"/>
          </a:xfrm>
          <a:prstGeom prst="rect">
            <a:avLst/>
          </a:prstGeom>
        </p:spPr>
      </p:pic>
    </p:spTree>
    <p:extLst>
      <p:ext uri="{BB962C8B-B14F-4D97-AF65-F5344CB8AC3E}">
        <p14:creationId xmlns:p14="http://schemas.microsoft.com/office/powerpoint/2010/main" val="4097478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Real world application</a:t>
            </a:r>
            <a:endParaRPr lang="en-AU" dirty="0"/>
          </a:p>
        </p:txBody>
      </p:sp>
      <p:sp>
        <p:nvSpPr>
          <p:cNvPr id="3" name="Content Placeholder 2"/>
          <p:cNvSpPr>
            <a:spLocks noGrp="1"/>
          </p:cNvSpPr>
          <p:nvPr>
            <p:ph idx="1"/>
          </p:nvPr>
        </p:nvSpPr>
        <p:spPr>
          <a:xfrm>
            <a:off x="1069848" y="1810327"/>
            <a:ext cx="10058400" cy="4876799"/>
          </a:xfrm>
        </p:spPr>
        <p:txBody>
          <a:bodyPr>
            <a:normAutofit lnSpcReduction="10000"/>
          </a:bodyPr>
          <a:lstStyle/>
          <a:p>
            <a:pPr marL="0" indent="0">
              <a:buNone/>
            </a:pPr>
            <a:r>
              <a:rPr lang="en-US" sz="2800" dirty="0"/>
              <a:t>The Best Job for the Money</a:t>
            </a:r>
          </a:p>
          <a:p>
            <a:r>
              <a:rPr lang="en-US" dirty="0"/>
              <a:t>Systems of equations can be used when trying to determine if you’ll make more money at one job or another, taking multiple variables into account, such as salary, benefits and </a:t>
            </a:r>
            <a:r>
              <a:rPr lang="en-US" dirty="0" smtClean="0"/>
              <a:t>commissions.</a:t>
            </a:r>
          </a:p>
          <a:p>
            <a:pPr marL="0" indent="0">
              <a:buNone/>
            </a:pPr>
            <a:r>
              <a:rPr lang="en-US" sz="2800" dirty="0" smtClean="0"/>
              <a:t>Deciding </a:t>
            </a:r>
            <a:r>
              <a:rPr lang="en-US" sz="2800" dirty="0"/>
              <a:t>on a Loan</a:t>
            </a:r>
          </a:p>
          <a:p>
            <a:r>
              <a:rPr lang="en-US" dirty="0"/>
              <a:t>Simultaneous equations can be used to determine the best loan choice to make when buying a car or a house when you consider the duration of the loan, the interest rate and the monthly payment of the loan. Other variables may be involved as well. With the information at hand, you can calculate which loan is the best choice for you</a:t>
            </a:r>
            <a:r>
              <a:rPr lang="en-US" dirty="0" smtClean="0"/>
              <a:t>.</a:t>
            </a:r>
          </a:p>
          <a:p>
            <a:pPr marL="0" indent="0">
              <a:buNone/>
            </a:pPr>
            <a:r>
              <a:rPr lang="en-US" sz="2600" dirty="0"/>
              <a:t>The Best Deal</a:t>
            </a:r>
          </a:p>
          <a:p>
            <a:r>
              <a:rPr lang="en-US" dirty="0"/>
              <a:t>You want to find out the better deal when renting a car, and you're comparing two rental companies. By putting the variable and fixed costs, such as the per-mile and daily rate, into an algebraic expression, then solving for the total cost, you can see which company saves you money for different amounts of driving.</a:t>
            </a:r>
          </a:p>
          <a:p>
            <a:endParaRPr lang="en-US" dirty="0"/>
          </a:p>
          <a:p>
            <a:pPr marL="0" indent="0">
              <a:buNone/>
            </a:pPr>
            <a:endParaRPr lang="en-US" dirty="0"/>
          </a:p>
          <a:p>
            <a:endParaRPr lang="en-AU" dirty="0"/>
          </a:p>
        </p:txBody>
      </p:sp>
      <p:pic>
        <p:nvPicPr>
          <p:cNvPr id="2050" name="Picture 2" descr="Image result for money bag re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2113" y="0"/>
            <a:ext cx="2155087" cy="1896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00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2" presetClass="emph" presetSubtype="0" fill="hold" nodeType="clickEffect">
                                  <p:stCondLst>
                                    <p:cond delay="0"/>
                                  </p:stCondLst>
                                  <p:childTnLst>
                                    <p:animRot by="120000">
                                      <p:cBhvr>
                                        <p:cTn id="16" dur="100" fill="hold">
                                          <p:stCondLst>
                                            <p:cond delay="0"/>
                                          </p:stCondLst>
                                        </p:cTn>
                                        <p:tgtEl>
                                          <p:spTgt spid="2050"/>
                                        </p:tgtEl>
                                        <p:attrNameLst>
                                          <p:attrName>r</p:attrName>
                                        </p:attrNameLst>
                                      </p:cBhvr>
                                    </p:animRot>
                                    <p:animRot by="-240000">
                                      <p:cBhvr>
                                        <p:cTn id="17" dur="200" fill="hold">
                                          <p:stCondLst>
                                            <p:cond delay="200"/>
                                          </p:stCondLst>
                                        </p:cTn>
                                        <p:tgtEl>
                                          <p:spTgt spid="2050"/>
                                        </p:tgtEl>
                                        <p:attrNameLst>
                                          <p:attrName>r</p:attrName>
                                        </p:attrNameLst>
                                      </p:cBhvr>
                                    </p:animRot>
                                    <p:animRot by="240000">
                                      <p:cBhvr>
                                        <p:cTn id="18" dur="200" fill="hold">
                                          <p:stCondLst>
                                            <p:cond delay="400"/>
                                          </p:stCondLst>
                                        </p:cTn>
                                        <p:tgtEl>
                                          <p:spTgt spid="2050"/>
                                        </p:tgtEl>
                                        <p:attrNameLst>
                                          <p:attrName>r</p:attrName>
                                        </p:attrNameLst>
                                      </p:cBhvr>
                                    </p:animRot>
                                    <p:animRot by="-240000">
                                      <p:cBhvr>
                                        <p:cTn id="19" dur="200" fill="hold">
                                          <p:stCondLst>
                                            <p:cond delay="600"/>
                                          </p:stCondLst>
                                        </p:cTn>
                                        <p:tgtEl>
                                          <p:spTgt spid="2050"/>
                                        </p:tgtEl>
                                        <p:attrNameLst>
                                          <p:attrName>r</p:attrName>
                                        </p:attrNameLst>
                                      </p:cBhvr>
                                    </p:animRot>
                                    <p:animRot by="120000">
                                      <p:cBhvr>
                                        <p:cTn id="20" dur="200" fill="hold">
                                          <p:stCondLst>
                                            <p:cond delay="800"/>
                                          </p:stCondLst>
                                        </p:cTn>
                                        <p:tgtEl>
                                          <p:spTgt spid="2050"/>
                                        </p:tgtEl>
                                        <p:attrNameLst>
                                          <p:attrName>r</p:attrName>
                                        </p:attrNameLst>
                                      </p:cBhvr>
                                    </p:animRo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Real world application</a:t>
            </a:r>
            <a:endParaRPr lang="en-AU" dirty="0"/>
          </a:p>
        </p:txBody>
      </p:sp>
      <p:sp>
        <p:nvSpPr>
          <p:cNvPr id="3" name="Content Placeholder 2"/>
          <p:cNvSpPr>
            <a:spLocks noGrp="1"/>
          </p:cNvSpPr>
          <p:nvPr>
            <p:ph idx="1"/>
          </p:nvPr>
        </p:nvSpPr>
        <p:spPr/>
        <p:txBody>
          <a:bodyPr/>
          <a:lstStyle/>
          <a:p>
            <a:pPr marL="0" indent="0">
              <a:buNone/>
            </a:pPr>
            <a:r>
              <a:rPr lang="en-US" sz="2800" dirty="0"/>
              <a:t>In the Air</a:t>
            </a:r>
          </a:p>
          <a:p>
            <a:r>
              <a:rPr lang="en-US" dirty="0"/>
              <a:t>An air traffic controller can use simultaneous equations to ensure two airplanes don’t </a:t>
            </a:r>
            <a:r>
              <a:rPr lang="en-US" dirty="0" smtClean="0"/>
              <a:t>intersect </a:t>
            </a:r>
            <a:r>
              <a:rPr lang="en-US" dirty="0"/>
              <a:t>at the same time</a:t>
            </a:r>
            <a:r>
              <a:rPr lang="en-US" dirty="0" smtClean="0"/>
              <a:t>.</a:t>
            </a:r>
          </a:p>
          <a:p>
            <a:pPr lvl="1"/>
            <a:r>
              <a:rPr lang="en-US" dirty="0" smtClean="0"/>
              <a:t>AKA to make sure none of the flights are going to collide with one another.</a:t>
            </a:r>
            <a:endParaRPr lang="en-US" dirty="0"/>
          </a:p>
          <a:p>
            <a:endParaRPr lang="en-AU" dirty="0"/>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5373" y="3722255"/>
            <a:ext cx="3940775" cy="26074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7503" y="3577216"/>
            <a:ext cx="3335770" cy="3064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90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p:cTn id="7" dur="500" fill="hold"/>
                                        <p:tgtEl>
                                          <p:spTgt spid="1028"/>
                                        </p:tgtEl>
                                        <p:attrNameLst>
                                          <p:attrName>ppt_w</p:attrName>
                                        </p:attrNameLst>
                                      </p:cBhvr>
                                      <p:tavLst>
                                        <p:tav tm="0">
                                          <p:val>
                                            <p:fltVal val="0"/>
                                          </p:val>
                                        </p:tav>
                                        <p:tav tm="100000">
                                          <p:val>
                                            <p:strVal val="#ppt_w"/>
                                          </p:val>
                                        </p:tav>
                                      </p:tavLst>
                                    </p:anim>
                                    <p:anim calcmode="lin" valueType="num">
                                      <p:cBhvr>
                                        <p:cTn id="8" dur="500" fill="hold"/>
                                        <p:tgtEl>
                                          <p:spTgt spid="1028"/>
                                        </p:tgtEl>
                                        <p:attrNameLst>
                                          <p:attrName>ppt_h</p:attrName>
                                        </p:attrNameLst>
                                      </p:cBhvr>
                                      <p:tavLst>
                                        <p:tav tm="0">
                                          <p:val>
                                            <p:fltVal val="0"/>
                                          </p:val>
                                        </p:tav>
                                        <p:tav tm="100000">
                                          <p:val>
                                            <p:strVal val="#ppt_h"/>
                                          </p:val>
                                        </p:tav>
                                      </p:tavLst>
                                    </p:anim>
                                    <p:animEffect transition="in" filter="fade">
                                      <p:cBhvr>
                                        <p:cTn id="9" dur="500"/>
                                        <p:tgtEl>
                                          <p:spTgt spid="102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randombar(horizontal)">
                                      <p:cBhvr>
                                        <p:cTn id="14"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655" y="87468"/>
            <a:ext cx="11052784" cy="2443295"/>
          </a:xfrm>
        </p:spPr>
        <p:txBody>
          <a:bodyPr/>
          <a:lstStyle/>
          <a:p>
            <a:r>
              <a:rPr lang="en-AU" dirty="0" smtClean="0"/>
              <a:t>Find the solution that satisfies y=2x+2 and y=-2x+6 by graphing them </a:t>
            </a:r>
            <a:endParaRPr lang="en-AU" dirty="0"/>
          </a:p>
        </p:txBody>
      </p:sp>
      <p:pic>
        <p:nvPicPr>
          <p:cNvPr id="4" name="Content Placeholder 3"/>
          <p:cNvPicPr>
            <a:picLocks noGrp="1" noChangeAspect="1"/>
          </p:cNvPicPr>
          <p:nvPr>
            <p:ph idx="1"/>
          </p:nvPr>
        </p:nvPicPr>
        <p:blipFill>
          <a:blip r:embed="rId2"/>
          <a:stretch>
            <a:fillRect/>
          </a:stretch>
        </p:blipFill>
        <p:spPr>
          <a:xfrm>
            <a:off x="3755367" y="2216149"/>
            <a:ext cx="4687361" cy="4353059"/>
          </a:xfrm>
          <a:prstGeom prst="rect">
            <a:avLst/>
          </a:prstGeom>
        </p:spPr>
      </p:pic>
    </p:spTree>
    <p:extLst>
      <p:ext uri="{BB962C8B-B14F-4D97-AF65-F5344CB8AC3E}">
        <p14:creationId xmlns:p14="http://schemas.microsoft.com/office/powerpoint/2010/main" val="99808741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73</TotalTime>
  <Words>334</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Rockwell</vt:lpstr>
      <vt:lpstr>Rockwell Condensed</vt:lpstr>
      <vt:lpstr>Wingdings</vt:lpstr>
      <vt:lpstr>Wood Type</vt:lpstr>
      <vt:lpstr>Topic: Simultaneous equations</vt:lpstr>
      <vt:lpstr>When we use simultaneous equations</vt:lpstr>
      <vt:lpstr>What this looks like on the graph</vt:lpstr>
      <vt:lpstr>Real world application</vt:lpstr>
      <vt:lpstr>Real world application</vt:lpstr>
      <vt:lpstr>Find the solution that satisfies y=2x+2 and y=-2x+6 by graphing them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Simultaneous equations</dc:title>
  <dc:creator>Jason Stephenson</dc:creator>
  <cp:lastModifiedBy>Jason Stephenson</cp:lastModifiedBy>
  <cp:revision>5</cp:revision>
  <dcterms:created xsi:type="dcterms:W3CDTF">2018-05-15T05:58:48Z</dcterms:created>
  <dcterms:modified xsi:type="dcterms:W3CDTF">2018-05-15T07:12:37Z</dcterms:modified>
</cp:coreProperties>
</file>
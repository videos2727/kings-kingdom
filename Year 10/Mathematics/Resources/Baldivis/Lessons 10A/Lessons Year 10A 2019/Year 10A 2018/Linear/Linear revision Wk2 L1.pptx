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96" r:id="rId1"/>
  </p:sldMasterIdLst>
  <p:sldIdLst>
    <p:sldId id="256" r:id="rId2"/>
    <p:sldId id="268" r:id="rId3"/>
    <p:sldId id="257" r:id="rId4"/>
    <p:sldId id="258" r:id="rId5"/>
    <p:sldId id="259" r:id="rId6"/>
    <p:sldId id="260" r:id="rId7"/>
    <p:sldId id="273" r:id="rId8"/>
    <p:sldId id="261" r:id="rId9"/>
    <p:sldId id="262" r:id="rId10"/>
    <p:sldId id="263" r:id="rId11"/>
    <p:sldId id="269" r:id="rId12"/>
    <p:sldId id="267" r:id="rId13"/>
    <p:sldId id="270" r:id="rId14"/>
    <p:sldId id="264" r:id="rId15"/>
    <p:sldId id="265" r:id="rId16"/>
    <p:sldId id="266" r:id="rId17"/>
    <p:sldId id="271" r:id="rId18"/>
    <p:sldId id="272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9" d="100"/>
          <a:sy n="69" d="100"/>
        </p:scale>
        <p:origin x="56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  <a:t>5/7/2018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0A7B3-6521-4DCA-87E5-044747A908C1}" type="datetimeFigureOut">
              <a:rPr lang="en-US" dirty="0"/>
              <a:t>5/7/2018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  <a:t>5/7/2018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34690-1557-4C89-A502-4959FE7FAD70}" type="datetimeFigureOut">
              <a:rPr lang="en-US" dirty="0"/>
              <a:t>5/7/2018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D4976-E339-4826-83B7-FBD03F55ECF8}" type="datetimeFigureOut">
              <a:rPr lang="en-US" dirty="0"/>
              <a:t>5/7/2018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37C31-9E7A-4F99-8774-A0E530DE1A42}" type="datetimeFigureOut">
              <a:rPr lang="en-US" dirty="0"/>
              <a:t>5/7/2018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8504F-A551-4DE0-9316-4DCD1D8CC752}" type="datetimeFigureOut">
              <a:rPr lang="en-US" dirty="0"/>
              <a:t>5/7/2018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  <a:t>5/7/2018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67503" cy="320040"/>
          </a:xfrm>
        </p:spPr>
        <p:txBody>
          <a:bodyPr/>
          <a:lstStyle>
            <a:lvl1pPr>
              <a:defRPr>
                <a:solidFill>
                  <a:srgbClr val="FFFFFF">
                    <a:alpha val="69804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90000"/>
                  </a:srgbClr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1160EA64-D806-43AC-9DF2-F8C432F32B4C}" type="datetimeFigureOut">
              <a:rPr lang="en-US" dirty="0"/>
              <a:pPr/>
              <a:t>5/7/2018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8523" y="6236208"/>
            <a:ext cx="5103729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9C37B-1D36-470B-8223-D6C91242EC14}" type="datetimeFigureOut">
              <a:rPr lang="en-US" dirty="0"/>
              <a:t>5/7/2018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6F52A-A82B-47A2-A83A-8C4C91F2D59F}" type="datetimeFigureOut">
              <a:rPr lang="en-US" dirty="0"/>
              <a:t>5/7/2018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31136" y="964692"/>
            <a:ext cx="7729728" cy="1188720"/>
          </a:xfrm>
          <a:prstGeom prst="rect">
            <a:avLst/>
          </a:prstGeom>
          <a:solidFill>
            <a:schemeClr val="bg1"/>
          </a:solidFill>
          <a:ln w="317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1160EA64-D806-43AC-9DF2-F8C432F32B4C}" type="datetimeFigureOut">
              <a:rPr lang="en-US" dirty="0"/>
              <a:t>5/7/2018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sldNum="0"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gi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gif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B57E33-E582-4A56-BE33-3D7B61396E6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/>
              <a:t>Linear Revision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91DB8F5-C83E-4692-BA9A-0FC5D716562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AU" dirty="0"/>
              <a:t>A reminder of what you should have learnt last year! </a:t>
            </a:r>
            <a:r>
              <a:rPr lang="en-AU" dirty="0">
                <a:sym typeface="Wingdings" panose="05000000000000000000" pitchFamily="2" charset="2"/>
              </a:rPr>
              <a:t>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1148439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3B924-0D3D-48F2-AD0D-C0ADCD1844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I Suggest you rule up </a:t>
            </a:r>
            <a:r>
              <a:rPr lang="en-AU" dirty="0" err="1"/>
              <a:t>cornell</a:t>
            </a:r>
            <a:r>
              <a:rPr lang="en-AU" dirty="0"/>
              <a:t> notes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8B96B5-6102-4432-BEC6-FACBA2EE22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AU" sz="2800" dirty="0">
                <a:solidFill>
                  <a:schemeClr val="accent6"/>
                </a:solidFill>
              </a:rPr>
              <a:t>Topic: Linear Revision</a:t>
            </a:r>
          </a:p>
          <a:p>
            <a:r>
              <a:rPr lang="en-AU" sz="2800" dirty="0">
                <a:solidFill>
                  <a:schemeClr val="accent6"/>
                </a:solidFill>
              </a:rPr>
              <a:t>EQ: How much do I remember </a:t>
            </a:r>
            <a:r>
              <a:rPr lang="en-AU" sz="2800" dirty="0" smtClean="0">
                <a:solidFill>
                  <a:schemeClr val="accent6"/>
                </a:solidFill>
              </a:rPr>
              <a:t>about linear relationships?</a:t>
            </a:r>
            <a:endParaRPr lang="en-AU" sz="2800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289372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6594E7-CBAB-4470-A697-A512BCFC97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The linear equation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2DD67A-2B82-42F5-9528-30C876F8FD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2638045"/>
            <a:ext cx="7729728" cy="642484"/>
          </a:xfrm>
        </p:spPr>
        <p:txBody>
          <a:bodyPr/>
          <a:lstStyle/>
          <a:p>
            <a:r>
              <a:rPr lang="en-AU" sz="2400" dirty="0"/>
              <a:t>The General equation for a linear function is:</a:t>
            </a:r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E93712B2-E87A-4BD7-AE99-A3DF7CCE21F4}"/>
              </a:ext>
            </a:extLst>
          </p:cNvPr>
          <p:cNvSpPr/>
          <p:nvPr/>
        </p:nvSpPr>
        <p:spPr>
          <a:xfrm rot="1587551">
            <a:off x="5660403" y="4295324"/>
            <a:ext cx="1617815" cy="40535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97C61C63-40BF-4B74-98C7-A5DD6936DE36}"/>
              </a:ext>
            </a:extLst>
          </p:cNvPr>
          <p:cNvSpPr/>
          <p:nvPr/>
        </p:nvSpPr>
        <p:spPr>
          <a:xfrm rot="7248696">
            <a:off x="3350116" y="4672731"/>
            <a:ext cx="1132287" cy="40535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057195A-E998-4639-BD4F-1CB99273BFEC}"/>
                  </a:ext>
                </a:extLst>
              </p:cNvPr>
              <p:cNvSpPr txBox="1"/>
              <p:nvPr/>
            </p:nvSpPr>
            <p:spPr>
              <a:xfrm>
                <a:off x="2650502" y="3577472"/>
                <a:ext cx="3459637" cy="707886"/>
              </a:xfrm>
              <a:prstGeom prst="rect">
                <a:avLst/>
              </a:prstGeom>
              <a:noFill/>
              <a:ln w="28575"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400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sz="400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4000" i="1" smtClean="0">
                          <a:latin typeface="Cambria Math" panose="02040503050406030204" pitchFamily="18" charset="0"/>
                        </a:rPr>
                        <m:t>𝑚𝑥</m:t>
                      </m:r>
                      <m:r>
                        <a:rPr lang="en-AU" sz="40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4000" i="1"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en-AU" sz="40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057195A-E998-4639-BD4F-1CB99273BF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50502" y="3577472"/>
                <a:ext cx="3459637" cy="70788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28575"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75E77077-6610-4D21-8822-BEC0B0296154}"/>
              </a:ext>
            </a:extLst>
          </p:cNvPr>
          <p:cNvSpPr txBox="1"/>
          <p:nvPr/>
        </p:nvSpPr>
        <p:spPr>
          <a:xfrm>
            <a:off x="7211505" y="4644574"/>
            <a:ext cx="17062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y intercept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9BB8169-F56C-4053-91E4-D615ABC87F4F}"/>
              </a:ext>
            </a:extLst>
          </p:cNvPr>
          <p:cNvSpPr txBox="1"/>
          <p:nvPr/>
        </p:nvSpPr>
        <p:spPr>
          <a:xfrm>
            <a:off x="2599075" y="5234626"/>
            <a:ext cx="17062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Gradient </a:t>
            </a:r>
          </a:p>
        </p:txBody>
      </p:sp>
    </p:spTree>
    <p:extLst>
      <p:ext uri="{BB962C8B-B14F-4D97-AF65-F5344CB8AC3E}">
        <p14:creationId xmlns:p14="http://schemas.microsoft.com/office/powerpoint/2010/main" val="41856273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animBg="1"/>
      <p:bldP spid="5" grpId="0" animBg="1"/>
      <p:bldP spid="6" grpId="0" animBg="1"/>
      <p:bldP spid="8" grpId="0"/>
      <p:bldP spid="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400B18-E9C4-4458-8679-276B877E6A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Gradient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8C66A13-E0B0-478F-86B7-05BBC5F1486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231136" y="2638044"/>
                <a:ext cx="7729728" cy="3574220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AU" sz="3200" dirty="0"/>
                  <a:t>What is the gradient?</a:t>
                </a:r>
              </a:p>
              <a:p>
                <a:pPr lvl="1"/>
                <a:r>
                  <a:rPr lang="en-AU" sz="2800" dirty="0">
                    <a:solidFill>
                      <a:schemeClr val="accent2"/>
                    </a:solidFill>
                  </a:rPr>
                  <a:t>The rate of change</a:t>
                </a:r>
              </a:p>
              <a:p>
                <a:pPr lvl="1"/>
                <a:r>
                  <a:rPr lang="en-AU" sz="2800" dirty="0">
                    <a:solidFill>
                      <a:schemeClr val="accent6"/>
                    </a:solidFill>
                  </a:rPr>
                  <a:t>Affects the direction and steepness of the slope</a:t>
                </a:r>
              </a:p>
              <a:p>
                <a:endParaRPr lang="en-AU" sz="3000" dirty="0"/>
              </a:p>
              <a:p>
                <a:r>
                  <a:rPr lang="en-AU" sz="3000" dirty="0">
                    <a:solidFill>
                      <a:schemeClr val="accent6"/>
                    </a:solidFill>
                  </a:rPr>
                  <a:t>Formula: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AU" sz="3000" b="0" i="0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m</m:t>
                    </m:r>
                    <m:r>
                      <a:rPr lang="en-AU" sz="3000" b="0" i="0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AU" sz="300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3000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𝑟𝑖𝑠𝑒</m:t>
                        </m:r>
                      </m:num>
                      <m:den>
                        <m:r>
                          <a:rPr lang="en-AU" sz="3000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𝑟𝑢𝑛</m:t>
                        </m:r>
                      </m:den>
                    </m:f>
                  </m:oMath>
                </a14:m>
                <a:r>
                  <a:rPr lang="en-AU" sz="3000" dirty="0">
                    <a:solidFill>
                      <a:schemeClr val="accent6"/>
                    </a:solidFill>
                  </a:rPr>
                  <a:t> </a:t>
                </a:r>
              </a:p>
              <a:p>
                <a:pPr lvl="1"/>
                <a:r>
                  <a:rPr lang="en-AU" sz="2800" dirty="0"/>
                  <a:t>We’ll come back to this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8C66A13-E0B0-478F-86B7-05BBC5F1486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231136" y="2638044"/>
                <a:ext cx="7729728" cy="3574220"/>
              </a:xfrm>
              <a:blipFill>
                <a:blip r:embed="rId2"/>
                <a:stretch>
                  <a:fillRect l="-1814" t="-358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6B146E1F-4930-4A42-AA00-4CE4AB6E2D81}"/>
              </a:ext>
            </a:extLst>
          </p:cNvPr>
          <p:cNvSpPr txBox="1"/>
          <p:nvPr/>
        </p:nvSpPr>
        <p:spPr>
          <a:xfrm>
            <a:off x="9012025" y="6081844"/>
            <a:ext cx="31799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schemeClr val="accent2"/>
                </a:solidFill>
              </a:rPr>
              <a:t>GLOSSARY ALERT</a:t>
            </a:r>
          </a:p>
        </p:txBody>
      </p:sp>
    </p:spTree>
    <p:extLst>
      <p:ext uri="{BB962C8B-B14F-4D97-AF65-F5344CB8AC3E}">
        <p14:creationId xmlns:p14="http://schemas.microsoft.com/office/powerpoint/2010/main" val="24491481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E7F9EB-0B53-4DB8-9CF4-5ACBF4B111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Gradient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6098AF7-4AA7-47B0-9FE2-097936BF80C3}"/>
              </a:ext>
            </a:extLst>
          </p:cNvPr>
          <p:cNvSpPr txBox="1"/>
          <p:nvPr/>
        </p:nvSpPr>
        <p:spPr>
          <a:xfrm>
            <a:off x="2231136" y="2630078"/>
            <a:ext cx="3073138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AU" sz="2400" dirty="0"/>
              <a:t>A positive gradient gives a positive slope: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AU" sz="2400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AU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m&gt;0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AU" sz="2400" dirty="0"/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AU" sz="2400" dirty="0"/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AU" sz="2400" dirty="0"/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AU" sz="2400" dirty="0"/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AU" sz="2400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A38F2635-A0FB-41F6-8BE0-48DE19B9FED7}"/>
              </a:ext>
            </a:extLst>
          </p:cNvPr>
          <p:cNvGrpSpPr/>
          <p:nvPr/>
        </p:nvGrpSpPr>
        <p:grpSpPr>
          <a:xfrm>
            <a:off x="7547855" y="3637960"/>
            <a:ext cx="3403076" cy="3335901"/>
            <a:chOff x="6557788" y="3522099"/>
            <a:chExt cx="3403076" cy="3335901"/>
          </a:xfrm>
        </p:grpSpPr>
        <p:sp>
          <p:nvSpPr>
            <p:cNvPr id="5" name="Plus Sign 4">
              <a:extLst>
                <a:ext uri="{FF2B5EF4-FFF2-40B4-BE49-F238E27FC236}">
                  <a16:creationId xmlns:a16="http://schemas.microsoft.com/office/drawing/2014/main" id="{081BA71D-7B6C-46B7-8C0A-11D11A80B290}"/>
                </a:ext>
              </a:extLst>
            </p:cNvPr>
            <p:cNvSpPr/>
            <p:nvPr/>
          </p:nvSpPr>
          <p:spPr>
            <a:xfrm>
              <a:off x="6557788" y="3522099"/>
              <a:ext cx="3403076" cy="3335901"/>
            </a:xfrm>
            <a:prstGeom prst="mathPlus">
              <a:avLst>
                <a:gd name="adj1" fmla="val 1530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A9F54B25-DB6E-4A15-8A15-AAE09340AE86}"/>
                </a:ext>
              </a:extLst>
            </p:cNvPr>
            <p:cNvCxnSpPr>
              <a:cxnSpLocks/>
            </p:cNvCxnSpPr>
            <p:nvPr/>
          </p:nvCxnSpPr>
          <p:spPr>
            <a:xfrm>
              <a:off x="7456602" y="4289196"/>
              <a:ext cx="1970202" cy="1484571"/>
            </a:xfrm>
            <a:prstGeom prst="straightConnector1">
              <a:avLst/>
            </a:prstGeom>
            <a:ln w="38100">
              <a:headEnd type="triangle"/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6A79DF97-8994-4054-B177-53B835DDCC4B}"/>
              </a:ext>
            </a:extLst>
          </p:cNvPr>
          <p:cNvSpPr txBox="1"/>
          <p:nvPr/>
        </p:nvSpPr>
        <p:spPr>
          <a:xfrm>
            <a:off x="6887728" y="2630078"/>
            <a:ext cx="300099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AU" sz="2400" dirty="0"/>
              <a:t>A negative gradient gives a negative slope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AU" sz="2400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AU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m&lt;0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AU" sz="2400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01DD7C9-75D3-4A36-BF20-DDADFB5A7435}"/>
              </a:ext>
            </a:extLst>
          </p:cNvPr>
          <p:cNvGrpSpPr/>
          <p:nvPr/>
        </p:nvGrpSpPr>
        <p:grpSpPr>
          <a:xfrm>
            <a:off x="2528082" y="3637961"/>
            <a:ext cx="3403076" cy="3335901"/>
            <a:chOff x="1901198" y="3429000"/>
            <a:chExt cx="3403076" cy="3335901"/>
          </a:xfrm>
        </p:grpSpPr>
        <p:sp>
          <p:nvSpPr>
            <p:cNvPr id="15" name="Plus Sign 14">
              <a:extLst>
                <a:ext uri="{FF2B5EF4-FFF2-40B4-BE49-F238E27FC236}">
                  <a16:creationId xmlns:a16="http://schemas.microsoft.com/office/drawing/2014/main" id="{F8274B43-C1F1-4518-AE4C-37D801B276B7}"/>
                </a:ext>
              </a:extLst>
            </p:cNvPr>
            <p:cNvSpPr/>
            <p:nvPr/>
          </p:nvSpPr>
          <p:spPr>
            <a:xfrm>
              <a:off x="1901198" y="3429000"/>
              <a:ext cx="3403076" cy="3335901"/>
            </a:xfrm>
            <a:prstGeom prst="mathPlus">
              <a:avLst>
                <a:gd name="adj1" fmla="val 1530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38DB1495-74BA-4500-8CB6-1D5F365CC77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417563" y="4233823"/>
              <a:ext cx="2370346" cy="1330983"/>
            </a:xfrm>
            <a:prstGeom prst="straightConnector1">
              <a:avLst/>
            </a:prstGeom>
            <a:ln w="38100">
              <a:headEnd type="triangle"/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6634737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477193-7280-4BC9-9146-B7F6962FEF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Gradients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F78DF3-C637-4CF5-8540-0B9F8265C8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2694605"/>
            <a:ext cx="3283544" cy="3101983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AU" sz="2400" dirty="0"/>
              <a:t>The greater the |gradient| the steeper the slope: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85171D02-4A02-458B-9EB7-7C80B2BF9876}"/>
              </a:ext>
            </a:extLst>
          </p:cNvPr>
          <p:cNvGrpSpPr/>
          <p:nvPr/>
        </p:nvGrpSpPr>
        <p:grpSpPr>
          <a:xfrm>
            <a:off x="2171370" y="3628532"/>
            <a:ext cx="3403076" cy="3335901"/>
            <a:chOff x="1901198" y="3429000"/>
            <a:chExt cx="3403076" cy="3335901"/>
          </a:xfrm>
        </p:grpSpPr>
        <p:sp>
          <p:nvSpPr>
            <p:cNvPr id="5" name="Plus Sign 4">
              <a:extLst>
                <a:ext uri="{FF2B5EF4-FFF2-40B4-BE49-F238E27FC236}">
                  <a16:creationId xmlns:a16="http://schemas.microsoft.com/office/drawing/2014/main" id="{0B63A720-ACF7-416F-BB7A-AA990F809FE7}"/>
                </a:ext>
              </a:extLst>
            </p:cNvPr>
            <p:cNvSpPr/>
            <p:nvPr/>
          </p:nvSpPr>
          <p:spPr>
            <a:xfrm>
              <a:off x="1901198" y="3429000"/>
              <a:ext cx="3403076" cy="3335901"/>
            </a:xfrm>
            <a:prstGeom prst="mathPlus">
              <a:avLst>
                <a:gd name="adj1" fmla="val 1530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DE64E65A-E126-4F94-9E43-DD44B837486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285241" y="3844565"/>
              <a:ext cx="688157" cy="2281286"/>
            </a:xfrm>
            <a:prstGeom prst="straightConnector1">
              <a:avLst/>
            </a:prstGeom>
            <a:ln w="38100">
              <a:headEnd type="triangle"/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58468576-5350-46D4-B012-2AED819AF37E}"/>
              </a:ext>
            </a:extLst>
          </p:cNvPr>
          <p:cNvGrpSpPr/>
          <p:nvPr/>
        </p:nvGrpSpPr>
        <p:grpSpPr>
          <a:xfrm>
            <a:off x="6600401" y="3571971"/>
            <a:ext cx="3403076" cy="3335901"/>
            <a:chOff x="1901198" y="3429000"/>
            <a:chExt cx="3403076" cy="3335901"/>
          </a:xfrm>
        </p:grpSpPr>
        <p:sp>
          <p:nvSpPr>
            <p:cNvPr id="11" name="Plus Sign 10">
              <a:extLst>
                <a:ext uri="{FF2B5EF4-FFF2-40B4-BE49-F238E27FC236}">
                  <a16:creationId xmlns:a16="http://schemas.microsoft.com/office/drawing/2014/main" id="{14A29847-80C5-4946-B0F5-66B4A145E456}"/>
                </a:ext>
              </a:extLst>
            </p:cNvPr>
            <p:cNvSpPr/>
            <p:nvPr/>
          </p:nvSpPr>
          <p:spPr>
            <a:xfrm>
              <a:off x="1901198" y="3429000"/>
              <a:ext cx="3403076" cy="3335901"/>
            </a:xfrm>
            <a:prstGeom prst="mathPlus">
              <a:avLst>
                <a:gd name="adj1" fmla="val 1530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5E567E85-6475-4D5A-9BC8-D3356A8FF66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540650" y="4824953"/>
              <a:ext cx="2224727" cy="461913"/>
            </a:xfrm>
            <a:prstGeom prst="straightConnector1">
              <a:avLst/>
            </a:prstGeom>
            <a:ln w="38100">
              <a:headEnd type="triangle"/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21E65207-5954-440D-AE1A-BAB5B427626E}"/>
              </a:ext>
            </a:extLst>
          </p:cNvPr>
          <p:cNvSpPr txBox="1">
            <a:spLocks/>
          </p:cNvSpPr>
          <p:nvPr/>
        </p:nvSpPr>
        <p:spPr>
          <a:xfrm>
            <a:off x="6737086" y="2638043"/>
            <a:ext cx="3283544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31286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431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82775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Ø"/>
            </a:pPr>
            <a:r>
              <a:rPr lang="en-AU" sz="2400" dirty="0"/>
              <a:t>The smaller the |gradient| the flatter the slope: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7612109-8A11-4D6D-A872-7F09323D980B}"/>
              </a:ext>
            </a:extLst>
          </p:cNvPr>
          <p:cNvSpPr txBox="1"/>
          <p:nvPr/>
        </p:nvSpPr>
        <p:spPr>
          <a:xfrm>
            <a:off x="71389" y="5751009"/>
            <a:ext cx="294116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chemeClr val="accent2"/>
                </a:solidFill>
              </a:rPr>
              <a:t>GLOSSARY ALERT</a:t>
            </a:r>
          </a:p>
          <a:p>
            <a:r>
              <a:rPr lang="en-AU" sz="1400" dirty="0"/>
              <a:t>|x| </a:t>
            </a:r>
            <a:r>
              <a:rPr lang="en-AU" sz="1400" dirty="0">
                <a:sym typeface="Wingdings" panose="05000000000000000000" pitchFamily="2" charset="2"/>
              </a:rPr>
              <a:t></a:t>
            </a:r>
            <a:r>
              <a:rPr lang="en-AU" sz="1400" dirty="0"/>
              <a:t> the straight line brackets mean we are considering the absolute value, which is the distance from zero</a:t>
            </a:r>
          </a:p>
        </p:txBody>
      </p:sp>
    </p:spTree>
    <p:extLst>
      <p:ext uri="{BB962C8B-B14F-4D97-AF65-F5344CB8AC3E}">
        <p14:creationId xmlns:p14="http://schemas.microsoft.com/office/powerpoint/2010/main" val="19710832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13" grpId="0"/>
      <p:bldP spid="1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53DD80-16CC-4A23-8DF9-762FB06E39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Gradients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BC2DD91-5C87-430B-B852-6C14AA3C6631}"/>
              </a:ext>
            </a:extLst>
          </p:cNvPr>
          <p:cNvSpPr txBox="1">
            <a:spLocks/>
          </p:cNvSpPr>
          <p:nvPr/>
        </p:nvSpPr>
        <p:spPr>
          <a:xfrm>
            <a:off x="2231136" y="2694605"/>
            <a:ext cx="3283544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31286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431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82775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Ø"/>
            </a:pPr>
            <a:r>
              <a:rPr lang="en-AU" sz="2400" dirty="0"/>
              <a:t>Undefined gradient: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B488E6EC-7B13-433E-A0C7-7E63756A9C8B}"/>
              </a:ext>
            </a:extLst>
          </p:cNvPr>
          <p:cNvGrpSpPr/>
          <p:nvPr/>
        </p:nvGrpSpPr>
        <p:grpSpPr>
          <a:xfrm>
            <a:off x="2171370" y="3036638"/>
            <a:ext cx="3403076" cy="3335901"/>
            <a:chOff x="1901198" y="3429000"/>
            <a:chExt cx="3403076" cy="3335901"/>
          </a:xfrm>
        </p:grpSpPr>
        <p:sp>
          <p:nvSpPr>
            <p:cNvPr id="6" name="Plus Sign 5">
              <a:extLst>
                <a:ext uri="{FF2B5EF4-FFF2-40B4-BE49-F238E27FC236}">
                  <a16:creationId xmlns:a16="http://schemas.microsoft.com/office/drawing/2014/main" id="{7EC96972-CC1D-4ADD-A3B9-D96C574477A5}"/>
                </a:ext>
              </a:extLst>
            </p:cNvPr>
            <p:cNvSpPr/>
            <p:nvPr/>
          </p:nvSpPr>
          <p:spPr>
            <a:xfrm>
              <a:off x="1901198" y="3429000"/>
              <a:ext cx="3403076" cy="3335901"/>
            </a:xfrm>
            <a:prstGeom prst="mathPlus">
              <a:avLst>
                <a:gd name="adj1" fmla="val 1530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7D96F655-8841-4330-82D6-B8F949B5FA6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973398" y="3844565"/>
              <a:ext cx="1" cy="2287823"/>
            </a:xfrm>
            <a:prstGeom prst="straightConnector1">
              <a:avLst/>
            </a:prstGeom>
            <a:ln w="38100">
              <a:headEnd type="triangle"/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DBF5517D-0F73-4C0C-8D2E-0F35E19BC7A8}"/>
              </a:ext>
            </a:extLst>
          </p:cNvPr>
          <p:cNvGrpSpPr/>
          <p:nvPr/>
        </p:nvGrpSpPr>
        <p:grpSpPr>
          <a:xfrm>
            <a:off x="6567213" y="3036638"/>
            <a:ext cx="3403076" cy="3335901"/>
            <a:chOff x="1901198" y="3429000"/>
            <a:chExt cx="3403076" cy="3335901"/>
          </a:xfrm>
        </p:grpSpPr>
        <p:sp>
          <p:nvSpPr>
            <p:cNvPr id="9" name="Plus Sign 8">
              <a:extLst>
                <a:ext uri="{FF2B5EF4-FFF2-40B4-BE49-F238E27FC236}">
                  <a16:creationId xmlns:a16="http://schemas.microsoft.com/office/drawing/2014/main" id="{C656337E-9BEA-4E91-8D6B-F2D2FF65A5F5}"/>
                </a:ext>
              </a:extLst>
            </p:cNvPr>
            <p:cNvSpPr/>
            <p:nvPr/>
          </p:nvSpPr>
          <p:spPr>
            <a:xfrm>
              <a:off x="1901198" y="3429000"/>
              <a:ext cx="3403076" cy="3335901"/>
            </a:xfrm>
            <a:prstGeom prst="mathPlus">
              <a:avLst>
                <a:gd name="adj1" fmla="val 1530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07954253-E7D5-4534-8309-BD4A781A917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380396" y="4685114"/>
              <a:ext cx="2304977" cy="29457"/>
            </a:xfrm>
            <a:prstGeom prst="straightConnector1">
              <a:avLst/>
            </a:prstGeom>
            <a:ln w="38100">
              <a:headEnd type="triangle"/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3A6BE6A7-9A03-480B-885C-2D1C1FE1E546}"/>
              </a:ext>
            </a:extLst>
          </p:cNvPr>
          <p:cNvSpPr txBox="1">
            <a:spLocks/>
          </p:cNvSpPr>
          <p:nvPr/>
        </p:nvSpPr>
        <p:spPr>
          <a:xfrm>
            <a:off x="6737086" y="2638043"/>
            <a:ext cx="3283544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31286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431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82775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Ø"/>
            </a:pPr>
            <a:r>
              <a:rPr lang="en-AU" sz="2400" dirty="0"/>
              <a:t>Zero gradient:</a:t>
            </a:r>
          </a:p>
        </p:txBody>
      </p:sp>
    </p:spTree>
    <p:extLst>
      <p:ext uri="{BB962C8B-B14F-4D97-AF65-F5344CB8AC3E}">
        <p14:creationId xmlns:p14="http://schemas.microsoft.com/office/powerpoint/2010/main" val="23485661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1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151D31-740D-4BF9-8AFC-8E614045F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Estimate the gradient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970D69-2DD2-4E82-97ED-32A6DDA1F3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2638045"/>
            <a:ext cx="7729728" cy="118872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AU" sz="2800" dirty="0"/>
              <a:t>State whether the </a:t>
            </a:r>
            <a:r>
              <a:rPr lang="en-AU" sz="2800" dirty="0">
                <a:solidFill>
                  <a:schemeClr val="accent2"/>
                </a:solidFill>
              </a:rPr>
              <a:t>gradient is negative or positive </a:t>
            </a:r>
            <a:r>
              <a:rPr lang="en-AU" sz="2800" dirty="0"/>
              <a:t>and whether its </a:t>
            </a:r>
            <a:r>
              <a:rPr lang="en-AU" sz="2800" dirty="0">
                <a:solidFill>
                  <a:schemeClr val="accent2"/>
                </a:solidFill>
              </a:rPr>
              <a:t>absolute value is high or low: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312483D8-5E62-485E-B27B-B1BC9AB67B40}"/>
              </a:ext>
            </a:extLst>
          </p:cNvPr>
          <p:cNvGrpSpPr/>
          <p:nvPr/>
        </p:nvGrpSpPr>
        <p:grpSpPr>
          <a:xfrm>
            <a:off x="2925066" y="3390106"/>
            <a:ext cx="3403076" cy="3335901"/>
            <a:chOff x="1901198" y="3429000"/>
            <a:chExt cx="3403076" cy="3335901"/>
          </a:xfrm>
        </p:grpSpPr>
        <p:sp>
          <p:nvSpPr>
            <p:cNvPr id="5" name="Plus Sign 4">
              <a:extLst>
                <a:ext uri="{FF2B5EF4-FFF2-40B4-BE49-F238E27FC236}">
                  <a16:creationId xmlns:a16="http://schemas.microsoft.com/office/drawing/2014/main" id="{DE7387CC-50EC-48B7-BA0B-38EB4F0D660E}"/>
                </a:ext>
              </a:extLst>
            </p:cNvPr>
            <p:cNvSpPr/>
            <p:nvPr/>
          </p:nvSpPr>
          <p:spPr>
            <a:xfrm>
              <a:off x="1901198" y="3429000"/>
              <a:ext cx="3403076" cy="3335901"/>
            </a:xfrm>
            <a:prstGeom prst="mathPlus">
              <a:avLst>
                <a:gd name="adj1" fmla="val 1530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BBD1F182-B1E2-46B3-BD12-3B4A72FA6530}"/>
                </a:ext>
              </a:extLst>
            </p:cNvPr>
            <p:cNvCxnSpPr>
              <a:cxnSpLocks/>
            </p:cNvCxnSpPr>
            <p:nvPr/>
          </p:nvCxnSpPr>
          <p:spPr>
            <a:xfrm>
              <a:off x="2624549" y="4742869"/>
              <a:ext cx="1969958" cy="782425"/>
            </a:xfrm>
            <a:prstGeom prst="straightConnector1">
              <a:avLst/>
            </a:prstGeom>
            <a:ln w="38100">
              <a:headEnd type="triangle"/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F2C4BEB1-A272-465C-920C-0CA0DFD55FBC}"/>
              </a:ext>
            </a:extLst>
          </p:cNvPr>
          <p:cNvGrpSpPr/>
          <p:nvPr/>
        </p:nvGrpSpPr>
        <p:grpSpPr>
          <a:xfrm>
            <a:off x="-253714" y="3390105"/>
            <a:ext cx="3403076" cy="3335901"/>
            <a:chOff x="1901198" y="3429000"/>
            <a:chExt cx="3403076" cy="3335901"/>
          </a:xfrm>
        </p:grpSpPr>
        <p:sp>
          <p:nvSpPr>
            <p:cNvPr id="8" name="Plus Sign 7">
              <a:extLst>
                <a:ext uri="{FF2B5EF4-FFF2-40B4-BE49-F238E27FC236}">
                  <a16:creationId xmlns:a16="http://schemas.microsoft.com/office/drawing/2014/main" id="{EDA6F700-3419-4DA8-89F0-A05585ABC5A6}"/>
                </a:ext>
              </a:extLst>
            </p:cNvPr>
            <p:cNvSpPr/>
            <p:nvPr/>
          </p:nvSpPr>
          <p:spPr>
            <a:xfrm>
              <a:off x="1901198" y="3429000"/>
              <a:ext cx="3403076" cy="3335901"/>
            </a:xfrm>
            <a:prstGeom prst="mathPlus">
              <a:avLst>
                <a:gd name="adj1" fmla="val 1530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D691BB6B-25F6-4E4E-A140-B50C3634674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024716" y="3988726"/>
              <a:ext cx="1070350" cy="1979629"/>
            </a:xfrm>
            <a:prstGeom prst="straightConnector1">
              <a:avLst/>
            </a:prstGeom>
            <a:ln w="38100">
              <a:headEnd type="triangle"/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70759A41-BA18-4BA4-B135-ACDCF0A10583}"/>
              </a:ext>
            </a:extLst>
          </p:cNvPr>
          <p:cNvGrpSpPr/>
          <p:nvPr/>
        </p:nvGrpSpPr>
        <p:grpSpPr>
          <a:xfrm>
            <a:off x="5969342" y="3390106"/>
            <a:ext cx="3403076" cy="3335901"/>
            <a:chOff x="1901198" y="3429000"/>
            <a:chExt cx="3403076" cy="3335901"/>
          </a:xfrm>
        </p:grpSpPr>
        <p:sp>
          <p:nvSpPr>
            <p:cNvPr id="11" name="Plus Sign 10">
              <a:extLst>
                <a:ext uri="{FF2B5EF4-FFF2-40B4-BE49-F238E27FC236}">
                  <a16:creationId xmlns:a16="http://schemas.microsoft.com/office/drawing/2014/main" id="{8D518E9C-67B9-461F-B09F-C60BB5752152}"/>
                </a:ext>
              </a:extLst>
            </p:cNvPr>
            <p:cNvSpPr/>
            <p:nvPr/>
          </p:nvSpPr>
          <p:spPr>
            <a:xfrm>
              <a:off x="1901198" y="3429000"/>
              <a:ext cx="3403076" cy="3335901"/>
            </a:xfrm>
            <a:prstGeom prst="mathPlus">
              <a:avLst>
                <a:gd name="adj1" fmla="val 1530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AE477059-B1B6-41D6-AC35-08C227AF21C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667234" y="4604816"/>
              <a:ext cx="1871003" cy="0"/>
            </a:xfrm>
            <a:prstGeom prst="straightConnector1">
              <a:avLst/>
            </a:prstGeom>
            <a:ln w="38100">
              <a:headEnd type="triangle"/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C399A132-3507-4CAA-8524-B7FE7E401CE9}"/>
              </a:ext>
            </a:extLst>
          </p:cNvPr>
          <p:cNvGrpSpPr/>
          <p:nvPr/>
        </p:nvGrpSpPr>
        <p:grpSpPr>
          <a:xfrm>
            <a:off x="8953956" y="3390106"/>
            <a:ext cx="3403076" cy="3335901"/>
            <a:chOff x="1901198" y="3429000"/>
            <a:chExt cx="3403076" cy="3335901"/>
          </a:xfrm>
        </p:grpSpPr>
        <p:sp>
          <p:nvSpPr>
            <p:cNvPr id="14" name="Plus Sign 13">
              <a:extLst>
                <a:ext uri="{FF2B5EF4-FFF2-40B4-BE49-F238E27FC236}">
                  <a16:creationId xmlns:a16="http://schemas.microsoft.com/office/drawing/2014/main" id="{97D65737-63EB-4BC6-B3CE-775E3B0830A0}"/>
                </a:ext>
              </a:extLst>
            </p:cNvPr>
            <p:cNvSpPr/>
            <p:nvPr/>
          </p:nvSpPr>
          <p:spPr>
            <a:xfrm>
              <a:off x="1901198" y="3429000"/>
              <a:ext cx="3403076" cy="3335901"/>
            </a:xfrm>
            <a:prstGeom prst="mathPlus">
              <a:avLst>
                <a:gd name="adj1" fmla="val 1530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B4CF4F93-90C3-4CFC-AC26-F135D3513B6E}"/>
                </a:ext>
              </a:extLst>
            </p:cNvPr>
            <p:cNvCxnSpPr>
              <a:cxnSpLocks/>
            </p:cNvCxnSpPr>
            <p:nvPr/>
          </p:nvCxnSpPr>
          <p:spPr>
            <a:xfrm>
              <a:off x="3382714" y="3988725"/>
              <a:ext cx="452487" cy="1979629"/>
            </a:xfrm>
            <a:prstGeom prst="straightConnector1">
              <a:avLst/>
            </a:prstGeom>
            <a:ln w="38100">
              <a:headEnd type="triangle"/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8750003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9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Rectangle 70">
            <a:extLst>
              <a:ext uri="{FF2B5EF4-FFF2-40B4-BE49-F238E27FC236}">
                <a16:creationId xmlns:a16="http://schemas.microsoft.com/office/drawing/2014/main" id="{B9A6A8C2-8B3A-4AD3-AFCC-F1D3F1F02D3F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94182" y="964692"/>
            <a:ext cx="6885432" cy="4936558"/>
          </a:xfrm>
          <a:prstGeom prst="rect">
            <a:avLst/>
          </a:prstGeom>
          <a:noFill/>
          <a:ln w="317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CDF64937-39B5-4AB3-A2EF-EA689BA6087B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7802" y="1128683"/>
            <a:ext cx="6558192" cy="4608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Image result for different gradients linear graph">
            <a:extLst>
              <a:ext uri="{FF2B5EF4-FFF2-40B4-BE49-F238E27FC236}">
                <a16:creationId xmlns:a16="http://schemas.microsoft.com/office/drawing/2014/main" id="{6D03EF9F-7658-4A50-B2E3-74D4226EF5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3366" y="1378040"/>
            <a:ext cx="6227064" cy="41098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B066555-8153-4E08-B227-92892D886A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964692"/>
            <a:ext cx="3066937" cy="1188720"/>
          </a:xfrm>
        </p:spPr>
        <p:txBody>
          <a:bodyPr>
            <a:normAutofit/>
          </a:bodyPr>
          <a:lstStyle/>
          <a:p>
            <a:r>
              <a:rPr lang="en-AU" dirty="0"/>
              <a:t>Y intercept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FB61EB-8187-4806-ABB4-C18693A471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4672" y="2301054"/>
            <a:ext cx="3063765" cy="3600196"/>
          </a:xfrm>
        </p:spPr>
        <p:txBody>
          <a:bodyPr>
            <a:normAutofit/>
          </a:bodyPr>
          <a:lstStyle/>
          <a:p>
            <a:r>
              <a:rPr lang="en-AU" sz="2400" dirty="0"/>
              <a:t>The y intercept is the point where the line crosses the y axis</a:t>
            </a:r>
          </a:p>
          <a:p>
            <a:r>
              <a:rPr lang="en-AU" sz="2400" dirty="0"/>
              <a:t>Where </a:t>
            </a:r>
            <a:r>
              <a:rPr lang="en-AU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x = 0</a:t>
            </a:r>
          </a:p>
          <a:p>
            <a:endParaRPr lang="en-AU" sz="24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r>
              <a:rPr lang="en-AU" sz="2400" dirty="0">
                <a:ea typeface="Cambria Math" panose="02040503050406030204" pitchFamily="18" charset="0"/>
              </a:rPr>
              <a:t>In this case the y intercept =</a:t>
            </a:r>
          </a:p>
          <a:p>
            <a:r>
              <a:rPr lang="en-AU" sz="2400" dirty="0">
                <a:ea typeface="Cambria Math" panose="02040503050406030204" pitchFamily="18" charset="0"/>
              </a:rPr>
              <a:t>(0,3)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BB2CB23-4B4A-4D61-81F4-9BFCD3925E23}"/>
              </a:ext>
            </a:extLst>
          </p:cNvPr>
          <p:cNvSpPr txBox="1"/>
          <p:nvPr/>
        </p:nvSpPr>
        <p:spPr>
          <a:xfrm>
            <a:off x="804672" y="6251526"/>
            <a:ext cx="31799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schemeClr val="accent2"/>
                </a:solidFill>
              </a:rPr>
              <a:t>GLOSSARY ALERT</a:t>
            </a:r>
          </a:p>
        </p:txBody>
      </p:sp>
    </p:spTree>
    <p:extLst>
      <p:ext uri="{BB962C8B-B14F-4D97-AF65-F5344CB8AC3E}">
        <p14:creationId xmlns:p14="http://schemas.microsoft.com/office/powerpoint/2010/main" val="41819323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0B375A-584E-41B8-B249-5BC2BBD736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Table of values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DF8B3B3-D141-482B-B089-D02D8B5E258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90158333"/>
              </p:ext>
            </p:extLst>
          </p:nvPr>
        </p:nvGraphicFramePr>
        <p:xfrm>
          <a:off x="2230438" y="2638424"/>
          <a:ext cx="7731126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8521">
                  <a:extLst>
                    <a:ext uri="{9D8B030D-6E8A-4147-A177-3AD203B41FA5}">
                      <a16:colId xmlns:a16="http://schemas.microsoft.com/office/drawing/2014/main" val="3161383492"/>
                    </a:ext>
                  </a:extLst>
                </a:gridCol>
                <a:gridCol w="1288521">
                  <a:extLst>
                    <a:ext uri="{9D8B030D-6E8A-4147-A177-3AD203B41FA5}">
                      <a16:colId xmlns:a16="http://schemas.microsoft.com/office/drawing/2014/main" val="2637886643"/>
                    </a:ext>
                  </a:extLst>
                </a:gridCol>
                <a:gridCol w="1288521">
                  <a:extLst>
                    <a:ext uri="{9D8B030D-6E8A-4147-A177-3AD203B41FA5}">
                      <a16:colId xmlns:a16="http://schemas.microsoft.com/office/drawing/2014/main" val="3075224915"/>
                    </a:ext>
                  </a:extLst>
                </a:gridCol>
                <a:gridCol w="1288521">
                  <a:extLst>
                    <a:ext uri="{9D8B030D-6E8A-4147-A177-3AD203B41FA5}">
                      <a16:colId xmlns:a16="http://schemas.microsoft.com/office/drawing/2014/main" val="268088300"/>
                    </a:ext>
                  </a:extLst>
                </a:gridCol>
                <a:gridCol w="1288521">
                  <a:extLst>
                    <a:ext uri="{9D8B030D-6E8A-4147-A177-3AD203B41FA5}">
                      <a16:colId xmlns:a16="http://schemas.microsoft.com/office/drawing/2014/main" val="3163215449"/>
                    </a:ext>
                  </a:extLst>
                </a:gridCol>
                <a:gridCol w="1288521">
                  <a:extLst>
                    <a:ext uri="{9D8B030D-6E8A-4147-A177-3AD203B41FA5}">
                      <a16:colId xmlns:a16="http://schemas.microsoft.com/office/drawing/2014/main" val="2115669181"/>
                    </a:ext>
                  </a:extLst>
                </a:gridCol>
              </a:tblGrid>
              <a:tr h="594360">
                <a:tc>
                  <a:txBody>
                    <a:bodyPr/>
                    <a:lstStyle/>
                    <a:p>
                      <a:pPr algn="ctr"/>
                      <a:r>
                        <a:rPr lang="en-AU" sz="2800" dirty="0"/>
                        <a:t>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dirty="0"/>
                        <a:t>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2193580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ctr"/>
                      <a:r>
                        <a:rPr lang="en-AU" sz="2800" dirty="0"/>
                        <a:t>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AU" sz="28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AU" sz="28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AU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AU" sz="28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AU" sz="2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83550893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FEF1723D-4E38-40CA-934C-7AC1C6C7E84A}"/>
              </a:ext>
            </a:extLst>
          </p:cNvPr>
          <p:cNvSpPr txBox="1"/>
          <p:nvPr/>
        </p:nvSpPr>
        <p:spPr>
          <a:xfrm>
            <a:off x="1624615" y="4362257"/>
            <a:ext cx="8942769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/>
              <a:t>Fill in a table of values for the following linear equations:</a:t>
            </a:r>
          </a:p>
          <a:p>
            <a:pPr marL="342900" indent="-342900" algn="ctr">
              <a:buFont typeface="+mj-lt"/>
              <a:buAutoNum type="arabicPeriod"/>
            </a:pPr>
            <a:r>
              <a:rPr lang="en-AU" sz="2800" dirty="0"/>
              <a:t> </a:t>
            </a:r>
            <a:r>
              <a:rPr lang="en-AU" sz="2800" dirty="0">
                <a:latin typeface="Cambria Math" panose="02040503050406030204" pitchFamily="18" charset="0"/>
                <a:ea typeface="Cambria Math" panose="02040503050406030204" pitchFamily="18" charset="0"/>
              </a:rPr>
              <a:t>y=4x+7</a:t>
            </a:r>
          </a:p>
          <a:p>
            <a:pPr marL="342900" indent="-342900" algn="ctr">
              <a:buFont typeface="+mj-lt"/>
              <a:buAutoNum type="arabicPeriod"/>
            </a:pPr>
            <a:r>
              <a:rPr lang="en-AU" sz="2800" dirty="0">
                <a:latin typeface="Cambria Math" panose="02040503050406030204" pitchFamily="18" charset="0"/>
                <a:ea typeface="Cambria Math" panose="02040503050406030204" pitchFamily="18" charset="0"/>
              </a:rPr>
              <a:t> y=-2x+3</a:t>
            </a:r>
          </a:p>
          <a:p>
            <a:pPr marL="342900" indent="-342900" algn="ctr">
              <a:buFont typeface="+mj-lt"/>
              <a:buAutoNum type="arabicPeriod"/>
            </a:pPr>
            <a:r>
              <a:rPr lang="en-AU" sz="2800" dirty="0">
                <a:latin typeface="Cambria Math" panose="02040503050406030204" pitchFamily="18" charset="0"/>
                <a:ea typeface="Cambria Math" panose="02040503050406030204" pitchFamily="18" charset="0"/>
              </a:rPr>
              <a:t>Y=5x – 8  </a:t>
            </a:r>
            <a:endParaRPr lang="en-AU" sz="2800" dirty="0"/>
          </a:p>
        </p:txBody>
      </p:sp>
    </p:spTree>
    <p:extLst>
      <p:ext uri="{BB962C8B-B14F-4D97-AF65-F5344CB8AC3E}">
        <p14:creationId xmlns:p14="http://schemas.microsoft.com/office/powerpoint/2010/main" val="36232817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96AC89B-FC31-4359-8180-FE1BCC496704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43605" y="964692"/>
            <a:ext cx="5440680" cy="4936558"/>
          </a:xfrm>
          <a:prstGeom prst="rect">
            <a:avLst/>
          </a:prstGeom>
          <a:noFill/>
          <a:ln w="317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4A5970C-32AD-45E3-B88B-C683E4C1C563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10699" y="1128683"/>
            <a:ext cx="5106493" cy="4608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9B2D7C2-62CF-48B3-BB3C-63EE1DF5C6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8787" y="171610"/>
            <a:ext cx="6198340" cy="6507443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33B351-69E0-4B97-AA16-4527CC72FC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1804" y="1797397"/>
            <a:ext cx="4492932" cy="3263206"/>
          </a:xfrm>
        </p:spPr>
        <p:txBody>
          <a:bodyPr anchor="ctr">
            <a:normAutofit/>
          </a:bodyPr>
          <a:lstStyle/>
          <a:p>
            <a:r>
              <a:rPr lang="en-AU" sz="3200" dirty="0"/>
              <a:t>Find a rule in the form </a:t>
            </a:r>
            <a:r>
              <a:rPr lang="en-AU" sz="3200" dirty="0">
                <a:solidFill>
                  <a:schemeClr val="accent6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y= mx + c  </a:t>
            </a:r>
            <a:r>
              <a:rPr lang="en-AU" sz="3200" dirty="0">
                <a:ea typeface="Cambria Math" panose="02040503050406030204" pitchFamily="18" charset="0"/>
              </a:rPr>
              <a:t>for the following table of values:</a:t>
            </a:r>
          </a:p>
          <a:p>
            <a:endParaRPr lang="en-AU" sz="3200" dirty="0"/>
          </a:p>
        </p:txBody>
      </p:sp>
    </p:spTree>
    <p:extLst>
      <p:ext uri="{BB962C8B-B14F-4D97-AF65-F5344CB8AC3E}">
        <p14:creationId xmlns:p14="http://schemas.microsoft.com/office/powerpoint/2010/main" val="37246553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Rectangle 72">
            <a:extLst>
              <a:ext uri="{FF2B5EF4-FFF2-40B4-BE49-F238E27FC236}">
                <a16:creationId xmlns:a16="http://schemas.microsoft.com/office/drawing/2014/main" id="{2C25DD4D-AF7C-475A-A237-1E6041A9406B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12192000" cy="491851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74" name="Picture 2" descr="Blank Coordinate Grid With Grid Lines Shown">
            <a:extLst>
              <a:ext uri="{FF2B5EF4-FFF2-40B4-BE49-F238E27FC236}">
                <a16:creationId xmlns:a16="http://schemas.microsoft.com/office/drawing/2014/main" id="{D2216E22-3F94-4DAD-94A6-C3D4C09FE3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4096" y="159081"/>
            <a:ext cx="4585966" cy="46003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Blank Coordinate Grid With Grid Lines Shown">
            <a:extLst>
              <a:ext uri="{FF2B5EF4-FFF2-40B4-BE49-F238E27FC236}">
                <a16:creationId xmlns:a16="http://schemas.microsoft.com/office/drawing/2014/main" id="{03C3DC1E-1A6B-4891-A3E4-DDAAD4D7F9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45111" y="159081"/>
            <a:ext cx="4585966" cy="46003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30C4E40-F314-4101-A6F4-D4FB4FB1B0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0200" y="4941035"/>
            <a:ext cx="8991600" cy="1264762"/>
          </a:xfrm>
        </p:spPr>
        <p:txBody>
          <a:bodyPr vert="horz" lIns="274320" tIns="182880" rIns="274320" bIns="182880" rtlCol="0" anchor="ctr" anchorCtr="1">
            <a:normAutofit/>
          </a:bodyPr>
          <a:lstStyle/>
          <a:p>
            <a:r>
              <a:rPr lang="en-US" sz="3200">
                <a:solidFill>
                  <a:srgbClr val="262626"/>
                </a:solidFill>
              </a:rPr>
              <a:t>What’s the equation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E084C16D-1DDA-4277-9B3D-3BE4FAB16E53}"/>
              </a:ext>
            </a:extLst>
          </p:cNvPr>
          <p:cNvCxnSpPr>
            <a:cxnSpLocks/>
          </p:cNvCxnSpPr>
          <p:nvPr/>
        </p:nvCxnSpPr>
        <p:spPr>
          <a:xfrm flipH="1">
            <a:off x="1904214" y="377072"/>
            <a:ext cx="2083324" cy="3421695"/>
          </a:xfrm>
          <a:prstGeom prst="straightConnector1">
            <a:avLst/>
          </a:prstGeom>
          <a:ln w="57150">
            <a:solidFill>
              <a:srgbClr val="00B0F0"/>
            </a:solidFill>
            <a:headEnd type="triangle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FA32340-C9DE-40C9-ABCC-461E74783026}"/>
                  </a:ext>
                </a:extLst>
              </p:cNvPr>
              <p:cNvSpPr txBox="1"/>
              <p:nvPr/>
            </p:nvSpPr>
            <p:spPr>
              <a:xfrm>
                <a:off x="3553906" y="6138892"/>
                <a:ext cx="5084188" cy="71910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AU" sz="2800" dirty="0">
                    <a:solidFill>
                      <a:schemeClr val="bg1"/>
                    </a:solidFill>
                  </a:rPr>
                  <a:t>Remember the gradient </a:t>
                </a:r>
                <a14:m>
                  <m:oMath xmlns:m="http://schemas.openxmlformats.org/officeDocument/2006/math">
                    <m:r>
                      <a:rPr lang="en-AU" sz="280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AU" sz="28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8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𝑟𝑖𝑠𝑒</m:t>
                        </m:r>
                      </m:num>
                      <m:den>
                        <m:r>
                          <a:rPr lang="en-AU" sz="28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𝑟𝑢𝑛</m:t>
                        </m:r>
                      </m:den>
                    </m:f>
                  </m:oMath>
                </a14:m>
                <a:r>
                  <a:rPr lang="en-AU" sz="2800" dirty="0">
                    <a:solidFill>
                      <a:schemeClr val="bg1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FA32340-C9DE-40C9-ABCC-461E747830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53906" y="6138892"/>
                <a:ext cx="5084188" cy="719108"/>
              </a:xfrm>
              <a:prstGeom prst="rect">
                <a:avLst/>
              </a:prstGeom>
              <a:blipFill>
                <a:blip r:embed="rId3"/>
                <a:stretch>
                  <a:fillRect b="-932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40D10BD-4F66-4DF6-964C-631C91808628}"/>
              </a:ext>
            </a:extLst>
          </p:cNvPr>
          <p:cNvCxnSpPr>
            <a:cxnSpLocks/>
          </p:cNvCxnSpPr>
          <p:nvPr/>
        </p:nvCxnSpPr>
        <p:spPr>
          <a:xfrm>
            <a:off x="6490180" y="1234911"/>
            <a:ext cx="4256377" cy="2017336"/>
          </a:xfrm>
          <a:prstGeom prst="straightConnector1">
            <a:avLst/>
          </a:prstGeom>
          <a:ln w="57150">
            <a:solidFill>
              <a:srgbClr val="00B0F0"/>
            </a:solidFill>
            <a:headEnd type="triangle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038468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02C7B47-DF2D-46D9-9584-5C83FCA86FCA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8FDA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48541E3-A59C-41D3-85D2-70F0E0E9B641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6196" y="804672"/>
            <a:ext cx="10579608" cy="5248656"/>
          </a:xfrm>
          <a:prstGeom prst="rect">
            <a:avLst/>
          </a:prstGeom>
          <a:solidFill>
            <a:srgbClr val="FFFFFF"/>
          </a:solidFill>
          <a:ln w="2540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97151FE-2C9B-4707-8123-F41A5CB2B0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2123" y="804672"/>
            <a:ext cx="5767754" cy="5248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76211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Rectangle 72">
            <a:extLst>
              <a:ext uri="{FF2B5EF4-FFF2-40B4-BE49-F238E27FC236}">
                <a16:creationId xmlns:a16="http://schemas.microsoft.com/office/drawing/2014/main" id="{3FEECDF0-8CEF-4E73-8645-863EBE497FEF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6000" y="0"/>
            <a:ext cx="6095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2" name="Picture 4" descr="Blank Coordinate Grid With Grid Lines Shown">
            <a:extLst>
              <a:ext uri="{FF2B5EF4-FFF2-40B4-BE49-F238E27FC236}">
                <a16:creationId xmlns:a16="http://schemas.microsoft.com/office/drawing/2014/main" id="{D87FEE0C-EBF9-411D-95BA-E4942D757E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3030" y="858431"/>
            <a:ext cx="4818890" cy="48264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08D06F1-4EDD-4708-9894-07CAF895D6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442602"/>
            <a:ext cx="4486656" cy="1645920"/>
          </a:xfrm>
        </p:spPr>
        <p:txBody>
          <a:bodyPr vert="horz" lIns="274320" tIns="182880" rIns="274320" bIns="182880" rtlCol="0" anchor="ctr" anchorCtr="1">
            <a:normAutofit/>
          </a:bodyPr>
          <a:lstStyle/>
          <a:p>
            <a:r>
              <a:rPr lang="en-US" sz="3200" dirty="0">
                <a:solidFill>
                  <a:srgbClr val="262626"/>
                </a:solidFill>
              </a:rPr>
              <a:t>Graph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6425BF-8A08-47C8-9514-1F39F66C52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4672" y="2462784"/>
            <a:ext cx="4486656" cy="2058416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algn="ctr">
              <a:buNone/>
            </a:pPr>
            <a:r>
              <a:rPr lang="en-US" sz="2800" dirty="0">
                <a:solidFill>
                  <a:schemeClr val="bg1"/>
                </a:solidFill>
              </a:rPr>
              <a:t>Pick one of your previous table of values and use it to create a graph on a cartesian plane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38C35F3-C7BC-4906-A1E0-E29624D9662F}"/>
              </a:ext>
            </a:extLst>
          </p:cNvPr>
          <p:cNvSpPr txBox="1"/>
          <p:nvPr/>
        </p:nvSpPr>
        <p:spPr>
          <a:xfrm>
            <a:off x="349386" y="5638227"/>
            <a:ext cx="5231281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>
                <a:solidFill>
                  <a:schemeClr val="accent1"/>
                </a:solidFill>
              </a:rPr>
              <a:t>GLOSSARY ALERT</a:t>
            </a:r>
          </a:p>
          <a:p>
            <a:r>
              <a:rPr lang="en-AU" sz="1600" b="1" dirty="0">
                <a:solidFill>
                  <a:schemeClr val="bg1"/>
                </a:solidFill>
              </a:rPr>
              <a:t>Cartesian plane: </a:t>
            </a:r>
            <a:r>
              <a:rPr lang="en-US" sz="1600" dirty="0">
                <a:solidFill>
                  <a:schemeClr val="bg1"/>
                </a:solidFill>
              </a:rPr>
              <a:t>a plane containing two perpendicular axes, x the horizontal axis and y the vertical axis</a:t>
            </a:r>
            <a:br>
              <a:rPr lang="en-US" sz="1600" dirty="0">
                <a:solidFill>
                  <a:schemeClr val="bg1"/>
                </a:solidFill>
              </a:rPr>
            </a:br>
            <a:r>
              <a:rPr lang="en-US" sz="1600" dirty="0">
                <a:solidFill>
                  <a:schemeClr val="bg1"/>
                </a:solidFill>
              </a:rPr>
              <a:t>which intersect at a point called the origin (0,0)</a:t>
            </a:r>
            <a:endParaRPr lang="en-AU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645218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83CA57-19EE-49BD-899E-816D583D74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Easiest way to graph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CBCA72-0B2C-4DAA-B4E6-CC57D31985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AU" sz="2800" dirty="0"/>
              <a:t>Table of values graphing is VERY time consuming so welcome to the efficient (aka lazy) method of graphing!</a:t>
            </a:r>
          </a:p>
          <a:p>
            <a:r>
              <a:rPr lang="en-AU" sz="2800" dirty="0">
                <a:solidFill>
                  <a:schemeClr val="accent2"/>
                </a:solidFill>
              </a:rPr>
              <a:t>Step 1: Solve the equation where </a:t>
            </a:r>
            <a:r>
              <a:rPr lang="en-AU" sz="2800" dirty="0">
                <a:solidFill>
                  <a:schemeClr val="accent2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y=0</a:t>
            </a:r>
          </a:p>
          <a:p>
            <a:r>
              <a:rPr lang="en-AU" sz="2800" dirty="0">
                <a:solidFill>
                  <a:schemeClr val="accent2"/>
                </a:solidFill>
              </a:rPr>
              <a:t>Step 2: Solve the equation where </a:t>
            </a:r>
            <a:r>
              <a:rPr lang="en-AU" sz="2800" dirty="0">
                <a:solidFill>
                  <a:schemeClr val="accent2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x=0</a:t>
            </a:r>
          </a:p>
          <a:p>
            <a:r>
              <a:rPr lang="en-AU" sz="2800" dirty="0">
                <a:solidFill>
                  <a:schemeClr val="accent2"/>
                </a:solidFill>
              </a:rPr>
              <a:t>Step 3: Plot those two points and connect the dots</a:t>
            </a:r>
          </a:p>
        </p:txBody>
      </p:sp>
    </p:spTree>
    <p:extLst>
      <p:ext uri="{BB962C8B-B14F-4D97-AF65-F5344CB8AC3E}">
        <p14:creationId xmlns:p14="http://schemas.microsoft.com/office/powerpoint/2010/main" val="35230381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A816DFB-8B0F-47B3-BC12-7B9F59B4EC58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6072915" cy="68580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87D435C-84AC-4E27-9CD3-0AAAF73EB28F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33032" y="640080"/>
            <a:ext cx="4818888" cy="5261170"/>
          </a:xfrm>
          <a:prstGeom prst="rect">
            <a:avLst/>
          </a:prstGeom>
          <a:noFill/>
          <a:ln w="317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FA4C881-BF60-416C-A273-70541298EEB4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77586" y="806357"/>
            <a:ext cx="4511266" cy="49286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4" descr="Blank Coordinate Grid With Grid Lines Shown">
            <a:extLst>
              <a:ext uri="{FF2B5EF4-FFF2-40B4-BE49-F238E27FC236}">
                <a16:creationId xmlns:a16="http://schemas.microsoft.com/office/drawing/2014/main" id="{9303809A-194E-45B5-B4E4-5091A203AE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64692" y="1187626"/>
            <a:ext cx="4159568" cy="41660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4F73A67-CBDF-4A6D-B577-E64BDBA4FA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1290025"/>
            <a:ext cx="4475892" cy="118872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>
            <a:normAutofit/>
          </a:bodyPr>
          <a:lstStyle/>
          <a:p>
            <a:r>
              <a:rPr lang="en-AU">
                <a:solidFill>
                  <a:srgbClr val="262626"/>
                </a:solidFill>
              </a:rPr>
              <a:t>Lets have a go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971913-7720-4324-B554-9441FCD8D7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4672" y="2858703"/>
            <a:ext cx="4475892" cy="3042547"/>
          </a:xfrm>
        </p:spPr>
        <p:txBody>
          <a:bodyPr>
            <a:normAutofit/>
          </a:bodyPr>
          <a:lstStyle/>
          <a:p>
            <a:pPr algn="ctr"/>
            <a:r>
              <a:rPr lang="en-AU" sz="3200" dirty="0">
                <a:solidFill>
                  <a:srgbClr val="FFFFFF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y = 3x + 5</a:t>
            </a:r>
          </a:p>
        </p:txBody>
      </p:sp>
    </p:spTree>
    <p:extLst>
      <p:ext uri="{BB962C8B-B14F-4D97-AF65-F5344CB8AC3E}">
        <p14:creationId xmlns:p14="http://schemas.microsoft.com/office/powerpoint/2010/main" val="5871483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79D503-F119-48C9-B278-779198425A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Graph these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B17D80-E998-45A9-95E0-A340CF2F88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5" y="2772847"/>
            <a:ext cx="3613483" cy="3288588"/>
          </a:xfrm>
        </p:spPr>
        <p:txBody>
          <a:bodyPr>
            <a:norm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AU" sz="3600" dirty="0"/>
              <a:t> </a:t>
            </a:r>
            <a:r>
              <a:rPr lang="en-AU" sz="3600" dirty="0">
                <a:latin typeface="Cambria Math" panose="02040503050406030204" pitchFamily="18" charset="0"/>
                <a:ea typeface="Cambria Math" panose="02040503050406030204" pitchFamily="18" charset="0"/>
              </a:rPr>
              <a:t>y = 2x+7</a:t>
            </a:r>
          </a:p>
          <a:p>
            <a:pPr marL="342900" indent="-342900">
              <a:buFont typeface="+mj-lt"/>
              <a:buAutoNum type="arabicPeriod"/>
            </a:pPr>
            <a:r>
              <a:rPr lang="en-AU" sz="3600" dirty="0">
                <a:latin typeface="Cambria Math" panose="02040503050406030204" pitchFamily="18" charset="0"/>
                <a:ea typeface="Cambria Math" panose="02040503050406030204" pitchFamily="18" charset="0"/>
              </a:rPr>
              <a:t> x – y=4</a:t>
            </a:r>
          </a:p>
          <a:p>
            <a:pPr marL="342900" indent="-342900">
              <a:buFont typeface="+mj-lt"/>
              <a:buAutoNum type="arabicPeriod"/>
            </a:pPr>
            <a:r>
              <a:rPr lang="en-AU" sz="3600" dirty="0">
                <a:latin typeface="Cambria Math" panose="02040503050406030204" pitchFamily="18" charset="0"/>
                <a:ea typeface="Cambria Math" panose="02040503050406030204" pitchFamily="18" charset="0"/>
              </a:rPr>
              <a:t> 2y = 6x+8</a:t>
            </a:r>
          </a:p>
          <a:p>
            <a:pPr marL="342900" indent="-342900">
              <a:buFont typeface="+mj-lt"/>
              <a:buAutoNum type="arabicPeriod"/>
            </a:pPr>
            <a:r>
              <a:rPr lang="en-AU" sz="3600" dirty="0">
                <a:latin typeface="Cambria Math" panose="02040503050406030204" pitchFamily="18" charset="0"/>
                <a:ea typeface="Cambria Math" panose="02040503050406030204" pitchFamily="18" charset="0"/>
              </a:rPr>
              <a:t> x – 3y = 1</a:t>
            </a:r>
            <a:endParaRPr lang="en-AU" sz="3600" dirty="0"/>
          </a:p>
        </p:txBody>
      </p:sp>
    </p:spTree>
    <p:extLst>
      <p:ext uri="{BB962C8B-B14F-4D97-AF65-F5344CB8AC3E}">
        <p14:creationId xmlns:p14="http://schemas.microsoft.com/office/powerpoint/2010/main" val="31733304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F07D4E-3C53-4A61-8F36-34557C208E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964692"/>
            <a:ext cx="7729728" cy="1188720"/>
          </a:xfrm>
        </p:spPr>
        <p:txBody>
          <a:bodyPr/>
          <a:lstStyle/>
          <a:p>
            <a:r>
              <a:rPr lang="en-AU"/>
              <a:t>Challenge questions</a:t>
            </a:r>
            <a:endParaRPr lang="en-AU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E211597-DA4E-40EE-9490-092AAAA868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5362" y="2626359"/>
            <a:ext cx="5100638" cy="191928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FDA9CD4-43E3-4719-8D9F-2E9AE0E74A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5371" y="2626359"/>
            <a:ext cx="3819525" cy="3695700"/>
          </a:xfrm>
          <a:prstGeom prst="rect">
            <a:avLst/>
          </a:prstGeom>
        </p:spPr>
      </p:pic>
      <p:sp>
        <p:nvSpPr>
          <p:cNvPr id="8" name="Oval 7">
            <a:extLst>
              <a:ext uri="{FF2B5EF4-FFF2-40B4-BE49-F238E27FC236}">
                <a16:creationId xmlns:a16="http://schemas.microsoft.com/office/drawing/2014/main" id="{6190B449-2F75-4465-8988-5AA6C4CB0106}"/>
              </a:ext>
            </a:extLst>
          </p:cNvPr>
          <p:cNvSpPr/>
          <p:nvPr/>
        </p:nvSpPr>
        <p:spPr>
          <a:xfrm>
            <a:off x="339365" y="2626359"/>
            <a:ext cx="458034" cy="41477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000" dirty="0"/>
              <a:t>1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7F10BD28-0E72-4286-B940-82A4BCC22992}"/>
              </a:ext>
            </a:extLst>
          </p:cNvPr>
          <p:cNvSpPr/>
          <p:nvPr/>
        </p:nvSpPr>
        <p:spPr>
          <a:xfrm>
            <a:off x="339365" y="4744720"/>
            <a:ext cx="458034" cy="41477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000" dirty="0"/>
              <a:t>2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C982D255-3AD9-4BFD-ABFE-34FF88254F76}"/>
              </a:ext>
            </a:extLst>
          </p:cNvPr>
          <p:cNvSpPr/>
          <p:nvPr/>
        </p:nvSpPr>
        <p:spPr>
          <a:xfrm>
            <a:off x="6487212" y="2626359"/>
            <a:ext cx="458034" cy="41477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000" dirty="0"/>
              <a:t>3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3B6B475-944B-440C-A6EE-74C4D23376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7524" y="4723510"/>
            <a:ext cx="5068476" cy="1971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9056739"/>
      </p:ext>
    </p:extLst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ysClr val="window" lastClr="FFFFFF"/>
      </a:lt1>
      <a:dk2>
        <a:srgbClr val="5E5E5E"/>
      </a:dk2>
      <a:lt2>
        <a:srgbClr val="DDDDDD"/>
      </a:lt2>
      <a:accent1>
        <a:srgbClr val="A6B727"/>
      </a:accent1>
      <a:accent2>
        <a:srgbClr val="418AB3"/>
      </a:accent2>
      <a:accent3>
        <a:srgbClr val="F69200"/>
      </a:accent3>
      <a:accent4>
        <a:srgbClr val="838383"/>
      </a:accent4>
      <a:accent5>
        <a:srgbClr val="FEC306"/>
      </a:accent5>
      <a:accent6>
        <a:srgbClr val="DF5327"/>
      </a:accent6>
      <a:hlink>
        <a:srgbClr val="F59E00"/>
      </a:hlink>
      <a:folHlink>
        <a:srgbClr val="B2B2B2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A425FB89-E954-4A2A-81DC-D90804A94DB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TM10001115[[fn=Parcel]]</Template>
  <TotalTime>165</TotalTime>
  <Words>383</Words>
  <Application>Microsoft Office PowerPoint</Application>
  <PresentationFormat>Widescreen</PresentationFormat>
  <Paragraphs>80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Cambria Math</vt:lpstr>
      <vt:lpstr>Gill Sans MT</vt:lpstr>
      <vt:lpstr>Wingdings</vt:lpstr>
      <vt:lpstr>Parcel</vt:lpstr>
      <vt:lpstr>Linear Revision</vt:lpstr>
      <vt:lpstr>I Suggest you rule up cornell notes</vt:lpstr>
      <vt:lpstr>The linear equation</vt:lpstr>
      <vt:lpstr>Gradient</vt:lpstr>
      <vt:lpstr>Gradient</vt:lpstr>
      <vt:lpstr>Gradients</vt:lpstr>
      <vt:lpstr>Gradients</vt:lpstr>
      <vt:lpstr>Estimate the gradient</vt:lpstr>
      <vt:lpstr>Y intercept</vt:lpstr>
      <vt:lpstr>Table of values</vt:lpstr>
      <vt:lpstr>PowerPoint Presentation</vt:lpstr>
      <vt:lpstr>What’s the equation</vt:lpstr>
      <vt:lpstr>PowerPoint Presentation</vt:lpstr>
      <vt:lpstr>Graph</vt:lpstr>
      <vt:lpstr>Easiest way to graph</vt:lpstr>
      <vt:lpstr>Lets have a go</vt:lpstr>
      <vt:lpstr>Graph these functions</vt:lpstr>
      <vt:lpstr>Challenge questions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Linear Revision</dc:title>
  <dc:creator>Jason Stephenson</dc:creator>
  <cp:lastModifiedBy>Jason Stephenson</cp:lastModifiedBy>
  <cp:revision>17</cp:revision>
  <dcterms:created xsi:type="dcterms:W3CDTF">2018-05-01T05:56:19Z</dcterms:created>
  <dcterms:modified xsi:type="dcterms:W3CDTF">2018-05-07T00:16:12Z</dcterms:modified>
</cp:coreProperties>
</file>
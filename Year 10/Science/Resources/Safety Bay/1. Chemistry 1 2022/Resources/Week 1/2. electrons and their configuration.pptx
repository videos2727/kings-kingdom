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528" r:id="rId2"/>
    <p:sldId id="529" r:id="rId3"/>
    <p:sldId id="256" r:id="rId4"/>
    <p:sldId id="263" r:id="rId5"/>
    <p:sldId id="551" r:id="rId6"/>
    <p:sldId id="396" r:id="rId7"/>
    <p:sldId id="518" r:id="rId8"/>
    <p:sldId id="530" r:id="rId9"/>
    <p:sldId id="550" r:id="rId10"/>
    <p:sldId id="519" r:id="rId11"/>
    <p:sldId id="520" r:id="rId12"/>
    <p:sldId id="532" r:id="rId13"/>
    <p:sldId id="533" r:id="rId14"/>
    <p:sldId id="534" r:id="rId15"/>
    <p:sldId id="535" r:id="rId16"/>
    <p:sldId id="536" r:id="rId17"/>
    <p:sldId id="539" r:id="rId18"/>
    <p:sldId id="553" r:id="rId19"/>
    <p:sldId id="540" r:id="rId20"/>
    <p:sldId id="542" r:id="rId21"/>
    <p:sldId id="544" r:id="rId22"/>
    <p:sldId id="541" r:id="rId23"/>
    <p:sldId id="545" r:id="rId24"/>
    <p:sldId id="543" r:id="rId25"/>
    <p:sldId id="546" r:id="rId26"/>
    <p:sldId id="547" r:id="rId27"/>
    <p:sldId id="548" r:id="rId28"/>
    <p:sldId id="549" r:id="rId29"/>
    <p:sldId id="45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account" initials="Ma" lastIdx="2" clrIdx="0">
    <p:extLst>
      <p:ext uri="{19B8F6BF-5375-455C-9EA6-DF929625EA0E}">
        <p15:presenceInfo xmlns:p15="http://schemas.microsoft.com/office/powerpoint/2012/main" userId="77063cd5f184950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618"/>
    <a:srgbClr val="FF9966"/>
    <a:srgbClr val="8C1E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93880" autoAdjust="0"/>
  </p:normalViewPr>
  <p:slideViewPr>
    <p:cSldViewPr snapToGrid="0">
      <p:cViewPr varScale="1">
        <p:scale>
          <a:sx n="49" d="100"/>
          <a:sy n="49" d="100"/>
        </p:scale>
        <p:origin x="96"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95A372-E219-4A47-9B57-DAB16DC91C8E}" type="datetimeFigureOut">
              <a:rPr lang="en-AU" smtClean="0"/>
              <a:t>8/02/2021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9ABA3-72B8-441F-AA9B-D3737D2CB9D9}" type="slidenum">
              <a:rPr lang="en-AU" smtClean="0"/>
              <a:t>‹#›</a:t>
            </a:fld>
            <a:endParaRPr lang="en-AU"/>
          </a:p>
        </p:txBody>
      </p:sp>
    </p:spTree>
    <p:extLst>
      <p:ext uri="{BB962C8B-B14F-4D97-AF65-F5344CB8AC3E}">
        <p14:creationId xmlns:p14="http://schemas.microsoft.com/office/powerpoint/2010/main" val="2652865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a:t>
            </a:fld>
            <a:endParaRPr lang="en-AU"/>
          </a:p>
        </p:txBody>
      </p:sp>
    </p:spTree>
    <p:extLst>
      <p:ext uri="{BB962C8B-B14F-4D97-AF65-F5344CB8AC3E}">
        <p14:creationId xmlns:p14="http://schemas.microsoft.com/office/powerpoint/2010/main" val="3455668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a:t>
            </a:fld>
            <a:endParaRPr lang="en-AU"/>
          </a:p>
        </p:txBody>
      </p:sp>
    </p:spTree>
    <p:extLst>
      <p:ext uri="{BB962C8B-B14F-4D97-AF65-F5344CB8AC3E}">
        <p14:creationId xmlns:p14="http://schemas.microsoft.com/office/powerpoint/2010/main" val="740665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4</a:t>
            </a:fld>
            <a:endParaRPr lang="en-AU"/>
          </a:p>
        </p:txBody>
      </p:sp>
    </p:spTree>
    <p:extLst>
      <p:ext uri="{BB962C8B-B14F-4D97-AF65-F5344CB8AC3E}">
        <p14:creationId xmlns:p14="http://schemas.microsoft.com/office/powerpoint/2010/main" val="1159509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5</a:t>
            </a:fld>
            <a:endParaRPr lang="en-AU"/>
          </a:p>
        </p:txBody>
      </p:sp>
    </p:spTree>
    <p:extLst>
      <p:ext uri="{BB962C8B-B14F-4D97-AF65-F5344CB8AC3E}">
        <p14:creationId xmlns:p14="http://schemas.microsoft.com/office/powerpoint/2010/main" val="1842957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6</a:t>
            </a:fld>
            <a:endParaRPr lang="en-AU"/>
          </a:p>
        </p:txBody>
      </p:sp>
    </p:spTree>
    <p:extLst>
      <p:ext uri="{BB962C8B-B14F-4D97-AF65-F5344CB8AC3E}">
        <p14:creationId xmlns:p14="http://schemas.microsoft.com/office/powerpoint/2010/main" val="1391199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7</a:t>
            </a:fld>
            <a:endParaRPr lang="en-AU"/>
          </a:p>
        </p:txBody>
      </p:sp>
    </p:spTree>
    <p:extLst>
      <p:ext uri="{BB962C8B-B14F-4D97-AF65-F5344CB8AC3E}">
        <p14:creationId xmlns:p14="http://schemas.microsoft.com/office/powerpoint/2010/main" val="3521269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10</a:t>
            </a:fld>
            <a:endParaRPr lang="en-AU"/>
          </a:p>
        </p:txBody>
      </p:sp>
    </p:spTree>
    <p:extLst>
      <p:ext uri="{BB962C8B-B14F-4D97-AF65-F5344CB8AC3E}">
        <p14:creationId xmlns:p14="http://schemas.microsoft.com/office/powerpoint/2010/main" val="1614441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11</a:t>
            </a:fld>
            <a:endParaRPr lang="en-AU"/>
          </a:p>
        </p:txBody>
      </p:sp>
    </p:spTree>
    <p:extLst>
      <p:ext uri="{BB962C8B-B14F-4D97-AF65-F5344CB8AC3E}">
        <p14:creationId xmlns:p14="http://schemas.microsoft.com/office/powerpoint/2010/main" val="34917311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18</a:t>
            </a:fld>
            <a:endParaRPr lang="en-AU"/>
          </a:p>
        </p:txBody>
      </p:sp>
    </p:spTree>
    <p:extLst>
      <p:ext uri="{BB962C8B-B14F-4D97-AF65-F5344CB8AC3E}">
        <p14:creationId xmlns:p14="http://schemas.microsoft.com/office/powerpoint/2010/main" val="771426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19</a:t>
            </a:fld>
            <a:endParaRPr lang="en-AU"/>
          </a:p>
        </p:txBody>
      </p:sp>
    </p:spTree>
    <p:extLst>
      <p:ext uri="{BB962C8B-B14F-4D97-AF65-F5344CB8AC3E}">
        <p14:creationId xmlns:p14="http://schemas.microsoft.com/office/powerpoint/2010/main" val="3001261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20</a:t>
            </a:fld>
            <a:endParaRPr lang="en-AU"/>
          </a:p>
        </p:txBody>
      </p:sp>
    </p:spTree>
    <p:extLst>
      <p:ext uri="{BB962C8B-B14F-4D97-AF65-F5344CB8AC3E}">
        <p14:creationId xmlns:p14="http://schemas.microsoft.com/office/powerpoint/2010/main" val="2371005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21</a:t>
            </a:fld>
            <a:endParaRPr lang="en-AU"/>
          </a:p>
        </p:txBody>
      </p:sp>
    </p:spTree>
    <p:extLst>
      <p:ext uri="{BB962C8B-B14F-4D97-AF65-F5344CB8AC3E}">
        <p14:creationId xmlns:p14="http://schemas.microsoft.com/office/powerpoint/2010/main" val="1171384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22</a:t>
            </a:fld>
            <a:endParaRPr lang="en-AU"/>
          </a:p>
        </p:txBody>
      </p:sp>
    </p:spTree>
    <p:extLst>
      <p:ext uri="{BB962C8B-B14F-4D97-AF65-F5344CB8AC3E}">
        <p14:creationId xmlns:p14="http://schemas.microsoft.com/office/powerpoint/2010/main" val="24262426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23</a:t>
            </a:fld>
            <a:endParaRPr lang="en-AU"/>
          </a:p>
        </p:txBody>
      </p:sp>
    </p:spTree>
    <p:extLst>
      <p:ext uri="{BB962C8B-B14F-4D97-AF65-F5344CB8AC3E}">
        <p14:creationId xmlns:p14="http://schemas.microsoft.com/office/powerpoint/2010/main" val="13863302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24</a:t>
            </a:fld>
            <a:endParaRPr lang="en-AU"/>
          </a:p>
        </p:txBody>
      </p:sp>
    </p:spTree>
    <p:extLst>
      <p:ext uri="{BB962C8B-B14F-4D97-AF65-F5344CB8AC3E}">
        <p14:creationId xmlns:p14="http://schemas.microsoft.com/office/powerpoint/2010/main" val="760914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25</a:t>
            </a:fld>
            <a:endParaRPr lang="en-AU"/>
          </a:p>
        </p:txBody>
      </p:sp>
    </p:spTree>
    <p:extLst>
      <p:ext uri="{BB962C8B-B14F-4D97-AF65-F5344CB8AC3E}">
        <p14:creationId xmlns:p14="http://schemas.microsoft.com/office/powerpoint/2010/main" val="2574892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26</a:t>
            </a:fld>
            <a:endParaRPr lang="en-AU"/>
          </a:p>
        </p:txBody>
      </p:sp>
    </p:spTree>
    <p:extLst>
      <p:ext uri="{BB962C8B-B14F-4D97-AF65-F5344CB8AC3E}">
        <p14:creationId xmlns:p14="http://schemas.microsoft.com/office/powerpoint/2010/main" val="2379742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27</a:t>
            </a:fld>
            <a:endParaRPr lang="en-AU"/>
          </a:p>
        </p:txBody>
      </p:sp>
    </p:spTree>
    <p:extLst>
      <p:ext uri="{BB962C8B-B14F-4D97-AF65-F5344CB8AC3E}">
        <p14:creationId xmlns:p14="http://schemas.microsoft.com/office/powerpoint/2010/main" val="5727579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29ABA3-72B8-441F-AA9B-D3737D2CB9D9}" type="slidenum">
              <a:rPr lang="en-AU" smtClean="0"/>
              <a:t>28</a:t>
            </a:fld>
            <a:endParaRPr lang="en-AU"/>
          </a:p>
        </p:txBody>
      </p:sp>
    </p:spTree>
    <p:extLst>
      <p:ext uri="{BB962C8B-B14F-4D97-AF65-F5344CB8AC3E}">
        <p14:creationId xmlns:p14="http://schemas.microsoft.com/office/powerpoint/2010/main" val="113378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8/02/2021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1338628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8/02/2021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79074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F726FA-289A-47A4-9DB2-36250D803CC9}" type="datetimeFigureOut">
              <a:rPr lang="en-AU" smtClean="0"/>
              <a:t>8/02/2021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721631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E6F726FA-289A-47A4-9DB2-36250D803CC9}" type="datetimeFigureOut">
              <a:rPr lang="en-AU" smtClean="0"/>
              <a:t>8/02/2021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944287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E6F726FA-289A-47A4-9DB2-36250D803CC9}" type="datetimeFigureOut">
              <a:rPr lang="en-AU" smtClean="0"/>
              <a:t>8/02/2021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014533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E6F726FA-289A-47A4-9DB2-36250D803CC9}" type="datetimeFigureOut">
              <a:rPr lang="en-AU" smtClean="0"/>
              <a:t>8/02/2021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531284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F726FA-289A-47A4-9DB2-36250D803CC9}" type="datetimeFigureOut">
              <a:rPr lang="en-AU" smtClean="0"/>
              <a:t>8/02/2021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253238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F726FA-289A-47A4-9DB2-36250D803CC9}" type="datetimeFigureOut">
              <a:rPr lang="en-AU" smtClean="0"/>
              <a:t>8/02/2021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275168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F726FA-289A-47A4-9DB2-36250D803CC9}" type="datetimeFigureOut">
              <a:rPr lang="en-AU" smtClean="0"/>
              <a:t>8/02/2021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2734468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8/02/2021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196333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8/02/2021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108301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26FA-289A-47A4-9DB2-36250D803CC9}" type="datetimeFigureOut">
              <a:rPr lang="en-AU" smtClean="0"/>
              <a:t>8/02/2021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26B6D5-E49B-468D-A565-A6E4E9BB073F}" type="slidenum">
              <a:rPr lang="en-AU" smtClean="0"/>
              <a:t>‹#›</a:t>
            </a:fld>
            <a:endParaRPr lang="en-AU"/>
          </a:p>
        </p:txBody>
      </p:sp>
    </p:spTree>
    <p:extLst>
      <p:ext uri="{BB962C8B-B14F-4D97-AF65-F5344CB8AC3E}">
        <p14:creationId xmlns:p14="http://schemas.microsoft.com/office/powerpoint/2010/main" val="4206294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SZ4IDPDzqJ8&amp;ab_channel=DuellChemistry"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2429041"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
        <p:nvSpPr>
          <p:cNvPr id="5" name="TextBox 4"/>
          <p:cNvSpPr txBox="1"/>
          <p:nvPr/>
        </p:nvSpPr>
        <p:spPr>
          <a:xfrm>
            <a:off x="-45720" y="732983"/>
            <a:ext cx="9469256" cy="2677656"/>
          </a:xfrm>
          <a:prstGeom prst="rect">
            <a:avLst/>
          </a:prstGeom>
          <a:noFill/>
        </p:spPr>
        <p:txBody>
          <a:bodyPr wrap="square" rtlCol="0">
            <a:spAutoFit/>
          </a:bodyPr>
          <a:lstStyle/>
          <a:p>
            <a:endParaRPr lang="en-AU" sz="2800" b="1" dirty="0"/>
          </a:p>
          <a:p>
            <a:endParaRPr lang="en-AU" sz="2800" b="1" dirty="0"/>
          </a:p>
          <a:p>
            <a:endParaRPr lang="en-AU" sz="2800" b="1" dirty="0" smtClean="0"/>
          </a:p>
          <a:p>
            <a:endParaRPr lang="en-AU" sz="2800" b="1" dirty="0"/>
          </a:p>
          <a:p>
            <a:endParaRPr lang="en-AU" sz="2800" b="1" dirty="0" smtClean="0"/>
          </a:p>
          <a:p>
            <a:endParaRPr lang="en-AU" sz="2800" dirty="0" smtClean="0"/>
          </a:p>
        </p:txBody>
      </p:sp>
      <p:pic>
        <p:nvPicPr>
          <p:cNvPr id="7" name="Picture 6"/>
          <p:cNvPicPr>
            <a:picLocks noChangeAspect="1"/>
          </p:cNvPicPr>
          <p:nvPr/>
        </p:nvPicPr>
        <p:blipFill>
          <a:blip r:embed="rId3"/>
          <a:stretch>
            <a:fillRect/>
          </a:stretch>
        </p:blipFill>
        <p:spPr>
          <a:xfrm>
            <a:off x="203961" y="901278"/>
            <a:ext cx="11228844" cy="4927321"/>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964394243"/>
              </p:ext>
            </p:extLst>
          </p:nvPr>
        </p:nvGraphicFramePr>
        <p:xfrm>
          <a:off x="7531594" y="5241921"/>
          <a:ext cx="2463077" cy="128016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How is</a:t>
                      </a:r>
                      <a:r>
                        <a:rPr lang="en-AU" baseline="0" dirty="0" smtClean="0"/>
                        <a:t> the atomic number different to the atomic mass?</a:t>
                      </a:r>
                      <a:endParaRPr lang="en-AU"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72136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2429041"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
        <p:nvSpPr>
          <p:cNvPr id="2" name="Rectangle 1"/>
          <p:cNvSpPr/>
          <p:nvPr/>
        </p:nvSpPr>
        <p:spPr>
          <a:xfrm>
            <a:off x="0" y="732983"/>
            <a:ext cx="12176791" cy="2308324"/>
          </a:xfrm>
          <a:prstGeom prst="rect">
            <a:avLst/>
          </a:prstGeom>
        </p:spPr>
        <p:txBody>
          <a:bodyPr wrap="square">
            <a:spAutoFit/>
          </a:bodyPr>
          <a:lstStyle/>
          <a:p>
            <a:pPr marL="285750" indent="-285750">
              <a:buFont typeface="Arial" panose="020B0604020202020204" pitchFamily="34" charset="0"/>
              <a:buChar char="•"/>
            </a:pPr>
            <a:r>
              <a:rPr lang="en-AU" sz="2400" b="1" dirty="0"/>
              <a:t>Protons and neutrons are extremely tightly packed in the centre or NUCLEUS of an atom. </a:t>
            </a:r>
          </a:p>
          <a:p>
            <a:pPr marL="285750" indent="-285750">
              <a:buFont typeface="Arial" panose="020B0604020202020204" pitchFamily="34" charset="0"/>
              <a:buChar char="•"/>
            </a:pPr>
            <a:r>
              <a:rPr lang="en-AU" sz="2400" b="1" dirty="0" smtClean="0"/>
              <a:t>Electrons </a:t>
            </a:r>
            <a:r>
              <a:rPr lang="en-AU" sz="2400" b="1" dirty="0"/>
              <a:t>are moving in regions of space around the nucleus. </a:t>
            </a:r>
          </a:p>
          <a:p>
            <a:pPr marL="285750" indent="-285750">
              <a:buFont typeface="Arial" panose="020B0604020202020204" pitchFamily="34" charset="0"/>
              <a:buChar char="•"/>
            </a:pPr>
            <a:r>
              <a:rPr lang="en-AU" sz="2400" b="1" dirty="0" smtClean="0"/>
              <a:t>Because </a:t>
            </a:r>
            <a:r>
              <a:rPr lang="en-AU" sz="2400" b="1" dirty="0"/>
              <a:t>of their extremely small size and wave like </a:t>
            </a:r>
            <a:r>
              <a:rPr lang="en-AU" sz="2400" b="1" dirty="0" smtClean="0"/>
              <a:t>properties, </a:t>
            </a:r>
            <a:r>
              <a:rPr lang="en-AU" sz="2400" b="1" dirty="0"/>
              <a:t>it is not possible to say exactly where an electron is </a:t>
            </a:r>
            <a:r>
              <a:rPr lang="en-AU" sz="2400" b="1" dirty="0" smtClean="0"/>
              <a:t>and how </a:t>
            </a:r>
            <a:r>
              <a:rPr lang="en-AU" sz="2400" b="1" dirty="0"/>
              <a:t>fast it is moving. </a:t>
            </a:r>
            <a:endParaRPr lang="en-AU" sz="2400" b="1" dirty="0" smtClean="0"/>
          </a:p>
          <a:p>
            <a:pPr marL="285750" indent="-285750">
              <a:buFont typeface="Arial" panose="020B0604020202020204" pitchFamily="34" charset="0"/>
              <a:buChar char="•"/>
            </a:pPr>
            <a:r>
              <a:rPr lang="en-AU" sz="2400" b="1" dirty="0" smtClean="0"/>
              <a:t>Instead </a:t>
            </a:r>
            <a:r>
              <a:rPr lang="en-AU" sz="2400" b="1" dirty="0"/>
              <a:t>we describe a region of space where an electron is likely to be – this is called an ELECTRON CLOUD.</a:t>
            </a:r>
          </a:p>
        </p:txBody>
      </p:sp>
      <p:pic>
        <p:nvPicPr>
          <p:cNvPr id="7" name="Picture 6" descr="4.3: The Nuclear Atom - Chemistry LibreText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877" y="2934036"/>
            <a:ext cx="4642567" cy="3466764"/>
          </a:xfrm>
          <a:prstGeom prst="rect">
            <a:avLst/>
          </a:prstGeom>
        </p:spPr>
      </p:pic>
      <p:pic>
        <p:nvPicPr>
          <p:cNvPr id="8" name="Picture 7" descr="The Structure of Atoms"/>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18480" y="3073663"/>
            <a:ext cx="6243725" cy="3386927"/>
          </a:xfrm>
          <a:prstGeom prst="rect">
            <a:avLst/>
          </a:prstGeom>
        </p:spPr>
      </p:pic>
    </p:spTree>
    <p:extLst>
      <p:ext uri="{BB962C8B-B14F-4D97-AF65-F5344CB8AC3E}">
        <p14:creationId xmlns:p14="http://schemas.microsoft.com/office/powerpoint/2010/main" val="3262885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2880" y="629603"/>
            <a:ext cx="9144000" cy="1519237"/>
          </a:xfrm>
          <a:ln w="38100">
            <a:solidFill>
              <a:srgbClr val="00B050"/>
            </a:solidFill>
          </a:ln>
        </p:spPr>
        <p:txBody>
          <a:bodyPr anchor="ctr"/>
          <a:lstStyle/>
          <a:p>
            <a:r>
              <a:rPr lang="en-AU" dirty="0" smtClean="0"/>
              <a:t>Atoms and their Electrons</a:t>
            </a:r>
            <a:endParaRPr lang="en-AU" dirty="0"/>
          </a:p>
        </p:txBody>
      </p:sp>
      <p:pic>
        <p:nvPicPr>
          <p:cNvPr id="5" name="Picture 4" descr="Free Stock image of electron visualisation ..."/>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15640" y="2268568"/>
            <a:ext cx="5870530" cy="3906418"/>
          </a:xfrm>
          <a:prstGeom prst="rect">
            <a:avLst/>
          </a:prstGeom>
        </p:spPr>
      </p:pic>
    </p:spTree>
    <p:extLst>
      <p:ext uri="{BB962C8B-B14F-4D97-AF65-F5344CB8AC3E}">
        <p14:creationId xmlns:p14="http://schemas.microsoft.com/office/powerpoint/2010/main" val="35828478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3590904"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Learning </a:t>
            </a:r>
            <a:r>
              <a:rPr lang="en-AU" sz="3200" dirty="0" smtClean="0"/>
              <a:t>Objectives</a:t>
            </a:r>
            <a:endParaRPr lang="en-AU" sz="3200" dirty="0"/>
          </a:p>
        </p:txBody>
      </p:sp>
      <p:sp>
        <p:nvSpPr>
          <p:cNvPr id="9" name="TextBox 8"/>
          <p:cNvSpPr txBox="1"/>
          <p:nvPr/>
        </p:nvSpPr>
        <p:spPr>
          <a:xfrm>
            <a:off x="0" y="2623210"/>
            <a:ext cx="4498548"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Activate Prior Knowledge</a:t>
            </a:r>
          </a:p>
        </p:txBody>
      </p:sp>
      <mc:AlternateContent xmlns:mc="http://schemas.openxmlformats.org/markup-compatibility/2006" xmlns:a14="http://schemas.microsoft.com/office/drawing/2010/main">
        <mc:Choice Requires="a14">
          <p:sp>
            <p:nvSpPr>
              <p:cNvPr id="12" name="TextBox 11"/>
              <p:cNvSpPr txBox="1"/>
              <p:nvPr/>
            </p:nvSpPr>
            <p:spPr>
              <a:xfrm>
                <a:off x="0" y="3207985"/>
                <a:ext cx="11769394" cy="3092257"/>
              </a:xfrm>
              <a:prstGeom prst="rect">
                <a:avLst/>
              </a:prstGeom>
              <a:noFill/>
            </p:spPr>
            <p:txBody>
              <a:bodyPr wrap="square" rtlCol="0">
                <a:spAutoFit/>
              </a:bodyPr>
              <a:lstStyle/>
              <a:p>
                <a:r>
                  <a:rPr lang="en-AU" sz="2400" dirty="0" smtClean="0">
                    <a:cs typeface="Arial" panose="020B0604020202020204" pitchFamily="34" charset="0"/>
                  </a:rPr>
                  <a:t>Normally, an atom will contain the same number of electrons (-) and protons (+). This makes the atom neutral in charge.</a:t>
                </a:r>
              </a:p>
              <a:p>
                <a:endParaRPr lang="en-AU" sz="2400" dirty="0" smtClean="0">
                  <a:cs typeface="Arial" panose="020B0604020202020204" pitchFamily="34" charset="0"/>
                </a:endParaRPr>
              </a:p>
              <a:p>
                <a:r>
                  <a:rPr lang="en-AU" sz="2400" dirty="0" smtClean="0">
                    <a:cs typeface="Arial" panose="020B0604020202020204" pitchFamily="34" charset="0"/>
                  </a:rPr>
                  <a:t>The chemical properties of an atom are controlled by its electrons. The nucleus (protons and neutrons) does not affect and is not changed in a chemical reaction.</a:t>
                </a:r>
              </a:p>
              <a:p>
                <a:endParaRPr lang="en-AU" sz="2400" dirty="0">
                  <a:cs typeface="Arial" panose="020B0604020202020204" pitchFamily="34" charset="0"/>
                </a:endParaRPr>
              </a:p>
              <a:p>
                <a:r>
                  <a:rPr lang="en-AU" sz="2400" dirty="0" smtClean="0">
                    <a:cs typeface="Arial" panose="020B0604020202020204" pitchFamily="34" charset="0"/>
                  </a:rPr>
                  <a:t>How many electrons are there in a neutral atom of each of the following:</a:t>
                </a:r>
                <a:r>
                  <a:rPr lang="en-AU" sz="2400" dirty="0" smtClean="0"/>
                  <a:t>           </a:t>
                </a:r>
              </a:p>
              <a:p>
                <a:r>
                  <a:rPr lang="en-AU" sz="2400" dirty="0" smtClean="0"/>
                  <a:t>a)  </a:t>
                </a:r>
                <a14:m>
                  <m:oMath xmlns:m="http://schemas.openxmlformats.org/officeDocument/2006/math">
                    <m:sPre>
                      <m:sPrePr>
                        <m:ctrlPr>
                          <a:rPr lang="en-AU" sz="2400" i="1" smtClean="0">
                            <a:latin typeface="Cambria Math" panose="02040503050406030204" pitchFamily="18" charset="0"/>
                          </a:rPr>
                        </m:ctrlPr>
                      </m:sPrePr>
                      <m:sub>
                        <m:r>
                          <a:rPr lang="en-AU" sz="2400" b="0" i="1" smtClean="0">
                            <a:latin typeface="Cambria Math" panose="02040503050406030204" pitchFamily="18" charset="0"/>
                          </a:rPr>
                          <m:t>1</m:t>
                        </m:r>
                      </m:sub>
                      <m:sup>
                        <m:r>
                          <a:rPr lang="en-AU" sz="2400" b="0" i="1" smtClean="0">
                            <a:latin typeface="Cambria Math" panose="02040503050406030204" pitchFamily="18" charset="0"/>
                          </a:rPr>
                          <m:t>3</m:t>
                        </m:r>
                      </m:sup>
                      <m:e>
                        <m:r>
                          <a:rPr lang="en-AU" sz="2400" b="0" i="1" smtClean="0">
                            <a:latin typeface="Cambria Math" panose="02040503050406030204" pitchFamily="18" charset="0"/>
                          </a:rPr>
                          <m:t>𝐻</m:t>
                        </m:r>
                      </m:e>
                    </m:sPre>
                  </m:oMath>
                </a14:m>
                <a:r>
                  <a:rPr lang="en-AU" sz="2400" dirty="0" smtClean="0"/>
                  <a:t>		b)  </a:t>
                </a:r>
                <a14:m>
                  <m:oMath xmlns:m="http://schemas.openxmlformats.org/officeDocument/2006/math">
                    <m:sPre>
                      <m:sPrePr>
                        <m:ctrlPr>
                          <a:rPr lang="en-AU" sz="2400" i="1">
                            <a:latin typeface="Cambria Math" panose="02040503050406030204" pitchFamily="18" charset="0"/>
                          </a:rPr>
                        </m:ctrlPr>
                      </m:sPrePr>
                      <m:sub>
                        <m:r>
                          <a:rPr lang="en-AU" sz="2400" b="0" i="1" smtClean="0">
                            <a:latin typeface="Cambria Math" panose="02040503050406030204" pitchFamily="18" charset="0"/>
                          </a:rPr>
                          <m:t>2</m:t>
                        </m:r>
                      </m:sub>
                      <m:sup>
                        <m:r>
                          <a:rPr lang="en-AU" sz="2400" b="0" i="1" smtClean="0">
                            <a:latin typeface="Cambria Math" panose="02040503050406030204" pitchFamily="18" charset="0"/>
                          </a:rPr>
                          <m:t>4</m:t>
                        </m:r>
                      </m:sup>
                      <m:e>
                        <m:r>
                          <a:rPr lang="en-AU" sz="2400" i="1">
                            <a:latin typeface="Cambria Math" panose="02040503050406030204" pitchFamily="18" charset="0"/>
                          </a:rPr>
                          <m:t>𝐻</m:t>
                        </m:r>
                        <m:r>
                          <a:rPr lang="en-AU" sz="2400" b="0" i="1" smtClean="0">
                            <a:latin typeface="Cambria Math" panose="02040503050406030204" pitchFamily="18" charset="0"/>
                          </a:rPr>
                          <m:t>𝑒</m:t>
                        </m:r>
                      </m:e>
                    </m:sPre>
                  </m:oMath>
                </a14:m>
                <a:r>
                  <a:rPr lang="en-AU" sz="2400" dirty="0" smtClean="0"/>
                  <a:t>		c)  </a:t>
                </a:r>
                <a14:m>
                  <m:oMath xmlns:m="http://schemas.openxmlformats.org/officeDocument/2006/math">
                    <m:sPre>
                      <m:sPrePr>
                        <m:ctrlPr>
                          <a:rPr lang="en-AU" sz="2400" i="1">
                            <a:latin typeface="Cambria Math" panose="02040503050406030204" pitchFamily="18" charset="0"/>
                          </a:rPr>
                        </m:ctrlPr>
                      </m:sPrePr>
                      <m:sub>
                        <m:r>
                          <a:rPr lang="en-AU" sz="2400" b="0" i="1" smtClean="0">
                            <a:latin typeface="Cambria Math" panose="02040503050406030204" pitchFamily="18" charset="0"/>
                          </a:rPr>
                          <m:t>26</m:t>
                        </m:r>
                      </m:sub>
                      <m:sup>
                        <m:r>
                          <a:rPr lang="en-AU" sz="2400" b="0" i="1" smtClean="0">
                            <a:latin typeface="Cambria Math" panose="02040503050406030204" pitchFamily="18" charset="0"/>
                          </a:rPr>
                          <m:t>56</m:t>
                        </m:r>
                      </m:sup>
                      <m:e>
                        <m:r>
                          <a:rPr lang="en-AU" sz="2400" b="0" i="1" smtClean="0">
                            <a:latin typeface="Cambria Math" panose="02040503050406030204" pitchFamily="18" charset="0"/>
                          </a:rPr>
                          <m:t>𝐹𝑒</m:t>
                        </m:r>
                      </m:e>
                    </m:sPre>
                  </m:oMath>
                </a14:m>
                <a:r>
                  <a:rPr lang="en-AU" sz="2400" dirty="0" smtClean="0"/>
                  <a:t>	d)  </a:t>
                </a:r>
                <a14:m>
                  <m:oMath xmlns:m="http://schemas.openxmlformats.org/officeDocument/2006/math">
                    <m:sPre>
                      <m:sPrePr>
                        <m:ctrlPr>
                          <a:rPr lang="en-AU" sz="2400" i="1" smtClean="0">
                            <a:latin typeface="Cambria Math" panose="02040503050406030204" pitchFamily="18" charset="0"/>
                          </a:rPr>
                        </m:ctrlPr>
                      </m:sPrePr>
                      <m:sub>
                        <m:r>
                          <a:rPr lang="en-AU" sz="2400" b="0" i="1" smtClean="0">
                            <a:latin typeface="Cambria Math" panose="02040503050406030204" pitchFamily="18" charset="0"/>
                          </a:rPr>
                          <m:t>53</m:t>
                        </m:r>
                      </m:sub>
                      <m:sup>
                        <m:r>
                          <a:rPr lang="en-AU" sz="2400" b="0" i="1" smtClean="0">
                            <a:latin typeface="Cambria Math" panose="02040503050406030204" pitchFamily="18" charset="0"/>
                          </a:rPr>
                          <m:t>127</m:t>
                        </m:r>
                      </m:sup>
                      <m:e>
                        <m:r>
                          <a:rPr lang="en-AU" sz="2400" b="0" i="1" smtClean="0">
                            <a:latin typeface="Cambria Math" panose="02040503050406030204" pitchFamily="18" charset="0"/>
                          </a:rPr>
                          <m:t>𝐼</m:t>
                        </m:r>
                      </m:e>
                    </m:sPre>
                  </m:oMath>
                </a14:m>
                <a:endParaRPr lang="en-AU" dirty="0"/>
              </a:p>
            </p:txBody>
          </p:sp>
        </mc:Choice>
        <mc:Fallback xmlns="">
          <p:sp>
            <p:nvSpPr>
              <p:cNvPr id="12" name="TextBox 11"/>
              <p:cNvSpPr txBox="1">
                <a:spLocks noRot="1" noChangeAspect="1" noMove="1" noResize="1" noEditPoints="1" noAdjustHandles="1" noChangeArrowheads="1" noChangeShapeType="1" noTextEdit="1"/>
              </p:cNvSpPr>
              <p:nvPr/>
            </p:nvSpPr>
            <p:spPr>
              <a:xfrm>
                <a:off x="0" y="3207985"/>
                <a:ext cx="11769394" cy="3092257"/>
              </a:xfrm>
              <a:prstGeom prst="rect">
                <a:avLst/>
              </a:prstGeom>
              <a:blipFill rotWithShape="0">
                <a:blip r:embed="rId3"/>
                <a:stretch>
                  <a:fillRect l="-777" t="-1575" b="-2559"/>
                </a:stretch>
              </a:blipFill>
            </p:spPr>
            <p:txBody>
              <a:bodyPr/>
              <a:lstStyle/>
              <a:p>
                <a:r>
                  <a:rPr lang="en-AU">
                    <a:noFill/>
                  </a:rPr>
                  <a:t> </a:t>
                </a:r>
              </a:p>
            </p:txBody>
          </p:sp>
        </mc:Fallback>
      </mc:AlternateContent>
      <p:sp>
        <p:nvSpPr>
          <p:cNvPr id="2" name="TextBox 1"/>
          <p:cNvSpPr txBox="1"/>
          <p:nvPr/>
        </p:nvSpPr>
        <p:spPr>
          <a:xfrm>
            <a:off x="-1" y="732983"/>
            <a:ext cx="10529455" cy="1569660"/>
          </a:xfrm>
          <a:prstGeom prst="rect">
            <a:avLst/>
          </a:prstGeom>
          <a:noFill/>
        </p:spPr>
        <p:txBody>
          <a:bodyPr wrap="square" rtlCol="0">
            <a:spAutoFit/>
          </a:bodyPr>
          <a:lstStyle/>
          <a:p>
            <a:pPr marL="342900" indent="-342900">
              <a:buFont typeface="Arial" panose="020B0604020202020204" pitchFamily="34" charset="0"/>
              <a:buChar char="•"/>
            </a:pPr>
            <a:r>
              <a:rPr lang="en-AU" sz="2400" dirty="0" smtClean="0">
                <a:cs typeface="Arial" panose="020B0604020202020204" pitchFamily="34" charset="0"/>
              </a:rPr>
              <a:t>Use </a:t>
            </a:r>
            <a:r>
              <a:rPr lang="en-AU" sz="2400" dirty="0">
                <a:cs typeface="Arial" panose="020B0604020202020204" pitchFamily="34" charset="0"/>
              </a:rPr>
              <a:t>electron configurations to represent the arrangement of electrons in </a:t>
            </a:r>
            <a:endParaRPr lang="en-AU" sz="2400" dirty="0" smtClean="0">
              <a:cs typeface="Arial" panose="020B0604020202020204" pitchFamily="34" charset="0"/>
            </a:endParaRPr>
          </a:p>
          <a:p>
            <a:r>
              <a:rPr lang="en-AU" sz="2400" dirty="0">
                <a:cs typeface="Arial" panose="020B0604020202020204" pitchFamily="34" charset="0"/>
              </a:rPr>
              <a:t> </a:t>
            </a:r>
            <a:r>
              <a:rPr lang="en-AU" sz="2400" dirty="0" smtClean="0">
                <a:cs typeface="Arial" panose="020B0604020202020204" pitchFamily="34" charset="0"/>
              </a:rPr>
              <a:t>     an </a:t>
            </a:r>
            <a:r>
              <a:rPr lang="en-AU" sz="2400" dirty="0">
                <a:cs typeface="Arial" panose="020B0604020202020204" pitchFamily="34" charset="0"/>
              </a:rPr>
              <a:t>atom.</a:t>
            </a:r>
          </a:p>
          <a:p>
            <a:pPr marL="342900" indent="-342900">
              <a:buFont typeface="Arial" panose="020B0604020202020204" pitchFamily="34" charset="0"/>
              <a:buChar char="•"/>
            </a:pPr>
            <a:r>
              <a:rPr lang="en-AU" sz="2400" dirty="0" smtClean="0">
                <a:cs typeface="Arial" panose="020B0604020202020204" pitchFamily="34" charset="0"/>
              </a:rPr>
              <a:t>Relate an element’s </a:t>
            </a:r>
            <a:r>
              <a:rPr lang="en-AU" sz="2400" dirty="0">
                <a:cs typeface="Arial" panose="020B0604020202020204" pitchFamily="34" charset="0"/>
              </a:rPr>
              <a:t>position to the periodic </a:t>
            </a:r>
            <a:r>
              <a:rPr lang="en-AU" sz="2400" dirty="0" smtClean="0">
                <a:cs typeface="Arial" panose="020B0604020202020204" pitchFamily="34" charset="0"/>
              </a:rPr>
              <a:t>table to its electron configuration and valence electrons.</a:t>
            </a:r>
            <a:endParaRPr lang="en-AU" sz="2400" dirty="0"/>
          </a:p>
        </p:txBody>
      </p:sp>
      <p:sp>
        <p:nvSpPr>
          <p:cNvPr id="6" name="TextBox 5">
            <a:extLst>
              <a:ext uri="{FF2B5EF4-FFF2-40B4-BE49-F238E27FC236}">
                <a16:creationId xmlns:a16="http://schemas.microsoft.com/office/drawing/2014/main" id="{921F2EB4-83B3-4C30-9E65-F6CF03B51434}"/>
              </a:ext>
            </a:extLst>
          </p:cNvPr>
          <p:cNvSpPr txBox="1"/>
          <p:nvPr/>
        </p:nvSpPr>
        <p:spPr>
          <a:xfrm>
            <a:off x="9620058" y="131345"/>
            <a:ext cx="2571942" cy="351321"/>
          </a:xfrm>
          <a:prstGeom prst="roundRect">
            <a:avLst/>
          </a:prstGeom>
          <a:solidFill>
            <a:srgbClr val="1891AC"/>
          </a:solidFill>
          <a:ln w="38100">
            <a:solidFill>
              <a:srgbClr val="1891AC"/>
            </a:solidFill>
            <a:round/>
          </a:ln>
        </p:spPr>
        <p:txBody>
          <a:bodyPr wrap="square" rtlCol="0">
            <a:spAutoFit/>
          </a:bodyPr>
          <a:lstStyle/>
          <a:p>
            <a:pPr algn="ctr"/>
            <a:r>
              <a:rPr lang="en-AU" sz="1400" dirty="0">
                <a:solidFill>
                  <a:schemeClr val="bg1"/>
                </a:solidFill>
                <a:latin typeface="Arial Rounded MT Bold" panose="020F0704030504030204" pitchFamily="34" charset="0"/>
              </a:rPr>
              <a:t>CFU</a:t>
            </a:r>
            <a:endParaRPr lang="en-AU" sz="1400" dirty="0">
              <a:solidFill>
                <a:schemeClr val="bg1"/>
              </a:solidFill>
              <a:latin typeface="Verdana" panose="020B0604030504040204" pitchFamily="34" charset="0"/>
              <a:ea typeface="Verdana" panose="020B0604030504040204" pitchFamily="34" charset="0"/>
            </a:endParaRPr>
          </a:p>
        </p:txBody>
      </p:sp>
      <p:sp>
        <p:nvSpPr>
          <p:cNvPr id="8" name="TextBox 7">
            <a:extLst>
              <a:ext uri="{FF2B5EF4-FFF2-40B4-BE49-F238E27FC236}">
                <a16:creationId xmlns:a16="http://schemas.microsoft.com/office/drawing/2014/main" id="{24367AC2-1BC4-44C7-9B06-D3EF2A3D196B}"/>
              </a:ext>
            </a:extLst>
          </p:cNvPr>
          <p:cNvSpPr txBox="1"/>
          <p:nvPr/>
        </p:nvSpPr>
        <p:spPr>
          <a:xfrm>
            <a:off x="9620058" y="517337"/>
            <a:ext cx="2571942" cy="492443"/>
          </a:xfrm>
          <a:prstGeom prst="rect">
            <a:avLst/>
          </a:prstGeom>
          <a:solidFill>
            <a:schemeClr val="bg1"/>
          </a:solidFill>
          <a:ln>
            <a:solidFill>
              <a:schemeClr val="accent2">
                <a:lumMod val="75000"/>
              </a:schemeClr>
            </a:solidFill>
          </a:ln>
        </p:spPr>
        <p:txBody>
          <a:bodyPr wrap="square" rtlCol="0" anchor="t" anchorCtr="0">
            <a:spAutoFit/>
          </a:bodyPr>
          <a:lstStyle/>
          <a:p>
            <a:pPr algn="l"/>
            <a:r>
              <a:rPr lang="en-US" sz="1300" dirty="0">
                <a:latin typeface="Century Gothic" panose="020B0502020202020204" pitchFamily="34" charset="0"/>
                <a:cs typeface="Futura Medium" panose="020B0602020204020303" pitchFamily="34" charset="-79"/>
              </a:rPr>
              <a:t>What are we learning today (own words)?</a:t>
            </a:r>
          </a:p>
        </p:txBody>
      </p:sp>
    </p:spTree>
    <p:extLst>
      <p:ext uri="{BB962C8B-B14F-4D97-AF65-F5344CB8AC3E}">
        <p14:creationId xmlns:p14="http://schemas.microsoft.com/office/powerpoint/2010/main" val="1981046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2" grpId="0" build="p"/>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graphicFrame>
        <p:nvGraphicFramePr>
          <p:cNvPr id="10" name="Table 9"/>
          <p:cNvGraphicFramePr>
            <a:graphicFrameLocks noGrp="1"/>
          </p:cNvGraphicFramePr>
          <p:nvPr>
            <p:extLst/>
          </p:nvPr>
        </p:nvGraphicFramePr>
        <p:xfrm>
          <a:off x="9523079" y="148208"/>
          <a:ext cx="2463077" cy="128016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The maximum number of electrons in the second energy level is?</a:t>
                      </a:r>
                      <a:endParaRPr lang="en-AU" dirty="0"/>
                    </a:p>
                  </a:txBody>
                  <a:tcPr/>
                </a:tc>
                <a:extLst>
                  <a:ext uri="{0D108BD9-81ED-4DB2-BD59-A6C34878D82A}">
                    <a16:rowId xmlns:a16="http://schemas.microsoft.com/office/drawing/2014/main" val="10001"/>
                  </a:ext>
                </a:extLst>
              </a:tr>
            </a:tbl>
          </a:graphicData>
        </a:graphic>
      </p:graphicFrame>
      <p:graphicFrame>
        <p:nvGraphicFramePr>
          <p:cNvPr id="64" name="Table 63"/>
          <p:cNvGraphicFramePr>
            <a:graphicFrameLocks noGrp="1"/>
          </p:cNvGraphicFramePr>
          <p:nvPr>
            <p:extLst/>
          </p:nvPr>
        </p:nvGraphicFramePr>
        <p:xfrm>
          <a:off x="9523079" y="1597008"/>
          <a:ext cx="2463077" cy="100584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2</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Can there be 3 electrons in the first level?</a:t>
                      </a:r>
                      <a:endParaRPr lang="en-AU" dirty="0"/>
                    </a:p>
                  </a:txBody>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nvPr>
        </p:nvGraphicFramePr>
        <p:xfrm>
          <a:off x="9523079" y="2865721"/>
          <a:ext cx="2463077" cy="182880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0">
                <a:tc>
                  <a:txBody>
                    <a:bodyPr/>
                    <a:lstStyle/>
                    <a:p>
                      <a:r>
                        <a:rPr lang="en-AU" dirty="0"/>
                        <a:t>CFU </a:t>
                      </a:r>
                      <a:r>
                        <a:rPr lang="en-AU" dirty="0" smtClean="0"/>
                        <a:t>3</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Why do you think levels three and four could have a maximum of more electrons than stated for calcium?</a:t>
                      </a:r>
                      <a:endParaRPr lang="en-AU" dirty="0"/>
                    </a:p>
                  </a:txBody>
                  <a:tcPr/>
                </a:tc>
                <a:extLst>
                  <a:ext uri="{0D108BD9-81ED-4DB2-BD59-A6C34878D82A}">
                    <a16:rowId xmlns:a16="http://schemas.microsoft.com/office/drawing/2014/main" val="10001"/>
                  </a:ext>
                </a:extLst>
              </a:tr>
            </a:tbl>
          </a:graphicData>
        </a:graphic>
      </p:graphicFrame>
      <p:sp>
        <p:nvSpPr>
          <p:cNvPr id="2" name="TextBox 1"/>
          <p:cNvSpPr txBox="1"/>
          <p:nvPr/>
        </p:nvSpPr>
        <p:spPr>
          <a:xfrm>
            <a:off x="-1" y="728343"/>
            <a:ext cx="9523079" cy="1200329"/>
          </a:xfrm>
          <a:prstGeom prst="rect">
            <a:avLst/>
          </a:prstGeom>
          <a:noFill/>
        </p:spPr>
        <p:txBody>
          <a:bodyPr wrap="square" rtlCol="0">
            <a:spAutoFit/>
          </a:bodyPr>
          <a:lstStyle/>
          <a:p>
            <a:pPr marL="285750" indent="-285750">
              <a:buFont typeface="Arial" panose="020B0604020202020204" pitchFamily="34" charset="0"/>
              <a:buChar char="•"/>
            </a:pPr>
            <a:r>
              <a:rPr lang="en-AU" sz="2400" dirty="0" smtClean="0"/>
              <a:t>In Bohr model of the atom electrons are arranged in shells around the nucleus. </a:t>
            </a:r>
          </a:p>
          <a:p>
            <a:pPr marL="285750" indent="-285750">
              <a:buFont typeface="Arial" panose="020B0604020202020204" pitchFamily="34" charset="0"/>
              <a:buChar char="•"/>
            </a:pPr>
            <a:r>
              <a:rPr lang="en-AU" sz="2400" dirty="0" smtClean="0"/>
              <a:t>The electron shells are numbered from the nucleus outward.</a:t>
            </a:r>
          </a:p>
        </p:txBody>
      </p:sp>
      <p:sp>
        <p:nvSpPr>
          <p:cNvPr id="3" name="TextBox 2"/>
          <p:cNvSpPr txBox="1"/>
          <p:nvPr/>
        </p:nvSpPr>
        <p:spPr>
          <a:xfrm>
            <a:off x="0" y="2995291"/>
            <a:ext cx="4973783" cy="1569660"/>
          </a:xfrm>
          <a:prstGeom prst="rect">
            <a:avLst/>
          </a:prstGeom>
          <a:noFill/>
        </p:spPr>
        <p:txBody>
          <a:bodyPr wrap="square" rtlCol="0">
            <a:spAutoFit/>
          </a:bodyPr>
          <a:lstStyle/>
          <a:p>
            <a:r>
              <a:rPr lang="en-AU" sz="2400" dirty="0" smtClean="0">
                <a:cs typeface="Arial" panose="020B0604020202020204" pitchFamily="34" charset="0"/>
              </a:rPr>
              <a:t>The maximum number of electrons a shell can hold is related to its by the simple formula </a:t>
            </a:r>
            <a:r>
              <a:rPr lang="en-AU" i="1" dirty="0" smtClean="0"/>
              <a:t>2n</a:t>
            </a:r>
            <a:r>
              <a:rPr lang="en-AU" i="1" baseline="30000" dirty="0" smtClean="0"/>
              <a:t>2</a:t>
            </a:r>
            <a:r>
              <a:rPr lang="en-AU" dirty="0" smtClean="0">
                <a:cs typeface="Arial" panose="020B0604020202020204" pitchFamily="34" charset="0"/>
              </a:rPr>
              <a:t>, </a:t>
            </a:r>
            <a:r>
              <a:rPr lang="en-AU" sz="2400" dirty="0" smtClean="0">
                <a:cs typeface="Arial" panose="020B0604020202020204" pitchFamily="34" charset="0"/>
              </a:rPr>
              <a:t>where ‘</a:t>
            </a:r>
            <a:r>
              <a:rPr lang="en-AU" sz="2400" i="1" dirty="0" smtClean="0">
                <a:cs typeface="Arial" panose="020B0604020202020204" pitchFamily="34" charset="0"/>
              </a:rPr>
              <a:t>n’</a:t>
            </a:r>
            <a:r>
              <a:rPr lang="en-AU" sz="2400" dirty="0" smtClean="0">
                <a:cs typeface="Arial" panose="020B0604020202020204" pitchFamily="34" charset="0"/>
              </a:rPr>
              <a:t> is </a:t>
            </a:r>
            <a:r>
              <a:rPr lang="en-AU" sz="2400" dirty="0" smtClean="0"/>
              <a:t>the number of the shell from the nucleus. </a:t>
            </a:r>
            <a:endParaRPr lang="en-AU" sz="2400" dirty="0"/>
          </a:p>
        </p:txBody>
      </p:sp>
      <p:pic>
        <p:nvPicPr>
          <p:cNvPr id="5" name="Picture 4"/>
          <p:cNvPicPr>
            <a:picLocks noChangeAspect="1"/>
          </p:cNvPicPr>
          <p:nvPr/>
        </p:nvPicPr>
        <p:blipFill>
          <a:blip r:embed="rId3"/>
          <a:stretch>
            <a:fillRect/>
          </a:stretch>
        </p:blipFill>
        <p:spPr>
          <a:xfrm>
            <a:off x="5391922" y="1881774"/>
            <a:ext cx="4058419" cy="2666961"/>
          </a:xfrm>
          <a:prstGeom prst="rect">
            <a:avLst/>
          </a:prstGeom>
        </p:spPr>
      </p:pic>
      <p:sp>
        <p:nvSpPr>
          <p:cNvPr id="16" name="TextBox 15"/>
          <p:cNvSpPr txBox="1"/>
          <p:nvPr/>
        </p:nvSpPr>
        <p:spPr>
          <a:xfrm>
            <a:off x="6244936" y="4694521"/>
            <a:ext cx="3564082" cy="369332"/>
          </a:xfrm>
          <a:prstGeom prst="rect">
            <a:avLst/>
          </a:prstGeom>
          <a:noFill/>
        </p:spPr>
        <p:txBody>
          <a:bodyPr wrap="square" rtlCol="0">
            <a:spAutoFit/>
          </a:bodyPr>
          <a:lstStyle/>
          <a:p>
            <a:r>
              <a:rPr lang="en-AU" b="1" dirty="0" smtClean="0"/>
              <a:t>The Bohr model of atom</a:t>
            </a:r>
            <a:endParaRPr lang="en-AU" b="1" dirty="0"/>
          </a:p>
        </p:txBody>
      </p:sp>
      <p:sp>
        <p:nvSpPr>
          <p:cNvPr id="6" name="TextBox 5"/>
          <p:cNvSpPr txBox="1"/>
          <p:nvPr/>
        </p:nvSpPr>
        <p:spPr>
          <a:xfrm>
            <a:off x="138546" y="4872138"/>
            <a:ext cx="5823330" cy="1938992"/>
          </a:xfrm>
          <a:prstGeom prst="rect">
            <a:avLst/>
          </a:prstGeom>
          <a:noFill/>
        </p:spPr>
        <p:txBody>
          <a:bodyPr wrap="square" rtlCol="0">
            <a:spAutoFit/>
          </a:bodyPr>
          <a:lstStyle/>
          <a:p>
            <a:r>
              <a:rPr lang="en-AU" sz="2400" dirty="0" smtClean="0"/>
              <a:t>Bohr also said that the electrons of an atom are normally located as close to the nucleus as possible. The energy level that is closer to the nucleus is more stable as it is having lower energy.</a:t>
            </a:r>
            <a:endParaRPr lang="en-AU" sz="2400" dirty="0"/>
          </a:p>
        </p:txBody>
      </p:sp>
    </p:spTree>
    <p:extLst>
      <p:ext uri="{BB962C8B-B14F-4D97-AF65-F5344CB8AC3E}">
        <p14:creationId xmlns:p14="http://schemas.microsoft.com/office/powerpoint/2010/main" val="2395886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graphicFrame>
        <p:nvGraphicFramePr>
          <p:cNvPr id="10" name="Table 9"/>
          <p:cNvGraphicFramePr>
            <a:graphicFrameLocks noGrp="1"/>
          </p:cNvGraphicFramePr>
          <p:nvPr>
            <p:extLst>
              <p:ext uri="{D42A27DB-BD31-4B8C-83A1-F6EECF244321}">
                <p14:modId xmlns:p14="http://schemas.microsoft.com/office/powerpoint/2010/main" val="1308696778"/>
              </p:ext>
            </p:extLst>
          </p:nvPr>
        </p:nvGraphicFramePr>
        <p:xfrm>
          <a:off x="9523079" y="148208"/>
          <a:ext cx="2463077" cy="128016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The maximum number of electrons in the second energy level is?</a:t>
                      </a:r>
                      <a:endParaRPr lang="en-AU" dirty="0"/>
                    </a:p>
                  </a:txBody>
                  <a:tcPr/>
                </a:tc>
                <a:extLst>
                  <a:ext uri="{0D108BD9-81ED-4DB2-BD59-A6C34878D82A}">
                    <a16:rowId xmlns:a16="http://schemas.microsoft.com/office/drawing/2014/main" val="10001"/>
                  </a:ext>
                </a:extLst>
              </a:tr>
            </a:tbl>
          </a:graphicData>
        </a:graphic>
      </p:graphicFrame>
      <p:graphicFrame>
        <p:nvGraphicFramePr>
          <p:cNvPr id="64" name="Table 63"/>
          <p:cNvGraphicFramePr>
            <a:graphicFrameLocks noGrp="1"/>
          </p:cNvGraphicFramePr>
          <p:nvPr>
            <p:extLst>
              <p:ext uri="{D42A27DB-BD31-4B8C-83A1-F6EECF244321}">
                <p14:modId xmlns:p14="http://schemas.microsoft.com/office/powerpoint/2010/main" val="173874982"/>
              </p:ext>
            </p:extLst>
          </p:nvPr>
        </p:nvGraphicFramePr>
        <p:xfrm>
          <a:off x="9523079" y="1597008"/>
          <a:ext cx="2463077" cy="100584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2</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Can there be 3 electrons in the first level?</a:t>
                      </a:r>
                      <a:endParaRPr lang="en-AU" dirty="0"/>
                    </a:p>
                  </a:txBody>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6229297"/>
              </p:ext>
            </p:extLst>
          </p:nvPr>
        </p:nvGraphicFramePr>
        <p:xfrm>
          <a:off x="9523079" y="2865721"/>
          <a:ext cx="2463077" cy="182880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0">
                <a:tc>
                  <a:txBody>
                    <a:bodyPr/>
                    <a:lstStyle/>
                    <a:p>
                      <a:r>
                        <a:rPr lang="en-AU" dirty="0"/>
                        <a:t>CFU </a:t>
                      </a:r>
                      <a:r>
                        <a:rPr lang="en-AU" dirty="0" smtClean="0"/>
                        <a:t>3</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Why do you think levels three and four could have a maximum of more electrons than stated for calcium?</a:t>
                      </a:r>
                      <a:endParaRPr lang="en-AU" dirty="0"/>
                    </a:p>
                  </a:txBody>
                  <a:tcPr/>
                </a:tc>
                <a:extLst>
                  <a:ext uri="{0D108BD9-81ED-4DB2-BD59-A6C34878D82A}">
                    <a16:rowId xmlns:a16="http://schemas.microsoft.com/office/drawing/2014/main" val="10001"/>
                  </a:ext>
                </a:extLst>
              </a:tr>
            </a:tbl>
          </a:graphicData>
        </a:graphic>
      </p:graphicFrame>
      <p:sp>
        <p:nvSpPr>
          <p:cNvPr id="2" name="TextBox 1"/>
          <p:cNvSpPr txBox="1"/>
          <p:nvPr/>
        </p:nvSpPr>
        <p:spPr>
          <a:xfrm>
            <a:off x="-1" y="728343"/>
            <a:ext cx="9523079" cy="2308324"/>
          </a:xfrm>
          <a:prstGeom prst="rect">
            <a:avLst/>
          </a:prstGeom>
          <a:noFill/>
        </p:spPr>
        <p:txBody>
          <a:bodyPr wrap="square" rtlCol="0">
            <a:spAutoFit/>
          </a:bodyPr>
          <a:lstStyle/>
          <a:p>
            <a:pPr marL="285750" indent="-285750">
              <a:buFont typeface="Arial" panose="020B0604020202020204" pitchFamily="34" charset="0"/>
              <a:buChar char="•"/>
            </a:pPr>
            <a:r>
              <a:rPr lang="en-AU" sz="2400" dirty="0" smtClean="0"/>
              <a:t>Although they cannot say exactly where an electron is and how fast it is travelling, scientists can determine the arrangement of electrons around the nucleus.</a:t>
            </a:r>
          </a:p>
          <a:p>
            <a:pPr marL="285750" indent="-285750">
              <a:buFont typeface="Arial" panose="020B0604020202020204" pitchFamily="34" charset="0"/>
              <a:buChar char="•"/>
            </a:pPr>
            <a:r>
              <a:rPr lang="en-AU" sz="2400" dirty="0"/>
              <a:t>The electrons occupy ENERGY LEVELS.</a:t>
            </a:r>
          </a:p>
          <a:p>
            <a:pPr marL="285750" indent="-285750">
              <a:buFont typeface="Arial" panose="020B0604020202020204" pitchFamily="34" charset="0"/>
              <a:buChar char="•"/>
            </a:pPr>
            <a:r>
              <a:rPr lang="en-AU" sz="2400" dirty="0" smtClean="0"/>
              <a:t>A simple model that shows how electrons exist in atoms is shown below for an atom of calcium. </a:t>
            </a:r>
            <a:endParaRPr lang="en-AU" sz="2400" dirty="0"/>
          </a:p>
        </p:txBody>
      </p:sp>
      <p:sp>
        <p:nvSpPr>
          <p:cNvPr id="3" name="TextBox 2"/>
          <p:cNvSpPr txBox="1"/>
          <p:nvPr/>
        </p:nvSpPr>
        <p:spPr>
          <a:xfrm>
            <a:off x="0" y="5640608"/>
            <a:ext cx="11823358" cy="830997"/>
          </a:xfrm>
          <a:prstGeom prst="rect">
            <a:avLst/>
          </a:prstGeom>
          <a:noFill/>
        </p:spPr>
        <p:txBody>
          <a:bodyPr wrap="square" rtlCol="0">
            <a:spAutoFit/>
          </a:bodyPr>
          <a:lstStyle/>
          <a:p>
            <a:pPr marL="342900" indent="-342900">
              <a:buFont typeface="Arial" panose="020B0604020202020204" pitchFamily="34" charset="0"/>
              <a:buChar char="•"/>
            </a:pPr>
            <a:r>
              <a:rPr lang="en-AU" sz="2400" dirty="0" smtClean="0">
                <a:cs typeface="Arial" panose="020B0604020202020204" pitchFamily="34" charset="0"/>
              </a:rPr>
              <a:t>An abbreviated way of writing this electron structure for calcium would be:   Ca 2, 8, 8, 2   </a:t>
            </a:r>
          </a:p>
          <a:p>
            <a:pPr marL="342900" indent="-342900">
              <a:buFont typeface="Arial" panose="020B0604020202020204" pitchFamily="34" charset="0"/>
              <a:buChar char="•"/>
            </a:pPr>
            <a:r>
              <a:rPr lang="en-AU" sz="2400" dirty="0" smtClean="0">
                <a:cs typeface="Arial" panose="020B0604020202020204" pitchFamily="34" charset="0"/>
              </a:rPr>
              <a:t>This is called its ELECTRON CONFIGURATION</a:t>
            </a:r>
            <a:endParaRPr lang="en-AU" sz="2400" dirty="0">
              <a:cs typeface="Arial" panose="020B0604020202020204" pitchFamily="34" charset="0"/>
            </a:endParaRPr>
          </a:p>
        </p:txBody>
      </p:sp>
      <p:sp>
        <p:nvSpPr>
          <p:cNvPr id="12" name="Oval 11"/>
          <p:cNvSpPr/>
          <p:nvPr/>
        </p:nvSpPr>
        <p:spPr>
          <a:xfrm>
            <a:off x="3292115" y="2767579"/>
            <a:ext cx="2770672" cy="253199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sp>
        <p:nvSpPr>
          <p:cNvPr id="9" name="Oval 8"/>
          <p:cNvSpPr/>
          <p:nvPr/>
        </p:nvSpPr>
        <p:spPr>
          <a:xfrm>
            <a:off x="3664058" y="3042430"/>
            <a:ext cx="2026786" cy="198229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sp>
        <p:nvSpPr>
          <p:cNvPr id="8" name="Oval 7"/>
          <p:cNvSpPr/>
          <p:nvPr/>
        </p:nvSpPr>
        <p:spPr>
          <a:xfrm>
            <a:off x="3954696" y="3338985"/>
            <a:ext cx="1445510" cy="138918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sp>
        <p:nvSpPr>
          <p:cNvPr id="6" name="Oval 5"/>
          <p:cNvSpPr/>
          <p:nvPr/>
        </p:nvSpPr>
        <p:spPr>
          <a:xfrm>
            <a:off x="4297278" y="3651832"/>
            <a:ext cx="760347" cy="76349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sp>
        <p:nvSpPr>
          <p:cNvPr id="13" name="TextBox 12"/>
          <p:cNvSpPr txBox="1"/>
          <p:nvPr/>
        </p:nvSpPr>
        <p:spPr>
          <a:xfrm>
            <a:off x="4471589" y="3832247"/>
            <a:ext cx="544071" cy="369332"/>
          </a:xfrm>
          <a:prstGeom prst="rect">
            <a:avLst/>
          </a:prstGeom>
          <a:noFill/>
        </p:spPr>
        <p:txBody>
          <a:bodyPr wrap="square" rtlCol="0">
            <a:spAutoFit/>
          </a:bodyPr>
          <a:lstStyle/>
          <a:p>
            <a:r>
              <a:rPr lang="en-AU" dirty="0" smtClean="0"/>
              <a:t>Ca</a:t>
            </a:r>
            <a:endParaRPr lang="en-AU" dirty="0"/>
          </a:p>
        </p:txBody>
      </p:sp>
      <p:sp>
        <p:nvSpPr>
          <p:cNvPr id="14" name="TextBox 13"/>
          <p:cNvSpPr txBox="1"/>
          <p:nvPr/>
        </p:nvSpPr>
        <p:spPr>
          <a:xfrm>
            <a:off x="4618683" y="3173242"/>
            <a:ext cx="274026" cy="338554"/>
          </a:xfrm>
          <a:prstGeom prst="rect">
            <a:avLst/>
          </a:prstGeom>
          <a:noFill/>
        </p:spPr>
        <p:txBody>
          <a:bodyPr wrap="square" rtlCol="0">
            <a:spAutoFit/>
          </a:bodyPr>
          <a:lstStyle/>
          <a:p>
            <a:r>
              <a:rPr lang="en-AU" sz="1600" dirty="0"/>
              <a:t>e</a:t>
            </a:r>
          </a:p>
        </p:txBody>
      </p:sp>
      <p:sp>
        <p:nvSpPr>
          <p:cNvPr id="15" name="TextBox 14"/>
          <p:cNvSpPr txBox="1"/>
          <p:nvPr/>
        </p:nvSpPr>
        <p:spPr>
          <a:xfrm>
            <a:off x="5796529" y="3050131"/>
            <a:ext cx="184731" cy="369332"/>
          </a:xfrm>
          <a:prstGeom prst="rect">
            <a:avLst/>
          </a:prstGeom>
          <a:noFill/>
        </p:spPr>
        <p:txBody>
          <a:bodyPr wrap="none" rtlCol="0">
            <a:spAutoFit/>
          </a:bodyPr>
          <a:lstStyle/>
          <a:p>
            <a:endParaRPr lang="en-AU" dirty="0"/>
          </a:p>
        </p:txBody>
      </p:sp>
      <p:sp>
        <p:nvSpPr>
          <p:cNvPr id="19" name="TextBox 18"/>
          <p:cNvSpPr txBox="1"/>
          <p:nvPr/>
        </p:nvSpPr>
        <p:spPr>
          <a:xfrm>
            <a:off x="4554469" y="2555410"/>
            <a:ext cx="274026" cy="338554"/>
          </a:xfrm>
          <a:prstGeom prst="rect">
            <a:avLst/>
          </a:prstGeom>
          <a:noFill/>
        </p:spPr>
        <p:txBody>
          <a:bodyPr wrap="square" rtlCol="0">
            <a:spAutoFit/>
          </a:bodyPr>
          <a:lstStyle/>
          <a:p>
            <a:r>
              <a:rPr lang="en-AU" sz="1600" dirty="0"/>
              <a:t>e</a:t>
            </a:r>
          </a:p>
        </p:txBody>
      </p:sp>
      <p:sp>
        <p:nvSpPr>
          <p:cNvPr id="20" name="TextBox 19"/>
          <p:cNvSpPr txBox="1"/>
          <p:nvPr/>
        </p:nvSpPr>
        <p:spPr>
          <a:xfrm>
            <a:off x="3836237" y="3934038"/>
            <a:ext cx="274026" cy="338554"/>
          </a:xfrm>
          <a:prstGeom prst="rect">
            <a:avLst/>
          </a:prstGeom>
          <a:noFill/>
        </p:spPr>
        <p:txBody>
          <a:bodyPr wrap="square" rtlCol="0">
            <a:spAutoFit/>
          </a:bodyPr>
          <a:lstStyle/>
          <a:p>
            <a:r>
              <a:rPr lang="en-AU" sz="1600" dirty="0"/>
              <a:t>e</a:t>
            </a:r>
          </a:p>
        </p:txBody>
      </p:sp>
      <p:sp>
        <p:nvSpPr>
          <p:cNvPr id="24" name="TextBox 23"/>
          <p:cNvSpPr txBox="1"/>
          <p:nvPr/>
        </p:nvSpPr>
        <p:spPr>
          <a:xfrm>
            <a:off x="4479116" y="3178019"/>
            <a:ext cx="274026" cy="338554"/>
          </a:xfrm>
          <a:prstGeom prst="rect">
            <a:avLst/>
          </a:prstGeom>
          <a:noFill/>
        </p:spPr>
        <p:txBody>
          <a:bodyPr wrap="square" rtlCol="0">
            <a:spAutoFit/>
          </a:bodyPr>
          <a:lstStyle/>
          <a:p>
            <a:r>
              <a:rPr lang="en-AU" sz="1600" dirty="0"/>
              <a:t>e</a:t>
            </a:r>
          </a:p>
        </p:txBody>
      </p:sp>
      <p:sp>
        <p:nvSpPr>
          <p:cNvPr id="25" name="TextBox 24"/>
          <p:cNvSpPr txBox="1"/>
          <p:nvPr/>
        </p:nvSpPr>
        <p:spPr>
          <a:xfrm>
            <a:off x="4543332" y="3521350"/>
            <a:ext cx="274026" cy="338554"/>
          </a:xfrm>
          <a:prstGeom prst="rect">
            <a:avLst/>
          </a:prstGeom>
          <a:noFill/>
        </p:spPr>
        <p:txBody>
          <a:bodyPr wrap="square" rtlCol="0">
            <a:spAutoFit/>
          </a:bodyPr>
          <a:lstStyle/>
          <a:p>
            <a:r>
              <a:rPr lang="en-AU" sz="1600" dirty="0"/>
              <a:t>e</a:t>
            </a:r>
          </a:p>
        </p:txBody>
      </p:sp>
      <p:sp>
        <p:nvSpPr>
          <p:cNvPr id="32" name="TextBox 31"/>
          <p:cNvSpPr txBox="1"/>
          <p:nvPr/>
        </p:nvSpPr>
        <p:spPr>
          <a:xfrm>
            <a:off x="4540438" y="4192055"/>
            <a:ext cx="274026" cy="338554"/>
          </a:xfrm>
          <a:prstGeom prst="rect">
            <a:avLst/>
          </a:prstGeom>
          <a:noFill/>
        </p:spPr>
        <p:txBody>
          <a:bodyPr wrap="square" rtlCol="0">
            <a:spAutoFit/>
          </a:bodyPr>
          <a:lstStyle/>
          <a:p>
            <a:r>
              <a:rPr lang="en-AU" sz="1600" dirty="0"/>
              <a:t>e</a:t>
            </a:r>
          </a:p>
        </p:txBody>
      </p:sp>
      <p:sp>
        <p:nvSpPr>
          <p:cNvPr id="33" name="TextBox 32"/>
          <p:cNvSpPr txBox="1"/>
          <p:nvPr/>
        </p:nvSpPr>
        <p:spPr>
          <a:xfrm>
            <a:off x="3842074" y="3758844"/>
            <a:ext cx="274026" cy="338554"/>
          </a:xfrm>
          <a:prstGeom prst="rect">
            <a:avLst/>
          </a:prstGeom>
          <a:noFill/>
        </p:spPr>
        <p:txBody>
          <a:bodyPr wrap="square" rtlCol="0">
            <a:spAutoFit/>
          </a:bodyPr>
          <a:lstStyle/>
          <a:p>
            <a:r>
              <a:rPr lang="en-AU" sz="1600" dirty="0"/>
              <a:t>e</a:t>
            </a:r>
          </a:p>
        </p:txBody>
      </p:sp>
      <p:cxnSp>
        <p:nvCxnSpPr>
          <p:cNvPr id="34" name="Straight Arrow Connector 33"/>
          <p:cNvCxnSpPr>
            <a:stCxn id="7" idx="1"/>
            <a:endCxn id="6" idx="7"/>
          </p:cNvCxnSpPr>
          <p:nvPr/>
        </p:nvCxnSpPr>
        <p:spPr>
          <a:xfrm flipH="1">
            <a:off x="4946275" y="2964964"/>
            <a:ext cx="1207015" cy="798679"/>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8" name="Straight Arrow Connector 37"/>
          <p:cNvCxnSpPr>
            <a:stCxn id="54" idx="1"/>
          </p:cNvCxnSpPr>
          <p:nvPr/>
        </p:nvCxnSpPr>
        <p:spPr>
          <a:xfrm flipH="1">
            <a:off x="5400207" y="3680016"/>
            <a:ext cx="953218" cy="17988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37" name="TextBox 36"/>
          <p:cNvSpPr txBox="1"/>
          <p:nvPr/>
        </p:nvSpPr>
        <p:spPr>
          <a:xfrm>
            <a:off x="4616764" y="4520335"/>
            <a:ext cx="274026" cy="338554"/>
          </a:xfrm>
          <a:prstGeom prst="rect">
            <a:avLst/>
          </a:prstGeom>
          <a:noFill/>
        </p:spPr>
        <p:txBody>
          <a:bodyPr wrap="square" rtlCol="0">
            <a:spAutoFit/>
          </a:bodyPr>
          <a:lstStyle/>
          <a:p>
            <a:r>
              <a:rPr lang="en-AU" sz="1600" dirty="0"/>
              <a:t>e</a:t>
            </a:r>
          </a:p>
        </p:txBody>
      </p:sp>
      <p:sp>
        <p:nvSpPr>
          <p:cNvPr id="39" name="TextBox 38"/>
          <p:cNvSpPr txBox="1"/>
          <p:nvPr/>
        </p:nvSpPr>
        <p:spPr>
          <a:xfrm>
            <a:off x="4477197" y="4525112"/>
            <a:ext cx="274026" cy="338554"/>
          </a:xfrm>
          <a:prstGeom prst="rect">
            <a:avLst/>
          </a:prstGeom>
          <a:noFill/>
        </p:spPr>
        <p:txBody>
          <a:bodyPr wrap="square" rtlCol="0">
            <a:spAutoFit/>
          </a:bodyPr>
          <a:lstStyle/>
          <a:p>
            <a:r>
              <a:rPr lang="en-AU" sz="1600" dirty="0"/>
              <a:t>e</a:t>
            </a:r>
          </a:p>
        </p:txBody>
      </p:sp>
      <p:sp>
        <p:nvSpPr>
          <p:cNvPr id="40" name="TextBox 39"/>
          <p:cNvSpPr txBox="1"/>
          <p:nvPr/>
        </p:nvSpPr>
        <p:spPr>
          <a:xfrm>
            <a:off x="4619172" y="4856435"/>
            <a:ext cx="274026" cy="338554"/>
          </a:xfrm>
          <a:prstGeom prst="rect">
            <a:avLst/>
          </a:prstGeom>
          <a:noFill/>
        </p:spPr>
        <p:txBody>
          <a:bodyPr wrap="square" rtlCol="0">
            <a:spAutoFit/>
          </a:bodyPr>
          <a:lstStyle/>
          <a:p>
            <a:r>
              <a:rPr lang="en-AU" sz="1600" dirty="0"/>
              <a:t>e</a:t>
            </a:r>
          </a:p>
        </p:txBody>
      </p:sp>
      <p:sp>
        <p:nvSpPr>
          <p:cNvPr id="42" name="TextBox 41"/>
          <p:cNvSpPr txBox="1"/>
          <p:nvPr/>
        </p:nvSpPr>
        <p:spPr>
          <a:xfrm>
            <a:off x="4479605" y="4861212"/>
            <a:ext cx="274026" cy="338554"/>
          </a:xfrm>
          <a:prstGeom prst="rect">
            <a:avLst/>
          </a:prstGeom>
          <a:noFill/>
        </p:spPr>
        <p:txBody>
          <a:bodyPr wrap="square" rtlCol="0">
            <a:spAutoFit/>
          </a:bodyPr>
          <a:lstStyle/>
          <a:p>
            <a:r>
              <a:rPr lang="en-AU" sz="1600" dirty="0"/>
              <a:t>e</a:t>
            </a:r>
          </a:p>
        </p:txBody>
      </p:sp>
      <p:sp>
        <p:nvSpPr>
          <p:cNvPr id="44" name="TextBox 43"/>
          <p:cNvSpPr txBox="1"/>
          <p:nvPr/>
        </p:nvSpPr>
        <p:spPr>
          <a:xfrm>
            <a:off x="4644972" y="2850628"/>
            <a:ext cx="274026" cy="338554"/>
          </a:xfrm>
          <a:prstGeom prst="rect">
            <a:avLst/>
          </a:prstGeom>
          <a:noFill/>
        </p:spPr>
        <p:txBody>
          <a:bodyPr wrap="square" rtlCol="0">
            <a:spAutoFit/>
          </a:bodyPr>
          <a:lstStyle/>
          <a:p>
            <a:r>
              <a:rPr lang="en-AU" sz="1600" dirty="0"/>
              <a:t>e</a:t>
            </a:r>
          </a:p>
        </p:txBody>
      </p:sp>
      <p:sp>
        <p:nvSpPr>
          <p:cNvPr id="45" name="TextBox 44"/>
          <p:cNvSpPr txBox="1"/>
          <p:nvPr/>
        </p:nvSpPr>
        <p:spPr>
          <a:xfrm>
            <a:off x="4505405" y="2855405"/>
            <a:ext cx="274026" cy="338554"/>
          </a:xfrm>
          <a:prstGeom prst="rect">
            <a:avLst/>
          </a:prstGeom>
          <a:noFill/>
        </p:spPr>
        <p:txBody>
          <a:bodyPr wrap="square" rtlCol="0">
            <a:spAutoFit/>
          </a:bodyPr>
          <a:lstStyle/>
          <a:p>
            <a:r>
              <a:rPr lang="en-AU" sz="1600" dirty="0"/>
              <a:t>e</a:t>
            </a:r>
          </a:p>
        </p:txBody>
      </p:sp>
      <p:sp>
        <p:nvSpPr>
          <p:cNvPr id="46" name="TextBox 45"/>
          <p:cNvSpPr txBox="1"/>
          <p:nvPr/>
        </p:nvSpPr>
        <p:spPr>
          <a:xfrm>
            <a:off x="3521646" y="3928008"/>
            <a:ext cx="274026" cy="338554"/>
          </a:xfrm>
          <a:prstGeom prst="rect">
            <a:avLst/>
          </a:prstGeom>
          <a:noFill/>
        </p:spPr>
        <p:txBody>
          <a:bodyPr wrap="square" rtlCol="0">
            <a:spAutoFit/>
          </a:bodyPr>
          <a:lstStyle/>
          <a:p>
            <a:r>
              <a:rPr lang="en-AU" sz="1600" dirty="0"/>
              <a:t>e</a:t>
            </a:r>
          </a:p>
        </p:txBody>
      </p:sp>
      <p:sp>
        <p:nvSpPr>
          <p:cNvPr id="47" name="TextBox 46"/>
          <p:cNvSpPr txBox="1"/>
          <p:nvPr/>
        </p:nvSpPr>
        <p:spPr>
          <a:xfrm>
            <a:off x="3527483" y="3752814"/>
            <a:ext cx="274026" cy="338554"/>
          </a:xfrm>
          <a:prstGeom prst="rect">
            <a:avLst/>
          </a:prstGeom>
          <a:noFill/>
        </p:spPr>
        <p:txBody>
          <a:bodyPr wrap="square" rtlCol="0">
            <a:spAutoFit/>
          </a:bodyPr>
          <a:lstStyle/>
          <a:p>
            <a:r>
              <a:rPr lang="en-AU" sz="1600" dirty="0"/>
              <a:t>e</a:t>
            </a:r>
          </a:p>
        </p:txBody>
      </p:sp>
      <p:sp>
        <p:nvSpPr>
          <p:cNvPr id="48" name="TextBox 47"/>
          <p:cNvSpPr txBox="1"/>
          <p:nvPr/>
        </p:nvSpPr>
        <p:spPr>
          <a:xfrm>
            <a:off x="5238803" y="3926477"/>
            <a:ext cx="274026" cy="338554"/>
          </a:xfrm>
          <a:prstGeom prst="rect">
            <a:avLst/>
          </a:prstGeom>
          <a:noFill/>
        </p:spPr>
        <p:txBody>
          <a:bodyPr wrap="square" rtlCol="0">
            <a:spAutoFit/>
          </a:bodyPr>
          <a:lstStyle/>
          <a:p>
            <a:r>
              <a:rPr lang="en-AU" sz="1600" dirty="0"/>
              <a:t>e</a:t>
            </a:r>
          </a:p>
        </p:txBody>
      </p:sp>
      <p:sp>
        <p:nvSpPr>
          <p:cNvPr id="49" name="TextBox 48"/>
          <p:cNvSpPr txBox="1"/>
          <p:nvPr/>
        </p:nvSpPr>
        <p:spPr>
          <a:xfrm>
            <a:off x="5244640" y="3751283"/>
            <a:ext cx="274026" cy="338554"/>
          </a:xfrm>
          <a:prstGeom prst="rect">
            <a:avLst/>
          </a:prstGeom>
          <a:noFill/>
        </p:spPr>
        <p:txBody>
          <a:bodyPr wrap="square" rtlCol="0">
            <a:spAutoFit/>
          </a:bodyPr>
          <a:lstStyle/>
          <a:p>
            <a:r>
              <a:rPr lang="en-AU" sz="1600" dirty="0"/>
              <a:t>e</a:t>
            </a:r>
          </a:p>
        </p:txBody>
      </p:sp>
      <p:sp>
        <p:nvSpPr>
          <p:cNvPr id="50" name="TextBox 49"/>
          <p:cNvSpPr txBox="1"/>
          <p:nvPr/>
        </p:nvSpPr>
        <p:spPr>
          <a:xfrm>
            <a:off x="5558336" y="3928358"/>
            <a:ext cx="274026" cy="338554"/>
          </a:xfrm>
          <a:prstGeom prst="rect">
            <a:avLst/>
          </a:prstGeom>
          <a:noFill/>
        </p:spPr>
        <p:txBody>
          <a:bodyPr wrap="square" rtlCol="0">
            <a:spAutoFit/>
          </a:bodyPr>
          <a:lstStyle/>
          <a:p>
            <a:r>
              <a:rPr lang="en-AU" sz="1600" dirty="0"/>
              <a:t>e</a:t>
            </a:r>
          </a:p>
        </p:txBody>
      </p:sp>
      <p:sp>
        <p:nvSpPr>
          <p:cNvPr id="51" name="TextBox 50"/>
          <p:cNvSpPr txBox="1"/>
          <p:nvPr/>
        </p:nvSpPr>
        <p:spPr>
          <a:xfrm>
            <a:off x="5564173" y="3753164"/>
            <a:ext cx="274026" cy="338554"/>
          </a:xfrm>
          <a:prstGeom prst="rect">
            <a:avLst/>
          </a:prstGeom>
          <a:noFill/>
        </p:spPr>
        <p:txBody>
          <a:bodyPr wrap="square" rtlCol="0">
            <a:spAutoFit/>
          </a:bodyPr>
          <a:lstStyle/>
          <a:p>
            <a:r>
              <a:rPr lang="en-AU" sz="1600" dirty="0"/>
              <a:t>e</a:t>
            </a:r>
          </a:p>
        </p:txBody>
      </p:sp>
      <p:sp>
        <p:nvSpPr>
          <p:cNvPr id="52" name="TextBox 51"/>
          <p:cNvSpPr txBox="1"/>
          <p:nvPr/>
        </p:nvSpPr>
        <p:spPr>
          <a:xfrm>
            <a:off x="4539009" y="5089287"/>
            <a:ext cx="274026" cy="338554"/>
          </a:xfrm>
          <a:prstGeom prst="rect">
            <a:avLst/>
          </a:prstGeom>
          <a:noFill/>
        </p:spPr>
        <p:txBody>
          <a:bodyPr wrap="square" rtlCol="0">
            <a:spAutoFit/>
          </a:bodyPr>
          <a:lstStyle/>
          <a:p>
            <a:r>
              <a:rPr lang="en-AU" sz="1600" dirty="0"/>
              <a:t>e</a:t>
            </a:r>
          </a:p>
        </p:txBody>
      </p:sp>
      <p:sp>
        <p:nvSpPr>
          <p:cNvPr id="7" name="TextBox 6"/>
          <p:cNvSpPr txBox="1"/>
          <p:nvPr/>
        </p:nvSpPr>
        <p:spPr>
          <a:xfrm>
            <a:off x="6153290" y="2672576"/>
            <a:ext cx="2733928" cy="584775"/>
          </a:xfrm>
          <a:prstGeom prst="rect">
            <a:avLst/>
          </a:prstGeom>
          <a:noFill/>
        </p:spPr>
        <p:txBody>
          <a:bodyPr wrap="square" rtlCol="0">
            <a:spAutoFit/>
          </a:bodyPr>
          <a:lstStyle/>
          <a:p>
            <a:r>
              <a:rPr lang="en-AU" sz="1600" dirty="0"/>
              <a:t>F</a:t>
            </a:r>
            <a:r>
              <a:rPr lang="en-AU" sz="1600" dirty="0" smtClean="0"/>
              <a:t>irst energy level contains a maximum of 2 electrons</a:t>
            </a:r>
            <a:endParaRPr lang="en-AU" sz="1600" dirty="0"/>
          </a:p>
        </p:txBody>
      </p:sp>
      <p:sp>
        <p:nvSpPr>
          <p:cNvPr id="54" name="TextBox 53"/>
          <p:cNvSpPr txBox="1"/>
          <p:nvPr/>
        </p:nvSpPr>
        <p:spPr>
          <a:xfrm>
            <a:off x="6353425" y="3387628"/>
            <a:ext cx="2934442" cy="584775"/>
          </a:xfrm>
          <a:prstGeom prst="rect">
            <a:avLst/>
          </a:prstGeom>
          <a:noFill/>
        </p:spPr>
        <p:txBody>
          <a:bodyPr wrap="square" rtlCol="0">
            <a:spAutoFit/>
          </a:bodyPr>
          <a:lstStyle/>
          <a:p>
            <a:r>
              <a:rPr lang="en-AU" sz="1600" dirty="0"/>
              <a:t>S</a:t>
            </a:r>
            <a:r>
              <a:rPr lang="en-AU" sz="1600" dirty="0" smtClean="0"/>
              <a:t>econd energy level contains a maximum of 8 electrons</a:t>
            </a:r>
            <a:endParaRPr lang="en-AU" sz="1600" dirty="0"/>
          </a:p>
        </p:txBody>
      </p:sp>
      <p:sp>
        <p:nvSpPr>
          <p:cNvPr id="61" name="TextBox 60"/>
          <p:cNvSpPr txBox="1"/>
          <p:nvPr/>
        </p:nvSpPr>
        <p:spPr>
          <a:xfrm>
            <a:off x="6353425" y="4132395"/>
            <a:ext cx="2673873" cy="584775"/>
          </a:xfrm>
          <a:prstGeom prst="rect">
            <a:avLst/>
          </a:prstGeom>
          <a:noFill/>
        </p:spPr>
        <p:txBody>
          <a:bodyPr wrap="square" rtlCol="0">
            <a:spAutoFit/>
          </a:bodyPr>
          <a:lstStyle/>
          <a:p>
            <a:r>
              <a:rPr lang="en-AU" sz="1600" dirty="0" smtClean="0"/>
              <a:t>Third energy level contains 8 electrons (not a maximum)</a:t>
            </a:r>
            <a:endParaRPr lang="en-AU" sz="1600" dirty="0"/>
          </a:p>
        </p:txBody>
      </p:sp>
      <p:cxnSp>
        <p:nvCxnSpPr>
          <p:cNvPr id="65" name="Straight Arrow Connector 64"/>
          <p:cNvCxnSpPr>
            <a:stCxn id="61" idx="1"/>
          </p:cNvCxnSpPr>
          <p:nvPr/>
        </p:nvCxnSpPr>
        <p:spPr>
          <a:xfrm flipH="1">
            <a:off x="5603169" y="4424783"/>
            <a:ext cx="750256" cy="3306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68" name="TextBox 67"/>
          <p:cNvSpPr txBox="1"/>
          <p:nvPr/>
        </p:nvSpPr>
        <p:spPr>
          <a:xfrm>
            <a:off x="6319434" y="4898871"/>
            <a:ext cx="2673873" cy="584775"/>
          </a:xfrm>
          <a:prstGeom prst="rect">
            <a:avLst/>
          </a:prstGeom>
          <a:noFill/>
        </p:spPr>
        <p:txBody>
          <a:bodyPr wrap="square" rtlCol="0">
            <a:spAutoFit/>
          </a:bodyPr>
          <a:lstStyle/>
          <a:p>
            <a:r>
              <a:rPr lang="en-AU" sz="1600" dirty="0" smtClean="0"/>
              <a:t>Fourth energy level contains 2 electrons (not a maximum)</a:t>
            </a:r>
            <a:endParaRPr lang="en-AU" sz="1600" dirty="0"/>
          </a:p>
        </p:txBody>
      </p:sp>
      <p:cxnSp>
        <p:nvCxnSpPr>
          <p:cNvPr id="69" name="Straight Arrow Connector 68"/>
          <p:cNvCxnSpPr>
            <a:stCxn id="68" idx="1"/>
            <a:endCxn id="12" idx="5"/>
          </p:cNvCxnSpPr>
          <p:nvPr/>
        </p:nvCxnSpPr>
        <p:spPr>
          <a:xfrm flipH="1" flipV="1">
            <a:off x="5657031" y="4928774"/>
            <a:ext cx="662403" cy="26248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979572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
                                            <p:txEl>
                                              <p:pRg st="0" end="0"/>
                                            </p:txEl>
                                          </p:spTgt>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64"/>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P spid="8" grpId="0" animBg="1"/>
      <p:bldP spid="6" grpId="0" animBg="1"/>
      <p:bldP spid="13" grpId="0"/>
      <p:bldP spid="14" grpId="0"/>
      <p:bldP spid="19" grpId="0"/>
      <p:bldP spid="20" grpId="0"/>
      <p:bldP spid="24" grpId="0"/>
      <p:bldP spid="25" grpId="0"/>
      <p:bldP spid="32" grpId="0"/>
      <p:bldP spid="33" grpId="0"/>
      <p:bldP spid="37" grpId="0"/>
      <p:bldP spid="39" grpId="0"/>
      <p:bldP spid="40" grpId="0"/>
      <p:bldP spid="42" grpId="0"/>
      <p:bldP spid="44" grpId="0"/>
      <p:bldP spid="45" grpId="0"/>
      <p:bldP spid="46" grpId="0"/>
      <p:bldP spid="47" grpId="0"/>
      <p:bldP spid="48" grpId="0"/>
      <p:bldP spid="49" grpId="0"/>
      <p:bldP spid="50" grpId="0"/>
      <p:bldP spid="51" grpId="0"/>
      <p:bldP spid="52" grpId="0"/>
      <p:bldP spid="7" grpId="0"/>
      <p:bldP spid="54" grpId="0"/>
      <p:bldP spid="61" grpId="0"/>
      <p:bldP spid="6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graphicFrame>
        <p:nvGraphicFramePr>
          <p:cNvPr id="10" name="Table 9"/>
          <p:cNvGraphicFramePr>
            <a:graphicFrameLocks noGrp="1"/>
          </p:cNvGraphicFramePr>
          <p:nvPr>
            <p:extLst>
              <p:ext uri="{D42A27DB-BD31-4B8C-83A1-F6EECF244321}">
                <p14:modId xmlns:p14="http://schemas.microsoft.com/office/powerpoint/2010/main" val="3231489170"/>
              </p:ext>
            </p:extLst>
          </p:nvPr>
        </p:nvGraphicFramePr>
        <p:xfrm>
          <a:off x="9523079" y="148208"/>
          <a:ext cx="2463077" cy="155448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True or false:</a:t>
                      </a:r>
                      <a:r>
                        <a:rPr lang="en-AU" baseline="0" dirty="0" smtClean="0"/>
                        <a:t> </a:t>
                      </a:r>
                      <a:r>
                        <a:rPr lang="en-AU" dirty="0" smtClean="0"/>
                        <a:t>Each energy level can have any electron</a:t>
                      </a:r>
                      <a:r>
                        <a:rPr lang="en-AU" baseline="0" dirty="0" smtClean="0"/>
                        <a:t> in it. Explain your answer.</a:t>
                      </a:r>
                      <a:endParaRPr lang="en-AU" dirty="0"/>
                    </a:p>
                  </a:txBody>
                  <a:tcPr/>
                </a:tc>
                <a:extLst>
                  <a:ext uri="{0D108BD9-81ED-4DB2-BD59-A6C34878D82A}">
                    <a16:rowId xmlns:a16="http://schemas.microsoft.com/office/drawing/2014/main" val="10001"/>
                  </a:ext>
                </a:extLst>
              </a:tr>
            </a:tbl>
          </a:graphicData>
        </a:graphic>
      </p:graphicFrame>
      <p:graphicFrame>
        <p:nvGraphicFramePr>
          <p:cNvPr id="64" name="Table 63"/>
          <p:cNvGraphicFramePr>
            <a:graphicFrameLocks noGrp="1"/>
          </p:cNvGraphicFramePr>
          <p:nvPr>
            <p:extLst>
              <p:ext uri="{D42A27DB-BD31-4B8C-83A1-F6EECF244321}">
                <p14:modId xmlns:p14="http://schemas.microsoft.com/office/powerpoint/2010/main" val="117113658"/>
              </p:ext>
            </p:extLst>
          </p:nvPr>
        </p:nvGraphicFramePr>
        <p:xfrm>
          <a:off x="9523079" y="1805126"/>
          <a:ext cx="2463077" cy="100584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2</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An orbital contains a maximum of</a:t>
                      </a:r>
                      <a:r>
                        <a:rPr lang="en-AU" baseline="0" dirty="0" smtClean="0"/>
                        <a:t> _ electrons</a:t>
                      </a:r>
                      <a:endParaRPr lang="en-AU" dirty="0"/>
                    </a:p>
                  </a:txBody>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849901966"/>
              </p:ext>
            </p:extLst>
          </p:nvPr>
        </p:nvGraphicFramePr>
        <p:xfrm>
          <a:off x="9523079" y="3038856"/>
          <a:ext cx="2463077" cy="128016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3</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Diagrams showing the arrangement of electron are called _________.</a:t>
                      </a:r>
                      <a:endParaRPr lang="en-AU" dirty="0"/>
                    </a:p>
                  </a:txBody>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921473262"/>
              </p:ext>
            </p:extLst>
          </p:nvPr>
        </p:nvGraphicFramePr>
        <p:xfrm>
          <a:off x="9599278" y="4588320"/>
          <a:ext cx="2463077" cy="155448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4</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Electrons are drawn in pairs if the energy level contains more than _ electrons.</a:t>
                      </a:r>
                      <a:endParaRPr lang="en-AU" dirty="0"/>
                    </a:p>
                  </a:txBody>
                  <a:tcPr/>
                </a:tc>
                <a:extLst>
                  <a:ext uri="{0D108BD9-81ED-4DB2-BD59-A6C34878D82A}">
                    <a16:rowId xmlns:a16="http://schemas.microsoft.com/office/drawing/2014/main" val="10001"/>
                  </a:ext>
                </a:extLst>
              </a:tr>
            </a:tbl>
          </a:graphicData>
        </a:graphic>
      </p:graphicFrame>
      <p:sp>
        <p:nvSpPr>
          <p:cNvPr id="2" name="TextBox 1"/>
          <p:cNvSpPr txBox="1"/>
          <p:nvPr/>
        </p:nvSpPr>
        <p:spPr>
          <a:xfrm>
            <a:off x="-1" y="732983"/>
            <a:ext cx="9345953" cy="2677656"/>
          </a:xfrm>
          <a:prstGeom prst="rect">
            <a:avLst/>
          </a:prstGeom>
          <a:noFill/>
        </p:spPr>
        <p:txBody>
          <a:bodyPr wrap="square" rtlCol="0">
            <a:spAutoFit/>
          </a:bodyPr>
          <a:lstStyle/>
          <a:p>
            <a:pPr marL="285750" indent="-285750">
              <a:buFont typeface="Arial" panose="020B0604020202020204" pitchFamily="34" charset="0"/>
              <a:buChar char="•"/>
            </a:pPr>
            <a:r>
              <a:rPr lang="en-AU" sz="2400" dirty="0" smtClean="0">
                <a:cs typeface="Arial" panose="020B0604020202020204" pitchFamily="34" charset="0"/>
              </a:rPr>
              <a:t>Electrons can only be in an energy level if they have the correct amount of energy.</a:t>
            </a:r>
          </a:p>
          <a:p>
            <a:pPr marL="285750" indent="-285750">
              <a:buFont typeface="Arial" panose="020B0604020202020204" pitchFamily="34" charset="0"/>
              <a:buChar char="•"/>
            </a:pPr>
            <a:r>
              <a:rPr lang="en-AU" sz="2400" dirty="0" smtClean="0">
                <a:cs typeface="Arial" panose="020B0604020202020204" pitchFamily="34" charset="0"/>
              </a:rPr>
              <a:t>Energy levels can contain sub-levels called ORBITALS.  Any one orbital can contain a maximum of two electrons.</a:t>
            </a:r>
          </a:p>
          <a:p>
            <a:pPr marL="285750" indent="-285750">
              <a:buFont typeface="Arial" panose="020B0604020202020204" pitchFamily="34" charset="0"/>
              <a:buChar char="•"/>
            </a:pPr>
            <a:r>
              <a:rPr lang="en-AU" sz="2400" dirty="0" smtClean="0">
                <a:cs typeface="Arial" panose="020B0604020202020204" pitchFamily="34" charset="0"/>
              </a:rPr>
              <a:t>Below shows </a:t>
            </a:r>
            <a:r>
              <a:rPr lang="en-AU" sz="2400" b="1" dirty="0" smtClean="0">
                <a:cs typeface="Arial" panose="020B0604020202020204" pitchFamily="34" charset="0"/>
              </a:rPr>
              <a:t>energy level diagrams</a:t>
            </a:r>
            <a:r>
              <a:rPr lang="en-AU" sz="2400" dirty="0" smtClean="0">
                <a:cs typeface="Arial" panose="020B0604020202020204" pitchFamily="34" charset="0"/>
              </a:rPr>
              <a:t>. These are sometimes drawn with electrons in pairs, showing they occupy the same orbital. This is only done if an energy level contains more than 4 electrons.</a:t>
            </a:r>
            <a:endParaRPr lang="en-AU" sz="2400" dirty="0">
              <a:cs typeface="Arial" panose="020B0604020202020204" pitchFamily="34" charset="0"/>
            </a:endParaRPr>
          </a:p>
        </p:txBody>
      </p:sp>
      <p:pic>
        <p:nvPicPr>
          <p:cNvPr id="8" name="Picture 7"/>
          <p:cNvPicPr/>
          <p:nvPr/>
        </p:nvPicPr>
        <p:blipFill rotWithShape="1">
          <a:blip r:embed="rId3"/>
          <a:srcRect t="2" b="73630"/>
          <a:stretch/>
        </p:blipFill>
        <p:spPr bwMode="auto">
          <a:xfrm>
            <a:off x="226936" y="3410639"/>
            <a:ext cx="8938425" cy="334847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3852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010616" cy="1959511"/>
          </a:xfrm>
          <a:prstGeom prst="rect">
            <a:avLst/>
          </a:prstGeom>
          <a:noFill/>
        </p:spPr>
        <p:txBody>
          <a:bodyPr wrap="square" rtlCol="0">
            <a:spAutoFit/>
          </a:bodyPr>
          <a:lstStyle/>
          <a:p>
            <a:r>
              <a:rPr lang="en-AU" sz="2400" dirty="0" smtClean="0">
                <a:cs typeface="Arial" panose="020B0604020202020204" pitchFamily="34" charset="0"/>
              </a:rPr>
              <a:t>In your exercise book:</a:t>
            </a:r>
          </a:p>
          <a:p>
            <a:r>
              <a:rPr lang="en-AU" sz="2400" i="1" dirty="0">
                <a:cs typeface="Arial" panose="020B0604020202020204" pitchFamily="34" charset="0"/>
              </a:rPr>
              <a:t>1. </a:t>
            </a:r>
            <a:r>
              <a:rPr lang="en-AU" sz="2400" dirty="0">
                <a:cs typeface="Arial" panose="020B0604020202020204" pitchFamily="34" charset="0"/>
              </a:rPr>
              <a:t>Write the date and the title </a:t>
            </a:r>
            <a:r>
              <a:rPr lang="en-AU" sz="2400" i="1" dirty="0" smtClean="0">
                <a:cs typeface="Arial" panose="020B0604020202020204" pitchFamily="34" charset="0"/>
              </a:rPr>
              <a:t>“Electron Configuration”</a:t>
            </a:r>
            <a:endParaRPr lang="en-AU" sz="2400" i="1" dirty="0">
              <a:cs typeface="Arial" panose="020B0604020202020204" pitchFamily="34" charset="0"/>
            </a:endParaRPr>
          </a:p>
          <a:p>
            <a:r>
              <a:rPr lang="en-AU" sz="2400" dirty="0" smtClean="0">
                <a:cs typeface="Arial" panose="020B0604020202020204" pitchFamily="34" charset="0"/>
              </a:rPr>
              <a:t>2. Write the number of electrons in the element.</a:t>
            </a:r>
          </a:p>
          <a:p>
            <a:r>
              <a:rPr lang="en-AU" sz="2400" dirty="0" smtClean="0">
                <a:cs typeface="Arial" panose="020B0604020202020204" pitchFamily="34" charset="0"/>
              </a:rPr>
              <a:t>3. Draw an energy level diagram and write the electron configuration for each of the elements:</a:t>
            </a:r>
          </a:p>
          <a:p>
            <a:pPr marL="342900" indent="-342900">
              <a:buAutoNum type="alphaLcParenR"/>
            </a:pPr>
            <a:endParaRPr lang="en-AU" sz="2000" baseline="30000" dirty="0" smtClean="0">
              <a:latin typeface="Arial" panose="020B0604020202020204" pitchFamily="34" charset="0"/>
              <a:cs typeface="Arial" panose="020B0604020202020204" pitchFamily="34" charset="0"/>
            </a:endParaRPr>
          </a:p>
          <a:p>
            <a:endParaRPr lang="en-AU" baseline="30000"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062054499"/>
                  </p:ext>
                </p:extLst>
              </p:nvPr>
            </p:nvGraphicFramePr>
            <p:xfrm>
              <a:off x="1399984" y="1543686"/>
              <a:ext cx="8361873" cy="5041879"/>
            </p:xfrm>
            <a:graphic>
              <a:graphicData uri="http://schemas.openxmlformats.org/drawingml/2006/table">
                <a:tbl>
                  <a:tblPr firstRow="1" bandRow="1">
                    <a:tableStyleId>{F5AB1C69-6EDB-4FF4-983F-18BD219EF322}</a:tableStyleId>
                  </a:tblPr>
                  <a:tblGrid>
                    <a:gridCol w="400767">
                      <a:extLst>
                        <a:ext uri="{9D8B030D-6E8A-4147-A177-3AD203B41FA5}">
                          <a16:colId xmlns:a16="http://schemas.microsoft.com/office/drawing/2014/main" val="3292220566"/>
                        </a:ext>
                      </a:extLst>
                    </a:gridCol>
                    <a:gridCol w="1307087">
                      <a:extLst>
                        <a:ext uri="{9D8B030D-6E8A-4147-A177-3AD203B41FA5}">
                          <a16:colId xmlns:a16="http://schemas.microsoft.com/office/drawing/2014/main" val="1254761922"/>
                        </a:ext>
                      </a:extLst>
                    </a:gridCol>
                    <a:gridCol w="2204658">
                      <a:extLst>
                        <a:ext uri="{9D8B030D-6E8A-4147-A177-3AD203B41FA5}">
                          <a16:colId xmlns:a16="http://schemas.microsoft.com/office/drawing/2014/main" val="20002"/>
                        </a:ext>
                      </a:extLst>
                    </a:gridCol>
                    <a:gridCol w="2426649">
                      <a:extLst>
                        <a:ext uri="{9D8B030D-6E8A-4147-A177-3AD203B41FA5}">
                          <a16:colId xmlns:a16="http://schemas.microsoft.com/office/drawing/2014/main" val="191511966"/>
                        </a:ext>
                      </a:extLst>
                    </a:gridCol>
                    <a:gridCol w="2022712">
                      <a:extLst>
                        <a:ext uri="{9D8B030D-6E8A-4147-A177-3AD203B41FA5}">
                          <a16:colId xmlns:a16="http://schemas.microsoft.com/office/drawing/2014/main" val="1737451877"/>
                        </a:ext>
                      </a:extLst>
                    </a:gridCol>
                  </a:tblGrid>
                  <a:tr h="524055">
                    <a:tc>
                      <a:txBody>
                        <a:bodyPr/>
                        <a:lstStyle/>
                        <a:p>
                          <a:endParaRPr lang="en-AU" sz="2400" dirty="0"/>
                        </a:p>
                      </a:txBody>
                      <a:tcPr/>
                    </a:tc>
                    <a:tc>
                      <a:txBody>
                        <a:bodyPr/>
                        <a:lstStyle/>
                        <a:p>
                          <a:pPr algn="ctr"/>
                          <a:r>
                            <a:rPr lang="en-AU" sz="2400" dirty="0" smtClean="0"/>
                            <a:t>Atomic Symbol</a:t>
                          </a:r>
                          <a:endParaRPr lang="en-AU" sz="2400" dirty="0"/>
                        </a:p>
                      </a:txBody>
                      <a:tcPr/>
                    </a:tc>
                    <a:tc>
                      <a:txBody>
                        <a:bodyPr/>
                        <a:lstStyle/>
                        <a:p>
                          <a:pPr algn="ctr"/>
                          <a:r>
                            <a:rPr lang="en-AU" sz="2400" dirty="0" smtClean="0"/>
                            <a:t>Number of</a:t>
                          </a:r>
                          <a:r>
                            <a:rPr lang="en-AU" sz="2400" baseline="0" dirty="0" smtClean="0"/>
                            <a:t> Electrons</a:t>
                          </a:r>
                          <a:endParaRPr lang="en-AU" sz="2400" dirty="0"/>
                        </a:p>
                      </a:txBody>
                      <a:tcPr/>
                    </a:tc>
                    <a:tc>
                      <a:txBody>
                        <a:bodyPr/>
                        <a:lstStyle/>
                        <a:p>
                          <a:pPr algn="ctr"/>
                          <a:r>
                            <a:rPr lang="en-AU" sz="2400" dirty="0" smtClean="0"/>
                            <a:t>Energy</a:t>
                          </a:r>
                          <a:r>
                            <a:rPr lang="en-AU" sz="2400" baseline="0" dirty="0" smtClean="0"/>
                            <a:t> Level Diagram</a:t>
                          </a:r>
                          <a:endParaRPr lang="en-AU"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2400" dirty="0" smtClean="0"/>
                            <a:t>Electron Configuration</a:t>
                          </a:r>
                        </a:p>
                      </a:txBody>
                      <a:tcPr/>
                    </a:tc>
                    <a:extLst>
                      <a:ext uri="{0D108BD9-81ED-4DB2-BD59-A6C34878D82A}">
                        <a16:rowId xmlns:a16="http://schemas.microsoft.com/office/drawing/2014/main" val="1283075917"/>
                      </a:ext>
                    </a:extLst>
                  </a:tr>
                  <a:tr h="524055">
                    <a:tc>
                      <a:txBody>
                        <a:bodyPr/>
                        <a:lstStyle/>
                        <a:p>
                          <a:r>
                            <a:rPr lang="en-AU" dirty="0" smtClean="0"/>
                            <a:t>a)</a:t>
                          </a:r>
                          <a:endParaRPr lang="en-AU" dirty="0"/>
                        </a:p>
                      </a:txBody>
                      <a:tcPr/>
                    </a:tc>
                    <a:tc>
                      <a:txBody>
                        <a:bodyPr/>
                        <a:lstStyle/>
                        <a:p>
                          <a:pPr algn="ctr"/>
                          <a:r>
                            <a:rPr lang="en-AU" sz="2800" baseline="30000" dirty="0" smtClean="0"/>
                            <a:t> </a:t>
                          </a:r>
                          <a14:m>
                            <m:oMath xmlns:m="http://schemas.openxmlformats.org/officeDocument/2006/math">
                              <m:sPre>
                                <m:sPrePr>
                                  <m:ctrlPr>
                                    <a:rPr lang="en-AU" sz="2800" i="1" smtClean="0">
                                      <a:latin typeface="Cambria Math" panose="02040503050406030204" pitchFamily="18" charset="0"/>
                                    </a:rPr>
                                  </m:ctrlPr>
                                </m:sPrePr>
                                <m:sub>
                                  <m:r>
                                    <a:rPr lang="en-AU" sz="2800" smtClean="0">
                                      <a:latin typeface="Cambria Math" panose="02040503050406030204" pitchFamily="18" charset="0"/>
                                    </a:rPr>
                                    <m:t>2</m:t>
                                  </m:r>
                                </m:sub>
                                <m:sup>
                                  <m:r>
                                    <a:rPr lang="en-AU" sz="2800" smtClean="0">
                                      <a:latin typeface="Cambria Math" panose="02040503050406030204" pitchFamily="18" charset="0"/>
                                    </a:rPr>
                                    <m:t>4</m:t>
                                  </m:r>
                                </m:sup>
                                <m:e>
                                  <m:r>
                                    <a:rPr lang="en-AU" sz="2800" smtClean="0">
                                      <a:latin typeface="Cambria Math" panose="02040503050406030204" pitchFamily="18" charset="0"/>
                                    </a:rPr>
                                    <m:t>𝑯𝒆</m:t>
                                  </m:r>
                                </m:e>
                              </m:sPre>
                            </m:oMath>
                          </a14:m>
                          <a:endParaRPr lang="en-AU" sz="2800" dirty="0"/>
                        </a:p>
                      </a:txBody>
                      <a:tcPr/>
                    </a:tc>
                    <a:tc>
                      <a:txBody>
                        <a:bodyPr/>
                        <a:lstStyle/>
                        <a:p>
                          <a:pPr algn="ctr"/>
                          <a:endParaRPr lang="en-AU" sz="2800" dirty="0"/>
                        </a:p>
                      </a:txBody>
                      <a:tcPr/>
                    </a:tc>
                    <a:tc>
                      <a:txBody>
                        <a:bodyPr/>
                        <a:lstStyle/>
                        <a:p>
                          <a:endParaRPr lang="en-AU" dirty="0"/>
                        </a:p>
                      </a:txBody>
                      <a:tcPr/>
                    </a:tc>
                    <a:tc>
                      <a:txBody>
                        <a:bodyPr/>
                        <a:lstStyle/>
                        <a:p>
                          <a:endParaRPr lang="en-AU" sz="2400" dirty="0"/>
                        </a:p>
                      </a:txBody>
                      <a:tcPr/>
                    </a:tc>
                    <a:extLst>
                      <a:ext uri="{0D108BD9-81ED-4DB2-BD59-A6C34878D82A}">
                        <a16:rowId xmlns:a16="http://schemas.microsoft.com/office/drawing/2014/main" val="1566411597"/>
                      </a:ext>
                    </a:extLst>
                  </a:tr>
                  <a:tr h="524055">
                    <a:tc>
                      <a:txBody>
                        <a:bodyPr/>
                        <a:lstStyle/>
                        <a:p>
                          <a:r>
                            <a:rPr lang="en-AU" dirty="0" smtClean="0"/>
                            <a:t>b)</a:t>
                          </a:r>
                          <a:endParaRPr lang="en-AU" dirty="0"/>
                        </a:p>
                      </a:txBody>
                      <a:tcPr/>
                    </a:tc>
                    <a:tc>
                      <a:txBody>
                        <a:bodyPr/>
                        <a:lstStyle/>
                        <a:p>
                          <a:pPr algn="ctr"/>
                          <a:r>
                            <a:rPr lang="en-AU" sz="2800" baseline="30000" dirty="0" smtClean="0"/>
                            <a:t> </a:t>
                          </a:r>
                          <a14:m>
                            <m:oMath xmlns:m="http://schemas.openxmlformats.org/officeDocument/2006/math">
                              <m:sPre>
                                <m:sPrePr>
                                  <m:ctrlPr>
                                    <a:rPr lang="en-AU" sz="2800" i="1" smtClean="0">
                                      <a:latin typeface="Cambria Math" panose="02040503050406030204" pitchFamily="18" charset="0"/>
                                    </a:rPr>
                                  </m:ctrlPr>
                                </m:sPrePr>
                                <m:sub>
                                  <m:r>
                                    <a:rPr lang="en-AU" sz="2800" smtClean="0">
                                      <a:latin typeface="Cambria Math" panose="02040503050406030204" pitchFamily="18" charset="0"/>
                                    </a:rPr>
                                    <m:t>4</m:t>
                                  </m:r>
                                </m:sub>
                                <m:sup>
                                  <m:r>
                                    <a:rPr lang="en-AU" sz="2800" smtClean="0">
                                      <a:latin typeface="Cambria Math" panose="02040503050406030204" pitchFamily="18" charset="0"/>
                                    </a:rPr>
                                    <m:t>9</m:t>
                                  </m:r>
                                </m:sup>
                                <m:e>
                                  <m:r>
                                    <a:rPr lang="en-AU" sz="2800" smtClean="0">
                                      <a:latin typeface="Cambria Math" panose="02040503050406030204" pitchFamily="18" charset="0"/>
                                    </a:rPr>
                                    <m:t>𝑩𝒆</m:t>
                                  </m:r>
                                </m:e>
                              </m:sPre>
                            </m:oMath>
                          </a14:m>
                          <a:endParaRPr lang="en-AU" sz="2800" dirty="0"/>
                        </a:p>
                      </a:txBody>
                      <a:tcPr/>
                    </a:tc>
                    <a:tc>
                      <a:txBody>
                        <a:bodyPr/>
                        <a:lstStyle/>
                        <a:p>
                          <a:pPr algn="ctr"/>
                          <a:endParaRPr lang="en-AU" sz="2800" dirty="0"/>
                        </a:p>
                      </a:txBody>
                      <a:tcPr/>
                    </a:tc>
                    <a:tc>
                      <a:txBody>
                        <a:bodyPr/>
                        <a:lstStyle/>
                        <a:p>
                          <a:endParaRPr lang="en-AU" dirty="0"/>
                        </a:p>
                      </a:txBody>
                      <a:tcPr/>
                    </a:tc>
                    <a:tc>
                      <a:txBody>
                        <a:bodyPr/>
                        <a:lstStyle/>
                        <a:p>
                          <a:endParaRPr lang="en-AU" sz="2400" dirty="0"/>
                        </a:p>
                      </a:txBody>
                      <a:tcPr/>
                    </a:tc>
                    <a:extLst>
                      <a:ext uri="{0D108BD9-81ED-4DB2-BD59-A6C34878D82A}">
                        <a16:rowId xmlns:a16="http://schemas.microsoft.com/office/drawing/2014/main" val="963200634"/>
                      </a:ext>
                    </a:extLst>
                  </a:tr>
                  <a:tr h="524055">
                    <a:tc>
                      <a:txBody>
                        <a:bodyPr/>
                        <a:lstStyle/>
                        <a:p>
                          <a:r>
                            <a:rPr lang="en-AU" dirty="0" smtClean="0"/>
                            <a:t>c)</a:t>
                          </a:r>
                          <a:endParaRPr lang="en-AU" dirty="0"/>
                        </a:p>
                      </a:txBody>
                      <a:tcPr/>
                    </a:tc>
                    <a:tc>
                      <a:txBody>
                        <a:bodyPr/>
                        <a:lstStyle/>
                        <a:p>
                          <a:pPr/>
                          <a14:m>
                            <m:oMathPara xmlns:m="http://schemas.openxmlformats.org/officeDocument/2006/math">
                              <m:oMathParaPr>
                                <m:jc m:val="centerGroup"/>
                              </m:oMathParaPr>
                              <m:oMath xmlns:m="http://schemas.openxmlformats.org/officeDocument/2006/math">
                                <m:sPre>
                                  <m:sPrePr>
                                    <m:ctrlPr>
                                      <a:rPr lang="en-AU" sz="2800" i="1" smtClean="0">
                                        <a:latin typeface="Cambria Math" panose="02040503050406030204" pitchFamily="18" charset="0"/>
                                      </a:rPr>
                                    </m:ctrlPr>
                                  </m:sPrePr>
                                  <m:sub>
                                    <m:r>
                                      <a:rPr lang="en-AU" sz="2800" smtClean="0">
                                        <a:latin typeface="Cambria Math" panose="02040503050406030204" pitchFamily="18" charset="0"/>
                                      </a:rPr>
                                      <m:t>20</m:t>
                                    </m:r>
                                  </m:sub>
                                  <m:sup>
                                    <m:r>
                                      <a:rPr lang="en-AU" sz="2800" smtClean="0">
                                        <a:latin typeface="Cambria Math" panose="02040503050406030204" pitchFamily="18" charset="0"/>
                                      </a:rPr>
                                      <m:t>40</m:t>
                                    </m:r>
                                  </m:sup>
                                  <m:e>
                                    <m:r>
                                      <a:rPr lang="en-AU" sz="2800" smtClean="0">
                                        <a:latin typeface="Cambria Math" panose="02040503050406030204" pitchFamily="18" charset="0"/>
                                      </a:rPr>
                                      <m:t>𝑪𝒂</m:t>
                                    </m:r>
                                  </m:e>
                                </m:sPre>
                              </m:oMath>
                            </m:oMathPara>
                          </a14:m>
                          <a:endParaRPr lang="en-AU" sz="2800" dirty="0"/>
                        </a:p>
                      </a:txBody>
                      <a:tcPr/>
                    </a:tc>
                    <a:tc>
                      <a:txBody>
                        <a:bodyPr/>
                        <a:lstStyle/>
                        <a:p>
                          <a:endParaRPr lang="en-AU" sz="2800" dirty="0"/>
                        </a:p>
                      </a:txBody>
                      <a:tcPr/>
                    </a:tc>
                    <a:tc>
                      <a:txBody>
                        <a:bodyPr/>
                        <a:lstStyle/>
                        <a:p>
                          <a:endParaRPr lang="en-AU" dirty="0"/>
                        </a:p>
                      </a:txBody>
                      <a:tcPr/>
                    </a:tc>
                    <a:tc>
                      <a:txBody>
                        <a:bodyPr/>
                        <a:lstStyle/>
                        <a:p>
                          <a:endParaRPr lang="en-AU" sz="2400" dirty="0"/>
                        </a:p>
                      </a:txBody>
                      <a:tcPr/>
                    </a:tc>
                    <a:extLst>
                      <a:ext uri="{0D108BD9-81ED-4DB2-BD59-A6C34878D82A}">
                        <a16:rowId xmlns:a16="http://schemas.microsoft.com/office/drawing/2014/main" val="3791665020"/>
                      </a:ext>
                    </a:extLst>
                  </a:tr>
                  <a:tr h="524055">
                    <a:tc>
                      <a:txBody>
                        <a:bodyPr/>
                        <a:lstStyle/>
                        <a:p>
                          <a:r>
                            <a:rPr lang="en-AU" dirty="0" smtClean="0"/>
                            <a:t>d)</a:t>
                          </a:r>
                          <a:endParaRPr lang="en-AU" dirty="0"/>
                        </a:p>
                      </a:txBody>
                      <a:tcPr/>
                    </a:tc>
                    <a:tc>
                      <a:txBody>
                        <a:bodyPr/>
                        <a:lstStyle/>
                        <a:p>
                          <a:pPr/>
                          <a14:m>
                            <m:oMathPara xmlns:m="http://schemas.openxmlformats.org/officeDocument/2006/math">
                              <m:oMathParaPr>
                                <m:jc m:val="centerGroup"/>
                              </m:oMathParaPr>
                              <m:oMath xmlns:m="http://schemas.openxmlformats.org/officeDocument/2006/math">
                                <m:sPre>
                                  <m:sPrePr>
                                    <m:ctrlPr>
                                      <a:rPr lang="en-AU" sz="2800" i="1" smtClean="0">
                                        <a:latin typeface="Cambria Math" panose="02040503050406030204" pitchFamily="18" charset="0"/>
                                      </a:rPr>
                                    </m:ctrlPr>
                                  </m:sPrePr>
                                  <m:sub>
                                    <m:r>
                                      <a:rPr lang="en-AU" sz="2800" smtClean="0">
                                        <a:latin typeface="Cambria Math" panose="02040503050406030204" pitchFamily="18" charset="0"/>
                                      </a:rPr>
                                      <m:t>7</m:t>
                                    </m:r>
                                  </m:sub>
                                  <m:sup>
                                    <m:r>
                                      <a:rPr lang="en-AU" sz="2800" smtClean="0">
                                        <a:latin typeface="Cambria Math" panose="02040503050406030204" pitchFamily="18" charset="0"/>
                                      </a:rPr>
                                      <m:t>14</m:t>
                                    </m:r>
                                  </m:sup>
                                  <m:e>
                                    <m:r>
                                      <a:rPr lang="en-AU" sz="2800" smtClean="0">
                                        <a:latin typeface="Cambria Math" panose="02040503050406030204" pitchFamily="18" charset="0"/>
                                      </a:rPr>
                                      <m:t>𝑵</m:t>
                                    </m:r>
                                  </m:e>
                                </m:sPre>
                              </m:oMath>
                            </m:oMathPara>
                          </a14:m>
                          <a:endParaRPr lang="en-AU" sz="2800" dirty="0"/>
                        </a:p>
                      </a:txBody>
                      <a:tcPr/>
                    </a:tc>
                    <a:tc>
                      <a:txBody>
                        <a:bodyPr/>
                        <a:lstStyle/>
                        <a:p>
                          <a:endParaRPr lang="en-AU" sz="2800" dirty="0"/>
                        </a:p>
                      </a:txBody>
                      <a:tcPr/>
                    </a:tc>
                    <a:tc>
                      <a:txBody>
                        <a:bodyPr/>
                        <a:lstStyle/>
                        <a:p>
                          <a:endParaRPr lang="en-AU" dirty="0"/>
                        </a:p>
                      </a:txBody>
                      <a:tcPr/>
                    </a:tc>
                    <a:tc>
                      <a:txBody>
                        <a:bodyPr/>
                        <a:lstStyle/>
                        <a:p>
                          <a:endParaRPr lang="en-AU" sz="2400" dirty="0"/>
                        </a:p>
                      </a:txBody>
                      <a:tcPr/>
                    </a:tc>
                    <a:extLst>
                      <a:ext uri="{0D108BD9-81ED-4DB2-BD59-A6C34878D82A}">
                        <a16:rowId xmlns:a16="http://schemas.microsoft.com/office/drawing/2014/main" val="2083615021"/>
                      </a:ext>
                    </a:extLst>
                  </a:tr>
                  <a:tr h="524055">
                    <a:tc>
                      <a:txBody>
                        <a:bodyPr/>
                        <a:lstStyle/>
                        <a:p>
                          <a:r>
                            <a:rPr lang="en-AU" dirty="0" smtClean="0"/>
                            <a:t>e)</a:t>
                          </a:r>
                          <a:endParaRPr lang="en-AU" dirty="0"/>
                        </a:p>
                      </a:txBody>
                      <a:tcPr/>
                    </a:tc>
                    <a:tc>
                      <a:txBody>
                        <a:bodyPr/>
                        <a:lstStyle/>
                        <a:p>
                          <a:pPr/>
                          <a14:m>
                            <m:oMathPara xmlns:m="http://schemas.openxmlformats.org/officeDocument/2006/math">
                              <m:oMathParaPr>
                                <m:jc m:val="centerGroup"/>
                              </m:oMathParaPr>
                              <m:oMath xmlns:m="http://schemas.openxmlformats.org/officeDocument/2006/math">
                                <m:sPre>
                                  <m:sPrePr>
                                    <m:ctrlPr>
                                      <a:rPr lang="en-AU" sz="2800" i="1" smtClean="0">
                                        <a:latin typeface="Cambria Math" panose="02040503050406030204" pitchFamily="18" charset="0"/>
                                      </a:rPr>
                                    </m:ctrlPr>
                                  </m:sPrePr>
                                  <m:sub>
                                    <m:r>
                                      <a:rPr lang="en-AU" sz="2800" smtClean="0">
                                        <a:latin typeface="Cambria Math" panose="02040503050406030204" pitchFamily="18" charset="0"/>
                                      </a:rPr>
                                      <m:t>13</m:t>
                                    </m:r>
                                  </m:sub>
                                  <m:sup>
                                    <m:r>
                                      <a:rPr lang="en-AU" sz="2800" smtClean="0">
                                        <a:latin typeface="Cambria Math" panose="02040503050406030204" pitchFamily="18" charset="0"/>
                                      </a:rPr>
                                      <m:t>27</m:t>
                                    </m:r>
                                  </m:sup>
                                  <m:e>
                                    <m:r>
                                      <a:rPr lang="en-AU" sz="2800" smtClean="0">
                                        <a:latin typeface="Cambria Math" panose="02040503050406030204" pitchFamily="18" charset="0"/>
                                      </a:rPr>
                                      <m:t>𝑨𝒍</m:t>
                                    </m:r>
                                  </m:e>
                                </m:sPre>
                              </m:oMath>
                            </m:oMathPara>
                          </a14:m>
                          <a:endParaRPr lang="en-AU" sz="2800" dirty="0"/>
                        </a:p>
                      </a:txBody>
                      <a:tcPr/>
                    </a:tc>
                    <a:tc>
                      <a:txBody>
                        <a:bodyPr/>
                        <a:lstStyle/>
                        <a:p>
                          <a:endParaRPr lang="en-AU" sz="2800" dirty="0"/>
                        </a:p>
                      </a:txBody>
                      <a:tcPr/>
                    </a:tc>
                    <a:tc>
                      <a:txBody>
                        <a:bodyPr/>
                        <a:lstStyle/>
                        <a:p>
                          <a:endParaRPr lang="en-AU" dirty="0"/>
                        </a:p>
                      </a:txBody>
                      <a:tcPr/>
                    </a:tc>
                    <a:tc>
                      <a:txBody>
                        <a:bodyPr/>
                        <a:lstStyle/>
                        <a:p>
                          <a:endParaRPr lang="en-AU" sz="2400" dirty="0"/>
                        </a:p>
                      </a:txBody>
                      <a:tcPr/>
                    </a:tc>
                    <a:extLst>
                      <a:ext uri="{0D108BD9-81ED-4DB2-BD59-A6C34878D82A}">
                        <a16:rowId xmlns:a16="http://schemas.microsoft.com/office/drawing/2014/main" val="2694175381"/>
                      </a:ext>
                    </a:extLst>
                  </a:tr>
                  <a:tr h="524055">
                    <a:tc>
                      <a:txBody>
                        <a:bodyPr/>
                        <a:lstStyle/>
                        <a:p>
                          <a:r>
                            <a:rPr lang="en-AU" dirty="0" smtClean="0"/>
                            <a:t>f)</a:t>
                          </a:r>
                          <a:endParaRPr lang="en-AU" dirty="0"/>
                        </a:p>
                      </a:txBody>
                      <a:tcPr/>
                    </a:tc>
                    <a:tc>
                      <a:txBody>
                        <a:bodyPr/>
                        <a:lstStyle/>
                        <a:p>
                          <a:pPr/>
                          <a14:m>
                            <m:oMathPara xmlns:m="http://schemas.openxmlformats.org/officeDocument/2006/math">
                              <m:oMathParaPr>
                                <m:jc m:val="centerGroup"/>
                              </m:oMathParaPr>
                              <m:oMath xmlns:m="http://schemas.openxmlformats.org/officeDocument/2006/math">
                                <m:sPre>
                                  <m:sPrePr>
                                    <m:ctrlPr>
                                      <a:rPr lang="en-AU" sz="2800" i="1" smtClean="0">
                                        <a:latin typeface="Cambria Math" panose="02040503050406030204" pitchFamily="18" charset="0"/>
                                      </a:rPr>
                                    </m:ctrlPr>
                                  </m:sPrePr>
                                  <m:sub>
                                    <m:r>
                                      <a:rPr lang="en-AU" sz="2800" smtClean="0">
                                        <a:latin typeface="Cambria Math" panose="02040503050406030204" pitchFamily="18" charset="0"/>
                                      </a:rPr>
                                      <m:t>10</m:t>
                                    </m:r>
                                  </m:sub>
                                  <m:sup>
                                    <m:r>
                                      <a:rPr lang="en-AU" sz="2800" smtClean="0">
                                        <a:latin typeface="Cambria Math" panose="02040503050406030204" pitchFamily="18" charset="0"/>
                                      </a:rPr>
                                      <m:t>20</m:t>
                                    </m:r>
                                  </m:sup>
                                  <m:e>
                                    <m:r>
                                      <a:rPr lang="en-AU" sz="2800" smtClean="0">
                                        <a:latin typeface="Cambria Math" panose="02040503050406030204" pitchFamily="18" charset="0"/>
                                      </a:rPr>
                                      <m:t>𝑵𝒆</m:t>
                                    </m:r>
                                  </m:e>
                                </m:sPre>
                              </m:oMath>
                            </m:oMathPara>
                          </a14:m>
                          <a:endParaRPr lang="en-AU" sz="2800" dirty="0"/>
                        </a:p>
                      </a:txBody>
                      <a:tcPr/>
                    </a:tc>
                    <a:tc>
                      <a:txBody>
                        <a:bodyPr/>
                        <a:lstStyle/>
                        <a:p>
                          <a:endParaRPr lang="en-AU" sz="2800" dirty="0"/>
                        </a:p>
                      </a:txBody>
                      <a:tcPr/>
                    </a:tc>
                    <a:tc>
                      <a:txBody>
                        <a:bodyPr/>
                        <a:lstStyle/>
                        <a:p>
                          <a:endParaRPr lang="en-AU" dirty="0"/>
                        </a:p>
                      </a:txBody>
                      <a:tcPr/>
                    </a:tc>
                    <a:tc>
                      <a:txBody>
                        <a:bodyPr/>
                        <a:lstStyle/>
                        <a:p>
                          <a:endParaRPr lang="en-AU" sz="2400" dirty="0"/>
                        </a:p>
                      </a:txBody>
                      <a:tcPr/>
                    </a:tc>
                    <a:extLst>
                      <a:ext uri="{0D108BD9-81ED-4DB2-BD59-A6C34878D82A}">
                        <a16:rowId xmlns:a16="http://schemas.microsoft.com/office/drawing/2014/main" val="2834966399"/>
                      </a:ext>
                    </a:extLst>
                  </a:tr>
                  <a:tr h="524055">
                    <a:tc>
                      <a:txBody>
                        <a:bodyPr/>
                        <a:lstStyle/>
                        <a:p>
                          <a:r>
                            <a:rPr lang="en-AU" dirty="0" smtClean="0"/>
                            <a:t>g)</a:t>
                          </a:r>
                          <a:endParaRPr lang="en-AU" dirty="0"/>
                        </a:p>
                      </a:txBody>
                      <a:tcPr/>
                    </a:tc>
                    <a:tc>
                      <a:txBody>
                        <a:bodyPr/>
                        <a:lstStyle/>
                        <a:p>
                          <a:pPr/>
                          <a14:m>
                            <m:oMathPara xmlns:m="http://schemas.openxmlformats.org/officeDocument/2006/math">
                              <m:oMathParaPr>
                                <m:jc m:val="centerGroup"/>
                              </m:oMathParaPr>
                              <m:oMath xmlns:m="http://schemas.openxmlformats.org/officeDocument/2006/math">
                                <m:sPre>
                                  <m:sPrePr>
                                    <m:ctrlPr>
                                      <a:rPr lang="en-AU" sz="2800" i="1" smtClean="0">
                                        <a:latin typeface="Cambria Math" panose="02040503050406030204" pitchFamily="18" charset="0"/>
                                      </a:rPr>
                                    </m:ctrlPr>
                                  </m:sPrePr>
                                  <m:sub>
                                    <m:r>
                                      <a:rPr lang="en-AU" sz="2800" smtClean="0">
                                        <a:latin typeface="Cambria Math" panose="02040503050406030204" pitchFamily="18" charset="0"/>
                                      </a:rPr>
                                      <m:t>16</m:t>
                                    </m:r>
                                  </m:sub>
                                  <m:sup>
                                    <m:r>
                                      <a:rPr lang="en-AU" sz="2800" smtClean="0">
                                        <a:latin typeface="Cambria Math" panose="02040503050406030204" pitchFamily="18" charset="0"/>
                                      </a:rPr>
                                      <m:t>32</m:t>
                                    </m:r>
                                  </m:sup>
                                  <m:e>
                                    <m:r>
                                      <a:rPr lang="en-AU" sz="2800" smtClean="0">
                                        <a:latin typeface="Cambria Math" panose="02040503050406030204" pitchFamily="18" charset="0"/>
                                      </a:rPr>
                                      <m:t>𝑺</m:t>
                                    </m:r>
                                  </m:e>
                                </m:sPre>
                              </m:oMath>
                            </m:oMathPara>
                          </a14:m>
                          <a:endParaRPr lang="en-AU" sz="2800" dirty="0"/>
                        </a:p>
                      </a:txBody>
                      <a:tcPr/>
                    </a:tc>
                    <a:tc>
                      <a:txBody>
                        <a:bodyPr/>
                        <a:lstStyle/>
                        <a:p>
                          <a:endParaRPr lang="en-AU" sz="2800" dirty="0"/>
                        </a:p>
                      </a:txBody>
                      <a:tcPr/>
                    </a:tc>
                    <a:tc>
                      <a:txBody>
                        <a:bodyPr/>
                        <a:lstStyle/>
                        <a:p>
                          <a:endParaRPr lang="en-AU" dirty="0"/>
                        </a:p>
                      </a:txBody>
                      <a:tcPr/>
                    </a:tc>
                    <a:tc>
                      <a:txBody>
                        <a:bodyPr/>
                        <a:lstStyle/>
                        <a:p>
                          <a:endParaRPr lang="en-AU" sz="2400" dirty="0"/>
                        </a:p>
                      </a:txBody>
                      <a:tcPr/>
                    </a:tc>
                    <a:extLst>
                      <a:ext uri="{0D108BD9-81ED-4DB2-BD59-A6C34878D82A}">
                        <a16:rowId xmlns:a16="http://schemas.microsoft.com/office/drawing/2014/main" val="1457799838"/>
                      </a:ext>
                    </a:extLst>
                  </a:tr>
                  <a:tr h="524055">
                    <a:tc>
                      <a:txBody>
                        <a:bodyPr/>
                        <a:lstStyle/>
                        <a:p>
                          <a:r>
                            <a:rPr lang="en-AU" dirty="0" smtClean="0"/>
                            <a:t>h)</a:t>
                          </a:r>
                          <a:endParaRPr lang="en-AU" dirty="0"/>
                        </a:p>
                      </a:txBody>
                      <a:tcPr/>
                    </a:tc>
                    <a:tc>
                      <a:txBody>
                        <a:bodyPr/>
                        <a:lstStyle/>
                        <a:p>
                          <a:pPr/>
                          <a14:m>
                            <m:oMathPara xmlns:m="http://schemas.openxmlformats.org/officeDocument/2006/math">
                              <m:oMathParaPr>
                                <m:jc m:val="centerGroup"/>
                              </m:oMathParaPr>
                              <m:oMath xmlns:m="http://schemas.openxmlformats.org/officeDocument/2006/math">
                                <m:sPre>
                                  <m:sPrePr>
                                    <m:ctrlPr>
                                      <a:rPr lang="en-AU" sz="2800" i="1" smtClean="0">
                                        <a:latin typeface="Cambria Math" panose="02040503050406030204" pitchFamily="18" charset="0"/>
                                      </a:rPr>
                                    </m:ctrlPr>
                                  </m:sPrePr>
                                  <m:sub>
                                    <m:r>
                                      <a:rPr lang="en-AU" sz="2800" smtClean="0">
                                        <a:latin typeface="Cambria Math" panose="02040503050406030204" pitchFamily="18" charset="0"/>
                                      </a:rPr>
                                      <m:t>15</m:t>
                                    </m:r>
                                  </m:sub>
                                  <m:sup>
                                    <m:r>
                                      <a:rPr lang="en-AU" sz="2800" smtClean="0">
                                        <a:latin typeface="Cambria Math" panose="02040503050406030204" pitchFamily="18" charset="0"/>
                                      </a:rPr>
                                      <m:t>21</m:t>
                                    </m:r>
                                  </m:sup>
                                  <m:e>
                                    <m:r>
                                      <a:rPr lang="en-AU" sz="2800" smtClean="0">
                                        <a:latin typeface="Cambria Math" panose="02040503050406030204" pitchFamily="18" charset="0"/>
                                      </a:rPr>
                                      <m:t>𝑷</m:t>
                                    </m:r>
                                  </m:e>
                                </m:sPre>
                              </m:oMath>
                            </m:oMathPara>
                          </a14:m>
                          <a:endParaRPr lang="en-AU" sz="2800" dirty="0"/>
                        </a:p>
                      </a:txBody>
                      <a:tcPr/>
                    </a:tc>
                    <a:tc>
                      <a:txBody>
                        <a:bodyPr/>
                        <a:lstStyle/>
                        <a:p>
                          <a:endParaRPr lang="en-AU" sz="2800" dirty="0"/>
                        </a:p>
                      </a:txBody>
                      <a:tcPr/>
                    </a:tc>
                    <a:tc>
                      <a:txBody>
                        <a:bodyPr/>
                        <a:lstStyle/>
                        <a:p>
                          <a:endParaRPr lang="en-AU" dirty="0"/>
                        </a:p>
                      </a:txBody>
                      <a:tcPr/>
                    </a:tc>
                    <a:tc>
                      <a:txBody>
                        <a:bodyPr/>
                        <a:lstStyle/>
                        <a:p>
                          <a:endParaRPr lang="en-AU" sz="2400" dirty="0"/>
                        </a:p>
                      </a:txBody>
                      <a:tcPr/>
                    </a:tc>
                    <a:extLst>
                      <a:ext uri="{0D108BD9-81ED-4DB2-BD59-A6C34878D82A}">
                        <a16:rowId xmlns:a16="http://schemas.microsoft.com/office/drawing/2014/main" val="10008"/>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062054499"/>
                  </p:ext>
                </p:extLst>
              </p:nvPr>
            </p:nvGraphicFramePr>
            <p:xfrm>
              <a:off x="1399984" y="1543686"/>
              <a:ext cx="8361873" cy="5254438"/>
            </p:xfrm>
            <a:graphic>
              <a:graphicData uri="http://schemas.openxmlformats.org/drawingml/2006/table">
                <a:tbl>
                  <a:tblPr firstRow="1" bandRow="1">
                    <a:tableStyleId>{F5AB1C69-6EDB-4FF4-983F-18BD219EF322}</a:tableStyleId>
                  </a:tblPr>
                  <a:tblGrid>
                    <a:gridCol w="400767">
                      <a:extLst>
                        <a:ext uri="{9D8B030D-6E8A-4147-A177-3AD203B41FA5}">
                          <a16:colId xmlns:a16="http://schemas.microsoft.com/office/drawing/2014/main" xmlns:a14="http://schemas.microsoft.com/office/drawing/2010/main" xmlns="" val="3292220566"/>
                        </a:ext>
                      </a:extLst>
                    </a:gridCol>
                    <a:gridCol w="1307087">
                      <a:extLst>
                        <a:ext uri="{9D8B030D-6E8A-4147-A177-3AD203B41FA5}">
                          <a16:colId xmlns:a16="http://schemas.microsoft.com/office/drawing/2014/main" xmlns:a14="http://schemas.microsoft.com/office/drawing/2010/main" xmlns="" val="1254761922"/>
                        </a:ext>
                      </a:extLst>
                    </a:gridCol>
                    <a:gridCol w="2204658"/>
                    <a:gridCol w="2426649">
                      <a:extLst>
                        <a:ext uri="{9D8B030D-6E8A-4147-A177-3AD203B41FA5}">
                          <a16:colId xmlns:a16="http://schemas.microsoft.com/office/drawing/2014/main" xmlns:a14="http://schemas.microsoft.com/office/drawing/2010/main" xmlns="" val="191511966"/>
                        </a:ext>
                      </a:extLst>
                    </a:gridCol>
                    <a:gridCol w="2022712">
                      <a:extLst>
                        <a:ext uri="{9D8B030D-6E8A-4147-A177-3AD203B41FA5}">
                          <a16:colId xmlns:a16="http://schemas.microsoft.com/office/drawing/2014/main" xmlns:a14="http://schemas.microsoft.com/office/drawing/2010/main" xmlns="" val="1737451877"/>
                        </a:ext>
                      </a:extLst>
                    </a:gridCol>
                  </a:tblGrid>
                  <a:tr h="822960">
                    <a:tc>
                      <a:txBody>
                        <a:bodyPr/>
                        <a:lstStyle/>
                        <a:p>
                          <a:endParaRPr lang="en-AU" sz="2400" dirty="0"/>
                        </a:p>
                      </a:txBody>
                      <a:tcPr/>
                    </a:tc>
                    <a:tc>
                      <a:txBody>
                        <a:bodyPr/>
                        <a:lstStyle/>
                        <a:p>
                          <a:pPr algn="ctr"/>
                          <a:r>
                            <a:rPr lang="en-AU" sz="2400" dirty="0" smtClean="0"/>
                            <a:t>Atomic Symbol</a:t>
                          </a:r>
                          <a:endParaRPr lang="en-AU" sz="2400" dirty="0"/>
                        </a:p>
                      </a:txBody>
                      <a:tcPr/>
                    </a:tc>
                    <a:tc>
                      <a:txBody>
                        <a:bodyPr/>
                        <a:lstStyle/>
                        <a:p>
                          <a:pPr algn="ctr"/>
                          <a:r>
                            <a:rPr lang="en-AU" sz="2400" dirty="0" smtClean="0"/>
                            <a:t>Number of</a:t>
                          </a:r>
                          <a:r>
                            <a:rPr lang="en-AU" sz="2400" baseline="0" dirty="0" smtClean="0"/>
                            <a:t> Electrons</a:t>
                          </a:r>
                          <a:endParaRPr lang="en-AU" sz="2400" dirty="0"/>
                        </a:p>
                      </a:txBody>
                      <a:tcPr/>
                    </a:tc>
                    <a:tc>
                      <a:txBody>
                        <a:bodyPr/>
                        <a:lstStyle/>
                        <a:p>
                          <a:pPr algn="ctr"/>
                          <a:r>
                            <a:rPr lang="en-AU" sz="2400" dirty="0" smtClean="0"/>
                            <a:t>Energy</a:t>
                          </a:r>
                          <a:r>
                            <a:rPr lang="en-AU" sz="2400" baseline="0" dirty="0" smtClean="0"/>
                            <a:t> Level Diagram</a:t>
                          </a:r>
                          <a:endParaRPr lang="en-AU"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2400" dirty="0" smtClean="0"/>
                            <a:t>Electron Configuration</a:t>
                          </a:r>
                        </a:p>
                      </a:txBody>
                      <a:tcPr/>
                    </a:tc>
                    <a:extLst>
                      <a:ext uri="{0D108BD9-81ED-4DB2-BD59-A6C34878D82A}">
                        <a16:rowId xmlns:a16="http://schemas.microsoft.com/office/drawing/2014/main" xmlns:a14="http://schemas.microsoft.com/office/drawing/2010/main" xmlns="" val="1283075917"/>
                      </a:ext>
                    </a:extLst>
                  </a:tr>
                  <a:tr h="553530">
                    <a:tc>
                      <a:txBody>
                        <a:bodyPr/>
                        <a:lstStyle/>
                        <a:p>
                          <a:r>
                            <a:rPr lang="en-AU" dirty="0" smtClean="0"/>
                            <a:t>a)</a:t>
                          </a:r>
                          <a:endParaRPr lang="en-AU" dirty="0"/>
                        </a:p>
                      </a:txBody>
                      <a:tcPr/>
                    </a:tc>
                    <a:tc>
                      <a:txBody>
                        <a:bodyPr/>
                        <a:lstStyle/>
                        <a:p>
                          <a:endParaRPr lang="en-US"/>
                        </a:p>
                      </a:txBody>
                      <a:tcPr>
                        <a:blipFill rotWithShape="0">
                          <a:blip r:embed="rId2"/>
                          <a:stretch>
                            <a:fillRect l="-31308" t="-157143" r="-512617" b="-702198"/>
                          </a:stretch>
                        </a:blipFill>
                      </a:tcPr>
                    </a:tc>
                    <a:tc>
                      <a:txBody>
                        <a:bodyPr/>
                        <a:lstStyle/>
                        <a:p>
                          <a:pPr algn="ctr"/>
                          <a:endParaRPr lang="en-AU" sz="2800" dirty="0"/>
                        </a:p>
                      </a:txBody>
                      <a:tcPr/>
                    </a:tc>
                    <a:tc>
                      <a:txBody>
                        <a:bodyPr/>
                        <a:lstStyle/>
                        <a:p>
                          <a:endParaRPr lang="en-AU" dirty="0"/>
                        </a:p>
                      </a:txBody>
                      <a:tcPr/>
                    </a:tc>
                    <a:tc>
                      <a:txBody>
                        <a:bodyPr/>
                        <a:lstStyle/>
                        <a:p>
                          <a:pPr/>
                          <a:endParaRPr lang="en-AU" sz="2400" dirty="0"/>
                        </a:p>
                      </a:txBody>
                      <a:tcPr/>
                    </a:tc>
                    <a:extLst>
                      <a:ext uri="{0D108BD9-81ED-4DB2-BD59-A6C34878D82A}">
                        <a16:rowId xmlns:a16="http://schemas.microsoft.com/office/drawing/2014/main" xmlns:a14="http://schemas.microsoft.com/office/drawing/2010/main" xmlns="" val="1566411597"/>
                      </a:ext>
                    </a:extLst>
                  </a:tr>
                  <a:tr h="554673">
                    <a:tc>
                      <a:txBody>
                        <a:bodyPr/>
                        <a:lstStyle/>
                        <a:p>
                          <a:r>
                            <a:rPr lang="en-AU" dirty="0" smtClean="0"/>
                            <a:t>b)</a:t>
                          </a:r>
                          <a:endParaRPr lang="en-AU" dirty="0"/>
                        </a:p>
                      </a:txBody>
                      <a:tcPr/>
                    </a:tc>
                    <a:tc>
                      <a:txBody>
                        <a:bodyPr/>
                        <a:lstStyle/>
                        <a:p>
                          <a:endParaRPr lang="en-US"/>
                        </a:p>
                      </a:txBody>
                      <a:tcPr>
                        <a:blipFill rotWithShape="0">
                          <a:blip r:embed="rId2"/>
                          <a:stretch>
                            <a:fillRect l="-31308" t="-257143" r="-512617" b="-602198"/>
                          </a:stretch>
                        </a:blipFill>
                      </a:tcPr>
                    </a:tc>
                    <a:tc>
                      <a:txBody>
                        <a:bodyPr/>
                        <a:lstStyle/>
                        <a:p>
                          <a:pPr algn="ctr"/>
                          <a:endParaRPr lang="en-AU" sz="2800" dirty="0"/>
                        </a:p>
                      </a:txBody>
                      <a:tcPr/>
                    </a:tc>
                    <a:tc>
                      <a:txBody>
                        <a:bodyPr/>
                        <a:lstStyle/>
                        <a:p>
                          <a:endParaRPr lang="en-AU" dirty="0"/>
                        </a:p>
                      </a:txBody>
                      <a:tcPr/>
                    </a:tc>
                    <a:tc>
                      <a:txBody>
                        <a:bodyPr/>
                        <a:lstStyle/>
                        <a:p>
                          <a:pPr/>
                          <a:endParaRPr lang="en-AU" sz="2400" dirty="0"/>
                        </a:p>
                      </a:txBody>
                      <a:tcPr/>
                    </a:tc>
                    <a:extLst>
                      <a:ext uri="{0D108BD9-81ED-4DB2-BD59-A6C34878D82A}">
                        <a16:rowId xmlns:a16="http://schemas.microsoft.com/office/drawing/2014/main" xmlns:a14="http://schemas.microsoft.com/office/drawing/2010/main" xmlns="" val="963200634"/>
                      </a:ext>
                    </a:extLst>
                  </a:tr>
                  <a:tr h="557467">
                    <a:tc>
                      <a:txBody>
                        <a:bodyPr/>
                        <a:lstStyle/>
                        <a:p>
                          <a:r>
                            <a:rPr lang="en-AU" dirty="0" smtClean="0"/>
                            <a:t>c)</a:t>
                          </a:r>
                          <a:endParaRPr lang="en-AU" dirty="0"/>
                        </a:p>
                      </a:txBody>
                      <a:tcPr/>
                    </a:tc>
                    <a:tc>
                      <a:txBody>
                        <a:bodyPr/>
                        <a:lstStyle/>
                        <a:p>
                          <a:endParaRPr lang="en-US"/>
                        </a:p>
                      </a:txBody>
                      <a:tcPr>
                        <a:blipFill rotWithShape="0">
                          <a:blip r:embed="rId2"/>
                          <a:stretch>
                            <a:fillRect l="-31308" t="-353261" r="-512617" b="-495652"/>
                          </a:stretch>
                        </a:blipFill>
                      </a:tcPr>
                    </a:tc>
                    <a:tc>
                      <a:txBody>
                        <a:bodyPr/>
                        <a:lstStyle/>
                        <a:p>
                          <a:pPr/>
                          <a:endParaRPr lang="en-AU" sz="2800" dirty="0"/>
                        </a:p>
                      </a:txBody>
                      <a:tcPr/>
                    </a:tc>
                    <a:tc>
                      <a:txBody>
                        <a:bodyPr/>
                        <a:lstStyle/>
                        <a:p>
                          <a:endParaRPr lang="en-AU" dirty="0"/>
                        </a:p>
                      </a:txBody>
                      <a:tcPr/>
                    </a:tc>
                    <a:tc>
                      <a:txBody>
                        <a:bodyPr/>
                        <a:lstStyle/>
                        <a:p>
                          <a:pPr/>
                          <a:endParaRPr lang="en-AU" sz="2400" dirty="0"/>
                        </a:p>
                      </a:txBody>
                      <a:tcPr/>
                    </a:tc>
                    <a:extLst>
                      <a:ext uri="{0D108BD9-81ED-4DB2-BD59-A6C34878D82A}">
                        <a16:rowId xmlns:a16="http://schemas.microsoft.com/office/drawing/2014/main" xmlns:a14="http://schemas.microsoft.com/office/drawing/2010/main" xmlns="" val="3791665020"/>
                      </a:ext>
                    </a:extLst>
                  </a:tr>
                  <a:tr h="554673">
                    <a:tc>
                      <a:txBody>
                        <a:bodyPr/>
                        <a:lstStyle/>
                        <a:p>
                          <a:r>
                            <a:rPr lang="en-AU" dirty="0" smtClean="0"/>
                            <a:t>d)</a:t>
                          </a:r>
                          <a:endParaRPr lang="en-AU" dirty="0"/>
                        </a:p>
                      </a:txBody>
                      <a:tcPr/>
                    </a:tc>
                    <a:tc>
                      <a:txBody>
                        <a:bodyPr/>
                        <a:lstStyle/>
                        <a:p>
                          <a:endParaRPr lang="en-US"/>
                        </a:p>
                      </a:txBody>
                      <a:tcPr>
                        <a:blipFill rotWithShape="0">
                          <a:blip r:embed="rId2"/>
                          <a:stretch>
                            <a:fillRect l="-31308" t="-458242" r="-512617" b="-401099"/>
                          </a:stretch>
                        </a:blipFill>
                      </a:tcPr>
                    </a:tc>
                    <a:tc>
                      <a:txBody>
                        <a:bodyPr/>
                        <a:lstStyle/>
                        <a:p>
                          <a:pPr/>
                          <a:endParaRPr lang="en-AU" sz="2800" dirty="0"/>
                        </a:p>
                      </a:txBody>
                      <a:tcPr/>
                    </a:tc>
                    <a:tc>
                      <a:txBody>
                        <a:bodyPr/>
                        <a:lstStyle/>
                        <a:p>
                          <a:endParaRPr lang="en-AU" dirty="0"/>
                        </a:p>
                      </a:txBody>
                      <a:tcPr/>
                    </a:tc>
                    <a:tc>
                      <a:txBody>
                        <a:bodyPr/>
                        <a:lstStyle/>
                        <a:p>
                          <a:pPr/>
                          <a:endParaRPr lang="en-AU" sz="2400" dirty="0"/>
                        </a:p>
                      </a:txBody>
                      <a:tcPr/>
                    </a:tc>
                    <a:extLst>
                      <a:ext uri="{0D108BD9-81ED-4DB2-BD59-A6C34878D82A}">
                        <a16:rowId xmlns:a16="http://schemas.microsoft.com/office/drawing/2014/main" xmlns:a14="http://schemas.microsoft.com/office/drawing/2010/main" xmlns="" val="2083615021"/>
                      </a:ext>
                    </a:extLst>
                  </a:tr>
                  <a:tr h="566357">
                    <a:tc>
                      <a:txBody>
                        <a:bodyPr/>
                        <a:lstStyle/>
                        <a:p>
                          <a:r>
                            <a:rPr lang="en-AU" dirty="0" smtClean="0"/>
                            <a:t>e)</a:t>
                          </a:r>
                          <a:endParaRPr lang="en-AU" dirty="0"/>
                        </a:p>
                      </a:txBody>
                      <a:tcPr/>
                    </a:tc>
                    <a:tc>
                      <a:txBody>
                        <a:bodyPr/>
                        <a:lstStyle/>
                        <a:p>
                          <a:endParaRPr lang="en-US"/>
                        </a:p>
                      </a:txBody>
                      <a:tcPr>
                        <a:blipFill rotWithShape="0">
                          <a:blip r:embed="rId2"/>
                          <a:stretch>
                            <a:fillRect l="-31308" t="-546237" r="-512617" b="-292473"/>
                          </a:stretch>
                        </a:blipFill>
                      </a:tcPr>
                    </a:tc>
                    <a:tc>
                      <a:txBody>
                        <a:bodyPr/>
                        <a:lstStyle/>
                        <a:p>
                          <a:pPr/>
                          <a:endParaRPr lang="en-AU" sz="2800" dirty="0"/>
                        </a:p>
                      </a:txBody>
                      <a:tcPr/>
                    </a:tc>
                    <a:tc>
                      <a:txBody>
                        <a:bodyPr/>
                        <a:lstStyle/>
                        <a:p>
                          <a:endParaRPr lang="en-AU" dirty="0"/>
                        </a:p>
                      </a:txBody>
                      <a:tcPr/>
                    </a:tc>
                    <a:tc>
                      <a:txBody>
                        <a:bodyPr/>
                        <a:lstStyle/>
                        <a:p>
                          <a:pPr/>
                          <a:endParaRPr lang="en-AU" sz="2400" dirty="0"/>
                        </a:p>
                      </a:txBody>
                      <a:tcPr/>
                    </a:tc>
                    <a:extLst>
                      <a:ext uri="{0D108BD9-81ED-4DB2-BD59-A6C34878D82A}">
                        <a16:rowId xmlns:a16="http://schemas.microsoft.com/office/drawing/2014/main" xmlns:a14="http://schemas.microsoft.com/office/drawing/2010/main" xmlns="" val="2694175381"/>
                      </a:ext>
                    </a:extLst>
                  </a:tr>
                  <a:tr h="554673">
                    <a:tc>
                      <a:txBody>
                        <a:bodyPr/>
                        <a:lstStyle/>
                        <a:p>
                          <a:r>
                            <a:rPr lang="en-AU" dirty="0" smtClean="0"/>
                            <a:t>f)</a:t>
                          </a:r>
                          <a:endParaRPr lang="en-AU" dirty="0"/>
                        </a:p>
                      </a:txBody>
                      <a:tcPr/>
                    </a:tc>
                    <a:tc>
                      <a:txBody>
                        <a:bodyPr/>
                        <a:lstStyle/>
                        <a:p>
                          <a:endParaRPr lang="en-US"/>
                        </a:p>
                      </a:txBody>
                      <a:tcPr>
                        <a:blipFill rotWithShape="0">
                          <a:blip r:embed="rId2"/>
                          <a:stretch>
                            <a:fillRect l="-31308" t="-660440" r="-512617" b="-198901"/>
                          </a:stretch>
                        </a:blipFill>
                      </a:tcPr>
                    </a:tc>
                    <a:tc>
                      <a:txBody>
                        <a:bodyPr/>
                        <a:lstStyle/>
                        <a:p>
                          <a:pPr/>
                          <a:endParaRPr lang="en-AU" sz="2800" dirty="0"/>
                        </a:p>
                      </a:txBody>
                      <a:tcPr/>
                    </a:tc>
                    <a:tc>
                      <a:txBody>
                        <a:bodyPr/>
                        <a:lstStyle/>
                        <a:p>
                          <a:endParaRPr lang="en-AU" dirty="0"/>
                        </a:p>
                      </a:txBody>
                      <a:tcPr/>
                    </a:tc>
                    <a:tc>
                      <a:txBody>
                        <a:bodyPr/>
                        <a:lstStyle/>
                        <a:p>
                          <a:pPr/>
                          <a:endParaRPr lang="en-AU" sz="2400" dirty="0"/>
                        </a:p>
                      </a:txBody>
                      <a:tcPr/>
                    </a:tc>
                    <a:extLst>
                      <a:ext uri="{0D108BD9-81ED-4DB2-BD59-A6C34878D82A}">
                        <a16:rowId xmlns:a16="http://schemas.microsoft.com/office/drawing/2014/main" xmlns:a14="http://schemas.microsoft.com/office/drawing/2010/main" xmlns="" val="2834966399"/>
                      </a:ext>
                    </a:extLst>
                  </a:tr>
                  <a:tr h="557467">
                    <a:tc>
                      <a:txBody>
                        <a:bodyPr/>
                        <a:lstStyle/>
                        <a:p>
                          <a:r>
                            <a:rPr lang="en-AU" dirty="0" smtClean="0"/>
                            <a:t>g)</a:t>
                          </a:r>
                          <a:endParaRPr lang="en-AU" dirty="0"/>
                        </a:p>
                      </a:txBody>
                      <a:tcPr/>
                    </a:tc>
                    <a:tc>
                      <a:txBody>
                        <a:bodyPr/>
                        <a:lstStyle/>
                        <a:p>
                          <a:endParaRPr lang="en-US"/>
                        </a:p>
                      </a:txBody>
                      <a:tcPr>
                        <a:blipFill rotWithShape="0">
                          <a:blip r:embed="rId2"/>
                          <a:stretch>
                            <a:fillRect l="-31308" t="-752174" r="-512617" b="-96739"/>
                          </a:stretch>
                        </a:blipFill>
                      </a:tcPr>
                    </a:tc>
                    <a:tc>
                      <a:txBody>
                        <a:bodyPr/>
                        <a:lstStyle/>
                        <a:p>
                          <a:pPr/>
                          <a:endParaRPr lang="en-AU" sz="2800" dirty="0"/>
                        </a:p>
                      </a:txBody>
                      <a:tcPr/>
                    </a:tc>
                    <a:tc>
                      <a:txBody>
                        <a:bodyPr/>
                        <a:lstStyle/>
                        <a:p>
                          <a:endParaRPr lang="en-AU" dirty="0"/>
                        </a:p>
                      </a:txBody>
                      <a:tcPr/>
                    </a:tc>
                    <a:tc>
                      <a:txBody>
                        <a:bodyPr/>
                        <a:lstStyle/>
                        <a:p>
                          <a:endParaRPr lang="en-AU" sz="2400" dirty="0"/>
                        </a:p>
                      </a:txBody>
                      <a:tcPr/>
                    </a:tc>
                    <a:extLst>
                      <a:ext uri="{0D108BD9-81ED-4DB2-BD59-A6C34878D82A}">
                        <a16:rowId xmlns:a16="http://schemas.microsoft.com/office/drawing/2014/main" xmlns:a14="http://schemas.microsoft.com/office/drawing/2010/main" xmlns="" val="1457799838"/>
                      </a:ext>
                    </a:extLst>
                  </a:tr>
                  <a:tr h="532638">
                    <a:tc>
                      <a:txBody>
                        <a:bodyPr/>
                        <a:lstStyle/>
                        <a:p>
                          <a:r>
                            <a:rPr lang="en-AU" dirty="0" smtClean="0"/>
                            <a:t>h)</a:t>
                          </a:r>
                          <a:endParaRPr lang="en-AU" dirty="0"/>
                        </a:p>
                      </a:txBody>
                      <a:tcPr/>
                    </a:tc>
                    <a:tc>
                      <a:txBody>
                        <a:bodyPr/>
                        <a:lstStyle/>
                        <a:p>
                          <a:endParaRPr lang="en-US"/>
                        </a:p>
                      </a:txBody>
                      <a:tcPr>
                        <a:blipFill rotWithShape="0">
                          <a:blip r:embed="rId2"/>
                          <a:stretch>
                            <a:fillRect l="-31308" t="-901149" r="-512617" b="-2299"/>
                          </a:stretch>
                        </a:blipFill>
                      </a:tcPr>
                    </a:tc>
                    <a:tc>
                      <a:txBody>
                        <a:bodyPr/>
                        <a:lstStyle/>
                        <a:p>
                          <a:pPr/>
                          <a:endParaRPr lang="en-AU" sz="2800" dirty="0"/>
                        </a:p>
                      </a:txBody>
                      <a:tcPr/>
                    </a:tc>
                    <a:tc>
                      <a:txBody>
                        <a:bodyPr/>
                        <a:lstStyle/>
                        <a:p>
                          <a:endParaRPr lang="en-AU" dirty="0"/>
                        </a:p>
                      </a:txBody>
                      <a:tcPr/>
                    </a:tc>
                    <a:tc>
                      <a:txBody>
                        <a:bodyPr/>
                        <a:lstStyle/>
                        <a:p>
                          <a:endParaRPr lang="en-AU" sz="2400" dirty="0"/>
                        </a:p>
                      </a:txBody>
                      <a:tcPr/>
                    </a:tc>
                  </a:tr>
                </a:tbl>
              </a:graphicData>
            </a:graphic>
          </p:graphicFrame>
        </mc:Fallback>
      </mc:AlternateContent>
    </p:spTree>
    <p:extLst>
      <p:ext uri="{BB962C8B-B14F-4D97-AF65-F5344CB8AC3E}">
        <p14:creationId xmlns:p14="http://schemas.microsoft.com/office/powerpoint/2010/main" val="28336509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26886" t="18249" b="53691"/>
          <a:stretch/>
        </p:blipFill>
        <p:spPr bwMode="auto">
          <a:xfrm>
            <a:off x="1006224" y="1518247"/>
            <a:ext cx="7380905" cy="4035127"/>
          </a:xfrm>
          <a:prstGeom prst="rect">
            <a:avLst/>
          </a:prstGeom>
          <a:ln>
            <a:noFill/>
          </a:ln>
          <a:extLst>
            <a:ext uri="{53640926-AAD7-44D8-BBD7-CCE9431645EC}">
              <a14:shadowObscured xmlns:a14="http://schemas.microsoft.com/office/drawing/2010/main"/>
            </a:ext>
          </a:extLst>
        </p:spPr>
      </p:pic>
      <p:sp>
        <p:nvSpPr>
          <p:cNvPr id="3" name="Rectangle 2"/>
          <p:cNvSpPr/>
          <p:nvPr/>
        </p:nvSpPr>
        <p:spPr>
          <a:xfrm>
            <a:off x="749688" y="389411"/>
            <a:ext cx="7893979" cy="830997"/>
          </a:xfrm>
          <a:prstGeom prst="rect">
            <a:avLst/>
          </a:prstGeom>
        </p:spPr>
        <p:txBody>
          <a:bodyPr wrap="square">
            <a:spAutoFit/>
          </a:bodyPr>
          <a:lstStyle/>
          <a:p>
            <a:r>
              <a:rPr lang="en-AU" sz="2400" dirty="0" smtClean="0"/>
              <a:t>4. Draw the energy level diagrams and state the electron configuration for each of the following elements.</a:t>
            </a:r>
            <a:endParaRPr lang="en-AU" sz="2400" dirty="0"/>
          </a:p>
        </p:txBody>
      </p:sp>
    </p:spTree>
    <p:extLst>
      <p:ext uri="{BB962C8B-B14F-4D97-AF65-F5344CB8AC3E}">
        <p14:creationId xmlns:p14="http://schemas.microsoft.com/office/powerpoint/2010/main" val="373936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mc:AlternateContent xmlns:mc="http://schemas.openxmlformats.org/markup-compatibility/2006" xmlns:a14="http://schemas.microsoft.com/office/drawing/2010/main">
        <mc:Choice Requires="a14">
          <p:sp>
            <p:nvSpPr>
              <p:cNvPr id="2" name="TextBox 1"/>
              <p:cNvSpPr txBox="1"/>
              <p:nvPr/>
            </p:nvSpPr>
            <p:spPr>
              <a:xfrm>
                <a:off x="0" y="732983"/>
                <a:ext cx="9469256" cy="5378395"/>
              </a:xfrm>
              <a:prstGeom prst="rect">
                <a:avLst/>
              </a:prstGeom>
              <a:noFill/>
            </p:spPr>
            <p:txBody>
              <a:bodyPr wrap="square" rtlCol="0">
                <a:spAutoFit/>
              </a:bodyPr>
              <a:lstStyle/>
              <a:p>
                <a:r>
                  <a:rPr lang="en-AU" sz="2800" b="1" dirty="0" smtClean="0"/>
                  <a:t>How many electrons in the outermost energy level of calcium.</a:t>
                </a:r>
              </a:p>
              <a:p>
                <a:r>
                  <a:rPr lang="en-AU" sz="2800" b="1" dirty="0" smtClean="0"/>
                  <a:t>Electronic configuration of Ca is 2 , 8 , 8 , 2</a:t>
                </a:r>
              </a:p>
              <a:p>
                <a:endParaRPr lang="en-AU" sz="2800" b="1" dirty="0"/>
              </a:p>
              <a:p>
                <a:r>
                  <a:rPr lang="en-AU" sz="2800" dirty="0" smtClean="0"/>
                  <a:t>Answer = 2</a:t>
                </a:r>
              </a:p>
              <a:p>
                <a:endParaRPr lang="en-AU" sz="2800" b="1" dirty="0" smtClean="0"/>
              </a:p>
              <a:p>
                <a:r>
                  <a:rPr lang="en-AU" sz="2800" b="1" dirty="0" smtClean="0"/>
                  <a:t>How many electrons in the outermost energy level of </a:t>
                </a:r>
              </a:p>
              <a:p>
                <a:r>
                  <a:rPr lang="en-AU" sz="2800" b="1" dirty="0" smtClean="0"/>
                  <a:t>a)   </a:t>
                </a:r>
                <a14:m>
                  <m:oMath xmlns:m="http://schemas.openxmlformats.org/officeDocument/2006/math">
                    <m:sPre>
                      <m:sPrePr>
                        <m:ctrlPr>
                          <a:rPr lang="en-AU" sz="2800" b="1" i="1" smtClean="0">
                            <a:latin typeface="Cambria Math" panose="02040503050406030204" pitchFamily="18" charset="0"/>
                          </a:rPr>
                        </m:ctrlPr>
                      </m:sPrePr>
                      <m:sub>
                        <m:r>
                          <a:rPr lang="en-AU" sz="2800" b="0" i="0" smtClean="0">
                            <a:latin typeface="Cambria Math" panose="02040503050406030204" pitchFamily="18" charset="0"/>
                          </a:rPr>
                          <m:t>8</m:t>
                        </m:r>
                      </m:sub>
                      <m:sup>
                        <m:r>
                          <a:rPr lang="en-AU" sz="2800" b="0" i="0" smtClean="0">
                            <a:latin typeface="Cambria Math" panose="02040503050406030204" pitchFamily="18" charset="0"/>
                          </a:rPr>
                          <m:t>16</m:t>
                        </m:r>
                      </m:sup>
                      <m:e>
                        <m:r>
                          <m:rPr>
                            <m:sty m:val="p"/>
                          </m:rPr>
                          <a:rPr lang="en-AU" sz="2800" b="0" i="0" smtClean="0">
                            <a:latin typeface="Cambria Math" panose="02040503050406030204" pitchFamily="18" charset="0"/>
                          </a:rPr>
                          <m:t>O</m:t>
                        </m:r>
                      </m:e>
                    </m:sPre>
                  </m:oMath>
                </a14:m>
                <a:r>
                  <a:rPr lang="en-AU" sz="2800" b="1" dirty="0" smtClean="0"/>
                  <a:t>    b)    </a:t>
                </a:r>
                <a14:m>
                  <m:oMath xmlns:m="http://schemas.openxmlformats.org/officeDocument/2006/math">
                    <m:sPre>
                      <m:sPrePr>
                        <m:ctrlPr>
                          <a:rPr lang="en-AU" sz="2800" b="1" i="1">
                            <a:latin typeface="Cambria Math" panose="02040503050406030204" pitchFamily="18" charset="0"/>
                          </a:rPr>
                        </m:ctrlPr>
                      </m:sPrePr>
                      <m:sub>
                        <m:r>
                          <a:rPr lang="en-AU" sz="2800" b="0" i="0" smtClean="0">
                            <a:latin typeface="Cambria Math" panose="02040503050406030204" pitchFamily="18" charset="0"/>
                          </a:rPr>
                          <m:t>16</m:t>
                        </m:r>
                      </m:sub>
                      <m:sup>
                        <m:r>
                          <a:rPr lang="en-AU" sz="2800" b="0" i="0" smtClean="0">
                            <a:latin typeface="Cambria Math" panose="02040503050406030204" pitchFamily="18" charset="0"/>
                          </a:rPr>
                          <m:t>32</m:t>
                        </m:r>
                      </m:sup>
                      <m:e>
                        <m:r>
                          <a:rPr lang="en-AU" sz="2800" b="1" i="0" smtClean="0">
                            <a:latin typeface="Cambria Math" panose="02040503050406030204" pitchFamily="18" charset="0"/>
                          </a:rPr>
                          <m:t>𝐒</m:t>
                        </m:r>
                      </m:e>
                    </m:sPre>
                  </m:oMath>
                </a14:m>
                <a:r>
                  <a:rPr lang="en-AU" sz="2800" b="1" dirty="0" smtClean="0"/>
                  <a:t>    c)    </a:t>
                </a:r>
                <a14:m>
                  <m:oMath xmlns:m="http://schemas.openxmlformats.org/officeDocument/2006/math">
                    <m:sPre>
                      <m:sPrePr>
                        <m:ctrlPr>
                          <a:rPr lang="en-AU" sz="2800" b="1" i="1">
                            <a:latin typeface="Cambria Math" panose="02040503050406030204" pitchFamily="18" charset="0"/>
                          </a:rPr>
                        </m:ctrlPr>
                      </m:sPrePr>
                      <m:sub>
                        <m:r>
                          <a:rPr lang="en-AU" sz="2800" b="0" i="0" smtClean="0">
                            <a:latin typeface="Cambria Math" panose="02040503050406030204" pitchFamily="18" charset="0"/>
                          </a:rPr>
                          <m:t>4</m:t>
                        </m:r>
                      </m:sub>
                      <m:sup>
                        <m:r>
                          <a:rPr lang="en-AU" sz="2800" b="0" i="0" smtClean="0">
                            <a:latin typeface="Cambria Math" panose="02040503050406030204" pitchFamily="18" charset="0"/>
                          </a:rPr>
                          <m:t>9</m:t>
                        </m:r>
                      </m:sup>
                      <m:e>
                        <m:r>
                          <a:rPr lang="en-AU" sz="2800" b="1" i="1" smtClean="0">
                            <a:latin typeface="Cambria Math" panose="02040503050406030204" pitchFamily="18" charset="0"/>
                          </a:rPr>
                          <m:t>𝑩𝒆</m:t>
                        </m:r>
                      </m:e>
                    </m:sPre>
                  </m:oMath>
                </a14:m>
                <a:r>
                  <a:rPr lang="en-AU" sz="2800" b="1" dirty="0" smtClean="0"/>
                  <a:t>       d)</a:t>
                </a:r>
                <a:r>
                  <a:rPr lang="en-AU" sz="2800" b="1" baseline="-25000" dirty="0"/>
                  <a:t> </a:t>
                </a:r>
                <a:r>
                  <a:rPr lang="en-AU" sz="2800" b="1" baseline="-25000" dirty="0" smtClean="0"/>
                  <a:t>    </a:t>
                </a:r>
                <a14:m>
                  <m:oMath xmlns:m="http://schemas.openxmlformats.org/officeDocument/2006/math">
                    <m:sPre>
                      <m:sPrePr>
                        <m:ctrlPr>
                          <a:rPr lang="en-AU" sz="2800" b="1" i="1">
                            <a:latin typeface="Cambria Math" panose="02040503050406030204" pitchFamily="18" charset="0"/>
                          </a:rPr>
                        </m:ctrlPr>
                      </m:sPrePr>
                      <m:sub>
                        <m:r>
                          <a:rPr lang="en-AU" sz="2800" b="0" i="0" smtClean="0">
                            <a:latin typeface="Cambria Math" panose="02040503050406030204" pitchFamily="18" charset="0"/>
                          </a:rPr>
                          <m:t>3</m:t>
                        </m:r>
                      </m:sub>
                      <m:sup>
                        <m:r>
                          <a:rPr lang="en-AU" sz="2800" b="0" i="0" smtClean="0">
                            <a:latin typeface="Cambria Math" panose="02040503050406030204" pitchFamily="18" charset="0"/>
                          </a:rPr>
                          <m:t>7</m:t>
                        </m:r>
                      </m:sup>
                      <m:e>
                        <m:r>
                          <a:rPr lang="en-AU" sz="2800" b="1" i="1" smtClean="0">
                            <a:latin typeface="Cambria Math" panose="02040503050406030204" pitchFamily="18" charset="0"/>
                          </a:rPr>
                          <m:t>𝑳𝒊</m:t>
                        </m:r>
                      </m:e>
                    </m:sPre>
                  </m:oMath>
                </a14:m>
                <a:r>
                  <a:rPr lang="en-AU" sz="2800" b="1" dirty="0" smtClean="0"/>
                  <a:t>      e)    </a:t>
                </a:r>
                <a14:m>
                  <m:oMath xmlns:m="http://schemas.openxmlformats.org/officeDocument/2006/math">
                    <m:sPre>
                      <m:sPrePr>
                        <m:ctrlPr>
                          <a:rPr lang="en-AU" sz="2800" b="1" i="1">
                            <a:latin typeface="Cambria Math" panose="02040503050406030204" pitchFamily="18" charset="0"/>
                          </a:rPr>
                        </m:ctrlPr>
                      </m:sPrePr>
                      <m:sub>
                        <m:r>
                          <a:rPr lang="en-AU" sz="2800" b="0" i="0" smtClean="0">
                            <a:latin typeface="Cambria Math" panose="02040503050406030204" pitchFamily="18" charset="0"/>
                          </a:rPr>
                          <m:t>18</m:t>
                        </m:r>
                      </m:sub>
                      <m:sup>
                        <m:r>
                          <a:rPr lang="en-AU" sz="2800" b="0" i="0" smtClean="0">
                            <a:latin typeface="Cambria Math" panose="02040503050406030204" pitchFamily="18" charset="0"/>
                          </a:rPr>
                          <m:t>40</m:t>
                        </m:r>
                      </m:sup>
                      <m:e>
                        <m:r>
                          <a:rPr lang="en-AU" sz="2800" b="1" i="1" smtClean="0">
                            <a:latin typeface="Cambria Math" panose="02040503050406030204" pitchFamily="18" charset="0"/>
                          </a:rPr>
                          <m:t>𝑨𝒓</m:t>
                        </m:r>
                      </m:e>
                    </m:sPre>
                  </m:oMath>
                </a14:m>
                <a:endParaRPr lang="en-AU" sz="2800" dirty="0" smtClean="0"/>
              </a:p>
              <a:p>
                <a:endParaRPr lang="en-AU" sz="2800" dirty="0" smtClean="0"/>
              </a:p>
              <a:p>
                <a:r>
                  <a:rPr lang="en-AU" sz="2800" dirty="0" smtClean="0"/>
                  <a:t>Answers </a:t>
                </a:r>
              </a:p>
              <a:p>
                <a:r>
                  <a:rPr lang="en-AU" sz="2800" dirty="0" smtClean="0"/>
                  <a:t>a) O = 6      b) S = 6      c) Be = 2   d) Li = 1   e) </a:t>
                </a:r>
                <a:r>
                  <a:rPr lang="en-AU" sz="2800" dirty="0" err="1" smtClean="0"/>
                  <a:t>Ar</a:t>
                </a:r>
                <a:r>
                  <a:rPr lang="en-AU" sz="2800" dirty="0" smtClean="0"/>
                  <a:t> = 8</a:t>
                </a:r>
              </a:p>
              <a:p>
                <a:endParaRPr lang="en-AU" sz="2800" dirty="0"/>
              </a:p>
              <a:p>
                <a:endParaRPr lang="en-AU" sz="2800" dirty="0" smtClean="0"/>
              </a:p>
            </p:txBody>
          </p:sp>
        </mc:Choice>
        <mc:Fallback xmlns="">
          <p:sp>
            <p:nvSpPr>
              <p:cNvPr id="2" name="TextBox 1"/>
              <p:cNvSpPr txBox="1">
                <a:spLocks noRot="1" noChangeAspect="1" noMove="1" noResize="1" noEditPoints="1" noAdjustHandles="1" noChangeArrowheads="1" noChangeShapeType="1" noTextEdit="1"/>
              </p:cNvSpPr>
              <p:nvPr/>
            </p:nvSpPr>
            <p:spPr>
              <a:xfrm>
                <a:off x="0" y="732983"/>
                <a:ext cx="9469256" cy="5378395"/>
              </a:xfrm>
              <a:prstGeom prst="rect">
                <a:avLst/>
              </a:prstGeom>
              <a:blipFill rotWithShape="0">
                <a:blip r:embed="rId3"/>
                <a:stretch>
                  <a:fillRect l="-1288" t="-1019"/>
                </a:stretch>
              </a:blipFill>
            </p:spPr>
            <p:txBody>
              <a:bodyPr/>
              <a:lstStyle/>
              <a:p>
                <a:r>
                  <a:rPr lang="en-AU">
                    <a:noFill/>
                  </a:rPr>
                  <a:t> </a:t>
                </a:r>
              </a:p>
            </p:txBody>
          </p:sp>
        </mc:Fallback>
      </mc:AlternateContent>
    </p:spTree>
    <p:extLst>
      <p:ext uri="{BB962C8B-B14F-4D97-AF65-F5344CB8AC3E}">
        <p14:creationId xmlns:p14="http://schemas.microsoft.com/office/powerpoint/2010/main" val="173811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sp>
        <p:nvSpPr>
          <p:cNvPr id="2" name="TextBox 1"/>
          <p:cNvSpPr txBox="1"/>
          <p:nvPr/>
        </p:nvSpPr>
        <p:spPr>
          <a:xfrm>
            <a:off x="0" y="732983"/>
            <a:ext cx="4953467" cy="5016758"/>
          </a:xfrm>
          <a:prstGeom prst="rect">
            <a:avLst/>
          </a:prstGeom>
          <a:noFill/>
        </p:spPr>
        <p:txBody>
          <a:bodyPr wrap="square" rtlCol="0">
            <a:spAutoFit/>
          </a:bodyPr>
          <a:lstStyle/>
          <a:p>
            <a:r>
              <a:rPr lang="en-AU" sz="2800" b="1" dirty="0" smtClean="0">
                <a:sym typeface="Wingdings" panose="05000000000000000000" pitchFamily="2" charset="2"/>
              </a:rPr>
              <a:t>Electron Configuration and the periodic table</a:t>
            </a:r>
          </a:p>
          <a:p>
            <a:endParaRPr lang="en-AU" sz="2400" dirty="0" smtClean="0">
              <a:sym typeface="Wingdings" panose="05000000000000000000" pitchFamily="2" charset="2"/>
            </a:endParaRPr>
          </a:p>
          <a:p>
            <a:r>
              <a:rPr lang="en-AU" sz="2400" dirty="0" smtClean="0">
                <a:sym typeface="Wingdings" panose="05000000000000000000" pitchFamily="2" charset="2"/>
              </a:rPr>
              <a:t>The position of an element in the periodic table can tell us the number of electrons it has in its outermost energy level. </a:t>
            </a:r>
          </a:p>
          <a:p>
            <a:endParaRPr lang="en-AU" sz="2400" dirty="0">
              <a:sym typeface="Wingdings" panose="05000000000000000000" pitchFamily="2" charset="2"/>
            </a:endParaRPr>
          </a:p>
          <a:p>
            <a:r>
              <a:rPr lang="en-AU" sz="2400" dirty="0" smtClean="0">
                <a:sym typeface="Wingdings" panose="05000000000000000000" pitchFamily="2" charset="2"/>
              </a:rPr>
              <a:t>This is important because an element’s chemical properties are controlled by how many electrons are in its outermost energy level.</a:t>
            </a:r>
            <a:endParaRPr lang="en-AU" sz="2400" dirty="0">
              <a:sym typeface="Wingdings" panose="05000000000000000000" pitchFamily="2" charset="2"/>
            </a:endParaRPr>
          </a:p>
          <a:p>
            <a:endParaRPr lang="en-AU" sz="2400" dirty="0" smtClean="0">
              <a:sym typeface="Wingdings" panose="05000000000000000000" pitchFamily="2" charset="2"/>
            </a:endParaRPr>
          </a:p>
        </p:txBody>
      </p:sp>
      <p:graphicFrame>
        <p:nvGraphicFramePr>
          <p:cNvPr id="10" name="Table 9"/>
          <p:cNvGraphicFramePr>
            <a:graphicFrameLocks noGrp="1"/>
          </p:cNvGraphicFramePr>
          <p:nvPr>
            <p:extLst>
              <p:ext uri="{D42A27DB-BD31-4B8C-83A1-F6EECF244321}">
                <p14:modId xmlns:p14="http://schemas.microsoft.com/office/powerpoint/2010/main" val="2159999475"/>
              </p:ext>
            </p:extLst>
          </p:nvPr>
        </p:nvGraphicFramePr>
        <p:xfrm>
          <a:off x="6827146" y="148208"/>
          <a:ext cx="2623373" cy="1280160"/>
        </p:xfrm>
        <a:graphic>
          <a:graphicData uri="http://schemas.openxmlformats.org/drawingml/2006/table">
            <a:tbl>
              <a:tblPr firstRow="1" bandRow="1">
                <a:tableStyleId>{93296810-A885-4BE3-A3E7-6D5BEEA58F35}</a:tableStyleId>
              </a:tblPr>
              <a:tblGrid>
                <a:gridCol w="2623373">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The</a:t>
                      </a:r>
                      <a:r>
                        <a:rPr lang="en-AU" baseline="0" dirty="0" smtClean="0"/>
                        <a:t> position of elements on the periodic table indicates what? </a:t>
                      </a:r>
                      <a:endParaRPr lang="en-AU" dirty="0"/>
                    </a:p>
                  </a:txBody>
                  <a:tcPr/>
                </a:tc>
                <a:extLst>
                  <a:ext uri="{0D108BD9-81ED-4DB2-BD59-A6C34878D82A}">
                    <a16:rowId xmlns:a16="http://schemas.microsoft.com/office/drawing/2014/main" val="10001"/>
                  </a:ext>
                </a:extLst>
              </a:tr>
            </a:tbl>
          </a:graphicData>
        </a:graphic>
      </p:graphicFrame>
      <p:graphicFrame>
        <p:nvGraphicFramePr>
          <p:cNvPr id="64" name="Table 63"/>
          <p:cNvGraphicFramePr>
            <a:graphicFrameLocks noGrp="1"/>
          </p:cNvGraphicFramePr>
          <p:nvPr>
            <p:extLst>
              <p:ext uri="{D42A27DB-BD31-4B8C-83A1-F6EECF244321}">
                <p14:modId xmlns:p14="http://schemas.microsoft.com/office/powerpoint/2010/main" val="293662317"/>
              </p:ext>
            </p:extLst>
          </p:nvPr>
        </p:nvGraphicFramePr>
        <p:xfrm>
          <a:off x="9584786" y="148208"/>
          <a:ext cx="2463077" cy="128016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2</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What</a:t>
                      </a:r>
                      <a:r>
                        <a:rPr lang="en-AU" baseline="0" dirty="0" smtClean="0"/>
                        <a:t> controls an elements chemical properties?</a:t>
                      </a:r>
                      <a:endParaRPr lang="en-AU" dirty="0"/>
                    </a:p>
                  </a:txBody>
                  <a:tcPr/>
                </a:tc>
                <a:extLst>
                  <a:ext uri="{0D108BD9-81ED-4DB2-BD59-A6C34878D82A}">
                    <a16:rowId xmlns:a16="http://schemas.microsoft.com/office/drawing/2014/main" val="10001"/>
                  </a:ext>
                </a:extLst>
              </a:tr>
            </a:tbl>
          </a:graphicData>
        </a:graphic>
      </p:graphicFrame>
      <p:pic>
        <p:nvPicPr>
          <p:cNvPr id="17" name="Picture 16"/>
          <p:cNvPicPr/>
          <p:nvPr/>
        </p:nvPicPr>
        <p:blipFill rotWithShape="1">
          <a:blip r:embed="rId3"/>
          <a:srcRect r="20637" b="10"/>
          <a:stretch/>
        </p:blipFill>
        <p:spPr>
          <a:xfrm>
            <a:off x="4998345" y="1908581"/>
            <a:ext cx="7117763" cy="4166816"/>
          </a:xfrm>
          <a:prstGeom prst="rect">
            <a:avLst/>
          </a:prstGeom>
        </p:spPr>
      </p:pic>
    </p:spTree>
    <p:extLst>
      <p:ext uri="{BB962C8B-B14F-4D97-AF65-F5344CB8AC3E}">
        <p14:creationId xmlns:p14="http://schemas.microsoft.com/office/powerpoint/2010/main" val="3555287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p:nvPr/>
        </p:nvPicPr>
        <p:blipFill rotWithShape="1">
          <a:blip r:embed="rId2"/>
          <a:srcRect r="20637" b="10"/>
          <a:stretch/>
        </p:blipFill>
        <p:spPr>
          <a:xfrm>
            <a:off x="4998345" y="1908581"/>
            <a:ext cx="7117763" cy="4166816"/>
          </a:xfrm>
          <a:prstGeom prst="rect">
            <a:avLst/>
          </a:prstGeom>
        </p:spPr>
      </p:pic>
      <p:sp>
        <p:nvSpPr>
          <p:cNvPr id="5" name="TextBox 4"/>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graphicFrame>
        <p:nvGraphicFramePr>
          <p:cNvPr id="6" name="Table 5"/>
          <p:cNvGraphicFramePr>
            <a:graphicFrameLocks noGrp="1"/>
          </p:cNvGraphicFramePr>
          <p:nvPr>
            <p:extLst>
              <p:ext uri="{D42A27DB-BD31-4B8C-83A1-F6EECF244321}">
                <p14:modId xmlns:p14="http://schemas.microsoft.com/office/powerpoint/2010/main" val="2038668477"/>
              </p:ext>
            </p:extLst>
          </p:nvPr>
        </p:nvGraphicFramePr>
        <p:xfrm>
          <a:off x="6746219" y="148208"/>
          <a:ext cx="2463077" cy="155448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6675">
                <a:tc>
                  <a:txBody>
                    <a:bodyPr/>
                    <a:lstStyle/>
                    <a:p>
                      <a:r>
                        <a:rPr lang="en-AU" dirty="0"/>
                        <a:t>CFU </a:t>
                      </a:r>
                      <a:r>
                        <a:rPr lang="en-AU" dirty="0" smtClean="0"/>
                        <a:t>3</a:t>
                      </a:r>
                      <a:endParaRPr lang="en-AU" dirty="0"/>
                    </a:p>
                  </a:txBody>
                  <a:tcPr>
                    <a:solidFill>
                      <a:srgbClr val="00B050"/>
                    </a:solidFill>
                  </a:tcPr>
                </a:tc>
                <a:extLst>
                  <a:ext uri="{0D108BD9-81ED-4DB2-BD59-A6C34878D82A}">
                    <a16:rowId xmlns:a16="http://schemas.microsoft.com/office/drawing/2014/main" val="10000"/>
                  </a:ext>
                </a:extLst>
              </a:tr>
              <a:tr h="495614">
                <a:tc>
                  <a:txBody>
                    <a:bodyPr/>
                    <a:lstStyle/>
                    <a:p>
                      <a:r>
                        <a:rPr lang="en-AU" dirty="0" smtClean="0"/>
                        <a:t>Would Lithium and Sodium have similar chemical properties? Explain</a:t>
                      </a:r>
                      <a:r>
                        <a:rPr lang="en-AU" baseline="0" dirty="0" smtClean="0"/>
                        <a:t> your answer.</a:t>
                      </a:r>
                      <a:endParaRPr lang="en-AU" dirty="0"/>
                    </a:p>
                  </a:txBody>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163761810"/>
              </p:ext>
            </p:extLst>
          </p:nvPr>
        </p:nvGraphicFramePr>
        <p:xfrm>
          <a:off x="9590394" y="148208"/>
          <a:ext cx="2463077" cy="1554480"/>
        </p:xfrm>
        <a:graphic>
          <a:graphicData uri="http://schemas.openxmlformats.org/drawingml/2006/table">
            <a:tbl>
              <a:tblPr firstRow="1" bandRow="1">
                <a:tableStyleId>{93296810-A885-4BE3-A3E7-6D5BEEA58F35}</a:tableStyleId>
              </a:tblPr>
              <a:tblGrid>
                <a:gridCol w="2463077">
                  <a:extLst>
                    <a:ext uri="{9D8B030D-6E8A-4147-A177-3AD203B41FA5}">
                      <a16:colId xmlns:a16="http://schemas.microsoft.com/office/drawing/2014/main" val="20000"/>
                    </a:ext>
                  </a:extLst>
                </a:gridCol>
              </a:tblGrid>
              <a:tr h="353527">
                <a:tc>
                  <a:txBody>
                    <a:bodyPr/>
                    <a:lstStyle/>
                    <a:p>
                      <a:r>
                        <a:rPr lang="en-AU" dirty="0"/>
                        <a:t>CFU </a:t>
                      </a:r>
                      <a:r>
                        <a:rPr lang="en-AU" dirty="0" smtClean="0"/>
                        <a:t>4</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Would Lithium</a:t>
                      </a:r>
                      <a:r>
                        <a:rPr lang="en-AU" baseline="0" dirty="0" smtClean="0"/>
                        <a:t> and Boron has similar chemical properties? Explain your answer.</a:t>
                      </a:r>
                      <a:endParaRPr lang="en-AU" dirty="0"/>
                    </a:p>
                  </a:txBody>
                  <a:tcPr/>
                </a:tc>
                <a:extLst>
                  <a:ext uri="{0D108BD9-81ED-4DB2-BD59-A6C34878D82A}">
                    <a16:rowId xmlns:a16="http://schemas.microsoft.com/office/drawing/2014/main" val="10001"/>
                  </a:ext>
                </a:extLst>
              </a:tr>
            </a:tbl>
          </a:graphicData>
        </a:graphic>
      </p:graphicFrame>
      <p:sp>
        <p:nvSpPr>
          <p:cNvPr id="9" name="TextBox 8"/>
          <p:cNvSpPr txBox="1"/>
          <p:nvPr/>
        </p:nvSpPr>
        <p:spPr>
          <a:xfrm>
            <a:off x="0" y="732983"/>
            <a:ext cx="4952489" cy="954107"/>
          </a:xfrm>
          <a:prstGeom prst="rect">
            <a:avLst/>
          </a:prstGeom>
          <a:noFill/>
        </p:spPr>
        <p:txBody>
          <a:bodyPr wrap="square" rtlCol="0">
            <a:spAutoFit/>
          </a:bodyPr>
          <a:lstStyle/>
          <a:p>
            <a:r>
              <a:rPr lang="en-AU" sz="2800" b="1" dirty="0" smtClean="0">
                <a:sym typeface="Wingdings" panose="05000000000000000000" pitchFamily="2" charset="2"/>
              </a:rPr>
              <a:t>Electron Configuration and the periodic table</a:t>
            </a:r>
            <a:endParaRPr lang="en-AU" sz="2400" dirty="0"/>
          </a:p>
        </p:txBody>
      </p:sp>
      <p:sp>
        <p:nvSpPr>
          <p:cNvPr id="11" name="Rectangle 10"/>
          <p:cNvSpPr/>
          <p:nvPr/>
        </p:nvSpPr>
        <p:spPr>
          <a:xfrm>
            <a:off x="0" y="4904327"/>
            <a:ext cx="4906633" cy="1569660"/>
          </a:xfrm>
          <a:prstGeom prst="rect">
            <a:avLst/>
          </a:prstGeom>
        </p:spPr>
        <p:txBody>
          <a:bodyPr wrap="square">
            <a:spAutoFit/>
          </a:bodyPr>
          <a:lstStyle/>
          <a:p>
            <a:r>
              <a:rPr lang="en-AU" sz="2400" dirty="0">
                <a:cs typeface="Arial" panose="020B0604020202020204" pitchFamily="34" charset="0"/>
              </a:rPr>
              <a:t>Because they have the same number of electrons in their outermost energy level, the elements in the same group have similar chemical properties.</a:t>
            </a:r>
            <a:endParaRPr lang="en-AU" sz="2400" dirty="0"/>
          </a:p>
        </p:txBody>
      </p:sp>
      <p:sp>
        <p:nvSpPr>
          <p:cNvPr id="12" name="Rectangle 11"/>
          <p:cNvSpPr/>
          <p:nvPr/>
        </p:nvSpPr>
        <p:spPr>
          <a:xfrm>
            <a:off x="-45856" y="3128774"/>
            <a:ext cx="4952489" cy="1569660"/>
          </a:xfrm>
          <a:prstGeom prst="rect">
            <a:avLst/>
          </a:prstGeom>
        </p:spPr>
        <p:txBody>
          <a:bodyPr wrap="square">
            <a:spAutoFit/>
          </a:bodyPr>
          <a:lstStyle/>
          <a:p>
            <a:r>
              <a:rPr lang="en-AU" sz="2400" dirty="0">
                <a:cs typeface="Arial" panose="020B0604020202020204" pitchFamily="34" charset="0"/>
              </a:rPr>
              <a:t>This Group Number tells us the number of electrons in the outermost energy level of each element in that column(group</a:t>
            </a:r>
            <a:r>
              <a:rPr lang="en-AU" sz="2400" dirty="0" smtClean="0">
                <a:cs typeface="Arial" panose="020B0604020202020204" pitchFamily="34" charset="0"/>
              </a:rPr>
              <a:t>).</a:t>
            </a:r>
            <a:endParaRPr lang="en-AU" sz="2400" dirty="0"/>
          </a:p>
        </p:txBody>
      </p:sp>
      <p:sp>
        <p:nvSpPr>
          <p:cNvPr id="13" name="Rectangle 12"/>
          <p:cNvSpPr/>
          <p:nvPr/>
        </p:nvSpPr>
        <p:spPr>
          <a:xfrm>
            <a:off x="0" y="1865372"/>
            <a:ext cx="4952489" cy="1569660"/>
          </a:xfrm>
          <a:prstGeom prst="rect">
            <a:avLst/>
          </a:prstGeom>
        </p:spPr>
        <p:txBody>
          <a:bodyPr wrap="square">
            <a:spAutoFit/>
          </a:bodyPr>
          <a:lstStyle/>
          <a:p>
            <a:r>
              <a:rPr lang="en-AU" sz="2400" dirty="0">
                <a:cs typeface="Arial" panose="020B0604020202020204" pitchFamily="34" charset="0"/>
              </a:rPr>
              <a:t>The column number (from left to right) is referred to as the Group Number. </a:t>
            </a:r>
            <a:br>
              <a:rPr lang="en-AU" sz="2400" dirty="0">
                <a:cs typeface="Arial" panose="020B0604020202020204" pitchFamily="34" charset="0"/>
              </a:rPr>
            </a:br>
            <a:endParaRPr lang="en-AU" sz="2400" dirty="0"/>
          </a:p>
        </p:txBody>
      </p:sp>
    </p:spTree>
    <p:extLst>
      <p:ext uri="{BB962C8B-B14F-4D97-AF65-F5344CB8AC3E}">
        <p14:creationId xmlns:p14="http://schemas.microsoft.com/office/powerpoint/2010/main" val="3116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1" grpId="0"/>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rotWithShape="1">
          <a:blip r:embed="rId2"/>
          <a:srcRect r="17337" b="10"/>
          <a:stretch/>
        </p:blipFill>
        <p:spPr>
          <a:xfrm>
            <a:off x="2301930" y="54929"/>
            <a:ext cx="8054386" cy="3876702"/>
          </a:xfrm>
          <a:prstGeom prst="rect">
            <a:avLst/>
          </a:prstGeom>
        </p:spPr>
      </p:pic>
      <p:sp>
        <p:nvSpPr>
          <p:cNvPr id="5" name="TextBox 4"/>
          <p:cNvSpPr txBox="1"/>
          <p:nvPr/>
        </p:nvSpPr>
        <p:spPr>
          <a:xfrm>
            <a:off x="282298" y="4161489"/>
            <a:ext cx="11789009" cy="2677656"/>
          </a:xfrm>
          <a:prstGeom prst="rect">
            <a:avLst/>
          </a:prstGeom>
          <a:noFill/>
        </p:spPr>
        <p:txBody>
          <a:bodyPr wrap="square" rtlCol="0">
            <a:spAutoFit/>
          </a:bodyPr>
          <a:lstStyle/>
          <a:p>
            <a:r>
              <a:rPr lang="en-AU" sz="2400" b="1" dirty="0" smtClean="0"/>
              <a:t>Using the periodic table how many electrons in the outermost energy level of</a:t>
            </a:r>
          </a:p>
          <a:p>
            <a:pPr marL="342900" indent="-342900">
              <a:buAutoNum type="alphaLcParenR"/>
            </a:pPr>
            <a:r>
              <a:rPr lang="en-AU" sz="2400" dirty="0" smtClean="0"/>
              <a:t>Nitrogen      b) aluminium     c) helium     d) potassium     e) phosphorus       </a:t>
            </a:r>
          </a:p>
          <a:p>
            <a:pPr marL="342900" indent="-342900">
              <a:buAutoNum type="alphaLcParenR" startAt="6"/>
            </a:pPr>
            <a:r>
              <a:rPr lang="en-AU" sz="2400" dirty="0" smtClean="0"/>
              <a:t>Li                   g)     B                  h)   Kr             </a:t>
            </a:r>
            <a:r>
              <a:rPr lang="en-AU" sz="2400" dirty="0" err="1" smtClean="0"/>
              <a:t>i</a:t>
            </a:r>
            <a:r>
              <a:rPr lang="en-AU" sz="2400" dirty="0" smtClean="0"/>
              <a:t>)   As                  j </a:t>
            </a:r>
            <a:r>
              <a:rPr lang="en-AU" sz="2400" dirty="0" err="1" smtClean="0"/>
              <a:t>Rb</a:t>
            </a:r>
            <a:endParaRPr lang="en-AU" sz="2400" dirty="0" smtClean="0"/>
          </a:p>
          <a:p>
            <a:endParaRPr lang="en-AU" sz="2400" b="1" dirty="0" smtClean="0"/>
          </a:p>
          <a:p>
            <a:r>
              <a:rPr lang="en-AU" sz="2400" b="1" dirty="0" smtClean="0"/>
              <a:t>Answers </a:t>
            </a:r>
          </a:p>
          <a:p>
            <a:r>
              <a:rPr lang="en-AU" sz="2400" dirty="0" smtClean="0"/>
              <a:t>a) N = 5    b) Al = 3    c) He = 2    d) K = 1    e) P = 5     f) Li = 1     g) B =3      h) Kr = 8    </a:t>
            </a:r>
            <a:r>
              <a:rPr lang="en-AU" sz="2400" dirty="0" err="1" smtClean="0"/>
              <a:t>i</a:t>
            </a:r>
            <a:r>
              <a:rPr lang="en-AU" sz="2400" dirty="0" smtClean="0"/>
              <a:t>) As =  5    j)  </a:t>
            </a:r>
            <a:r>
              <a:rPr lang="en-AU" sz="2400" dirty="0" err="1" smtClean="0"/>
              <a:t>Rb</a:t>
            </a:r>
            <a:r>
              <a:rPr lang="en-AU" sz="2400" dirty="0" smtClean="0"/>
              <a:t> = 1</a:t>
            </a:r>
            <a:endParaRPr lang="en-AU" sz="2400" dirty="0"/>
          </a:p>
        </p:txBody>
      </p:sp>
    </p:spTree>
    <p:extLst>
      <p:ext uri="{BB962C8B-B14F-4D97-AF65-F5344CB8AC3E}">
        <p14:creationId xmlns:p14="http://schemas.microsoft.com/office/powerpoint/2010/main" val="3781533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noble gases: Chemistry’s role </a:t>
            </a:r>
            <a:r>
              <a:rPr lang="en-AU" dirty="0" smtClean="0"/>
              <a:t>models</a:t>
            </a:r>
            <a:endParaRPr lang="en-AU" dirty="0"/>
          </a:p>
        </p:txBody>
      </p:sp>
      <p:sp>
        <p:nvSpPr>
          <p:cNvPr id="3" name="Content Placeholder 2"/>
          <p:cNvSpPr>
            <a:spLocks noGrp="1"/>
          </p:cNvSpPr>
          <p:nvPr>
            <p:ph idx="1"/>
          </p:nvPr>
        </p:nvSpPr>
        <p:spPr/>
        <p:txBody>
          <a:bodyPr>
            <a:normAutofit fontScale="92500" lnSpcReduction="10000"/>
          </a:bodyPr>
          <a:lstStyle/>
          <a:p>
            <a:r>
              <a:rPr lang="en-AU" dirty="0"/>
              <a:t>The noble gases are very unreactive, they are inert gases. The reason why noble gases are inert is found in their electron configuration.</a:t>
            </a:r>
          </a:p>
          <a:p>
            <a:pPr marL="0" indent="0">
              <a:buNone/>
            </a:pPr>
            <a:r>
              <a:rPr lang="en-AU" dirty="0"/>
              <a:t>		He	2</a:t>
            </a:r>
          </a:p>
          <a:p>
            <a:pPr marL="0" indent="0">
              <a:buNone/>
            </a:pPr>
            <a:r>
              <a:rPr lang="en-AU" dirty="0"/>
              <a:t>		Ne	2	8</a:t>
            </a:r>
          </a:p>
          <a:p>
            <a:pPr marL="0" indent="0">
              <a:buNone/>
            </a:pPr>
            <a:r>
              <a:rPr lang="en-AU" dirty="0"/>
              <a:t>		</a:t>
            </a:r>
            <a:r>
              <a:rPr lang="en-AU" dirty="0" err="1"/>
              <a:t>Ar</a:t>
            </a:r>
            <a:r>
              <a:rPr lang="en-AU" dirty="0"/>
              <a:t>	2	8	8</a:t>
            </a:r>
          </a:p>
          <a:p>
            <a:pPr marL="0" indent="0">
              <a:buNone/>
            </a:pPr>
            <a:r>
              <a:rPr lang="en-AU" dirty="0"/>
              <a:t>		Kr	2	8	18	8</a:t>
            </a:r>
          </a:p>
          <a:p>
            <a:pPr marL="0" indent="0">
              <a:buNone/>
            </a:pPr>
            <a:r>
              <a:rPr lang="en-AU" dirty="0"/>
              <a:t>		</a:t>
            </a:r>
            <a:r>
              <a:rPr lang="en-AU" dirty="0" err="1"/>
              <a:t>Xe</a:t>
            </a:r>
            <a:r>
              <a:rPr lang="en-AU" dirty="0"/>
              <a:t>	2	8	18	18	8</a:t>
            </a:r>
          </a:p>
          <a:p>
            <a:pPr marL="0" indent="0">
              <a:buNone/>
            </a:pPr>
            <a:r>
              <a:rPr lang="en-AU" dirty="0"/>
              <a:t>		Rn	2	8	18	18	32	8</a:t>
            </a:r>
          </a:p>
          <a:p>
            <a:pPr marL="0" indent="0">
              <a:buNone/>
            </a:pPr>
            <a:r>
              <a:rPr lang="en-AU" dirty="0"/>
              <a:t>ALL noble gases have 8 electrons in their outer energy level. The exception is helium which has only 2 electrons.</a:t>
            </a:r>
          </a:p>
          <a:p>
            <a:endParaRPr lang="en-AU" dirty="0"/>
          </a:p>
        </p:txBody>
      </p:sp>
    </p:spTree>
    <p:extLst>
      <p:ext uri="{BB962C8B-B14F-4D97-AF65-F5344CB8AC3E}">
        <p14:creationId xmlns:p14="http://schemas.microsoft.com/office/powerpoint/2010/main" val="331649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Pattern</a:t>
            </a:r>
          </a:p>
        </p:txBody>
      </p:sp>
      <p:sp>
        <p:nvSpPr>
          <p:cNvPr id="3" name="Content Placeholder 2"/>
          <p:cNvSpPr>
            <a:spLocks noGrp="1"/>
          </p:cNvSpPr>
          <p:nvPr>
            <p:ph idx="1"/>
          </p:nvPr>
        </p:nvSpPr>
        <p:spPr>
          <a:xfrm>
            <a:off x="838200" y="1380188"/>
            <a:ext cx="10515600" cy="4351338"/>
          </a:xfrm>
        </p:spPr>
        <p:txBody>
          <a:bodyPr/>
          <a:lstStyle/>
          <a:p>
            <a:r>
              <a:rPr lang="en-AU" dirty="0"/>
              <a:t>Atoms have a tendency to get the same configuration as the nearest noble gas.  …… Nearest means noble gas with the </a:t>
            </a:r>
            <a:r>
              <a:rPr lang="en-AU" dirty="0" smtClean="0"/>
              <a:t>closest atomic </a:t>
            </a:r>
            <a:r>
              <a:rPr lang="en-AU" dirty="0"/>
              <a:t>number.</a:t>
            </a:r>
          </a:p>
          <a:p>
            <a:r>
              <a:rPr lang="en-AU" dirty="0"/>
              <a:t>When elements react the atoms involved must collide. </a:t>
            </a:r>
            <a:endParaRPr lang="en-AU" dirty="0" smtClean="0"/>
          </a:p>
          <a:p>
            <a:r>
              <a:rPr lang="en-AU" dirty="0" smtClean="0"/>
              <a:t>This </a:t>
            </a:r>
            <a:r>
              <a:rPr lang="en-AU" dirty="0"/>
              <a:t>collision cause the outermost electrons to interact</a:t>
            </a:r>
            <a:r>
              <a:rPr lang="en-AU" dirty="0" smtClean="0"/>
              <a:t>.</a:t>
            </a:r>
          </a:p>
          <a:p>
            <a:r>
              <a:rPr lang="en-AU" dirty="0" smtClean="0"/>
              <a:t>When elements react, </a:t>
            </a:r>
            <a:r>
              <a:rPr lang="en-AU" dirty="0"/>
              <a:t>they try and get the same electron configuration as the nearest noble gas. </a:t>
            </a:r>
            <a:endParaRPr lang="en-AU" dirty="0" smtClean="0"/>
          </a:p>
          <a:p>
            <a:r>
              <a:rPr lang="en-AU" dirty="0" smtClean="0"/>
              <a:t>For </a:t>
            </a:r>
            <a:r>
              <a:rPr lang="en-AU" dirty="0"/>
              <a:t>most elements , this means they try to get 8 electrons in their outermost energy level.</a:t>
            </a:r>
          </a:p>
          <a:p>
            <a:endParaRPr lang="en-AU" dirty="0"/>
          </a:p>
        </p:txBody>
      </p:sp>
      <p:pic>
        <p:nvPicPr>
          <p:cNvPr id="4" name="Picture 3" descr="Atom Electron Neutron Nuclear · Free image on Pixabay"/>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16543" y="2577784"/>
            <a:ext cx="2273904" cy="1603576"/>
          </a:xfrm>
          <a:prstGeom prst="rect">
            <a:avLst/>
          </a:prstGeom>
        </p:spPr>
      </p:pic>
    </p:spTree>
    <p:extLst>
      <p:ext uri="{BB962C8B-B14F-4D97-AF65-F5344CB8AC3E}">
        <p14:creationId xmlns:p14="http://schemas.microsoft.com/office/powerpoint/2010/main" val="2503533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otentially Reversible Causes of Cardiac Arrest and the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86642" y="4173825"/>
            <a:ext cx="4005358" cy="2684175"/>
          </a:xfrm>
          <a:prstGeom prst="rect">
            <a:avLst/>
          </a:prstGeom>
        </p:spPr>
      </p:pic>
      <p:sp>
        <p:nvSpPr>
          <p:cNvPr id="3" name="Content Placeholder 2"/>
          <p:cNvSpPr>
            <a:spLocks noGrp="1"/>
          </p:cNvSpPr>
          <p:nvPr>
            <p:ph idx="1"/>
          </p:nvPr>
        </p:nvSpPr>
        <p:spPr>
          <a:xfrm>
            <a:off x="440675" y="377085"/>
            <a:ext cx="10515600" cy="1578587"/>
          </a:xfrm>
        </p:spPr>
        <p:txBody>
          <a:bodyPr/>
          <a:lstStyle/>
          <a:p>
            <a:pPr marL="0" indent="0">
              <a:buNone/>
            </a:pPr>
            <a:r>
              <a:rPr lang="en-AU" dirty="0"/>
              <a:t>When oxygen atoms react, </a:t>
            </a:r>
            <a:r>
              <a:rPr lang="en-AU" dirty="0" smtClean="0"/>
              <a:t>how </a:t>
            </a:r>
            <a:r>
              <a:rPr lang="en-AU" dirty="0"/>
              <a:t>would the number of </a:t>
            </a:r>
            <a:r>
              <a:rPr lang="en-AU" dirty="0" smtClean="0"/>
              <a:t>electrons in </a:t>
            </a:r>
            <a:r>
              <a:rPr lang="en-AU" dirty="0"/>
              <a:t>their outermost energy level change?</a:t>
            </a:r>
          </a:p>
        </p:txBody>
      </p:sp>
      <p:sp>
        <p:nvSpPr>
          <p:cNvPr id="4" name="Rectangle 3"/>
          <p:cNvSpPr/>
          <p:nvPr/>
        </p:nvSpPr>
        <p:spPr>
          <a:xfrm>
            <a:off x="440675" y="2342930"/>
            <a:ext cx="11278054" cy="2308324"/>
          </a:xfrm>
          <a:prstGeom prst="rect">
            <a:avLst/>
          </a:prstGeom>
        </p:spPr>
        <p:txBody>
          <a:bodyPr wrap="square">
            <a:spAutoFit/>
          </a:bodyPr>
          <a:lstStyle/>
          <a:p>
            <a:r>
              <a:rPr lang="en-AU" sz="2400" dirty="0"/>
              <a:t>Electron configuration of oxygen                                 </a:t>
            </a:r>
            <a:r>
              <a:rPr lang="en-AU" sz="2400" dirty="0" smtClean="0"/>
              <a:t>	:    </a:t>
            </a:r>
            <a:r>
              <a:rPr lang="en-AU" sz="2400" dirty="0"/>
              <a:t>2   6  </a:t>
            </a:r>
          </a:p>
          <a:p>
            <a:r>
              <a:rPr lang="en-AU" sz="2400" dirty="0"/>
              <a:t>Electron configuration of nearest noble gas (neon)   :    2   8</a:t>
            </a:r>
          </a:p>
          <a:p>
            <a:endParaRPr lang="en-AU" sz="2400" dirty="0"/>
          </a:p>
          <a:p>
            <a:r>
              <a:rPr lang="en-AU" sz="2400" dirty="0" smtClean="0"/>
              <a:t>Oxygen’s </a:t>
            </a:r>
            <a:r>
              <a:rPr lang="en-AU" sz="2400" dirty="0"/>
              <a:t>electron change     </a:t>
            </a:r>
            <a:r>
              <a:rPr lang="en-AU" sz="2400" dirty="0" smtClean="0"/>
              <a:t>:  </a:t>
            </a:r>
            <a:r>
              <a:rPr lang="en-AU" sz="2400" dirty="0"/>
              <a:t>it would need to gain 2 electrons from another element</a:t>
            </a:r>
            <a:r>
              <a:rPr lang="en-AU" sz="2400" dirty="0" smtClean="0"/>
              <a:t>.</a:t>
            </a:r>
          </a:p>
          <a:p>
            <a:endParaRPr lang="en-AU" sz="2400" dirty="0"/>
          </a:p>
          <a:p>
            <a:r>
              <a:rPr lang="en-AU" sz="2400" dirty="0" smtClean="0"/>
              <a:t>When oxygen gains 2 electrons, its overall charge becomes	 -2</a:t>
            </a:r>
            <a:endParaRPr lang="en-AU" sz="2400" dirty="0"/>
          </a:p>
        </p:txBody>
      </p:sp>
      <p:pic>
        <p:nvPicPr>
          <p:cNvPr id="2" name="Picture 1"/>
          <p:cNvPicPr>
            <a:picLocks noChangeAspect="1"/>
          </p:cNvPicPr>
          <p:nvPr/>
        </p:nvPicPr>
        <p:blipFill>
          <a:blip r:embed="rId3"/>
          <a:stretch>
            <a:fillRect/>
          </a:stretch>
        </p:blipFill>
        <p:spPr>
          <a:xfrm>
            <a:off x="9060266" y="836002"/>
            <a:ext cx="2600332" cy="2626598"/>
          </a:xfrm>
          <a:prstGeom prst="rect">
            <a:avLst/>
          </a:prstGeom>
        </p:spPr>
      </p:pic>
    </p:spTree>
    <p:extLst>
      <p:ext uri="{BB962C8B-B14F-4D97-AF65-F5344CB8AC3E}">
        <p14:creationId xmlns:p14="http://schemas.microsoft.com/office/powerpoint/2010/main" val="181564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600" dirty="0" smtClean="0"/>
              <a:t>How could an atom of Al get a full energy level?</a:t>
            </a:r>
            <a:endParaRPr lang="en-AU" sz="3600" dirty="0"/>
          </a:p>
        </p:txBody>
      </p:sp>
      <p:pic>
        <p:nvPicPr>
          <p:cNvPr id="4" name="Content Placeholder 3" descr="Chemical Elements - Aluminium"/>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648813" y="1690688"/>
            <a:ext cx="3806729" cy="3806729"/>
          </a:xfrm>
        </p:spPr>
      </p:pic>
      <p:sp>
        <p:nvSpPr>
          <p:cNvPr id="3" name="TextBox 2"/>
          <p:cNvSpPr txBox="1"/>
          <p:nvPr/>
        </p:nvSpPr>
        <p:spPr>
          <a:xfrm>
            <a:off x="231354" y="1597446"/>
            <a:ext cx="7315717" cy="2246769"/>
          </a:xfrm>
          <a:prstGeom prst="rect">
            <a:avLst/>
          </a:prstGeom>
          <a:noFill/>
        </p:spPr>
        <p:txBody>
          <a:bodyPr wrap="square" rtlCol="0">
            <a:spAutoFit/>
          </a:bodyPr>
          <a:lstStyle/>
          <a:p>
            <a:r>
              <a:rPr lang="en-AU" sz="2000" dirty="0" smtClean="0"/>
              <a:t>Electron configuration of Al           :    2 ,  8 ,  3</a:t>
            </a:r>
          </a:p>
          <a:p>
            <a:endParaRPr lang="en-AU" sz="2000" dirty="0"/>
          </a:p>
          <a:p>
            <a:r>
              <a:rPr lang="en-AU" sz="2000" dirty="0"/>
              <a:t> </a:t>
            </a:r>
            <a:r>
              <a:rPr lang="en-AU" sz="2000" dirty="0" smtClean="0"/>
              <a:t>Electronic configuration of nearest noble gas   :    2 , 8    (NOT 2, 8, 8)</a:t>
            </a:r>
          </a:p>
          <a:p>
            <a:endParaRPr lang="en-AU" sz="2000" dirty="0"/>
          </a:p>
          <a:p>
            <a:r>
              <a:rPr lang="en-AU" sz="2000" dirty="0" smtClean="0"/>
              <a:t>Aluminium needs to </a:t>
            </a:r>
            <a:r>
              <a:rPr lang="en-AU" sz="2000" b="1" dirty="0" smtClean="0"/>
              <a:t>lose</a:t>
            </a:r>
            <a:r>
              <a:rPr lang="en-AU" sz="2000" dirty="0" smtClean="0"/>
              <a:t> 3 electrons.</a:t>
            </a:r>
          </a:p>
          <a:p>
            <a:endParaRPr lang="en-AU" sz="2000" dirty="0"/>
          </a:p>
          <a:p>
            <a:r>
              <a:rPr lang="en-AU" sz="2000" dirty="0" smtClean="0"/>
              <a:t>When aluminium loses 3 electrons</a:t>
            </a:r>
            <a:r>
              <a:rPr lang="en-AU" sz="2000" smtClean="0"/>
              <a:t>, its </a:t>
            </a:r>
            <a:r>
              <a:rPr lang="en-AU" sz="2000" dirty="0" smtClean="0"/>
              <a:t>overall charge becomes +3</a:t>
            </a:r>
            <a:endParaRPr lang="en-AU" sz="2000" dirty="0"/>
          </a:p>
        </p:txBody>
      </p:sp>
      <p:pic>
        <p:nvPicPr>
          <p:cNvPr id="6" name="Picture 5"/>
          <p:cNvPicPr/>
          <p:nvPr/>
        </p:nvPicPr>
        <p:blipFill>
          <a:blip r:embed="rId3"/>
          <a:stretch>
            <a:fillRect/>
          </a:stretch>
        </p:blipFill>
        <p:spPr>
          <a:xfrm>
            <a:off x="1331931" y="3956930"/>
            <a:ext cx="5618603" cy="2570970"/>
          </a:xfrm>
          <a:prstGeom prst="rect">
            <a:avLst/>
          </a:prstGeom>
        </p:spPr>
      </p:pic>
    </p:spTree>
    <p:extLst>
      <p:ext uri="{BB962C8B-B14F-4D97-AF65-F5344CB8AC3E}">
        <p14:creationId xmlns:p14="http://schemas.microsoft.com/office/powerpoint/2010/main" val="562162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4023093"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Concept Development</a:t>
            </a:r>
          </a:p>
        </p:txBody>
      </p:sp>
      <p:graphicFrame>
        <p:nvGraphicFramePr>
          <p:cNvPr id="10" name="Table 9"/>
          <p:cNvGraphicFramePr>
            <a:graphicFrameLocks noGrp="1"/>
          </p:cNvGraphicFramePr>
          <p:nvPr>
            <p:extLst>
              <p:ext uri="{D42A27DB-BD31-4B8C-83A1-F6EECF244321}">
                <p14:modId xmlns:p14="http://schemas.microsoft.com/office/powerpoint/2010/main" val="161501057"/>
              </p:ext>
            </p:extLst>
          </p:nvPr>
        </p:nvGraphicFramePr>
        <p:xfrm>
          <a:off x="8228603" y="148208"/>
          <a:ext cx="3757554" cy="2103120"/>
        </p:xfrm>
        <a:graphic>
          <a:graphicData uri="http://schemas.openxmlformats.org/drawingml/2006/table">
            <a:tbl>
              <a:tblPr firstRow="1" bandRow="1">
                <a:tableStyleId>{93296810-A885-4BE3-A3E7-6D5BEEA58F35}</a:tableStyleId>
              </a:tblPr>
              <a:tblGrid>
                <a:gridCol w="3757554">
                  <a:extLst>
                    <a:ext uri="{9D8B030D-6E8A-4147-A177-3AD203B41FA5}">
                      <a16:colId xmlns:a16="http://schemas.microsoft.com/office/drawing/2014/main" val="20000"/>
                    </a:ext>
                  </a:extLst>
                </a:gridCol>
              </a:tblGrid>
              <a:tr h="353527">
                <a:tc>
                  <a:txBody>
                    <a:bodyPr/>
                    <a:lstStyle/>
                    <a:p>
                      <a:r>
                        <a:rPr lang="en-AU" dirty="0"/>
                        <a:t>CFU 1</a:t>
                      </a:r>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From the electron configuration of potassium,</a:t>
                      </a:r>
                      <a:r>
                        <a:rPr lang="en-AU" baseline="0" dirty="0" smtClean="0"/>
                        <a:t>  it is clear that electrons do not normally occupy the fifth shell.  What could be done to potassium atoms for electrons to jump into this shell?</a:t>
                      </a:r>
                      <a:endParaRPr lang="en-AU" dirty="0" smtClean="0"/>
                    </a:p>
                  </a:txBody>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nvPr>
        </p:nvGraphicFramePr>
        <p:xfrm>
          <a:off x="8228602" y="2695719"/>
          <a:ext cx="3757555" cy="1005840"/>
        </p:xfrm>
        <a:graphic>
          <a:graphicData uri="http://schemas.openxmlformats.org/drawingml/2006/table">
            <a:tbl>
              <a:tblPr firstRow="1" bandRow="1">
                <a:tableStyleId>{93296810-A885-4BE3-A3E7-6D5BEEA58F35}</a:tableStyleId>
              </a:tblPr>
              <a:tblGrid>
                <a:gridCol w="3757555">
                  <a:extLst>
                    <a:ext uri="{9D8B030D-6E8A-4147-A177-3AD203B41FA5}">
                      <a16:colId xmlns:a16="http://schemas.microsoft.com/office/drawing/2014/main" val="20000"/>
                    </a:ext>
                  </a:extLst>
                </a:gridCol>
              </a:tblGrid>
              <a:tr h="353527">
                <a:tc>
                  <a:txBody>
                    <a:bodyPr/>
                    <a:lstStyle/>
                    <a:p>
                      <a:r>
                        <a:rPr lang="en-AU" dirty="0"/>
                        <a:t>CFU </a:t>
                      </a:r>
                      <a:r>
                        <a:rPr lang="en-AU" dirty="0" smtClean="0"/>
                        <a:t>2</a:t>
                      </a:r>
                      <a:endParaRPr lang="en-AU" dirty="0"/>
                    </a:p>
                  </a:txBody>
                  <a:tcPr>
                    <a:solidFill>
                      <a:srgbClr val="00B050"/>
                    </a:solidFill>
                  </a:tcPr>
                </a:tc>
                <a:extLst>
                  <a:ext uri="{0D108BD9-81ED-4DB2-BD59-A6C34878D82A}">
                    <a16:rowId xmlns:a16="http://schemas.microsoft.com/office/drawing/2014/main" val="10000"/>
                  </a:ext>
                </a:extLst>
              </a:tr>
              <a:tr h="370840">
                <a:tc>
                  <a:txBody>
                    <a:bodyPr/>
                    <a:lstStyle/>
                    <a:p>
                      <a:r>
                        <a:rPr lang="en-AU" dirty="0" smtClean="0"/>
                        <a:t>How many periods and groups</a:t>
                      </a:r>
                      <a:r>
                        <a:rPr lang="en-AU" baseline="0" dirty="0" smtClean="0"/>
                        <a:t> in a periodic table</a:t>
                      </a:r>
                      <a:r>
                        <a:rPr lang="en-AU" dirty="0" smtClean="0"/>
                        <a:t> </a:t>
                      </a:r>
                      <a:r>
                        <a:rPr lang="en-AU" baseline="0" dirty="0" smtClean="0"/>
                        <a:t>?</a:t>
                      </a:r>
                      <a:endParaRPr lang="en-AU" dirty="0"/>
                    </a:p>
                  </a:txBody>
                  <a:tcPr/>
                </a:tc>
                <a:extLst>
                  <a:ext uri="{0D108BD9-81ED-4DB2-BD59-A6C34878D82A}">
                    <a16:rowId xmlns:a16="http://schemas.microsoft.com/office/drawing/2014/main" val="10001"/>
                  </a:ext>
                </a:extLst>
              </a:tr>
            </a:tbl>
          </a:graphicData>
        </a:graphic>
      </p:graphicFrame>
      <p:sp>
        <p:nvSpPr>
          <p:cNvPr id="2" name="TextBox 1"/>
          <p:cNvSpPr txBox="1"/>
          <p:nvPr/>
        </p:nvSpPr>
        <p:spPr>
          <a:xfrm>
            <a:off x="276093" y="1161986"/>
            <a:ext cx="7952509" cy="4708981"/>
          </a:xfrm>
          <a:prstGeom prst="rect">
            <a:avLst/>
          </a:prstGeom>
          <a:noFill/>
        </p:spPr>
        <p:txBody>
          <a:bodyPr wrap="square" rtlCol="0">
            <a:spAutoFit/>
          </a:bodyPr>
          <a:lstStyle/>
          <a:p>
            <a:r>
              <a:rPr lang="en-AU" sz="2800" b="1" dirty="0" smtClean="0">
                <a:latin typeface="Century Gothic" panose="020B0502020202020204" pitchFamily="34" charset="0"/>
              </a:rPr>
              <a:t>Emission spectra and electron shells</a:t>
            </a:r>
          </a:p>
          <a:p>
            <a:r>
              <a:rPr lang="en-AU" sz="2400" dirty="0">
                <a:hlinkClick r:id="rId3"/>
              </a:rPr>
              <a:t>https://</a:t>
            </a:r>
            <a:r>
              <a:rPr lang="en-AU" sz="2400" dirty="0" smtClean="0">
                <a:hlinkClick r:id="rId3"/>
              </a:rPr>
              <a:t>www.youtube.com/watch?v=SZ4IDPDzqJ8&amp;ab_channel=DuellChemistry</a:t>
            </a:r>
            <a:endParaRPr lang="en-AU" sz="2400" dirty="0" smtClean="0"/>
          </a:p>
          <a:p>
            <a:endParaRPr lang="en-AU" sz="2400" dirty="0"/>
          </a:p>
          <a:p>
            <a:r>
              <a:rPr lang="en-AU" sz="2000" dirty="0" smtClean="0"/>
              <a:t>When </a:t>
            </a:r>
            <a:r>
              <a:rPr lang="en-AU" sz="2000" dirty="0">
                <a:solidFill>
                  <a:schemeClr val="accent2">
                    <a:lumMod val="75000"/>
                  </a:schemeClr>
                </a:solidFill>
              </a:rPr>
              <a:t>atoms are heated in a </a:t>
            </a:r>
            <a:r>
              <a:rPr lang="en-AU" sz="2000" dirty="0" smtClean="0">
                <a:solidFill>
                  <a:schemeClr val="accent2">
                    <a:lumMod val="75000"/>
                  </a:schemeClr>
                </a:solidFill>
              </a:rPr>
              <a:t>flame</a:t>
            </a:r>
            <a:r>
              <a:rPr lang="en-AU" sz="2000" dirty="0"/>
              <a:t>, the electrons gain heat energy from the </a:t>
            </a:r>
            <a:r>
              <a:rPr lang="en-AU" sz="2000" dirty="0" smtClean="0"/>
              <a:t>flame </a:t>
            </a:r>
            <a:r>
              <a:rPr lang="en-AU" sz="2000" dirty="0"/>
              <a:t>and become </a:t>
            </a:r>
            <a:r>
              <a:rPr lang="en-AU" sz="2000" dirty="0">
                <a:solidFill>
                  <a:srgbClr val="00B0F0"/>
                </a:solidFill>
              </a:rPr>
              <a:t>‘excited’, </a:t>
            </a:r>
            <a:r>
              <a:rPr lang="en-AU" sz="2000" dirty="0"/>
              <a:t>jumping from their normal shell to one further out from the nucleus. When the electrons move back to their usual shell, this ‘extra’ energy is given back out in the form of </a:t>
            </a:r>
            <a:r>
              <a:rPr lang="en-AU" sz="2000" dirty="0" smtClean="0">
                <a:solidFill>
                  <a:srgbClr val="002060"/>
                </a:solidFill>
              </a:rPr>
              <a:t>light</a:t>
            </a:r>
            <a:r>
              <a:rPr lang="en-AU" sz="2000" dirty="0" smtClean="0"/>
              <a:t>. </a:t>
            </a:r>
          </a:p>
          <a:p>
            <a:endParaRPr lang="en-AU" sz="2000" dirty="0">
              <a:latin typeface="Century Gothic" panose="020B0502020202020204" pitchFamily="34" charset="0"/>
            </a:endParaRPr>
          </a:p>
          <a:p>
            <a:r>
              <a:rPr lang="en-AU" sz="2000" dirty="0" smtClean="0">
                <a:latin typeface="Calibri" panose="020F0502020204030204" pitchFamily="34" charset="0"/>
                <a:cs typeface="Calibri" panose="020F0502020204030204" pitchFamily="34" charset="0"/>
              </a:rPr>
              <a:t>The energy gaps between the electron shells vary from one atom to the next, so the energy released by different atoms also varies. This variation is seen as different levels of light energy, having different frequencies. </a:t>
            </a:r>
            <a:r>
              <a:rPr lang="en-AU" sz="2000" dirty="0" smtClean="0">
                <a:solidFill>
                  <a:srgbClr val="FF0000"/>
                </a:solidFill>
                <a:latin typeface="Calibri" panose="020F0502020204030204" pitchFamily="34" charset="0"/>
                <a:cs typeface="Calibri" panose="020F0502020204030204" pitchFamily="34" charset="0"/>
              </a:rPr>
              <a:t>Different frequencies of light have different colours. </a:t>
            </a:r>
            <a:r>
              <a:rPr lang="en-AU" sz="2000" dirty="0" smtClean="0">
                <a:latin typeface="Calibri" panose="020F0502020204030204" pitchFamily="34" charset="0"/>
                <a:cs typeface="Calibri" panose="020F0502020204030204" pitchFamily="34" charset="0"/>
              </a:rPr>
              <a:t>Hence the </a:t>
            </a:r>
            <a:r>
              <a:rPr lang="en-AU" sz="2000" dirty="0" smtClean="0">
                <a:solidFill>
                  <a:srgbClr val="00B050"/>
                </a:solidFill>
                <a:latin typeface="Calibri" panose="020F0502020204030204" pitchFamily="34" charset="0"/>
                <a:cs typeface="Calibri" panose="020F0502020204030204" pitchFamily="34" charset="0"/>
              </a:rPr>
              <a:t>emission spectrum </a:t>
            </a:r>
            <a:r>
              <a:rPr lang="en-AU" sz="2000" dirty="0" smtClean="0">
                <a:latin typeface="Calibri" panose="020F0502020204030204" pitchFamily="34" charset="0"/>
                <a:cs typeface="Calibri" panose="020F0502020204030204" pitchFamily="34" charset="0"/>
              </a:rPr>
              <a:t>of  each atom will be a ‘fingerprint’ of different colour patterns.</a:t>
            </a:r>
            <a:endParaRPr lang="en-AU" sz="2000"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4E3BD12B-95B6-0949-A450-7946445582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62058" y="261632"/>
            <a:ext cx="2402928" cy="800976"/>
          </a:xfrm>
          <a:prstGeom prst="rect">
            <a:avLst/>
          </a:prstGeom>
        </p:spPr>
      </p:pic>
      <p:pic>
        <p:nvPicPr>
          <p:cNvPr id="12" name="Picture 11"/>
          <p:cNvPicPr/>
          <p:nvPr/>
        </p:nvPicPr>
        <p:blipFill>
          <a:blip r:embed="rId5">
            <a:extLst>
              <a:ext uri="{28A0092B-C50C-407E-A947-70E740481C1C}">
                <a14:useLocalDpi xmlns:a14="http://schemas.microsoft.com/office/drawing/2010/main" val="0"/>
              </a:ext>
            </a:extLst>
          </a:blip>
          <a:stretch>
            <a:fillRect/>
          </a:stretch>
        </p:blipFill>
        <p:spPr>
          <a:xfrm>
            <a:off x="9535886" y="3701558"/>
            <a:ext cx="1988457" cy="3004041"/>
          </a:xfrm>
          <a:prstGeom prst="rect">
            <a:avLst/>
          </a:prstGeom>
        </p:spPr>
      </p:pic>
    </p:spTree>
    <p:extLst>
      <p:ext uri="{BB962C8B-B14F-4D97-AF65-F5344CB8AC3E}">
        <p14:creationId xmlns:p14="http://schemas.microsoft.com/office/powerpoint/2010/main" val="316328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Skill Development/Guided Practice</a:t>
            </a:r>
          </a:p>
        </p:txBody>
      </p:sp>
      <p:graphicFrame>
        <p:nvGraphicFramePr>
          <p:cNvPr id="9" name="Table 8"/>
          <p:cNvGraphicFramePr>
            <a:graphicFrameLocks noGrp="1"/>
          </p:cNvGraphicFramePr>
          <p:nvPr>
            <p:extLst>
              <p:ext uri="{D42A27DB-BD31-4B8C-83A1-F6EECF244321}">
                <p14:modId xmlns:p14="http://schemas.microsoft.com/office/powerpoint/2010/main" val="3214041972"/>
              </p:ext>
            </p:extLst>
          </p:nvPr>
        </p:nvGraphicFramePr>
        <p:xfrm>
          <a:off x="2" y="1083215"/>
          <a:ext cx="5647764" cy="1645920"/>
        </p:xfrm>
        <a:graphic>
          <a:graphicData uri="http://schemas.openxmlformats.org/drawingml/2006/table">
            <a:tbl>
              <a:tblPr firstRow="1" bandRow="1">
                <a:tableStyleId>{F5AB1C69-6EDB-4FF4-983F-18BD219EF322}</a:tableStyleId>
              </a:tblPr>
              <a:tblGrid>
                <a:gridCol w="5647764">
                  <a:extLst>
                    <a:ext uri="{9D8B030D-6E8A-4147-A177-3AD203B41FA5}">
                      <a16:colId xmlns:a16="http://schemas.microsoft.com/office/drawing/2014/main" val="20000"/>
                    </a:ext>
                  </a:extLst>
                </a:gridCol>
              </a:tblGrid>
              <a:tr h="410685">
                <a:tc>
                  <a:txBody>
                    <a:bodyPr/>
                    <a:lstStyle/>
                    <a:p>
                      <a:r>
                        <a:rPr lang="en-AU" sz="2400" dirty="0" smtClean="0"/>
                        <a:t>Describing</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electron configuration</a:t>
                      </a:r>
                    </a:p>
                    <a:p>
                      <a:pPr marL="457200" indent="-457200">
                        <a:buAutoNum type="arabicPeriod"/>
                      </a:pPr>
                      <a:r>
                        <a:rPr lang="en-AU" sz="2400" b="0" baseline="0" dirty="0" smtClean="0"/>
                        <a:t>Configuration of the nearest noble gas</a:t>
                      </a:r>
                    </a:p>
                    <a:p>
                      <a:pPr marL="457200" indent="-457200">
                        <a:buAutoNum type="arabicPeriod"/>
                      </a:pPr>
                      <a:r>
                        <a:rPr lang="en-AU" sz="2400" b="0" baseline="0" dirty="0" smtClean="0"/>
                        <a:t>The charge formed.</a:t>
                      </a: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0" name="Title 1"/>
          <p:cNvSpPr txBox="1">
            <a:spLocks/>
          </p:cNvSpPr>
          <p:nvPr/>
        </p:nvSpPr>
        <p:spPr>
          <a:xfrm>
            <a:off x="-41835" y="3810887"/>
            <a:ext cx="8695765" cy="257104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2, 8, 1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Loses one electron      +1</a:t>
            </a:r>
          </a:p>
        </p:txBody>
      </p:sp>
      <p:sp>
        <p:nvSpPr>
          <p:cNvPr id="11" name="TextBox 10"/>
          <p:cNvSpPr txBox="1"/>
          <p:nvPr/>
        </p:nvSpPr>
        <p:spPr>
          <a:xfrm>
            <a:off x="6347651" y="146085"/>
            <a:ext cx="5545525" cy="523220"/>
          </a:xfrm>
          <a:prstGeom prst="rect">
            <a:avLst/>
          </a:prstGeom>
          <a:noFill/>
        </p:spPr>
        <p:txBody>
          <a:bodyPr wrap="square" rtlCol="0">
            <a:spAutoFit/>
          </a:bodyPr>
          <a:lstStyle/>
          <a:p>
            <a:r>
              <a:rPr lang="en-AU" sz="2800" dirty="0" smtClean="0"/>
              <a:t>Element </a:t>
            </a:r>
            <a:endParaRPr lang="en-AU" sz="2800" dirty="0"/>
          </a:p>
        </p:txBody>
      </p:sp>
      <p:sp>
        <p:nvSpPr>
          <p:cNvPr id="2" name="TextBox 1"/>
          <p:cNvSpPr txBox="1"/>
          <p:nvPr/>
        </p:nvSpPr>
        <p:spPr>
          <a:xfrm>
            <a:off x="6731306" y="1083215"/>
            <a:ext cx="1608463" cy="646331"/>
          </a:xfrm>
          <a:prstGeom prst="rect">
            <a:avLst/>
          </a:prstGeom>
          <a:noFill/>
        </p:spPr>
        <p:txBody>
          <a:bodyPr wrap="square" rtlCol="0">
            <a:spAutoFit/>
          </a:bodyPr>
          <a:lstStyle/>
          <a:p>
            <a:r>
              <a:rPr lang="en-AU" sz="3600" dirty="0" smtClean="0"/>
              <a:t>Sodium</a:t>
            </a:r>
            <a:endParaRPr lang="en-AU" sz="3600" dirty="0"/>
          </a:p>
        </p:txBody>
      </p:sp>
      <p:pic>
        <p:nvPicPr>
          <p:cNvPr id="3" name="Picture 2"/>
          <p:cNvPicPr>
            <a:picLocks noChangeAspect="1"/>
          </p:cNvPicPr>
          <p:nvPr/>
        </p:nvPicPr>
        <p:blipFill>
          <a:blip r:embed="rId3"/>
          <a:stretch>
            <a:fillRect/>
          </a:stretch>
        </p:blipFill>
        <p:spPr>
          <a:xfrm>
            <a:off x="7084938" y="2210120"/>
            <a:ext cx="3238500" cy="3333750"/>
          </a:xfrm>
          <a:prstGeom prst="rect">
            <a:avLst/>
          </a:prstGeom>
        </p:spPr>
      </p:pic>
    </p:spTree>
    <p:extLst>
      <p:ext uri="{BB962C8B-B14F-4D97-AF65-F5344CB8AC3E}">
        <p14:creationId xmlns:p14="http://schemas.microsoft.com/office/powerpoint/2010/main" val="3075559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Skill Development/Guided Practice</a:t>
            </a:r>
          </a:p>
        </p:txBody>
      </p:sp>
      <p:graphicFrame>
        <p:nvGraphicFramePr>
          <p:cNvPr id="9" name="Table 8"/>
          <p:cNvGraphicFramePr>
            <a:graphicFrameLocks noGrp="1"/>
          </p:cNvGraphicFramePr>
          <p:nvPr>
            <p:extLst>
              <p:ext uri="{D42A27DB-BD31-4B8C-83A1-F6EECF244321}">
                <p14:modId xmlns:p14="http://schemas.microsoft.com/office/powerpoint/2010/main" val="2310369897"/>
              </p:ext>
            </p:extLst>
          </p:nvPr>
        </p:nvGraphicFramePr>
        <p:xfrm>
          <a:off x="2" y="1083215"/>
          <a:ext cx="5647764" cy="1645920"/>
        </p:xfrm>
        <a:graphic>
          <a:graphicData uri="http://schemas.openxmlformats.org/drawingml/2006/table">
            <a:tbl>
              <a:tblPr firstRow="1" bandRow="1">
                <a:tableStyleId>{F5AB1C69-6EDB-4FF4-983F-18BD219EF322}</a:tableStyleId>
              </a:tblPr>
              <a:tblGrid>
                <a:gridCol w="5647764">
                  <a:extLst>
                    <a:ext uri="{9D8B030D-6E8A-4147-A177-3AD203B41FA5}">
                      <a16:colId xmlns:a16="http://schemas.microsoft.com/office/drawing/2014/main" val="20000"/>
                    </a:ext>
                  </a:extLst>
                </a:gridCol>
              </a:tblGrid>
              <a:tr h="410685">
                <a:tc>
                  <a:txBody>
                    <a:bodyPr/>
                    <a:lstStyle/>
                    <a:p>
                      <a:r>
                        <a:rPr lang="en-AU" sz="2400" dirty="0" smtClean="0"/>
                        <a:t>Describing</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electron configuration</a:t>
                      </a:r>
                    </a:p>
                    <a:p>
                      <a:pPr marL="457200" indent="-457200">
                        <a:buAutoNum type="arabicPeriod"/>
                      </a:pPr>
                      <a:r>
                        <a:rPr lang="en-AU" sz="2400" b="0" baseline="0" dirty="0" smtClean="0"/>
                        <a:t>Configuration of the nearest noble gas</a:t>
                      </a:r>
                    </a:p>
                    <a:p>
                      <a:pPr marL="457200" indent="-457200">
                        <a:buAutoNum type="arabicPeriod"/>
                      </a:pPr>
                      <a:r>
                        <a:rPr lang="en-AU" sz="2400" b="0" baseline="0" dirty="0" smtClean="0"/>
                        <a:t>The charge formed.</a:t>
                      </a: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0" name="Title 1"/>
          <p:cNvSpPr txBox="1">
            <a:spLocks/>
          </p:cNvSpPr>
          <p:nvPr/>
        </p:nvSpPr>
        <p:spPr>
          <a:xfrm>
            <a:off x="-41835" y="3810887"/>
            <a:ext cx="8695765" cy="257104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2,  8,  2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Loses two electrons      +2</a:t>
            </a:r>
          </a:p>
        </p:txBody>
      </p:sp>
      <p:sp>
        <p:nvSpPr>
          <p:cNvPr id="11" name="TextBox 10"/>
          <p:cNvSpPr txBox="1"/>
          <p:nvPr/>
        </p:nvSpPr>
        <p:spPr>
          <a:xfrm>
            <a:off x="6347651" y="146085"/>
            <a:ext cx="5545525" cy="523220"/>
          </a:xfrm>
          <a:prstGeom prst="rect">
            <a:avLst/>
          </a:prstGeom>
          <a:noFill/>
        </p:spPr>
        <p:txBody>
          <a:bodyPr wrap="square" rtlCol="0">
            <a:spAutoFit/>
          </a:bodyPr>
          <a:lstStyle/>
          <a:p>
            <a:r>
              <a:rPr lang="en-AU" sz="2800" dirty="0" smtClean="0"/>
              <a:t>Element </a:t>
            </a:r>
            <a:endParaRPr lang="en-AU" sz="2800" dirty="0"/>
          </a:p>
        </p:txBody>
      </p:sp>
      <p:sp>
        <p:nvSpPr>
          <p:cNvPr id="2" name="TextBox 1"/>
          <p:cNvSpPr txBox="1"/>
          <p:nvPr/>
        </p:nvSpPr>
        <p:spPr>
          <a:xfrm>
            <a:off x="6731306" y="1083215"/>
            <a:ext cx="2622014" cy="646331"/>
          </a:xfrm>
          <a:prstGeom prst="rect">
            <a:avLst/>
          </a:prstGeom>
          <a:noFill/>
        </p:spPr>
        <p:txBody>
          <a:bodyPr wrap="square" rtlCol="0">
            <a:spAutoFit/>
          </a:bodyPr>
          <a:lstStyle/>
          <a:p>
            <a:r>
              <a:rPr lang="en-AU" sz="3600" dirty="0" smtClean="0"/>
              <a:t>Magnesium</a:t>
            </a:r>
            <a:endParaRPr lang="en-AU" sz="3600" dirty="0"/>
          </a:p>
        </p:txBody>
      </p:sp>
      <p:pic>
        <p:nvPicPr>
          <p:cNvPr id="3" name="Picture 2"/>
          <p:cNvPicPr>
            <a:picLocks noChangeAspect="1"/>
          </p:cNvPicPr>
          <p:nvPr/>
        </p:nvPicPr>
        <p:blipFill>
          <a:blip r:embed="rId3"/>
          <a:stretch>
            <a:fillRect/>
          </a:stretch>
        </p:blipFill>
        <p:spPr>
          <a:xfrm>
            <a:off x="7292762" y="2558057"/>
            <a:ext cx="3294568" cy="3398921"/>
          </a:xfrm>
          <a:prstGeom prst="rect">
            <a:avLst/>
          </a:prstGeom>
        </p:spPr>
      </p:pic>
    </p:spTree>
    <p:extLst>
      <p:ext uri="{BB962C8B-B14F-4D97-AF65-F5344CB8AC3E}">
        <p14:creationId xmlns:p14="http://schemas.microsoft.com/office/powerpoint/2010/main" val="4066331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Skill Development/Guided Practice</a:t>
            </a:r>
          </a:p>
        </p:txBody>
      </p:sp>
      <p:graphicFrame>
        <p:nvGraphicFramePr>
          <p:cNvPr id="9" name="Table 8"/>
          <p:cNvGraphicFramePr>
            <a:graphicFrameLocks noGrp="1"/>
          </p:cNvGraphicFramePr>
          <p:nvPr>
            <p:extLst>
              <p:ext uri="{D42A27DB-BD31-4B8C-83A1-F6EECF244321}">
                <p14:modId xmlns:p14="http://schemas.microsoft.com/office/powerpoint/2010/main" val="2289158288"/>
              </p:ext>
            </p:extLst>
          </p:nvPr>
        </p:nvGraphicFramePr>
        <p:xfrm>
          <a:off x="2" y="1083215"/>
          <a:ext cx="5647764" cy="1645920"/>
        </p:xfrm>
        <a:graphic>
          <a:graphicData uri="http://schemas.openxmlformats.org/drawingml/2006/table">
            <a:tbl>
              <a:tblPr firstRow="1" bandRow="1">
                <a:tableStyleId>{F5AB1C69-6EDB-4FF4-983F-18BD219EF322}</a:tableStyleId>
              </a:tblPr>
              <a:tblGrid>
                <a:gridCol w="5647764">
                  <a:extLst>
                    <a:ext uri="{9D8B030D-6E8A-4147-A177-3AD203B41FA5}">
                      <a16:colId xmlns:a16="http://schemas.microsoft.com/office/drawing/2014/main" val="20000"/>
                    </a:ext>
                  </a:extLst>
                </a:gridCol>
              </a:tblGrid>
              <a:tr h="410685">
                <a:tc>
                  <a:txBody>
                    <a:bodyPr/>
                    <a:lstStyle/>
                    <a:p>
                      <a:r>
                        <a:rPr lang="en-AU" sz="2400" dirty="0" smtClean="0"/>
                        <a:t>Describing</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electron configuration</a:t>
                      </a:r>
                    </a:p>
                    <a:p>
                      <a:pPr marL="457200" indent="-457200">
                        <a:buAutoNum type="arabicPeriod"/>
                      </a:pPr>
                      <a:r>
                        <a:rPr lang="en-AU" sz="2400" b="0" baseline="0" dirty="0" smtClean="0"/>
                        <a:t>Configuration of the nearest noble gas</a:t>
                      </a:r>
                    </a:p>
                    <a:p>
                      <a:pPr marL="457200" indent="-457200">
                        <a:buAutoNum type="arabicPeriod"/>
                      </a:pPr>
                      <a:r>
                        <a:rPr lang="en-AU" sz="2400" b="0" baseline="0" dirty="0" smtClean="0"/>
                        <a:t>The charge formed.</a:t>
                      </a: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0" name="Title 1"/>
          <p:cNvSpPr txBox="1">
            <a:spLocks/>
          </p:cNvSpPr>
          <p:nvPr/>
        </p:nvSpPr>
        <p:spPr>
          <a:xfrm>
            <a:off x="-41835" y="3810887"/>
            <a:ext cx="8695765" cy="257104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2, 7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gains one electron      -1</a:t>
            </a:r>
          </a:p>
        </p:txBody>
      </p:sp>
      <p:sp>
        <p:nvSpPr>
          <p:cNvPr id="11" name="TextBox 10"/>
          <p:cNvSpPr txBox="1"/>
          <p:nvPr/>
        </p:nvSpPr>
        <p:spPr>
          <a:xfrm>
            <a:off x="6347651" y="146085"/>
            <a:ext cx="5545525" cy="523220"/>
          </a:xfrm>
          <a:prstGeom prst="rect">
            <a:avLst/>
          </a:prstGeom>
          <a:noFill/>
        </p:spPr>
        <p:txBody>
          <a:bodyPr wrap="square" rtlCol="0">
            <a:spAutoFit/>
          </a:bodyPr>
          <a:lstStyle/>
          <a:p>
            <a:r>
              <a:rPr lang="en-AU" sz="2800" dirty="0" smtClean="0"/>
              <a:t>Element </a:t>
            </a:r>
            <a:endParaRPr lang="en-AU" sz="2800" dirty="0"/>
          </a:p>
        </p:txBody>
      </p:sp>
      <p:sp>
        <p:nvSpPr>
          <p:cNvPr id="2" name="TextBox 1"/>
          <p:cNvSpPr txBox="1"/>
          <p:nvPr/>
        </p:nvSpPr>
        <p:spPr>
          <a:xfrm>
            <a:off x="6731306" y="1083215"/>
            <a:ext cx="2622014" cy="646331"/>
          </a:xfrm>
          <a:prstGeom prst="rect">
            <a:avLst/>
          </a:prstGeom>
          <a:noFill/>
        </p:spPr>
        <p:txBody>
          <a:bodyPr wrap="square" rtlCol="0">
            <a:spAutoFit/>
          </a:bodyPr>
          <a:lstStyle/>
          <a:p>
            <a:r>
              <a:rPr lang="en-AU" sz="3600" dirty="0" smtClean="0"/>
              <a:t>Fluorine</a:t>
            </a:r>
            <a:endParaRPr lang="en-AU" sz="3600" dirty="0"/>
          </a:p>
        </p:txBody>
      </p:sp>
      <p:pic>
        <p:nvPicPr>
          <p:cNvPr id="3" name="Picture 2"/>
          <p:cNvPicPr>
            <a:picLocks noChangeAspect="1"/>
          </p:cNvPicPr>
          <p:nvPr/>
        </p:nvPicPr>
        <p:blipFill>
          <a:blip r:embed="rId3"/>
          <a:stretch>
            <a:fillRect/>
          </a:stretch>
        </p:blipFill>
        <p:spPr>
          <a:xfrm>
            <a:off x="7315200" y="2418326"/>
            <a:ext cx="2928330" cy="2941403"/>
          </a:xfrm>
          <a:prstGeom prst="rect">
            <a:avLst/>
          </a:prstGeom>
        </p:spPr>
      </p:pic>
    </p:spTree>
    <p:extLst>
      <p:ext uri="{BB962C8B-B14F-4D97-AF65-F5344CB8AC3E}">
        <p14:creationId xmlns:p14="http://schemas.microsoft.com/office/powerpoint/2010/main" val="416922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Skill Development/Guided Practice</a:t>
            </a:r>
          </a:p>
        </p:txBody>
      </p:sp>
      <p:graphicFrame>
        <p:nvGraphicFramePr>
          <p:cNvPr id="9" name="Table 8"/>
          <p:cNvGraphicFramePr>
            <a:graphicFrameLocks noGrp="1"/>
          </p:cNvGraphicFramePr>
          <p:nvPr>
            <p:extLst>
              <p:ext uri="{D42A27DB-BD31-4B8C-83A1-F6EECF244321}">
                <p14:modId xmlns:p14="http://schemas.microsoft.com/office/powerpoint/2010/main" val="1038515929"/>
              </p:ext>
            </p:extLst>
          </p:nvPr>
        </p:nvGraphicFramePr>
        <p:xfrm>
          <a:off x="2" y="1083215"/>
          <a:ext cx="5647764" cy="1645920"/>
        </p:xfrm>
        <a:graphic>
          <a:graphicData uri="http://schemas.openxmlformats.org/drawingml/2006/table">
            <a:tbl>
              <a:tblPr firstRow="1" bandRow="1">
                <a:tableStyleId>{F5AB1C69-6EDB-4FF4-983F-18BD219EF322}</a:tableStyleId>
              </a:tblPr>
              <a:tblGrid>
                <a:gridCol w="5647764">
                  <a:extLst>
                    <a:ext uri="{9D8B030D-6E8A-4147-A177-3AD203B41FA5}">
                      <a16:colId xmlns:a16="http://schemas.microsoft.com/office/drawing/2014/main" val="20000"/>
                    </a:ext>
                  </a:extLst>
                </a:gridCol>
              </a:tblGrid>
              <a:tr h="410685">
                <a:tc>
                  <a:txBody>
                    <a:bodyPr/>
                    <a:lstStyle/>
                    <a:p>
                      <a:r>
                        <a:rPr lang="en-AU" sz="2400" dirty="0" smtClean="0"/>
                        <a:t>Describing</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electron configuration</a:t>
                      </a:r>
                    </a:p>
                    <a:p>
                      <a:pPr marL="457200" indent="-457200">
                        <a:buAutoNum type="arabicPeriod"/>
                      </a:pPr>
                      <a:r>
                        <a:rPr lang="en-AU" sz="2400" b="0" baseline="0" dirty="0" smtClean="0"/>
                        <a:t>Configuration of the nearest noble gas</a:t>
                      </a:r>
                    </a:p>
                    <a:p>
                      <a:pPr marL="457200" indent="-457200">
                        <a:buAutoNum type="arabicPeriod"/>
                      </a:pPr>
                      <a:r>
                        <a:rPr lang="en-AU" sz="2400" b="0" baseline="0" dirty="0" smtClean="0"/>
                        <a:t>The charge formed.</a:t>
                      </a: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0" name="Title 1"/>
          <p:cNvSpPr txBox="1">
            <a:spLocks/>
          </p:cNvSpPr>
          <p:nvPr/>
        </p:nvSpPr>
        <p:spPr>
          <a:xfrm>
            <a:off x="-41835" y="3810887"/>
            <a:ext cx="8695765" cy="257104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2, 8,  8, 1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2, 8, 8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Loses one electron      +1</a:t>
            </a:r>
          </a:p>
        </p:txBody>
      </p:sp>
      <p:sp>
        <p:nvSpPr>
          <p:cNvPr id="11" name="TextBox 10"/>
          <p:cNvSpPr txBox="1"/>
          <p:nvPr/>
        </p:nvSpPr>
        <p:spPr>
          <a:xfrm>
            <a:off x="6347651" y="146085"/>
            <a:ext cx="5545525" cy="523220"/>
          </a:xfrm>
          <a:prstGeom prst="rect">
            <a:avLst/>
          </a:prstGeom>
          <a:noFill/>
        </p:spPr>
        <p:txBody>
          <a:bodyPr wrap="square" rtlCol="0">
            <a:spAutoFit/>
          </a:bodyPr>
          <a:lstStyle/>
          <a:p>
            <a:r>
              <a:rPr lang="en-AU" sz="2800" dirty="0" smtClean="0"/>
              <a:t>Element </a:t>
            </a:r>
            <a:endParaRPr lang="en-AU" sz="2800" dirty="0"/>
          </a:p>
        </p:txBody>
      </p:sp>
      <p:sp>
        <p:nvSpPr>
          <p:cNvPr id="2" name="TextBox 1"/>
          <p:cNvSpPr txBox="1"/>
          <p:nvPr/>
        </p:nvSpPr>
        <p:spPr>
          <a:xfrm>
            <a:off x="6731306" y="1083215"/>
            <a:ext cx="2622014" cy="646331"/>
          </a:xfrm>
          <a:prstGeom prst="rect">
            <a:avLst/>
          </a:prstGeom>
          <a:noFill/>
        </p:spPr>
        <p:txBody>
          <a:bodyPr wrap="square" rtlCol="0">
            <a:spAutoFit/>
          </a:bodyPr>
          <a:lstStyle/>
          <a:p>
            <a:r>
              <a:rPr lang="en-AU" sz="3600" dirty="0" smtClean="0"/>
              <a:t>Potassium</a:t>
            </a:r>
            <a:endParaRPr lang="en-AU" sz="3600" dirty="0"/>
          </a:p>
        </p:txBody>
      </p:sp>
      <p:pic>
        <p:nvPicPr>
          <p:cNvPr id="3" name="Picture 2"/>
          <p:cNvPicPr>
            <a:picLocks noChangeAspect="1"/>
          </p:cNvPicPr>
          <p:nvPr/>
        </p:nvPicPr>
        <p:blipFill>
          <a:blip r:embed="rId3"/>
          <a:stretch>
            <a:fillRect/>
          </a:stretch>
        </p:blipFill>
        <p:spPr>
          <a:xfrm>
            <a:off x="6756851" y="2143456"/>
            <a:ext cx="3794157" cy="3873578"/>
          </a:xfrm>
          <a:prstGeom prst="rect">
            <a:avLst/>
          </a:prstGeom>
        </p:spPr>
      </p:pic>
    </p:spTree>
    <p:extLst>
      <p:ext uri="{BB962C8B-B14F-4D97-AF65-F5344CB8AC3E}">
        <p14:creationId xmlns:p14="http://schemas.microsoft.com/office/powerpoint/2010/main" val="2347962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Skill Development/Guided Practice</a:t>
            </a:r>
          </a:p>
        </p:txBody>
      </p:sp>
      <p:graphicFrame>
        <p:nvGraphicFramePr>
          <p:cNvPr id="9" name="Table 8"/>
          <p:cNvGraphicFramePr>
            <a:graphicFrameLocks noGrp="1"/>
          </p:cNvGraphicFramePr>
          <p:nvPr>
            <p:extLst>
              <p:ext uri="{D42A27DB-BD31-4B8C-83A1-F6EECF244321}">
                <p14:modId xmlns:p14="http://schemas.microsoft.com/office/powerpoint/2010/main" val="85254992"/>
              </p:ext>
            </p:extLst>
          </p:nvPr>
        </p:nvGraphicFramePr>
        <p:xfrm>
          <a:off x="2" y="1083215"/>
          <a:ext cx="5647764" cy="1645920"/>
        </p:xfrm>
        <a:graphic>
          <a:graphicData uri="http://schemas.openxmlformats.org/drawingml/2006/table">
            <a:tbl>
              <a:tblPr firstRow="1" bandRow="1">
                <a:tableStyleId>{F5AB1C69-6EDB-4FF4-983F-18BD219EF322}</a:tableStyleId>
              </a:tblPr>
              <a:tblGrid>
                <a:gridCol w="5647764">
                  <a:extLst>
                    <a:ext uri="{9D8B030D-6E8A-4147-A177-3AD203B41FA5}">
                      <a16:colId xmlns:a16="http://schemas.microsoft.com/office/drawing/2014/main" val="20000"/>
                    </a:ext>
                  </a:extLst>
                </a:gridCol>
              </a:tblGrid>
              <a:tr h="410685">
                <a:tc>
                  <a:txBody>
                    <a:bodyPr/>
                    <a:lstStyle/>
                    <a:p>
                      <a:r>
                        <a:rPr lang="en-AU" sz="2400" dirty="0" smtClean="0"/>
                        <a:t>Describing</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electron configuration</a:t>
                      </a:r>
                    </a:p>
                    <a:p>
                      <a:pPr marL="457200" indent="-457200">
                        <a:buAutoNum type="arabicPeriod"/>
                      </a:pPr>
                      <a:r>
                        <a:rPr lang="en-AU" sz="2400" b="0" baseline="0" dirty="0" smtClean="0"/>
                        <a:t>Configuration of the nearest noble gas</a:t>
                      </a:r>
                    </a:p>
                    <a:p>
                      <a:pPr marL="457200" indent="-457200">
                        <a:buAutoNum type="arabicPeriod"/>
                      </a:pPr>
                      <a:r>
                        <a:rPr lang="en-AU" sz="2400" b="0" baseline="0" dirty="0" smtClean="0"/>
                        <a:t>The charge formed.</a:t>
                      </a: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0" name="Title 1"/>
          <p:cNvSpPr txBox="1">
            <a:spLocks/>
          </p:cNvSpPr>
          <p:nvPr/>
        </p:nvSpPr>
        <p:spPr>
          <a:xfrm>
            <a:off x="-41835" y="3810887"/>
            <a:ext cx="8695765" cy="257104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2, 8,  5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2, 8, 8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gains three electrons      -</a:t>
            </a:r>
            <a:r>
              <a:rPr lang="en-AU" sz="2800" dirty="0">
                <a:solidFill>
                  <a:srgbClr val="00B050"/>
                </a:solidFill>
                <a:latin typeface="+mn-lt"/>
                <a:sym typeface="Wingdings" panose="05000000000000000000" pitchFamily="2" charset="2"/>
              </a:rPr>
              <a:t>3</a:t>
            </a:r>
            <a:endParaRPr lang="en-AU" sz="2800" dirty="0" smtClean="0">
              <a:solidFill>
                <a:srgbClr val="00B050"/>
              </a:solidFill>
              <a:latin typeface="+mn-lt"/>
              <a:sym typeface="Wingdings" panose="05000000000000000000" pitchFamily="2" charset="2"/>
            </a:endParaRPr>
          </a:p>
        </p:txBody>
      </p:sp>
      <p:sp>
        <p:nvSpPr>
          <p:cNvPr id="11" name="TextBox 10"/>
          <p:cNvSpPr txBox="1"/>
          <p:nvPr/>
        </p:nvSpPr>
        <p:spPr>
          <a:xfrm>
            <a:off x="6347651" y="146085"/>
            <a:ext cx="5545525" cy="523220"/>
          </a:xfrm>
          <a:prstGeom prst="rect">
            <a:avLst/>
          </a:prstGeom>
          <a:noFill/>
        </p:spPr>
        <p:txBody>
          <a:bodyPr wrap="square" rtlCol="0">
            <a:spAutoFit/>
          </a:bodyPr>
          <a:lstStyle/>
          <a:p>
            <a:r>
              <a:rPr lang="en-AU" sz="2800" dirty="0" smtClean="0"/>
              <a:t>Element </a:t>
            </a:r>
            <a:endParaRPr lang="en-AU" sz="2800" dirty="0"/>
          </a:p>
        </p:txBody>
      </p:sp>
      <p:sp>
        <p:nvSpPr>
          <p:cNvPr id="2" name="TextBox 1"/>
          <p:cNvSpPr txBox="1"/>
          <p:nvPr/>
        </p:nvSpPr>
        <p:spPr>
          <a:xfrm>
            <a:off x="6731306" y="1083215"/>
            <a:ext cx="2622014" cy="646331"/>
          </a:xfrm>
          <a:prstGeom prst="rect">
            <a:avLst/>
          </a:prstGeom>
          <a:noFill/>
        </p:spPr>
        <p:txBody>
          <a:bodyPr wrap="square" rtlCol="0">
            <a:spAutoFit/>
          </a:bodyPr>
          <a:lstStyle/>
          <a:p>
            <a:r>
              <a:rPr lang="en-AU" sz="3600" dirty="0" smtClean="0"/>
              <a:t>Phosphorus</a:t>
            </a:r>
            <a:endParaRPr lang="en-AU" sz="3600" dirty="0"/>
          </a:p>
        </p:txBody>
      </p:sp>
    </p:spTree>
    <p:extLst>
      <p:ext uri="{BB962C8B-B14F-4D97-AF65-F5344CB8AC3E}">
        <p14:creationId xmlns:p14="http://schemas.microsoft.com/office/powerpoint/2010/main" val="1361124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Skill Development/Guided Practice</a:t>
            </a:r>
          </a:p>
        </p:txBody>
      </p:sp>
      <p:graphicFrame>
        <p:nvGraphicFramePr>
          <p:cNvPr id="9" name="Table 8"/>
          <p:cNvGraphicFramePr>
            <a:graphicFrameLocks noGrp="1"/>
          </p:cNvGraphicFramePr>
          <p:nvPr>
            <p:extLst>
              <p:ext uri="{D42A27DB-BD31-4B8C-83A1-F6EECF244321}">
                <p14:modId xmlns:p14="http://schemas.microsoft.com/office/powerpoint/2010/main" val="739381825"/>
              </p:ext>
            </p:extLst>
          </p:nvPr>
        </p:nvGraphicFramePr>
        <p:xfrm>
          <a:off x="2" y="1083215"/>
          <a:ext cx="5647764" cy="1645920"/>
        </p:xfrm>
        <a:graphic>
          <a:graphicData uri="http://schemas.openxmlformats.org/drawingml/2006/table">
            <a:tbl>
              <a:tblPr firstRow="1" bandRow="1">
                <a:tableStyleId>{F5AB1C69-6EDB-4FF4-983F-18BD219EF322}</a:tableStyleId>
              </a:tblPr>
              <a:tblGrid>
                <a:gridCol w="5647764">
                  <a:extLst>
                    <a:ext uri="{9D8B030D-6E8A-4147-A177-3AD203B41FA5}">
                      <a16:colId xmlns:a16="http://schemas.microsoft.com/office/drawing/2014/main" val="20000"/>
                    </a:ext>
                  </a:extLst>
                </a:gridCol>
              </a:tblGrid>
              <a:tr h="410685">
                <a:tc>
                  <a:txBody>
                    <a:bodyPr/>
                    <a:lstStyle/>
                    <a:p>
                      <a:r>
                        <a:rPr lang="en-AU" sz="2400" dirty="0" smtClean="0"/>
                        <a:t>Describing</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electron configuration</a:t>
                      </a:r>
                    </a:p>
                    <a:p>
                      <a:pPr marL="457200" indent="-457200">
                        <a:buAutoNum type="arabicPeriod"/>
                      </a:pPr>
                      <a:r>
                        <a:rPr lang="en-AU" sz="2400" b="0" baseline="0" dirty="0" smtClean="0"/>
                        <a:t>Configuration of the nearest noble gas</a:t>
                      </a:r>
                    </a:p>
                    <a:p>
                      <a:pPr marL="457200" indent="-457200">
                        <a:buAutoNum type="arabicPeriod"/>
                      </a:pPr>
                      <a:r>
                        <a:rPr lang="en-AU" sz="2400" b="0" baseline="0" dirty="0" smtClean="0"/>
                        <a:t>The charge formed.</a:t>
                      </a: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0" name="Title 1"/>
          <p:cNvSpPr txBox="1">
            <a:spLocks/>
          </p:cNvSpPr>
          <p:nvPr/>
        </p:nvSpPr>
        <p:spPr>
          <a:xfrm>
            <a:off x="-41835" y="3810887"/>
            <a:ext cx="8695765" cy="257104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2, 3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Loses three electrons      +3</a:t>
            </a:r>
          </a:p>
        </p:txBody>
      </p:sp>
      <p:sp>
        <p:nvSpPr>
          <p:cNvPr id="11" name="TextBox 10"/>
          <p:cNvSpPr txBox="1"/>
          <p:nvPr/>
        </p:nvSpPr>
        <p:spPr>
          <a:xfrm>
            <a:off x="6347651" y="146085"/>
            <a:ext cx="5545525" cy="523220"/>
          </a:xfrm>
          <a:prstGeom prst="rect">
            <a:avLst/>
          </a:prstGeom>
          <a:noFill/>
        </p:spPr>
        <p:txBody>
          <a:bodyPr wrap="square" rtlCol="0">
            <a:spAutoFit/>
          </a:bodyPr>
          <a:lstStyle/>
          <a:p>
            <a:r>
              <a:rPr lang="en-AU" sz="2800" dirty="0" smtClean="0"/>
              <a:t>Element </a:t>
            </a:r>
            <a:endParaRPr lang="en-AU" sz="2800" dirty="0"/>
          </a:p>
        </p:txBody>
      </p:sp>
      <p:sp>
        <p:nvSpPr>
          <p:cNvPr id="2" name="TextBox 1"/>
          <p:cNvSpPr txBox="1"/>
          <p:nvPr/>
        </p:nvSpPr>
        <p:spPr>
          <a:xfrm>
            <a:off x="6731306" y="1083215"/>
            <a:ext cx="2622014" cy="646331"/>
          </a:xfrm>
          <a:prstGeom prst="rect">
            <a:avLst/>
          </a:prstGeom>
          <a:noFill/>
        </p:spPr>
        <p:txBody>
          <a:bodyPr wrap="square" rtlCol="0">
            <a:spAutoFit/>
          </a:bodyPr>
          <a:lstStyle/>
          <a:p>
            <a:r>
              <a:rPr lang="en-AU" sz="3600" dirty="0" smtClean="0"/>
              <a:t>Boron</a:t>
            </a:r>
            <a:endParaRPr lang="en-AU" sz="3600" dirty="0"/>
          </a:p>
        </p:txBody>
      </p:sp>
    </p:spTree>
    <p:extLst>
      <p:ext uri="{BB962C8B-B14F-4D97-AF65-F5344CB8AC3E}">
        <p14:creationId xmlns:p14="http://schemas.microsoft.com/office/powerpoint/2010/main" val="16177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Skill Development/Guided Practice</a:t>
            </a:r>
          </a:p>
        </p:txBody>
      </p:sp>
      <p:graphicFrame>
        <p:nvGraphicFramePr>
          <p:cNvPr id="9" name="Table 8"/>
          <p:cNvGraphicFramePr>
            <a:graphicFrameLocks noGrp="1"/>
          </p:cNvGraphicFramePr>
          <p:nvPr>
            <p:extLst>
              <p:ext uri="{D42A27DB-BD31-4B8C-83A1-F6EECF244321}">
                <p14:modId xmlns:p14="http://schemas.microsoft.com/office/powerpoint/2010/main" val="881760370"/>
              </p:ext>
            </p:extLst>
          </p:nvPr>
        </p:nvGraphicFramePr>
        <p:xfrm>
          <a:off x="2" y="1083215"/>
          <a:ext cx="5647764" cy="1645920"/>
        </p:xfrm>
        <a:graphic>
          <a:graphicData uri="http://schemas.openxmlformats.org/drawingml/2006/table">
            <a:tbl>
              <a:tblPr firstRow="1" bandRow="1">
                <a:tableStyleId>{F5AB1C69-6EDB-4FF4-983F-18BD219EF322}</a:tableStyleId>
              </a:tblPr>
              <a:tblGrid>
                <a:gridCol w="5647764">
                  <a:extLst>
                    <a:ext uri="{9D8B030D-6E8A-4147-A177-3AD203B41FA5}">
                      <a16:colId xmlns:a16="http://schemas.microsoft.com/office/drawing/2014/main" val="20000"/>
                    </a:ext>
                  </a:extLst>
                </a:gridCol>
              </a:tblGrid>
              <a:tr h="410685">
                <a:tc>
                  <a:txBody>
                    <a:bodyPr/>
                    <a:lstStyle/>
                    <a:p>
                      <a:r>
                        <a:rPr lang="en-AU" sz="2400" dirty="0" smtClean="0"/>
                        <a:t>Describing</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electron configuration</a:t>
                      </a:r>
                    </a:p>
                    <a:p>
                      <a:pPr marL="457200" indent="-457200">
                        <a:buAutoNum type="arabicPeriod"/>
                      </a:pPr>
                      <a:r>
                        <a:rPr lang="en-AU" sz="2400" b="0" baseline="0" dirty="0" smtClean="0"/>
                        <a:t>Configuration of the nearest noble gas</a:t>
                      </a:r>
                    </a:p>
                    <a:p>
                      <a:pPr marL="457200" indent="-457200">
                        <a:buAutoNum type="arabicPeriod"/>
                      </a:pPr>
                      <a:r>
                        <a:rPr lang="en-AU" sz="2400" b="0" baseline="0" dirty="0" smtClean="0"/>
                        <a:t>The charge formed.</a:t>
                      </a: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0" name="Title 1"/>
          <p:cNvSpPr txBox="1">
            <a:spLocks/>
          </p:cNvSpPr>
          <p:nvPr/>
        </p:nvSpPr>
        <p:spPr>
          <a:xfrm>
            <a:off x="-41835" y="3810887"/>
            <a:ext cx="8695765" cy="257104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2, 8,  7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2, 8, 8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gains one electron      -1</a:t>
            </a:r>
          </a:p>
        </p:txBody>
      </p:sp>
      <p:sp>
        <p:nvSpPr>
          <p:cNvPr id="11" name="TextBox 10"/>
          <p:cNvSpPr txBox="1"/>
          <p:nvPr/>
        </p:nvSpPr>
        <p:spPr>
          <a:xfrm>
            <a:off x="6347651" y="146085"/>
            <a:ext cx="5545525" cy="523220"/>
          </a:xfrm>
          <a:prstGeom prst="rect">
            <a:avLst/>
          </a:prstGeom>
          <a:noFill/>
        </p:spPr>
        <p:txBody>
          <a:bodyPr wrap="square" rtlCol="0">
            <a:spAutoFit/>
          </a:bodyPr>
          <a:lstStyle/>
          <a:p>
            <a:r>
              <a:rPr lang="en-AU" sz="2800" dirty="0" smtClean="0"/>
              <a:t>Element </a:t>
            </a:r>
            <a:endParaRPr lang="en-AU" sz="2800" dirty="0"/>
          </a:p>
        </p:txBody>
      </p:sp>
      <p:sp>
        <p:nvSpPr>
          <p:cNvPr id="3" name="TextBox 2"/>
          <p:cNvSpPr txBox="1"/>
          <p:nvPr/>
        </p:nvSpPr>
        <p:spPr>
          <a:xfrm>
            <a:off x="6984694" y="1083215"/>
            <a:ext cx="2236424" cy="646331"/>
          </a:xfrm>
          <a:prstGeom prst="rect">
            <a:avLst/>
          </a:prstGeom>
          <a:noFill/>
        </p:spPr>
        <p:txBody>
          <a:bodyPr wrap="square" rtlCol="0">
            <a:spAutoFit/>
          </a:bodyPr>
          <a:lstStyle/>
          <a:p>
            <a:r>
              <a:rPr lang="en-AU" sz="3600" dirty="0" smtClean="0"/>
              <a:t>Chlorine</a:t>
            </a:r>
            <a:endParaRPr lang="en-AU" sz="3600" dirty="0"/>
          </a:p>
        </p:txBody>
      </p:sp>
    </p:spTree>
    <p:extLst>
      <p:ext uri="{BB962C8B-B14F-4D97-AF65-F5344CB8AC3E}">
        <p14:creationId xmlns:p14="http://schemas.microsoft.com/office/powerpoint/2010/main" val="1829336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Skill Development/Guided Practice</a:t>
            </a:r>
          </a:p>
        </p:txBody>
      </p:sp>
      <p:graphicFrame>
        <p:nvGraphicFramePr>
          <p:cNvPr id="9" name="Table 8"/>
          <p:cNvGraphicFramePr>
            <a:graphicFrameLocks noGrp="1"/>
          </p:cNvGraphicFramePr>
          <p:nvPr>
            <p:extLst>
              <p:ext uri="{D42A27DB-BD31-4B8C-83A1-F6EECF244321}">
                <p14:modId xmlns:p14="http://schemas.microsoft.com/office/powerpoint/2010/main" val="4052819988"/>
              </p:ext>
            </p:extLst>
          </p:nvPr>
        </p:nvGraphicFramePr>
        <p:xfrm>
          <a:off x="2" y="1083215"/>
          <a:ext cx="5647764" cy="1645920"/>
        </p:xfrm>
        <a:graphic>
          <a:graphicData uri="http://schemas.openxmlformats.org/drawingml/2006/table">
            <a:tbl>
              <a:tblPr firstRow="1" bandRow="1">
                <a:tableStyleId>{F5AB1C69-6EDB-4FF4-983F-18BD219EF322}</a:tableStyleId>
              </a:tblPr>
              <a:tblGrid>
                <a:gridCol w="5647764">
                  <a:extLst>
                    <a:ext uri="{9D8B030D-6E8A-4147-A177-3AD203B41FA5}">
                      <a16:colId xmlns:a16="http://schemas.microsoft.com/office/drawing/2014/main" val="20000"/>
                    </a:ext>
                  </a:extLst>
                </a:gridCol>
              </a:tblGrid>
              <a:tr h="410685">
                <a:tc>
                  <a:txBody>
                    <a:bodyPr/>
                    <a:lstStyle/>
                    <a:p>
                      <a:r>
                        <a:rPr lang="en-AU" sz="2400" dirty="0" smtClean="0"/>
                        <a:t>Describing</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electron configuration</a:t>
                      </a:r>
                    </a:p>
                    <a:p>
                      <a:pPr marL="457200" indent="-457200">
                        <a:buAutoNum type="arabicPeriod"/>
                      </a:pPr>
                      <a:r>
                        <a:rPr lang="en-AU" sz="2400" b="0" baseline="0" dirty="0" smtClean="0"/>
                        <a:t>Configuration of the nearest noble gas</a:t>
                      </a:r>
                    </a:p>
                    <a:p>
                      <a:pPr marL="457200" indent="-457200">
                        <a:buAutoNum type="arabicPeriod"/>
                      </a:pPr>
                      <a:r>
                        <a:rPr lang="en-AU" sz="2400" b="0" baseline="0" dirty="0" smtClean="0"/>
                        <a:t>The charge formed.</a:t>
                      </a: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0" name="Title 1"/>
          <p:cNvSpPr txBox="1">
            <a:spLocks/>
          </p:cNvSpPr>
          <p:nvPr/>
        </p:nvSpPr>
        <p:spPr>
          <a:xfrm>
            <a:off x="-41835" y="3810887"/>
            <a:ext cx="8695765" cy="257104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2, 8,  8, 2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2, 8, 8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Loses two electrons      +2</a:t>
            </a:r>
          </a:p>
        </p:txBody>
      </p:sp>
      <p:sp>
        <p:nvSpPr>
          <p:cNvPr id="11" name="TextBox 10"/>
          <p:cNvSpPr txBox="1"/>
          <p:nvPr/>
        </p:nvSpPr>
        <p:spPr>
          <a:xfrm>
            <a:off x="6347651" y="146085"/>
            <a:ext cx="5545525" cy="523220"/>
          </a:xfrm>
          <a:prstGeom prst="rect">
            <a:avLst/>
          </a:prstGeom>
          <a:noFill/>
        </p:spPr>
        <p:txBody>
          <a:bodyPr wrap="square" rtlCol="0">
            <a:spAutoFit/>
          </a:bodyPr>
          <a:lstStyle/>
          <a:p>
            <a:r>
              <a:rPr lang="en-AU" sz="2800" dirty="0" smtClean="0"/>
              <a:t>Element </a:t>
            </a:r>
            <a:endParaRPr lang="en-AU" sz="2800" dirty="0"/>
          </a:p>
        </p:txBody>
      </p:sp>
      <p:sp>
        <p:nvSpPr>
          <p:cNvPr id="2" name="TextBox 1"/>
          <p:cNvSpPr txBox="1"/>
          <p:nvPr/>
        </p:nvSpPr>
        <p:spPr>
          <a:xfrm>
            <a:off x="6731306" y="1083215"/>
            <a:ext cx="2622014" cy="646331"/>
          </a:xfrm>
          <a:prstGeom prst="rect">
            <a:avLst/>
          </a:prstGeom>
          <a:noFill/>
        </p:spPr>
        <p:txBody>
          <a:bodyPr wrap="square" rtlCol="0">
            <a:spAutoFit/>
          </a:bodyPr>
          <a:lstStyle/>
          <a:p>
            <a:r>
              <a:rPr lang="en-AU" sz="3600" dirty="0" smtClean="0"/>
              <a:t>Calcium</a:t>
            </a:r>
            <a:endParaRPr lang="en-AU" sz="3600" dirty="0"/>
          </a:p>
        </p:txBody>
      </p:sp>
    </p:spTree>
    <p:extLst>
      <p:ext uri="{BB962C8B-B14F-4D97-AF65-F5344CB8AC3E}">
        <p14:creationId xmlns:p14="http://schemas.microsoft.com/office/powerpoint/2010/main" val="180751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Skill Development/Guided Practice</a:t>
            </a:r>
          </a:p>
        </p:txBody>
      </p:sp>
      <p:graphicFrame>
        <p:nvGraphicFramePr>
          <p:cNvPr id="9" name="Table 8"/>
          <p:cNvGraphicFramePr>
            <a:graphicFrameLocks noGrp="1"/>
          </p:cNvGraphicFramePr>
          <p:nvPr>
            <p:extLst>
              <p:ext uri="{D42A27DB-BD31-4B8C-83A1-F6EECF244321}">
                <p14:modId xmlns:p14="http://schemas.microsoft.com/office/powerpoint/2010/main" val="3838876034"/>
              </p:ext>
            </p:extLst>
          </p:nvPr>
        </p:nvGraphicFramePr>
        <p:xfrm>
          <a:off x="2" y="1083215"/>
          <a:ext cx="5647764" cy="1645920"/>
        </p:xfrm>
        <a:graphic>
          <a:graphicData uri="http://schemas.openxmlformats.org/drawingml/2006/table">
            <a:tbl>
              <a:tblPr firstRow="1" bandRow="1">
                <a:tableStyleId>{F5AB1C69-6EDB-4FF4-983F-18BD219EF322}</a:tableStyleId>
              </a:tblPr>
              <a:tblGrid>
                <a:gridCol w="5647764">
                  <a:extLst>
                    <a:ext uri="{9D8B030D-6E8A-4147-A177-3AD203B41FA5}">
                      <a16:colId xmlns:a16="http://schemas.microsoft.com/office/drawing/2014/main" val="20000"/>
                    </a:ext>
                  </a:extLst>
                </a:gridCol>
              </a:tblGrid>
              <a:tr h="410685">
                <a:tc>
                  <a:txBody>
                    <a:bodyPr/>
                    <a:lstStyle/>
                    <a:p>
                      <a:r>
                        <a:rPr lang="en-AU" sz="2400" dirty="0" smtClean="0"/>
                        <a:t>Describing</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electron configuration</a:t>
                      </a:r>
                    </a:p>
                    <a:p>
                      <a:pPr marL="457200" indent="-457200">
                        <a:buAutoNum type="arabicPeriod"/>
                      </a:pPr>
                      <a:r>
                        <a:rPr lang="en-AU" sz="2400" b="0" baseline="0" dirty="0" smtClean="0"/>
                        <a:t>Configuration of the nearest noble gas</a:t>
                      </a:r>
                    </a:p>
                    <a:p>
                      <a:pPr marL="457200" indent="-457200">
                        <a:buAutoNum type="arabicPeriod"/>
                      </a:pPr>
                      <a:r>
                        <a:rPr lang="en-AU" sz="2400" b="0" baseline="0" dirty="0" smtClean="0"/>
                        <a:t>The charge formed.</a:t>
                      </a: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0" name="Title 1"/>
          <p:cNvSpPr txBox="1">
            <a:spLocks/>
          </p:cNvSpPr>
          <p:nvPr/>
        </p:nvSpPr>
        <p:spPr>
          <a:xfrm>
            <a:off x="-41835" y="3810887"/>
            <a:ext cx="8695765" cy="257104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2, 8,  6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2, 8, 8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gains two electrons      -2</a:t>
            </a:r>
          </a:p>
        </p:txBody>
      </p:sp>
      <p:sp>
        <p:nvSpPr>
          <p:cNvPr id="11" name="TextBox 10"/>
          <p:cNvSpPr txBox="1"/>
          <p:nvPr/>
        </p:nvSpPr>
        <p:spPr>
          <a:xfrm>
            <a:off x="6347651" y="146085"/>
            <a:ext cx="5545525" cy="523220"/>
          </a:xfrm>
          <a:prstGeom prst="rect">
            <a:avLst/>
          </a:prstGeom>
          <a:noFill/>
        </p:spPr>
        <p:txBody>
          <a:bodyPr wrap="square" rtlCol="0">
            <a:spAutoFit/>
          </a:bodyPr>
          <a:lstStyle/>
          <a:p>
            <a:r>
              <a:rPr lang="en-AU" sz="2800" dirty="0" smtClean="0"/>
              <a:t>Element </a:t>
            </a:r>
            <a:endParaRPr lang="en-AU" sz="2800" dirty="0"/>
          </a:p>
        </p:txBody>
      </p:sp>
      <p:sp>
        <p:nvSpPr>
          <p:cNvPr id="2" name="TextBox 1"/>
          <p:cNvSpPr txBox="1"/>
          <p:nvPr/>
        </p:nvSpPr>
        <p:spPr>
          <a:xfrm>
            <a:off x="6731306" y="1083215"/>
            <a:ext cx="2622014" cy="646331"/>
          </a:xfrm>
          <a:prstGeom prst="rect">
            <a:avLst/>
          </a:prstGeom>
          <a:noFill/>
        </p:spPr>
        <p:txBody>
          <a:bodyPr wrap="square" rtlCol="0">
            <a:spAutoFit/>
          </a:bodyPr>
          <a:lstStyle/>
          <a:p>
            <a:r>
              <a:rPr lang="en-AU" sz="3600" dirty="0" err="1" smtClean="0"/>
              <a:t>Sulfur</a:t>
            </a:r>
            <a:endParaRPr lang="en-AU" sz="3600" dirty="0"/>
          </a:p>
        </p:txBody>
      </p:sp>
    </p:spTree>
    <p:extLst>
      <p:ext uri="{BB962C8B-B14F-4D97-AF65-F5344CB8AC3E}">
        <p14:creationId xmlns:p14="http://schemas.microsoft.com/office/powerpoint/2010/main" val="2575756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208"/>
            <a:ext cx="6086422"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Skill Development/Guided Practice</a:t>
            </a:r>
          </a:p>
        </p:txBody>
      </p:sp>
      <p:graphicFrame>
        <p:nvGraphicFramePr>
          <p:cNvPr id="9" name="Table 8"/>
          <p:cNvGraphicFramePr>
            <a:graphicFrameLocks noGrp="1"/>
          </p:cNvGraphicFramePr>
          <p:nvPr>
            <p:extLst>
              <p:ext uri="{D42A27DB-BD31-4B8C-83A1-F6EECF244321}">
                <p14:modId xmlns:p14="http://schemas.microsoft.com/office/powerpoint/2010/main" val="1481190679"/>
              </p:ext>
            </p:extLst>
          </p:nvPr>
        </p:nvGraphicFramePr>
        <p:xfrm>
          <a:off x="2" y="1083215"/>
          <a:ext cx="5647764" cy="1645920"/>
        </p:xfrm>
        <a:graphic>
          <a:graphicData uri="http://schemas.openxmlformats.org/drawingml/2006/table">
            <a:tbl>
              <a:tblPr firstRow="1" bandRow="1">
                <a:tableStyleId>{F5AB1C69-6EDB-4FF4-983F-18BD219EF322}</a:tableStyleId>
              </a:tblPr>
              <a:tblGrid>
                <a:gridCol w="5647764">
                  <a:extLst>
                    <a:ext uri="{9D8B030D-6E8A-4147-A177-3AD203B41FA5}">
                      <a16:colId xmlns:a16="http://schemas.microsoft.com/office/drawing/2014/main" val="20000"/>
                    </a:ext>
                  </a:extLst>
                </a:gridCol>
              </a:tblGrid>
              <a:tr h="410685">
                <a:tc>
                  <a:txBody>
                    <a:bodyPr/>
                    <a:lstStyle/>
                    <a:p>
                      <a:r>
                        <a:rPr lang="en-AU" sz="2400" dirty="0" smtClean="0"/>
                        <a:t>Describing</a:t>
                      </a:r>
                      <a:endParaRPr lang="en-AU" sz="2000" dirty="0"/>
                    </a:p>
                  </a:txBody>
                  <a:tcPr>
                    <a:solidFill>
                      <a:srgbClr val="00B050"/>
                    </a:solidFill>
                  </a:tcPr>
                </a:tc>
                <a:extLst>
                  <a:ext uri="{0D108BD9-81ED-4DB2-BD59-A6C34878D82A}">
                    <a16:rowId xmlns:a16="http://schemas.microsoft.com/office/drawing/2014/main" val="10000"/>
                  </a:ext>
                </a:extLst>
              </a:tr>
              <a:tr h="1072683">
                <a:tc>
                  <a:txBody>
                    <a:bodyPr/>
                    <a:lstStyle/>
                    <a:p>
                      <a:pPr marL="457200" indent="-457200">
                        <a:buAutoNum type="arabicPeriod"/>
                      </a:pPr>
                      <a:r>
                        <a:rPr lang="en-AU" sz="2400" b="0" baseline="0" dirty="0" smtClean="0"/>
                        <a:t>Identify the electron configuration</a:t>
                      </a:r>
                    </a:p>
                    <a:p>
                      <a:pPr marL="457200" indent="-457200">
                        <a:buAutoNum type="arabicPeriod"/>
                      </a:pPr>
                      <a:r>
                        <a:rPr lang="en-AU" sz="2400" b="0" baseline="0" dirty="0" smtClean="0"/>
                        <a:t>Configuration of the nearest noble gas</a:t>
                      </a:r>
                    </a:p>
                    <a:p>
                      <a:pPr marL="457200" indent="-457200">
                        <a:buAutoNum type="arabicPeriod"/>
                      </a:pPr>
                      <a:r>
                        <a:rPr lang="en-AU" sz="2400" b="0" baseline="0" dirty="0" smtClean="0"/>
                        <a:t>The charge formed.</a:t>
                      </a:r>
                      <a:endParaRPr lang="en-AU" sz="2400" b="1" baseline="0" dirty="0" smtClean="0"/>
                    </a:p>
                  </a:txBody>
                  <a:tcPr/>
                </a:tc>
                <a:extLst>
                  <a:ext uri="{0D108BD9-81ED-4DB2-BD59-A6C34878D82A}">
                    <a16:rowId xmlns:a16="http://schemas.microsoft.com/office/drawing/2014/main" val="10001"/>
                  </a:ext>
                </a:extLst>
              </a:tr>
            </a:tbl>
          </a:graphicData>
        </a:graphic>
      </p:graphicFrame>
      <p:sp>
        <p:nvSpPr>
          <p:cNvPr id="10" name="Title 1"/>
          <p:cNvSpPr txBox="1">
            <a:spLocks/>
          </p:cNvSpPr>
          <p:nvPr/>
        </p:nvSpPr>
        <p:spPr>
          <a:xfrm>
            <a:off x="-41835" y="3810887"/>
            <a:ext cx="8695765" cy="257104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2, 4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2, 8,    </a:t>
            </a:r>
          </a:p>
          <a:p>
            <a:pPr marL="514350" indent="-514350">
              <a:spcAft>
                <a:spcPts val="1200"/>
              </a:spcAft>
              <a:buAutoNum type="arabicPeriod"/>
            </a:pPr>
            <a:r>
              <a:rPr lang="en-AU" sz="2800" dirty="0" smtClean="0">
                <a:solidFill>
                  <a:srgbClr val="00B050"/>
                </a:solidFill>
                <a:latin typeface="+mn-lt"/>
                <a:sym typeface="Wingdings" panose="05000000000000000000" pitchFamily="2" charset="2"/>
              </a:rPr>
              <a:t>Gains  four electrons      -4</a:t>
            </a:r>
          </a:p>
        </p:txBody>
      </p:sp>
      <p:sp>
        <p:nvSpPr>
          <p:cNvPr id="11" name="TextBox 10"/>
          <p:cNvSpPr txBox="1"/>
          <p:nvPr/>
        </p:nvSpPr>
        <p:spPr>
          <a:xfrm>
            <a:off x="6347651" y="146085"/>
            <a:ext cx="5545525" cy="523220"/>
          </a:xfrm>
          <a:prstGeom prst="rect">
            <a:avLst/>
          </a:prstGeom>
          <a:noFill/>
        </p:spPr>
        <p:txBody>
          <a:bodyPr wrap="square" rtlCol="0">
            <a:spAutoFit/>
          </a:bodyPr>
          <a:lstStyle/>
          <a:p>
            <a:r>
              <a:rPr lang="en-AU" sz="2800" dirty="0" smtClean="0"/>
              <a:t>Element </a:t>
            </a:r>
            <a:endParaRPr lang="en-AU" sz="2800" dirty="0"/>
          </a:p>
        </p:txBody>
      </p:sp>
      <p:sp>
        <p:nvSpPr>
          <p:cNvPr id="2" name="TextBox 1"/>
          <p:cNvSpPr txBox="1"/>
          <p:nvPr/>
        </p:nvSpPr>
        <p:spPr>
          <a:xfrm>
            <a:off x="6731306" y="1083215"/>
            <a:ext cx="2622014" cy="646331"/>
          </a:xfrm>
          <a:prstGeom prst="rect">
            <a:avLst/>
          </a:prstGeom>
          <a:noFill/>
        </p:spPr>
        <p:txBody>
          <a:bodyPr wrap="square" rtlCol="0">
            <a:spAutoFit/>
          </a:bodyPr>
          <a:lstStyle/>
          <a:p>
            <a:r>
              <a:rPr lang="en-AU" sz="3600" dirty="0" smtClean="0"/>
              <a:t>Carbon</a:t>
            </a:r>
            <a:endParaRPr lang="en-AU" sz="3600" dirty="0"/>
          </a:p>
        </p:txBody>
      </p:sp>
    </p:spTree>
    <p:extLst>
      <p:ext uri="{BB962C8B-B14F-4D97-AF65-F5344CB8AC3E}">
        <p14:creationId xmlns:p14="http://schemas.microsoft.com/office/powerpoint/2010/main" val="366277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3895468" cy="584775"/>
          </a:xfrm>
          <a:prstGeom prst="homePlate">
            <a:avLst/>
          </a:prstGeom>
          <a:solidFill>
            <a:srgbClr val="00B05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Independent Practice</a:t>
            </a:r>
            <a:endParaRPr lang="en-AU" sz="3200" dirty="0"/>
          </a:p>
        </p:txBody>
      </p:sp>
      <p:sp>
        <p:nvSpPr>
          <p:cNvPr id="3" name="TextBox 2"/>
          <p:cNvSpPr txBox="1"/>
          <p:nvPr/>
        </p:nvSpPr>
        <p:spPr>
          <a:xfrm>
            <a:off x="0" y="584775"/>
            <a:ext cx="5124322" cy="523220"/>
          </a:xfrm>
          <a:prstGeom prst="rect">
            <a:avLst/>
          </a:prstGeom>
          <a:noFill/>
        </p:spPr>
        <p:txBody>
          <a:bodyPr wrap="square" rtlCol="0">
            <a:spAutoFit/>
          </a:bodyPr>
          <a:lstStyle/>
          <a:p>
            <a:r>
              <a:rPr lang="en-AU" sz="2800" dirty="0" smtClean="0"/>
              <a:t>Complete</a:t>
            </a:r>
            <a:endParaRPr lang="en-AU" sz="2800" i="1" dirty="0"/>
          </a:p>
        </p:txBody>
      </p:sp>
      <p:sp>
        <p:nvSpPr>
          <p:cNvPr id="2" name="TextBox 1"/>
          <p:cNvSpPr txBox="1"/>
          <p:nvPr/>
        </p:nvSpPr>
        <p:spPr>
          <a:xfrm>
            <a:off x="131027" y="3980809"/>
            <a:ext cx="1123897" cy="400110"/>
          </a:xfrm>
          <a:prstGeom prst="rect">
            <a:avLst/>
          </a:prstGeom>
          <a:noFill/>
        </p:spPr>
        <p:txBody>
          <a:bodyPr wrap="none" rtlCol="0">
            <a:spAutoFit/>
          </a:bodyPr>
          <a:lstStyle/>
          <a:p>
            <a:r>
              <a:rPr lang="en-AU" sz="2000" dirty="0" smtClean="0">
                <a:solidFill>
                  <a:schemeClr val="bg1"/>
                </a:solidFill>
              </a:rPr>
              <a:t>Marigold</a:t>
            </a:r>
            <a:endParaRPr lang="en-AU" dirty="0">
              <a:solidFill>
                <a:schemeClr val="bg1"/>
              </a:solidFill>
            </a:endParaRPr>
          </a:p>
        </p:txBody>
      </p:sp>
      <p:sp>
        <p:nvSpPr>
          <p:cNvPr id="12" name="TextBox 11"/>
          <p:cNvSpPr txBox="1"/>
          <p:nvPr/>
        </p:nvSpPr>
        <p:spPr>
          <a:xfrm>
            <a:off x="2628288" y="3980809"/>
            <a:ext cx="1071960" cy="400110"/>
          </a:xfrm>
          <a:prstGeom prst="rect">
            <a:avLst/>
          </a:prstGeom>
          <a:noFill/>
        </p:spPr>
        <p:txBody>
          <a:bodyPr wrap="none" rtlCol="0">
            <a:spAutoFit/>
          </a:bodyPr>
          <a:lstStyle/>
          <a:p>
            <a:r>
              <a:rPr lang="en-AU" sz="2000" dirty="0" smtClean="0">
                <a:solidFill>
                  <a:schemeClr val="bg1"/>
                </a:solidFill>
              </a:rPr>
              <a:t>Rafflesia</a:t>
            </a:r>
            <a:endParaRPr lang="en-AU" dirty="0">
              <a:solidFill>
                <a:schemeClr val="bg1"/>
              </a:solidFill>
            </a:endParaRPr>
          </a:p>
        </p:txBody>
      </p:sp>
      <p:sp>
        <p:nvSpPr>
          <p:cNvPr id="16" name="TextBox 15"/>
          <p:cNvSpPr txBox="1"/>
          <p:nvPr/>
        </p:nvSpPr>
        <p:spPr>
          <a:xfrm>
            <a:off x="131027" y="4577161"/>
            <a:ext cx="1597297" cy="400110"/>
          </a:xfrm>
          <a:prstGeom prst="rect">
            <a:avLst/>
          </a:prstGeom>
          <a:noFill/>
        </p:spPr>
        <p:txBody>
          <a:bodyPr wrap="none" rtlCol="0">
            <a:spAutoFit/>
          </a:bodyPr>
          <a:lstStyle/>
          <a:p>
            <a:r>
              <a:rPr lang="en-AU" sz="2000" dirty="0" smtClean="0">
                <a:solidFill>
                  <a:schemeClr val="bg1"/>
                </a:solidFill>
              </a:rPr>
              <a:t>Trumpet Vine</a:t>
            </a:r>
            <a:endParaRPr lang="en-AU" dirty="0">
              <a:solidFill>
                <a:schemeClr val="bg1"/>
              </a:solidFill>
            </a:endParaRPr>
          </a:p>
        </p:txBody>
      </p:sp>
      <p:sp>
        <p:nvSpPr>
          <p:cNvPr id="17" name="TextBox 16"/>
          <p:cNvSpPr txBox="1"/>
          <p:nvPr/>
        </p:nvSpPr>
        <p:spPr>
          <a:xfrm>
            <a:off x="3482859" y="4469605"/>
            <a:ext cx="875561" cy="400110"/>
          </a:xfrm>
          <a:prstGeom prst="rect">
            <a:avLst/>
          </a:prstGeom>
          <a:noFill/>
        </p:spPr>
        <p:txBody>
          <a:bodyPr wrap="none" rtlCol="0">
            <a:spAutoFit/>
          </a:bodyPr>
          <a:lstStyle/>
          <a:p>
            <a:r>
              <a:rPr lang="en-AU" sz="2000" dirty="0" smtClean="0">
                <a:solidFill>
                  <a:schemeClr val="bg1"/>
                </a:solidFill>
              </a:rPr>
              <a:t>Cactus</a:t>
            </a:r>
            <a:endParaRPr lang="en-AU" dirty="0">
              <a:solidFill>
                <a:schemeClr val="bg1"/>
              </a:solidFill>
            </a:endParaRPr>
          </a:p>
        </p:txBody>
      </p:sp>
      <p:sp>
        <p:nvSpPr>
          <p:cNvPr id="18" name="TextBox 17"/>
          <p:cNvSpPr txBox="1"/>
          <p:nvPr/>
        </p:nvSpPr>
        <p:spPr>
          <a:xfrm>
            <a:off x="6088319" y="4496053"/>
            <a:ext cx="1018227" cy="400110"/>
          </a:xfrm>
          <a:prstGeom prst="rect">
            <a:avLst/>
          </a:prstGeom>
          <a:noFill/>
        </p:spPr>
        <p:txBody>
          <a:bodyPr wrap="none" rtlCol="0">
            <a:spAutoFit/>
          </a:bodyPr>
          <a:lstStyle/>
          <a:p>
            <a:r>
              <a:rPr lang="en-AU" sz="2000" dirty="0" smtClean="0">
                <a:solidFill>
                  <a:schemeClr val="bg1"/>
                </a:solidFill>
              </a:rPr>
              <a:t>Jasmine</a:t>
            </a:r>
            <a:endParaRPr lang="en-AU" dirty="0">
              <a:solidFill>
                <a:schemeClr val="bg1"/>
              </a:solidFill>
            </a:endParaRPr>
          </a:p>
        </p:txBody>
      </p:sp>
      <p:sp>
        <p:nvSpPr>
          <p:cNvPr id="20" name="TextBox 19"/>
          <p:cNvSpPr txBox="1"/>
          <p:nvPr/>
        </p:nvSpPr>
        <p:spPr>
          <a:xfrm>
            <a:off x="8110208" y="4577161"/>
            <a:ext cx="1410514" cy="400110"/>
          </a:xfrm>
          <a:prstGeom prst="rect">
            <a:avLst/>
          </a:prstGeom>
          <a:noFill/>
        </p:spPr>
        <p:txBody>
          <a:bodyPr wrap="none" rtlCol="0">
            <a:spAutoFit/>
          </a:bodyPr>
          <a:lstStyle/>
          <a:p>
            <a:r>
              <a:rPr lang="en-AU" sz="2000" dirty="0" smtClean="0">
                <a:solidFill>
                  <a:schemeClr val="bg1"/>
                </a:solidFill>
              </a:rPr>
              <a:t>Bottlebrush</a:t>
            </a:r>
            <a:endParaRPr lang="en-AU" dirty="0">
              <a:solidFill>
                <a:schemeClr val="bg1"/>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3298957103"/>
              </p:ext>
            </p:extLst>
          </p:nvPr>
        </p:nvGraphicFramePr>
        <p:xfrm>
          <a:off x="1676400" y="925420"/>
          <a:ext cx="8627476" cy="5087765"/>
        </p:xfrm>
        <a:graphic>
          <a:graphicData uri="http://schemas.openxmlformats.org/drawingml/2006/table">
            <a:tbl>
              <a:tblPr firstRow="1" firstCol="1" lastRow="1" lastCol="1" bandRow="1" bandCol="1"/>
              <a:tblGrid>
                <a:gridCol w="1207949">
                  <a:extLst>
                    <a:ext uri="{9D8B030D-6E8A-4147-A177-3AD203B41FA5}">
                      <a16:colId xmlns:a16="http://schemas.microsoft.com/office/drawing/2014/main" val="330403543"/>
                    </a:ext>
                  </a:extLst>
                </a:gridCol>
                <a:gridCol w="1699925">
                  <a:extLst>
                    <a:ext uri="{9D8B030D-6E8A-4147-A177-3AD203B41FA5}">
                      <a16:colId xmlns:a16="http://schemas.microsoft.com/office/drawing/2014/main" val="3206311889"/>
                    </a:ext>
                  </a:extLst>
                </a:gridCol>
                <a:gridCol w="1509125">
                  <a:extLst>
                    <a:ext uri="{9D8B030D-6E8A-4147-A177-3AD203B41FA5}">
                      <a16:colId xmlns:a16="http://schemas.microsoft.com/office/drawing/2014/main" val="2007505804"/>
                    </a:ext>
                  </a:extLst>
                </a:gridCol>
                <a:gridCol w="1181525">
                  <a:extLst>
                    <a:ext uri="{9D8B030D-6E8A-4147-A177-3AD203B41FA5}">
                      <a16:colId xmlns:a16="http://schemas.microsoft.com/office/drawing/2014/main" val="1966336747"/>
                    </a:ext>
                  </a:extLst>
                </a:gridCol>
                <a:gridCol w="1634096">
                  <a:extLst>
                    <a:ext uri="{9D8B030D-6E8A-4147-A177-3AD203B41FA5}">
                      <a16:colId xmlns:a16="http://schemas.microsoft.com/office/drawing/2014/main" val="478563600"/>
                    </a:ext>
                  </a:extLst>
                </a:gridCol>
                <a:gridCol w="1394856">
                  <a:extLst>
                    <a:ext uri="{9D8B030D-6E8A-4147-A177-3AD203B41FA5}">
                      <a16:colId xmlns:a16="http://schemas.microsoft.com/office/drawing/2014/main" val="1403730887"/>
                    </a:ext>
                  </a:extLst>
                </a:gridCol>
              </a:tblGrid>
              <a:tr h="1035582">
                <a:tc>
                  <a:txBody>
                    <a:bodyPr/>
                    <a:lstStyle/>
                    <a:p>
                      <a:pPr algn="ctr">
                        <a:spcAft>
                          <a:spcPts val="0"/>
                        </a:spcAft>
                      </a:pPr>
                      <a:r>
                        <a:rPr lang="en-AU" sz="1600" b="1" dirty="0">
                          <a:effectLst/>
                          <a:latin typeface="Arial" panose="020B0604020202020204" pitchFamily="34" charset="0"/>
                          <a:ea typeface="Calibri" panose="020F0502020204030204" pitchFamily="34" charset="0"/>
                        </a:rPr>
                        <a:t>Element name</a:t>
                      </a:r>
                      <a:endParaRPr lang="en-AU" sz="1600" dirty="0">
                        <a:effectLst/>
                        <a:latin typeface="Arial" panose="020B0604020202020204" pitchFamily="34" charset="0"/>
                        <a:ea typeface="Calibri" panose="020F0502020204030204" pitchFamily="34" charset="0"/>
                      </a:endParaRPr>
                    </a:p>
                  </a:txBody>
                  <a:tcPr marL="35863" marR="3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600" b="1" dirty="0" smtClean="0">
                          <a:effectLst/>
                          <a:latin typeface="Arial" panose="020B0604020202020204" pitchFamily="34" charset="0"/>
                          <a:ea typeface="Calibri" panose="020F0502020204030204" pitchFamily="34" charset="0"/>
                        </a:rPr>
                        <a:t>Energy</a:t>
                      </a:r>
                      <a:r>
                        <a:rPr lang="en-AU" sz="1600" b="1" baseline="0" dirty="0" smtClean="0">
                          <a:effectLst/>
                          <a:latin typeface="Arial" panose="020B0604020202020204" pitchFamily="34" charset="0"/>
                          <a:ea typeface="Calibri" panose="020F0502020204030204" pitchFamily="34" charset="0"/>
                        </a:rPr>
                        <a:t> level </a:t>
                      </a:r>
                      <a:r>
                        <a:rPr lang="en-AU" sz="1600" b="1" dirty="0" smtClean="0">
                          <a:effectLst/>
                          <a:latin typeface="Arial" panose="020B0604020202020204" pitchFamily="34" charset="0"/>
                          <a:ea typeface="Calibri" panose="020F0502020204030204" pitchFamily="34" charset="0"/>
                        </a:rPr>
                        <a:t>diagram </a:t>
                      </a:r>
                      <a:r>
                        <a:rPr lang="en-AU" sz="1600" b="1" dirty="0">
                          <a:effectLst/>
                          <a:latin typeface="Arial" panose="020B0604020202020204" pitchFamily="34" charset="0"/>
                          <a:ea typeface="Calibri" panose="020F0502020204030204" pitchFamily="34" charset="0"/>
                        </a:rPr>
                        <a:t>of atom</a:t>
                      </a:r>
                      <a:endParaRPr lang="en-AU" sz="1600" dirty="0">
                        <a:effectLst/>
                        <a:latin typeface="Arial" panose="020B0604020202020204" pitchFamily="34" charset="0"/>
                        <a:ea typeface="Calibri" panose="020F0502020204030204" pitchFamily="34" charset="0"/>
                      </a:endParaRPr>
                    </a:p>
                  </a:txBody>
                  <a:tcPr marL="35863" marR="3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600" b="1" dirty="0">
                          <a:effectLst/>
                          <a:latin typeface="Arial" panose="020B0604020202020204" pitchFamily="34" charset="0"/>
                          <a:ea typeface="Calibri" panose="020F0502020204030204" pitchFamily="34" charset="0"/>
                        </a:rPr>
                        <a:t>Electron configuration of atom</a:t>
                      </a:r>
                      <a:endParaRPr lang="en-AU" sz="1600" dirty="0">
                        <a:effectLst/>
                        <a:latin typeface="Arial" panose="020B0604020202020204" pitchFamily="34" charset="0"/>
                        <a:ea typeface="Calibri" panose="020F0502020204030204" pitchFamily="34" charset="0"/>
                      </a:endParaRPr>
                    </a:p>
                  </a:txBody>
                  <a:tcPr marL="35863" marR="3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600" b="1" dirty="0" smtClean="0">
                          <a:effectLst/>
                          <a:latin typeface="Arial" panose="020B0604020202020204" pitchFamily="34" charset="0"/>
                          <a:ea typeface="Calibri" panose="020F0502020204030204" pitchFamily="34" charset="0"/>
                        </a:rPr>
                        <a:t>Nearest noble</a:t>
                      </a:r>
                      <a:r>
                        <a:rPr lang="en-AU" sz="1600" b="1" baseline="0" dirty="0" smtClean="0">
                          <a:effectLst/>
                          <a:latin typeface="Arial" panose="020B0604020202020204" pitchFamily="34" charset="0"/>
                          <a:ea typeface="Calibri" panose="020F0502020204030204" pitchFamily="34" charset="0"/>
                        </a:rPr>
                        <a:t> gas</a:t>
                      </a:r>
                      <a:endParaRPr lang="en-AU" sz="1600" dirty="0">
                        <a:effectLst/>
                        <a:latin typeface="Arial" panose="020B0604020202020204" pitchFamily="34" charset="0"/>
                        <a:ea typeface="Calibri" panose="020F0502020204030204" pitchFamily="34" charset="0"/>
                      </a:endParaRPr>
                    </a:p>
                  </a:txBody>
                  <a:tcPr marL="35863" marR="3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600" b="1" dirty="0" smtClean="0">
                          <a:effectLst/>
                          <a:latin typeface="Arial" panose="020B0604020202020204" pitchFamily="34" charset="0"/>
                          <a:ea typeface="Calibri" panose="020F0502020204030204" pitchFamily="34" charset="0"/>
                        </a:rPr>
                        <a:t>Electron configuration</a:t>
                      </a:r>
                      <a:r>
                        <a:rPr lang="en-AU" sz="1600" b="1" baseline="0" dirty="0" smtClean="0">
                          <a:effectLst/>
                          <a:latin typeface="Arial" panose="020B0604020202020204" pitchFamily="34" charset="0"/>
                          <a:ea typeface="Calibri" panose="020F0502020204030204" pitchFamily="34" charset="0"/>
                        </a:rPr>
                        <a:t> of noble gas</a:t>
                      </a:r>
                      <a:endParaRPr lang="en-AU" sz="1600" dirty="0">
                        <a:effectLst/>
                        <a:latin typeface="Arial" panose="020B0604020202020204" pitchFamily="34" charset="0"/>
                        <a:ea typeface="Calibri" panose="020F0502020204030204" pitchFamily="34" charset="0"/>
                      </a:endParaRPr>
                    </a:p>
                  </a:txBody>
                  <a:tcPr marL="35863" marR="3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1600" b="1" dirty="0" smtClean="0">
                          <a:effectLst/>
                          <a:latin typeface="Arial" panose="020B0604020202020204" pitchFamily="34" charset="0"/>
                          <a:ea typeface="Calibri" panose="020F0502020204030204" pitchFamily="34" charset="0"/>
                        </a:rPr>
                        <a:t>Charge</a:t>
                      </a:r>
                      <a:r>
                        <a:rPr lang="en-AU" sz="1600" b="1" baseline="0" dirty="0" smtClean="0">
                          <a:effectLst/>
                          <a:latin typeface="Arial" panose="020B0604020202020204" pitchFamily="34" charset="0"/>
                          <a:ea typeface="Calibri" panose="020F0502020204030204" pitchFamily="34" charset="0"/>
                        </a:rPr>
                        <a:t> formed on atom</a:t>
                      </a:r>
                      <a:endParaRPr lang="en-AU" sz="1600" dirty="0">
                        <a:effectLst/>
                        <a:latin typeface="Arial" panose="020B0604020202020204" pitchFamily="34" charset="0"/>
                        <a:ea typeface="Calibri" panose="020F0502020204030204" pitchFamily="34" charset="0"/>
                      </a:endParaRPr>
                    </a:p>
                  </a:txBody>
                  <a:tcPr marL="35863" marR="3586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3830869"/>
                  </a:ext>
                </a:extLst>
              </a:tr>
              <a:tr h="586777">
                <a:tc>
                  <a:txBody>
                    <a:bodyPr/>
                    <a:lstStyle/>
                    <a:p>
                      <a:pPr algn="ctr">
                        <a:spcAft>
                          <a:spcPts val="0"/>
                        </a:spcAft>
                      </a:pPr>
                      <a:r>
                        <a:rPr lang="en-AU" sz="1600">
                          <a:effectLst/>
                          <a:latin typeface="Arial" panose="020B0604020202020204" pitchFamily="34" charset="0"/>
                          <a:ea typeface="Calibri" panose="020F0502020204030204" pitchFamily="34" charset="0"/>
                        </a:rPr>
                        <a:t> </a:t>
                      </a:r>
                    </a:p>
                    <a:p>
                      <a:pPr algn="ctr">
                        <a:spcAft>
                          <a:spcPts val="0"/>
                        </a:spcAft>
                      </a:pPr>
                      <a:r>
                        <a:rPr lang="en-AU" sz="1600">
                          <a:effectLst/>
                          <a:latin typeface="Arial" panose="020B0604020202020204" pitchFamily="34" charset="0"/>
                          <a:ea typeface="Calibri" panose="020F0502020204030204" pitchFamily="34" charset="0"/>
                        </a:rPr>
                        <a:t>lithium</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9889649"/>
                  </a:ext>
                </a:extLst>
              </a:tr>
              <a:tr h="586777">
                <a:tc>
                  <a:txBody>
                    <a:bodyPr/>
                    <a:lstStyle/>
                    <a:p>
                      <a:pPr algn="ctr">
                        <a:spcAft>
                          <a:spcPts val="0"/>
                        </a:spcAft>
                      </a:pPr>
                      <a:r>
                        <a:rPr lang="en-AU" sz="1600">
                          <a:effectLst/>
                          <a:latin typeface="Arial" panose="020B0604020202020204" pitchFamily="34" charset="0"/>
                          <a:ea typeface="Calibri" panose="020F0502020204030204" pitchFamily="34" charset="0"/>
                        </a:rPr>
                        <a:t> </a:t>
                      </a:r>
                    </a:p>
                    <a:p>
                      <a:pPr algn="ctr">
                        <a:spcAft>
                          <a:spcPts val="0"/>
                        </a:spcAft>
                      </a:pPr>
                      <a:r>
                        <a:rPr lang="en-AU" sz="1600">
                          <a:effectLst/>
                          <a:latin typeface="Arial" panose="020B0604020202020204" pitchFamily="34" charset="0"/>
                          <a:ea typeface="Calibri" panose="020F0502020204030204" pitchFamily="34" charset="0"/>
                        </a:rPr>
                        <a:t>oxygen</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3236879"/>
                  </a:ext>
                </a:extLst>
              </a:tr>
              <a:tr h="586777">
                <a:tc>
                  <a:txBody>
                    <a:bodyPr/>
                    <a:lstStyle/>
                    <a:p>
                      <a:pPr algn="ctr">
                        <a:spcAft>
                          <a:spcPts val="0"/>
                        </a:spcAft>
                      </a:pPr>
                      <a:r>
                        <a:rPr lang="en-AU" sz="1600">
                          <a:effectLst/>
                          <a:latin typeface="Arial" panose="020B0604020202020204" pitchFamily="34" charset="0"/>
                          <a:ea typeface="Calibri" panose="020F0502020204030204" pitchFamily="34" charset="0"/>
                        </a:rPr>
                        <a:t> </a:t>
                      </a:r>
                    </a:p>
                    <a:p>
                      <a:pPr algn="ctr">
                        <a:spcAft>
                          <a:spcPts val="0"/>
                        </a:spcAft>
                      </a:pPr>
                      <a:r>
                        <a:rPr lang="en-AU" sz="1600">
                          <a:effectLst/>
                          <a:latin typeface="Arial" panose="020B0604020202020204" pitchFamily="34" charset="0"/>
                          <a:ea typeface="Calibri" panose="020F0502020204030204" pitchFamily="34" charset="0"/>
                        </a:rPr>
                        <a:t>nitrogen</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p>
                      <a:pPr algn="ctr">
                        <a:spcAft>
                          <a:spcPts val="0"/>
                        </a:spcAft>
                      </a:pPr>
                      <a:r>
                        <a:rPr lang="en-AU" sz="600" dirty="0">
                          <a:effectLst/>
                          <a:latin typeface="Arial" panose="020B0604020202020204" pitchFamily="34" charset="0"/>
                          <a:ea typeface="Calibri" panose="020F0502020204030204" pitchFamily="34" charset="0"/>
                        </a:rPr>
                        <a:t> </a:t>
                      </a:r>
                    </a:p>
                    <a:p>
                      <a:pPr algn="ctr">
                        <a:spcAft>
                          <a:spcPts val="0"/>
                        </a:spcAft>
                      </a:pPr>
                      <a:r>
                        <a:rPr lang="en-AU" sz="600" dirty="0">
                          <a:effectLst/>
                          <a:latin typeface="Arial" panose="020B0604020202020204" pitchFamily="34" charset="0"/>
                          <a:ea typeface="Calibri" panose="020F0502020204030204" pitchFamily="34" charset="0"/>
                        </a:rPr>
                        <a:t> </a:t>
                      </a:r>
                    </a:p>
                    <a:p>
                      <a:pPr algn="ctr">
                        <a:spcAft>
                          <a:spcPts val="0"/>
                        </a:spcAft>
                      </a:pPr>
                      <a:r>
                        <a:rPr lang="en-AU" sz="600" dirty="0">
                          <a:effectLst/>
                          <a:latin typeface="Arial" panose="020B0604020202020204" pitchFamily="34" charset="0"/>
                          <a:ea typeface="Calibri" panose="020F0502020204030204" pitchFamily="34" charset="0"/>
                        </a:rPr>
                        <a:t> </a:t>
                      </a:r>
                    </a:p>
                    <a:p>
                      <a:pPr algn="ctr">
                        <a:spcAft>
                          <a:spcPts val="0"/>
                        </a:spcAft>
                      </a:pPr>
                      <a:r>
                        <a:rPr lang="en-AU" sz="600" dirty="0">
                          <a:effectLst/>
                          <a:latin typeface="Arial" panose="020B0604020202020204" pitchFamily="34" charset="0"/>
                          <a:ea typeface="Calibri" panose="020F0502020204030204" pitchFamily="34" charset="0"/>
                        </a:rPr>
                        <a:t> </a:t>
                      </a:r>
                    </a:p>
                    <a:p>
                      <a:pPr algn="ctr">
                        <a:spcAft>
                          <a:spcPts val="0"/>
                        </a:spcAft>
                      </a:pPr>
                      <a:r>
                        <a:rPr lang="en-AU" sz="600" dirty="0">
                          <a:effectLst/>
                          <a:latin typeface="Arial" panose="020B0604020202020204" pitchFamily="34" charset="0"/>
                          <a:ea typeface="Calibri" panose="020F0502020204030204" pitchFamily="34" charset="0"/>
                        </a:rPr>
                        <a:t> </a:t>
                      </a:r>
                    </a:p>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8788925"/>
                  </a:ext>
                </a:extLst>
              </a:tr>
              <a:tr h="586777">
                <a:tc>
                  <a:txBody>
                    <a:bodyPr/>
                    <a:lstStyle/>
                    <a:p>
                      <a:pPr algn="ctr">
                        <a:spcAft>
                          <a:spcPts val="0"/>
                        </a:spcAft>
                      </a:pPr>
                      <a:r>
                        <a:rPr lang="en-AU" sz="1600">
                          <a:effectLst/>
                          <a:latin typeface="Arial" panose="020B0604020202020204" pitchFamily="34" charset="0"/>
                          <a:ea typeface="Calibri" panose="020F0502020204030204" pitchFamily="34" charset="0"/>
                        </a:rPr>
                        <a:t> </a:t>
                      </a:r>
                    </a:p>
                    <a:p>
                      <a:pPr algn="ctr">
                        <a:spcAft>
                          <a:spcPts val="0"/>
                        </a:spcAft>
                      </a:pPr>
                      <a:r>
                        <a:rPr lang="en-AU" sz="1600">
                          <a:effectLst/>
                          <a:latin typeface="Arial" panose="020B0604020202020204" pitchFamily="34" charset="0"/>
                          <a:ea typeface="Calibri" panose="020F0502020204030204" pitchFamily="34" charset="0"/>
                        </a:rPr>
                        <a:t>chlorine</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55402190"/>
                  </a:ext>
                </a:extLst>
              </a:tr>
              <a:tr h="586777">
                <a:tc>
                  <a:txBody>
                    <a:bodyPr/>
                    <a:lstStyle/>
                    <a:p>
                      <a:pPr algn="ctr">
                        <a:spcAft>
                          <a:spcPts val="0"/>
                        </a:spcAft>
                      </a:pPr>
                      <a:r>
                        <a:rPr lang="en-AU" sz="1600">
                          <a:effectLst/>
                          <a:latin typeface="Arial" panose="020B0604020202020204" pitchFamily="34" charset="0"/>
                          <a:ea typeface="Calibri" panose="020F0502020204030204" pitchFamily="34" charset="0"/>
                        </a:rPr>
                        <a:t> </a:t>
                      </a:r>
                    </a:p>
                    <a:p>
                      <a:pPr algn="ctr">
                        <a:spcAft>
                          <a:spcPts val="0"/>
                        </a:spcAft>
                      </a:pPr>
                      <a:r>
                        <a:rPr lang="en-AU" sz="1600">
                          <a:effectLst/>
                          <a:latin typeface="Arial" panose="020B0604020202020204" pitchFamily="34" charset="0"/>
                          <a:ea typeface="Calibri" panose="020F0502020204030204" pitchFamily="34" charset="0"/>
                        </a:rPr>
                        <a:t>calcium</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6319144"/>
                  </a:ext>
                </a:extLst>
              </a:tr>
              <a:tr h="851783">
                <a:tc>
                  <a:txBody>
                    <a:bodyPr/>
                    <a:lstStyle/>
                    <a:p>
                      <a:pPr algn="ctr">
                        <a:spcAft>
                          <a:spcPts val="0"/>
                        </a:spcAft>
                      </a:pPr>
                      <a:r>
                        <a:rPr lang="en-AU" sz="1600" dirty="0">
                          <a:effectLst/>
                          <a:latin typeface="Arial" panose="020B0604020202020204" pitchFamily="34" charset="0"/>
                          <a:ea typeface="Calibri" panose="020F0502020204030204" pitchFamily="34" charset="0"/>
                        </a:rPr>
                        <a:t> </a:t>
                      </a:r>
                      <a:endParaRPr lang="en-AU" sz="1600" dirty="0" smtClean="0">
                        <a:effectLst/>
                        <a:latin typeface="Arial" panose="020B0604020202020204" pitchFamily="34" charset="0"/>
                        <a:ea typeface="Calibri" panose="020F0502020204030204" pitchFamily="34" charset="0"/>
                      </a:endParaRPr>
                    </a:p>
                    <a:p>
                      <a:pPr algn="ctr">
                        <a:spcAft>
                          <a:spcPts val="0"/>
                        </a:spcAft>
                      </a:pPr>
                      <a:r>
                        <a:rPr lang="en-AU" sz="1600" dirty="0" smtClean="0">
                          <a:effectLst/>
                          <a:latin typeface="Arial" panose="020B0604020202020204" pitchFamily="34" charset="0"/>
                          <a:ea typeface="Calibri" panose="020F0502020204030204" pitchFamily="34" charset="0"/>
                        </a:rPr>
                        <a:t>aluminium</a:t>
                      </a:r>
                      <a:endParaRPr lang="en-AU" sz="1600" dirty="0">
                        <a:effectLst/>
                        <a:latin typeface="Arial" panose="020B0604020202020204" pitchFamily="34" charset="0"/>
                        <a:ea typeface="Calibri" panose="020F0502020204030204" pitchFamily="34" charset="0"/>
                      </a:endParaRP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p>
                      <a:pPr algn="ctr">
                        <a:spcAft>
                          <a:spcPts val="0"/>
                        </a:spcAft>
                      </a:pPr>
                      <a:r>
                        <a:rPr lang="en-AU" sz="600" dirty="0">
                          <a:effectLst/>
                          <a:latin typeface="Arial" panose="020B0604020202020204" pitchFamily="34" charset="0"/>
                          <a:ea typeface="Calibri" panose="020F0502020204030204" pitchFamily="34" charset="0"/>
                        </a:rPr>
                        <a:t> </a:t>
                      </a:r>
                    </a:p>
                    <a:p>
                      <a:pPr algn="ctr">
                        <a:spcAft>
                          <a:spcPts val="0"/>
                        </a:spcAft>
                      </a:pPr>
                      <a:r>
                        <a:rPr lang="en-AU" sz="600" dirty="0">
                          <a:effectLst/>
                          <a:latin typeface="Arial" panose="020B0604020202020204" pitchFamily="34" charset="0"/>
                          <a:ea typeface="Calibri" panose="020F0502020204030204" pitchFamily="34" charset="0"/>
                        </a:rPr>
                        <a:t> </a:t>
                      </a:r>
                    </a:p>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AU" sz="600" dirty="0">
                          <a:effectLst/>
                          <a:latin typeface="Arial" panose="020B0604020202020204" pitchFamily="34" charset="0"/>
                          <a:ea typeface="Calibri" panose="020F0502020204030204" pitchFamily="34" charset="0"/>
                        </a:rPr>
                        <a:t> </a:t>
                      </a:r>
                    </a:p>
                  </a:txBody>
                  <a:tcPr marL="35863" marR="3586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0251435"/>
                  </a:ext>
                </a:extLst>
              </a:tr>
            </a:tbl>
          </a:graphicData>
        </a:graphic>
      </p:graphicFrame>
    </p:spTree>
    <p:extLst>
      <p:ext uri="{BB962C8B-B14F-4D97-AF65-F5344CB8AC3E}">
        <p14:creationId xmlns:p14="http://schemas.microsoft.com/office/powerpoint/2010/main" val="21686156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38655</TotalTime>
  <Words>2247</Words>
  <Application>Microsoft Office PowerPoint</Application>
  <PresentationFormat>Widescreen</PresentationFormat>
  <Paragraphs>397</Paragraphs>
  <Slides>29</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Arial Rounded MT Bold</vt:lpstr>
      <vt:lpstr>Calibri</vt:lpstr>
      <vt:lpstr>Calibri Light</vt:lpstr>
      <vt:lpstr>Cambria Math</vt:lpstr>
      <vt:lpstr>Century Gothic</vt:lpstr>
      <vt:lpstr>Futura Medium</vt:lpstr>
      <vt:lpstr>Verdana</vt:lpstr>
      <vt:lpstr>Wingdings</vt:lpstr>
      <vt:lpstr>Office Theme</vt:lpstr>
      <vt:lpstr>PowerPoint Presentation</vt:lpstr>
      <vt:lpstr>PowerPoint Presentation</vt:lpstr>
      <vt:lpstr>Atoms and their Electrons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noble gases: Chemistry’s role models</vt:lpstr>
      <vt:lpstr>The Pattern</vt:lpstr>
      <vt:lpstr>PowerPoint Presentation</vt:lpstr>
      <vt:lpstr>How could an atom of Al get a full energy level?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Science</dc:title>
  <dc:creator>Microsoft account</dc:creator>
  <cp:lastModifiedBy>D'CRUZ Jijy [Safety Bay Senior High School]</cp:lastModifiedBy>
  <cp:revision>677</cp:revision>
  <dcterms:created xsi:type="dcterms:W3CDTF">2017-01-28T08:32:28Z</dcterms:created>
  <dcterms:modified xsi:type="dcterms:W3CDTF">2021-02-08T14:20:37Z</dcterms:modified>
</cp:coreProperties>
</file>
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528" r:id="rId2"/>
    <p:sldId id="529" r:id="rId3"/>
    <p:sldId id="256" r:id="rId4"/>
    <p:sldId id="263" r:id="rId5"/>
    <p:sldId id="530" r:id="rId6"/>
    <p:sldId id="396" r:id="rId7"/>
    <p:sldId id="543" r:id="rId8"/>
    <p:sldId id="542" r:id="rId9"/>
    <p:sldId id="541" r:id="rId10"/>
    <p:sldId id="519" r:id="rId11"/>
    <p:sldId id="520" r:id="rId12"/>
    <p:sldId id="523" r:id="rId13"/>
    <p:sldId id="534" r:id="rId14"/>
    <p:sldId id="533" r:id="rId15"/>
    <p:sldId id="537" r:id="rId16"/>
    <p:sldId id="536" r:id="rId17"/>
    <p:sldId id="535" r:id="rId18"/>
    <p:sldId id="351" r:id="rId19"/>
    <p:sldId id="463" r:id="rId20"/>
    <p:sldId id="450" r:id="rId21"/>
    <p:sldId id="538" r:id="rId22"/>
    <p:sldId id="539" r:id="rId23"/>
    <p:sldId id="54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a:srgbClr val="B08600"/>
    <a:srgbClr val="8C1E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59" autoAdjust="0"/>
    <p:restoredTop sz="93880" autoAdjust="0"/>
  </p:normalViewPr>
  <p:slideViewPr>
    <p:cSldViewPr snapToGrid="0">
      <p:cViewPr varScale="1">
        <p:scale>
          <a:sx n="53" d="100"/>
          <a:sy n="53" d="100"/>
        </p:scale>
        <p:origin x="106" y="4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95A372-E219-4A47-9B57-DAB16DC91C8E}" type="datetimeFigureOut">
              <a:rPr lang="en-AU" smtClean="0"/>
              <a:t>1/02/2021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29ABA3-72B8-441F-AA9B-D3737D2CB9D9}" type="slidenum">
              <a:rPr lang="en-AU" smtClean="0"/>
              <a:t>‹#›</a:t>
            </a:fld>
            <a:endParaRPr lang="en-AU"/>
          </a:p>
        </p:txBody>
      </p:sp>
    </p:spTree>
    <p:extLst>
      <p:ext uri="{BB962C8B-B14F-4D97-AF65-F5344CB8AC3E}">
        <p14:creationId xmlns:p14="http://schemas.microsoft.com/office/powerpoint/2010/main" val="2652865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1</a:t>
            </a:fld>
            <a:endParaRPr lang="en-AU"/>
          </a:p>
        </p:txBody>
      </p:sp>
    </p:spTree>
    <p:extLst>
      <p:ext uri="{BB962C8B-B14F-4D97-AF65-F5344CB8AC3E}">
        <p14:creationId xmlns:p14="http://schemas.microsoft.com/office/powerpoint/2010/main" val="3455668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2</a:t>
            </a:fld>
            <a:endParaRPr lang="en-AU"/>
          </a:p>
        </p:txBody>
      </p:sp>
    </p:spTree>
    <p:extLst>
      <p:ext uri="{BB962C8B-B14F-4D97-AF65-F5344CB8AC3E}">
        <p14:creationId xmlns:p14="http://schemas.microsoft.com/office/powerpoint/2010/main" val="7406657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4</a:t>
            </a:fld>
            <a:endParaRPr lang="en-AU"/>
          </a:p>
        </p:txBody>
      </p:sp>
    </p:spTree>
    <p:extLst>
      <p:ext uri="{BB962C8B-B14F-4D97-AF65-F5344CB8AC3E}">
        <p14:creationId xmlns:p14="http://schemas.microsoft.com/office/powerpoint/2010/main" val="1159509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6</a:t>
            </a:fld>
            <a:endParaRPr lang="en-AU"/>
          </a:p>
        </p:txBody>
      </p:sp>
    </p:spTree>
    <p:extLst>
      <p:ext uri="{BB962C8B-B14F-4D97-AF65-F5344CB8AC3E}">
        <p14:creationId xmlns:p14="http://schemas.microsoft.com/office/powerpoint/2010/main" val="1391199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7</a:t>
            </a:fld>
            <a:endParaRPr lang="en-AU"/>
          </a:p>
        </p:txBody>
      </p:sp>
    </p:spTree>
    <p:extLst>
      <p:ext uri="{BB962C8B-B14F-4D97-AF65-F5344CB8AC3E}">
        <p14:creationId xmlns:p14="http://schemas.microsoft.com/office/powerpoint/2010/main" val="10506147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8</a:t>
            </a:fld>
            <a:endParaRPr lang="en-AU"/>
          </a:p>
        </p:txBody>
      </p:sp>
    </p:spTree>
    <p:extLst>
      <p:ext uri="{BB962C8B-B14F-4D97-AF65-F5344CB8AC3E}">
        <p14:creationId xmlns:p14="http://schemas.microsoft.com/office/powerpoint/2010/main" val="3386098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9</a:t>
            </a:fld>
            <a:endParaRPr lang="en-AU"/>
          </a:p>
        </p:txBody>
      </p:sp>
    </p:spTree>
    <p:extLst>
      <p:ext uri="{BB962C8B-B14F-4D97-AF65-F5344CB8AC3E}">
        <p14:creationId xmlns:p14="http://schemas.microsoft.com/office/powerpoint/2010/main" val="12692051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10</a:t>
            </a:fld>
            <a:endParaRPr lang="en-AU"/>
          </a:p>
        </p:txBody>
      </p:sp>
    </p:spTree>
    <p:extLst>
      <p:ext uri="{BB962C8B-B14F-4D97-AF65-F5344CB8AC3E}">
        <p14:creationId xmlns:p14="http://schemas.microsoft.com/office/powerpoint/2010/main" val="16144414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11</a:t>
            </a:fld>
            <a:endParaRPr lang="en-AU"/>
          </a:p>
        </p:txBody>
      </p:sp>
    </p:spTree>
    <p:extLst>
      <p:ext uri="{BB962C8B-B14F-4D97-AF65-F5344CB8AC3E}">
        <p14:creationId xmlns:p14="http://schemas.microsoft.com/office/powerpoint/2010/main" val="34917311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12</a:t>
            </a:fld>
            <a:endParaRPr lang="en-AU"/>
          </a:p>
        </p:txBody>
      </p:sp>
    </p:spTree>
    <p:extLst>
      <p:ext uri="{BB962C8B-B14F-4D97-AF65-F5344CB8AC3E}">
        <p14:creationId xmlns:p14="http://schemas.microsoft.com/office/powerpoint/2010/main" val="37462460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13</a:t>
            </a:fld>
            <a:endParaRPr lang="en-AU"/>
          </a:p>
        </p:txBody>
      </p:sp>
    </p:spTree>
    <p:extLst>
      <p:ext uri="{BB962C8B-B14F-4D97-AF65-F5344CB8AC3E}">
        <p14:creationId xmlns:p14="http://schemas.microsoft.com/office/powerpoint/2010/main" val="9036684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14</a:t>
            </a:fld>
            <a:endParaRPr lang="en-AU"/>
          </a:p>
        </p:txBody>
      </p:sp>
    </p:spTree>
    <p:extLst>
      <p:ext uri="{BB962C8B-B14F-4D97-AF65-F5344CB8AC3E}">
        <p14:creationId xmlns:p14="http://schemas.microsoft.com/office/powerpoint/2010/main" val="40214365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15</a:t>
            </a:fld>
            <a:endParaRPr lang="en-AU"/>
          </a:p>
        </p:txBody>
      </p:sp>
    </p:spTree>
    <p:extLst>
      <p:ext uri="{BB962C8B-B14F-4D97-AF65-F5344CB8AC3E}">
        <p14:creationId xmlns:p14="http://schemas.microsoft.com/office/powerpoint/2010/main" val="35748480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16</a:t>
            </a:fld>
            <a:endParaRPr lang="en-AU"/>
          </a:p>
        </p:txBody>
      </p:sp>
    </p:spTree>
    <p:extLst>
      <p:ext uri="{BB962C8B-B14F-4D97-AF65-F5344CB8AC3E}">
        <p14:creationId xmlns:p14="http://schemas.microsoft.com/office/powerpoint/2010/main" val="38049378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17</a:t>
            </a:fld>
            <a:endParaRPr lang="en-AU"/>
          </a:p>
        </p:txBody>
      </p:sp>
    </p:spTree>
    <p:extLst>
      <p:ext uri="{BB962C8B-B14F-4D97-AF65-F5344CB8AC3E}">
        <p14:creationId xmlns:p14="http://schemas.microsoft.com/office/powerpoint/2010/main" val="9264938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20</a:t>
            </a:fld>
            <a:endParaRPr lang="en-AU"/>
          </a:p>
        </p:txBody>
      </p:sp>
    </p:spTree>
    <p:extLst>
      <p:ext uri="{BB962C8B-B14F-4D97-AF65-F5344CB8AC3E}">
        <p14:creationId xmlns:p14="http://schemas.microsoft.com/office/powerpoint/2010/main" val="3078844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E6F726FA-289A-47A4-9DB2-36250D803CC9}" type="datetimeFigureOut">
              <a:rPr lang="en-AU" smtClean="0"/>
              <a:t>1/02/2021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1338628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E6F726FA-289A-47A4-9DB2-36250D803CC9}" type="datetimeFigureOut">
              <a:rPr lang="en-AU" smtClean="0"/>
              <a:t>1/02/2021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790746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F726FA-289A-47A4-9DB2-36250D803CC9}" type="datetimeFigureOut">
              <a:rPr lang="en-AU" smtClean="0"/>
              <a:t>1/02/2021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3721631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E6F726FA-289A-47A4-9DB2-36250D803CC9}" type="datetimeFigureOut">
              <a:rPr lang="en-AU" smtClean="0"/>
              <a:t>1/02/2021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3944287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E6F726FA-289A-47A4-9DB2-36250D803CC9}" type="datetimeFigureOut">
              <a:rPr lang="en-AU" smtClean="0"/>
              <a:t>1/02/2021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4014533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E6F726FA-289A-47A4-9DB2-36250D803CC9}" type="datetimeFigureOut">
              <a:rPr lang="en-AU" smtClean="0"/>
              <a:t>1/02/2021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3531284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F726FA-289A-47A4-9DB2-36250D803CC9}" type="datetimeFigureOut">
              <a:rPr lang="en-AU" smtClean="0"/>
              <a:t>1/02/2021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4253238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F726FA-289A-47A4-9DB2-36250D803CC9}" type="datetimeFigureOut">
              <a:rPr lang="en-AU" smtClean="0"/>
              <a:t>1/02/2021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275168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F726FA-289A-47A4-9DB2-36250D803CC9}" type="datetimeFigureOut">
              <a:rPr lang="en-AU" smtClean="0"/>
              <a:t>1/02/2021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2734468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E6F726FA-289A-47A4-9DB2-36250D803CC9}" type="datetimeFigureOut">
              <a:rPr lang="en-AU" smtClean="0"/>
              <a:t>1/02/2021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4196333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E6F726FA-289A-47A4-9DB2-36250D803CC9}" type="datetimeFigureOut">
              <a:rPr lang="en-AU" smtClean="0"/>
              <a:t>1/02/2021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108301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26FA-289A-47A4-9DB2-36250D803CC9}" type="datetimeFigureOut">
              <a:rPr lang="en-AU" smtClean="0"/>
              <a:t>1/02/2021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26B6D5-E49B-468D-A565-A6E4E9BB073F}" type="slidenum">
              <a:rPr lang="en-AU" smtClean="0"/>
              <a:t>‹#›</a:t>
            </a:fld>
            <a:endParaRPr lang="en-AU"/>
          </a:p>
        </p:txBody>
      </p:sp>
    </p:spTree>
    <p:extLst>
      <p:ext uri="{BB962C8B-B14F-4D97-AF65-F5344CB8AC3E}">
        <p14:creationId xmlns:p14="http://schemas.microsoft.com/office/powerpoint/2010/main" val="4206294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tiff"/></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tiff"/></Relationships>
</file>

<file path=ppt/slides/_rels/slide10.xml.rels><?xml version="1.0" encoding="UTF-8" standalone="yes"?>
<Relationships xmlns="http://schemas.openxmlformats.org/package/2006/relationships"><Relationship Id="rId3" Type="http://schemas.openxmlformats.org/officeDocument/2006/relationships/hyperlink" Target="http://education.jlab.org/atomtour/fact3.htm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tiff"/><Relationship Id="rId5" Type="http://schemas.openxmlformats.org/officeDocument/2006/relationships/image" Target="../media/image7.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1.tif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2429041"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Daily Review</a:t>
            </a:r>
            <a:endParaRPr lang="en-AU" sz="3200" dirty="0"/>
          </a:p>
        </p:txBody>
      </p:sp>
      <p:sp>
        <p:nvSpPr>
          <p:cNvPr id="2" name="TextBox 1"/>
          <p:cNvSpPr txBox="1"/>
          <p:nvPr/>
        </p:nvSpPr>
        <p:spPr>
          <a:xfrm>
            <a:off x="187960" y="782320"/>
            <a:ext cx="10419080" cy="9510296"/>
          </a:xfrm>
          <a:prstGeom prst="rect">
            <a:avLst/>
          </a:prstGeom>
          <a:noFill/>
        </p:spPr>
        <p:txBody>
          <a:bodyPr wrap="square" rtlCol="0">
            <a:spAutoFit/>
          </a:bodyPr>
          <a:lstStyle/>
          <a:p>
            <a:r>
              <a:rPr lang="en-AU" sz="2400" dirty="0" smtClean="0"/>
              <a:t>Some substances cannot be made</a:t>
            </a:r>
            <a:br>
              <a:rPr lang="en-AU" sz="2400" dirty="0" smtClean="0"/>
            </a:br>
            <a:r>
              <a:rPr lang="en-AU" sz="2400" dirty="0" smtClean="0"/>
              <a:t>into simpler substances. </a:t>
            </a:r>
            <a:br>
              <a:rPr lang="en-AU" sz="2400" dirty="0" smtClean="0"/>
            </a:br>
            <a:r>
              <a:rPr lang="en-AU" sz="2400" dirty="0" smtClean="0"/>
              <a:t>These simplest substances are </a:t>
            </a:r>
            <a:br>
              <a:rPr lang="en-AU" sz="2400" dirty="0" smtClean="0"/>
            </a:br>
            <a:r>
              <a:rPr lang="en-AU" sz="2400" dirty="0" smtClean="0"/>
              <a:t>called </a:t>
            </a:r>
            <a:r>
              <a:rPr lang="en-AU" sz="2400" b="1" dirty="0" smtClean="0">
                <a:solidFill>
                  <a:srgbClr val="0070C0"/>
                </a:solidFill>
              </a:rPr>
              <a:t>ELEMENTS</a:t>
            </a:r>
            <a:r>
              <a:rPr lang="en-AU" sz="2400" b="1" dirty="0" smtClean="0"/>
              <a:t>.</a:t>
            </a:r>
          </a:p>
          <a:p>
            <a:endParaRPr lang="en-AU" sz="2400" b="1" dirty="0" smtClean="0"/>
          </a:p>
          <a:p>
            <a:r>
              <a:rPr lang="en-AU" sz="2400" dirty="0" smtClean="0">
                <a:solidFill>
                  <a:srgbClr val="FF3399"/>
                </a:solidFill>
              </a:rPr>
              <a:t>Chemistry</a:t>
            </a:r>
            <a:r>
              <a:rPr lang="en-AU" sz="2400" dirty="0" smtClean="0"/>
              <a:t> is the study of these </a:t>
            </a:r>
            <a:br>
              <a:rPr lang="en-AU" sz="2400" dirty="0" smtClean="0"/>
            </a:br>
            <a:r>
              <a:rPr lang="en-AU" sz="2400" dirty="0" smtClean="0"/>
              <a:t>simplest substances and of how </a:t>
            </a:r>
            <a:br>
              <a:rPr lang="en-AU" sz="2400" dirty="0" smtClean="0"/>
            </a:br>
            <a:r>
              <a:rPr lang="en-AU" sz="2400" dirty="0" smtClean="0"/>
              <a:t>they chemically  combine or react </a:t>
            </a:r>
            <a:br>
              <a:rPr lang="en-AU" sz="2400" dirty="0" smtClean="0"/>
            </a:br>
            <a:r>
              <a:rPr lang="en-AU" sz="2400" dirty="0" smtClean="0"/>
              <a:t>with each other to form more </a:t>
            </a:r>
            <a:br>
              <a:rPr lang="en-AU" sz="2400" dirty="0" smtClean="0"/>
            </a:br>
            <a:r>
              <a:rPr lang="en-AU" sz="2400" dirty="0" smtClean="0"/>
              <a:t>complex substances called </a:t>
            </a:r>
            <a:br>
              <a:rPr lang="en-AU" sz="2400" dirty="0" smtClean="0"/>
            </a:br>
            <a:r>
              <a:rPr lang="en-AU" sz="2400" b="1" dirty="0" smtClean="0">
                <a:solidFill>
                  <a:srgbClr val="7030A0"/>
                </a:solidFill>
              </a:rPr>
              <a:t>COMPOUNDS</a:t>
            </a:r>
            <a:r>
              <a:rPr lang="en-AU" sz="2400" b="1" dirty="0" smtClean="0"/>
              <a:t>.</a:t>
            </a:r>
          </a:p>
          <a:p>
            <a:endParaRPr lang="en-AU" sz="2400" dirty="0"/>
          </a:p>
          <a:p>
            <a:r>
              <a:rPr lang="en-AU" sz="2400" dirty="0" smtClean="0"/>
              <a:t>In Year 9 you should have learnt </a:t>
            </a:r>
            <a:br>
              <a:rPr lang="en-AU" sz="2400" dirty="0" smtClean="0"/>
            </a:br>
            <a:r>
              <a:rPr lang="en-AU" sz="2400" dirty="0" smtClean="0"/>
              <a:t>the names and symbols of the </a:t>
            </a:r>
            <a:br>
              <a:rPr lang="en-AU" sz="2400" dirty="0" smtClean="0"/>
            </a:br>
            <a:r>
              <a:rPr lang="en-AU" sz="2400" dirty="0" smtClean="0"/>
              <a:t>following elements.</a:t>
            </a:r>
          </a:p>
          <a:p>
            <a:endParaRPr lang="en-AU" dirty="0" smtClean="0"/>
          </a:p>
          <a:p>
            <a:endParaRPr lang="en-AU" dirty="0"/>
          </a:p>
          <a:p>
            <a:endParaRPr lang="en-AU" dirty="0" smtClean="0"/>
          </a:p>
          <a:p>
            <a:endParaRPr lang="en-AU" dirty="0"/>
          </a:p>
          <a:p>
            <a:endParaRPr lang="en-AU" dirty="0" smtClean="0"/>
          </a:p>
          <a:p>
            <a:endParaRPr lang="en-AU" dirty="0"/>
          </a:p>
          <a:p>
            <a:endParaRPr lang="en-AU" dirty="0" smtClean="0"/>
          </a:p>
          <a:p>
            <a:endParaRPr lang="en-AU" dirty="0"/>
          </a:p>
          <a:p>
            <a:endParaRPr lang="en-AU" dirty="0" smtClean="0"/>
          </a:p>
          <a:p>
            <a:endParaRPr lang="en-AU" dirty="0"/>
          </a:p>
          <a:p>
            <a:endParaRPr lang="en-AU" dirty="0" smtClean="0"/>
          </a:p>
          <a:p>
            <a:endParaRPr lang="en-AU" dirty="0"/>
          </a:p>
          <a:p>
            <a:endParaRPr lang="en-AU" dirty="0" smtClean="0"/>
          </a:p>
          <a:p>
            <a:endParaRPr lang="en-AU" dirty="0"/>
          </a:p>
        </p:txBody>
      </p:sp>
      <p:graphicFrame>
        <p:nvGraphicFramePr>
          <p:cNvPr id="6" name="Table 5"/>
          <p:cNvGraphicFramePr>
            <a:graphicFrameLocks noGrp="1"/>
          </p:cNvGraphicFramePr>
          <p:nvPr>
            <p:extLst>
              <p:ext uri="{D42A27DB-BD31-4B8C-83A1-F6EECF244321}">
                <p14:modId xmlns:p14="http://schemas.microsoft.com/office/powerpoint/2010/main" val="113352850"/>
              </p:ext>
            </p:extLst>
          </p:nvPr>
        </p:nvGraphicFramePr>
        <p:xfrm>
          <a:off x="4637404" y="457776"/>
          <a:ext cx="7284721" cy="4754880"/>
        </p:xfrm>
        <a:graphic>
          <a:graphicData uri="http://schemas.openxmlformats.org/drawingml/2006/table">
            <a:tbl>
              <a:tblPr firstRow="1" bandRow="1">
                <a:tableStyleId>{5C22544A-7EE6-4342-B048-85BDC9FD1C3A}</a:tableStyleId>
              </a:tblPr>
              <a:tblGrid>
                <a:gridCol w="1314822">
                  <a:extLst>
                    <a:ext uri="{9D8B030D-6E8A-4147-A177-3AD203B41FA5}">
                      <a16:colId xmlns:a16="http://schemas.microsoft.com/office/drawing/2014/main" val="2497322612"/>
                    </a:ext>
                  </a:extLst>
                </a:gridCol>
                <a:gridCol w="1021177">
                  <a:extLst>
                    <a:ext uri="{9D8B030D-6E8A-4147-A177-3AD203B41FA5}">
                      <a16:colId xmlns:a16="http://schemas.microsoft.com/office/drawing/2014/main" val="1592914230"/>
                    </a:ext>
                  </a:extLst>
                </a:gridCol>
                <a:gridCol w="1402080">
                  <a:extLst>
                    <a:ext uri="{9D8B030D-6E8A-4147-A177-3AD203B41FA5}">
                      <a16:colId xmlns:a16="http://schemas.microsoft.com/office/drawing/2014/main" val="3352729165"/>
                    </a:ext>
                  </a:extLst>
                </a:gridCol>
                <a:gridCol w="995680">
                  <a:extLst>
                    <a:ext uri="{9D8B030D-6E8A-4147-A177-3AD203B41FA5}">
                      <a16:colId xmlns:a16="http://schemas.microsoft.com/office/drawing/2014/main" val="2004197884"/>
                    </a:ext>
                  </a:extLst>
                </a:gridCol>
                <a:gridCol w="1440611">
                  <a:extLst>
                    <a:ext uri="{9D8B030D-6E8A-4147-A177-3AD203B41FA5}">
                      <a16:colId xmlns:a16="http://schemas.microsoft.com/office/drawing/2014/main" val="1114687785"/>
                    </a:ext>
                  </a:extLst>
                </a:gridCol>
                <a:gridCol w="1110351">
                  <a:extLst>
                    <a:ext uri="{9D8B030D-6E8A-4147-A177-3AD203B41FA5}">
                      <a16:colId xmlns:a16="http://schemas.microsoft.com/office/drawing/2014/main" val="377057077"/>
                    </a:ext>
                  </a:extLst>
                </a:gridCol>
              </a:tblGrid>
              <a:tr h="0">
                <a:tc>
                  <a:txBody>
                    <a:bodyPr/>
                    <a:lstStyle/>
                    <a:p>
                      <a:r>
                        <a:rPr lang="en-AU" sz="2000" dirty="0" smtClean="0"/>
                        <a:t>Element</a:t>
                      </a:r>
                      <a:endParaRPr lang="en-AU" sz="2000" dirty="0"/>
                    </a:p>
                  </a:txBody>
                  <a:tcPr/>
                </a:tc>
                <a:tc>
                  <a:txBody>
                    <a:bodyPr/>
                    <a:lstStyle/>
                    <a:p>
                      <a:r>
                        <a:rPr lang="en-AU" sz="2000" dirty="0" smtClean="0"/>
                        <a:t>Symbol</a:t>
                      </a:r>
                      <a:endParaRPr lang="en-AU" sz="2000" dirty="0"/>
                    </a:p>
                  </a:txBody>
                  <a:tcPr/>
                </a:tc>
                <a:tc>
                  <a:txBody>
                    <a:bodyPr/>
                    <a:lstStyle/>
                    <a:p>
                      <a:r>
                        <a:rPr lang="en-AU" sz="2000" dirty="0" smtClean="0"/>
                        <a:t>Element</a:t>
                      </a:r>
                      <a:endParaRPr lang="en-AU" sz="2000" dirty="0"/>
                    </a:p>
                  </a:txBody>
                  <a:tcPr/>
                </a:tc>
                <a:tc>
                  <a:txBody>
                    <a:bodyPr/>
                    <a:lstStyle/>
                    <a:p>
                      <a:r>
                        <a:rPr lang="en-AU" sz="2000" dirty="0" smtClean="0"/>
                        <a:t>Symbol</a:t>
                      </a:r>
                      <a:endParaRPr lang="en-AU" sz="2000" dirty="0"/>
                    </a:p>
                  </a:txBody>
                  <a:tcPr/>
                </a:tc>
                <a:tc>
                  <a:txBody>
                    <a:bodyPr/>
                    <a:lstStyle/>
                    <a:p>
                      <a:r>
                        <a:rPr lang="en-AU" sz="2000" dirty="0" smtClean="0"/>
                        <a:t>Element</a:t>
                      </a:r>
                      <a:endParaRPr lang="en-AU" sz="2000" dirty="0"/>
                    </a:p>
                  </a:txBody>
                  <a:tcPr/>
                </a:tc>
                <a:tc>
                  <a:txBody>
                    <a:bodyPr/>
                    <a:lstStyle/>
                    <a:p>
                      <a:r>
                        <a:rPr lang="en-AU" sz="2000" dirty="0" smtClean="0"/>
                        <a:t>Symbol</a:t>
                      </a:r>
                      <a:endParaRPr lang="en-AU" sz="2000" dirty="0"/>
                    </a:p>
                  </a:txBody>
                  <a:tcPr/>
                </a:tc>
                <a:extLst>
                  <a:ext uri="{0D108BD9-81ED-4DB2-BD59-A6C34878D82A}">
                    <a16:rowId xmlns:a16="http://schemas.microsoft.com/office/drawing/2014/main" val="3428162324"/>
                  </a:ext>
                </a:extLst>
              </a:tr>
              <a:tr h="0">
                <a:tc>
                  <a:txBody>
                    <a:bodyPr/>
                    <a:lstStyle/>
                    <a:p>
                      <a:r>
                        <a:rPr lang="en-AU" sz="2000" dirty="0" smtClean="0"/>
                        <a:t>Aluminium</a:t>
                      </a:r>
                      <a:endParaRPr lang="en-AU" sz="2000" dirty="0"/>
                    </a:p>
                  </a:txBody>
                  <a:tcPr/>
                </a:tc>
                <a:tc>
                  <a:txBody>
                    <a:bodyPr/>
                    <a:lstStyle/>
                    <a:p>
                      <a:pPr algn="ctr"/>
                      <a:r>
                        <a:rPr lang="en-AU" sz="2000" dirty="0" smtClean="0"/>
                        <a:t>Al</a:t>
                      </a:r>
                      <a:endParaRPr lang="en-AU" sz="2000" dirty="0"/>
                    </a:p>
                  </a:txBody>
                  <a:tcPr/>
                </a:tc>
                <a:tc>
                  <a:txBody>
                    <a:bodyPr/>
                    <a:lstStyle/>
                    <a:p>
                      <a:r>
                        <a:rPr lang="en-AU" sz="2000" dirty="0" smtClean="0"/>
                        <a:t>Helium </a:t>
                      </a:r>
                      <a:endParaRPr lang="en-AU" sz="2000" dirty="0"/>
                    </a:p>
                  </a:txBody>
                  <a:tcPr/>
                </a:tc>
                <a:tc>
                  <a:txBody>
                    <a:bodyPr/>
                    <a:lstStyle/>
                    <a:p>
                      <a:pPr algn="ctr"/>
                      <a:r>
                        <a:rPr lang="en-AU" sz="2000" dirty="0" smtClean="0"/>
                        <a:t>He</a:t>
                      </a:r>
                      <a:endParaRPr lang="en-AU" sz="2000" dirty="0"/>
                    </a:p>
                  </a:txBody>
                  <a:tcPr/>
                </a:tc>
                <a:tc>
                  <a:txBody>
                    <a:bodyPr/>
                    <a:lstStyle/>
                    <a:p>
                      <a:r>
                        <a:rPr lang="en-AU" sz="2000" dirty="0" smtClean="0"/>
                        <a:t>Nitrogen</a:t>
                      </a:r>
                      <a:endParaRPr lang="en-AU" sz="2000" dirty="0"/>
                    </a:p>
                  </a:txBody>
                  <a:tcPr/>
                </a:tc>
                <a:tc>
                  <a:txBody>
                    <a:bodyPr/>
                    <a:lstStyle/>
                    <a:p>
                      <a:pPr algn="ctr"/>
                      <a:r>
                        <a:rPr lang="en-AU" sz="2000" dirty="0" smtClean="0"/>
                        <a:t>N</a:t>
                      </a:r>
                      <a:endParaRPr lang="en-AU" sz="2000" dirty="0"/>
                    </a:p>
                  </a:txBody>
                  <a:tcPr/>
                </a:tc>
                <a:extLst>
                  <a:ext uri="{0D108BD9-81ED-4DB2-BD59-A6C34878D82A}">
                    <a16:rowId xmlns:a16="http://schemas.microsoft.com/office/drawing/2014/main" val="4033949279"/>
                  </a:ext>
                </a:extLst>
              </a:tr>
              <a:tr h="0">
                <a:tc>
                  <a:txBody>
                    <a:bodyPr/>
                    <a:lstStyle/>
                    <a:p>
                      <a:r>
                        <a:rPr lang="en-AU" sz="2000" dirty="0" smtClean="0"/>
                        <a:t>Barium</a:t>
                      </a:r>
                      <a:endParaRPr lang="en-AU" sz="2000" dirty="0"/>
                    </a:p>
                  </a:txBody>
                  <a:tcPr/>
                </a:tc>
                <a:tc>
                  <a:txBody>
                    <a:bodyPr/>
                    <a:lstStyle/>
                    <a:p>
                      <a:pPr algn="ctr"/>
                      <a:r>
                        <a:rPr lang="en-AU" sz="2000" dirty="0" smtClean="0"/>
                        <a:t>Ba</a:t>
                      </a:r>
                      <a:endParaRPr lang="en-AU" sz="2000" dirty="0"/>
                    </a:p>
                  </a:txBody>
                  <a:tcPr/>
                </a:tc>
                <a:tc>
                  <a:txBody>
                    <a:bodyPr/>
                    <a:lstStyle/>
                    <a:p>
                      <a:r>
                        <a:rPr lang="en-AU" sz="2000" dirty="0" smtClean="0"/>
                        <a:t>Hydrogen</a:t>
                      </a:r>
                      <a:endParaRPr lang="en-AU" sz="2000" dirty="0"/>
                    </a:p>
                  </a:txBody>
                  <a:tcPr/>
                </a:tc>
                <a:tc>
                  <a:txBody>
                    <a:bodyPr/>
                    <a:lstStyle/>
                    <a:p>
                      <a:pPr algn="ctr"/>
                      <a:r>
                        <a:rPr lang="en-AU" sz="2000" dirty="0" smtClean="0"/>
                        <a:t>H</a:t>
                      </a:r>
                      <a:endParaRPr lang="en-AU" sz="2000" dirty="0"/>
                    </a:p>
                  </a:txBody>
                  <a:tcPr/>
                </a:tc>
                <a:tc>
                  <a:txBody>
                    <a:bodyPr/>
                    <a:lstStyle/>
                    <a:p>
                      <a:r>
                        <a:rPr lang="en-AU" sz="2000" dirty="0" smtClean="0"/>
                        <a:t>Oxygen</a:t>
                      </a:r>
                      <a:endParaRPr lang="en-AU" sz="2000" dirty="0"/>
                    </a:p>
                  </a:txBody>
                  <a:tcPr/>
                </a:tc>
                <a:tc>
                  <a:txBody>
                    <a:bodyPr/>
                    <a:lstStyle/>
                    <a:p>
                      <a:pPr algn="ctr"/>
                      <a:r>
                        <a:rPr lang="en-AU" sz="2000" dirty="0" smtClean="0"/>
                        <a:t>O</a:t>
                      </a:r>
                      <a:endParaRPr lang="en-AU" sz="2000" dirty="0"/>
                    </a:p>
                  </a:txBody>
                  <a:tcPr/>
                </a:tc>
                <a:extLst>
                  <a:ext uri="{0D108BD9-81ED-4DB2-BD59-A6C34878D82A}">
                    <a16:rowId xmlns:a16="http://schemas.microsoft.com/office/drawing/2014/main" val="2561500678"/>
                  </a:ext>
                </a:extLst>
              </a:tr>
              <a:tr h="0">
                <a:tc>
                  <a:txBody>
                    <a:bodyPr/>
                    <a:lstStyle/>
                    <a:p>
                      <a:r>
                        <a:rPr lang="en-AU" sz="2000" dirty="0" smtClean="0"/>
                        <a:t>Bromine</a:t>
                      </a:r>
                      <a:endParaRPr lang="en-AU" sz="2000" dirty="0"/>
                    </a:p>
                  </a:txBody>
                  <a:tcPr/>
                </a:tc>
                <a:tc>
                  <a:txBody>
                    <a:bodyPr/>
                    <a:lstStyle/>
                    <a:p>
                      <a:pPr algn="ctr"/>
                      <a:r>
                        <a:rPr lang="en-AU" sz="2000" dirty="0" smtClean="0"/>
                        <a:t>Br</a:t>
                      </a:r>
                      <a:endParaRPr lang="en-AU" sz="2000" dirty="0"/>
                    </a:p>
                  </a:txBody>
                  <a:tcPr/>
                </a:tc>
                <a:tc>
                  <a:txBody>
                    <a:bodyPr/>
                    <a:lstStyle/>
                    <a:p>
                      <a:r>
                        <a:rPr lang="en-AU" sz="2000" dirty="0" smtClean="0"/>
                        <a:t>Iodine</a:t>
                      </a:r>
                      <a:endParaRPr lang="en-AU" sz="2000" dirty="0"/>
                    </a:p>
                  </a:txBody>
                  <a:tcPr/>
                </a:tc>
                <a:tc>
                  <a:txBody>
                    <a:bodyPr/>
                    <a:lstStyle/>
                    <a:p>
                      <a:pPr algn="ctr"/>
                      <a:r>
                        <a:rPr lang="en-AU" sz="2000" dirty="0" smtClean="0"/>
                        <a:t>I</a:t>
                      </a:r>
                      <a:endParaRPr lang="en-AU" sz="2000" dirty="0"/>
                    </a:p>
                  </a:txBody>
                  <a:tcPr/>
                </a:tc>
                <a:tc>
                  <a:txBody>
                    <a:bodyPr/>
                    <a:lstStyle/>
                    <a:p>
                      <a:r>
                        <a:rPr lang="en-AU" sz="2000" dirty="0" smtClean="0"/>
                        <a:t>Phosphorus</a:t>
                      </a:r>
                      <a:endParaRPr lang="en-AU" sz="2000" dirty="0"/>
                    </a:p>
                  </a:txBody>
                  <a:tcPr/>
                </a:tc>
                <a:tc>
                  <a:txBody>
                    <a:bodyPr/>
                    <a:lstStyle/>
                    <a:p>
                      <a:pPr algn="ctr"/>
                      <a:r>
                        <a:rPr lang="en-AU" sz="2000" dirty="0" smtClean="0"/>
                        <a:t>P</a:t>
                      </a:r>
                      <a:endParaRPr lang="en-AU" sz="2000" dirty="0"/>
                    </a:p>
                  </a:txBody>
                  <a:tcPr/>
                </a:tc>
                <a:extLst>
                  <a:ext uri="{0D108BD9-81ED-4DB2-BD59-A6C34878D82A}">
                    <a16:rowId xmlns:a16="http://schemas.microsoft.com/office/drawing/2014/main" val="4284539497"/>
                  </a:ext>
                </a:extLst>
              </a:tr>
              <a:tr h="0">
                <a:tc>
                  <a:txBody>
                    <a:bodyPr/>
                    <a:lstStyle/>
                    <a:p>
                      <a:r>
                        <a:rPr lang="en-AU" sz="2000" dirty="0" smtClean="0"/>
                        <a:t>Calcium</a:t>
                      </a:r>
                      <a:endParaRPr lang="en-AU" sz="2000" dirty="0"/>
                    </a:p>
                  </a:txBody>
                  <a:tcPr/>
                </a:tc>
                <a:tc>
                  <a:txBody>
                    <a:bodyPr/>
                    <a:lstStyle/>
                    <a:p>
                      <a:pPr algn="ctr"/>
                      <a:r>
                        <a:rPr lang="en-AU" sz="2000" dirty="0" smtClean="0"/>
                        <a:t>Ca</a:t>
                      </a:r>
                      <a:endParaRPr lang="en-AU" sz="2000" dirty="0"/>
                    </a:p>
                  </a:txBody>
                  <a:tcPr/>
                </a:tc>
                <a:tc>
                  <a:txBody>
                    <a:bodyPr/>
                    <a:lstStyle/>
                    <a:p>
                      <a:r>
                        <a:rPr lang="en-AU" sz="2000" dirty="0" smtClean="0"/>
                        <a:t>Iron</a:t>
                      </a:r>
                      <a:endParaRPr lang="en-AU" sz="2000" dirty="0"/>
                    </a:p>
                  </a:txBody>
                  <a:tcPr/>
                </a:tc>
                <a:tc>
                  <a:txBody>
                    <a:bodyPr/>
                    <a:lstStyle/>
                    <a:p>
                      <a:pPr algn="ctr"/>
                      <a:r>
                        <a:rPr lang="en-AU" sz="2000" dirty="0" smtClean="0"/>
                        <a:t>Fe</a:t>
                      </a:r>
                      <a:endParaRPr lang="en-AU" sz="2000" dirty="0"/>
                    </a:p>
                  </a:txBody>
                  <a:tcPr/>
                </a:tc>
                <a:tc>
                  <a:txBody>
                    <a:bodyPr/>
                    <a:lstStyle/>
                    <a:p>
                      <a:r>
                        <a:rPr lang="en-AU" sz="2000" dirty="0" smtClean="0"/>
                        <a:t>Potassium</a:t>
                      </a:r>
                      <a:endParaRPr lang="en-AU" sz="2000" dirty="0"/>
                    </a:p>
                  </a:txBody>
                  <a:tcPr/>
                </a:tc>
                <a:tc>
                  <a:txBody>
                    <a:bodyPr/>
                    <a:lstStyle/>
                    <a:p>
                      <a:pPr algn="ctr"/>
                      <a:r>
                        <a:rPr lang="en-AU" sz="2000" dirty="0" smtClean="0"/>
                        <a:t>K</a:t>
                      </a:r>
                      <a:endParaRPr lang="en-AU" sz="2000" dirty="0"/>
                    </a:p>
                  </a:txBody>
                  <a:tcPr/>
                </a:tc>
                <a:extLst>
                  <a:ext uri="{0D108BD9-81ED-4DB2-BD59-A6C34878D82A}">
                    <a16:rowId xmlns:a16="http://schemas.microsoft.com/office/drawing/2014/main" val="3339078319"/>
                  </a:ext>
                </a:extLst>
              </a:tr>
              <a:tr h="0">
                <a:tc>
                  <a:txBody>
                    <a:bodyPr/>
                    <a:lstStyle/>
                    <a:p>
                      <a:r>
                        <a:rPr lang="en-AU" sz="2000" dirty="0" smtClean="0"/>
                        <a:t>Carbon</a:t>
                      </a:r>
                      <a:endParaRPr lang="en-AU" sz="2000" dirty="0"/>
                    </a:p>
                  </a:txBody>
                  <a:tcPr/>
                </a:tc>
                <a:tc>
                  <a:txBody>
                    <a:bodyPr/>
                    <a:lstStyle/>
                    <a:p>
                      <a:pPr algn="ctr"/>
                      <a:r>
                        <a:rPr lang="en-AU" sz="2000" dirty="0" smtClean="0"/>
                        <a:t>C</a:t>
                      </a:r>
                      <a:endParaRPr lang="en-AU" sz="2000" dirty="0"/>
                    </a:p>
                  </a:txBody>
                  <a:tcPr/>
                </a:tc>
                <a:tc>
                  <a:txBody>
                    <a:bodyPr/>
                    <a:lstStyle/>
                    <a:p>
                      <a:r>
                        <a:rPr lang="en-AU" sz="2000" dirty="0" smtClean="0"/>
                        <a:t>Lead</a:t>
                      </a:r>
                      <a:endParaRPr lang="en-AU" sz="2000" dirty="0"/>
                    </a:p>
                  </a:txBody>
                  <a:tcPr/>
                </a:tc>
                <a:tc>
                  <a:txBody>
                    <a:bodyPr/>
                    <a:lstStyle/>
                    <a:p>
                      <a:pPr algn="ctr"/>
                      <a:r>
                        <a:rPr lang="en-AU" sz="2000" dirty="0" err="1" smtClean="0"/>
                        <a:t>Pb</a:t>
                      </a:r>
                      <a:endParaRPr lang="en-AU" sz="2000" dirty="0"/>
                    </a:p>
                  </a:txBody>
                  <a:tcPr/>
                </a:tc>
                <a:tc>
                  <a:txBody>
                    <a:bodyPr/>
                    <a:lstStyle/>
                    <a:p>
                      <a:r>
                        <a:rPr lang="en-AU" sz="2000" dirty="0" smtClean="0"/>
                        <a:t>Silicon</a:t>
                      </a:r>
                      <a:endParaRPr lang="en-AU" sz="2000" dirty="0"/>
                    </a:p>
                  </a:txBody>
                  <a:tcPr/>
                </a:tc>
                <a:tc>
                  <a:txBody>
                    <a:bodyPr/>
                    <a:lstStyle/>
                    <a:p>
                      <a:pPr algn="ctr"/>
                      <a:r>
                        <a:rPr lang="en-AU" sz="2000" dirty="0" smtClean="0"/>
                        <a:t>Si</a:t>
                      </a:r>
                      <a:endParaRPr lang="en-AU" sz="2000" dirty="0"/>
                    </a:p>
                  </a:txBody>
                  <a:tcPr/>
                </a:tc>
                <a:extLst>
                  <a:ext uri="{0D108BD9-81ED-4DB2-BD59-A6C34878D82A}">
                    <a16:rowId xmlns:a16="http://schemas.microsoft.com/office/drawing/2014/main" val="2904845629"/>
                  </a:ext>
                </a:extLst>
              </a:tr>
              <a:tr h="0">
                <a:tc>
                  <a:txBody>
                    <a:bodyPr/>
                    <a:lstStyle/>
                    <a:p>
                      <a:r>
                        <a:rPr lang="en-AU" sz="2000" dirty="0" smtClean="0"/>
                        <a:t>Chlorine</a:t>
                      </a:r>
                      <a:endParaRPr lang="en-AU" sz="2000" dirty="0"/>
                    </a:p>
                  </a:txBody>
                  <a:tcPr/>
                </a:tc>
                <a:tc>
                  <a:txBody>
                    <a:bodyPr/>
                    <a:lstStyle/>
                    <a:p>
                      <a:pPr algn="ctr"/>
                      <a:r>
                        <a:rPr lang="en-AU" sz="2000" dirty="0" smtClean="0"/>
                        <a:t>Cl</a:t>
                      </a:r>
                      <a:endParaRPr lang="en-AU" sz="2000" dirty="0"/>
                    </a:p>
                  </a:txBody>
                  <a:tcPr/>
                </a:tc>
                <a:tc>
                  <a:txBody>
                    <a:bodyPr/>
                    <a:lstStyle/>
                    <a:p>
                      <a:r>
                        <a:rPr lang="en-AU" sz="2000" dirty="0" smtClean="0"/>
                        <a:t>Lithium</a:t>
                      </a:r>
                      <a:endParaRPr lang="en-AU" sz="2000" dirty="0"/>
                    </a:p>
                  </a:txBody>
                  <a:tcPr/>
                </a:tc>
                <a:tc>
                  <a:txBody>
                    <a:bodyPr/>
                    <a:lstStyle/>
                    <a:p>
                      <a:pPr algn="ctr"/>
                      <a:r>
                        <a:rPr lang="en-AU" sz="2000" dirty="0" smtClean="0"/>
                        <a:t>Li</a:t>
                      </a:r>
                      <a:endParaRPr lang="en-AU" sz="2000" dirty="0"/>
                    </a:p>
                  </a:txBody>
                  <a:tcPr/>
                </a:tc>
                <a:tc>
                  <a:txBody>
                    <a:bodyPr/>
                    <a:lstStyle/>
                    <a:p>
                      <a:r>
                        <a:rPr lang="en-AU" sz="2000" dirty="0" smtClean="0"/>
                        <a:t>Silver</a:t>
                      </a:r>
                      <a:endParaRPr lang="en-AU" sz="2000" dirty="0"/>
                    </a:p>
                  </a:txBody>
                  <a:tcPr/>
                </a:tc>
                <a:tc>
                  <a:txBody>
                    <a:bodyPr/>
                    <a:lstStyle/>
                    <a:p>
                      <a:pPr algn="ctr"/>
                      <a:r>
                        <a:rPr lang="en-AU" sz="2000" dirty="0" smtClean="0"/>
                        <a:t>Ag</a:t>
                      </a:r>
                      <a:endParaRPr lang="en-AU" sz="2000" dirty="0"/>
                    </a:p>
                  </a:txBody>
                  <a:tcPr/>
                </a:tc>
                <a:extLst>
                  <a:ext uri="{0D108BD9-81ED-4DB2-BD59-A6C34878D82A}">
                    <a16:rowId xmlns:a16="http://schemas.microsoft.com/office/drawing/2014/main" val="1935525477"/>
                  </a:ext>
                </a:extLst>
              </a:tr>
              <a:tr h="0">
                <a:tc>
                  <a:txBody>
                    <a:bodyPr/>
                    <a:lstStyle/>
                    <a:p>
                      <a:r>
                        <a:rPr lang="en-AU" sz="2000" dirty="0" smtClean="0"/>
                        <a:t>Chromium</a:t>
                      </a:r>
                      <a:endParaRPr lang="en-AU" sz="2000" dirty="0"/>
                    </a:p>
                  </a:txBody>
                  <a:tcPr/>
                </a:tc>
                <a:tc>
                  <a:txBody>
                    <a:bodyPr/>
                    <a:lstStyle/>
                    <a:p>
                      <a:pPr algn="ctr"/>
                      <a:r>
                        <a:rPr lang="en-AU" sz="2000" dirty="0" smtClean="0"/>
                        <a:t>Cr</a:t>
                      </a:r>
                      <a:endParaRPr lang="en-AU" sz="2000" dirty="0"/>
                    </a:p>
                  </a:txBody>
                  <a:tcPr/>
                </a:tc>
                <a:tc>
                  <a:txBody>
                    <a:bodyPr/>
                    <a:lstStyle/>
                    <a:p>
                      <a:r>
                        <a:rPr lang="en-AU" sz="2000" dirty="0" smtClean="0"/>
                        <a:t>Magnesium</a:t>
                      </a:r>
                      <a:endParaRPr lang="en-AU" sz="2000" dirty="0"/>
                    </a:p>
                  </a:txBody>
                  <a:tcPr/>
                </a:tc>
                <a:tc>
                  <a:txBody>
                    <a:bodyPr/>
                    <a:lstStyle/>
                    <a:p>
                      <a:pPr algn="ctr"/>
                      <a:r>
                        <a:rPr lang="en-AU" sz="2000" dirty="0" smtClean="0"/>
                        <a:t>Mg</a:t>
                      </a:r>
                      <a:endParaRPr lang="en-AU" sz="2000" dirty="0"/>
                    </a:p>
                  </a:txBody>
                  <a:tcPr/>
                </a:tc>
                <a:tc>
                  <a:txBody>
                    <a:bodyPr/>
                    <a:lstStyle/>
                    <a:p>
                      <a:r>
                        <a:rPr lang="en-AU" sz="2000" dirty="0" smtClean="0"/>
                        <a:t>Sodium</a:t>
                      </a:r>
                      <a:endParaRPr lang="en-AU" sz="2000" dirty="0"/>
                    </a:p>
                  </a:txBody>
                  <a:tcPr/>
                </a:tc>
                <a:tc>
                  <a:txBody>
                    <a:bodyPr/>
                    <a:lstStyle/>
                    <a:p>
                      <a:pPr algn="ctr"/>
                      <a:r>
                        <a:rPr lang="en-AU" sz="2000" dirty="0" smtClean="0"/>
                        <a:t>Na</a:t>
                      </a:r>
                      <a:endParaRPr lang="en-AU" sz="2000" dirty="0"/>
                    </a:p>
                  </a:txBody>
                  <a:tcPr/>
                </a:tc>
                <a:extLst>
                  <a:ext uri="{0D108BD9-81ED-4DB2-BD59-A6C34878D82A}">
                    <a16:rowId xmlns:a16="http://schemas.microsoft.com/office/drawing/2014/main" val="1058906473"/>
                  </a:ext>
                </a:extLst>
              </a:tr>
              <a:tr h="0">
                <a:tc>
                  <a:txBody>
                    <a:bodyPr/>
                    <a:lstStyle/>
                    <a:p>
                      <a:r>
                        <a:rPr lang="en-AU" sz="2000" dirty="0" smtClean="0"/>
                        <a:t>Cobalt</a:t>
                      </a:r>
                      <a:endParaRPr lang="en-AU" sz="2000" dirty="0"/>
                    </a:p>
                  </a:txBody>
                  <a:tcPr/>
                </a:tc>
                <a:tc>
                  <a:txBody>
                    <a:bodyPr/>
                    <a:lstStyle/>
                    <a:p>
                      <a:pPr algn="ctr"/>
                      <a:r>
                        <a:rPr lang="en-AU" sz="2000" dirty="0" smtClean="0"/>
                        <a:t>Co</a:t>
                      </a:r>
                      <a:endParaRPr lang="en-AU" sz="2000" dirty="0"/>
                    </a:p>
                  </a:txBody>
                  <a:tcPr/>
                </a:tc>
                <a:tc>
                  <a:txBody>
                    <a:bodyPr/>
                    <a:lstStyle/>
                    <a:p>
                      <a:r>
                        <a:rPr lang="en-AU" sz="2000" dirty="0" smtClean="0"/>
                        <a:t>Manganese</a:t>
                      </a:r>
                      <a:endParaRPr lang="en-AU" sz="2000" dirty="0"/>
                    </a:p>
                  </a:txBody>
                  <a:tcPr/>
                </a:tc>
                <a:tc>
                  <a:txBody>
                    <a:bodyPr/>
                    <a:lstStyle/>
                    <a:p>
                      <a:pPr algn="ctr"/>
                      <a:r>
                        <a:rPr lang="en-AU" sz="2000" dirty="0" err="1" smtClean="0"/>
                        <a:t>Mn</a:t>
                      </a:r>
                      <a:endParaRPr lang="en-AU" sz="2000" dirty="0"/>
                    </a:p>
                  </a:txBody>
                  <a:tcPr/>
                </a:tc>
                <a:tc>
                  <a:txBody>
                    <a:bodyPr/>
                    <a:lstStyle/>
                    <a:p>
                      <a:r>
                        <a:rPr lang="en-AU" sz="2000" dirty="0" err="1" smtClean="0"/>
                        <a:t>Sulfur</a:t>
                      </a:r>
                      <a:endParaRPr lang="en-AU" sz="2000" dirty="0"/>
                    </a:p>
                  </a:txBody>
                  <a:tcPr/>
                </a:tc>
                <a:tc>
                  <a:txBody>
                    <a:bodyPr/>
                    <a:lstStyle/>
                    <a:p>
                      <a:pPr algn="ctr"/>
                      <a:r>
                        <a:rPr lang="en-AU" sz="2000" dirty="0" smtClean="0"/>
                        <a:t>S</a:t>
                      </a:r>
                      <a:endParaRPr lang="en-AU" sz="2000" dirty="0"/>
                    </a:p>
                  </a:txBody>
                  <a:tcPr/>
                </a:tc>
                <a:extLst>
                  <a:ext uri="{0D108BD9-81ED-4DB2-BD59-A6C34878D82A}">
                    <a16:rowId xmlns:a16="http://schemas.microsoft.com/office/drawing/2014/main" val="2401883739"/>
                  </a:ext>
                </a:extLst>
              </a:tr>
              <a:tr h="0">
                <a:tc>
                  <a:txBody>
                    <a:bodyPr/>
                    <a:lstStyle/>
                    <a:p>
                      <a:r>
                        <a:rPr lang="en-AU" sz="2000" dirty="0" smtClean="0"/>
                        <a:t>Copper</a:t>
                      </a:r>
                      <a:endParaRPr lang="en-AU" sz="2000" dirty="0"/>
                    </a:p>
                  </a:txBody>
                  <a:tcPr/>
                </a:tc>
                <a:tc>
                  <a:txBody>
                    <a:bodyPr/>
                    <a:lstStyle/>
                    <a:p>
                      <a:pPr algn="ctr"/>
                      <a:r>
                        <a:rPr lang="en-AU" sz="2000" dirty="0" smtClean="0"/>
                        <a:t>Cu</a:t>
                      </a:r>
                      <a:endParaRPr lang="en-AU" sz="2000" dirty="0"/>
                    </a:p>
                  </a:txBody>
                  <a:tcPr/>
                </a:tc>
                <a:tc>
                  <a:txBody>
                    <a:bodyPr/>
                    <a:lstStyle/>
                    <a:p>
                      <a:r>
                        <a:rPr lang="en-AU" sz="2000" dirty="0" smtClean="0"/>
                        <a:t>Mercury</a:t>
                      </a:r>
                      <a:endParaRPr lang="en-AU" sz="2000" dirty="0"/>
                    </a:p>
                  </a:txBody>
                  <a:tcPr/>
                </a:tc>
                <a:tc>
                  <a:txBody>
                    <a:bodyPr/>
                    <a:lstStyle/>
                    <a:p>
                      <a:pPr algn="ctr"/>
                      <a:r>
                        <a:rPr lang="en-AU" sz="2000" dirty="0" smtClean="0"/>
                        <a:t>Hg</a:t>
                      </a:r>
                      <a:endParaRPr lang="en-AU" sz="2000" dirty="0"/>
                    </a:p>
                  </a:txBody>
                  <a:tcPr/>
                </a:tc>
                <a:tc>
                  <a:txBody>
                    <a:bodyPr/>
                    <a:lstStyle/>
                    <a:p>
                      <a:r>
                        <a:rPr lang="en-AU" sz="2000" dirty="0" smtClean="0"/>
                        <a:t>Tin</a:t>
                      </a:r>
                      <a:endParaRPr lang="en-AU" sz="2000" dirty="0"/>
                    </a:p>
                  </a:txBody>
                  <a:tcPr/>
                </a:tc>
                <a:tc>
                  <a:txBody>
                    <a:bodyPr/>
                    <a:lstStyle/>
                    <a:p>
                      <a:pPr algn="ctr"/>
                      <a:r>
                        <a:rPr lang="en-AU" sz="2000" dirty="0" smtClean="0"/>
                        <a:t>Sn</a:t>
                      </a:r>
                      <a:endParaRPr lang="en-AU" sz="2000" dirty="0"/>
                    </a:p>
                  </a:txBody>
                  <a:tcPr/>
                </a:tc>
                <a:extLst>
                  <a:ext uri="{0D108BD9-81ED-4DB2-BD59-A6C34878D82A}">
                    <a16:rowId xmlns:a16="http://schemas.microsoft.com/office/drawing/2014/main" val="891146113"/>
                  </a:ext>
                </a:extLst>
              </a:tr>
              <a:tr h="0">
                <a:tc>
                  <a:txBody>
                    <a:bodyPr/>
                    <a:lstStyle/>
                    <a:p>
                      <a:r>
                        <a:rPr lang="en-AU" sz="2000" dirty="0" smtClean="0"/>
                        <a:t>Fluorine</a:t>
                      </a:r>
                      <a:endParaRPr lang="en-AU" sz="2000" dirty="0"/>
                    </a:p>
                  </a:txBody>
                  <a:tcPr/>
                </a:tc>
                <a:tc>
                  <a:txBody>
                    <a:bodyPr/>
                    <a:lstStyle/>
                    <a:p>
                      <a:pPr algn="ctr"/>
                      <a:r>
                        <a:rPr lang="en-AU" sz="2000" dirty="0" smtClean="0"/>
                        <a:t>F</a:t>
                      </a:r>
                      <a:endParaRPr lang="en-AU" sz="2000" dirty="0"/>
                    </a:p>
                  </a:txBody>
                  <a:tcPr/>
                </a:tc>
                <a:tc>
                  <a:txBody>
                    <a:bodyPr/>
                    <a:lstStyle/>
                    <a:p>
                      <a:r>
                        <a:rPr lang="en-AU" sz="2000" dirty="0" smtClean="0"/>
                        <a:t>Neon</a:t>
                      </a:r>
                      <a:endParaRPr lang="en-AU" sz="2000" dirty="0"/>
                    </a:p>
                  </a:txBody>
                  <a:tcPr/>
                </a:tc>
                <a:tc>
                  <a:txBody>
                    <a:bodyPr/>
                    <a:lstStyle/>
                    <a:p>
                      <a:pPr algn="ctr"/>
                      <a:r>
                        <a:rPr lang="en-AU" sz="2000" dirty="0" smtClean="0"/>
                        <a:t>Ne</a:t>
                      </a:r>
                      <a:endParaRPr lang="en-AU" sz="2000" dirty="0"/>
                    </a:p>
                  </a:txBody>
                  <a:tcPr/>
                </a:tc>
                <a:tc>
                  <a:txBody>
                    <a:bodyPr/>
                    <a:lstStyle/>
                    <a:p>
                      <a:r>
                        <a:rPr lang="en-AU" sz="2000" dirty="0" smtClean="0"/>
                        <a:t>Uranium</a:t>
                      </a:r>
                      <a:endParaRPr lang="en-AU" sz="2000" dirty="0"/>
                    </a:p>
                  </a:txBody>
                  <a:tcPr/>
                </a:tc>
                <a:tc>
                  <a:txBody>
                    <a:bodyPr/>
                    <a:lstStyle/>
                    <a:p>
                      <a:pPr algn="ctr"/>
                      <a:r>
                        <a:rPr lang="en-AU" sz="2000" dirty="0" smtClean="0"/>
                        <a:t>U</a:t>
                      </a:r>
                      <a:endParaRPr lang="en-AU" sz="2000" dirty="0"/>
                    </a:p>
                  </a:txBody>
                  <a:tcPr/>
                </a:tc>
                <a:extLst>
                  <a:ext uri="{0D108BD9-81ED-4DB2-BD59-A6C34878D82A}">
                    <a16:rowId xmlns:a16="http://schemas.microsoft.com/office/drawing/2014/main" val="2416658992"/>
                  </a:ext>
                </a:extLst>
              </a:tr>
              <a:tr h="0">
                <a:tc>
                  <a:txBody>
                    <a:bodyPr/>
                    <a:lstStyle/>
                    <a:p>
                      <a:r>
                        <a:rPr lang="en-AU" sz="2000" dirty="0" smtClean="0"/>
                        <a:t>Gold</a:t>
                      </a:r>
                      <a:endParaRPr lang="en-AU" sz="2000" dirty="0"/>
                    </a:p>
                  </a:txBody>
                  <a:tcPr/>
                </a:tc>
                <a:tc>
                  <a:txBody>
                    <a:bodyPr/>
                    <a:lstStyle/>
                    <a:p>
                      <a:pPr algn="ctr"/>
                      <a:r>
                        <a:rPr lang="en-AU" sz="2000" dirty="0" smtClean="0"/>
                        <a:t>Au</a:t>
                      </a:r>
                      <a:endParaRPr lang="en-AU" sz="2000" dirty="0"/>
                    </a:p>
                  </a:txBody>
                  <a:tcPr/>
                </a:tc>
                <a:tc>
                  <a:txBody>
                    <a:bodyPr/>
                    <a:lstStyle/>
                    <a:p>
                      <a:r>
                        <a:rPr lang="en-AU" sz="2000" dirty="0" smtClean="0"/>
                        <a:t>Nickel</a:t>
                      </a:r>
                      <a:endParaRPr lang="en-AU" sz="2000" dirty="0"/>
                    </a:p>
                  </a:txBody>
                  <a:tcPr/>
                </a:tc>
                <a:tc>
                  <a:txBody>
                    <a:bodyPr/>
                    <a:lstStyle/>
                    <a:p>
                      <a:pPr algn="ctr"/>
                      <a:r>
                        <a:rPr lang="en-AU" sz="2000" dirty="0" smtClean="0"/>
                        <a:t>Ni</a:t>
                      </a:r>
                      <a:endParaRPr lang="en-AU" sz="2000" dirty="0"/>
                    </a:p>
                  </a:txBody>
                  <a:tcPr/>
                </a:tc>
                <a:tc>
                  <a:txBody>
                    <a:bodyPr/>
                    <a:lstStyle/>
                    <a:p>
                      <a:r>
                        <a:rPr lang="en-AU" sz="2000" dirty="0" smtClean="0"/>
                        <a:t>Zinc</a:t>
                      </a:r>
                      <a:endParaRPr lang="en-AU" sz="2000" dirty="0"/>
                    </a:p>
                  </a:txBody>
                  <a:tcPr/>
                </a:tc>
                <a:tc>
                  <a:txBody>
                    <a:bodyPr/>
                    <a:lstStyle/>
                    <a:p>
                      <a:pPr algn="ctr"/>
                      <a:r>
                        <a:rPr lang="en-AU" sz="2000" dirty="0" smtClean="0"/>
                        <a:t>Zn</a:t>
                      </a:r>
                      <a:endParaRPr lang="en-AU" sz="2000" dirty="0"/>
                    </a:p>
                  </a:txBody>
                  <a:tcPr/>
                </a:tc>
                <a:extLst>
                  <a:ext uri="{0D108BD9-81ED-4DB2-BD59-A6C34878D82A}">
                    <a16:rowId xmlns:a16="http://schemas.microsoft.com/office/drawing/2014/main" val="93675465"/>
                  </a:ext>
                </a:extLst>
              </a:tr>
            </a:tbl>
          </a:graphicData>
        </a:graphic>
      </p:graphicFrame>
    </p:spTree>
    <p:extLst>
      <p:ext uri="{BB962C8B-B14F-4D97-AF65-F5344CB8AC3E}">
        <p14:creationId xmlns:p14="http://schemas.microsoft.com/office/powerpoint/2010/main" val="2472136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2429041"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Daily Review</a:t>
            </a:r>
            <a:endParaRPr lang="en-AU" sz="3200" dirty="0"/>
          </a:p>
        </p:txBody>
      </p:sp>
      <p:sp>
        <p:nvSpPr>
          <p:cNvPr id="3" name="TextBox 2"/>
          <p:cNvSpPr txBox="1"/>
          <p:nvPr/>
        </p:nvSpPr>
        <p:spPr>
          <a:xfrm>
            <a:off x="249495" y="902323"/>
            <a:ext cx="11545690" cy="3600986"/>
          </a:xfrm>
          <a:prstGeom prst="rect">
            <a:avLst/>
          </a:prstGeom>
          <a:noFill/>
        </p:spPr>
        <p:txBody>
          <a:bodyPr wrap="square" rtlCol="0">
            <a:spAutoFit/>
          </a:bodyPr>
          <a:lstStyle/>
          <a:p>
            <a:r>
              <a:rPr lang="en-AU" sz="2400" dirty="0" smtClean="0"/>
              <a:t>In Year 9 you learnt how to write the symbols for the elements </a:t>
            </a:r>
          </a:p>
          <a:p>
            <a:pPr marL="285750" indent="-285750">
              <a:buFont typeface="Arial" panose="020B0604020202020204" pitchFamily="34" charset="0"/>
              <a:buChar char="•"/>
            </a:pPr>
            <a:r>
              <a:rPr lang="en-AU" sz="2400" dirty="0" smtClean="0"/>
              <a:t>The symbol is always written    e.g. Al not  </a:t>
            </a:r>
            <a:r>
              <a:rPr lang="en-AU" sz="3600" i="1" dirty="0" smtClean="0"/>
              <a:t>a</a:t>
            </a:r>
            <a:r>
              <a:rPr lang="en-AU" sz="2400" i="1" dirty="0" smtClean="0"/>
              <a:t>l.</a:t>
            </a:r>
          </a:p>
          <a:p>
            <a:pPr marL="285750" indent="-285750">
              <a:buFont typeface="Arial" panose="020B0604020202020204" pitchFamily="34" charset="0"/>
              <a:buChar char="•"/>
            </a:pPr>
            <a:r>
              <a:rPr lang="en-AU" sz="2400" dirty="0" smtClean="0"/>
              <a:t>If an element’s symbol has more than one letter, the </a:t>
            </a:r>
            <a:r>
              <a:rPr lang="en-AU" sz="2400" dirty="0" smtClean="0">
                <a:solidFill>
                  <a:srgbClr val="00B0F0"/>
                </a:solidFill>
              </a:rPr>
              <a:t>first letter must be in CAPITALS and the others in lower case.</a:t>
            </a:r>
          </a:p>
          <a:p>
            <a:pPr marL="285750" indent="-285750">
              <a:buFont typeface="Arial" panose="020B0604020202020204" pitchFamily="34" charset="0"/>
              <a:buChar char="•"/>
            </a:pPr>
            <a:r>
              <a:rPr lang="en-AU" sz="2400" dirty="0" smtClean="0"/>
              <a:t>Many of the symbols originate from the Latin and </a:t>
            </a:r>
            <a:r>
              <a:rPr lang="en-AU" sz="2400" dirty="0"/>
              <a:t>G</a:t>
            </a:r>
            <a:r>
              <a:rPr lang="en-AU" sz="2400" dirty="0" smtClean="0"/>
              <a:t>reek languages</a:t>
            </a:r>
          </a:p>
          <a:p>
            <a:r>
              <a:rPr lang="en-AU" sz="2400" dirty="0"/>
              <a:t> </a:t>
            </a:r>
            <a:r>
              <a:rPr lang="en-AU" sz="2400" dirty="0" smtClean="0"/>
              <a:t>        e.g. </a:t>
            </a:r>
            <a:r>
              <a:rPr lang="en-AU" sz="2400" dirty="0"/>
              <a:t>S</a:t>
            </a:r>
            <a:r>
              <a:rPr lang="en-AU" sz="2400" dirty="0" smtClean="0"/>
              <a:t>odium  (Na) and Lead  (</a:t>
            </a:r>
            <a:r>
              <a:rPr lang="en-AU" sz="2400" dirty="0" err="1" smtClean="0"/>
              <a:t>Pb</a:t>
            </a:r>
            <a:r>
              <a:rPr lang="en-AU" sz="2400" dirty="0" smtClean="0"/>
              <a:t>).</a:t>
            </a:r>
          </a:p>
          <a:p>
            <a:endParaRPr lang="en-AU" sz="2400" dirty="0"/>
          </a:p>
          <a:p>
            <a:endParaRPr lang="en-AU" sz="2400" dirty="0" smtClean="0"/>
          </a:p>
          <a:p>
            <a:r>
              <a:rPr lang="en-AU" sz="2400" dirty="0" smtClean="0"/>
              <a:t>Can you use Co and CO to explain the differences between elements and compounds?</a:t>
            </a:r>
            <a:endParaRPr lang="en-AU" sz="2400" dirty="0"/>
          </a:p>
        </p:txBody>
      </p:sp>
      <p:pic>
        <p:nvPicPr>
          <p:cNvPr id="6" name="Picture 5" descr="Chemical Elements - Cobalt"/>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29041" y="4503309"/>
            <a:ext cx="2484120" cy="2484120"/>
          </a:xfrm>
          <a:prstGeom prst="rect">
            <a:avLst/>
          </a:prstGeom>
        </p:spPr>
      </p:pic>
      <p:pic>
        <p:nvPicPr>
          <p:cNvPr id="7" name="Picture 6" descr="Carbon monoxide | Environment, land and water | Queensland ..."/>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9089" y="4455557"/>
            <a:ext cx="3164840" cy="2531872"/>
          </a:xfrm>
          <a:prstGeom prst="rect">
            <a:avLst/>
          </a:prstGeom>
        </p:spPr>
      </p:pic>
    </p:spTree>
    <p:extLst>
      <p:ext uri="{BB962C8B-B14F-4D97-AF65-F5344CB8AC3E}">
        <p14:creationId xmlns:p14="http://schemas.microsoft.com/office/powerpoint/2010/main" val="3262885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52880" y="629603"/>
            <a:ext cx="9144000" cy="1519237"/>
          </a:xfrm>
          <a:ln w="38100">
            <a:solidFill>
              <a:srgbClr val="00B050"/>
            </a:solidFill>
          </a:ln>
        </p:spPr>
        <p:txBody>
          <a:bodyPr anchor="ctr"/>
          <a:lstStyle/>
          <a:p>
            <a:r>
              <a:rPr lang="en-AU" dirty="0" smtClean="0"/>
              <a:t>Structure of the Atom</a:t>
            </a:r>
            <a:endParaRPr lang="en-AU" dirty="0"/>
          </a:p>
        </p:txBody>
      </p:sp>
      <p:pic>
        <p:nvPicPr>
          <p:cNvPr id="4" name="Picture 3" descr="Particle accelerators: making life better since 1932 ..."/>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7440" y="2616200"/>
            <a:ext cx="3738880" cy="3738880"/>
          </a:xfrm>
          <a:prstGeom prst="rect">
            <a:avLst/>
          </a:prstGeom>
        </p:spPr>
      </p:pic>
      <p:pic>
        <p:nvPicPr>
          <p:cNvPr id="5" name="Picture 4" descr="File:Stylised atom with three Bohr model orbits and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15760" y="2616200"/>
            <a:ext cx="3561080" cy="3561080"/>
          </a:xfrm>
          <a:prstGeom prst="rect">
            <a:avLst/>
          </a:prstGeom>
        </p:spPr>
      </p:pic>
    </p:spTree>
    <p:extLst>
      <p:ext uri="{BB962C8B-B14F-4D97-AF65-F5344CB8AC3E}">
        <p14:creationId xmlns:p14="http://schemas.microsoft.com/office/powerpoint/2010/main" val="35828478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3590904"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Learning </a:t>
            </a:r>
            <a:r>
              <a:rPr lang="en-AU" sz="3200" dirty="0" smtClean="0"/>
              <a:t>Objectives</a:t>
            </a:r>
            <a:endParaRPr lang="en-AU" sz="3200" dirty="0"/>
          </a:p>
        </p:txBody>
      </p:sp>
      <p:sp>
        <p:nvSpPr>
          <p:cNvPr id="9" name="TextBox 8"/>
          <p:cNvSpPr txBox="1"/>
          <p:nvPr/>
        </p:nvSpPr>
        <p:spPr>
          <a:xfrm>
            <a:off x="0" y="2623210"/>
            <a:ext cx="4498548"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Activate Prior Knowledge</a:t>
            </a:r>
          </a:p>
        </p:txBody>
      </p:sp>
      <p:graphicFrame>
        <p:nvGraphicFramePr>
          <p:cNvPr id="11" name="Table 10"/>
          <p:cNvGraphicFramePr>
            <a:graphicFrameLocks noGrp="1"/>
          </p:cNvGraphicFramePr>
          <p:nvPr>
            <p:extLst>
              <p:ext uri="{D42A27DB-BD31-4B8C-83A1-F6EECF244321}">
                <p14:modId xmlns:p14="http://schemas.microsoft.com/office/powerpoint/2010/main" val="4193686282"/>
              </p:ext>
            </p:extLst>
          </p:nvPr>
        </p:nvGraphicFramePr>
        <p:xfrm>
          <a:off x="9328245" y="244761"/>
          <a:ext cx="2605964" cy="1005840"/>
        </p:xfrm>
        <a:graphic>
          <a:graphicData uri="http://schemas.openxmlformats.org/drawingml/2006/table">
            <a:tbl>
              <a:tblPr firstRow="1" bandRow="1">
                <a:tableStyleId>{93296810-A885-4BE3-A3E7-6D5BEEA58F35}</a:tableStyleId>
              </a:tblPr>
              <a:tblGrid>
                <a:gridCol w="2605964">
                  <a:extLst>
                    <a:ext uri="{9D8B030D-6E8A-4147-A177-3AD203B41FA5}">
                      <a16:colId xmlns:a16="http://schemas.microsoft.com/office/drawing/2014/main" val="20000"/>
                    </a:ext>
                  </a:extLst>
                </a:gridCol>
              </a:tblGrid>
              <a:tr h="353527">
                <a:tc>
                  <a:txBody>
                    <a:bodyPr/>
                    <a:lstStyle/>
                    <a:p>
                      <a:r>
                        <a:rPr lang="en-AU" dirty="0"/>
                        <a:t>CFU</a:t>
                      </a:r>
                    </a:p>
                  </a:txBody>
                  <a:tcPr>
                    <a:solidFill>
                      <a:srgbClr val="00B050"/>
                    </a:solidFill>
                  </a:tcPr>
                </a:tc>
                <a:extLst>
                  <a:ext uri="{0D108BD9-81ED-4DB2-BD59-A6C34878D82A}">
                    <a16:rowId xmlns:a16="http://schemas.microsoft.com/office/drawing/2014/main" val="10000"/>
                  </a:ext>
                </a:extLst>
              </a:tr>
              <a:tr h="370840">
                <a:tc>
                  <a:txBody>
                    <a:bodyPr/>
                    <a:lstStyle/>
                    <a:p>
                      <a:r>
                        <a:rPr lang="en-AU" dirty="0"/>
                        <a:t>What are we going to learn?</a:t>
                      </a:r>
                    </a:p>
                  </a:txBody>
                  <a:tcPr/>
                </a:tc>
                <a:extLst>
                  <a:ext uri="{0D108BD9-81ED-4DB2-BD59-A6C34878D82A}">
                    <a16:rowId xmlns:a16="http://schemas.microsoft.com/office/drawing/2014/main" val="10001"/>
                  </a:ext>
                </a:extLst>
              </a:tr>
            </a:tbl>
          </a:graphicData>
        </a:graphic>
      </p:graphicFrame>
      <p:sp>
        <p:nvSpPr>
          <p:cNvPr id="3" name="TextBox 2"/>
          <p:cNvSpPr txBox="1"/>
          <p:nvPr/>
        </p:nvSpPr>
        <p:spPr>
          <a:xfrm>
            <a:off x="330200" y="881269"/>
            <a:ext cx="8485996" cy="1938992"/>
          </a:xfrm>
          <a:prstGeom prst="rect">
            <a:avLst/>
          </a:prstGeom>
          <a:noFill/>
        </p:spPr>
        <p:txBody>
          <a:bodyPr wrap="square" rtlCol="0">
            <a:spAutoFit/>
          </a:bodyPr>
          <a:lstStyle/>
          <a:p>
            <a:pPr marL="342900" indent="-342900">
              <a:buFont typeface="Arial" panose="020B0604020202020204" pitchFamily="34" charset="0"/>
              <a:buChar char="•"/>
            </a:pPr>
            <a:r>
              <a:rPr lang="en-AU" sz="2400" dirty="0" smtClean="0"/>
              <a:t>Compare charges and mass for Protons, neutrons and electrons.</a:t>
            </a:r>
          </a:p>
          <a:p>
            <a:pPr marL="342900" indent="-342900">
              <a:buFont typeface="Arial" panose="020B0604020202020204" pitchFamily="34" charset="0"/>
              <a:buChar char="•"/>
            </a:pPr>
            <a:r>
              <a:rPr lang="en-AU" sz="2400" dirty="0" smtClean="0"/>
              <a:t>Describe the composition of the nucleus and outer regions.</a:t>
            </a:r>
          </a:p>
          <a:p>
            <a:pPr marL="342900" indent="-342900">
              <a:buFont typeface="Arial" panose="020B0604020202020204" pitchFamily="34" charset="0"/>
              <a:buChar char="•"/>
            </a:pPr>
            <a:r>
              <a:rPr lang="en-AU" sz="2400" dirty="0" smtClean="0"/>
              <a:t>Define and show an understanding of Atomic number and Atomic mass.</a:t>
            </a:r>
          </a:p>
          <a:p>
            <a:pPr marL="342900" indent="-342900">
              <a:buFont typeface="Arial" panose="020B0604020202020204" pitchFamily="34" charset="0"/>
              <a:buChar char="•"/>
            </a:pPr>
            <a:endParaRPr lang="en-AU" sz="2400" dirty="0"/>
          </a:p>
        </p:txBody>
      </p:sp>
      <p:sp>
        <p:nvSpPr>
          <p:cNvPr id="12" name="TextBox 11"/>
          <p:cNvSpPr txBox="1"/>
          <p:nvPr/>
        </p:nvSpPr>
        <p:spPr>
          <a:xfrm>
            <a:off x="0" y="3207985"/>
            <a:ext cx="11444569" cy="5262979"/>
          </a:xfrm>
          <a:prstGeom prst="rect">
            <a:avLst/>
          </a:prstGeom>
          <a:noFill/>
        </p:spPr>
        <p:txBody>
          <a:bodyPr wrap="square" rtlCol="0">
            <a:spAutoFit/>
          </a:bodyPr>
          <a:lstStyle/>
          <a:p>
            <a:r>
              <a:rPr lang="en-AU" sz="2400" b="1" dirty="0">
                <a:solidFill>
                  <a:srgbClr val="FF0000"/>
                </a:solidFill>
              </a:rPr>
              <a:t>Matter</a:t>
            </a:r>
            <a:r>
              <a:rPr lang="en-AU" sz="2400" b="1" dirty="0"/>
              <a:t> is anything that takes up </a:t>
            </a:r>
            <a:r>
              <a:rPr lang="en-AU" sz="2400" b="1" dirty="0">
                <a:solidFill>
                  <a:srgbClr val="FF3399"/>
                </a:solidFill>
              </a:rPr>
              <a:t>space and has mass</a:t>
            </a:r>
            <a:r>
              <a:rPr lang="en-AU" sz="2400" b="1" dirty="0" smtClean="0"/>
              <a:t>. All </a:t>
            </a:r>
            <a:r>
              <a:rPr lang="en-AU" sz="2400" b="1" dirty="0"/>
              <a:t>matter is made up of </a:t>
            </a:r>
            <a:r>
              <a:rPr lang="en-AU" sz="2400" b="1" dirty="0">
                <a:solidFill>
                  <a:srgbClr val="00B050"/>
                </a:solidFill>
              </a:rPr>
              <a:t>ATOMS</a:t>
            </a:r>
            <a:r>
              <a:rPr lang="en-AU" sz="2400" b="1" dirty="0"/>
              <a:t>.</a:t>
            </a:r>
          </a:p>
          <a:p>
            <a:r>
              <a:rPr lang="en-AU" sz="2400" dirty="0" smtClean="0"/>
              <a:t>Atoms </a:t>
            </a:r>
            <a:r>
              <a:rPr lang="en-AU" sz="2400" dirty="0"/>
              <a:t>are the building blocks of matter, sort of how bricks are the building blocks of houses</a:t>
            </a:r>
            <a:r>
              <a:rPr lang="en-AU" sz="2400" dirty="0" smtClean="0"/>
              <a:t>.</a:t>
            </a:r>
            <a:endParaRPr lang="en-AU" sz="2400" dirty="0"/>
          </a:p>
          <a:p>
            <a:r>
              <a:rPr lang="en-AU" sz="2400" dirty="0" smtClean="0"/>
              <a:t>An atom has three </a:t>
            </a:r>
            <a:r>
              <a:rPr lang="en-AU" sz="2400" smtClean="0"/>
              <a:t>fundamental subatomic </a:t>
            </a:r>
            <a:r>
              <a:rPr lang="en-AU" sz="2400" dirty="0" smtClean="0"/>
              <a:t>particles:</a:t>
            </a:r>
          </a:p>
          <a:p>
            <a:pPr marL="457200" indent="-457200">
              <a:buFont typeface="Arial" panose="020B0604020202020204" pitchFamily="34" charset="0"/>
              <a:buChar char="•"/>
            </a:pPr>
            <a:r>
              <a:rPr lang="en-AU" sz="2400" b="1" dirty="0" smtClean="0"/>
              <a:t>Protons</a:t>
            </a:r>
            <a:r>
              <a:rPr lang="en-AU" sz="2400" dirty="0" smtClean="0"/>
              <a:t> – </a:t>
            </a:r>
            <a:r>
              <a:rPr lang="en-AU" sz="2400" dirty="0" smtClean="0">
                <a:solidFill>
                  <a:srgbClr val="0070C0"/>
                </a:solidFill>
              </a:rPr>
              <a:t>positive charge</a:t>
            </a:r>
            <a:endParaRPr lang="en-AU" sz="2400" dirty="0">
              <a:solidFill>
                <a:srgbClr val="0070C0"/>
              </a:solidFill>
            </a:endParaRPr>
          </a:p>
          <a:p>
            <a:pPr marL="457200" indent="-457200">
              <a:buFont typeface="Arial" panose="020B0604020202020204" pitchFamily="34" charset="0"/>
              <a:buChar char="•"/>
            </a:pPr>
            <a:r>
              <a:rPr lang="en-AU" sz="2400" b="1" dirty="0"/>
              <a:t>Neutrons </a:t>
            </a:r>
            <a:r>
              <a:rPr lang="en-AU" sz="2400" dirty="0"/>
              <a:t> </a:t>
            </a:r>
            <a:r>
              <a:rPr lang="en-AU" sz="2400" dirty="0" smtClean="0"/>
              <a:t>- </a:t>
            </a:r>
            <a:r>
              <a:rPr lang="en-AU" sz="2400" dirty="0">
                <a:solidFill>
                  <a:srgbClr val="00B050"/>
                </a:solidFill>
              </a:rPr>
              <a:t>no </a:t>
            </a:r>
            <a:r>
              <a:rPr lang="en-AU" sz="2400" dirty="0" smtClean="0">
                <a:solidFill>
                  <a:srgbClr val="00B050"/>
                </a:solidFill>
              </a:rPr>
              <a:t>charge (neutral)</a:t>
            </a:r>
            <a:endParaRPr lang="en-AU" sz="2400" dirty="0">
              <a:solidFill>
                <a:srgbClr val="00B050"/>
              </a:solidFill>
            </a:endParaRPr>
          </a:p>
          <a:p>
            <a:pPr marL="457200" indent="-457200">
              <a:buFont typeface="Arial" panose="020B0604020202020204" pitchFamily="34" charset="0"/>
              <a:buChar char="•"/>
            </a:pPr>
            <a:r>
              <a:rPr lang="en-AU" sz="2400" b="1" dirty="0"/>
              <a:t>Electrons</a:t>
            </a:r>
            <a:r>
              <a:rPr lang="en-AU" sz="2400" dirty="0"/>
              <a:t>  </a:t>
            </a:r>
            <a:r>
              <a:rPr lang="en-AU" sz="2400" dirty="0" smtClean="0"/>
              <a:t>- </a:t>
            </a:r>
            <a:r>
              <a:rPr lang="en-AU" sz="2400" dirty="0" smtClean="0">
                <a:solidFill>
                  <a:srgbClr val="C00000"/>
                </a:solidFill>
              </a:rPr>
              <a:t>negative charge</a:t>
            </a:r>
            <a:endParaRPr lang="en-AU" sz="2400" dirty="0">
              <a:solidFill>
                <a:srgbClr val="C00000"/>
              </a:solidFill>
            </a:endParaRPr>
          </a:p>
          <a:p>
            <a:endParaRPr lang="en-AU" sz="2400" dirty="0"/>
          </a:p>
          <a:p>
            <a:r>
              <a:rPr lang="en-AU" sz="2400" dirty="0"/>
              <a:t>The proton and neutron are found in the centre of the atom, a place called the </a:t>
            </a:r>
            <a:r>
              <a:rPr lang="en-AU" sz="2400" b="1" dirty="0">
                <a:solidFill>
                  <a:srgbClr val="8C1E92"/>
                </a:solidFill>
              </a:rPr>
              <a:t>nucleus</a:t>
            </a:r>
            <a:r>
              <a:rPr lang="en-AU" sz="2400" dirty="0"/>
              <a:t>. The </a:t>
            </a:r>
            <a:r>
              <a:rPr lang="en-AU" sz="2400" b="1" dirty="0">
                <a:solidFill>
                  <a:srgbClr val="B08600"/>
                </a:solidFill>
              </a:rPr>
              <a:t>electrons</a:t>
            </a:r>
            <a:r>
              <a:rPr lang="en-AU" sz="2400" dirty="0"/>
              <a:t> orbit the </a:t>
            </a:r>
            <a:r>
              <a:rPr lang="en-AU" sz="2400" dirty="0" smtClean="0"/>
              <a:t>nucleus.</a:t>
            </a:r>
          </a:p>
          <a:p>
            <a:endParaRPr lang="en-AU" sz="2400" dirty="0"/>
          </a:p>
          <a:p>
            <a:endParaRPr lang="en-AU" sz="2400" dirty="0" smtClean="0"/>
          </a:p>
          <a:p>
            <a:endParaRPr lang="en-AU" sz="2400" dirty="0"/>
          </a:p>
          <a:p>
            <a:endParaRPr lang="en-AU" sz="2400" dirty="0"/>
          </a:p>
        </p:txBody>
      </p:sp>
      <p:graphicFrame>
        <p:nvGraphicFramePr>
          <p:cNvPr id="7" name="Table 6"/>
          <p:cNvGraphicFramePr>
            <a:graphicFrameLocks noGrp="1"/>
          </p:cNvGraphicFramePr>
          <p:nvPr>
            <p:extLst>
              <p:ext uri="{D42A27DB-BD31-4B8C-83A1-F6EECF244321}">
                <p14:modId xmlns:p14="http://schemas.microsoft.com/office/powerpoint/2010/main" val="1788898486"/>
              </p:ext>
            </p:extLst>
          </p:nvPr>
        </p:nvGraphicFramePr>
        <p:xfrm>
          <a:off x="9418861" y="3997097"/>
          <a:ext cx="2605964" cy="2103120"/>
        </p:xfrm>
        <a:graphic>
          <a:graphicData uri="http://schemas.openxmlformats.org/drawingml/2006/table">
            <a:tbl>
              <a:tblPr firstRow="1" bandRow="1">
                <a:tableStyleId>{93296810-A885-4BE3-A3E7-6D5BEEA58F35}</a:tableStyleId>
              </a:tblPr>
              <a:tblGrid>
                <a:gridCol w="2605964">
                  <a:extLst>
                    <a:ext uri="{9D8B030D-6E8A-4147-A177-3AD203B41FA5}">
                      <a16:colId xmlns:a16="http://schemas.microsoft.com/office/drawing/2014/main" val="20000"/>
                    </a:ext>
                  </a:extLst>
                </a:gridCol>
              </a:tblGrid>
              <a:tr h="353527">
                <a:tc>
                  <a:txBody>
                    <a:bodyPr/>
                    <a:lstStyle/>
                    <a:p>
                      <a:r>
                        <a:rPr lang="en-AU" dirty="0"/>
                        <a:t>CFU</a:t>
                      </a:r>
                    </a:p>
                  </a:txBody>
                  <a:tcPr>
                    <a:solidFill>
                      <a:srgbClr val="00B050"/>
                    </a:solidFill>
                  </a:tcPr>
                </a:tc>
                <a:extLst>
                  <a:ext uri="{0D108BD9-81ED-4DB2-BD59-A6C34878D82A}">
                    <a16:rowId xmlns:a16="http://schemas.microsoft.com/office/drawing/2014/main" val="10000"/>
                  </a:ext>
                </a:extLst>
              </a:tr>
              <a:tr h="370840">
                <a:tc>
                  <a:txBody>
                    <a:bodyPr/>
                    <a:lstStyle/>
                    <a:p>
                      <a:r>
                        <a:rPr lang="en-AU" dirty="0"/>
                        <a:t>What are </a:t>
                      </a:r>
                      <a:r>
                        <a:rPr lang="en-AU" dirty="0" smtClean="0"/>
                        <a:t>the three particles present in an atom?</a:t>
                      </a:r>
                    </a:p>
                    <a:p>
                      <a:endParaRPr lang="en-AU" dirty="0" smtClean="0"/>
                    </a:p>
                    <a:p>
                      <a:r>
                        <a:rPr lang="en-AU" dirty="0" smtClean="0"/>
                        <a:t>What is the charge of these particles?</a:t>
                      </a:r>
                      <a:endParaRPr lang="en-AU"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9810461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Where are the subatomic particles?</a:t>
            </a:r>
            <a:endParaRPr lang="en-AU" dirty="0"/>
          </a:p>
        </p:txBody>
      </p:sp>
      <p:sp>
        <p:nvSpPr>
          <p:cNvPr id="3" name="Content Placeholder 2"/>
          <p:cNvSpPr>
            <a:spLocks noGrp="1"/>
          </p:cNvSpPr>
          <p:nvPr>
            <p:ph idx="1"/>
          </p:nvPr>
        </p:nvSpPr>
        <p:spPr>
          <a:xfrm>
            <a:off x="701040" y="1381760"/>
            <a:ext cx="10652760" cy="5226074"/>
          </a:xfrm>
        </p:spPr>
        <p:txBody>
          <a:bodyPr>
            <a:normAutofit/>
          </a:bodyPr>
          <a:lstStyle/>
          <a:p>
            <a:r>
              <a:rPr lang="en-AU" b="1" dirty="0" smtClean="0">
                <a:solidFill>
                  <a:srgbClr val="00B050"/>
                </a:solidFill>
              </a:rPr>
              <a:t>Protons and neutrons </a:t>
            </a:r>
            <a:r>
              <a:rPr lang="en-AU" dirty="0" smtClean="0"/>
              <a:t>are extremely tightly packed in the centre or </a:t>
            </a:r>
            <a:r>
              <a:rPr lang="en-AU" b="1" dirty="0" smtClean="0">
                <a:solidFill>
                  <a:srgbClr val="0070C0"/>
                </a:solidFill>
              </a:rPr>
              <a:t>NUCLEUS</a:t>
            </a:r>
            <a:r>
              <a:rPr lang="en-AU" dirty="0" smtClean="0"/>
              <a:t> of an atom. They are so tightly held they can only vibrate about fixed positions.</a:t>
            </a:r>
          </a:p>
          <a:p>
            <a:endParaRPr lang="en-AU" dirty="0"/>
          </a:p>
          <a:p>
            <a:endParaRPr lang="en-AU" dirty="0" smtClean="0"/>
          </a:p>
          <a:p>
            <a:endParaRPr lang="en-AU" b="1" dirty="0" smtClean="0"/>
          </a:p>
          <a:p>
            <a:r>
              <a:rPr lang="en-AU" b="1" dirty="0" smtClean="0">
                <a:solidFill>
                  <a:schemeClr val="accent2">
                    <a:lumMod val="75000"/>
                  </a:schemeClr>
                </a:solidFill>
              </a:rPr>
              <a:t>Electrons</a:t>
            </a:r>
            <a:r>
              <a:rPr lang="en-AU" dirty="0" smtClean="0"/>
              <a:t> are moving in regions of space around the </a:t>
            </a:r>
            <a:r>
              <a:rPr lang="en-AU" dirty="0" smtClean="0">
                <a:solidFill>
                  <a:srgbClr val="7030A0"/>
                </a:solidFill>
              </a:rPr>
              <a:t>nucleus</a:t>
            </a:r>
            <a:r>
              <a:rPr lang="en-AU" dirty="0" smtClean="0"/>
              <a:t>. Because of their extremely small size and wave-like properties it is not possible to say exactly where an electron is and how fast it is moving. Instead we describe a region of space where an electron is likely to be – this is called an </a:t>
            </a:r>
            <a:r>
              <a:rPr lang="en-AU" b="1" dirty="0" smtClean="0">
                <a:solidFill>
                  <a:srgbClr val="00B050"/>
                </a:solidFill>
              </a:rPr>
              <a:t>ELECTRON CLOUD</a:t>
            </a:r>
            <a:r>
              <a:rPr lang="en-AU" dirty="0" smtClean="0"/>
              <a:t>.</a:t>
            </a:r>
            <a:endParaRPr lang="en-AU" dirty="0"/>
          </a:p>
          <a:p>
            <a:endParaRPr lang="en-AU" dirty="0" smtClean="0"/>
          </a:p>
        </p:txBody>
      </p:sp>
      <p:pic>
        <p:nvPicPr>
          <p:cNvPr id="5" name="Picture 4" descr="The Structure of Atoms"/>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70800" y="2153920"/>
            <a:ext cx="3969998" cy="2153537"/>
          </a:xfrm>
          <a:prstGeom prst="rect">
            <a:avLst/>
          </a:prstGeom>
        </p:spPr>
      </p:pic>
      <p:pic>
        <p:nvPicPr>
          <p:cNvPr id="6" name="Picture 5" descr="4.3: The Nuclear Atom - Chemistry LibreText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0200" y="2270759"/>
            <a:ext cx="2944962" cy="1900187"/>
          </a:xfrm>
          <a:prstGeom prst="rect">
            <a:avLst/>
          </a:prstGeom>
        </p:spPr>
      </p:pic>
      <p:pic>
        <p:nvPicPr>
          <p:cNvPr id="7" name="Picture 6">
            <a:extLst>
              <a:ext uri="{FF2B5EF4-FFF2-40B4-BE49-F238E27FC236}">
                <a16:creationId xmlns:a16="http://schemas.microsoft.com/office/drawing/2014/main" id="{4E3BD12B-95B6-0949-A450-79464455822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69336" y="-51320"/>
            <a:ext cx="2402928" cy="800976"/>
          </a:xfrm>
          <a:prstGeom prst="rect">
            <a:avLst/>
          </a:prstGeom>
        </p:spPr>
      </p:pic>
    </p:spTree>
    <p:extLst>
      <p:ext uri="{BB962C8B-B14F-4D97-AF65-F5344CB8AC3E}">
        <p14:creationId xmlns:p14="http://schemas.microsoft.com/office/powerpoint/2010/main" val="2925434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4023093"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Concept Development</a:t>
            </a:r>
          </a:p>
        </p:txBody>
      </p:sp>
      <p:graphicFrame>
        <p:nvGraphicFramePr>
          <p:cNvPr id="10" name="Table 9"/>
          <p:cNvGraphicFramePr>
            <a:graphicFrameLocks noGrp="1"/>
          </p:cNvGraphicFramePr>
          <p:nvPr>
            <p:extLst>
              <p:ext uri="{D42A27DB-BD31-4B8C-83A1-F6EECF244321}">
                <p14:modId xmlns:p14="http://schemas.microsoft.com/office/powerpoint/2010/main" val="2004135161"/>
              </p:ext>
            </p:extLst>
          </p:nvPr>
        </p:nvGraphicFramePr>
        <p:xfrm>
          <a:off x="9523079" y="148208"/>
          <a:ext cx="2463077" cy="128016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1</a:t>
                      </a:r>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Which two subatomic particles have similar relative masses?</a:t>
                      </a:r>
                      <a:endParaRPr lang="en-AU" dirty="0"/>
                    </a:p>
                  </a:txBody>
                  <a:tcPr/>
                </a:tc>
                <a:extLst>
                  <a:ext uri="{0D108BD9-81ED-4DB2-BD59-A6C34878D82A}">
                    <a16:rowId xmlns:a16="http://schemas.microsoft.com/office/drawing/2014/main" val="10001"/>
                  </a:ext>
                </a:extLst>
              </a:tr>
            </a:tbl>
          </a:graphicData>
        </a:graphic>
      </p:graphicFrame>
      <p:graphicFrame>
        <p:nvGraphicFramePr>
          <p:cNvPr id="64" name="Table 63"/>
          <p:cNvGraphicFramePr>
            <a:graphicFrameLocks noGrp="1"/>
          </p:cNvGraphicFramePr>
          <p:nvPr>
            <p:extLst>
              <p:ext uri="{D42A27DB-BD31-4B8C-83A1-F6EECF244321}">
                <p14:modId xmlns:p14="http://schemas.microsoft.com/office/powerpoint/2010/main" val="3476998285"/>
              </p:ext>
            </p:extLst>
          </p:nvPr>
        </p:nvGraphicFramePr>
        <p:xfrm>
          <a:off x="9523079" y="1597008"/>
          <a:ext cx="2463077" cy="100584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a:t>
                      </a:r>
                      <a:r>
                        <a:rPr lang="en-AU" dirty="0" smtClean="0"/>
                        <a:t>2</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Which subatomic particle is the lightest?</a:t>
                      </a:r>
                      <a:endParaRPr lang="en-AU" dirty="0"/>
                    </a:p>
                  </a:txBody>
                  <a:tcPr/>
                </a:tc>
                <a:extLst>
                  <a:ext uri="{0D108BD9-81ED-4DB2-BD59-A6C34878D82A}">
                    <a16:rowId xmlns:a16="http://schemas.microsoft.com/office/drawing/2014/main" val="10001"/>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171345390"/>
              </p:ext>
            </p:extLst>
          </p:nvPr>
        </p:nvGraphicFramePr>
        <p:xfrm>
          <a:off x="9583781" y="2882376"/>
          <a:ext cx="2463077" cy="155448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0">
                <a:tc>
                  <a:txBody>
                    <a:bodyPr/>
                    <a:lstStyle/>
                    <a:p>
                      <a:r>
                        <a:rPr lang="en-AU" dirty="0"/>
                        <a:t>CFU </a:t>
                      </a:r>
                      <a:r>
                        <a:rPr lang="en-AU" dirty="0" smtClean="0"/>
                        <a:t>3</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What can you conclude about the actual mass of these subatomic particles?</a:t>
                      </a:r>
                      <a:endParaRPr lang="en-AU" dirty="0"/>
                    </a:p>
                  </a:txBody>
                  <a:tcPr/>
                </a:tc>
                <a:extLst>
                  <a:ext uri="{0D108BD9-81ED-4DB2-BD59-A6C34878D82A}">
                    <a16:rowId xmlns:a16="http://schemas.microsoft.com/office/drawing/2014/main" val="10001"/>
                  </a:ext>
                </a:extLst>
              </a:tr>
            </a:tbl>
          </a:graphicData>
        </a:graphic>
      </p:graphicFrame>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609600" y="1183640"/>
            <a:ext cx="6948487" cy="4191000"/>
          </a:xfrm>
          <a:prstGeom prst="rect">
            <a:avLst/>
          </a:prstGeom>
        </p:spPr>
      </p:pic>
      <p:sp>
        <p:nvSpPr>
          <p:cNvPr id="2" name="Rectangle 1"/>
          <p:cNvSpPr/>
          <p:nvPr/>
        </p:nvSpPr>
        <p:spPr>
          <a:xfrm>
            <a:off x="4348480" y="4534376"/>
            <a:ext cx="6096000" cy="1477328"/>
          </a:xfrm>
          <a:prstGeom prst="rect">
            <a:avLst/>
          </a:prstGeom>
        </p:spPr>
        <p:txBody>
          <a:bodyPr>
            <a:spAutoFit/>
          </a:bodyPr>
          <a:lstStyle/>
          <a:p>
            <a:pPr marL="3150870" marR="150495"/>
            <a:r>
              <a:rPr lang="en-AU" dirty="0">
                <a:latin typeface="Arial" panose="020B0604020202020204" pitchFamily="34" charset="0"/>
                <a:ea typeface="Calibri" panose="020F0502020204030204" pitchFamily="34" charset="0"/>
              </a:rPr>
              <a:t>The table on the left outlines the properties of each of the particles in an atom.</a:t>
            </a:r>
          </a:p>
          <a:p>
            <a:r>
              <a:rPr lang="en-AU" dirty="0">
                <a:latin typeface="Arial" panose="020B0604020202020204" pitchFamily="34" charset="0"/>
                <a:ea typeface="Calibri" panose="020F0502020204030204" pitchFamily="34" charset="0"/>
              </a:rPr>
              <a:t> </a:t>
            </a:r>
          </a:p>
        </p:txBody>
      </p:sp>
      <p:pic>
        <p:nvPicPr>
          <p:cNvPr id="8" name="Picture 7">
            <a:extLst>
              <a:ext uri="{FF2B5EF4-FFF2-40B4-BE49-F238E27FC236}">
                <a16:creationId xmlns:a16="http://schemas.microsoft.com/office/drawing/2014/main" id="{4E3BD12B-95B6-0949-A450-79464455822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90312" y="157336"/>
            <a:ext cx="2402928" cy="800976"/>
          </a:xfrm>
          <a:prstGeom prst="rect">
            <a:avLst/>
          </a:prstGeom>
        </p:spPr>
      </p:pic>
    </p:spTree>
    <p:extLst>
      <p:ext uri="{BB962C8B-B14F-4D97-AF65-F5344CB8AC3E}">
        <p14:creationId xmlns:p14="http://schemas.microsoft.com/office/powerpoint/2010/main" val="2979572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4023093"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Concept Development</a:t>
            </a:r>
          </a:p>
        </p:txBody>
      </p:sp>
      <p:graphicFrame>
        <p:nvGraphicFramePr>
          <p:cNvPr id="10" name="Table 9"/>
          <p:cNvGraphicFramePr>
            <a:graphicFrameLocks noGrp="1"/>
          </p:cNvGraphicFramePr>
          <p:nvPr>
            <p:extLst>
              <p:ext uri="{D42A27DB-BD31-4B8C-83A1-F6EECF244321}">
                <p14:modId xmlns:p14="http://schemas.microsoft.com/office/powerpoint/2010/main" val="35042275"/>
              </p:ext>
            </p:extLst>
          </p:nvPr>
        </p:nvGraphicFramePr>
        <p:xfrm>
          <a:off x="8228603" y="148208"/>
          <a:ext cx="3757554" cy="1828800"/>
        </p:xfrm>
        <a:graphic>
          <a:graphicData uri="http://schemas.openxmlformats.org/drawingml/2006/table">
            <a:tbl>
              <a:tblPr firstRow="1" bandRow="1">
                <a:tableStyleId>{93296810-A885-4BE3-A3E7-6D5BEEA58F35}</a:tableStyleId>
              </a:tblPr>
              <a:tblGrid>
                <a:gridCol w="3757554">
                  <a:extLst>
                    <a:ext uri="{9D8B030D-6E8A-4147-A177-3AD203B41FA5}">
                      <a16:colId xmlns:a16="http://schemas.microsoft.com/office/drawing/2014/main" val="20000"/>
                    </a:ext>
                  </a:extLst>
                </a:gridCol>
              </a:tblGrid>
              <a:tr h="353527">
                <a:tc>
                  <a:txBody>
                    <a:bodyPr/>
                    <a:lstStyle/>
                    <a:p>
                      <a:r>
                        <a:rPr lang="en-AU" dirty="0"/>
                        <a:t>CFU 1</a:t>
                      </a:r>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What is the name given to the following features of the periodic table? </a:t>
                      </a:r>
                    </a:p>
                    <a:p>
                      <a:pPr marL="342900" indent="-342900">
                        <a:buAutoNum type="alphaLcPeriod"/>
                      </a:pPr>
                      <a:r>
                        <a:rPr lang="en-AU" dirty="0" smtClean="0"/>
                        <a:t>Horizontal</a:t>
                      </a:r>
                      <a:r>
                        <a:rPr lang="en-AU" baseline="0" dirty="0" smtClean="0"/>
                        <a:t> row</a:t>
                      </a:r>
                    </a:p>
                    <a:p>
                      <a:pPr marL="342900" indent="-342900">
                        <a:buAutoNum type="alphaLcPeriod"/>
                      </a:pPr>
                      <a:r>
                        <a:rPr lang="en-AU" baseline="0" dirty="0" smtClean="0"/>
                        <a:t>Vertical column</a:t>
                      </a:r>
                      <a:endParaRPr lang="en-AU" dirty="0"/>
                    </a:p>
                  </a:txBody>
                  <a:tcPr/>
                </a:tc>
                <a:extLst>
                  <a:ext uri="{0D108BD9-81ED-4DB2-BD59-A6C34878D82A}">
                    <a16:rowId xmlns:a16="http://schemas.microsoft.com/office/drawing/2014/main" val="10001"/>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006368484"/>
              </p:ext>
            </p:extLst>
          </p:nvPr>
        </p:nvGraphicFramePr>
        <p:xfrm>
          <a:off x="8228602" y="2695719"/>
          <a:ext cx="3757555" cy="1005840"/>
        </p:xfrm>
        <a:graphic>
          <a:graphicData uri="http://schemas.openxmlformats.org/drawingml/2006/table">
            <a:tbl>
              <a:tblPr firstRow="1" bandRow="1">
                <a:tableStyleId>{93296810-A885-4BE3-A3E7-6D5BEEA58F35}</a:tableStyleId>
              </a:tblPr>
              <a:tblGrid>
                <a:gridCol w="3757555">
                  <a:extLst>
                    <a:ext uri="{9D8B030D-6E8A-4147-A177-3AD203B41FA5}">
                      <a16:colId xmlns:a16="http://schemas.microsoft.com/office/drawing/2014/main" val="20000"/>
                    </a:ext>
                  </a:extLst>
                </a:gridCol>
              </a:tblGrid>
              <a:tr h="353527">
                <a:tc>
                  <a:txBody>
                    <a:bodyPr/>
                    <a:lstStyle/>
                    <a:p>
                      <a:r>
                        <a:rPr lang="en-AU" dirty="0"/>
                        <a:t>CFU </a:t>
                      </a:r>
                      <a:r>
                        <a:rPr lang="en-AU" dirty="0" smtClean="0"/>
                        <a:t>2</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How many periods and groups</a:t>
                      </a:r>
                      <a:r>
                        <a:rPr lang="en-AU" baseline="0" dirty="0" smtClean="0"/>
                        <a:t> in a periodic table</a:t>
                      </a:r>
                      <a:r>
                        <a:rPr lang="en-AU" dirty="0" smtClean="0"/>
                        <a:t> </a:t>
                      </a:r>
                      <a:r>
                        <a:rPr lang="en-AU" baseline="0" dirty="0" smtClean="0"/>
                        <a:t>?</a:t>
                      </a:r>
                      <a:endParaRPr lang="en-AU" dirty="0"/>
                    </a:p>
                  </a:txBody>
                  <a:tcPr/>
                </a:tc>
                <a:extLst>
                  <a:ext uri="{0D108BD9-81ED-4DB2-BD59-A6C34878D82A}">
                    <a16:rowId xmlns:a16="http://schemas.microsoft.com/office/drawing/2014/main" val="10001"/>
                  </a:ext>
                </a:extLst>
              </a:tr>
            </a:tbl>
          </a:graphicData>
        </a:graphic>
      </p:graphicFrame>
      <p:sp>
        <p:nvSpPr>
          <p:cNvPr id="2" name="TextBox 1"/>
          <p:cNvSpPr txBox="1"/>
          <p:nvPr/>
        </p:nvSpPr>
        <p:spPr>
          <a:xfrm>
            <a:off x="276093" y="1161986"/>
            <a:ext cx="7952509" cy="3970318"/>
          </a:xfrm>
          <a:prstGeom prst="rect">
            <a:avLst/>
          </a:prstGeom>
          <a:noFill/>
        </p:spPr>
        <p:txBody>
          <a:bodyPr wrap="square" rtlCol="0">
            <a:spAutoFit/>
          </a:bodyPr>
          <a:lstStyle/>
          <a:p>
            <a:r>
              <a:rPr lang="en-AU" sz="2800" b="1" dirty="0" smtClean="0">
                <a:latin typeface="Century Gothic" panose="020B0502020202020204" pitchFamily="34" charset="0"/>
              </a:rPr>
              <a:t>Period</a:t>
            </a:r>
          </a:p>
          <a:p>
            <a:r>
              <a:rPr lang="en-AU" sz="2800" dirty="0" smtClean="0">
                <a:latin typeface="Century Gothic" panose="020B0502020202020204" pitchFamily="34" charset="0"/>
              </a:rPr>
              <a:t>A horizontal list of elements found in the periodic table.</a:t>
            </a:r>
          </a:p>
          <a:p>
            <a:endParaRPr lang="en-AU" sz="2800" dirty="0">
              <a:latin typeface="Century Gothic" panose="020B0502020202020204" pitchFamily="34" charset="0"/>
            </a:endParaRPr>
          </a:p>
          <a:p>
            <a:r>
              <a:rPr lang="en-AU" sz="2800" b="1" dirty="0" smtClean="0">
                <a:latin typeface="Century Gothic" panose="020B0502020202020204" pitchFamily="34" charset="0"/>
              </a:rPr>
              <a:t>Group</a:t>
            </a:r>
          </a:p>
          <a:p>
            <a:r>
              <a:rPr lang="en-AU" sz="2800" dirty="0" smtClean="0">
                <a:latin typeface="Century Gothic" panose="020B0502020202020204" pitchFamily="34" charset="0"/>
              </a:rPr>
              <a:t>A vertical list of elements found in the periodic table that have characteristics in common.</a:t>
            </a:r>
            <a:endParaRPr lang="en-AU" sz="2800" dirty="0">
              <a:latin typeface="Century Gothic" panose="020B0502020202020204" pitchFamily="34" charset="0"/>
            </a:endParaRPr>
          </a:p>
          <a:p>
            <a:endParaRPr lang="en-AU" sz="2800" dirty="0">
              <a:latin typeface="Century Gothic" panose="020B0502020202020204" pitchFamily="34" charset="0"/>
            </a:endParaRPr>
          </a:p>
        </p:txBody>
      </p:sp>
      <p:pic>
        <p:nvPicPr>
          <p:cNvPr id="8" name="Picture 7" descr="Period (periodic table)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37565" y="4144510"/>
            <a:ext cx="5848592" cy="2521527"/>
          </a:xfrm>
          <a:prstGeom prst="rect">
            <a:avLst/>
          </a:prstGeom>
          <a:noFill/>
          <a:ln>
            <a:noFill/>
          </a:ln>
        </p:spPr>
      </p:pic>
      <p:pic>
        <p:nvPicPr>
          <p:cNvPr id="9" name="Picture 8">
            <a:extLst>
              <a:ext uri="{FF2B5EF4-FFF2-40B4-BE49-F238E27FC236}">
                <a16:creationId xmlns:a16="http://schemas.microsoft.com/office/drawing/2014/main" id="{4E3BD12B-95B6-0949-A450-79464455822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62058" y="261632"/>
            <a:ext cx="2402928" cy="800976"/>
          </a:xfrm>
          <a:prstGeom prst="rect">
            <a:avLst/>
          </a:prstGeom>
        </p:spPr>
      </p:pic>
    </p:spTree>
    <p:extLst>
      <p:ext uri="{BB962C8B-B14F-4D97-AF65-F5344CB8AC3E}">
        <p14:creationId xmlns:p14="http://schemas.microsoft.com/office/powerpoint/2010/main" val="2557355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4023093"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Concept Development</a:t>
            </a:r>
          </a:p>
        </p:txBody>
      </p:sp>
      <p:graphicFrame>
        <p:nvGraphicFramePr>
          <p:cNvPr id="10" name="Table 9"/>
          <p:cNvGraphicFramePr>
            <a:graphicFrameLocks noGrp="1"/>
          </p:cNvGraphicFramePr>
          <p:nvPr>
            <p:extLst/>
          </p:nvPr>
        </p:nvGraphicFramePr>
        <p:xfrm>
          <a:off x="9523079" y="148208"/>
          <a:ext cx="2463077" cy="155448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1</a:t>
                      </a:r>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What does</a:t>
                      </a:r>
                      <a:r>
                        <a:rPr lang="en-AU" baseline="0" dirty="0" smtClean="0"/>
                        <a:t> the a</a:t>
                      </a:r>
                      <a:r>
                        <a:rPr lang="en-AU" dirty="0" smtClean="0"/>
                        <a:t>tomic</a:t>
                      </a:r>
                      <a:r>
                        <a:rPr lang="en-AU" baseline="0" dirty="0" smtClean="0"/>
                        <a:t> number indicate?</a:t>
                      </a:r>
                    </a:p>
                    <a:p>
                      <a:r>
                        <a:rPr lang="en-AU" baseline="0" dirty="0" smtClean="0"/>
                        <a:t>It is the number of-------- </a:t>
                      </a:r>
                      <a:endParaRPr lang="en-AU" dirty="0"/>
                    </a:p>
                  </a:txBody>
                  <a:tcPr/>
                </a:tc>
                <a:extLst>
                  <a:ext uri="{0D108BD9-81ED-4DB2-BD59-A6C34878D82A}">
                    <a16:rowId xmlns:a16="http://schemas.microsoft.com/office/drawing/2014/main" val="10001"/>
                  </a:ext>
                </a:extLst>
              </a:tr>
            </a:tbl>
          </a:graphicData>
        </a:graphic>
      </p:graphicFrame>
      <p:graphicFrame>
        <p:nvGraphicFramePr>
          <p:cNvPr id="64" name="Table 63"/>
          <p:cNvGraphicFramePr>
            <a:graphicFrameLocks noGrp="1"/>
          </p:cNvGraphicFramePr>
          <p:nvPr>
            <p:extLst/>
          </p:nvPr>
        </p:nvGraphicFramePr>
        <p:xfrm>
          <a:off x="9523079" y="1555464"/>
          <a:ext cx="2463077" cy="128016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a:t>
                      </a:r>
                      <a:r>
                        <a:rPr lang="en-AU" dirty="0" smtClean="0"/>
                        <a:t>2</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The atomic number is</a:t>
                      </a:r>
                      <a:r>
                        <a:rPr lang="en-AU" baseline="0" dirty="0" smtClean="0"/>
                        <a:t> also the number of what?</a:t>
                      </a:r>
                      <a:endParaRPr lang="en-AU" dirty="0"/>
                    </a:p>
                  </a:txBody>
                  <a:tcPr/>
                </a:tc>
                <a:extLst>
                  <a:ext uri="{0D108BD9-81ED-4DB2-BD59-A6C34878D82A}">
                    <a16:rowId xmlns:a16="http://schemas.microsoft.com/office/drawing/2014/main" val="10001"/>
                  </a:ext>
                </a:extLst>
              </a:tr>
            </a:tbl>
          </a:graphicData>
        </a:graphic>
      </p:graphicFrame>
      <p:graphicFrame>
        <p:nvGraphicFramePr>
          <p:cNvPr id="11" name="Table 10"/>
          <p:cNvGraphicFramePr>
            <a:graphicFrameLocks noGrp="1"/>
          </p:cNvGraphicFramePr>
          <p:nvPr>
            <p:extLst/>
          </p:nvPr>
        </p:nvGraphicFramePr>
        <p:xfrm>
          <a:off x="9511577" y="2889683"/>
          <a:ext cx="2463077" cy="128016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a:t>
                      </a:r>
                      <a:r>
                        <a:rPr lang="en-AU" dirty="0" smtClean="0"/>
                        <a:t>3</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The atomic mass is the number</a:t>
                      </a:r>
                      <a:r>
                        <a:rPr lang="en-AU" baseline="0" dirty="0" smtClean="0"/>
                        <a:t> of _____ </a:t>
                      </a:r>
                      <a:r>
                        <a:rPr lang="en-AU" dirty="0" smtClean="0"/>
                        <a:t> in an atom.</a:t>
                      </a:r>
                      <a:endParaRPr lang="en-AU" dirty="0"/>
                    </a:p>
                  </a:txBody>
                  <a:tcPr/>
                </a:tc>
                <a:extLst>
                  <a:ext uri="{0D108BD9-81ED-4DB2-BD59-A6C34878D82A}">
                    <a16:rowId xmlns:a16="http://schemas.microsoft.com/office/drawing/2014/main" val="10001"/>
                  </a:ext>
                </a:extLst>
              </a:tr>
            </a:tbl>
          </a:graphicData>
        </a:graphic>
      </p:graphicFrame>
      <p:graphicFrame>
        <p:nvGraphicFramePr>
          <p:cNvPr id="12" name="Table 11"/>
          <p:cNvGraphicFramePr>
            <a:graphicFrameLocks noGrp="1"/>
          </p:cNvGraphicFramePr>
          <p:nvPr>
            <p:extLst/>
          </p:nvPr>
        </p:nvGraphicFramePr>
        <p:xfrm>
          <a:off x="9558639" y="4303840"/>
          <a:ext cx="2463077" cy="155448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0">
                <a:tc>
                  <a:txBody>
                    <a:bodyPr/>
                    <a:lstStyle/>
                    <a:p>
                      <a:r>
                        <a:rPr lang="en-AU" dirty="0"/>
                        <a:t>CFU </a:t>
                      </a:r>
                      <a:r>
                        <a:rPr lang="en-AU" dirty="0" smtClean="0"/>
                        <a:t>4</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To find the number of electrons in an atom we would use the ________ number.</a:t>
                      </a:r>
                      <a:endParaRPr lang="en-AU" dirty="0"/>
                    </a:p>
                  </a:txBody>
                  <a:tcPr/>
                </a:tc>
                <a:extLst>
                  <a:ext uri="{0D108BD9-81ED-4DB2-BD59-A6C34878D82A}">
                    <a16:rowId xmlns:a16="http://schemas.microsoft.com/office/drawing/2014/main" val="10001"/>
                  </a:ext>
                </a:extLst>
              </a:tr>
            </a:tbl>
          </a:graphicData>
        </a:graphic>
      </p:graphicFrame>
      <p:pic>
        <p:nvPicPr>
          <p:cNvPr id="9" name="Picture 8"/>
          <p:cNvPicPr>
            <a:picLocks noChangeAspect="1"/>
          </p:cNvPicPr>
          <p:nvPr/>
        </p:nvPicPr>
        <p:blipFill>
          <a:blip r:embed="rId3"/>
          <a:stretch>
            <a:fillRect/>
          </a:stretch>
        </p:blipFill>
        <p:spPr>
          <a:xfrm>
            <a:off x="179477" y="1122217"/>
            <a:ext cx="9284201" cy="5209571"/>
          </a:xfrm>
          <a:prstGeom prst="rect">
            <a:avLst/>
          </a:prstGeom>
        </p:spPr>
      </p:pic>
      <p:pic>
        <p:nvPicPr>
          <p:cNvPr id="8" name="Picture 7">
            <a:extLst>
              <a:ext uri="{FF2B5EF4-FFF2-40B4-BE49-F238E27FC236}">
                <a16:creationId xmlns:a16="http://schemas.microsoft.com/office/drawing/2014/main" id="{4D566270-F81B-F94A-88CB-1B95C1EF5BE3}"/>
              </a:ext>
            </a:extLst>
          </p:cNvPr>
          <p:cNvPicPr>
            <a:picLocks noChangeAspect="1"/>
          </p:cNvPicPr>
          <p:nvPr/>
        </p:nvPicPr>
        <p:blipFill>
          <a:blip r:embed="rId4"/>
          <a:stretch>
            <a:fillRect/>
          </a:stretch>
        </p:blipFill>
        <p:spPr>
          <a:xfrm>
            <a:off x="4928325" y="160343"/>
            <a:ext cx="1238069" cy="1238069"/>
          </a:xfrm>
          <a:prstGeom prst="rect">
            <a:avLst/>
          </a:prstGeom>
        </p:spPr>
      </p:pic>
    </p:spTree>
    <p:extLst>
      <p:ext uri="{BB962C8B-B14F-4D97-AF65-F5344CB8AC3E}">
        <p14:creationId xmlns:p14="http://schemas.microsoft.com/office/powerpoint/2010/main" val="3265288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4023093"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Concept Development</a:t>
            </a:r>
          </a:p>
        </p:txBody>
      </p:sp>
      <p:graphicFrame>
        <p:nvGraphicFramePr>
          <p:cNvPr id="10" name="Table 9"/>
          <p:cNvGraphicFramePr>
            <a:graphicFrameLocks noGrp="1"/>
          </p:cNvGraphicFramePr>
          <p:nvPr>
            <p:extLst>
              <p:ext uri="{D42A27DB-BD31-4B8C-83A1-F6EECF244321}">
                <p14:modId xmlns:p14="http://schemas.microsoft.com/office/powerpoint/2010/main" val="973125639"/>
              </p:ext>
            </p:extLst>
          </p:nvPr>
        </p:nvGraphicFramePr>
        <p:xfrm>
          <a:off x="9523079" y="148208"/>
          <a:ext cx="2463077" cy="100584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1</a:t>
                      </a:r>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Define relative atomic mass.</a:t>
                      </a:r>
                      <a:endParaRPr lang="en-AU" dirty="0"/>
                    </a:p>
                  </a:txBody>
                  <a:tcPr/>
                </a:tc>
                <a:extLst>
                  <a:ext uri="{0D108BD9-81ED-4DB2-BD59-A6C34878D82A}">
                    <a16:rowId xmlns:a16="http://schemas.microsoft.com/office/drawing/2014/main" val="10001"/>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609769136"/>
              </p:ext>
            </p:extLst>
          </p:nvPr>
        </p:nvGraphicFramePr>
        <p:xfrm>
          <a:off x="9523079" y="2695719"/>
          <a:ext cx="2463077" cy="100584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a:t>
                      </a:r>
                      <a:r>
                        <a:rPr lang="en-AU" dirty="0" smtClean="0"/>
                        <a:t>3</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What is the valence</a:t>
                      </a:r>
                      <a:r>
                        <a:rPr lang="en-AU" baseline="0" dirty="0" smtClean="0"/>
                        <a:t> shell of an atom?</a:t>
                      </a:r>
                      <a:endParaRPr lang="en-AU" dirty="0"/>
                    </a:p>
                  </a:txBody>
                  <a:tcPr/>
                </a:tc>
                <a:extLst>
                  <a:ext uri="{0D108BD9-81ED-4DB2-BD59-A6C34878D82A}">
                    <a16:rowId xmlns:a16="http://schemas.microsoft.com/office/drawing/2014/main" val="10001"/>
                  </a:ext>
                </a:extLst>
              </a:tr>
            </a:tbl>
          </a:graphicData>
        </a:graphic>
      </p:graphicFrame>
      <p:sp>
        <p:nvSpPr>
          <p:cNvPr id="2" name="TextBox 1"/>
          <p:cNvSpPr txBox="1"/>
          <p:nvPr/>
        </p:nvSpPr>
        <p:spPr>
          <a:xfrm>
            <a:off x="276093" y="1161986"/>
            <a:ext cx="7952509" cy="3539430"/>
          </a:xfrm>
          <a:prstGeom prst="rect">
            <a:avLst/>
          </a:prstGeom>
          <a:noFill/>
        </p:spPr>
        <p:txBody>
          <a:bodyPr wrap="square" rtlCol="0">
            <a:spAutoFit/>
          </a:bodyPr>
          <a:lstStyle/>
          <a:p>
            <a:r>
              <a:rPr lang="en-AU" sz="2800" b="1" dirty="0" smtClean="0">
                <a:latin typeface="Century Gothic" panose="020B0502020202020204" pitchFamily="34" charset="0"/>
              </a:rPr>
              <a:t>Relative atomic mass</a:t>
            </a:r>
          </a:p>
          <a:p>
            <a:r>
              <a:rPr lang="en-AU" sz="2800" dirty="0" smtClean="0">
                <a:latin typeface="Century Gothic" panose="020B0502020202020204" pitchFamily="34" charset="0"/>
              </a:rPr>
              <a:t>It is the sum of the number of positive protons and number of neutral neutrons. </a:t>
            </a:r>
          </a:p>
          <a:p>
            <a:endParaRPr lang="en-AU" sz="2800" dirty="0">
              <a:latin typeface="Century Gothic" panose="020B0502020202020204" pitchFamily="34" charset="0"/>
            </a:endParaRPr>
          </a:p>
          <a:p>
            <a:r>
              <a:rPr lang="en-AU" sz="2800" b="1" dirty="0" smtClean="0">
                <a:latin typeface="Century Gothic" panose="020B0502020202020204" pitchFamily="34" charset="0"/>
              </a:rPr>
              <a:t>Valence shell</a:t>
            </a:r>
          </a:p>
          <a:p>
            <a:r>
              <a:rPr lang="en-AU" sz="2800" dirty="0" smtClean="0">
                <a:latin typeface="Century Gothic" panose="020B0502020202020204" pitchFamily="34" charset="0"/>
              </a:rPr>
              <a:t>The outermost electron shell is called the valence shell of the atom. </a:t>
            </a:r>
            <a:endParaRPr lang="en-AU" sz="2800" dirty="0">
              <a:latin typeface="Century Gothic" panose="020B0502020202020204" pitchFamily="34" charset="0"/>
            </a:endParaRPr>
          </a:p>
          <a:p>
            <a:endParaRPr lang="en-AU" sz="2800" dirty="0">
              <a:latin typeface="Century Gothic" panose="020B0502020202020204" pitchFamily="34" charset="0"/>
            </a:endParaRP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4842587" y="4303840"/>
            <a:ext cx="4205819" cy="2172957"/>
          </a:xfrm>
          <a:prstGeom prst="rect">
            <a:avLst/>
          </a:prstGeom>
        </p:spPr>
      </p:pic>
      <p:pic>
        <p:nvPicPr>
          <p:cNvPr id="8" name="Picture 7">
            <a:extLst>
              <a:ext uri="{FF2B5EF4-FFF2-40B4-BE49-F238E27FC236}">
                <a16:creationId xmlns:a16="http://schemas.microsoft.com/office/drawing/2014/main" id="{4D566270-F81B-F94A-88CB-1B95C1EF5BE3}"/>
              </a:ext>
            </a:extLst>
          </p:cNvPr>
          <p:cNvPicPr>
            <a:picLocks noChangeAspect="1"/>
          </p:cNvPicPr>
          <p:nvPr/>
        </p:nvPicPr>
        <p:blipFill>
          <a:blip r:embed="rId4"/>
          <a:stretch>
            <a:fillRect/>
          </a:stretch>
        </p:blipFill>
        <p:spPr>
          <a:xfrm>
            <a:off x="4928325" y="160343"/>
            <a:ext cx="1238069" cy="1238069"/>
          </a:xfrm>
          <a:prstGeom prst="rect">
            <a:avLst/>
          </a:prstGeom>
        </p:spPr>
      </p:pic>
    </p:spTree>
    <p:extLst>
      <p:ext uri="{BB962C8B-B14F-4D97-AF65-F5344CB8AC3E}">
        <p14:creationId xmlns:p14="http://schemas.microsoft.com/office/powerpoint/2010/main" val="4158830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4023093"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Concept Development</a:t>
            </a:r>
          </a:p>
        </p:txBody>
      </p:sp>
      <p:graphicFrame>
        <p:nvGraphicFramePr>
          <p:cNvPr id="10" name="Table 9"/>
          <p:cNvGraphicFramePr>
            <a:graphicFrameLocks noGrp="1"/>
          </p:cNvGraphicFramePr>
          <p:nvPr>
            <p:extLst>
              <p:ext uri="{D42A27DB-BD31-4B8C-83A1-F6EECF244321}">
                <p14:modId xmlns:p14="http://schemas.microsoft.com/office/powerpoint/2010/main" val="1044792096"/>
              </p:ext>
            </p:extLst>
          </p:nvPr>
        </p:nvGraphicFramePr>
        <p:xfrm>
          <a:off x="9523079" y="148208"/>
          <a:ext cx="2463077" cy="155448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1</a:t>
                      </a:r>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Why do neutral atoms  always have the same number of electrons as protons?</a:t>
                      </a:r>
                      <a:endParaRPr lang="en-AU" dirty="0"/>
                    </a:p>
                  </a:txBody>
                  <a:tcPr/>
                </a:tc>
                <a:extLst>
                  <a:ext uri="{0D108BD9-81ED-4DB2-BD59-A6C34878D82A}">
                    <a16:rowId xmlns:a16="http://schemas.microsoft.com/office/drawing/2014/main" val="10001"/>
                  </a:ext>
                </a:extLst>
              </a:tr>
            </a:tbl>
          </a:graphicData>
        </a:graphic>
      </p:graphicFrame>
      <p:graphicFrame>
        <p:nvGraphicFramePr>
          <p:cNvPr id="64" name="Table 63"/>
          <p:cNvGraphicFramePr>
            <a:graphicFrameLocks noGrp="1"/>
          </p:cNvGraphicFramePr>
          <p:nvPr>
            <p:extLst>
              <p:ext uri="{D42A27DB-BD31-4B8C-83A1-F6EECF244321}">
                <p14:modId xmlns:p14="http://schemas.microsoft.com/office/powerpoint/2010/main" val="3301110666"/>
              </p:ext>
            </p:extLst>
          </p:nvPr>
        </p:nvGraphicFramePr>
        <p:xfrm>
          <a:off x="9523077" y="1807994"/>
          <a:ext cx="2463077" cy="100584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0">
                <a:tc>
                  <a:txBody>
                    <a:bodyPr/>
                    <a:lstStyle/>
                    <a:p>
                      <a:r>
                        <a:rPr lang="en-AU" dirty="0"/>
                        <a:t>CFU </a:t>
                      </a:r>
                      <a:r>
                        <a:rPr lang="en-AU" dirty="0" smtClean="0"/>
                        <a:t>2</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Adding neutrons makes an _____ of that atom.</a:t>
                      </a:r>
                      <a:endParaRPr lang="en-AU" dirty="0"/>
                    </a:p>
                  </a:txBody>
                  <a:tcPr/>
                </a:tc>
                <a:extLst>
                  <a:ext uri="{0D108BD9-81ED-4DB2-BD59-A6C34878D82A}">
                    <a16:rowId xmlns:a16="http://schemas.microsoft.com/office/drawing/2014/main" val="10001"/>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21391670"/>
              </p:ext>
            </p:extLst>
          </p:nvPr>
        </p:nvGraphicFramePr>
        <p:xfrm>
          <a:off x="9523078" y="3018536"/>
          <a:ext cx="2463077" cy="128016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0">
                <a:tc>
                  <a:txBody>
                    <a:bodyPr/>
                    <a:lstStyle/>
                    <a:p>
                      <a:r>
                        <a:rPr lang="en-AU" dirty="0"/>
                        <a:t>CFU </a:t>
                      </a:r>
                      <a:r>
                        <a:rPr lang="en-AU" dirty="0" smtClean="0"/>
                        <a:t>3</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Which substance</a:t>
                      </a:r>
                      <a:r>
                        <a:rPr lang="en-AU" baseline="0" dirty="0" smtClean="0"/>
                        <a:t> has no neutrons in its most common state?</a:t>
                      </a:r>
                      <a:endParaRPr lang="en-AU" dirty="0"/>
                    </a:p>
                  </a:txBody>
                  <a:tcPr/>
                </a:tc>
                <a:extLst>
                  <a:ext uri="{0D108BD9-81ED-4DB2-BD59-A6C34878D82A}">
                    <a16:rowId xmlns:a16="http://schemas.microsoft.com/office/drawing/2014/main" val="10001"/>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345721442"/>
              </p:ext>
            </p:extLst>
          </p:nvPr>
        </p:nvGraphicFramePr>
        <p:xfrm>
          <a:off x="9523077" y="4629785"/>
          <a:ext cx="2463077" cy="128016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0">
                <a:tc>
                  <a:txBody>
                    <a:bodyPr/>
                    <a:lstStyle/>
                    <a:p>
                      <a:r>
                        <a:rPr lang="en-AU" dirty="0"/>
                        <a:t>CFU </a:t>
                      </a:r>
                      <a:r>
                        <a:rPr lang="en-AU" dirty="0" smtClean="0"/>
                        <a:t>4</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Do ALL atoms have the same number of protons and neutrons?</a:t>
                      </a:r>
                      <a:endParaRPr lang="en-AU" dirty="0"/>
                    </a:p>
                  </a:txBody>
                  <a:tcPr/>
                </a:tc>
                <a:extLst>
                  <a:ext uri="{0D108BD9-81ED-4DB2-BD59-A6C34878D82A}">
                    <a16:rowId xmlns:a16="http://schemas.microsoft.com/office/drawing/2014/main" val="10001"/>
                  </a:ext>
                </a:extLst>
              </a:tr>
            </a:tbl>
          </a:graphicData>
        </a:graphic>
      </p:graphicFrame>
      <p:pic>
        <p:nvPicPr>
          <p:cNvPr id="8" name="Picture 7" descr="Fact 2">
            <a:hlinkClick r:id="rId3"/>
          </p:cNvPr>
          <p:cNvPicPr/>
          <p:nvPr/>
        </p:nvPicPr>
        <p:blipFill>
          <a:blip r:embed="rId4">
            <a:extLst>
              <a:ext uri="{28A0092B-C50C-407E-A947-70E740481C1C}">
                <a14:useLocalDpi xmlns:a14="http://schemas.microsoft.com/office/drawing/2010/main" val="0"/>
              </a:ext>
            </a:extLst>
          </a:blip>
          <a:srcRect b="7745"/>
          <a:stretch>
            <a:fillRect/>
          </a:stretch>
        </p:blipFill>
        <p:spPr bwMode="auto">
          <a:xfrm>
            <a:off x="299049" y="1062672"/>
            <a:ext cx="8626415" cy="4889554"/>
          </a:xfrm>
          <a:prstGeom prst="rect">
            <a:avLst/>
          </a:prstGeom>
          <a:noFill/>
          <a:extLst/>
        </p:spPr>
      </p:pic>
      <p:pic>
        <p:nvPicPr>
          <p:cNvPr id="12" name="Picture 11">
            <a:extLst>
              <a:ext uri="{FF2B5EF4-FFF2-40B4-BE49-F238E27FC236}">
                <a16:creationId xmlns:a16="http://schemas.microsoft.com/office/drawing/2014/main" id="{4E3BD12B-95B6-0949-A450-79464455822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72349" y="177140"/>
            <a:ext cx="2402928" cy="800976"/>
          </a:xfrm>
          <a:prstGeom prst="rect">
            <a:avLst/>
          </a:prstGeom>
        </p:spPr>
      </p:pic>
      <p:pic>
        <p:nvPicPr>
          <p:cNvPr id="13" name="Picture 12">
            <a:extLst>
              <a:ext uri="{FF2B5EF4-FFF2-40B4-BE49-F238E27FC236}">
                <a16:creationId xmlns:a16="http://schemas.microsoft.com/office/drawing/2014/main" id="{777EA56C-9AE9-AD49-B7E5-951AD9F69232}"/>
              </a:ext>
            </a:extLst>
          </p:cNvPr>
          <p:cNvPicPr>
            <a:picLocks noChangeAspect="1"/>
          </p:cNvPicPr>
          <p:nvPr/>
        </p:nvPicPr>
        <p:blipFill>
          <a:blip r:embed="rId6"/>
          <a:stretch>
            <a:fillRect/>
          </a:stretch>
        </p:blipFill>
        <p:spPr>
          <a:xfrm>
            <a:off x="7845998" y="74448"/>
            <a:ext cx="1006360" cy="1006360"/>
          </a:xfrm>
          <a:prstGeom prst="rect">
            <a:avLst/>
          </a:prstGeom>
        </p:spPr>
      </p:pic>
    </p:spTree>
    <p:extLst>
      <p:ext uri="{BB962C8B-B14F-4D97-AF65-F5344CB8AC3E}">
        <p14:creationId xmlns:p14="http://schemas.microsoft.com/office/powerpoint/2010/main" val="1738115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4023093"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Concept Development</a:t>
            </a:r>
          </a:p>
        </p:txBody>
      </p:sp>
      <p:sp>
        <p:nvSpPr>
          <p:cNvPr id="2" name="TextBox 1"/>
          <p:cNvSpPr txBox="1"/>
          <p:nvPr/>
        </p:nvSpPr>
        <p:spPr>
          <a:xfrm>
            <a:off x="0" y="732983"/>
            <a:ext cx="9144000" cy="1938992"/>
          </a:xfrm>
          <a:prstGeom prst="rect">
            <a:avLst/>
          </a:prstGeom>
          <a:noFill/>
        </p:spPr>
        <p:txBody>
          <a:bodyPr wrap="square" rtlCol="0">
            <a:spAutoFit/>
          </a:bodyPr>
          <a:lstStyle/>
          <a:p>
            <a:r>
              <a:rPr lang="en-US" sz="2400" b="1" u="sng" dirty="0">
                <a:solidFill>
                  <a:srgbClr val="FF0000"/>
                </a:solidFill>
              </a:rPr>
              <a:t>Isotopes</a:t>
            </a:r>
            <a:r>
              <a:rPr lang="en-US" sz="2400" u="sng" dirty="0"/>
              <a:t> </a:t>
            </a:r>
            <a:r>
              <a:rPr lang="en-US" sz="2400" b="1" dirty="0"/>
              <a:t>are atoms with the same number of protons but different number of neutrons. </a:t>
            </a:r>
            <a:r>
              <a:rPr lang="en-US" sz="2400" dirty="0"/>
              <a:t>Different isotopes are named by their mass number as they weigh a different amount </a:t>
            </a:r>
            <a:r>
              <a:rPr lang="en-US" sz="2400" dirty="0" smtClean="0"/>
              <a:t>(because </a:t>
            </a:r>
            <a:r>
              <a:rPr lang="en-US" sz="2400" dirty="0"/>
              <a:t>of the different amount of neutrons they </a:t>
            </a:r>
            <a:r>
              <a:rPr lang="en-US" sz="2400" dirty="0" smtClean="0"/>
              <a:t>contain).  </a:t>
            </a:r>
          </a:p>
          <a:p>
            <a:r>
              <a:rPr lang="en-US" sz="2400" i="1" dirty="0" smtClean="0"/>
              <a:t>Remember: </a:t>
            </a:r>
            <a:r>
              <a:rPr lang="en-US" sz="2400" i="1" dirty="0"/>
              <a:t>number of protons + neutrons = mass number.</a:t>
            </a:r>
            <a:endParaRPr lang="en-AU" sz="2400" i="1" dirty="0"/>
          </a:p>
        </p:txBody>
      </p:sp>
      <p:graphicFrame>
        <p:nvGraphicFramePr>
          <p:cNvPr id="10" name="Table 9"/>
          <p:cNvGraphicFramePr>
            <a:graphicFrameLocks noGrp="1"/>
          </p:cNvGraphicFramePr>
          <p:nvPr>
            <p:extLst>
              <p:ext uri="{D42A27DB-BD31-4B8C-83A1-F6EECF244321}">
                <p14:modId xmlns:p14="http://schemas.microsoft.com/office/powerpoint/2010/main" val="2040062784"/>
              </p:ext>
            </p:extLst>
          </p:nvPr>
        </p:nvGraphicFramePr>
        <p:xfrm>
          <a:off x="9523075" y="0"/>
          <a:ext cx="2463077" cy="155448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1</a:t>
                      </a:r>
                    </a:p>
                  </a:txBody>
                  <a:tcPr>
                    <a:solidFill>
                      <a:srgbClr val="00B050"/>
                    </a:solidFill>
                  </a:tcPr>
                </a:tc>
                <a:extLst>
                  <a:ext uri="{0D108BD9-81ED-4DB2-BD59-A6C34878D82A}">
                    <a16:rowId xmlns:a16="http://schemas.microsoft.com/office/drawing/2014/main" val="10000"/>
                  </a:ext>
                </a:extLst>
              </a:tr>
              <a:tr h="370840">
                <a:tc>
                  <a:txBody>
                    <a:bodyPr/>
                    <a:lstStyle/>
                    <a:p>
                      <a:r>
                        <a:rPr lang="en-AU" baseline="0" dirty="0" smtClean="0"/>
                        <a:t>What is an atom with d</a:t>
                      </a:r>
                      <a:r>
                        <a:rPr lang="en-AU" dirty="0" smtClean="0"/>
                        <a:t>ifferent numbers of neutrons in the</a:t>
                      </a:r>
                      <a:r>
                        <a:rPr lang="en-AU" baseline="0" dirty="0" smtClean="0"/>
                        <a:t> nucleus called?</a:t>
                      </a:r>
                      <a:r>
                        <a:rPr lang="en-AU" dirty="0" smtClean="0"/>
                        <a:t>  </a:t>
                      </a:r>
                      <a:endParaRPr lang="en-AU" dirty="0"/>
                    </a:p>
                  </a:txBody>
                  <a:tcPr/>
                </a:tc>
                <a:extLst>
                  <a:ext uri="{0D108BD9-81ED-4DB2-BD59-A6C34878D82A}">
                    <a16:rowId xmlns:a16="http://schemas.microsoft.com/office/drawing/2014/main" val="10001"/>
                  </a:ext>
                </a:extLst>
              </a:tr>
            </a:tbl>
          </a:graphicData>
        </a:graphic>
      </p:graphicFrame>
      <p:graphicFrame>
        <p:nvGraphicFramePr>
          <p:cNvPr id="64" name="Table 63"/>
          <p:cNvGraphicFramePr>
            <a:graphicFrameLocks noGrp="1"/>
          </p:cNvGraphicFramePr>
          <p:nvPr>
            <p:extLst>
              <p:ext uri="{D42A27DB-BD31-4B8C-83A1-F6EECF244321}">
                <p14:modId xmlns:p14="http://schemas.microsoft.com/office/powerpoint/2010/main" val="3791537217"/>
              </p:ext>
            </p:extLst>
          </p:nvPr>
        </p:nvGraphicFramePr>
        <p:xfrm>
          <a:off x="9528825" y="1757575"/>
          <a:ext cx="2463077" cy="182880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a:t>
                      </a:r>
                      <a:r>
                        <a:rPr lang="en-AU" dirty="0" smtClean="0"/>
                        <a:t>2</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List</a:t>
                      </a:r>
                      <a:r>
                        <a:rPr lang="en-AU" baseline="0" dirty="0" smtClean="0"/>
                        <a:t> </a:t>
                      </a:r>
                      <a:r>
                        <a:rPr lang="en-AU" dirty="0" smtClean="0"/>
                        <a:t>the difference and similarities</a:t>
                      </a:r>
                      <a:r>
                        <a:rPr lang="en-AU" baseline="0" dirty="0" smtClean="0"/>
                        <a:t> </a:t>
                      </a:r>
                      <a:r>
                        <a:rPr lang="en-AU" dirty="0" smtClean="0"/>
                        <a:t>between Hydrogen -1, </a:t>
                      </a:r>
                    </a:p>
                    <a:p>
                      <a:r>
                        <a:rPr lang="en-AU" dirty="0" smtClean="0"/>
                        <a:t>Hydrogen-2 and Hydrogen-3?</a:t>
                      </a:r>
                      <a:endParaRPr lang="en-AU" dirty="0"/>
                    </a:p>
                  </a:txBody>
                  <a:tcPr/>
                </a:tc>
                <a:extLst>
                  <a:ext uri="{0D108BD9-81ED-4DB2-BD59-A6C34878D82A}">
                    <a16:rowId xmlns:a16="http://schemas.microsoft.com/office/drawing/2014/main" val="10001"/>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395036888"/>
              </p:ext>
            </p:extLst>
          </p:nvPr>
        </p:nvGraphicFramePr>
        <p:xfrm>
          <a:off x="9517324" y="3698425"/>
          <a:ext cx="2463077" cy="128016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0">
                <a:tc>
                  <a:txBody>
                    <a:bodyPr/>
                    <a:lstStyle/>
                    <a:p>
                      <a:r>
                        <a:rPr lang="en-AU" dirty="0"/>
                        <a:t>CFU </a:t>
                      </a:r>
                      <a:r>
                        <a:rPr lang="en-AU" dirty="0" smtClean="0"/>
                        <a:t>3</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Why do isotopes of the same element weigh different amounts?</a:t>
                      </a:r>
                      <a:endParaRPr lang="en-AU" dirty="0"/>
                    </a:p>
                  </a:txBody>
                  <a:tcPr/>
                </a:tc>
                <a:extLst>
                  <a:ext uri="{0D108BD9-81ED-4DB2-BD59-A6C34878D82A}">
                    <a16:rowId xmlns:a16="http://schemas.microsoft.com/office/drawing/2014/main" val="10001"/>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1325788447"/>
              </p:ext>
            </p:extLst>
          </p:nvPr>
        </p:nvGraphicFramePr>
        <p:xfrm>
          <a:off x="9529402" y="5137509"/>
          <a:ext cx="2463077" cy="155448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0">
                <a:tc>
                  <a:txBody>
                    <a:bodyPr/>
                    <a:lstStyle/>
                    <a:p>
                      <a:r>
                        <a:rPr lang="en-AU" dirty="0"/>
                        <a:t>CFU </a:t>
                      </a:r>
                      <a:r>
                        <a:rPr lang="en-AU" dirty="0" smtClean="0"/>
                        <a:t>4</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If the protons of an atom change, do you still have the same substance (element) ?</a:t>
                      </a:r>
                      <a:endParaRPr lang="en-AU" dirty="0"/>
                    </a:p>
                  </a:txBody>
                  <a:tcPr/>
                </a:tc>
                <a:extLst>
                  <a:ext uri="{0D108BD9-81ED-4DB2-BD59-A6C34878D82A}">
                    <a16:rowId xmlns:a16="http://schemas.microsoft.com/office/drawing/2014/main" val="10001"/>
                  </a:ext>
                </a:extLst>
              </a:tr>
            </a:tbl>
          </a:graphicData>
        </a:graphic>
      </p:graphicFrame>
      <p:pic>
        <p:nvPicPr>
          <p:cNvPr id="8" name="Picture 7" descr="http://earthguide.ucsd.edu/virtualmuseum/images/ThreeCarbonIsotopes.jpg"/>
          <p:cNvPicPr/>
          <p:nvPr/>
        </p:nvPicPr>
        <p:blipFill>
          <a:blip r:embed="rId3">
            <a:extLst>
              <a:ext uri="{28A0092B-C50C-407E-A947-70E740481C1C}">
                <a14:useLocalDpi xmlns:a14="http://schemas.microsoft.com/office/drawing/2010/main" val="0"/>
              </a:ext>
            </a:extLst>
          </a:blip>
          <a:srcRect/>
          <a:stretch>
            <a:fillRect/>
          </a:stretch>
        </p:blipFill>
        <p:spPr bwMode="auto">
          <a:xfrm>
            <a:off x="748102" y="2810869"/>
            <a:ext cx="5100320" cy="3881120"/>
          </a:xfrm>
          <a:prstGeom prst="rect">
            <a:avLst/>
          </a:prstGeom>
          <a:noFill/>
          <a:ln>
            <a:noFill/>
          </a:ln>
          <a:extLst/>
        </p:spPr>
      </p:pic>
      <p:sp>
        <p:nvSpPr>
          <p:cNvPr id="3" name="Rectangle 2"/>
          <p:cNvSpPr/>
          <p:nvPr/>
        </p:nvSpPr>
        <p:spPr>
          <a:xfrm>
            <a:off x="3047999" y="2921168"/>
            <a:ext cx="6360543" cy="1477328"/>
          </a:xfrm>
          <a:prstGeom prst="rect">
            <a:avLst/>
          </a:prstGeom>
        </p:spPr>
        <p:txBody>
          <a:bodyPr wrap="square">
            <a:spAutoFit/>
          </a:bodyPr>
          <a:lstStyle/>
          <a:p>
            <a:pPr indent="3150870"/>
            <a:r>
              <a:rPr lang="en-US" b="1" u="sng" dirty="0">
                <a:latin typeface="Arial" panose="020B0604020202020204" pitchFamily="34" charset="0"/>
                <a:ea typeface="Calibri" panose="020F0502020204030204" pitchFamily="34" charset="0"/>
              </a:rPr>
              <a:t>All carbons have 6 protons</a:t>
            </a:r>
            <a:endParaRPr lang="en-AU" b="1" u="sng" dirty="0">
              <a:latin typeface="Arial" panose="020B0604020202020204" pitchFamily="34" charset="0"/>
              <a:ea typeface="Calibri" panose="020F0502020204030204" pitchFamily="34" charset="0"/>
            </a:endParaRPr>
          </a:p>
          <a:p>
            <a:pPr indent="3150870"/>
            <a:r>
              <a:rPr lang="en-US" dirty="0">
                <a:latin typeface="Arial" panose="020B0604020202020204" pitchFamily="34" charset="0"/>
                <a:ea typeface="Calibri" panose="020F0502020204030204" pitchFamily="34" charset="0"/>
              </a:rPr>
              <a:t>C-12 has 6 neutrons</a:t>
            </a:r>
            <a:endParaRPr lang="en-AU" dirty="0">
              <a:latin typeface="Arial" panose="020B0604020202020204" pitchFamily="34" charset="0"/>
              <a:ea typeface="Calibri" panose="020F0502020204030204" pitchFamily="34" charset="0"/>
            </a:endParaRPr>
          </a:p>
          <a:p>
            <a:pPr indent="3150870"/>
            <a:r>
              <a:rPr lang="en-US" dirty="0">
                <a:latin typeface="Arial" panose="020B0604020202020204" pitchFamily="34" charset="0"/>
                <a:ea typeface="Calibri" panose="020F0502020204030204" pitchFamily="34" charset="0"/>
              </a:rPr>
              <a:t>C-13 has 7 neutrons</a:t>
            </a:r>
            <a:endParaRPr lang="en-AU" dirty="0">
              <a:latin typeface="Arial" panose="020B0604020202020204" pitchFamily="34" charset="0"/>
              <a:ea typeface="Calibri" panose="020F0502020204030204" pitchFamily="34" charset="0"/>
            </a:endParaRPr>
          </a:p>
          <a:p>
            <a:pPr indent="3150870"/>
            <a:r>
              <a:rPr lang="en-US" dirty="0">
                <a:latin typeface="Arial" panose="020B0604020202020204" pitchFamily="34" charset="0"/>
                <a:ea typeface="Calibri" panose="020F0502020204030204" pitchFamily="34" charset="0"/>
              </a:rPr>
              <a:t>C-14 has 8 neutrons</a:t>
            </a:r>
            <a:endParaRPr lang="en-AU" dirty="0">
              <a:latin typeface="Arial" panose="020B0604020202020204" pitchFamily="34" charset="0"/>
              <a:ea typeface="Calibri" panose="020F0502020204030204" pitchFamily="34" charset="0"/>
            </a:endParaRPr>
          </a:p>
          <a:p>
            <a:pPr indent="3150870"/>
            <a:r>
              <a:rPr lang="en-AU" dirty="0">
                <a:latin typeface="Arial" panose="020B0604020202020204" pitchFamily="34" charset="0"/>
                <a:ea typeface="Calibri" panose="020F0502020204030204" pitchFamily="34" charset="0"/>
              </a:rPr>
              <a:t> </a:t>
            </a:r>
            <a:endParaRPr lang="en-AU" dirty="0">
              <a:effectLst/>
              <a:latin typeface="Arial" panose="020B0604020202020204" pitchFamily="34" charset="0"/>
              <a:ea typeface="Calibri" panose="020F0502020204030204" pitchFamily="34" charset="0"/>
            </a:endParaRPr>
          </a:p>
        </p:txBody>
      </p:sp>
      <p:pic>
        <p:nvPicPr>
          <p:cNvPr id="12" name="Picture 11">
            <a:extLst>
              <a:ext uri="{FF2B5EF4-FFF2-40B4-BE49-F238E27FC236}">
                <a16:creationId xmlns:a16="http://schemas.microsoft.com/office/drawing/2014/main" id="{4D566270-F81B-F94A-88CB-1B95C1EF5BE3}"/>
              </a:ext>
            </a:extLst>
          </p:cNvPr>
          <p:cNvPicPr>
            <a:picLocks noChangeAspect="1"/>
          </p:cNvPicPr>
          <p:nvPr/>
        </p:nvPicPr>
        <p:blipFill>
          <a:blip r:embed="rId4"/>
          <a:stretch>
            <a:fillRect/>
          </a:stretch>
        </p:blipFill>
        <p:spPr>
          <a:xfrm>
            <a:off x="8453327" y="6182"/>
            <a:ext cx="955215" cy="955215"/>
          </a:xfrm>
          <a:prstGeom prst="rect">
            <a:avLst/>
          </a:prstGeom>
        </p:spPr>
      </p:pic>
      <p:pic>
        <p:nvPicPr>
          <p:cNvPr id="13" name="Picture 12">
            <a:extLst>
              <a:ext uri="{FF2B5EF4-FFF2-40B4-BE49-F238E27FC236}">
                <a16:creationId xmlns:a16="http://schemas.microsoft.com/office/drawing/2014/main" id="{16B17FA2-E88E-434A-871C-48718DF8128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46029" y="0"/>
            <a:ext cx="1092765" cy="837086"/>
          </a:xfrm>
          <a:prstGeom prst="rect">
            <a:avLst/>
          </a:prstGeom>
        </p:spPr>
      </p:pic>
    </p:spTree>
    <p:extLst>
      <p:ext uri="{BB962C8B-B14F-4D97-AF65-F5344CB8AC3E}">
        <p14:creationId xmlns:p14="http://schemas.microsoft.com/office/powerpoint/2010/main" val="3555287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6086422"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Skill </a:t>
            </a:r>
            <a:r>
              <a:rPr lang="en-AU" sz="3200" dirty="0"/>
              <a:t>Development/Guided Practice</a:t>
            </a:r>
          </a:p>
        </p:txBody>
      </p:sp>
      <p:graphicFrame>
        <p:nvGraphicFramePr>
          <p:cNvPr id="9" name="Table 8"/>
          <p:cNvGraphicFramePr>
            <a:graphicFrameLocks noGrp="1"/>
          </p:cNvGraphicFramePr>
          <p:nvPr>
            <p:extLst>
              <p:ext uri="{D42A27DB-BD31-4B8C-83A1-F6EECF244321}">
                <p14:modId xmlns:p14="http://schemas.microsoft.com/office/powerpoint/2010/main" val="1055870339"/>
              </p:ext>
            </p:extLst>
          </p:nvPr>
        </p:nvGraphicFramePr>
        <p:xfrm>
          <a:off x="1" y="1083215"/>
          <a:ext cx="8908210" cy="1645920"/>
        </p:xfrm>
        <a:graphic>
          <a:graphicData uri="http://schemas.openxmlformats.org/drawingml/2006/table">
            <a:tbl>
              <a:tblPr firstRow="1" bandRow="1">
                <a:tableStyleId>{F5AB1C69-6EDB-4FF4-983F-18BD219EF322}</a:tableStyleId>
              </a:tblPr>
              <a:tblGrid>
                <a:gridCol w="8908210">
                  <a:extLst>
                    <a:ext uri="{9D8B030D-6E8A-4147-A177-3AD203B41FA5}">
                      <a16:colId xmlns:a16="http://schemas.microsoft.com/office/drawing/2014/main" val="20000"/>
                    </a:ext>
                  </a:extLst>
                </a:gridCol>
              </a:tblGrid>
              <a:tr h="410685">
                <a:tc>
                  <a:txBody>
                    <a:bodyPr/>
                    <a:lstStyle/>
                    <a:p>
                      <a:r>
                        <a:rPr lang="en-AU" sz="2400" dirty="0" smtClean="0"/>
                        <a:t>Describing atomic symbols</a:t>
                      </a:r>
                      <a:endParaRPr lang="en-AU" sz="2000" dirty="0"/>
                    </a:p>
                  </a:txBody>
                  <a:tcPr>
                    <a:solidFill>
                      <a:srgbClr val="00B050"/>
                    </a:solidFill>
                  </a:tcPr>
                </a:tc>
                <a:extLst>
                  <a:ext uri="{0D108BD9-81ED-4DB2-BD59-A6C34878D82A}">
                    <a16:rowId xmlns:a16="http://schemas.microsoft.com/office/drawing/2014/main" val="10000"/>
                  </a:ext>
                </a:extLst>
              </a:tr>
              <a:tr h="1072683">
                <a:tc>
                  <a:txBody>
                    <a:bodyPr/>
                    <a:lstStyle/>
                    <a:p>
                      <a:pPr marL="457200" indent="-457200">
                        <a:buAutoNum type="arabicPeriod"/>
                      </a:pPr>
                      <a:r>
                        <a:rPr lang="en-AU" sz="2400" b="0" baseline="0" dirty="0" smtClean="0"/>
                        <a:t>Identify the element, atomic number, and atomic mass.</a:t>
                      </a:r>
                    </a:p>
                    <a:p>
                      <a:pPr marL="457200" indent="-457200">
                        <a:buAutoNum type="arabicPeriod"/>
                      </a:pPr>
                      <a:r>
                        <a:rPr lang="en-AU" sz="2400" b="0" baseline="0" dirty="0" smtClean="0"/>
                        <a:t>From this, identify the number of protons, number of electrons and number of neutrons</a:t>
                      </a:r>
                      <a:endParaRPr lang="en-AU" sz="2400" b="1" baseline="0" dirty="0" smtClean="0"/>
                    </a:p>
                  </a:txBody>
                  <a:tcPr/>
                </a:tc>
                <a:extLst>
                  <a:ext uri="{0D108BD9-81ED-4DB2-BD59-A6C34878D82A}">
                    <a16:rowId xmlns:a16="http://schemas.microsoft.com/office/drawing/2014/main" val="10001"/>
                  </a:ext>
                </a:extLst>
              </a:tr>
            </a:tbl>
          </a:graphicData>
        </a:graphic>
      </p:graphicFrame>
      <p:sp>
        <p:nvSpPr>
          <p:cNvPr id="10" name="Title 1"/>
          <p:cNvSpPr txBox="1">
            <a:spLocks/>
          </p:cNvSpPr>
          <p:nvPr/>
        </p:nvSpPr>
        <p:spPr>
          <a:xfrm>
            <a:off x="476325" y="3282566"/>
            <a:ext cx="8695765" cy="3280793"/>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14350" indent="-514350">
              <a:spcAft>
                <a:spcPts val="1200"/>
              </a:spcAft>
              <a:buAutoNum type="arabicPeriod"/>
            </a:pPr>
            <a:r>
              <a:rPr lang="en-AU" sz="2800" dirty="0" smtClean="0">
                <a:solidFill>
                  <a:srgbClr val="00B050"/>
                </a:solidFill>
                <a:latin typeface="+mn-lt"/>
                <a:sym typeface="Wingdings" panose="05000000000000000000" pitchFamily="2" charset="2"/>
              </a:rPr>
              <a:t>Element =  Zinc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Atomic number =  30</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Atomic Mass  = 66</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Number of protons   = 30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Number of  electrons   = 30</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Number of neutrons =  36</a:t>
            </a:r>
          </a:p>
        </p:txBody>
      </p:sp>
      <p:sp>
        <p:nvSpPr>
          <p:cNvPr id="2" name="TextBox 1"/>
          <p:cNvSpPr txBox="1"/>
          <p:nvPr/>
        </p:nvSpPr>
        <p:spPr>
          <a:xfrm>
            <a:off x="7384499" y="3864333"/>
            <a:ext cx="1310640" cy="1692771"/>
          </a:xfrm>
          <a:prstGeom prst="rect">
            <a:avLst/>
          </a:prstGeom>
          <a:noFill/>
        </p:spPr>
        <p:txBody>
          <a:bodyPr wrap="square" rtlCol="0">
            <a:spAutoFit/>
          </a:bodyPr>
          <a:lstStyle/>
          <a:p>
            <a:r>
              <a:rPr lang="en-AU" sz="2800" dirty="0" smtClean="0"/>
              <a:t>66</a:t>
            </a:r>
          </a:p>
          <a:p>
            <a:r>
              <a:rPr lang="en-AU" sz="4800" dirty="0" smtClean="0"/>
              <a:t>Zn</a:t>
            </a:r>
          </a:p>
          <a:p>
            <a:r>
              <a:rPr lang="en-AU" sz="2800" dirty="0" smtClean="0"/>
              <a:t>30</a:t>
            </a:r>
            <a:endParaRPr lang="en-AU" sz="2800" dirty="0"/>
          </a:p>
        </p:txBody>
      </p:sp>
      <p:graphicFrame>
        <p:nvGraphicFramePr>
          <p:cNvPr id="8" name="Table 7"/>
          <p:cNvGraphicFramePr>
            <a:graphicFrameLocks noGrp="1"/>
          </p:cNvGraphicFramePr>
          <p:nvPr>
            <p:extLst>
              <p:ext uri="{D42A27DB-BD31-4B8C-83A1-F6EECF244321}">
                <p14:modId xmlns:p14="http://schemas.microsoft.com/office/powerpoint/2010/main" val="3383902829"/>
              </p:ext>
            </p:extLst>
          </p:nvPr>
        </p:nvGraphicFramePr>
        <p:xfrm>
          <a:off x="9788780" y="148208"/>
          <a:ext cx="1897137" cy="1628528"/>
        </p:xfrm>
        <a:graphic>
          <a:graphicData uri="http://schemas.openxmlformats.org/drawingml/2006/table">
            <a:tbl>
              <a:tblPr firstRow="1" bandRow="1">
                <a:tableStyleId>{F5AB1C69-6EDB-4FF4-983F-18BD219EF322}</a:tableStyleId>
              </a:tblPr>
              <a:tblGrid>
                <a:gridCol w="1897137">
                  <a:extLst>
                    <a:ext uri="{9D8B030D-6E8A-4147-A177-3AD203B41FA5}">
                      <a16:colId xmlns:a16="http://schemas.microsoft.com/office/drawing/2014/main" val="20000"/>
                    </a:ext>
                  </a:extLst>
                </a:gridCol>
              </a:tblGrid>
              <a:tr h="343075">
                <a:tc>
                  <a:txBody>
                    <a:bodyPr/>
                    <a:lstStyle/>
                    <a:p>
                      <a:r>
                        <a:rPr lang="en-AU" sz="1800" dirty="0" smtClean="0"/>
                        <a:t>Reminder</a:t>
                      </a:r>
                      <a:endParaRPr lang="en-AU" sz="1600" dirty="0"/>
                    </a:p>
                  </a:txBody>
                  <a:tcPr>
                    <a:solidFill>
                      <a:schemeClr val="accent3"/>
                    </a:solidFill>
                  </a:tcPr>
                </a:tc>
                <a:extLst>
                  <a:ext uri="{0D108BD9-81ED-4DB2-BD59-A6C34878D82A}">
                    <a16:rowId xmlns:a16="http://schemas.microsoft.com/office/drawing/2014/main" val="10000"/>
                  </a:ext>
                </a:extLst>
              </a:tr>
              <a:tr h="1262768">
                <a:tc>
                  <a:txBody>
                    <a:bodyPr/>
                    <a:lstStyle/>
                    <a:p>
                      <a:pPr marL="0" indent="0">
                        <a:buNone/>
                      </a:pPr>
                      <a:endParaRPr lang="en-AU" sz="2400" b="1" baseline="0" dirty="0" smtClean="0"/>
                    </a:p>
                  </a:txBody>
                  <a:tcPr/>
                </a:tc>
                <a:extLst>
                  <a:ext uri="{0D108BD9-81ED-4DB2-BD59-A6C34878D82A}">
                    <a16:rowId xmlns:a16="http://schemas.microsoft.com/office/drawing/2014/main" val="10001"/>
                  </a:ext>
                </a:extLst>
              </a:tr>
            </a:tbl>
          </a:graphicData>
        </a:graphic>
      </p:graphicFrame>
      <p:sp>
        <p:nvSpPr>
          <p:cNvPr id="7" name="TextBox 6"/>
          <p:cNvSpPr txBox="1"/>
          <p:nvPr/>
        </p:nvSpPr>
        <p:spPr>
          <a:xfrm>
            <a:off x="10127124" y="610621"/>
            <a:ext cx="1310640" cy="1200329"/>
          </a:xfrm>
          <a:prstGeom prst="rect">
            <a:avLst/>
          </a:prstGeom>
          <a:noFill/>
        </p:spPr>
        <p:txBody>
          <a:bodyPr wrap="square" rtlCol="0">
            <a:spAutoFit/>
          </a:bodyPr>
          <a:lstStyle/>
          <a:p>
            <a:r>
              <a:rPr lang="en-AU" sz="1400" dirty="0" smtClean="0"/>
              <a:t>Atomic Number</a:t>
            </a:r>
          </a:p>
          <a:p>
            <a:r>
              <a:rPr lang="en-AU" sz="2800" dirty="0" smtClean="0"/>
              <a:t>Symbol</a:t>
            </a:r>
          </a:p>
          <a:p>
            <a:r>
              <a:rPr lang="en-AU" sz="1400" dirty="0" smtClean="0"/>
              <a:t>Atomic Mass</a:t>
            </a:r>
            <a:endParaRPr lang="en-AU" sz="1400" dirty="0"/>
          </a:p>
        </p:txBody>
      </p:sp>
    </p:spTree>
    <p:extLst>
      <p:ext uri="{BB962C8B-B14F-4D97-AF65-F5344CB8AC3E}">
        <p14:creationId xmlns:p14="http://schemas.microsoft.com/office/powerpoint/2010/main" val="3161839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6086422"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Skill </a:t>
            </a:r>
            <a:r>
              <a:rPr lang="en-AU" sz="3200" dirty="0"/>
              <a:t>Development/Guided Practice</a:t>
            </a:r>
          </a:p>
        </p:txBody>
      </p:sp>
      <p:sp>
        <p:nvSpPr>
          <p:cNvPr id="10" name="Title 1"/>
          <p:cNvSpPr txBox="1">
            <a:spLocks/>
          </p:cNvSpPr>
          <p:nvPr/>
        </p:nvSpPr>
        <p:spPr>
          <a:xfrm>
            <a:off x="476325" y="3282566"/>
            <a:ext cx="8695765" cy="3280793"/>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14350" indent="-514350">
              <a:spcAft>
                <a:spcPts val="1200"/>
              </a:spcAft>
              <a:buAutoNum type="arabicPeriod"/>
            </a:pPr>
            <a:r>
              <a:rPr lang="en-AU" sz="2800" dirty="0" smtClean="0">
                <a:solidFill>
                  <a:srgbClr val="00B050"/>
                </a:solidFill>
                <a:latin typeface="+mn-lt"/>
                <a:sym typeface="Wingdings" panose="05000000000000000000" pitchFamily="2" charset="2"/>
              </a:rPr>
              <a:t>Element =  Helium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Atomic number =  2</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Atomic Mass  = 4</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Number of protons   = 2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Number of  electrons   = 2</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Number of neutrons =  2</a:t>
            </a:r>
          </a:p>
        </p:txBody>
      </p:sp>
      <p:sp>
        <p:nvSpPr>
          <p:cNvPr id="11" name="TextBox 10"/>
          <p:cNvSpPr txBox="1"/>
          <p:nvPr/>
        </p:nvSpPr>
        <p:spPr>
          <a:xfrm>
            <a:off x="6347651" y="146085"/>
            <a:ext cx="5545525" cy="954107"/>
          </a:xfrm>
          <a:prstGeom prst="rect">
            <a:avLst/>
          </a:prstGeom>
          <a:noFill/>
        </p:spPr>
        <p:txBody>
          <a:bodyPr wrap="square" rtlCol="0">
            <a:spAutoFit/>
          </a:bodyPr>
          <a:lstStyle/>
          <a:p>
            <a:r>
              <a:rPr lang="en-AU" sz="2800" dirty="0" smtClean="0"/>
              <a:t> </a:t>
            </a:r>
          </a:p>
          <a:p>
            <a:r>
              <a:rPr lang="en-AU" sz="2800" dirty="0"/>
              <a:t> </a:t>
            </a:r>
            <a:r>
              <a:rPr lang="en-AU" sz="2800" dirty="0" smtClean="0"/>
              <a:t>              </a:t>
            </a:r>
            <a:endParaRPr lang="en-AU" sz="2800" dirty="0"/>
          </a:p>
        </p:txBody>
      </p:sp>
      <p:sp>
        <p:nvSpPr>
          <p:cNvPr id="2" name="TextBox 1"/>
          <p:cNvSpPr txBox="1"/>
          <p:nvPr/>
        </p:nvSpPr>
        <p:spPr>
          <a:xfrm>
            <a:off x="7861450" y="3392755"/>
            <a:ext cx="1310640" cy="1692771"/>
          </a:xfrm>
          <a:prstGeom prst="rect">
            <a:avLst/>
          </a:prstGeom>
          <a:noFill/>
        </p:spPr>
        <p:txBody>
          <a:bodyPr wrap="square" rtlCol="0">
            <a:spAutoFit/>
          </a:bodyPr>
          <a:lstStyle/>
          <a:p>
            <a:r>
              <a:rPr lang="en-AU" sz="2800" dirty="0"/>
              <a:t>2</a:t>
            </a:r>
            <a:endParaRPr lang="en-AU" sz="2800" dirty="0" smtClean="0"/>
          </a:p>
          <a:p>
            <a:r>
              <a:rPr lang="en-AU" sz="4800" dirty="0" smtClean="0"/>
              <a:t>He</a:t>
            </a:r>
          </a:p>
          <a:p>
            <a:r>
              <a:rPr lang="en-AU" sz="2800" dirty="0"/>
              <a:t>4</a:t>
            </a:r>
          </a:p>
        </p:txBody>
      </p:sp>
      <p:graphicFrame>
        <p:nvGraphicFramePr>
          <p:cNvPr id="8" name="Table 7"/>
          <p:cNvGraphicFramePr>
            <a:graphicFrameLocks noGrp="1"/>
          </p:cNvGraphicFramePr>
          <p:nvPr>
            <p:extLst>
              <p:ext uri="{D42A27DB-BD31-4B8C-83A1-F6EECF244321}">
                <p14:modId xmlns:p14="http://schemas.microsoft.com/office/powerpoint/2010/main" val="1966664779"/>
              </p:ext>
            </p:extLst>
          </p:nvPr>
        </p:nvGraphicFramePr>
        <p:xfrm>
          <a:off x="1" y="1083215"/>
          <a:ext cx="8908210" cy="1645920"/>
        </p:xfrm>
        <a:graphic>
          <a:graphicData uri="http://schemas.openxmlformats.org/drawingml/2006/table">
            <a:tbl>
              <a:tblPr firstRow="1" bandRow="1">
                <a:tableStyleId>{F5AB1C69-6EDB-4FF4-983F-18BD219EF322}</a:tableStyleId>
              </a:tblPr>
              <a:tblGrid>
                <a:gridCol w="8908210">
                  <a:extLst>
                    <a:ext uri="{9D8B030D-6E8A-4147-A177-3AD203B41FA5}">
                      <a16:colId xmlns:a16="http://schemas.microsoft.com/office/drawing/2014/main" val="20000"/>
                    </a:ext>
                  </a:extLst>
                </a:gridCol>
              </a:tblGrid>
              <a:tr h="410685">
                <a:tc>
                  <a:txBody>
                    <a:bodyPr/>
                    <a:lstStyle/>
                    <a:p>
                      <a:r>
                        <a:rPr lang="en-AU" sz="2400" dirty="0" smtClean="0"/>
                        <a:t>Describing atomic symbols</a:t>
                      </a:r>
                      <a:endParaRPr lang="en-AU" sz="2000" dirty="0"/>
                    </a:p>
                  </a:txBody>
                  <a:tcPr>
                    <a:solidFill>
                      <a:srgbClr val="00B050"/>
                    </a:solidFill>
                  </a:tcPr>
                </a:tc>
                <a:extLst>
                  <a:ext uri="{0D108BD9-81ED-4DB2-BD59-A6C34878D82A}">
                    <a16:rowId xmlns:a16="http://schemas.microsoft.com/office/drawing/2014/main" val="10000"/>
                  </a:ext>
                </a:extLst>
              </a:tr>
              <a:tr h="1072683">
                <a:tc>
                  <a:txBody>
                    <a:bodyPr/>
                    <a:lstStyle/>
                    <a:p>
                      <a:pPr marL="457200" indent="-457200">
                        <a:buAutoNum type="arabicPeriod"/>
                      </a:pPr>
                      <a:r>
                        <a:rPr lang="en-AU" sz="2400" b="0" baseline="0" dirty="0" smtClean="0"/>
                        <a:t>Identify the element, atomic number, and atomic mass.</a:t>
                      </a:r>
                    </a:p>
                    <a:p>
                      <a:pPr marL="457200" indent="-457200">
                        <a:buAutoNum type="arabicPeriod"/>
                      </a:pPr>
                      <a:r>
                        <a:rPr lang="en-AU" sz="2400" b="0" baseline="0" dirty="0" smtClean="0"/>
                        <a:t>From this, identify the number of protons, number of electrons and number of neutrons</a:t>
                      </a:r>
                      <a:endParaRPr lang="en-AU" sz="2400" b="1" baseline="0" dirty="0" smtClean="0"/>
                    </a:p>
                  </a:txBody>
                  <a:tcPr/>
                </a:tc>
                <a:extLst>
                  <a:ext uri="{0D108BD9-81ED-4DB2-BD59-A6C34878D82A}">
                    <a16:rowId xmlns:a16="http://schemas.microsoft.com/office/drawing/2014/main" val="10001"/>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968508840"/>
              </p:ext>
            </p:extLst>
          </p:nvPr>
        </p:nvGraphicFramePr>
        <p:xfrm>
          <a:off x="9788780" y="148208"/>
          <a:ext cx="1897137" cy="1628528"/>
        </p:xfrm>
        <a:graphic>
          <a:graphicData uri="http://schemas.openxmlformats.org/drawingml/2006/table">
            <a:tbl>
              <a:tblPr firstRow="1" bandRow="1">
                <a:tableStyleId>{F5AB1C69-6EDB-4FF4-983F-18BD219EF322}</a:tableStyleId>
              </a:tblPr>
              <a:tblGrid>
                <a:gridCol w="1897137">
                  <a:extLst>
                    <a:ext uri="{9D8B030D-6E8A-4147-A177-3AD203B41FA5}">
                      <a16:colId xmlns:a16="http://schemas.microsoft.com/office/drawing/2014/main" val="20000"/>
                    </a:ext>
                  </a:extLst>
                </a:gridCol>
              </a:tblGrid>
              <a:tr h="343075">
                <a:tc>
                  <a:txBody>
                    <a:bodyPr/>
                    <a:lstStyle/>
                    <a:p>
                      <a:r>
                        <a:rPr lang="en-AU" sz="1800" dirty="0" smtClean="0"/>
                        <a:t>Reminder</a:t>
                      </a:r>
                      <a:endParaRPr lang="en-AU" sz="1600" dirty="0"/>
                    </a:p>
                  </a:txBody>
                  <a:tcPr>
                    <a:solidFill>
                      <a:schemeClr val="accent3"/>
                    </a:solidFill>
                  </a:tcPr>
                </a:tc>
                <a:extLst>
                  <a:ext uri="{0D108BD9-81ED-4DB2-BD59-A6C34878D82A}">
                    <a16:rowId xmlns:a16="http://schemas.microsoft.com/office/drawing/2014/main" val="10000"/>
                  </a:ext>
                </a:extLst>
              </a:tr>
              <a:tr h="1262768">
                <a:tc>
                  <a:txBody>
                    <a:bodyPr/>
                    <a:lstStyle/>
                    <a:p>
                      <a:pPr marL="0" indent="0">
                        <a:buNone/>
                      </a:pPr>
                      <a:endParaRPr lang="en-AU" sz="2400" b="1" baseline="0" dirty="0" smtClean="0"/>
                    </a:p>
                  </a:txBody>
                  <a:tcPr/>
                </a:tc>
                <a:extLst>
                  <a:ext uri="{0D108BD9-81ED-4DB2-BD59-A6C34878D82A}">
                    <a16:rowId xmlns:a16="http://schemas.microsoft.com/office/drawing/2014/main" val="10001"/>
                  </a:ext>
                </a:extLst>
              </a:tr>
            </a:tbl>
          </a:graphicData>
        </a:graphic>
      </p:graphicFrame>
      <p:sp>
        <p:nvSpPr>
          <p:cNvPr id="13" name="TextBox 12"/>
          <p:cNvSpPr txBox="1"/>
          <p:nvPr/>
        </p:nvSpPr>
        <p:spPr>
          <a:xfrm>
            <a:off x="10127124" y="610621"/>
            <a:ext cx="1310640" cy="1200329"/>
          </a:xfrm>
          <a:prstGeom prst="rect">
            <a:avLst/>
          </a:prstGeom>
          <a:noFill/>
        </p:spPr>
        <p:txBody>
          <a:bodyPr wrap="square" rtlCol="0">
            <a:spAutoFit/>
          </a:bodyPr>
          <a:lstStyle/>
          <a:p>
            <a:r>
              <a:rPr lang="en-AU" sz="1400" dirty="0" smtClean="0"/>
              <a:t>Atomic Number</a:t>
            </a:r>
          </a:p>
          <a:p>
            <a:r>
              <a:rPr lang="en-AU" sz="2800" dirty="0" smtClean="0"/>
              <a:t>Symbol</a:t>
            </a:r>
          </a:p>
          <a:p>
            <a:r>
              <a:rPr lang="en-AU" sz="1400" dirty="0" smtClean="0"/>
              <a:t>Atomic Mass</a:t>
            </a:r>
            <a:endParaRPr lang="en-AU" sz="1400" dirty="0"/>
          </a:p>
        </p:txBody>
      </p:sp>
    </p:spTree>
    <p:extLst>
      <p:ext uri="{BB962C8B-B14F-4D97-AF65-F5344CB8AC3E}">
        <p14:creationId xmlns:p14="http://schemas.microsoft.com/office/powerpoint/2010/main" val="2039835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6086422"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Skill </a:t>
            </a:r>
            <a:r>
              <a:rPr lang="en-AU" sz="3200" dirty="0"/>
              <a:t>Development/Guided Practice</a:t>
            </a:r>
          </a:p>
        </p:txBody>
      </p:sp>
      <p:sp>
        <p:nvSpPr>
          <p:cNvPr id="10" name="Title 1"/>
          <p:cNvSpPr txBox="1">
            <a:spLocks/>
          </p:cNvSpPr>
          <p:nvPr/>
        </p:nvSpPr>
        <p:spPr>
          <a:xfrm>
            <a:off x="476325" y="3282566"/>
            <a:ext cx="8695765" cy="3280793"/>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14350" indent="-514350">
              <a:spcAft>
                <a:spcPts val="1200"/>
              </a:spcAft>
              <a:buAutoNum type="arabicPeriod"/>
            </a:pPr>
            <a:r>
              <a:rPr lang="en-AU" sz="2800" dirty="0" smtClean="0">
                <a:solidFill>
                  <a:srgbClr val="00B050"/>
                </a:solidFill>
                <a:latin typeface="+mn-lt"/>
                <a:sym typeface="Wingdings" panose="05000000000000000000" pitchFamily="2" charset="2"/>
              </a:rPr>
              <a:t>Element =  Iron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Atomic number =  26</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Atomic Mass  = 56</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Number of protons   = 26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Number of  electrons   = 26</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Number of neutrons =  30</a:t>
            </a:r>
          </a:p>
        </p:txBody>
      </p:sp>
      <p:sp>
        <p:nvSpPr>
          <p:cNvPr id="11" name="TextBox 10"/>
          <p:cNvSpPr txBox="1"/>
          <p:nvPr/>
        </p:nvSpPr>
        <p:spPr>
          <a:xfrm>
            <a:off x="6347651" y="146085"/>
            <a:ext cx="5545525" cy="954107"/>
          </a:xfrm>
          <a:prstGeom prst="rect">
            <a:avLst/>
          </a:prstGeom>
          <a:noFill/>
        </p:spPr>
        <p:txBody>
          <a:bodyPr wrap="square" rtlCol="0">
            <a:spAutoFit/>
          </a:bodyPr>
          <a:lstStyle/>
          <a:p>
            <a:r>
              <a:rPr lang="en-AU" sz="2800" dirty="0" smtClean="0"/>
              <a:t> </a:t>
            </a:r>
          </a:p>
          <a:p>
            <a:r>
              <a:rPr lang="en-AU" sz="2800" dirty="0"/>
              <a:t> </a:t>
            </a:r>
            <a:r>
              <a:rPr lang="en-AU" sz="2800" dirty="0" smtClean="0"/>
              <a:t>              </a:t>
            </a:r>
            <a:endParaRPr lang="en-AU" sz="2800" dirty="0"/>
          </a:p>
        </p:txBody>
      </p:sp>
      <p:sp>
        <p:nvSpPr>
          <p:cNvPr id="2" name="TextBox 1"/>
          <p:cNvSpPr txBox="1"/>
          <p:nvPr/>
        </p:nvSpPr>
        <p:spPr>
          <a:xfrm>
            <a:off x="7809773" y="3904589"/>
            <a:ext cx="1310640" cy="1692771"/>
          </a:xfrm>
          <a:prstGeom prst="rect">
            <a:avLst/>
          </a:prstGeom>
          <a:noFill/>
        </p:spPr>
        <p:txBody>
          <a:bodyPr wrap="square" rtlCol="0">
            <a:spAutoFit/>
          </a:bodyPr>
          <a:lstStyle/>
          <a:p>
            <a:r>
              <a:rPr lang="en-AU" sz="2800" dirty="0"/>
              <a:t>5</a:t>
            </a:r>
            <a:r>
              <a:rPr lang="en-AU" sz="2800" dirty="0" smtClean="0"/>
              <a:t>6</a:t>
            </a:r>
          </a:p>
          <a:p>
            <a:r>
              <a:rPr lang="en-AU" sz="4800" dirty="0" smtClean="0"/>
              <a:t>Fe</a:t>
            </a:r>
          </a:p>
          <a:p>
            <a:r>
              <a:rPr lang="en-AU" sz="2800" dirty="0"/>
              <a:t>2</a:t>
            </a:r>
            <a:r>
              <a:rPr lang="en-AU" sz="2800" dirty="0" smtClean="0"/>
              <a:t>6</a:t>
            </a:r>
            <a:endParaRPr lang="en-AU" sz="2800" dirty="0"/>
          </a:p>
        </p:txBody>
      </p:sp>
      <p:graphicFrame>
        <p:nvGraphicFramePr>
          <p:cNvPr id="7" name="Table 6"/>
          <p:cNvGraphicFramePr>
            <a:graphicFrameLocks noGrp="1"/>
          </p:cNvGraphicFramePr>
          <p:nvPr>
            <p:extLst>
              <p:ext uri="{D42A27DB-BD31-4B8C-83A1-F6EECF244321}">
                <p14:modId xmlns:p14="http://schemas.microsoft.com/office/powerpoint/2010/main" val="2390032318"/>
              </p:ext>
            </p:extLst>
          </p:nvPr>
        </p:nvGraphicFramePr>
        <p:xfrm>
          <a:off x="1" y="1083215"/>
          <a:ext cx="8908210" cy="1645920"/>
        </p:xfrm>
        <a:graphic>
          <a:graphicData uri="http://schemas.openxmlformats.org/drawingml/2006/table">
            <a:tbl>
              <a:tblPr firstRow="1" bandRow="1">
                <a:tableStyleId>{F5AB1C69-6EDB-4FF4-983F-18BD219EF322}</a:tableStyleId>
              </a:tblPr>
              <a:tblGrid>
                <a:gridCol w="8908210">
                  <a:extLst>
                    <a:ext uri="{9D8B030D-6E8A-4147-A177-3AD203B41FA5}">
                      <a16:colId xmlns:a16="http://schemas.microsoft.com/office/drawing/2014/main" val="20000"/>
                    </a:ext>
                  </a:extLst>
                </a:gridCol>
              </a:tblGrid>
              <a:tr h="410685">
                <a:tc>
                  <a:txBody>
                    <a:bodyPr/>
                    <a:lstStyle/>
                    <a:p>
                      <a:r>
                        <a:rPr lang="en-AU" sz="2400" dirty="0" smtClean="0"/>
                        <a:t>Describing atomic symbols</a:t>
                      </a:r>
                      <a:endParaRPr lang="en-AU" sz="2000" dirty="0"/>
                    </a:p>
                  </a:txBody>
                  <a:tcPr>
                    <a:solidFill>
                      <a:srgbClr val="00B050"/>
                    </a:solidFill>
                  </a:tcPr>
                </a:tc>
                <a:extLst>
                  <a:ext uri="{0D108BD9-81ED-4DB2-BD59-A6C34878D82A}">
                    <a16:rowId xmlns:a16="http://schemas.microsoft.com/office/drawing/2014/main" val="10000"/>
                  </a:ext>
                </a:extLst>
              </a:tr>
              <a:tr h="1072683">
                <a:tc>
                  <a:txBody>
                    <a:bodyPr/>
                    <a:lstStyle/>
                    <a:p>
                      <a:pPr marL="457200" indent="-457200">
                        <a:buAutoNum type="arabicPeriod"/>
                      </a:pPr>
                      <a:r>
                        <a:rPr lang="en-AU" sz="2400" b="0" baseline="0" dirty="0" smtClean="0"/>
                        <a:t>Identify the element, atomic number, and atomic mass.</a:t>
                      </a:r>
                    </a:p>
                    <a:p>
                      <a:pPr marL="457200" indent="-457200">
                        <a:buAutoNum type="arabicPeriod"/>
                      </a:pPr>
                      <a:r>
                        <a:rPr lang="en-AU" sz="2400" b="0" baseline="0" dirty="0" smtClean="0"/>
                        <a:t>From this, identify the number of protons, number of electrons and number of neutrons</a:t>
                      </a:r>
                      <a:endParaRPr lang="en-AU" sz="2400" b="1" baseline="0" dirty="0" smtClean="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02674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6086422"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Skill </a:t>
            </a:r>
            <a:r>
              <a:rPr lang="en-AU" sz="3200" dirty="0"/>
              <a:t>Development/Guided Practice</a:t>
            </a:r>
          </a:p>
        </p:txBody>
      </p:sp>
      <p:sp>
        <p:nvSpPr>
          <p:cNvPr id="10" name="Title 1"/>
          <p:cNvSpPr txBox="1">
            <a:spLocks/>
          </p:cNvSpPr>
          <p:nvPr/>
        </p:nvSpPr>
        <p:spPr>
          <a:xfrm>
            <a:off x="476325" y="3282566"/>
            <a:ext cx="8695765" cy="3280793"/>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14350" indent="-514350">
              <a:spcAft>
                <a:spcPts val="1200"/>
              </a:spcAft>
              <a:buAutoNum type="arabicPeriod"/>
            </a:pPr>
            <a:r>
              <a:rPr lang="en-AU" sz="2800" dirty="0" smtClean="0">
                <a:solidFill>
                  <a:srgbClr val="00B050"/>
                </a:solidFill>
                <a:latin typeface="+mn-lt"/>
                <a:sym typeface="Wingdings" panose="05000000000000000000" pitchFamily="2" charset="2"/>
              </a:rPr>
              <a:t>Element =  Sodium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Atomic number =  11</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Atomic Mass  = 23</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Number of protons   = 11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Number of  electrons   = 11</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Number of neutrons =  12</a:t>
            </a:r>
          </a:p>
        </p:txBody>
      </p:sp>
      <p:sp>
        <p:nvSpPr>
          <p:cNvPr id="11" name="TextBox 10"/>
          <p:cNvSpPr txBox="1"/>
          <p:nvPr/>
        </p:nvSpPr>
        <p:spPr>
          <a:xfrm>
            <a:off x="6347651" y="146085"/>
            <a:ext cx="5545525" cy="954107"/>
          </a:xfrm>
          <a:prstGeom prst="rect">
            <a:avLst/>
          </a:prstGeom>
          <a:noFill/>
        </p:spPr>
        <p:txBody>
          <a:bodyPr wrap="square" rtlCol="0">
            <a:spAutoFit/>
          </a:bodyPr>
          <a:lstStyle/>
          <a:p>
            <a:r>
              <a:rPr lang="en-AU" sz="2800" dirty="0" smtClean="0"/>
              <a:t> </a:t>
            </a:r>
          </a:p>
          <a:p>
            <a:r>
              <a:rPr lang="en-AU" sz="2800" dirty="0"/>
              <a:t> </a:t>
            </a:r>
            <a:r>
              <a:rPr lang="en-AU" sz="2800" dirty="0" smtClean="0"/>
              <a:t>              </a:t>
            </a:r>
            <a:endParaRPr lang="en-AU" sz="2800" dirty="0"/>
          </a:p>
        </p:txBody>
      </p:sp>
      <p:sp>
        <p:nvSpPr>
          <p:cNvPr id="2" name="TextBox 1"/>
          <p:cNvSpPr txBox="1"/>
          <p:nvPr/>
        </p:nvSpPr>
        <p:spPr>
          <a:xfrm>
            <a:off x="7332740" y="3979352"/>
            <a:ext cx="1310640" cy="1692771"/>
          </a:xfrm>
          <a:prstGeom prst="rect">
            <a:avLst/>
          </a:prstGeom>
          <a:noFill/>
        </p:spPr>
        <p:txBody>
          <a:bodyPr wrap="square" rtlCol="0">
            <a:spAutoFit/>
          </a:bodyPr>
          <a:lstStyle/>
          <a:p>
            <a:r>
              <a:rPr lang="en-AU" sz="2800" dirty="0" smtClean="0"/>
              <a:t>23</a:t>
            </a:r>
          </a:p>
          <a:p>
            <a:r>
              <a:rPr lang="en-AU" sz="4800" dirty="0" smtClean="0"/>
              <a:t>Na</a:t>
            </a:r>
          </a:p>
          <a:p>
            <a:r>
              <a:rPr lang="en-AU" sz="2800" dirty="0" smtClean="0"/>
              <a:t>11</a:t>
            </a:r>
            <a:endParaRPr lang="en-AU" sz="2800" dirty="0"/>
          </a:p>
        </p:txBody>
      </p:sp>
      <p:graphicFrame>
        <p:nvGraphicFramePr>
          <p:cNvPr id="7" name="Table 6"/>
          <p:cNvGraphicFramePr>
            <a:graphicFrameLocks noGrp="1"/>
          </p:cNvGraphicFramePr>
          <p:nvPr>
            <p:extLst>
              <p:ext uri="{D42A27DB-BD31-4B8C-83A1-F6EECF244321}">
                <p14:modId xmlns:p14="http://schemas.microsoft.com/office/powerpoint/2010/main" val="2346980017"/>
              </p:ext>
            </p:extLst>
          </p:nvPr>
        </p:nvGraphicFramePr>
        <p:xfrm>
          <a:off x="1" y="1083215"/>
          <a:ext cx="8908210" cy="1645920"/>
        </p:xfrm>
        <a:graphic>
          <a:graphicData uri="http://schemas.openxmlformats.org/drawingml/2006/table">
            <a:tbl>
              <a:tblPr firstRow="1" bandRow="1">
                <a:tableStyleId>{F5AB1C69-6EDB-4FF4-983F-18BD219EF322}</a:tableStyleId>
              </a:tblPr>
              <a:tblGrid>
                <a:gridCol w="8908210">
                  <a:extLst>
                    <a:ext uri="{9D8B030D-6E8A-4147-A177-3AD203B41FA5}">
                      <a16:colId xmlns:a16="http://schemas.microsoft.com/office/drawing/2014/main" val="20000"/>
                    </a:ext>
                  </a:extLst>
                </a:gridCol>
              </a:tblGrid>
              <a:tr h="410685">
                <a:tc>
                  <a:txBody>
                    <a:bodyPr/>
                    <a:lstStyle/>
                    <a:p>
                      <a:r>
                        <a:rPr lang="en-AU" sz="2400" dirty="0" smtClean="0"/>
                        <a:t>Describing atomic symbols</a:t>
                      </a:r>
                      <a:endParaRPr lang="en-AU" sz="2000" dirty="0"/>
                    </a:p>
                  </a:txBody>
                  <a:tcPr>
                    <a:solidFill>
                      <a:srgbClr val="00B050"/>
                    </a:solidFill>
                  </a:tcPr>
                </a:tc>
                <a:extLst>
                  <a:ext uri="{0D108BD9-81ED-4DB2-BD59-A6C34878D82A}">
                    <a16:rowId xmlns:a16="http://schemas.microsoft.com/office/drawing/2014/main" val="10000"/>
                  </a:ext>
                </a:extLst>
              </a:tr>
              <a:tr h="1072683">
                <a:tc>
                  <a:txBody>
                    <a:bodyPr/>
                    <a:lstStyle/>
                    <a:p>
                      <a:pPr marL="457200" indent="-457200">
                        <a:buAutoNum type="arabicPeriod"/>
                      </a:pPr>
                      <a:r>
                        <a:rPr lang="en-AU" sz="2400" b="0" baseline="0" dirty="0" smtClean="0"/>
                        <a:t>Identify the element, atomic number, and atomic mass.</a:t>
                      </a:r>
                    </a:p>
                    <a:p>
                      <a:pPr marL="457200" indent="-457200">
                        <a:buAutoNum type="arabicPeriod"/>
                      </a:pPr>
                      <a:r>
                        <a:rPr lang="en-AU" sz="2400" b="0" baseline="0" dirty="0" smtClean="0"/>
                        <a:t>From this, identify the number of protons, number of electrons and number of neutrons</a:t>
                      </a:r>
                      <a:endParaRPr lang="en-AU" sz="2400" b="1" baseline="0" dirty="0" smtClean="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017330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6086422"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Skill </a:t>
            </a:r>
            <a:r>
              <a:rPr lang="en-AU" sz="3200" dirty="0"/>
              <a:t>Development/Guided Practice</a:t>
            </a:r>
          </a:p>
        </p:txBody>
      </p:sp>
      <p:sp>
        <p:nvSpPr>
          <p:cNvPr id="10" name="Title 1"/>
          <p:cNvSpPr txBox="1">
            <a:spLocks/>
          </p:cNvSpPr>
          <p:nvPr/>
        </p:nvSpPr>
        <p:spPr>
          <a:xfrm>
            <a:off x="476325" y="3282566"/>
            <a:ext cx="8695765" cy="3280793"/>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14350" indent="-514350">
              <a:spcAft>
                <a:spcPts val="1200"/>
              </a:spcAft>
              <a:buAutoNum type="arabicPeriod"/>
            </a:pPr>
            <a:r>
              <a:rPr lang="en-AU" sz="2800" dirty="0" smtClean="0">
                <a:solidFill>
                  <a:srgbClr val="00B050"/>
                </a:solidFill>
                <a:latin typeface="+mn-lt"/>
                <a:sym typeface="Wingdings" panose="05000000000000000000" pitchFamily="2" charset="2"/>
              </a:rPr>
              <a:t>Element =  Magnesium</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Atomic number =  12</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Atomic Mass  = 24</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Number of protons   = 12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Number of  electrons   = 12</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Number of neutrons =  12</a:t>
            </a:r>
          </a:p>
        </p:txBody>
      </p:sp>
      <p:sp>
        <p:nvSpPr>
          <p:cNvPr id="11" name="TextBox 10"/>
          <p:cNvSpPr txBox="1"/>
          <p:nvPr/>
        </p:nvSpPr>
        <p:spPr>
          <a:xfrm>
            <a:off x="6347651" y="146085"/>
            <a:ext cx="5545525" cy="954107"/>
          </a:xfrm>
          <a:prstGeom prst="rect">
            <a:avLst/>
          </a:prstGeom>
          <a:noFill/>
        </p:spPr>
        <p:txBody>
          <a:bodyPr wrap="square" rtlCol="0">
            <a:spAutoFit/>
          </a:bodyPr>
          <a:lstStyle/>
          <a:p>
            <a:r>
              <a:rPr lang="en-AU" sz="2800" dirty="0" smtClean="0"/>
              <a:t> </a:t>
            </a:r>
          </a:p>
          <a:p>
            <a:r>
              <a:rPr lang="en-AU" sz="2800" dirty="0"/>
              <a:t> </a:t>
            </a:r>
            <a:r>
              <a:rPr lang="en-AU" sz="2800" dirty="0" smtClean="0"/>
              <a:t>              </a:t>
            </a:r>
            <a:endParaRPr lang="en-AU" sz="2800" dirty="0"/>
          </a:p>
        </p:txBody>
      </p:sp>
      <p:sp>
        <p:nvSpPr>
          <p:cNvPr id="2" name="TextBox 1"/>
          <p:cNvSpPr txBox="1"/>
          <p:nvPr/>
        </p:nvSpPr>
        <p:spPr>
          <a:xfrm>
            <a:off x="7154461" y="3996604"/>
            <a:ext cx="1310640" cy="1569660"/>
          </a:xfrm>
          <a:prstGeom prst="rect">
            <a:avLst/>
          </a:prstGeom>
          <a:noFill/>
        </p:spPr>
        <p:txBody>
          <a:bodyPr wrap="square" rtlCol="0">
            <a:spAutoFit/>
          </a:bodyPr>
          <a:lstStyle/>
          <a:p>
            <a:r>
              <a:rPr lang="en-AU" sz="2800" dirty="0" smtClean="0"/>
              <a:t>24</a:t>
            </a:r>
          </a:p>
          <a:p>
            <a:r>
              <a:rPr lang="en-AU" sz="4000" dirty="0" smtClean="0"/>
              <a:t>Mg</a:t>
            </a:r>
            <a:endParaRPr lang="en-AU" sz="6600" dirty="0" smtClean="0"/>
          </a:p>
          <a:p>
            <a:r>
              <a:rPr lang="en-AU" sz="2800" dirty="0" smtClean="0"/>
              <a:t>12</a:t>
            </a:r>
            <a:endParaRPr lang="en-AU" sz="2800" dirty="0"/>
          </a:p>
        </p:txBody>
      </p:sp>
      <p:graphicFrame>
        <p:nvGraphicFramePr>
          <p:cNvPr id="7" name="Table 6"/>
          <p:cNvGraphicFramePr>
            <a:graphicFrameLocks noGrp="1"/>
          </p:cNvGraphicFramePr>
          <p:nvPr>
            <p:extLst>
              <p:ext uri="{D42A27DB-BD31-4B8C-83A1-F6EECF244321}">
                <p14:modId xmlns:p14="http://schemas.microsoft.com/office/powerpoint/2010/main" val="2346980017"/>
              </p:ext>
            </p:extLst>
          </p:nvPr>
        </p:nvGraphicFramePr>
        <p:xfrm>
          <a:off x="1" y="1083215"/>
          <a:ext cx="8908210" cy="1645920"/>
        </p:xfrm>
        <a:graphic>
          <a:graphicData uri="http://schemas.openxmlformats.org/drawingml/2006/table">
            <a:tbl>
              <a:tblPr firstRow="1" bandRow="1">
                <a:tableStyleId>{F5AB1C69-6EDB-4FF4-983F-18BD219EF322}</a:tableStyleId>
              </a:tblPr>
              <a:tblGrid>
                <a:gridCol w="8908210">
                  <a:extLst>
                    <a:ext uri="{9D8B030D-6E8A-4147-A177-3AD203B41FA5}">
                      <a16:colId xmlns:a16="http://schemas.microsoft.com/office/drawing/2014/main" val="20000"/>
                    </a:ext>
                  </a:extLst>
                </a:gridCol>
              </a:tblGrid>
              <a:tr h="410685">
                <a:tc>
                  <a:txBody>
                    <a:bodyPr/>
                    <a:lstStyle/>
                    <a:p>
                      <a:r>
                        <a:rPr lang="en-AU" sz="2400" dirty="0" smtClean="0"/>
                        <a:t>Describing atomic symbols</a:t>
                      </a:r>
                      <a:endParaRPr lang="en-AU" sz="2000" dirty="0"/>
                    </a:p>
                  </a:txBody>
                  <a:tcPr>
                    <a:solidFill>
                      <a:srgbClr val="00B050"/>
                    </a:solidFill>
                  </a:tcPr>
                </a:tc>
                <a:extLst>
                  <a:ext uri="{0D108BD9-81ED-4DB2-BD59-A6C34878D82A}">
                    <a16:rowId xmlns:a16="http://schemas.microsoft.com/office/drawing/2014/main" val="10000"/>
                  </a:ext>
                </a:extLst>
              </a:tr>
              <a:tr h="1072683">
                <a:tc>
                  <a:txBody>
                    <a:bodyPr/>
                    <a:lstStyle/>
                    <a:p>
                      <a:pPr marL="457200" indent="-457200">
                        <a:buAutoNum type="arabicPeriod"/>
                      </a:pPr>
                      <a:r>
                        <a:rPr lang="en-AU" sz="2400" b="0" baseline="0" dirty="0" smtClean="0"/>
                        <a:t>Identify the element, atomic number, and atomic mass.</a:t>
                      </a:r>
                    </a:p>
                    <a:p>
                      <a:pPr marL="457200" indent="-457200">
                        <a:buAutoNum type="arabicPeriod"/>
                      </a:pPr>
                      <a:r>
                        <a:rPr lang="en-AU" sz="2400" b="0" baseline="0" dirty="0" smtClean="0"/>
                        <a:t>From this, identify the number of protons, number of electrons and number of neutrons</a:t>
                      </a:r>
                      <a:endParaRPr lang="en-AU" sz="2400" b="1" baseline="0" dirty="0" smtClean="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21191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6086422"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Skill </a:t>
            </a:r>
            <a:r>
              <a:rPr lang="en-AU" sz="3200" dirty="0"/>
              <a:t>Development/Guided Practice</a:t>
            </a:r>
          </a:p>
        </p:txBody>
      </p:sp>
      <p:sp>
        <p:nvSpPr>
          <p:cNvPr id="10" name="Title 1"/>
          <p:cNvSpPr txBox="1">
            <a:spLocks/>
          </p:cNvSpPr>
          <p:nvPr/>
        </p:nvSpPr>
        <p:spPr>
          <a:xfrm>
            <a:off x="476325" y="3282566"/>
            <a:ext cx="8695765" cy="3280793"/>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14350" indent="-514350">
              <a:spcAft>
                <a:spcPts val="1200"/>
              </a:spcAft>
              <a:buAutoNum type="arabicPeriod"/>
            </a:pPr>
            <a:r>
              <a:rPr lang="en-AU" sz="2800" dirty="0" smtClean="0">
                <a:solidFill>
                  <a:srgbClr val="00B050"/>
                </a:solidFill>
                <a:latin typeface="+mn-lt"/>
                <a:sym typeface="Wingdings" panose="05000000000000000000" pitchFamily="2" charset="2"/>
              </a:rPr>
              <a:t>Element =  potassium</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Atomic number =  19</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Atomic Mass  = 39</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Number of protons   = 19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Number of  electrons   = 19</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Number of neutrons =  20</a:t>
            </a:r>
          </a:p>
        </p:txBody>
      </p:sp>
      <p:sp>
        <p:nvSpPr>
          <p:cNvPr id="11" name="TextBox 10"/>
          <p:cNvSpPr txBox="1"/>
          <p:nvPr/>
        </p:nvSpPr>
        <p:spPr>
          <a:xfrm>
            <a:off x="6347651" y="146085"/>
            <a:ext cx="5545525" cy="954107"/>
          </a:xfrm>
          <a:prstGeom prst="rect">
            <a:avLst/>
          </a:prstGeom>
          <a:noFill/>
        </p:spPr>
        <p:txBody>
          <a:bodyPr wrap="square" rtlCol="0">
            <a:spAutoFit/>
          </a:bodyPr>
          <a:lstStyle/>
          <a:p>
            <a:r>
              <a:rPr lang="en-AU" sz="2800" dirty="0" smtClean="0"/>
              <a:t> </a:t>
            </a:r>
          </a:p>
          <a:p>
            <a:r>
              <a:rPr lang="en-AU" sz="2800" dirty="0"/>
              <a:t> </a:t>
            </a:r>
            <a:r>
              <a:rPr lang="en-AU" sz="2800" dirty="0" smtClean="0"/>
              <a:t>              </a:t>
            </a:r>
            <a:endParaRPr lang="en-AU" sz="2800" dirty="0"/>
          </a:p>
        </p:txBody>
      </p:sp>
      <p:sp>
        <p:nvSpPr>
          <p:cNvPr id="2" name="TextBox 1"/>
          <p:cNvSpPr txBox="1"/>
          <p:nvPr/>
        </p:nvSpPr>
        <p:spPr>
          <a:xfrm>
            <a:off x="6999186" y="3956347"/>
            <a:ext cx="1310640" cy="1692771"/>
          </a:xfrm>
          <a:prstGeom prst="rect">
            <a:avLst/>
          </a:prstGeom>
          <a:noFill/>
        </p:spPr>
        <p:txBody>
          <a:bodyPr wrap="square" rtlCol="0">
            <a:spAutoFit/>
          </a:bodyPr>
          <a:lstStyle/>
          <a:p>
            <a:r>
              <a:rPr lang="en-AU" sz="2800" dirty="0"/>
              <a:t>3</a:t>
            </a:r>
            <a:r>
              <a:rPr lang="en-AU" sz="2800" dirty="0" smtClean="0"/>
              <a:t>9</a:t>
            </a:r>
          </a:p>
          <a:p>
            <a:r>
              <a:rPr lang="en-AU" sz="4800" dirty="0"/>
              <a:t>K</a:t>
            </a:r>
            <a:endParaRPr lang="en-AU" sz="4800" dirty="0" smtClean="0"/>
          </a:p>
          <a:p>
            <a:r>
              <a:rPr lang="en-AU" sz="2800" dirty="0"/>
              <a:t>1</a:t>
            </a:r>
            <a:r>
              <a:rPr lang="en-AU" sz="2800" dirty="0" smtClean="0"/>
              <a:t>9</a:t>
            </a:r>
            <a:endParaRPr lang="en-AU" sz="2800" dirty="0"/>
          </a:p>
        </p:txBody>
      </p:sp>
      <p:graphicFrame>
        <p:nvGraphicFramePr>
          <p:cNvPr id="7" name="Table 6"/>
          <p:cNvGraphicFramePr>
            <a:graphicFrameLocks noGrp="1"/>
          </p:cNvGraphicFramePr>
          <p:nvPr>
            <p:extLst>
              <p:ext uri="{D42A27DB-BD31-4B8C-83A1-F6EECF244321}">
                <p14:modId xmlns:p14="http://schemas.microsoft.com/office/powerpoint/2010/main" val="2346980017"/>
              </p:ext>
            </p:extLst>
          </p:nvPr>
        </p:nvGraphicFramePr>
        <p:xfrm>
          <a:off x="1" y="1083215"/>
          <a:ext cx="8908210" cy="1645920"/>
        </p:xfrm>
        <a:graphic>
          <a:graphicData uri="http://schemas.openxmlformats.org/drawingml/2006/table">
            <a:tbl>
              <a:tblPr firstRow="1" bandRow="1">
                <a:tableStyleId>{F5AB1C69-6EDB-4FF4-983F-18BD219EF322}</a:tableStyleId>
              </a:tblPr>
              <a:tblGrid>
                <a:gridCol w="8908210">
                  <a:extLst>
                    <a:ext uri="{9D8B030D-6E8A-4147-A177-3AD203B41FA5}">
                      <a16:colId xmlns:a16="http://schemas.microsoft.com/office/drawing/2014/main" val="20000"/>
                    </a:ext>
                  </a:extLst>
                </a:gridCol>
              </a:tblGrid>
              <a:tr h="410685">
                <a:tc>
                  <a:txBody>
                    <a:bodyPr/>
                    <a:lstStyle/>
                    <a:p>
                      <a:r>
                        <a:rPr lang="en-AU" sz="2400" dirty="0" smtClean="0"/>
                        <a:t>Describing atomic symbols</a:t>
                      </a:r>
                      <a:endParaRPr lang="en-AU" sz="2000" dirty="0"/>
                    </a:p>
                  </a:txBody>
                  <a:tcPr>
                    <a:solidFill>
                      <a:srgbClr val="00B050"/>
                    </a:solidFill>
                  </a:tcPr>
                </a:tc>
                <a:extLst>
                  <a:ext uri="{0D108BD9-81ED-4DB2-BD59-A6C34878D82A}">
                    <a16:rowId xmlns:a16="http://schemas.microsoft.com/office/drawing/2014/main" val="10000"/>
                  </a:ext>
                </a:extLst>
              </a:tr>
              <a:tr h="1072683">
                <a:tc>
                  <a:txBody>
                    <a:bodyPr/>
                    <a:lstStyle/>
                    <a:p>
                      <a:pPr marL="457200" indent="-457200">
                        <a:buAutoNum type="arabicPeriod"/>
                      </a:pPr>
                      <a:r>
                        <a:rPr lang="en-AU" sz="2400" b="0" baseline="0" dirty="0" smtClean="0"/>
                        <a:t>Identify the element, atomic number, and atomic mass.</a:t>
                      </a:r>
                    </a:p>
                    <a:p>
                      <a:pPr marL="457200" indent="-457200">
                        <a:buAutoNum type="arabicPeriod"/>
                      </a:pPr>
                      <a:r>
                        <a:rPr lang="en-AU" sz="2400" b="0" baseline="0" dirty="0" smtClean="0"/>
                        <a:t>From this, identify the number of protons, number of electrons and number of neutrons</a:t>
                      </a:r>
                      <a:endParaRPr lang="en-AU" sz="2400" b="1" baseline="0" dirty="0" smtClean="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906412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2014888"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Relevance</a:t>
            </a:r>
            <a:endParaRPr lang="en-AU" sz="3200" dirty="0"/>
          </a:p>
        </p:txBody>
      </p:sp>
      <p:sp>
        <p:nvSpPr>
          <p:cNvPr id="2" name="TextBox 1"/>
          <p:cNvSpPr txBox="1"/>
          <p:nvPr/>
        </p:nvSpPr>
        <p:spPr>
          <a:xfrm>
            <a:off x="327804" y="1109932"/>
            <a:ext cx="10846279" cy="4893647"/>
          </a:xfrm>
          <a:prstGeom prst="rect">
            <a:avLst/>
          </a:prstGeom>
          <a:noFill/>
        </p:spPr>
        <p:txBody>
          <a:bodyPr wrap="square" rtlCol="0">
            <a:spAutoFit/>
          </a:bodyPr>
          <a:lstStyle/>
          <a:p>
            <a:r>
              <a:rPr lang="en-AU" sz="2400" dirty="0" smtClean="0"/>
              <a:t>The atomic symbol represents the number of protons, neutrons, and electrons in an element.</a:t>
            </a:r>
          </a:p>
          <a:p>
            <a:r>
              <a:rPr lang="en-AU" sz="2400" dirty="0" smtClean="0"/>
              <a:t>This relates to properties of elements, which allows you to understand how the different properties decides how they are used.</a:t>
            </a:r>
          </a:p>
          <a:p>
            <a:endParaRPr lang="en-AU" sz="2400" dirty="0"/>
          </a:p>
          <a:p>
            <a:r>
              <a:rPr lang="en-AU" sz="2400" dirty="0"/>
              <a:t>All matter is made up of atoms and atoms make elements unique.</a:t>
            </a:r>
          </a:p>
          <a:p>
            <a:r>
              <a:rPr lang="en-AU" sz="2400" dirty="0"/>
              <a:t>For a long time it's been a mystery how these elements are made. Most of the stuff in the universe is made of light gaseous elements like hydrogen and helium. Medium weight elements like iron and aluminium are produced when massive stars explode.</a:t>
            </a:r>
          </a:p>
          <a:p>
            <a:endParaRPr lang="en-AU" sz="2400" dirty="0"/>
          </a:p>
          <a:p>
            <a:r>
              <a:rPr lang="en-AU" sz="2400" dirty="0"/>
              <a:t>Atoms are everywhere, Elements are everywhere. The periodic table is everywhere!  Matter is everywhere!</a:t>
            </a:r>
          </a:p>
          <a:p>
            <a:r>
              <a:rPr lang="en-AU" sz="2400" dirty="0"/>
              <a:t>So the study </a:t>
            </a:r>
            <a:r>
              <a:rPr lang="en-AU" sz="2400" dirty="0" smtClean="0"/>
              <a:t>of atoms </a:t>
            </a:r>
            <a:r>
              <a:rPr lang="en-AU" sz="2400" dirty="0"/>
              <a:t>is extremely relevant to all matter, which is </a:t>
            </a:r>
            <a:r>
              <a:rPr lang="en-AU" sz="2400" dirty="0" smtClean="0"/>
              <a:t>everywhere.</a:t>
            </a:r>
            <a:endParaRPr lang="en-AU" sz="2400" dirty="0"/>
          </a:p>
        </p:txBody>
      </p:sp>
    </p:spTree>
    <p:extLst>
      <p:ext uri="{BB962C8B-B14F-4D97-AF65-F5344CB8AC3E}">
        <p14:creationId xmlns:p14="http://schemas.microsoft.com/office/powerpoint/2010/main" val="40926882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2311405"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Skill Closure</a:t>
            </a:r>
            <a:endParaRPr lang="en-AU" sz="3200" dirty="0"/>
          </a:p>
        </p:txBody>
      </p:sp>
      <p:sp>
        <p:nvSpPr>
          <p:cNvPr id="3" name="TextBox 2"/>
          <p:cNvSpPr txBox="1"/>
          <p:nvPr/>
        </p:nvSpPr>
        <p:spPr>
          <a:xfrm>
            <a:off x="96929" y="732983"/>
            <a:ext cx="11893337" cy="954107"/>
          </a:xfrm>
          <a:prstGeom prst="rect">
            <a:avLst/>
          </a:prstGeom>
          <a:noFill/>
        </p:spPr>
        <p:txBody>
          <a:bodyPr wrap="square" rtlCol="0">
            <a:spAutoFit/>
          </a:bodyPr>
          <a:lstStyle/>
          <a:p>
            <a:r>
              <a:rPr lang="en-AU" sz="2800" dirty="0" smtClean="0"/>
              <a:t>Draw an atom of carbon showing the protons, neutrons, and electrons.</a:t>
            </a:r>
            <a:br>
              <a:rPr lang="en-AU" sz="2800" dirty="0" smtClean="0"/>
            </a:br>
            <a:r>
              <a:rPr lang="en-AU" sz="2800" dirty="0" smtClean="0"/>
              <a:t>Don’t erase!</a:t>
            </a:r>
            <a:endParaRPr lang="en-AU" sz="2800" dirty="0"/>
          </a:p>
        </p:txBody>
      </p:sp>
      <p:sp>
        <p:nvSpPr>
          <p:cNvPr id="7" name="TextBox 6"/>
          <p:cNvSpPr txBox="1"/>
          <p:nvPr/>
        </p:nvSpPr>
        <p:spPr>
          <a:xfrm>
            <a:off x="34030" y="1740683"/>
            <a:ext cx="2311405"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Skill Closure</a:t>
            </a:r>
            <a:endParaRPr lang="en-AU" sz="3200" dirty="0"/>
          </a:p>
        </p:txBody>
      </p:sp>
      <p:sp>
        <p:nvSpPr>
          <p:cNvPr id="8" name="TextBox 7"/>
          <p:cNvSpPr txBox="1"/>
          <p:nvPr/>
        </p:nvSpPr>
        <p:spPr>
          <a:xfrm>
            <a:off x="-2" y="2271865"/>
            <a:ext cx="11645662" cy="954107"/>
          </a:xfrm>
          <a:prstGeom prst="rect">
            <a:avLst/>
          </a:prstGeom>
          <a:noFill/>
        </p:spPr>
        <p:txBody>
          <a:bodyPr wrap="square" rtlCol="0">
            <a:spAutoFit/>
          </a:bodyPr>
          <a:lstStyle/>
          <a:p>
            <a:r>
              <a:rPr lang="en-AU" sz="2800" dirty="0" smtClean="0"/>
              <a:t>Underneath the drawing, show what the two isotopes of </a:t>
            </a:r>
            <a:r>
              <a:rPr lang="en-AU" sz="2800" dirty="0"/>
              <a:t>c</a:t>
            </a:r>
            <a:r>
              <a:rPr lang="en-AU" sz="2800" dirty="0" smtClean="0"/>
              <a:t>arbon C-13 and C-14 would look like. </a:t>
            </a:r>
            <a:endParaRPr lang="en-AU" sz="2800" dirty="0"/>
          </a:p>
        </p:txBody>
      </p:sp>
      <p:sp>
        <p:nvSpPr>
          <p:cNvPr id="12" name="TextBox 11"/>
          <p:cNvSpPr txBox="1"/>
          <p:nvPr/>
        </p:nvSpPr>
        <p:spPr>
          <a:xfrm>
            <a:off x="0" y="3864340"/>
            <a:ext cx="2311405"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Skill Closure</a:t>
            </a:r>
            <a:endParaRPr lang="en-AU" sz="3200" dirty="0"/>
          </a:p>
        </p:txBody>
      </p:sp>
      <p:sp>
        <p:nvSpPr>
          <p:cNvPr id="13" name="TextBox 12"/>
          <p:cNvSpPr txBox="1"/>
          <p:nvPr/>
        </p:nvSpPr>
        <p:spPr>
          <a:xfrm>
            <a:off x="-3" y="4456544"/>
            <a:ext cx="11898491" cy="523220"/>
          </a:xfrm>
          <a:prstGeom prst="rect">
            <a:avLst/>
          </a:prstGeom>
          <a:noFill/>
        </p:spPr>
        <p:txBody>
          <a:bodyPr wrap="square" rtlCol="0">
            <a:spAutoFit/>
          </a:bodyPr>
          <a:lstStyle/>
          <a:p>
            <a:r>
              <a:rPr lang="en-AU" sz="2800" dirty="0"/>
              <a:t>Describe </a:t>
            </a:r>
            <a:r>
              <a:rPr lang="en-AU" sz="2800" dirty="0" smtClean="0"/>
              <a:t>the difference between the atomic number, atomic mass, and isotopes.</a:t>
            </a:r>
            <a:endParaRPr lang="en-AU" sz="2800" dirty="0"/>
          </a:p>
        </p:txBody>
      </p:sp>
    </p:spTree>
    <p:extLst>
      <p:ext uri="{BB962C8B-B14F-4D97-AF65-F5344CB8AC3E}">
        <p14:creationId xmlns:p14="http://schemas.microsoft.com/office/powerpoint/2010/main" val="3113823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3952240"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3200" dirty="0" smtClean="0"/>
              <a:t>Independent Practice</a:t>
            </a:r>
            <a:endParaRPr lang="en-AU" sz="3200" dirty="0"/>
          </a:p>
        </p:txBody>
      </p:sp>
      <p:sp>
        <p:nvSpPr>
          <p:cNvPr id="3" name="TextBox 2"/>
          <p:cNvSpPr txBox="1"/>
          <p:nvPr/>
        </p:nvSpPr>
        <p:spPr>
          <a:xfrm>
            <a:off x="0" y="620335"/>
            <a:ext cx="3582838" cy="3785652"/>
          </a:xfrm>
          <a:prstGeom prst="rect">
            <a:avLst/>
          </a:prstGeom>
          <a:noFill/>
        </p:spPr>
        <p:txBody>
          <a:bodyPr wrap="square" rtlCol="0">
            <a:spAutoFit/>
          </a:bodyPr>
          <a:lstStyle/>
          <a:p>
            <a:r>
              <a:rPr lang="en-AU" sz="2400" dirty="0"/>
              <a:t>In your exercise </a:t>
            </a:r>
            <a:r>
              <a:rPr lang="en-AU" sz="2400" dirty="0" smtClean="0"/>
              <a:t>book:</a:t>
            </a:r>
          </a:p>
          <a:p>
            <a:r>
              <a:rPr lang="en-AU" sz="2400" i="1" dirty="0" smtClean="0"/>
              <a:t>1. Write the date and the title “Atoms”</a:t>
            </a:r>
          </a:p>
          <a:p>
            <a:r>
              <a:rPr lang="en-AU" sz="2400" dirty="0" smtClean="0"/>
              <a:t>2. Define the terms atomic number, atomic mass, and isotopes.</a:t>
            </a:r>
          </a:p>
          <a:p>
            <a:r>
              <a:rPr lang="en-AU" sz="2400" dirty="0" smtClean="0"/>
              <a:t>3. Draw and Complete the following table.  (6 x 10) – the first one has been done for you. </a:t>
            </a:r>
            <a:endParaRPr lang="en-AU" sz="2400" i="1" dirty="0"/>
          </a:p>
        </p:txBody>
      </p:sp>
      <p:sp>
        <p:nvSpPr>
          <p:cNvPr id="12" name="TextBox 11"/>
          <p:cNvSpPr txBox="1"/>
          <p:nvPr/>
        </p:nvSpPr>
        <p:spPr>
          <a:xfrm>
            <a:off x="2628288" y="3980809"/>
            <a:ext cx="1071960" cy="400110"/>
          </a:xfrm>
          <a:prstGeom prst="rect">
            <a:avLst/>
          </a:prstGeom>
          <a:noFill/>
        </p:spPr>
        <p:txBody>
          <a:bodyPr wrap="none" rtlCol="0">
            <a:spAutoFit/>
          </a:bodyPr>
          <a:lstStyle/>
          <a:p>
            <a:r>
              <a:rPr lang="en-AU" sz="2000" dirty="0" smtClean="0">
                <a:solidFill>
                  <a:schemeClr val="bg1"/>
                </a:solidFill>
              </a:rPr>
              <a:t>Rafflesia</a:t>
            </a:r>
            <a:endParaRPr lang="en-AU" dirty="0">
              <a:solidFill>
                <a:schemeClr val="bg1"/>
              </a:solidFill>
            </a:endParaRPr>
          </a:p>
        </p:txBody>
      </p:sp>
      <p:sp>
        <p:nvSpPr>
          <p:cNvPr id="17" name="TextBox 16"/>
          <p:cNvSpPr txBox="1"/>
          <p:nvPr/>
        </p:nvSpPr>
        <p:spPr>
          <a:xfrm>
            <a:off x="3482859" y="4469605"/>
            <a:ext cx="875561" cy="400110"/>
          </a:xfrm>
          <a:prstGeom prst="rect">
            <a:avLst/>
          </a:prstGeom>
          <a:noFill/>
        </p:spPr>
        <p:txBody>
          <a:bodyPr wrap="none" rtlCol="0">
            <a:spAutoFit/>
          </a:bodyPr>
          <a:lstStyle/>
          <a:p>
            <a:r>
              <a:rPr lang="en-AU" sz="2000" dirty="0" smtClean="0">
                <a:solidFill>
                  <a:schemeClr val="bg1"/>
                </a:solidFill>
              </a:rPr>
              <a:t>Cactus</a:t>
            </a:r>
            <a:endParaRPr lang="en-AU" dirty="0">
              <a:solidFill>
                <a:schemeClr val="bg1"/>
              </a:solidFill>
            </a:endParaRPr>
          </a:p>
        </p:txBody>
      </p:sp>
      <p:sp>
        <p:nvSpPr>
          <p:cNvPr id="18" name="TextBox 17"/>
          <p:cNvSpPr txBox="1"/>
          <p:nvPr/>
        </p:nvSpPr>
        <p:spPr>
          <a:xfrm>
            <a:off x="6088319" y="4496053"/>
            <a:ext cx="1018227" cy="400110"/>
          </a:xfrm>
          <a:prstGeom prst="rect">
            <a:avLst/>
          </a:prstGeom>
          <a:noFill/>
        </p:spPr>
        <p:txBody>
          <a:bodyPr wrap="none" rtlCol="0">
            <a:spAutoFit/>
          </a:bodyPr>
          <a:lstStyle/>
          <a:p>
            <a:r>
              <a:rPr lang="en-AU" sz="2000" dirty="0" smtClean="0">
                <a:solidFill>
                  <a:schemeClr val="bg1"/>
                </a:solidFill>
              </a:rPr>
              <a:t>Jasmine</a:t>
            </a:r>
            <a:endParaRPr lang="en-AU" dirty="0">
              <a:solidFill>
                <a:schemeClr val="bg1"/>
              </a:solidFill>
            </a:endParaRPr>
          </a:p>
        </p:txBody>
      </p:sp>
      <p:sp>
        <p:nvSpPr>
          <p:cNvPr id="20" name="TextBox 19"/>
          <p:cNvSpPr txBox="1"/>
          <p:nvPr/>
        </p:nvSpPr>
        <p:spPr>
          <a:xfrm>
            <a:off x="8110208" y="4577161"/>
            <a:ext cx="1410514" cy="400110"/>
          </a:xfrm>
          <a:prstGeom prst="rect">
            <a:avLst/>
          </a:prstGeom>
          <a:noFill/>
        </p:spPr>
        <p:txBody>
          <a:bodyPr wrap="none" rtlCol="0">
            <a:spAutoFit/>
          </a:bodyPr>
          <a:lstStyle/>
          <a:p>
            <a:r>
              <a:rPr lang="en-AU" sz="2000" dirty="0" smtClean="0">
                <a:solidFill>
                  <a:schemeClr val="bg1"/>
                </a:solidFill>
              </a:rPr>
              <a:t>Bottlebrush</a:t>
            </a:r>
            <a:endParaRPr lang="en-AU" dirty="0">
              <a:solidFill>
                <a:schemeClr val="bg1"/>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449320916"/>
              </p:ext>
            </p:extLst>
          </p:nvPr>
        </p:nvGraphicFramePr>
        <p:xfrm>
          <a:off x="4071849" y="283208"/>
          <a:ext cx="7813549" cy="6133823"/>
        </p:xfrm>
        <a:graphic>
          <a:graphicData uri="http://schemas.openxmlformats.org/drawingml/2006/table">
            <a:tbl>
              <a:tblPr/>
              <a:tblGrid>
                <a:gridCol w="1094997">
                  <a:extLst>
                    <a:ext uri="{9D8B030D-6E8A-4147-A177-3AD203B41FA5}">
                      <a16:colId xmlns:a16="http://schemas.microsoft.com/office/drawing/2014/main" val="2604805720"/>
                    </a:ext>
                  </a:extLst>
                </a:gridCol>
                <a:gridCol w="1343304">
                  <a:extLst>
                    <a:ext uri="{9D8B030D-6E8A-4147-A177-3AD203B41FA5}">
                      <a16:colId xmlns:a16="http://schemas.microsoft.com/office/drawing/2014/main" val="4161418557"/>
                    </a:ext>
                  </a:extLst>
                </a:gridCol>
                <a:gridCol w="1344320">
                  <a:extLst>
                    <a:ext uri="{9D8B030D-6E8A-4147-A177-3AD203B41FA5}">
                      <a16:colId xmlns:a16="http://schemas.microsoft.com/office/drawing/2014/main" val="1350332612"/>
                    </a:ext>
                  </a:extLst>
                </a:gridCol>
                <a:gridCol w="1343304">
                  <a:extLst>
                    <a:ext uri="{9D8B030D-6E8A-4147-A177-3AD203B41FA5}">
                      <a16:colId xmlns:a16="http://schemas.microsoft.com/office/drawing/2014/main" val="30002464"/>
                    </a:ext>
                  </a:extLst>
                </a:gridCol>
                <a:gridCol w="1344320">
                  <a:extLst>
                    <a:ext uri="{9D8B030D-6E8A-4147-A177-3AD203B41FA5}">
                      <a16:colId xmlns:a16="http://schemas.microsoft.com/office/drawing/2014/main" val="2627915465"/>
                    </a:ext>
                  </a:extLst>
                </a:gridCol>
                <a:gridCol w="1343304">
                  <a:extLst>
                    <a:ext uri="{9D8B030D-6E8A-4147-A177-3AD203B41FA5}">
                      <a16:colId xmlns:a16="http://schemas.microsoft.com/office/drawing/2014/main" val="2912252801"/>
                    </a:ext>
                  </a:extLst>
                </a:gridCol>
              </a:tblGrid>
              <a:tr h="742703">
                <a:tc>
                  <a:txBody>
                    <a:bodyPr/>
                    <a:lstStyle/>
                    <a:p>
                      <a:pPr algn="ctr">
                        <a:spcAft>
                          <a:spcPts val="0"/>
                        </a:spcAft>
                      </a:pPr>
                      <a:endParaRPr lang="en-AU" sz="1800" dirty="0">
                        <a:effectLst/>
                        <a:latin typeface="Arial" panose="020B0604020202020204" pitchFamily="34" charset="0"/>
                        <a:ea typeface="Calibri" panose="020F0502020204030204" pitchFamily="34" charset="0"/>
                      </a:endParaRPr>
                    </a:p>
                  </a:txBody>
                  <a:tcPr marL="68580" marR="68580" marT="0" marB="0" anchor="ctr">
                    <a:lnL w="317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31750" cap="flat" cmpd="dbl"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Element</a:t>
                      </a:r>
                      <a:endParaRPr lang="en-AU" sz="1800" dirty="0">
                        <a:effectLst/>
                        <a:latin typeface="Arial" panose="020B0604020202020204" pitchFamily="34" charset="0"/>
                        <a:ea typeface="Calibri" panose="020F0502020204030204" pitchFamily="34" charset="0"/>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0" cap="flat" cmpd="dbl"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Z</a:t>
                      </a:r>
                    </a:p>
                    <a:p>
                      <a:pPr algn="ctr">
                        <a:spcAft>
                          <a:spcPts val="0"/>
                        </a:spcAft>
                      </a:pPr>
                      <a:r>
                        <a:rPr lang="en-AU" sz="1800" dirty="0" smtClean="0">
                          <a:effectLst/>
                          <a:latin typeface="Arial" panose="020B0604020202020204" pitchFamily="34" charset="0"/>
                          <a:ea typeface="Calibri" panose="020F0502020204030204" pitchFamily="34" charset="0"/>
                        </a:rPr>
                        <a:t>Atomic number </a:t>
                      </a: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0" cap="flat" cmpd="dbl"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A</a:t>
                      </a:r>
                    </a:p>
                    <a:p>
                      <a:pPr algn="ctr">
                        <a:spcAft>
                          <a:spcPts val="0"/>
                        </a:spcAft>
                      </a:pPr>
                      <a:r>
                        <a:rPr lang="en-AU" sz="1800" dirty="0" smtClean="0">
                          <a:effectLst/>
                          <a:latin typeface="Arial" panose="020B0604020202020204" pitchFamily="34" charset="0"/>
                          <a:ea typeface="Calibri" panose="020F0502020204030204" pitchFamily="34" charset="0"/>
                        </a:rPr>
                        <a:t>Atomic mass</a:t>
                      </a: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0" cap="flat" cmpd="dbl"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Number</a:t>
                      </a:r>
                      <a:r>
                        <a:rPr lang="en-AU" sz="1800" baseline="0" dirty="0" smtClean="0">
                          <a:effectLst/>
                          <a:latin typeface="Arial" panose="020B0604020202020204" pitchFamily="34" charset="0"/>
                          <a:ea typeface="Calibri" panose="020F0502020204030204" pitchFamily="34" charset="0"/>
                        </a:rPr>
                        <a:t> of protons</a:t>
                      </a: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0" cap="flat" cmpd="dbl"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Number of neutrons</a:t>
                      </a: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0" cap="flat" cmpd="dbl"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526254354"/>
                  </a:ext>
                </a:extLst>
              </a:tr>
              <a:tr h="742703">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12</a:t>
                      </a:r>
                    </a:p>
                    <a:p>
                      <a:pPr algn="ctr">
                        <a:spcAft>
                          <a:spcPts val="0"/>
                        </a:spcAft>
                      </a:pPr>
                      <a:r>
                        <a:rPr lang="en-AU" sz="1800" dirty="0" smtClean="0">
                          <a:effectLst/>
                          <a:latin typeface="Arial" panose="020B0604020202020204" pitchFamily="34" charset="0"/>
                          <a:ea typeface="Calibri" panose="020F0502020204030204" pitchFamily="34" charset="0"/>
                        </a:rPr>
                        <a:t>C</a:t>
                      </a:r>
                    </a:p>
                    <a:p>
                      <a:pPr algn="ctr">
                        <a:spcAft>
                          <a:spcPts val="0"/>
                        </a:spcAft>
                      </a:pPr>
                      <a:r>
                        <a:rPr lang="en-AU" sz="1800" dirty="0" smtClean="0">
                          <a:effectLst/>
                          <a:latin typeface="Arial" panose="020B0604020202020204" pitchFamily="34" charset="0"/>
                          <a:ea typeface="Calibri" panose="020F0502020204030204" pitchFamily="34" charset="0"/>
                        </a:rPr>
                        <a:t>6</a:t>
                      </a:r>
                      <a:endParaRPr lang="en-AU" sz="1800" dirty="0">
                        <a:effectLst/>
                        <a:latin typeface="Arial" panose="020B0604020202020204" pitchFamily="34" charset="0"/>
                        <a:ea typeface="Calibri" panose="020F0502020204030204" pitchFamily="34" charset="0"/>
                      </a:endParaRPr>
                    </a:p>
                  </a:txBody>
                  <a:tcPr marL="68580" marR="68580" marT="0" marB="0" anchor="ctr">
                    <a:lnL w="317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Carbon</a:t>
                      </a:r>
                      <a:endParaRPr lang="en-AU" sz="1800" dirty="0">
                        <a:effectLst/>
                        <a:latin typeface="Arial" panose="020B0604020202020204" pitchFamily="34" charset="0"/>
                        <a:ea typeface="Calibri" panose="020F0502020204030204" pitchFamily="34" charset="0"/>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6</a:t>
                      </a: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12</a:t>
                      </a: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6</a:t>
                      </a: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6</a:t>
                      </a: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4176393"/>
                  </a:ext>
                </a:extLst>
              </a:tr>
              <a:tr h="742703">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35</a:t>
                      </a:r>
                    </a:p>
                    <a:p>
                      <a:pPr algn="ctr">
                        <a:spcAft>
                          <a:spcPts val="0"/>
                        </a:spcAft>
                      </a:pPr>
                      <a:r>
                        <a:rPr lang="en-AU" sz="1800" dirty="0" smtClean="0">
                          <a:effectLst/>
                          <a:latin typeface="Arial" panose="020B0604020202020204" pitchFamily="34" charset="0"/>
                          <a:ea typeface="Calibri" panose="020F0502020204030204" pitchFamily="34" charset="0"/>
                        </a:rPr>
                        <a:t>Cl</a:t>
                      </a:r>
                    </a:p>
                    <a:p>
                      <a:pPr algn="ctr">
                        <a:spcAft>
                          <a:spcPts val="0"/>
                        </a:spcAft>
                      </a:pPr>
                      <a:r>
                        <a:rPr lang="en-AU" sz="1800" dirty="0" smtClean="0">
                          <a:effectLst/>
                          <a:latin typeface="Arial" panose="020B0604020202020204" pitchFamily="34" charset="0"/>
                          <a:ea typeface="Calibri" panose="020F0502020204030204" pitchFamily="34" charset="0"/>
                        </a:rPr>
                        <a:t>17</a:t>
                      </a:r>
                      <a:endParaRPr lang="en-AU" sz="1800" dirty="0">
                        <a:effectLst/>
                        <a:latin typeface="Arial" panose="020B0604020202020204" pitchFamily="34" charset="0"/>
                        <a:ea typeface="Calibri" panose="020F0502020204030204" pitchFamily="34" charset="0"/>
                      </a:endParaRPr>
                    </a:p>
                  </a:txBody>
                  <a:tcPr marL="68580" marR="68580" marT="0" marB="0" anchor="ctr">
                    <a:lnL w="317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a:effectLst/>
                        <a:latin typeface="Arial" panose="020B0604020202020204" pitchFamily="34" charset="0"/>
                        <a:ea typeface="Calibri" panose="020F0502020204030204" pitchFamily="34" charset="0"/>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44937890"/>
                  </a:ext>
                </a:extLst>
              </a:tr>
              <a:tr h="742703">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40</a:t>
                      </a:r>
                    </a:p>
                    <a:p>
                      <a:pPr algn="ctr">
                        <a:spcAft>
                          <a:spcPts val="0"/>
                        </a:spcAft>
                      </a:pPr>
                      <a:r>
                        <a:rPr lang="en-AU" sz="1800" dirty="0" smtClean="0">
                          <a:effectLst/>
                          <a:latin typeface="Arial" panose="020B0604020202020204" pitchFamily="34" charset="0"/>
                          <a:ea typeface="Calibri" panose="020F0502020204030204" pitchFamily="34" charset="0"/>
                        </a:rPr>
                        <a:t>Ca</a:t>
                      </a:r>
                    </a:p>
                    <a:p>
                      <a:pPr algn="ctr">
                        <a:spcAft>
                          <a:spcPts val="0"/>
                        </a:spcAft>
                      </a:pPr>
                      <a:r>
                        <a:rPr lang="en-AU" sz="1800" dirty="0" smtClean="0">
                          <a:effectLst/>
                          <a:latin typeface="Arial" panose="020B0604020202020204" pitchFamily="34" charset="0"/>
                          <a:ea typeface="Calibri" panose="020F0502020204030204" pitchFamily="34" charset="0"/>
                        </a:rPr>
                        <a:t>20</a:t>
                      </a:r>
                      <a:endParaRPr lang="en-AU" sz="1800" dirty="0">
                        <a:effectLst/>
                        <a:latin typeface="Arial" panose="020B0604020202020204" pitchFamily="34" charset="0"/>
                        <a:ea typeface="Calibri" panose="020F0502020204030204" pitchFamily="34" charset="0"/>
                      </a:endParaRPr>
                    </a:p>
                  </a:txBody>
                  <a:tcPr marL="68580" marR="68580" marT="0" marB="0" anchor="ctr">
                    <a:lnL w="317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a:effectLst/>
                        <a:latin typeface="Arial" panose="020B0604020202020204" pitchFamily="34" charset="0"/>
                        <a:ea typeface="Calibri" panose="020F0502020204030204" pitchFamily="34" charset="0"/>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9293361"/>
                  </a:ext>
                </a:extLst>
              </a:tr>
              <a:tr h="611728">
                <a:tc>
                  <a:txBody>
                    <a:bodyPr/>
                    <a:lstStyle/>
                    <a:p>
                      <a:pPr algn="ctr">
                        <a:spcAft>
                          <a:spcPts val="0"/>
                        </a:spcAft>
                      </a:pPr>
                      <a:endParaRPr lang="en-AU" sz="1800">
                        <a:effectLst/>
                        <a:latin typeface="Arial" panose="020B0604020202020204" pitchFamily="34" charset="0"/>
                        <a:ea typeface="Calibri" panose="020F0502020204030204" pitchFamily="34" charset="0"/>
                      </a:endParaRPr>
                    </a:p>
                  </a:txBody>
                  <a:tcPr marL="68580" marR="68580" marT="0" marB="0" anchor="ctr">
                    <a:lnL w="317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chromium</a:t>
                      </a:r>
                      <a:endParaRPr lang="en-AU" sz="1800" dirty="0">
                        <a:effectLst/>
                        <a:latin typeface="Arial" panose="020B0604020202020204" pitchFamily="34" charset="0"/>
                        <a:ea typeface="Calibri" panose="020F0502020204030204" pitchFamily="34" charset="0"/>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24</a:t>
                      </a: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52</a:t>
                      </a: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5811074"/>
                  </a:ext>
                </a:extLst>
              </a:tr>
              <a:tr h="446051">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Cs</a:t>
                      </a:r>
                      <a:endParaRPr lang="en-AU" sz="1800" dirty="0">
                        <a:effectLst/>
                        <a:latin typeface="Arial" panose="020B0604020202020204" pitchFamily="34" charset="0"/>
                        <a:ea typeface="Calibri" panose="020F0502020204030204" pitchFamily="34" charset="0"/>
                      </a:endParaRPr>
                    </a:p>
                  </a:txBody>
                  <a:tcPr marL="68580" marR="68580" marT="0" marB="0" anchor="ctr">
                    <a:lnL w="317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caesium</a:t>
                      </a:r>
                      <a:endParaRPr lang="en-AU" sz="1800" dirty="0">
                        <a:effectLst/>
                        <a:latin typeface="Arial" panose="020B0604020202020204" pitchFamily="34" charset="0"/>
                        <a:ea typeface="Calibri" panose="020F0502020204030204" pitchFamily="34" charset="0"/>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55</a:t>
                      </a: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78</a:t>
                      </a: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7990965"/>
                  </a:ext>
                </a:extLst>
              </a:tr>
              <a:tr h="446051">
                <a:tc>
                  <a:txBody>
                    <a:bodyPr/>
                    <a:lstStyle/>
                    <a:p>
                      <a:pPr algn="ctr">
                        <a:spcAft>
                          <a:spcPts val="0"/>
                        </a:spcAft>
                      </a:pPr>
                      <a:endParaRPr lang="en-AU" sz="1800" dirty="0">
                        <a:effectLst/>
                        <a:latin typeface="Arial" panose="020B0604020202020204" pitchFamily="34" charset="0"/>
                        <a:ea typeface="Calibri" panose="020F0502020204030204" pitchFamily="34" charset="0"/>
                      </a:endParaRPr>
                    </a:p>
                  </a:txBody>
                  <a:tcPr marL="68580" marR="68580" marT="0" marB="0" anchor="ctr">
                    <a:lnL w="317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copper</a:t>
                      </a:r>
                      <a:endParaRPr lang="en-AU" sz="1800" dirty="0">
                        <a:effectLst/>
                        <a:latin typeface="Arial" panose="020B0604020202020204" pitchFamily="34" charset="0"/>
                        <a:ea typeface="Calibri" panose="020F0502020204030204" pitchFamily="34" charset="0"/>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64</a:t>
                      </a: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29</a:t>
                      </a: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6435268"/>
                  </a:ext>
                </a:extLst>
              </a:tr>
              <a:tr h="446051">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Cm</a:t>
                      </a:r>
                      <a:endParaRPr lang="en-AU" sz="1800" dirty="0">
                        <a:effectLst/>
                        <a:latin typeface="Arial" panose="020B0604020202020204" pitchFamily="34" charset="0"/>
                        <a:ea typeface="Calibri" panose="020F0502020204030204" pitchFamily="34" charset="0"/>
                      </a:endParaRPr>
                    </a:p>
                  </a:txBody>
                  <a:tcPr marL="68580" marR="68580" marT="0" marB="0" anchor="ctr">
                    <a:lnL w="317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curium</a:t>
                      </a:r>
                      <a:endParaRPr lang="en-AU" sz="1800" dirty="0">
                        <a:effectLst/>
                        <a:latin typeface="Arial" panose="020B0604020202020204" pitchFamily="34" charset="0"/>
                        <a:ea typeface="Calibri" panose="020F0502020204030204" pitchFamily="34" charset="0"/>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96</a:t>
                      </a: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151</a:t>
                      </a: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4528348"/>
                  </a:ext>
                </a:extLst>
              </a:tr>
              <a:tr h="446051">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Cd</a:t>
                      </a:r>
                      <a:endParaRPr lang="en-AU" sz="1800" dirty="0">
                        <a:effectLst/>
                        <a:latin typeface="Arial" panose="020B0604020202020204" pitchFamily="34" charset="0"/>
                        <a:ea typeface="Calibri" panose="020F0502020204030204" pitchFamily="34" charset="0"/>
                      </a:endParaRPr>
                    </a:p>
                  </a:txBody>
                  <a:tcPr marL="68580" marR="68580" marT="0" marB="0" anchor="ctr">
                    <a:lnL w="317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cadmium</a:t>
                      </a:r>
                      <a:endParaRPr lang="en-AU" sz="1800" dirty="0">
                        <a:effectLst/>
                        <a:latin typeface="Arial" panose="020B0604020202020204" pitchFamily="34" charset="0"/>
                        <a:ea typeface="Calibri" panose="020F0502020204030204" pitchFamily="34" charset="0"/>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48</a:t>
                      </a: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112</a:t>
                      </a: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8278264"/>
                  </a:ext>
                </a:extLst>
              </a:tr>
              <a:tr h="446051">
                <a:tc>
                  <a:txBody>
                    <a:bodyPr/>
                    <a:lstStyle/>
                    <a:p>
                      <a:pPr algn="ctr">
                        <a:spcAft>
                          <a:spcPts val="0"/>
                        </a:spcAft>
                      </a:pPr>
                      <a:r>
                        <a:rPr lang="en-AU" sz="1800" dirty="0" err="1" smtClean="0">
                          <a:effectLst/>
                          <a:latin typeface="Arial" panose="020B0604020202020204" pitchFamily="34" charset="0"/>
                          <a:ea typeface="Calibri" panose="020F0502020204030204" pitchFamily="34" charset="0"/>
                        </a:rPr>
                        <a:t>Cf</a:t>
                      </a:r>
                      <a:endParaRPr lang="en-AU" sz="1800" dirty="0">
                        <a:effectLst/>
                        <a:latin typeface="Arial" panose="020B0604020202020204" pitchFamily="34" charset="0"/>
                        <a:ea typeface="Calibri" panose="020F0502020204030204" pitchFamily="34" charset="0"/>
                      </a:endParaRPr>
                    </a:p>
                  </a:txBody>
                  <a:tcPr marL="68580" marR="68580" marT="0" marB="0" anchor="ctr">
                    <a:lnL w="317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californium</a:t>
                      </a:r>
                      <a:endParaRPr lang="en-AU" sz="1800" dirty="0">
                        <a:effectLst/>
                        <a:latin typeface="Arial" panose="020B0604020202020204" pitchFamily="34" charset="0"/>
                        <a:ea typeface="Calibri" panose="020F0502020204030204" pitchFamily="34" charset="0"/>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98</a:t>
                      </a: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800" dirty="0" smtClean="0">
                          <a:effectLst/>
                          <a:latin typeface="Arial" panose="020B0604020202020204" pitchFamily="34" charset="0"/>
                          <a:ea typeface="Calibri" panose="020F0502020204030204" pitchFamily="34" charset="0"/>
                        </a:rPr>
                        <a:t>251</a:t>
                      </a: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18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9875799"/>
                  </a:ext>
                </a:extLst>
              </a:tr>
            </a:tbl>
          </a:graphicData>
        </a:graphic>
      </p:graphicFrame>
      <p:sp>
        <p:nvSpPr>
          <p:cNvPr id="6" name="Rectangle 1"/>
          <p:cNvSpPr>
            <a:spLocks noChangeArrowheads="1"/>
          </p:cNvSpPr>
          <p:nvPr/>
        </p:nvSpPr>
        <p:spPr bwMode="auto">
          <a:xfrm>
            <a:off x="2237038" y="2407842"/>
            <a:ext cx="817188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AU"/>
          </a:p>
        </p:txBody>
      </p:sp>
    </p:spTree>
    <p:extLst>
      <p:ext uri="{BB962C8B-B14F-4D97-AF65-F5344CB8AC3E}">
        <p14:creationId xmlns:p14="http://schemas.microsoft.com/office/powerpoint/2010/main" val="21686156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1520" y="375920"/>
            <a:ext cx="11252200" cy="6096000"/>
          </a:xfrm>
        </p:spPr>
        <p:txBody>
          <a:bodyPr>
            <a:normAutofit/>
          </a:bodyPr>
          <a:lstStyle/>
          <a:p>
            <a:pPr marL="0" indent="0">
              <a:buNone/>
            </a:pPr>
            <a:r>
              <a:rPr lang="en-AU" sz="2400" dirty="0" smtClean="0"/>
              <a:t>4. Name the following elements - He, Mg, Ba, P, Si, Co, Li, N, Fe, Hg.</a:t>
            </a:r>
          </a:p>
          <a:p>
            <a:pPr marL="0" indent="0">
              <a:buNone/>
            </a:pPr>
            <a:r>
              <a:rPr lang="en-AU" sz="2400" dirty="0"/>
              <a:t>5</a:t>
            </a:r>
            <a:r>
              <a:rPr lang="en-AU" sz="2400" dirty="0" smtClean="0"/>
              <a:t>. Give the symbols of the following elements- Lead, Carbon, Chlorine, Potassium, Gold,    Sodium, Tin, Iodine, Chromium.</a:t>
            </a:r>
          </a:p>
          <a:p>
            <a:pPr marL="0" indent="0">
              <a:buNone/>
            </a:pPr>
            <a:r>
              <a:rPr lang="en-AU" sz="2400" dirty="0"/>
              <a:t>6</a:t>
            </a:r>
            <a:r>
              <a:rPr lang="en-AU" sz="2400" dirty="0" smtClean="0"/>
              <a:t>. State if each of the following statements is true or false. If they are </a:t>
            </a:r>
            <a:r>
              <a:rPr lang="en-AU" sz="2400" b="1" dirty="0" smtClean="0"/>
              <a:t>false</a:t>
            </a:r>
            <a:r>
              <a:rPr lang="en-AU" sz="2400" dirty="0" smtClean="0"/>
              <a:t>, alter the statement so that it becomes true.</a:t>
            </a:r>
          </a:p>
          <a:p>
            <a:pPr marL="0" indent="0">
              <a:buNone/>
            </a:pPr>
            <a:r>
              <a:rPr lang="en-AU" sz="2400" dirty="0" smtClean="0"/>
              <a:t>	a) Protons and neutrons have approximately the same mass.</a:t>
            </a:r>
          </a:p>
          <a:p>
            <a:pPr marL="0" indent="0">
              <a:buNone/>
            </a:pPr>
            <a:r>
              <a:rPr lang="en-AU" sz="2400" dirty="0" smtClean="0"/>
              <a:t>	b) In a neutral atom, the number of protons equals the number of neutrons.</a:t>
            </a:r>
          </a:p>
          <a:p>
            <a:pPr marL="0" indent="0">
              <a:buNone/>
            </a:pPr>
            <a:r>
              <a:rPr lang="en-AU" sz="2400" dirty="0" smtClean="0"/>
              <a:t>	c) The mass of an electron is one hundredth the mass of a proton.</a:t>
            </a:r>
          </a:p>
          <a:p>
            <a:pPr marL="0" indent="0">
              <a:buNone/>
            </a:pPr>
            <a:r>
              <a:rPr lang="en-AU" sz="2400" dirty="0" smtClean="0"/>
              <a:t>	d) The nucleus contains protons and neutrons.</a:t>
            </a:r>
          </a:p>
          <a:p>
            <a:pPr marL="0" indent="0">
              <a:buNone/>
            </a:pPr>
            <a:r>
              <a:rPr lang="en-AU" sz="2400" dirty="0" smtClean="0"/>
              <a:t>	e) The atom is mostly empty space.</a:t>
            </a:r>
          </a:p>
          <a:p>
            <a:pPr marL="0" indent="0">
              <a:buNone/>
            </a:pPr>
            <a:r>
              <a:rPr lang="en-AU" sz="2400" dirty="0" smtClean="0"/>
              <a:t>	f) Most of the mass of the atom exists in the electron cloud.</a:t>
            </a:r>
          </a:p>
          <a:p>
            <a:pPr marL="0" indent="0">
              <a:buNone/>
            </a:pPr>
            <a:r>
              <a:rPr lang="en-AU" sz="2400" dirty="0" smtClean="0"/>
              <a:t>	g) An element is the simplest substance. It cannot be broken down into simpler 		     substances by chemical reactions.</a:t>
            </a:r>
          </a:p>
          <a:p>
            <a:pPr marL="0" indent="0">
              <a:buNone/>
            </a:pPr>
            <a:r>
              <a:rPr lang="en-AU" sz="2400" dirty="0" smtClean="0"/>
              <a:t>	h) A compound contains 2 or more elements mixed together.</a:t>
            </a:r>
            <a:endParaRPr lang="en-AU" sz="2400" dirty="0"/>
          </a:p>
        </p:txBody>
      </p:sp>
    </p:spTree>
    <p:extLst>
      <p:ext uri="{BB962C8B-B14F-4D97-AF65-F5344CB8AC3E}">
        <p14:creationId xmlns:p14="http://schemas.microsoft.com/office/powerpoint/2010/main" val="22011683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67081"/>
            <a:ext cx="10515600" cy="1056640"/>
          </a:xfrm>
        </p:spPr>
        <p:txBody>
          <a:bodyPr/>
          <a:lstStyle/>
          <a:p>
            <a:r>
              <a:rPr lang="en-AU" dirty="0" smtClean="0"/>
              <a:t>Answers</a:t>
            </a:r>
          </a:p>
          <a:p>
            <a:endParaRPr lang="en-AU" dirty="0"/>
          </a:p>
        </p:txBody>
      </p:sp>
      <p:graphicFrame>
        <p:nvGraphicFramePr>
          <p:cNvPr id="4" name="Table 3"/>
          <p:cNvGraphicFramePr>
            <a:graphicFrameLocks noGrp="1"/>
          </p:cNvGraphicFramePr>
          <p:nvPr>
            <p:extLst>
              <p:ext uri="{D42A27DB-BD31-4B8C-83A1-F6EECF244321}">
                <p14:modId xmlns:p14="http://schemas.microsoft.com/office/powerpoint/2010/main" val="357375436"/>
              </p:ext>
            </p:extLst>
          </p:nvPr>
        </p:nvGraphicFramePr>
        <p:xfrm>
          <a:off x="2694238" y="849428"/>
          <a:ext cx="6445085" cy="5510732"/>
        </p:xfrm>
        <a:graphic>
          <a:graphicData uri="http://schemas.openxmlformats.org/drawingml/2006/table">
            <a:tbl>
              <a:tblPr/>
              <a:tblGrid>
                <a:gridCol w="903219">
                  <a:extLst>
                    <a:ext uri="{9D8B030D-6E8A-4147-A177-3AD203B41FA5}">
                      <a16:colId xmlns:a16="http://schemas.microsoft.com/office/drawing/2014/main" val="2604805720"/>
                    </a:ext>
                  </a:extLst>
                </a:gridCol>
                <a:gridCol w="1108038">
                  <a:extLst>
                    <a:ext uri="{9D8B030D-6E8A-4147-A177-3AD203B41FA5}">
                      <a16:colId xmlns:a16="http://schemas.microsoft.com/office/drawing/2014/main" val="4161418557"/>
                    </a:ext>
                  </a:extLst>
                </a:gridCol>
                <a:gridCol w="1108876">
                  <a:extLst>
                    <a:ext uri="{9D8B030D-6E8A-4147-A177-3AD203B41FA5}">
                      <a16:colId xmlns:a16="http://schemas.microsoft.com/office/drawing/2014/main" val="1350332612"/>
                    </a:ext>
                  </a:extLst>
                </a:gridCol>
                <a:gridCol w="1108038">
                  <a:extLst>
                    <a:ext uri="{9D8B030D-6E8A-4147-A177-3AD203B41FA5}">
                      <a16:colId xmlns:a16="http://schemas.microsoft.com/office/drawing/2014/main" val="30002464"/>
                    </a:ext>
                  </a:extLst>
                </a:gridCol>
                <a:gridCol w="1108876">
                  <a:extLst>
                    <a:ext uri="{9D8B030D-6E8A-4147-A177-3AD203B41FA5}">
                      <a16:colId xmlns:a16="http://schemas.microsoft.com/office/drawing/2014/main" val="2627915465"/>
                    </a:ext>
                  </a:extLst>
                </a:gridCol>
                <a:gridCol w="1108038">
                  <a:extLst>
                    <a:ext uri="{9D8B030D-6E8A-4147-A177-3AD203B41FA5}">
                      <a16:colId xmlns:a16="http://schemas.microsoft.com/office/drawing/2014/main" val="2912252801"/>
                    </a:ext>
                  </a:extLst>
                </a:gridCol>
              </a:tblGrid>
              <a:tr h="320087">
                <a:tc>
                  <a:txBody>
                    <a:bodyPr/>
                    <a:lstStyle/>
                    <a:p>
                      <a:pPr algn="ctr">
                        <a:spcAft>
                          <a:spcPts val="0"/>
                        </a:spcAft>
                      </a:pPr>
                      <a:endParaRPr lang="en-AU" sz="1200" dirty="0">
                        <a:effectLst/>
                        <a:latin typeface="Arial" panose="020B0604020202020204" pitchFamily="34" charset="0"/>
                        <a:ea typeface="Calibri" panose="020F0502020204030204" pitchFamily="34" charset="0"/>
                      </a:endParaRPr>
                    </a:p>
                  </a:txBody>
                  <a:tcPr marL="68580" marR="68580" marT="0" marB="0" anchor="ctr">
                    <a:lnL w="317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31750" cap="flat" cmpd="dbl"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Element</a:t>
                      </a:r>
                      <a:endParaRPr lang="en-AU" sz="1200" dirty="0">
                        <a:effectLst/>
                        <a:latin typeface="Arial" panose="020B0604020202020204" pitchFamily="34" charset="0"/>
                        <a:ea typeface="Calibri" panose="020F0502020204030204" pitchFamily="34" charset="0"/>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0" cap="flat" cmpd="dbl"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Z</a:t>
                      </a:r>
                    </a:p>
                    <a:p>
                      <a:pPr algn="ctr">
                        <a:spcAft>
                          <a:spcPts val="0"/>
                        </a:spcAft>
                      </a:pPr>
                      <a:r>
                        <a:rPr lang="en-AU" sz="1200" dirty="0" smtClean="0">
                          <a:effectLst/>
                          <a:latin typeface="Arial" panose="020B0604020202020204" pitchFamily="34" charset="0"/>
                          <a:ea typeface="Calibri" panose="020F0502020204030204" pitchFamily="34" charset="0"/>
                        </a:rPr>
                        <a:t>Atomic number </a:t>
                      </a:r>
                      <a:endParaRPr lang="en-AU" sz="12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0" cap="flat" cmpd="dbl"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A</a:t>
                      </a:r>
                    </a:p>
                    <a:p>
                      <a:pPr algn="ctr">
                        <a:spcAft>
                          <a:spcPts val="0"/>
                        </a:spcAft>
                      </a:pPr>
                      <a:r>
                        <a:rPr lang="en-AU" sz="1200" dirty="0" smtClean="0">
                          <a:effectLst/>
                          <a:latin typeface="Arial" panose="020B0604020202020204" pitchFamily="34" charset="0"/>
                          <a:ea typeface="Calibri" panose="020F0502020204030204" pitchFamily="34" charset="0"/>
                        </a:rPr>
                        <a:t>Atomic mass</a:t>
                      </a:r>
                      <a:endParaRPr lang="en-AU" sz="12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0" cap="flat" cmpd="dbl"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Number</a:t>
                      </a:r>
                      <a:r>
                        <a:rPr lang="en-AU" sz="1200" baseline="0" dirty="0" smtClean="0">
                          <a:effectLst/>
                          <a:latin typeface="Arial" panose="020B0604020202020204" pitchFamily="34" charset="0"/>
                          <a:ea typeface="Calibri" panose="020F0502020204030204" pitchFamily="34" charset="0"/>
                        </a:rPr>
                        <a:t> of protons</a:t>
                      </a:r>
                      <a:endParaRPr lang="en-AU" sz="12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0" cap="flat" cmpd="dbl"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Number of neutrons</a:t>
                      </a:r>
                      <a:endParaRPr lang="en-AU" sz="12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0" cap="flat" cmpd="dbl"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526254354"/>
                  </a:ext>
                </a:extLst>
              </a:tr>
              <a:tr h="451888">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12</a:t>
                      </a:r>
                    </a:p>
                    <a:p>
                      <a:pPr algn="ctr">
                        <a:spcAft>
                          <a:spcPts val="0"/>
                        </a:spcAft>
                      </a:pPr>
                      <a:r>
                        <a:rPr lang="en-AU" sz="1200" dirty="0" smtClean="0">
                          <a:effectLst/>
                          <a:latin typeface="Arial" panose="020B0604020202020204" pitchFamily="34" charset="0"/>
                          <a:ea typeface="Calibri" panose="020F0502020204030204" pitchFamily="34" charset="0"/>
                        </a:rPr>
                        <a:t>C</a:t>
                      </a:r>
                    </a:p>
                    <a:p>
                      <a:pPr algn="ctr">
                        <a:spcAft>
                          <a:spcPts val="0"/>
                        </a:spcAft>
                      </a:pPr>
                      <a:r>
                        <a:rPr lang="en-AU" sz="1200" dirty="0" smtClean="0">
                          <a:effectLst/>
                          <a:latin typeface="Arial" panose="020B0604020202020204" pitchFamily="34" charset="0"/>
                          <a:ea typeface="Calibri" panose="020F0502020204030204" pitchFamily="34" charset="0"/>
                        </a:rPr>
                        <a:t>6</a:t>
                      </a:r>
                      <a:endParaRPr lang="en-AU" sz="1200" dirty="0">
                        <a:effectLst/>
                        <a:latin typeface="Arial" panose="020B0604020202020204" pitchFamily="34" charset="0"/>
                        <a:ea typeface="Calibri" panose="020F0502020204030204" pitchFamily="34" charset="0"/>
                      </a:endParaRPr>
                    </a:p>
                  </a:txBody>
                  <a:tcPr marL="68580" marR="68580" marT="0" marB="0" anchor="ctr">
                    <a:lnL w="317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Carbon</a:t>
                      </a:r>
                      <a:endParaRPr lang="en-AU" sz="1200" dirty="0">
                        <a:effectLst/>
                        <a:latin typeface="Arial" panose="020B0604020202020204" pitchFamily="34" charset="0"/>
                        <a:ea typeface="Calibri" panose="020F0502020204030204" pitchFamily="34" charset="0"/>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6</a:t>
                      </a:r>
                      <a:endParaRPr lang="en-AU" sz="12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12</a:t>
                      </a:r>
                      <a:endParaRPr lang="en-AU" sz="12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6</a:t>
                      </a:r>
                      <a:endParaRPr lang="en-AU" sz="12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6</a:t>
                      </a:r>
                      <a:endParaRPr lang="en-AU" sz="12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4176393"/>
                  </a:ext>
                </a:extLst>
              </a:tr>
              <a:tr h="451888">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35</a:t>
                      </a:r>
                    </a:p>
                    <a:p>
                      <a:pPr algn="ctr">
                        <a:spcAft>
                          <a:spcPts val="0"/>
                        </a:spcAft>
                      </a:pPr>
                      <a:r>
                        <a:rPr lang="en-AU" sz="1200" dirty="0" smtClean="0">
                          <a:effectLst/>
                          <a:latin typeface="Arial" panose="020B0604020202020204" pitchFamily="34" charset="0"/>
                          <a:ea typeface="Calibri" panose="020F0502020204030204" pitchFamily="34" charset="0"/>
                        </a:rPr>
                        <a:t>Cl</a:t>
                      </a:r>
                    </a:p>
                    <a:p>
                      <a:pPr algn="ctr">
                        <a:spcAft>
                          <a:spcPts val="0"/>
                        </a:spcAft>
                      </a:pPr>
                      <a:r>
                        <a:rPr lang="en-AU" sz="1200" dirty="0" smtClean="0">
                          <a:effectLst/>
                          <a:latin typeface="Arial" panose="020B0604020202020204" pitchFamily="34" charset="0"/>
                          <a:ea typeface="Calibri" panose="020F0502020204030204" pitchFamily="34" charset="0"/>
                        </a:rPr>
                        <a:t>17</a:t>
                      </a:r>
                      <a:endParaRPr lang="en-AU" sz="1200" dirty="0">
                        <a:effectLst/>
                        <a:latin typeface="Arial" panose="020B0604020202020204" pitchFamily="34" charset="0"/>
                        <a:ea typeface="Calibri" panose="020F0502020204030204" pitchFamily="34" charset="0"/>
                      </a:endParaRPr>
                    </a:p>
                  </a:txBody>
                  <a:tcPr marL="68580" marR="68580" marT="0" marB="0" anchor="ctr">
                    <a:lnL w="317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Chlorine</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17</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35</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17</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18</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44937890"/>
                  </a:ext>
                </a:extLst>
              </a:tr>
              <a:tr h="329501">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40</a:t>
                      </a:r>
                    </a:p>
                    <a:p>
                      <a:pPr algn="ctr">
                        <a:spcAft>
                          <a:spcPts val="0"/>
                        </a:spcAft>
                      </a:pPr>
                      <a:r>
                        <a:rPr lang="en-AU" sz="1200" dirty="0" smtClean="0">
                          <a:effectLst/>
                          <a:latin typeface="Arial" panose="020B0604020202020204" pitchFamily="34" charset="0"/>
                          <a:ea typeface="Calibri" panose="020F0502020204030204" pitchFamily="34" charset="0"/>
                        </a:rPr>
                        <a:t>Ca</a:t>
                      </a:r>
                    </a:p>
                    <a:p>
                      <a:pPr algn="ctr">
                        <a:spcAft>
                          <a:spcPts val="0"/>
                        </a:spcAft>
                      </a:pPr>
                      <a:r>
                        <a:rPr lang="en-AU" sz="1200" dirty="0" smtClean="0">
                          <a:effectLst/>
                          <a:latin typeface="Arial" panose="020B0604020202020204" pitchFamily="34" charset="0"/>
                          <a:ea typeface="Calibri" panose="020F0502020204030204" pitchFamily="34" charset="0"/>
                        </a:rPr>
                        <a:t>20</a:t>
                      </a:r>
                      <a:endParaRPr lang="en-AU" sz="1200" dirty="0">
                        <a:effectLst/>
                        <a:latin typeface="Arial" panose="020B0604020202020204" pitchFamily="34" charset="0"/>
                        <a:ea typeface="Calibri" panose="020F0502020204030204" pitchFamily="34" charset="0"/>
                      </a:endParaRPr>
                    </a:p>
                  </a:txBody>
                  <a:tcPr marL="68580" marR="68580" marT="0" marB="0" anchor="ctr">
                    <a:lnL w="317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Calcium</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20</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40</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20</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20</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9293361"/>
                  </a:ext>
                </a:extLst>
              </a:tr>
              <a:tr h="451888">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52</a:t>
                      </a:r>
                    </a:p>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Cr</a:t>
                      </a:r>
                    </a:p>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24</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317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chromium</a:t>
                      </a:r>
                      <a:endParaRPr lang="en-AU" sz="1200" dirty="0">
                        <a:effectLst/>
                        <a:latin typeface="Arial" panose="020B0604020202020204" pitchFamily="34" charset="0"/>
                        <a:ea typeface="Calibri" panose="020F0502020204030204" pitchFamily="34" charset="0"/>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24</a:t>
                      </a:r>
                      <a:endParaRPr lang="en-AU" sz="12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52</a:t>
                      </a:r>
                      <a:endParaRPr lang="en-AU" sz="12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24</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smtClean="0">
                          <a:solidFill>
                            <a:srgbClr val="FF0000"/>
                          </a:solidFill>
                          <a:effectLst/>
                          <a:latin typeface="Arial" panose="020B0604020202020204" pitchFamily="34" charset="0"/>
                          <a:ea typeface="Calibri" panose="020F0502020204030204" pitchFamily="34" charset="0"/>
                        </a:rPr>
                        <a:t>28</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5811074"/>
                  </a:ext>
                </a:extLst>
              </a:tr>
              <a:tr h="329501">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133</a:t>
                      </a:r>
                    </a:p>
                    <a:p>
                      <a:pPr algn="ctr">
                        <a:spcAft>
                          <a:spcPts val="0"/>
                        </a:spcAft>
                      </a:pPr>
                      <a:r>
                        <a:rPr lang="en-AU" sz="1200" dirty="0" smtClean="0">
                          <a:effectLst/>
                          <a:latin typeface="Arial" panose="020B0604020202020204" pitchFamily="34" charset="0"/>
                          <a:ea typeface="Calibri" panose="020F0502020204030204" pitchFamily="34" charset="0"/>
                        </a:rPr>
                        <a:t>Cs</a:t>
                      </a:r>
                    </a:p>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55</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317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caesium</a:t>
                      </a:r>
                      <a:endParaRPr lang="en-AU" sz="1200" dirty="0">
                        <a:effectLst/>
                        <a:latin typeface="Arial" panose="020B0604020202020204" pitchFamily="34" charset="0"/>
                        <a:ea typeface="Calibri" panose="020F0502020204030204" pitchFamily="34" charset="0"/>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55</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133</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55</a:t>
                      </a:r>
                      <a:endParaRPr lang="en-AU" sz="12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78</a:t>
                      </a:r>
                      <a:endParaRPr lang="en-AU" sz="12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7990965"/>
                  </a:ext>
                </a:extLst>
              </a:tr>
              <a:tr h="572972">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64</a:t>
                      </a:r>
                    </a:p>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Cu</a:t>
                      </a:r>
                    </a:p>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29</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317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copper</a:t>
                      </a:r>
                      <a:endParaRPr lang="en-AU" sz="1200" dirty="0">
                        <a:effectLst/>
                        <a:latin typeface="Arial" panose="020B0604020202020204" pitchFamily="34" charset="0"/>
                        <a:ea typeface="Calibri" panose="020F0502020204030204" pitchFamily="34" charset="0"/>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29</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64</a:t>
                      </a:r>
                      <a:endParaRPr lang="en-AU" sz="12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29</a:t>
                      </a:r>
                      <a:endParaRPr lang="en-AU" sz="12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35</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6435268"/>
                  </a:ext>
                </a:extLst>
              </a:tr>
              <a:tr h="329501">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247</a:t>
                      </a:r>
                    </a:p>
                    <a:p>
                      <a:pPr algn="ctr">
                        <a:spcAft>
                          <a:spcPts val="0"/>
                        </a:spcAft>
                      </a:pPr>
                      <a:r>
                        <a:rPr lang="en-AU" sz="1200" dirty="0" smtClean="0">
                          <a:effectLst/>
                          <a:latin typeface="Arial" panose="020B0604020202020204" pitchFamily="34" charset="0"/>
                          <a:ea typeface="Calibri" panose="020F0502020204030204" pitchFamily="34" charset="0"/>
                        </a:rPr>
                        <a:t>Cm</a:t>
                      </a:r>
                    </a:p>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96</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317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curium</a:t>
                      </a:r>
                      <a:endParaRPr lang="en-AU" sz="1200" dirty="0">
                        <a:effectLst/>
                        <a:latin typeface="Arial" panose="020B0604020202020204" pitchFamily="34" charset="0"/>
                        <a:ea typeface="Calibri" panose="020F0502020204030204" pitchFamily="34" charset="0"/>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96</a:t>
                      </a:r>
                      <a:endParaRPr lang="en-AU" sz="12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247</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96</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151</a:t>
                      </a:r>
                      <a:endParaRPr lang="en-AU" sz="12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4528348"/>
                  </a:ext>
                </a:extLst>
              </a:tr>
              <a:tr h="329501">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112</a:t>
                      </a:r>
                    </a:p>
                    <a:p>
                      <a:pPr algn="ctr">
                        <a:spcAft>
                          <a:spcPts val="0"/>
                        </a:spcAft>
                      </a:pPr>
                      <a:r>
                        <a:rPr lang="en-AU" sz="1200" dirty="0" smtClean="0">
                          <a:effectLst/>
                          <a:latin typeface="Arial" panose="020B0604020202020204" pitchFamily="34" charset="0"/>
                          <a:ea typeface="Calibri" panose="020F0502020204030204" pitchFamily="34" charset="0"/>
                        </a:rPr>
                        <a:t>Cd</a:t>
                      </a:r>
                    </a:p>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48</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317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cadmium</a:t>
                      </a:r>
                      <a:endParaRPr lang="en-AU" sz="1200" dirty="0">
                        <a:effectLst/>
                        <a:latin typeface="Arial" panose="020B0604020202020204" pitchFamily="34" charset="0"/>
                        <a:ea typeface="Calibri" panose="020F0502020204030204" pitchFamily="34" charset="0"/>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48</a:t>
                      </a:r>
                      <a:endParaRPr lang="en-AU" sz="12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112</a:t>
                      </a:r>
                      <a:endParaRPr lang="en-AU" sz="12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48</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64</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8278264"/>
                  </a:ext>
                </a:extLst>
              </a:tr>
              <a:tr h="329501">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251</a:t>
                      </a:r>
                    </a:p>
                    <a:p>
                      <a:pPr algn="ctr">
                        <a:spcAft>
                          <a:spcPts val="0"/>
                        </a:spcAft>
                      </a:pPr>
                      <a:r>
                        <a:rPr lang="en-AU" sz="1200" dirty="0" err="1" smtClean="0">
                          <a:effectLst/>
                          <a:latin typeface="Arial" panose="020B0604020202020204" pitchFamily="34" charset="0"/>
                          <a:ea typeface="Calibri" panose="020F0502020204030204" pitchFamily="34" charset="0"/>
                        </a:rPr>
                        <a:t>Cf</a:t>
                      </a:r>
                      <a:endParaRPr lang="en-AU" sz="1200" dirty="0" smtClean="0">
                        <a:effectLst/>
                        <a:latin typeface="Arial" panose="020B0604020202020204" pitchFamily="34" charset="0"/>
                        <a:ea typeface="Calibri" panose="020F0502020204030204" pitchFamily="34" charset="0"/>
                      </a:endParaRPr>
                    </a:p>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98</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31750" cap="flat" cmpd="dbl"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err="1" smtClean="0">
                          <a:effectLst/>
                          <a:latin typeface="Arial" panose="020B0604020202020204" pitchFamily="34" charset="0"/>
                          <a:ea typeface="Calibri" panose="020F0502020204030204" pitchFamily="34" charset="0"/>
                        </a:rPr>
                        <a:t>califonium</a:t>
                      </a:r>
                      <a:endParaRPr lang="en-AU" sz="1200" dirty="0">
                        <a:effectLst/>
                        <a:latin typeface="Arial" panose="020B0604020202020204" pitchFamily="34" charset="0"/>
                        <a:ea typeface="Calibri" panose="020F0502020204030204" pitchFamily="34" charset="0"/>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98</a:t>
                      </a:r>
                      <a:endParaRPr lang="en-AU" sz="12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effectLst/>
                          <a:latin typeface="Arial" panose="020B0604020202020204" pitchFamily="34" charset="0"/>
                          <a:ea typeface="Calibri" panose="020F0502020204030204" pitchFamily="34" charset="0"/>
                        </a:rPr>
                        <a:t>251</a:t>
                      </a:r>
                      <a:endParaRPr lang="en-AU" sz="1200" dirty="0">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98</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200" dirty="0" smtClean="0">
                          <a:solidFill>
                            <a:srgbClr val="FF0000"/>
                          </a:solidFill>
                          <a:effectLst/>
                          <a:latin typeface="Arial" panose="020B0604020202020204" pitchFamily="34" charset="0"/>
                          <a:ea typeface="Calibri" panose="020F0502020204030204" pitchFamily="34" charset="0"/>
                        </a:rPr>
                        <a:t>153</a:t>
                      </a:r>
                      <a:endParaRPr lang="en-AU" sz="1200" dirty="0">
                        <a:solidFill>
                          <a:srgbClr val="FF0000"/>
                        </a:solidFill>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9875799"/>
                  </a:ext>
                </a:extLst>
              </a:tr>
            </a:tbl>
          </a:graphicData>
        </a:graphic>
      </p:graphicFrame>
    </p:spTree>
    <p:extLst>
      <p:ext uri="{BB962C8B-B14F-4D97-AF65-F5344CB8AC3E}">
        <p14:creationId xmlns:p14="http://schemas.microsoft.com/office/powerpoint/2010/main" val="172267720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5030" y="608295"/>
            <a:ext cx="10515600" cy="5459018"/>
          </a:xfrm>
        </p:spPr>
        <p:txBody>
          <a:bodyPr/>
          <a:lstStyle/>
          <a:p>
            <a:r>
              <a:rPr lang="en-AU" dirty="0" smtClean="0"/>
              <a:t>Answers</a:t>
            </a:r>
          </a:p>
          <a:p>
            <a:r>
              <a:rPr lang="en-AU" dirty="0" smtClean="0"/>
              <a:t>Q4 – </a:t>
            </a:r>
            <a:r>
              <a:rPr lang="en-AU" dirty="0"/>
              <a:t>Name the following elements </a:t>
            </a:r>
            <a:r>
              <a:rPr lang="en-AU" dirty="0" smtClean="0"/>
              <a:t>– He = Helium, Mg = Magnesium, Ba = Barium,  P = Phosphorus,  Si = Silicon, Co = Cobalt, Li = Lithium,  N = Nitrogen, Fe = Iron, Hg = Mercury.</a:t>
            </a:r>
            <a:endParaRPr lang="en-AU" dirty="0"/>
          </a:p>
          <a:p>
            <a:pPr marL="0" indent="0">
              <a:buNone/>
            </a:pPr>
            <a:r>
              <a:rPr lang="en-AU" dirty="0" smtClean="0"/>
              <a:t> Q5 </a:t>
            </a:r>
            <a:r>
              <a:rPr lang="en-AU" dirty="0"/>
              <a:t>Give the symbols of the following elements- </a:t>
            </a:r>
            <a:r>
              <a:rPr lang="en-AU" dirty="0" smtClean="0"/>
              <a:t>Lead = </a:t>
            </a:r>
            <a:r>
              <a:rPr lang="en-AU" dirty="0" err="1" smtClean="0"/>
              <a:t>Pb</a:t>
            </a:r>
            <a:r>
              <a:rPr lang="en-AU" dirty="0" smtClean="0"/>
              <a:t>, </a:t>
            </a:r>
          </a:p>
          <a:p>
            <a:r>
              <a:rPr lang="en-AU" dirty="0" smtClean="0"/>
              <a:t>Carbon = C,  Chlorine = Cl, Potassium = K, Gold = Au,    Sodium = Na, Tin = Sn, Iodine = I, Chromium = Cr</a:t>
            </a:r>
          </a:p>
          <a:p>
            <a:r>
              <a:rPr lang="en-AU" dirty="0" smtClean="0"/>
              <a:t>Q6- </a:t>
            </a:r>
          </a:p>
          <a:p>
            <a:pPr marL="0" indent="0">
              <a:buNone/>
            </a:pPr>
            <a:endParaRPr lang="en-AU" dirty="0" smtClean="0"/>
          </a:p>
          <a:p>
            <a:endParaRPr lang="en-AU" dirty="0"/>
          </a:p>
        </p:txBody>
      </p:sp>
      <p:graphicFrame>
        <p:nvGraphicFramePr>
          <p:cNvPr id="2" name="Table 1"/>
          <p:cNvGraphicFramePr>
            <a:graphicFrameLocks noGrp="1"/>
          </p:cNvGraphicFramePr>
          <p:nvPr>
            <p:extLst/>
          </p:nvPr>
        </p:nvGraphicFramePr>
        <p:xfrm>
          <a:off x="2048830" y="3964193"/>
          <a:ext cx="8128000" cy="21031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086776453"/>
                    </a:ext>
                  </a:extLst>
                </a:gridCol>
                <a:gridCol w="2032000">
                  <a:extLst>
                    <a:ext uri="{9D8B030D-6E8A-4147-A177-3AD203B41FA5}">
                      <a16:colId xmlns:a16="http://schemas.microsoft.com/office/drawing/2014/main" val="1092835009"/>
                    </a:ext>
                  </a:extLst>
                </a:gridCol>
                <a:gridCol w="2032000">
                  <a:extLst>
                    <a:ext uri="{9D8B030D-6E8A-4147-A177-3AD203B41FA5}">
                      <a16:colId xmlns:a16="http://schemas.microsoft.com/office/drawing/2014/main" val="3546233200"/>
                    </a:ext>
                  </a:extLst>
                </a:gridCol>
                <a:gridCol w="2032000">
                  <a:extLst>
                    <a:ext uri="{9D8B030D-6E8A-4147-A177-3AD203B41FA5}">
                      <a16:colId xmlns:a16="http://schemas.microsoft.com/office/drawing/2014/main" val="2767522839"/>
                    </a:ext>
                  </a:extLst>
                </a:gridCol>
              </a:tblGrid>
              <a:tr h="370840">
                <a:tc>
                  <a:txBody>
                    <a:bodyPr/>
                    <a:lstStyle/>
                    <a:p>
                      <a:r>
                        <a:rPr lang="en-AU" dirty="0" smtClean="0"/>
                        <a:t>a)</a:t>
                      </a:r>
                      <a:r>
                        <a:rPr lang="en-AU" baseline="0" dirty="0" smtClean="0"/>
                        <a:t>  T</a:t>
                      </a:r>
                      <a:endParaRPr lang="en-AU" dirty="0"/>
                    </a:p>
                  </a:txBody>
                  <a:tcPr/>
                </a:tc>
                <a:tc>
                  <a:txBody>
                    <a:bodyPr/>
                    <a:lstStyle/>
                    <a:p>
                      <a:r>
                        <a:rPr lang="en-AU" dirty="0" smtClean="0"/>
                        <a:t>b) F</a:t>
                      </a:r>
                      <a:r>
                        <a:rPr lang="en-AU" baseline="0" dirty="0" smtClean="0"/>
                        <a:t>  </a:t>
                      </a:r>
                    </a:p>
                    <a:p>
                      <a:r>
                        <a:rPr lang="en-AU" baseline="0" dirty="0" smtClean="0"/>
                        <a:t> electrons instead of neutrons</a:t>
                      </a:r>
                      <a:endParaRPr lang="en-AU" dirty="0"/>
                    </a:p>
                  </a:txBody>
                  <a:tcPr/>
                </a:tc>
                <a:tc>
                  <a:txBody>
                    <a:bodyPr/>
                    <a:lstStyle/>
                    <a:p>
                      <a:r>
                        <a:rPr lang="en-AU" dirty="0" smtClean="0"/>
                        <a:t>c) </a:t>
                      </a:r>
                      <a:r>
                        <a:rPr lang="en-AU" smtClean="0"/>
                        <a:t>F   </a:t>
                      </a:r>
                    </a:p>
                    <a:p>
                      <a:r>
                        <a:rPr lang="en-AU" smtClean="0"/>
                        <a:t> </a:t>
                      </a:r>
                      <a:r>
                        <a:rPr lang="en-AU" dirty="0" smtClean="0"/>
                        <a:t>1/2000 or more correctly 1/1893</a:t>
                      </a:r>
                      <a:endParaRPr lang="en-AU" dirty="0"/>
                    </a:p>
                  </a:txBody>
                  <a:tcPr/>
                </a:tc>
                <a:tc>
                  <a:txBody>
                    <a:bodyPr/>
                    <a:lstStyle/>
                    <a:p>
                      <a:r>
                        <a:rPr lang="en-AU" dirty="0" smtClean="0"/>
                        <a:t>d) T</a:t>
                      </a:r>
                      <a:endParaRPr lang="en-AU" dirty="0"/>
                    </a:p>
                  </a:txBody>
                  <a:tcPr/>
                </a:tc>
                <a:extLst>
                  <a:ext uri="{0D108BD9-81ED-4DB2-BD59-A6C34878D82A}">
                    <a16:rowId xmlns:a16="http://schemas.microsoft.com/office/drawing/2014/main" val="3133929010"/>
                  </a:ext>
                </a:extLst>
              </a:tr>
              <a:tr h="370840">
                <a:tc>
                  <a:txBody>
                    <a:bodyPr/>
                    <a:lstStyle/>
                    <a:p>
                      <a:r>
                        <a:rPr lang="en-AU" dirty="0" smtClean="0"/>
                        <a:t>e) T</a:t>
                      </a:r>
                    </a:p>
                    <a:p>
                      <a:endParaRPr lang="en-AU" dirty="0"/>
                    </a:p>
                  </a:txBody>
                  <a:tcPr/>
                </a:tc>
                <a:tc>
                  <a:txBody>
                    <a:bodyPr/>
                    <a:lstStyle/>
                    <a:p>
                      <a:r>
                        <a:rPr lang="en-AU" dirty="0" smtClean="0"/>
                        <a:t>f) F</a:t>
                      </a:r>
                    </a:p>
                    <a:p>
                      <a:r>
                        <a:rPr lang="en-AU" dirty="0" smtClean="0"/>
                        <a:t> nucleus instead</a:t>
                      </a:r>
                      <a:r>
                        <a:rPr lang="en-AU" baseline="0" dirty="0" smtClean="0"/>
                        <a:t> of electron cloud</a:t>
                      </a:r>
                      <a:endParaRPr lang="en-AU" dirty="0"/>
                    </a:p>
                  </a:txBody>
                  <a:tcPr/>
                </a:tc>
                <a:tc>
                  <a:txBody>
                    <a:bodyPr/>
                    <a:lstStyle/>
                    <a:p>
                      <a:r>
                        <a:rPr lang="en-AU" dirty="0" smtClean="0"/>
                        <a:t>g) T</a:t>
                      </a:r>
                      <a:endParaRPr lang="en-AU" dirty="0"/>
                    </a:p>
                  </a:txBody>
                  <a:tcPr/>
                </a:tc>
                <a:tc>
                  <a:txBody>
                    <a:bodyPr/>
                    <a:lstStyle/>
                    <a:p>
                      <a:r>
                        <a:rPr lang="en-AU" dirty="0" smtClean="0"/>
                        <a:t>h) F </a:t>
                      </a:r>
                    </a:p>
                    <a:p>
                      <a:r>
                        <a:rPr lang="en-AU" dirty="0" smtClean="0"/>
                        <a:t> chemically combined instead of mixed</a:t>
                      </a:r>
                      <a:endParaRPr lang="en-AU" dirty="0"/>
                    </a:p>
                  </a:txBody>
                  <a:tcPr/>
                </a:tc>
                <a:extLst>
                  <a:ext uri="{0D108BD9-81ED-4DB2-BD59-A6C34878D82A}">
                    <a16:rowId xmlns:a16="http://schemas.microsoft.com/office/drawing/2014/main" val="1507336477"/>
                  </a:ext>
                </a:extLst>
              </a:tr>
            </a:tbl>
          </a:graphicData>
        </a:graphic>
      </p:graphicFrame>
    </p:spTree>
    <p:extLst>
      <p:ext uri="{BB962C8B-B14F-4D97-AF65-F5344CB8AC3E}">
        <p14:creationId xmlns:p14="http://schemas.microsoft.com/office/powerpoint/2010/main" val="299418721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33029</TotalTime>
  <Words>2044</Words>
  <Application>Microsoft Office PowerPoint</Application>
  <PresentationFormat>Widescreen</PresentationFormat>
  <Paragraphs>481</Paragraphs>
  <Slides>23</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Century Gothic</vt:lpstr>
      <vt:lpstr>Wingdings</vt:lpstr>
      <vt:lpstr>Office Theme</vt:lpstr>
      <vt:lpstr>PowerPoint Presentation</vt:lpstr>
      <vt:lpstr>PowerPoint Presentation</vt:lpstr>
      <vt:lpstr>Structure of the Atom</vt:lpstr>
      <vt:lpstr>PowerPoint Presentation</vt:lpstr>
      <vt:lpstr>Where are the subatomic particles?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Science</dc:title>
  <dc:creator>Microsoft account</dc:creator>
  <cp:lastModifiedBy>D'CRUZ Jijy [Safety Bay Senior High School]</cp:lastModifiedBy>
  <cp:revision>654</cp:revision>
  <dcterms:created xsi:type="dcterms:W3CDTF">2017-01-28T08:32:28Z</dcterms:created>
  <dcterms:modified xsi:type="dcterms:W3CDTF">2021-02-01T06:40:24Z</dcterms:modified>
</cp:coreProperties>
</file>
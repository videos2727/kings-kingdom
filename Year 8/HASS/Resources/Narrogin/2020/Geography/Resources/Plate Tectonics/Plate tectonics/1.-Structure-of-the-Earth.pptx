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4" autoAdjust="0"/>
    <p:restoredTop sz="94660"/>
  </p:normalViewPr>
  <p:slideViewPr>
    <p:cSldViewPr>
      <p:cViewPr>
        <p:scale>
          <a:sx n="75" d="100"/>
          <a:sy n="75" d="100"/>
        </p:scale>
        <p:origin x="-1194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46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221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37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50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371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905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222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9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07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6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501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D53D2-E15D-45D6-B323-3BF2916BB4CF}" type="datetimeFigureOut">
              <a:rPr lang="en-GB" smtClean="0"/>
              <a:t>16/01/2014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48CC8-0BEE-4624-A1F8-707202278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67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hyperlink" Target="http://4.bp.blogspot.com/-beSPuvbVF2E/ToT-O-j5D1I/AAAAAAAARrE/mBTtkR6ts34/s1600/September+11+079.jp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620689"/>
            <a:ext cx="8568952" cy="1080120"/>
          </a:xfrm>
        </p:spPr>
        <p:txBody>
          <a:bodyPr>
            <a:normAutofit fontScale="90000"/>
          </a:bodyPr>
          <a:lstStyle/>
          <a:p>
            <a:r>
              <a:rPr lang="en-GB" sz="3600" b="1" dirty="0" smtClean="0">
                <a:latin typeface="Century Gothic" panose="020B0502020202020204" pitchFamily="34" charset="0"/>
              </a:rPr>
              <a:t>1. The Structure of the Earth</a:t>
            </a:r>
            <a:r>
              <a:rPr lang="en-GB" b="1" dirty="0" smtClean="0">
                <a:latin typeface="Century Gothic" panose="020B0502020202020204" pitchFamily="34" charset="0"/>
              </a:rPr>
              <a:t/>
            </a:r>
            <a:br>
              <a:rPr lang="en-GB" b="1" dirty="0" smtClean="0">
                <a:latin typeface="Century Gothic" panose="020B0502020202020204" pitchFamily="34" charset="0"/>
              </a:rPr>
            </a:br>
            <a:endParaRPr lang="en-GB" dirty="0"/>
          </a:p>
        </p:txBody>
      </p:sp>
      <p:pic>
        <p:nvPicPr>
          <p:cNvPr id="5122" name="Picture 2" descr="Diagram showing the layers of the earth's internal 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003" y="1209692"/>
            <a:ext cx="5431065" cy="5648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012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476672"/>
            <a:ext cx="8424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Century Gothic" panose="020B0502020202020204" pitchFamily="34" charset="0"/>
              </a:rPr>
              <a:t>The Structure of the Earth</a:t>
            </a:r>
            <a:endParaRPr lang="en-GB" sz="3200" b="1" dirty="0"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1916832"/>
            <a:ext cx="85689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  <a:latin typeface="Century Gothic" panose="020B0502020202020204" pitchFamily="34" charset="0"/>
              </a:rPr>
              <a:t>By the end of the lesson you should be able to:</a:t>
            </a:r>
          </a:p>
          <a:p>
            <a:endParaRPr lang="en-GB" sz="2800" b="1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 smtClean="0">
                <a:latin typeface="Century Gothic" panose="020B0502020202020204" pitchFamily="34" charset="0"/>
              </a:rPr>
              <a:t>Identify the </a:t>
            </a:r>
            <a:r>
              <a:rPr lang="en-GB" sz="2800" b="1" dirty="0">
                <a:latin typeface="Century Gothic" panose="020B0502020202020204" pitchFamily="34" charset="0"/>
              </a:rPr>
              <a:t>four main layers </a:t>
            </a:r>
            <a:r>
              <a:rPr lang="en-GB" sz="2800" b="1" dirty="0" smtClean="0">
                <a:latin typeface="Century Gothic" panose="020B0502020202020204" pitchFamily="34" charset="0"/>
              </a:rPr>
              <a:t>which make up the structure of the Earth.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b="1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 smtClean="0">
                <a:latin typeface="Century Gothic" panose="020B0502020202020204" pitchFamily="34" charset="0"/>
              </a:rPr>
              <a:t>Explain why a hard boiled egg is similar to the structure of the Earth.</a:t>
            </a:r>
            <a:endParaRPr lang="en-GB" sz="2800" b="1" dirty="0">
              <a:latin typeface="Century Gothic" panose="020B0502020202020204" pitchFamily="34" charset="0"/>
            </a:endParaRPr>
          </a:p>
          <a:p>
            <a:endParaRPr lang="en-GB" sz="28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6" name="Picture 24" descr="http://www.sciencelearn.org.nz/var/sciencelearn/storage/images/contexts/earthquakes/sci-media/images/earth-s-structural-layers/22277-11-eng-NZ/Earth-s-structural-layer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r="21117"/>
          <a:stretch/>
        </p:blipFill>
        <p:spPr bwMode="auto">
          <a:xfrm>
            <a:off x="107504" y="2084185"/>
            <a:ext cx="3970422" cy="4546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042066" y="1356868"/>
            <a:ext cx="49585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 smtClean="0">
                <a:latin typeface="Century Gothic" panose="020B0502020202020204" pitchFamily="34" charset="0"/>
              </a:rPr>
              <a:t>Crust </a:t>
            </a:r>
          </a:p>
          <a:p>
            <a:r>
              <a:rPr lang="en-GB" sz="2400" dirty="0" smtClean="0">
                <a:latin typeface="Century Gothic" panose="020B0502020202020204" pitchFamily="34" charset="0"/>
              </a:rPr>
              <a:t>The outer layer of the Earth made up of solidified rocky plates.</a:t>
            </a:r>
          </a:p>
          <a:p>
            <a:endParaRPr lang="en-GB" sz="2400" dirty="0">
              <a:latin typeface="Century Gothic" panose="020B0502020202020204" pitchFamily="34" charset="0"/>
            </a:endParaRPr>
          </a:p>
          <a:p>
            <a:r>
              <a:rPr lang="en-GB" sz="2400" b="1" u="sng" dirty="0" smtClean="0">
                <a:latin typeface="Century Gothic" panose="020B0502020202020204" pitchFamily="34" charset="0"/>
              </a:rPr>
              <a:t>Mantle</a:t>
            </a:r>
            <a:r>
              <a:rPr lang="en-GB" sz="2400" dirty="0" smtClean="0">
                <a:latin typeface="Century Gothic" panose="020B0502020202020204" pitchFamily="34" charset="0"/>
              </a:rPr>
              <a:t> </a:t>
            </a:r>
          </a:p>
          <a:p>
            <a:r>
              <a:rPr lang="en-GB" sz="2400" dirty="0" smtClean="0">
                <a:latin typeface="Century Gothic" panose="020B0502020202020204" pitchFamily="34" charset="0"/>
              </a:rPr>
              <a:t>The layer of  molten rock  on which the crust floats.</a:t>
            </a:r>
          </a:p>
          <a:p>
            <a:endParaRPr lang="en-GB" sz="2400" dirty="0">
              <a:latin typeface="Century Gothic" panose="020B0502020202020204" pitchFamily="34" charset="0"/>
            </a:endParaRPr>
          </a:p>
          <a:p>
            <a:r>
              <a:rPr lang="en-GB" sz="2400" b="1" u="sng" dirty="0" smtClean="0">
                <a:latin typeface="Century Gothic" panose="020B0502020202020204" pitchFamily="34" charset="0"/>
              </a:rPr>
              <a:t>Outer  core  </a:t>
            </a:r>
          </a:p>
          <a:p>
            <a:r>
              <a:rPr lang="en-GB" sz="2400" dirty="0" smtClean="0">
                <a:latin typeface="Century Gothic" panose="020B0502020202020204" pitchFamily="34" charset="0"/>
              </a:rPr>
              <a:t>made of very hot molten metal.</a:t>
            </a:r>
          </a:p>
          <a:p>
            <a:endParaRPr lang="en-GB" sz="2400" dirty="0">
              <a:latin typeface="Century Gothic" panose="020B0502020202020204" pitchFamily="34" charset="0"/>
            </a:endParaRPr>
          </a:p>
          <a:p>
            <a:r>
              <a:rPr lang="en-GB" sz="2400" b="1" u="sng" dirty="0" smtClean="0">
                <a:latin typeface="Century Gothic" panose="020B0502020202020204" pitchFamily="34" charset="0"/>
              </a:rPr>
              <a:t>Inner core</a:t>
            </a:r>
          </a:p>
          <a:p>
            <a:r>
              <a:rPr lang="en-GB" sz="2400" dirty="0" smtClean="0">
                <a:latin typeface="Century Gothic" panose="020B0502020202020204" pitchFamily="34" charset="0"/>
              </a:rPr>
              <a:t>made of solid metal</a:t>
            </a:r>
            <a:endParaRPr lang="en-GB" sz="2400" dirty="0"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75856" y="550659"/>
            <a:ext cx="2688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 smtClean="0">
                <a:latin typeface="Century Gothic" panose="020B0502020202020204" pitchFamily="34" charset="0"/>
              </a:rPr>
              <a:t>Key Terms</a:t>
            </a:r>
            <a:endParaRPr lang="en-GB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00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338753"/>
            <a:ext cx="691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 smtClean="0">
                <a:latin typeface="Century Gothic" panose="020B0502020202020204" pitchFamily="34" charset="0"/>
              </a:rPr>
              <a:t>The Earth’s Structure</a:t>
            </a:r>
            <a:endParaRPr lang="en-GB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60032" y="2064296"/>
            <a:ext cx="40324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>
                <a:latin typeface="Century Gothic" panose="020B0502020202020204" pitchFamily="34" charset="0"/>
              </a:rPr>
              <a:t>Can you think what this image has  to do with the </a:t>
            </a:r>
            <a:r>
              <a:rPr lang="en-GB" sz="3600" dirty="0">
                <a:latin typeface="Century Gothic" panose="020B0502020202020204" pitchFamily="34" charset="0"/>
              </a:rPr>
              <a:t>E</a:t>
            </a:r>
            <a:r>
              <a:rPr lang="en-GB" sz="3600" dirty="0" smtClean="0">
                <a:latin typeface="Century Gothic" panose="020B0502020202020204" pitchFamily="34" charset="0"/>
              </a:rPr>
              <a:t>arth’s structure</a:t>
            </a:r>
            <a:r>
              <a:rPr lang="en-GB" sz="3600" b="1" dirty="0" smtClean="0">
                <a:latin typeface="Century Gothic" panose="020B0502020202020204" pitchFamily="34" charset="0"/>
              </a:rPr>
              <a:t>?</a:t>
            </a:r>
            <a:endParaRPr lang="en-GB" sz="3600" b="1" dirty="0">
              <a:latin typeface="Century Gothic" panose="020B0502020202020204" pitchFamily="34" charset="0"/>
            </a:endParaRPr>
          </a:p>
        </p:txBody>
      </p:sp>
      <p:sp>
        <p:nvSpPr>
          <p:cNvPr id="4" name="AutoShape 2" descr="http://www.google.co.uk/url?sa=i&amp;source=images&amp;cd=&amp;docid=EZQqwfd0TX6AXM&amp;tbnid=roAxkuk0L5RYsM:&amp;ved=0CAUQjBw&amp;url=http%3A%2F%2Fupload.wikimedia.org%2Fwikipedia%2Fcommons%2F1%2F1e%2FEgg_spiral_egg_cup.jpg&amp;ei=m13MUsW-CLGu7AbTiYGoCQ&amp;psig=AFQjCNHpADg6joiLD3AwpIJL1WVH1eBozw&amp;ust=1389211419260705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100" name="Picture 4" descr="http://www.scamps.com.au/fps/images/128_boiled%20eg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58" y="1783853"/>
            <a:ext cx="4054326" cy="4459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95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559" y="188640"/>
            <a:ext cx="8229600" cy="792088"/>
          </a:xfrm>
        </p:spPr>
        <p:txBody>
          <a:bodyPr/>
          <a:lstStyle/>
          <a:p>
            <a:r>
              <a:rPr lang="en-GB" b="1" dirty="0" smtClean="0">
                <a:latin typeface="Century Gothic" panose="020B0502020202020204" pitchFamily="34" charset="0"/>
              </a:rPr>
              <a:t>Get Involved</a:t>
            </a:r>
            <a:endParaRPr lang="en-GB" b="1" dirty="0">
              <a:latin typeface="Century Gothic" panose="020B0502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555" y="1556792"/>
            <a:ext cx="3933609" cy="728543"/>
          </a:xfrm>
        </p:spPr>
        <p:txBody>
          <a:bodyPr>
            <a:noAutofit/>
          </a:bodyPr>
          <a:lstStyle/>
          <a:p>
            <a:r>
              <a:rPr lang="en-GB" sz="2000" b="0" dirty="0" smtClean="0">
                <a:latin typeface="Century Gothic" panose="020B0502020202020204" pitchFamily="34" charset="0"/>
              </a:rPr>
              <a:t>1. Take a hard boiled Egg and tap it gently with a spoon.  </a:t>
            </a:r>
            <a:endParaRPr lang="en-GB" sz="2000" b="0" dirty="0">
              <a:latin typeface="Century Gothic" panose="020B0502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1176" y="1196752"/>
            <a:ext cx="4041775" cy="639762"/>
          </a:xfrm>
        </p:spPr>
        <p:txBody>
          <a:bodyPr>
            <a:noAutofit/>
          </a:bodyPr>
          <a:lstStyle/>
          <a:p>
            <a:r>
              <a:rPr lang="en-GB" sz="2000" b="0" dirty="0" smtClean="0">
                <a:latin typeface="Century Gothic" panose="020B0502020202020204" pitchFamily="34" charset="0"/>
              </a:rPr>
              <a:t>2. Carefully peel the cracked shell from the egg.</a:t>
            </a:r>
            <a:endParaRPr lang="en-GB" sz="2000" b="0" dirty="0">
              <a:latin typeface="Century Gothic" panose="020B0502020202020204" pitchFamily="34" charset="0"/>
            </a:endParaRPr>
          </a:p>
        </p:txBody>
      </p:sp>
      <p:pic>
        <p:nvPicPr>
          <p:cNvPr id="5124" name="Picture 4" descr="http://thymebombe.com/wp-content/uploads/2011/07/crack-with-spoo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5" r="5833"/>
          <a:stretch/>
        </p:blipFill>
        <p:spPr bwMode="auto">
          <a:xfrm>
            <a:off x="683568" y="2564904"/>
            <a:ext cx="3087585" cy="286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39552" y="5877272"/>
            <a:ext cx="3645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rgbClr val="FF0000"/>
                </a:solidFill>
                <a:latin typeface="Century Gothic" panose="020B0502020202020204" pitchFamily="34" charset="0"/>
              </a:rPr>
              <a:t>Q: What does the surface of the egg look like?</a:t>
            </a:r>
            <a:endParaRPr lang="en-GB" sz="20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126" name="Picture 6" descr="http://4.bp.blogspot.com/_5ChPkmvumRg/TD1mXSPPr6I/AAAAAAAABN8/HdiZxezRnY8/s320/Simple+Pleasures+2+-+Hard+Boiled+Eg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916832"/>
            <a:ext cx="2112235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683323" y="3627483"/>
            <a:ext cx="4186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Century Gothic" panose="020B0502020202020204" pitchFamily="34" charset="0"/>
              </a:rPr>
              <a:t>3. Cut egg in two.</a:t>
            </a:r>
            <a:endParaRPr lang="en-GB" sz="2000" dirty="0">
              <a:latin typeface="Century Gothic" panose="020B0502020202020204" pitchFamily="34" charset="0"/>
            </a:endParaRPr>
          </a:p>
        </p:txBody>
      </p:sp>
      <p:pic>
        <p:nvPicPr>
          <p:cNvPr id="5128" name="Picture 8" descr="http://4.bp.blogspot.com/-beSPuvbVF2E/ToT-O-j5D1I/AAAAAAAARrE/mBTtkR6ts34/s320/September+11+079.jp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318" y="4042769"/>
            <a:ext cx="2337927" cy="1548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860032" y="5877272"/>
            <a:ext cx="3625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rgbClr val="FF0000"/>
                </a:solidFill>
                <a:latin typeface="Century Gothic" panose="020B0502020202020204" pitchFamily="34" charset="0"/>
              </a:rPr>
              <a:t>Q: What does the inside of the egg look like?</a:t>
            </a:r>
            <a:endParaRPr lang="en-GB" sz="20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38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30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 smtClean="0">
                <a:latin typeface="Century Gothic" panose="020B0502020202020204" pitchFamily="34" charset="0"/>
              </a:rPr>
              <a:t>Understanding the Earth’s layers</a:t>
            </a:r>
            <a:endParaRPr lang="en-GB" sz="3200" b="1" dirty="0"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899592" y="1455167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The Earth is made up of many layers like the egg </a:t>
            </a:r>
            <a:endParaRPr lang="en-GB" sz="24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146" name="Picture 2" descr="http://www.healthdiaries.com/eatthis/hardboiled-egg-sm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5" t="36030" r="45386"/>
          <a:stretch/>
        </p:blipFill>
        <p:spPr bwMode="auto">
          <a:xfrm>
            <a:off x="5868144" y="2100248"/>
            <a:ext cx="2736304" cy="265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www.bbc.co.uk/schools/gcsebitesize/geography/images/tec_001.gif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9" t="149" b="8862"/>
          <a:stretch/>
        </p:blipFill>
        <p:spPr bwMode="auto">
          <a:xfrm>
            <a:off x="0" y="3795586"/>
            <a:ext cx="4840034" cy="301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V="1">
            <a:off x="4572000" y="3212976"/>
            <a:ext cx="144016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572000" y="3356993"/>
            <a:ext cx="1728192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572000" y="3212976"/>
            <a:ext cx="2232248" cy="1656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4572000" y="3212976"/>
            <a:ext cx="2808312" cy="19442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50" name="Picture 6" descr="http://www.publicdomainpictures.net/pictures/10000/nahled/1-1235818743lmjh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5147300"/>
            <a:ext cx="1598988" cy="135402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5157204" y="5839700"/>
            <a:ext cx="1508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latin typeface="Century Gothic" panose="020B0502020202020204" pitchFamily="34" charset="0"/>
              </a:rPr>
              <a:t>Tectonic plates</a:t>
            </a:r>
            <a:endParaRPr lang="en-GB" sz="1400" dirty="0">
              <a:latin typeface="Century Gothic" panose="020B0502020202020204" pitchFamily="34" charset="0"/>
            </a:endParaRPr>
          </a:p>
        </p:txBody>
      </p:sp>
      <p:cxnSp>
        <p:nvCxnSpPr>
          <p:cNvPr id="6144" name="Straight Arrow Connector 6143"/>
          <p:cNvCxnSpPr/>
          <p:nvPr/>
        </p:nvCxnSpPr>
        <p:spPr>
          <a:xfrm flipV="1">
            <a:off x="6660232" y="5824312"/>
            <a:ext cx="667944" cy="169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53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latin typeface="Century Gothic" panose="020B0502020202020204" pitchFamily="34" charset="0"/>
              </a:rPr>
              <a:t>Show what you have learned</a:t>
            </a:r>
            <a:endParaRPr lang="en-GB" sz="2800" b="1" dirty="0">
              <a:latin typeface="Century Gothic" panose="020B0502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2060848"/>
            <a:ext cx="8075240" cy="4126136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GB" b="0" dirty="0" smtClean="0">
                <a:latin typeface="Century Gothic" panose="020B0502020202020204" pitchFamily="34" charset="0"/>
              </a:rPr>
              <a:t>Draw a cross section of the earth using different sized circles for each layer.</a:t>
            </a:r>
          </a:p>
          <a:p>
            <a:pPr marL="457200" indent="-457200">
              <a:buAutoNum type="arabicPeriod"/>
            </a:pPr>
            <a:endParaRPr lang="en-GB" b="0" dirty="0" smtClean="0">
              <a:latin typeface="Century Gothic" panose="020B0502020202020204" pitchFamily="34" charset="0"/>
            </a:endParaRPr>
          </a:p>
          <a:p>
            <a:pPr marL="457200" indent="-457200">
              <a:buAutoNum type="arabicPeriod"/>
            </a:pPr>
            <a:r>
              <a:rPr lang="en-GB" b="0" dirty="0" smtClean="0">
                <a:latin typeface="Century Gothic" panose="020B0502020202020204" pitchFamily="34" charset="0"/>
              </a:rPr>
              <a:t>Label each layer using the correct term</a:t>
            </a:r>
          </a:p>
          <a:p>
            <a:pPr marL="457200" indent="-457200">
              <a:buAutoNum type="arabicPeriod"/>
            </a:pPr>
            <a:endParaRPr lang="en-GB" b="0" dirty="0" smtClean="0">
              <a:latin typeface="Century Gothic" panose="020B0502020202020204" pitchFamily="34" charset="0"/>
            </a:endParaRPr>
          </a:p>
          <a:p>
            <a:pPr marL="457200" indent="-457200">
              <a:buAutoNum type="arabicPeriod"/>
            </a:pPr>
            <a:r>
              <a:rPr lang="en-GB" b="0" dirty="0" smtClean="0">
                <a:latin typeface="Century Gothic" panose="020B0502020202020204" pitchFamily="34" charset="0"/>
              </a:rPr>
              <a:t>Use a different colour to shade each layer of the Earth’s structure.</a:t>
            </a:r>
          </a:p>
          <a:p>
            <a:pPr marL="457200" indent="-457200">
              <a:buAutoNum type="arabicPeriod"/>
            </a:pPr>
            <a:endParaRPr lang="en-GB" b="0" dirty="0" smtClean="0">
              <a:latin typeface="Century Gothic" panose="020B0502020202020204" pitchFamily="34" charset="0"/>
            </a:endParaRPr>
          </a:p>
          <a:p>
            <a:pPr marL="457200" indent="-457200">
              <a:buAutoNum type="arabicPeriod"/>
            </a:pPr>
            <a:r>
              <a:rPr lang="en-GB" b="0" dirty="0" smtClean="0">
                <a:latin typeface="Century Gothic" panose="020B0502020202020204" pitchFamily="34" charset="0"/>
              </a:rPr>
              <a:t>Explain why the structure of the earth is similar to an egg.</a:t>
            </a:r>
          </a:p>
          <a:p>
            <a:endParaRPr lang="en-GB" dirty="0" smtClean="0"/>
          </a:p>
          <a:p>
            <a:pPr marL="457200" indent="-45720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356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242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1. The Structure of the Earth </vt:lpstr>
      <vt:lpstr>PowerPoint Presentation</vt:lpstr>
      <vt:lpstr>PowerPoint Presentation</vt:lpstr>
      <vt:lpstr>PowerPoint Presentation</vt:lpstr>
      <vt:lpstr>Get Involved</vt:lpstr>
      <vt:lpstr>Understanding the Earth’s layers</vt:lpstr>
      <vt:lpstr>Show what you have learned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EOTAS User</cp:lastModifiedBy>
  <cp:revision>46</cp:revision>
  <dcterms:created xsi:type="dcterms:W3CDTF">2014-01-07T19:13:16Z</dcterms:created>
  <dcterms:modified xsi:type="dcterms:W3CDTF">2014-01-16T09:06:39Z</dcterms:modified>
</cp:coreProperties>
</file>
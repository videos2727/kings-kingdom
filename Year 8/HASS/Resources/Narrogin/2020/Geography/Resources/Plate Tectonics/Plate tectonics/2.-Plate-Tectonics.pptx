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6875-6FC5-44B6-95A0-7C4DF691A502}" type="datetimeFigureOut">
              <a:rPr lang="en-GB" smtClean="0"/>
              <a:t>10/03/2014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4AD7D-AD06-4362-9EFF-4E6983B5C9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168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6875-6FC5-44B6-95A0-7C4DF691A502}" type="datetimeFigureOut">
              <a:rPr lang="en-GB" smtClean="0"/>
              <a:t>10/03/2014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4AD7D-AD06-4362-9EFF-4E6983B5C9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07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6875-6FC5-44B6-95A0-7C4DF691A502}" type="datetimeFigureOut">
              <a:rPr lang="en-GB" smtClean="0"/>
              <a:t>10/03/2014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4AD7D-AD06-4362-9EFF-4E6983B5C9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57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6875-6FC5-44B6-95A0-7C4DF691A502}" type="datetimeFigureOut">
              <a:rPr lang="en-GB" smtClean="0"/>
              <a:t>10/03/2014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4AD7D-AD06-4362-9EFF-4E6983B5C9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30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6875-6FC5-44B6-95A0-7C4DF691A502}" type="datetimeFigureOut">
              <a:rPr lang="en-GB" smtClean="0"/>
              <a:t>10/03/2014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4AD7D-AD06-4362-9EFF-4E6983B5C9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852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6875-6FC5-44B6-95A0-7C4DF691A502}" type="datetimeFigureOut">
              <a:rPr lang="en-GB" smtClean="0"/>
              <a:t>10/03/2014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4AD7D-AD06-4362-9EFF-4E6983B5C9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37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6875-6FC5-44B6-95A0-7C4DF691A502}" type="datetimeFigureOut">
              <a:rPr lang="en-GB" smtClean="0"/>
              <a:t>10/03/2014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4AD7D-AD06-4362-9EFF-4E6983B5C9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41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6875-6FC5-44B6-95A0-7C4DF691A502}" type="datetimeFigureOut">
              <a:rPr lang="en-GB" smtClean="0"/>
              <a:t>10/03/2014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4AD7D-AD06-4362-9EFF-4E6983B5C9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00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6875-6FC5-44B6-95A0-7C4DF691A502}" type="datetimeFigureOut">
              <a:rPr lang="en-GB" smtClean="0"/>
              <a:t>10/03/2014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4AD7D-AD06-4362-9EFF-4E6983B5C9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73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6875-6FC5-44B6-95A0-7C4DF691A502}" type="datetimeFigureOut">
              <a:rPr lang="en-GB" smtClean="0"/>
              <a:t>10/03/2014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4AD7D-AD06-4362-9EFF-4E6983B5C9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512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6875-6FC5-44B6-95A0-7C4DF691A502}" type="datetimeFigureOut">
              <a:rPr lang="en-GB" smtClean="0"/>
              <a:t>10/03/2014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4AD7D-AD06-4362-9EFF-4E6983B5C9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483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46875-6FC5-44B6-95A0-7C4DF691A502}" type="datetimeFigureOut">
              <a:rPr lang="en-GB" smtClean="0"/>
              <a:t>10/03/2014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4AD7D-AD06-4362-9EFF-4E6983B5C9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05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.uk/url?sa=i&amp;rct=j&amp;q=&amp;esrc=s&amp;frm=1&amp;source=images&amp;cd=&amp;cad=rja&amp;docid=c6pg8KOHBM61EM&amp;tbnid=qz2tBU7ysGL5qM:&amp;ved=0CAUQjRw&amp;url=http://geology.com/articles/san-andreas-fault.shtml&amp;ei=dqzVUvabG8qp0QW9loCgDQ&amp;psig=AFQjCNHmx9jlKGDERerDPnaqEcD9qYDUOQ&amp;ust=1389821269693094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260648"/>
            <a:ext cx="7772400" cy="1470025"/>
          </a:xfrm>
        </p:spPr>
        <p:txBody>
          <a:bodyPr/>
          <a:lstStyle/>
          <a:p>
            <a:r>
              <a:rPr lang="en-GB" dirty="0" smtClean="0">
                <a:latin typeface="Comic Sans MS" panose="030F0702030302020204" pitchFamily="66" charset="0"/>
              </a:rPr>
              <a:t>2. Plate Tectonics</a:t>
            </a:r>
            <a:endParaRPr lang="en-GB" dirty="0">
              <a:latin typeface="Comic Sans MS" panose="030F0702030302020204" pitchFamily="66" charset="0"/>
            </a:endParaRPr>
          </a:p>
        </p:txBody>
      </p:sp>
      <p:pic>
        <p:nvPicPr>
          <p:cNvPr id="4" name="Picture 4" descr="http://www.dailygalaxy.com/.a/6a00d8341bf7f753ef01538fb4c4ff970b-p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2" b="7299"/>
          <a:stretch/>
        </p:blipFill>
        <p:spPr bwMode="auto">
          <a:xfrm>
            <a:off x="1547664" y="1450593"/>
            <a:ext cx="5164832" cy="48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84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latin typeface="Century Gothic" panose="020B0502020202020204" pitchFamily="34" charset="0"/>
              </a:rPr>
              <a:t>Plate Tectonics</a:t>
            </a:r>
            <a:endParaRPr lang="en-GB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600200"/>
            <a:ext cx="8856984" cy="45259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entury Gothic" panose="020B0502020202020204" pitchFamily="34" charset="0"/>
              </a:rPr>
              <a:t>By the end of the lesson you should be able to:</a:t>
            </a:r>
          </a:p>
          <a:p>
            <a:endParaRPr lang="en-GB" b="1" dirty="0">
              <a:latin typeface="Century Gothic" panose="020B0502020202020204" pitchFamily="34" charset="0"/>
            </a:endParaRPr>
          </a:p>
          <a:p>
            <a:pPr marL="457200" indent="-457200"/>
            <a:r>
              <a:rPr lang="en-GB" b="1" dirty="0" smtClean="0">
                <a:latin typeface="Century Gothic" panose="020B0502020202020204" pitchFamily="34" charset="0"/>
              </a:rPr>
              <a:t>Identify three major tectonic plates that make up part of the Earth’s crust.</a:t>
            </a:r>
            <a:endParaRPr lang="en-GB" b="1" dirty="0">
              <a:latin typeface="Century Gothic" panose="020B0502020202020204" pitchFamily="34" charset="0"/>
            </a:endParaRPr>
          </a:p>
          <a:p>
            <a:pPr marL="457200" indent="-457200"/>
            <a:endParaRPr lang="en-GB" b="1" dirty="0">
              <a:latin typeface="Century Gothic" panose="020B0502020202020204" pitchFamily="34" charset="0"/>
            </a:endParaRPr>
          </a:p>
          <a:p>
            <a:pPr marL="457200" indent="-457200"/>
            <a:r>
              <a:rPr lang="en-GB" b="1" dirty="0" smtClean="0">
                <a:latin typeface="Century Gothic" panose="020B0502020202020204" pitchFamily="34" charset="0"/>
              </a:rPr>
              <a:t>Describe the direction of plate movement at each type of </a:t>
            </a:r>
            <a:r>
              <a:rPr lang="en-GB" b="1" smtClean="0">
                <a:latin typeface="Century Gothic" panose="020B0502020202020204" pitchFamily="34" charset="0"/>
              </a:rPr>
              <a:t>plate boundary.</a:t>
            </a:r>
            <a:endParaRPr lang="en-GB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944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685055"/>
            <a:ext cx="90364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omic Sans MS" panose="030F0702030302020204" pitchFamily="66" charset="0"/>
              </a:rPr>
              <a:t>The Earth's surface is made </a:t>
            </a:r>
            <a:r>
              <a:rPr lang="en-GB" dirty="0" smtClean="0">
                <a:latin typeface="Comic Sans MS" panose="030F0702030302020204" pitchFamily="66" charset="0"/>
              </a:rPr>
              <a:t>up of </a:t>
            </a:r>
            <a:r>
              <a:rPr lang="en-GB" dirty="0">
                <a:latin typeface="Comic Sans MS" panose="030F0702030302020204" pitchFamily="66" charset="0"/>
              </a:rPr>
              <a:t>large plates (like pieces of </a:t>
            </a:r>
            <a:r>
              <a:rPr lang="en-GB" dirty="0" smtClean="0">
                <a:latin typeface="Comic Sans MS" panose="030F0702030302020204" pitchFamily="66" charset="0"/>
              </a:rPr>
              <a:t>a jigsaw). </a:t>
            </a:r>
            <a:endParaRPr lang="en-GB" dirty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omic Sans MS" panose="030F0702030302020204" pitchFamily="66" charset="0"/>
              </a:rPr>
              <a:t>These plates </a:t>
            </a:r>
            <a:r>
              <a:rPr lang="en-GB" dirty="0" smtClean="0">
                <a:latin typeface="Comic Sans MS" panose="030F0702030302020204" pitchFamily="66" charset="0"/>
              </a:rPr>
              <a:t>are constantly travelling </a:t>
            </a:r>
            <a:r>
              <a:rPr lang="en-GB" dirty="0">
                <a:latin typeface="Comic Sans MS" panose="030F0702030302020204" pitchFamily="66" charset="0"/>
              </a:rPr>
              <a:t>at a few centimetres per year. </a:t>
            </a:r>
            <a:endParaRPr lang="en-GB" dirty="0" smtClean="0">
              <a:latin typeface="Comic Sans MS" panose="030F0702030302020204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latin typeface="Comic Sans MS" panose="030F0702030302020204" pitchFamily="66" charset="0"/>
              </a:rPr>
              <a:t>The </a:t>
            </a:r>
            <a:r>
              <a:rPr lang="en-GB" dirty="0">
                <a:latin typeface="Comic Sans MS" panose="030F0702030302020204" pitchFamily="66" charset="0"/>
              </a:rPr>
              <a:t>ocean floors </a:t>
            </a:r>
            <a:r>
              <a:rPr lang="en-GB" dirty="0" smtClean="0">
                <a:latin typeface="Comic Sans MS" panose="030F0702030302020204" pitchFamily="66" charset="0"/>
              </a:rPr>
              <a:t>are spreading </a:t>
            </a:r>
            <a:r>
              <a:rPr lang="en-GB" dirty="0">
                <a:latin typeface="Comic Sans MS" panose="030F0702030302020204" pitchFamily="66" charset="0"/>
              </a:rPr>
              <a:t>from the centre and sinking at the </a:t>
            </a:r>
            <a:r>
              <a:rPr lang="en-GB" dirty="0" smtClean="0">
                <a:latin typeface="Comic Sans MS" panose="030F0702030302020204" pitchFamily="66" charset="0"/>
              </a:rPr>
              <a:t>edges.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latin typeface="Comic Sans MS" panose="030F0702030302020204" pitchFamily="66" charset="0"/>
              </a:rPr>
              <a:t>Convection currents beneath </a:t>
            </a:r>
            <a:r>
              <a:rPr lang="en-GB" dirty="0">
                <a:latin typeface="Comic Sans MS" panose="030F0702030302020204" pitchFamily="66" charset="0"/>
              </a:rPr>
              <a:t>the plates move the plates in different directions. </a:t>
            </a:r>
          </a:p>
        </p:txBody>
      </p:sp>
      <p:pic>
        <p:nvPicPr>
          <p:cNvPr id="4104" name="Picture 8" descr="http://dogfoose.com/wp-content/uploads/2011/03/4-Tectonic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-1"/>
            <a:ext cx="8568953" cy="5673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270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356114" y="1772816"/>
            <a:ext cx="3247196" cy="2814237"/>
            <a:chOff x="968182" y="2200034"/>
            <a:chExt cx="3247196" cy="2814237"/>
          </a:xfrm>
        </p:grpSpPr>
        <p:pic>
          <p:nvPicPr>
            <p:cNvPr id="7" name="Picture 2" descr="http://pubs.usgs.gov/gip/dynamic/graphics/Fig13.gif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565" r="43250" b="80925"/>
            <a:stretch/>
          </p:blipFill>
          <p:spPr bwMode="auto">
            <a:xfrm>
              <a:off x="968182" y="2200034"/>
              <a:ext cx="3247196" cy="2814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2991242" y="2636912"/>
              <a:ext cx="1224136" cy="304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Plate</a:t>
              </a:r>
              <a:endParaRPr lang="en-GB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968182" y="4005064"/>
              <a:ext cx="1224136" cy="304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Plate</a:t>
              </a:r>
              <a:endParaRPr lang="en-GB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067944" y="149882"/>
            <a:ext cx="4908271" cy="4575262"/>
            <a:chOff x="1371600" y="1447800"/>
            <a:chExt cx="6324600" cy="5313363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1447800"/>
              <a:ext cx="6324600" cy="531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ight Arrow 11"/>
            <p:cNvSpPr/>
            <p:nvPr/>
          </p:nvSpPr>
          <p:spPr>
            <a:xfrm rot="18427427">
              <a:off x="3775075" y="3500438"/>
              <a:ext cx="457200" cy="609600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3" name="Right Arrow 12"/>
            <p:cNvSpPr/>
            <p:nvPr/>
          </p:nvSpPr>
          <p:spPr>
            <a:xfrm rot="7749683">
              <a:off x="4876800" y="2122488"/>
              <a:ext cx="457200" cy="609600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81200" y="4353580"/>
              <a:ext cx="3188921" cy="523220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>
                <a:defRPr/>
              </a:pPr>
              <a:r>
                <a:rPr lang="en-US" sz="2800" b="1" dirty="0">
                  <a:ln w="11430"/>
                  <a:gradFill>
                    <a:gsLst>
                      <a:gs pos="0">
                        <a:schemeClr val="accent6">
                          <a:tint val="90000"/>
                          <a:satMod val="120000"/>
                        </a:schemeClr>
                      </a:gs>
                      <a:gs pos="25000">
                        <a:schemeClr val="accent6">
                          <a:tint val="93000"/>
                          <a:satMod val="120000"/>
                        </a:schemeClr>
                      </a:gs>
                      <a:gs pos="50000">
                        <a:schemeClr val="accent6">
                          <a:shade val="89000"/>
                          <a:satMod val="110000"/>
                        </a:schemeClr>
                      </a:gs>
                      <a:gs pos="75000">
                        <a:schemeClr val="accent6">
                          <a:tint val="93000"/>
                          <a:satMod val="120000"/>
                        </a:schemeClr>
                      </a:gs>
                      <a:gs pos="100000">
                        <a:schemeClr val="accent6">
                          <a:tint val="90000"/>
                          <a:satMod val="120000"/>
                        </a:schemeClr>
                      </a:gs>
                    </a:gsLst>
                    <a:lin ang="5400000"/>
                  </a:gradFill>
                  <a:effectLst>
                    <a:outerShdw blurRad="80000" dist="40000" dir="5040000" algn="tl">
                      <a:srgbClr val="000000">
                        <a:alpha val="30000"/>
                      </a:srgbClr>
                    </a:outerShdw>
                  </a:effectLst>
                </a:rPr>
                <a:t>Indian Plate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038600" y="1524000"/>
              <a:ext cx="3188921" cy="523220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>
                <a:defRPr/>
              </a:pPr>
              <a:r>
                <a:rPr lang="en-US" sz="2800" b="1" dirty="0">
                  <a:ln w="11430"/>
                  <a:gradFill>
                    <a:gsLst>
                      <a:gs pos="0">
                        <a:schemeClr val="accent6">
                          <a:tint val="90000"/>
                          <a:satMod val="120000"/>
                        </a:schemeClr>
                      </a:gs>
                      <a:gs pos="25000">
                        <a:schemeClr val="accent6">
                          <a:tint val="93000"/>
                          <a:satMod val="120000"/>
                        </a:schemeClr>
                      </a:gs>
                      <a:gs pos="50000">
                        <a:schemeClr val="accent6">
                          <a:shade val="89000"/>
                          <a:satMod val="110000"/>
                        </a:schemeClr>
                      </a:gs>
                      <a:gs pos="75000">
                        <a:schemeClr val="accent6">
                          <a:tint val="93000"/>
                          <a:satMod val="120000"/>
                        </a:schemeClr>
                      </a:gs>
                      <a:gs pos="100000">
                        <a:schemeClr val="accent6">
                          <a:tint val="90000"/>
                          <a:satMod val="120000"/>
                        </a:schemeClr>
                      </a:gs>
                    </a:gsLst>
                    <a:lin ang="5400000"/>
                  </a:gradFill>
                  <a:effectLst>
                    <a:outerShdw blurRad="80000" dist="40000" dir="5040000" algn="tl">
                      <a:srgbClr val="000000">
                        <a:alpha val="30000"/>
                      </a:srgbClr>
                    </a:outerShdw>
                  </a:effectLst>
                </a:rPr>
                <a:t>Eurasian Plate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123728" y="472514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9" name="Rectangle 18"/>
          <p:cNvSpPr/>
          <p:nvPr/>
        </p:nvSpPr>
        <p:spPr>
          <a:xfrm>
            <a:off x="1403648" y="4293096"/>
            <a:ext cx="1728192" cy="29395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Mantle</a:t>
            </a:r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611560" y="440765"/>
            <a:ext cx="30963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latin typeface="Comic Sans MS" panose="030F0702030302020204" pitchFamily="66" charset="0"/>
              </a:rPr>
              <a:t>Destructive Plate Boundary</a:t>
            </a:r>
            <a:endParaRPr lang="en-GB" sz="2800" b="1" dirty="0">
              <a:latin typeface="Comic Sans MS" panose="030F0702030302020204" pitchFamily="66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4938" y="5047245"/>
            <a:ext cx="84455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Comic Sans MS" panose="030F0702030302020204" pitchFamily="66" charset="0"/>
              </a:rPr>
              <a:t>A destructive plate boundary is where two plates push against each other causing violent earthquakes, volcanoes and mountain ranges to be formed.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682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955" y="260648"/>
            <a:ext cx="4582851" cy="1143000"/>
          </a:xfrm>
        </p:spPr>
        <p:txBody>
          <a:bodyPr>
            <a:noAutofit/>
          </a:bodyPr>
          <a:lstStyle/>
          <a:p>
            <a:pPr algn="r"/>
            <a:r>
              <a:rPr lang="en-GB" sz="3600" b="1" dirty="0" smtClean="0">
                <a:latin typeface="Comic Sans MS" panose="030F0702030302020204" pitchFamily="66" charset="0"/>
              </a:rPr>
              <a:t>Constructive Plate Boundary </a:t>
            </a:r>
            <a:endParaRPr lang="en-GB" sz="3600" b="1" dirty="0">
              <a:latin typeface="Comic Sans MS" panose="030F0702030302020204" pitchFamily="66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r="13895"/>
          <a:stretch/>
        </p:blipFill>
        <p:spPr bwMode="auto">
          <a:xfrm>
            <a:off x="3750454" y="2714286"/>
            <a:ext cx="5410190" cy="400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Group 26"/>
          <p:cNvGrpSpPr/>
          <p:nvPr/>
        </p:nvGrpSpPr>
        <p:grpSpPr>
          <a:xfrm>
            <a:off x="3131840" y="3573016"/>
            <a:ext cx="4680520" cy="2266544"/>
            <a:chOff x="533400" y="2590800"/>
            <a:chExt cx="6144434" cy="2838510"/>
          </a:xfrm>
        </p:grpSpPr>
        <p:sp>
          <p:nvSpPr>
            <p:cNvPr id="28" name="Right Arrow 27"/>
            <p:cNvSpPr/>
            <p:nvPr/>
          </p:nvSpPr>
          <p:spPr>
            <a:xfrm rot="19886083">
              <a:off x="4460875" y="3043238"/>
              <a:ext cx="457200" cy="609600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29" name="Right Arrow 28"/>
            <p:cNvSpPr/>
            <p:nvPr/>
          </p:nvSpPr>
          <p:spPr>
            <a:xfrm rot="8604164">
              <a:off x="2574925" y="3886200"/>
              <a:ext cx="457200" cy="609600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667000" y="2590800"/>
              <a:ext cx="4010834" cy="400110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flat" dir="t">
                  <a:rot lat="0" lon="0" rev="18900000"/>
                </a:lightRig>
              </a:scene3d>
              <a:sp3d extrusionH="31750" contourW="6350" prstMaterial="powder">
                <a:bevelT w="19050" h="19050" prst="angle"/>
                <a:contourClr>
                  <a:schemeClr val="accent3">
                    <a:tint val="100000"/>
                    <a:shade val="100000"/>
                    <a:satMod val="100000"/>
                    <a:hueMod val="100000"/>
                  </a:schemeClr>
                </a:contourClr>
              </a:sp3d>
            </a:bodyPr>
            <a:lstStyle/>
            <a:p>
              <a:pPr algn="ctr">
                <a:defRPr/>
              </a:pPr>
              <a:r>
                <a:rPr lang="en-US" sz="2000" b="1" dirty="0">
                  <a:ln/>
                  <a:solidFill>
                    <a:schemeClr val="accent3"/>
                  </a:solidFill>
                  <a:latin typeface="Arial" pitchFamily="34" charset="0"/>
                </a:rPr>
                <a:t>Arabian Plate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33400" y="5029200"/>
              <a:ext cx="4010834" cy="400110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flat" dir="t">
                  <a:rot lat="0" lon="0" rev="18900000"/>
                </a:lightRig>
              </a:scene3d>
              <a:sp3d extrusionH="31750" contourW="6350" prstMaterial="powder">
                <a:bevelT w="19050" h="19050" prst="angle"/>
                <a:contourClr>
                  <a:schemeClr val="accent3">
                    <a:tint val="100000"/>
                    <a:shade val="100000"/>
                    <a:satMod val="100000"/>
                    <a:hueMod val="100000"/>
                  </a:schemeClr>
                </a:contourClr>
              </a:sp3d>
            </a:bodyPr>
            <a:lstStyle/>
            <a:p>
              <a:pPr algn="ctr">
                <a:defRPr/>
              </a:pPr>
              <a:r>
                <a:rPr lang="en-US" sz="2000" b="1" dirty="0">
                  <a:ln/>
                  <a:solidFill>
                    <a:schemeClr val="accent3"/>
                  </a:solidFill>
                  <a:latin typeface="Arial" pitchFamily="34" charset="0"/>
                </a:rPr>
                <a:t>African Plate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617263" y="4648200"/>
              <a:ext cx="118333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rial" pitchFamily="34" charset="0"/>
                </a:rPr>
                <a:t>Red Sea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13837" y="116632"/>
            <a:ext cx="4680520" cy="2049016"/>
            <a:chOff x="98061" y="1640056"/>
            <a:chExt cx="4680520" cy="2049016"/>
          </a:xfrm>
        </p:grpSpPr>
        <p:pic>
          <p:nvPicPr>
            <p:cNvPr id="36" name="Picture 35" descr="http://pubs.usgs.gov/gip/dynamic/graphics/Fig13.gif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56" r="55292" b="80925"/>
            <a:stretch/>
          </p:blipFill>
          <p:spPr bwMode="auto">
            <a:xfrm>
              <a:off x="530109" y="1640056"/>
              <a:ext cx="3754986" cy="2049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Rectangle 36"/>
            <p:cNvSpPr/>
            <p:nvPr/>
          </p:nvSpPr>
          <p:spPr>
            <a:xfrm>
              <a:off x="98061" y="2864192"/>
              <a:ext cx="1224136" cy="304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Plate</a:t>
              </a:r>
              <a:endParaRPr lang="en-GB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554445" y="2432144"/>
              <a:ext cx="1224136" cy="3044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Plate</a:t>
              </a:r>
              <a:endParaRPr lang="en-GB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114285" y="3152224"/>
              <a:ext cx="1800200" cy="36004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Mantle</a:t>
              </a:r>
              <a:endParaRPr lang="en-GB" dirty="0"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13836" y="2770470"/>
            <a:ext cx="363661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Comic Sans MS" panose="030F0702030302020204" pitchFamily="66" charset="0"/>
              </a:rPr>
              <a:t>Two plates move away from each other</a:t>
            </a:r>
            <a:r>
              <a:rPr lang="en-GB" sz="2000" dirty="0" smtClean="0">
                <a:latin typeface="Comic Sans MS" panose="030F0702030302020204" pitchFamily="66" charset="0"/>
              </a:rPr>
              <a:t>.</a:t>
            </a:r>
          </a:p>
          <a:p>
            <a:endParaRPr lang="en-GB" sz="2000" dirty="0">
              <a:latin typeface="Comic Sans MS" panose="030F0702030302020204" pitchFamily="66" charset="0"/>
            </a:endParaRPr>
          </a:p>
          <a:p>
            <a:r>
              <a:rPr lang="en-GB" sz="2000" dirty="0">
                <a:latin typeface="Comic Sans MS" panose="030F0702030302020204" pitchFamily="66" charset="0"/>
              </a:rPr>
              <a:t>Molten rock (magma) rises from the mantle to fill the gap between the two plates.</a:t>
            </a:r>
          </a:p>
          <a:p>
            <a:endParaRPr lang="en-GB" sz="2000" dirty="0">
              <a:latin typeface="Comic Sans MS" panose="030F0702030302020204" pitchFamily="66" charset="0"/>
            </a:endParaRPr>
          </a:p>
          <a:p>
            <a:r>
              <a:rPr lang="en-GB" sz="2000" dirty="0">
                <a:latin typeface="Comic Sans MS" panose="030F0702030302020204" pitchFamily="66" charset="0"/>
              </a:rPr>
              <a:t>C</a:t>
            </a:r>
            <a:r>
              <a:rPr lang="en-GB" sz="2000" dirty="0" smtClean="0">
                <a:latin typeface="Comic Sans MS" panose="030F0702030302020204" pitchFamily="66" charset="0"/>
              </a:rPr>
              <a:t>auses volcanoes </a:t>
            </a:r>
            <a:r>
              <a:rPr lang="en-GB" sz="2000" dirty="0">
                <a:latin typeface="Comic Sans MS" panose="030F0702030302020204" pitchFamily="66" charset="0"/>
              </a:rPr>
              <a:t>and </a:t>
            </a:r>
            <a:r>
              <a:rPr lang="en-GB" sz="2000" dirty="0" smtClean="0">
                <a:latin typeface="Comic Sans MS" panose="030F0702030302020204" pitchFamily="66" charset="0"/>
              </a:rPr>
              <a:t>earthquakes but also forms mid-ocean </a:t>
            </a:r>
            <a:r>
              <a:rPr lang="en-GB" sz="2000" dirty="0">
                <a:latin typeface="Comic Sans MS" panose="030F0702030302020204" pitchFamily="66" charset="0"/>
              </a:rPr>
              <a:t>ridges </a:t>
            </a:r>
            <a:r>
              <a:rPr lang="en-GB" sz="2000" dirty="0" smtClean="0">
                <a:latin typeface="Comic Sans MS" panose="030F0702030302020204" pitchFamily="66" charset="0"/>
              </a:rPr>
              <a:t>that develop into islands.</a:t>
            </a:r>
            <a:endParaRPr lang="en-GB" sz="2000" dirty="0">
              <a:latin typeface="Comic Sans MS" panose="030F0702030302020204" pitchFamily="66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6749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339" y="5517232"/>
            <a:ext cx="429173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GB" sz="3600" b="1" dirty="0" smtClean="0">
                <a:latin typeface="Comic Sans MS" panose="030F0702030302020204" pitchFamily="66" charset="0"/>
              </a:rPr>
              <a:t>Conservative Plate Boundary</a:t>
            </a:r>
            <a:endParaRPr lang="en-GB" sz="3600" b="1" dirty="0">
              <a:latin typeface="Comic Sans MS" panose="030F0702030302020204" pitchFamily="66" charset="0"/>
            </a:endParaRPr>
          </a:p>
        </p:txBody>
      </p:sp>
      <p:pic>
        <p:nvPicPr>
          <p:cNvPr id="7" name="Picture 2" descr="http://pubs.usgs.gov/gip/dynamic/graphics/Fig13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4" r="76363" b="80925"/>
          <a:stretch/>
        </p:blipFill>
        <p:spPr bwMode="auto">
          <a:xfrm>
            <a:off x="5172249" y="4044280"/>
            <a:ext cx="3742964" cy="2553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7740352" y="4365104"/>
            <a:ext cx="1224136" cy="304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Plates</a:t>
            </a:r>
            <a:endParaRPr lang="en-GB" dirty="0"/>
          </a:p>
        </p:txBody>
      </p:sp>
      <p:cxnSp>
        <p:nvCxnSpPr>
          <p:cNvPr id="10" name="Straight Arrow Connector 9"/>
          <p:cNvCxnSpPr>
            <a:stCxn id="8" idx="1"/>
          </p:cNvCxnSpPr>
          <p:nvPr/>
        </p:nvCxnSpPr>
        <p:spPr>
          <a:xfrm flipH="1">
            <a:off x="7338129" y="4517318"/>
            <a:ext cx="402223" cy="2798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8352420" y="4669532"/>
            <a:ext cx="353861" cy="6512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834072" y="6165304"/>
            <a:ext cx="1695277" cy="33833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Mantle</a:t>
            </a:r>
            <a:endParaRPr lang="en-GB" dirty="0"/>
          </a:p>
        </p:txBody>
      </p:sp>
      <p:pic>
        <p:nvPicPr>
          <p:cNvPr id="1026" name="Picture 2" descr="http://geology.com/articles/images/san-andreas-fault-map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2400"/>
            <a:ext cx="5047672" cy="5320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351543" y="242503"/>
            <a:ext cx="33843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latin typeface="Comic Sans MS" panose="030F0702030302020204" pitchFamily="66" charset="0"/>
              </a:rPr>
              <a:t>Causes earthquakes</a:t>
            </a:r>
            <a:r>
              <a:rPr lang="en-GB" dirty="0">
                <a:latin typeface="Comic Sans MS" panose="030F0702030302020204" pitchFamily="66" charset="0"/>
              </a:rPr>
              <a:t>, which can be fairly violent and frequent</a:t>
            </a:r>
            <a:r>
              <a:rPr lang="en-GB" dirty="0" smtClean="0">
                <a:latin typeface="Comic Sans MS" panose="030F0702030302020204" pitchFamily="66" charset="0"/>
              </a:rPr>
              <a:t>.</a:t>
            </a:r>
          </a:p>
          <a:p>
            <a:endParaRPr lang="en-GB" dirty="0">
              <a:latin typeface="Comic Sans MS" panose="030F0702030302020204" pitchFamily="66" charset="0"/>
            </a:endParaRPr>
          </a:p>
          <a:p>
            <a:r>
              <a:rPr lang="en-GB" dirty="0">
                <a:latin typeface="Comic Sans MS" panose="030F0702030302020204" pitchFamily="66" charset="0"/>
              </a:rPr>
              <a:t>Two plates slide past each other, without creating or destroying any land</a:t>
            </a:r>
            <a:r>
              <a:rPr lang="en-GB" dirty="0" smtClean="0">
                <a:latin typeface="Comic Sans MS" panose="030F0702030302020204" pitchFamily="66" charset="0"/>
              </a:rPr>
              <a:t>.</a:t>
            </a:r>
          </a:p>
          <a:p>
            <a:endParaRPr lang="en-GB" dirty="0">
              <a:latin typeface="Comic Sans MS" panose="030F0702030302020204" pitchFamily="66" charset="0"/>
            </a:endParaRPr>
          </a:p>
          <a:p>
            <a:r>
              <a:rPr lang="en-GB" dirty="0">
                <a:latin typeface="Comic Sans MS" panose="030F0702030302020204" pitchFamily="66" charset="0"/>
              </a:rPr>
              <a:t>As they move past each other they often </a:t>
            </a:r>
            <a:r>
              <a:rPr lang="en-GB" dirty="0" smtClean="0">
                <a:latin typeface="Comic Sans MS" panose="030F0702030302020204" pitchFamily="66" charset="0"/>
              </a:rPr>
              <a:t> get </a:t>
            </a:r>
            <a:r>
              <a:rPr lang="en-GB" dirty="0">
                <a:latin typeface="Comic Sans MS" panose="030F0702030302020204" pitchFamily="66" charset="0"/>
              </a:rPr>
              <a:t>stuck, building up great pressure until finally they jolt past each other. This sudden movement is what causes earthquakes.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157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 smtClean="0">
                <a:latin typeface="Century Gothic" panose="020B0502020202020204" pitchFamily="34" charset="0"/>
              </a:rPr>
              <a:t>Show what you have learned</a:t>
            </a:r>
            <a:endParaRPr lang="en-GB" sz="2800" b="1" dirty="0"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1412776"/>
            <a:ext cx="828092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400" dirty="0" smtClean="0">
                <a:latin typeface="Century Gothic" panose="020B0502020202020204" pitchFamily="34" charset="0"/>
              </a:rPr>
              <a:t>Using a blank map of the world identify the major plates that make up the Earth’s surface.</a:t>
            </a:r>
          </a:p>
          <a:p>
            <a:pPr marL="342900" indent="-342900">
              <a:buAutoNum type="arabicPeriod"/>
            </a:pPr>
            <a:endParaRPr lang="en-GB" sz="2400" dirty="0" smtClean="0">
              <a:latin typeface="Century Gothic" panose="020B0502020202020204" pitchFamily="34" charset="0"/>
            </a:endParaRPr>
          </a:p>
          <a:p>
            <a:pPr marL="342900" indent="-342900">
              <a:buAutoNum type="arabicPeriod"/>
            </a:pPr>
            <a:r>
              <a:rPr lang="en-GB" sz="2400" dirty="0" smtClean="0">
                <a:latin typeface="Century Gothic" panose="020B0502020202020204" pitchFamily="34" charset="0"/>
              </a:rPr>
              <a:t>Draw and label the 3 types of plate boundaries. </a:t>
            </a:r>
          </a:p>
          <a:p>
            <a:pPr marL="342900" indent="-342900">
              <a:buAutoNum type="arabicPeriod"/>
            </a:pPr>
            <a:endParaRPr lang="en-GB" sz="2400" dirty="0" smtClean="0">
              <a:latin typeface="Century Gothic" panose="020B0502020202020204" pitchFamily="34" charset="0"/>
            </a:endParaRPr>
          </a:p>
          <a:p>
            <a:pPr marL="342900" indent="-342900">
              <a:buAutoNum type="arabicPeriod"/>
            </a:pPr>
            <a:r>
              <a:rPr lang="en-GB" sz="2400" dirty="0">
                <a:latin typeface="Century Gothic" panose="020B0502020202020204" pitchFamily="34" charset="0"/>
              </a:rPr>
              <a:t>S</a:t>
            </a:r>
            <a:r>
              <a:rPr lang="en-GB" sz="2400" dirty="0" smtClean="0">
                <a:latin typeface="Century Gothic" panose="020B0502020202020204" pitchFamily="34" charset="0"/>
              </a:rPr>
              <a:t>how the direction of movement  at each type of plate boundary.</a:t>
            </a:r>
          </a:p>
          <a:p>
            <a:pPr marL="342900" indent="-342900">
              <a:buAutoNum type="arabicPeriod"/>
            </a:pPr>
            <a:endParaRPr lang="en-GB" sz="2400" dirty="0" smtClean="0">
              <a:latin typeface="Century Gothic" panose="020B0502020202020204" pitchFamily="34" charset="0"/>
            </a:endParaRPr>
          </a:p>
          <a:p>
            <a:pPr marL="342900" indent="-342900">
              <a:buAutoNum type="arabicPeriod"/>
            </a:pPr>
            <a:r>
              <a:rPr lang="en-GB" sz="2400" dirty="0" smtClean="0">
                <a:latin typeface="Century Gothic" panose="020B0502020202020204" pitchFamily="34" charset="0"/>
              </a:rPr>
              <a:t>Describe the types of land formation and natural disasters that can occur at each </a:t>
            </a:r>
            <a:r>
              <a:rPr lang="en-GB" sz="2400" smtClean="0">
                <a:latin typeface="Century Gothic" panose="020B0502020202020204" pitchFamily="34" charset="0"/>
              </a:rPr>
              <a:t>plate boundary.</a:t>
            </a:r>
            <a:endParaRPr lang="en-GB" sz="2400" dirty="0" smtClean="0">
              <a:latin typeface="Century Gothic" panose="020B0502020202020204" pitchFamily="34" charset="0"/>
            </a:endParaRPr>
          </a:p>
          <a:p>
            <a:endParaRPr lang="en-GB" sz="2000" dirty="0" smtClean="0">
              <a:latin typeface="Comic Sans MS" panose="030F0702030302020204" pitchFamily="66" charset="0"/>
            </a:endParaRPr>
          </a:p>
          <a:p>
            <a:pPr marL="342900" indent="-342900"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308</Words>
  <Application>Microsoft Office PowerPoint</Application>
  <PresentationFormat>On-screen Show (4:3)</PresentationFormat>
  <Paragraphs>46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2. Plate Tectonics</vt:lpstr>
      <vt:lpstr>Plate Tectonics</vt:lpstr>
      <vt:lpstr>PowerPoint Presentation</vt:lpstr>
      <vt:lpstr>PowerPoint Presentation</vt:lpstr>
      <vt:lpstr>Constructive Plate Boundary </vt:lpstr>
      <vt:lpstr>Conservative Plate Boundary</vt:lpstr>
      <vt:lpstr>Show what you have learned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Plate Tectonics</dc:title>
  <dc:creator>EOTAS User</dc:creator>
  <cp:lastModifiedBy>EOTAS User</cp:lastModifiedBy>
  <cp:revision>2</cp:revision>
  <dcterms:created xsi:type="dcterms:W3CDTF">2014-01-16T09:04:47Z</dcterms:created>
  <dcterms:modified xsi:type="dcterms:W3CDTF">2014-03-10T14:33:45Z</dcterms:modified>
</cp:coreProperties>
</file>
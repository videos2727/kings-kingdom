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70" r:id="rId7"/>
    <p:sldId id="267" r:id="rId8"/>
    <p:sldId id="262" r:id="rId9"/>
    <p:sldId id="266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79" d="100"/>
          <a:sy n="79" d="100"/>
        </p:scale>
        <p:origin x="-90" y="-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674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033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339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52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82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359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12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32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34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06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72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CFB0E-AD26-4E49-A3C2-26D579C5DC61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F5378-71C8-485B-84EA-3B86F6504A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3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hyperlink" Target="http://4.bp.blogspot.com/-beSPuvbVF2E/ToT-O-j5D1I/AAAAAAAARrE/mBTtkR6ts34/s1600/September+11+079.jp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orlandschool.co.uk/earth/convecti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docid=c6pg8KOHBM61EM&amp;tbnid=qz2tBU7ysGL5qM:&amp;ved=0CAUQjRw&amp;url=http://geology.com/articles/san-andreas-fault.shtml&amp;ei=dqzVUvabG8qp0QW9loCgDQ&amp;psig=AFQjCNHmx9jlKGDERerDPnaqEcD9qYDUOQ&amp;ust=1389821269693094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Tectonic Plates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30215"/>
            <a:ext cx="10515600" cy="4746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What </a:t>
            </a:r>
            <a:r>
              <a:rPr lang="en-AU" b="1" dirty="0"/>
              <a:t>are they?</a:t>
            </a:r>
          </a:p>
          <a:p>
            <a:r>
              <a:rPr lang="en-AU" dirty="0"/>
              <a:t>Plate tectonics refers to the </a:t>
            </a:r>
            <a:r>
              <a:rPr lang="en-AU" b="1" dirty="0"/>
              <a:t>movements of Earth’s plates.</a:t>
            </a:r>
            <a:r>
              <a:rPr lang="en-AU" dirty="0"/>
              <a:t> As plate tectonics operate over time, the </a:t>
            </a:r>
            <a:r>
              <a:rPr lang="en-AU" b="1" dirty="0"/>
              <a:t>size</a:t>
            </a:r>
            <a:r>
              <a:rPr lang="en-AU" dirty="0"/>
              <a:t>, </a:t>
            </a:r>
            <a:r>
              <a:rPr lang="en-AU" b="1" dirty="0"/>
              <a:t>shape</a:t>
            </a:r>
            <a:r>
              <a:rPr lang="en-AU" dirty="0"/>
              <a:t> and </a:t>
            </a:r>
            <a:r>
              <a:rPr lang="en-AU" b="1" dirty="0"/>
              <a:t>location</a:t>
            </a:r>
            <a:r>
              <a:rPr lang="en-AU" dirty="0"/>
              <a:t> of the world’s continents and oceans slowly change. This movement has a major impact on the evolution of </a:t>
            </a:r>
            <a:r>
              <a:rPr lang="en-AU" b="1" dirty="0"/>
              <a:t>landforms</a:t>
            </a:r>
            <a:r>
              <a:rPr lang="en-AU" dirty="0"/>
              <a:t> on the Earth’s land surfaces and ocean floors.</a:t>
            </a:r>
          </a:p>
          <a:p>
            <a:pPr marL="0" indent="0">
              <a:buNone/>
            </a:pPr>
            <a:r>
              <a:rPr lang="en-AU" b="1" dirty="0"/>
              <a:t>Why are they important?</a:t>
            </a:r>
          </a:p>
          <a:p>
            <a:r>
              <a:rPr lang="en-AU" dirty="0"/>
              <a:t>Landforms are </a:t>
            </a:r>
            <a:r>
              <a:rPr lang="en-AU" b="1" dirty="0"/>
              <a:t>created </a:t>
            </a:r>
            <a:r>
              <a:rPr lang="en-AU" dirty="0"/>
              <a:t>and </a:t>
            </a:r>
            <a:r>
              <a:rPr lang="en-AU" b="1" dirty="0"/>
              <a:t>destroyed </a:t>
            </a:r>
            <a:r>
              <a:rPr lang="en-AU" dirty="0"/>
              <a:t>at the edges of the plates. There is a strong relationship between tectonic plates and the occurrence of </a:t>
            </a:r>
            <a:r>
              <a:rPr lang="en-AU" b="1" dirty="0"/>
              <a:t>volcanoes</a:t>
            </a:r>
            <a:r>
              <a:rPr lang="en-AU" dirty="0"/>
              <a:t> and </a:t>
            </a:r>
            <a:r>
              <a:rPr lang="en-AU" b="1" dirty="0"/>
              <a:t>earthquakes</a:t>
            </a:r>
            <a:r>
              <a:rPr lang="en-AU" dirty="0"/>
              <a:t>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53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79307" y="-1689011"/>
            <a:ext cx="5913534" cy="10195748"/>
          </a:xfrm>
        </p:spPr>
      </p:pic>
    </p:spTree>
    <p:extLst>
      <p:ext uri="{BB962C8B-B14F-4D97-AF65-F5344CB8AC3E}">
        <p14:creationId xmlns:p14="http://schemas.microsoft.com/office/powerpoint/2010/main" val="294960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7648" y="338753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Century Gothic" panose="020B0502020202020204" pitchFamily="34" charset="0"/>
              </a:rPr>
              <a:t>The Earth’s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84032" y="2064296"/>
            <a:ext cx="40324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Can you think what this image has  to do with the Earth’s structure</a:t>
            </a:r>
            <a:r>
              <a:rPr lang="en-GB" sz="3600" b="1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4" name="AutoShape 2" descr="http://www.google.co.uk/url?sa=i&amp;source=images&amp;cd=&amp;docid=EZQqwfd0TX6AXM&amp;tbnid=roAxkuk0L5RYsM:&amp;ved=0CAUQjBw&amp;url=http%3A%2F%2Fupload.wikimedia.org%2Fwikipedia%2Fcommons%2F1%2F1e%2FEgg_spiral_egg_cup.jpg&amp;ei=m13MUsW-CLGu7AbTiYGoCQ&amp;psig=AFQjCNHpADg6joiLD3AwpIJL1WVH1eBozw&amp;ust=1389211419260705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100" name="Picture 4" descr="http://www.scamps.com.au/fps/images/128_boiled%20eg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8" y="1783854"/>
            <a:ext cx="4054326" cy="445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1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559" y="188640"/>
            <a:ext cx="8229600" cy="792088"/>
          </a:xfrm>
        </p:spPr>
        <p:txBody>
          <a:bodyPr/>
          <a:lstStyle/>
          <a:p>
            <a:r>
              <a:rPr lang="en-GB" b="1" dirty="0" smtClean="0">
                <a:latin typeface="Century Gothic" panose="020B0502020202020204" pitchFamily="34" charset="0"/>
              </a:rPr>
              <a:t>Get Involved</a:t>
            </a: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4556" y="1556793"/>
            <a:ext cx="3933609" cy="728543"/>
          </a:xfrm>
        </p:spPr>
        <p:txBody>
          <a:bodyPr>
            <a:noAutofit/>
          </a:bodyPr>
          <a:lstStyle/>
          <a:p>
            <a:r>
              <a:rPr lang="en-GB" sz="2000" b="0" dirty="0">
                <a:latin typeface="Century Gothic" panose="020B0502020202020204" pitchFamily="34" charset="0"/>
              </a:rPr>
              <a:t>1. Take a hard boiled Egg and tap it gently with a spoon. 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5177" y="1196752"/>
            <a:ext cx="4041775" cy="639762"/>
          </a:xfrm>
        </p:spPr>
        <p:txBody>
          <a:bodyPr>
            <a:noAutofit/>
          </a:bodyPr>
          <a:lstStyle/>
          <a:p>
            <a:r>
              <a:rPr lang="en-GB" sz="2000" b="0" dirty="0">
                <a:latin typeface="Century Gothic" panose="020B0502020202020204" pitchFamily="34" charset="0"/>
              </a:rPr>
              <a:t>2. Carefully peel the cracked shell from the egg.</a:t>
            </a:r>
          </a:p>
        </p:txBody>
      </p:sp>
      <p:pic>
        <p:nvPicPr>
          <p:cNvPr id="5124" name="Picture 4" descr="http://thymebombe.com/wp-content/uploads/2011/07/crack-with-spoo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5" r="5833"/>
          <a:stretch/>
        </p:blipFill>
        <p:spPr bwMode="auto">
          <a:xfrm>
            <a:off x="2207569" y="2564904"/>
            <a:ext cx="3087585" cy="286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063553" y="5877272"/>
            <a:ext cx="3645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Q: What does the surface of the egg look like?</a:t>
            </a:r>
          </a:p>
        </p:txBody>
      </p:sp>
      <p:pic>
        <p:nvPicPr>
          <p:cNvPr id="5126" name="Picture 6" descr="http://4.bp.blogspot.com/_5ChPkmvumRg/TD1mXSPPr6I/AAAAAAAABN8/HdiZxezRnY8/s320/Simple+Pleasures+2+-+Hard+Boiled+Eg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9" y="1916832"/>
            <a:ext cx="211223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207323" y="3627483"/>
            <a:ext cx="4186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3. Cut egg in two.</a:t>
            </a:r>
          </a:p>
        </p:txBody>
      </p:sp>
      <p:pic>
        <p:nvPicPr>
          <p:cNvPr id="5128" name="Picture 8" descr="http://4.bp.blogspot.com/-beSPuvbVF2E/ToT-O-j5D1I/AAAAAAAARrE/mBTtkR6ts34/s320/September+11+079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319" y="4042770"/>
            <a:ext cx="2337927" cy="154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384033" y="5877272"/>
            <a:ext cx="3625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Q: What does the inside of the egg look like?</a:t>
            </a:r>
          </a:p>
        </p:txBody>
      </p:sp>
    </p:spTree>
    <p:extLst>
      <p:ext uri="{BB962C8B-B14F-4D97-AF65-F5344CB8AC3E}">
        <p14:creationId xmlns:p14="http://schemas.microsoft.com/office/powerpoint/2010/main" val="308490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3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Century Gothic" panose="020B0502020202020204" pitchFamily="34" charset="0"/>
              </a:rPr>
              <a:t>Understanding the Earth’s layers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2423592" y="1455168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The Earth is made up of many layers like the egg </a:t>
            </a:r>
          </a:p>
        </p:txBody>
      </p:sp>
      <p:pic>
        <p:nvPicPr>
          <p:cNvPr id="6146" name="Picture 2" descr="http://www.healthdiaries.com/eatthis/hardboiled-egg-sm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5" t="36030" r="45386"/>
          <a:stretch/>
        </p:blipFill>
        <p:spPr bwMode="auto">
          <a:xfrm>
            <a:off x="7392144" y="2100249"/>
            <a:ext cx="2736304" cy="26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bbc.co.uk/schools/gcsebitesize/geography/images/tec_001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9" t="149" b="8862"/>
          <a:stretch/>
        </p:blipFill>
        <p:spPr bwMode="auto">
          <a:xfrm>
            <a:off x="1524000" y="3795586"/>
            <a:ext cx="4840034" cy="301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V="1">
            <a:off x="6096000" y="3212976"/>
            <a:ext cx="144016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096000" y="3356993"/>
            <a:ext cx="1728192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096000" y="3212977"/>
            <a:ext cx="2232248" cy="1656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096000" y="3212977"/>
            <a:ext cx="2808312" cy="19442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6" descr="http://www.publicdomainpictures.net/pictures/10000/nahled/1-1235818743lmjh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296" y="5147300"/>
            <a:ext cx="1598988" cy="135402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6681204" y="5839701"/>
            <a:ext cx="150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entury Gothic" panose="020B0502020202020204" pitchFamily="34" charset="0"/>
              </a:rPr>
              <a:t>Tectonic plates</a:t>
            </a:r>
          </a:p>
        </p:txBody>
      </p:sp>
      <p:cxnSp>
        <p:nvCxnSpPr>
          <p:cNvPr id="6144" name="Straight Arrow Connector 6143"/>
          <p:cNvCxnSpPr/>
          <p:nvPr/>
        </p:nvCxnSpPr>
        <p:spPr>
          <a:xfrm flipV="1">
            <a:off x="8184232" y="5824313"/>
            <a:ext cx="667944" cy="169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65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278" y="224447"/>
            <a:ext cx="7507813" cy="6532221"/>
          </a:xfrm>
        </p:spPr>
      </p:pic>
      <p:sp>
        <p:nvSpPr>
          <p:cNvPr id="8" name="TextBox 7"/>
          <p:cNvSpPr txBox="1"/>
          <p:nvPr/>
        </p:nvSpPr>
        <p:spPr>
          <a:xfrm>
            <a:off x="1289538" y="1195754"/>
            <a:ext cx="221566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 smtClean="0"/>
              <a:t>Crust</a:t>
            </a:r>
          </a:p>
          <a:p>
            <a:r>
              <a:rPr lang="en-AU" dirty="0" smtClean="0"/>
              <a:t>5- 35 km thick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1817077" y="2396083"/>
            <a:ext cx="221566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 smtClean="0"/>
              <a:t>Mantle</a:t>
            </a:r>
          </a:p>
          <a:p>
            <a:r>
              <a:rPr lang="en-AU" dirty="0" smtClean="0"/>
              <a:t>2,900 km thick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731477" y="4654062"/>
            <a:ext cx="221566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 smtClean="0"/>
              <a:t>Core</a:t>
            </a:r>
          </a:p>
          <a:p>
            <a:r>
              <a:rPr lang="en-AU" dirty="0" smtClean="0"/>
              <a:t>3,380 km thick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7720573" y="2685358"/>
            <a:ext cx="221566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 smtClean="0"/>
              <a:t>Deep Mantle</a:t>
            </a:r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094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www.mapsharing.org/MS-maps/map-pages-worldmap/images-continental/1-continental-pangea-drif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0"/>
            <a:ext cx="5486400" cy="683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84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http://dogfoose.com/wp-content/uploads/2011/03/4-Tectonic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921" y="0"/>
            <a:ext cx="9933703" cy="657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3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Tectonic plates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The Earth's surface is made up of a series of large plates (like pieces of a giant jigsaw puzzle).</a:t>
            </a:r>
          </a:p>
          <a:p>
            <a:pPr>
              <a:buFontTx/>
              <a:buNone/>
            </a:pPr>
            <a:r>
              <a:rPr lang="en-US" altLang="en-US" sz="2400"/>
              <a:t> </a:t>
            </a:r>
          </a:p>
          <a:p>
            <a:r>
              <a:rPr lang="en-US" altLang="en-US" sz="2400"/>
              <a:t>These plates are in constant motion travelling at a few centimetres per year. </a:t>
            </a:r>
          </a:p>
          <a:p>
            <a:endParaRPr lang="en-US" altLang="en-US" sz="2400"/>
          </a:p>
          <a:p>
            <a:r>
              <a:rPr lang="en-US" altLang="en-US" sz="2400"/>
              <a:t>The ocean floors are continually moving, spreading from the centre and sinking at the edges.</a:t>
            </a:r>
          </a:p>
          <a:p>
            <a:endParaRPr lang="en-US" altLang="en-US" sz="2400"/>
          </a:p>
          <a:p>
            <a:r>
              <a:rPr lang="en-US" altLang="en-US" sz="2400" b="1">
                <a:hlinkClick r:id="rId2" action="ppaction://hlinkfile"/>
              </a:rPr>
              <a:t>Convection currents </a:t>
            </a:r>
            <a:r>
              <a:rPr lang="en-US" altLang="en-US" sz="2400"/>
              <a:t>beneath the plates move the plates in different directions.</a:t>
            </a:r>
          </a:p>
        </p:txBody>
      </p:sp>
    </p:spTree>
    <p:extLst>
      <p:ext uri="{BB962C8B-B14F-4D97-AF65-F5344CB8AC3E}">
        <p14:creationId xmlns:p14="http://schemas.microsoft.com/office/powerpoint/2010/main" val="195654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880114" y="1772817"/>
            <a:ext cx="3247196" cy="2814237"/>
            <a:chOff x="968182" y="2200034"/>
            <a:chExt cx="3247196" cy="2814237"/>
          </a:xfrm>
        </p:grpSpPr>
        <p:pic>
          <p:nvPicPr>
            <p:cNvPr id="7" name="Picture 2" descr="http://pubs.usgs.gov/gip/dynamic/graphics/Fig13.gif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565" r="43250" b="80925"/>
            <a:stretch/>
          </p:blipFill>
          <p:spPr bwMode="auto">
            <a:xfrm>
              <a:off x="968182" y="2200034"/>
              <a:ext cx="3247196" cy="2814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2991242" y="2636912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Plate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68182" y="4005064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Plate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591945" y="149882"/>
            <a:ext cx="4908271" cy="4575262"/>
            <a:chOff x="1371600" y="1447800"/>
            <a:chExt cx="6324600" cy="5313363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447800"/>
              <a:ext cx="6324600" cy="531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ight Arrow 11"/>
            <p:cNvSpPr/>
            <p:nvPr/>
          </p:nvSpPr>
          <p:spPr>
            <a:xfrm rot="18427427">
              <a:off x="3775075" y="3500438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3" name="Right Arrow 12"/>
            <p:cNvSpPr/>
            <p:nvPr/>
          </p:nvSpPr>
          <p:spPr>
            <a:xfrm rot="7749683">
              <a:off x="4876800" y="2122488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81200" y="4353580"/>
              <a:ext cx="3188921" cy="60762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800" b="1" dirty="0">
                  <a:ln w="11430"/>
                  <a:gradFill>
                    <a:gsLst>
                      <a:gs pos="0">
                        <a:schemeClr val="accent6">
                          <a:tint val="90000"/>
                          <a:satMod val="120000"/>
                        </a:schemeClr>
                      </a:gs>
                      <a:gs pos="25000">
                        <a:schemeClr val="accent6">
                          <a:tint val="93000"/>
                          <a:satMod val="120000"/>
                        </a:schemeClr>
                      </a:gs>
                      <a:gs pos="50000">
                        <a:schemeClr val="accent6">
                          <a:shade val="89000"/>
                          <a:satMod val="110000"/>
                        </a:schemeClr>
                      </a:gs>
                      <a:gs pos="75000">
                        <a:schemeClr val="accent6">
                          <a:tint val="93000"/>
                          <a:satMod val="120000"/>
                        </a:schemeClr>
                      </a:gs>
                      <a:gs pos="100000">
                        <a:schemeClr val="accent6">
                          <a:tint val="90000"/>
                          <a:satMod val="120000"/>
                        </a:schemeClr>
                      </a:gs>
                    </a:gsLst>
                    <a:lin ang="5400000"/>
                  </a:gradFill>
                  <a:effectLst>
                    <a:outerShdw blurRad="80000" dist="40000" dir="5040000" algn="tl">
                      <a:srgbClr val="000000">
                        <a:alpha val="30000"/>
                      </a:srgbClr>
                    </a:outerShdw>
                  </a:effectLst>
                </a:rPr>
                <a:t>Indian Plate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38600" y="1524000"/>
              <a:ext cx="3188921" cy="60762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800" b="1" dirty="0">
                  <a:ln w="11430"/>
                  <a:gradFill>
                    <a:gsLst>
                      <a:gs pos="0">
                        <a:schemeClr val="accent6">
                          <a:tint val="90000"/>
                          <a:satMod val="120000"/>
                        </a:schemeClr>
                      </a:gs>
                      <a:gs pos="25000">
                        <a:schemeClr val="accent6">
                          <a:tint val="93000"/>
                          <a:satMod val="120000"/>
                        </a:schemeClr>
                      </a:gs>
                      <a:gs pos="50000">
                        <a:schemeClr val="accent6">
                          <a:shade val="89000"/>
                          <a:satMod val="110000"/>
                        </a:schemeClr>
                      </a:gs>
                      <a:gs pos="75000">
                        <a:schemeClr val="accent6">
                          <a:tint val="93000"/>
                          <a:satMod val="120000"/>
                        </a:schemeClr>
                      </a:gs>
                      <a:gs pos="100000">
                        <a:schemeClr val="accent6">
                          <a:tint val="90000"/>
                          <a:satMod val="120000"/>
                        </a:schemeClr>
                      </a:gs>
                    </a:gsLst>
                    <a:lin ang="5400000"/>
                  </a:gradFill>
                  <a:effectLst>
                    <a:outerShdw blurRad="80000" dist="40000" dir="5040000" algn="tl">
                      <a:srgbClr val="000000">
                        <a:alpha val="30000"/>
                      </a:srgbClr>
                    </a:outerShdw>
                  </a:effectLst>
                </a:rPr>
                <a:t>Eurasian Plate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647728" y="472514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9" name="Rectangle 18"/>
          <p:cNvSpPr/>
          <p:nvPr/>
        </p:nvSpPr>
        <p:spPr>
          <a:xfrm>
            <a:off x="2927648" y="4293097"/>
            <a:ext cx="1728192" cy="2939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Mantle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5560" y="440766"/>
            <a:ext cx="309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Destructive Plate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8938" y="5047246"/>
            <a:ext cx="8445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A destructive plate boundary is where two plates push against each other causing violent earthquakes, volcanoes and mountain ranges to be formed.</a:t>
            </a:r>
          </a:p>
        </p:txBody>
      </p:sp>
    </p:spTree>
    <p:extLst>
      <p:ext uri="{BB962C8B-B14F-4D97-AF65-F5344CB8AC3E}">
        <p14:creationId xmlns:p14="http://schemas.microsoft.com/office/powerpoint/2010/main" val="321729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956" y="260648"/>
            <a:ext cx="4582851" cy="1143000"/>
          </a:xfrm>
        </p:spPr>
        <p:txBody>
          <a:bodyPr>
            <a:noAutofit/>
          </a:bodyPr>
          <a:lstStyle/>
          <a:p>
            <a:pPr algn="r"/>
            <a:r>
              <a:rPr lang="en-GB" sz="3600" b="1" dirty="0">
                <a:latin typeface="Comic Sans MS" panose="030F0702030302020204" pitchFamily="66" charset="0"/>
              </a:rPr>
              <a:t>Constructive Plate Boundary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r="13895"/>
          <a:stretch/>
        </p:blipFill>
        <p:spPr bwMode="auto">
          <a:xfrm>
            <a:off x="5274454" y="2714286"/>
            <a:ext cx="5410190" cy="400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26"/>
          <p:cNvGrpSpPr/>
          <p:nvPr/>
        </p:nvGrpSpPr>
        <p:grpSpPr>
          <a:xfrm>
            <a:off x="4655840" y="3573017"/>
            <a:ext cx="4680520" cy="2347167"/>
            <a:chOff x="533400" y="2590800"/>
            <a:chExt cx="6144434" cy="2939478"/>
          </a:xfrm>
        </p:grpSpPr>
        <p:sp>
          <p:nvSpPr>
            <p:cNvPr id="28" name="Right Arrow 27"/>
            <p:cNvSpPr/>
            <p:nvPr/>
          </p:nvSpPr>
          <p:spPr>
            <a:xfrm rot="19886083">
              <a:off x="4460875" y="3043238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9" name="Right Arrow 28"/>
            <p:cNvSpPr/>
            <p:nvPr/>
          </p:nvSpPr>
          <p:spPr>
            <a:xfrm rot="8604164">
              <a:off x="2574925" y="3886200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667000" y="2590800"/>
              <a:ext cx="4010834" cy="50107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000" b="1" dirty="0">
                  <a:ln/>
                  <a:solidFill>
                    <a:schemeClr val="accent3"/>
                  </a:solidFill>
                  <a:latin typeface="Arial" pitchFamily="34" charset="0"/>
                </a:rPr>
                <a:t>Arabian Plate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3400" y="5029200"/>
              <a:ext cx="4010834" cy="50107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000" b="1" dirty="0">
                  <a:ln/>
                  <a:solidFill>
                    <a:schemeClr val="accent3"/>
                  </a:solidFill>
                  <a:latin typeface="Arial" pitchFamily="34" charset="0"/>
                </a:rPr>
                <a:t>African Plate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432208" y="4648201"/>
              <a:ext cx="1553446" cy="5010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</a:rPr>
                <a:t>Red Sea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637837" y="116632"/>
            <a:ext cx="4680520" cy="2049016"/>
            <a:chOff x="98061" y="1640056"/>
            <a:chExt cx="4680520" cy="2049016"/>
          </a:xfrm>
        </p:grpSpPr>
        <p:pic>
          <p:nvPicPr>
            <p:cNvPr id="36" name="Picture 35" descr="http://pubs.usgs.gov/gip/dynamic/graphics/Fig13.gif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56" r="55292" b="80925"/>
            <a:stretch/>
          </p:blipFill>
          <p:spPr bwMode="auto">
            <a:xfrm>
              <a:off x="530109" y="1640056"/>
              <a:ext cx="3754986" cy="2049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ectangle 36"/>
            <p:cNvSpPr/>
            <p:nvPr/>
          </p:nvSpPr>
          <p:spPr>
            <a:xfrm>
              <a:off x="98061" y="2864192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Plate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554445" y="2432144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Plate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14285" y="3152224"/>
              <a:ext cx="1800200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Mantle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637837" y="2770470"/>
            <a:ext cx="363661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omic Sans MS" panose="030F0702030302020204" pitchFamily="66" charset="0"/>
              </a:rPr>
              <a:t>Two plates move away from each other.</a:t>
            </a:r>
          </a:p>
          <a:p>
            <a:endParaRPr lang="en-GB" sz="2000" dirty="0">
              <a:latin typeface="Comic Sans MS" panose="030F0702030302020204" pitchFamily="66" charset="0"/>
            </a:endParaRPr>
          </a:p>
          <a:p>
            <a:r>
              <a:rPr lang="en-GB" sz="2000" dirty="0">
                <a:latin typeface="Comic Sans MS" panose="030F0702030302020204" pitchFamily="66" charset="0"/>
              </a:rPr>
              <a:t>Molten rock (magma) rises from the mantle to fill the gap between the two plates.</a:t>
            </a:r>
          </a:p>
          <a:p>
            <a:endParaRPr lang="en-GB" sz="2000" dirty="0">
              <a:latin typeface="Comic Sans MS" panose="030F0702030302020204" pitchFamily="66" charset="0"/>
            </a:endParaRPr>
          </a:p>
          <a:p>
            <a:r>
              <a:rPr lang="en-GB" sz="2000" dirty="0">
                <a:latin typeface="Comic Sans MS" panose="030F0702030302020204" pitchFamily="66" charset="0"/>
              </a:rPr>
              <a:t>Causes volcanoes and earthquakes but also forms mid-ocean ridges that develop into islands.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345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339" y="5517232"/>
            <a:ext cx="4291730" cy="1143000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Comic Sans MS" panose="030F0702030302020204" pitchFamily="66" charset="0"/>
              </a:rPr>
              <a:t>Conservative Plate Boundary</a:t>
            </a:r>
          </a:p>
        </p:txBody>
      </p:sp>
      <p:pic>
        <p:nvPicPr>
          <p:cNvPr id="7" name="Picture 2" descr="http://pubs.usgs.gov/gip/dynamic/graphics/Fig13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r="76363" b="80925"/>
          <a:stretch/>
        </p:blipFill>
        <p:spPr bwMode="auto">
          <a:xfrm>
            <a:off x="6696249" y="4044280"/>
            <a:ext cx="3742964" cy="255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64352" y="4365104"/>
            <a:ext cx="1224136" cy="304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Plates</a:t>
            </a: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8862130" y="4517318"/>
            <a:ext cx="402223" cy="2798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9876421" y="4669532"/>
            <a:ext cx="353861" cy="651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358073" y="6165304"/>
            <a:ext cx="1695277" cy="3383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Mantle</a:t>
            </a:r>
          </a:p>
        </p:txBody>
      </p:sp>
      <p:pic>
        <p:nvPicPr>
          <p:cNvPr id="1026" name="Picture 2" descr="http://geology.com/articles/images/san-andreas-fault-map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52400"/>
            <a:ext cx="5047672" cy="532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875543" y="242504"/>
            <a:ext cx="33843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Causes earthquakes, which can be fairly violent and frequent.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Two plates slide past each other, without creating or destroying any land.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As they move past each other they often  get stuck, building up great pressure until finally they jolt past each other. This sudden movement is what causes earthquakes.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222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GB" dirty="0" smtClean="0"/>
              <a:t>Plates move in different directions. Match the diagram with the correct caption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6167438" y="1412875"/>
            <a:ext cx="4500562" cy="5257800"/>
          </a:xfrm>
        </p:spPr>
        <p:txBody>
          <a:bodyPr/>
          <a:lstStyle/>
          <a:p>
            <a:pPr eaLnBrk="1" hangingPunct="1"/>
            <a:r>
              <a:rPr lang="en-GB" altLang="en-US" sz="2400"/>
              <a:t>Plates move towards each other</a:t>
            </a:r>
          </a:p>
          <a:p>
            <a:pPr eaLnBrk="1" hangingPunct="1"/>
            <a:endParaRPr lang="en-GB" altLang="en-US" sz="2400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sz="2400"/>
          </a:p>
          <a:p>
            <a:pPr eaLnBrk="1" hangingPunct="1"/>
            <a:r>
              <a:rPr lang="en-GB" altLang="en-US" sz="2400"/>
              <a:t>Plates move away from each other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sz="2400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sz="2400"/>
          </a:p>
          <a:p>
            <a:pPr eaLnBrk="1" hangingPunct="1"/>
            <a:r>
              <a:rPr lang="en-GB" altLang="en-US" sz="2400"/>
              <a:t>Plates slide past each other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sz="2400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sz="2400"/>
          </a:p>
          <a:p>
            <a:pPr eaLnBrk="1" hangingPunct="1"/>
            <a:r>
              <a:rPr lang="en-GB" altLang="en-US" sz="2400"/>
              <a:t>Plate slides under another plate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40013" y="1557339"/>
            <a:ext cx="792162" cy="5032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 flipV="1">
            <a:off x="3216275" y="1412876"/>
            <a:ext cx="863600" cy="57626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495551" y="2781301"/>
            <a:ext cx="936625" cy="57626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 flipV="1">
            <a:off x="3143250" y="2997200"/>
            <a:ext cx="1081088" cy="15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640014" y="4652964"/>
            <a:ext cx="719137" cy="15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3575051" y="4652963"/>
            <a:ext cx="792163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2208213" y="6021389"/>
            <a:ext cx="1079500" cy="15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792539" y="6021389"/>
            <a:ext cx="935037" cy="15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57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"/>
            <a:ext cx="9144000" cy="3573463"/>
          </a:xfrm>
        </p:spPr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GB" dirty="0" smtClean="0"/>
              <a:t>QUIZ: match alphabet with number</a:t>
            </a:r>
          </a:p>
          <a:p>
            <a:pPr>
              <a:buNone/>
              <a:defRPr/>
            </a:pPr>
            <a:endParaRPr lang="en-GB" dirty="0" smtClean="0"/>
          </a:p>
          <a:p>
            <a:pPr>
              <a:buNone/>
              <a:defRPr/>
            </a:pPr>
            <a:r>
              <a:rPr lang="en-GB" dirty="0" smtClean="0"/>
              <a:t>A) Pulling away (constructive plate boundary)?  </a:t>
            </a:r>
          </a:p>
          <a:p>
            <a:pPr>
              <a:buNone/>
              <a:defRPr/>
            </a:pPr>
            <a:r>
              <a:rPr lang="en-GB" dirty="0" smtClean="0"/>
              <a:t>B) Pushing into each other (Destructive plate boundary)?</a:t>
            </a:r>
          </a:p>
          <a:p>
            <a:pPr>
              <a:buNone/>
              <a:defRPr/>
            </a:pPr>
            <a:r>
              <a:rPr lang="en-GB" dirty="0" smtClean="0"/>
              <a:t>C) Making mountains (collision plate boundary)? </a:t>
            </a:r>
          </a:p>
          <a:p>
            <a:pPr>
              <a:buNone/>
              <a:defRPr/>
            </a:pPr>
            <a:r>
              <a:rPr lang="en-GB" smtClean="0"/>
              <a:t>D) </a:t>
            </a:r>
            <a:r>
              <a:rPr lang="en-GB" dirty="0" smtClean="0"/>
              <a:t>Sliding past each other (conservative plate boundary)?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789363"/>
            <a:ext cx="90424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347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493</Words>
  <Application>Microsoft Office PowerPoint</Application>
  <PresentationFormat>Custom</PresentationFormat>
  <Paragraphs>75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Tectonic Plates </vt:lpstr>
      <vt:lpstr>PowerPoint Presentation</vt:lpstr>
      <vt:lpstr>PowerPoint Presentation</vt:lpstr>
      <vt:lpstr>Get Involved</vt:lpstr>
      <vt:lpstr>Understanding the Earth’s layers</vt:lpstr>
      <vt:lpstr>PowerPoint Presentation</vt:lpstr>
      <vt:lpstr>PowerPoint Presentation</vt:lpstr>
      <vt:lpstr>PowerPoint Presentation</vt:lpstr>
      <vt:lpstr>Tectonic plates</vt:lpstr>
      <vt:lpstr>PowerPoint Presentation</vt:lpstr>
      <vt:lpstr>Constructive Plate Boundary </vt:lpstr>
      <vt:lpstr>Conservative Plate Boundary</vt:lpstr>
      <vt:lpstr>Plates move in different directions. Match the diagram with the correct caption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Donavon</dc:creator>
  <cp:lastModifiedBy>e4081018</cp:lastModifiedBy>
  <cp:revision>6</cp:revision>
  <dcterms:created xsi:type="dcterms:W3CDTF">2017-08-06T11:38:58Z</dcterms:created>
  <dcterms:modified xsi:type="dcterms:W3CDTF">2017-08-07T01:51:30Z</dcterms:modified>
</cp:coreProperties>
</file>
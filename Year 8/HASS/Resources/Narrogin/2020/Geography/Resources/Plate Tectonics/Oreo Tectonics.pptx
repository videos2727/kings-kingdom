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82" d="100"/>
          <a:sy n="82" d="100"/>
        </p:scale>
        <p:origin x="13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7/08/2017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475942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7/08/2017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407048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E32223-1E5E-4F13-BF76-BE7FBBFE3D87}" type="datetimeFigureOut">
              <a:rPr lang="en-AU" smtClean="0"/>
              <a:t>7/08/2017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923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6E32223-1E5E-4F13-BF76-BE7FBBFE3D87}" type="datetimeFigureOut">
              <a:rPr lang="en-AU" smtClean="0"/>
              <a:t>7/08/2017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775301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6E32223-1E5E-4F13-BF76-BE7FBBFE3D87}" type="datetimeFigureOut">
              <a:rPr lang="en-AU" smtClean="0"/>
              <a:t>7/08/2017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50200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6E32223-1E5E-4F13-BF76-BE7FBBFE3D87}" type="datetimeFigureOut">
              <a:rPr lang="en-AU" smtClean="0"/>
              <a:t>7/08/2017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55159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E32223-1E5E-4F13-BF76-BE7FBBFE3D87}" type="datetimeFigureOut">
              <a:rPr lang="en-AU" smtClean="0"/>
              <a:t>7/08/2017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765871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7/08/2017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77285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7/08/2017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94945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7/08/2017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7775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7/08/2017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82168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E32223-1E5E-4F13-BF76-BE7FBBFE3D87}" type="datetimeFigureOut">
              <a:rPr lang="en-AU" smtClean="0"/>
              <a:t>7/08/2017</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3E58BC-773A-463E-BDD7-C25E10C092AB}" type="slidenum">
              <a:rPr lang="en-AU" smtClean="0"/>
              <a:t>‹#›</a:t>
            </a:fld>
            <a:endParaRPr lang="en-AU"/>
          </a:p>
        </p:txBody>
      </p:sp>
    </p:spTree>
    <p:extLst>
      <p:ext uri="{BB962C8B-B14F-4D97-AF65-F5344CB8AC3E}">
        <p14:creationId xmlns:p14="http://schemas.microsoft.com/office/powerpoint/2010/main" val="354658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Oreo Tectonics</a:t>
            </a:r>
            <a:endParaRPr lang="en-AU" dirty="0"/>
          </a:p>
        </p:txBody>
      </p:sp>
      <p:sp>
        <p:nvSpPr>
          <p:cNvPr id="3" name="Subtitle 2"/>
          <p:cNvSpPr>
            <a:spLocks noGrp="1"/>
          </p:cNvSpPr>
          <p:nvPr>
            <p:ph type="subTitle" idx="1"/>
          </p:nvPr>
        </p:nvSpPr>
        <p:spPr/>
        <p:txBody>
          <a:bodyPr/>
          <a:lstStyle/>
          <a:p>
            <a:r>
              <a:rPr lang="en-AU" dirty="0" smtClean="0"/>
              <a:t>Amateur geologists can simulate how plates move on the Earth’s surface using </a:t>
            </a:r>
            <a:r>
              <a:rPr lang="en-AU" dirty="0" err="1" smtClean="0"/>
              <a:t>oreo</a:t>
            </a:r>
            <a:r>
              <a:rPr lang="en-AU" dirty="0" smtClean="0"/>
              <a:t> cookies. </a:t>
            </a:r>
            <a:endParaRPr lang="en-AU" dirty="0"/>
          </a:p>
        </p:txBody>
      </p:sp>
    </p:spTree>
    <p:extLst>
      <p:ext uri="{BB962C8B-B14F-4D97-AF65-F5344CB8AC3E}">
        <p14:creationId xmlns:p14="http://schemas.microsoft.com/office/powerpoint/2010/main" val="21790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term tectonics originates from the Greek word “</a:t>
            </a:r>
            <a:r>
              <a:rPr lang="en-AU" dirty="0" err="1" smtClean="0"/>
              <a:t>Tekton</a:t>
            </a:r>
            <a:r>
              <a:rPr lang="en-AU" dirty="0" smtClean="0"/>
              <a:t>,” referring to a builder or architect. Plate tectonics suggest that large features on Earth’s surface, such as continents, ocean basins and mountain ranges, result from interactions along the edges of large plates of the Earth’s outer shell.</a:t>
            </a:r>
          </a:p>
          <a:p>
            <a:r>
              <a:rPr lang="en-AU" dirty="0" smtClean="0"/>
              <a:t>This outer shell is called the lithosphere from the Greek “</a:t>
            </a:r>
            <a:r>
              <a:rPr lang="en-AU" dirty="0" err="1" smtClean="0"/>
              <a:t>Lithos</a:t>
            </a:r>
            <a:r>
              <a:rPr lang="en-AU" dirty="0" smtClean="0"/>
              <a:t>” meaning hard rock. The plates composed of the Earth’s crust and uppermost mantle, ride on a warmer, softer layer of the mantle, called the asthenosphere.</a:t>
            </a:r>
            <a:endParaRPr lang="en-AU" dirty="0"/>
          </a:p>
        </p:txBody>
      </p:sp>
    </p:spTree>
    <p:extLst>
      <p:ext uri="{BB962C8B-B14F-4D97-AF65-F5344CB8AC3E}">
        <p14:creationId xmlns:p14="http://schemas.microsoft.com/office/powerpoint/2010/main" val="347811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 our experiment:</a:t>
            </a:r>
            <a:endParaRPr lang="en-AU"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AU" dirty="0" smtClean="0"/>
              <a:t>Upper cookie = lithosphere</a:t>
            </a:r>
          </a:p>
          <a:p>
            <a:pPr>
              <a:buFont typeface="Wingdings" panose="05000000000000000000" pitchFamily="2" charset="2"/>
              <a:buChar char="Ø"/>
            </a:pPr>
            <a:r>
              <a:rPr lang="en-AU" dirty="0" smtClean="0"/>
              <a:t>Creamy filling = asthenosphere</a:t>
            </a:r>
          </a:p>
          <a:p>
            <a:pPr>
              <a:buFont typeface="Wingdings" panose="05000000000000000000" pitchFamily="2" charset="2"/>
              <a:buChar char="Ø"/>
            </a:pPr>
            <a:r>
              <a:rPr lang="en-AU" dirty="0" smtClean="0"/>
              <a:t>Lower cookie = lower mantle</a:t>
            </a:r>
          </a:p>
          <a:p>
            <a:pPr>
              <a:buFont typeface="Wingdings" panose="05000000000000000000" pitchFamily="2" charset="2"/>
              <a:buChar char="Ø"/>
            </a:pPr>
            <a:endParaRPr lang="en-AU" dirty="0"/>
          </a:p>
        </p:txBody>
      </p:sp>
    </p:spTree>
    <p:extLst>
      <p:ext uri="{BB962C8B-B14F-4D97-AF65-F5344CB8AC3E}">
        <p14:creationId xmlns:p14="http://schemas.microsoft.com/office/powerpoint/2010/main" val="312548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Choose a cookie… don’t eat it yet!</a:t>
            </a:r>
            <a:endParaRPr lang="en-AU" dirty="0"/>
          </a:p>
        </p:txBody>
      </p:sp>
      <p:sp>
        <p:nvSpPr>
          <p:cNvPr id="3" name="Content Placeholder 2"/>
          <p:cNvSpPr>
            <a:spLocks noGrp="1"/>
          </p:cNvSpPr>
          <p:nvPr>
            <p:ph idx="1"/>
          </p:nvPr>
        </p:nvSpPr>
        <p:spPr/>
        <p:txBody>
          <a:bodyPr/>
          <a:lstStyle/>
          <a:p>
            <a:pPr marL="514350" indent="-514350">
              <a:buAutoNum type="arabicPeriod"/>
            </a:pPr>
            <a:r>
              <a:rPr lang="en-AU" dirty="0" smtClean="0"/>
              <a:t>First carefully remove the upper cookie (a twisting motion is required).</a:t>
            </a:r>
          </a:p>
          <a:p>
            <a:pPr marL="514350" indent="-514350">
              <a:buAutoNum type="arabicPeriod"/>
            </a:pPr>
            <a:r>
              <a:rPr lang="en-AU" dirty="0" smtClean="0"/>
              <a:t>Slide the upper cookie over the creamy filling. This motion simulates the movement of the rigid lithosphere plate over the softer asthenosphere.</a:t>
            </a:r>
          </a:p>
          <a:p>
            <a:pPr marL="514350" indent="-514350">
              <a:buAutoNum type="arabicPeriod"/>
            </a:pPr>
            <a:r>
              <a:rPr lang="en-AU" dirty="0" smtClean="0"/>
              <a:t>Next, break the upper cookie in half. As you do so listen to the sound it makes.</a:t>
            </a:r>
          </a:p>
          <a:p>
            <a:pPr marL="0" indent="0">
              <a:buNone/>
            </a:pPr>
            <a:r>
              <a:rPr lang="en-AU" dirty="0"/>
              <a:t>	</a:t>
            </a:r>
            <a:r>
              <a:rPr lang="en-AU" dirty="0" smtClean="0"/>
              <a:t>What sound do you hear?</a:t>
            </a:r>
          </a:p>
          <a:p>
            <a:pPr marL="0" indent="0">
              <a:buNone/>
            </a:pPr>
            <a:r>
              <a:rPr lang="en-AU" dirty="0"/>
              <a:t>	</a:t>
            </a:r>
            <a:r>
              <a:rPr lang="en-AU" dirty="0" smtClean="0"/>
              <a:t>What does this breaking represent?</a:t>
            </a:r>
            <a:endParaRPr lang="en-AU" dirty="0"/>
          </a:p>
        </p:txBody>
      </p:sp>
    </p:spTree>
    <p:extLst>
      <p:ext uri="{BB962C8B-B14F-4D97-AF65-F5344CB8AC3E}">
        <p14:creationId xmlns:p14="http://schemas.microsoft.com/office/powerpoint/2010/main" val="338258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Choose another cookie</a:t>
            </a:r>
            <a:endParaRPr lang="en-AU" dirty="0"/>
          </a:p>
        </p:txBody>
      </p:sp>
      <p:sp>
        <p:nvSpPr>
          <p:cNvPr id="3" name="Content Placeholder 2"/>
          <p:cNvSpPr>
            <a:spLocks noGrp="1"/>
          </p:cNvSpPr>
          <p:nvPr>
            <p:ph idx="1"/>
          </p:nvPr>
        </p:nvSpPr>
        <p:spPr/>
        <p:txBody>
          <a:bodyPr/>
          <a:lstStyle/>
          <a:p>
            <a:pPr marL="0" indent="0">
              <a:buNone/>
            </a:pPr>
            <a:r>
              <a:rPr lang="en-AU" dirty="0"/>
              <a:t>	</a:t>
            </a:r>
            <a:r>
              <a:rPr lang="en-AU" dirty="0" smtClean="0"/>
              <a:t>What sound do you hear?</a:t>
            </a:r>
          </a:p>
          <a:p>
            <a:pPr marL="0" indent="0">
              <a:buNone/>
            </a:pPr>
            <a:r>
              <a:rPr lang="en-AU" dirty="0"/>
              <a:t>	</a:t>
            </a:r>
            <a:r>
              <a:rPr lang="en-AU" dirty="0" smtClean="0"/>
              <a:t>What does this breaking represent? </a:t>
            </a:r>
            <a:r>
              <a:rPr lang="en-AU" b="1" dirty="0" smtClean="0"/>
              <a:t>An Earthquake!</a:t>
            </a:r>
          </a:p>
          <a:p>
            <a:pPr marL="0" indent="0">
              <a:buNone/>
            </a:pPr>
            <a:r>
              <a:rPr lang="en-AU" b="1" dirty="0" smtClean="0"/>
              <a:t>It takes a cold brittle, lithosphere to make earthquakes – earthquakes do not occur in the soft, flowing asthenosphere. </a:t>
            </a:r>
            <a:endParaRPr lang="en-AU" b="1"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765" t="9296" r="45673" b="51874"/>
          <a:stretch/>
        </p:blipFill>
        <p:spPr>
          <a:xfrm>
            <a:off x="7936523" y="3728397"/>
            <a:ext cx="3071446" cy="2448566"/>
          </a:xfrm>
          <a:prstGeom prst="rect">
            <a:avLst/>
          </a:prstGeom>
        </p:spPr>
      </p:pic>
    </p:spTree>
    <p:extLst>
      <p:ext uri="{BB962C8B-B14F-4D97-AF65-F5344CB8AC3E}">
        <p14:creationId xmlns:p14="http://schemas.microsoft.com/office/powerpoint/2010/main" val="3383354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To simulate a divergent plate boundary, push down on the two broken cookie halves and slide them apart. Notice that the creamy filling between the two broken “plates” may tend to flow upward, similar to the rising, decompression, and partial melting of hot asthenosphere at mid-ocean ridges and continental rift zones.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6851" t="9296" r="2765" b="52555"/>
          <a:stretch/>
        </p:blipFill>
        <p:spPr>
          <a:xfrm>
            <a:off x="8100646" y="3716215"/>
            <a:ext cx="2321169" cy="2321169"/>
          </a:xfrm>
          <a:prstGeom prst="rect">
            <a:avLst/>
          </a:prstGeom>
        </p:spPr>
      </p:pic>
    </p:spTree>
    <p:extLst>
      <p:ext uri="{BB962C8B-B14F-4D97-AF65-F5344CB8AC3E}">
        <p14:creationId xmlns:p14="http://schemas.microsoft.com/office/powerpoint/2010/main" val="138368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Push one cookie piece beneath the other to make a convergent plate boundary. Note that this is the only situation where the cold, brittle lithosphere extends to great depths, and hence the only place where deep earthquakes occur. The very largest earthquakes are at subduction zones where two plates get stuck together for centuries, then suddenly let go.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288" t="58686" r="48197" b="1803"/>
          <a:stretch/>
        </p:blipFill>
        <p:spPr>
          <a:xfrm>
            <a:off x="8335108" y="4079170"/>
            <a:ext cx="2332891" cy="2097793"/>
          </a:xfrm>
          <a:prstGeom prst="rect">
            <a:avLst/>
          </a:prstGeom>
        </p:spPr>
      </p:pic>
    </p:spTree>
    <p:extLst>
      <p:ext uri="{BB962C8B-B14F-4D97-AF65-F5344CB8AC3E}">
        <p14:creationId xmlns:p14="http://schemas.microsoft.com/office/powerpoint/2010/main" val="365315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Simulate a transform plate boundary by sliding the two cookie pieces laterally past one another, over the creamy filling. You can feel and hear that the “plates” do not slide smoothly past one another, but rather stick then let go, stick then let go. The cracking sound you hear each time is like an earthquake occurring along the San Andreas Fault in California.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9736" t="58345" r="6370" b="3165"/>
          <a:stretch/>
        </p:blipFill>
        <p:spPr>
          <a:xfrm>
            <a:off x="9073662" y="4001294"/>
            <a:ext cx="1770185" cy="2127989"/>
          </a:xfrm>
          <a:prstGeom prst="rect">
            <a:avLst/>
          </a:prstGeom>
        </p:spPr>
      </p:pic>
    </p:spTree>
    <p:extLst>
      <p:ext uri="{BB962C8B-B14F-4D97-AF65-F5344CB8AC3E}">
        <p14:creationId xmlns:p14="http://schemas.microsoft.com/office/powerpoint/2010/main" val="126855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393</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Oreo Tectonics</vt:lpstr>
      <vt:lpstr>PowerPoint Presentation</vt:lpstr>
      <vt:lpstr>In our experiment:</vt:lpstr>
      <vt:lpstr>Choose a cookie… don’t eat it yet!</vt:lpstr>
      <vt:lpstr>Choose another cookie</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Oreo Tectonics</dc:title>
  <dc:creator>Rebecca Donavon</dc:creator>
  <cp:lastModifiedBy>Rebecca Donavon</cp:lastModifiedBy>
  <cp:revision>4</cp:revision>
  <dcterms:created xsi:type="dcterms:W3CDTF">2017-08-07T10:26:25Z</dcterms:created>
  <dcterms:modified xsi:type="dcterms:W3CDTF">2017-08-07T10:51:56Z</dcterms:modified>
</cp:coreProperties>
</file>
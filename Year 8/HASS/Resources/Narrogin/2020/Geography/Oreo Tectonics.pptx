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9" autoAdjust="0"/>
    <p:restoredTop sz="94660"/>
  </p:normalViewPr>
  <p:slideViewPr>
    <p:cSldViewPr snapToGrid="0">
      <p:cViewPr varScale="1">
        <p:scale>
          <a:sx n="110" d="100"/>
          <a:sy n="110" d="100"/>
        </p:scale>
        <p:origin x="4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16/2/20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475942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16/2/20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407048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E32223-1E5E-4F13-BF76-BE7FBBFE3D87}" type="datetimeFigureOut">
              <a:rPr lang="en-AU" smtClean="0"/>
              <a:t>16/2/20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923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46E32223-1E5E-4F13-BF76-BE7FBBFE3D87}" type="datetimeFigureOut">
              <a:rPr lang="en-AU" smtClean="0"/>
              <a:t>16/2/20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775301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46E32223-1E5E-4F13-BF76-BE7FBBFE3D87}" type="datetimeFigureOut">
              <a:rPr lang="en-AU" smtClean="0"/>
              <a:t>16/2/20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50200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46E32223-1E5E-4F13-BF76-BE7FBBFE3D87}" type="datetimeFigureOut">
              <a:rPr lang="en-AU" smtClean="0"/>
              <a:t>16/2/20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55159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E32223-1E5E-4F13-BF76-BE7FBBFE3D87}" type="datetimeFigureOut">
              <a:rPr lang="en-AU" smtClean="0"/>
              <a:t>16/2/20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765871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16/2/20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77285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E32223-1E5E-4F13-BF76-BE7FBBFE3D87}" type="datetimeFigureOut">
              <a:rPr lang="en-AU" smtClean="0"/>
              <a:t>16/2/20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294945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16/2/20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107775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6E32223-1E5E-4F13-BF76-BE7FBBFE3D87}" type="datetimeFigureOut">
              <a:rPr lang="en-AU" smtClean="0"/>
              <a:t>16/2/20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23E58BC-773A-463E-BDD7-C25E10C092AB}" type="slidenum">
              <a:rPr lang="en-AU" smtClean="0"/>
              <a:t>‹#›</a:t>
            </a:fld>
            <a:endParaRPr lang="en-AU"/>
          </a:p>
        </p:txBody>
      </p:sp>
    </p:spTree>
    <p:extLst>
      <p:ext uri="{BB962C8B-B14F-4D97-AF65-F5344CB8AC3E}">
        <p14:creationId xmlns:p14="http://schemas.microsoft.com/office/powerpoint/2010/main" val="382168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E32223-1E5E-4F13-BF76-BE7FBBFE3D87}" type="datetimeFigureOut">
              <a:rPr lang="en-AU" smtClean="0"/>
              <a:t>16/2/20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3E58BC-773A-463E-BDD7-C25E10C092AB}" type="slidenum">
              <a:rPr lang="en-AU" smtClean="0"/>
              <a:t>‹#›</a:t>
            </a:fld>
            <a:endParaRPr lang="en-AU"/>
          </a:p>
        </p:txBody>
      </p:sp>
    </p:spTree>
    <p:extLst>
      <p:ext uri="{BB962C8B-B14F-4D97-AF65-F5344CB8AC3E}">
        <p14:creationId xmlns:p14="http://schemas.microsoft.com/office/powerpoint/2010/main" val="354658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33254" y="1630836"/>
            <a:ext cx="5162746" cy="955299"/>
          </a:xfrm>
          <a:solidFill>
            <a:schemeClr val="accent1">
              <a:lumMod val="20000"/>
              <a:lumOff val="80000"/>
            </a:schemeClr>
          </a:solidFill>
        </p:spPr>
        <p:txBody>
          <a:bodyPr/>
          <a:lstStyle/>
          <a:p>
            <a:r>
              <a:rPr lang="en-AU" dirty="0"/>
              <a:t>Oreo Tectonics</a:t>
            </a:r>
          </a:p>
        </p:txBody>
      </p:sp>
      <p:sp>
        <p:nvSpPr>
          <p:cNvPr id="3" name="Subtitle 2"/>
          <p:cNvSpPr>
            <a:spLocks noGrp="1"/>
          </p:cNvSpPr>
          <p:nvPr>
            <p:ph type="subTitle" idx="1"/>
          </p:nvPr>
        </p:nvSpPr>
        <p:spPr>
          <a:xfrm>
            <a:off x="1811517" y="2800760"/>
            <a:ext cx="3406219" cy="1479009"/>
          </a:xfrm>
          <a:solidFill>
            <a:schemeClr val="accent1">
              <a:lumMod val="20000"/>
              <a:lumOff val="80000"/>
            </a:schemeClr>
          </a:solidFill>
        </p:spPr>
        <p:txBody>
          <a:bodyPr/>
          <a:lstStyle/>
          <a:p>
            <a:r>
              <a:rPr lang="en-AU" dirty="0"/>
              <a:t>We can simulate how plates move on the Earth’s surface using Oreo cookies. </a:t>
            </a:r>
          </a:p>
        </p:txBody>
      </p:sp>
      <p:pic>
        <p:nvPicPr>
          <p:cNvPr id="1026" name="Picture 2" descr="Image result for ore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9818" y="0"/>
            <a:ext cx="3086100" cy="2762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0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432" y="245097"/>
            <a:ext cx="2564877" cy="6117996"/>
          </a:xfrm>
          <a:ln>
            <a:solidFill>
              <a:schemeClr val="tx1"/>
            </a:solidFill>
          </a:ln>
        </p:spPr>
        <p:txBody>
          <a:bodyPr>
            <a:normAutofit fontScale="70000" lnSpcReduction="20000"/>
          </a:bodyPr>
          <a:lstStyle/>
          <a:p>
            <a:pPr marL="0" indent="0">
              <a:lnSpc>
                <a:spcPct val="150000"/>
              </a:lnSpc>
              <a:buNone/>
            </a:pPr>
            <a:r>
              <a:rPr lang="en-AU" dirty="0"/>
              <a:t>The term tectonics originates from the Greek word “</a:t>
            </a:r>
            <a:r>
              <a:rPr lang="en-AU" dirty="0" err="1"/>
              <a:t>Tekton</a:t>
            </a:r>
            <a:r>
              <a:rPr lang="en-AU" dirty="0"/>
              <a:t>,” referring to a builder or architect. Plate tectonics suggest that large features on Earth’s surface, such as continents, ocean basins and mountain ranges, result from interactions along the edges of large plates of the Earth’s outer shell.</a:t>
            </a:r>
          </a:p>
          <a:p>
            <a:pPr marL="0" indent="0">
              <a:lnSpc>
                <a:spcPct val="150000"/>
              </a:lnSpc>
              <a:buNone/>
            </a:pPr>
            <a:endParaRPr lang="en-AU" dirty="0"/>
          </a:p>
        </p:txBody>
      </p:sp>
      <p:pic>
        <p:nvPicPr>
          <p:cNvPr id="2052" name="Picture 4" descr="Image result for earth diagram asthenosphere lower mant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9701" y="1231378"/>
            <a:ext cx="6259396" cy="44011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690756" y="677347"/>
            <a:ext cx="2158738" cy="5509200"/>
          </a:xfrm>
          <a:prstGeom prst="rect">
            <a:avLst/>
          </a:prstGeom>
          <a:noFill/>
          <a:ln>
            <a:solidFill>
              <a:schemeClr val="tx1"/>
            </a:solidFill>
          </a:ln>
        </p:spPr>
        <p:txBody>
          <a:bodyPr wrap="square" rtlCol="0">
            <a:spAutoFit/>
          </a:bodyPr>
          <a:lstStyle/>
          <a:p>
            <a:r>
              <a:rPr lang="en-AU" sz="2200" dirty="0"/>
              <a:t>This outer shell is called the lithosphere from the Greek “</a:t>
            </a:r>
            <a:r>
              <a:rPr lang="en-AU" sz="2200" dirty="0" err="1"/>
              <a:t>Lithos</a:t>
            </a:r>
            <a:r>
              <a:rPr lang="en-AU" sz="2200" dirty="0"/>
              <a:t>” meaning hard rock. The plates composed of the Earth’s crust and uppermost mantle, ride on a warmer, softer layer of the mantle, called the asthenosphere.</a:t>
            </a:r>
          </a:p>
        </p:txBody>
      </p:sp>
    </p:spTree>
    <p:extLst>
      <p:ext uri="{BB962C8B-B14F-4D97-AF65-F5344CB8AC3E}">
        <p14:creationId xmlns:p14="http://schemas.microsoft.com/office/powerpoint/2010/main" val="347811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 our experiment:</a:t>
            </a:r>
          </a:p>
        </p:txBody>
      </p:sp>
      <p:sp>
        <p:nvSpPr>
          <p:cNvPr id="3" name="Content Placeholder 2"/>
          <p:cNvSpPr>
            <a:spLocks noGrp="1"/>
          </p:cNvSpPr>
          <p:nvPr>
            <p:ph idx="1"/>
          </p:nvPr>
        </p:nvSpPr>
        <p:spPr/>
        <p:txBody>
          <a:bodyPr/>
          <a:lstStyle/>
          <a:p>
            <a:pPr marL="0" indent="0">
              <a:buNone/>
            </a:pPr>
            <a:endParaRPr lang="en-AU" dirty="0"/>
          </a:p>
          <a:p>
            <a:pPr marL="0" indent="0">
              <a:buNone/>
            </a:pPr>
            <a:r>
              <a:rPr lang="en-AU" dirty="0"/>
              <a:t>Upper cookie = lithosphere</a:t>
            </a:r>
          </a:p>
          <a:p>
            <a:pPr marL="0" indent="0">
              <a:buNone/>
            </a:pPr>
            <a:endParaRPr lang="en-AU" dirty="0"/>
          </a:p>
          <a:p>
            <a:pPr marL="0" indent="0">
              <a:buNone/>
            </a:pPr>
            <a:r>
              <a:rPr lang="en-AU" dirty="0"/>
              <a:t>Creamy filling = asthenosphere</a:t>
            </a:r>
          </a:p>
          <a:p>
            <a:pPr marL="0" indent="0">
              <a:buNone/>
            </a:pPr>
            <a:endParaRPr lang="en-AU" dirty="0"/>
          </a:p>
          <a:p>
            <a:pPr marL="0" indent="0">
              <a:buNone/>
            </a:pPr>
            <a:r>
              <a:rPr lang="en-AU" dirty="0"/>
              <a:t>Lower cookie = lower mantle</a:t>
            </a:r>
          </a:p>
          <a:p>
            <a:pPr>
              <a:buFont typeface="Wingdings" panose="05000000000000000000" pitchFamily="2" charset="2"/>
              <a:buChar char="Ø"/>
            </a:pPr>
            <a:endParaRPr lang="en-AU" dirty="0"/>
          </a:p>
        </p:txBody>
      </p:sp>
      <p:pic>
        <p:nvPicPr>
          <p:cNvPr id="4" name="Picture 2" descr="Image result for ore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9683" y="829560"/>
            <a:ext cx="5202812" cy="4656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48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249" y="60177"/>
            <a:ext cx="10515600" cy="1325563"/>
          </a:xfrm>
        </p:spPr>
        <p:txBody>
          <a:bodyPr/>
          <a:lstStyle/>
          <a:p>
            <a:r>
              <a:rPr lang="en-AU" dirty="0"/>
              <a:t>Choose a cookie… don’t eat it yet!</a:t>
            </a:r>
          </a:p>
        </p:txBody>
      </p:sp>
      <p:sp>
        <p:nvSpPr>
          <p:cNvPr id="3" name="Content Placeholder 2"/>
          <p:cNvSpPr>
            <a:spLocks noGrp="1"/>
          </p:cNvSpPr>
          <p:nvPr>
            <p:ph idx="1"/>
          </p:nvPr>
        </p:nvSpPr>
        <p:spPr>
          <a:xfrm>
            <a:off x="461913" y="1131216"/>
            <a:ext cx="5267331" cy="5472260"/>
          </a:xfrm>
        </p:spPr>
        <p:txBody>
          <a:bodyPr>
            <a:noAutofit/>
          </a:bodyPr>
          <a:lstStyle/>
          <a:p>
            <a:pPr marL="514350" indent="-514350">
              <a:lnSpc>
                <a:spcPct val="170000"/>
              </a:lnSpc>
              <a:buAutoNum type="arabicPeriod"/>
            </a:pPr>
            <a:r>
              <a:rPr lang="en-AU" sz="1600" dirty="0"/>
              <a:t>First carefully remove the upper cookie (a twisting motion is required).</a:t>
            </a:r>
          </a:p>
          <a:p>
            <a:pPr marL="514350" indent="-514350">
              <a:lnSpc>
                <a:spcPct val="170000"/>
              </a:lnSpc>
              <a:buAutoNum type="arabicPeriod"/>
            </a:pPr>
            <a:endParaRPr lang="en-AU" sz="1600" dirty="0"/>
          </a:p>
          <a:p>
            <a:pPr marL="514350" indent="-514350">
              <a:lnSpc>
                <a:spcPct val="170000"/>
              </a:lnSpc>
              <a:buAutoNum type="arabicPeriod"/>
            </a:pPr>
            <a:r>
              <a:rPr lang="en-AU" sz="1600" dirty="0"/>
              <a:t>Slide the upper cookie over the creamy filling. This motion simulates the movement of the rigid lithosphere plate over the softer asthenosphere.</a:t>
            </a:r>
          </a:p>
          <a:p>
            <a:pPr marL="514350" indent="-514350">
              <a:lnSpc>
                <a:spcPct val="170000"/>
              </a:lnSpc>
              <a:buAutoNum type="arabicPeriod"/>
            </a:pPr>
            <a:endParaRPr lang="en-AU" sz="1600" dirty="0"/>
          </a:p>
          <a:p>
            <a:pPr marL="514350" indent="-514350">
              <a:lnSpc>
                <a:spcPct val="170000"/>
              </a:lnSpc>
              <a:buAutoNum type="arabicPeriod"/>
            </a:pPr>
            <a:r>
              <a:rPr lang="en-AU" sz="1600" dirty="0"/>
              <a:t>Next, break the upper cookie in half. As you do so listen to the sound it makes.</a:t>
            </a:r>
          </a:p>
          <a:p>
            <a:pPr marL="0" indent="0">
              <a:lnSpc>
                <a:spcPct val="170000"/>
              </a:lnSpc>
              <a:buNone/>
            </a:pPr>
            <a:r>
              <a:rPr lang="en-AU" sz="1600" dirty="0"/>
              <a:t>	What sound do you hear?</a:t>
            </a:r>
          </a:p>
          <a:p>
            <a:pPr marL="0" indent="0">
              <a:lnSpc>
                <a:spcPct val="170000"/>
              </a:lnSpc>
              <a:buNone/>
            </a:pPr>
            <a:r>
              <a:rPr lang="en-AU" sz="1600" dirty="0"/>
              <a:t>	What does this breaking represent?</a:t>
            </a:r>
          </a:p>
        </p:txBody>
      </p:sp>
      <p:pic>
        <p:nvPicPr>
          <p:cNvPr id="4" name="Picture 2" descr="Image result for ore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5683" y="82321"/>
            <a:ext cx="1456233" cy="13034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earth diagram asthenosphere lower mant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287" y="1913640"/>
            <a:ext cx="5751609" cy="404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258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AU" dirty="0"/>
              <a:t>What sound do you hear?</a:t>
            </a:r>
          </a:p>
          <a:p>
            <a:pPr marL="0" indent="0">
              <a:buNone/>
            </a:pPr>
            <a:r>
              <a:rPr lang="en-AU" dirty="0"/>
              <a:t>What does this breaking represent? </a:t>
            </a:r>
          </a:p>
          <a:p>
            <a:pPr marL="0" indent="0">
              <a:buNone/>
            </a:pPr>
            <a:endParaRPr lang="en-AU" b="1" dirty="0"/>
          </a:p>
          <a:p>
            <a:pPr marL="0" indent="0">
              <a:buNone/>
            </a:pPr>
            <a:r>
              <a:rPr lang="en-AU" b="1" dirty="0"/>
              <a:t>An Earthquake!</a:t>
            </a:r>
          </a:p>
          <a:p>
            <a:pPr marL="0" indent="0">
              <a:buNone/>
            </a:pPr>
            <a:endParaRPr lang="en-AU" b="1" dirty="0"/>
          </a:p>
          <a:p>
            <a:pPr marL="0" indent="0">
              <a:buNone/>
            </a:pPr>
            <a:r>
              <a:rPr lang="en-AU" b="1" dirty="0"/>
              <a:t>It takes a cold brittle, lithosphere to make earthquakes – earthquakes do not occur in the soft, flowing asthenosphere. </a:t>
            </a:r>
          </a:p>
        </p:txBody>
      </p:sp>
      <p:pic>
        <p:nvPicPr>
          <p:cNvPr id="4098" name="Picture 2" descr="Image result for earthquak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3479" y="368630"/>
            <a:ext cx="4666301" cy="3469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354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676" y="2428940"/>
            <a:ext cx="10515600" cy="3651348"/>
          </a:xfrm>
        </p:spPr>
        <p:txBody>
          <a:bodyPr/>
          <a:lstStyle/>
          <a:p>
            <a:pPr marL="0" indent="0">
              <a:lnSpc>
                <a:spcPct val="150000"/>
              </a:lnSpc>
              <a:buNone/>
            </a:pPr>
            <a:r>
              <a:rPr lang="en-AU" dirty="0"/>
              <a:t>To simulate a constructive plate boundary, push down on the two broken cookie halves and slide them apart. Notice that the creamy filling between the two broken “plates” may tend to flow upward, similar to the rising, decompression, and partial melting of hot asthenosphere at mid-ocean ridges and continental rift zones. </a:t>
            </a:r>
          </a:p>
          <a:p>
            <a:pPr marL="0" indent="0">
              <a:buNone/>
            </a:pPr>
            <a:endParaRPr lang="en-AU" dirty="0"/>
          </a:p>
        </p:txBody>
      </p:sp>
      <p:grpSp>
        <p:nvGrpSpPr>
          <p:cNvPr id="5" name="Group 4"/>
          <p:cNvGrpSpPr/>
          <p:nvPr/>
        </p:nvGrpSpPr>
        <p:grpSpPr>
          <a:xfrm>
            <a:off x="7165087" y="192047"/>
            <a:ext cx="4680520" cy="2049016"/>
            <a:chOff x="98061" y="1640056"/>
            <a:chExt cx="4680520" cy="2049016"/>
          </a:xfrm>
        </p:grpSpPr>
        <p:pic>
          <p:nvPicPr>
            <p:cNvPr id="6" name="Picture 5" descr="http://pubs.usgs.gov/gip/dynamic/graphics/Fig13.gif"/>
            <p:cNvPicPr>
              <a:picLocks noChangeAspect="1" noChangeArrowheads="1"/>
            </p:cNvPicPr>
            <p:nvPr/>
          </p:nvPicPr>
          <p:blipFill rotWithShape="1">
            <a:blip r:embed="rId2">
              <a:extLst>
                <a:ext uri="{28A0092B-C50C-407E-A947-70E740481C1C}">
                  <a14:useLocalDpi xmlns:a14="http://schemas.microsoft.com/office/drawing/2010/main" val="0"/>
                </a:ext>
              </a:extLst>
            </a:blip>
            <a:srcRect l="25356" r="55292" b="80925"/>
            <a:stretch/>
          </p:blipFill>
          <p:spPr bwMode="auto">
            <a:xfrm>
              <a:off x="530109" y="1640056"/>
              <a:ext cx="3754986" cy="204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98061" y="2864192"/>
              <a:ext cx="1224136" cy="304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Plate</a:t>
              </a:r>
            </a:p>
          </p:txBody>
        </p:sp>
        <p:sp>
          <p:nvSpPr>
            <p:cNvPr id="8" name="Rectangle 7"/>
            <p:cNvSpPr/>
            <p:nvPr/>
          </p:nvSpPr>
          <p:spPr>
            <a:xfrm>
              <a:off x="3554445" y="2432144"/>
              <a:ext cx="1224136" cy="304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Plate</a:t>
              </a:r>
            </a:p>
          </p:txBody>
        </p:sp>
        <p:sp>
          <p:nvSpPr>
            <p:cNvPr id="9" name="Rectangle 8"/>
            <p:cNvSpPr/>
            <p:nvPr/>
          </p:nvSpPr>
          <p:spPr>
            <a:xfrm>
              <a:off x="2114285" y="3152224"/>
              <a:ext cx="1800200" cy="36004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Mantle</a:t>
              </a:r>
            </a:p>
          </p:txBody>
        </p:sp>
      </p:grpSp>
    </p:spTree>
    <p:extLst>
      <p:ext uri="{BB962C8B-B14F-4D97-AF65-F5344CB8AC3E}">
        <p14:creationId xmlns:p14="http://schemas.microsoft.com/office/powerpoint/2010/main" val="1383683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52247"/>
            <a:ext cx="10515600" cy="2924716"/>
          </a:xfrm>
        </p:spPr>
        <p:txBody>
          <a:bodyPr>
            <a:normAutofit fontScale="92500" lnSpcReduction="10000"/>
          </a:bodyPr>
          <a:lstStyle/>
          <a:p>
            <a:pPr marL="0" indent="0">
              <a:lnSpc>
                <a:spcPct val="150000"/>
              </a:lnSpc>
              <a:buNone/>
            </a:pPr>
            <a:r>
              <a:rPr lang="en-AU" dirty="0"/>
              <a:t>Push one cookie piece beneath the other to make a destructive plate boundary. Note that this is the only situation where the cold, brittle lithosphere extends to great depths, and hence the only place where deep earthquakes occur. The very largest earthquakes are at subduction zones where two plates get stuck together for centuries, then suddenly let go.  </a:t>
            </a:r>
          </a:p>
          <a:p>
            <a:pPr marL="0" indent="0">
              <a:buNone/>
            </a:pPr>
            <a:endParaRPr lang="en-AU" dirty="0"/>
          </a:p>
        </p:txBody>
      </p:sp>
      <p:grpSp>
        <p:nvGrpSpPr>
          <p:cNvPr id="5" name="Group 4"/>
          <p:cNvGrpSpPr/>
          <p:nvPr/>
        </p:nvGrpSpPr>
        <p:grpSpPr>
          <a:xfrm>
            <a:off x="7105706" y="151406"/>
            <a:ext cx="3247196" cy="2814237"/>
            <a:chOff x="968182" y="2200034"/>
            <a:chExt cx="3247196" cy="2814237"/>
          </a:xfrm>
        </p:grpSpPr>
        <p:pic>
          <p:nvPicPr>
            <p:cNvPr id="6" name="Picture 2" descr="http://pubs.usgs.gov/gip/dynamic/graphics/Fig13.gif"/>
            <p:cNvPicPr>
              <a:picLocks noChangeAspect="1" noChangeArrowheads="1"/>
            </p:cNvPicPr>
            <p:nvPr/>
          </p:nvPicPr>
          <p:blipFill rotWithShape="1">
            <a:blip r:embed="rId2">
              <a:extLst>
                <a:ext uri="{28A0092B-C50C-407E-A947-70E740481C1C}">
                  <a14:useLocalDpi xmlns:a14="http://schemas.microsoft.com/office/drawing/2010/main" val="0"/>
                </a:ext>
              </a:extLst>
            </a:blip>
            <a:srcRect l="44565" r="43250" b="80925"/>
            <a:stretch/>
          </p:blipFill>
          <p:spPr bwMode="auto">
            <a:xfrm>
              <a:off x="968182" y="2200034"/>
              <a:ext cx="3247196" cy="281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991242" y="2636912"/>
              <a:ext cx="1224136" cy="304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Plate</a:t>
              </a:r>
            </a:p>
          </p:txBody>
        </p:sp>
        <p:sp>
          <p:nvSpPr>
            <p:cNvPr id="8" name="Rectangle 7"/>
            <p:cNvSpPr/>
            <p:nvPr/>
          </p:nvSpPr>
          <p:spPr>
            <a:xfrm>
              <a:off x="968182" y="4005064"/>
              <a:ext cx="1224136" cy="304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Plate</a:t>
              </a:r>
            </a:p>
          </p:txBody>
        </p:sp>
      </p:grpSp>
    </p:spTree>
    <p:extLst>
      <p:ext uri="{BB962C8B-B14F-4D97-AF65-F5344CB8AC3E}">
        <p14:creationId xmlns:p14="http://schemas.microsoft.com/office/powerpoint/2010/main" val="365315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615" y="769823"/>
            <a:ext cx="10515600" cy="4351338"/>
          </a:xfrm>
        </p:spPr>
        <p:txBody>
          <a:bodyPr/>
          <a:lstStyle/>
          <a:p>
            <a:pPr marL="0" indent="0">
              <a:lnSpc>
                <a:spcPct val="150000"/>
              </a:lnSpc>
              <a:buNone/>
            </a:pPr>
            <a:r>
              <a:rPr lang="en-AU" dirty="0"/>
              <a:t>Simulate a conservative plate boundary by sliding the two cookie pieces laterally past one another, over the creamy filling. You can feel and hear that the “plates” do not slide smoothly past one another, but rather stick then let go, stick then let go. The cracking sound you hear each time is like an earthquake occurring along the San Andreas Fault in California. </a:t>
            </a:r>
          </a:p>
          <a:p>
            <a:pPr marL="0" indent="0">
              <a:buNone/>
            </a:pPr>
            <a:endParaRPr lang="en-AU" dirty="0"/>
          </a:p>
        </p:txBody>
      </p:sp>
      <p:pic>
        <p:nvPicPr>
          <p:cNvPr id="5" name="Picture 2" descr="http://pubs.usgs.gov/gip/dynamic/graphics/Fig13.gif"/>
          <p:cNvPicPr>
            <a:picLocks noChangeAspect="1" noChangeArrowheads="1"/>
          </p:cNvPicPr>
          <p:nvPr/>
        </p:nvPicPr>
        <p:blipFill rotWithShape="1">
          <a:blip r:embed="rId2">
            <a:extLst>
              <a:ext uri="{28A0092B-C50C-407E-A947-70E740481C1C}">
                <a14:useLocalDpi xmlns:a14="http://schemas.microsoft.com/office/drawing/2010/main" val="0"/>
              </a:ext>
            </a:extLst>
          </a:blip>
          <a:srcRect l="8154" r="76363" b="80925"/>
          <a:stretch/>
        </p:blipFill>
        <p:spPr bwMode="auto">
          <a:xfrm>
            <a:off x="5766137" y="4304928"/>
            <a:ext cx="3742964" cy="255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855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536</TotalTime>
  <Words>445</Words>
  <Application>Microsoft Macintosh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Oreo Tectonics</vt:lpstr>
      <vt:lpstr>PowerPoint Presentation</vt:lpstr>
      <vt:lpstr>In our experiment:</vt:lpstr>
      <vt:lpstr>Choose a cookie… don’t eat it yet!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Oreo Tectonics</dc:title>
  <dc:creator>Rebecca Donavon</dc:creator>
  <cp:lastModifiedBy>DONAVON Rebecca [Narrogin Senior High School]</cp:lastModifiedBy>
  <cp:revision>9</cp:revision>
  <dcterms:created xsi:type="dcterms:W3CDTF">2017-08-07T10:26:25Z</dcterms:created>
  <dcterms:modified xsi:type="dcterms:W3CDTF">2020-02-16T12:35:51Z</dcterms:modified>
</cp:coreProperties>
</file>
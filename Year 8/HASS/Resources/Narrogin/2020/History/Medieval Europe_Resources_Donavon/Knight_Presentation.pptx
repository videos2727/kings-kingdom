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57" r:id="rId4"/>
    <p:sldId id="258" r:id="rId5"/>
    <p:sldId id="259" r:id="rId6"/>
    <p:sldId id="260" r:id="rId7"/>
    <p:sldId id="261" r:id="rId8"/>
    <p:sldId id="262" r:id="rId9"/>
    <p:sldId id="263" r:id="rId10"/>
    <p:sldId id="264" r:id="rId11"/>
    <p:sldId id="265" r:id="rId12"/>
    <p:sldId id="267" r:id="rId13"/>
  </p:sldIdLst>
  <p:sldSz cx="9144000" cy="6858000" type="screen4x3"/>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1062"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93A6C4C5-1D9E-4A5A-8F64-D0E15DC2DEE1}" type="datetimeFigureOut">
              <a:rPr lang="en-US" smtClean="0"/>
              <a:pPr/>
              <a:t>3/24/2011</a:t>
            </a:fld>
            <a:endParaRPr lang="en-AU"/>
          </a:p>
        </p:txBody>
      </p:sp>
      <p:sp>
        <p:nvSpPr>
          <p:cNvPr id="16" name="Slide Number Placeholder 15"/>
          <p:cNvSpPr>
            <a:spLocks noGrp="1"/>
          </p:cNvSpPr>
          <p:nvPr>
            <p:ph type="sldNum" sz="quarter" idx="11"/>
          </p:nvPr>
        </p:nvSpPr>
        <p:spPr/>
        <p:txBody>
          <a:bodyPr/>
          <a:lstStyle/>
          <a:p>
            <a:fld id="{AC4037FE-D6F3-4CAD-B4FB-7DE61A60BF95}" type="slidenum">
              <a:rPr lang="en-AU" smtClean="0"/>
              <a:pPr/>
              <a:t>‹#›</a:t>
            </a:fld>
            <a:endParaRPr lang="en-AU"/>
          </a:p>
        </p:txBody>
      </p:sp>
      <p:sp>
        <p:nvSpPr>
          <p:cNvPr id="17" name="Footer Placeholder 16"/>
          <p:cNvSpPr>
            <a:spLocks noGrp="1"/>
          </p:cNvSpPr>
          <p:nvPr>
            <p:ph type="ftr" sz="quarter" idx="12"/>
          </p:nvPr>
        </p:nvSpPr>
        <p:spPr/>
        <p:txBody>
          <a:bodyPr/>
          <a:lstStyle/>
          <a:p>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93A6C4C5-1D9E-4A5A-8F64-D0E15DC2DEE1}" type="datetimeFigureOut">
              <a:rPr lang="en-US" smtClean="0"/>
              <a:pPr/>
              <a:t>3/24/2011</a:t>
            </a:fld>
            <a:endParaRPr lang="en-AU"/>
          </a:p>
        </p:txBody>
      </p:sp>
      <p:sp>
        <p:nvSpPr>
          <p:cNvPr id="15" name="Slide Number Placeholder 14"/>
          <p:cNvSpPr>
            <a:spLocks noGrp="1"/>
          </p:cNvSpPr>
          <p:nvPr>
            <p:ph type="sldNum" sz="quarter" idx="15"/>
          </p:nvPr>
        </p:nvSpPr>
        <p:spPr/>
        <p:txBody>
          <a:bodyPr/>
          <a:lstStyle>
            <a:lvl1pPr algn="ctr">
              <a:defRPr/>
            </a:lvl1pPr>
          </a:lstStyle>
          <a:p>
            <a:fld id="{AC4037FE-D6F3-4CAD-B4FB-7DE61A60BF95}" type="slidenum">
              <a:rPr lang="en-AU" smtClean="0"/>
              <a:pPr/>
              <a:t>‹#›</a:t>
            </a:fld>
            <a:endParaRPr lang="en-AU"/>
          </a:p>
        </p:txBody>
      </p:sp>
      <p:sp>
        <p:nvSpPr>
          <p:cNvPr id="16" name="Footer Placeholder 15"/>
          <p:cNvSpPr>
            <a:spLocks noGrp="1"/>
          </p:cNvSpPr>
          <p:nvPr>
            <p:ph type="ftr" sz="quarter" idx="16"/>
          </p:nvPr>
        </p:nvSpPr>
        <p:spPr/>
        <p:txBody>
          <a:bodyPr/>
          <a:lstStyle/>
          <a:p>
            <a:endParaRPr lang="en-AU"/>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A6C4C5-1D9E-4A5A-8F64-D0E15DC2DEE1}" type="datetimeFigureOut">
              <a:rPr lang="en-US" smtClean="0"/>
              <a:pPr/>
              <a:t>3/24/2011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C4037FE-D6F3-4CAD-B4FB-7DE61A60BF95}" type="slidenum">
              <a:rPr lang="en-AU" smtClean="0"/>
              <a:pPr/>
              <a:t>‹#›</a:t>
            </a:fld>
            <a:endParaRPr lang="en-AU"/>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3A6C4C5-1D9E-4A5A-8F64-D0E15DC2DEE1}" type="datetimeFigureOut">
              <a:rPr lang="en-US" smtClean="0"/>
              <a:pPr/>
              <a:t>3/24/2011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C4037FE-D6F3-4CAD-B4FB-7DE61A60BF95}" type="slidenum">
              <a:rPr lang="en-AU" smtClean="0"/>
              <a:pPr/>
              <a:t>‹#›</a:t>
            </a:fld>
            <a:endParaRPr lang="en-AU"/>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AC4037FE-D6F3-4CAD-B4FB-7DE61A60BF95}" type="slidenum">
              <a:rPr lang="en-AU" smtClean="0"/>
              <a:pPr/>
              <a:t>‹#›</a:t>
            </a:fld>
            <a:endParaRPr lang="en-AU"/>
          </a:p>
        </p:txBody>
      </p:sp>
      <p:sp>
        <p:nvSpPr>
          <p:cNvPr id="8" name="Footer Placeholder 7"/>
          <p:cNvSpPr>
            <a:spLocks noGrp="1"/>
          </p:cNvSpPr>
          <p:nvPr>
            <p:ph type="ftr" sz="quarter" idx="11"/>
          </p:nvPr>
        </p:nvSpPr>
        <p:spPr/>
        <p:txBody>
          <a:bodyPr/>
          <a:lstStyle/>
          <a:p>
            <a:endParaRPr lang="en-AU"/>
          </a:p>
        </p:txBody>
      </p:sp>
      <p:sp>
        <p:nvSpPr>
          <p:cNvPr id="7" name="Date Placeholder 6"/>
          <p:cNvSpPr>
            <a:spLocks noGrp="1"/>
          </p:cNvSpPr>
          <p:nvPr>
            <p:ph type="dt" sz="half" idx="10"/>
          </p:nvPr>
        </p:nvSpPr>
        <p:spPr/>
        <p:txBody>
          <a:bodyPr/>
          <a:lstStyle/>
          <a:p>
            <a:fld id="{93A6C4C5-1D9E-4A5A-8F64-D0E15DC2DEE1}" type="datetimeFigureOut">
              <a:rPr lang="en-US" smtClean="0"/>
              <a:pPr/>
              <a:t>3/24/2011</a:t>
            </a:fld>
            <a:endParaRPr lang="en-AU"/>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3A6C4C5-1D9E-4A5A-8F64-D0E15DC2DEE1}" type="datetimeFigureOut">
              <a:rPr lang="en-US" smtClean="0"/>
              <a:pPr/>
              <a:t>3/24/2011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C4037FE-D6F3-4CAD-B4FB-7DE61A60BF95}" type="slidenum">
              <a:rPr lang="en-AU" smtClean="0"/>
              <a:pPr/>
              <a:t>‹#›</a:t>
            </a:fld>
            <a:endParaRPr lang="en-AU"/>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A6C4C5-1D9E-4A5A-8F64-D0E15DC2DEE1}" type="datetimeFigureOut">
              <a:rPr lang="en-US" smtClean="0"/>
              <a:pPr/>
              <a:t>3/24/2011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C4037FE-D6F3-4CAD-B4FB-7DE61A60BF95}"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93A6C4C5-1D9E-4A5A-8F64-D0E15DC2DEE1}" type="datetimeFigureOut">
              <a:rPr lang="en-US" smtClean="0"/>
              <a:pPr/>
              <a:t>3/24/2011</a:t>
            </a:fld>
            <a:endParaRPr lang="en-AU"/>
          </a:p>
        </p:txBody>
      </p:sp>
      <p:sp>
        <p:nvSpPr>
          <p:cNvPr id="9" name="Slide Number Placeholder 8"/>
          <p:cNvSpPr>
            <a:spLocks noGrp="1"/>
          </p:cNvSpPr>
          <p:nvPr>
            <p:ph type="sldNum" sz="quarter" idx="15"/>
          </p:nvPr>
        </p:nvSpPr>
        <p:spPr/>
        <p:txBody>
          <a:bodyPr/>
          <a:lstStyle/>
          <a:p>
            <a:fld id="{AC4037FE-D6F3-4CAD-B4FB-7DE61A60BF95}" type="slidenum">
              <a:rPr lang="en-AU" smtClean="0"/>
              <a:pPr/>
              <a:t>‹#›</a:t>
            </a:fld>
            <a:endParaRPr lang="en-AU"/>
          </a:p>
        </p:txBody>
      </p:sp>
      <p:sp>
        <p:nvSpPr>
          <p:cNvPr id="10" name="Footer Placeholder 9"/>
          <p:cNvSpPr>
            <a:spLocks noGrp="1"/>
          </p:cNvSpPr>
          <p:nvPr>
            <p:ph type="ftr" sz="quarter" idx="16"/>
          </p:nvPr>
        </p:nvSpPr>
        <p:spPr/>
        <p:txBody>
          <a:bodyPr/>
          <a:lstStyle/>
          <a:p>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93A6C4C5-1D9E-4A5A-8F64-D0E15DC2DEE1}" type="datetimeFigureOut">
              <a:rPr lang="en-US" smtClean="0"/>
              <a:pPr/>
              <a:t>3/24/2011</a:t>
            </a:fld>
            <a:endParaRPr lang="en-AU"/>
          </a:p>
        </p:txBody>
      </p:sp>
      <p:sp>
        <p:nvSpPr>
          <p:cNvPr id="9" name="Slide Number Placeholder 8"/>
          <p:cNvSpPr>
            <a:spLocks noGrp="1"/>
          </p:cNvSpPr>
          <p:nvPr>
            <p:ph type="sldNum" sz="quarter" idx="11"/>
          </p:nvPr>
        </p:nvSpPr>
        <p:spPr/>
        <p:txBody>
          <a:bodyPr/>
          <a:lstStyle/>
          <a:p>
            <a:fld id="{AC4037FE-D6F3-4CAD-B4FB-7DE61A60BF95}" type="slidenum">
              <a:rPr lang="en-AU" smtClean="0"/>
              <a:pPr/>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3A6C4C5-1D9E-4A5A-8F64-D0E15DC2DEE1}" type="datetimeFigureOut">
              <a:rPr lang="en-US" smtClean="0"/>
              <a:pPr/>
              <a:t>3/24/2011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C4037FE-D6F3-4CAD-B4FB-7DE61A60BF95}"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3A6C4C5-1D9E-4A5A-8F64-D0E15DC2DEE1}" type="datetimeFigureOut">
              <a:rPr lang="en-US" smtClean="0"/>
              <a:pPr/>
              <a:t>3/24/2011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C4037FE-D6F3-4CAD-B4FB-7DE61A60BF95}"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93A6C4C5-1D9E-4A5A-8F64-D0E15DC2DEE1}" type="datetimeFigureOut">
              <a:rPr lang="en-US" smtClean="0"/>
              <a:pPr/>
              <a:t>3/24/2011</a:t>
            </a:fld>
            <a:endParaRPr lang="en-AU"/>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AU"/>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AC4037FE-D6F3-4CAD-B4FB-7DE61A60BF95}" type="slidenum">
              <a:rPr lang="en-AU" smtClean="0"/>
              <a:pPr/>
              <a:t>‹#›</a:t>
            </a:fld>
            <a:endParaRPr lang="en-AU"/>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1357298"/>
            <a:ext cx="8143932" cy="2243153"/>
          </a:xfrm>
        </p:spPr>
        <p:txBody>
          <a:bodyPr>
            <a:noAutofit/>
          </a:bodyPr>
          <a:lstStyle/>
          <a:p>
            <a:r>
              <a:rPr lang="en-AU" sz="17000" b="1" dirty="0" smtClean="0">
                <a:solidFill>
                  <a:schemeClr val="bg2">
                    <a:lumMod val="10000"/>
                  </a:schemeClr>
                </a:solidFill>
                <a:latin typeface="Type Knight" pitchFamily="2" charset="0"/>
              </a:rPr>
              <a:t>Knights</a:t>
            </a:r>
            <a:endParaRPr lang="en-AU" sz="6000" b="1" dirty="0">
              <a:solidFill>
                <a:schemeClr val="bg2">
                  <a:lumMod val="10000"/>
                </a:schemeClr>
              </a:solidFill>
              <a:latin typeface="Type Knight" pitchFamily="2" charset="0"/>
            </a:endParaRPr>
          </a:p>
        </p:txBody>
      </p:sp>
      <p:pic>
        <p:nvPicPr>
          <p:cNvPr id="11266" name="Picture 2" descr="http://images.art.com/images/products/regular/12066000/12066286.jpg"/>
          <p:cNvPicPr>
            <a:picLocks noChangeAspect="1" noChangeArrowheads="1"/>
          </p:cNvPicPr>
          <p:nvPr/>
        </p:nvPicPr>
        <p:blipFill>
          <a:blip r:embed="rId2" cstate="print"/>
          <a:srcRect l="1875" t="12542" r="4374" b="17224"/>
          <a:stretch>
            <a:fillRect/>
          </a:stretch>
        </p:blipFill>
        <p:spPr bwMode="auto">
          <a:xfrm>
            <a:off x="2357422" y="3929066"/>
            <a:ext cx="4337307" cy="2428892"/>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AU" dirty="0" smtClean="0"/>
              <a:t>   The </a:t>
            </a:r>
            <a:r>
              <a:rPr lang="en-AU" dirty="0"/>
              <a:t>medieval era was a time of constant </a:t>
            </a:r>
            <a:r>
              <a:rPr lang="en-AU" dirty="0" smtClean="0"/>
              <a:t>warfare. Lords </a:t>
            </a:r>
            <a:r>
              <a:rPr lang="en-AU" dirty="0"/>
              <a:t>and their armies fought one another </a:t>
            </a:r>
            <a:r>
              <a:rPr lang="en-AU" dirty="0" smtClean="0"/>
              <a:t>within their </a:t>
            </a:r>
            <a:r>
              <a:rPr lang="en-AU" dirty="0"/>
              <a:t>own countries; they </a:t>
            </a:r>
            <a:r>
              <a:rPr lang="en-AU" dirty="0" smtClean="0"/>
              <a:t>fought for </a:t>
            </a:r>
            <a:r>
              <a:rPr lang="en-AU" dirty="0"/>
              <a:t>their kings in </a:t>
            </a:r>
            <a:r>
              <a:rPr lang="en-AU" dirty="0" smtClean="0"/>
              <a:t>battle against </a:t>
            </a:r>
            <a:r>
              <a:rPr lang="en-AU" dirty="0"/>
              <a:t>other countries; </a:t>
            </a:r>
            <a:r>
              <a:rPr lang="en-AU" dirty="0" smtClean="0"/>
              <a:t>and sometimes </a:t>
            </a:r>
            <a:r>
              <a:rPr lang="en-AU" dirty="0"/>
              <a:t>they </a:t>
            </a:r>
            <a:r>
              <a:rPr lang="en-AU" dirty="0" smtClean="0"/>
              <a:t>joined forces </a:t>
            </a:r>
            <a:r>
              <a:rPr lang="en-AU" dirty="0"/>
              <a:t>to try and </a:t>
            </a:r>
            <a:r>
              <a:rPr lang="en-AU" dirty="0" smtClean="0"/>
              <a:t>replace their </a:t>
            </a:r>
            <a:r>
              <a:rPr lang="en-AU" dirty="0"/>
              <a:t>king with a </a:t>
            </a:r>
            <a:r>
              <a:rPr lang="en-AU" dirty="0" smtClean="0"/>
              <a:t>new monarch</a:t>
            </a:r>
            <a:r>
              <a:rPr lang="en-AU" dirty="0"/>
              <a:t>. </a:t>
            </a:r>
            <a:endParaRPr lang="en-AU" dirty="0" smtClean="0"/>
          </a:p>
          <a:p>
            <a:pPr>
              <a:buNone/>
            </a:pPr>
            <a:endParaRPr lang="en-AU" dirty="0" smtClean="0"/>
          </a:p>
          <a:p>
            <a:pPr>
              <a:buNone/>
            </a:pPr>
            <a:r>
              <a:rPr lang="en-AU" dirty="0" smtClean="0"/>
              <a:t>   The </a:t>
            </a:r>
            <a:r>
              <a:rPr lang="en-AU" dirty="0"/>
              <a:t>most </a:t>
            </a:r>
            <a:r>
              <a:rPr lang="en-AU" dirty="0" smtClean="0"/>
              <a:t>significant </a:t>
            </a:r>
            <a:r>
              <a:rPr lang="en-AU" dirty="0"/>
              <a:t>person on </a:t>
            </a:r>
            <a:r>
              <a:rPr lang="en-AU" dirty="0" smtClean="0"/>
              <a:t>the battlefield </a:t>
            </a:r>
            <a:r>
              <a:rPr lang="en-AU" dirty="0"/>
              <a:t>was </a:t>
            </a:r>
            <a:r>
              <a:rPr lang="en-AU" dirty="0" smtClean="0"/>
              <a:t>the knight </a:t>
            </a:r>
            <a:r>
              <a:rPr lang="en-AU" dirty="0"/>
              <a:t>in his armour.</a:t>
            </a:r>
          </a:p>
        </p:txBody>
      </p:sp>
      <p:sp>
        <p:nvSpPr>
          <p:cNvPr id="2" name="Title 1"/>
          <p:cNvSpPr>
            <a:spLocks noGrp="1"/>
          </p:cNvSpPr>
          <p:nvPr>
            <p:ph type="title"/>
          </p:nvPr>
        </p:nvSpPr>
        <p:spPr/>
        <p:txBody>
          <a:bodyPr/>
          <a:lstStyle/>
          <a:p>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AU" dirty="0" smtClean="0"/>
              <a:t>    Knights </a:t>
            </a:r>
            <a:r>
              <a:rPr lang="en-AU" dirty="0"/>
              <a:t>were warriors on horseback, </a:t>
            </a:r>
            <a:r>
              <a:rPr lang="en-AU" dirty="0" smtClean="0"/>
              <a:t>who fought </a:t>
            </a:r>
            <a:r>
              <a:rPr lang="en-AU" dirty="0"/>
              <a:t>for their king, their lord or, in some cases</a:t>
            </a:r>
            <a:r>
              <a:rPr lang="en-AU" dirty="0" smtClean="0"/>
              <a:t>, for </a:t>
            </a:r>
            <a:r>
              <a:rPr lang="en-AU" dirty="0"/>
              <a:t>whoever would pay for their services. </a:t>
            </a:r>
            <a:endParaRPr lang="en-AU" dirty="0" smtClean="0"/>
          </a:p>
          <a:p>
            <a:pPr>
              <a:buNone/>
            </a:pPr>
            <a:r>
              <a:rPr lang="en-AU" dirty="0" smtClean="0"/>
              <a:t> </a:t>
            </a:r>
            <a:r>
              <a:rPr lang="en-AU" dirty="0" smtClean="0"/>
              <a:t>  </a:t>
            </a:r>
            <a:r>
              <a:rPr lang="en-AU" dirty="0" smtClean="0"/>
              <a:t>The </a:t>
            </a:r>
            <a:r>
              <a:rPr lang="en-AU" dirty="0" smtClean="0"/>
              <a:t>early </a:t>
            </a:r>
            <a:r>
              <a:rPr lang="en-AU" dirty="0"/>
              <a:t>knights could be `lowly born' men, </a:t>
            </a:r>
            <a:r>
              <a:rPr lang="en-AU" dirty="0" smtClean="0"/>
              <a:t>who were </a:t>
            </a:r>
            <a:r>
              <a:rPr lang="en-AU" dirty="0"/>
              <a:t>rewarded for bravery and skill in battle. </a:t>
            </a:r>
            <a:endParaRPr lang="en-AU" dirty="0" smtClean="0"/>
          </a:p>
          <a:p>
            <a:pPr>
              <a:buNone/>
            </a:pPr>
            <a:r>
              <a:rPr lang="en-AU" dirty="0" smtClean="0"/>
              <a:t> </a:t>
            </a:r>
            <a:r>
              <a:rPr lang="en-AU" dirty="0" smtClean="0"/>
              <a:t>  </a:t>
            </a:r>
            <a:r>
              <a:rPr lang="en-AU" dirty="0" smtClean="0"/>
              <a:t>By </a:t>
            </a:r>
            <a:r>
              <a:rPr lang="en-AU" dirty="0" smtClean="0"/>
              <a:t>the </a:t>
            </a:r>
            <a:r>
              <a:rPr lang="en-AU" dirty="0"/>
              <a:t>thirteenth century, only men of noble </a:t>
            </a:r>
            <a:r>
              <a:rPr lang="en-AU" dirty="0" smtClean="0"/>
              <a:t>birth were </a:t>
            </a:r>
            <a:r>
              <a:rPr lang="en-AU" dirty="0"/>
              <a:t>admitted to the knighthood and, even then</a:t>
            </a:r>
            <a:r>
              <a:rPr lang="en-AU" dirty="0" smtClean="0"/>
              <a:t>, only </a:t>
            </a:r>
            <a:r>
              <a:rPr lang="en-AU" dirty="0"/>
              <a:t>after years of training in military skills, </a:t>
            </a:r>
            <a:r>
              <a:rPr lang="en-AU" dirty="0" smtClean="0"/>
              <a:t>service to </a:t>
            </a:r>
            <a:r>
              <a:rPr lang="en-AU" dirty="0"/>
              <a:t>others and Christian teachings</a:t>
            </a:r>
            <a:r>
              <a:rPr lang="en-AU" dirty="0" smtClean="0"/>
              <a:t>. </a:t>
            </a:r>
            <a:endParaRPr lang="en-AU" dirty="0"/>
          </a:p>
        </p:txBody>
      </p:sp>
      <p:sp>
        <p:nvSpPr>
          <p:cNvPr id="2" name="Title 1"/>
          <p:cNvSpPr>
            <a:spLocks noGrp="1"/>
          </p:cNvSpPr>
          <p:nvPr>
            <p:ph type="title"/>
          </p:nvPr>
        </p:nvSpPr>
        <p:spPr/>
        <p:txBody>
          <a:bodyPr/>
          <a:lstStyle/>
          <a:p>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6248" y="1600200"/>
            <a:ext cx="4400552" cy="5043510"/>
          </a:xfrm>
        </p:spPr>
        <p:txBody>
          <a:bodyPr>
            <a:normAutofit fontScale="92500"/>
          </a:bodyPr>
          <a:lstStyle/>
          <a:p>
            <a:pPr>
              <a:buNone/>
            </a:pPr>
            <a:r>
              <a:rPr lang="en-AU" dirty="0" smtClean="0"/>
              <a:t>    Training for knighthood began at the age of seven when a young boy left his own family to learn the skills of a page</a:t>
            </a:r>
            <a:r>
              <a:rPr lang="en-AU" b="1" dirty="0" smtClean="0"/>
              <a:t> </a:t>
            </a:r>
            <a:r>
              <a:rPr lang="en-AU" dirty="0" smtClean="0"/>
              <a:t>at a nearby castle. </a:t>
            </a:r>
          </a:p>
          <a:p>
            <a:pPr>
              <a:buNone/>
            </a:pPr>
            <a:r>
              <a:rPr lang="en-AU" b="1" dirty="0" smtClean="0"/>
              <a:t>    </a:t>
            </a:r>
            <a:r>
              <a:rPr lang="en-AU" b="1" dirty="0" smtClean="0"/>
              <a:t> </a:t>
            </a:r>
            <a:r>
              <a:rPr lang="en-AU" dirty="0" smtClean="0"/>
              <a:t>A </a:t>
            </a:r>
            <a:r>
              <a:rPr lang="en-AU" dirty="0" smtClean="0"/>
              <a:t>page learned to be polite, to serve God, to ride and hunt for wild game, to understand the role of the knight, chivalry and loyalty to his liege lord, and sometimes to read and write.</a:t>
            </a:r>
            <a:r>
              <a:rPr lang="en-AU" b="1" dirty="0" smtClean="0"/>
              <a:t> </a:t>
            </a:r>
            <a:endParaRPr lang="en-AU" dirty="0" smtClean="0"/>
          </a:p>
          <a:p>
            <a:pPr>
              <a:buNone/>
            </a:pPr>
            <a:endParaRPr lang="en-AU" dirty="0"/>
          </a:p>
        </p:txBody>
      </p:sp>
      <p:sp>
        <p:nvSpPr>
          <p:cNvPr id="2" name="Title 1"/>
          <p:cNvSpPr>
            <a:spLocks noGrp="1"/>
          </p:cNvSpPr>
          <p:nvPr>
            <p:ph type="title"/>
          </p:nvPr>
        </p:nvSpPr>
        <p:spPr/>
        <p:txBody>
          <a:bodyPr/>
          <a:lstStyle/>
          <a:p>
            <a:pPr algn="ctr"/>
            <a:r>
              <a:rPr lang="en-AU" sz="6600" dirty="0" smtClean="0">
                <a:solidFill>
                  <a:srgbClr val="00B0F0"/>
                </a:solidFill>
                <a:latin typeface="Type Knight" pitchFamily="2" charset="0"/>
              </a:rPr>
              <a:t>Page</a:t>
            </a:r>
            <a:endParaRPr lang="en-AU" dirty="0">
              <a:solidFill>
                <a:srgbClr val="00B0F0"/>
              </a:solidFill>
              <a:latin typeface="Type Knight" pitchFamily="2" charset="0"/>
            </a:endParaRPr>
          </a:p>
        </p:txBody>
      </p:sp>
      <p:pic>
        <p:nvPicPr>
          <p:cNvPr id="4" name="Picture 3"/>
          <p:cNvPicPr/>
          <p:nvPr/>
        </p:nvPicPr>
        <p:blipFill>
          <a:blip r:embed="rId2" cstate="print"/>
          <a:srcRect l="3800" t="7533" r="53710" b="9043"/>
          <a:stretch>
            <a:fillRect/>
          </a:stretch>
        </p:blipFill>
        <p:spPr bwMode="auto">
          <a:xfrm>
            <a:off x="428596" y="1643050"/>
            <a:ext cx="3848100" cy="4724400"/>
          </a:xfrm>
          <a:prstGeom prst="rect">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600200"/>
            <a:ext cx="4857784" cy="4972072"/>
          </a:xfrm>
        </p:spPr>
        <p:txBody>
          <a:bodyPr>
            <a:normAutofit fontScale="92500" lnSpcReduction="10000"/>
          </a:bodyPr>
          <a:lstStyle/>
          <a:p>
            <a:pPr>
              <a:buNone/>
            </a:pPr>
            <a:r>
              <a:rPr lang="en-AU" dirty="0" smtClean="0"/>
              <a:t>    If the page showed promise, then at fourteen years of age he could become a squire</a:t>
            </a:r>
            <a:r>
              <a:rPr lang="en-AU" b="1" dirty="0" smtClean="0"/>
              <a:t>. </a:t>
            </a:r>
          </a:p>
          <a:p>
            <a:pPr>
              <a:buNone/>
            </a:pPr>
            <a:r>
              <a:rPr lang="en-AU" b="1" dirty="0" smtClean="0"/>
              <a:t>    </a:t>
            </a:r>
            <a:r>
              <a:rPr lang="en-AU" dirty="0" smtClean="0"/>
              <a:t>Through service to a knight, he would learn to look after the knight’s armour, weaponry and horses and continue training in military skills, social graces and cultural pursuits. </a:t>
            </a:r>
          </a:p>
          <a:p>
            <a:pPr>
              <a:buNone/>
            </a:pPr>
            <a:r>
              <a:rPr lang="en-AU" dirty="0" smtClean="0"/>
              <a:t>    While he was a squire, he was allowed to carry a sword and a shield, which showed what rank he had achieved. </a:t>
            </a:r>
          </a:p>
          <a:p>
            <a:pPr>
              <a:buNone/>
            </a:pPr>
            <a:r>
              <a:rPr lang="en-US" b="1" dirty="0" smtClean="0">
                <a:solidFill>
                  <a:schemeClr val="bg2">
                    <a:lumMod val="25000"/>
                  </a:schemeClr>
                </a:solidFill>
                <a:latin typeface="Andalus" pitchFamily="2" charset="-78"/>
                <a:cs typeface="Andalus" pitchFamily="2" charset="-78"/>
              </a:rPr>
              <a:t>    </a:t>
            </a:r>
            <a:endParaRPr lang="en-AU" dirty="0"/>
          </a:p>
        </p:txBody>
      </p:sp>
      <p:sp>
        <p:nvSpPr>
          <p:cNvPr id="2" name="Title 1"/>
          <p:cNvSpPr>
            <a:spLocks noGrp="1"/>
          </p:cNvSpPr>
          <p:nvPr>
            <p:ph type="title"/>
          </p:nvPr>
        </p:nvSpPr>
        <p:spPr/>
        <p:txBody>
          <a:bodyPr>
            <a:normAutofit/>
          </a:bodyPr>
          <a:lstStyle/>
          <a:p>
            <a:pPr algn="ctr"/>
            <a:r>
              <a:rPr lang="en-AU" sz="6700" dirty="0" smtClean="0">
                <a:solidFill>
                  <a:srgbClr val="0070C0"/>
                </a:solidFill>
                <a:latin typeface="Type Knight" pitchFamily="2" charset="0"/>
              </a:rPr>
              <a:t>Squire</a:t>
            </a:r>
            <a:endParaRPr lang="en-AU" dirty="0">
              <a:solidFill>
                <a:srgbClr val="0070C0"/>
              </a:solidFill>
              <a:latin typeface="Type Knight" pitchFamily="2" charset="0"/>
            </a:endParaRPr>
          </a:p>
        </p:txBody>
      </p:sp>
      <p:pic>
        <p:nvPicPr>
          <p:cNvPr id="4" name="Picture 3"/>
          <p:cNvPicPr/>
          <p:nvPr/>
        </p:nvPicPr>
        <p:blipFill>
          <a:blip r:embed="rId2" cstate="print"/>
          <a:srcRect l="4988" t="6809" r="54775" b="7979"/>
          <a:stretch>
            <a:fillRect/>
          </a:stretch>
        </p:blipFill>
        <p:spPr bwMode="auto">
          <a:xfrm>
            <a:off x="5072066" y="1571612"/>
            <a:ext cx="3357554" cy="4591044"/>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628" y="2000240"/>
            <a:ext cx="3686172" cy="4125923"/>
          </a:xfrm>
        </p:spPr>
        <p:txBody>
          <a:bodyPr>
            <a:normAutofit lnSpcReduction="10000"/>
          </a:bodyPr>
          <a:lstStyle/>
          <a:p>
            <a:pPr>
              <a:buNone/>
            </a:pPr>
            <a:r>
              <a:rPr lang="en-AU" dirty="0" smtClean="0"/>
              <a:t>    By the age of about 21, the young man was eligible for </a:t>
            </a:r>
            <a:r>
              <a:rPr lang="en-AU" b="1" dirty="0" smtClean="0"/>
              <a:t>knighthood</a:t>
            </a:r>
            <a:r>
              <a:rPr lang="en-AU" dirty="0" smtClean="0"/>
              <a:t> and expected to live his life according to the rules known as the code of </a:t>
            </a:r>
            <a:r>
              <a:rPr lang="en-AU" b="1" dirty="0" smtClean="0"/>
              <a:t>chivalry</a:t>
            </a:r>
            <a:r>
              <a:rPr lang="en-AU" b="1" dirty="0" smtClean="0"/>
              <a:t>. </a:t>
            </a:r>
            <a:br>
              <a:rPr lang="en-AU" b="1" dirty="0" smtClean="0"/>
            </a:br>
            <a:r>
              <a:rPr lang="en-AU" b="1" dirty="0" smtClean="0"/>
              <a:t/>
            </a:r>
            <a:br>
              <a:rPr lang="en-AU" b="1" dirty="0" smtClean="0"/>
            </a:br>
            <a:r>
              <a:rPr lang="en-AU" b="1" dirty="0" smtClean="0"/>
              <a:t/>
            </a:r>
            <a:br>
              <a:rPr lang="en-AU" b="1" dirty="0" smtClean="0"/>
            </a:br>
            <a:endParaRPr lang="en-AU" b="1" dirty="0" smtClean="0"/>
          </a:p>
          <a:p>
            <a:pPr>
              <a:buNone/>
            </a:pPr>
            <a:endParaRPr lang="en-AU" b="1" dirty="0" smtClean="0"/>
          </a:p>
          <a:p>
            <a:pPr>
              <a:buNone/>
            </a:pPr>
            <a:endParaRPr lang="en-AU" b="1" dirty="0" smtClean="0"/>
          </a:p>
          <a:p>
            <a:pPr>
              <a:buNone/>
            </a:pPr>
            <a:endParaRPr lang="en-AU" b="1" dirty="0" smtClean="0"/>
          </a:p>
          <a:p>
            <a:pPr>
              <a:buNone/>
            </a:pPr>
            <a:endParaRPr lang="en-AU" b="1" dirty="0" smtClean="0"/>
          </a:p>
          <a:p>
            <a:pPr>
              <a:buNone/>
            </a:pPr>
            <a:endParaRPr lang="en-AU" dirty="0"/>
          </a:p>
        </p:txBody>
      </p:sp>
      <p:sp>
        <p:nvSpPr>
          <p:cNvPr id="2" name="Title 1"/>
          <p:cNvSpPr>
            <a:spLocks noGrp="1"/>
          </p:cNvSpPr>
          <p:nvPr>
            <p:ph type="title"/>
          </p:nvPr>
        </p:nvSpPr>
        <p:spPr/>
        <p:txBody>
          <a:bodyPr>
            <a:normAutofit/>
          </a:bodyPr>
          <a:lstStyle/>
          <a:p>
            <a:pPr algn="ctr"/>
            <a:r>
              <a:rPr lang="en-AU" sz="6700" dirty="0" smtClean="0">
                <a:solidFill>
                  <a:srgbClr val="002060"/>
                </a:solidFill>
                <a:latin typeface="Type Knight" pitchFamily="2" charset="0"/>
              </a:rPr>
              <a:t>Knight</a:t>
            </a:r>
            <a:endParaRPr lang="en-AU" dirty="0">
              <a:solidFill>
                <a:srgbClr val="002060"/>
              </a:solidFill>
              <a:latin typeface="Type Knight" pitchFamily="2" charset="0"/>
            </a:endParaRPr>
          </a:p>
        </p:txBody>
      </p:sp>
      <p:pic>
        <p:nvPicPr>
          <p:cNvPr id="5" name="Picture 4"/>
          <p:cNvPicPr/>
          <p:nvPr/>
        </p:nvPicPr>
        <p:blipFill>
          <a:blip r:embed="rId2" cstate="print"/>
          <a:srcRect l="3990" t="7447" r="53446" b="11170"/>
          <a:stretch>
            <a:fillRect/>
          </a:stretch>
        </p:blipFill>
        <p:spPr bwMode="auto">
          <a:xfrm>
            <a:off x="714348" y="1500174"/>
            <a:ext cx="4095748" cy="4808634"/>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5114932" cy="4525963"/>
          </a:xfrm>
        </p:spPr>
        <p:txBody>
          <a:bodyPr/>
          <a:lstStyle/>
          <a:p>
            <a:pPr>
              <a:buNone/>
            </a:pPr>
            <a:r>
              <a:rPr lang="en-AU" dirty="0"/>
              <a:t>The chivalrous knight was:</a:t>
            </a:r>
          </a:p>
          <a:p>
            <a:r>
              <a:rPr lang="en-AU" dirty="0" smtClean="0"/>
              <a:t>loyal </a:t>
            </a:r>
            <a:r>
              <a:rPr lang="en-AU" dirty="0"/>
              <a:t>to the Catholic Church</a:t>
            </a:r>
          </a:p>
          <a:p>
            <a:r>
              <a:rPr lang="en-AU" dirty="0" smtClean="0"/>
              <a:t>dedicated </a:t>
            </a:r>
            <a:r>
              <a:rPr lang="en-AU" dirty="0"/>
              <a:t>to helping those who were weak </a:t>
            </a:r>
            <a:r>
              <a:rPr lang="en-AU" dirty="0" smtClean="0"/>
              <a:t>and easily </a:t>
            </a:r>
            <a:r>
              <a:rPr lang="en-AU" dirty="0"/>
              <a:t>exploited</a:t>
            </a:r>
          </a:p>
          <a:p>
            <a:r>
              <a:rPr lang="en-AU" dirty="0" smtClean="0"/>
              <a:t>brave </a:t>
            </a:r>
            <a:r>
              <a:rPr lang="en-AU" dirty="0"/>
              <a:t>in battle</a:t>
            </a:r>
          </a:p>
          <a:p>
            <a:r>
              <a:rPr lang="en-AU" dirty="0" smtClean="0"/>
              <a:t>willing </a:t>
            </a:r>
            <a:r>
              <a:rPr lang="en-AU" dirty="0"/>
              <a:t>to </a:t>
            </a:r>
            <a:r>
              <a:rPr lang="en-AU" dirty="0" smtClean="0"/>
              <a:t>fight </a:t>
            </a:r>
            <a:r>
              <a:rPr lang="en-AU" dirty="0"/>
              <a:t>to protect </a:t>
            </a:r>
            <a:r>
              <a:rPr lang="en-AU" dirty="0" smtClean="0"/>
              <a:t>women</a:t>
            </a:r>
            <a:endParaRPr lang="en-AU" dirty="0"/>
          </a:p>
        </p:txBody>
      </p:sp>
      <p:sp>
        <p:nvSpPr>
          <p:cNvPr id="2" name="Title 1"/>
          <p:cNvSpPr>
            <a:spLocks noGrp="1"/>
          </p:cNvSpPr>
          <p:nvPr>
            <p:ph type="title"/>
          </p:nvPr>
        </p:nvSpPr>
        <p:spPr/>
        <p:txBody>
          <a:bodyPr>
            <a:normAutofit/>
          </a:bodyPr>
          <a:lstStyle/>
          <a:p>
            <a:pPr algn="ctr"/>
            <a:r>
              <a:rPr lang="en-AU" sz="6600" b="1" dirty="0" smtClean="0">
                <a:solidFill>
                  <a:schemeClr val="bg2">
                    <a:lumMod val="10000"/>
                  </a:schemeClr>
                </a:solidFill>
                <a:latin typeface="Type Knight" pitchFamily="2" charset="0"/>
                <a:ea typeface="Kozuka Gothic Pro R" pitchFamily="34" charset="-128"/>
              </a:rPr>
              <a:t>Code of Chivalry</a:t>
            </a:r>
            <a:endParaRPr lang="en-AU" sz="6600" b="1" dirty="0">
              <a:solidFill>
                <a:schemeClr val="bg2">
                  <a:lumMod val="10000"/>
                </a:schemeClr>
              </a:solidFill>
              <a:latin typeface="Type Knight" pitchFamily="2" charset="0"/>
              <a:ea typeface="Kozuka Gothic Pro R" pitchFamily="34" charset="-128"/>
            </a:endParaRPr>
          </a:p>
        </p:txBody>
      </p:sp>
      <p:pic>
        <p:nvPicPr>
          <p:cNvPr id="5122" name="Picture 2" descr="http://upload.wikimedia.org/wikipedia/commons/archive/1/16/20100812214914%21Meister_der_Manessischen_Liederhandschrift_001.jpg"/>
          <p:cNvPicPr>
            <a:picLocks noChangeAspect="1" noChangeArrowheads="1"/>
          </p:cNvPicPr>
          <p:nvPr/>
        </p:nvPicPr>
        <p:blipFill>
          <a:blip r:embed="rId2" cstate="print"/>
          <a:srcRect/>
          <a:stretch>
            <a:fillRect/>
          </a:stretch>
        </p:blipFill>
        <p:spPr bwMode="auto">
          <a:xfrm>
            <a:off x="5643570" y="1714488"/>
            <a:ext cx="3193138" cy="4324340"/>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AU" dirty="0" smtClean="0"/>
              <a:t>    When </a:t>
            </a:r>
            <a:r>
              <a:rPr lang="en-AU" dirty="0"/>
              <a:t>not in battle, knights practised their </a:t>
            </a:r>
            <a:r>
              <a:rPr lang="en-AU" dirty="0" smtClean="0"/>
              <a:t>skills. They </a:t>
            </a:r>
            <a:r>
              <a:rPr lang="en-AU" dirty="0"/>
              <a:t>did this individually in exercises </a:t>
            </a:r>
            <a:r>
              <a:rPr lang="en-AU" dirty="0" smtClean="0"/>
              <a:t>called `tilting </a:t>
            </a:r>
            <a:r>
              <a:rPr lang="en-AU" dirty="0"/>
              <a:t>the </a:t>
            </a:r>
            <a:r>
              <a:rPr lang="en-AU" dirty="0" err="1"/>
              <a:t>quintain</a:t>
            </a:r>
            <a:r>
              <a:rPr lang="en-AU" dirty="0"/>
              <a:t>' or in organised tournaments</a:t>
            </a:r>
            <a:r>
              <a:rPr lang="en-AU" dirty="0" smtClean="0"/>
              <a:t>.</a:t>
            </a:r>
          </a:p>
          <a:p>
            <a:r>
              <a:rPr lang="en-AU" dirty="0"/>
              <a:t>Tournaments developed from the custom </a:t>
            </a:r>
            <a:r>
              <a:rPr lang="en-AU" dirty="0" smtClean="0"/>
              <a:t>of teams </a:t>
            </a:r>
            <a:r>
              <a:rPr lang="en-AU" dirty="0"/>
              <a:t>of knights </a:t>
            </a:r>
            <a:r>
              <a:rPr lang="en-AU" b="1" dirty="0"/>
              <a:t>jousting or competing </a:t>
            </a:r>
            <a:r>
              <a:rPr lang="en-AU" b="1" dirty="0" smtClean="0"/>
              <a:t>against </a:t>
            </a:r>
            <a:r>
              <a:rPr lang="en-AU" dirty="0" smtClean="0"/>
              <a:t>one </a:t>
            </a:r>
            <a:r>
              <a:rPr lang="en-AU" dirty="0"/>
              <a:t>another on a local </a:t>
            </a:r>
            <a:r>
              <a:rPr lang="en-AU" dirty="0" smtClean="0"/>
              <a:t>field</a:t>
            </a:r>
            <a:r>
              <a:rPr lang="en-AU" dirty="0"/>
              <a:t>. These often </a:t>
            </a:r>
            <a:r>
              <a:rPr lang="en-AU" dirty="0" smtClean="0"/>
              <a:t>violent events </a:t>
            </a:r>
            <a:r>
              <a:rPr lang="en-AU" dirty="0"/>
              <a:t>were called mêlées. </a:t>
            </a:r>
            <a:endParaRPr lang="en-AU" dirty="0" smtClean="0"/>
          </a:p>
          <a:p>
            <a:r>
              <a:rPr lang="en-AU" dirty="0" smtClean="0"/>
              <a:t>Over </a:t>
            </a:r>
            <a:r>
              <a:rPr lang="en-AU" dirty="0"/>
              <a:t>time, </a:t>
            </a:r>
            <a:r>
              <a:rPr lang="en-AU" dirty="0" smtClean="0"/>
              <a:t>people began </a:t>
            </a:r>
            <a:r>
              <a:rPr lang="en-AU" dirty="0"/>
              <a:t>to develop strict rules and greater </a:t>
            </a:r>
            <a:r>
              <a:rPr lang="en-AU" dirty="0" smtClean="0"/>
              <a:t>organisation for </a:t>
            </a:r>
            <a:r>
              <a:rPr lang="en-AU" dirty="0"/>
              <a:t>this type of activity and to </a:t>
            </a:r>
            <a:r>
              <a:rPr lang="en-AU" dirty="0" smtClean="0"/>
              <a:t>call </a:t>
            </a:r>
            <a:r>
              <a:rPr lang="en-AU" dirty="0"/>
              <a:t>its </a:t>
            </a:r>
            <a:r>
              <a:rPr lang="en-AU" dirty="0" smtClean="0"/>
              <a:t>new form </a:t>
            </a:r>
            <a:r>
              <a:rPr lang="en-AU" dirty="0"/>
              <a:t>`tournaments'. Tournaments attracted </a:t>
            </a:r>
            <a:r>
              <a:rPr lang="en-AU" dirty="0" smtClean="0"/>
              <a:t>large audiences </a:t>
            </a:r>
            <a:r>
              <a:rPr lang="en-AU" dirty="0"/>
              <a:t>that enjoyed the excitement of </a:t>
            </a:r>
            <a:r>
              <a:rPr lang="en-AU" dirty="0" smtClean="0"/>
              <a:t>seeing who </a:t>
            </a:r>
            <a:r>
              <a:rPr lang="en-AU" dirty="0"/>
              <a:t>would be the hero of the day.</a:t>
            </a:r>
          </a:p>
        </p:txBody>
      </p:sp>
      <p:sp>
        <p:nvSpPr>
          <p:cNvPr id="2" name="Title 1"/>
          <p:cNvSpPr>
            <a:spLocks noGrp="1"/>
          </p:cNvSpPr>
          <p:nvPr>
            <p:ph type="title"/>
          </p:nvPr>
        </p:nvSpPr>
        <p:spPr/>
        <p:txBody>
          <a:bodyPr>
            <a:normAutofit/>
          </a:bodyPr>
          <a:lstStyle/>
          <a:p>
            <a:pPr algn="ctr"/>
            <a:r>
              <a:rPr lang="en-AU" sz="6600" b="1" dirty="0" smtClean="0">
                <a:solidFill>
                  <a:schemeClr val="bg2">
                    <a:lumMod val="10000"/>
                  </a:schemeClr>
                </a:solidFill>
                <a:latin typeface="Type Knight" pitchFamily="2" charset="0"/>
              </a:rPr>
              <a:t>At </a:t>
            </a:r>
            <a:r>
              <a:rPr lang="en-AU" sz="6600" b="1" dirty="0" smtClean="0">
                <a:solidFill>
                  <a:schemeClr val="bg2">
                    <a:lumMod val="10000"/>
                  </a:schemeClr>
                </a:solidFill>
                <a:latin typeface="Type Knight" pitchFamily="2" charset="0"/>
              </a:rPr>
              <a:t>The </a:t>
            </a:r>
            <a:r>
              <a:rPr lang="en-AU" sz="6600" b="1" dirty="0" smtClean="0">
                <a:solidFill>
                  <a:schemeClr val="bg2">
                    <a:lumMod val="10000"/>
                  </a:schemeClr>
                </a:solidFill>
                <a:latin typeface="Type Knight" pitchFamily="2" charset="0"/>
              </a:rPr>
              <a:t>T</a:t>
            </a:r>
            <a:r>
              <a:rPr lang="en-AU" sz="6600" b="1" dirty="0" smtClean="0">
                <a:solidFill>
                  <a:schemeClr val="bg2">
                    <a:lumMod val="10000"/>
                  </a:schemeClr>
                </a:solidFill>
                <a:latin typeface="Type Knight" pitchFamily="2" charset="0"/>
              </a:rPr>
              <a:t>ournament</a:t>
            </a:r>
            <a:endParaRPr lang="en-AU" sz="6600" b="1" dirty="0">
              <a:solidFill>
                <a:schemeClr val="bg2">
                  <a:lumMod val="10000"/>
                </a:schemeClr>
              </a:solidFill>
              <a:latin typeface="Type Knight"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0"/>
            <a:duotone>
              <a:schemeClr val="bg2">
                <a:shade val="12000"/>
                <a:satMod val="240000"/>
              </a:schemeClr>
              <a:schemeClr val="bg2">
                <a:tint val="65000"/>
              </a:schemeClr>
            </a:duotone>
            <a:lum/>
          </a:blip>
          <a:srcRect/>
          <a:stretch>
            <a:fillRect/>
          </a:stretch>
        </a:blipFill>
        <a:effectLst/>
      </p:bgPr>
    </p:bg>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3" cstate="print"/>
          <a:stretch>
            <a:fillRect/>
          </a:stretch>
        </p:blipFill>
        <p:spPr bwMode="auto">
          <a:xfrm>
            <a:off x="2928926" y="2993696"/>
            <a:ext cx="5629293" cy="3454737"/>
          </a:xfrm>
          <a:prstGeom prst="rect">
            <a:avLst/>
          </a:prstGeom>
          <a:ln>
            <a:noFill/>
          </a:ln>
          <a:effectLst>
            <a:softEdge rad="112500"/>
          </a:effectLst>
        </p:spPr>
      </p:pic>
      <p:sp>
        <p:nvSpPr>
          <p:cNvPr id="2" name="Title 1"/>
          <p:cNvSpPr>
            <a:spLocks noGrp="1"/>
          </p:cNvSpPr>
          <p:nvPr>
            <p:ph type="title"/>
          </p:nvPr>
        </p:nvSpPr>
        <p:spPr/>
        <p:txBody>
          <a:bodyPr/>
          <a:lstStyle/>
          <a:p>
            <a:endParaRPr lang="en-AU" dirty="0"/>
          </a:p>
        </p:txBody>
      </p:sp>
      <p:pic>
        <p:nvPicPr>
          <p:cNvPr id="1026" name="Picture 2"/>
          <p:cNvPicPr>
            <a:picLocks noChangeAspect="1" noChangeArrowheads="1"/>
          </p:cNvPicPr>
          <p:nvPr/>
        </p:nvPicPr>
        <p:blipFill>
          <a:blip r:embed="rId4" cstate="print"/>
          <a:srcRect/>
          <a:stretch>
            <a:fillRect/>
          </a:stretch>
        </p:blipFill>
        <p:spPr bwMode="auto">
          <a:xfrm>
            <a:off x="214281" y="214290"/>
            <a:ext cx="6533829" cy="2928958"/>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cstate="print">
            <a:alphaModFix amt="0"/>
            <a:duotone>
              <a:schemeClr val="bg2">
                <a:shade val="12000"/>
                <a:satMod val="240000"/>
              </a:schemeClr>
              <a:schemeClr val="bg2">
                <a:tint val="65000"/>
              </a:schemeClr>
            </a:duotone>
            <a:lum/>
          </a:blip>
          <a:srcRect/>
          <a:stretch>
            <a:fillRect/>
          </a:stretch>
        </a:blipFill>
        <a:effectLst/>
      </p:bgPr>
    </p:bg>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3" cstate="print"/>
          <a:stretch>
            <a:fillRect/>
          </a:stretch>
        </p:blipFill>
        <p:spPr bwMode="auto">
          <a:xfrm>
            <a:off x="3343417" y="3143248"/>
            <a:ext cx="5492583" cy="3390920"/>
          </a:xfrm>
          <a:prstGeom prst="rect">
            <a:avLst/>
          </a:prstGeom>
          <a:noFill/>
          <a:ln w="9525">
            <a:noFill/>
            <a:miter lim="800000"/>
            <a:headEnd/>
            <a:tailEnd/>
          </a:ln>
        </p:spPr>
      </p:pic>
      <p:sp>
        <p:nvSpPr>
          <p:cNvPr id="2" name="Title 1"/>
          <p:cNvSpPr>
            <a:spLocks noGrp="1"/>
          </p:cNvSpPr>
          <p:nvPr>
            <p:ph type="title"/>
          </p:nvPr>
        </p:nvSpPr>
        <p:spPr/>
        <p:txBody>
          <a:bodyPr/>
          <a:lstStyle/>
          <a:p>
            <a:endParaRPr lang="en-AU"/>
          </a:p>
        </p:txBody>
      </p:sp>
      <p:pic>
        <p:nvPicPr>
          <p:cNvPr id="2050" name="Picture 2"/>
          <p:cNvPicPr>
            <a:picLocks noChangeAspect="1" noChangeArrowheads="1"/>
          </p:cNvPicPr>
          <p:nvPr/>
        </p:nvPicPr>
        <p:blipFill>
          <a:blip r:embed="rId4" cstate="print"/>
          <a:srcRect/>
          <a:stretch>
            <a:fillRect/>
          </a:stretch>
        </p:blipFill>
        <p:spPr bwMode="auto">
          <a:xfrm>
            <a:off x="357158" y="142852"/>
            <a:ext cx="5929354" cy="292895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1785918" y="357166"/>
            <a:ext cx="4967417" cy="1662912"/>
          </a:xfrm>
          <a:prstGeom prst="rect">
            <a:avLst/>
          </a:prstGeom>
          <a:ln>
            <a:noFill/>
          </a:ln>
          <a:effectLst>
            <a:softEdge rad="112500"/>
          </a:effectLst>
        </p:spPr>
      </p:pic>
      <p:pic>
        <p:nvPicPr>
          <p:cNvPr id="3075" name="Picture 3"/>
          <p:cNvPicPr>
            <a:picLocks noChangeAspect="1" noChangeArrowheads="1"/>
          </p:cNvPicPr>
          <p:nvPr/>
        </p:nvPicPr>
        <p:blipFill>
          <a:blip r:embed="rId3" cstate="print"/>
          <a:srcRect/>
          <a:stretch>
            <a:fillRect/>
          </a:stretch>
        </p:blipFill>
        <p:spPr bwMode="auto">
          <a:xfrm>
            <a:off x="3714744" y="2285992"/>
            <a:ext cx="4748237" cy="3950823"/>
          </a:xfrm>
          <a:prstGeom prst="rect">
            <a:avLst/>
          </a:prstGeom>
          <a:ln>
            <a:noFill/>
          </a:ln>
          <a:effectLst>
            <a:softEdge rad="112500"/>
          </a:effectLst>
        </p:spPr>
      </p:pic>
      <p:sp>
        <p:nvSpPr>
          <p:cNvPr id="6" name="Rectangle 5"/>
          <p:cNvSpPr/>
          <p:nvPr/>
        </p:nvSpPr>
        <p:spPr>
          <a:xfrm>
            <a:off x="500034" y="3786190"/>
            <a:ext cx="3429024" cy="923330"/>
          </a:xfrm>
          <a:prstGeom prst="rect">
            <a:avLst/>
          </a:prstGeom>
        </p:spPr>
        <p:txBody>
          <a:bodyPr wrap="square">
            <a:spAutoFit/>
          </a:bodyPr>
          <a:lstStyle/>
          <a:p>
            <a:endParaRPr lang="en-AU" b="1" dirty="0" smtClean="0"/>
          </a:p>
          <a:p>
            <a:r>
              <a:rPr lang="en-AU" dirty="0"/>
              <a:t>Examples of heraldic designs (charges) and symbols (devices</a:t>
            </a:r>
            <a:r>
              <a:rPr lang="en-AU" dirty="0" smtClean="0"/>
              <a:t>).</a:t>
            </a:r>
            <a:endParaRPr lang="en-AU" dirty="0"/>
          </a:p>
        </p:txBody>
      </p:sp>
      <p:sp>
        <p:nvSpPr>
          <p:cNvPr id="7" name="Rectangle 6"/>
          <p:cNvSpPr/>
          <p:nvPr/>
        </p:nvSpPr>
        <p:spPr>
          <a:xfrm>
            <a:off x="1500166" y="1928802"/>
            <a:ext cx="6858048" cy="369332"/>
          </a:xfrm>
          <a:prstGeom prst="rect">
            <a:avLst/>
          </a:prstGeom>
        </p:spPr>
        <p:txBody>
          <a:bodyPr wrap="square">
            <a:spAutoFit/>
          </a:bodyPr>
          <a:lstStyle/>
          <a:p>
            <a:r>
              <a:rPr lang="en-AU" dirty="0" smtClean="0"/>
              <a:t>Table showing the metals and colours used in heraldry.</a:t>
            </a:r>
            <a:endParaRPr lang="en-AU"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8596" y="2428868"/>
            <a:ext cx="8229600" cy="1219200"/>
          </a:xfrm>
        </p:spPr>
        <p:txBody>
          <a:bodyPr>
            <a:normAutofit/>
          </a:bodyPr>
          <a:lstStyle/>
          <a:p>
            <a:r>
              <a:rPr lang="en-AU" sz="6600" dirty="0" smtClean="0">
                <a:solidFill>
                  <a:schemeClr val="bg2">
                    <a:lumMod val="10000"/>
                  </a:schemeClr>
                </a:solidFill>
              </a:rPr>
              <a:t>Make your own shield!!</a:t>
            </a:r>
            <a:endParaRPr lang="en-AU" sz="6600" dirty="0">
              <a:solidFill>
                <a:schemeClr val="bg2">
                  <a:lumMod val="10000"/>
                </a:schemeClr>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Knights&amp;quot;&quot;/&gt;&lt;property id=&quot;20307&quot; value=&quot;256&quot;/&gt;&lt;/object&gt;&lt;object type=&quot;3&quot; unique_id=&quot;10005&quot;&gt;&lt;property id=&quot;20148&quot; value=&quot;5&quot;/&gt;&lt;property id=&quot;20300&quot; value=&quot;Slide 3&quot;/&gt;&lt;property id=&quot;20307&quot; value=&quot;257&quot;/&gt;&lt;/object&gt;&lt;object type=&quot;3&quot; unique_id=&quot;10006&quot;&gt;&lt;property id=&quot;20148&quot; value=&quot;5&quot;/&gt;&lt;property id=&quot;20300&quot; value=&quot;Slide 4 - &amp;quot;Page&amp;quot;&quot;/&gt;&lt;property id=&quot;20307&quot; value=&quot;258&quot;/&gt;&lt;/object&gt;&lt;object type=&quot;3&quot; unique_id=&quot;10007&quot;&gt;&lt;property id=&quot;20148&quot; value=&quot;5&quot;/&gt;&lt;property id=&quot;20300&quot; value=&quot;Slide 5 - &amp;quot;Squire&amp;quot;&quot;/&gt;&lt;property id=&quot;20307&quot; value=&quot;259&quot;/&gt;&lt;/object&gt;&lt;object type=&quot;3&quot; unique_id=&quot;10008&quot;&gt;&lt;property id=&quot;20148&quot; value=&quot;5&quot;/&gt;&lt;property id=&quot;20300&quot; value=&quot;Slide 6 - &amp;quot;Knight&amp;quot;&quot;/&gt;&lt;property id=&quot;20307&quot; value=&quot;260&quot;/&gt;&lt;/object&gt;&lt;object type=&quot;3&quot; unique_id=&quot;10009&quot;&gt;&lt;property id=&quot;20148&quot; value=&quot;5&quot;/&gt;&lt;property id=&quot;20300&quot; value=&quot;Slide 7 - &amp;quot;Code of Chivalry&amp;quot;&quot;/&gt;&lt;property id=&quot;20307&quot; value=&quot;261&quot;/&gt;&lt;/object&gt;&lt;object type=&quot;3&quot; unique_id=&quot;10010&quot;&gt;&lt;property id=&quot;20148&quot; value=&quot;5&quot;/&gt;&lt;property id=&quot;20300&quot; value=&quot;Slide 8 - &amp;quot;At The Tournament&amp;quot;&quot;/&gt;&lt;property id=&quot;20307&quot; value=&quot;262&quot;/&gt;&lt;/object&gt;&lt;object type=&quot;3&quot; unique_id=&quot;10011&quot;&gt;&lt;property id=&quot;20148&quot; value=&quot;5&quot;/&gt;&lt;property id=&quot;20300&quot; value=&quot;Slide 9&quot;/&gt;&lt;property id=&quot;20307&quot; value=&quot;263&quot;/&gt;&lt;/object&gt;&lt;object type=&quot;3&quot; unique_id=&quot;10012&quot;&gt;&lt;property id=&quot;20148&quot; value=&quot;5&quot;/&gt;&lt;property id=&quot;20300&quot; value=&quot;Slide 10&quot;/&gt;&lt;property id=&quot;20307&quot; value=&quot;264&quot;/&gt;&lt;/object&gt;&lt;object type=&quot;3&quot; unique_id=&quot;10013&quot;&gt;&lt;property id=&quot;20148&quot; value=&quot;5&quot;/&gt;&lt;property id=&quot;20300&quot; value=&quot;Slide 11&quot;/&gt;&lt;property id=&quot;20307&quot; value=&quot;265&quot;/&gt;&lt;/object&gt;&lt;object type=&quot;3&quot; unique_id=&quot;10122&quot;&gt;&lt;property id=&quot;20148&quot; value=&quot;5&quot;/&gt;&lt;property id=&quot;20300&quot; value=&quot;Slide 2&quot;/&gt;&lt;property id=&quot;20307&quot; value=&quot;266&quot;/&gt;&lt;/object&gt;&lt;object type=&quot;3&quot; unique_id=&quot;10201&quot;&gt;&lt;property id=&quot;20148&quot; value=&quot;5&quot;/&gt;&lt;property id=&quot;20300&quot; value=&quot;Slide 12 - &amp;quot;Make your own shield!!&amp;quot;&quot;/&gt;&lt;property id=&quot;20307&quot; value=&quot;267&quot;/&gt;&lt;/object&gt;&lt;/object&gt;&lt;/object&gt;&lt;/database&gt;"/>
  <p:tag name="SECTOMILLISECCONVERTED" val="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501</TotalTime>
  <Words>504</Words>
  <Application>Microsoft Office PowerPoint</Application>
  <PresentationFormat>On-screen Show (4:3)</PresentationFormat>
  <Paragraphs>34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Paper</vt:lpstr>
      <vt:lpstr>Knights</vt:lpstr>
      <vt:lpstr>Slide 2</vt:lpstr>
      <vt:lpstr>Slide 3</vt:lpstr>
      <vt:lpstr>Page</vt:lpstr>
      <vt:lpstr>Squire</vt:lpstr>
      <vt:lpstr>Knight</vt:lpstr>
      <vt:lpstr>Code of Chivalry</vt:lpstr>
      <vt:lpstr>At The Tournament</vt:lpstr>
      <vt:lpstr>Slide 9</vt:lpstr>
      <vt:lpstr>Slide 10</vt:lpstr>
      <vt:lpstr>Slide 11</vt:lpstr>
      <vt:lpstr>Make your own shield!!</vt:lpstr>
    </vt:vector>
  </TitlesOfParts>
  <Company>DET NSW</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DET User</dc:creator>
  <cp:lastModifiedBy>DET User</cp:lastModifiedBy>
  <cp:revision>31</cp:revision>
  <dcterms:created xsi:type="dcterms:W3CDTF">2011-03-23T01:13:44Z</dcterms:created>
  <dcterms:modified xsi:type="dcterms:W3CDTF">2011-03-24T03:55:51Z</dcterms:modified>
</cp:coreProperties>
</file>
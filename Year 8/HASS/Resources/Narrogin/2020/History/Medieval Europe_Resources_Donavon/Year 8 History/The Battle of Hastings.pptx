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9" r:id="rId8"/>
    <p:sldId id="262" r:id="rId9"/>
    <p:sldId id="267" r:id="rId10"/>
    <p:sldId id="263" r:id="rId11"/>
    <p:sldId id="264" r:id="rId12"/>
    <p:sldId id="268" r:id="rId13"/>
    <p:sldId id="265" r:id="rId14"/>
    <p:sldId id="26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632" autoAdjust="0"/>
    <p:restoredTop sz="94660"/>
  </p:normalViewPr>
  <p:slideViewPr>
    <p:cSldViewPr snapToGrid="0">
      <p:cViewPr varScale="1">
        <p:scale>
          <a:sx n="38" d="100"/>
          <a:sy n="38" d="100"/>
        </p:scale>
        <p:origin x="54" y="10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D125CE06-4FE5-4603-B0A1-350C2785A4F6}" type="datetimeFigureOut">
              <a:rPr lang="en-AU" smtClean="0"/>
              <a:t>31/08/2016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D90CFB3-CC02-4EF0-80B6-61AD71E4DDEC}" type="slidenum">
              <a:rPr lang="en-AU" smtClean="0"/>
              <a:t>‹#›</a:t>
            </a:fld>
            <a:endParaRPr lang="en-AU"/>
          </a:p>
        </p:txBody>
      </p:sp>
    </p:spTree>
    <p:extLst>
      <p:ext uri="{BB962C8B-B14F-4D97-AF65-F5344CB8AC3E}">
        <p14:creationId xmlns:p14="http://schemas.microsoft.com/office/powerpoint/2010/main" val="1425205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D125CE06-4FE5-4603-B0A1-350C2785A4F6}" type="datetimeFigureOut">
              <a:rPr lang="en-AU" smtClean="0"/>
              <a:t>31/08/2016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D90CFB3-CC02-4EF0-80B6-61AD71E4DDEC}" type="slidenum">
              <a:rPr lang="en-AU" smtClean="0"/>
              <a:t>‹#›</a:t>
            </a:fld>
            <a:endParaRPr lang="en-AU"/>
          </a:p>
        </p:txBody>
      </p:sp>
    </p:spTree>
    <p:extLst>
      <p:ext uri="{BB962C8B-B14F-4D97-AF65-F5344CB8AC3E}">
        <p14:creationId xmlns:p14="http://schemas.microsoft.com/office/powerpoint/2010/main" val="2230170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125CE06-4FE5-4603-B0A1-350C2785A4F6}" type="datetimeFigureOut">
              <a:rPr lang="en-AU" smtClean="0"/>
              <a:t>31/08/2016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D90CFB3-CC02-4EF0-80B6-61AD71E4DDEC}" type="slidenum">
              <a:rPr lang="en-AU" smtClean="0"/>
              <a:t>‹#›</a:t>
            </a:fld>
            <a:endParaRPr lang="en-AU"/>
          </a:p>
        </p:txBody>
      </p:sp>
    </p:spTree>
    <p:extLst>
      <p:ext uri="{BB962C8B-B14F-4D97-AF65-F5344CB8AC3E}">
        <p14:creationId xmlns:p14="http://schemas.microsoft.com/office/powerpoint/2010/main" val="1698075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D125CE06-4FE5-4603-B0A1-350C2785A4F6}" type="datetimeFigureOut">
              <a:rPr lang="en-AU" smtClean="0"/>
              <a:t>31/08/2016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D90CFB3-CC02-4EF0-80B6-61AD71E4DDEC}" type="slidenum">
              <a:rPr lang="en-AU" smtClean="0"/>
              <a:t>‹#›</a:t>
            </a:fld>
            <a:endParaRPr lang="en-AU"/>
          </a:p>
        </p:txBody>
      </p:sp>
    </p:spTree>
    <p:extLst>
      <p:ext uri="{BB962C8B-B14F-4D97-AF65-F5344CB8AC3E}">
        <p14:creationId xmlns:p14="http://schemas.microsoft.com/office/powerpoint/2010/main" val="297250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D125CE06-4FE5-4603-B0A1-350C2785A4F6}" type="datetimeFigureOut">
              <a:rPr lang="en-AU" smtClean="0"/>
              <a:t>31/08/2016</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2D90CFB3-CC02-4EF0-80B6-61AD71E4DDEC}" type="slidenum">
              <a:rPr lang="en-AU" smtClean="0"/>
              <a:t>‹#›</a:t>
            </a:fld>
            <a:endParaRPr lang="en-AU"/>
          </a:p>
        </p:txBody>
      </p:sp>
    </p:spTree>
    <p:extLst>
      <p:ext uri="{BB962C8B-B14F-4D97-AF65-F5344CB8AC3E}">
        <p14:creationId xmlns:p14="http://schemas.microsoft.com/office/powerpoint/2010/main" val="1767063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D125CE06-4FE5-4603-B0A1-350C2785A4F6}" type="datetimeFigureOut">
              <a:rPr lang="en-AU" smtClean="0"/>
              <a:t>31/08/2016</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2D90CFB3-CC02-4EF0-80B6-61AD71E4DDEC}" type="slidenum">
              <a:rPr lang="en-AU" smtClean="0"/>
              <a:t>‹#›</a:t>
            </a:fld>
            <a:endParaRPr lang="en-AU"/>
          </a:p>
        </p:txBody>
      </p:sp>
    </p:spTree>
    <p:extLst>
      <p:ext uri="{BB962C8B-B14F-4D97-AF65-F5344CB8AC3E}">
        <p14:creationId xmlns:p14="http://schemas.microsoft.com/office/powerpoint/2010/main" val="4286333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25CE06-4FE5-4603-B0A1-350C2785A4F6}" type="datetimeFigureOut">
              <a:rPr lang="en-AU" smtClean="0"/>
              <a:t>31/08/2016</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2D90CFB3-CC02-4EF0-80B6-61AD71E4DDEC}" type="slidenum">
              <a:rPr lang="en-AU" smtClean="0"/>
              <a:t>‹#›</a:t>
            </a:fld>
            <a:endParaRPr lang="en-AU"/>
          </a:p>
        </p:txBody>
      </p:sp>
    </p:spTree>
    <p:extLst>
      <p:ext uri="{BB962C8B-B14F-4D97-AF65-F5344CB8AC3E}">
        <p14:creationId xmlns:p14="http://schemas.microsoft.com/office/powerpoint/2010/main" val="2089167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125CE06-4FE5-4603-B0A1-350C2785A4F6}" type="datetimeFigureOut">
              <a:rPr lang="en-AU" smtClean="0"/>
              <a:t>31/08/2016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D90CFB3-CC02-4EF0-80B6-61AD71E4DDEC}" type="slidenum">
              <a:rPr lang="en-AU" smtClean="0"/>
              <a:t>‹#›</a:t>
            </a:fld>
            <a:endParaRPr lang="en-AU"/>
          </a:p>
        </p:txBody>
      </p:sp>
    </p:spTree>
    <p:extLst>
      <p:ext uri="{BB962C8B-B14F-4D97-AF65-F5344CB8AC3E}">
        <p14:creationId xmlns:p14="http://schemas.microsoft.com/office/powerpoint/2010/main" val="3380526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125CE06-4FE5-4603-B0A1-350C2785A4F6}" type="datetimeFigureOut">
              <a:rPr lang="en-AU" smtClean="0"/>
              <a:t>31/08/2016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D90CFB3-CC02-4EF0-80B6-61AD71E4DDEC}" type="slidenum">
              <a:rPr lang="en-AU" smtClean="0"/>
              <a:t>‹#›</a:t>
            </a:fld>
            <a:endParaRPr lang="en-AU"/>
          </a:p>
        </p:txBody>
      </p:sp>
    </p:spTree>
    <p:extLst>
      <p:ext uri="{BB962C8B-B14F-4D97-AF65-F5344CB8AC3E}">
        <p14:creationId xmlns:p14="http://schemas.microsoft.com/office/powerpoint/2010/main" val="4169960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D125CE06-4FE5-4603-B0A1-350C2785A4F6}" type="datetimeFigureOut">
              <a:rPr lang="en-AU" smtClean="0"/>
              <a:t>31/08/2016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D90CFB3-CC02-4EF0-80B6-61AD71E4DDEC}" type="slidenum">
              <a:rPr lang="en-AU" smtClean="0"/>
              <a:t>‹#›</a:t>
            </a:fld>
            <a:endParaRPr lang="en-AU"/>
          </a:p>
        </p:txBody>
      </p:sp>
    </p:spTree>
    <p:extLst>
      <p:ext uri="{BB962C8B-B14F-4D97-AF65-F5344CB8AC3E}">
        <p14:creationId xmlns:p14="http://schemas.microsoft.com/office/powerpoint/2010/main" val="78680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D125CE06-4FE5-4603-B0A1-350C2785A4F6}" type="datetimeFigureOut">
              <a:rPr lang="en-AU" smtClean="0"/>
              <a:t>31/08/2016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D90CFB3-CC02-4EF0-80B6-61AD71E4DDEC}" type="slidenum">
              <a:rPr lang="en-AU" smtClean="0"/>
              <a:t>‹#›</a:t>
            </a:fld>
            <a:endParaRPr lang="en-AU"/>
          </a:p>
        </p:txBody>
      </p:sp>
    </p:spTree>
    <p:extLst>
      <p:ext uri="{BB962C8B-B14F-4D97-AF65-F5344CB8AC3E}">
        <p14:creationId xmlns:p14="http://schemas.microsoft.com/office/powerpoint/2010/main" val="2038076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25CE06-4FE5-4603-B0A1-350C2785A4F6}" type="datetimeFigureOut">
              <a:rPr lang="en-AU" smtClean="0"/>
              <a:t>31/08/2016</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90CFB3-CC02-4EF0-80B6-61AD71E4DDEC}" type="slidenum">
              <a:rPr lang="en-AU" smtClean="0"/>
              <a:t>‹#›</a:t>
            </a:fld>
            <a:endParaRPr lang="en-AU"/>
          </a:p>
        </p:txBody>
      </p:sp>
    </p:spTree>
    <p:extLst>
      <p:ext uri="{BB962C8B-B14F-4D97-AF65-F5344CB8AC3E}">
        <p14:creationId xmlns:p14="http://schemas.microsoft.com/office/powerpoint/2010/main" val="41122160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AU" sz="9600" dirty="0" smtClean="0">
                <a:latin typeface="Faith Collapsing" panose="02000000000000000000" pitchFamily="2" charset="0"/>
              </a:rPr>
              <a:t>The Battle of Hastings</a:t>
            </a:r>
            <a:endParaRPr lang="en-AU" sz="9600" dirty="0">
              <a:latin typeface="Faith Collapsing" panose="02000000000000000000" pitchFamily="2" charset="0"/>
            </a:endParaRPr>
          </a:p>
        </p:txBody>
      </p:sp>
      <p:sp>
        <p:nvSpPr>
          <p:cNvPr id="3" name="Subtitle 2"/>
          <p:cNvSpPr>
            <a:spLocks noGrp="1"/>
          </p:cNvSpPr>
          <p:nvPr>
            <p:ph type="subTitle" idx="1"/>
          </p:nvPr>
        </p:nvSpPr>
        <p:spPr/>
        <p:txBody>
          <a:bodyPr>
            <a:normAutofit/>
          </a:bodyPr>
          <a:lstStyle/>
          <a:p>
            <a:r>
              <a:rPr lang="en-AU" sz="3200" dirty="0" smtClean="0">
                <a:latin typeface="Book Antiqua" panose="02040602050305030304" pitchFamily="18" charset="0"/>
              </a:rPr>
              <a:t>The Invasion of England</a:t>
            </a:r>
            <a:endParaRPr lang="en-AU" sz="3200" dirty="0">
              <a:latin typeface="Book Antiqua" panose="02040602050305030304" pitchFamily="18" charset="0"/>
            </a:endParaRPr>
          </a:p>
        </p:txBody>
      </p:sp>
    </p:spTree>
    <p:extLst>
      <p:ext uri="{BB962C8B-B14F-4D97-AF65-F5344CB8AC3E}">
        <p14:creationId xmlns:p14="http://schemas.microsoft.com/office/powerpoint/2010/main" val="30882092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6937" y="345574"/>
            <a:ext cx="7595937" cy="3989972"/>
          </a:xfrm>
        </p:spPr>
        <p:txBody>
          <a:bodyPr/>
          <a:lstStyle/>
          <a:p>
            <a:pPr marL="0" indent="0">
              <a:buNone/>
            </a:pPr>
            <a:r>
              <a:rPr lang="en-AU" b="1" dirty="0">
                <a:latin typeface="Book Antiqua" panose="02040602050305030304" pitchFamily="18" charset="0"/>
              </a:rPr>
              <a:t>K</a:t>
            </a:r>
            <a:r>
              <a:rPr lang="en-AU" dirty="0">
                <a:latin typeface="Book Antiqua" panose="02040602050305030304" pitchFamily="18" charset="0"/>
              </a:rPr>
              <a:t>ing Edward of England (called "The Confessor" because of his construction of Westminster Abbey) died on January 5, 1066, after a reign of 23 years. Leaving no heirs, Edward's passing ignited a three-way rivalry for the crown that culminated in the Battle of Hastings and the destruction of the Anglo-Saxon rule of England</a:t>
            </a:r>
            <a:r>
              <a:rPr lang="en-AU" dirty="0" smtClean="0">
                <a:latin typeface="Book Antiqua" panose="02040602050305030304" pitchFamily="18" charset="0"/>
              </a:rPr>
              <a:t>. </a:t>
            </a:r>
            <a:endParaRPr lang="en-AU" dirty="0">
              <a:latin typeface="Book Antiqua" panose="02040602050305030304" pitchFamily="18" charset="0"/>
            </a:endParaRPr>
          </a:p>
        </p:txBody>
      </p:sp>
      <p:pic>
        <p:nvPicPr>
          <p:cNvPr id="1028" name="Picture 4" descr="Image result for king edward the confess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9524" y="601579"/>
            <a:ext cx="4372476" cy="5722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04115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4032" y="365125"/>
            <a:ext cx="7082589" cy="5811838"/>
          </a:xfrm>
        </p:spPr>
        <p:txBody>
          <a:bodyPr>
            <a:normAutofit fontScale="92500"/>
          </a:bodyPr>
          <a:lstStyle/>
          <a:p>
            <a:pPr marL="0" indent="0">
              <a:buNone/>
            </a:pPr>
            <a:r>
              <a:rPr lang="en-AU" dirty="0">
                <a:latin typeface="Book Antiqua" panose="02040602050305030304" pitchFamily="18" charset="0"/>
              </a:rPr>
              <a:t>The leading </a:t>
            </a:r>
            <a:r>
              <a:rPr lang="en-AU" dirty="0" smtClean="0">
                <a:latin typeface="Book Antiqua" panose="02040602050305030304" pitchFamily="18" charset="0"/>
              </a:rPr>
              <a:t>predecessor was </a:t>
            </a:r>
            <a:r>
              <a:rPr lang="en-AU" dirty="0">
                <a:latin typeface="Book Antiqua" panose="02040602050305030304" pitchFamily="18" charset="0"/>
              </a:rPr>
              <a:t>Harold Godwinson, the second most powerful man in England and an advisor to Edward. Harold and Edward became brothers-in-law when the king married Harold's sister. Harold's powerful position, his relationship to Edward and his esteem among his peers made him a logical successor to the throne. His claim was strengthened when the dying Edward supposedly uttered "Into Harold's hands I commit my Kingdom." With this kingly endorsement, the Witan (the council of royal advisors) unanimously selected Harold as King. His coronation took place the same day as Edward's burial. With the placing of the crown on his head, Harold's troubles began.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95213" y="746797"/>
            <a:ext cx="3383898" cy="4138024"/>
          </a:xfrm>
          <a:prstGeom prst="rect">
            <a:avLst/>
          </a:prstGeom>
        </p:spPr>
      </p:pic>
    </p:spTree>
    <p:extLst>
      <p:ext uri="{BB962C8B-B14F-4D97-AF65-F5344CB8AC3E}">
        <p14:creationId xmlns:p14="http://schemas.microsoft.com/office/powerpoint/2010/main" val="39009265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0894" y="457796"/>
            <a:ext cx="6517106" cy="5693866"/>
          </a:xfrm>
          <a:prstGeom prst="rect">
            <a:avLst/>
          </a:prstGeom>
        </p:spPr>
        <p:txBody>
          <a:bodyPr wrap="square">
            <a:spAutoFit/>
          </a:bodyPr>
          <a:lstStyle/>
          <a:p>
            <a:r>
              <a:rPr lang="en-AU" sz="2800" b="0" i="0" dirty="0" smtClean="0">
                <a:solidFill>
                  <a:srgbClr val="000000"/>
                </a:solidFill>
                <a:effectLst/>
                <a:latin typeface="Book Antiqua" panose="02040602050305030304" pitchFamily="18" charset="0"/>
              </a:rPr>
              <a:t>Across the English Channel, William, Duke of Normandy, also laid claim to the English throne. William justified his claim through his blood relationship with Edward (they were distant cousins) and by stating that some years earlier, Edward had designated him as his successor. To compound the issue, William asserted that the message in which Edward anointed him as the next King of England had been carried to him in 1064 by none other than Harold himself. </a:t>
            </a:r>
            <a:endParaRPr lang="en-AU" sz="2800" dirty="0">
              <a:latin typeface="Book Antiqua" panose="02040602050305030304" pitchFamily="18"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33563" y="625641"/>
            <a:ext cx="4356998" cy="6136105"/>
          </a:xfrm>
          <a:prstGeom prst="rect">
            <a:avLst/>
          </a:prstGeom>
        </p:spPr>
      </p:pic>
    </p:spTree>
    <p:extLst>
      <p:ext uri="{BB962C8B-B14F-4D97-AF65-F5344CB8AC3E}">
        <p14:creationId xmlns:p14="http://schemas.microsoft.com/office/powerpoint/2010/main" val="28433526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89547"/>
            <a:ext cx="6356684" cy="5587416"/>
          </a:xfrm>
        </p:spPr>
        <p:txBody>
          <a:bodyPr/>
          <a:lstStyle/>
          <a:p>
            <a:pPr marL="0" indent="0">
              <a:buNone/>
            </a:pPr>
            <a:r>
              <a:rPr lang="en-AU" dirty="0">
                <a:latin typeface="Book Antiqua" panose="02040602050305030304" pitchFamily="18" charset="0"/>
              </a:rPr>
              <a:t>From William's perspective, when Harold donned the Crown he not only defied the wishes of Edward but had violated a sacred oath. He immediately prepared to invade England and destroy the upstart Harold. Harold's violation of his sacred oath enabled William to secure the support of the Pope who promptly excommunicated Harold, consigning him and his supporters to an eternity in Hell.</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82478" y="481262"/>
            <a:ext cx="4356998" cy="6136105"/>
          </a:xfrm>
          <a:prstGeom prst="rect">
            <a:avLst/>
          </a:prstGeom>
        </p:spPr>
      </p:pic>
    </p:spTree>
    <p:extLst>
      <p:ext uri="{BB962C8B-B14F-4D97-AF65-F5344CB8AC3E}">
        <p14:creationId xmlns:p14="http://schemas.microsoft.com/office/powerpoint/2010/main" val="11634302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3031" y="309645"/>
            <a:ext cx="6849979" cy="4351338"/>
          </a:xfrm>
        </p:spPr>
        <p:txBody>
          <a:bodyPr>
            <a:noAutofit/>
          </a:bodyPr>
          <a:lstStyle/>
          <a:p>
            <a:pPr marL="0" indent="0">
              <a:buNone/>
            </a:pPr>
            <a:r>
              <a:rPr lang="en-AU" sz="2400" dirty="0">
                <a:latin typeface="Book Antiqua" panose="02040602050305030304" pitchFamily="18" charset="0"/>
              </a:rPr>
              <a:t>The third rival for the throne was Harald </a:t>
            </a:r>
            <a:r>
              <a:rPr lang="en-AU" sz="2400" dirty="0" err="1">
                <a:latin typeface="Book Antiqua" panose="02040602050305030304" pitchFamily="18" charset="0"/>
              </a:rPr>
              <a:t>Hardrada</a:t>
            </a:r>
            <a:r>
              <a:rPr lang="en-AU" sz="2400" dirty="0">
                <a:latin typeface="Book Antiqua" panose="02040602050305030304" pitchFamily="18" charset="0"/>
              </a:rPr>
              <a:t>, King of Norway. His justification was even more tenuous than William's. </a:t>
            </a:r>
            <a:r>
              <a:rPr lang="en-AU" sz="2400" dirty="0" err="1">
                <a:latin typeface="Book Antiqua" panose="02040602050305030304" pitchFamily="18" charset="0"/>
              </a:rPr>
              <a:t>Hardrada</a:t>
            </a:r>
            <a:r>
              <a:rPr lang="en-AU" sz="2400" dirty="0">
                <a:latin typeface="Book Antiqua" panose="02040602050305030304" pitchFamily="18" charset="0"/>
              </a:rPr>
              <a:t> ruled Norway jointly with his nephew </a:t>
            </a:r>
            <a:r>
              <a:rPr lang="en-AU" sz="2400" dirty="0" err="1">
                <a:latin typeface="Book Antiqua" panose="02040602050305030304" pitchFamily="18" charset="0"/>
              </a:rPr>
              <a:t>Mangus</a:t>
            </a:r>
            <a:r>
              <a:rPr lang="en-AU" sz="2400" dirty="0">
                <a:latin typeface="Book Antiqua" panose="02040602050305030304" pitchFamily="18" charset="0"/>
              </a:rPr>
              <a:t> until 1047 when </a:t>
            </a:r>
            <a:r>
              <a:rPr lang="en-AU" sz="2400" dirty="0" err="1">
                <a:latin typeface="Book Antiqua" panose="02040602050305030304" pitchFamily="18" charset="0"/>
              </a:rPr>
              <a:t>Mangus</a:t>
            </a:r>
            <a:r>
              <a:rPr lang="en-AU" sz="2400" dirty="0">
                <a:latin typeface="Book Antiqua" panose="02040602050305030304" pitchFamily="18" charset="0"/>
              </a:rPr>
              <a:t> conveniently died. Earlier (1042), </a:t>
            </a:r>
            <a:r>
              <a:rPr lang="en-AU" sz="2400" dirty="0" err="1">
                <a:latin typeface="Book Antiqua" panose="02040602050305030304" pitchFamily="18" charset="0"/>
              </a:rPr>
              <a:t>Mangus</a:t>
            </a:r>
            <a:r>
              <a:rPr lang="en-AU" sz="2400" dirty="0">
                <a:latin typeface="Book Antiqua" panose="02040602050305030304" pitchFamily="18" charset="0"/>
              </a:rPr>
              <a:t> had cut a deal with </a:t>
            </a:r>
            <a:r>
              <a:rPr lang="en-AU" sz="2400" dirty="0" err="1">
                <a:latin typeface="Book Antiqua" panose="02040602050305030304" pitchFamily="18" charset="0"/>
              </a:rPr>
              <a:t>Harthacut</a:t>
            </a:r>
            <a:r>
              <a:rPr lang="en-AU" sz="2400" dirty="0">
                <a:latin typeface="Book Antiqua" panose="02040602050305030304" pitchFamily="18" charset="0"/>
              </a:rPr>
              <a:t> the Danish ruler of England. Since neither ruler had a male heir, both promised their kingdom to the other in the event of his death. </a:t>
            </a:r>
            <a:r>
              <a:rPr lang="en-AU" sz="2400" dirty="0" err="1">
                <a:latin typeface="Book Antiqua" panose="02040602050305030304" pitchFamily="18" charset="0"/>
              </a:rPr>
              <a:t>Harthacut</a:t>
            </a:r>
            <a:r>
              <a:rPr lang="en-AU" sz="2400" dirty="0">
                <a:latin typeface="Book Antiqua" panose="02040602050305030304" pitchFamily="18" charset="0"/>
              </a:rPr>
              <a:t> died but </a:t>
            </a:r>
            <a:r>
              <a:rPr lang="en-AU" sz="2400" dirty="0" err="1">
                <a:latin typeface="Book Antiqua" panose="02040602050305030304" pitchFamily="18" charset="0"/>
              </a:rPr>
              <a:t>Mangus</a:t>
            </a:r>
            <a:r>
              <a:rPr lang="en-AU" sz="2400" dirty="0">
                <a:latin typeface="Book Antiqua" panose="02040602050305030304" pitchFamily="18" charset="0"/>
              </a:rPr>
              <a:t> was unable to follow up on his claim to the English throne because he was too busy battling for the rule of Denmark. Edward became the Anglo-Saxon ruler of England. Now with </a:t>
            </a:r>
            <a:r>
              <a:rPr lang="en-AU" sz="2400" dirty="0" err="1">
                <a:latin typeface="Book Antiqua" panose="02040602050305030304" pitchFamily="18" charset="0"/>
              </a:rPr>
              <a:t>Mangus</a:t>
            </a:r>
            <a:r>
              <a:rPr lang="en-AU" sz="2400" dirty="0">
                <a:latin typeface="Book Antiqua" panose="02040602050305030304" pitchFamily="18" charset="0"/>
              </a:rPr>
              <a:t> and Edward dead, </a:t>
            </a:r>
            <a:r>
              <a:rPr lang="en-AU" sz="2400" dirty="0" err="1">
                <a:latin typeface="Book Antiqua" panose="02040602050305030304" pitchFamily="18" charset="0"/>
              </a:rPr>
              <a:t>Hardrada</a:t>
            </a:r>
            <a:r>
              <a:rPr lang="en-AU" sz="2400" dirty="0">
                <a:latin typeface="Book Antiqua" panose="02040602050305030304" pitchFamily="18" charset="0"/>
              </a:rPr>
              <a:t> asserted that he, as </a:t>
            </a:r>
            <a:r>
              <a:rPr lang="en-AU" sz="2400" dirty="0" err="1">
                <a:latin typeface="Book Antiqua" panose="02040602050305030304" pitchFamily="18" charset="0"/>
              </a:rPr>
              <a:t>Mangus's</a:t>
            </a:r>
            <a:r>
              <a:rPr lang="en-AU" sz="2400" dirty="0">
                <a:latin typeface="Book Antiqua" panose="02040602050305030304" pitchFamily="18" charset="0"/>
              </a:rPr>
              <a:t> heir, was the rightful ruler of England. When he heard of Harold's coronation, </a:t>
            </a:r>
            <a:r>
              <a:rPr lang="en-AU" sz="2400" dirty="0" err="1">
                <a:latin typeface="Book Antiqua" panose="02040602050305030304" pitchFamily="18" charset="0"/>
              </a:rPr>
              <a:t>Hardrada</a:t>
            </a:r>
            <a:r>
              <a:rPr lang="en-AU" sz="2400" dirty="0">
                <a:latin typeface="Book Antiqua" panose="02040602050305030304" pitchFamily="18" charset="0"/>
              </a:rPr>
              <a:t> immediately prepared to invade England and crush the upstart.</a:t>
            </a:r>
          </a:p>
        </p:txBody>
      </p:sp>
      <p:pic>
        <p:nvPicPr>
          <p:cNvPr id="2050" name="Picture 2" descr="Image result for harada king of norwa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4115" y="594307"/>
            <a:ext cx="4066674" cy="4066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06922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5400" dirty="0" smtClean="0">
                <a:latin typeface="Faith Collapsing" panose="02000000000000000000" pitchFamily="2" charset="0"/>
              </a:rPr>
              <a:t>Who will succeed and win the crown?</a:t>
            </a:r>
            <a:endParaRPr lang="en-AU" sz="5400" dirty="0">
              <a:latin typeface="Faith Collapsing" panose="02000000000000000000" pitchFamily="2"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7825" y="2089112"/>
            <a:ext cx="2222222" cy="2717460"/>
          </a:xfrm>
          <a:prstGeom prst="rect">
            <a:avLst/>
          </a:prstGeom>
        </p:spPr>
      </p:pic>
      <p:pic>
        <p:nvPicPr>
          <p:cNvPr id="5" name="Picture 2" descr="Image result for harada king of norwa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11876" y="1869655"/>
            <a:ext cx="2834692" cy="283469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70836" y="2627645"/>
            <a:ext cx="2685925" cy="3782678"/>
          </a:xfrm>
          <a:prstGeom prst="rect">
            <a:avLst/>
          </a:prstGeom>
        </p:spPr>
      </p:pic>
      <p:sp>
        <p:nvSpPr>
          <p:cNvPr id="7" name="TextBox 6"/>
          <p:cNvSpPr txBox="1"/>
          <p:nvPr/>
        </p:nvSpPr>
        <p:spPr>
          <a:xfrm>
            <a:off x="1099439" y="5020330"/>
            <a:ext cx="2638926" cy="369332"/>
          </a:xfrm>
          <a:prstGeom prst="rect">
            <a:avLst/>
          </a:prstGeom>
          <a:noFill/>
        </p:spPr>
        <p:txBody>
          <a:bodyPr wrap="square" rtlCol="0">
            <a:spAutoFit/>
          </a:bodyPr>
          <a:lstStyle/>
          <a:p>
            <a:r>
              <a:rPr lang="en-AU" dirty="0" smtClean="0"/>
              <a:t>Harold Godwinson?</a:t>
            </a:r>
            <a:endParaRPr lang="en-AU" dirty="0"/>
          </a:p>
        </p:txBody>
      </p:sp>
      <p:sp>
        <p:nvSpPr>
          <p:cNvPr id="8" name="TextBox 7"/>
          <p:cNvSpPr txBox="1"/>
          <p:nvPr/>
        </p:nvSpPr>
        <p:spPr>
          <a:xfrm>
            <a:off x="4533900" y="2089112"/>
            <a:ext cx="3124199" cy="369332"/>
          </a:xfrm>
          <a:prstGeom prst="rect">
            <a:avLst/>
          </a:prstGeom>
          <a:noFill/>
        </p:spPr>
        <p:txBody>
          <a:bodyPr wrap="square" rtlCol="0">
            <a:spAutoFit/>
          </a:bodyPr>
          <a:lstStyle/>
          <a:p>
            <a:r>
              <a:rPr lang="en-AU" dirty="0" smtClean="0"/>
              <a:t>William, Duke of Normandy?</a:t>
            </a:r>
            <a:endParaRPr lang="en-AU" dirty="0"/>
          </a:p>
        </p:txBody>
      </p:sp>
      <p:sp>
        <p:nvSpPr>
          <p:cNvPr id="9" name="TextBox 8"/>
          <p:cNvSpPr txBox="1"/>
          <p:nvPr/>
        </p:nvSpPr>
        <p:spPr>
          <a:xfrm>
            <a:off x="9553074" y="4964850"/>
            <a:ext cx="2638926" cy="369332"/>
          </a:xfrm>
          <a:prstGeom prst="rect">
            <a:avLst/>
          </a:prstGeom>
          <a:noFill/>
        </p:spPr>
        <p:txBody>
          <a:bodyPr wrap="square" rtlCol="0">
            <a:spAutoFit/>
          </a:bodyPr>
          <a:lstStyle/>
          <a:p>
            <a:r>
              <a:rPr lang="en-AU" dirty="0" smtClean="0"/>
              <a:t>Harald Harada?</a:t>
            </a:r>
            <a:endParaRPr lang="en-AU" dirty="0"/>
          </a:p>
        </p:txBody>
      </p:sp>
    </p:spTree>
    <p:extLst>
      <p:ext uri="{BB962C8B-B14F-4D97-AF65-F5344CB8AC3E}">
        <p14:creationId xmlns:p14="http://schemas.microsoft.com/office/powerpoint/2010/main" val="9205407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9758" y="589547"/>
            <a:ext cx="7535779" cy="5491163"/>
          </a:xfrm>
        </p:spPr>
        <p:txBody>
          <a:bodyPr>
            <a:normAutofit lnSpcReduction="10000"/>
          </a:bodyPr>
          <a:lstStyle/>
          <a:p>
            <a:pPr marL="0" indent="0">
              <a:buNone/>
            </a:pPr>
            <a:r>
              <a:rPr lang="en-AU" dirty="0" err="1">
                <a:latin typeface="Book Antiqua" panose="02040602050305030304" pitchFamily="18" charset="0"/>
              </a:rPr>
              <a:t>Hardrada</a:t>
            </a:r>
            <a:r>
              <a:rPr lang="en-AU" dirty="0">
                <a:latin typeface="Book Antiqua" panose="02040602050305030304" pitchFamily="18" charset="0"/>
              </a:rPr>
              <a:t> of Norway struck first. In mid September, </a:t>
            </a:r>
            <a:r>
              <a:rPr lang="en-AU" dirty="0" err="1">
                <a:latin typeface="Book Antiqua" panose="02040602050305030304" pitchFamily="18" charset="0"/>
              </a:rPr>
              <a:t>Hardrada's</a:t>
            </a:r>
            <a:r>
              <a:rPr lang="en-AU" dirty="0">
                <a:latin typeface="Book Antiqua" panose="02040602050305030304" pitchFamily="18" charset="0"/>
              </a:rPr>
              <a:t> invasion force landed on the Northern English coast, sacked a few coastal villages and headed towards the city of York. </a:t>
            </a:r>
            <a:r>
              <a:rPr lang="en-AU" dirty="0" err="1">
                <a:latin typeface="Book Antiqua" panose="02040602050305030304" pitchFamily="18" charset="0"/>
              </a:rPr>
              <a:t>Hardrada</a:t>
            </a:r>
            <a:r>
              <a:rPr lang="en-AU" dirty="0">
                <a:latin typeface="Book Antiqua" panose="02040602050305030304" pitchFamily="18" charset="0"/>
              </a:rPr>
              <a:t> was joined in his effort by </a:t>
            </a:r>
            <a:r>
              <a:rPr lang="en-AU" dirty="0" err="1">
                <a:latin typeface="Book Antiqua" panose="02040602050305030304" pitchFamily="18" charset="0"/>
              </a:rPr>
              <a:t>Tostig</a:t>
            </a:r>
            <a:r>
              <a:rPr lang="en-AU" dirty="0">
                <a:latin typeface="Book Antiqua" panose="02040602050305030304" pitchFamily="18" charset="0"/>
              </a:rPr>
              <a:t>, King Harold's </a:t>
            </a:r>
            <a:r>
              <a:rPr lang="en-AU" dirty="0" err="1">
                <a:latin typeface="Book Antiqua" panose="02040602050305030304" pitchFamily="18" charset="0"/>
              </a:rPr>
              <a:t>nere</a:t>
            </a:r>
            <a:r>
              <a:rPr lang="en-AU" dirty="0">
                <a:latin typeface="Book Antiqua" panose="02040602050305030304" pitchFamily="18" charset="0"/>
              </a:rPr>
              <a:t>-do-well brother. The Viking army overwhelmed an English force blocking the York road and captured the city. In London, news of the invasion sent King Harold hurriedly north at the head of his army picking up reinforcements along the way. The speed of Harold's forced march allowed him to surprise </a:t>
            </a:r>
            <a:r>
              <a:rPr lang="en-AU" dirty="0" err="1">
                <a:latin typeface="Book Antiqua" panose="02040602050305030304" pitchFamily="18" charset="0"/>
              </a:rPr>
              <a:t>Hardrada's</a:t>
            </a:r>
            <a:r>
              <a:rPr lang="en-AU" dirty="0">
                <a:latin typeface="Book Antiqua" panose="02040602050305030304" pitchFamily="18" charset="0"/>
              </a:rPr>
              <a:t> army on September 25, as it camped at Stamford Bridge outside York. </a:t>
            </a:r>
          </a:p>
        </p:txBody>
      </p:sp>
      <p:pic>
        <p:nvPicPr>
          <p:cNvPr id="4" name="Picture 2" descr="Image result for harada king of norwa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87813" y="1063539"/>
            <a:ext cx="2834692" cy="2834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03511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70021"/>
            <a:ext cx="6645442" cy="5406942"/>
          </a:xfrm>
        </p:spPr>
        <p:txBody>
          <a:bodyPr>
            <a:normAutofit/>
          </a:bodyPr>
          <a:lstStyle/>
          <a:p>
            <a:pPr marL="0" indent="0">
              <a:buNone/>
            </a:pPr>
            <a:r>
              <a:rPr lang="en-AU" dirty="0" smtClean="0">
                <a:latin typeface="Book Antiqua" panose="02040602050305030304" pitchFamily="18" charset="0"/>
              </a:rPr>
              <a:t>A fierce battle followed. Hand to hand combat ebbed and flowed across the bridge. Finally the Norsemen's line broke and the real slaughter began. </a:t>
            </a:r>
            <a:r>
              <a:rPr lang="en-AU" dirty="0" err="1" smtClean="0">
                <a:latin typeface="Book Antiqua" panose="02040602050305030304" pitchFamily="18" charset="0"/>
              </a:rPr>
              <a:t>Hardrada</a:t>
            </a:r>
            <a:r>
              <a:rPr lang="en-AU" dirty="0" smtClean="0">
                <a:latin typeface="Book Antiqua" panose="02040602050305030304" pitchFamily="18" charset="0"/>
              </a:rPr>
              <a:t> fell and then the King's brother, </a:t>
            </a:r>
            <a:r>
              <a:rPr lang="en-AU" dirty="0" err="1" smtClean="0">
                <a:latin typeface="Book Antiqua" panose="02040602050305030304" pitchFamily="18" charset="0"/>
              </a:rPr>
              <a:t>Tostig</a:t>
            </a:r>
            <a:r>
              <a:rPr lang="en-AU" dirty="0" smtClean="0">
                <a:latin typeface="Book Antiqua" panose="02040602050305030304" pitchFamily="18" charset="0"/>
              </a:rPr>
              <a:t>. What remained of the Viking army fled to their ships. So devastating was the Viking defeat that only 24 of the invasion force's original 240 ships made the trip back home. Resting after his victory, Harold received word of William's landing near Hastings.</a:t>
            </a:r>
          </a:p>
          <a:p>
            <a:pPr marL="0" indent="0">
              <a:buNone/>
            </a:pPr>
            <a:endParaRPr lang="en-AU" dirty="0"/>
          </a:p>
        </p:txBody>
      </p:sp>
      <p:pic>
        <p:nvPicPr>
          <p:cNvPr id="4" name="Picture 2" descr="Image result for harada king of norwa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9213" y="654466"/>
            <a:ext cx="2834692" cy="2834693"/>
          </a:xfrm>
          <a:prstGeom prst="rect">
            <a:avLst/>
          </a:prstGeom>
          <a:noFill/>
          <a:extLst>
            <a:ext uri="{909E8E84-426E-40DD-AFC4-6F175D3DCCD1}">
              <a14:hiddenFill xmlns:a14="http://schemas.microsoft.com/office/drawing/2010/main">
                <a:solidFill>
                  <a:srgbClr val="FFFFFF"/>
                </a:solidFill>
              </a14:hiddenFill>
            </a:ext>
          </a:extLst>
        </p:spPr>
      </p:pic>
      <p:sp>
        <p:nvSpPr>
          <p:cNvPr id="5" name="&quot;No&quot; Symbol 4"/>
          <p:cNvSpPr/>
          <p:nvPr/>
        </p:nvSpPr>
        <p:spPr>
          <a:xfrm>
            <a:off x="8145379" y="459580"/>
            <a:ext cx="3862136" cy="3224464"/>
          </a:xfrm>
          <a:prstGeom prst="noSmoking">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pic>
        <p:nvPicPr>
          <p:cNvPr id="6" name="Content Placeholder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5448" y="3878930"/>
            <a:ext cx="2222222" cy="2717460"/>
          </a:xfrm>
          <a:prstGeom prst="rect">
            <a:avLst/>
          </a:prstGeom>
        </p:spPr>
      </p:pic>
    </p:spTree>
    <p:extLst>
      <p:ext uri="{BB962C8B-B14F-4D97-AF65-F5344CB8AC3E}">
        <p14:creationId xmlns:p14="http://schemas.microsoft.com/office/powerpoint/2010/main" val="1598489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7568" y="814972"/>
            <a:ext cx="7644064" cy="4351338"/>
          </a:xfrm>
        </p:spPr>
        <p:txBody>
          <a:bodyPr>
            <a:normAutofit fontScale="92500" lnSpcReduction="10000"/>
          </a:bodyPr>
          <a:lstStyle/>
          <a:p>
            <a:pPr marL="0" indent="0">
              <a:buNone/>
            </a:pPr>
            <a:r>
              <a:rPr lang="en-AU" dirty="0">
                <a:latin typeface="Book Antiqua" panose="02040602050305030304" pitchFamily="18" charset="0"/>
              </a:rPr>
              <a:t>Harold rushed his army south and planted his battle standards atop a knoll some five miles from Hastings. During the early morning of the next day, October 14, Harold's army watched as a long column of Norman warriors marched to the base of the hill and formed a battle line. Separated by a few hundred yards, the lines of the two armies traded taunts and insults. At a signal, the Norman archers took their position at the front of the line. The English at the top of the hill responded by raising their shields above their heads forming a shield-wall to protect them from the rain of arrows. The battle was joined.</a:t>
            </a:r>
          </a:p>
        </p:txBody>
      </p:sp>
    </p:spTree>
    <p:extLst>
      <p:ext uri="{BB962C8B-B14F-4D97-AF65-F5344CB8AC3E}">
        <p14:creationId xmlns:p14="http://schemas.microsoft.com/office/powerpoint/2010/main" val="19406194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94656"/>
            <a:ext cx="6645442" cy="4351338"/>
          </a:xfrm>
        </p:spPr>
        <p:txBody>
          <a:bodyPr>
            <a:normAutofit/>
          </a:bodyPr>
          <a:lstStyle/>
          <a:p>
            <a:pPr marL="0" indent="0">
              <a:buNone/>
            </a:pPr>
            <a:r>
              <a:rPr lang="en-AU" dirty="0">
                <a:latin typeface="Book Antiqua" panose="02040602050305030304" pitchFamily="18" charset="0"/>
              </a:rPr>
              <a:t>The English fought defensively while the Normans infantry and cavalry repeatedly charged their shield-wall. As the combat slogged on for the better part of the day, the battle's outcome was in question. Finally, as evening approached, the English line gave way and the Normans rushed their enemy with a vengeance. </a:t>
            </a:r>
          </a:p>
        </p:txBody>
      </p:sp>
      <p:pic>
        <p:nvPicPr>
          <p:cNvPr id="4"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74446" y="405898"/>
            <a:ext cx="2222222" cy="2717460"/>
          </a:xfrm>
          <a:prstGeom prst="rect">
            <a:avLst/>
          </a:prstGeom>
        </p:spPr>
      </p:pic>
      <p:sp>
        <p:nvSpPr>
          <p:cNvPr id="5" name="&quot;No&quot; Symbol 4"/>
          <p:cNvSpPr/>
          <p:nvPr/>
        </p:nvSpPr>
        <p:spPr>
          <a:xfrm>
            <a:off x="7868653" y="279106"/>
            <a:ext cx="3862136" cy="3224464"/>
          </a:xfrm>
          <a:prstGeom prst="noSmoking">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74446" y="3630362"/>
            <a:ext cx="2212671" cy="3116178"/>
          </a:xfrm>
          <a:prstGeom prst="rect">
            <a:avLst/>
          </a:prstGeom>
        </p:spPr>
      </p:pic>
    </p:spTree>
    <p:extLst>
      <p:ext uri="{BB962C8B-B14F-4D97-AF65-F5344CB8AC3E}">
        <p14:creationId xmlns:p14="http://schemas.microsoft.com/office/powerpoint/2010/main" val="1013354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031" y="1163888"/>
            <a:ext cx="5297906" cy="4230938"/>
          </a:xfrm>
        </p:spPr>
        <p:txBody>
          <a:bodyPr>
            <a:normAutofit fontScale="90000"/>
          </a:bodyPr>
          <a:lstStyle/>
          <a:p>
            <a:r>
              <a:rPr lang="en-AU" dirty="0" smtClean="0">
                <a:latin typeface="Book Antiqua" panose="02040602050305030304" pitchFamily="18" charset="0"/>
              </a:rPr>
              <a:t>King Harold fell as did the majority of the Saxon aristocracy. William's victory was complete. On Christmas day 1066, William was crowned King of England in Westminster Abbey.</a:t>
            </a:r>
            <a:br>
              <a:rPr lang="en-AU" dirty="0" smtClean="0">
                <a:latin typeface="Book Antiqua" panose="02040602050305030304" pitchFamily="18" charset="0"/>
              </a:rPr>
            </a:br>
            <a:endParaRPr lang="en-AU" dirty="0">
              <a:latin typeface="Faith Collapsing" panose="02000000000000000000" pitchFamily="2" charset="0"/>
            </a:endParaRPr>
          </a:p>
        </p:txBody>
      </p:sp>
      <p:pic>
        <p:nvPicPr>
          <p:cNvPr id="3074" name="Picture 2" descr="Image result"/>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4389"/>
          <a:stretch/>
        </p:blipFill>
        <p:spPr bwMode="auto">
          <a:xfrm>
            <a:off x="6003757" y="1163888"/>
            <a:ext cx="5999747" cy="4463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88913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3821" y="433137"/>
            <a:ext cx="8094579" cy="5924300"/>
          </a:xfrm>
        </p:spPr>
        <p:txBody>
          <a:bodyPr>
            <a:normAutofit/>
          </a:bodyPr>
          <a:lstStyle/>
          <a:p>
            <a:pPr marL="0" indent="0">
              <a:buNone/>
            </a:pPr>
            <a:r>
              <a:rPr lang="en-AU" i="1" dirty="0" smtClean="0">
                <a:latin typeface="Book Antiqua" panose="02040602050305030304" pitchFamily="18" charset="0"/>
              </a:rPr>
              <a:t>The </a:t>
            </a:r>
            <a:r>
              <a:rPr lang="en-AU" i="1" dirty="0">
                <a:latin typeface="Book Antiqua" panose="02040602050305030304" pitchFamily="18" charset="0"/>
              </a:rPr>
              <a:t>Bayeux Tapestry (actually an embroidery measuring over </a:t>
            </a:r>
            <a:r>
              <a:rPr lang="en-AU" i="1" dirty="0" smtClean="0">
                <a:latin typeface="Book Antiqua" panose="02040602050305030304" pitchFamily="18" charset="0"/>
              </a:rPr>
              <a:t>230 (70m) </a:t>
            </a:r>
            <a:r>
              <a:rPr lang="en-AU" i="1" dirty="0">
                <a:latin typeface="Book Antiqua" panose="02040602050305030304" pitchFamily="18" charset="0"/>
              </a:rPr>
              <a:t>feet long and 20 </a:t>
            </a:r>
            <a:r>
              <a:rPr lang="en-AU" i="1" dirty="0" smtClean="0">
                <a:latin typeface="Book Antiqua" panose="02040602050305030304" pitchFamily="18" charset="0"/>
              </a:rPr>
              <a:t>inches (m) wide</a:t>
            </a:r>
            <a:r>
              <a:rPr lang="en-AU" i="1" dirty="0">
                <a:latin typeface="Book Antiqua" panose="02040602050305030304" pitchFamily="18" charset="0"/>
              </a:rPr>
              <a:t>) describes the Norman invasion of England and the events that led up to it. It is believed that the Tapestry was commissioned by Bishop </a:t>
            </a:r>
            <a:r>
              <a:rPr lang="en-AU" i="1" dirty="0" err="1">
                <a:latin typeface="Book Antiqua" panose="02040602050305030304" pitchFamily="18" charset="0"/>
              </a:rPr>
              <a:t>Odo</a:t>
            </a:r>
            <a:r>
              <a:rPr lang="en-AU" i="1" dirty="0">
                <a:latin typeface="Book Antiqua" panose="02040602050305030304" pitchFamily="18" charset="0"/>
              </a:rPr>
              <a:t>, bishop of Bayeux and the half-brother of William the Conqueror. The Tapestry contains hundreds of images divided into scenes each describing a particular event. The scenes are joined into a linear sequence allowing the viewer to "read" the entire story starting with the first scene and progressing to the last. The Tapestry would probably have been displayed in a church for public view.</a:t>
            </a:r>
            <a:endParaRPr lang="en-AU" dirty="0">
              <a:latin typeface="Book Antiqua" panose="02040602050305030304" pitchFamily="18" charset="0"/>
            </a:endParaRPr>
          </a:p>
          <a:p>
            <a:pPr marL="0" indent="0">
              <a:buNone/>
            </a:pPr>
            <a:endParaRPr lang="en-AU" dirty="0"/>
          </a:p>
        </p:txBody>
      </p:sp>
    </p:spTree>
    <p:extLst>
      <p:ext uri="{BB962C8B-B14F-4D97-AF65-F5344CB8AC3E}">
        <p14:creationId xmlns:p14="http://schemas.microsoft.com/office/powerpoint/2010/main" val="13607877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1737"/>
            <a:ext cx="5851358" cy="5515226"/>
          </a:xfrm>
        </p:spPr>
        <p:txBody>
          <a:bodyPr>
            <a:normAutofit/>
          </a:bodyPr>
          <a:lstStyle/>
          <a:p>
            <a:pPr marL="0" indent="0">
              <a:buNone/>
            </a:pPr>
            <a:r>
              <a:rPr lang="en-AU" dirty="0">
                <a:latin typeface="Book Antiqua" panose="02040602050305030304" pitchFamily="18" charset="0"/>
              </a:rPr>
              <a:t>History is written by the victors and the Tapestry is above all a Norman document. In a time when the vast majority of the population was illiterate, the Tapestry's images were designed to tell the story of the conquest of England from the Norman perspective. It focuses on the story of William, making no mention of </a:t>
            </a:r>
            <a:r>
              <a:rPr lang="en-AU" dirty="0" err="1">
                <a:latin typeface="Book Antiqua" panose="02040602050305030304" pitchFamily="18" charset="0"/>
              </a:rPr>
              <a:t>Hardrada</a:t>
            </a:r>
            <a:r>
              <a:rPr lang="en-AU" dirty="0">
                <a:latin typeface="Book Antiqua" panose="02040602050305030304" pitchFamily="18" charset="0"/>
              </a:rPr>
              <a:t> of Norway nor of Harold's victory at Stamford Bridge. </a:t>
            </a:r>
          </a:p>
        </p:txBody>
      </p:sp>
    </p:spTree>
    <p:extLst>
      <p:ext uri="{BB962C8B-B14F-4D97-AF65-F5344CB8AC3E}">
        <p14:creationId xmlns:p14="http://schemas.microsoft.com/office/powerpoint/2010/main" val="207328766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TotalTime>
  <Words>1113</Words>
  <Application>Microsoft Office PowerPoint</Application>
  <PresentationFormat>Widescreen</PresentationFormat>
  <Paragraphs>18</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Book Antiqua</vt:lpstr>
      <vt:lpstr>Calibri</vt:lpstr>
      <vt:lpstr>Calibri Light</vt:lpstr>
      <vt:lpstr>Faith Collapsing</vt:lpstr>
      <vt:lpstr>Office Theme</vt:lpstr>
      <vt:lpstr>The Battle of Hastings</vt:lpstr>
      <vt:lpstr>PowerPoint Presentation</vt:lpstr>
      <vt:lpstr>PowerPoint Presentation</vt:lpstr>
      <vt:lpstr>PowerPoint Presentation</vt:lpstr>
      <vt:lpstr>PowerPoint Presentation</vt:lpstr>
      <vt:lpstr>PowerPoint Presentation</vt:lpstr>
      <vt:lpstr>Who will succeed and win the crown?</vt:lpstr>
      <vt:lpstr>PowerPoint Presentation</vt:lpstr>
      <vt:lpstr>PowerPoint Presentation</vt:lpstr>
      <vt:lpstr>PowerPoint Presentation</vt:lpstr>
      <vt:lpstr>PowerPoint Presentation</vt:lpstr>
      <vt:lpstr>King Harold fell as did the majority of the Saxon aristocracy. William's victory was complete. On Christmas day 1066, William was crowned King of England in Westminster Abbey. </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Battle of Hastings</dc:title>
  <dc:creator>Rebecca Donavon</dc:creator>
  <cp:lastModifiedBy>Rebecca Donavon</cp:lastModifiedBy>
  <cp:revision>6</cp:revision>
  <dcterms:created xsi:type="dcterms:W3CDTF">2016-08-31T10:52:06Z</dcterms:created>
  <dcterms:modified xsi:type="dcterms:W3CDTF">2016-08-31T11:49:00Z</dcterms:modified>
</cp:coreProperties>
</file>
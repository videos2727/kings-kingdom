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6" r:id="rId4"/>
  </p:sldMasterIdLst>
  <p:notesMasterIdLst>
    <p:notesMasterId r:id="rId16"/>
  </p:notesMasterIdLst>
  <p:sldIdLst>
    <p:sldId id="256" r:id="rId5"/>
    <p:sldId id="273" r:id="rId6"/>
    <p:sldId id="284" r:id="rId7"/>
    <p:sldId id="287" r:id="rId8"/>
    <p:sldId id="288" r:id="rId9"/>
    <p:sldId id="275" r:id="rId10"/>
    <p:sldId id="282" r:id="rId11"/>
    <p:sldId id="278" r:id="rId12"/>
    <p:sldId id="280" r:id="rId13"/>
    <p:sldId id="281" r:id="rId14"/>
    <p:sldId id="28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505" autoAdjust="0"/>
  </p:normalViewPr>
  <p:slideViewPr>
    <p:cSldViewPr>
      <p:cViewPr>
        <p:scale>
          <a:sx n="80" d="100"/>
          <a:sy n="80" d="100"/>
        </p:scale>
        <p:origin x="-10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D08F1-5E1E-4935-A0E8-48BA60C4AA17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99935-DD52-43F3-985A-FB68C6E3FC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3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9935-DD52-43F3-985A-FB68C6E3FC5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866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CA7E9-FDB4-4D98-B890-416DDEF835C7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GB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201146-864C-4406-9563-7AE3589B3C1F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GB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91792BF-C8F0-46A6-8C2B-F56B170EA386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GB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Underline relevant information about crime and punishment in each source. Use a red pen for crimes and blue for punishment.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9935-DD52-43F3-985A-FB68C6E3FC5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853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024C495-8351-42D8-BCBB-377CFE060024}" type="slidenum">
              <a:rPr lang="en-US">
                <a:solidFill>
                  <a:srgbClr val="000000"/>
                </a:solidFill>
              </a:rPr>
              <a:pPr eaLnBrk="1" hangingPunct="1"/>
              <a:t>10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Underline relevant information about crime and punishment in each source. Use a red pen for crimes and blue for punishment.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99935-DD52-43F3-985A-FB68C6E3FC5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853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41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95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69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89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22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52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10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630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65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441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4A3DF-7556-41D3-995D-F05191508B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40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FB1B1-4833-4821-A817-9358CFE266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99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94861-67D6-4576-934E-964559BD9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60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E93EA-BEF3-4B8E-92EF-6AF729D8B8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74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BCDD8F-11B7-4003-B311-75243FBCA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0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A174C-E88A-4B22-A9FB-7ED811355D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506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EF65DE-7642-4AB0-B6A8-EF0794B26B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97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8AC36-5C61-4EA7-83DA-112A1C327F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3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68D2F-180F-40E5-A12D-FC9283A475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95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4C3FC-0651-4140-A32E-79BE2320C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70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A4D67-2AF2-4323-9512-43670C69F8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545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442B4-EE31-4522-B7A6-6F170BAAAB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084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354B4-F66D-43F3-A6F8-7740C692D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041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02EFD0-E7AF-4C79-8C1B-5673A393EA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32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37EB5-CAB1-4A48-8385-069A942D24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620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EF4E6-266F-4837-AACA-BD360EB584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382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6241D-2CE4-4A0A-A829-ADD0129E3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480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B9BBE-636C-485A-8327-5592BF62E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107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EAD4E-5A74-4F78-976C-2C9618720E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324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75F09-61A8-4AAE-A482-C849E4FE8A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70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55D6B-A17F-4961-A399-C24AC7DE5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035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40D9B-5F46-4379-AD66-C999426C3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468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3D101-2960-4E90-AA26-321001F51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954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18A33-A086-4C74-9ABA-F04607CAA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55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685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488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063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072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1175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9283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1102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3891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8609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488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73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FECE5-5672-418D-A3BB-55DA6D0AE756}" type="datetimeFigureOut">
              <a:rPr lang="en-GB" smtClean="0"/>
              <a:t>22/08/2013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4605E-68F7-4648-AB45-D14D727443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69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845BB-9E5E-4205-9E99-D30A9DE553C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9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5FD2FF-891B-427D-9787-1180F5ED3BC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6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893DE-7112-4535-98E6-4FCA9400FD9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8/22/2013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8B651-0F38-4DC2-AA22-B454C746B378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00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127" y="0"/>
            <a:ext cx="8712968" cy="1153188"/>
          </a:xfr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2800" b="1" u="sng" dirty="0" smtClean="0"/>
              <a:t>Were the Normans nasty? </a:t>
            </a:r>
            <a:br>
              <a:rPr lang="en-GB" sz="2800" b="1" u="sng" dirty="0" smtClean="0"/>
            </a:br>
            <a:r>
              <a:rPr lang="en-GB" sz="2800" b="1" u="sng" dirty="0" smtClean="0"/>
              <a:t>Norman crime, law, law enforcement and  punishments </a:t>
            </a:r>
            <a:endParaRPr lang="en-GB" sz="28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5148064" y="1345746"/>
            <a:ext cx="3672408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3200" dirty="0" smtClean="0"/>
              <a:t>What can you learn from these sources about Norman punishments? </a:t>
            </a:r>
            <a:endParaRPr lang="en-GB" sz="3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2223488" cy="2216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054" y="1340011"/>
            <a:ext cx="2141700" cy="216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31640" y="3667985"/>
            <a:ext cx="8588831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GB" sz="2000" dirty="0" smtClean="0"/>
              <a:t>The Anglo-Saxon </a:t>
            </a:r>
            <a:r>
              <a:rPr lang="en-GB" sz="2000" dirty="0"/>
              <a:t>Chronicle for </a:t>
            </a:r>
            <a:r>
              <a:rPr lang="en-GB" sz="2000" dirty="0" smtClean="0"/>
              <a:t>1139</a:t>
            </a:r>
            <a:endParaRPr lang="en-GB" sz="2000" dirty="0"/>
          </a:p>
          <a:p>
            <a:pPr algn="just"/>
            <a:endParaRPr lang="en-GB" sz="2000" dirty="0"/>
          </a:p>
          <a:p>
            <a:pPr algn="just"/>
            <a:r>
              <a:rPr lang="en-GB" sz="2000" dirty="0"/>
              <a:t>They </a:t>
            </a:r>
            <a:r>
              <a:rPr lang="en-GB" sz="2000" dirty="0" smtClean="0"/>
              <a:t>[the Normans]hanged </a:t>
            </a:r>
            <a:r>
              <a:rPr lang="en-GB" sz="2000" dirty="0"/>
              <a:t>them by the thumbs, or by the head, and hung fires on their feet; they put knotted strings about their heads, and writhed them so that it went to the brain ... Some they put in a chest that was short, and narrow, and shallow, and put sharp stones therein, and pressed the man therein, so that they broke all his limbs ... I neither can nor may tell all the wounds or all the tortures which they inflicted on wretched men in this land.</a:t>
            </a:r>
          </a:p>
        </p:txBody>
      </p:sp>
    </p:spTree>
    <p:extLst>
      <p:ext uri="{BB962C8B-B14F-4D97-AF65-F5344CB8AC3E}">
        <p14:creationId xmlns:p14="http://schemas.microsoft.com/office/powerpoint/2010/main" val="409889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0"/>
            <a:ext cx="8712968" cy="648071"/>
          </a:xfr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GB" dirty="0"/>
              <a:t>Learning </a:t>
            </a:r>
            <a:r>
              <a:rPr lang="en-GB" dirty="0" smtClean="0"/>
              <a:t>Objectives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479" y="764705"/>
            <a:ext cx="4320479" cy="2304256"/>
          </a:xfr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GB" sz="2800" dirty="0" smtClean="0">
                <a:solidFill>
                  <a:schemeClr val="tx1"/>
                </a:solidFill>
              </a:rPr>
              <a:t>To select and deploy information and sources  in order to judge whether Norman law </a:t>
            </a:r>
            <a:r>
              <a:rPr lang="en-GB" sz="2800" smtClean="0">
                <a:solidFill>
                  <a:schemeClr val="tx1"/>
                </a:solidFill>
              </a:rPr>
              <a:t>and order was nasty 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6291" y="3965661"/>
            <a:ext cx="4134034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GB" sz="2800" dirty="0" smtClean="0"/>
              <a:t>Describe  (L2)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GB" sz="2800" dirty="0" smtClean="0"/>
              <a:t>Explain (L3)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GB" sz="2800" dirty="0" smtClean="0"/>
              <a:t>Judge (L4) </a:t>
            </a:r>
          </a:p>
          <a:p>
            <a:pPr marL="457200" indent="-457200">
              <a:buFont typeface="Arial" pitchFamily="34" charset="0"/>
              <a:buChar char="•"/>
            </a:pPr>
            <a:endParaRPr lang="en-GB" sz="2800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178921"/>
            <a:ext cx="3389362" cy="338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836712"/>
            <a:ext cx="3518520" cy="1979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502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Law Enforcement 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smtClean="0"/>
          </a:p>
        </p:txBody>
      </p:sp>
      <p:pic>
        <p:nvPicPr>
          <p:cNvPr id="3076" name="Picture 4" descr="C:\Users\Pickle\Pictures\New Medieval Resources\Crime and Punishment\Crime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03" y="1268760"/>
            <a:ext cx="9144000" cy="535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1156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Trials 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smtClean="0"/>
          </a:p>
        </p:txBody>
      </p:sp>
      <p:pic>
        <p:nvPicPr>
          <p:cNvPr id="4100" name="Picture 2" descr="C:\Users\Pickle\Pictures\New Medieval Resources\Crime and Punishment\Crime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14422"/>
            <a:ext cx="9144000" cy="535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0932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6340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 smtClean="0"/>
              <a:t>Punishment 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smtClean="0"/>
          </a:p>
        </p:txBody>
      </p:sp>
      <p:pic>
        <p:nvPicPr>
          <p:cNvPr id="5124" name="Picture 2" descr="C:\Users\Pickle\Pictures\New Medieval Resources\Crime and Punishment\Crime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992216"/>
            <a:ext cx="8676456" cy="596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7272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dirty="0" smtClean="0"/>
              <a:t>New Information/Construct 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41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In groups of 4 investigate Norman crimes, laws, law enforcement and punishments using the information and sources below:</a:t>
            </a:r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 smtClean="0"/>
              <a:t>Pages 20-25 in the Folens C&amp;P</a:t>
            </a:r>
          </a:p>
          <a:p>
            <a:r>
              <a:rPr lang="en-GB" dirty="0" smtClean="0"/>
              <a:t>Pages 66-68 in Green Todd book C&amp;P</a:t>
            </a:r>
          </a:p>
          <a:p>
            <a:r>
              <a:rPr lang="en-GB" dirty="0" smtClean="0"/>
              <a:t>Pages 32-33 white SHP C&amp;P</a:t>
            </a:r>
          </a:p>
          <a:p>
            <a:r>
              <a:rPr lang="en-GB" dirty="0" smtClean="0"/>
              <a:t>Pages 27-29 Blue Todd C&amp;P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276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dirty="0" smtClean="0"/>
              <a:t>Apply/Demonstrate learning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411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/>
              <a:t>Put together your information and evidence in a presentation to show your thoughts about whether the Normans were nasty.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Choice of presentation? A script, sugar paper, song, rap, A3 poster, poem? 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smtClean="0"/>
              <a:t>Pages 20-25 in the Folens C&amp;P</a:t>
            </a:r>
          </a:p>
          <a:p>
            <a:r>
              <a:rPr lang="en-GB" dirty="0" smtClean="0"/>
              <a:t>Pages 66-68 in Green Todd C&amp;P</a:t>
            </a:r>
          </a:p>
          <a:p>
            <a:r>
              <a:rPr lang="en-GB" dirty="0" smtClean="0"/>
              <a:t>Pages 32-33 white SHP C&amp;P</a:t>
            </a:r>
          </a:p>
          <a:p>
            <a:r>
              <a:rPr lang="en-GB" dirty="0" smtClean="0"/>
              <a:t>Pages 27-29 Blue Todd C&amp;P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868144" y="4653136"/>
            <a:ext cx="2756029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GB" sz="2800" dirty="0" smtClean="0"/>
              <a:t>Describe  (L2)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GB" sz="2800" dirty="0" smtClean="0"/>
              <a:t>Explain (L3)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GB" sz="2800" dirty="0" smtClean="0"/>
              <a:t>Judge (L4) </a:t>
            </a:r>
          </a:p>
        </p:txBody>
      </p:sp>
    </p:spTree>
    <p:extLst>
      <p:ext uri="{BB962C8B-B14F-4D97-AF65-F5344CB8AC3E}">
        <p14:creationId xmlns:p14="http://schemas.microsoft.com/office/powerpoint/2010/main" val="229084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856984" cy="77809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b="1" dirty="0" smtClean="0"/>
              <a:t>Stretch and challenge 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579363" y="1514108"/>
            <a:ext cx="8136904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GB" sz="4000" dirty="0" smtClean="0"/>
              <a:t>What similarities and differences can you find between Norman crime, law, law enforcement and punishments in the Norman times and today?  </a:t>
            </a:r>
          </a:p>
          <a:p>
            <a:pPr algn="just"/>
            <a:endParaRPr lang="en-GB" sz="4000" dirty="0" smtClean="0"/>
          </a:p>
          <a:p>
            <a:pPr algn="just"/>
            <a:r>
              <a:rPr lang="en-GB" sz="4000" dirty="0" smtClean="0"/>
              <a:t>Can you compare with the Roman and Anglo-Saxon periods? 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46978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268760"/>
            <a:ext cx="7211144" cy="4824536"/>
          </a:xfr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400" dirty="0" smtClean="0">
                <a:latin typeface="Comic Sans MS" pitchFamily="66" charset="0"/>
              </a:rPr>
              <a:t>You need to establish your success criteria in order to make your presentation …you’ve guessed it…successful!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400" dirty="0" smtClean="0">
                <a:latin typeface="Comic Sans MS" pitchFamily="66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Comic Sans MS" pitchFamily="66" charset="0"/>
              </a:rPr>
              <a:t>Historical details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Comic Sans MS" pitchFamily="66" charset="0"/>
              </a:rPr>
              <a:t>Use of evidence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Comic Sans MS" pitchFamily="66" charset="0"/>
              </a:rPr>
              <a:t>Focus on all 4 areas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Comic Sans MS" pitchFamily="66" charset="0"/>
              </a:rPr>
              <a:t>Describe/explain/judge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Comic Sans MS" pitchFamily="66" charset="0"/>
              </a:rPr>
              <a:t>Persuasion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Comic Sans MS" pitchFamily="66" charset="0"/>
              </a:rPr>
              <a:t>Presentation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Comic Sans MS" pitchFamily="66" charset="0"/>
              </a:rPr>
              <a:t>Successful group work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Comic Sans MS" pitchFamily="66" charset="0"/>
              </a:rPr>
              <a:t>Change/continuity with the past and now </a:t>
            </a:r>
            <a:endParaRPr lang="en-US" sz="2400" dirty="0" smtClean="0">
              <a:latin typeface="Comic Sans MS" pitchFamily="66" charset="0"/>
            </a:endParaRPr>
          </a:p>
        </p:txBody>
      </p:sp>
      <p:sp>
        <p:nvSpPr>
          <p:cNvPr id="36867" name="WordArt 4"/>
          <p:cNvSpPr>
            <a:spLocks noChangeArrowheads="1" noChangeShapeType="1" noTextEdit="1"/>
          </p:cNvSpPr>
          <p:nvPr/>
        </p:nvSpPr>
        <p:spPr bwMode="auto">
          <a:xfrm>
            <a:off x="539750" y="188913"/>
            <a:ext cx="8424863" cy="719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kern="10" dirty="0" smtClean="0"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2700000" scaled="1"/>
                </a:gradFill>
                <a:latin typeface="Comic Sans MS"/>
              </a:rPr>
              <a:t>Success Criteria </a:t>
            </a:r>
          </a:p>
        </p:txBody>
      </p:sp>
    </p:spTree>
    <p:extLst>
      <p:ext uri="{BB962C8B-B14F-4D97-AF65-F5344CB8AC3E}">
        <p14:creationId xmlns:p14="http://schemas.microsoft.com/office/powerpoint/2010/main" val="60399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43438" y="1412875"/>
            <a:ext cx="4105275" cy="49688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400" smtClean="0"/>
              <a:t>Agree what the task is about (talk together to decide what the outcome will be)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Talk through and decide a way forward (discuss and make decisions)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Work together to complete each part of the task (focus and cooperate)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r>
              <a:rPr lang="en-GB" sz="2400" smtClean="0"/>
              <a:t>Review your work (how well have you done?)</a:t>
            </a:r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endParaRPr lang="en-GB" sz="2400" smtClean="0"/>
          </a:p>
          <a:p>
            <a:pPr eaLnBrk="1" hangingPunct="1">
              <a:lnSpc>
                <a:spcPct val="80000"/>
              </a:lnSpc>
            </a:pPr>
            <a:endParaRPr lang="en-US" sz="2800" smtClean="0"/>
          </a:p>
        </p:txBody>
      </p:sp>
      <p:pic>
        <p:nvPicPr>
          <p:cNvPr id="37892" name="Picture 4" descr="charles-schulz-peanuts-teamwork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7575" y="1484313"/>
            <a:ext cx="3608388" cy="4537075"/>
          </a:xfrm>
          <a:noFill/>
        </p:spPr>
      </p:pic>
      <p:sp>
        <p:nvSpPr>
          <p:cNvPr id="5" name="WordArt 4"/>
          <p:cNvSpPr>
            <a:spLocks noChangeArrowheads="1" noChangeShapeType="1" noTextEdit="1"/>
          </p:cNvSpPr>
          <p:nvPr/>
        </p:nvSpPr>
        <p:spPr bwMode="auto">
          <a:xfrm>
            <a:off x="539750" y="188913"/>
            <a:ext cx="8424863" cy="719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800" kern="10" dirty="0" smtClean="0"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2700000" scaled="1"/>
                </a:gradFill>
                <a:latin typeface="Comic Sans MS"/>
              </a:rPr>
              <a:t>Effective Group work </a:t>
            </a:r>
          </a:p>
        </p:txBody>
      </p:sp>
    </p:spTree>
    <p:extLst>
      <p:ext uri="{BB962C8B-B14F-4D97-AF65-F5344CB8AC3E}">
        <p14:creationId xmlns:p14="http://schemas.microsoft.com/office/powerpoint/2010/main" val="275205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856984" cy="77809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b="1" dirty="0" smtClean="0"/>
              <a:t>Review and reflect 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539551" y="1268760"/>
            <a:ext cx="8136904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GB" sz="4000" dirty="0" smtClean="0"/>
              <a:t>Share presentations to reach a judgement.</a:t>
            </a:r>
          </a:p>
          <a:p>
            <a:pPr algn="just"/>
            <a:r>
              <a:rPr lang="en-GB" sz="4000" dirty="0" smtClean="0"/>
              <a:t>Discuss </a:t>
            </a:r>
            <a:r>
              <a:rPr lang="en-GB" sz="4000" smtClean="0"/>
              <a:t>and compare with </a:t>
            </a:r>
            <a:r>
              <a:rPr lang="en-GB" sz="4000" dirty="0" smtClean="0"/>
              <a:t>the findings of the other groups. </a:t>
            </a:r>
            <a:endParaRPr lang="en-GB" sz="4000" dirty="0"/>
          </a:p>
        </p:txBody>
      </p:sp>
      <p:sp>
        <p:nvSpPr>
          <p:cNvPr id="5" name="Block Arc 4"/>
          <p:cNvSpPr/>
          <p:nvPr/>
        </p:nvSpPr>
        <p:spPr>
          <a:xfrm rot="10800000">
            <a:off x="1907703" y="3536332"/>
            <a:ext cx="5256584" cy="2160240"/>
          </a:xfrm>
          <a:prstGeom prst="blockArc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Left-Right Arrow 5"/>
          <p:cNvSpPr/>
          <p:nvPr/>
        </p:nvSpPr>
        <p:spPr>
          <a:xfrm>
            <a:off x="2803645" y="3896372"/>
            <a:ext cx="3528392" cy="720080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43608" y="3939153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Nice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6516216" y="3939153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Nasty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3476980" y="4447304"/>
            <a:ext cx="2232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Normans 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164611" y="5840929"/>
            <a:ext cx="88569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rgbClr val="00B050"/>
                </a:solidFill>
              </a:rPr>
              <a:t>Don’t forget to justify (give a good reason for </a:t>
            </a:r>
            <a:r>
              <a:rPr lang="en-GB" sz="2400" smtClean="0">
                <a:solidFill>
                  <a:srgbClr val="00B050"/>
                </a:solidFill>
              </a:rPr>
              <a:t>your </a:t>
            </a:r>
            <a:r>
              <a:rPr lang="en-GB" sz="2400" smtClean="0">
                <a:solidFill>
                  <a:srgbClr val="00B050"/>
                </a:solidFill>
              </a:rPr>
              <a:t>judgement)!</a:t>
            </a:r>
            <a:endParaRPr lang="en-GB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19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Default Design 5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FFFF7"/>
      </a:accent1>
      <a:accent2>
        <a:srgbClr val="33CCCC"/>
      </a:accent2>
      <a:accent3>
        <a:srgbClr val="FFFFE9"/>
      </a:accent3>
      <a:accent4>
        <a:srgbClr val="000000"/>
      </a:accent4>
      <a:accent5>
        <a:srgbClr val="FFFFFA"/>
      </a:accent5>
      <a:accent6>
        <a:srgbClr val="2DB9B9"/>
      </a:accent6>
      <a:hlink>
        <a:srgbClr val="FF5050"/>
      </a:hlink>
      <a:folHlink>
        <a:srgbClr val="FF99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502</Words>
  <Application>Microsoft Office PowerPoint</Application>
  <PresentationFormat>On-screen Show (4:3)</PresentationFormat>
  <Paragraphs>72</Paragraphs>
  <Slides>11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Office Theme</vt:lpstr>
      <vt:lpstr>1_Default Design</vt:lpstr>
      <vt:lpstr>3_Default Design</vt:lpstr>
      <vt:lpstr>1_Office Theme</vt:lpstr>
      <vt:lpstr>Were the Normans nasty?  Norman crime, law, law enforcement and  punishments </vt:lpstr>
      <vt:lpstr>Learning Objectives</vt:lpstr>
      <vt:lpstr>Law Enforcement </vt:lpstr>
      <vt:lpstr>Trials </vt:lpstr>
      <vt:lpstr>Punishment </vt:lpstr>
      <vt:lpstr>New Information/Construct  </vt:lpstr>
      <vt:lpstr>Apply/Demonstrate learning </vt:lpstr>
      <vt:lpstr>Stretch and challenge </vt:lpstr>
      <vt:lpstr>PowerPoint Presentation</vt:lpstr>
      <vt:lpstr>PowerPoint Presentation</vt:lpstr>
      <vt:lpstr>Review and reflect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Roman Crime and Punishment</dc:title>
  <dc:creator>Buxton</dc:creator>
  <cp:lastModifiedBy>Miss A. Dent</cp:lastModifiedBy>
  <cp:revision>139</cp:revision>
  <dcterms:created xsi:type="dcterms:W3CDTF">2011-09-11T06:53:44Z</dcterms:created>
  <dcterms:modified xsi:type="dcterms:W3CDTF">2013-08-22T09:16:41Z</dcterms:modified>
</cp:coreProperties>
</file>
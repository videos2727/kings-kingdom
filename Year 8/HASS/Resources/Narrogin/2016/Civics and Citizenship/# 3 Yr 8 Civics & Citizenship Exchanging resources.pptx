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891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623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292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998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78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2176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504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459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632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581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93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E256B-6970-405B-AE55-5D74311A0A35}" type="datetimeFigureOut">
              <a:rPr lang="en-AU" smtClean="0"/>
              <a:t>24/06/2016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00A30-C5A2-4802-968E-14C57179A7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964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4705"/>
            <a:ext cx="7772400" cy="1800199"/>
          </a:xfrm>
        </p:spPr>
        <p:txBody>
          <a:bodyPr/>
          <a:lstStyle/>
          <a:p>
            <a:r>
              <a:rPr lang="en-AU" dirty="0" smtClean="0"/>
              <a:t>Exchanging resources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20888"/>
            <a:ext cx="6400800" cy="3217912"/>
          </a:xfrm>
        </p:spPr>
        <p:txBody>
          <a:bodyPr>
            <a:normAutofit/>
          </a:bodyPr>
          <a:lstStyle/>
          <a:p>
            <a:pPr algn="l"/>
            <a:r>
              <a:rPr lang="en-AU" dirty="0" smtClean="0">
                <a:solidFill>
                  <a:schemeClr val="tx1"/>
                </a:solidFill>
              </a:rPr>
              <a:t>Every person in the </a:t>
            </a:r>
            <a:r>
              <a:rPr lang="en-AU" dirty="0" smtClean="0">
                <a:solidFill>
                  <a:srgbClr val="FF0000"/>
                </a:solidFill>
              </a:rPr>
              <a:t>community</a:t>
            </a:r>
            <a:r>
              <a:rPr lang="en-AU" dirty="0" smtClean="0">
                <a:solidFill>
                  <a:schemeClr val="tx1"/>
                </a:solidFill>
              </a:rPr>
              <a:t> has </a:t>
            </a:r>
            <a:r>
              <a:rPr lang="en-AU" dirty="0" smtClean="0">
                <a:solidFill>
                  <a:srgbClr val="FF0000"/>
                </a:solidFill>
              </a:rPr>
              <a:t>needs and wants </a:t>
            </a:r>
            <a:r>
              <a:rPr lang="en-AU" dirty="0" smtClean="0">
                <a:solidFill>
                  <a:schemeClr val="tx1"/>
                </a:solidFill>
              </a:rPr>
              <a:t>which must be satisfied by purchasing </a:t>
            </a:r>
            <a:r>
              <a:rPr lang="en-AU" dirty="0" smtClean="0">
                <a:solidFill>
                  <a:srgbClr val="FF0000"/>
                </a:solidFill>
              </a:rPr>
              <a:t>goods and services. 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005064"/>
            <a:ext cx="2466975" cy="1703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74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For </a:t>
            </a:r>
            <a:r>
              <a:rPr lang="en-AU" dirty="0" smtClean="0">
                <a:solidFill>
                  <a:srgbClr val="FF0000"/>
                </a:solidFill>
              </a:rPr>
              <a:t>producers</a:t>
            </a:r>
            <a:r>
              <a:rPr lang="en-AU" dirty="0" smtClean="0"/>
              <a:t> to make </a:t>
            </a:r>
            <a:r>
              <a:rPr lang="en-AU" dirty="0" smtClean="0">
                <a:solidFill>
                  <a:srgbClr val="FF0000"/>
                </a:solidFill>
              </a:rPr>
              <a:t>goods and services</a:t>
            </a:r>
            <a:r>
              <a:rPr lang="en-AU" dirty="0" smtClean="0"/>
              <a:t> they need </a:t>
            </a:r>
            <a:r>
              <a:rPr lang="en-AU" dirty="0" smtClean="0">
                <a:solidFill>
                  <a:srgbClr val="FF0000"/>
                </a:solidFill>
              </a:rPr>
              <a:t>resources.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4968552" cy="3288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120652"/>
            <a:ext cx="2952328" cy="2892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376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If you need a </a:t>
            </a:r>
            <a:r>
              <a:rPr lang="en-AU" dirty="0" smtClean="0">
                <a:solidFill>
                  <a:srgbClr val="FF0000"/>
                </a:solidFill>
              </a:rPr>
              <a:t>hair cut </a:t>
            </a:r>
            <a:r>
              <a:rPr lang="en-AU" dirty="0" smtClean="0"/>
              <a:t>you make an appointment at the hairdressers.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owner of the hairdressing </a:t>
            </a:r>
            <a:r>
              <a:rPr lang="en-AU" dirty="0" smtClean="0">
                <a:solidFill>
                  <a:srgbClr val="FF0000"/>
                </a:solidFill>
              </a:rPr>
              <a:t>business</a:t>
            </a:r>
            <a:r>
              <a:rPr lang="en-AU" dirty="0" smtClean="0"/>
              <a:t> needs to;</a:t>
            </a:r>
          </a:p>
          <a:p>
            <a:r>
              <a:rPr lang="en-AU" dirty="0" smtClean="0"/>
              <a:t>1. buy </a:t>
            </a:r>
            <a:r>
              <a:rPr lang="en-AU" dirty="0" smtClean="0">
                <a:solidFill>
                  <a:srgbClr val="FF0000"/>
                </a:solidFill>
              </a:rPr>
              <a:t>human resources (labour)</a:t>
            </a:r>
          </a:p>
          <a:p>
            <a:r>
              <a:rPr lang="en-AU" dirty="0" smtClean="0"/>
              <a:t>2. buy </a:t>
            </a:r>
            <a:r>
              <a:rPr lang="en-AU" dirty="0" smtClean="0">
                <a:solidFill>
                  <a:srgbClr val="FF0000"/>
                </a:solidFill>
              </a:rPr>
              <a:t>other resources </a:t>
            </a:r>
            <a:r>
              <a:rPr lang="en-AU" dirty="0" smtClean="0"/>
              <a:t>such as shampoo, scissors and hairspray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077072"/>
            <a:ext cx="2085975" cy="21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319959"/>
            <a:ext cx="2676525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7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42194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So what happens is that the  </a:t>
            </a:r>
            <a:r>
              <a:rPr lang="en-AU" dirty="0" smtClean="0">
                <a:solidFill>
                  <a:srgbClr val="FF0000"/>
                </a:solidFill>
              </a:rPr>
              <a:t>businesses </a:t>
            </a:r>
            <a:r>
              <a:rPr lang="en-AU" dirty="0" smtClean="0"/>
              <a:t>need to buy </a:t>
            </a:r>
            <a:r>
              <a:rPr lang="en-AU" dirty="0" smtClean="0">
                <a:solidFill>
                  <a:srgbClr val="FF0000"/>
                </a:solidFill>
              </a:rPr>
              <a:t>resources </a:t>
            </a:r>
            <a:r>
              <a:rPr lang="en-AU" dirty="0" smtClean="0"/>
              <a:t>to make </a:t>
            </a:r>
            <a:r>
              <a:rPr lang="en-AU" dirty="0" smtClean="0">
                <a:solidFill>
                  <a:srgbClr val="FF0000"/>
                </a:solidFill>
              </a:rPr>
              <a:t>money.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263355"/>
          </a:xfrm>
        </p:spPr>
        <p:txBody>
          <a:bodyPr/>
          <a:lstStyle/>
          <a:p>
            <a:r>
              <a:rPr lang="en-AU" dirty="0" smtClean="0"/>
              <a:t>And the </a:t>
            </a:r>
            <a:r>
              <a:rPr lang="en-AU" dirty="0" smtClean="0">
                <a:solidFill>
                  <a:srgbClr val="FF0000"/>
                </a:solidFill>
              </a:rPr>
              <a:t>consumers</a:t>
            </a:r>
            <a:r>
              <a:rPr lang="en-AU" dirty="0" smtClean="0"/>
              <a:t> or </a:t>
            </a:r>
            <a:r>
              <a:rPr lang="en-AU" dirty="0" smtClean="0">
                <a:solidFill>
                  <a:srgbClr val="FF0000"/>
                </a:solidFill>
              </a:rPr>
              <a:t>you</a:t>
            </a:r>
            <a:r>
              <a:rPr lang="en-AU" dirty="0" smtClean="0"/>
              <a:t> need those goods and services for your haircut. So these things are </a:t>
            </a:r>
            <a:r>
              <a:rPr lang="en-AU" dirty="0" smtClean="0">
                <a:solidFill>
                  <a:srgbClr val="FF0000"/>
                </a:solidFill>
              </a:rPr>
              <a:t>exchanged</a:t>
            </a:r>
            <a:r>
              <a:rPr lang="en-AU" dirty="0" smtClean="0"/>
              <a:t> and the </a:t>
            </a:r>
            <a:r>
              <a:rPr lang="en-AU" dirty="0" smtClean="0">
                <a:solidFill>
                  <a:srgbClr val="FF0000"/>
                </a:solidFill>
              </a:rPr>
              <a:t>market</a:t>
            </a:r>
            <a:r>
              <a:rPr lang="en-AU" dirty="0" smtClean="0"/>
              <a:t> is set for </a:t>
            </a:r>
            <a:r>
              <a:rPr lang="en-AU" dirty="0" smtClean="0">
                <a:solidFill>
                  <a:srgbClr val="FF0000"/>
                </a:solidFill>
              </a:rPr>
              <a:t>buyers/sellers </a:t>
            </a:r>
            <a:r>
              <a:rPr lang="en-AU" dirty="0" smtClean="0"/>
              <a:t>to </a:t>
            </a:r>
            <a:r>
              <a:rPr lang="en-AU" dirty="0" smtClean="0">
                <a:solidFill>
                  <a:srgbClr val="FF0000"/>
                </a:solidFill>
              </a:rPr>
              <a:t>work</a:t>
            </a:r>
            <a:r>
              <a:rPr lang="en-AU" dirty="0" smtClean="0"/>
              <a:t> together in the </a:t>
            </a:r>
            <a:r>
              <a:rPr lang="en-AU" dirty="0" smtClean="0">
                <a:solidFill>
                  <a:srgbClr val="FF0000"/>
                </a:solidFill>
              </a:rPr>
              <a:t>economy.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One</a:t>
            </a:r>
            <a:r>
              <a:rPr lang="en-AU" dirty="0" smtClean="0"/>
              <a:t> can’t do without the </a:t>
            </a:r>
            <a:r>
              <a:rPr lang="en-AU" dirty="0" smtClean="0">
                <a:solidFill>
                  <a:srgbClr val="FF0000"/>
                </a:solidFill>
              </a:rPr>
              <a:t>other.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869160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0240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Exchanging resources and markets</a:t>
            </a:r>
            <a:br>
              <a:rPr lang="en-AU" dirty="0" smtClean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1. Household sector</a:t>
            </a:r>
          </a:p>
          <a:p>
            <a:r>
              <a:rPr lang="en-AU" dirty="0" smtClean="0"/>
              <a:t>2. Business sector</a:t>
            </a:r>
          </a:p>
          <a:p>
            <a:r>
              <a:rPr lang="en-AU" dirty="0" smtClean="0"/>
              <a:t>3. Markets</a:t>
            </a:r>
          </a:p>
          <a:p>
            <a:r>
              <a:rPr lang="en-AU" dirty="0" smtClean="0"/>
              <a:t>4. Buyer behaviour</a:t>
            </a:r>
          </a:p>
          <a:p>
            <a:r>
              <a:rPr lang="en-AU" dirty="0" smtClean="0"/>
              <a:t>5. Seller behaviour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296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Household sector.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75101"/>
          </a:xfrm>
        </p:spPr>
        <p:txBody>
          <a:bodyPr/>
          <a:lstStyle/>
          <a:p>
            <a:r>
              <a:rPr lang="en-AU" dirty="0" smtClean="0">
                <a:solidFill>
                  <a:srgbClr val="FF0000"/>
                </a:solidFill>
              </a:rPr>
              <a:t>Every</a:t>
            </a:r>
            <a:r>
              <a:rPr lang="en-AU" dirty="0" smtClean="0"/>
              <a:t> one of us belongs to a </a:t>
            </a:r>
            <a:r>
              <a:rPr lang="en-AU" dirty="0" smtClean="0">
                <a:solidFill>
                  <a:srgbClr val="FF0000"/>
                </a:solidFill>
              </a:rPr>
              <a:t>household</a:t>
            </a:r>
          </a:p>
          <a:p>
            <a:r>
              <a:rPr lang="en-AU" dirty="0" smtClean="0"/>
              <a:t>Some </a:t>
            </a:r>
            <a:r>
              <a:rPr lang="en-AU" dirty="0" smtClean="0">
                <a:solidFill>
                  <a:srgbClr val="FF0000"/>
                </a:solidFill>
              </a:rPr>
              <a:t>people</a:t>
            </a:r>
            <a:r>
              <a:rPr lang="en-AU" dirty="0" smtClean="0"/>
              <a:t> in that household need to </a:t>
            </a:r>
            <a:r>
              <a:rPr lang="en-AU" dirty="0" smtClean="0">
                <a:solidFill>
                  <a:srgbClr val="FF0000"/>
                </a:solidFill>
              </a:rPr>
              <a:t>sell </a:t>
            </a:r>
            <a:r>
              <a:rPr lang="en-AU" dirty="0" smtClean="0"/>
              <a:t>their </a:t>
            </a:r>
            <a:r>
              <a:rPr lang="en-AU" dirty="0" smtClean="0">
                <a:solidFill>
                  <a:srgbClr val="FF0000"/>
                </a:solidFill>
              </a:rPr>
              <a:t>labour </a:t>
            </a:r>
            <a:r>
              <a:rPr lang="en-AU" dirty="0" smtClean="0"/>
              <a:t>to </a:t>
            </a:r>
            <a:r>
              <a:rPr lang="en-AU" dirty="0" smtClean="0">
                <a:solidFill>
                  <a:srgbClr val="FF0000"/>
                </a:solidFill>
              </a:rPr>
              <a:t>businesses</a:t>
            </a:r>
            <a:r>
              <a:rPr lang="en-AU" dirty="0" smtClean="0"/>
              <a:t> which need their </a:t>
            </a:r>
            <a:r>
              <a:rPr lang="en-AU" dirty="0" smtClean="0">
                <a:solidFill>
                  <a:srgbClr val="FF0000"/>
                </a:solidFill>
              </a:rPr>
              <a:t>energy and skills</a:t>
            </a:r>
            <a:r>
              <a:rPr lang="en-AU" dirty="0" smtClean="0"/>
              <a:t> to make </a:t>
            </a:r>
            <a:r>
              <a:rPr lang="en-AU" dirty="0" smtClean="0">
                <a:solidFill>
                  <a:srgbClr val="FF0000"/>
                </a:solidFill>
              </a:rPr>
              <a:t>goods and services</a:t>
            </a:r>
          </a:p>
          <a:p>
            <a:r>
              <a:rPr lang="en-AU" dirty="0" smtClean="0"/>
              <a:t>In </a:t>
            </a:r>
            <a:r>
              <a:rPr lang="en-AU" dirty="0" smtClean="0">
                <a:solidFill>
                  <a:srgbClr val="FF0000"/>
                </a:solidFill>
              </a:rPr>
              <a:t>exchange</a:t>
            </a:r>
            <a:r>
              <a:rPr lang="en-AU" dirty="0" smtClean="0"/>
              <a:t> they get paid an </a:t>
            </a:r>
            <a:r>
              <a:rPr lang="en-AU" dirty="0" smtClean="0">
                <a:solidFill>
                  <a:srgbClr val="FF0000"/>
                </a:solidFill>
              </a:rPr>
              <a:t>income </a:t>
            </a:r>
          </a:p>
          <a:p>
            <a:r>
              <a:rPr lang="en-AU" dirty="0" smtClean="0"/>
              <a:t>Then the household sector also </a:t>
            </a:r>
            <a:r>
              <a:rPr lang="en-AU" dirty="0" smtClean="0">
                <a:solidFill>
                  <a:srgbClr val="FF0000"/>
                </a:solidFill>
              </a:rPr>
              <a:t>buys</a:t>
            </a:r>
            <a:r>
              <a:rPr lang="en-AU" dirty="0" smtClean="0"/>
              <a:t> goods &amp; services to cover their </a:t>
            </a:r>
            <a:r>
              <a:rPr lang="en-AU" dirty="0" smtClean="0">
                <a:solidFill>
                  <a:srgbClr val="FF0000"/>
                </a:solidFill>
              </a:rPr>
              <a:t>needs and wants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5517232"/>
            <a:ext cx="2600325" cy="125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3645024"/>
            <a:ext cx="1434852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9080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Business sector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AU" dirty="0" smtClean="0"/>
              <a:t>Some people are </a:t>
            </a:r>
            <a:r>
              <a:rPr lang="en-AU" dirty="0" smtClean="0">
                <a:solidFill>
                  <a:srgbClr val="FF0000"/>
                </a:solidFill>
              </a:rPr>
              <a:t>owners</a:t>
            </a:r>
            <a:r>
              <a:rPr lang="en-AU" dirty="0" smtClean="0"/>
              <a:t> of </a:t>
            </a:r>
            <a:r>
              <a:rPr lang="en-AU" dirty="0" smtClean="0">
                <a:solidFill>
                  <a:srgbClr val="FF0000"/>
                </a:solidFill>
              </a:rPr>
              <a:t>businesses</a:t>
            </a:r>
          </a:p>
          <a:p>
            <a:r>
              <a:rPr lang="en-AU" dirty="0" smtClean="0"/>
              <a:t>They provide goods &amp; services for </a:t>
            </a:r>
            <a:r>
              <a:rPr lang="en-AU" dirty="0" smtClean="0">
                <a:solidFill>
                  <a:srgbClr val="FF0000"/>
                </a:solidFill>
              </a:rPr>
              <a:t>sale</a:t>
            </a:r>
          </a:p>
          <a:p>
            <a:r>
              <a:rPr lang="en-AU" dirty="0" smtClean="0"/>
              <a:t>They take </a:t>
            </a:r>
            <a:r>
              <a:rPr lang="en-AU" dirty="0" smtClean="0">
                <a:solidFill>
                  <a:srgbClr val="FF0000"/>
                </a:solidFill>
              </a:rPr>
              <a:t>risks </a:t>
            </a:r>
            <a:r>
              <a:rPr lang="en-AU" dirty="0" smtClean="0"/>
              <a:t>because what they are selling might </a:t>
            </a:r>
            <a:r>
              <a:rPr lang="en-AU" dirty="0" smtClean="0">
                <a:solidFill>
                  <a:srgbClr val="FF0000"/>
                </a:solidFill>
              </a:rPr>
              <a:t>not sell</a:t>
            </a:r>
          </a:p>
          <a:p>
            <a:r>
              <a:rPr lang="en-AU" dirty="0" smtClean="0"/>
              <a:t>To make these products they also buy resources </a:t>
            </a:r>
            <a:r>
              <a:rPr lang="en-AU" dirty="0" smtClean="0">
                <a:solidFill>
                  <a:srgbClr val="FF0000"/>
                </a:solidFill>
              </a:rPr>
              <a:t>natural, human </a:t>
            </a:r>
            <a:r>
              <a:rPr lang="en-AU" dirty="0" smtClean="0"/>
              <a:t>and </a:t>
            </a:r>
            <a:r>
              <a:rPr lang="en-AU" dirty="0" smtClean="0">
                <a:solidFill>
                  <a:srgbClr val="FF0000"/>
                </a:solidFill>
              </a:rPr>
              <a:t>technological</a:t>
            </a:r>
          </a:p>
          <a:p>
            <a:endParaRPr lang="en-AU" dirty="0" smtClean="0"/>
          </a:p>
          <a:p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5013176"/>
            <a:ext cx="2762250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71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Business sector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/>
          <a:lstStyle/>
          <a:p>
            <a:r>
              <a:rPr lang="en-AU" dirty="0" smtClean="0"/>
              <a:t>What they pay for human resources (</a:t>
            </a:r>
            <a:r>
              <a:rPr lang="en-AU" dirty="0" smtClean="0">
                <a:solidFill>
                  <a:srgbClr val="FF0000"/>
                </a:solidFill>
              </a:rPr>
              <a:t>wages and salaries</a:t>
            </a:r>
            <a:r>
              <a:rPr lang="en-AU" dirty="0" smtClean="0"/>
              <a:t>)</a:t>
            </a:r>
            <a:r>
              <a:rPr lang="en-AU" dirty="0"/>
              <a:t> </a:t>
            </a:r>
            <a:r>
              <a:rPr lang="en-AU" dirty="0" smtClean="0"/>
              <a:t>is a </a:t>
            </a:r>
            <a:r>
              <a:rPr lang="en-AU" dirty="0" smtClean="0">
                <a:solidFill>
                  <a:srgbClr val="FF0000"/>
                </a:solidFill>
              </a:rPr>
              <a:t>cost</a:t>
            </a:r>
            <a:r>
              <a:rPr lang="en-AU" dirty="0" smtClean="0"/>
              <a:t> or expense for the business</a:t>
            </a:r>
          </a:p>
          <a:p>
            <a:r>
              <a:rPr lang="en-AU" dirty="0" smtClean="0"/>
              <a:t>When they have made their goods they put them on the </a:t>
            </a:r>
            <a:r>
              <a:rPr lang="en-AU" dirty="0" smtClean="0">
                <a:solidFill>
                  <a:srgbClr val="FF0000"/>
                </a:solidFill>
              </a:rPr>
              <a:t>market</a:t>
            </a:r>
            <a:r>
              <a:rPr lang="en-AU" dirty="0" smtClean="0"/>
              <a:t> for </a:t>
            </a:r>
            <a:r>
              <a:rPr lang="en-AU" dirty="0" smtClean="0">
                <a:solidFill>
                  <a:srgbClr val="FF0000"/>
                </a:solidFill>
              </a:rPr>
              <a:t>sale</a:t>
            </a:r>
            <a:r>
              <a:rPr lang="en-AU" dirty="0" smtClean="0"/>
              <a:t> hoping to earn an </a:t>
            </a:r>
            <a:r>
              <a:rPr lang="en-AU" dirty="0" smtClean="0">
                <a:solidFill>
                  <a:srgbClr val="FF0000"/>
                </a:solidFill>
              </a:rPr>
              <a:t>income or revenue</a:t>
            </a:r>
            <a:r>
              <a:rPr lang="en-AU" dirty="0" smtClean="0"/>
              <a:t>.</a:t>
            </a:r>
          </a:p>
          <a:p>
            <a:r>
              <a:rPr lang="en-AU" dirty="0" smtClean="0"/>
              <a:t>They must </a:t>
            </a:r>
            <a:r>
              <a:rPr lang="en-AU" dirty="0" smtClean="0">
                <a:solidFill>
                  <a:srgbClr val="FF0000"/>
                </a:solidFill>
              </a:rPr>
              <a:t>cover</a:t>
            </a:r>
            <a:r>
              <a:rPr lang="en-AU" dirty="0" smtClean="0"/>
              <a:t> the </a:t>
            </a:r>
            <a:r>
              <a:rPr lang="en-AU" dirty="0" smtClean="0">
                <a:solidFill>
                  <a:srgbClr val="FF0000"/>
                </a:solidFill>
              </a:rPr>
              <a:t>cost </a:t>
            </a:r>
            <a:r>
              <a:rPr lang="en-AU" dirty="0" smtClean="0"/>
              <a:t>of making the good with a bit left over for </a:t>
            </a:r>
            <a:r>
              <a:rPr lang="en-AU" dirty="0" smtClean="0">
                <a:solidFill>
                  <a:srgbClr val="FF0000"/>
                </a:solidFill>
              </a:rPr>
              <a:t>profit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5445224"/>
            <a:ext cx="1692445" cy="936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687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Markets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/>
          <a:lstStyle/>
          <a:p>
            <a:r>
              <a:rPr lang="en-AU" dirty="0" smtClean="0"/>
              <a:t>A </a:t>
            </a:r>
            <a:r>
              <a:rPr lang="en-AU" dirty="0" smtClean="0">
                <a:solidFill>
                  <a:srgbClr val="FF0000"/>
                </a:solidFill>
              </a:rPr>
              <a:t>market </a:t>
            </a:r>
            <a:r>
              <a:rPr lang="en-AU" dirty="0" smtClean="0"/>
              <a:t>is a place where </a:t>
            </a:r>
            <a:r>
              <a:rPr lang="en-AU" dirty="0" smtClean="0">
                <a:solidFill>
                  <a:srgbClr val="FF0000"/>
                </a:solidFill>
              </a:rPr>
              <a:t>buyers &amp; sellers </a:t>
            </a:r>
            <a:r>
              <a:rPr lang="en-AU" dirty="0" smtClean="0"/>
              <a:t>meet to </a:t>
            </a:r>
            <a:r>
              <a:rPr lang="en-AU" dirty="0" smtClean="0">
                <a:solidFill>
                  <a:srgbClr val="FF0000"/>
                </a:solidFill>
              </a:rPr>
              <a:t>exchange </a:t>
            </a:r>
            <a:r>
              <a:rPr lang="en-AU" dirty="0" smtClean="0"/>
              <a:t>things</a:t>
            </a:r>
          </a:p>
          <a:p>
            <a:r>
              <a:rPr lang="en-AU" dirty="0" smtClean="0"/>
              <a:t>This exchange should make both </a:t>
            </a:r>
            <a:r>
              <a:rPr lang="en-AU" dirty="0" smtClean="0">
                <a:solidFill>
                  <a:srgbClr val="FF0000"/>
                </a:solidFill>
              </a:rPr>
              <a:t>better</a:t>
            </a:r>
            <a:r>
              <a:rPr lang="en-AU" dirty="0" smtClean="0"/>
              <a:t> off</a:t>
            </a:r>
          </a:p>
          <a:p>
            <a:r>
              <a:rPr lang="en-AU" dirty="0" smtClean="0"/>
              <a:t>The buyers </a:t>
            </a:r>
            <a:r>
              <a:rPr lang="en-AU" dirty="0" smtClean="0">
                <a:solidFill>
                  <a:srgbClr val="FF0000"/>
                </a:solidFill>
              </a:rPr>
              <a:t>needs &amp; wants </a:t>
            </a:r>
            <a:r>
              <a:rPr lang="en-AU" dirty="0" smtClean="0"/>
              <a:t>are covered and the business earns </a:t>
            </a:r>
            <a:r>
              <a:rPr lang="en-AU" dirty="0" smtClean="0">
                <a:solidFill>
                  <a:srgbClr val="FF0000"/>
                </a:solidFill>
              </a:rPr>
              <a:t>income</a:t>
            </a:r>
          </a:p>
          <a:p>
            <a:r>
              <a:rPr lang="en-AU" dirty="0" smtClean="0"/>
              <a:t>Markets can be </a:t>
            </a:r>
            <a:r>
              <a:rPr lang="en-AU" dirty="0" smtClean="0">
                <a:solidFill>
                  <a:srgbClr val="FF0000"/>
                </a:solidFill>
              </a:rPr>
              <a:t>anywhere </a:t>
            </a:r>
            <a:r>
              <a:rPr lang="en-AU" dirty="0" smtClean="0"/>
              <a:t>– like supermarkets (</a:t>
            </a:r>
            <a:r>
              <a:rPr lang="en-AU" dirty="0" smtClean="0">
                <a:solidFill>
                  <a:srgbClr val="FF0000"/>
                </a:solidFill>
              </a:rPr>
              <a:t>formal</a:t>
            </a:r>
            <a:r>
              <a:rPr lang="en-AU" dirty="0" smtClean="0"/>
              <a:t>)down to car garage sales (</a:t>
            </a:r>
            <a:r>
              <a:rPr lang="en-AU" dirty="0" smtClean="0">
                <a:solidFill>
                  <a:srgbClr val="FF0000"/>
                </a:solidFill>
              </a:rPr>
              <a:t>informal</a:t>
            </a:r>
            <a:r>
              <a:rPr lang="en-AU" dirty="0" smtClean="0"/>
              <a:t>) or even on the phone or </a:t>
            </a:r>
            <a:r>
              <a:rPr lang="en-AU" dirty="0" smtClean="0">
                <a:solidFill>
                  <a:srgbClr val="FF0000"/>
                </a:solidFill>
              </a:rPr>
              <a:t>internet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270" y="5445224"/>
            <a:ext cx="2391138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921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Buyer behaviour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Buyers want as </a:t>
            </a:r>
            <a:r>
              <a:rPr lang="en-AU" dirty="0" smtClean="0">
                <a:solidFill>
                  <a:srgbClr val="FF0000"/>
                </a:solidFill>
              </a:rPr>
              <a:t>much</a:t>
            </a:r>
            <a:r>
              <a:rPr lang="en-AU" dirty="0" smtClean="0"/>
              <a:t> as than can get for their </a:t>
            </a:r>
            <a:r>
              <a:rPr lang="en-AU" dirty="0" smtClean="0">
                <a:solidFill>
                  <a:srgbClr val="FF0000"/>
                </a:solidFill>
              </a:rPr>
              <a:t>money</a:t>
            </a:r>
          </a:p>
          <a:p>
            <a:r>
              <a:rPr lang="en-AU" dirty="0" smtClean="0"/>
              <a:t>If </a:t>
            </a:r>
            <a:r>
              <a:rPr lang="en-AU" dirty="0" smtClean="0">
                <a:solidFill>
                  <a:srgbClr val="FF0000"/>
                </a:solidFill>
              </a:rPr>
              <a:t>prices</a:t>
            </a:r>
            <a:r>
              <a:rPr lang="en-AU" dirty="0" smtClean="0"/>
              <a:t> go </a:t>
            </a:r>
            <a:r>
              <a:rPr lang="en-AU" dirty="0" smtClean="0">
                <a:solidFill>
                  <a:srgbClr val="FF0000"/>
                </a:solidFill>
              </a:rPr>
              <a:t>down</a:t>
            </a:r>
            <a:r>
              <a:rPr lang="en-AU" dirty="0" smtClean="0"/>
              <a:t> or are low buyers will buy </a:t>
            </a:r>
            <a:r>
              <a:rPr lang="en-AU" dirty="0" smtClean="0">
                <a:solidFill>
                  <a:srgbClr val="FF0000"/>
                </a:solidFill>
              </a:rPr>
              <a:t>more</a:t>
            </a:r>
          </a:p>
          <a:p>
            <a:r>
              <a:rPr lang="en-AU" dirty="0" smtClean="0"/>
              <a:t>This is called the </a:t>
            </a:r>
            <a:r>
              <a:rPr lang="en-AU" dirty="0" smtClean="0">
                <a:solidFill>
                  <a:srgbClr val="FF0000"/>
                </a:solidFill>
              </a:rPr>
              <a:t>law of demand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229100"/>
            <a:ext cx="4752528" cy="1936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5241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Seller behaviour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Sellers want to get as much </a:t>
            </a:r>
            <a:r>
              <a:rPr lang="en-AU" dirty="0" smtClean="0">
                <a:solidFill>
                  <a:srgbClr val="FF0000"/>
                </a:solidFill>
              </a:rPr>
              <a:t>money</a:t>
            </a:r>
            <a:r>
              <a:rPr lang="en-AU" dirty="0" smtClean="0"/>
              <a:t> as they can for their goods &amp; services because that means more </a:t>
            </a:r>
            <a:r>
              <a:rPr lang="en-AU" dirty="0" smtClean="0">
                <a:solidFill>
                  <a:srgbClr val="FF0000"/>
                </a:solidFill>
              </a:rPr>
              <a:t>profit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Higher</a:t>
            </a:r>
            <a:r>
              <a:rPr lang="en-AU" dirty="0" smtClean="0"/>
              <a:t> prices makes the seller</a:t>
            </a:r>
            <a:r>
              <a:rPr lang="en-AU" dirty="0" smtClean="0">
                <a:solidFill>
                  <a:srgbClr val="FF0000"/>
                </a:solidFill>
              </a:rPr>
              <a:t> increase </a:t>
            </a:r>
            <a:r>
              <a:rPr lang="en-AU" dirty="0" smtClean="0"/>
              <a:t>their </a:t>
            </a:r>
            <a:r>
              <a:rPr lang="en-AU" dirty="0" smtClean="0">
                <a:solidFill>
                  <a:srgbClr val="FF0000"/>
                </a:solidFill>
              </a:rPr>
              <a:t>supply</a:t>
            </a:r>
          </a:p>
          <a:p>
            <a:r>
              <a:rPr lang="en-AU" dirty="0" smtClean="0"/>
              <a:t>This is called </a:t>
            </a:r>
            <a:r>
              <a:rPr lang="en-AU" dirty="0" smtClean="0">
                <a:solidFill>
                  <a:srgbClr val="FF0000"/>
                </a:solidFill>
              </a:rPr>
              <a:t>law of supply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149080"/>
            <a:ext cx="2257425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160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430</Words>
  <Application>Microsoft Office PowerPoint</Application>
  <PresentationFormat>On-screen Show (4:3)</PresentationFormat>
  <Paragraphs>43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Exchanging resources</vt:lpstr>
      <vt:lpstr>For producers to make goods and services they need resources.</vt:lpstr>
      <vt:lpstr>If you need a hair cut you make an appointment at the hairdressers.</vt:lpstr>
      <vt:lpstr>So what happens is that the  businesses need to buy resources to make money.</vt:lpstr>
      <vt:lpstr>Exchanging resources and markets </vt:lpstr>
      <vt:lpstr>Household sector.</vt:lpstr>
      <vt:lpstr>Business sector</vt:lpstr>
      <vt:lpstr>Business sector</vt:lpstr>
      <vt:lpstr>Markets</vt:lpstr>
      <vt:lpstr>Buyer behaviour</vt:lpstr>
      <vt:lpstr>Seller behaviour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Exchanging resources</dc:title>
  <dc:creator>WATSON Vicke</dc:creator>
  <cp:lastModifiedBy>WATSON Vicke</cp:lastModifiedBy>
  <cp:revision>11</cp:revision>
  <dcterms:created xsi:type="dcterms:W3CDTF">2016-06-23T06:18:48Z</dcterms:created>
  <dcterms:modified xsi:type="dcterms:W3CDTF">2016-06-24T00:28:37Z</dcterms:modified>
</cp:coreProperties>
</file>
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5CD1EC25-502F-435F-923D-68A81341785A}" type="datetimeFigureOut">
              <a:rPr lang="en-AU" smtClean="0"/>
              <a:t>26/08/2016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3842118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D1EC25-502F-435F-923D-68A81341785A}" type="datetimeFigureOut">
              <a:rPr lang="en-AU" smtClean="0"/>
              <a:t>26/08/2016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2612967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D1EC25-502F-435F-923D-68A81341785A}" type="datetimeFigureOut">
              <a:rPr lang="en-AU" smtClean="0"/>
              <a:t>26/08/2016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2428283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5CD1EC25-502F-435F-923D-68A81341785A}" type="datetimeFigureOut">
              <a:rPr lang="en-AU" smtClean="0"/>
              <a:t>26/08/2016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2538752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5CD1EC25-502F-435F-923D-68A81341785A}" type="datetimeFigureOut">
              <a:rPr lang="en-AU" smtClean="0"/>
              <a:t>26/08/2016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36918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5CD1EC25-502F-435F-923D-68A81341785A}" type="datetimeFigureOut">
              <a:rPr lang="en-AU" smtClean="0"/>
              <a:t>26/08/2016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876964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D1EC25-502F-435F-923D-68A81341785A}" type="datetimeFigureOut">
              <a:rPr lang="en-AU" smtClean="0"/>
              <a:t>26/08/2016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815706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D1EC25-502F-435F-923D-68A81341785A}" type="datetimeFigureOut">
              <a:rPr lang="en-AU" smtClean="0"/>
              <a:t>26/08/2016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1301633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D1EC25-502F-435F-923D-68A81341785A}" type="datetimeFigureOut">
              <a:rPr lang="en-AU" smtClean="0"/>
              <a:t>26/08/2016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3112769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D1EC25-502F-435F-923D-68A81341785A}" type="datetimeFigureOut">
              <a:rPr lang="en-AU" smtClean="0"/>
              <a:t>26/08/2016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92018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5CD1EC25-502F-435F-923D-68A81341785A}" type="datetimeFigureOut">
              <a:rPr lang="en-AU" smtClean="0"/>
              <a:t>26/08/2016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57BD36-8853-4C38-9D06-075558398693}" type="slidenum">
              <a:rPr lang="en-AU" smtClean="0"/>
              <a:t>‹#›</a:t>
            </a:fld>
            <a:endParaRPr lang="en-AU"/>
          </a:p>
        </p:txBody>
      </p:sp>
    </p:spTree>
    <p:extLst>
      <p:ext uri="{BB962C8B-B14F-4D97-AF65-F5344CB8AC3E}">
        <p14:creationId xmlns:p14="http://schemas.microsoft.com/office/powerpoint/2010/main" val="313295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D1EC25-502F-435F-923D-68A81341785A}" type="datetimeFigureOut">
              <a:rPr lang="en-AU" smtClean="0"/>
              <a:t>26/08/2016</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57BD36-8853-4C38-9D06-075558398693}" type="slidenum">
              <a:rPr lang="en-AU" smtClean="0"/>
              <a:t>‹#›</a:t>
            </a:fld>
            <a:endParaRPr lang="en-AU"/>
          </a:p>
        </p:txBody>
      </p:sp>
    </p:spTree>
    <p:extLst>
      <p:ext uri="{BB962C8B-B14F-4D97-AF65-F5344CB8AC3E}">
        <p14:creationId xmlns:p14="http://schemas.microsoft.com/office/powerpoint/2010/main" val="150760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RHLjMEQYlQ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Gd4lopIPOb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YTWsUvT8nsw"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y7OWLohZ_f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20688"/>
            <a:ext cx="7772400" cy="1470025"/>
          </a:xfrm>
        </p:spPr>
        <p:txBody>
          <a:bodyPr/>
          <a:lstStyle/>
          <a:p>
            <a:r>
              <a:rPr lang="en-AU" dirty="0" smtClean="0"/>
              <a:t>Medieval Kings</a:t>
            </a:r>
            <a:endParaRPr lang="en-AU" dirty="0"/>
          </a:p>
        </p:txBody>
      </p:sp>
      <p:sp>
        <p:nvSpPr>
          <p:cNvPr id="3" name="Subtitle 2"/>
          <p:cNvSpPr>
            <a:spLocks noGrp="1"/>
          </p:cNvSpPr>
          <p:nvPr>
            <p:ph type="subTitle" idx="1"/>
          </p:nvPr>
        </p:nvSpPr>
        <p:spPr>
          <a:xfrm>
            <a:off x="827584" y="2060848"/>
            <a:ext cx="7704856" cy="3721968"/>
          </a:xfrm>
        </p:spPr>
        <p:txBody>
          <a:bodyPr>
            <a:normAutofit fontScale="85000" lnSpcReduction="20000"/>
          </a:bodyPr>
          <a:lstStyle/>
          <a:p>
            <a:r>
              <a:rPr lang="en-AU" dirty="0" smtClean="0">
                <a:solidFill>
                  <a:schemeClr val="tx1"/>
                </a:solidFill>
              </a:rPr>
              <a:t>Medieval kings spent a lot of time travelling around their realm from place to place. One of the duties of a vassal was offering hospitality to the king and his entourage if he chose to pay a visit - which could get very expensive, since kings always travelled with a large number of guards, ministers, servants and companions befitting their status. Indeed, one of the purposes of such visits was to make sure the subjects were reminded who their king was, and to give him the opportunity to inspect things in person.</a:t>
            </a:r>
            <a:endParaRPr lang="en-AU"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7525" y="5373216"/>
            <a:ext cx="3028950" cy="1394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6365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Medieval Kings</a:t>
            </a:r>
            <a:endParaRPr lang="en-AU" dirty="0">
              <a:solidFill>
                <a:schemeClr val="tx2"/>
              </a:solidFill>
            </a:endParaRPr>
          </a:p>
        </p:txBody>
      </p:sp>
      <p:sp>
        <p:nvSpPr>
          <p:cNvPr id="3" name="Content Placeholder 2"/>
          <p:cNvSpPr>
            <a:spLocks noGrp="1"/>
          </p:cNvSpPr>
          <p:nvPr>
            <p:ph idx="1"/>
          </p:nvPr>
        </p:nvSpPr>
        <p:spPr/>
        <p:txBody>
          <a:bodyPr/>
          <a:lstStyle/>
          <a:p>
            <a:r>
              <a:rPr lang="en-AU" dirty="0" smtClean="0">
                <a:solidFill>
                  <a:schemeClr val="tx2"/>
                </a:solidFill>
              </a:rPr>
              <a:t>Kings spent a lot of time travelling around their lands. They stayed at the vassals homes which was very expensive for the vassal because the king had a lot of people with him.</a:t>
            </a:r>
            <a:endParaRPr lang="en-AU" dirty="0">
              <a:solidFill>
                <a:schemeClr val="tx2"/>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304" y="3717032"/>
            <a:ext cx="1590675"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717032"/>
            <a:ext cx="2143125" cy="187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3789040"/>
            <a:ext cx="4032448" cy="2687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91883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Watch this clip on Medieval Kings</a:t>
            </a:r>
            <a:endParaRPr lang="en-AU" dirty="0"/>
          </a:p>
        </p:txBody>
      </p:sp>
      <p:sp>
        <p:nvSpPr>
          <p:cNvPr id="3" name="Content Placeholder 2"/>
          <p:cNvSpPr>
            <a:spLocks noGrp="1"/>
          </p:cNvSpPr>
          <p:nvPr>
            <p:ph idx="1"/>
          </p:nvPr>
        </p:nvSpPr>
        <p:spPr/>
        <p:txBody>
          <a:bodyPr/>
          <a:lstStyle/>
          <a:p>
            <a:r>
              <a:rPr lang="en-AU" dirty="0" smtClean="0">
                <a:hlinkClick r:id="rId2"/>
              </a:rPr>
              <a:t>https://www.youtube.com/watch?v=RHLjMEQYlQA</a:t>
            </a:r>
            <a:endParaRPr lang="en-AU" dirty="0" smtClean="0"/>
          </a:p>
          <a:p>
            <a:endParaRPr lang="en-AU" dirty="0"/>
          </a:p>
          <a:p>
            <a:r>
              <a:rPr lang="en-AU" dirty="0" smtClean="0"/>
              <a:t>29.06 mins</a:t>
            </a:r>
            <a:endParaRPr lang="en-AU" dirty="0"/>
          </a:p>
        </p:txBody>
      </p:sp>
    </p:spTree>
    <p:extLst>
      <p:ext uri="{BB962C8B-B14F-4D97-AF65-F5344CB8AC3E}">
        <p14:creationId xmlns:p14="http://schemas.microsoft.com/office/powerpoint/2010/main" val="13264395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Medieval Nobles</a:t>
            </a:r>
            <a:endParaRPr lang="en-AU" dirty="0">
              <a:solidFill>
                <a:schemeClr val="tx2"/>
              </a:solidFill>
            </a:endParaRPr>
          </a:p>
        </p:txBody>
      </p:sp>
      <p:sp>
        <p:nvSpPr>
          <p:cNvPr id="3" name="Content Placeholder 2"/>
          <p:cNvSpPr>
            <a:spLocks noGrp="1"/>
          </p:cNvSpPr>
          <p:nvPr>
            <p:ph idx="1"/>
          </p:nvPr>
        </p:nvSpPr>
        <p:spPr/>
        <p:txBody>
          <a:bodyPr/>
          <a:lstStyle/>
          <a:p>
            <a:r>
              <a:rPr lang="en-AU" dirty="0" smtClean="0">
                <a:solidFill>
                  <a:schemeClr val="tx2"/>
                </a:solidFill>
              </a:rPr>
              <a:t>Were called Earls, Counts and Barons. They were given control over land by the King in return for providing him with soldiers. </a:t>
            </a:r>
            <a:endParaRPr lang="en-AU" dirty="0">
              <a:solidFill>
                <a:schemeClr val="tx2"/>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861048"/>
            <a:ext cx="6480719" cy="2448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15056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Definition for a knight.</a:t>
            </a:r>
            <a:endParaRPr lang="en-AU" dirty="0">
              <a:solidFill>
                <a:schemeClr val="tx2"/>
              </a:solidFill>
            </a:endParaRPr>
          </a:p>
        </p:txBody>
      </p:sp>
      <p:sp>
        <p:nvSpPr>
          <p:cNvPr id="3" name="Content Placeholder 2"/>
          <p:cNvSpPr>
            <a:spLocks noGrp="1"/>
          </p:cNvSpPr>
          <p:nvPr>
            <p:ph idx="1"/>
          </p:nvPr>
        </p:nvSpPr>
        <p:spPr/>
        <p:txBody>
          <a:bodyPr/>
          <a:lstStyle/>
          <a:p>
            <a:r>
              <a:rPr lang="en-AU" dirty="0" smtClean="0">
                <a:solidFill>
                  <a:schemeClr val="tx2"/>
                </a:solidFill>
              </a:rPr>
              <a:t>A </a:t>
            </a:r>
            <a:r>
              <a:rPr lang="en-AU" b="1" dirty="0" smtClean="0">
                <a:solidFill>
                  <a:schemeClr val="tx2"/>
                </a:solidFill>
              </a:rPr>
              <a:t>knight</a:t>
            </a:r>
            <a:r>
              <a:rPr lang="en-AU" dirty="0" smtClean="0">
                <a:solidFill>
                  <a:schemeClr val="tx2"/>
                </a:solidFill>
              </a:rPr>
              <a:t> is a person granted an honorary title of knighthood by a monarch or other political leader for service to the monarch or country, especially in a military capacity. Historically, in Europe, knighthood was conferred upon mounted warriors.</a:t>
            </a:r>
            <a:endParaRPr lang="en-AU" dirty="0">
              <a:solidFill>
                <a:schemeClr val="tx2"/>
              </a:solidFill>
            </a:endParaRPr>
          </a:p>
        </p:txBody>
      </p:sp>
    </p:spTree>
    <p:extLst>
      <p:ext uri="{BB962C8B-B14F-4D97-AF65-F5344CB8AC3E}">
        <p14:creationId xmlns:p14="http://schemas.microsoft.com/office/powerpoint/2010/main" val="22084316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What was a Medieval knight?</a:t>
            </a:r>
            <a:endParaRPr lang="en-AU" dirty="0"/>
          </a:p>
        </p:txBody>
      </p:sp>
      <p:sp>
        <p:nvSpPr>
          <p:cNvPr id="3" name="Content Placeholder 2"/>
          <p:cNvSpPr>
            <a:spLocks noGrp="1"/>
          </p:cNvSpPr>
          <p:nvPr>
            <p:ph idx="1"/>
          </p:nvPr>
        </p:nvSpPr>
        <p:spPr/>
        <p:txBody>
          <a:bodyPr>
            <a:normAutofit fontScale="92500" lnSpcReduction="10000"/>
          </a:bodyPr>
          <a:lstStyle/>
          <a:p>
            <a:pPr marL="0" indent="0">
              <a:buNone/>
            </a:pPr>
            <a:r>
              <a:rPr lang="en-AU" dirty="0" smtClean="0"/>
              <a:t>Many </a:t>
            </a:r>
            <a:r>
              <a:rPr lang="en-AU" dirty="0"/>
              <a:t>things come to mind when we think of a knight and the role of the knight has changed over the centuries. But the typical Knight we think of was a man that lived between the 12th and 17th centuries who was pledged to serve his liege or king in military service. Generally this pledge was termed that the knight would serve 40 days of each year in military combat for his king. In exchange the knight would receive loot from battles, his own estate and position in the King's court. </a:t>
            </a:r>
          </a:p>
        </p:txBody>
      </p:sp>
    </p:spTree>
    <p:extLst>
      <p:ext uri="{BB962C8B-B14F-4D97-AF65-F5344CB8AC3E}">
        <p14:creationId xmlns:p14="http://schemas.microsoft.com/office/powerpoint/2010/main" val="40404136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 </a:t>
            </a:r>
            <a:r>
              <a:rPr lang="en-AU" b="1" dirty="0" smtClean="0">
                <a:solidFill>
                  <a:schemeClr val="tx2"/>
                </a:solidFill>
              </a:rPr>
              <a:t>A Medieval knight.</a:t>
            </a:r>
            <a:endParaRPr lang="en-AU" dirty="0">
              <a:solidFill>
                <a:schemeClr val="tx2"/>
              </a:solidFill>
            </a:endParaRPr>
          </a:p>
        </p:txBody>
      </p:sp>
      <p:sp>
        <p:nvSpPr>
          <p:cNvPr id="3" name="Content Placeholder 2"/>
          <p:cNvSpPr>
            <a:spLocks noGrp="1"/>
          </p:cNvSpPr>
          <p:nvPr>
            <p:ph idx="1"/>
          </p:nvPr>
        </p:nvSpPr>
        <p:spPr/>
        <p:txBody>
          <a:bodyPr/>
          <a:lstStyle/>
          <a:p>
            <a:r>
              <a:rPr lang="en-AU" dirty="0" smtClean="0">
                <a:solidFill>
                  <a:schemeClr val="tx2"/>
                </a:solidFill>
              </a:rPr>
              <a:t>Were given control over manors and provided soldiers for their lords. </a:t>
            </a:r>
            <a:endParaRPr lang="en-AU" dirty="0">
              <a:solidFill>
                <a:schemeClr val="tx2"/>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780928"/>
            <a:ext cx="1944216"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5175" y="2636912"/>
            <a:ext cx="2533650" cy="1692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3181350"/>
            <a:ext cx="1600200"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79430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tx2"/>
                </a:solidFill>
              </a:rPr>
              <a:t>Medieval Peasants</a:t>
            </a:r>
            <a:endParaRPr lang="en-AU" dirty="0">
              <a:solidFill>
                <a:schemeClr val="tx2"/>
              </a:solidFill>
            </a:endParaRPr>
          </a:p>
        </p:txBody>
      </p:sp>
      <p:sp>
        <p:nvSpPr>
          <p:cNvPr id="3" name="Content Placeholder 2"/>
          <p:cNvSpPr>
            <a:spLocks noGrp="1"/>
          </p:cNvSpPr>
          <p:nvPr>
            <p:ph idx="1"/>
          </p:nvPr>
        </p:nvSpPr>
        <p:spPr/>
        <p:txBody>
          <a:bodyPr/>
          <a:lstStyle/>
          <a:p>
            <a:r>
              <a:rPr lang="en-AU" dirty="0">
                <a:solidFill>
                  <a:schemeClr val="tx2"/>
                </a:solidFill>
              </a:rPr>
              <a:t>The lifestyle of peasants in Medieval England was extremely hard and harsh. Many worked as farmers in fields owned by the lords and their lives were controlled by the farming year. Certain jobs had to be done at certain times of the year. Their lives were harsh but there were few rebellions due to a harsh system of law and order.</a:t>
            </a:r>
          </a:p>
        </p:txBody>
      </p:sp>
    </p:spTree>
    <p:extLst>
      <p:ext uri="{BB962C8B-B14F-4D97-AF65-F5344CB8AC3E}">
        <p14:creationId xmlns:p14="http://schemas.microsoft.com/office/powerpoint/2010/main" val="33046373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Peasants</a:t>
            </a:r>
            <a:endParaRPr lang="en-AU" dirty="0"/>
          </a:p>
        </p:txBody>
      </p:sp>
      <p:sp>
        <p:nvSpPr>
          <p:cNvPr id="3" name="Content Placeholder 2"/>
          <p:cNvSpPr>
            <a:spLocks noGrp="1"/>
          </p:cNvSpPr>
          <p:nvPr>
            <p:ph idx="1"/>
          </p:nvPr>
        </p:nvSpPr>
        <p:spPr/>
        <p:txBody>
          <a:bodyPr/>
          <a:lstStyle/>
          <a:p>
            <a:r>
              <a:rPr lang="en-AU" dirty="0"/>
              <a:t>The peasants were at the bottom of the Feudal System and had to obey their local lord to whom they had sworn an oath of obedience on the Bible. Because they had sworn an oath to their lord, it was taken for granted that they had sworn a similar oath to the duke, earl or baron who owned that lord’s property.</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5019675"/>
            <a:ext cx="2486025" cy="1505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5157192"/>
            <a:ext cx="302895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3244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Clip on the hierarchy in Feudalism.</a:t>
            </a:r>
            <a:endParaRPr lang="en-AU" dirty="0"/>
          </a:p>
        </p:txBody>
      </p:sp>
      <p:sp>
        <p:nvSpPr>
          <p:cNvPr id="3" name="Content Placeholder 2"/>
          <p:cNvSpPr>
            <a:spLocks noGrp="1"/>
          </p:cNvSpPr>
          <p:nvPr>
            <p:ph idx="1"/>
          </p:nvPr>
        </p:nvSpPr>
        <p:spPr/>
        <p:txBody>
          <a:bodyPr/>
          <a:lstStyle/>
          <a:p>
            <a:r>
              <a:rPr lang="en-AU" dirty="0" smtClean="0">
                <a:hlinkClick r:id="rId2"/>
              </a:rPr>
              <a:t>https://www.youtube.com/watch?v=Gd4lopIPObA</a:t>
            </a:r>
            <a:endParaRPr lang="en-AU" dirty="0" smtClean="0"/>
          </a:p>
          <a:p>
            <a:endParaRPr lang="en-AU" dirty="0"/>
          </a:p>
          <a:p>
            <a:r>
              <a:rPr lang="en-AU" dirty="0" smtClean="0"/>
              <a:t>4.35mins</a:t>
            </a:r>
            <a:endParaRPr lang="en-AU" dirty="0"/>
          </a:p>
        </p:txBody>
      </p:sp>
    </p:spTree>
    <p:extLst>
      <p:ext uri="{BB962C8B-B14F-4D97-AF65-F5344CB8AC3E}">
        <p14:creationId xmlns:p14="http://schemas.microsoft.com/office/powerpoint/2010/main" val="3711847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Clip about the peasants in medieval times.</a:t>
            </a:r>
            <a:endParaRPr lang="en-AU" dirty="0"/>
          </a:p>
        </p:txBody>
      </p:sp>
      <p:sp>
        <p:nvSpPr>
          <p:cNvPr id="3" name="Content Placeholder 2"/>
          <p:cNvSpPr>
            <a:spLocks noGrp="1"/>
          </p:cNvSpPr>
          <p:nvPr>
            <p:ph idx="1"/>
          </p:nvPr>
        </p:nvSpPr>
        <p:spPr/>
        <p:txBody>
          <a:bodyPr/>
          <a:lstStyle/>
          <a:p>
            <a:r>
              <a:rPr lang="en-AU" dirty="0" smtClean="0">
                <a:hlinkClick r:id="rId2"/>
              </a:rPr>
              <a:t>https://www.youtube.com/watch?v=YTWsUvT8nsw</a:t>
            </a:r>
            <a:endParaRPr lang="en-AU" dirty="0" smtClean="0"/>
          </a:p>
          <a:p>
            <a:endParaRPr lang="en-AU" dirty="0"/>
          </a:p>
          <a:p>
            <a:r>
              <a:rPr lang="en-AU" dirty="0" smtClean="0"/>
              <a:t>28.08 mins</a:t>
            </a:r>
            <a:endParaRPr lang="en-AU" dirty="0"/>
          </a:p>
        </p:txBody>
      </p:sp>
    </p:spTree>
    <p:extLst>
      <p:ext uri="{BB962C8B-B14F-4D97-AF65-F5344CB8AC3E}">
        <p14:creationId xmlns:p14="http://schemas.microsoft.com/office/powerpoint/2010/main" val="32011738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Medieval Health</a:t>
            </a:r>
            <a:br>
              <a:rPr lang="en-AU" b="1" dirty="0" smtClean="0"/>
            </a:br>
            <a:endParaRPr lang="en-AU" dirty="0"/>
          </a:p>
        </p:txBody>
      </p:sp>
      <p:sp>
        <p:nvSpPr>
          <p:cNvPr id="3" name="Content Placeholder 2"/>
          <p:cNvSpPr>
            <a:spLocks noGrp="1"/>
          </p:cNvSpPr>
          <p:nvPr>
            <p:ph idx="1"/>
          </p:nvPr>
        </p:nvSpPr>
        <p:spPr/>
        <p:txBody>
          <a:bodyPr>
            <a:normAutofit fontScale="85000" lnSpcReduction="20000"/>
          </a:bodyPr>
          <a:lstStyle/>
          <a:p>
            <a:r>
              <a:rPr lang="en-AU" b="1" dirty="0" smtClean="0"/>
              <a:t>The Medieval Health of the people who lived during the Middle Ages was threatened by the poor hygiene of the period and the lack of basic medical knowledge. The Medieval era was devastated by the Black Death</a:t>
            </a:r>
            <a:r>
              <a:rPr lang="en-AU" b="1" dirty="0"/>
              <a:t> </a:t>
            </a:r>
            <a:r>
              <a:rPr lang="en-AU" b="1" dirty="0" smtClean="0"/>
              <a:t>in England (1348-1350) which killed nearly one third of the population of England. The underlying cause of many of the Medieval Health problems and illnesses was due to the lack of sanitation, especially in large towns or cities such as London. There was no running water. And rushes were used to cover the floors which proved to be another terrible Middle Ages Health hazard.</a:t>
            </a:r>
            <a:endParaRPr lang="en-AU" dirty="0"/>
          </a:p>
        </p:txBody>
      </p:sp>
    </p:spTree>
    <p:extLst>
      <p:ext uri="{BB962C8B-B14F-4D97-AF65-F5344CB8AC3E}">
        <p14:creationId xmlns:p14="http://schemas.microsoft.com/office/powerpoint/2010/main" val="7780775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smtClean="0"/>
              <a:t>Major Health Hazards in Medieval Times</a:t>
            </a:r>
            <a:endParaRPr lang="en-AU" dirty="0"/>
          </a:p>
        </p:txBody>
      </p:sp>
      <p:sp>
        <p:nvSpPr>
          <p:cNvPr id="3" name="Content Placeholder 2"/>
          <p:cNvSpPr>
            <a:spLocks noGrp="1"/>
          </p:cNvSpPr>
          <p:nvPr>
            <p:ph idx="1"/>
          </p:nvPr>
        </p:nvSpPr>
        <p:spPr/>
        <p:txBody>
          <a:bodyPr>
            <a:normAutofit fontScale="70000" lnSpcReduction="20000"/>
          </a:bodyPr>
          <a:lstStyle/>
          <a:p>
            <a:r>
              <a:rPr lang="en-AU" b="1" dirty="0" smtClean="0"/>
              <a:t>This practice of using rushes as floor coverings was described by Erasmus"... floors are laid with white clay, and are covered with rushes, occasionally renewed, but so imperfectly that the bottom layer is left undisturbed, sometimes for twenty years, harbouring expectoration, vomiting, the leakage of dogs and men, ale droppings, scraps of fish, and other abominations not fit to be mentioned...".</a:t>
            </a:r>
            <a:br>
              <a:rPr lang="en-AU" b="1" dirty="0" smtClean="0"/>
            </a:br>
            <a:r>
              <a:rPr lang="en-AU" b="1" dirty="0" smtClean="0"/>
              <a:t>There were open sewers in the Medieval streets which were also filled with garbage. This waste was occasionally removed and waste was dumped into the nearest river such as the River Thames. Medieval Diseases were easily spread in this unsanitary environment where fleas, lice and rats all flourished - a perfect environment for the spread of the Black Death.</a:t>
            </a:r>
            <a:endParaRPr lang="en-AU" dirty="0"/>
          </a:p>
        </p:txBody>
      </p:sp>
    </p:spTree>
    <p:extLst>
      <p:ext uri="{BB962C8B-B14F-4D97-AF65-F5344CB8AC3E}">
        <p14:creationId xmlns:p14="http://schemas.microsoft.com/office/powerpoint/2010/main" val="41001948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Black Death</a:t>
            </a:r>
            <a:endParaRPr lang="en-AU" dirty="0"/>
          </a:p>
        </p:txBody>
      </p:sp>
      <p:sp>
        <p:nvSpPr>
          <p:cNvPr id="3" name="Content Placeholder 2"/>
          <p:cNvSpPr>
            <a:spLocks noGrp="1"/>
          </p:cNvSpPr>
          <p:nvPr>
            <p:ph idx="1"/>
          </p:nvPr>
        </p:nvSpPr>
        <p:spPr/>
        <p:txBody>
          <a:bodyPr>
            <a:normAutofit lnSpcReduction="10000"/>
          </a:bodyPr>
          <a:lstStyle/>
          <a:p>
            <a:r>
              <a:rPr lang="en-AU" dirty="0" smtClean="0"/>
              <a:t>Poor hygiene and disease were common during the Middle ages. Plagues were responsible for the death of a large number of people. </a:t>
            </a:r>
          </a:p>
          <a:p>
            <a:r>
              <a:rPr lang="en-AU" dirty="0" smtClean="0"/>
              <a:t>A disease called the Black Death of Bubonic plague struck Europe in 1347. It spread quickly and doctors had no idea how to treat it. We know now that it was transmitted by fleas carried by rats. </a:t>
            </a:r>
          </a:p>
          <a:p>
            <a:endParaRPr lang="en-AU"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5301208"/>
            <a:ext cx="5076825" cy="1384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35343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Black Death</a:t>
            </a:r>
            <a:endParaRPr lang="en-AU" dirty="0"/>
          </a:p>
        </p:txBody>
      </p:sp>
      <p:sp>
        <p:nvSpPr>
          <p:cNvPr id="3" name="Content Placeholder 2"/>
          <p:cNvSpPr>
            <a:spLocks noGrp="1"/>
          </p:cNvSpPr>
          <p:nvPr>
            <p:ph idx="1"/>
          </p:nvPr>
        </p:nvSpPr>
        <p:spPr/>
        <p:txBody>
          <a:bodyPr/>
          <a:lstStyle/>
          <a:p>
            <a:r>
              <a:rPr lang="en-AU" dirty="0" smtClean="0"/>
              <a:t>People who lived in the large towns with poor sanitation were more likely to catch the disease than those who lived in the country. </a:t>
            </a:r>
            <a:endParaRPr lang="en-AU"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3212976"/>
            <a:ext cx="262890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255365"/>
            <a:ext cx="264795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5085184"/>
            <a:ext cx="2419350" cy="1453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2561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Clip on the Black death</a:t>
            </a:r>
            <a:endParaRPr lang="en-AU" dirty="0"/>
          </a:p>
        </p:txBody>
      </p:sp>
      <p:sp>
        <p:nvSpPr>
          <p:cNvPr id="3" name="Content Placeholder 2"/>
          <p:cNvSpPr>
            <a:spLocks noGrp="1"/>
          </p:cNvSpPr>
          <p:nvPr>
            <p:ph idx="1"/>
          </p:nvPr>
        </p:nvSpPr>
        <p:spPr/>
        <p:txBody>
          <a:bodyPr/>
          <a:lstStyle/>
          <a:p>
            <a:r>
              <a:rPr lang="en-AU" dirty="0" smtClean="0">
                <a:hlinkClick r:id="rId2"/>
              </a:rPr>
              <a:t>https://www.youtube.com/watch?v=y7OWLohZ_fs</a:t>
            </a:r>
            <a:endParaRPr lang="en-AU" dirty="0" smtClean="0"/>
          </a:p>
          <a:p>
            <a:endParaRPr lang="en-AU" dirty="0"/>
          </a:p>
          <a:p>
            <a:r>
              <a:rPr lang="en-AU" dirty="0" smtClean="0"/>
              <a:t>4.56 mins</a:t>
            </a:r>
            <a:endParaRPr lang="en-AU" dirty="0"/>
          </a:p>
        </p:txBody>
      </p:sp>
    </p:spTree>
    <p:extLst>
      <p:ext uri="{BB962C8B-B14F-4D97-AF65-F5344CB8AC3E}">
        <p14:creationId xmlns:p14="http://schemas.microsoft.com/office/powerpoint/2010/main" val="15327902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Medieval Inventions</a:t>
            </a:r>
            <a:endParaRPr lang="en-AU" dirty="0"/>
          </a:p>
        </p:txBody>
      </p:sp>
      <p:sp>
        <p:nvSpPr>
          <p:cNvPr id="3" name="Content Placeholder 2"/>
          <p:cNvSpPr>
            <a:spLocks noGrp="1"/>
          </p:cNvSpPr>
          <p:nvPr>
            <p:ph idx="1"/>
          </p:nvPr>
        </p:nvSpPr>
        <p:spPr/>
        <p:txBody>
          <a:bodyPr/>
          <a:lstStyle/>
          <a:p>
            <a:r>
              <a:rPr lang="en-AU" dirty="0" smtClean="0"/>
              <a:t>The period saw major technological advances, including the adoption of </a:t>
            </a:r>
            <a:r>
              <a:rPr lang="en-AU" b="1" dirty="0" smtClean="0"/>
              <a:t>gunpowder</a:t>
            </a:r>
            <a:r>
              <a:rPr lang="en-AU" dirty="0" smtClean="0"/>
              <a:t>, the invention of vertical </a:t>
            </a:r>
            <a:r>
              <a:rPr lang="en-AU" b="1" dirty="0" smtClean="0"/>
              <a:t>windmills</a:t>
            </a:r>
            <a:r>
              <a:rPr lang="en-AU" dirty="0" smtClean="0"/>
              <a:t>, spectacles, mechanical clocks, and greatly improved water mills, building techniques (Gothic architecture, medieval castles), and agriculture in general (three-field </a:t>
            </a:r>
            <a:r>
              <a:rPr lang="en-AU" b="1" dirty="0" smtClean="0"/>
              <a:t>crop rotation</a:t>
            </a:r>
            <a:r>
              <a:rPr lang="en-AU" dirty="0" smtClean="0"/>
              <a:t>).</a:t>
            </a:r>
          </a:p>
          <a:p>
            <a:endParaRPr lang="en-AU" dirty="0"/>
          </a:p>
        </p:txBody>
      </p:sp>
    </p:spTree>
    <p:extLst>
      <p:ext uri="{BB962C8B-B14F-4D97-AF65-F5344CB8AC3E}">
        <p14:creationId xmlns:p14="http://schemas.microsoft.com/office/powerpoint/2010/main" val="23319654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The top 10 inventions were;</a:t>
            </a:r>
            <a:br>
              <a:rPr lang="en-AU" dirty="0" smtClean="0"/>
            </a:br>
            <a:r>
              <a:rPr lang="en-AU" dirty="0" smtClean="0"/>
              <a:t>1. The Heavy Plough 5th Century AD</a:t>
            </a:r>
            <a:br>
              <a:rPr lang="en-AU" dirty="0" smtClean="0"/>
            </a:br>
            <a:endParaRPr lang="en-AU" dirty="0"/>
          </a:p>
        </p:txBody>
      </p:sp>
      <p:sp>
        <p:nvSpPr>
          <p:cNvPr id="3" name="Content Placeholder 2"/>
          <p:cNvSpPr>
            <a:spLocks noGrp="1"/>
          </p:cNvSpPr>
          <p:nvPr>
            <p:ph idx="1"/>
          </p:nvPr>
        </p:nvSpPr>
        <p:spPr/>
        <p:txBody>
          <a:bodyPr>
            <a:normAutofit fontScale="85000" lnSpcReduction="20000"/>
          </a:bodyPr>
          <a:lstStyle/>
          <a:p>
            <a:r>
              <a:rPr lang="en-AU" dirty="0" smtClean="0"/>
              <a:t>In the basic mouldboard plough the depth of the cut is adjusted by lifting against the runner in the furrow, which limited the weight of the plough to what the ploughman could easily lift. These ploughs were fairly fragile, and were unsuitable for breaking up the heavier soils of northern Europe. The introduction of wheels to replace the runner allowed the weight of the plough to increase, and in turn allowed the use of a much larger mouldboard that was faced with metal. These heavy ploughs led to greater food production and eventually a significant population increase around 600 AD</a:t>
            </a:r>
            <a:endParaRPr lang="en-AU"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3" y="5575548"/>
            <a:ext cx="2016225" cy="1165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86301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2. Tidal Mills 7th Century AD</a:t>
            </a:r>
            <a:endParaRPr lang="en-AU" dirty="0"/>
          </a:p>
        </p:txBody>
      </p:sp>
      <p:sp>
        <p:nvSpPr>
          <p:cNvPr id="3" name="Content Placeholder 2"/>
          <p:cNvSpPr>
            <a:spLocks noGrp="1"/>
          </p:cNvSpPr>
          <p:nvPr>
            <p:ph idx="1"/>
          </p:nvPr>
        </p:nvSpPr>
        <p:spPr>
          <a:xfrm>
            <a:off x="457200" y="1196752"/>
            <a:ext cx="8229600" cy="4929411"/>
          </a:xfrm>
        </p:spPr>
        <p:txBody>
          <a:bodyPr>
            <a:normAutofit lnSpcReduction="10000"/>
          </a:bodyPr>
          <a:lstStyle/>
          <a:p>
            <a:r>
              <a:rPr lang="en-AU" dirty="0" smtClean="0"/>
              <a:t>A tide mill is a specialist type of water mill driven by tidal rise and fall. A dam with a sluice is created across a suitable tidal inlet, or a section of river estuary is made into a reservoir. As the tide comes in, it enters the mill pond through a one way gate, and this gate closes automatically when the tide begins to fall. When the tide is low enough, the stored water can be released to turn a water wheel. </a:t>
            </a:r>
            <a:endParaRPr lang="en-AU"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5157192"/>
            <a:ext cx="2952328"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51910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a:t>
            </a:r>
            <a:r>
              <a:rPr lang="en-AU" dirty="0" smtClean="0"/>
              <a:t>he Hourglass 9th Century AD</a:t>
            </a:r>
            <a:endParaRPr lang="en-AU" dirty="0"/>
          </a:p>
        </p:txBody>
      </p:sp>
      <p:sp>
        <p:nvSpPr>
          <p:cNvPr id="3" name="Content Placeholder 2"/>
          <p:cNvSpPr>
            <a:spLocks noGrp="1"/>
          </p:cNvSpPr>
          <p:nvPr>
            <p:ph idx="1"/>
          </p:nvPr>
        </p:nvSpPr>
        <p:spPr/>
        <p:txBody>
          <a:bodyPr/>
          <a:lstStyle/>
          <a:p>
            <a:r>
              <a:rPr lang="en-AU" dirty="0" smtClean="0"/>
              <a:t>They were the first dependable, reusable and reasonably accurate measure of time. </a:t>
            </a:r>
          </a:p>
          <a:p>
            <a:r>
              <a:rPr lang="en-AU" dirty="0" smtClean="0"/>
              <a:t>They were used at sea. </a:t>
            </a:r>
            <a:endParaRPr lang="en-AU"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2708920"/>
            <a:ext cx="2143125"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01412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4. Blast Furnace 12th Century AD</a:t>
            </a:r>
            <a:endParaRPr lang="en-AU" dirty="0"/>
          </a:p>
        </p:txBody>
      </p:sp>
      <p:sp>
        <p:nvSpPr>
          <p:cNvPr id="3" name="Content Placeholder 2"/>
          <p:cNvSpPr>
            <a:spLocks noGrp="1"/>
          </p:cNvSpPr>
          <p:nvPr>
            <p:ph idx="1"/>
          </p:nvPr>
        </p:nvSpPr>
        <p:spPr/>
        <p:txBody>
          <a:bodyPr/>
          <a:lstStyle/>
          <a:p>
            <a:r>
              <a:rPr lang="en-AU" dirty="0" smtClean="0"/>
              <a:t>Iron ore was used to make metal objects.</a:t>
            </a:r>
            <a:endParaRPr lang="en-AU"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2443163"/>
            <a:ext cx="2667000"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01961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5. Liquor 12th Century AD</a:t>
            </a:r>
            <a:endParaRPr lang="en-AU" dirty="0"/>
          </a:p>
        </p:txBody>
      </p:sp>
      <p:sp>
        <p:nvSpPr>
          <p:cNvPr id="3" name="Content Placeholder 2"/>
          <p:cNvSpPr>
            <a:spLocks noGrp="1"/>
          </p:cNvSpPr>
          <p:nvPr>
            <p:ph idx="1"/>
          </p:nvPr>
        </p:nvSpPr>
        <p:spPr/>
        <p:txBody>
          <a:bodyPr/>
          <a:lstStyle/>
          <a:p>
            <a:r>
              <a:rPr lang="en-AU" dirty="0" smtClean="0"/>
              <a:t>They used distillation to make alcohol. </a:t>
            </a:r>
            <a:endParaRPr lang="en-AU"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2452688"/>
            <a:ext cx="2857500"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43179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6. Eyeglasses 13th Century</a:t>
            </a:r>
            <a:br>
              <a:rPr lang="en-AU" dirty="0" smtClean="0"/>
            </a:br>
            <a:endParaRPr lang="en-AU" dirty="0"/>
          </a:p>
        </p:txBody>
      </p:sp>
      <p:sp>
        <p:nvSpPr>
          <p:cNvPr id="3" name="Content Placeholder 2"/>
          <p:cNvSpPr>
            <a:spLocks noGrp="1"/>
          </p:cNvSpPr>
          <p:nvPr>
            <p:ph idx="1"/>
          </p:nvPr>
        </p:nvSpPr>
        <p:spPr/>
        <p:txBody>
          <a:bodyPr/>
          <a:lstStyle/>
          <a:p>
            <a:endParaRPr lang="en-AU"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5688632"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58041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7. The Mechanical Clock 13th Century AD</a:t>
            </a:r>
            <a:endParaRPr lang="en-AU" dirty="0"/>
          </a:p>
        </p:txBody>
      </p:sp>
      <p:sp>
        <p:nvSpPr>
          <p:cNvPr id="3" name="Content Placeholder 2"/>
          <p:cNvSpPr>
            <a:spLocks noGrp="1"/>
          </p:cNvSpPr>
          <p:nvPr>
            <p:ph idx="1"/>
          </p:nvPr>
        </p:nvSpPr>
        <p:spPr/>
        <p:txBody>
          <a:bodyPr/>
          <a:lstStyle/>
          <a:p>
            <a:endParaRPr lang="en-AU"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536188"/>
            <a:ext cx="5003513"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39147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8. Spinning Wheel 13th Century AD</a:t>
            </a:r>
            <a:br>
              <a:rPr lang="en-AU" dirty="0" smtClean="0"/>
            </a:br>
            <a:endParaRPr lang="en-AU" dirty="0"/>
          </a:p>
        </p:txBody>
      </p:sp>
      <p:sp>
        <p:nvSpPr>
          <p:cNvPr id="3" name="Content Placeholder 2"/>
          <p:cNvSpPr>
            <a:spLocks noGrp="1"/>
          </p:cNvSpPr>
          <p:nvPr>
            <p:ph idx="1"/>
          </p:nvPr>
        </p:nvSpPr>
        <p:spPr/>
        <p:txBody>
          <a:bodyPr/>
          <a:lstStyle/>
          <a:p>
            <a:r>
              <a:rPr lang="en-AU" dirty="0" smtClean="0"/>
              <a:t>It replaced the earlier method of hand spinning, in which the individual fibres were drawn out of a mass of wool held on a stick, or distaff, twisted together to form a continuous strand, and wound on a second stick, or spindle.</a:t>
            </a:r>
            <a:endParaRPr lang="en-AU"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4077072"/>
            <a:ext cx="231457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3409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9. Quarantine 14th Century AD</a:t>
            </a:r>
            <a:endParaRPr lang="en-AU" dirty="0"/>
          </a:p>
        </p:txBody>
      </p:sp>
      <p:sp>
        <p:nvSpPr>
          <p:cNvPr id="3" name="Content Placeholder 2"/>
          <p:cNvSpPr>
            <a:spLocks noGrp="1"/>
          </p:cNvSpPr>
          <p:nvPr>
            <p:ph idx="1"/>
          </p:nvPr>
        </p:nvSpPr>
        <p:spPr/>
        <p:txBody>
          <a:bodyPr/>
          <a:lstStyle/>
          <a:p>
            <a:r>
              <a:rPr lang="en-AU" dirty="0" smtClean="0"/>
              <a:t>In the 14th century the growth of maritime trade and the recognition that plague was introduced by ships returning from the Levant led to the adoption of quarantine in Venice. It was decreed that ships were to be isolated for a limited period to allow for the manifestation of the disease and to dissipate the infection brought by persons and goods</a:t>
            </a:r>
            <a:endParaRPr lang="en-AU" dirty="0"/>
          </a:p>
        </p:txBody>
      </p:sp>
    </p:spTree>
    <p:extLst>
      <p:ext uri="{BB962C8B-B14F-4D97-AF65-F5344CB8AC3E}">
        <p14:creationId xmlns:p14="http://schemas.microsoft.com/office/powerpoint/2010/main" val="4536048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10. The Printing Press of Gutenberg 15th Century AD</a:t>
            </a:r>
            <a:br>
              <a:rPr lang="en-AU" dirty="0" smtClean="0"/>
            </a:br>
            <a:endParaRPr lang="en-AU" dirty="0"/>
          </a:p>
        </p:txBody>
      </p:sp>
      <p:sp>
        <p:nvSpPr>
          <p:cNvPr id="3" name="Content Placeholder 2"/>
          <p:cNvSpPr>
            <a:spLocks noGrp="1"/>
          </p:cNvSpPr>
          <p:nvPr>
            <p:ph idx="1"/>
          </p:nvPr>
        </p:nvSpPr>
        <p:spPr/>
        <p:txBody>
          <a:bodyPr/>
          <a:lstStyle/>
          <a:p>
            <a:endParaRPr lang="en-AU"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5400600"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23471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1255</Words>
  <Application>Microsoft Office PowerPoint</Application>
  <PresentationFormat>On-screen Show (4:3)</PresentationFormat>
  <Paragraphs>61</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Medieval Kings</vt:lpstr>
      <vt:lpstr>Medieval Kings</vt:lpstr>
      <vt:lpstr>Watch this clip on Medieval Kings</vt:lpstr>
      <vt:lpstr>Medieval Nobles</vt:lpstr>
      <vt:lpstr>Definition for a knight.</vt:lpstr>
      <vt:lpstr>What was a Medieval knight?</vt:lpstr>
      <vt:lpstr> A Medieval knight.</vt:lpstr>
      <vt:lpstr>Medieval Peasants</vt:lpstr>
      <vt:lpstr>Peasants</vt:lpstr>
      <vt:lpstr>Clip on the hierarchy in Feudalism.</vt:lpstr>
      <vt:lpstr>Clip about the peasants in medieval times.</vt:lpstr>
      <vt:lpstr>Medieval Health </vt:lpstr>
      <vt:lpstr>Major Health Hazards in Medieval Times</vt:lpstr>
      <vt:lpstr>The Black Death</vt:lpstr>
      <vt:lpstr>Black Death</vt:lpstr>
      <vt:lpstr>Clip on the Black death</vt:lpstr>
      <vt:lpstr>Medieval Inventions</vt:lpstr>
      <vt:lpstr>The top 10 inventions were; 1. The Heavy Plough 5th Century AD </vt:lpstr>
      <vt:lpstr>2. Tidal Mills 7th Century AD</vt:lpstr>
      <vt:lpstr>The Hourglass 9th Century AD</vt:lpstr>
      <vt:lpstr>4. Blast Furnace 12th Century AD</vt:lpstr>
      <vt:lpstr>5. Liquor 12th Century AD</vt:lpstr>
      <vt:lpstr>6. Eyeglasses 13th Century </vt:lpstr>
      <vt:lpstr>7. The Mechanical Clock 13th Century AD</vt:lpstr>
      <vt:lpstr>8. Spinning Wheel 13th Century AD </vt:lpstr>
      <vt:lpstr>9. Quarantine 14th Century AD</vt:lpstr>
      <vt:lpstr>10. The Printing Press of Gutenberg 15th Century AD </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Kings</dc:title>
  <dc:creator>WATSON Vicke</dc:creator>
  <cp:lastModifiedBy>WATSON Vicke</cp:lastModifiedBy>
  <cp:revision>7</cp:revision>
  <dcterms:created xsi:type="dcterms:W3CDTF">2016-08-25T11:04:04Z</dcterms:created>
  <dcterms:modified xsi:type="dcterms:W3CDTF">2016-08-26T02:54:55Z</dcterms:modified>
</cp:coreProperties>
</file>
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8" r:id="rId10"/>
    <p:sldId id="264" r:id="rId11"/>
    <p:sldId id="267" r:id="rId12"/>
    <p:sldId id="265" r:id="rId13"/>
    <p:sldId id="269" r:id="rId14"/>
    <p:sldId id="270" r:id="rId15"/>
    <p:sldId id="271" r:id="rId16"/>
    <p:sldId id="272" r:id="rId17"/>
    <p:sldId id="266"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74" d="100"/>
          <a:sy n="74" d="100"/>
        </p:scale>
        <p:origin x="-1902"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183C477-31D5-44C0-87C2-272B9ECC3E58}" type="datetimeFigureOut">
              <a:rPr lang="en-AU" smtClean="0"/>
              <a:t>23/08/2016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6C9E2C9-9DCC-4780-A1E6-FFE54C4EBD20}" type="slidenum">
              <a:rPr lang="en-AU" smtClean="0"/>
              <a:t>‹#›</a:t>
            </a:fld>
            <a:endParaRPr lang="en-AU"/>
          </a:p>
        </p:txBody>
      </p:sp>
    </p:spTree>
    <p:extLst>
      <p:ext uri="{BB962C8B-B14F-4D97-AF65-F5344CB8AC3E}">
        <p14:creationId xmlns:p14="http://schemas.microsoft.com/office/powerpoint/2010/main" val="1992427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183C477-31D5-44C0-87C2-272B9ECC3E58}" type="datetimeFigureOut">
              <a:rPr lang="en-AU" smtClean="0"/>
              <a:t>23/08/2016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6C9E2C9-9DCC-4780-A1E6-FFE54C4EBD20}" type="slidenum">
              <a:rPr lang="en-AU" smtClean="0"/>
              <a:t>‹#›</a:t>
            </a:fld>
            <a:endParaRPr lang="en-AU"/>
          </a:p>
        </p:txBody>
      </p:sp>
    </p:spTree>
    <p:extLst>
      <p:ext uri="{BB962C8B-B14F-4D97-AF65-F5344CB8AC3E}">
        <p14:creationId xmlns:p14="http://schemas.microsoft.com/office/powerpoint/2010/main" val="1512352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183C477-31D5-44C0-87C2-272B9ECC3E58}" type="datetimeFigureOut">
              <a:rPr lang="en-AU" smtClean="0"/>
              <a:t>23/08/2016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6C9E2C9-9DCC-4780-A1E6-FFE54C4EBD20}" type="slidenum">
              <a:rPr lang="en-AU" smtClean="0"/>
              <a:t>‹#›</a:t>
            </a:fld>
            <a:endParaRPr lang="en-AU"/>
          </a:p>
        </p:txBody>
      </p:sp>
    </p:spTree>
    <p:extLst>
      <p:ext uri="{BB962C8B-B14F-4D97-AF65-F5344CB8AC3E}">
        <p14:creationId xmlns:p14="http://schemas.microsoft.com/office/powerpoint/2010/main" val="1025393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183C477-31D5-44C0-87C2-272B9ECC3E58}" type="datetimeFigureOut">
              <a:rPr lang="en-AU" smtClean="0"/>
              <a:t>23/08/2016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6C9E2C9-9DCC-4780-A1E6-FFE54C4EBD20}" type="slidenum">
              <a:rPr lang="en-AU" smtClean="0"/>
              <a:t>‹#›</a:t>
            </a:fld>
            <a:endParaRPr lang="en-AU"/>
          </a:p>
        </p:txBody>
      </p:sp>
    </p:spTree>
    <p:extLst>
      <p:ext uri="{BB962C8B-B14F-4D97-AF65-F5344CB8AC3E}">
        <p14:creationId xmlns:p14="http://schemas.microsoft.com/office/powerpoint/2010/main" val="76470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183C477-31D5-44C0-87C2-272B9ECC3E58}" type="datetimeFigureOut">
              <a:rPr lang="en-AU" smtClean="0"/>
              <a:t>23/08/2016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6C9E2C9-9DCC-4780-A1E6-FFE54C4EBD20}" type="slidenum">
              <a:rPr lang="en-AU" smtClean="0"/>
              <a:t>‹#›</a:t>
            </a:fld>
            <a:endParaRPr lang="en-AU"/>
          </a:p>
        </p:txBody>
      </p:sp>
    </p:spTree>
    <p:extLst>
      <p:ext uri="{BB962C8B-B14F-4D97-AF65-F5344CB8AC3E}">
        <p14:creationId xmlns:p14="http://schemas.microsoft.com/office/powerpoint/2010/main" val="2417037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183C477-31D5-44C0-87C2-272B9ECC3E58}" type="datetimeFigureOut">
              <a:rPr lang="en-AU" smtClean="0"/>
              <a:t>23/08/2016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6C9E2C9-9DCC-4780-A1E6-FFE54C4EBD20}" type="slidenum">
              <a:rPr lang="en-AU" smtClean="0"/>
              <a:t>‹#›</a:t>
            </a:fld>
            <a:endParaRPr lang="en-AU"/>
          </a:p>
        </p:txBody>
      </p:sp>
    </p:spTree>
    <p:extLst>
      <p:ext uri="{BB962C8B-B14F-4D97-AF65-F5344CB8AC3E}">
        <p14:creationId xmlns:p14="http://schemas.microsoft.com/office/powerpoint/2010/main" val="4059063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83C477-31D5-44C0-87C2-272B9ECC3E58}" type="datetimeFigureOut">
              <a:rPr lang="en-AU" smtClean="0"/>
              <a:t>23/08/2016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6C9E2C9-9DCC-4780-A1E6-FFE54C4EBD20}" type="slidenum">
              <a:rPr lang="en-AU" smtClean="0"/>
              <a:t>‹#›</a:t>
            </a:fld>
            <a:endParaRPr lang="en-AU"/>
          </a:p>
        </p:txBody>
      </p:sp>
    </p:spTree>
    <p:extLst>
      <p:ext uri="{BB962C8B-B14F-4D97-AF65-F5344CB8AC3E}">
        <p14:creationId xmlns:p14="http://schemas.microsoft.com/office/powerpoint/2010/main" val="2434014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83C477-31D5-44C0-87C2-272B9ECC3E58}" type="datetimeFigureOut">
              <a:rPr lang="en-AU" smtClean="0"/>
              <a:t>23/08/2016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6C9E2C9-9DCC-4780-A1E6-FFE54C4EBD20}" type="slidenum">
              <a:rPr lang="en-AU" smtClean="0"/>
              <a:t>‹#›</a:t>
            </a:fld>
            <a:endParaRPr lang="en-AU"/>
          </a:p>
        </p:txBody>
      </p:sp>
    </p:spTree>
    <p:extLst>
      <p:ext uri="{BB962C8B-B14F-4D97-AF65-F5344CB8AC3E}">
        <p14:creationId xmlns:p14="http://schemas.microsoft.com/office/powerpoint/2010/main" val="3668923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83C477-31D5-44C0-87C2-272B9ECC3E58}" type="datetimeFigureOut">
              <a:rPr lang="en-AU" smtClean="0"/>
              <a:t>23/08/2016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6C9E2C9-9DCC-4780-A1E6-FFE54C4EBD20}" type="slidenum">
              <a:rPr lang="en-AU" smtClean="0"/>
              <a:t>‹#›</a:t>
            </a:fld>
            <a:endParaRPr lang="en-AU"/>
          </a:p>
        </p:txBody>
      </p:sp>
    </p:spTree>
    <p:extLst>
      <p:ext uri="{BB962C8B-B14F-4D97-AF65-F5344CB8AC3E}">
        <p14:creationId xmlns:p14="http://schemas.microsoft.com/office/powerpoint/2010/main" val="3788486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183C477-31D5-44C0-87C2-272B9ECC3E58}" type="datetimeFigureOut">
              <a:rPr lang="en-AU" smtClean="0"/>
              <a:t>23/08/2016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6C9E2C9-9DCC-4780-A1E6-FFE54C4EBD20}" type="slidenum">
              <a:rPr lang="en-AU" smtClean="0"/>
              <a:t>‹#›</a:t>
            </a:fld>
            <a:endParaRPr lang="en-AU"/>
          </a:p>
        </p:txBody>
      </p:sp>
    </p:spTree>
    <p:extLst>
      <p:ext uri="{BB962C8B-B14F-4D97-AF65-F5344CB8AC3E}">
        <p14:creationId xmlns:p14="http://schemas.microsoft.com/office/powerpoint/2010/main" val="2243899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183C477-31D5-44C0-87C2-272B9ECC3E58}" type="datetimeFigureOut">
              <a:rPr lang="en-AU" smtClean="0"/>
              <a:t>23/08/2016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6C9E2C9-9DCC-4780-A1E6-FFE54C4EBD20}" type="slidenum">
              <a:rPr lang="en-AU" smtClean="0"/>
              <a:t>‹#›</a:t>
            </a:fld>
            <a:endParaRPr lang="en-AU"/>
          </a:p>
        </p:txBody>
      </p:sp>
    </p:spTree>
    <p:extLst>
      <p:ext uri="{BB962C8B-B14F-4D97-AF65-F5344CB8AC3E}">
        <p14:creationId xmlns:p14="http://schemas.microsoft.com/office/powerpoint/2010/main" val="3873902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3C477-31D5-44C0-87C2-272B9ECC3E58}" type="datetimeFigureOut">
              <a:rPr lang="en-AU" smtClean="0"/>
              <a:t>23/08/2016</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C9E2C9-9DCC-4780-A1E6-FFE54C4EBD20}" type="slidenum">
              <a:rPr lang="en-AU" smtClean="0"/>
              <a:t>‹#›</a:t>
            </a:fld>
            <a:endParaRPr lang="en-AU"/>
          </a:p>
        </p:txBody>
      </p:sp>
    </p:spTree>
    <p:extLst>
      <p:ext uri="{BB962C8B-B14F-4D97-AF65-F5344CB8AC3E}">
        <p14:creationId xmlns:p14="http://schemas.microsoft.com/office/powerpoint/2010/main" val="27561623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48681"/>
            <a:ext cx="7772400" cy="2088231"/>
          </a:xfrm>
        </p:spPr>
        <p:txBody>
          <a:bodyPr/>
          <a:lstStyle/>
          <a:p>
            <a:r>
              <a:rPr lang="en-AU" b="1" dirty="0" smtClean="0"/>
              <a:t>The Fall of Rome</a:t>
            </a:r>
            <a:br>
              <a:rPr lang="en-AU" b="1" dirty="0" smtClean="0"/>
            </a:br>
            <a:endParaRPr lang="en-AU" dirty="0"/>
          </a:p>
        </p:txBody>
      </p:sp>
      <p:sp>
        <p:nvSpPr>
          <p:cNvPr id="3" name="Subtitle 2"/>
          <p:cNvSpPr>
            <a:spLocks noGrp="1"/>
          </p:cNvSpPr>
          <p:nvPr>
            <p:ph type="subTitle" idx="1"/>
          </p:nvPr>
        </p:nvSpPr>
        <p:spPr>
          <a:xfrm>
            <a:off x="1331640" y="2852936"/>
            <a:ext cx="6400800" cy="2713856"/>
          </a:xfrm>
        </p:spPr>
        <p:txBody>
          <a:bodyPr>
            <a:normAutofit fontScale="85000" lnSpcReduction="20000"/>
          </a:bodyPr>
          <a:lstStyle/>
          <a:p>
            <a:r>
              <a:rPr lang="en-AU" dirty="0" smtClean="0">
                <a:solidFill>
                  <a:schemeClr val="tx1"/>
                </a:solidFill>
              </a:rPr>
              <a:t>Rome - Kingdom, Republic and Empire together - lasted about 1200 years.  Rome ruled all around the Mediterranean and large sections of Europe and Southwest Asia.  Yet in the end, the problems grew too great and the Western Roman Empire fell.</a:t>
            </a:r>
          </a:p>
          <a:p>
            <a:r>
              <a:rPr lang="en-AU" dirty="0" smtClean="0">
                <a:solidFill>
                  <a:schemeClr val="tx1"/>
                </a:solidFill>
              </a:rPr>
              <a:t>Why did the empire fall apart?</a:t>
            </a:r>
          </a:p>
          <a:p>
            <a:endParaRPr lang="en-AU"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192" y="1556793"/>
            <a:ext cx="2619375"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8291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fall of Rome</a:t>
            </a:r>
            <a:endParaRPr lang="en-AU" dirty="0"/>
          </a:p>
        </p:txBody>
      </p:sp>
      <p:sp>
        <p:nvSpPr>
          <p:cNvPr id="3" name="Content Placeholder 2"/>
          <p:cNvSpPr>
            <a:spLocks noGrp="1"/>
          </p:cNvSpPr>
          <p:nvPr>
            <p:ph idx="1"/>
          </p:nvPr>
        </p:nvSpPr>
        <p:spPr/>
        <p:txBody>
          <a:bodyPr/>
          <a:lstStyle/>
          <a:p>
            <a:r>
              <a:rPr lang="en-AU" dirty="0" smtClean="0"/>
              <a:t>There is no one single reason, but was instead a series of problems that grew too large to solve.  </a:t>
            </a:r>
          </a:p>
          <a:p>
            <a:r>
              <a:rPr lang="en-AU" dirty="0" smtClean="0"/>
              <a:t>One problem was that the empire grew too large to govern.  The Romans tried to solve this by dividing the empire into the Eastern and Western Roman Empire.   </a:t>
            </a:r>
          </a:p>
          <a:p>
            <a:endParaRPr lang="en-AU"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116632"/>
            <a:ext cx="2572366"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3522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fall of Rome</a:t>
            </a:r>
            <a:endParaRPr lang="en-AU" dirty="0"/>
          </a:p>
        </p:txBody>
      </p:sp>
      <p:sp>
        <p:nvSpPr>
          <p:cNvPr id="3" name="Content Placeholder 2"/>
          <p:cNvSpPr>
            <a:spLocks noGrp="1"/>
          </p:cNvSpPr>
          <p:nvPr>
            <p:ph idx="1"/>
          </p:nvPr>
        </p:nvSpPr>
        <p:spPr/>
        <p:txBody>
          <a:bodyPr/>
          <a:lstStyle/>
          <a:p>
            <a:r>
              <a:rPr lang="en-AU" dirty="0" smtClean="0"/>
              <a:t>Another problem was that the Roman men no longer wanted to serve in the army. The pay was not great</a:t>
            </a:r>
            <a:r>
              <a:rPr lang="en-AU" dirty="0" smtClean="0">
                <a:solidFill>
                  <a:srgbClr val="7030A0"/>
                </a:solidFill>
              </a:rPr>
              <a:t>.</a:t>
            </a:r>
            <a:r>
              <a:rPr lang="en-AU" dirty="0" smtClean="0"/>
              <a:t> Sometimes the legion was not paid at all. Most men did not want to be away from their families and farms for long periods of time.  The Romans tried to solve this by hiring barbarians to fight for them.  </a:t>
            </a:r>
            <a:endParaRPr lang="en-AU"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176" y="5010150"/>
            <a:ext cx="2466975" cy="1515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829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fall of Rome</a:t>
            </a:r>
            <a:endParaRPr lang="en-AU" dirty="0"/>
          </a:p>
        </p:txBody>
      </p:sp>
      <p:sp>
        <p:nvSpPr>
          <p:cNvPr id="3" name="Content Placeholder 2"/>
          <p:cNvSpPr>
            <a:spLocks noGrp="1"/>
          </p:cNvSpPr>
          <p:nvPr>
            <p:ph idx="1"/>
          </p:nvPr>
        </p:nvSpPr>
        <p:spPr/>
        <p:txBody>
          <a:bodyPr/>
          <a:lstStyle/>
          <a:p>
            <a:r>
              <a:rPr lang="en-AU" dirty="0" smtClean="0"/>
              <a:t>There were other problems. Civil wars broke out in Rome between different factions.  The rich grew disinterested in helping Rome and only wanted more for themselves and their families.  The population of Rome shrank.  Trade decreased while taxes and prices increased.  The poor were overtaxed.  The use of slaves put people out of work. The roads fell into disrepair. </a:t>
            </a:r>
            <a:endParaRPr lang="en-AU"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4208" y="15311"/>
            <a:ext cx="2533650" cy="1613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1757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fall of Rome</a:t>
            </a:r>
            <a:endParaRPr lang="en-AU" dirty="0"/>
          </a:p>
        </p:txBody>
      </p:sp>
      <p:sp>
        <p:nvSpPr>
          <p:cNvPr id="3" name="Content Placeholder 2"/>
          <p:cNvSpPr>
            <a:spLocks noGrp="1"/>
          </p:cNvSpPr>
          <p:nvPr>
            <p:ph idx="1"/>
          </p:nvPr>
        </p:nvSpPr>
        <p:spPr/>
        <p:txBody>
          <a:bodyPr>
            <a:normAutofit fontScale="92500" lnSpcReduction="10000"/>
          </a:bodyPr>
          <a:lstStyle/>
          <a:p>
            <a:r>
              <a:rPr lang="en-AU" dirty="0" smtClean="0"/>
              <a:t>The Romans were aware of these problems and sometimes, under a good emperor, they would work on them for a while.  In time, the good emperor would be gone and a bad one would take his place.  Soon the problems in the Western Roman Empire grew so great that the Western (European) Roman empire, which included the city of Rome, fell to barbarian tribes in Europe.</a:t>
            </a:r>
          </a:p>
          <a:p>
            <a:r>
              <a:rPr lang="en-AU" dirty="0" smtClean="0"/>
              <a:t>The Eastern Roman empire continued another 1000 years.</a:t>
            </a:r>
          </a:p>
          <a:p>
            <a:endParaRPr lang="en-AU"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224" y="0"/>
            <a:ext cx="2466975" cy="1556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7116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chemeClr val="tx2"/>
                </a:solidFill>
              </a:rPr>
              <a:t>Write this down</a:t>
            </a:r>
            <a:endParaRPr lang="en-AU" dirty="0">
              <a:solidFill>
                <a:schemeClr val="tx2"/>
              </a:solidFill>
            </a:endParaRPr>
          </a:p>
        </p:txBody>
      </p:sp>
      <p:sp>
        <p:nvSpPr>
          <p:cNvPr id="3" name="Content Placeholder 2"/>
          <p:cNvSpPr>
            <a:spLocks noGrp="1"/>
          </p:cNvSpPr>
          <p:nvPr>
            <p:ph idx="1"/>
          </p:nvPr>
        </p:nvSpPr>
        <p:spPr/>
        <p:txBody>
          <a:bodyPr>
            <a:normAutofit fontScale="92500" lnSpcReduction="20000"/>
          </a:bodyPr>
          <a:lstStyle/>
          <a:p>
            <a:pPr marL="0" indent="0">
              <a:buNone/>
            </a:pPr>
            <a:r>
              <a:rPr lang="en-AU" dirty="0" smtClean="0">
                <a:solidFill>
                  <a:schemeClr val="tx2"/>
                </a:solidFill>
              </a:rPr>
              <a:t>           The fall of the Roman Empire</a:t>
            </a:r>
          </a:p>
          <a:p>
            <a:r>
              <a:rPr lang="en-AU" dirty="0" smtClean="0">
                <a:solidFill>
                  <a:schemeClr val="tx2"/>
                </a:solidFill>
              </a:rPr>
              <a:t>The empire came to an end because:</a:t>
            </a:r>
          </a:p>
          <a:p>
            <a:r>
              <a:rPr lang="en-AU" dirty="0" smtClean="0">
                <a:solidFill>
                  <a:schemeClr val="tx2"/>
                </a:solidFill>
              </a:rPr>
              <a:t>It had become too big to control</a:t>
            </a:r>
          </a:p>
          <a:p>
            <a:r>
              <a:rPr lang="en-AU" dirty="0" smtClean="0">
                <a:solidFill>
                  <a:schemeClr val="tx2"/>
                </a:solidFill>
              </a:rPr>
              <a:t>Its army was not efficient enough to defend its vast borders</a:t>
            </a:r>
          </a:p>
          <a:p>
            <a:r>
              <a:rPr lang="en-AU" dirty="0" smtClean="0">
                <a:solidFill>
                  <a:schemeClr val="tx2"/>
                </a:solidFill>
              </a:rPr>
              <a:t>Trade had declined and so there was no longer enough money to pay for more soldiers</a:t>
            </a:r>
          </a:p>
          <a:p>
            <a:r>
              <a:rPr lang="en-AU" dirty="0" smtClean="0">
                <a:solidFill>
                  <a:schemeClr val="tx2"/>
                </a:solidFill>
              </a:rPr>
              <a:t>There were civil wars within the Roman Empire</a:t>
            </a:r>
          </a:p>
          <a:p>
            <a:r>
              <a:rPr lang="en-AU" dirty="0" smtClean="0">
                <a:solidFill>
                  <a:schemeClr val="tx2"/>
                </a:solidFill>
              </a:rPr>
              <a:t>The Barbarian tribes who lived outside the Empire became stronger </a:t>
            </a:r>
            <a:endParaRPr lang="en-AU" dirty="0">
              <a:solidFill>
                <a:schemeClr val="tx2"/>
              </a:solidFill>
            </a:endParaRPr>
          </a:p>
        </p:txBody>
      </p:sp>
    </p:spTree>
    <p:extLst>
      <p:ext uri="{BB962C8B-B14F-4D97-AF65-F5344CB8AC3E}">
        <p14:creationId xmlns:p14="http://schemas.microsoft.com/office/powerpoint/2010/main" val="933396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Timeline for the Roman Empire</a:t>
            </a:r>
            <a:endParaRPr lang="en-AU" dirty="0"/>
          </a:p>
        </p:txBody>
      </p:sp>
      <p:sp>
        <p:nvSpPr>
          <p:cNvPr id="3" name="Content Placeholder 2"/>
          <p:cNvSpPr>
            <a:spLocks noGrp="1"/>
          </p:cNvSpPr>
          <p:nvPr>
            <p:ph idx="1"/>
          </p:nvPr>
        </p:nvSpPr>
        <p:spPr/>
        <p:txBody>
          <a:bodyPr/>
          <a:lstStyle/>
          <a:p>
            <a:endParaRPr lang="en-AU"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575551"/>
            <a:ext cx="8712968" cy="5040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26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60648"/>
            <a:ext cx="8568952" cy="6048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057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2400" dirty="0" smtClean="0"/>
              <a:t>Use this map to colour in your own – showing the Roman Empire. Don’t forget to include a Key. (remember BOLTS)</a:t>
            </a:r>
            <a:endParaRPr lang="en-AU" sz="2400" dirty="0"/>
          </a:p>
        </p:txBody>
      </p:sp>
      <p:sp>
        <p:nvSpPr>
          <p:cNvPr id="3" name="Content Placeholder 2"/>
          <p:cNvSpPr>
            <a:spLocks noGrp="1"/>
          </p:cNvSpPr>
          <p:nvPr>
            <p:ph idx="1"/>
          </p:nvPr>
        </p:nvSpPr>
        <p:spPr/>
        <p:txBody>
          <a:bodyPr/>
          <a:lstStyle/>
          <a:p>
            <a:endParaRPr lang="en-AU"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938" y="1340768"/>
            <a:ext cx="8424936" cy="54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1769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Feudal System in Europe</a:t>
            </a:r>
            <a:endParaRPr lang="en-AU" dirty="0"/>
          </a:p>
        </p:txBody>
      </p:sp>
      <p:sp>
        <p:nvSpPr>
          <p:cNvPr id="3" name="Content Placeholder 2"/>
          <p:cNvSpPr>
            <a:spLocks noGrp="1"/>
          </p:cNvSpPr>
          <p:nvPr>
            <p:ph idx="1"/>
          </p:nvPr>
        </p:nvSpPr>
        <p:spPr/>
        <p:txBody>
          <a:bodyPr/>
          <a:lstStyle/>
          <a:p>
            <a:pPr marL="0" indent="0">
              <a:buNone/>
            </a:pPr>
            <a:r>
              <a:rPr lang="en-AU" dirty="0" smtClean="0"/>
              <a:t>From the 11</a:t>
            </a:r>
            <a:r>
              <a:rPr lang="en-AU" baseline="30000" dirty="0" smtClean="0"/>
              <a:t>th</a:t>
            </a:r>
            <a:r>
              <a:rPr lang="en-AU" dirty="0" smtClean="0"/>
              <a:t> century the feudal system existed in Europe. </a:t>
            </a:r>
          </a:p>
          <a:p>
            <a:pPr marL="0" indent="0">
              <a:buNone/>
            </a:pPr>
            <a:r>
              <a:rPr lang="en-AU" dirty="0" smtClean="0">
                <a:solidFill>
                  <a:schemeClr val="tx2"/>
                </a:solidFill>
              </a:rPr>
              <a:t>It was based on the idea that the King owned all the land. </a:t>
            </a:r>
          </a:p>
          <a:p>
            <a:pPr marL="0" indent="0">
              <a:buNone/>
            </a:pPr>
            <a:r>
              <a:rPr lang="en-AU" dirty="0" smtClean="0">
                <a:solidFill>
                  <a:schemeClr val="tx2"/>
                </a:solidFill>
              </a:rPr>
              <a:t>He gave control of it to the nobles or lords in return for their promise to provide him with soldiers whenever he needed them. </a:t>
            </a:r>
            <a:endParaRPr lang="en-AU" dirty="0">
              <a:solidFill>
                <a:schemeClr val="tx2"/>
              </a:solidFill>
            </a:endParaRPr>
          </a:p>
        </p:txBody>
      </p:sp>
    </p:spTree>
    <p:extLst>
      <p:ext uri="{BB962C8B-B14F-4D97-AF65-F5344CB8AC3E}">
        <p14:creationId xmlns:p14="http://schemas.microsoft.com/office/powerpoint/2010/main" val="2247126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Feudal System</a:t>
            </a:r>
            <a:endParaRPr lang="en-AU" dirty="0"/>
          </a:p>
        </p:txBody>
      </p:sp>
      <p:sp>
        <p:nvSpPr>
          <p:cNvPr id="3" name="Content Placeholder 2"/>
          <p:cNvSpPr>
            <a:spLocks noGrp="1"/>
          </p:cNvSpPr>
          <p:nvPr>
            <p:ph idx="1"/>
          </p:nvPr>
        </p:nvSpPr>
        <p:spPr/>
        <p:txBody>
          <a:bodyPr/>
          <a:lstStyle/>
          <a:p>
            <a:r>
              <a:rPr lang="en-AU" dirty="0" smtClean="0">
                <a:solidFill>
                  <a:schemeClr val="tx2"/>
                </a:solidFill>
              </a:rPr>
              <a:t>The nobles gave control of their manors to the knights.</a:t>
            </a:r>
          </a:p>
          <a:p>
            <a:r>
              <a:rPr lang="en-AU" dirty="0" smtClean="0">
                <a:solidFill>
                  <a:schemeClr val="tx2"/>
                </a:solidFill>
              </a:rPr>
              <a:t>The knights promised loyalty and supplied soldiers</a:t>
            </a:r>
          </a:p>
          <a:p>
            <a:r>
              <a:rPr lang="en-AU" dirty="0" smtClean="0">
                <a:solidFill>
                  <a:schemeClr val="tx2"/>
                </a:solidFill>
              </a:rPr>
              <a:t>The knights were the lord of the manors </a:t>
            </a:r>
          </a:p>
          <a:p>
            <a:r>
              <a:rPr lang="en-AU" dirty="0" smtClean="0">
                <a:solidFill>
                  <a:schemeClr val="tx2"/>
                </a:solidFill>
              </a:rPr>
              <a:t>The peasants worked the land for the lords</a:t>
            </a:r>
          </a:p>
          <a:p>
            <a:r>
              <a:rPr lang="en-AU" dirty="0" smtClean="0">
                <a:solidFill>
                  <a:schemeClr val="tx2"/>
                </a:solidFill>
              </a:rPr>
              <a:t>The peasants paid for their share by working the land and being soldiers when required </a:t>
            </a:r>
            <a:endParaRPr lang="en-AU" dirty="0">
              <a:solidFill>
                <a:schemeClr val="tx2"/>
              </a:solidFill>
            </a:endParaRPr>
          </a:p>
        </p:txBody>
      </p:sp>
    </p:spTree>
    <p:extLst>
      <p:ext uri="{BB962C8B-B14F-4D97-AF65-F5344CB8AC3E}">
        <p14:creationId xmlns:p14="http://schemas.microsoft.com/office/powerpoint/2010/main" val="1968776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88640"/>
            <a:ext cx="8280920" cy="6048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182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solidFill>
                  <a:schemeClr val="tx2"/>
                </a:solidFill>
              </a:rPr>
              <a:t>Feudalism</a:t>
            </a:r>
            <a:br>
              <a:rPr lang="en-AU" dirty="0" smtClean="0">
                <a:solidFill>
                  <a:schemeClr val="tx2"/>
                </a:solidFill>
              </a:rPr>
            </a:br>
            <a:r>
              <a:rPr lang="en-AU" dirty="0" smtClean="0">
                <a:solidFill>
                  <a:schemeClr val="tx2"/>
                </a:solidFill>
              </a:rPr>
              <a:t>Sharing the land</a:t>
            </a:r>
            <a:endParaRPr lang="en-AU" dirty="0">
              <a:solidFill>
                <a:schemeClr val="tx2"/>
              </a:solidFill>
            </a:endParaRPr>
          </a:p>
        </p:txBody>
      </p:sp>
      <p:sp>
        <p:nvSpPr>
          <p:cNvPr id="3" name="Content Placeholder 2"/>
          <p:cNvSpPr>
            <a:spLocks noGrp="1"/>
          </p:cNvSpPr>
          <p:nvPr>
            <p:ph idx="1"/>
          </p:nvPr>
        </p:nvSpPr>
        <p:spPr/>
        <p:txBody>
          <a:bodyPr/>
          <a:lstStyle/>
          <a:p>
            <a:r>
              <a:rPr lang="en-AU" dirty="0" smtClean="0">
                <a:solidFill>
                  <a:schemeClr val="tx2"/>
                </a:solidFill>
              </a:rPr>
              <a:t>The ownership, control and use of land were the main point of the feudal system.</a:t>
            </a:r>
          </a:p>
          <a:p>
            <a:r>
              <a:rPr lang="en-AU" dirty="0" smtClean="0">
                <a:solidFill>
                  <a:schemeClr val="tx2"/>
                </a:solidFill>
              </a:rPr>
              <a:t>The land was owned by the king, his lords or the church.</a:t>
            </a:r>
          </a:p>
          <a:p>
            <a:r>
              <a:rPr lang="en-AU" dirty="0" smtClean="0">
                <a:solidFill>
                  <a:schemeClr val="tx2"/>
                </a:solidFill>
              </a:rPr>
              <a:t>The lord divided his land into sections called fief or fiefdom.</a:t>
            </a:r>
          </a:p>
          <a:p>
            <a:r>
              <a:rPr lang="en-AU" dirty="0" smtClean="0">
                <a:solidFill>
                  <a:schemeClr val="tx2"/>
                </a:solidFill>
              </a:rPr>
              <a:t>He would then give these bits to lesser nobles or free men.</a:t>
            </a:r>
          </a:p>
          <a:p>
            <a:endParaRPr lang="en-AU" dirty="0"/>
          </a:p>
        </p:txBody>
      </p:sp>
    </p:spTree>
    <p:extLst>
      <p:ext uri="{BB962C8B-B14F-4D97-AF65-F5344CB8AC3E}">
        <p14:creationId xmlns:p14="http://schemas.microsoft.com/office/powerpoint/2010/main" val="615130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a:solidFill>
                  <a:schemeClr val="tx2"/>
                </a:solidFill>
              </a:rPr>
              <a:t>Feudalism</a:t>
            </a:r>
            <a:br>
              <a:rPr lang="en-AU" dirty="0">
                <a:solidFill>
                  <a:schemeClr val="tx2"/>
                </a:solidFill>
              </a:rPr>
            </a:br>
            <a:r>
              <a:rPr lang="en-AU" dirty="0">
                <a:solidFill>
                  <a:schemeClr val="tx2"/>
                </a:solidFill>
              </a:rPr>
              <a:t>Sharing the </a:t>
            </a:r>
            <a:r>
              <a:rPr lang="en-AU" dirty="0" smtClean="0">
                <a:solidFill>
                  <a:schemeClr val="tx2"/>
                </a:solidFill>
              </a:rPr>
              <a:t>land cont.</a:t>
            </a:r>
            <a:endParaRPr lang="en-AU" dirty="0"/>
          </a:p>
        </p:txBody>
      </p:sp>
      <p:sp>
        <p:nvSpPr>
          <p:cNvPr id="3" name="Content Placeholder 2"/>
          <p:cNvSpPr>
            <a:spLocks noGrp="1"/>
          </p:cNvSpPr>
          <p:nvPr>
            <p:ph idx="1"/>
          </p:nvPr>
        </p:nvSpPr>
        <p:spPr/>
        <p:txBody>
          <a:bodyPr/>
          <a:lstStyle/>
          <a:p>
            <a:r>
              <a:rPr lang="en-AU" dirty="0" smtClean="0">
                <a:solidFill>
                  <a:schemeClr val="tx2"/>
                </a:solidFill>
              </a:rPr>
              <a:t>Those who accepted the land were known as vassals. </a:t>
            </a:r>
          </a:p>
          <a:p>
            <a:r>
              <a:rPr lang="en-AU" dirty="0" smtClean="0">
                <a:solidFill>
                  <a:schemeClr val="tx2"/>
                </a:solidFill>
              </a:rPr>
              <a:t>The swore an oath to help the lord in war times in exchange for the land they</a:t>
            </a:r>
            <a:r>
              <a:rPr lang="en-AU" dirty="0" smtClean="0"/>
              <a:t> </a:t>
            </a:r>
            <a:r>
              <a:rPr lang="en-AU" dirty="0" smtClean="0">
                <a:solidFill>
                  <a:schemeClr val="tx2"/>
                </a:solidFill>
              </a:rPr>
              <a:t>were given.</a:t>
            </a:r>
            <a:endParaRPr lang="en-AU" dirty="0">
              <a:solidFill>
                <a:schemeClr val="tx2"/>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4005064"/>
            <a:ext cx="3312368" cy="237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9604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chemeClr val="tx2"/>
                </a:solidFill>
              </a:rPr>
              <a:t>Serfs &amp; peasants</a:t>
            </a:r>
            <a:endParaRPr lang="en-AU" dirty="0">
              <a:solidFill>
                <a:schemeClr val="tx2"/>
              </a:solidFill>
            </a:endParaRPr>
          </a:p>
        </p:txBody>
      </p:sp>
      <p:sp>
        <p:nvSpPr>
          <p:cNvPr id="3" name="Content Placeholder 2"/>
          <p:cNvSpPr>
            <a:spLocks noGrp="1"/>
          </p:cNvSpPr>
          <p:nvPr>
            <p:ph idx="1"/>
          </p:nvPr>
        </p:nvSpPr>
        <p:spPr>
          <a:xfrm>
            <a:off x="457200" y="1600201"/>
            <a:ext cx="8229600" cy="3989040"/>
          </a:xfrm>
        </p:spPr>
        <p:txBody>
          <a:bodyPr>
            <a:normAutofit fontScale="92500" lnSpcReduction="10000"/>
          </a:bodyPr>
          <a:lstStyle/>
          <a:p>
            <a:r>
              <a:rPr lang="en-AU" dirty="0" smtClean="0">
                <a:solidFill>
                  <a:schemeClr val="tx2"/>
                </a:solidFill>
              </a:rPr>
              <a:t>Were at the bottom of the hierarchy</a:t>
            </a:r>
          </a:p>
          <a:p>
            <a:r>
              <a:rPr lang="en-AU" dirty="0" smtClean="0">
                <a:solidFill>
                  <a:schemeClr val="tx2"/>
                </a:solidFill>
              </a:rPr>
              <a:t>They worked on the land owned by the lords.</a:t>
            </a:r>
          </a:p>
          <a:p>
            <a:r>
              <a:rPr lang="en-AU" dirty="0" smtClean="0">
                <a:solidFill>
                  <a:schemeClr val="tx2"/>
                </a:solidFill>
              </a:rPr>
              <a:t>They paid rent to the lord for the land they worked</a:t>
            </a:r>
          </a:p>
          <a:p>
            <a:r>
              <a:rPr lang="en-AU" dirty="0" smtClean="0">
                <a:solidFill>
                  <a:schemeClr val="tx2"/>
                </a:solidFill>
              </a:rPr>
              <a:t>They also had to do unpaid work for the lord</a:t>
            </a:r>
          </a:p>
          <a:p>
            <a:r>
              <a:rPr lang="en-AU" dirty="0" smtClean="0">
                <a:solidFill>
                  <a:schemeClr val="tx2"/>
                </a:solidFill>
              </a:rPr>
              <a:t>And they had to pay taxes, usually wheat.</a:t>
            </a:r>
          </a:p>
          <a:p>
            <a:r>
              <a:rPr lang="en-AU" dirty="0" smtClean="0">
                <a:solidFill>
                  <a:schemeClr val="tx2"/>
                </a:solidFill>
              </a:rPr>
              <a:t>They could also be called into the military to fight.</a:t>
            </a:r>
          </a:p>
          <a:p>
            <a:endParaRPr lang="en-AU"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0232" y="188641"/>
            <a:ext cx="2302768" cy="1368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6671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Hierarchy </a:t>
            </a:r>
            <a:endParaRPr lang="en-AU" dirty="0"/>
          </a:p>
        </p:txBody>
      </p:sp>
      <p:sp>
        <p:nvSpPr>
          <p:cNvPr id="3" name="Content Placeholder 2"/>
          <p:cNvSpPr>
            <a:spLocks noGrp="1"/>
          </p:cNvSpPr>
          <p:nvPr>
            <p:ph idx="1"/>
          </p:nvPr>
        </p:nvSpPr>
        <p:spPr/>
        <p:txBody>
          <a:bodyPr/>
          <a:lstStyle/>
          <a:p>
            <a:endParaRPr lang="en-AU"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556792"/>
            <a:ext cx="8424936"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1182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Feudal System</a:t>
            </a:r>
            <a:endParaRPr lang="en-AU" dirty="0"/>
          </a:p>
        </p:txBody>
      </p:sp>
      <p:sp>
        <p:nvSpPr>
          <p:cNvPr id="3" name="Content Placeholder 2"/>
          <p:cNvSpPr>
            <a:spLocks noGrp="1"/>
          </p:cNvSpPr>
          <p:nvPr>
            <p:ph idx="1"/>
          </p:nvPr>
        </p:nvSpPr>
        <p:spPr/>
        <p:txBody>
          <a:bodyPr/>
          <a:lstStyle/>
          <a:p>
            <a:endParaRPr lang="en-AU" dirty="0"/>
          </a:p>
        </p:txBody>
      </p:sp>
    </p:spTree>
    <p:extLst>
      <p:ext uri="{BB962C8B-B14F-4D97-AF65-F5344CB8AC3E}">
        <p14:creationId xmlns:p14="http://schemas.microsoft.com/office/powerpoint/2010/main" val="37370991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TotalTime>
  <Words>471</Words>
  <Application>Microsoft Office PowerPoint</Application>
  <PresentationFormat>On-screen Show (4:3)</PresentationFormat>
  <Paragraphs>50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The Fall of Rome </vt:lpstr>
      <vt:lpstr>The fall of Rome</vt:lpstr>
      <vt:lpstr>The fall of Rome</vt:lpstr>
      <vt:lpstr>The fall of Rome</vt:lpstr>
      <vt:lpstr>The fall of Rome</vt:lpstr>
      <vt:lpstr>Write this down</vt:lpstr>
      <vt:lpstr>Timeline for the Roman Empire</vt:lpstr>
      <vt:lpstr>PowerPoint Presentation</vt:lpstr>
      <vt:lpstr>Use this map to colour in your own – showing the Roman Empire. Don’t forget to include a Key. (remember BOLTS)</vt:lpstr>
      <vt:lpstr>The Feudal System in Europe</vt:lpstr>
      <vt:lpstr>The Feudal System</vt:lpstr>
      <vt:lpstr>PowerPoint Presentation</vt:lpstr>
      <vt:lpstr>Feudalism Sharing the land</vt:lpstr>
      <vt:lpstr>Feudalism Sharing the land cont.</vt:lpstr>
      <vt:lpstr>Serfs &amp; peasants</vt:lpstr>
      <vt:lpstr>Hierarchy </vt:lpstr>
      <vt:lpstr>The Feudal System</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WATSON Vicke</dc:creator>
  <cp:lastModifiedBy>WATSON Vicke</cp:lastModifiedBy>
  <cp:revision>8</cp:revision>
  <dcterms:created xsi:type="dcterms:W3CDTF">2016-08-14T10:04:37Z</dcterms:created>
  <dcterms:modified xsi:type="dcterms:W3CDTF">2016-08-23T05:33:14Z</dcterms:modified>
</cp:coreProperties>
</file>
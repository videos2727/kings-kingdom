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Chango"/>
      <p:regular r:id="rId13"/>
    </p:embeddedFont>
    <p:embeddedFont>
      <p:font typeface="Bree Serif"/>
      <p:regular r:id="rId14"/>
    </p:embeddedFont>
    <p:embeddedFont>
      <p:font typeface="Alfa Slab One"/>
      <p:regular r:id="rId15"/>
    </p:embeddedFont>
    <p:embeddedFont>
      <p:font typeface="Spicy Ric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D2FC59-FB74-47F0-8F63-8EF53D49D678}">
  <a:tblStyle styleId="{D2D2FC59-FB74-47F0-8F63-8EF53D49D6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Chang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AlfaSlabOne-regular.fntdata"/><Relationship Id="rId14" Type="http://schemas.openxmlformats.org/officeDocument/2006/relationships/font" Target="fonts/BreeSerif-regular.fntdata"/><Relationship Id="rId16" Type="http://schemas.openxmlformats.org/officeDocument/2006/relationships/font" Target="fonts/SpicyRic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ddf2d0d5ec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ddf2d0d5ec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ddf2d0d5ec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ddf2d0d5ec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ddf2d0d5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ddf2d0d5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ddf2d0d5ec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ddf2d0d5ec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each category has been added to the student’s shoe, they will move the </a:t>
            </a:r>
            <a:r>
              <a:rPr lang="en"/>
              <a:t>corresponding</a:t>
            </a:r>
            <a:r>
              <a:rPr lang="en"/>
              <a:t> X to the completed box.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ddf2d0d5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ddf2d0d5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3600" y="414275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 flipH="1" rot="-670379">
            <a:off x="135641" y="356357"/>
            <a:ext cx="4602839" cy="11542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CC4125"/>
                </a:solidFill>
                <a:latin typeface="Spicy Rice"/>
                <a:ea typeface="Spicy Rice"/>
                <a:cs typeface="Spicy Rice"/>
                <a:sym typeface="Spicy Rice"/>
              </a:rPr>
              <a:t>North Georgia Literacy Associates</a:t>
            </a:r>
            <a:endParaRPr sz="2100">
              <a:solidFill>
                <a:srgbClr val="CC4125"/>
              </a:solidFill>
              <a:latin typeface="Spicy Rice"/>
              <a:ea typeface="Spicy Rice"/>
              <a:cs typeface="Spicy Rice"/>
              <a:sym typeface="Spicy Ric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CC4125"/>
              </a:solidFill>
              <a:latin typeface="Spicy Rice"/>
              <a:ea typeface="Spicy Rice"/>
              <a:cs typeface="Spicy Rice"/>
              <a:sym typeface="Spicy Ric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CC4125"/>
                </a:solidFill>
                <a:latin typeface="Spicy Rice"/>
                <a:ea typeface="Spicy Rice"/>
                <a:cs typeface="Spicy Rice"/>
                <a:sym typeface="Spicy Rice"/>
              </a:rPr>
              <a:t>Thank You for your purchase!</a:t>
            </a:r>
            <a:endParaRPr sz="2100">
              <a:solidFill>
                <a:srgbClr val="CC4125"/>
              </a:solidFill>
              <a:latin typeface="Spicy Rice"/>
              <a:ea typeface="Spicy Rice"/>
              <a:cs typeface="Spicy Rice"/>
              <a:sym typeface="Spicy Rice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225" y="2664413"/>
            <a:ext cx="2479075" cy="247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1225" y="932550"/>
            <a:ext cx="2318801" cy="23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6813" y="1872751"/>
            <a:ext cx="4901775" cy="2976525"/>
          </a:xfrm>
          <a:prstGeom prst="rect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610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 use this resource:</a:t>
            </a:r>
            <a:endParaRPr b="1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274475"/>
            <a:ext cx="8520600" cy="3416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Print a copy of slide 5 (the Identity Shoe) for each student).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Guide the class through a discussion of the </a:t>
            </a:r>
            <a:r>
              <a:rPr b="1" lang="en">
                <a:solidFill>
                  <a:schemeClr val="dk1"/>
                </a:solidFill>
              </a:rPr>
              <a:t>meaning</a:t>
            </a:r>
            <a:r>
              <a:rPr b="1" lang="en">
                <a:solidFill>
                  <a:schemeClr val="dk1"/>
                </a:solidFill>
              </a:rPr>
              <a:t> of Identity using slide 2.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Allow the students a few minutes to complete the graphic organizer on slide 3.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Review the items on the checklist the students need to include on their Identity Shoe. Once they add each category to their show, they can move the </a:t>
            </a:r>
            <a:r>
              <a:rPr b="1" lang="en">
                <a:solidFill>
                  <a:schemeClr val="dk1"/>
                </a:solidFill>
              </a:rPr>
              <a:t>corresponding</a:t>
            </a:r>
            <a:r>
              <a:rPr b="1" lang="en">
                <a:solidFill>
                  <a:schemeClr val="dk1"/>
                </a:solidFill>
              </a:rPr>
              <a:t> X to the box.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Students may write or draw their category answers on their shoes.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Finally, students may finish coloring their shoe to fully reflect their personality.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50800" y="77750"/>
            <a:ext cx="9014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9900"/>
                </a:solidFill>
                <a:latin typeface="Alfa Slab One"/>
                <a:ea typeface="Alfa Slab One"/>
                <a:cs typeface="Alfa Slab One"/>
                <a:sym typeface="Alfa Slab One"/>
              </a:rPr>
              <a:t>There are many parts to a person’s unique identity</a:t>
            </a:r>
            <a:endParaRPr sz="2300">
              <a:solidFill>
                <a:srgbClr val="FF9900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343900" y="2371650"/>
            <a:ext cx="2427900" cy="5850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lfa Slab One"/>
                <a:ea typeface="Alfa Slab One"/>
                <a:cs typeface="Alfa Slab One"/>
                <a:sym typeface="Alfa Slab One"/>
              </a:rPr>
              <a:t>A Person</a:t>
            </a:r>
            <a:endParaRPr sz="26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592675" y="1263775"/>
            <a:ext cx="2427900" cy="5850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Bree Serif"/>
                <a:ea typeface="Bree Serif"/>
                <a:cs typeface="Bree Serif"/>
                <a:sym typeface="Bree Serif"/>
              </a:rPr>
              <a:t>Artistic</a:t>
            </a:r>
            <a:endParaRPr sz="26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638400" y="896800"/>
            <a:ext cx="2427900" cy="5850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Bree Serif"/>
                <a:ea typeface="Bree Serif"/>
                <a:cs typeface="Bree Serif"/>
                <a:sym typeface="Bree Serif"/>
              </a:rPr>
              <a:t>Athlete</a:t>
            </a:r>
            <a:endParaRPr sz="26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84125" y="1213900"/>
            <a:ext cx="2427900" cy="5850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Bree Serif"/>
                <a:ea typeface="Bree Serif"/>
                <a:cs typeface="Bree Serif"/>
                <a:sym typeface="Bree Serif"/>
              </a:rPr>
              <a:t>Smart</a:t>
            </a:r>
            <a:endParaRPr sz="26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496300" y="4236250"/>
            <a:ext cx="2427900" cy="5850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Bree Serif"/>
                <a:ea typeface="Bree Serif"/>
                <a:cs typeface="Bree Serif"/>
                <a:sym typeface="Bree Serif"/>
              </a:rPr>
              <a:t>Student</a:t>
            </a:r>
            <a:endParaRPr sz="26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43050" y="2471400"/>
            <a:ext cx="2427900" cy="5850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Bree Serif"/>
                <a:ea typeface="Bree Serif"/>
                <a:cs typeface="Bree Serif"/>
                <a:sym typeface="Bree Serif"/>
              </a:rPr>
              <a:t>Religious</a:t>
            </a:r>
            <a:endParaRPr sz="26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84125" y="3728900"/>
            <a:ext cx="2427900" cy="585000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Bree Serif"/>
                <a:ea typeface="Bree Serif"/>
                <a:cs typeface="Bree Serif"/>
                <a:sym typeface="Bree Serif"/>
              </a:rPr>
              <a:t>Sister</a:t>
            </a:r>
            <a:endParaRPr sz="26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388175" y="2496000"/>
            <a:ext cx="2427900" cy="585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Bree Serif"/>
                <a:ea typeface="Bree Serif"/>
                <a:cs typeface="Bree Serif"/>
                <a:sym typeface="Bree Serif"/>
              </a:rPr>
              <a:t>Daughter</a:t>
            </a:r>
            <a:endParaRPr sz="260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202475" y="3580600"/>
            <a:ext cx="2427900" cy="585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Bree Serif"/>
                <a:ea typeface="Bree Serif"/>
                <a:cs typeface="Bree Serif"/>
                <a:sym typeface="Bree Serif"/>
              </a:rPr>
              <a:t>Funny</a:t>
            </a:r>
            <a:endParaRPr sz="2600">
              <a:latin typeface="Bree Serif"/>
              <a:ea typeface="Bree Serif"/>
              <a:cs typeface="Bree Serif"/>
              <a:sym typeface="Bree Serif"/>
            </a:endParaRPr>
          </a:p>
        </p:txBody>
      </p:sp>
      <p:cxnSp>
        <p:nvCxnSpPr>
          <p:cNvPr id="79" name="Google Shape;79;p15"/>
          <p:cNvCxnSpPr>
            <a:stCxn id="73" idx="2"/>
            <a:endCxn id="70" idx="0"/>
          </p:cNvCxnSpPr>
          <p:nvPr/>
        </p:nvCxnSpPr>
        <p:spPr>
          <a:xfrm>
            <a:off x="1898075" y="1798900"/>
            <a:ext cx="2659800" cy="5727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5"/>
          <p:cNvCxnSpPr>
            <a:stCxn id="72" idx="2"/>
            <a:endCxn id="70" idx="0"/>
          </p:cNvCxnSpPr>
          <p:nvPr/>
        </p:nvCxnSpPr>
        <p:spPr>
          <a:xfrm flipH="1">
            <a:off x="4557750" y="1481800"/>
            <a:ext cx="294600" cy="889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5"/>
          <p:cNvCxnSpPr>
            <a:stCxn id="71" idx="2"/>
            <a:endCxn id="70" idx="0"/>
          </p:cNvCxnSpPr>
          <p:nvPr/>
        </p:nvCxnSpPr>
        <p:spPr>
          <a:xfrm flipH="1">
            <a:off x="4557925" y="1848775"/>
            <a:ext cx="3248700" cy="522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>
            <a:stCxn id="76" idx="0"/>
            <a:endCxn id="70" idx="2"/>
          </p:cNvCxnSpPr>
          <p:nvPr/>
        </p:nvCxnSpPr>
        <p:spPr>
          <a:xfrm flipH="1" rot="10800000">
            <a:off x="1898075" y="2956700"/>
            <a:ext cx="2659800" cy="772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5"/>
          <p:cNvCxnSpPr>
            <a:endCxn id="70" idx="2"/>
          </p:cNvCxnSpPr>
          <p:nvPr/>
        </p:nvCxnSpPr>
        <p:spPr>
          <a:xfrm rot="10800000">
            <a:off x="4557850" y="2956650"/>
            <a:ext cx="152400" cy="1279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5"/>
          <p:cNvCxnSpPr>
            <a:stCxn id="78" idx="0"/>
            <a:endCxn id="70" idx="2"/>
          </p:cNvCxnSpPr>
          <p:nvPr/>
        </p:nvCxnSpPr>
        <p:spPr>
          <a:xfrm rot="10800000">
            <a:off x="4557725" y="2956600"/>
            <a:ext cx="2858700" cy="624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5"/>
          <p:cNvCxnSpPr>
            <a:stCxn id="75" idx="3"/>
            <a:endCxn id="70" idx="1"/>
          </p:cNvCxnSpPr>
          <p:nvPr/>
        </p:nvCxnSpPr>
        <p:spPr>
          <a:xfrm flipH="1" rot="10800000">
            <a:off x="2870950" y="2664300"/>
            <a:ext cx="473100" cy="99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5"/>
          <p:cNvCxnSpPr>
            <a:stCxn id="77" idx="1"/>
            <a:endCxn id="70" idx="3"/>
          </p:cNvCxnSpPr>
          <p:nvPr/>
        </p:nvCxnSpPr>
        <p:spPr>
          <a:xfrm rot="10800000">
            <a:off x="5771675" y="2664300"/>
            <a:ext cx="616500" cy="124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075" y="28188"/>
            <a:ext cx="7588500" cy="508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3424675" y="444950"/>
            <a:ext cx="13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4917600" y="792625"/>
            <a:ext cx="13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6359425" y="455175"/>
            <a:ext cx="13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2933825" y="1416400"/>
            <a:ext cx="12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2054425" y="2285575"/>
            <a:ext cx="13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2903150" y="3175200"/>
            <a:ext cx="13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179250" y="4269350"/>
            <a:ext cx="12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4927850" y="4023925"/>
            <a:ext cx="13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6911625" y="1426625"/>
            <a:ext cx="13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7555825" y="2295800"/>
            <a:ext cx="12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6829800" y="3103625"/>
            <a:ext cx="12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4927850" y="4013700"/>
            <a:ext cx="12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6901400" y="4402275"/>
            <a:ext cx="13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111550" y="117725"/>
            <a:ext cx="12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111550" y="187100"/>
            <a:ext cx="16464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4"/>
                </a:solidFill>
              </a:rPr>
              <a:t>What are important parts of your identity?</a:t>
            </a:r>
            <a:endParaRPr b="1" sz="20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Spend a few minutes in </a:t>
            </a:r>
            <a:r>
              <a:rPr lang="en" sz="2000"/>
              <a:t>reflection. T</a:t>
            </a:r>
            <a:r>
              <a:rPr lang="en" sz="2000"/>
              <a:t>hen, fill in the boxes with words that </a:t>
            </a:r>
            <a:r>
              <a:rPr lang="en" sz="2000"/>
              <a:t>describe</a:t>
            </a:r>
            <a:r>
              <a:rPr lang="en" sz="2000"/>
              <a:t> you.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17"/>
          <p:cNvGraphicFramePr/>
          <p:nvPr/>
        </p:nvGraphicFramePr>
        <p:xfrm>
          <a:off x="952500" y="82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{D2D2FC59-FB74-47F0-8F63-8EF53D49D678}</a:tableStyleId>
              </a:tblPr>
              <a:tblGrid>
                <a:gridCol w="1097750"/>
                <a:gridCol w="1886125"/>
                <a:gridCol w="425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Title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9900FF"/>
                          </a:solidFill>
                        </a:rPr>
                        <a:t>Name</a:t>
                      </a:r>
                      <a:endParaRPr b="1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Given name, nickname, reason parents gave you that name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Relationships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List all of the different relationship roles that you have such as, brother, son, granddaughter, niece…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6AA84F"/>
                          </a:solidFill>
                        </a:rPr>
                        <a:t>Cultural</a:t>
                      </a:r>
                      <a:endParaRPr b="1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List cultural aspects of your life like religion, faith, ethnicity, language, nationality, etc.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1C232"/>
                          </a:solidFill>
                        </a:rPr>
                        <a:t>Likes</a:t>
                      </a:r>
                      <a:endParaRPr b="1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List your favorite activities, hobbies, movies, sports, TV shows, singers, etc.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Dislikes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List the activities, hobbies, movies, sports, TV shows, singers, etc. that you do not care for.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Hopes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List things that you want to do in the future; jobs, going skydiving, getting married, traveling, etc.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7"/>
          <p:cNvSpPr/>
          <p:nvPr/>
        </p:nvSpPr>
        <p:spPr>
          <a:xfrm>
            <a:off x="81600" y="1223500"/>
            <a:ext cx="680400" cy="537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81600" y="1833075"/>
            <a:ext cx="680400" cy="537600"/>
          </a:xfrm>
          <a:prstGeom prst="mathMultiply">
            <a:avLst>
              <a:gd fmla="val 23520" name="adj1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81600" y="2442650"/>
            <a:ext cx="680400" cy="537600"/>
          </a:xfrm>
          <a:prstGeom prst="mathMultiply">
            <a:avLst>
              <a:gd fmla="val 23520" name="adj1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81600" y="3052225"/>
            <a:ext cx="680400" cy="537600"/>
          </a:xfrm>
          <a:prstGeom prst="mathMultiply">
            <a:avLst>
              <a:gd fmla="val 23520" name="adj1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81600" y="3661800"/>
            <a:ext cx="680400" cy="537600"/>
          </a:xfrm>
          <a:prstGeom prst="mathMultiply">
            <a:avLst>
              <a:gd fmla="val 23520" name="adj1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81600" y="4343325"/>
            <a:ext cx="680400" cy="5376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287750" y="108375"/>
            <a:ext cx="840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9900"/>
                </a:solidFill>
                <a:latin typeface="Chango"/>
                <a:ea typeface="Chango"/>
                <a:cs typeface="Chango"/>
                <a:sym typeface="Chango"/>
              </a:rPr>
              <a:t>Identity Shoe Checklist</a:t>
            </a:r>
            <a:endParaRPr sz="3200">
              <a:solidFill>
                <a:srgbClr val="FF9900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75" y="827925"/>
            <a:ext cx="7193075" cy="4163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2491800" y="243350"/>
            <a:ext cx="41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lfa Slab One"/>
                <a:ea typeface="Alfa Slab One"/>
                <a:cs typeface="Alfa Slab One"/>
                <a:sym typeface="Alfa Slab One"/>
              </a:rPr>
              <a:t>My Identity Shoe</a:t>
            </a:r>
            <a:endParaRPr sz="21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
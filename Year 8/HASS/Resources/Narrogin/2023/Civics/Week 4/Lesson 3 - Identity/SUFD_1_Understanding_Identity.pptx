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Calibri" panose="020F0502020204030204" pitchFamily="34" charset="0"/>
      <p:regular r:id="rId18"/>
      <p:bold r:id="rId19"/>
      <p:italic r:id="rId20"/>
      <p:boldItalic r:id="rId21"/>
    </p:embeddedFont>
    <p:embeddedFont>
      <p:font typeface="Open Sans" panose="020B0606030504020204" pitchFamily="3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A4A3A4"/>
          </p15:clr>
        </p15:guide>
        <p15:guide id="2" orient="horz" pos="1531">
          <p15:clr>
            <a:srgbClr val="A4A3A4"/>
          </p15:clr>
        </p15:guide>
        <p15:guide id="3" pos="1020">
          <p15:clr>
            <a:srgbClr val="A4A3A4"/>
          </p15:clr>
        </p15:guide>
        <p15:guide id="4" orient="horz" pos="1020">
          <p15:clr>
            <a:srgbClr val="A4A3A4"/>
          </p15:clr>
        </p15:guide>
        <p15:guide id="5" orient="horz" pos="14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nnifer Nauss" initials="" lastIdx="5"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43"/>
    <p:restoredTop sz="94648"/>
  </p:normalViewPr>
  <p:slideViewPr>
    <p:cSldViewPr snapToGrid="0">
      <p:cViewPr varScale="1">
        <p:scale>
          <a:sx n="85" d="100"/>
          <a:sy n="85" d="100"/>
        </p:scale>
        <p:origin x="192" y="856"/>
      </p:cViewPr>
      <p:guideLst>
        <p:guide pos="144"/>
        <p:guide orient="horz" pos="1531"/>
        <p:guide pos="1020"/>
        <p:guide orient="horz" pos="1020"/>
        <p:guide orient="horz" pos="144"/>
      </p:guideLst>
    </p:cSldViewPr>
  </p:slideViewPr>
  <p:notesTextViewPr>
    <p:cViewPr>
      <p:scale>
        <a:sx n="100" d="100"/>
        <a:sy n="100" d="100"/>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facinghistory.org/resource-library/teaching-strategies/journals-facing-history-classroo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facinghistory.org/resource-library/teaching-strategies/identity-chart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facinghistory.org/resource-library/teaching-strategies/think-pair-shar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facinghistory.org/resource-library/video/bear-wasnt-uk"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s://www.facinghistory.org/holocaust-and-human-behavior/chapter-1/bear-wasnt" TargetMode="External"/><Relationship Id="rId4" Type="http://schemas.openxmlformats.org/officeDocument/2006/relationships/hyperlink" Target="https://www.facinghistory.org/resource-library/teaching-strategies/read-aloud"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facinghistory.org/resource-library/teaching-strategies/identity-chart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None/>
            </a:pPr>
            <a:r>
              <a:rPr lang="en" b="1">
                <a:latin typeface="Arial"/>
                <a:ea typeface="Arial"/>
                <a:cs typeface="Arial"/>
                <a:sym typeface="Arial"/>
              </a:rPr>
              <a:t>Information about Standing Up for Democracy PowerPoint Slides</a:t>
            </a:r>
            <a:endParaRPr b="1">
              <a:latin typeface="Arial"/>
              <a:ea typeface="Arial"/>
              <a:cs typeface="Arial"/>
              <a:sym typeface="Arial"/>
            </a:endParaRPr>
          </a:p>
          <a:p>
            <a:pPr marL="457200" lvl="0" indent="-304800" rtl="0">
              <a:lnSpc>
                <a:spcPct val="90000"/>
              </a:lnSpc>
              <a:spcBef>
                <a:spcPts val="0"/>
              </a:spcBef>
              <a:spcAft>
                <a:spcPts val="0"/>
              </a:spcAft>
              <a:buClr>
                <a:schemeClr val="dk1"/>
              </a:buClr>
              <a:buSzPts val="1200"/>
              <a:buChar char="●"/>
            </a:pPr>
            <a:r>
              <a:rPr lang="en">
                <a:latin typeface="Arial"/>
                <a:ea typeface="Arial"/>
                <a:cs typeface="Arial"/>
                <a:sym typeface="Arial"/>
              </a:rPr>
              <a:t>Each PowerPoint accompanies a corresponding lesson plan that includes more detailed instructions about the activities and should be read in advance of teaching the lesson. </a:t>
            </a:r>
            <a:endParaRPr>
              <a:latin typeface="Arial"/>
              <a:ea typeface="Arial"/>
              <a:cs typeface="Arial"/>
              <a:sym typeface="Arial"/>
            </a:endParaRPr>
          </a:p>
          <a:p>
            <a:pPr marL="457200" lvl="0" indent="-304800" rtl="0">
              <a:lnSpc>
                <a:spcPct val="90000"/>
              </a:lnSpc>
              <a:spcBef>
                <a:spcPts val="0"/>
              </a:spcBef>
              <a:spcAft>
                <a:spcPts val="0"/>
              </a:spcAft>
              <a:buClr>
                <a:schemeClr val="dk1"/>
              </a:buClr>
              <a:buSzPts val="1200"/>
              <a:buChar char="●"/>
            </a:pPr>
            <a:r>
              <a:rPr lang="en">
                <a:latin typeface="Arial"/>
                <a:ea typeface="Arial"/>
                <a:cs typeface="Arial"/>
                <a:sym typeface="Arial"/>
              </a:rPr>
              <a:t>Wherever possible, we have used images in lieu of writing to encourage the verbal delivery of instructions as a means of boosting focus and to promote active listening skills.</a:t>
            </a:r>
            <a:endParaRPr>
              <a:latin typeface="Arial"/>
              <a:ea typeface="Arial"/>
              <a:cs typeface="Arial"/>
              <a:sym typeface="Arial"/>
            </a:endParaRPr>
          </a:p>
          <a:p>
            <a:pPr marL="457200" lvl="0" indent="-304800" rtl="0">
              <a:lnSpc>
                <a:spcPct val="90000"/>
              </a:lnSpc>
              <a:spcBef>
                <a:spcPts val="0"/>
              </a:spcBef>
              <a:spcAft>
                <a:spcPts val="0"/>
              </a:spcAft>
              <a:buClr>
                <a:schemeClr val="dk1"/>
              </a:buClr>
              <a:buSzPts val="1200"/>
              <a:buChar char="●"/>
            </a:pPr>
            <a:r>
              <a:rPr lang="en">
                <a:latin typeface="Arial"/>
                <a:ea typeface="Arial"/>
                <a:cs typeface="Arial"/>
                <a:sym typeface="Arial"/>
              </a:rPr>
              <a:t>The same image is used for each recurring teaching strategy throughout the scheme of work to facilitate recall and promote student independence. </a:t>
            </a:r>
            <a:endParaRPr i="0" u="none" strike="noStrike" cap="none">
              <a:solidFill>
                <a:schemeClr val="dk1"/>
              </a:solidFill>
              <a:latin typeface="Arial"/>
              <a:ea typeface="Arial"/>
              <a:cs typeface="Arial"/>
              <a:sym typeface="Arial"/>
            </a:endParaRPr>
          </a:p>
        </p:txBody>
      </p:sp>
      <p:sp>
        <p:nvSpPr>
          <p:cNvPr id="93" name="Google Shape;9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00" name="Google Shape;10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b="1">
                <a:solidFill>
                  <a:srgbClr val="000000"/>
                </a:solidFill>
                <a:latin typeface="Arial"/>
                <a:ea typeface="Arial"/>
                <a:cs typeface="Arial"/>
                <a:sym typeface="Arial"/>
              </a:rPr>
              <a:t>Understanding Identity: Learning Objective</a:t>
            </a:r>
            <a:endParaRPr sz="1200" b="1" i="0" u="none" strike="noStrike" cap="none">
              <a:solidFill>
                <a:srgbClr val="000000"/>
              </a:solidFill>
              <a:latin typeface="Arial"/>
              <a:ea typeface="Arial"/>
              <a:cs typeface="Arial"/>
              <a:sym typeface="Arial"/>
            </a:endParaRPr>
          </a:p>
          <a:p>
            <a:pPr marL="0" lvl="0" indent="0" rtl="0">
              <a:spcBef>
                <a:spcPts val="0"/>
              </a:spcBef>
              <a:spcAft>
                <a:spcPts val="0"/>
              </a:spcAft>
              <a:buSzPts val="1100"/>
              <a:buNone/>
            </a:pPr>
            <a:r>
              <a:rPr lang="en">
                <a:latin typeface="Arial"/>
                <a:ea typeface="Arial"/>
                <a:cs typeface="Arial"/>
                <a:sym typeface="Arial"/>
              </a:rPr>
              <a:t>To identify social and cultural factors that help shape our identities by reading and analysing a short story and then creating our own personal identity charts.</a:t>
            </a:r>
            <a:endParaRPr sz="1200" i="0" u="none" strike="noStrike" cap="none">
              <a:solidFill>
                <a:schemeClr val="dk1"/>
              </a:solidFill>
              <a:latin typeface="Arial"/>
              <a:ea typeface="Arial"/>
              <a:cs typeface="Arial"/>
              <a:sym typeface="Arial"/>
            </a:endParaRPr>
          </a:p>
        </p:txBody>
      </p:sp>
      <p:sp>
        <p:nvSpPr>
          <p:cNvPr id="106" name="Google Shape;10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Clr>
                <a:schemeClr val="dk1"/>
              </a:buClr>
              <a:buSzPts val="1400"/>
              <a:buChar char="●"/>
            </a:pPr>
            <a:r>
              <a:rPr lang="en" i="0" u="none" strike="noStrike" cap="none">
                <a:solidFill>
                  <a:schemeClr val="dk1"/>
                </a:solidFill>
                <a:latin typeface="Arial"/>
                <a:ea typeface="Arial"/>
                <a:cs typeface="Arial"/>
                <a:sym typeface="Arial"/>
              </a:rPr>
              <a:t>Explain to students that today they will be thinking about what factors make up their identities</a:t>
            </a:r>
            <a:r>
              <a:rPr lang="en">
                <a:latin typeface="Arial"/>
                <a:ea typeface="Arial"/>
                <a:cs typeface="Arial"/>
                <a:sym typeface="Arial"/>
              </a:rPr>
              <a:t>. Then they will</a:t>
            </a:r>
            <a:r>
              <a:rPr lang="en" i="0" u="none" strike="noStrike" cap="none">
                <a:solidFill>
                  <a:schemeClr val="dk1"/>
                </a:solidFill>
                <a:latin typeface="Arial"/>
                <a:ea typeface="Arial"/>
                <a:cs typeface="Arial"/>
                <a:sym typeface="Arial"/>
              </a:rPr>
              <a:t> read a story in which the main character deals with the different ways he defines himself and is defined by others.</a:t>
            </a:r>
            <a:endParaRPr>
              <a:latin typeface="Arial"/>
              <a:ea typeface="Arial"/>
              <a:cs typeface="Arial"/>
              <a:sym typeface="Arial"/>
            </a:endParaRPr>
          </a:p>
          <a:p>
            <a:pPr marL="457200" marR="0" lvl="0" indent="-317500" algn="l" rtl="0">
              <a:spcBef>
                <a:spcPts val="0"/>
              </a:spcBef>
              <a:spcAft>
                <a:spcPts val="0"/>
              </a:spcAft>
              <a:buClr>
                <a:schemeClr val="dk1"/>
              </a:buClr>
              <a:buSzPts val="1400"/>
              <a:buChar char="●"/>
            </a:pPr>
            <a:r>
              <a:rPr lang="en">
                <a:latin typeface="Arial"/>
                <a:ea typeface="Arial"/>
                <a:cs typeface="Arial"/>
                <a:sym typeface="Arial"/>
              </a:rPr>
              <a:t>Next a</a:t>
            </a:r>
            <a:r>
              <a:rPr lang="en" i="0" u="none" strike="noStrike" cap="none">
                <a:solidFill>
                  <a:schemeClr val="dk1"/>
                </a:solidFill>
                <a:latin typeface="Arial"/>
                <a:ea typeface="Arial"/>
                <a:cs typeface="Arial"/>
                <a:sym typeface="Arial"/>
              </a:rPr>
              <a:t>sk students to </a:t>
            </a:r>
            <a:r>
              <a:rPr lang="en">
                <a:latin typeface="Arial"/>
                <a:ea typeface="Arial"/>
                <a:cs typeface="Arial"/>
                <a:sym typeface="Arial"/>
              </a:rPr>
              <a:t>respond</a:t>
            </a:r>
            <a:r>
              <a:rPr lang="en" i="0" u="none" strike="noStrike" cap="none">
                <a:solidFill>
                  <a:schemeClr val="dk1"/>
                </a:solidFill>
                <a:latin typeface="Arial"/>
                <a:ea typeface="Arial"/>
                <a:cs typeface="Arial"/>
                <a:sym typeface="Arial"/>
              </a:rPr>
              <a:t> to the two questions</a:t>
            </a:r>
            <a:r>
              <a:rPr lang="en">
                <a:latin typeface="Arial"/>
                <a:ea typeface="Arial"/>
                <a:cs typeface="Arial"/>
                <a:sym typeface="Arial"/>
              </a:rPr>
              <a:t> in their </a:t>
            </a:r>
            <a:r>
              <a:rPr lang="en" u="sng">
                <a:solidFill>
                  <a:schemeClr val="hlink"/>
                </a:solidFill>
                <a:latin typeface="Arial"/>
                <a:ea typeface="Arial"/>
                <a:cs typeface="Arial"/>
                <a:sym typeface="Arial"/>
                <a:hlinkClick r:id="rId3"/>
              </a:rPr>
              <a:t>journals</a:t>
            </a:r>
            <a:r>
              <a:rPr lang="en" i="0" u="none" strike="noStrike" cap="none">
                <a:solidFill>
                  <a:schemeClr val="dk1"/>
                </a:solidFill>
                <a:latin typeface="Arial"/>
                <a:ea typeface="Arial"/>
                <a:cs typeface="Arial"/>
                <a:sym typeface="Arial"/>
              </a:rPr>
              <a:t>. </a:t>
            </a:r>
            <a:r>
              <a:rPr lang="en">
                <a:latin typeface="Arial"/>
                <a:ea typeface="Arial"/>
                <a:cs typeface="Arial"/>
                <a:sym typeface="Arial"/>
              </a:rPr>
              <a:t>Explain that they might answer in list form or in complete sentences. Let them know that while they will be sharing their ideas with a partner, they will have a choice about what they share and what they want to keep private. </a:t>
            </a:r>
            <a:endParaRPr>
              <a:latin typeface="Arial"/>
              <a:ea typeface="Arial"/>
              <a:cs typeface="Arial"/>
              <a:sym typeface="Arial"/>
            </a:endParaRPr>
          </a:p>
          <a:p>
            <a:pPr marL="0" marR="0" lvl="0" indent="0" algn="l" rtl="0">
              <a:spcBef>
                <a:spcPts val="0"/>
              </a:spcBef>
              <a:spcAft>
                <a:spcPts val="0"/>
              </a:spcAft>
              <a:buNone/>
            </a:pPr>
            <a:endParaRPr sz="1200" i="0" u="none" strike="noStrike" cap="none">
              <a:solidFill>
                <a:schemeClr val="dk1"/>
              </a:solidFill>
              <a:latin typeface="Arial"/>
              <a:ea typeface="Arial"/>
              <a:cs typeface="Arial"/>
              <a:sym typeface="Arial"/>
            </a:endParaRPr>
          </a:p>
        </p:txBody>
      </p:sp>
      <p:sp>
        <p:nvSpPr>
          <p:cNvPr id="113" name="Google Shape;11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5</a:t>
            </a:fld>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SzPts val="1400"/>
              <a:buChar char="●"/>
            </a:pPr>
            <a:r>
              <a:rPr lang="en">
                <a:latin typeface="Arial"/>
                <a:ea typeface="Arial"/>
                <a:cs typeface="Arial"/>
                <a:sym typeface="Arial"/>
              </a:rPr>
              <a:t>A</a:t>
            </a:r>
            <a:r>
              <a:rPr lang="en" i="0" u="none" strike="noStrike" cap="none">
                <a:solidFill>
                  <a:schemeClr val="dk1"/>
                </a:solidFill>
                <a:latin typeface="Arial"/>
                <a:ea typeface="Arial"/>
                <a:cs typeface="Arial"/>
                <a:sym typeface="Arial"/>
              </a:rPr>
              <a:t>sk students to use the information from their journals to create an </a:t>
            </a:r>
            <a:r>
              <a:rPr lang="en" i="0" u="sng" strike="noStrike" cap="none">
                <a:solidFill>
                  <a:schemeClr val="hlink"/>
                </a:solidFill>
                <a:latin typeface="Arial"/>
                <a:ea typeface="Arial"/>
                <a:cs typeface="Arial"/>
                <a:sym typeface="Arial"/>
                <a:hlinkClick r:id="rId3"/>
              </a:rPr>
              <a:t>identity chart</a:t>
            </a:r>
            <a:r>
              <a:rPr lang="en" i="0" u="none" strike="noStrike" cap="none">
                <a:solidFill>
                  <a:schemeClr val="dk1"/>
                </a:solidFill>
                <a:latin typeface="Arial"/>
                <a:ea typeface="Arial"/>
                <a:cs typeface="Arial"/>
                <a:sym typeface="Arial"/>
              </a:rPr>
              <a:t>. You might start an identity chart for yourself on the board to help your students understand the format. </a:t>
            </a:r>
            <a:endParaRPr i="0" u="none" strike="noStrike" cap="none">
              <a:solidFill>
                <a:schemeClr val="dk1"/>
              </a:solidFill>
              <a:latin typeface="Arial"/>
              <a:ea typeface="Arial"/>
              <a:cs typeface="Arial"/>
              <a:sym typeface="Arial"/>
            </a:endParaRPr>
          </a:p>
          <a:p>
            <a:pPr marL="457200" marR="0" lvl="0" indent="-317500" algn="l" rtl="0">
              <a:spcBef>
                <a:spcPts val="0"/>
              </a:spcBef>
              <a:spcAft>
                <a:spcPts val="0"/>
              </a:spcAft>
              <a:buSzPts val="1400"/>
              <a:buChar char="●"/>
            </a:pPr>
            <a:r>
              <a:rPr lang="en" i="0" u="none" strike="noStrike" cap="none">
                <a:solidFill>
                  <a:schemeClr val="dk1"/>
                </a:solidFill>
                <a:latin typeface="Arial"/>
                <a:ea typeface="Arial"/>
                <a:cs typeface="Arial"/>
                <a:sym typeface="Arial"/>
              </a:rPr>
              <a:t>Make sure that the students create their identity charts on a new page in their journals because they will be adding to them throughout the lesson and in later lessons.</a:t>
            </a:r>
            <a:endParaRPr i="0" u="none" strike="noStrike" cap="none">
              <a:solidFill>
                <a:schemeClr val="dk1"/>
              </a:solidFill>
              <a:latin typeface="Arial"/>
              <a:ea typeface="Arial"/>
              <a:cs typeface="Arial"/>
              <a:sym typeface="Arial"/>
            </a:endParaRPr>
          </a:p>
        </p:txBody>
      </p:sp>
      <p:sp>
        <p:nvSpPr>
          <p:cNvPr id="121" name="Google Shape;12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6</a:t>
            </a:fld>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SzPts val="1400"/>
              <a:buFont typeface="Arial"/>
              <a:buChar char="●"/>
            </a:pPr>
            <a:r>
              <a:rPr lang="en">
                <a:latin typeface="Arial"/>
                <a:ea typeface="Arial"/>
                <a:cs typeface="Arial"/>
                <a:sym typeface="Arial"/>
              </a:rPr>
              <a:t>Then have students respond to the prompt in their journals. </a:t>
            </a:r>
            <a:endParaRPr>
              <a:latin typeface="Arial"/>
              <a:ea typeface="Arial"/>
              <a:cs typeface="Arial"/>
              <a:sym typeface="Arial"/>
            </a:endParaRPr>
          </a:p>
          <a:p>
            <a:pPr marL="457200" marR="0" lvl="0" indent="-317500" algn="l" rtl="0">
              <a:spcBef>
                <a:spcPts val="0"/>
              </a:spcBef>
              <a:spcAft>
                <a:spcPts val="0"/>
              </a:spcAft>
              <a:buSzPts val="1400"/>
              <a:buFont typeface="Arial"/>
              <a:buChar char="●"/>
            </a:pPr>
            <a:r>
              <a:rPr lang="en" i="0" u="none" strike="noStrike" cap="none">
                <a:solidFill>
                  <a:schemeClr val="dk1"/>
                </a:solidFill>
                <a:latin typeface="Arial"/>
                <a:ea typeface="Arial"/>
                <a:cs typeface="Arial"/>
                <a:sym typeface="Arial"/>
              </a:rPr>
              <a:t>After students have written 5</a:t>
            </a:r>
            <a:r>
              <a:rPr lang="en">
                <a:latin typeface="Arial"/>
                <a:ea typeface="Arial"/>
                <a:cs typeface="Arial"/>
                <a:sym typeface="Arial"/>
              </a:rPr>
              <a:t>–</a:t>
            </a:r>
            <a:r>
              <a:rPr lang="en" i="0" u="none" strike="noStrike" cap="none">
                <a:solidFill>
                  <a:schemeClr val="dk1"/>
                </a:solidFill>
                <a:latin typeface="Arial"/>
                <a:ea typeface="Arial"/>
                <a:cs typeface="Arial"/>
                <a:sym typeface="Arial"/>
              </a:rPr>
              <a:t>7 ideas, have them return to their identity charts and add this new information. </a:t>
            </a:r>
            <a:endParaRPr i="0" u="none" strike="noStrike" cap="none">
              <a:solidFill>
                <a:schemeClr val="dk1"/>
              </a:solidFill>
              <a:latin typeface="Arial"/>
              <a:ea typeface="Arial"/>
              <a:cs typeface="Arial"/>
              <a:sym typeface="Arial"/>
            </a:endParaRPr>
          </a:p>
          <a:p>
            <a:pPr marL="457200" marR="0" lvl="0" indent="-317500" algn="l" rtl="0">
              <a:spcBef>
                <a:spcPts val="0"/>
              </a:spcBef>
              <a:spcAft>
                <a:spcPts val="0"/>
              </a:spcAft>
              <a:buSzPts val="1400"/>
              <a:buFont typeface="Arial"/>
              <a:buChar char="●"/>
            </a:pPr>
            <a:r>
              <a:rPr lang="en" i="0" u="none" strike="noStrike" cap="none">
                <a:solidFill>
                  <a:schemeClr val="dk1"/>
                </a:solidFill>
                <a:latin typeface="Arial"/>
                <a:ea typeface="Arial"/>
                <a:cs typeface="Arial"/>
                <a:sym typeface="Arial"/>
              </a:rPr>
              <a:t>You </a:t>
            </a:r>
            <a:r>
              <a:rPr lang="en">
                <a:latin typeface="Arial"/>
                <a:ea typeface="Arial"/>
                <a:cs typeface="Arial"/>
                <a:sym typeface="Arial"/>
              </a:rPr>
              <a:t>can</a:t>
            </a:r>
            <a:r>
              <a:rPr lang="en" i="0" u="none" strike="noStrike" cap="none">
                <a:solidFill>
                  <a:schemeClr val="dk1"/>
                </a:solidFill>
                <a:latin typeface="Arial"/>
                <a:ea typeface="Arial"/>
                <a:cs typeface="Arial"/>
                <a:sym typeface="Arial"/>
              </a:rPr>
              <a:t> invite them to use a different colour pen for words and phrases that others might use to describe them that they do not consider to be part of their identities. </a:t>
            </a:r>
            <a:r>
              <a:rPr lang="en">
                <a:latin typeface="Arial"/>
                <a:ea typeface="Arial"/>
                <a:cs typeface="Arial"/>
                <a:sym typeface="Arial"/>
              </a:rPr>
              <a:t>They could also represent this idea by drawing an arrow that points toward the centre, indicating that the idea comes from outside of themselves rather than from within.</a:t>
            </a:r>
            <a:endParaRPr>
              <a:latin typeface="Arial"/>
              <a:ea typeface="Arial"/>
              <a:cs typeface="Arial"/>
              <a:sym typeface="Arial"/>
            </a:endParaRPr>
          </a:p>
          <a:p>
            <a:pPr marL="457200" marR="0" lvl="0" indent="-317500" algn="l" rtl="0">
              <a:spcBef>
                <a:spcPts val="0"/>
              </a:spcBef>
              <a:spcAft>
                <a:spcPts val="0"/>
              </a:spcAft>
              <a:buSzPts val="1400"/>
              <a:buFont typeface="Arial"/>
              <a:buChar char="●"/>
            </a:pPr>
            <a:r>
              <a:rPr lang="en" i="0" u="none" strike="noStrike" cap="none">
                <a:solidFill>
                  <a:schemeClr val="dk1"/>
                </a:solidFill>
                <a:latin typeface="Arial"/>
                <a:ea typeface="Arial"/>
                <a:cs typeface="Arial"/>
                <a:sym typeface="Arial"/>
              </a:rPr>
              <a:t>Time allowing, see if a few students </a:t>
            </a:r>
            <a:r>
              <a:rPr lang="en">
                <a:latin typeface="Arial"/>
                <a:ea typeface="Arial"/>
                <a:cs typeface="Arial"/>
                <a:sym typeface="Arial"/>
              </a:rPr>
              <a:t>want to</a:t>
            </a:r>
            <a:r>
              <a:rPr lang="en" i="0" u="none" strike="noStrike" cap="none">
                <a:solidFill>
                  <a:schemeClr val="dk1"/>
                </a:solidFill>
                <a:latin typeface="Arial"/>
                <a:ea typeface="Arial"/>
                <a:cs typeface="Arial"/>
                <a:sym typeface="Arial"/>
              </a:rPr>
              <a:t> volunteer to share their identity charts with the class.</a:t>
            </a:r>
            <a:endParaRPr i="0" u="none" strike="noStrike" cap="none">
              <a:solidFill>
                <a:schemeClr val="dk1"/>
              </a:solidFill>
              <a:latin typeface="Arial"/>
              <a:ea typeface="Arial"/>
              <a:cs typeface="Arial"/>
              <a:sym typeface="Arial"/>
            </a:endParaRPr>
          </a:p>
        </p:txBody>
      </p:sp>
      <p:sp>
        <p:nvSpPr>
          <p:cNvPr id="128" name="Google Shape;12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7</a:t>
            </a:fld>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04800" rtl="0">
              <a:spcBef>
                <a:spcPts val="0"/>
              </a:spcBef>
              <a:spcAft>
                <a:spcPts val="0"/>
              </a:spcAft>
              <a:buClr>
                <a:schemeClr val="dk1"/>
              </a:buClr>
              <a:buSzPts val="1200"/>
              <a:buChar char="●"/>
            </a:pPr>
            <a:r>
              <a:rPr lang="en">
                <a:latin typeface="Arial"/>
                <a:ea typeface="Arial"/>
                <a:cs typeface="Arial"/>
                <a:sym typeface="Arial"/>
              </a:rPr>
              <a:t>To debrief the activity, have students </a:t>
            </a:r>
            <a:r>
              <a:rPr lang="en" u="sng">
                <a:solidFill>
                  <a:schemeClr val="hlink"/>
                </a:solidFill>
                <a:latin typeface="Arial"/>
                <a:ea typeface="Arial"/>
                <a:cs typeface="Arial"/>
                <a:sym typeface="Arial"/>
                <a:hlinkClick r:id="rId3"/>
              </a:rPr>
              <a:t>think, pair, share</a:t>
            </a:r>
            <a:r>
              <a:rPr lang="en">
                <a:latin typeface="Arial"/>
                <a:ea typeface="Arial"/>
                <a:cs typeface="Arial"/>
                <a:sym typeface="Arial"/>
              </a:rPr>
              <a:t> their identity charts with a partner. </a:t>
            </a:r>
            <a:endParaRPr>
              <a:latin typeface="Arial"/>
              <a:ea typeface="Arial"/>
              <a:cs typeface="Arial"/>
              <a:sym typeface="Arial"/>
            </a:endParaRPr>
          </a:p>
          <a:p>
            <a:pPr marL="457200" lvl="0" indent="-304800" rtl="0">
              <a:spcBef>
                <a:spcPts val="0"/>
              </a:spcBef>
              <a:spcAft>
                <a:spcPts val="0"/>
              </a:spcAft>
              <a:buClr>
                <a:schemeClr val="dk1"/>
              </a:buClr>
              <a:buSzPts val="1200"/>
              <a:buChar char="●"/>
            </a:pPr>
            <a:r>
              <a:rPr lang="en">
                <a:latin typeface="Arial"/>
                <a:ea typeface="Arial"/>
                <a:cs typeface="Arial"/>
                <a:sym typeface="Arial"/>
              </a:rPr>
              <a:t>Let students know that if they don’t feel comfortable showing their charts to their partners or talking about some aspects of their identities, they can talk about some of the things they listed that they feel comfortable sharing.</a:t>
            </a:r>
            <a:endParaRPr>
              <a:latin typeface="Arial"/>
              <a:ea typeface="Arial"/>
              <a:cs typeface="Arial"/>
              <a:sym typeface="Arial"/>
            </a:endParaRPr>
          </a:p>
          <a:p>
            <a:pPr marL="457200" lvl="0" indent="-304800" rtl="0">
              <a:spcBef>
                <a:spcPts val="0"/>
              </a:spcBef>
              <a:spcAft>
                <a:spcPts val="0"/>
              </a:spcAft>
              <a:buClr>
                <a:schemeClr val="dk1"/>
              </a:buClr>
              <a:buSzPts val="1200"/>
              <a:buChar char="●"/>
            </a:pPr>
            <a:r>
              <a:rPr lang="en">
                <a:latin typeface="Arial"/>
                <a:ea typeface="Arial"/>
                <a:cs typeface="Arial"/>
                <a:sym typeface="Arial"/>
              </a:rPr>
              <a:t>Invite students to add any new ideas to their charts that arise during their discussions. </a:t>
            </a:r>
            <a:endParaRPr>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p>
            <a:pPr marL="0" marR="0" lvl="0" indent="0" algn="l" rtl="0">
              <a:spcBef>
                <a:spcPts val="0"/>
              </a:spcBef>
              <a:spcAft>
                <a:spcPts val="0"/>
              </a:spcAft>
              <a:buNone/>
            </a:pPr>
            <a:endParaRPr i="0" u="none" strike="noStrike" cap="none">
              <a:solidFill>
                <a:schemeClr val="dk1"/>
              </a:solidFill>
              <a:latin typeface="Arial"/>
              <a:ea typeface="Arial"/>
              <a:cs typeface="Arial"/>
              <a:sym typeface="Arial"/>
            </a:endParaRPr>
          </a:p>
        </p:txBody>
      </p:sp>
      <p:sp>
        <p:nvSpPr>
          <p:cNvPr id="145" name="Google Shape;14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8</a:t>
            </a:fld>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SzPts val="1400"/>
              <a:buChar char="●"/>
            </a:pPr>
            <a:r>
              <a:rPr lang="en">
                <a:latin typeface="Arial"/>
                <a:ea typeface="Arial"/>
                <a:cs typeface="Arial"/>
                <a:sym typeface="Arial"/>
              </a:rPr>
              <a:t>P</a:t>
            </a:r>
            <a:r>
              <a:rPr lang="en" i="0" u="none" strike="noStrike" cap="none">
                <a:solidFill>
                  <a:schemeClr val="dk1"/>
                </a:solidFill>
                <a:latin typeface="Arial"/>
                <a:ea typeface="Arial"/>
                <a:cs typeface="Arial"/>
                <a:sym typeface="Arial"/>
              </a:rPr>
              <a:t>lay the video </a:t>
            </a:r>
            <a:r>
              <a:rPr lang="en" i="0" u="sng" strike="noStrike" cap="none">
                <a:solidFill>
                  <a:schemeClr val="hlink"/>
                </a:solidFill>
                <a:latin typeface="Arial"/>
                <a:ea typeface="Arial"/>
                <a:cs typeface="Arial"/>
                <a:sym typeface="Arial"/>
                <a:hlinkClick r:id="rId3"/>
              </a:rPr>
              <a:t>The Bear That Wasn’t</a:t>
            </a:r>
            <a:r>
              <a:rPr lang="en" i="0" u="none" strike="noStrike" cap="none">
                <a:solidFill>
                  <a:schemeClr val="dk1"/>
                </a:solidFill>
                <a:latin typeface="Arial"/>
                <a:ea typeface="Arial"/>
                <a:cs typeface="Arial"/>
                <a:sym typeface="Arial"/>
              </a:rPr>
              <a:t> (05:32) for your students</a:t>
            </a:r>
            <a:r>
              <a:rPr lang="en">
                <a:latin typeface="Arial"/>
                <a:ea typeface="Arial"/>
                <a:cs typeface="Arial"/>
                <a:sym typeface="Arial"/>
              </a:rPr>
              <a:t>.</a:t>
            </a:r>
            <a:endParaRPr>
              <a:latin typeface="Arial"/>
              <a:ea typeface="Arial"/>
              <a:cs typeface="Arial"/>
              <a:sym typeface="Arial"/>
            </a:endParaRPr>
          </a:p>
          <a:p>
            <a:pPr marL="457200" marR="0" lvl="0" indent="-317500" algn="l" rtl="0">
              <a:spcBef>
                <a:spcPts val="0"/>
              </a:spcBef>
              <a:spcAft>
                <a:spcPts val="0"/>
              </a:spcAft>
              <a:buSzPts val="1400"/>
              <a:buChar char="●"/>
            </a:pPr>
            <a:r>
              <a:rPr lang="en">
                <a:latin typeface="Arial"/>
                <a:ea typeface="Arial"/>
                <a:cs typeface="Arial"/>
                <a:sym typeface="Arial"/>
              </a:rPr>
              <a:t>T</a:t>
            </a:r>
            <a:r>
              <a:rPr lang="en" i="0" u="none" strike="noStrike" cap="none">
                <a:solidFill>
                  <a:schemeClr val="dk1"/>
                </a:solidFill>
                <a:latin typeface="Arial"/>
                <a:ea typeface="Arial"/>
                <a:cs typeface="Arial"/>
                <a:sym typeface="Arial"/>
              </a:rPr>
              <a:t>hen pass out copies of the text so that </a:t>
            </a:r>
            <a:r>
              <a:rPr lang="en">
                <a:latin typeface="Arial"/>
                <a:ea typeface="Arial"/>
                <a:cs typeface="Arial"/>
                <a:sym typeface="Arial"/>
              </a:rPr>
              <a:t>students</a:t>
            </a:r>
            <a:r>
              <a:rPr lang="en" i="0" u="none" strike="noStrike" cap="none">
                <a:solidFill>
                  <a:schemeClr val="dk1"/>
                </a:solidFill>
                <a:latin typeface="Arial"/>
                <a:ea typeface="Arial"/>
                <a:cs typeface="Arial"/>
                <a:sym typeface="Arial"/>
              </a:rPr>
              <a:t> can refer to them for the discussion</a:t>
            </a:r>
            <a:r>
              <a:rPr lang="en">
                <a:latin typeface="Arial"/>
                <a:ea typeface="Arial"/>
                <a:cs typeface="Arial"/>
                <a:sym typeface="Arial"/>
              </a:rPr>
              <a:t> of the connection questions at the end of the story.</a:t>
            </a:r>
            <a:endParaRPr>
              <a:latin typeface="Arial"/>
              <a:ea typeface="Arial"/>
              <a:cs typeface="Arial"/>
              <a:sym typeface="Arial"/>
            </a:endParaRPr>
          </a:p>
          <a:p>
            <a:pPr marL="457200" marR="0" lvl="0" indent="-317500" algn="l" rtl="0">
              <a:spcBef>
                <a:spcPts val="0"/>
              </a:spcBef>
              <a:spcAft>
                <a:spcPts val="0"/>
              </a:spcAft>
              <a:buSzPts val="1400"/>
              <a:buChar char="●"/>
            </a:pPr>
            <a:r>
              <a:rPr lang="en" i="0" u="none" strike="noStrike" cap="none">
                <a:solidFill>
                  <a:schemeClr val="dk1"/>
                </a:solidFill>
                <a:latin typeface="Arial"/>
                <a:ea typeface="Arial"/>
                <a:cs typeface="Arial"/>
                <a:sym typeface="Arial"/>
              </a:rPr>
              <a:t>Alternatively, you might choose a </a:t>
            </a:r>
            <a:r>
              <a:rPr lang="en" u="sng">
                <a:solidFill>
                  <a:schemeClr val="hlink"/>
                </a:solidFill>
                <a:latin typeface="Arial"/>
                <a:ea typeface="Arial"/>
                <a:cs typeface="Arial"/>
                <a:sym typeface="Arial"/>
                <a:hlinkClick r:id="rId4"/>
              </a:rPr>
              <a:t>Read Aloud</a:t>
            </a:r>
            <a:r>
              <a:rPr lang="en">
                <a:latin typeface="Arial"/>
                <a:ea typeface="Arial"/>
                <a:cs typeface="Arial"/>
                <a:sym typeface="Arial"/>
              </a:rPr>
              <a:t> </a:t>
            </a:r>
            <a:r>
              <a:rPr lang="en" i="0" u="none" strike="noStrike" cap="none">
                <a:solidFill>
                  <a:schemeClr val="dk1"/>
                </a:solidFill>
                <a:latin typeface="Arial"/>
                <a:ea typeface="Arial"/>
                <a:cs typeface="Arial"/>
                <a:sym typeface="Arial"/>
              </a:rPr>
              <a:t>strategy and read </a:t>
            </a:r>
            <a:r>
              <a:rPr lang="en" i="0" u="sng" strike="noStrike" cap="none">
                <a:solidFill>
                  <a:schemeClr val="hlink"/>
                </a:solidFill>
                <a:latin typeface="Arial"/>
                <a:ea typeface="Arial"/>
                <a:cs typeface="Arial"/>
                <a:sym typeface="Arial"/>
                <a:hlinkClick r:id="rId5"/>
              </a:rPr>
              <a:t>The Bear That Wasn’t</a:t>
            </a:r>
            <a:r>
              <a:rPr lang="en" i="0" u="none" strike="noStrike" cap="none">
                <a:solidFill>
                  <a:schemeClr val="dk1"/>
                </a:solidFill>
                <a:latin typeface="Arial"/>
                <a:ea typeface="Arial"/>
                <a:cs typeface="Arial"/>
                <a:sym typeface="Arial"/>
              </a:rPr>
              <a:t>.</a:t>
            </a:r>
            <a:endParaRPr i="0" u="none" strike="noStrike" cap="none">
              <a:solidFill>
                <a:schemeClr val="dk1"/>
              </a:solidFill>
              <a:latin typeface="Arial"/>
              <a:ea typeface="Arial"/>
              <a:cs typeface="Arial"/>
              <a:sym typeface="Arial"/>
            </a:endParaRPr>
          </a:p>
        </p:txBody>
      </p:sp>
      <p:sp>
        <p:nvSpPr>
          <p:cNvPr id="153" name="Google Shape;15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9</a:t>
            </a:fld>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SzPts val="1400"/>
              <a:buChar char="●"/>
            </a:pPr>
            <a:r>
              <a:rPr lang="en">
                <a:latin typeface="Arial"/>
                <a:ea typeface="Arial"/>
                <a:cs typeface="Arial"/>
                <a:sym typeface="Arial"/>
              </a:rPr>
              <a:t>L</a:t>
            </a:r>
            <a:r>
              <a:rPr lang="en" i="0" u="none" strike="noStrike" cap="none">
                <a:solidFill>
                  <a:schemeClr val="dk1"/>
                </a:solidFill>
                <a:latin typeface="Arial"/>
                <a:ea typeface="Arial"/>
                <a:cs typeface="Arial"/>
                <a:sym typeface="Arial"/>
              </a:rPr>
              <a:t>ead a class discussion, analysing the story using the </a:t>
            </a:r>
            <a:r>
              <a:rPr lang="en">
                <a:latin typeface="Arial"/>
                <a:ea typeface="Arial"/>
                <a:cs typeface="Arial"/>
                <a:sym typeface="Arial"/>
              </a:rPr>
              <a:t>c</a:t>
            </a:r>
            <a:r>
              <a:rPr lang="en" i="0" u="none" strike="noStrike" cap="none">
                <a:solidFill>
                  <a:schemeClr val="dk1"/>
                </a:solidFill>
                <a:latin typeface="Arial"/>
                <a:ea typeface="Arial"/>
                <a:cs typeface="Arial"/>
                <a:sym typeface="Arial"/>
              </a:rPr>
              <a:t>onnection questions at the bottom of the reading. </a:t>
            </a:r>
            <a:endParaRPr i="0" u="none" strike="noStrike" cap="none">
              <a:solidFill>
                <a:schemeClr val="dk1"/>
              </a:solidFill>
              <a:latin typeface="Arial"/>
              <a:ea typeface="Arial"/>
              <a:cs typeface="Arial"/>
              <a:sym typeface="Arial"/>
            </a:endParaRPr>
          </a:p>
          <a:p>
            <a:pPr marL="457200" marR="0" lvl="0" indent="-317500" algn="l" rtl="0">
              <a:spcBef>
                <a:spcPts val="0"/>
              </a:spcBef>
              <a:spcAft>
                <a:spcPts val="0"/>
              </a:spcAft>
              <a:buSzPts val="1400"/>
              <a:buChar char="●"/>
            </a:pPr>
            <a:r>
              <a:rPr lang="en" i="0" u="none" strike="noStrike" cap="none">
                <a:solidFill>
                  <a:schemeClr val="dk1"/>
                </a:solidFill>
                <a:latin typeface="Arial"/>
                <a:ea typeface="Arial"/>
                <a:cs typeface="Arial"/>
                <a:sym typeface="Arial"/>
              </a:rPr>
              <a:t>To address the first question, ask students to work with a partner to create an </a:t>
            </a:r>
            <a:r>
              <a:rPr lang="en" i="0" u="sng" strike="noStrike" cap="none">
                <a:solidFill>
                  <a:schemeClr val="hlink"/>
                </a:solidFill>
                <a:latin typeface="Arial"/>
                <a:ea typeface="Arial"/>
                <a:cs typeface="Arial"/>
                <a:sym typeface="Arial"/>
                <a:hlinkClick r:id="rId3"/>
              </a:rPr>
              <a:t>identity chart </a:t>
            </a:r>
            <a:r>
              <a:rPr lang="en" i="0" u="none" strike="noStrike" cap="none">
                <a:solidFill>
                  <a:schemeClr val="dk1"/>
                </a:solidFill>
                <a:latin typeface="Arial"/>
                <a:ea typeface="Arial"/>
                <a:cs typeface="Arial"/>
                <a:sym typeface="Arial"/>
              </a:rPr>
              <a:t>for the Bear, thinking about which labels represent how he sees himself, and which labels represent how others view him. Give students a few minutes to share their identity charts for the Bear with another pair and encourage them to add words and phrases from others’ charts to their own.</a:t>
            </a:r>
            <a:endParaRPr i="0" u="none" strike="noStrike" cap="none">
              <a:solidFill>
                <a:schemeClr val="dk1"/>
              </a:solidFill>
              <a:latin typeface="Arial"/>
              <a:ea typeface="Arial"/>
              <a:cs typeface="Arial"/>
              <a:sym typeface="Arial"/>
            </a:endParaRPr>
          </a:p>
        </p:txBody>
      </p:sp>
      <p:sp>
        <p:nvSpPr>
          <p:cNvPr id="160" name="Google Shape;16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10</a:t>
            </a:fld>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SzPts val="1400"/>
              <a:buFont typeface="Arial"/>
              <a:buChar char="●"/>
            </a:pPr>
            <a:r>
              <a:rPr lang="en">
                <a:latin typeface="Arial"/>
                <a:ea typeface="Arial"/>
                <a:cs typeface="Arial"/>
                <a:sym typeface="Arial"/>
              </a:rPr>
              <a:t>D</a:t>
            </a:r>
            <a:r>
              <a:rPr lang="en" i="0" u="none" strike="noStrike" cap="none">
                <a:solidFill>
                  <a:schemeClr val="dk1"/>
                </a:solidFill>
                <a:latin typeface="Arial"/>
                <a:ea typeface="Arial"/>
                <a:cs typeface="Arial"/>
                <a:sym typeface="Arial"/>
              </a:rPr>
              <a:t>ivide the class into small groups so they can discuss the remaining </a:t>
            </a:r>
            <a:r>
              <a:rPr lang="en">
                <a:latin typeface="Arial"/>
                <a:ea typeface="Arial"/>
                <a:cs typeface="Arial"/>
                <a:sym typeface="Arial"/>
              </a:rPr>
              <a:t>c</a:t>
            </a:r>
            <a:r>
              <a:rPr lang="en" i="0" u="none" strike="noStrike" cap="none">
                <a:solidFill>
                  <a:schemeClr val="dk1"/>
                </a:solidFill>
                <a:latin typeface="Arial"/>
                <a:ea typeface="Arial"/>
                <a:cs typeface="Arial"/>
                <a:sym typeface="Arial"/>
              </a:rPr>
              <a:t>onnection questions</a:t>
            </a:r>
            <a:r>
              <a:rPr lang="en">
                <a:latin typeface="Arial"/>
                <a:ea typeface="Arial"/>
                <a:cs typeface="Arial"/>
                <a:sym typeface="Arial"/>
              </a:rPr>
              <a:t> (listed on the next slide).</a:t>
            </a:r>
            <a:endParaRPr i="0" u="none" strike="noStrike" cap="none">
              <a:solidFill>
                <a:schemeClr val="dk1"/>
              </a:solidFill>
              <a:latin typeface="Arial"/>
              <a:ea typeface="Arial"/>
              <a:cs typeface="Arial"/>
              <a:sym typeface="Arial"/>
            </a:endParaRPr>
          </a:p>
        </p:txBody>
      </p:sp>
      <p:sp>
        <p:nvSpPr>
          <p:cNvPr id="175" name="Google Shape;17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11</a:t>
            </a:fld>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SzPts val="1400"/>
              <a:buChar char="●"/>
            </a:pPr>
            <a:r>
              <a:rPr lang="en">
                <a:latin typeface="Arial"/>
                <a:ea typeface="Arial"/>
                <a:cs typeface="Arial"/>
                <a:sym typeface="Arial"/>
              </a:rPr>
              <a:t>Project the questions on the board or given them to the students on a </a:t>
            </a:r>
            <a:r>
              <a:rPr lang="en" sz="1200" i="0" u="none" strike="noStrike" cap="none">
                <a:solidFill>
                  <a:schemeClr val="dk1"/>
                </a:solidFill>
                <a:latin typeface="Arial"/>
                <a:ea typeface="Arial"/>
                <a:cs typeface="Arial"/>
                <a:sym typeface="Arial"/>
              </a:rPr>
              <a:t>printed handout</a:t>
            </a:r>
            <a:r>
              <a:rPr lang="en">
                <a:latin typeface="Arial"/>
                <a:ea typeface="Arial"/>
                <a:cs typeface="Arial"/>
                <a:sym typeface="Arial"/>
              </a:rPr>
              <a:t>.</a:t>
            </a:r>
            <a:endParaRPr>
              <a:latin typeface="Arial"/>
              <a:ea typeface="Arial"/>
              <a:cs typeface="Arial"/>
              <a:sym typeface="Arial"/>
            </a:endParaRPr>
          </a:p>
          <a:p>
            <a:pPr marL="457200" marR="0" lvl="0" indent="-317500" algn="l" rtl="0">
              <a:spcBef>
                <a:spcPts val="0"/>
              </a:spcBef>
              <a:spcAft>
                <a:spcPts val="0"/>
              </a:spcAft>
              <a:buSzPts val="1400"/>
              <a:buChar char="●"/>
            </a:pPr>
            <a:r>
              <a:rPr lang="en">
                <a:latin typeface="Arial"/>
                <a:ea typeface="Arial"/>
                <a:cs typeface="Arial"/>
                <a:sym typeface="Arial"/>
              </a:rPr>
              <a:t>If you don’t have time for groups to address all of the questions, you can assign each group one question from the Bear and questions 5-6. It is important that all of the groups have time to talk about questions 5-6 so they can connect the story to their own lives and experiences. </a:t>
            </a:r>
            <a:endParaRPr>
              <a:latin typeface="Arial"/>
              <a:ea typeface="Arial"/>
              <a:cs typeface="Arial"/>
              <a:sym typeface="Arial"/>
            </a:endParaRPr>
          </a:p>
          <a:p>
            <a:pPr marL="0" marR="0" lvl="0" indent="0" algn="l" rtl="0">
              <a:spcBef>
                <a:spcPts val="0"/>
              </a:spcBef>
              <a:spcAft>
                <a:spcPts val="0"/>
              </a:spcAft>
              <a:buNone/>
            </a:pPr>
            <a:endParaRPr sz="120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endParaRPr sz="1200" i="0" u="none" strike="noStrike" cap="none">
              <a:solidFill>
                <a:schemeClr val="dk1"/>
              </a:solidFill>
              <a:latin typeface="Arial"/>
              <a:ea typeface="Arial"/>
              <a:cs typeface="Arial"/>
              <a:sym typeface="Arial"/>
            </a:endParaRPr>
          </a:p>
        </p:txBody>
      </p:sp>
      <p:sp>
        <p:nvSpPr>
          <p:cNvPr id="181" name="Google Shape;18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12</a:t>
            </a:fld>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Clr>
                <a:srgbClr val="000000"/>
              </a:buClr>
              <a:buSzPts val="1400"/>
              <a:buFont typeface="Arial"/>
              <a:buChar char="●"/>
            </a:pPr>
            <a:r>
              <a:rPr lang="en" i="0" u="none" strike="noStrike" cap="none">
                <a:solidFill>
                  <a:srgbClr val="000000"/>
                </a:solidFill>
                <a:latin typeface="Arial"/>
                <a:ea typeface="Arial"/>
                <a:cs typeface="Arial"/>
                <a:sym typeface="Arial"/>
              </a:rPr>
              <a:t>Close the activity about </a:t>
            </a:r>
            <a:r>
              <a:rPr lang="en" i="1" u="none" strike="noStrike" cap="none">
                <a:solidFill>
                  <a:srgbClr val="000000"/>
                </a:solidFill>
                <a:latin typeface="Arial"/>
                <a:ea typeface="Arial"/>
                <a:cs typeface="Arial"/>
                <a:sym typeface="Arial"/>
              </a:rPr>
              <a:t>The Bear that Wasn</a:t>
            </a:r>
            <a:r>
              <a:rPr lang="en" i="1">
                <a:solidFill>
                  <a:srgbClr val="000000"/>
                </a:solidFill>
                <a:latin typeface="Arial"/>
                <a:ea typeface="Arial"/>
                <a:cs typeface="Arial"/>
                <a:sym typeface="Arial"/>
              </a:rPr>
              <a:t>’t</a:t>
            </a:r>
            <a:r>
              <a:rPr lang="en" i="1" u="none" strike="noStrike" cap="none">
                <a:solidFill>
                  <a:srgbClr val="000000"/>
                </a:solidFill>
                <a:latin typeface="Arial"/>
                <a:ea typeface="Arial"/>
                <a:cs typeface="Arial"/>
                <a:sym typeface="Arial"/>
              </a:rPr>
              <a:t> </a:t>
            </a:r>
            <a:r>
              <a:rPr lang="en" i="0" u="none" strike="noStrike" cap="none">
                <a:solidFill>
                  <a:srgbClr val="000000"/>
                </a:solidFill>
                <a:latin typeface="Arial"/>
                <a:ea typeface="Arial"/>
                <a:cs typeface="Arial"/>
                <a:sym typeface="Arial"/>
              </a:rPr>
              <a:t>by revisiting this lesson’s guiding questions</a:t>
            </a:r>
            <a:r>
              <a:rPr lang="en">
                <a:solidFill>
                  <a:srgbClr val="000000"/>
                </a:solidFill>
                <a:latin typeface="Arial"/>
                <a:ea typeface="Arial"/>
                <a:cs typeface="Arial"/>
                <a:sym typeface="Arial"/>
              </a:rPr>
              <a:t> </a:t>
            </a:r>
            <a:r>
              <a:rPr lang="en" i="0" u="none" strike="noStrike" cap="none">
                <a:solidFill>
                  <a:srgbClr val="000000"/>
                </a:solidFill>
                <a:latin typeface="Arial"/>
                <a:ea typeface="Arial"/>
                <a:cs typeface="Arial"/>
                <a:sym typeface="Arial"/>
              </a:rPr>
              <a:t>to explore how the Bear has challenged or confirmed your students’ understanding of the factors that can influence identity.</a:t>
            </a:r>
            <a:endParaRPr i="0" u="none" strike="noStrike" cap="none">
              <a:solidFill>
                <a:schemeClr val="dk1"/>
              </a:solidFill>
              <a:latin typeface="Arial"/>
              <a:ea typeface="Arial"/>
              <a:cs typeface="Arial"/>
              <a:sym typeface="Arial"/>
            </a:endParaRPr>
          </a:p>
        </p:txBody>
      </p:sp>
      <p:sp>
        <p:nvSpPr>
          <p:cNvPr id="189" name="Google Shape;18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13</a:t>
            </a:fld>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317500" algn="l" rtl="0">
              <a:spcBef>
                <a:spcPts val="0"/>
              </a:spcBef>
              <a:spcAft>
                <a:spcPts val="0"/>
              </a:spcAft>
              <a:buClr>
                <a:srgbClr val="000000"/>
              </a:buClr>
              <a:buSzPts val="1400"/>
              <a:buChar char="●"/>
            </a:pPr>
            <a:r>
              <a:rPr lang="en" i="0" u="none" strike="noStrike" cap="none">
                <a:solidFill>
                  <a:srgbClr val="000000"/>
                </a:solidFill>
                <a:latin typeface="Arial"/>
                <a:ea typeface="Arial"/>
                <a:cs typeface="Arial"/>
                <a:sym typeface="Arial"/>
              </a:rPr>
              <a:t>Ask students to reflect on their own identity charts by </a:t>
            </a:r>
            <a:r>
              <a:rPr lang="en">
                <a:solidFill>
                  <a:srgbClr val="000000"/>
                </a:solidFill>
                <a:latin typeface="Arial"/>
                <a:ea typeface="Arial"/>
                <a:cs typeface="Arial"/>
                <a:sym typeface="Arial"/>
              </a:rPr>
              <a:t>responding to</a:t>
            </a:r>
            <a:r>
              <a:rPr lang="en" i="0" u="none" strike="noStrike" cap="none">
                <a:solidFill>
                  <a:srgbClr val="000000"/>
                </a:solidFill>
                <a:latin typeface="Arial"/>
                <a:ea typeface="Arial"/>
                <a:cs typeface="Arial"/>
                <a:sym typeface="Arial"/>
              </a:rPr>
              <a:t> </a:t>
            </a:r>
            <a:r>
              <a:rPr lang="en">
                <a:solidFill>
                  <a:srgbClr val="000000"/>
                </a:solidFill>
                <a:latin typeface="Arial"/>
                <a:ea typeface="Arial"/>
                <a:cs typeface="Arial"/>
                <a:sym typeface="Arial"/>
              </a:rPr>
              <a:t>two</a:t>
            </a:r>
            <a:r>
              <a:rPr lang="en" i="0" u="none" strike="noStrike" cap="none">
                <a:solidFill>
                  <a:srgbClr val="000000"/>
                </a:solidFill>
                <a:latin typeface="Arial"/>
                <a:ea typeface="Arial"/>
                <a:cs typeface="Arial"/>
                <a:sym typeface="Arial"/>
              </a:rPr>
              <a:t> or more of the questions</a:t>
            </a:r>
            <a:r>
              <a:rPr lang="en">
                <a:solidFill>
                  <a:srgbClr val="000000"/>
                </a:solidFill>
                <a:latin typeface="Arial"/>
                <a:ea typeface="Arial"/>
                <a:cs typeface="Arial"/>
                <a:sym typeface="Arial"/>
              </a:rPr>
              <a:t> in their journals. Let them know that they will not be required to share what they write.</a:t>
            </a:r>
            <a:endParaRPr>
              <a:latin typeface="Arial"/>
              <a:ea typeface="Arial"/>
              <a:cs typeface="Arial"/>
              <a:sym typeface="Arial"/>
            </a:endParaRPr>
          </a:p>
          <a:p>
            <a:pPr marL="457200" marR="0" lvl="0" indent="-317500" algn="l" rtl="0">
              <a:spcBef>
                <a:spcPts val="0"/>
              </a:spcBef>
              <a:spcAft>
                <a:spcPts val="0"/>
              </a:spcAft>
              <a:buClr>
                <a:srgbClr val="000000"/>
              </a:buClr>
              <a:buSzPts val="1400"/>
              <a:buChar char="●"/>
            </a:pPr>
            <a:r>
              <a:rPr lang="en" i="0" u="none" strike="noStrike" cap="none">
                <a:solidFill>
                  <a:schemeClr val="dk1"/>
                </a:solidFill>
                <a:latin typeface="Arial"/>
                <a:ea typeface="Arial"/>
                <a:cs typeface="Arial"/>
                <a:sym typeface="Arial"/>
              </a:rPr>
              <a:t>You might ask a few students to volunteer to share from their responses. </a:t>
            </a:r>
            <a:r>
              <a:rPr lang="en">
                <a:latin typeface="Arial"/>
                <a:ea typeface="Arial"/>
                <a:cs typeface="Arial"/>
                <a:sym typeface="Arial"/>
              </a:rPr>
              <a:t>As</a:t>
            </a:r>
            <a:r>
              <a:rPr lang="en" i="0" u="none" strike="noStrike" cap="none">
                <a:solidFill>
                  <a:schemeClr val="dk1"/>
                </a:solidFill>
                <a:latin typeface="Arial"/>
                <a:ea typeface="Arial"/>
                <a:cs typeface="Arial"/>
                <a:sym typeface="Arial"/>
              </a:rPr>
              <a:t> students are writing about a personal topic in this reflection, it is important that they not be required to share.</a:t>
            </a:r>
            <a:endParaRPr>
              <a:latin typeface="Arial"/>
              <a:ea typeface="Arial"/>
              <a:cs typeface="Arial"/>
              <a:sym typeface="Arial"/>
            </a:endParaRPr>
          </a:p>
          <a:p>
            <a:pPr marL="0" marR="0" lvl="0" indent="0" algn="l" rtl="0">
              <a:spcBef>
                <a:spcPts val="0"/>
              </a:spcBef>
              <a:spcAft>
                <a:spcPts val="0"/>
              </a:spcAft>
              <a:buNone/>
            </a:pPr>
            <a:endParaRPr sz="1200" i="0" u="none" strike="noStrike" cap="none">
              <a:solidFill>
                <a:schemeClr val="dk1"/>
              </a:solidFill>
              <a:latin typeface="Arial"/>
              <a:ea typeface="Arial"/>
              <a:cs typeface="Arial"/>
              <a:sym typeface="Arial"/>
            </a:endParaRPr>
          </a:p>
        </p:txBody>
      </p:sp>
      <p:sp>
        <p:nvSpPr>
          <p:cNvPr id="196" name="Google Shape;19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pPr marL="0" marR="0" lvl="0" indent="0" algn="r" rtl="0">
                <a:spcBef>
                  <a:spcPts val="0"/>
                </a:spcBef>
                <a:spcAft>
                  <a:spcPts val="0"/>
                </a:spcAft>
                <a:buNone/>
              </a:pPr>
              <a:t>14</a:t>
            </a:fld>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spcBef>
                <a:spcPts val="0"/>
              </a:spcBef>
              <a:spcAft>
                <a:spcPts val="0"/>
              </a:spcAft>
              <a:buNone/>
            </a:pPr>
            <a:endParaRPr/>
          </a:p>
        </p:txBody>
      </p:sp>
      <p:sp>
        <p:nvSpPr>
          <p:cNvPr id="203" name="Google Shape;203;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lstStyle>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623093" y="370681"/>
            <a:ext cx="5811838" cy="5800725"/>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
              <a:pPr marL="0" lvl="0" indent="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facinghistory.org/resource-library/standing-democracy/understanding-identity"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www.facinghistory.org/resource-library/standing-democrac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iki.kidzsearch.com/wiki/Bureaucracy"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AEBC"/>
        </a:solidFill>
        <a:effectLst/>
      </p:bgPr>
    </p:bg>
    <p:spTree>
      <p:nvGrpSpPr>
        <p:cNvPr id="1" name="Shape 87"/>
        <p:cNvGrpSpPr/>
        <p:nvPr/>
      </p:nvGrpSpPr>
      <p:grpSpPr>
        <a:xfrm>
          <a:off x="0" y="0"/>
          <a:ext cx="0" cy="0"/>
          <a:chOff x="0" y="0"/>
          <a:chExt cx="0" cy="0"/>
        </a:xfrm>
      </p:grpSpPr>
      <p:sp>
        <p:nvSpPr>
          <p:cNvPr id="89" name="Google Shape;89;p13"/>
          <p:cNvSpPr txBox="1"/>
          <p:nvPr/>
        </p:nvSpPr>
        <p:spPr>
          <a:xfrm>
            <a:off x="3674875" y="6112550"/>
            <a:ext cx="2564400" cy="5070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r>
              <a:rPr lang="en" sz="1800">
                <a:solidFill>
                  <a:srgbClr val="FFFFFF"/>
                </a:solidFill>
                <a:latin typeface="Open Sans"/>
                <a:ea typeface="Open Sans"/>
                <a:cs typeface="Open Sans"/>
                <a:sym typeface="Open Sans"/>
              </a:rPr>
              <a:t>facinghistory.org</a:t>
            </a:r>
            <a:endParaRPr sz="1800">
              <a:solidFill>
                <a:srgbClr val="FFFFFF"/>
              </a:solidFill>
              <a:latin typeface="Open Sans"/>
              <a:ea typeface="Open Sans"/>
              <a:cs typeface="Open Sans"/>
              <a:sym typeface="Open Sans"/>
            </a:endParaRPr>
          </a:p>
        </p:txBody>
      </p:sp>
      <p:pic>
        <p:nvPicPr>
          <p:cNvPr id="3" name="Picture 2" descr="A picture containing text, clipart&#10;&#10;Description automatically generated">
            <a:extLst>
              <a:ext uri="{FF2B5EF4-FFF2-40B4-BE49-F238E27FC236}">
                <a16:creationId xmlns:a16="http://schemas.microsoft.com/office/drawing/2014/main" id="{0867E698-07F8-5449-869D-E5360F33CB93}"/>
              </a:ext>
            </a:extLst>
          </p:cNvPr>
          <p:cNvPicPr>
            <a:picLocks noChangeAspect="1"/>
          </p:cNvPicPr>
          <p:nvPr/>
        </p:nvPicPr>
        <p:blipFill>
          <a:blip r:embed="rId3"/>
          <a:stretch>
            <a:fillRect/>
          </a:stretch>
        </p:blipFill>
        <p:spPr>
          <a:xfrm>
            <a:off x="1115075" y="1723869"/>
            <a:ext cx="7196579" cy="22035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1285875" y="547201"/>
            <a:ext cx="6572100" cy="451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000"/>
              <a:buFont typeface="Calibri"/>
              <a:buNone/>
            </a:pPr>
            <a:r>
              <a:rPr lang="en" sz="3000" b="1">
                <a:solidFill>
                  <a:srgbClr val="002060"/>
                </a:solidFill>
                <a:latin typeface="Open Sans"/>
                <a:ea typeface="Open Sans"/>
                <a:cs typeface="Open Sans"/>
                <a:sym typeface="Open Sans"/>
              </a:rPr>
              <a:t>Getting Started: Notes to Teachers</a:t>
            </a:r>
            <a:endParaRPr sz="3000" b="1" i="0" u="none" strike="noStrike" cap="none">
              <a:solidFill>
                <a:srgbClr val="002060"/>
              </a:solidFill>
              <a:latin typeface="Open Sans"/>
              <a:ea typeface="Open Sans"/>
              <a:cs typeface="Open Sans"/>
              <a:sym typeface="Open Sans"/>
            </a:endParaRPr>
          </a:p>
        </p:txBody>
      </p:sp>
      <p:sp>
        <p:nvSpPr>
          <p:cNvPr id="96" name="Google Shape;96;p14"/>
          <p:cNvSpPr txBox="1">
            <a:spLocks noGrp="1"/>
          </p:cNvSpPr>
          <p:nvPr>
            <p:ph type="body" idx="1"/>
          </p:nvPr>
        </p:nvSpPr>
        <p:spPr>
          <a:xfrm>
            <a:off x="943350" y="1216825"/>
            <a:ext cx="7257300" cy="349767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800"/>
              <a:buFont typeface="Arial"/>
              <a:buNone/>
            </a:pPr>
            <a:r>
              <a:rPr lang="en" sz="1800" dirty="0">
                <a:latin typeface="Open Sans"/>
                <a:ea typeface="Open Sans"/>
                <a:cs typeface="Open Sans"/>
                <a:sym typeface="Open Sans"/>
              </a:rPr>
              <a:t>This</a:t>
            </a:r>
            <a:r>
              <a:rPr lang="en" sz="1800" i="0" u="none" strike="noStrike" cap="none" dirty="0">
                <a:solidFill>
                  <a:schemeClr val="dk1"/>
                </a:solidFill>
                <a:latin typeface="Open Sans"/>
                <a:ea typeface="Open Sans"/>
                <a:cs typeface="Open Sans"/>
                <a:sym typeface="Open Sans"/>
              </a:rPr>
              <a:t> Power</a:t>
            </a:r>
            <a:r>
              <a:rPr lang="en" sz="1800" dirty="0">
                <a:latin typeface="Open Sans"/>
                <a:ea typeface="Open Sans"/>
                <a:cs typeface="Open Sans"/>
                <a:sym typeface="Open Sans"/>
              </a:rPr>
              <a:t>P</a:t>
            </a:r>
            <a:r>
              <a:rPr lang="en" sz="1800" i="0" u="none" strike="noStrike" cap="none" dirty="0">
                <a:solidFill>
                  <a:schemeClr val="dk1"/>
                </a:solidFill>
                <a:latin typeface="Open Sans"/>
                <a:ea typeface="Open Sans"/>
                <a:cs typeface="Open Sans"/>
                <a:sym typeface="Open Sans"/>
              </a:rPr>
              <a:t>oint presentation </a:t>
            </a:r>
            <a:r>
              <a:rPr lang="en" sz="1800" dirty="0">
                <a:latin typeface="Open Sans"/>
                <a:ea typeface="Open Sans"/>
                <a:cs typeface="Open Sans"/>
                <a:sym typeface="Open Sans"/>
              </a:rPr>
              <a:t>accompanies </a:t>
            </a:r>
            <a:r>
              <a:rPr lang="en" sz="1800" u="sng" dirty="0">
                <a:solidFill>
                  <a:schemeClr val="hlink"/>
                </a:solidFill>
                <a:latin typeface="Open Sans"/>
                <a:ea typeface="Open Sans"/>
                <a:cs typeface="Open Sans"/>
                <a:sym typeface="Open Sans"/>
                <a:hlinkClick r:id="rId3"/>
              </a:rPr>
              <a:t>Lesson 1: Understanding Identity</a:t>
            </a:r>
            <a:r>
              <a:rPr lang="en" sz="1800" dirty="0">
                <a:latin typeface="Open Sans"/>
                <a:ea typeface="Open Sans"/>
                <a:cs typeface="Open Sans"/>
                <a:sym typeface="Open Sans"/>
              </a:rPr>
              <a:t> from the </a:t>
            </a:r>
            <a:r>
              <a:rPr lang="en" sz="1800" i="0" u="sng" strike="noStrike" cap="none" dirty="0">
                <a:solidFill>
                  <a:schemeClr val="hlink"/>
                </a:solidFill>
                <a:latin typeface="Open Sans"/>
                <a:ea typeface="Open Sans"/>
                <a:cs typeface="Open Sans"/>
                <a:sym typeface="Open Sans"/>
                <a:hlinkClick r:id="rId4"/>
              </a:rPr>
              <a:t>Standing Up for Democracy</a:t>
            </a:r>
            <a:r>
              <a:rPr lang="en" sz="1800" i="0" u="none" strike="noStrike" cap="none" dirty="0">
                <a:solidFill>
                  <a:schemeClr val="dk1"/>
                </a:solidFill>
                <a:latin typeface="Open Sans"/>
                <a:ea typeface="Open Sans"/>
                <a:cs typeface="Open Sans"/>
                <a:sym typeface="Open Sans"/>
              </a:rPr>
              <a:t> </a:t>
            </a:r>
            <a:r>
              <a:rPr lang="en" sz="1800" dirty="0">
                <a:latin typeface="Open Sans"/>
                <a:ea typeface="Open Sans"/>
                <a:cs typeface="Open Sans"/>
                <a:sym typeface="Open Sans"/>
              </a:rPr>
              <a:t>scheme of work</a:t>
            </a:r>
            <a:r>
              <a:rPr lang="en" sz="1800" i="0" u="none" strike="noStrike" cap="none" dirty="0">
                <a:solidFill>
                  <a:schemeClr val="dk1"/>
                </a:solidFill>
                <a:latin typeface="Open Sans"/>
                <a:ea typeface="Open Sans"/>
                <a:cs typeface="Open Sans"/>
                <a:sym typeface="Open Sans"/>
              </a:rPr>
              <a:t>. </a:t>
            </a:r>
            <a:r>
              <a:rPr lang="en" sz="1800" dirty="0">
                <a:latin typeface="Open Sans"/>
                <a:ea typeface="Open Sans"/>
                <a:cs typeface="Open Sans"/>
                <a:sym typeface="Open Sans"/>
              </a:rPr>
              <a:t>It is important to read the lesson plan in order to understand its rationale and procedure, and to learn more about specific activities and teaching strategies in the Notes to Teachers section.</a:t>
            </a:r>
            <a:endParaRPr sz="1800" dirty="0">
              <a:latin typeface="Open Sans"/>
              <a:ea typeface="Open Sans"/>
              <a:cs typeface="Open Sans"/>
              <a:sym typeface="Open Sans"/>
            </a:endParaRPr>
          </a:p>
          <a:p>
            <a:pPr marL="0" marR="0" lvl="0" indent="0" algn="l" rtl="0">
              <a:lnSpc>
                <a:spcPct val="90000"/>
              </a:lnSpc>
              <a:spcBef>
                <a:spcPts val="0"/>
              </a:spcBef>
              <a:spcAft>
                <a:spcPts val="0"/>
              </a:spcAft>
              <a:buClr>
                <a:schemeClr val="dk1"/>
              </a:buClr>
              <a:buSzPts val="1800"/>
              <a:buFont typeface="Arial"/>
              <a:buNone/>
            </a:pPr>
            <a:endParaRPr sz="1800" dirty="0">
              <a:latin typeface="Open Sans"/>
              <a:ea typeface="Open Sans"/>
              <a:cs typeface="Open Sans"/>
              <a:sym typeface="Open Sans"/>
            </a:endParaRPr>
          </a:p>
          <a:p>
            <a:pPr marL="0" lvl="0" indent="0" rtl="0">
              <a:spcBef>
                <a:spcPts val="0"/>
              </a:spcBef>
              <a:spcAft>
                <a:spcPts val="0"/>
              </a:spcAft>
              <a:buClr>
                <a:schemeClr val="dk1"/>
              </a:buClr>
              <a:buSzPts val="1800"/>
              <a:buFont typeface="Arial"/>
              <a:buNone/>
            </a:pPr>
            <a:r>
              <a:rPr lang="en" sz="1800" dirty="0">
                <a:latin typeface="Open Sans"/>
                <a:ea typeface="Open Sans"/>
                <a:cs typeface="Open Sans"/>
                <a:sym typeface="Open Sans"/>
              </a:rPr>
              <a:t>This presentation includes verbal instructions for the activities in the Notes beneath each slide. Accessing hyperlinks in PowerPoint involves extra steps: select View - Notes Page - right click on the hyperlink - and select Open Hyperlink. Alternatively, you can access the hyperlinks from </a:t>
            </a:r>
            <a:r>
              <a:rPr lang="en" sz="1800" u="sng" dirty="0">
                <a:solidFill>
                  <a:schemeClr val="hlink"/>
                </a:solidFill>
                <a:latin typeface="Open Sans"/>
                <a:ea typeface="Open Sans"/>
                <a:cs typeface="Open Sans"/>
                <a:sym typeface="Open Sans"/>
                <a:hlinkClick r:id="rId3"/>
              </a:rPr>
              <a:t>Lesson 1: Understanding Identity</a:t>
            </a:r>
            <a:r>
              <a:rPr lang="en" sz="1800" dirty="0">
                <a:latin typeface="Open Sans"/>
                <a:ea typeface="Open Sans"/>
                <a:cs typeface="Open Sans"/>
                <a:sym typeface="Open Sans"/>
              </a:rPr>
              <a:t> or by viewing the presentation in Google Slides.</a:t>
            </a:r>
            <a:endParaRPr sz="1800" dirty="0">
              <a:latin typeface="Open Sans"/>
              <a:ea typeface="Open Sans"/>
              <a:cs typeface="Open Sans"/>
              <a:sym typeface="Open Sans"/>
            </a:endParaRPr>
          </a:p>
          <a:p>
            <a:pPr marL="0" lvl="0" indent="0" rtl="0">
              <a:spcBef>
                <a:spcPts val="0"/>
              </a:spcBef>
              <a:spcAft>
                <a:spcPts val="0"/>
              </a:spcAft>
              <a:buClr>
                <a:schemeClr val="dk1"/>
              </a:buClr>
              <a:buSzPts val="1800"/>
              <a:buFont typeface="Arial"/>
              <a:buNone/>
            </a:pPr>
            <a:endParaRPr sz="1800" dirty="0">
              <a:latin typeface="Open Sans"/>
              <a:ea typeface="Open Sans"/>
              <a:cs typeface="Open Sans"/>
              <a:sym typeface="Open Sans"/>
            </a:endParaRPr>
          </a:p>
          <a:p>
            <a:pPr marL="0" marR="0" lvl="0" indent="0" algn="l" rtl="0">
              <a:lnSpc>
                <a:spcPct val="90000"/>
              </a:lnSpc>
              <a:spcBef>
                <a:spcPts val="1000"/>
              </a:spcBef>
              <a:spcAft>
                <a:spcPts val="0"/>
              </a:spcAft>
              <a:buClr>
                <a:schemeClr val="dk1"/>
              </a:buClr>
              <a:buSzPts val="1800"/>
              <a:buFont typeface="Arial"/>
              <a:buNone/>
            </a:pPr>
            <a:endParaRPr dirty="0"/>
          </a:p>
        </p:txBody>
      </p:sp>
      <p:sp>
        <p:nvSpPr>
          <p:cNvPr id="5" name="TextBox 4"/>
          <p:cNvSpPr txBox="1"/>
          <p:nvPr/>
        </p:nvSpPr>
        <p:spPr>
          <a:xfrm>
            <a:off x="926276" y="4667003"/>
            <a:ext cx="7232073" cy="1415772"/>
          </a:xfrm>
          <a:prstGeom prst="rect">
            <a:avLst/>
          </a:prstGeom>
          <a:noFill/>
        </p:spPr>
        <p:txBody>
          <a:bodyPr wrap="square" rtlCol="0">
            <a:spAutoFit/>
          </a:bodyPr>
          <a:lstStyle/>
          <a:p>
            <a:r>
              <a:rPr lang="en-US" sz="1800" i="1" dirty="0">
                <a:latin typeface="Open Sans" pitchFamily="34" charset="0"/>
                <a:ea typeface="Open Sans" pitchFamily="34" charset="0"/>
                <a:cs typeface="Open Sans" pitchFamily="34" charset="0"/>
              </a:rPr>
              <a:t>While you may need to modify this presentation to meet the needs of your students, please note that Facing History and Ourselves is not accountable for any changes that alter the presentation's content or original layout. </a:t>
            </a:r>
            <a:endParaRPr lang="en-US" sz="1800" dirty="0">
              <a:latin typeface="Open Sans" pitchFamily="34" charset="0"/>
              <a:ea typeface="Open Sans" pitchFamily="34" charset="0"/>
              <a:cs typeface="Open Sans" pitchFamily="34" charset="0"/>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1153200" y="2683500"/>
            <a:ext cx="6837600" cy="745500"/>
          </a:xfrm>
          <a:prstGeom prst="rect">
            <a:avLst/>
          </a:prstGeom>
          <a:noFill/>
          <a:ln>
            <a:noFill/>
          </a:ln>
        </p:spPr>
        <p:txBody>
          <a:bodyPr spcFirstLastPara="1" wrap="square" lIns="51425" tIns="25700" rIns="51425" bIns="25700" anchor="ctr" anchorCtr="0">
            <a:noAutofit/>
          </a:bodyPr>
          <a:lstStyle/>
          <a:p>
            <a:pPr marL="0" marR="0" lvl="0" indent="0" algn="ctr" rtl="0">
              <a:lnSpc>
                <a:spcPct val="90000"/>
              </a:lnSpc>
              <a:spcBef>
                <a:spcPts val="0"/>
              </a:spcBef>
              <a:spcAft>
                <a:spcPts val="0"/>
              </a:spcAft>
              <a:buClr>
                <a:srgbClr val="002060"/>
              </a:buClr>
              <a:buSzPts val="4400"/>
              <a:buFont typeface="Calibri"/>
              <a:buNone/>
            </a:pPr>
            <a:r>
              <a:rPr lang="en" sz="4400" b="1" i="0" u="none" strike="noStrike" cap="none" dirty="0">
                <a:solidFill>
                  <a:srgbClr val="002060"/>
                </a:solidFill>
                <a:latin typeface="Open Sans" pitchFamily="34" charset="0"/>
                <a:ea typeface="Open Sans" pitchFamily="34" charset="0"/>
                <a:cs typeface="Open Sans" pitchFamily="34" charset="0"/>
                <a:sym typeface="Open Sans"/>
              </a:rPr>
              <a:t>Understanding Identity</a:t>
            </a:r>
            <a:endParaRPr sz="4400" b="1" i="0" u="none" strike="noStrike" cap="none" dirty="0">
              <a:solidFill>
                <a:srgbClr val="002060"/>
              </a:solidFill>
              <a:latin typeface="Open Sans" pitchFamily="34" charset="0"/>
              <a:ea typeface="Open Sans" pitchFamily="34" charset="0"/>
              <a:cs typeface="Open Sans" pitchFamily="34" charset="0"/>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p:nvPr/>
        </p:nvSpPr>
        <p:spPr>
          <a:xfrm>
            <a:off x="1632475" y="910725"/>
            <a:ext cx="5915100" cy="745500"/>
          </a:xfrm>
          <a:prstGeom prst="rect">
            <a:avLst/>
          </a:prstGeom>
          <a:noFill/>
          <a:ln>
            <a:noFill/>
          </a:ln>
        </p:spPr>
        <p:txBody>
          <a:bodyPr spcFirstLastPara="1" wrap="square" lIns="51425" tIns="25700" rIns="51425" bIns="25700" anchor="ctr" anchorCtr="0">
            <a:noAutofit/>
          </a:bodyPr>
          <a:lstStyle/>
          <a:p>
            <a:pPr marL="0" marR="0" lvl="0" indent="0" algn="ctr" rtl="0">
              <a:lnSpc>
                <a:spcPct val="90000"/>
              </a:lnSpc>
              <a:spcBef>
                <a:spcPts val="0"/>
              </a:spcBef>
              <a:spcAft>
                <a:spcPts val="0"/>
              </a:spcAft>
              <a:buClr>
                <a:srgbClr val="002060"/>
              </a:buClr>
              <a:buSzPts val="4400"/>
              <a:buFont typeface="Calibri"/>
              <a:buNone/>
            </a:pPr>
            <a:r>
              <a:rPr lang="en" sz="4000" b="1" dirty="0">
                <a:solidFill>
                  <a:srgbClr val="002060"/>
                </a:solidFill>
                <a:latin typeface="Open Sans" pitchFamily="34" charset="0"/>
                <a:ea typeface="Open Sans" pitchFamily="34" charset="0"/>
                <a:cs typeface="Open Sans" pitchFamily="34" charset="0"/>
                <a:sym typeface="Open Sans"/>
              </a:rPr>
              <a:t>Guiding Questions</a:t>
            </a:r>
            <a:endParaRPr sz="4000" b="1" i="0" u="none" strike="noStrike" cap="none" dirty="0">
              <a:solidFill>
                <a:srgbClr val="2F5496"/>
              </a:solidFill>
              <a:latin typeface="Open Sans" pitchFamily="34" charset="0"/>
              <a:ea typeface="Open Sans" pitchFamily="34" charset="0"/>
              <a:cs typeface="Open Sans" pitchFamily="34" charset="0"/>
              <a:sym typeface="Open Sans"/>
            </a:endParaRPr>
          </a:p>
        </p:txBody>
      </p:sp>
      <p:sp>
        <p:nvSpPr>
          <p:cNvPr id="109" name="Google Shape;109;p16"/>
          <p:cNvSpPr/>
          <p:nvPr/>
        </p:nvSpPr>
        <p:spPr>
          <a:xfrm>
            <a:off x="1201525" y="1830850"/>
            <a:ext cx="6777000" cy="4308000"/>
          </a:xfrm>
          <a:prstGeom prst="rect">
            <a:avLst/>
          </a:prstGeom>
          <a:noFill/>
          <a:ln>
            <a:noFill/>
          </a:ln>
        </p:spPr>
        <p:txBody>
          <a:bodyPr spcFirstLastPara="1" wrap="square" lIns="91425" tIns="45700" rIns="91425" bIns="45700" anchor="t" anchorCtr="0">
            <a:noAutofit/>
          </a:bodyPr>
          <a:lstStyle/>
          <a:p>
            <a:pPr marL="457200" lvl="0" indent="-419100" rtl="0">
              <a:lnSpc>
                <a:spcPct val="115000"/>
              </a:lnSpc>
              <a:spcBef>
                <a:spcPts val="0"/>
              </a:spcBef>
              <a:spcAft>
                <a:spcPts val="0"/>
              </a:spcAft>
              <a:buClr>
                <a:schemeClr val="dk1"/>
              </a:buClr>
              <a:buSzPts val="3000"/>
              <a:buFont typeface="Open Sans"/>
              <a:buAutoNum type="arabicPeriod"/>
            </a:pPr>
            <a:r>
              <a:rPr lang="en" sz="3000" dirty="0">
                <a:solidFill>
                  <a:schemeClr val="dk1"/>
                </a:solidFill>
                <a:latin typeface="Open Sans"/>
                <a:ea typeface="Open Sans"/>
                <a:cs typeface="Open Sans"/>
                <a:sym typeface="Open Sans"/>
              </a:rPr>
              <a:t>What factors shape your identity?</a:t>
            </a:r>
            <a:endParaRPr sz="3000" dirty="0">
              <a:solidFill>
                <a:schemeClr val="dk1"/>
              </a:solidFill>
              <a:latin typeface="Open Sans"/>
              <a:ea typeface="Open Sans"/>
              <a:cs typeface="Open Sans"/>
              <a:sym typeface="Open Sans"/>
            </a:endParaRPr>
          </a:p>
          <a:p>
            <a:pPr marL="514350" lvl="0" indent="-514350" rtl="0">
              <a:lnSpc>
                <a:spcPct val="115000"/>
              </a:lnSpc>
              <a:spcBef>
                <a:spcPts val="0"/>
              </a:spcBef>
              <a:spcAft>
                <a:spcPts val="0"/>
              </a:spcAft>
              <a:buFont typeface="+mj-lt"/>
              <a:buAutoNum type="arabicPeriod"/>
            </a:pPr>
            <a:endParaRPr sz="3000" dirty="0">
              <a:solidFill>
                <a:schemeClr val="dk1"/>
              </a:solidFill>
              <a:latin typeface="Open Sans"/>
              <a:ea typeface="Open Sans"/>
              <a:cs typeface="Open Sans"/>
              <a:sym typeface="Open Sans"/>
            </a:endParaRPr>
          </a:p>
          <a:p>
            <a:pPr marL="457200" lvl="0" indent="-419100" rtl="0">
              <a:lnSpc>
                <a:spcPct val="115000"/>
              </a:lnSpc>
              <a:spcBef>
                <a:spcPts val="0"/>
              </a:spcBef>
              <a:spcAft>
                <a:spcPts val="0"/>
              </a:spcAft>
              <a:buClr>
                <a:schemeClr val="dk1"/>
              </a:buClr>
              <a:buSzPts val="3000"/>
              <a:buFont typeface="Open Sans"/>
              <a:buAutoNum type="arabicPeriod"/>
            </a:pPr>
            <a:r>
              <a:rPr lang="en" sz="3000" dirty="0">
                <a:solidFill>
                  <a:schemeClr val="dk1"/>
                </a:solidFill>
                <a:latin typeface="Open Sans"/>
                <a:ea typeface="Open Sans"/>
                <a:cs typeface="Open Sans"/>
                <a:sym typeface="Open Sans"/>
              </a:rPr>
              <a:t>What parts of your identity do you choose for yourself?</a:t>
            </a:r>
            <a:endParaRPr sz="3000" dirty="0">
              <a:solidFill>
                <a:schemeClr val="dk1"/>
              </a:solidFill>
              <a:latin typeface="Open Sans"/>
              <a:ea typeface="Open Sans"/>
              <a:cs typeface="Open Sans"/>
              <a:sym typeface="Open Sans"/>
            </a:endParaRPr>
          </a:p>
          <a:p>
            <a:pPr marL="514350" lvl="0" indent="-514350" rtl="0">
              <a:lnSpc>
                <a:spcPct val="115000"/>
              </a:lnSpc>
              <a:spcBef>
                <a:spcPts val="0"/>
              </a:spcBef>
              <a:spcAft>
                <a:spcPts val="0"/>
              </a:spcAft>
              <a:buFont typeface="+mj-lt"/>
              <a:buAutoNum type="arabicPeriod"/>
            </a:pPr>
            <a:endParaRPr sz="3000" dirty="0">
              <a:solidFill>
                <a:schemeClr val="dk1"/>
              </a:solidFill>
              <a:latin typeface="Open Sans"/>
              <a:ea typeface="Open Sans"/>
              <a:cs typeface="Open Sans"/>
              <a:sym typeface="Open Sans"/>
            </a:endParaRPr>
          </a:p>
          <a:p>
            <a:pPr marL="457200" lvl="0" indent="-419100" rtl="0">
              <a:lnSpc>
                <a:spcPct val="115000"/>
              </a:lnSpc>
              <a:spcBef>
                <a:spcPts val="0"/>
              </a:spcBef>
              <a:spcAft>
                <a:spcPts val="0"/>
              </a:spcAft>
              <a:buClr>
                <a:schemeClr val="dk1"/>
              </a:buClr>
              <a:buSzPts val="3000"/>
              <a:buFont typeface="Open Sans"/>
              <a:buAutoNum type="arabicPeriod"/>
            </a:pPr>
            <a:r>
              <a:rPr lang="en" sz="3000" dirty="0">
                <a:solidFill>
                  <a:schemeClr val="dk1"/>
                </a:solidFill>
                <a:latin typeface="Open Sans"/>
                <a:ea typeface="Open Sans"/>
                <a:cs typeface="Open Sans"/>
                <a:sym typeface="Open Sans"/>
              </a:rPr>
              <a:t>What parts of your identity are determined for you by other people or by society?</a:t>
            </a:r>
            <a:endParaRPr sz="3000" dirty="0">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a:spLocks noGrp="1"/>
          </p:cNvSpPr>
          <p:nvPr>
            <p:ph type="title"/>
          </p:nvPr>
        </p:nvSpPr>
        <p:spPr>
          <a:xfrm>
            <a:off x="2232000" y="613913"/>
            <a:ext cx="6310500" cy="13293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4400"/>
              <a:buFont typeface="Calibri"/>
              <a:buNone/>
            </a:pPr>
            <a:r>
              <a:rPr lang="en" b="1" dirty="0">
                <a:solidFill>
                  <a:srgbClr val="002060"/>
                </a:solidFill>
                <a:latin typeface="Open Sans"/>
                <a:ea typeface="Open Sans"/>
                <a:cs typeface="Open Sans"/>
                <a:sym typeface="Open Sans"/>
              </a:rPr>
              <a:t>Let’s start by thinking about </a:t>
            </a:r>
            <a:r>
              <a:rPr lang="en" b="1" i="1" dirty="0">
                <a:solidFill>
                  <a:srgbClr val="002060"/>
                </a:solidFill>
                <a:latin typeface="Open Sans"/>
                <a:ea typeface="Open Sans"/>
                <a:cs typeface="Open Sans"/>
                <a:sym typeface="Open Sans"/>
              </a:rPr>
              <a:t>identity . . .</a:t>
            </a:r>
            <a:endParaRPr sz="4400" b="1" i="1" u="none" strike="noStrike" cap="none" dirty="0">
              <a:solidFill>
                <a:srgbClr val="002060"/>
              </a:solidFill>
              <a:latin typeface="Open Sans"/>
              <a:ea typeface="Open Sans"/>
              <a:cs typeface="Open Sans"/>
              <a:sym typeface="Open Sans"/>
            </a:endParaRPr>
          </a:p>
        </p:txBody>
      </p:sp>
      <p:sp>
        <p:nvSpPr>
          <p:cNvPr id="116" name="Google Shape;116;p17"/>
          <p:cNvSpPr txBox="1"/>
          <p:nvPr/>
        </p:nvSpPr>
        <p:spPr>
          <a:xfrm>
            <a:off x="1031100" y="2807725"/>
            <a:ext cx="7081800" cy="2594700"/>
          </a:xfrm>
          <a:prstGeom prst="rect">
            <a:avLst/>
          </a:prstGeom>
          <a:solidFill>
            <a:srgbClr val="9AD1DC"/>
          </a:solidFill>
          <a:ln w="9525" cap="flat" cmpd="sng">
            <a:solidFill>
              <a:srgbClr val="9AD1DC"/>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spcBef>
                <a:spcPts val="0"/>
              </a:spcBef>
              <a:spcAft>
                <a:spcPts val="0"/>
              </a:spcAft>
              <a:buFont typeface="+mj-lt"/>
              <a:buAutoNum type="arabicPeriod"/>
            </a:pPr>
            <a:endParaRPr sz="1631" i="0" u="none" strike="noStrike" cap="none" dirty="0">
              <a:solidFill>
                <a:schemeClr val="dk1"/>
              </a:solidFill>
              <a:latin typeface="Open Sans"/>
              <a:ea typeface="Open Sans"/>
              <a:cs typeface="Open Sans"/>
              <a:sym typeface="Open Sans"/>
            </a:endParaRPr>
          </a:p>
          <a:p>
            <a:pPr marL="719999" marR="0" lvl="0" indent="-419100" algn="l" rtl="0">
              <a:spcBef>
                <a:spcPts val="0"/>
              </a:spcBef>
              <a:spcAft>
                <a:spcPts val="0"/>
              </a:spcAft>
              <a:buClr>
                <a:schemeClr val="dk1"/>
              </a:buClr>
              <a:buSzPts val="3000"/>
              <a:buFont typeface="Open Sans"/>
              <a:buAutoNum type="arabicPeriod"/>
            </a:pPr>
            <a:r>
              <a:rPr lang="en" sz="3000" u="none" strike="noStrike" cap="none" dirty="0">
                <a:solidFill>
                  <a:schemeClr val="dk1"/>
                </a:solidFill>
                <a:latin typeface="Open Sans"/>
                <a:ea typeface="Open Sans"/>
                <a:cs typeface="Open Sans"/>
                <a:sym typeface="Open Sans"/>
              </a:rPr>
              <a:t>Who am I? </a:t>
            </a:r>
            <a:endParaRPr sz="3000" u="none" strike="noStrike" cap="none" dirty="0">
              <a:solidFill>
                <a:schemeClr val="dk1"/>
              </a:solidFill>
              <a:latin typeface="Open Sans"/>
              <a:ea typeface="Open Sans"/>
              <a:cs typeface="Open Sans"/>
              <a:sym typeface="Open Sans"/>
            </a:endParaRPr>
          </a:p>
          <a:p>
            <a:pPr marL="1005749" marR="0" lvl="0" indent="-514350" algn="l" rtl="0">
              <a:spcBef>
                <a:spcPts val="0"/>
              </a:spcBef>
              <a:spcAft>
                <a:spcPts val="0"/>
              </a:spcAft>
              <a:buFont typeface="+mj-lt"/>
              <a:buAutoNum type="arabicPeriod"/>
            </a:pPr>
            <a:endParaRPr sz="3000" dirty="0">
              <a:solidFill>
                <a:schemeClr val="dk1"/>
              </a:solidFill>
              <a:latin typeface="Open Sans"/>
              <a:ea typeface="Open Sans"/>
              <a:cs typeface="Open Sans"/>
              <a:sym typeface="Open Sans"/>
            </a:endParaRPr>
          </a:p>
          <a:p>
            <a:pPr marL="719999" marR="0" lvl="0" indent="-419100" algn="l" rtl="0">
              <a:spcBef>
                <a:spcPts val="0"/>
              </a:spcBef>
              <a:spcAft>
                <a:spcPts val="0"/>
              </a:spcAft>
              <a:buClr>
                <a:schemeClr val="dk1"/>
              </a:buClr>
              <a:buSzPts val="3000"/>
              <a:buFont typeface="Open Sans"/>
              <a:buAutoNum type="arabicPeriod"/>
            </a:pPr>
            <a:r>
              <a:rPr lang="en" sz="3000" i="0" u="none" strike="noStrike" cap="none" dirty="0">
                <a:solidFill>
                  <a:schemeClr val="dk1"/>
                </a:solidFill>
                <a:latin typeface="Open Sans"/>
                <a:ea typeface="Open Sans"/>
                <a:cs typeface="Open Sans"/>
                <a:sym typeface="Open Sans"/>
              </a:rPr>
              <a:t>What words or labels would you use to describe yourself?</a:t>
            </a:r>
            <a:endParaRPr sz="3000" i="0" u="none" strike="noStrike" cap="none" dirty="0">
              <a:solidFill>
                <a:schemeClr val="dk1"/>
              </a:solidFill>
              <a:latin typeface="Open Sans"/>
              <a:ea typeface="Open Sans"/>
              <a:cs typeface="Open Sans"/>
              <a:sym typeface="Open Sans"/>
            </a:endParaRPr>
          </a:p>
        </p:txBody>
      </p:sp>
      <p:pic>
        <p:nvPicPr>
          <p:cNvPr id="117" name="Google Shape;117;p17"/>
          <p:cNvPicPr preferRelativeResize="0"/>
          <p:nvPr/>
        </p:nvPicPr>
        <p:blipFill>
          <a:blip r:embed="rId3">
            <a:alphaModFix/>
          </a:blip>
          <a:stretch>
            <a:fillRect/>
          </a:stretch>
        </p:blipFill>
        <p:spPr>
          <a:xfrm>
            <a:off x="228600" y="228600"/>
            <a:ext cx="1391400" cy="1391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18"/>
          <p:cNvPicPr preferRelativeResize="0"/>
          <p:nvPr/>
        </p:nvPicPr>
        <p:blipFill rotWithShape="1">
          <a:blip r:embed="rId3">
            <a:alphaModFix/>
          </a:blip>
          <a:srcRect/>
          <a:stretch/>
        </p:blipFill>
        <p:spPr>
          <a:xfrm>
            <a:off x="795400" y="356500"/>
            <a:ext cx="7553201" cy="5967524"/>
          </a:xfrm>
          <a:prstGeom prst="rect">
            <a:avLst/>
          </a:prstGeom>
          <a:solidFill>
            <a:schemeClr val="lt1"/>
          </a:solidFill>
          <a:ln>
            <a:noFill/>
          </a:ln>
        </p:spPr>
      </p:pic>
      <p:pic>
        <p:nvPicPr>
          <p:cNvPr id="124" name="Google Shape;124;p18"/>
          <p:cNvPicPr preferRelativeResize="0"/>
          <p:nvPr/>
        </p:nvPicPr>
        <p:blipFill>
          <a:blip r:embed="rId4">
            <a:alphaModFix/>
          </a:blip>
          <a:stretch>
            <a:fillRect/>
          </a:stretch>
        </p:blipFill>
        <p:spPr>
          <a:xfrm>
            <a:off x="228600" y="228600"/>
            <a:ext cx="1391400" cy="1391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body" idx="1"/>
          </p:nvPr>
        </p:nvSpPr>
        <p:spPr>
          <a:xfrm>
            <a:off x="762000" y="4536000"/>
            <a:ext cx="7760400" cy="1459800"/>
          </a:xfrm>
          <a:prstGeom prst="rect">
            <a:avLst/>
          </a:prstGeom>
          <a:solidFill>
            <a:srgbClr val="9AD1DC"/>
          </a:solidFill>
          <a:ln w="9525" cap="flat" cmpd="sng">
            <a:solidFill>
              <a:srgbClr val="9AD1DC"/>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en" sz="2800" i="0" u="none" strike="noStrike" cap="none">
                <a:solidFill>
                  <a:schemeClr val="dk1"/>
                </a:solidFill>
                <a:latin typeface="Open Sans"/>
                <a:ea typeface="Open Sans"/>
                <a:cs typeface="Open Sans"/>
                <a:sym typeface="Open Sans"/>
              </a:rPr>
              <a:t>What words might </a:t>
            </a:r>
            <a:r>
              <a:rPr lang="en" sz="2800" b="1" i="0" u="none" strike="noStrike" cap="none">
                <a:solidFill>
                  <a:schemeClr val="dk1"/>
                </a:solidFill>
                <a:latin typeface="Open Sans"/>
                <a:ea typeface="Open Sans"/>
                <a:cs typeface="Open Sans"/>
                <a:sym typeface="Open Sans"/>
              </a:rPr>
              <a:t>others</a:t>
            </a:r>
            <a:r>
              <a:rPr lang="en" sz="2800" i="0" u="none" strike="noStrike" cap="none">
                <a:solidFill>
                  <a:schemeClr val="dk1"/>
                </a:solidFill>
                <a:latin typeface="Open Sans"/>
                <a:ea typeface="Open Sans"/>
                <a:cs typeface="Open Sans"/>
                <a:sym typeface="Open Sans"/>
              </a:rPr>
              <a:t> use to describe you that you might or might not use to describe yourself?</a:t>
            </a:r>
            <a:endParaRPr sz="2800" i="0" u="none" strike="noStrike" cap="none">
              <a:solidFill>
                <a:schemeClr val="dk1"/>
              </a:solidFill>
              <a:latin typeface="Open Sans"/>
              <a:ea typeface="Open Sans"/>
              <a:cs typeface="Open Sans"/>
              <a:sym typeface="Open Sans"/>
            </a:endParaRPr>
          </a:p>
        </p:txBody>
      </p:sp>
      <p:cxnSp>
        <p:nvCxnSpPr>
          <p:cNvPr id="131" name="Google Shape;131;p19"/>
          <p:cNvCxnSpPr/>
          <p:nvPr/>
        </p:nvCxnSpPr>
        <p:spPr>
          <a:xfrm rot="10800000">
            <a:off x="1851884" y="2519788"/>
            <a:ext cx="1484100" cy="252000"/>
          </a:xfrm>
          <a:prstGeom prst="straightConnector1">
            <a:avLst/>
          </a:prstGeom>
          <a:noFill/>
          <a:ln w="28575" cap="flat" cmpd="sng">
            <a:solidFill>
              <a:schemeClr val="dk2"/>
            </a:solidFill>
            <a:prstDash val="solid"/>
            <a:round/>
            <a:headEnd type="triangle" w="med" len="med"/>
            <a:tailEnd type="none" w="med" len="med"/>
          </a:ln>
        </p:spPr>
      </p:cxnSp>
      <p:cxnSp>
        <p:nvCxnSpPr>
          <p:cNvPr id="132" name="Google Shape;132;p19"/>
          <p:cNvCxnSpPr/>
          <p:nvPr/>
        </p:nvCxnSpPr>
        <p:spPr>
          <a:xfrm rot="10800000" flipH="1">
            <a:off x="5376725" y="1176725"/>
            <a:ext cx="844500" cy="825900"/>
          </a:xfrm>
          <a:prstGeom prst="straightConnector1">
            <a:avLst/>
          </a:prstGeom>
          <a:noFill/>
          <a:ln w="28575" cap="flat" cmpd="sng">
            <a:solidFill>
              <a:schemeClr val="dk2"/>
            </a:solidFill>
            <a:prstDash val="solid"/>
            <a:round/>
            <a:headEnd type="triangle" w="med" len="med"/>
            <a:tailEnd type="none" w="med" len="med"/>
          </a:ln>
        </p:spPr>
      </p:cxnSp>
      <p:cxnSp>
        <p:nvCxnSpPr>
          <p:cNvPr id="133" name="Google Shape;133;p19"/>
          <p:cNvCxnSpPr/>
          <p:nvPr/>
        </p:nvCxnSpPr>
        <p:spPr>
          <a:xfrm rot="10800000">
            <a:off x="2643678" y="1176726"/>
            <a:ext cx="927000" cy="801600"/>
          </a:xfrm>
          <a:prstGeom prst="straightConnector1">
            <a:avLst/>
          </a:prstGeom>
          <a:noFill/>
          <a:ln w="28575" cap="flat" cmpd="sng">
            <a:solidFill>
              <a:schemeClr val="dk2"/>
            </a:solidFill>
            <a:prstDash val="solid"/>
            <a:round/>
            <a:headEnd type="triangle" w="med" len="med"/>
            <a:tailEnd type="none" w="med" len="med"/>
          </a:ln>
        </p:spPr>
      </p:cxnSp>
      <p:cxnSp>
        <p:nvCxnSpPr>
          <p:cNvPr id="134" name="Google Shape;134;p19"/>
          <p:cNvCxnSpPr/>
          <p:nvPr/>
        </p:nvCxnSpPr>
        <p:spPr>
          <a:xfrm rot="10800000" flipH="1">
            <a:off x="5557275" y="2529088"/>
            <a:ext cx="1514400" cy="233400"/>
          </a:xfrm>
          <a:prstGeom prst="straightConnector1">
            <a:avLst/>
          </a:prstGeom>
          <a:noFill/>
          <a:ln w="28575" cap="flat" cmpd="sng">
            <a:solidFill>
              <a:schemeClr val="dk2"/>
            </a:solidFill>
            <a:prstDash val="solid"/>
            <a:round/>
            <a:headEnd type="triangle" w="med" len="med"/>
            <a:tailEnd type="none" w="med" len="med"/>
          </a:ln>
        </p:spPr>
      </p:cxnSp>
      <p:cxnSp>
        <p:nvCxnSpPr>
          <p:cNvPr id="135" name="Google Shape;135;p19"/>
          <p:cNvCxnSpPr/>
          <p:nvPr/>
        </p:nvCxnSpPr>
        <p:spPr>
          <a:xfrm rot="10800000">
            <a:off x="4410338" y="679275"/>
            <a:ext cx="30600" cy="1170000"/>
          </a:xfrm>
          <a:prstGeom prst="straightConnector1">
            <a:avLst/>
          </a:prstGeom>
          <a:noFill/>
          <a:ln w="28575" cap="flat" cmpd="sng">
            <a:solidFill>
              <a:schemeClr val="dk2"/>
            </a:solidFill>
            <a:prstDash val="solid"/>
            <a:round/>
            <a:headEnd type="triangle" w="med" len="med"/>
            <a:tailEnd type="none" w="med" len="med"/>
          </a:ln>
        </p:spPr>
      </p:cxnSp>
      <p:sp>
        <p:nvSpPr>
          <p:cNvPr id="136" name="Google Shape;136;p19"/>
          <p:cNvSpPr txBox="1"/>
          <p:nvPr/>
        </p:nvSpPr>
        <p:spPr>
          <a:xfrm rot="-2117157" flipH="1">
            <a:off x="1932006" y="843499"/>
            <a:ext cx="1087496" cy="459504"/>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r>
              <a:rPr lang="en" sz="1800" b="1">
                <a:latin typeface="Open Sans"/>
                <a:ea typeface="Open Sans"/>
                <a:cs typeface="Open Sans"/>
                <a:sym typeface="Open Sans"/>
              </a:rPr>
              <a:t>Others</a:t>
            </a:r>
            <a:endParaRPr sz="1800" b="1">
              <a:latin typeface="Open Sans"/>
              <a:ea typeface="Open Sans"/>
              <a:cs typeface="Open Sans"/>
              <a:sym typeface="Open Sans"/>
            </a:endParaRPr>
          </a:p>
        </p:txBody>
      </p:sp>
      <p:sp>
        <p:nvSpPr>
          <p:cNvPr id="137" name="Google Shape;137;p19"/>
          <p:cNvSpPr txBox="1"/>
          <p:nvPr/>
        </p:nvSpPr>
        <p:spPr>
          <a:xfrm rot="-3268709" flipH="1">
            <a:off x="929289" y="2243863"/>
            <a:ext cx="989314" cy="459575"/>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b="1">
                <a:latin typeface="Open Sans"/>
                <a:ea typeface="Open Sans"/>
                <a:cs typeface="Open Sans"/>
                <a:sym typeface="Open Sans"/>
              </a:rPr>
              <a:t>Others</a:t>
            </a:r>
            <a:endParaRPr sz="1800" b="1">
              <a:latin typeface="Open Sans"/>
              <a:ea typeface="Open Sans"/>
              <a:cs typeface="Open Sans"/>
              <a:sym typeface="Open Sans"/>
            </a:endParaRPr>
          </a:p>
        </p:txBody>
      </p:sp>
      <p:sp>
        <p:nvSpPr>
          <p:cNvPr id="138" name="Google Shape;138;p19"/>
          <p:cNvSpPr txBox="1"/>
          <p:nvPr/>
        </p:nvSpPr>
        <p:spPr>
          <a:xfrm rot="2058497" flipH="1">
            <a:off x="6063594" y="888971"/>
            <a:ext cx="994774" cy="438007"/>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b="1" dirty="0">
                <a:latin typeface="Open Sans"/>
                <a:ea typeface="Open Sans"/>
                <a:cs typeface="Open Sans"/>
                <a:sym typeface="Open Sans"/>
              </a:rPr>
              <a:t>Others</a:t>
            </a:r>
            <a:endParaRPr sz="1800" b="1" dirty="0">
              <a:latin typeface="Open Sans"/>
              <a:ea typeface="Open Sans"/>
              <a:cs typeface="Open Sans"/>
              <a:sym typeface="Open Sans"/>
            </a:endParaRPr>
          </a:p>
        </p:txBody>
      </p:sp>
      <p:sp>
        <p:nvSpPr>
          <p:cNvPr id="139" name="Google Shape;139;p19"/>
          <p:cNvSpPr txBox="1"/>
          <p:nvPr/>
        </p:nvSpPr>
        <p:spPr>
          <a:xfrm rot="3141822" flipH="1">
            <a:off x="6839392" y="2195664"/>
            <a:ext cx="1098998" cy="45924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latin typeface="Open Sans"/>
                <a:ea typeface="Open Sans"/>
                <a:cs typeface="Open Sans"/>
                <a:sym typeface="Open Sans"/>
              </a:rPr>
              <a:t>Others</a:t>
            </a:r>
            <a:endParaRPr sz="1800" b="1">
              <a:latin typeface="Open Sans"/>
              <a:ea typeface="Open Sans"/>
              <a:cs typeface="Open Sans"/>
              <a:sym typeface="Open Sans"/>
            </a:endParaRPr>
          </a:p>
        </p:txBody>
      </p:sp>
      <p:sp>
        <p:nvSpPr>
          <p:cNvPr id="140" name="Google Shape;140;p19"/>
          <p:cNvSpPr txBox="1"/>
          <p:nvPr/>
        </p:nvSpPr>
        <p:spPr>
          <a:xfrm rot="8341" flipH="1">
            <a:off x="3931087" y="218485"/>
            <a:ext cx="989103" cy="4596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b="1" dirty="0">
                <a:latin typeface="Open Sans"/>
                <a:ea typeface="Open Sans"/>
                <a:cs typeface="Open Sans"/>
                <a:sym typeface="Open Sans"/>
              </a:rPr>
              <a:t>Others</a:t>
            </a:r>
            <a:endParaRPr sz="1800" b="1" dirty="0">
              <a:latin typeface="Open Sans"/>
              <a:ea typeface="Open Sans"/>
              <a:cs typeface="Open Sans"/>
              <a:sym typeface="Open Sans"/>
            </a:endParaRPr>
          </a:p>
        </p:txBody>
      </p:sp>
      <p:pic>
        <p:nvPicPr>
          <p:cNvPr id="141" name="Google Shape;141;p19"/>
          <p:cNvPicPr preferRelativeResize="0"/>
          <p:nvPr/>
        </p:nvPicPr>
        <p:blipFill>
          <a:blip r:embed="rId3">
            <a:alphaModFix/>
          </a:blip>
          <a:stretch>
            <a:fillRect/>
          </a:stretch>
        </p:blipFill>
        <p:spPr>
          <a:xfrm>
            <a:off x="3570675" y="2083462"/>
            <a:ext cx="1842777" cy="2244104"/>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20"/>
          <p:cNvPicPr preferRelativeResize="0"/>
          <p:nvPr/>
        </p:nvPicPr>
        <p:blipFill rotWithShape="1">
          <a:blip r:embed="rId3">
            <a:alphaModFix/>
          </a:blip>
          <a:srcRect/>
          <a:stretch/>
        </p:blipFill>
        <p:spPr>
          <a:xfrm>
            <a:off x="1837386" y="269475"/>
            <a:ext cx="5469227" cy="4321060"/>
          </a:xfrm>
          <a:prstGeom prst="rect">
            <a:avLst/>
          </a:prstGeom>
          <a:solidFill>
            <a:schemeClr val="lt1"/>
          </a:solidFill>
          <a:ln>
            <a:noFill/>
          </a:ln>
        </p:spPr>
      </p:pic>
      <p:sp>
        <p:nvSpPr>
          <p:cNvPr id="148" name="Google Shape;148;p20"/>
          <p:cNvSpPr txBox="1">
            <a:spLocks noGrp="1"/>
          </p:cNvSpPr>
          <p:nvPr>
            <p:ph type="body" idx="1"/>
          </p:nvPr>
        </p:nvSpPr>
        <p:spPr>
          <a:xfrm>
            <a:off x="762000" y="4628849"/>
            <a:ext cx="7886700" cy="1482600"/>
          </a:xfrm>
          <a:prstGeom prst="rect">
            <a:avLst/>
          </a:prstGeom>
          <a:solidFill>
            <a:srgbClr val="9AD1DC"/>
          </a:solidFill>
          <a:ln w="9525" cap="flat" cmpd="sng">
            <a:solidFill>
              <a:srgbClr val="9AD1DC"/>
            </a:solidFill>
            <a:prstDash val="solid"/>
            <a:round/>
            <a:headEnd type="none" w="sm" len="sm"/>
            <a:tailEnd type="none" w="sm" len="sm"/>
          </a:ln>
        </p:spPr>
        <p:txBody>
          <a:bodyPr spcFirstLastPara="1" wrap="square" lIns="91425" tIns="45700" rIns="91425" bIns="45700" anchor="t" anchorCtr="0">
            <a:noAutofit/>
          </a:bodyPr>
          <a:lstStyle/>
          <a:p>
            <a:pPr marL="457200" marR="0" lvl="0" indent="-381000" algn="l" rtl="0">
              <a:lnSpc>
                <a:spcPct val="70000"/>
              </a:lnSpc>
              <a:spcBef>
                <a:spcPts val="0"/>
              </a:spcBef>
              <a:spcAft>
                <a:spcPts val="0"/>
              </a:spcAft>
              <a:buClr>
                <a:schemeClr val="dk1"/>
              </a:buClr>
              <a:buSzPts val="2400"/>
              <a:buFont typeface="Calibri"/>
              <a:buAutoNum type="arabicPeriod"/>
            </a:pPr>
            <a:r>
              <a:rPr lang="en" sz="2400" b="0" i="0" u="none" strike="noStrike" cap="none" dirty="0">
                <a:solidFill>
                  <a:schemeClr val="dk1"/>
                </a:solidFill>
                <a:latin typeface="Open Sans" pitchFamily="34" charset="0"/>
                <a:ea typeface="Open Sans" pitchFamily="34" charset="0"/>
                <a:cs typeface="Open Sans" pitchFamily="34" charset="0"/>
                <a:sym typeface="Calibri"/>
              </a:rPr>
              <a:t>What parts of your identity do you choose for yourself?</a:t>
            </a:r>
            <a:endParaRPr sz="2400" b="0" i="0" u="none" strike="noStrike" cap="none" dirty="0">
              <a:solidFill>
                <a:schemeClr val="dk1"/>
              </a:solidFill>
              <a:latin typeface="Open Sans" pitchFamily="34" charset="0"/>
              <a:ea typeface="Open Sans" pitchFamily="34" charset="0"/>
              <a:cs typeface="Open Sans" pitchFamily="34" charset="0"/>
              <a:sym typeface="Calibri"/>
            </a:endParaRPr>
          </a:p>
          <a:p>
            <a:pPr marL="342900" marR="0" lvl="0" indent="-342900" algn="l" rtl="0">
              <a:lnSpc>
                <a:spcPct val="70000"/>
              </a:lnSpc>
              <a:spcBef>
                <a:spcPts val="0"/>
              </a:spcBef>
              <a:spcAft>
                <a:spcPts val="0"/>
              </a:spcAft>
              <a:buFont typeface="+mj-lt"/>
              <a:buAutoNum type="arabicPeriod"/>
            </a:pPr>
            <a:endParaRPr sz="1400" dirty="0">
              <a:latin typeface="Open Sans" pitchFamily="34" charset="0"/>
              <a:ea typeface="Open Sans" pitchFamily="34" charset="0"/>
              <a:cs typeface="Open Sans" pitchFamily="34" charset="0"/>
            </a:endParaRPr>
          </a:p>
          <a:p>
            <a:pPr marL="457200" marR="0" lvl="0" indent="-381000" algn="l" rtl="0">
              <a:lnSpc>
                <a:spcPct val="70000"/>
              </a:lnSpc>
              <a:spcBef>
                <a:spcPts val="0"/>
              </a:spcBef>
              <a:spcAft>
                <a:spcPts val="0"/>
              </a:spcAft>
              <a:buClr>
                <a:schemeClr val="dk1"/>
              </a:buClr>
              <a:buSzPts val="2400"/>
              <a:buFont typeface="Calibri"/>
              <a:buAutoNum type="arabicPeriod"/>
            </a:pPr>
            <a:r>
              <a:rPr lang="en" sz="2400" b="0" i="0" u="none" strike="noStrike" cap="none" dirty="0">
                <a:solidFill>
                  <a:schemeClr val="dk1"/>
                </a:solidFill>
                <a:latin typeface="Open Sans" pitchFamily="34" charset="0"/>
                <a:ea typeface="Open Sans" pitchFamily="34" charset="0"/>
                <a:cs typeface="Open Sans" pitchFamily="34" charset="0"/>
                <a:sym typeface="Calibri"/>
              </a:rPr>
              <a:t>What parts of your identity are determined for you by other people or by society?</a:t>
            </a:r>
            <a:endParaRPr sz="2400" dirty="0">
              <a:latin typeface="Open Sans" pitchFamily="34" charset="0"/>
              <a:ea typeface="Open Sans" pitchFamily="34" charset="0"/>
              <a:cs typeface="Open Sans" pitchFamily="34" charset="0"/>
            </a:endParaRPr>
          </a:p>
        </p:txBody>
      </p:sp>
      <p:pic>
        <p:nvPicPr>
          <p:cNvPr id="149" name="Google Shape;149;p20"/>
          <p:cNvPicPr preferRelativeResize="0"/>
          <p:nvPr/>
        </p:nvPicPr>
        <p:blipFill>
          <a:blip r:embed="rId4">
            <a:alphaModFix/>
          </a:blip>
          <a:stretch>
            <a:fillRect/>
          </a:stretch>
        </p:blipFill>
        <p:spPr>
          <a:xfrm>
            <a:off x="228600" y="228600"/>
            <a:ext cx="1391400" cy="1391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1433775" y="1066800"/>
            <a:ext cx="6095700" cy="7455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4400"/>
              <a:buFont typeface="Calibri"/>
              <a:buNone/>
            </a:pPr>
            <a:r>
              <a:rPr lang="en" sz="4400" b="1" i="0" u="none" strike="noStrike" cap="none">
                <a:solidFill>
                  <a:srgbClr val="002060"/>
                </a:solidFill>
                <a:latin typeface="Open Sans"/>
                <a:ea typeface="Open Sans"/>
                <a:cs typeface="Open Sans"/>
                <a:sym typeface="Open Sans"/>
              </a:rPr>
              <a:t>The Bear That Wasn’t </a:t>
            </a:r>
            <a:endParaRPr sz="4400" b="1" i="0" u="none" strike="noStrike" cap="none">
              <a:solidFill>
                <a:srgbClr val="002060"/>
              </a:solidFill>
              <a:latin typeface="Open Sans"/>
              <a:ea typeface="Open Sans"/>
              <a:cs typeface="Open Sans"/>
              <a:sym typeface="Open Sans"/>
            </a:endParaRPr>
          </a:p>
        </p:txBody>
      </p:sp>
      <p:pic>
        <p:nvPicPr>
          <p:cNvPr id="156" name="Google Shape;156;p21"/>
          <p:cNvPicPr preferRelativeResize="0"/>
          <p:nvPr/>
        </p:nvPicPr>
        <p:blipFill rotWithShape="1">
          <a:blip r:embed="rId3">
            <a:alphaModFix/>
          </a:blip>
          <a:srcRect/>
          <a:stretch/>
        </p:blipFill>
        <p:spPr>
          <a:xfrm>
            <a:off x="2167007" y="2209800"/>
            <a:ext cx="4809984" cy="37223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grpSp>
        <p:nvGrpSpPr>
          <p:cNvPr id="162" name="Google Shape;162;p22"/>
          <p:cNvGrpSpPr/>
          <p:nvPr/>
        </p:nvGrpSpPr>
        <p:grpSpPr>
          <a:xfrm>
            <a:off x="2076355" y="1294537"/>
            <a:ext cx="4991827" cy="4441179"/>
            <a:chOff x="3667711" y="1061165"/>
            <a:chExt cx="4763648" cy="4142505"/>
          </a:xfrm>
        </p:grpSpPr>
        <p:cxnSp>
          <p:nvCxnSpPr>
            <p:cNvPr id="163" name="Google Shape;163;p22"/>
            <p:cNvCxnSpPr/>
            <p:nvPr/>
          </p:nvCxnSpPr>
          <p:spPr>
            <a:xfrm>
              <a:off x="3667711" y="3091234"/>
              <a:ext cx="981696" cy="0"/>
            </a:xfrm>
            <a:prstGeom prst="straightConnector1">
              <a:avLst/>
            </a:prstGeom>
            <a:noFill/>
            <a:ln w="38100" cap="flat" cmpd="sng">
              <a:solidFill>
                <a:srgbClr val="0C8689"/>
              </a:solidFill>
              <a:prstDash val="solid"/>
              <a:miter lim="800000"/>
              <a:headEnd type="none" w="sm" len="sm"/>
              <a:tailEnd type="triangle" w="med" len="med"/>
            </a:ln>
          </p:spPr>
        </p:cxnSp>
        <p:cxnSp>
          <p:nvCxnSpPr>
            <p:cNvPr id="164" name="Google Shape;164;p22"/>
            <p:cNvCxnSpPr/>
            <p:nvPr/>
          </p:nvCxnSpPr>
          <p:spPr>
            <a:xfrm rot="10800000">
              <a:off x="6095999" y="4189618"/>
              <a:ext cx="1" cy="1014052"/>
            </a:xfrm>
            <a:prstGeom prst="straightConnector1">
              <a:avLst/>
            </a:prstGeom>
            <a:noFill/>
            <a:ln w="38100" cap="flat" cmpd="sng">
              <a:solidFill>
                <a:srgbClr val="0C8689"/>
              </a:solidFill>
              <a:prstDash val="solid"/>
              <a:miter lim="800000"/>
              <a:headEnd type="none" w="sm" len="sm"/>
              <a:tailEnd type="triangle" w="med" len="med"/>
            </a:ln>
          </p:spPr>
        </p:cxnSp>
        <p:cxnSp>
          <p:nvCxnSpPr>
            <p:cNvPr id="165" name="Google Shape;165;p22"/>
            <p:cNvCxnSpPr/>
            <p:nvPr/>
          </p:nvCxnSpPr>
          <p:spPr>
            <a:xfrm rot="10800000">
              <a:off x="7442852" y="3091234"/>
              <a:ext cx="988507" cy="0"/>
            </a:xfrm>
            <a:prstGeom prst="straightConnector1">
              <a:avLst/>
            </a:prstGeom>
            <a:noFill/>
            <a:ln w="38100" cap="flat" cmpd="sng">
              <a:solidFill>
                <a:srgbClr val="0C8689"/>
              </a:solidFill>
              <a:prstDash val="solid"/>
              <a:miter lim="800000"/>
              <a:headEnd type="none" w="sm" len="sm"/>
              <a:tailEnd type="triangle" w="med" len="med"/>
            </a:ln>
          </p:spPr>
        </p:cxnSp>
        <p:cxnSp>
          <p:nvCxnSpPr>
            <p:cNvPr id="166" name="Google Shape;166;p22"/>
            <p:cNvCxnSpPr/>
            <p:nvPr/>
          </p:nvCxnSpPr>
          <p:spPr>
            <a:xfrm>
              <a:off x="6136774" y="1061165"/>
              <a:ext cx="0" cy="982274"/>
            </a:xfrm>
            <a:prstGeom prst="straightConnector1">
              <a:avLst/>
            </a:prstGeom>
            <a:noFill/>
            <a:ln w="38100" cap="flat" cmpd="sng">
              <a:solidFill>
                <a:srgbClr val="0C8689"/>
              </a:solidFill>
              <a:prstDash val="solid"/>
              <a:miter lim="800000"/>
              <a:headEnd type="none" w="sm" len="sm"/>
              <a:tailEnd type="triangle" w="med" len="med"/>
            </a:ln>
          </p:spPr>
        </p:cxnSp>
        <p:cxnSp>
          <p:nvCxnSpPr>
            <p:cNvPr id="167" name="Google Shape;167;p22"/>
            <p:cNvCxnSpPr/>
            <p:nvPr/>
          </p:nvCxnSpPr>
          <p:spPr>
            <a:xfrm rot="10800000" flipH="1">
              <a:off x="7372940" y="1552303"/>
              <a:ext cx="783820" cy="630783"/>
            </a:xfrm>
            <a:prstGeom prst="straightConnector1">
              <a:avLst/>
            </a:prstGeom>
            <a:noFill/>
            <a:ln w="38100" cap="flat" cmpd="sng">
              <a:solidFill>
                <a:schemeClr val="dk1"/>
              </a:solidFill>
              <a:prstDash val="solid"/>
              <a:miter lim="800000"/>
              <a:headEnd type="none" w="sm" len="sm"/>
              <a:tailEnd type="triangle" w="med" len="med"/>
            </a:ln>
          </p:spPr>
        </p:cxnSp>
        <p:cxnSp>
          <p:nvCxnSpPr>
            <p:cNvPr id="168" name="Google Shape;168;p22"/>
            <p:cNvCxnSpPr/>
            <p:nvPr/>
          </p:nvCxnSpPr>
          <p:spPr>
            <a:xfrm>
              <a:off x="7405624" y="4069396"/>
              <a:ext cx="889741" cy="650790"/>
            </a:xfrm>
            <a:prstGeom prst="straightConnector1">
              <a:avLst/>
            </a:prstGeom>
            <a:noFill/>
            <a:ln w="38100" cap="flat" cmpd="sng">
              <a:solidFill>
                <a:schemeClr val="dk1"/>
              </a:solidFill>
              <a:prstDash val="solid"/>
              <a:miter lim="800000"/>
              <a:headEnd type="none" w="sm" len="sm"/>
              <a:tailEnd type="triangle" w="med" len="med"/>
            </a:ln>
          </p:spPr>
        </p:cxnSp>
        <p:cxnSp>
          <p:nvCxnSpPr>
            <p:cNvPr id="169" name="Google Shape;169;p22"/>
            <p:cNvCxnSpPr/>
            <p:nvPr/>
          </p:nvCxnSpPr>
          <p:spPr>
            <a:xfrm flipH="1">
              <a:off x="3949891" y="3860193"/>
              <a:ext cx="946692" cy="739771"/>
            </a:xfrm>
            <a:prstGeom prst="straightConnector1">
              <a:avLst/>
            </a:prstGeom>
            <a:noFill/>
            <a:ln w="38100" cap="flat" cmpd="sng">
              <a:solidFill>
                <a:schemeClr val="dk1"/>
              </a:solidFill>
              <a:prstDash val="solid"/>
              <a:miter lim="800000"/>
              <a:headEnd type="none" w="sm" len="sm"/>
              <a:tailEnd type="triangle" w="med" len="med"/>
            </a:ln>
          </p:spPr>
        </p:cxnSp>
        <p:cxnSp>
          <p:nvCxnSpPr>
            <p:cNvPr id="170" name="Google Shape;170;p22"/>
            <p:cNvCxnSpPr/>
            <p:nvPr/>
          </p:nvCxnSpPr>
          <p:spPr>
            <a:xfrm rot="10800000">
              <a:off x="3896635" y="1552303"/>
              <a:ext cx="896607" cy="629460"/>
            </a:xfrm>
            <a:prstGeom prst="straightConnector1">
              <a:avLst/>
            </a:prstGeom>
            <a:noFill/>
            <a:ln w="38100" cap="flat" cmpd="sng">
              <a:solidFill>
                <a:schemeClr val="dk1"/>
              </a:solidFill>
              <a:prstDash val="solid"/>
              <a:miter lim="800000"/>
              <a:headEnd type="none" w="sm" len="sm"/>
              <a:tailEnd type="triangle" w="med" len="med"/>
            </a:ln>
          </p:spPr>
        </p:cxnSp>
        <p:pic>
          <p:nvPicPr>
            <p:cNvPr id="171" name="Google Shape;171;p22"/>
            <p:cNvPicPr preferRelativeResize="0"/>
            <p:nvPr/>
          </p:nvPicPr>
          <p:blipFill rotWithShape="1">
            <a:blip r:embed="rId3">
              <a:alphaModFix/>
            </a:blip>
            <a:srcRect/>
            <a:stretch/>
          </p:blipFill>
          <p:spPr>
            <a:xfrm>
              <a:off x="4749148" y="2105043"/>
              <a:ext cx="2693704" cy="2084575"/>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23"/>
          <p:cNvPicPr preferRelativeResize="0"/>
          <p:nvPr/>
        </p:nvPicPr>
        <p:blipFill>
          <a:blip r:embed="rId3">
            <a:alphaModFix/>
          </a:blip>
          <a:stretch>
            <a:fillRect/>
          </a:stretch>
        </p:blipFill>
        <p:spPr>
          <a:xfrm>
            <a:off x="1515725" y="344325"/>
            <a:ext cx="5969398" cy="59329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24"/>
          <p:cNvPicPr preferRelativeResize="0"/>
          <p:nvPr/>
        </p:nvPicPr>
        <p:blipFill>
          <a:blip r:embed="rId3">
            <a:alphaModFix/>
          </a:blip>
          <a:stretch>
            <a:fillRect/>
          </a:stretch>
        </p:blipFill>
        <p:spPr>
          <a:xfrm>
            <a:off x="1589688" y="464900"/>
            <a:ext cx="5964624" cy="5928200"/>
          </a:xfrm>
          <a:prstGeom prst="rect">
            <a:avLst/>
          </a:prstGeom>
          <a:noFill/>
          <a:ln>
            <a:noFill/>
          </a:ln>
        </p:spPr>
      </p:pic>
      <p:sp>
        <p:nvSpPr>
          <p:cNvPr id="184" name="Google Shape;184;p24"/>
          <p:cNvSpPr txBox="1">
            <a:spLocks noGrp="1"/>
          </p:cNvSpPr>
          <p:nvPr>
            <p:ph type="body" idx="1"/>
          </p:nvPr>
        </p:nvSpPr>
        <p:spPr>
          <a:xfrm>
            <a:off x="285750" y="129600"/>
            <a:ext cx="8572500" cy="6598800"/>
          </a:xfrm>
          <a:prstGeom prst="rect">
            <a:avLst/>
          </a:prstGeom>
          <a:no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457200" marR="0" lvl="0" indent="-368300" algn="l" rtl="0">
              <a:lnSpc>
                <a:spcPct val="100000"/>
              </a:lnSpc>
              <a:spcBef>
                <a:spcPts val="1000"/>
              </a:spcBef>
              <a:spcAft>
                <a:spcPts val="0"/>
              </a:spcAft>
              <a:buSzPts val="2200"/>
              <a:buFont typeface="Open Sans"/>
              <a:buAutoNum type="arabicPeriod"/>
            </a:pPr>
            <a:r>
              <a:rPr lang="en" sz="2200" i="0" u="none" strike="noStrike" cap="none" dirty="0">
                <a:solidFill>
                  <a:schemeClr val="dk1"/>
                </a:solidFill>
                <a:latin typeface="Open Sans"/>
                <a:ea typeface="Open Sans"/>
                <a:cs typeface="Open Sans"/>
                <a:sym typeface="Open Sans"/>
              </a:rPr>
              <a:t>Why do you think Frank Tashlin titled this story </a:t>
            </a:r>
            <a:r>
              <a:rPr lang="en" sz="2200" i="1" u="none" strike="noStrike" cap="none" dirty="0">
                <a:solidFill>
                  <a:schemeClr val="dk1"/>
                </a:solidFill>
                <a:latin typeface="Open Sans"/>
                <a:ea typeface="Open Sans"/>
                <a:cs typeface="Open Sans"/>
                <a:sym typeface="Open Sans"/>
              </a:rPr>
              <a:t>The Bear That Wasn’t</a:t>
            </a:r>
            <a:r>
              <a:rPr lang="en" sz="2200" i="0" u="none" strike="noStrike" cap="none" dirty="0">
                <a:solidFill>
                  <a:schemeClr val="dk1"/>
                </a:solidFill>
                <a:latin typeface="Open Sans"/>
                <a:ea typeface="Open Sans"/>
                <a:cs typeface="Open Sans"/>
                <a:sym typeface="Open Sans"/>
              </a:rPr>
              <a:t>?</a:t>
            </a:r>
            <a:endParaRPr sz="2200" dirty="0">
              <a:latin typeface="Open Sans"/>
              <a:ea typeface="Open Sans"/>
              <a:cs typeface="Open Sans"/>
              <a:sym typeface="Open Sans"/>
            </a:endParaRPr>
          </a:p>
          <a:p>
            <a:pPr marL="685800" marR="0" lvl="0" indent="-228600" algn="l" rtl="0">
              <a:lnSpc>
                <a:spcPct val="100000"/>
              </a:lnSpc>
              <a:spcBef>
                <a:spcPts val="0"/>
              </a:spcBef>
              <a:spcAft>
                <a:spcPts val="0"/>
              </a:spcAft>
              <a:buFont typeface="+mj-lt"/>
              <a:buAutoNum type="arabicPeriod"/>
            </a:pPr>
            <a:endParaRPr sz="1200" dirty="0">
              <a:latin typeface="Open Sans"/>
              <a:ea typeface="Open Sans"/>
              <a:cs typeface="Open Sans"/>
              <a:sym typeface="Open Sans"/>
            </a:endParaRPr>
          </a:p>
          <a:p>
            <a:pPr marL="457200" marR="0" lvl="0" indent="-368300" algn="l" rtl="0">
              <a:lnSpc>
                <a:spcPct val="100000"/>
              </a:lnSpc>
              <a:spcBef>
                <a:spcPts val="0"/>
              </a:spcBef>
              <a:spcAft>
                <a:spcPts val="0"/>
              </a:spcAft>
              <a:buSzPts val="2200"/>
              <a:buFont typeface="Open Sans"/>
              <a:buAutoNum type="arabicPeriod"/>
            </a:pPr>
            <a:r>
              <a:rPr lang="en" sz="2200" i="0" u="none" strike="noStrike" cap="none" dirty="0">
                <a:solidFill>
                  <a:schemeClr val="dk1"/>
                </a:solidFill>
                <a:latin typeface="Open Sans"/>
                <a:ea typeface="Open Sans"/>
                <a:cs typeface="Open Sans"/>
                <a:sym typeface="Open Sans"/>
              </a:rPr>
              <a:t>Why didn’t the factory officials recogni</a:t>
            </a:r>
            <a:r>
              <a:rPr lang="en" sz="2200" dirty="0">
                <a:latin typeface="Open Sans"/>
                <a:ea typeface="Open Sans"/>
                <a:cs typeface="Open Sans"/>
                <a:sym typeface="Open Sans"/>
              </a:rPr>
              <a:t>s</a:t>
            </a:r>
            <a:r>
              <a:rPr lang="en" sz="2200" i="0" u="none" strike="noStrike" cap="none" dirty="0">
                <a:solidFill>
                  <a:schemeClr val="dk1"/>
                </a:solidFill>
                <a:latin typeface="Open Sans"/>
                <a:ea typeface="Open Sans"/>
                <a:cs typeface="Open Sans"/>
                <a:sym typeface="Open Sans"/>
              </a:rPr>
              <a:t>e the Bear for what he was? </a:t>
            </a:r>
            <a:endParaRPr sz="2200" i="0" u="none" strike="noStrike" cap="none" dirty="0">
              <a:solidFill>
                <a:schemeClr val="dk1"/>
              </a:solidFill>
              <a:latin typeface="Open Sans"/>
              <a:ea typeface="Open Sans"/>
              <a:cs typeface="Open Sans"/>
              <a:sym typeface="Open Sans"/>
            </a:endParaRPr>
          </a:p>
          <a:p>
            <a:pPr marL="685800" marR="0" lvl="0" indent="-228600" algn="l" rtl="0">
              <a:lnSpc>
                <a:spcPct val="100000"/>
              </a:lnSpc>
              <a:spcBef>
                <a:spcPts val="0"/>
              </a:spcBef>
              <a:spcAft>
                <a:spcPts val="0"/>
              </a:spcAft>
              <a:buFont typeface="+mj-lt"/>
              <a:buAutoNum type="arabicPeriod"/>
            </a:pPr>
            <a:endParaRPr sz="1200" dirty="0">
              <a:latin typeface="Open Sans"/>
              <a:ea typeface="Open Sans"/>
              <a:cs typeface="Open Sans"/>
              <a:sym typeface="Open Sans"/>
            </a:endParaRPr>
          </a:p>
          <a:p>
            <a:pPr marL="457200" marR="1644436" lvl="0" indent="-368300" algn="l" rtl="0">
              <a:lnSpc>
                <a:spcPct val="100000"/>
              </a:lnSpc>
              <a:spcBef>
                <a:spcPts val="0"/>
              </a:spcBef>
              <a:spcAft>
                <a:spcPts val="0"/>
              </a:spcAft>
              <a:buSzPts val="2200"/>
              <a:buFont typeface="Open Sans"/>
              <a:buAutoNum type="arabicPeriod"/>
            </a:pPr>
            <a:r>
              <a:rPr lang="en" sz="2200" i="0" u="none" strike="noStrike" cap="none" dirty="0">
                <a:solidFill>
                  <a:schemeClr val="dk1"/>
                </a:solidFill>
                <a:latin typeface="Open Sans"/>
                <a:ea typeface="Open Sans"/>
                <a:cs typeface="Open Sans"/>
                <a:sym typeface="Open Sans"/>
              </a:rPr>
              <a:t>Why did it become harder and harder for the Bear to maintain</a:t>
            </a:r>
            <a:r>
              <a:rPr lang="en" sz="2200" dirty="0">
                <a:latin typeface="Open Sans"/>
                <a:ea typeface="Open Sans"/>
                <a:cs typeface="Open Sans"/>
                <a:sym typeface="Open Sans"/>
              </a:rPr>
              <a:t> </a:t>
            </a:r>
            <a:r>
              <a:rPr lang="en" sz="2200" i="0" u="none" strike="noStrike" cap="none" dirty="0">
                <a:solidFill>
                  <a:schemeClr val="dk1"/>
                </a:solidFill>
                <a:latin typeface="Open Sans"/>
                <a:ea typeface="Open Sans"/>
                <a:cs typeface="Open Sans"/>
                <a:sym typeface="Open Sans"/>
              </a:rPr>
              <a:t>his identity as he moved through the bureaucracy of the factory?</a:t>
            </a:r>
            <a:endParaRPr sz="2200" i="0" u="none" strike="noStrike" cap="none" dirty="0">
              <a:solidFill>
                <a:schemeClr val="dk1"/>
              </a:solidFill>
              <a:latin typeface="Open Sans"/>
              <a:ea typeface="Open Sans"/>
              <a:cs typeface="Open Sans"/>
              <a:sym typeface="Open Sans"/>
            </a:endParaRPr>
          </a:p>
          <a:p>
            <a:pPr marL="228600" marR="0" lvl="0" indent="-228600" algn="l" rtl="0">
              <a:lnSpc>
                <a:spcPct val="100000"/>
              </a:lnSpc>
              <a:spcBef>
                <a:spcPts val="0"/>
              </a:spcBef>
              <a:spcAft>
                <a:spcPts val="0"/>
              </a:spcAft>
              <a:buFont typeface="+mj-lt"/>
              <a:buAutoNum type="arabicPeriod"/>
            </a:pPr>
            <a:endParaRPr sz="1200" dirty="0">
              <a:latin typeface="Open Sans"/>
              <a:ea typeface="Open Sans"/>
              <a:cs typeface="Open Sans"/>
              <a:sym typeface="Open Sans"/>
            </a:endParaRPr>
          </a:p>
          <a:p>
            <a:pPr marL="457200" marR="0" lvl="0" indent="-368300" algn="l" rtl="0">
              <a:lnSpc>
                <a:spcPct val="100000"/>
              </a:lnSpc>
              <a:spcBef>
                <a:spcPts val="1000"/>
              </a:spcBef>
              <a:spcAft>
                <a:spcPts val="0"/>
              </a:spcAft>
              <a:buSzPts val="2200"/>
              <a:buFont typeface="Open Sans"/>
              <a:buAutoNum type="arabicPeriod"/>
            </a:pPr>
            <a:r>
              <a:rPr lang="en" sz="2200" i="0" u="none" strike="noStrike" cap="none" dirty="0">
                <a:solidFill>
                  <a:schemeClr val="dk1"/>
                </a:solidFill>
                <a:latin typeface="Open Sans"/>
                <a:ea typeface="Open Sans"/>
                <a:cs typeface="Open Sans"/>
                <a:sym typeface="Open Sans"/>
              </a:rPr>
              <a:t>What were the consequences for the Bear of the way others defined his identity?</a:t>
            </a:r>
            <a:endParaRPr sz="2200" i="0" u="none" strike="noStrike" cap="none" dirty="0">
              <a:solidFill>
                <a:schemeClr val="dk1"/>
              </a:solidFill>
              <a:latin typeface="Open Sans"/>
              <a:ea typeface="Open Sans"/>
              <a:cs typeface="Open Sans"/>
              <a:sym typeface="Open Sans"/>
            </a:endParaRPr>
          </a:p>
          <a:p>
            <a:pPr marL="685800" marR="0" lvl="0" indent="-228600" algn="l" rtl="0">
              <a:lnSpc>
                <a:spcPct val="100000"/>
              </a:lnSpc>
              <a:spcBef>
                <a:spcPts val="0"/>
              </a:spcBef>
              <a:spcAft>
                <a:spcPts val="0"/>
              </a:spcAft>
              <a:buFont typeface="+mj-lt"/>
              <a:buAutoNum type="arabicPeriod"/>
            </a:pPr>
            <a:endParaRPr sz="1200" dirty="0">
              <a:latin typeface="Open Sans"/>
              <a:ea typeface="Open Sans"/>
              <a:cs typeface="Open Sans"/>
              <a:sym typeface="Open Sans"/>
            </a:endParaRPr>
          </a:p>
          <a:p>
            <a:pPr marL="457200" marR="0" lvl="0" indent="-368300" algn="l" rtl="0">
              <a:lnSpc>
                <a:spcPct val="100000"/>
              </a:lnSpc>
              <a:spcBef>
                <a:spcPts val="0"/>
              </a:spcBef>
              <a:spcAft>
                <a:spcPts val="0"/>
              </a:spcAft>
              <a:buSzPts val="2200"/>
              <a:buFont typeface="Open Sans"/>
              <a:buAutoNum type="arabicPeriod"/>
            </a:pPr>
            <a:r>
              <a:rPr lang="en" sz="2200" i="0" u="none" strike="noStrike" cap="none" dirty="0">
                <a:solidFill>
                  <a:schemeClr val="dk1"/>
                </a:solidFill>
                <a:latin typeface="Open Sans"/>
                <a:ea typeface="Open Sans"/>
                <a:cs typeface="Open Sans"/>
                <a:sym typeface="Open Sans"/>
              </a:rPr>
              <a:t>Whose opinions and beliefs have the greatest effect on how you think about your own identity</a:t>
            </a:r>
            <a:r>
              <a:rPr lang="en" sz="2200" dirty="0">
                <a:latin typeface="Open Sans"/>
                <a:ea typeface="Open Sans"/>
                <a:cs typeface="Open Sans"/>
                <a:sym typeface="Open Sans"/>
              </a:rPr>
              <a:t>? </a:t>
            </a:r>
            <a:endParaRPr sz="2200" dirty="0">
              <a:latin typeface="Open Sans"/>
              <a:ea typeface="Open Sans"/>
              <a:cs typeface="Open Sans"/>
              <a:sym typeface="Open Sans"/>
            </a:endParaRPr>
          </a:p>
          <a:p>
            <a:pPr marL="685800" marR="0" lvl="0" indent="-228600" algn="l" rtl="0">
              <a:lnSpc>
                <a:spcPct val="100000"/>
              </a:lnSpc>
              <a:spcBef>
                <a:spcPts val="0"/>
              </a:spcBef>
              <a:spcAft>
                <a:spcPts val="0"/>
              </a:spcAft>
              <a:buFont typeface="+mj-lt"/>
              <a:buAutoNum type="arabicPeriod"/>
            </a:pPr>
            <a:endParaRPr sz="1200" dirty="0">
              <a:latin typeface="Open Sans"/>
              <a:ea typeface="Open Sans"/>
              <a:cs typeface="Open Sans"/>
              <a:sym typeface="Open Sans"/>
            </a:endParaRPr>
          </a:p>
          <a:p>
            <a:pPr marL="457200" marR="0" lvl="0" indent="-368300" algn="l" rtl="0">
              <a:lnSpc>
                <a:spcPct val="100000"/>
              </a:lnSpc>
              <a:spcBef>
                <a:spcPts val="0"/>
              </a:spcBef>
              <a:spcAft>
                <a:spcPts val="0"/>
              </a:spcAft>
              <a:buSzPts val="2200"/>
              <a:buFont typeface="Open Sans"/>
              <a:buAutoNum type="arabicPeriod"/>
            </a:pPr>
            <a:r>
              <a:rPr lang="en" sz="2200" i="0" u="none" strike="noStrike" cap="none" dirty="0">
                <a:solidFill>
                  <a:schemeClr val="dk1"/>
                </a:solidFill>
                <a:latin typeface="Open Sans"/>
                <a:ea typeface="Open Sans"/>
                <a:cs typeface="Open Sans"/>
                <a:sym typeface="Open Sans"/>
              </a:rPr>
              <a:t>How does our need to be part of a group affect our actions?</a:t>
            </a:r>
            <a:r>
              <a:rPr lang="en" sz="2200" dirty="0">
                <a:latin typeface="Open Sans"/>
                <a:ea typeface="Open Sans"/>
                <a:cs typeface="Open Sans"/>
                <a:sym typeface="Open Sans"/>
              </a:rPr>
              <a:t> </a:t>
            </a:r>
            <a:r>
              <a:rPr lang="en" sz="2200" i="0" u="none" strike="noStrike" cap="none" dirty="0">
                <a:solidFill>
                  <a:schemeClr val="dk1"/>
                </a:solidFill>
                <a:latin typeface="Open Sans"/>
                <a:ea typeface="Open Sans"/>
                <a:cs typeface="Open Sans"/>
                <a:sym typeface="Open Sans"/>
              </a:rPr>
              <a:t>Why is it so difficult for a person to go against the group?</a:t>
            </a:r>
            <a:endParaRPr sz="2200" dirty="0">
              <a:latin typeface="Open Sans"/>
              <a:ea typeface="Open Sans"/>
              <a:cs typeface="Open Sans"/>
              <a:sym typeface="Open Sans"/>
            </a:endParaRPr>
          </a:p>
        </p:txBody>
      </p:sp>
      <p:sp>
        <p:nvSpPr>
          <p:cNvPr id="185" name="Google Shape;185;p24">
            <a:hlinkClick r:id="rId4"/>
          </p:cNvPr>
          <p:cNvSpPr/>
          <p:nvPr/>
        </p:nvSpPr>
        <p:spPr>
          <a:xfrm flipH="1">
            <a:off x="2515650" y="5924875"/>
            <a:ext cx="4112700" cy="707700"/>
          </a:xfrm>
          <a:prstGeom prst="rect">
            <a:avLst/>
          </a:prstGeom>
          <a:solidFill>
            <a:srgbClr val="FF9E15">
              <a:alpha val="60850"/>
            </a:srgbClr>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b="1" u="sng">
                <a:solidFill>
                  <a:schemeClr val="hlink"/>
                </a:solidFill>
                <a:latin typeface="Calibri"/>
                <a:ea typeface="Calibri"/>
                <a:cs typeface="Calibri"/>
                <a:sym typeface="Calibri"/>
                <a:hlinkClick r:id="rId4"/>
              </a:rPr>
              <a:t>Bureaucracy</a:t>
            </a:r>
            <a:r>
              <a:rPr lang="en" u="sng">
                <a:solidFill>
                  <a:schemeClr val="hlink"/>
                </a:solidFill>
                <a:latin typeface="Calibri"/>
                <a:ea typeface="Calibri"/>
                <a:cs typeface="Calibri"/>
                <a:sym typeface="Calibri"/>
                <a:hlinkClick r:id="rId4"/>
              </a:rPr>
              <a:t> </a:t>
            </a:r>
            <a:r>
              <a:rPr lang="en">
                <a:solidFill>
                  <a:schemeClr val="dk1"/>
                </a:solidFill>
                <a:latin typeface="Calibri"/>
                <a:ea typeface="Calibri"/>
                <a:cs typeface="Calibri"/>
                <a:sym typeface="Calibri"/>
              </a:rPr>
              <a:t>– the structure and set of rules that control the activities of people who work for large organisations</a:t>
            </a:r>
            <a:endParaRPr>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4">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5"/>
          <p:cNvSpPr txBox="1"/>
          <p:nvPr/>
        </p:nvSpPr>
        <p:spPr>
          <a:xfrm>
            <a:off x="2160450" y="942900"/>
            <a:ext cx="6332100" cy="5130300"/>
          </a:xfrm>
          <a:prstGeom prst="rect">
            <a:avLst/>
          </a:prstGeom>
          <a:noFill/>
          <a:ln>
            <a:noFill/>
          </a:ln>
        </p:spPr>
        <p:txBody>
          <a:bodyPr spcFirstLastPara="1" wrap="square" lIns="91425" tIns="91425" rIns="91425" bIns="91425" anchor="t" anchorCtr="0">
            <a:noAutofit/>
          </a:bodyPr>
          <a:lstStyle/>
          <a:p>
            <a:pPr marL="457200" lvl="0" indent="-381000" rtl="0">
              <a:lnSpc>
                <a:spcPct val="100000"/>
              </a:lnSpc>
              <a:spcBef>
                <a:spcPts val="1000"/>
              </a:spcBef>
              <a:spcAft>
                <a:spcPts val="0"/>
              </a:spcAft>
              <a:buClr>
                <a:schemeClr val="dk1"/>
              </a:buClr>
              <a:buSzPts val="2400"/>
              <a:buFont typeface="Open Sans"/>
              <a:buAutoNum type="arabicPeriod"/>
            </a:pPr>
            <a:r>
              <a:rPr lang="en" sz="2400" dirty="0">
                <a:solidFill>
                  <a:schemeClr val="dk1"/>
                </a:solidFill>
                <a:latin typeface="Open Sans"/>
                <a:ea typeface="Open Sans"/>
                <a:cs typeface="Open Sans"/>
                <a:sym typeface="Open Sans"/>
              </a:rPr>
              <a:t>Which parts of your identity do you choose for yourself?</a:t>
            </a:r>
            <a:endParaRPr sz="2400" dirty="0">
              <a:solidFill>
                <a:schemeClr val="dk1"/>
              </a:solidFill>
              <a:latin typeface="Open Sans"/>
              <a:ea typeface="Open Sans"/>
              <a:cs typeface="Open Sans"/>
              <a:sym typeface="Open Sans"/>
            </a:endParaRPr>
          </a:p>
          <a:p>
            <a:pPr marL="914400" lvl="0" indent="-457200" rtl="0">
              <a:lnSpc>
                <a:spcPct val="100000"/>
              </a:lnSpc>
              <a:spcBef>
                <a:spcPts val="0"/>
              </a:spcBef>
              <a:spcAft>
                <a:spcPts val="0"/>
              </a:spcAft>
              <a:buFont typeface="+mj-lt"/>
              <a:buAutoNum type="arabicPeriod"/>
            </a:pPr>
            <a:endParaRPr sz="2400" dirty="0">
              <a:solidFill>
                <a:schemeClr val="dk1"/>
              </a:solidFill>
              <a:latin typeface="Open Sans"/>
              <a:ea typeface="Open Sans"/>
              <a:cs typeface="Open Sans"/>
              <a:sym typeface="Open Sans"/>
            </a:endParaRPr>
          </a:p>
          <a:p>
            <a:pPr marL="457200" lvl="0" indent="-381000" rtl="0">
              <a:lnSpc>
                <a:spcPct val="100000"/>
              </a:lnSpc>
              <a:spcBef>
                <a:spcPts val="0"/>
              </a:spcBef>
              <a:spcAft>
                <a:spcPts val="0"/>
              </a:spcAft>
              <a:buClr>
                <a:schemeClr val="dk1"/>
              </a:buClr>
              <a:buSzPts val="2400"/>
              <a:buFont typeface="Open Sans"/>
              <a:buAutoNum type="arabicPeriod"/>
            </a:pPr>
            <a:r>
              <a:rPr lang="en" sz="2400" dirty="0">
                <a:solidFill>
                  <a:schemeClr val="dk1"/>
                </a:solidFill>
                <a:latin typeface="Open Sans"/>
                <a:ea typeface="Open Sans"/>
                <a:cs typeface="Open Sans"/>
                <a:sym typeface="Open Sans"/>
              </a:rPr>
              <a:t>Which parts of your identity are determined for you by other people or by society?</a:t>
            </a:r>
            <a:endParaRPr sz="2400" dirty="0">
              <a:solidFill>
                <a:schemeClr val="dk1"/>
              </a:solidFill>
              <a:latin typeface="Open Sans"/>
              <a:ea typeface="Open Sans"/>
              <a:cs typeface="Open Sans"/>
              <a:sym typeface="Open Sans"/>
            </a:endParaRPr>
          </a:p>
          <a:p>
            <a:pPr marL="457200" lvl="0" indent="0" rtl="0">
              <a:lnSpc>
                <a:spcPct val="100000"/>
              </a:lnSpc>
              <a:spcBef>
                <a:spcPts val="0"/>
              </a:spcBef>
              <a:spcAft>
                <a:spcPts val="0"/>
              </a:spcAft>
              <a:buNone/>
            </a:pPr>
            <a:endParaRPr sz="2400" dirty="0">
              <a:solidFill>
                <a:schemeClr val="dk1"/>
              </a:solidFill>
              <a:latin typeface="Open Sans"/>
              <a:ea typeface="Open Sans"/>
              <a:cs typeface="Open Sans"/>
              <a:sym typeface="Open Sans"/>
            </a:endParaRPr>
          </a:p>
          <a:p>
            <a:pPr marL="914400" lvl="1" indent="-381000" rtl="0">
              <a:lnSpc>
                <a:spcPct val="100000"/>
              </a:lnSpc>
              <a:spcBef>
                <a:spcPts val="0"/>
              </a:spcBef>
              <a:spcAft>
                <a:spcPts val="0"/>
              </a:spcAft>
              <a:buClr>
                <a:schemeClr val="dk1"/>
              </a:buClr>
              <a:buSzPts val="2400"/>
              <a:buFont typeface="Open Sans"/>
              <a:buAutoNum type="alphaLcPeriod"/>
            </a:pPr>
            <a:r>
              <a:rPr lang="en" sz="2400" dirty="0">
                <a:solidFill>
                  <a:schemeClr val="dk1"/>
                </a:solidFill>
                <a:latin typeface="Open Sans"/>
                <a:ea typeface="Open Sans"/>
                <a:cs typeface="Open Sans"/>
                <a:sym typeface="Open Sans"/>
              </a:rPr>
              <a:t>How does the Bear help you answer these two questions?</a:t>
            </a:r>
            <a:endParaRPr sz="2400" dirty="0">
              <a:solidFill>
                <a:schemeClr val="dk1"/>
              </a:solidFill>
              <a:latin typeface="Open Sans"/>
              <a:ea typeface="Open Sans"/>
              <a:cs typeface="Open Sans"/>
              <a:sym typeface="Open Sans"/>
            </a:endParaRPr>
          </a:p>
          <a:p>
            <a:pPr marL="914400" lvl="0" indent="0" rtl="0">
              <a:lnSpc>
                <a:spcPct val="100000"/>
              </a:lnSpc>
              <a:spcBef>
                <a:spcPts val="0"/>
              </a:spcBef>
              <a:spcAft>
                <a:spcPts val="0"/>
              </a:spcAft>
              <a:buNone/>
            </a:pPr>
            <a:endParaRPr sz="2400" dirty="0">
              <a:solidFill>
                <a:schemeClr val="dk1"/>
              </a:solidFill>
              <a:latin typeface="Open Sans"/>
              <a:ea typeface="Open Sans"/>
              <a:cs typeface="Open Sans"/>
              <a:sym typeface="Open Sans"/>
            </a:endParaRPr>
          </a:p>
          <a:p>
            <a:pPr marL="914400" lvl="1" indent="-381000" rtl="0">
              <a:lnSpc>
                <a:spcPct val="100000"/>
              </a:lnSpc>
              <a:spcBef>
                <a:spcPts val="0"/>
              </a:spcBef>
              <a:spcAft>
                <a:spcPts val="0"/>
              </a:spcAft>
              <a:buClr>
                <a:schemeClr val="dk1"/>
              </a:buClr>
              <a:buSzPts val="2400"/>
              <a:buFont typeface="Open Sans"/>
              <a:buAutoNum type="alphaLcPeriod"/>
            </a:pPr>
            <a:r>
              <a:rPr lang="en" sz="2400" dirty="0">
                <a:solidFill>
                  <a:schemeClr val="dk1"/>
                </a:solidFill>
                <a:latin typeface="Open Sans"/>
                <a:ea typeface="Open Sans"/>
                <a:cs typeface="Open Sans"/>
                <a:sym typeface="Open Sans"/>
              </a:rPr>
              <a:t>How do your own experiences help you answer these two questions?</a:t>
            </a:r>
            <a:endParaRPr sz="2400" dirty="0">
              <a:solidFill>
                <a:schemeClr val="dk1"/>
              </a:solidFill>
              <a:latin typeface="Open Sans"/>
              <a:ea typeface="Open Sans"/>
              <a:cs typeface="Open Sans"/>
              <a:sym typeface="Open Sans"/>
            </a:endParaRPr>
          </a:p>
        </p:txBody>
      </p:sp>
      <p:pic>
        <p:nvPicPr>
          <p:cNvPr id="192" name="Google Shape;192;p25"/>
          <p:cNvPicPr preferRelativeResize="0"/>
          <p:nvPr/>
        </p:nvPicPr>
        <p:blipFill>
          <a:blip r:embed="rId3">
            <a:alphaModFix/>
          </a:blip>
          <a:stretch>
            <a:fillRect/>
          </a:stretch>
        </p:blipFill>
        <p:spPr>
          <a:xfrm>
            <a:off x="228600" y="227595"/>
            <a:ext cx="1421799" cy="139240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6"/>
          <p:cNvSpPr txBox="1">
            <a:spLocks noGrp="1"/>
          </p:cNvSpPr>
          <p:nvPr>
            <p:ph type="body" idx="1"/>
          </p:nvPr>
        </p:nvSpPr>
        <p:spPr>
          <a:xfrm>
            <a:off x="2097975" y="334950"/>
            <a:ext cx="6621300" cy="6269700"/>
          </a:xfrm>
          <a:prstGeom prst="rect">
            <a:avLst/>
          </a:prstGeom>
          <a:solidFill>
            <a:srgbClr val="9AD1DC"/>
          </a:solidFill>
          <a:ln w="9525" cap="flat" cmpd="sng">
            <a:solidFill>
              <a:srgbClr val="9AD1DC"/>
            </a:solidFill>
            <a:prstDash val="solid"/>
            <a:round/>
            <a:headEnd type="none" w="sm" len="sm"/>
            <a:tailEnd type="none" w="sm" len="sm"/>
          </a:ln>
        </p:spPr>
        <p:txBody>
          <a:bodyPr spcFirstLastPara="1" wrap="square" lIns="91425" tIns="45700" rIns="91425" bIns="45700" anchor="t" anchorCtr="0">
            <a:noAutofit/>
          </a:bodyPr>
          <a:lstStyle/>
          <a:p>
            <a:pPr marL="457200" marR="0" lvl="0" indent="-381000" algn="l" rtl="0">
              <a:lnSpc>
                <a:spcPct val="90000"/>
              </a:lnSpc>
              <a:spcBef>
                <a:spcPts val="0"/>
              </a:spcBef>
              <a:spcAft>
                <a:spcPts val="0"/>
              </a:spcAft>
              <a:buClr>
                <a:schemeClr val="dk1"/>
              </a:buClr>
              <a:buSzPts val="2400"/>
              <a:buFont typeface="Calibri"/>
              <a:buAutoNum type="arabicPeriod"/>
            </a:pPr>
            <a:r>
              <a:rPr lang="en" sz="2400" i="0" u="none" strike="noStrike" cap="none" dirty="0">
                <a:solidFill>
                  <a:schemeClr val="dk1"/>
                </a:solidFill>
                <a:latin typeface="Open Sans"/>
                <a:ea typeface="Open Sans"/>
                <a:cs typeface="Open Sans"/>
                <a:sym typeface="Open Sans"/>
              </a:rPr>
              <a:t>What parts of your identity do you choose for yourself? What parts of your identity do you feel are determined by others, by society, or by chance?</a:t>
            </a:r>
            <a:endParaRPr sz="2400" i="0" u="none" strike="noStrike" cap="none" dirty="0">
              <a:solidFill>
                <a:schemeClr val="dk1"/>
              </a:solidFill>
              <a:latin typeface="Open Sans"/>
              <a:ea typeface="Open Sans"/>
              <a:cs typeface="Open Sans"/>
              <a:sym typeface="Open Sans"/>
            </a:endParaRPr>
          </a:p>
          <a:p>
            <a:pPr marR="0" lvl="0" indent="-457200" algn="l" rtl="0">
              <a:lnSpc>
                <a:spcPct val="90000"/>
              </a:lnSpc>
              <a:spcBef>
                <a:spcPts val="0"/>
              </a:spcBef>
              <a:spcAft>
                <a:spcPts val="0"/>
              </a:spcAft>
              <a:buFont typeface="+mj-lt"/>
              <a:buAutoNum type="arabicPeriod"/>
            </a:pPr>
            <a:endParaRPr sz="2400" dirty="0">
              <a:latin typeface="Open Sans"/>
              <a:ea typeface="Open Sans"/>
              <a:cs typeface="Open Sans"/>
              <a:sym typeface="Open Sans"/>
            </a:endParaRPr>
          </a:p>
          <a:p>
            <a:pPr marL="457200" marR="0" lvl="0" indent="-381000" algn="l" rtl="0">
              <a:lnSpc>
                <a:spcPct val="90000"/>
              </a:lnSpc>
              <a:spcBef>
                <a:spcPts val="0"/>
              </a:spcBef>
              <a:spcAft>
                <a:spcPts val="0"/>
              </a:spcAft>
              <a:buClr>
                <a:schemeClr val="dk1"/>
              </a:buClr>
              <a:buSzPts val="2400"/>
              <a:buFont typeface="Open Sans"/>
              <a:buAutoNum type="arabicPeriod"/>
            </a:pPr>
            <a:r>
              <a:rPr lang="en" sz="2400" i="0" u="none" strike="noStrike" cap="none" dirty="0">
                <a:solidFill>
                  <a:schemeClr val="dk1"/>
                </a:solidFill>
                <a:latin typeface="Open Sans"/>
                <a:ea typeface="Open Sans"/>
                <a:cs typeface="Open Sans"/>
                <a:sym typeface="Open Sans"/>
              </a:rPr>
              <a:t>Whose opinions and beliefs have the greatest effect on how you think about your own identity</a:t>
            </a:r>
            <a:r>
              <a:rPr lang="en" sz="2400" dirty="0">
                <a:latin typeface="Open Sans"/>
                <a:ea typeface="Open Sans"/>
                <a:cs typeface="Open Sans"/>
                <a:sym typeface="Open Sans"/>
              </a:rPr>
              <a:t>?</a:t>
            </a:r>
            <a:endParaRPr sz="2400" dirty="0">
              <a:latin typeface="Open Sans"/>
              <a:ea typeface="Open Sans"/>
              <a:cs typeface="Open Sans"/>
              <a:sym typeface="Open Sans"/>
            </a:endParaRPr>
          </a:p>
          <a:p>
            <a:pPr marR="0" lvl="0" indent="-457200" algn="l" rtl="0">
              <a:lnSpc>
                <a:spcPct val="90000"/>
              </a:lnSpc>
              <a:spcBef>
                <a:spcPts val="0"/>
              </a:spcBef>
              <a:spcAft>
                <a:spcPts val="0"/>
              </a:spcAft>
              <a:buFont typeface="+mj-lt"/>
              <a:buAutoNum type="arabicPeriod"/>
            </a:pPr>
            <a:endParaRPr sz="2400" dirty="0">
              <a:latin typeface="Open Sans"/>
              <a:ea typeface="Open Sans"/>
              <a:cs typeface="Open Sans"/>
              <a:sym typeface="Open Sans"/>
            </a:endParaRPr>
          </a:p>
          <a:p>
            <a:pPr marL="457200" marR="0" lvl="0" indent="-381000" algn="l" rtl="0">
              <a:lnSpc>
                <a:spcPct val="100000"/>
              </a:lnSpc>
              <a:spcBef>
                <a:spcPts val="0"/>
              </a:spcBef>
              <a:spcAft>
                <a:spcPts val="0"/>
              </a:spcAft>
              <a:buClr>
                <a:schemeClr val="dk1"/>
              </a:buClr>
              <a:buSzPts val="2400"/>
              <a:buFont typeface="Open Sans"/>
              <a:buAutoNum type="arabicPeriod"/>
            </a:pPr>
            <a:r>
              <a:rPr lang="en" sz="2400" i="0" u="none" strike="noStrike" cap="none" dirty="0">
                <a:solidFill>
                  <a:schemeClr val="dk1"/>
                </a:solidFill>
                <a:latin typeface="Open Sans"/>
                <a:ea typeface="Open Sans"/>
                <a:cs typeface="Open Sans"/>
                <a:sym typeface="Open Sans"/>
              </a:rPr>
              <a:t>What dilemmas arise when others view you differently than how you view yourself?</a:t>
            </a:r>
            <a:endParaRPr sz="2400" i="0" u="none" strike="noStrike" cap="none" dirty="0">
              <a:solidFill>
                <a:schemeClr val="dk1"/>
              </a:solidFill>
              <a:latin typeface="Open Sans"/>
              <a:ea typeface="Open Sans"/>
              <a:cs typeface="Open Sans"/>
              <a:sym typeface="Open Sans"/>
            </a:endParaRPr>
          </a:p>
          <a:p>
            <a:pPr marR="0" lvl="0" indent="-457200" algn="l" rtl="0">
              <a:lnSpc>
                <a:spcPct val="90000"/>
              </a:lnSpc>
              <a:spcBef>
                <a:spcPts val="0"/>
              </a:spcBef>
              <a:spcAft>
                <a:spcPts val="0"/>
              </a:spcAft>
              <a:buFont typeface="+mj-lt"/>
              <a:buAutoNum type="arabicPeriod"/>
            </a:pPr>
            <a:endParaRPr sz="2400" dirty="0">
              <a:latin typeface="Open Sans"/>
              <a:ea typeface="Open Sans"/>
              <a:cs typeface="Open Sans"/>
              <a:sym typeface="Open Sans"/>
            </a:endParaRPr>
          </a:p>
          <a:p>
            <a:pPr marL="457200" marR="0" lvl="0" indent="-381000" algn="l" rtl="0">
              <a:lnSpc>
                <a:spcPct val="90000"/>
              </a:lnSpc>
              <a:spcBef>
                <a:spcPts val="0"/>
              </a:spcBef>
              <a:spcAft>
                <a:spcPts val="0"/>
              </a:spcAft>
              <a:buClr>
                <a:schemeClr val="dk1"/>
              </a:buClr>
              <a:buSzPts val="2400"/>
              <a:buFont typeface="Open Sans"/>
              <a:buAutoNum type="arabicPeriod"/>
            </a:pPr>
            <a:r>
              <a:rPr lang="en" sz="2400" i="0" u="none" strike="noStrike" cap="none" dirty="0">
                <a:solidFill>
                  <a:schemeClr val="dk1"/>
                </a:solidFill>
                <a:latin typeface="Open Sans"/>
                <a:ea typeface="Open Sans"/>
                <a:cs typeface="Open Sans"/>
                <a:sym typeface="Open Sans"/>
              </a:rPr>
              <a:t>What aspects of your identity do you keep private in order to be accepted? What aspects of your identity are you willing to change to fit in?</a:t>
            </a:r>
            <a:endParaRPr sz="2400" dirty="0">
              <a:latin typeface="Open Sans"/>
              <a:ea typeface="Open Sans"/>
              <a:cs typeface="Open Sans"/>
              <a:sym typeface="Open Sans"/>
            </a:endParaRPr>
          </a:p>
        </p:txBody>
      </p:sp>
      <p:sp>
        <p:nvSpPr>
          <p:cNvPr id="199" name="Google Shape;199;p26"/>
          <p:cNvSpPr txBox="1"/>
          <p:nvPr/>
        </p:nvSpPr>
        <p:spPr>
          <a:xfrm>
            <a:off x="9112500" y="2133000"/>
            <a:ext cx="7333200" cy="8556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endParaRPr/>
          </a:p>
        </p:txBody>
      </p:sp>
      <p:pic>
        <p:nvPicPr>
          <p:cNvPr id="200" name="Google Shape;200;p26"/>
          <p:cNvPicPr preferRelativeResize="0"/>
          <p:nvPr/>
        </p:nvPicPr>
        <p:blipFill>
          <a:blip r:embed="rId3">
            <a:alphaModFix/>
          </a:blip>
          <a:stretch>
            <a:fillRect/>
          </a:stretch>
        </p:blipFill>
        <p:spPr>
          <a:xfrm>
            <a:off x="228600" y="228600"/>
            <a:ext cx="1413977" cy="141397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AEBC"/>
        </a:solidFill>
        <a:effectLst/>
      </p:bgPr>
    </p:bg>
    <p:spTree>
      <p:nvGrpSpPr>
        <p:cNvPr id="1" name="Shape 204"/>
        <p:cNvGrpSpPr/>
        <p:nvPr/>
      </p:nvGrpSpPr>
      <p:grpSpPr>
        <a:xfrm>
          <a:off x="0" y="0"/>
          <a:ext cx="0" cy="0"/>
          <a:chOff x="0" y="0"/>
          <a:chExt cx="0" cy="0"/>
        </a:xfrm>
      </p:grpSpPr>
      <p:pic>
        <p:nvPicPr>
          <p:cNvPr id="205" name="Google Shape;205;p27"/>
          <p:cNvPicPr preferRelativeResize="0"/>
          <p:nvPr/>
        </p:nvPicPr>
        <p:blipFill rotWithShape="1">
          <a:blip r:embed="rId3">
            <a:alphaModFix/>
          </a:blip>
          <a:srcRect t="83138"/>
          <a:stretch/>
        </p:blipFill>
        <p:spPr>
          <a:xfrm>
            <a:off x="629875" y="2794625"/>
            <a:ext cx="8098000" cy="708375"/>
          </a:xfrm>
          <a:prstGeom prst="rect">
            <a:avLst/>
          </a:prstGeom>
          <a:noFill/>
          <a:ln>
            <a:noFill/>
          </a:ln>
        </p:spPr>
      </p:pic>
      <p:sp>
        <p:nvSpPr>
          <p:cNvPr id="206" name="Google Shape;206;p27"/>
          <p:cNvSpPr txBox="1"/>
          <p:nvPr/>
        </p:nvSpPr>
        <p:spPr>
          <a:xfrm>
            <a:off x="2769900" y="6117925"/>
            <a:ext cx="4009200" cy="5427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r>
              <a:rPr lang="en" sz="1800">
                <a:solidFill>
                  <a:srgbClr val="FFFFFF"/>
                </a:solidFill>
                <a:latin typeface="Open Sans"/>
                <a:ea typeface="Open Sans"/>
                <a:cs typeface="Open Sans"/>
                <a:sym typeface="Open Sans"/>
              </a:rPr>
              <a:t>@facinghistory | facinghistory.org</a:t>
            </a:r>
            <a:endParaRPr sz="1800">
              <a:solidFill>
                <a:srgbClr val="FFFFFF"/>
              </a:solidFill>
              <a:latin typeface="Open Sans"/>
              <a:ea typeface="Open Sans"/>
              <a:cs typeface="Open Sans"/>
              <a:sym typeface="Open Sans"/>
            </a:endParaRPr>
          </a:p>
        </p:txBody>
      </p:sp>
      <p:pic>
        <p:nvPicPr>
          <p:cNvPr id="207" name="Google Shape;207;p27"/>
          <p:cNvPicPr preferRelativeResize="0"/>
          <p:nvPr/>
        </p:nvPicPr>
        <p:blipFill>
          <a:blip r:embed="rId4">
            <a:alphaModFix/>
          </a:blip>
          <a:stretch>
            <a:fillRect/>
          </a:stretch>
        </p:blipFill>
        <p:spPr>
          <a:xfrm>
            <a:off x="3453675" y="5480700"/>
            <a:ext cx="542700" cy="542700"/>
          </a:xfrm>
          <a:prstGeom prst="rect">
            <a:avLst/>
          </a:prstGeom>
          <a:noFill/>
          <a:ln>
            <a:noFill/>
          </a:ln>
        </p:spPr>
      </p:pic>
      <p:pic>
        <p:nvPicPr>
          <p:cNvPr id="208" name="Google Shape;208;p27"/>
          <p:cNvPicPr preferRelativeResize="0"/>
          <p:nvPr/>
        </p:nvPicPr>
        <p:blipFill>
          <a:blip r:embed="rId5">
            <a:alphaModFix/>
          </a:blip>
          <a:stretch>
            <a:fillRect/>
          </a:stretch>
        </p:blipFill>
        <p:spPr>
          <a:xfrm>
            <a:off x="4174550" y="5480700"/>
            <a:ext cx="542700" cy="542700"/>
          </a:xfrm>
          <a:prstGeom prst="rect">
            <a:avLst/>
          </a:prstGeom>
          <a:noFill/>
          <a:ln>
            <a:noFill/>
          </a:ln>
        </p:spPr>
      </p:pic>
      <p:pic>
        <p:nvPicPr>
          <p:cNvPr id="209" name="Google Shape;209;p27"/>
          <p:cNvPicPr preferRelativeResize="0"/>
          <p:nvPr/>
        </p:nvPicPr>
        <p:blipFill>
          <a:blip r:embed="rId6">
            <a:alphaModFix/>
          </a:blip>
          <a:stretch>
            <a:fillRect/>
          </a:stretch>
        </p:blipFill>
        <p:spPr>
          <a:xfrm>
            <a:off x="4875962" y="5480688"/>
            <a:ext cx="542700" cy="542723"/>
          </a:xfrm>
          <a:prstGeom prst="rect">
            <a:avLst/>
          </a:prstGeom>
          <a:noFill/>
          <a:ln>
            <a:noFill/>
          </a:ln>
        </p:spPr>
      </p:pic>
      <p:pic>
        <p:nvPicPr>
          <p:cNvPr id="210" name="Google Shape;210;p27"/>
          <p:cNvPicPr preferRelativeResize="0"/>
          <p:nvPr/>
        </p:nvPicPr>
        <p:blipFill>
          <a:blip r:embed="rId7">
            <a:alphaModFix/>
          </a:blip>
          <a:stretch>
            <a:fillRect/>
          </a:stretch>
        </p:blipFill>
        <p:spPr>
          <a:xfrm>
            <a:off x="5577350" y="5480703"/>
            <a:ext cx="542700" cy="542700"/>
          </a:xfrm>
          <a:prstGeom prst="rect">
            <a:avLst/>
          </a:prstGeom>
          <a:noFill/>
          <a:ln>
            <a:noFill/>
          </a:ln>
        </p:spPr>
      </p:pic>
      <p:pic>
        <p:nvPicPr>
          <p:cNvPr id="9" name="Picture 8" descr="A picture containing text, clipart&#10;&#10;Description automatically generated">
            <a:extLst>
              <a:ext uri="{FF2B5EF4-FFF2-40B4-BE49-F238E27FC236}">
                <a16:creationId xmlns:a16="http://schemas.microsoft.com/office/drawing/2014/main" id="{AB87DA31-CBD9-D647-96FC-844B32F69254}"/>
              </a:ext>
            </a:extLst>
          </p:cNvPr>
          <p:cNvPicPr>
            <a:picLocks noChangeAspect="1"/>
          </p:cNvPicPr>
          <p:nvPr/>
        </p:nvPicPr>
        <p:blipFill>
          <a:blip r:embed="rId8"/>
          <a:stretch>
            <a:fillRect/>
          </a:stretch>
        </p:blipFill>
        <p:spPr>
          <a:xfrm>
            <a:off x="2620875" y="482457"/>
            <a:ext cx="3608516" cy="11049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1395</Words>
  <Application>Microsoft Macintosh PowerPoint</Application>
  <PresentationFormat>On-screen Show (4:3)</PresentationFormat>
  <Paragraphs>96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Arial</vt:lpstr>
      <vt:lpstr>Open Sans</vt:lpstr>
      <vt:lpstr>Office Theme</vt:lpstr>
      <vt:lpstr>PowerPoint Presentation</vt:lpstr>
      <vt:lpstr>Getting Started: Notes to Teachers</vt:lpstr>
      <vt:lpstr>Understanding Identity</vt:lpstr>
      <vt:lpstr>PowerPoint Presentation</vt:lpstr>
      <vt:lpstr>Let’s start by thinking about identity . . .</vt:lpstr>
      <vt:lpstr>PowerPoint Presentation</vt:lpstr>
      <vt:lpstr>PowerPoint Presentation</vt:lpstr>
      <vt:lpstr>PowerPoint Presentation</vt:lpstr>
      <vt:lpstr>The Bear That Wasn’t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Alissa Parra</dc:creator>
  <cp:lastModifiedBy>Sol Nova</cp:lastModifiedBy>
  <cp:revision>11</cp:revision>
  <dcterms:modified xsi:type="dcterms:W3CDTF">2022-03-31T17:46:28Z</dcterms:modified>
</cp:coreProperties>
</file>
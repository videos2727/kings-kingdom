
<file path=[Content_Types].xml><?xml version="1.0" encoding="utf-8"?>
<Types xmlns="http://schemas.openxmlformats.org/package/2006/content-types">
  <Default Extension="bin" ContentType="application/vnd.ms-office.activeX"/>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ctiveX/activeX1.xml" ContentType="application/vnd.ms-office.activeX+xml"/>
  <Override PartName="/ppt/activeX/activeX2.xml" ContentType="application/vnd.ms-office.activeX+xml"/>
  <Override PartName="/ppt/activeX/activeX3.xml" ContentType="application/vnd.ms-office.activeX+xml"/>
  <Override PartName="/ppt/activeX/activeX4.xml" ContentType="application/vnd.ms-office.activeX+xml"/>
  <Override PartName="/ppt/activeX/activeX5.xml" ContentType="application/vnd.ms-office.activeX+xml"/>
  <Override PartName="/ppt/activeX/activeX6.xml" ContentType="application/vnd.ms-office.activeX+xml"/>
  <Override PartName="/ppt/activeX/activeX7.xml" ContentType="application/vnd.ms-office.activeX+xml"/>
  <Override PartName="/ppt/activeX/activeX8.xml" ContentType="application/vnd.ms-office.activeX+xml"/>
  <Override PartName="/ppt/activeX/activeX9.xml" ContentType="application/vnd.ms-office.activeX+xml"/>
  <Override PartName="/ppt/activeX/activeX10.xml" ContentType="application/vnd.ms-office.activeX+xml"/>
  <Override PartName="/ppt/activeX/activeX11.xml" ContentType="application/vnd.ms-office.activeX+xml"/>
  <Override PartName="/ppt/activeX/activeX12.xml" ContentType="application/vnd.ms-office.activeX+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1"/>
  </p:notesMasterIdLst>
  <p:sldIdLst>
    <p:sldId id="256" r:id="rId2"/>
    <p:sldId id="257" r:id="rId3"/>
    <p:sldId id="285" r:id="rId4"/>
    <p:sldId id="286" r:id="rId5"/>
    <p:sldId id="287" r:id="rId6"/>
    <p:sldId id="288" r:id="rId7"/>
    <p:sldId id="289" r:id="rId8"/>
    <p:sldId id="290" r:id="rId9"/>
    <p:sldId id="293" r:id="rId10"/>
    <p:sldId id="291" r:id="rId11"/>
    <p:sldId id="258" r:id="rId12"/>
    <p:sldId id="303" r:id="rId13"/>
    <p:sldId id="259" r:id="rId14"/>
    <p:sldId id="260" r:id="rId15"/>
    <p:sldId id="261" r:id="rId16"/>
    <p:sldId id="268" r:id="rId17"/>
    <p:sldId id="262" r:id="rId18"/>
    <p:sldId id="263" r:id="rId19"/>
    <p:sldId id="269" r:id="rId20"/>
    <p:sldId id="264" r:id="rId21"/>
    <p:sldId id="265" r:id="rId22"/>
    <p:sldId id="270" r:id="rId23"/>
    <p:sldId id="266" r:id="rId24"/>
    <p:sldId id="267" r:id="rId25"/>
    <p:sldId id="271" r:id="rId26"/>
    <p:sldId id="272" r:id="rId27"/>
    <p:sldId id="273" r:id="rId28"/>
    <p:sldId id="295" r:id="rId29"/>
    <p:sldId id="296" r:id="rId30"/>
    <p:sldId id="274" r:id="rId31"/>
    <p:sldId id="275" r:id="rId32"/>
    <p:sldId id="276" r:id="rId33"/>
    <p:sldId id="277" r:id="rId34"/>
    <p:sldId id="278" r:id="rId35"/>
    <p:sldId id="279" r:id="rId36"/>
    <p:sldId id="280" r:id="rId37"/>
    <p:sldId id="281" r:id="rId38"/>
    <p:sldId id="282" r:id="rId39"/>
    <p:sldId id="284" r:id="rId40"/>
    <p:sldId id="283" r:id="rId41"/>
    <p:sldId id="302" r:id="rId42"/>
    <p:sldId id="292" r:id="rId43"/>
    <p:sldId id="294" r:id="rId44"/>
    <p:sldId id="297" r:id="rId45"/>
    <p:sldId id="298" r:id="rId46"/>
    <p:sldId id="299" r:id="rId47"/>
    <p:sldId id="300" r:id="rId48"/>
    <p:sldId id="301"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5" autoAdjust="0"/>
    <p:restoredTop sz="89610" autoAdjust="0"/>
  </p:normalViewPr>
  <p:slideViewPr>
    <p:cSldViewPr snapToGrid="0">
      <p:cViewPr varScale="1">
        <p:scale>
          <a:sx n="64" d="100"/>
          <a:sy n="64" d="100"/>
        </p:scale>
        <p:origin x="26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_rels/activeX11.xml.rels><?xml version="1.0" encoding="UTF-8" standalone="yes"?>
<Relationships xmlns="http://schemas.openxmlformats.org/package/2006/relationships"><Relationship Id="rId1" Type="http://schemas.microsoft.com/office/2006/relationships/activeXControlBinary" Target="activeX11.bin"/></Relationships>
</file>

<file path=ppt/activeX/_rels/activeX12.xml.rels><?xml version="1.0" encoding="UTF-8" standalone="yes"?>
<Relationships xmlns="http://schemas.openxmlformats.org/package/2006/relationships"><Relationship Id="rId1" Type="http://schemas.microsoft.com/office/2006/relationships/activeXControlBinary" Target="activeX12.bin"/></Relationships>
</file>

<file path=ppt/activeX/activeX1.xml><?xml version="1.0" encoding="utf-8"?>
<ax:ocx xmlns:ax="http://schemas.microsoft.com/office/2006/activeX" xmlns:r="http://schemas.openxmlformats.org/officeDocument/2006/relationships" ax:classid="{5512D118-5CC6-11CF-8D67-00AA00BDCE1D}" ax:persistence="persistStream" r:id="rId1"/>
</file>

<file path=ppt/activeX/activeX2.xml><?xml version="1.0" encoding="utf-8"?>
<ax:ocx xmlns:ax="http://schemas.microsoft.com/office/2006/activeX" xmlns:r="http://schemas.openxmlformats.org/officeDocument/2006/relationships" ax:classid="{5512D118-5CC6-11CF-8D67-00AA00BDCE1D}" ax:persistence="persistStream" r:id="rId1"/>
</file>

<file path=ppt/activeX/activeX3.xml><?xml version="1.0" encoding="utf-8"?>
<ax:ocx xmlns:ax="http://schemas.microsoft.com/office/2006/activeX" xmlns:r="http://schemas.openxmlformats.org/officeDocument/2006/relationships" ax:classid="{5512D118-5CC6-11CF-8D67-00AA00BDCE1D}" ax:persistence="persistStream" r:id="rId1"/>
</file>

<file path=ppt/activeX/activeX4.xml><?xml version="1.0" encoding="utf-8"?>
<ax:ocx xmlns:ax="http://schemas.microsoft.com/office/2006/activeX" xmlns:r="http://schemas.openxmlformats.org/officeDocument/2006/relationships" ax:classid="{5512D118-5CC6-11CF-8D67-00AA00BDCE1D}" ax:persistence="persistStream" r:id="rId1"/>
</file>

<file path=ppt/activeX/activeX5.xml><?xml version="1.0" encoding="utf-8"?>
<ax:ocx xmlns:ax="http://schemas.microsoft.com/office/2006/activeX" xmlns:r="http://schemas.openxmlformats.org/officeDocument/2006/relationships" ax:classid="{5512D118-5CC6-11CF-8D67-00AA00BDCE1D}" ax:persistence="persistStream" r:id="rId1"/>
</file>

<file path=ppt/activeX/activeX6.xml><?xml version="1.0" encoding="utf-8"?>
<ax:ocx xmlns:ax="http://schemas.microsoft.com/office/2006/activeX" xmlns:r="http://schemas.openxmlformats.org/officeDocument/2006/relationships" ax:classid="{5512D118-5CC6-11CF-8D67-00AA00BDCE1D}" ax:persistence="persistStream" r:id="rId1"/>
</file>

<file path=ppt/activeX/activeX7.xml><?xml version="1.0" encoding="utf-8"?>
<ax:ocx xmlns:ax="http://schemas.microsoft.com/office/2006/activeX" xmlns:r="http://schemas.openxmlformats.org/officeDocument/2006/relationships" ax:classid="{5512D118-5CC6-11CF-8D67-00AA00BDCE1D}" ax:persistence="persistStream" r:id="rId1"/>
</file>

<file path=ppt/activeX/activeX8.xml><?xml version="1.0" encoding="utf-8"?>
<ax:ocx xmlns:ax="http://schemas.microsoft.com/office/2006/activeX" xmlns:r="http://schemas.openxmlformats.org/officeDocument/2006/relationships" ax:classid="{5512D118-5CC6-11CF-8D67-00AA00BDCE1D}" ax:persistence="persistStream" r:id="rId1"/>
</file>

<file path=ppt/activeX/activeX9.xml><?xml version="1.0" encoding="utf-8"?>
<ax:ocx xmlns:ax="http://schemas.microsoft.com/office/2006/activeX" xmlns:r="http://schemas.openxmlformats.org/officeDocument/2006/relationships" ax:classid="{5512D118-5CC6-11CF-8D67-00AA00BDCE1D}" ax:persistence="persistStream" r:id="rId1"/>
</file>

<file path=ppt/activeX/activeX10.xml><?xml version="1.0" encoding="utf-8"?>
<ax:ocx xmlns:ax="http://schemas.microsoft.com/office/2006/activeX" xmlns:r="http://schemas.openxmlformats.org/officeDocument/2006/relationships" ax:classid="{5512D118-5CC6-11CF-8D67-00AA00BDCE1D}" ax:persistence="persistStream" r:id="rId1"/>
</file>

<file path=ppt/activeX/activeX11.xml><?xml version="1.0" encoding="utf-8"?>
<ax:ocx xmlns:ax="http://schemas.microsoft.com/office/2006/activeX" xmlns:r="http://schemas.openxmlformats.org/officeDocument/2006/relationships" ax:classid="{5512D118-5CC6-11CF-8D67-00AA00BDCE1D}" ax:persistence="persistStream" r:id="rId1"/>
</file>

<file path=ppt/activeX/activeX12.xml><?xml version="1.0" encoding="utf-8"?>
<ax:ocx xmlns:ax="http://schemas.microsoft.com/office/2006/activeX" xmlns:r="http://schemas.openxmlformats.org/officeDocument/2006/relationships" ax:classid="{5512D118-5CC6-11CF-8D67-00AA00BDCE1D}" ax:persistence="persistStream" r:id="rId1"/>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5470D4-55D5-4100-861E-01155ABB89F9}" type="datetimeFigureOut">
              <a:rPr lang="en-AU" smtClean="0"/>
              <a:t>18/11/2020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9B74B6-C8FE-4D9E-A0B1-649E6B0CE0AF}" type="slidenum">
              <a:rPr lang="en-AU" smtClean="0"/>
              <a:t>‹#›</a:t>
            </a:fld>
            <a:endParaRPr lang="en-AU"/>
          </a:p>
        </p:txBody>
      </p:sp>
    </p:spTree>
    <p:extLst>
      <p:ext uri="{BB962C8B-B14F-4D97-AF65-F5344CB8AC3E}">
        <p14:creationId xmlns:p14="http://schemas.microsoft.com/office/powerpoint/2010/main" val="3502838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Lawgovpol.com</a:t>
            </a:r>
          </a:p>
        </p:txBody>
      </p:sp>
      <p:sp>
        <p:nvSpPr>
          <p:cNvPr id="4" name="Slide Number Placeholder 3"/>
          <p:cNvSpPr>
            <a:spLocks noGrp="1"/>
          </p:cNvSpPr>
          <p:nvPr>
            <p:ph type="sldNum" sz="quarter" idx="5"/>
          </p:nvPr>
        </p:nvSpPr>
        <p:spPr/>
        <p:txBody>
          <a:bodyPr/>
          <a:lstStyle/>
          <a:p>
            <a:fld id="{3B9B74B6-C8FE-4D9E-A0B1-649E6B0CE0AF}" type="slidenum">
              <a:rPr lang="en-AU" smtClean="0"/>
              <a:t>13</a:t>
            </a:fld>
            <a:endParaRPr lang="en-AU"/>
          </a:p>
        </p:txBody>
      </p:sp>
    </p:spTree>
    <p:extLst>
      <p:ext uri="{BB962C8B-B14F-4D97-AF65-F5344CB8AC3E}">
        <p14:creationId xmlns:p14="http://schemas.microsoft.com/office/powerpoint/2010/main" val="925516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9B74B6-C8FE-4D9E-A0B1-649E6B0CE0AF}" type="slidenum">
              <a:rPr lang="en-AU" smtClean="0"/>
              <a:t>14</a:t>
            </a:fld>
            <a:endParaRPr lang="en-AU"/>
          </a:p>
        </p:txBody>
      </p:sp>
    </p:spTree>
    <p:extLst>
      <p:ext uri="{BB962C8B-B14F-4D97-AF65-F5344CB8AC3E}">
        <p14:creationId xmlns:p14="http://schemas.microsoft.com/office/powerpoint/2010/main" val="2171521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and text sourced from https://unistuff977075235.wordpress.com/</a:t>
            </a:r>
          </a:p>
        </p:txBody>
      </p:sp>
      <p:sp>
        <p:nvSpPr>
          <p:cNvPr id="4" name="Slide Number Placeholder 3"/>
          <p:cNvSpPr>
            <a:spLocks noGrp="1"/>
          </p:cNvSpPr>
          <p:nvPr>
            <p:ph type="sldNum" sz="quarter" idx="5"/>
          </p:nvPr>
        </p:nvSpPr>
        <p:spPr/>
        <p:txBody>
          <a:bodyPr/>
          <a:lstStyle/>
          <a:p>
            <a:fld id="{3B9B74B6-C8FE-4D9E-A0B1-649E6B0CE0AF}" type="slidenum">
              <a:rPr lang="en-AU" smtClean="0"/>
              <a:t>30</a:t>
            </a:fld>
            <a:endParaRPr lang="en-AU"/>
          </a:p>
        </p:txBody>
      </p:sp>
    </p:spTree>
    <p:extLst>
      <p:ext uri="{BB962C8B-B14F-4D97-AF65-F5344CB8AC3E}">
        <p14:creationId xmlns:p14="http://schemas.microsoft.com/office/powerpoint/2010/main" val="8122913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2AC24A9-CCB6-4F8D-B8DB-C2F3692CFA5A}" type="datetimeFigureOut">
              <a:rPr lang="en-US" smtClean="0"/>
              <a:t>11/18/2020</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428232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330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0762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98658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11/18/2020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50967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11/18/2020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57974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11/18/2020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80648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11/18/2020</a:t>
            </a:fld>
            <a:endParaRPr lang="en-US" dirty="0"/>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4845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7105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7894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3384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69836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92064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AC24A9-CCB6-4F8D-B8DB-C2F3692CFA5A}" type="datetimeFigureOut">
              <a:rPr lang="en-US" smtClean="0"/>
              <a:t>11/18/2020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5902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AC24A9-CCB6-4F8D-B8DB-C2F3692CFA5A}" type="datetimeFigureOut">
              <a:rPr lang="en-US" smtClean="0"/>
              <a:t>11/18/2020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92376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40365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2AC24A9-CCB6-4F8D-B8DB-C2F3692CFA5A}"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74001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2AC24A9-CCB6-4F8D-B8DB-C2F3692CFA5A}" type="datetimeFigureOut">
              <a:rPr lang="en-US" smtClean="0"/>
              <a:t>11/18/2020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1097862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QSA1Q422r-8"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control" Target="../activeX/activeX2.xml"/><Relationship Id="rId7" Type="http://schemas.openxmlformats.org/officeDocument/2006/relationships/image" Target="../media/image11.wmf"/><Relationship Id="rId2" Type="http://schemas.openxmlformats.org/officeDocument/2006/relationships/control" Target="../activeX/activeX1.xml"/><Relationship Id="rId1"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control" Target="../activeX/activeX4.xml"/><Relationship Id="rId4" Type="http://schemas.openxmlformats.org/officeDocument/2006/relationships/control" Target="../activeX/activeX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ontrol" Target="../activeX/activeX6.xml"/><Relationship Id="rId7" Type="http://schemas.openxmlformats.org/officeDocument/2006/relationships/image" Target="../media/image11.wmf"/><Relationship Id="rId2" Type="http://schemas.openxmlformats.org/officeDocument/2006/relationships/control" Target="../activeX/activeX5.xml"/><Relationship Id="rId1"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control" Target="../activeX/activeX8.xml"/><Relationship Id="rId4" Type="http://schemas.openxmlformats.org/officeDocument/2006/relationships/control" Target="../activeX/activeX7.xml"/></Relationships>
</file>

<file path=ppt/slides/_rels/slide36.xml.rels><?xml version="1.0" encoding="UTF-8" standalone="yes"?>
<Relationships xmlns="http://schemas.openxmlformats.org/package/2006/relationships"><Relationship Id="rId3" Type="http://schemas.openxmlformats.org/officeDocument/2006/relationships/control" Target="../activeX/activeX10.xml"/><Relationship Id="rId7" Type="http://schemas.openxmlformats.org/officeDocument/2006/relationships/image" Target="../media/image11.wmf"/><Relationship Id="rId2" Type="http://schemas.openxmlformats.org/officeDocument/2006/relationships/control" Target="../activeX/activeX9.xml"/><Relationship Id="rId1"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control" Target="../activeX/activeX12.xml"/><Relationship Id="rId4" Type="http://schemas.openxmlformats.org/officeDocument/2006/relationships/control" Target="../activeX/activeX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S2ztJBShamc"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6F6A-C009-4993-8F3D-F2AB9F0FC02A}"/>
              </a:ext>
            </a:extLst>
          </p:cNvPr>
          <p:cNvSpPr>
            <a:spLocks noGrp="1"/>
          </p:cNvSpPr>
          <p:nvPr>
            <p:ph type="ctrTitle"/>
          </p:nvPr>
        </p:nvSpPr>
        <p:spPr>
          <a:xfrm>
            <a:off x="7848600" y="1122363"/>
            <a:ext cx="3977640" cy="3204134"/>
          </a:xfrm>
        </p:spPr>
        <p:txBody>
          <a:bodyPr anchor="b">
            <a:normAutofit/>
          </a:bodyPr>
          <a:lstStyle/>
          <a:p>
            <a:r>
              <a:rPr lang="en-AU" sz="4800" dirty="0"/>
              <a:t>Doctrine of Precedent</a:t>
            </a:r>
          </a:p>
        </p:txBody>
      </p:sp>
      <p:pic>
        <p:nvPicPr>
          <p:cNvPr id="15" name="Picture 3" descr="A close up of a building&#10;&#10;Description automatically generated">
            <a:extLst>
              <a:ext uri="{FF2B5EF4-FFF2-40B4-BE49-F238E27FC236}">
                <a16:creationId xmlns:a16="http://schemas.microsoft.com/office/drawing/2014/main" id="{FAC186CF-2B33-48B4-AD35-994AAF13A18F}"/>
              </a:ext>
            </a:extLst>
          </p:cNvPr>
          <p:cNvPicPr>
            <a:picLocks noChangeAspect="1"/>
          </p:cNvPicPr>
          <p:nvPr/>
        </p:nvPicPr>
        <p:blipFill rotWithShape="1">
          <a:blip r:embed="rId2"/>
          <a:srcRect l="12602" r="14951" b="-1"/>
          <a:stretch/>
        </p:blipFill>
        <p:spPr>
          <a:xfrm>
            <a:off x="20" y="10"/>
            <a:ext cx="7443196" cy="6857990"/>
          </a:xfrm>
          <a:prstGeom prst="rect">
            <a:avLst/>
          </a:prstGeom>
        </p:spPr>
      </p:pic>
    </p:spTree>
    <p:extLst>
      <p:ext uri="{BB962C8B-B14F-4D97-AF65-F5344CB8AC3E}">
        <p14:creationId xmlns:p14="http://schemas.microsoft.com/office/powerpoint/2010/main" val="3842678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7322-0DDB-4201-8C0A-2FF82267D932}"/>
              </a:ext>
            </a:extLst>
          </p:cNvPr>
          <p:cNvSpPr>
            <a:spLocks noGrp="1"/>
          </p:cNvSpPr>
          <p:nvPr>
            <p:ph type="title"/>
          </p:nvPr>
        </p:nvSpPr>
        <p:spPr>
          <a:xfrm>
            <a:off x="1115568" y="548640"/>
            <a:ext cx="4607315" cy="1179576"/>
          </a:xfrm>
        </p:spPr>
        <p:txBody>
          <a:bodyPr>
            <a:normAutofit/>
          </a:bodyPr>
          <a:lstStyle/>
          <a:p>
            <a:r>
              <a:rPr lang="en-AU" dirty="0"/>
              <a:t>Learning Intentions</a:t>
            </a:r>
          </a:p>
        </p:txBody>
      </p:sp>
      <p:sp>
        <p:nvSpPr>
          <p:cNvPr id="3" name="Content Placeholder 2">
            <a:extLst>
              <a:ext uri="{FF2B5EF4-FFF2-40B4-BE49-F238E27FC236}">
                <a16:creationId xmlns:a16="http://schemas.microsoft.com/office/drawing/2014/main" id="{C3BBC386-E5D3-4FE7-AEDB-A462A7EEF9F9}"/>
              </a:ext>
            </a:extLst>
          </p:cNvPr>
          <p:cNvSpPr>
            <a:spLocks noGrp="1"/>
          </p:cNvSpPr>
          <p:nvPr>
            <p:ph idx="1"/>
          </p:nvPr>
        </p:nvSpPr>
        <p:spPr>
          <a:xfrm>
            <a:off x="1115568" y="2478024"/>
            <a:ext cx="4607315" cy="3694176"/>
          </a:xfrm>
        </p:spPr>
        <p:txBody>
          <a:bodyPr>
            <a:normAutofit/>
          </a:bodyPr>
          <a:lstStyle/>
          <a:p>
            <a:r>
              <a:rPr lang="en-US" sz="3600" dirty="0"/>
              <a:t>Define the terms "precedent"</a:t>
            </a:r>
          </a:p>
          <a:p>
            <a:r>
              <a:rPr lang="en-US" sz="3600" dirty="0"/>
              <a:t>Explain why precedent are important</a:t>
            </a:r>
            <a:endParaRPr lang="en-AU" sz="3600" dirty="0"/>
          </a:p>
        </p:txBody>
      </p:sp>
      <p:sp>
        <p:nvSpPr>
          <p:cNvPr id="4" name="Title 1">
            <a:extLst>
              <a:ext uri="{FF2B5EF4-FFF2-40B4-BE49-F238E27FC236}">
                <a16:creationId xmlns:a16="http://schemas.microsoft.com/office/drawing/2014/main" id="{18E3A266-85D5-4748-B408-73961444BBD8}"/>
              </a:ext>
            </a:extLst>
          </p:cNvPr>
          <p:cNvSpPr txBox="1">
            <a:spLocks/>
          </p:cNvSpPr>
          <p:nvPr/>
        </p:nvSpPr>
        <p:spPr>
          <a:xfrm>
            <a:off x="6469119" y="548640"/>
            <a:ext cx="4607315" cy="117957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AU" sz="3600" dirty="0">
                <a:solidFill>
                  <a:schemeClr val="bg1"/>
                </a:solidFill>
              </a:rPr>
              <a:t>Success Criteria</a:t>
            </a:r>
          </a:p>
        </p:txBody>
      </p:sp>
      <p:sp>
        <p:nvSpPr>
          <p:cNvPr id="5" name="TextBox 4">
            <a:extLst>
              <a:ext uri="{FF2B5EF4-FFF2-40B4-BE49-F238E27FC236}">
                <a16:creationId xmlns:a16="http://schemas.microsoft.com/office/drawing/2014/main" id="{A7BAAC29-04C4-48F0-B2DD-1DDB52082B65}"/>
              </a:ext>
            </a:extLst>
          </p:cNvPr>
          <p:cNvSpPr txBox="1"/>
          <p:nvPr/>
        </p:nvSpPr>
        <p:spPr>
          <a:xfrm>
            <a:off x="6730584" y="2478024"/>
            <a:ext cx="4345848" cy="4401205"/>
          </a:xfrm>
          <a:prstGeom prst="rect">
            <a:avLst/>
          </a:prstGeom>
          <a:noFill/>
        </p:spPr>
        <p:txBody>
          <a:bodyPr wrap="square" rtlCol="0">
            <a:spAutoFit/>
          </a:bodyPr>
          <a:lstStyle/>
          <a:p>
            <a:r>
              <a:rPr lang="en-AU" sz="2800" dirty="0"/>
              <a:t>I can….</a:t>
            </a:r>
          </a:p>
          <a:p>
            <a:pPr marL="285750" indent="-285750">
              <a:buFont typeface="Wingdings" panose="05000000000000000000" pitchFamily="2" charset="2"/>
              <a:buChar char="Ø"/>
            </a:pPr>
            <a:r>
              <a:rPr lang="en-AU" sz="2800" dirty="0"/>
              <a:t>Define the term precedent.</a:t>
            </a:r>
          </a:p>
          <a:p>
            <a:pPr marL="285750" indent="-285750">
              <a:buFont typeface="Wingdings" panose="05000000000000000000" pitchFamily="2" charset="2"/>
              <a:buChar char="Ø"/>
            </a:pPr>
            <a:r>
              <a:rPr lang="en-AU" sz="2800" dirty="0"/>
              <a:t>Explain why precedents are important</a:t>
            </a:r>
          </a:p>
          <a:p>
            <a:pPr marL="285750" indent="-285750">
              <a:buFont typeface="Wingdings" panose="05000000000000000000" pitchFamily="2" charset="2"/>
              <a:buChar char="Ø"/>
            </a:pPr>
            <a:r>
              <a:rPr lang="en-AU" sz="2800" dirty="0"/>
              <a:t>Explain the advantages and disadvantages of precedents</a:t>
            </a:r>
          </a:p>
        </p:txBody>
      </p:sp>
    </p:spTree>
    <p:extLst>
      <p:ext uri="{BB962C8B-B14F-4D97-AF65-F5344CB8AC3E}">
        <p14:creationId xmlns:p14="http://schemas.microsoft.com/office/powerpoint/2010/main" val="1515169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CAAFFF-B360-42E5-A469-0445DE87F8D7}"/>
              </a:ext>
            </a:extLst>
          </p:cNvPr>
          <p:cNvSpPr>
            <a:spLocks noGrp="1"/>
          </p:cNvSpPr>
          <p:nvPr>
            <p:ph idx="1"/>
          </p:nvPr>
        </p:nvSpPr>
        <p:spPr>
          <a:xfrm>
            <a:off x="1011936" y="2283152"/>
            <a:ext cx="10168128" cy="5361832"/>
          </a:xfrm>
        </p:spPr>
        <p:txBody>
          <a:bodyPr>
            <a:normAutofit/>
          </a:bodyPr>
          <a:lstStyle/>
          <a:p>
            <a:r>
              <a:rPr lang="en-US" sz="3600" dirty="0"/>
              <a:t>Think quietly to yourself, of a time when a parent, guardian, or teacher made a decision about something they did, based on a similar situation in the past.</a:t>
            </a:r>
          </a:p>
          <a:p>
            <a:r>
              <a:rPr lang="en-US" sz="3600" dirty="0"/>
              <a:t>Now, thinking quietly about the answer to these questions: Was his or her decision fair? Why or why not?</a:t>
            </a:r>
            <a:endParaRPr lang="en-AU" sz="3600" dirty="0"/>
          </a:p>
        </p:txBody>
      </p:sp>
    </p:spTree>
    <p:extLst>
      <p:ext uri="{BB962C8B-B14F-4D97-AF65-F5344CB8AC3E}">
        <p14:creationId xmlns:p14="http://schemas.microsoft.com/office/powerpoint/2010/main" val="156436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F59CE-8A77-4F48-AA04-0FC195AE0A8D}"/>
              </a:ext>
            </a:extLst>
          </p:cNvPr>
          <p:cNvSpPr>
            <a:spLocks noGrp="1"/>
          </p:cNvSpPr>
          <p:nvPr>
            <p:ph type="title"/>
          </p:nvPr>
        </p:nvSpPr>
        <p:spPr/>
        <p:txBody>
          <a:bodyPr/>
          <a:lstStyle/>
          <a:p>
            <a:r>
              <a:rPr lang="en-AU" dirty="0"/>
              <a:t>Hmm… how about these examples</a:t>
            </a:r>
          </a:p>
        </p:txBody>
      </p:sp>
      <p:sp>
        <p:nvSpPr>
          <p:cNvPr id="3" name="Content Placeholder 2">
            <a:extLst>
              <a:ext uri="{FF2B5EF4-FFF2-40B4-BE49-F238E27FC236}">
                <a16:creationId xmlns:a16="http://schemas.microsoft.com/office/drawing/2014/main" id="{61E5A9D3-9F19-4B3F-AE62-45164D6B28C3}"/>
              </a:ext>
            </a:extLst>
          </p:cNvPr>
          <p:cNvSpPr>
            <a:spLocks noGrp="1"/>
          </p:cNvSpPr>
          <p:nvPr>
            <p:ph idx="1"/>
          </p:nvPr>
        </p:nvSpPr>
        <p:spPr/>
        <p:txBody>
          <a:bodyPr>
            <a:normAutofit/>
          </a:bodyPr>
          <a:lstStyle/>
          <a:p>
            <a:r>
              <a:rPr lang="en-US" sz="2800" dirty="0"/>
              <a:t>"You need to be home at 10:30 p.m. because your older sister needed to be home at 10:30 p.m. when she was your age."</a:t>
            </a:r>
          </a:p>
          <a:p>
            <a:r>
              <a:rPr lang="en-US" sz="2800" dirty="0"/>
              <a:t>“This assignment was due yesterday. You've known for months that my policy is to take off 10 percent of the possible points every day it is late. I'm sticking to that."</a:t>
            </a:r>
            <a:endParaRPr lang="en-AU" sz="2800" dirty="0"/>
          </a:p>
        </p:txBody>
      </p:sp>
    </p:spTree>
    <p:extLst>
      <p:ext uri="{BB962C8B-B14F-4D97-AF65-F5344CB8AC3E}">
        <p14:creationId xmlns:p14="http://schemas.microsoft.com/office/powerpoint/2010/main" val="1475711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7BBBB-D826-450E-B6F1-128101564172}"/>
              </a:ext>
            </a:extLst>
          </p:cNvPr>
          <p:cNvSpPr>
            <a:spLocks noGrp="1"/>
          </p:cNvSpPr>
          <p:nvPr>
            <p:ph idx="1"/>
          </p:nvPr>
        </p:nvSpPr>
        <p:spPr>
          <a:xfrm>
            <a:off x="1011936" y="2413416"/>
            <a:ext cx="10168128" cy="5302770"/>
          </a:xfrm>
        </p:spPr>
        <p:txBody>
          <a:bodyPr>
            <a:normAutofit/>
          </a:bodyPr>
          <a:lstStyle/>
          <a:p>
            <a:r>
              <a:rPr lang="en-US" sz="4800" dirty="0"/>
              <a:t>Now, give an example of a time when you thought your parent, guardian, or teacher should not have applied the same old rules or reasons to a new situation. </a:t>
            </a:r>
            <a:endParaRPr lang="en-AU" sz="4800" dirty="0"/>
          </a:p>
        </p:txBody>
      </p:sp>
    </p:spTree>
    <p:extLst>
      <p:ext uri="{BB962C8B-B14F-4D97-AF65-F5344CB8AC3E}">
        <p14:creationId xmlns:p14="http://schemas.microsoft.com/office/powerpoint/2010/main" val="3744380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E82D-0152-4AA1-85C5-93A7EB2DBF94}"/>
              </a:ext>
            </a:extLst>
          </p:cNvPr>
          <p:cNvSpPr>
            <a:spLocks noGrp="1"/>
          </p:cNvSpPr>
          <p:nvPr>
            <p:ph type="title"/>
          </p:nvPr>
        </p:nvSpPr>
        <p:spPr/>
        <p:txBody>
          <a:bodyPr/>
          <a:lstStyle/>
          <a:p>
            <a:r>
              <a:rPr lang="en-AU" dirty="0"/>
              <a:t>So….</a:t>
            </a:r>
          </a:p>
        </p:txBody>
      </p:sp>
      <p:sp>
        <p:nvSpPr>
          <p:cNvPr id="3" name="Content Placeholder 2">
            <a:extLst>
              <a:ext uri="{FF2B5EF4-FFF2-40B4-BE49-F238E27FC236}">
                <a16:creationId xmlns:a16="http://schemas.microsoft.com/office/drawing/2014/main" id="{454CD952-C526-4723-B894-514E8E2EA131}"/>
              </a:ext>
            </a:extLst>
          </p:cNvPr>
          <p:cNvSpPr>
            <a:spLocks noGrp="1"/>
          </p:cNvSpPr>
          <p:nvPr>
            <p:ph idx="1"/>
          </p:nvPr>
        </p:nvSpPr>
        <p:spPr>
          <a:xfrm>
            <a:off x="1154954" y="2603500"/>
            <a:ext cx="8825659" cy="3767320"/>
          </a:xfrm>
        </p:spPr>
        <p:txBody>
          <a:bodyPr/>
          <a:lstStyle/>
          <a:p>
            <a:r>
              <a:rPr lang="en-US" dirty="0"/>
              <a:t>"</a:t>
            </a:r>
            <a:r>
              <a:rPr lang="en-US" sz="2800" dirty="0"/>
              <a:t>But my sister was my age more than 15 years ago. Times have changed and nobody comes home at 10:30 anymore."</a:t>
            </a:r>
          </a:p>
          <a:p>
            <a:r>
              <a:rPr lang="en-US" sz="2800" dirty="0"/>
              <a:t>"But my grandmother was rushed to the hospital the night before last and I had to stay with her because my parents could not leave work. I did finish the project last night as soon as I could."</a:t>
            </a:r>
            <a:endParaRPr lang="en-AU" sz="2800" dirty="0"/>
          </a:p>
        </p:txBody>
      </p:sp>
    </p:spTree>
    <p:extLst>
      <p:ext uri="{BB962C8B-B14F-4D97-AF65-F5344CB8AC3E}">
        <p14:creationId xmlns:p14="http://schemas.microsoft.com/office/powerpoint/2010/main" val="2359234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CF072-5043-4D0F-9EF5-FB365ECDCCBA}"/>
              </a:ext>
            </a:extLst>
          </p:cNvPr>
          <p:cNvSpPr>
            <a:spLocks noGrp="1"/>
          </p:cNvSpPr>
          <p:nvPr>
            <p:ph type="title"/>
          </p:nvPr>
        </p:nvSpPr>
        <p:spPr>
          <a:xfrm>
            <a:off x="1115568" y="164893"/>
            <a:ext cx="10168128" cy="2293494"/>
          </a:xfrm>
        </p:spPr>
        <p:txBody>
          <a:bodyPr>
            <a:normAutofit/>
          </a:bodyPr>
          <a:lstStyle/>
          <a:p>
            <a:r>
              <a:rPr lang="en-US" dirty="0"/>
              <a:t> </a:t>
            </a:r>
            <a:r>
              <a:rPr lang="en-US" sz="3200" dirty="0"/>
              <a:t>Now, think about a time when your parent, guardian, or teacher seemed to ignore their own previous decision.</a:t>
            </a:r>
            <a:endParaRPr lang="en-AU" dirty="0"/>
          </a:p>
        </p:txBody>
      </p:sp>
      <p:sp>
        <p:nvSpPr>
          <p:cNvPr id="3" name="Content Placeholder 2">
            <a:extLst>
              <a:ext uri="{FF2B5EF4-FFF2-40B4-BE49-F238E27FC236}">
                <a16:creationId xmlns:a16="http://schemas.microsoft.com/office/drawing/2014/main" id="{BFFB89F3-32B4-4E6F-8359-69047330EA71}"/>
              </a:ext>
            </a:extLst>
          </p:cNvPr>
          <p:cNvSpPr>
            <a:spLocks noGrp="1"/>
          </p:cNvSpPr>
          <p:nvPr>
            <p:ph idx="1"/>
          </p:nvPr>
        </p:nvSpPr>
        <p:spPr/>
        <p:txBody>
          <a:bodyPr>
            <a:normAutofit lnSpcReduction="10000"/>
          </a:bodyPr>
          <a:lstStyle/>
          <a:p>
            <a:r>
              <a:rPr lang="en-US" sz="3600" dirty="0"/>
              <a:t>Did that seem fair? Why or why not?</a:t>
            </a:r>
          </a:p>
          <a:p>
            <a:r>
              <a:rPr lang="en-US" sz="3600" dirty="0"/>
              <a:t>What are the benefits and risks of sticking by the known rules?</a:t>
            </a:r>
          </a:p>
          <a:p>
            <a:r>
              <a:rPr lang="en-US" sz="3600" dirty="0"/>
              <a:t>What are the benefits and risks of changing the rules for new situations?</a:t>
            </a:r>
            <a:endParaRPr lang="en-AU" sz="3600" dirty="0"/>
          </a:p>
        </p:txBody>
      </p:sp>
    </p:spTree>
    <p:extLst>
      <p:ext uri="{BB962C8B-B14F-4D97-AF65-F5344CB8AC3E}">
        <p14:creationId xmlns:p14="http://schemas.microsoft.com/office/powerpoint/2010/main" val="1599027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CAC13-0B29-4F78-9A06-2A5ACEB6DCED}"/>
              </a:ext>
            </a:extLst>
          </p:cNvPr>
          <p:cNvSpPr>
            <a:spLocks noGrp="1"/>
          </p:cNvSpPr>
          <p:nvPr>
            <p:ph idx="1"/>
          </p:nvPr>
        </p:nvSpPr>
        <p:spPr/>
        <p:txBody>
          <a:bodyPr>
            <a:normAutofit fontScale="92500"/>
          </a:bodyPr>
          <a:lstStyle/>
          <a:p>
            <a:r>
              <a:rPr lang="en-US" sz="3200" dirty="0"/>
              <a:t>you have just been talking about something very similar to the term "precedent.“</a:t>
            </a:r>
          </a:p>
          <a:p>
            <a:endParaRPr lang="en-US" sz="3200" dirty="0"/>
          </a:p>
          <a:p>
            <a:r>
              <a:rPr lang="en-US" sz="3200" dirty="0"/>
              <a:t>So, write in your own words, what do you understand by this new term ‘precedent’?</a:t>
            </a:r>
            <a:endParaRPr lang="en-AU" sz="3200" dirty="0"/>
          </a:p>
        </p:txBody>
      </p:sp>
    </p:spTree>
    <p:extLst>
      <p:ext uri="{BB962C8B-B14F-4D97-AF65-F5344CB8AC3E}">
        <p14:creationId xmlns:p14="http://schemas.microsoft.com/office/powerpoint/2010/main" val="2769165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C53AC4-BA7C-4B27-93CD-785CA5D9EC5F}"/>
              </a:ext>
            </a:extLst>
          </p:cNvPr>
          <p:cNvSpPr>
            <a:spLocks noGrp="1"/>
          </p:cNvSpPr>
          <p:nvPr>
            <p:ph idx="1"/>
          </p:nvPr>
        </p:nvSpPr>
        <p:spPr/>
        <p:txBody>
          <a:bodyPr>
            <a:normAutofit lnSpcReduction="10000"/>
          </a:bodyPr>
          <a:lstStyle/>
          <a:p>
            <a:r>
              <a:rPr lang="en-US" sz="3600" dirty="0"/>
              <a:t>A precedent is a decision that is the basis or reason for future decisions. </a:t>
            </a:r>
          </a:p>
          <a:p>
            <a:r>
              <a:rPr lang="en-US" sz="3600" dirty="0"/>
              <a:t>An example of precedent is the legal decision in Brown v. Board of Education guiding future laws about desegregation.</a:t>
            </a:r>
            <a:endParaRPr lang="en-AU" sz="3600" dirty="0"/>
          </a:p>
        </p:txBody>
      </p:sp>
      <p:pic>
        <p:nvPicPr>
          <p:cNvPr id="4" name="Picture 3">
            <a:extLst>
              <a:ext uri="{FF2B5EF4-FFF2-40B4-BE49-F238E27FC236}">
                <a16:creationId xmlns:a16="http://schemas.microsoft.com/office/drawing/2014/main" id="{F2E1ADBF-8F0D-47A8-8E30-CEF0FB329B9C}"/>
              </a:ext>
            </a:extLst>
          </p:cNvPr>
          <p:cNvPicPr>
            <a:picLocks noChangeAspect="1"/>
          </p:cNvPicPr>
          <p:nvPr/>
        </p:nvPicPr>
        <p:blipFill>
          <a:blip r:embed="rId2"/>
          <a:stretch>
            <a:fillRect/>
          </a:stretch>
        </p:blipFill>
        <p:spPr>
          <a:xfrm>
            <a:off x="10478125" y="2061383"/>
            <a:ext cx="1361539" cy="1367617"/>
          </a:xfrm>
          <a:prstGeom prst="rect">
            <a:avLst/>
          </a:prstGeom>
        </p:spPr>
      </p:pic>
    </p:spTree>
    <p:extLst>
      <p:ext uri="{BB962C8B-B14F-4D97-AF65-F5344CB8AC3E}">
        <p14:creationId xmlns:p14="http://schemas.microsoft.com/office/powerpoint/2010/main" val="872151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C8ACD1-F33D-4875-A2C5-B8F68AD39A07}"/>
              </a:ext>
            </a:extLst>
          </p:cNvPr>
          <p:cNvSpPr>
            <a:spLocks noGrp="1"/>
          </p:cNvSpPr>
          <p:nvPr>
            <p:ph idx="1"/>
          </p:nvPr>
        </p:nvSpPr>
        <p:spPr>
          <a:xfrm>
            <a:off x="240554" y="2303696"/>
            <a:ext cx="10312521" cy="3857261"/>
          </a:xfrm>
        </p:spPr>
        <p:txBody>
          <a:bodyPr>
            <a:normAutofit/>
          </a:bodyPr>
          <a:lstStyle/>
          <a:p>
            <a:r>
              <a:rPr lang="en-US" sz="2400" b="1" dirty="0"/>
              <a:t>The Supreme Court justices wrestle with the issue of precedent on a daily basis, knowing that their decisions will affect not just the people in a particular case, but potentially millions of other Australians who could be in similar situations in the future. </a:t>
            </a:r>
          </a:p>
          <a:p>
            <a:r>
              <a:rPr lang="en-US" sz="2400" b="1" dirty="0"/>
              <a:t>Their questions, like those mentioned in our previous slides, are typically about when precedents should be honored and when they should be reversed. </a:t>
            </a:r>
          </a:p>
          <a:p>
            <a:r>
              <a:rPr lang="en-US" sz="2400" b="1" dirty="0"/>
              <a:t>Different justices often have different views on this -- some even change their views over time.</a:t>
            </a:r>
            <a:endParaRPr lang="en-AU" sz="2400" b="1" dirty="0"/>
          </a:p>
        </p:txBody>
      </p:sp>
      <p:pic>
        <p:nvPicPr>
          <p:cNvPr id="5" name="Picture 4">
            <a:extLst>
              <a:ext uri="{FF2B5EF4-FFF2-40B4-BE49-F238E27FC236}">
                <a16:creationId xmlns:a16="http://schemas.microsoft.com/office/drawing/2014/main" id="{3A215775-91BD-4640-B824-281B7F5BC9C4}"/>
              </a:ext>
            </a:extLst>
          </p:cNvPr>
          <p:cNvPicPr>
            <a:picLocks noChangeAspect="1"/>
          </p:cNvPicPr>
          <p:nvPr/>
        </p:nvPicPr>
        <p:blipFill>
          <a:blip r:embed="rId2"/>
          <a:stretch>
            <a:fillRect/>
          </a:stretch>
        </p:blipFill>
        <p:spPr>
          <a:xfrm>
            <a:off x="10560092" y="2303696"/>
            <a:ext cx="1391354" cy="1391354"/>
          </a:xfrm>
          <a:prstGeom prst="rect">
            <a:avLst/>
          </a:prstGeom>
        </p:spPr>
      </p:pic>
    </p:spTree>
    <p:extLst>
      <p:ext uri="{BB962C8B-B14F-4D97-AF65-F5344CB8AC3E}">
        <p14:creationId xmlns:p14="http://schemas.microsoft.com/office/powerpoint/2010/main" val="3879122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EFA-80FC-49E8-9B4B-2EA5475C42DA}"/>
              </a:ext>
            </a:extLst>
          </p:cNvPr>
          <p:cNvSpPr>
            <a:spLocks noGrp="1"/>
          </p:cNvSpPr>
          <p:nvPr>
            <p:ph type="title"/>
          </p:nvPr>
        </p:nvSpPr>
        <p:spPr>
          <a:xfrm>
            <a:off x="1115568" y="548640"/>
            <a:ext cx="6694307" cy="1179576"/>
          </a:xfrm>
        </p:spPr>
        <p:txBody>
          <a:bodyPr/>
          <a:lstStyle/>
          <a:p>
            <a:r>
              <a:rPr lang="en-AU" dirty="0"/>
              <a:t>The Role of the Judge</a:t>
            </a:r>
          </a:p>
        </p:txBody>
      </p:sp>
      <p:sp>
        <p:nvSpPr>
          <p:cNvPr id="3" name="Content Placeholder 2">
            <a:extLst>
              <a:ext uri="{FF2B5EF4-FFF2-40B4-BE49-F238E27FC236}">
                <a16:creationId xmlns:a16="http://schemas.microsoft.com/office/drawing/2014/main" id="{72E84D58-7254-4080-8746-D2E788B0A3A1}"/>
              </a:ext>
            </a:extLst>
          </p:cNvPr>
          <p:cNvSpPr>
            <a:spLocks noGrp="1"/>
          </p:cNvSpPr>
          <p:nvPr>
            <p:ph idx="1"/>
          </p:nvPr>
        </p:nvSpPr>
        <p:spPr>
          <a:xfrm>
            <a:off x="150613" y="2603500"/>
            <a:ext cx="10402462" cy="4068572"/>
          </a:xfrm>
        </p:spPr>
        <p:txBody>
          <a:bodyPr>
            <a:normAutofit/>
          </a:bodyPr>
          <a:lstStyle/>
          <a:p>
            <a:pPr marL="0" indent="0">
              <a:buNone/>
            </a:pPr>
            <a:r>
              <a:rPr lang="en-AU" sz="2400" dirty="0"/>
              <a:t>New and unusual cases come up in Australian courts every day and sometimes the parliament made, statutory law is not clear about how a particular case should be dealt with.</a:t>
            </a:r>
          </a:p>
          <a:p>
            <a:pPr marL="0" indent="0">
              <a:buNone/>
            </a:pPr>
            <a:r>
              <a:rPr lang="en-AU" sz="2400" dirty="0"/>
              <a:t>So a judge from a superior court must make a decision on how to resolve the issue in a fair and just way.</a:t>
            </a:r>
          </a:p>
          <a:p>
            <a:pPr marL="0" indent="0">
              <a:buNone/>
            </a:pPr>
            <a:r>
              <a:rPr lang="en-AU" sz="2400" dirty="0"/>
              <a:t>This decision sets a </a:t>
            </a:r>
            <a:r>
              <a:rPr lang="en-AU" sz="2400" b="1" dirty="0"/>
              <a:t>precedent</a:t>
            </a:r>
            <a:r>
              <a:rPr lang="en-AU" sz="2400" dirty="0"/>
              <a:t>.</a:t>
            </a:r>
          </a:p>
          <a:p>
            <a:pPr marL="0" indent="0">
              <a:buNone/>
            </a:pPr>
            <a:r>
              <a:rPr lang="en-AU" sz="2400" dirty="0"/>
              <a:t>Now, watch this video to understand what the doctrine of precedent is all about.</a:t>
            </a:r>
          </a:p>
        </p:txBody>
      </p:sp>
      <p:pic>
        <p:nvPicPr>
          <p:cNvPr id="8194" name="Picture 2" descr="Video Icon Icons - Download Free Vector Icons | Noun Project">
            <a:hlinkClick r:id="rId2"/>
            <a:extLst>
              <a:ext uri="{FF2B5EF4-FFF2-40B4-BE49-F238E27FC236}">
                <a16:creationId xmlns:a16="http://schemas.microsoft.com/office/drawing/2014/main" id="{B66DE72E-035A-4811-B39B-65BF80288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2062" y="5126836"/>
            <a:ext cx="1545236" cy="15452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97233D2-AB77-4D3B-85BE-308A6918200F}"/>
              </a:ext>
            </a:extLst>
          </p:cNvPr>
          <p:cNvPicPr>
            <a:picLocks noChangeAspect="1"/>
          </p:cNvPicPr>
          <p:nvPr/>
        </p:nvPicPr>
        <p:blipFill>
          <a:blip r:embed="rId4"/>
          <a:stretch>
            <a:fillRect/>
          </a:stretch>
        </p:blipFill>
        <p:spPr>
          <a:xfrm>
            <a:off x="10645282" y="2314272"/>
            <a:ext cx="1396105" cy="1390008"/>
          </a:xfrm>
          <a:prstGeom prst="rect">
            <a:avLst/>
          </a:prstGeom>
        </p:spPr>
      </p:pic>
    </p:spTree>
    <p:extLst>
      <p:ext uri="{BB962C8B-B14F-4D97-AF65-F5344CB8AC3E}">
        <p14:creationId xmlns:p14="http://schemas.microsoft.com/office/powerpoint/2010/main" val="2030723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0905-3C09-4302-B137-87D814D5E279}"/>
              </a:ext>
            </a:extLst>
          </p:cNvPr>
          <p:cNvSpPr>
            <a:spLocks noGrp="1"/>
          </p:cNvSpPr>
          <p:nvPr>
            <p:ph type="title"/>
          </p:nvPr>
        </p:nvSpPr>
        <p:spPr/>
        <p:txBody>
          <a:bodyPr/>
          <a:lstStyle/>
          <a:p>
            <a:r>
              <a:rPr lang="en-AU" dirty="0"/>
              <a:t>Importance of precedents</a:t>
            </a:r>
          </a:p>
        </p:txBody>
      </p:sp>
      <p:sp>
        <p:nvSpPr>
          <p:cNvPr id="3" name="Content Placeholder 2">
            <a:extLst>
              <a:ext uri="{FF2B5EF4-FFF2-40B4-BE49-F238E27FC236}">
                <a16:creationId xmlns:a16="http://schemas.microsoft.com/office/drawing/2014/main" id="{45FC0C82-EE40-4258-ACB7-A17FD893F6C6}"/>
              </a:ext>
            </a:extLst>
          </p:cNvPr>
          <p:cNvSpPr>
            <a:spLocks noGrp="1"/>
          </p:cNvSpPr>
          <p:nvPr>
            <p:ph idx="1"/>
          </p:nvPr>
        </p:nvSpPr>
        <p:spPr/>
        <p:txBody>
          <a:bodyPr>
            <a:normAutofit/>
          </a:bodyPr>
          <a:lstStyle/>
          <a:p>
            <a:r>
              <a:rPr lang="en-US" sz="2800" dirty="0"/>
              <a:t>Each court decision is supposed to be based on an earlier decision, which is called “precedent.” To show that your constitutional rights have been violated, you point to good court decisions in earlier cases and describe how the facts in those cases are similar to the facts in your case.</a:t>
            </a:r>
            <a:endParaRPr lang="en-AU" sz="2800" dirty="0"/>
          </a:p>
        </p:txBody>
      </p:sp>
      <p:pic>
        <p:nvPicPr>
          <p:cNvPr id="5" name="Picture 4">
            <a:extLst>
              <a:ext uri="{FF2B5EF4-FFF2-40B4-BE49-F238E27FC236}">
                <a16:creationId xmlns:a16="http://schemas.microsoft.com/office/drawing/2014/main" id="{BC7BDEA8-6658-4DE1-9055-4F230901F8B1}"/>
              </a:ext>
            </a:extLst>
          </p:cNvPr>
          <p:cNvPicPr>
            <a:picLocks noChangeAspect="1"/>
          </p:cNvPicPr>
          <p:nvPr/>
        </p:nvPicPr>
        <p:blipFill>
          <a:blip r:embed="rId2"/>
          <a:stretch>
            <a:fillRect/>
          </a:stretch>
        </p:blipFill>
        <p:spPr>
          <a:xfrm>
            <a:off x="10482912" y="2057281"/>
            <a:ext cx="1359526" cy="1371719"/>
          </a:xfrm>
          <a:prstGeom prst="rect">
            <a:avLst/>
          </a:prstGeom>
        </p:spPr>
      </p:pic>
    </p:spTree>
    <p:extLst>
      <p:ext uri="{BB962C8B-B14F-4D97-AF65-F5344CB8AC3E}">
        <p14:creationId xmlns:p14="http://schemas.microsoft.com/office/powerpoint/2010/main" val="1102449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B84E1-704E-4F5E-9854-FDC0A3148A03}"/>
              </a:ext>
            </a:extLst>
          </p:cNvPr>
          <p:cNvSpPr>
            <a:spLocks noGrp="1"/>
          </p:cNvSpPr>
          <p:nvPr>
            <p:ph type="title"/>
          </p:nvPr>
        </p:nvSpPr>
        <p:spPr>
          <a:xfrm>
            <a:off x="850780" y="696593"/>
            <a:ext cx="3438144" cy="1124712"/>
          </a:xfrm>
        </p:spPr>
        <p:txBody>
          <a:bodyPr anchor="b">
            <a:normAutofit/>
          </a:bodyPr>
          <a:lstStyle/>
          <a:p>
            <a:r>
              <a:rPr lang="en-AU" sz="2800" dirty="0"/>
              <a:t>What is a </a:t>
            </a:r>
            <a:r>
              <a:rPr lang="en-AU" sz="2800" b="1" dirty="0"/>
              <a:t>Precedent</a:t>
            </a:r>
            <a:r>
              <a:rPr lang="en-AU" sz="2800" dirty="0"/>
              <a:t>?</a:t>
            </a:r>
          </a:p>
        </p:txBody>
      </p:sp>
      <p:sp>
        <p:nvSpPr>
          <p:cNvPr id="3" name="Content Placeholder 2">
            <a:extLst>
              <a:ext uri="{FF2B5EF4-FFF2-40B4-BE49-F238E27FC236}">
                <a16:creationId xmlns:a16="http://schemas.microsoft.com/office/drawing/2014/main" id="{35D1F689-9D2B-47B8-B938-E7FE8DD91B70}"/>
              </a:ext>
            </a:extLst>
          </p:cNvPr>
          <p:cNvSpPr>
            <a:spLocks noGrp="1"/>
          </p:cNvSpPr>
          <p:nvPr>
            <p:ph idx="1"/>
          </p:nvPr>
        </p:nvSpPr>
        <p:spPr>
          <a:xfrm>
            <a:off x="371094" y="2718054"/>
            <a:ext cx="3438906" cy="3207258"/>
          </a:xfrm>
        </p:spPr>
        <p:txBody>
          <a:bodyPr anchor="t">
            <a:normAutofit lnSpcReduction="10000"/>
          </a:bodyPr>
          <a:lstStyle/>
          <a:p>
            <a:pPr marL="0" indent="0">
              <a:buNone/>
            </a:pPr>
            <a:r>
              <a:rPr lang="en-AU" sz="3200" dirty="0"/>
              <a:t>A precedent means that any similar cases in the future should be dealt with in the same way.</a:t>
            </a:r>
          </a:p>
          <a:p>
            <a:pPr marL="0" indent="0">
              <a:buNone/>
            </a:pPr>
            <a:endParaRPr lang="en-AU" sz="1700" dirty="0"/>
          </a:p>
        </p:txBody>
      </p:sp>
      <p:pic>
        <p:nvPicPr>
          <p:cNvPr id="1026" name="Picture 2">
            <a:extLst>
              <a:ext uri="{FF2B5EF4-FFF2-40B4-BE49-F238E27FC236}">
                <a16:creationId xmlns:a16="http://schemas.microsoft.com/office/drawing/2014/main" id="{F33E0CB5-9F5D-4357-95E7-CA14D764C87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018054" y="843533"/>
            <a:ext cx="6683765" cy="528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430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3DAB9-EB59-4F98-8064-0507AA6ECB41}"/>
              </a:ext>
            </a:extLst>
          </p:cNvPr>
          <p:cNvSpPr>
            <a:spLocks noGrp="1"/>
          </p:cNvSpPr>
          <p:nvPr>
            <p:ph type="title"/>
          </p:nvPr>
        </p:nvSpPr>
        <p:spPr/>
        <p:txBody>
          <a:bodyPr/>
          <a:lstStyle/>
          <a:p>
            <a:r>
              <a:rPr lang="en-AU" dirty="0"/>
              <a:t>Understanding Precedent</a:t>
            </a:r>
          </a:p>
        </p:txBody>
      </p:sp>
      <p:sp>
        <p:nvSpPr>
          <p:cNvPr id="3" name="Content Placeholder 2">
            <a:extLst>
              <a:ext uri="{FF2B5EF4-FFF2-40B4-BE49-F238E27FC236}">
                <a16:creationId xmlns:a16="http://schemas.microsoft.com/office/drawing/2014/main" id="{D235C581-02D2-4A0F-8B7C-662CB094DB2D}"/>
              </a:ext>
            </a:extLst>
          </p:cNvPr>
          <p:cNvSpPr>
            <a:spLocks noGrp="1"/>
          </p:cNvSpPr>
          <p:nvPr>
            <p:ph idx="1"/>
          </p:nvPr>
        </p:nvSpPr>
        <p:spPr>
          <a:xfrm>
            <a:off x="1115567" y="2207941"/>
            <a:ext cx="10615515" cy="4259766"/>
          </a:xfrm>
        </p:spPr>
        <p:txBody>
          <a:bodyPr>
            <a:normAutofit/>
          </a:bodyPr>
          <a:lstStyle/>
          <a:p>
            <a:pPr marL="0" indent="0">
              <a:buNone/>
            </a:pPr>
            <a:r>
              <a:rPr lang="en-AU" sz="3600" b="1" dirty="0"/>
              <a:t>To understand the system of precent, think about these school incidents.</a:t>
            </a:r>
          </a:p>
          <a:p>
            <a:pPr marL="0" indent="0">
              <a:buNone/>
            </a:pPr>
            <a:endParaRPr lang="en-AU" dirty="0"/>
          </a:p>
          <a:p>
            <a:pPr marL="1338263" indent="-1338263">
              <a:buNone/>
            </a:pPr>
            <a:r>
              <a:rPr lang="en-AU" sz="2800" b="1" dirty="0"/>
              <a:t>Case 1: </a:t>
            </a:r>
            <a:r>
              <a:rPr lang="en-AU" sz="2800" dirty="0"/>
              <a:t>You arrive late to school because you slept in. Your teacher gives you detention.</a:t>
            </a:r>
          </a:p>
          <a:p>
            <a:pPr marL="0" indent="0">
              <a:buNone/>
            </a:pPr>
            <a:endParaRPr lang="en-AU" sz="2800" dirty="0"/>
          </a:p>
          <a:p>
            <a:pPr marL="1338263" indent="-1338263">
              <a:buNone/>
            </a:pPr>
            <a:r>
              <a:rPr lang="en-AU" sz="2800" b="1" dirty="0"/>
              <a:t>Case 2: </a:t>
            </a:r>
            <a:r>
              <a:rPr lang="en-AU" sz="2800" dirty="0"/>
              <a:t>Your friend arrives late to school because she slept in. The teacher uses case 1 as a precedent.</a:t>
            </a:r>
          </a:p>
        </p:txBody>
      </p:sp>
      <p:pic>
        <p:nvPicPr>
          <p:cNvPr id="5" name="Picture 4">
            <a:extLst>
              <a:ext uri="{FF2B5EF4-FFF2-40B4-BE49-F238E27FC236}">
                <a16:creationId xmlns:a16="http://schemas.microsoft.com/office/drawing/2014/main" id="{D1442F3C-4693-4FF7-92A2-7C93939CE2CE}"/>
              </a:ext>
            </a:extLst>
          </p:cNvPr>
          <p:cNvPicPr>
            <a:picLocks noChangeAspect="1"/>
          </p:cNvPicPr>
          <p:nvPr/>
        </p:nvPicPr>
        <p:blipFill>
          <a:blip r:embed="rId3"/>
          <a:stretch>
            <a:fillRect/>
          </a:stretch>
        </p:blipFill>
        <p:spPr>
          <a:xfrm>
            <a:off x="10795895" y="1849577"/>
            <a:ext cx="1396105" cy="1390008"/>
          </a:xfrm>
          <a:prstGeom prst="rect">
            <a:avLst/>
          </a:prstGeom>
        </p:spPr>
      </p:pic>
    </p:spTree>
    <p:extLst>
      <p:ext uri="{BB962C8B-B14F-4D97-AF65-F5344CB8AC3E}">
        <p14:creationId xmlns:p14="http://schemas.microsoft.com/office/powerpoint/2010/main" val="378975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7427-245A-44D5-ACC4-1F438AF64D9C}"/>
              </a:ext>
            </a:extLst>
          </p:cNvPr>
          <p:cNvSpPr>
            <a:spLocks noGrp="1"/>
          </p:cNvSpPr>
          <p:nvPr>
            <p:ph type="title"/>
          </p:nvPr>
        </p:nvSpPr>
        <p:spPr/>
        <p:txBody>
          <a:bodyPr/>
          <a:lstStyle/>
          <a:p>
            <a:r>
              <a:rPr lang="en-AU" dirty="0"/>
              <a:t>Question 1.</a:t>
            </a:r>
          </a:p>
        </p:txBody>
      </p:sp>
      <p:sp>
        <p:nvSpPr>
          <p:cNvPr id="3" name="Content Placeholder 2">
            <a:extLst>
              <a:ext uri="{FF2B5EF4-FFF2-40B4-BE49-F238E27FC236}">
                <a16:creationId xmlns:a16="http://schemas.microsoft.com/office/drawing/2014/main" id="{9F96D908-EA5A-44AA-BFCD-FA8CC5F371D9}"/>
              </a:ext>
            </a:extLst>
          </p:cNvPr>
          <p:cNvSpPr>
            <a:spLocks noGrp="1"/>
          </p:cNvSpPr>
          <p:nvPr>
            <p:ph idx="1"/>
          </p:nvPr>
        </p:nvSpPr>
        <p:spPr/>
        <p:txBody>
          <a:bodyPr>
            <a:normAutofit/>
          </a:bodyPr>
          <a:lstStyle/>
          <a:p>
            <a:pPr marL="0" indent="0">
              <a:buNone/>
            </a:pPr>
            <a:r>
              <a:rPr lang="en-AU" sz="4000" dirty="0"/>
              <a:t>Should the teacher give your friend a detention?</a:t>
            </a:r>
          </a:p>
          <a:p>
            <a:endParaRPr lang="en-AU" sz="4000" dirty="0"/>
          </a:p>
          <a:p>
            <a:pPr marL="0" indent="0">
              <a:buNone/>
            </a:pPr>
            <a:r>
              <a:rPr lang="en-AU" sz="4000" dirty="0"/>
              <a:t>Why?</a:t>
            </a:r>
          </a:p>
        </p:txBody>
      </p:sp>
    </p:spTree>
    <p:extLst>
      <p:ext uri="{BB962C8B-B14F-4D97-AF65-F5344CB8AC3E}">
        <p14:creationId xmlns:p14="http://schemas.microsoft.com/office/powerpoint/2010/main" val="4050070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633F-5B79-42E6-8175-14251612C445}"/>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91C007C7-66AB-4B3A-AFFB-C2AD0D542C94}"/>
              </a:ext>
            </a:extLst>
          </p:cNvPr>
          <p:cNvSpPr>
            <a:spLocks noGrp="1"/>
          </p:cNvSpPr>
          <p:nvPr>
            <p:ph idx="1"/>
          </p:nvPr>
        </p:nvSpPr>
        <p:spPr/>
        <p:txBody>
          <a:bodyPr/>
          <a:lstStyle/>
          <a:p>
            <a:pPr marL="0" indent="0">
              <a:buNone/>
            </a:pPr>
            <a:r>
              <a:rPr lang="en-AU" sz="4000" dirty="0"/>
              <a:t>These are the same circumstances, so the decision should be consistent.</a:t>
            </a:r>
          </a:p>
          <a:p>
            <a:pPr marL="0" indent="0">
              <a:buNone/>
            </a:pPr>
            <a:endParaRPr lang="en-AU" sz="4000" dirty="0"/>
          </a:p>
          <a:p>
            <a:pPr marL="0" indent="0">
              <a:buNone/>
            </a:pPr>
            <a:r>
              <a:rPr lang="en-AU" b="1" dirty="0"/>
              <a:t>GIVE A DETENTION.</a:t>
            </a:r>
          </a:p>
        </p:txBody>
      </p:sp>
    </p:spTree>
    <p:extLst>
      <p:ext uri="{BB962C8B-B14F-4D97-AF65-F5344CB8AC3E}">
        <p14:creationId xmlns:p14="http://schemas.microsoft.com/office/powerpoint/2010/main" val="2248920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FCCE7-2F07-4FCB-864F-225AF595B6B5}"/>
              </a:ext>
            </a:extLst>
          </p:cNvPr>
          <p:cNvSpPr>
            <a:spLocks noGrp="1"/>
          </p:cNvSpPr>
          <p:nvPr>
            <p:ph type="title"/>
          </p:nvPr>
        </p:nvSpPr>
        <p:spPr/>
        <p:txBody>
          <a:bodyPr/>
          <a:lstStyle/>
          <a:p>
            <a:r>
              <a:rPr lang="en-AU" b="1" dirty="0"/>
              <a:t>Case 3:</a:t>
            </a:r>
            <a:r>
              <a:rPr lang="en-AU" dirty="0"/>
              <a:t> </a:t>
            </a:r>
            <a:endParaRPr lang="en-AU" b="1" dirty="0"/>
          </a:p>
        </p:txBody>
      </p:sp>
      <p:sp>
        <p:nvSpPr>
          <p:cNvPr id="3" name="Content Placeholder 2">
            <a:extLst>
              <a:ext uri="{FF2B5EF4-FFF2-40B4-BE49-F238E27FC236}">
                <a16:creationId xmlns:a16="http://schemas.microsoft.com/office/drawing/2014/main" id="{AF9400A7-83E0-46EB-B4C8-23D07256BA05}"/>
              </a:ext>
            </a:extLst>
          </p:cNvPr>
          <p:cNvSpPr>
            <a:spLocks noGrp="1"/>
          </p:cNvSpPr>
          <p:nvPr>
            <p:ph idx="1"/>
          </p:nvPr>
        </p:nvSpPr>
        <p:spPr/>
        <p:txBody>
          <a:bodyPr>
            <a:normAutofit/>
          </a:bodyPr>
          <a:lstStyle/>
          <a:p>
            <a:pPr marL="0" indent="0">
              <a:buNone/>
            </a:pPr>
            <a:r>
              <a:rPr lang="en-AU" sz="5400" dirty="0"/>
              <a:t>Your friend arrives late the next day because the school bus broke down.</a:t>
            </a:r>
          </a:p>
        </p:txBody>
      </p:sp>
      <p:pic>
        <p:nvPicPr>
          <p:cNvPr id="5" name="Picture 4">
            <a:extLst>
              <a:ext uri="{FF2B5EF4-FFF2-40B4-BE49-F238E27FC236}">
                <a16:creationId xmlns:a16="http://schemas.microsoft.com/office/drawing/2014/main" id="{76119818-0399-43C8-80DE-18F907F975EB}"/>
              </a:ext>
            </a:extLst>
          </p:cNvPr>
          <p:cNvPicPr>
            <a:picLocks noChangeAspect="1"/>
          </p:cNvPicPr>
          <p:nvPr/>
        </p:nvPicPr>
        <p:blipFill>
          <a:blip r:embed="rId2"/>
          <a:stretch>
            <a:fillRect/>
          </a:stretch>
        </p:blipFill>
        <p:spPr>
          <a:xfrm>
            <a:off x="10449632" y="2209341"/>
            <a:ext cx="1396105" cy="1390008"/>
          </a:xfrm>
          <a:prstGeom prst="rect">
            <a:avLst/>
          </a:prstGeom>
        </p:spPr>
      </p:pic>
    </p:spTree>
    <p:extLst>
      <p:ext uri="{BB962C8B-B14F-4D97-AF65-F5344CB8AC3E}">
        <p14:creationId xmlns:p14="http://schemas.microsoft.com/office/powerpoint/2010/main" val="1759815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06D1-1477-457B-AB62-F6984CC06BBE}"/>
              </a:ext>
            </a:extLst>
          </p:cNvPr>
          <p:cNvSpPr>
            <a:spLocks noGrp="1"/>
          </p:cNvSpPr>
          <p:nvPr>
            <p:ph type="title"/>
          </p:nvPr>
        </p:nvSpPr>
        <p:spPr/>
        <p:txBody>
          <a:bodyPr/>
          <a:lstStyle/>
          <a:p>
            <a:r>
              <a:rPr lang="en-AU" b="1" dirty="0"/>
              <a:t>Question 2:</a:t>
            </a:r>
          </a:p>
        </p:txBody>
      </p:sp>
      <p:sp>
        <p:nvSpPr>
          <p:cNvPr id="3" name="Content Placeholder 2">
            <a:extLst>
              <a:ext uri="{FF2B5EF4-FFF2-40B4-BE49-F238E27FC236}">
                <a16:creationId xmlns:a16="http://schemas.microsoft.com/office/drawing/2014/main" id="{1331BC47-4990-48D8-B9EB-9A60EEC096AF}"/>
              </a:ext>
            </a:extLst>
          </p:cNvPr>
          <p:cNvSpPr>
            <a:spLocks noGrp="1"/>
          </p:cNvSpPr>
          <p:nvPr>
            <p:ph idx="1"/>
          </p:nvPr>
        </p:nvSpPr>
        <p:spPr/>
        <p:txBody>
          <a:bodyPr>
            <a:normAutofit/>
          </a:bodyPr>
          <a:lstStyle/>
          <a:p>
            <a:pPr marL="0" indent="0">
              <a:buNone/>
            </a:pPr>
            <a:r>
              <a:rPr lang="en-AU" sz="5400" dirty="0"/>
              <a:t>Should the teacher use Case 1 and Case 2 as precedents and give a detention? Why?</a:t>
            </a:r>
          </a:p>
        </p:txBody>
      </p:sp>
    </p:spTree>
    <p:extLst>
      <p:ext uri="{BB962C8B-B14F-4D97-AF65-F5344CB8AC3E}">
        <p14:creationId xmlns:p14="http://schemas.microsoft.com/office/powerpoint/2010/main" val="3369044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FA0C-CCC9-483F-AE8B-ED88CFAA025E}"/>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E11EEE5E-7DF2-434C-846F-4DF5AB387F1C}"/>
              </a:ext>
            </a:extLst>
          </p:cNvPr>
          <p:cNvSpPr>
            <a:spLocks noGrp="1"/>
          </p:cNvSpPr>
          <p:nvPr>
            <p:ph idx="1"/>
          </p:nvPr>
        </p:nvSpPr>
        <p:spPr/>
        <p:txBody>
          <a:bodyPr>
            <a:normAutofit lnSpcReduction="10000"/>
          </a:bodyPr>
          <a:lstStyle/>
          <a:p>
            <a:pPr marL="0" indent="0">
              <a:buNone/>
            </a:pPr>
            <a:r>
              <a:rPr lang="en-AU" sz="4000" dirty="0"/>
              <a:t>This is different because it was not the student’s fault. </a:t>
            </a:r>
          </a:p>
          <a:p>
            <a:pPr marL="0" indent="0">
              <a:buNone/>
            </a:pPr>
            <a:r>
              <a:rPr lang="en-AU" sz="4000" dirty="0"/>
              <a:t>Cases 1 and 2 are not precedents for Case 3.</a:t>
            </a:r>
          </a:p>
          <a:p>
            <a:pPr marL="0" indent="0">
              <a:buNone/>
            </a:pPr>
            <a:endParaRPr lang="en-AU" dirty="0"/>
          </a:p>
          <a:p>
            <a:pPr marL="0" indent="0">
              <a:buNone/>
            </a:pPr>
            <a:r>
              <a:rPr lang="en-AU" b="1" dirty="0"/>
              <a:t>NO DETENTION.</a:t>
            </a:r>
          </a:p>
        </p:txBody>
      </p:sp>
    </p:spTree>
    <p:extLst>
      <p:ext uri="{BB962C8B-B14F-4D97-AF65-F5344CB8AC3E}">
        <p14:creationId xmlns:p14="http://schemas.microsoft.com/office/powerpoint/2010/main" val="83557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4DCD4-695C-45C9-9145-B5FC54C2784C}"/>
              </a:ext>
            </a:extLst>
          </p:cNvPr>
          <p:cNvSpPr>
            <a:spLocks noGrp="1"/>
          </p:cNvSpPr>
          <p:nvPr>
            <p:ph type="title"/>
          </p:nvPr>
        </p:nvSpPr>
        <p:spPr/>
        <p:txBody>
          <a:bodyPr/>
          <a:lstStyle/>
          <a:p>
            <a:r>
              <a:rPr lang="en-AU" b="1" dirty="0"/>
              <a:t>Case 4:</a:t>
            </a:r>
          </a:p>
        </p:txBody>
      </p:sp>
      <p:sp>
        <p:nvSpPr>
          <p:cNvPr id="3" name="Content Placeholder 2">
            <a:extLst>
              <a:ext uri="{FF2B5EF4-FFF2-40B4-BE49-F238E27FC236}">
                <a16:creationId xmlns:a16="http://schemas.microsoft.com/office/drawing/2014/main" id="{51AAE54F-E115-4BB3-8A4A-FA03CCAEA1B7}"/>
              </a:ext>
            </a:extLst>
          </p:cNvPr>
          <p:cNvSpPr>
            <a:spLocks noGrp="1"/>
          </p:cNvSpPr>
          <p:nvPr>
            <p:ph idx="1"/>
          </p:nvPr>
        </p:nvSpPr>
        <p:spPr/>
        <p:txBody>
          <a:bodyPr>
            <a:normAutofit/>
          </a:bodyPr>
          <a:lstStyle/>
          <a:p>
            <a:pPr marL="0" indent="0">
              <a:buNone/>
            </a:pPr>
            <a:r>
              <a:rPr lang="en-AU" sz="4000" dirty="0"/>
              <a:t>You are your friend arrive late because you thought the bus was still broken down (but it had been fixed), so you just took your time to get there.</a:t>
            </a:r>
          </a:p>
        </p:txBody>
      </p:sp>
      <p:pic>
        <p:nvPicPr>
          <p:cNvPr id="5" name="Picture 4">
            <a:extLst>
              <a:ext uri="{FF2B5EF4-FFF2-40B4-BE49-F238E27FC236}">
                <a16:creationId xmlns:a16="http://schemas.microsoft.com/office/drawing/2014/main" id="{EF18C6CD-5C63-48DB-963D-40D040192FC5}"/>
              </a:ext>
            </a:extLst>
          </p:cNvPr>
          <p:cNvPicPr>
            <a:picLocks noChangeAspect="1"/>
          </p:cNvPicPr>
          <p:nvPr/>
        </p:nvPicPr>
        <p:blipFill>
          <a:blip r:embed="rId2"/>
          <a:stretch>
            <a:fillRect/>
          </a:stretch>
        </p:blipFill>
        <p:spPr>
          <a:xfrm>
            <a:off x="10338993" y="2038992"/>
            <a:ext cx="1396105" cy="1390008"/>
          </a:xfrm>
          <a:prstGeom prst="rect">
            <a:avLst/>
          </a:prstGeom>
        </p:spPr>
      </p:pic>
    </p:spTree>
    <p:extLst>
      <p:ext uri="{BB962C8B-B14F-4D97-AF65-F5344CB8AC3E}">
        <p14:creationId xmlns:p14="http://schemas.microsoft.com/office/powerpoint/2010/main" val="2348093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0387B-7F90-4FE5-9C68-78C78A2CCB1B}"/>
              </a:ext>
            </a:extLst>
          </p:cNvPr>
          <p:cNvSpPr>
            <a:spLocks noGrp="1"/>
          </p:cNvSpPr>
          <p:nvPr>
            <p:ph type="title"/>
          </p:nvPr>
        </p:nvSpPr>
        <p:spPr/>
        <p:txBody>
          <a:bodyPr/>
          <a:lstStyle/>
          <a:p>
            <a:r>
              <a:rPr lang="en-AU" b="1" dirty="0"/>
              <a:t>Question 3:</a:t>
            </a:r>
          </a:p>
        </p:txBody>
      </p:sp>
      <p:sp>
        <p:nvSpPr>
          <p:cNvPr id="3" name="Content Placeholder 2">
            <a:extLst>
              <a:ext uri="{FF2B5EF4-FFF2-40B4-BE49-F238E27FC236}">
                <a16:creationId xmlns:a16="http://schemas.microsoft.com/office/drawing/2014/main" id="{384C4DBC-FD82-4AC7-81E4-7F3505AF5B77}"/>
              </a:ext>
            </a:extLst>
          </p:cNvPr>
          <p:cNvSpPr>
            <a:spLocks noGrp="1"/>
          </p:cNvSpPr>
          <p:nvPr>
            <p:ph idx="1"/>
          </p:nvPr>
        </p:nvSpPr>
        <p:spPr/>
        <p:txBody>
          <a:bodyPr>
            <a:normAutofit fontScale="92500" lnSpcReduction="10000"/>
          </a:bodyPr>
          <a:lstStyle/>
          <a:p>
            <a:pPr marL="0" indent="0">
              <a:buNone/>
            </a:pPr>
            <a:r>
              <a:rPr lang="en-AU" sz="3600" dirty="0"/>
              <a:t>Are Cases 1, 2 or 3 precedents for this situation?</a:t>
            </a:r>
          </a:p>
          <a:p>
            <a:pPr marL="0" indent="0">
              <a:buNone/>
            </a:pPr>
            <a:endParaRPr lang="en-AU" sz="3600" dirty="0"/>
          </a:p>
          <a:p>
            <a:pPr marL="0" indent="0">
              <a:buNone/>
            </a:pPr>
            <a:r>
              <a:rPr lang="en-AU" sz="3600" dirty="0"/>
              <a:t>Should the teacher give you a detention?</a:t>
            </a:r>
          </a:p>
          <a:p>
            <a:pPr marL="0" indent="0">
              <a:buNone/>
            </a:pPr>
            <a:endParaRPr lang="en-AU" sz="3600" dirty="0"/>
          </a:p>
          <a:p>
            <a:pPr marL="0" indent="0">
              <a:buNone/>
            </a:pPr>
            <a:r>
              <a:rPr lang="en-AU" sz="3600" dirty="0"/>
              <a:t>Why?</a:t>
            </a:r>
          </a:p>
        </p:txBody>
      </p:sp>
    </p:spTree>
    <p:extLst>
      <p:ext uri="{BB962C8B-B14F-4D97-AF65-F5344CB8AC3E}">
        <p14:creationId xmlns:p14="http://schemas.microsoft.com/office/powerpoint/2010/main" val="2896182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27C32-A580-401B-BED2-ADCEBFB978D4}"/>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8A0424F3-3943-4BE4-B9EE-235DCDB59E13}"/>
              </a:ext>
            </a:extLst>
          </p:cNvPr>
          <p:cNvSpPr>
            <a:spLocks noGrp="1"/>
          </p:cNvSpPr>
          <p:nvPr>
            <p:ph idx="1"/>
          </p:nvPr>
        </p:nvSpPr>
        <p:spPr/>
        <p:txBody>
          <a:bodyPr/>
          <a:lstStyle/>
          <a:p>
            <a:pPr marL="0" indent="0">
              <a:buNone/>
            </a:pPr>
            <a:r>
              <a:rPr lang="en-AU" sz="4800" dirty="0"/>
              <a:t>Cases 1 and 2 are precedents because being late was your fault.</a:t>
            </a:r>
          </a:p>
          <a:p>
            <a:pPr marL="0" indent="0">
              <a:buNone/>
            </a:pPr>
            <a:endParaRPr lang="en-AU" dirty="0"/>
          </a:p>
          <a:p>
            <a:pPr marL="0" indent="0">
              <a:buNone/>
            </a:pPr>
            <a:r>
              <a:rPr lang="en-AU" b="1" dirty="0"/>
              <a:t>DETENTION</a:t>
            </a:r>
          </a:p>
        </p:txBody>
      </p:sp>
    </p:spTree>
    <p:extLst>
      <p:ext uri="{BB962C8B-B14F-4D97-AF65-F5344CB8AC3E}">
        <p14:creationId xmlns:p14="http://schemas.microsoft.com/office/powerpoint/2010/main" val="2403416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775E-C6FA-403B-B199-AFC6939AF0A2}"/>
              </a:ext>
            </a:extLst>
          </p:cNvPr>
          <p:cNvSpPr>
            <a:spLocks noGrp="1"/>
          </p:cNvSpPr>
          <p:nvPr>
            <p:ph type="title"/>
          </p:nvPr>
        </p:nvSpPr>
        <p:spPr/>
        <p:txBody>
          <a:bodyPr/>
          <a:lstStyle/>
          <a:p>
            <a:r>
              <a:rPr lang="en-AU" b="1" dirty="0"/>
              <a:t>Case 5:</a:t>
            </a:r>
          </a:p>
        </p:txBody>
      </p:sp>
      <p:sp>
        <p:nvSpPr>
          <p:cNvPr id="3" name="Content Placeholder 2">
            <a:extLst>
              <a:ext uri="{FF2B5EF4-FFF2-40B4-BE49-F238E27FC236}">
                <a16:creationId xmlns:a16="http://schemas.microsoft.com/office/drawing/2014/main" id="{E6189469-898E-4BE8-A52E-7241ED97FA1C}"/>
              </a:ext>
            </a:extLst>
          </p:cNvPr>
          <p:cNvSpPr>
            <a:spLocks noGrp="1"/>
          </p:cNvSpPr>
          <p:nvPr>
            <p:ph idx="1"/>
          </p:nvPr>
        </p:nvSpPr>
        <p:spPr/>
        <p:txBody>
          <a:bodyPr>
            <a:normAutofit/>
          </a:bodyPr>
          <a:lstStyle/>
          <a:p>
            <a:pPr marL="0" indent="0">
              <a:buNone/>
            </a:pPr>
            <a:r>
              <a:rPr lang="en-AU" sz="4400" dirty="0"/>
              <a:t>You leave school early because you are bored with school.</a:t>
            </a:r>
          </a:p>
        </p:txBody>
      </p:sp>
      <p:pic>
        <p:nvPicPr>
          <p:cNvPr id="5" name="Picture 4">
            <a:extLst>
              <a:ext uri="{FF2B5EF4-FFF2-40B4-BE49-F238E27FC236}">
                <a16:creationId xmlns:a16="http://schemas.microsoft.com/office/drawing/2014/main" id="{7E2D8467-341D-47D1-B6F8-348DB5CC611C}"/>
              </a:ext>
            </a:extLst>
          </p:cNvPr>
          <p:cNvPicPr>
            <a:picLocks noChangeAspect="1"/>
          </p:cNvPicPr>
          <p:nvPr/>
        </p:nvPicPr>
        <p:blipFill>
          <a:blip r:embed="rId2"/>
          <a:stretch>
            <a:fillRect/>
          </a:stretch>
        </p:blipFill>
        <p:spPr>
          <a:xfrm>
            <a:off x="10629514" y="2038992"/>
            <a:ext cx="1396105" cy="1390008"/>
          </a:xfrm>
          <a:prstGeom prst="rect">
            <a:avLst/>
          </a:prstGeom>
        </p:spPr>
      </p:pic>
    </p:spTree>
    <p:extLst>
      <p:ext uri="{BB962C8B-B14F-4D97-AF65-F5344CB8AC3E}">
        <p14:creationId xmlns:p14="http://schemas.microsoft.com/office/powerpoint/2010/main" val="4049070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0332-BFD7-4207-A0A9-B505E547BDEF}"/>
              </a:ext>
            </a:extLst>
          </p:cNvPr>
          <p:cNvSpPr>
            <a:spLocks noGrp="1"/>
          </p:cNvSpPr>
          <p:nvPr>
            <p:ph type="title"/>
          </p:nvPr>
        </p:nvSpPr>
        <p:spPr/>
        <p:txBody>
          <a:bodyPr/>
          <a:lstStyle/>
          <a:p>
            <a:r>
              <a:rPr lang="en-AU" b="1" dirty="0"/>
              <a:t>Question 4:</a:t>
            </a:r>
          </a:p>
        </p:txBody>
      </p:sp>
      <p:sp>
        <p:nvSpPr>
          <p:cNvPr id="3" name="Content Placeholder 2">
            <a:extLst>
              <a:ext uri="{FF2B5EF4-FFF2-40B4-BE49-F238E27FC236}">
                <a16:creationId xmlns:a16="http://schemas.microsoft.com/office/drawing/2014/main" id="{5DE88484-E144-46D4-A7CB-DEB2C0872D47}"/>
              </a:ext>
            </a:extLst>
          </p:cNvPr>
          <p:cNvSpPr>
            <a:spLocks noGrp="1"/>
          </p:cNvSpPr>
          <p:nvPr>
            <p:ph idx="1"/>
          </p:nvPr>
        </p:nvSpPr>
        <p:spPr/>
        <p:txBody>
          <a:bodyPr>
            <a:normAutofit/>
          </a:bodyPr>
          <a:lstStyle/>
          <a:p>
            <a:pPr marL="0" indent="0">
              <a:buNone/>
            </a:pPr>
            <a:r>
              <a:rPr lang="en-AU" sz="4000" dirty="0"/>
              <a:t>Can Case 1 be used as a precedent for deciding whether or not to give you a detention?</a:t>
            </a:r>
          </a:p>
          <a:p>
            <a:pPr marL="0" indent="0">
              <a:buNone/>
            </a:pPr>
            <a:endParaRPr lang="en-AU" sz="4000" dirty="0"/>
          </a:p>
          <a:p>
            <a:pPr marL="0" indent="0">
              <a:buNone/>
            </a:pPr>
            <a:r>
              <a:rPr lang="en-AU" sz="4000" dirty="0"/>
              <a:t>Why?</a:t>
            </a:r>
          </a:p>
        </p:txBody>
      </p:sp>
    </p:spTree>
    <p:extLst>
      <p:ext uri="{BB962C8B-B14F-4D97-AF65-F5344CB8AC3E}">
        <p14:creationId xmlns:p14="http://schemas.microsoft.com/office/powerpoint/2010/main" val="3606337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D5F5-37A6-4AD9-A390-E24B1C1F97FF}"/>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A5A1F4D7-9530-471A-90CE-BB82CE54171F}"/>
              </a:ext>
            </a:extLst>
          </p:cNvPr>
          <p:cNvSpPr>
            <a:spLocks noGrp="1"/>
          </p:cNvSpPr>
          <p:nvPr>
            <p:ph idx="1"/>
          </p:nvPr>
        </p:nvSpPr>
        <p:spPr/>
        <p:txBody>
          <a:bodyPr>
            <a:normAutofit fontScale="92500" lnSpcReduction="10000"/>
          </a:bodyPr>
          <a:lstStyle/>
          <a:p>
            <a:pPr marL="0" indent="0">
              <a:buNone/>
            </a:pPr>
            <a:r>
              <a:rPr lang="en-AU" sz="3200" dirty="0"/>
              <a:t>Case 1 is a precedent, because it and this case are both about you not being at school through your own fault.  It does not matter that Case 1 is about arriving late and Case 5 is about leaving early as the principles is the same.</a:t>
            </a:r>
          </a:p>
          <a:p>
            <a:pPr marL="0" indent="0">
              <a:buNone/>
            </a:pPr>
            <a:endParaRPr lang="en-AU" dirty="0"/>
          </a:p>
          <a:p>
            <a:pPr marL="0" indent="0">
              <a:buNone/>
            </a:pPr>
            <a:r>
              <a:rPr lang="en-AU" b="1" dirty="0"/>
              <a:t>DETENTION</a:t>
            </a:r>
          </a:p>
        </p:txBody>
      </p:sp>
    </p:spTree>
    <p:extLst>
      <p:ext uri="{BB962C8B-B14F-4D97-AF65-F5344CB8AC3E}">
        <p14:creationId xmlns:p14="http://schemas.microsoft.com/office/powerpoint/2010/main" val="2342982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6CBC-7353-4EBD-8638-A6F36CCF72FD}"/>
              </a:ext>
            </a:extLst>
          </p:cNvPr>
          <p:cNvSpPr>
            <a:spLocks noGrp="1"/>
          </p:cNvSpPr>
          <p:nvPr>
            <p:ph type="title"/>
          </p:nvPr>
        </p:nvSpPr>
        <p:spPr/>
        <p:txBody>
          <a:bodyPr/>
          <a:lstStyle/>
          <a:p>
            <a:r>
              <a:rPr lang="en-AU" b="1" dirty="0"/>
              <a:t>How does this relate to Common Law?</a:t>
            </a:r>
          </a:p>
        </p:txBody>
      </p:sp>
      <p:sp>
        <p:nvSpPr>
          <p:cNvPr id="3" name="Content Placeholder 2">
            <a:extLst>
              <a:ext uri="{FF2B5EF4-FFF2-40B4-BE49-F238E27FC236}">
                <a16:creationId xmlns:a16="http://schemas.microsoft.com/office/drawing/2014/main" id="{89811D25-1D46-429F-955D-B1AD15C37B77}"/>
              </a:ext>
            </a:extLst>
          </p:cNvPr>
          <p:cNvSpPr>
            <a:spLocks noGrp="1"/>
          </p:cNvSpPr>
          <p:nvPr>
            <p:ph idx="1"/>
          </p:nvPr>
        </p:nvSpPr>
        <p:spPr>
          <a:xfrm>
            <a:off x="579863" y="2388813"/>
            <a:ext cx="11172184" cy="4146897"/>
          </a:xfrm>
        </p:spPr>
        <p:txBody>
          <a:bodyPr>
            <a:normAutofit/>
          </a:bodyPr>
          <a:lstStyle/>
          <a:p>
            <a:pPr marL="0" indent="0">
              <a:buNone/>
            </a:pPr>
            <a:r>
              <a:rPr lang="en-AU" sz="2800" dirty="0"/>
              <a:t>Among other things, judges look at cases from the past that are similar in facts or principle to make decisions about penalty. A judge in a theft case might make a decision based on a case that happened hundreds of years ago.  </a:t>
            </a:r>
          </a:p>
          <a:p>
            <a:pPr marL="0" indent="0">
              <a:buNone/>
            </a:pPr>
            <a:r>
              <a:rPr lang="en-AU" sz="2800" dirty="0"/>
              <a:t>Alternatively, although the facts are similar – for example, both cases might involve stealing a loaf of bread – the judge may decide that different conditions in society then and now mean that today’s case should not be decided in the same way.</a:t>
            </a:r>
          </a:p>
        </p:txBody>
      </p:sp>
      <p:pic>
        <p:nvPicPr>
          <p:cNvPr id="5" name="Picture 4">
            <a:extLst>
              <a:ext uri="{FF2B5EF4-FFF2-40B4-BE49-F238E27FC236}">
                <a16:creationId xmlns:a16="http://schemas.microsoft.com/office/drawing/2014/main" id="{3CDC2FDE-B2D4-4DF8-B21B-4F788124BE70}"/>
              </a:ext>
            </a:extLst>
          </p:cNvPr>
          <p:cNvPicPr>
            <a:picLocks noChangeAspect="1"/>
          </p:cNvPicPr>
          <p:nvPr/>
        </p:nvPicPr>
        <p:blipFill>
          <a:blip r:embed="rId2"/>
          <a:stretch>
            <a:fillRect/>
          </a:stretch>
        </p:blipFill>
        <p:spPr>
          <a:xfrm>
            <a:off x="10795895" y="632146"/>
            <a:ext cx="1396105" cy="1390008"/>
          </a:xfrm>
          <a:prstGeom prst="rect">
            <a:avLst/>
          </a:prstGeom>
        </p:spPr>
      </p:pic>
    </p:spTree>
    <p:extLst>
      <p:ext uri="{BB962C8B-B14F-4D97-AF65-F5344CB8AC3E}">
        <p14:creationId xmlns:p14="http://schemas.microsoft.com/office/powerpoint/2010/main" val="4193567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6E05C-D384-4B2A-A4C3-9151FBCA7FF8}"/>
              </a:ext>
            </a:extLst>
          </p:cNvPr>
          <p:cNvSpPr>
            <a:spLocks noGrp="1"/>
          </p:cNvSpPr>
          <p:nvPr>
            <p:ph idx="1"/>
          </p:nvPr>
        </p:nvSpPr>
        <p:spPr>
          <a:xfrm>
            <a:off x="1154954" y="2603499"/>
            <a:ext cx="8825659" cy="4052133"/>
          </a:xfrm>
        </p:spPr>
        <p:txBody>
          <a:bodyPr>
            <a:normAutofit lnSpcReduction="10000"/>
          </a:bodyPr>
          <a:lstStyle/>
          <a:p>
            <a:pPr marL="0" indent="0">
              <a:buNone/>
            </a:pPr>
            <a:r>
              <a:rPr lang="en-AU" sz="2800" dirty="0"/>
              <a:t>Common law is the law developed by judges over time, based on decisions in previous cases.  </a:t>
            </a:r>
          </a:p>
          <a:p>
            <a:pPr marL="0" indent="0">
              <a:buNone/>
            </a:pPr>
            <a:r>
              <a:rPr lang="en-AU" sz="2800" dirty="0"/>
              <a:t>These decisions are recorded in special law report books to which lawyers can refer to argue their cases and judges can refer to make their decisions. </a:t>
            </a:r>
          </a:p>
          <a:p>
            <a:pPr marL="0" indent="0">
              <a:buNone/>
            </a:pPr>
            <a:r>
              <a:rPr lang="en-AU" sz="2800" dirty="0"/>
              <a:t>It is only the decisions of the highest and most important courts that are recorded and referred to in this way.</a:t>
            </a:r>
          </a:p>
        </p:txBody>
      </p:sp>
      <p:pic>
        <p:nvPicPr>
          <p:cNvPr id="6" name="Picture 5">
            <a:extLst>
              <a:ext uri="{FF2B5EF4-FFF2-40B4-BE49-F238E27FC236}">
                <a16:creationId xmlns:a16="http://schemas.microsoft.com/office/drawing/2014/main" id="{78B87E09-B5DC-40F7-A9E0-B818DC5E52F7}"/>
              </a:ext>
            </a:extLst>
          </p:cNvPr>
          <p:cNvPicPr>
            <a:picLocks noChangeAspect="1"/>
          </p:cNvPicPr>
          <p:nvPr/>
        </p:nvPicPr>
        <p:blipFill>
          <a:blip r:embed="rId2"/>
          <a:stretch>
            <a:fillRect/>
          </a:stretch>
        </p:blipFill>
        <p:spPr>
          <a:xfrm>
            <a:off x="10617824" y="2203494"/>
            <a:ext cx="1359526" cy="1371719"/>
          </a:xfrm>
          <a:prstGeom prst="rect">
            <a:avLst/>
          </a:prstGeom>
        </p:spPr>
      </p:pic>
    </p:spTree>
    <p:extLst>
      <p:ext uri="{BB962C8B-B14F-4D97-AF65-F5344CB8AC3E}">
        <p14:creationId xmlns:p14="http://schemas.microsoft.com/office/powerpoint/2010/main" val="1429342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Statute and Common Law</a:t>
            </a:r>
          </a:p>
        </p:txBody>
      </p:sp>
      <p:sp>
        <p:nvSpPr>
          <p:cNvPr id="3" name="Content Placeholder 2"/>
          <p:cNvSpPr>
            <a:spLocks noGrp="1"/>
          </p:cNvSpPr>
          <p:nvPr>
            <p:ph idx="1"/>
          </p:nvPr>
        </p:nvSpPr>
        <p:spPr/>
        <p:txBody>
          <a:bodyPr>
            <a:normAutofit lnSpcReduction="10000"/>
          </a:bodyPr>
          <a:lstStyle/>
          <a:p>
            <a:r>
              <a:rPr lang="en-US" sz="3600" dirty="0"/>
              <a:t>Statute law is made in parliament.</a:t>
            </a:r>
          </a:p>
          <a:p>
            <a:r>
              <a:rPr lang="en-US" sz="3600" dirty="0"/>
              <a:t>Common law is made in the courts.</a:t>
            </a:r>
          </a:p>
          <a:p>
            <a:r>
              <a:rPr lang="en-US" sz="3600" dirty="0"/>
              <a:t>Common law is generally made by setting a ‘precedent’, which means no other law applies to the case that is being presided over.</a:t>
            </a:r>
          </a:p>
        </p:txBody>
      </p:sp>
      <p:pic>
        <p:nvPicPr>
          <p:cNvPr id="5" name="Picture 4">
            <a:extLst>
              <a:ext uri="{FF2B5EF4-FFF2-40B4-BE49-F238E27FC236}">
                <a16:creationId xmlns:a16="http://schemas.microsoft.com/office/drawing/2014/main" id="{6F5E821F-27CA-4444-9DDA-D26FAE65068D}"/>
              </a:ext>
            </a:extLst>
          </p:cNvPr>
          <p:cNvPicPr>
            <a:picLocks noChangeAspect="1"/>
          </p:cNvPicPr>
          <p:nvPr/>
        </p:nvPicPr>
        <p:blipFill>
          <a:blip r:embed="rId2"/>
          <a:stretch>
            <a:fillRect/>
          </a:stretch>
        </p:blipFill>
        <p:spPr>
          <a:xfrm>
            <a:off x="10512892" y="2308425"/>
            <a:ext cx="1359526" cy="1371719"/>
          </a:xfrm>
          <a:prstGeom prst="rect">
            <a:avLst/>
          </a:prstGeom>
        </p:spPr>
      </p:pic>
    </p:spTree>
    <p:extLst>
      <p:ext uri="{BB962C8B-B14F-4D97-AF65-F5344CB8AC3E}">
        <p14:creationId xmlns:p14="http://schemas.microsoft.com/office/powerpoint/2010/main" val="1853199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Civil and Criminal Law</a:t>
            </a:r>
          </a:p>
        </p:txBody>
      </p:sp>
      <p:sp>
        <p:nvSpPr>
          <p:cNvPr id="3" name="Content Placeholder 2"/>
          <p:cNvSpPr>
            <a:spLocks noGrp="1"/>
          </p:cNvSpPr>
          <p:nvPr>
            <p:ph idx="1"/>
          </p:nvPr>
        </p:nvSpPr>
        <p:spPr/>
        <p:txBody>
          <a:bodyPr>
            <a:normAutofit fontScale="92500"/>
          </a:bodyPr>
          <a:lstStyle/>
          <a:p>
            <a:r>
              <a:rPr lang="en-US" sz="3600" dirty="0"/>
              <a:t>Civil law impacts on just a few people.</a:t>
            </a:r>
          </a:p>
          <a:p>
            <a:r>
              <a:rPr lang="en-US" sz="3600" dirty="0"/>
              <a:t>Criminal law impacts on the whole society.</a:t>
            </a:r>
          </a:p>
          <a:p>
            <a:r>
              <a:rPr lang="en-US" sz="3600" dirty="0"/>
              <a:t>Criminal laws are made about crimes that are generally more serious than common law-based crimes.</a:t>
            </a:r>
          </a:p>
        </p:txBody>
      </p:sp>
      <p:pic>
        <p:nvPicPr>
          <p:cNvPr id="5" name="Picture 4">
            <a:extLst>
              <a:ext uri="{FF2B5EF4-FFF2-40B4-BE49-F238E27FC236}">
                <a16:creationId xmlns:a16="http://schemas.microsoft.com/office/drawing/2014/main" id="{AFF0BBDA-62F5-467C-A26E-03CAF1FDAFCE}"/>
              </a:ext>
            </a:extLst>
          </p:cNvPr>
          <p:cNvPicPr>
            <a:picLocks noChangeAspect="1"/>
          </p:cNvPicPr>
          <p:nvPr/>
        </p:nvPicPr>
        <p:blipFill>
          <a:blip r:embed="rId2"/>
          <a:stretch>
            <a:fillRect/>
          </a:stretch>
        </p:blipFill>
        <p:spPr>
          <a:xfrm>
            <a:off x="10527883" y="2603500"/>
            <a:ext cx="1359526" cy="1371719"/>
          </a:xfrm>
          <a:prstGeom prst="rect">
            <a:avLst/>
          </a:prstGeom>
        </p:spPr>
      </p:pic>
    </p:spTree>
    <p:extLst>
      <p:ext uri="{BB962C8B-B14F-4D97-AF65-F5344CB8AC3E}">
        <p14:creationId xmlns:p14="http://schemas.microsoft.com/office/powerpoint/2010/main" val="2454708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366CE2-1632-4664-A278-8F6E214E4102}"/>
              </a:ext>
            </a:extLst>
          </p:cNvPr>
          <p:cNvPicPr>
            <a:picLocks noChangeAspect="1"/>
          </p:cNvPicPr>
          <p:nvPr/>
        </p:nvPicPr>
        <p:blipFill>
          <a:blip r:embed="rId3"/>
          <a:stretch>
            <a:fillRect/>
          </a:stretch>
        </p:blipFill>
        <p:spPr>
          <a:xfrm>
            <a:off x="6096000" y="1019175"/>
            <a:ext cx="5648325" cy="4819650"/>
          </a:xfrm>
          <a:prstGeom prst="rect">
            <a:avLst/>
          </a:prstGeom>
        </p:spPr>
      </p:pic>
      <p:sp>
        <p:nvSpPr>
          <p:cNvPr id="4" name="TextBox 3">
            <a:extLst>
              <a:ext uri="{FF2B5EF4-FFF2-40B4-BE49-F238E27FC236}">
                <a16:creationId xmlns:a16="http://schemas.microsoft.com/office/drawing/2014/main" id="{537F2204-8E55-46E6-998C-CA823FB10E28}"/>
              </a:ext>
            </a:extLst>
          </p:cNvPr>
          <p:cNvSpPr txBox="1"/>
          <p:nvPr/>
        </p:nvSpPr>
        <p:spPr>
          <a:xfrm>
            <a:off x="447675" y="1659285"/>
            <a:ext cx="5150237" cy="3970318"/>
          </a:xfrm>
          <a:prstGeom prst="rect">
            <a:avLst/>
          </a:prstGeom>
          <a:noFill/>
        </p:spPr>
        <p:txBody>
          <a:bodyPr wrap="square">
            <a:spAutoFit/>
          </a:bodyPr>
          <a:lstStyle/>
          <a:p>
            <a:r>
              <a:rPr lang="en-AU" sz="2800" b="0" i="0" dirty="0">
                <a:solidFill>
                  <a:srgbClr val="111111"/>
                </a:solidFill>
                <a:effectLst/>
                <a:latin typeface="NonBreakingSpaceOverride"/>
              </a:rPr>
              <a:t>The court’s version or interpretation of the law is the ratio decidendi (the reason behind the decision) and binding direction for future judges; the expectation means that lower courts follow the binding precedent based on the reasoning of higher court decisions.</a:t>
            </a:r>
            <a:endParaRPr lang="en-AU" sz="2800" dirty="0"/>
          </a:p>
        </p:txBody>
      </p:sp>
    </p:spTree>
    <p:extLst>
      <p:ext uri="{BB962C8B-B14F-4D97-AF65-F5344CB8AC3E}">
        <p14:creationId xmlns:p14="http://schemas.microsoft.com/office/powerpoint/2010/main" val="736961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64B7-C092-4278-BD26-BE2FF17D67E8}"/>
              </a:ext>
            </a:extLst>
          </p:cNvPr>
          <p:cNvSpPr>
            <a:spLocks noGrp="1"/>
          </p:cNvSpPr>
          <p:nvPr>
            <p:ph type="title"/>
          </p:nvPr>
        </p:nvSpPr>
        <p:spPr>
          <a:xfrm>
            <a:off x="1154954" y="548640"/>
            <a:ext cx="8761413" cy="1490022"/>
          </a:xfrm>
        </p:spPr>
        <p:txBody>
          <a:bodyPr>
            <a:normAutofit/>
          </a:bodyPr>
          <a:lstStyle/>
          <a:p>
            <a:r>
              <a:rPr lang="en-US" altLang="en-US" dirty="0">
                <a:solidFill>
                  <a:schemeClr val="bg1"/>
                </a:solidFill>
                <a:latin typeface="Source Sans Pro" panose="020B0503030403020204" pitchFamily="34" charset="0"/>
              </a:rPr>
              <a:t>Which of the following best describes the legal system of Australia?</a:t>
            </a:r>
            <a:endParaRPr lang="en-AU" dirty="0">
              <a:solidFill>
                <a:schemeClr val="bg1"/>
              </a:solidFill>
            </a:endParaRPr>
          </a:p>
        </p:txBody>
      </p:sp>
      <p:sp>
        <p:nvSpPr>
          <p:cNvPr id="4" name="Rectangle 1">
            <a:extLst>
              <a:ext uri="{FF2B5EF4-FFF2-40B4-BE49-F238E27FC236}">
                <a16:creationId xmlns:a16="http://schemas.microsoft.com/office/drawing/2014/main" id="{CCDDFA54-121E-4DF1-AA5F-1ACA5EAA84C0}"/>
              </a:ext>
            </a:extLst>
          </p:cNvPr>
          <p:cNvSpPr>
            <a:spLocks noChangeArrowheads="1"/>
          </p:cNvSpPr>
          <p:nvPr/>
        </p:nvSpPr>
        <p:spPr bwMode="auto">
          <a:xfrm>
            <a:off x="1115568" y="2492931"/>
            <a:ext cx="772038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flow down and precedents flow up.</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Precedents are initiated by parliament.</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Precedents flow down and appeals flow up.</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are only heard by the Federal Court.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ontrols>
      <mc:AlternateContent xmlns:mc="http://schemas.openxmlformats.org/markup-compatibility/2006">
        <mc:Choice xmlns:v="urn:schemas-microsoft-com:vml" Requires="v">
          <p:control spid="2418" name="HTMLOption1" r:id="rId2" imgW="276120" imgH="304920"/>
        </mc:Choice>
        <mc:Fallback>
          <p:control name="HTMLOption1" r:id="rId2" imgW="276120" imgH="304920">
            <p:pic>
              <p:nvPicPr>
                <p:cNvPr id="5" name="HTMLOption1">
                  <a:extLst>
                    <a:ext uri="{FF2B5EF4-FFF2-40B4-BE49-F238E27FC236}">
                      <a16:creationId xmlns:a16="http://schemas.microsoft.com/office/drawing/2014/main" id="{E37763ED-740C-4E0D-BBB6-8689948D7510}"/>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2419" name="HTMLOption2" r:id="rId3" imgW="276120" imgH="304920"/>
        </mc:Choice>
        <mc:Fallback>
          <p:control name="HTMLOption2" r:id="rId3" imgW="276120" imgH="304920">
            <p:pic>
              <p:nvPicPr>
                <p:cNvPr id="6" name="HTMLOption2">
                  <a:extLst>
                    <a:ext uri="{FF2B5EF4-FFF2-40B4-BE49-F238E27FC236}">
                      <a16:creationId xmlns:a16="http://schemas.microsoft.com/office/drawing/2014/main" id="{393A7429-724D-454B-B779-0555FA5043F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2420" name="HTMLOption3" r:id="rId4" imgW="276120" imgH="304920"/>
        </mc:Choice>
        <mc:Fallback>
          <p:control name="HTMLOption3" r:id="rId4" imgW="276120" imgH="304920">
            <p:pic>
              <p:nvPicPr>
                <p:cNvPr id="7" name="HTMLOption3">
                  <a:extLst>
                    <a:ext uri="{FF2B5EF4-FFF2-40B4-BE49-F238E27FC236}">
                      <a16:creationId xmlns:a16="http://schemas.microsoft.com/office/drawing/2014/main" id="{B5FA81FD-BBEA-438B-8AEE-9D89FE2FEDBE}"/>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2421" name="HTMLOption4" r:id="rId5" imgW="276120" imgH="304920"/>
        </mc:Choice>
        <mc:Fallback>
          <p:control name="HTMLOption4" r:id="rId5" imgW="276120" imgH="304920">
            <p:pic>
              <p:nvPicPr>
                <p:cNvPr id="8" name="HTMLOption4">
                  <a:extLst>
                    <a:ext uri="{FF2B5EF4-FFF2-40B4-BE49-F238E27FC236}">
                      <a16:creationId xmlns:a16="http://schemas.microsoft.com/office/drawing/2014/main" id="{CA9A83A5-B58C-4798-AF2D-9F62D3B16C1F}"/>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415547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64B7-C092-4278-BD26-BE2FF17D67E8}"/>
              </a:ext>
            </a:extLst>
          </p:cNvPr>
          <p:cNvSpPr>
            <a:spLocks noGrp="1"/>
          </p:cNvSpPr>
          <p:nvPr>
            <p:ph type="title"/>
          </p:nvPr>
        </p:nvSpPr>
        <p:spPr>
          <a:xfrm>
            <a:off x="1154954" y="548641"/>
            <a:ext cx="8761413" cy="1520002"/>
          </a:xfrm>
        </p:spPr>
        <p:txBody>
          <a:bodyPr>
            <a:normAutofit/>
          </a:bodyPr>
          <a:lstStyle/>
          <a:p>
            <a:r>
              <a:rPr lang="en-US" altLang="en-US" dirty="0">
                <a:solidFill>
                  <a:schemeClr val="bg1"/>
                </a:solidFill>
                <a:latin typeface="Source Sans Pro" panose="020B0503030403020204" pitchFamily="34" charset="0"/>
              </a:rPr>
              <a:t>Which of the following best describes the legal system of Australia?</a:t>
            </a:r>
            <a:endParaRPr lang="en-AU" dirty="0">
              <a:solidFill>
                <a:schemeClr val="bg1"/>
              </a:solidFill>
            </a:endParaRPr>
          </a:p>
        </p:txBody>
      </p:sp>
      <p:sp>
        <p:nvSpPr>
          <p:cNvPr id="4" name="Rectangle 1">
            <a:extLst>
              <a:ext uri="{FF2B5EF4-FFF2-40B4-BE49-F238E27FC236}">
                <a16:creationId xmlns:a16="http://schemas.microsoft.com/office/drawing/2014/main" id="{CCDDFA54-121E-4DF1-AA5F-1ACA5EAA84C0}"/>
              </a:ext>
            </a:extLst>
          </p:cNvPr>
          <p:cNvSpPr>
            <a:spLocks noChangeArrowheads="1"/>
          </p:cNvSpPr>
          <p:nvPr/>
        </p:nvSpPr>
        <p:spPr bwMode="auto">
          <a:xfrm>
            <a:off x="1115568" y="2492931"/>
            <a:ext cx="772038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flow down and precedents flow up.</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Precedents are initiated by parliament.</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Precedents flow down and appeals flow up.</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are only heard by the Federal Court.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7217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4F6C-1E2D-4D80-B510-BA6C11EA16D8}"/>
              </a:ext>
            </a:extLst>
          </p:cNvPr>
          <p:cNvSpPr>
            <a:spLocks noGrp="1"/>
          </p:cNvSpPr>
          <p:nvPr>
            <p:ph type="title"/>
          </p:nvPr>
        </p:nvSpPr>
        <p:spPr>
          <a:xfrm>
            <a:off x="1154954" y="554637"/>
            <a:ext cx="8761413" cy="1379094"/>
          </a:xfrm>
        </p:spPr>
        <p:txBody>
          <a:bodyPr>
            <a:normAutofit/>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the meaning of ‘on the balance of probabilities’?</a:t>
            </a:r>
            <a:endParaRPr lang="en-AU" dirty="0">
              <a:solidFill>
                <a:schemeClr val="bg1"/>
              </a:solidFill>
            </a:endParaRPr>
          </a:p>
        </p:txBody>
      </p:sp>
      <p:sp>
        <p:nvSpPr>
          <p:cNvPr id="4" name="Rectangle 1">
            <a:extLst>
              <a:ext uri="{FF2B5EF4-FFF2-40B4-BE49-F238E27FC236}">
                <a16:creationId xmlns:a16="http://schemas.microsoft.com/office/drawing/2014/main" id="{0D64CCAC-64F6-453E-B52C-FDD3E74F8946}"/>
              </a:ext>
            </a:extLst>
          </p:cNvPr>
          <p:cNvSpPr>
            <a:spLocks noChangeArrowheads="1"/>
          </p:cNvSpPr>
          <p:nvPr/>
        </p:nvSpPr>
        <p:spPr bwMode="auto">
          <a:xfrm>
            <a:off x="574279" y="2273617"/>
            <a:ext cx="1125070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judge believes that there is sufficient evidence to show that it is likely the defendant harmed the plaintiff in some way.</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is believed that the plaintiff is guilty beyond reasonable doubt of the accusations against them.</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jury has convicted the accused based on the evidence presented to them by the prosecution.</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offender is more than likely to re-offend and imprisonment is the best option for sentencing and providing compensation.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5815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4F6C-1E2D-4D80-B510-BA6C11EA16D8}"/>
              </a:ext>
            </a:extLst>
          </p:cNvPr>
          <p:cNvSpPr>
            <a:spLocks noGrp="1"/>
          </p:cNvSpPr>
          <p:nvPr>
            <p:ph type="title"/>
          </p:nvPr>
        </p:nvSpPr>
        <p:spPr>
          <a:xfrm>
            <a:off x="1154954" y="644577"/>
            <a:ext cx="8761413" cy="1079291"/>
          </a:xfrm>
        </p:spPr>
        <p:txBody>
          <a:bodyPr>
            <a:normAutofit fontScale="90000"/>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the meaning of ‘on the balance of probabilities’?</a:t>
            </a:r>
            <a:endParaRPr lang="en-AU" dirty="0">
              <a:solidFill>
                <a:schemeClr val="bg1"/>
              </a:solidFill>
            </a:endParaRPr>
          </a:p>
        </p:txBody>
      </p:sp>
      <p:sp>
        <p:nvSpPr>
          <p:cNvPr id="4" name="Rectangle 1">
            <a:extLst>
              <a:ext uri="{FF2B5EF4-FFF2-40B4-BE49-F238E27FC236}">
                <a16:creationId xmlns:a16="http://schemas.microsoft.com/office/drawing/2014/main" id="{0D64CCAC-64F6-453E-B52C-FDD3E74F8946}"/>
              </a:ext>
            </a:extLst>
          </p:cNvPr>
          <p:cNvSpPr>
            <a:spLocks noChangeArrowheads="1"/>
          </p:cNvSpPr>
          <p:nvPr/>
        </p:nvSpPr>
        <p:spPr bwMode="auto">
          <a:xfrm>
            <a:off x="574279" y="2273617"/>
            <a:ext cx="1125070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The judge believes that there is sufficient evidence to show that it is likely the defendant harmed the plaintiff in some way.</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is believed that the plaintiff is guilty beyond reasonable doubt of the accusations against them.</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jury has convicted the accused based on the evidence presented to them by the prosecution.</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offender is more than likely to re-offend and imprisonment is the best option for sentencing and providing compensation.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5315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BAC2-9683-4AA5-979D-72E8D28737B4}"/>
              </a:ext>
            </a:extLst>
          </p:cNvPr>
          <p:cNvSpPr>
            <a:spLocks noGrp="1"/>
          </p:cNvSpPr>
          <p:nvPr>
            <p:ph type="title"/>
          </p:nvPr>
        </p:nvSpPr>
        <p:spPr>
          <a:xfrm>
            <a:off x="1154954" y="659567"/>
            <a:ext cx="8761413" cy="1364105"/>
          </a:xfrm>
        </p:spPr>
        <p:txBody>
          <a:bodyPr>
            <a:normAutofit/>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meant by the phrase ‘the punishment must fit the crime’?</a:t>
            </a:r>
            <a:endParaRPr lang="en-AU" dirty="0">
              <a:solidFill>
                <a:schemeClr val="bg1"/>
              </a:solidFill>
            </a:endParaRPr>
          </a:p>
        </p:txBody>
      </p:sp>
      <p:sp>
        <p:nvSpPr>
          <p:cNvPr id="4" name="Rectangle 1">
            <a:extLst>
              <a:ext uri="{FF2B5EF4-FFF2-40B4-BE49-F238E27FC236}">
                <a16:creationId xmlns:a16="http://schemas.microsoft.com/office/drawing/2014/main" id="{667AC54B-1039-4E21-8F8D-96E0F761616E}"/>
              </a:ext>
            </a:extLst>
          </p:cNvPr>
          <p:cNvSpPr>
            <a:spLocks noChangeArrowheads="1"/>
          </p:cNvSpPr>
          <p:nvPr/>
        </p:nvSpPr>
        <p:spPr bwMode="auto">
          <a:xfrm>
            <a:off x="663926" y="2547261"/>
            <a:ext cx="11071411" cy="40010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plaintiff must pay just compensation for their actions.</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Offenders have to go to jail for justice to be done.</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sentence of the court should not be too harsh nor too lenient.</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defendant must attend mediation before going to court.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656D78"/>
                </a:solidFill>
                <a:effectLst/>
                <a:latin typeface="Source Sans Pro" panose="020B0503030403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ontrols>
      <mc:AlternateContent xmlns:mc="http://schemas.openxmlformats.org/markup-compatibility/2006">
        <mc:Choice xmlns:v="urn:schemas-microsoft-com:vml" Requires="v">
          <p:control spid="5482" name="HTMLOption1" r:id="rId2" imgW="276120" imgH="304920"/>
        </mc:Choice>
        <mc:Fallback>
          <p:control name="HTMLOption1" r:id="rId2" imgW="276120" imgH="304920">
            <p:pic>
              <p:nvPicPr>
                <p:cNvPr id="5" name="HTMLOption1">
                  <a:extLst>
                    <a:ext uri="{FF2B5EF4-FFF2-40B4-BE49-F238E27FC236}">
                      <a16:creationId xmlns:a16="http://schemas.microsoft.com/office/drawing/2014/main" id="{CF2E95C1-EB67-442A-A32D-0EB7A383E8DE}"/>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5483" name="HTMLOption2" r:id="rId3" imgW="276120" imgH="304920"/>
        </mc:Choice>
        <mc:Fallback>
          <p:control name="HTMLOption2" r:id="rId3" imgW="276120" imgH="304920">
            <p:pic>
              <p:nvPicPr>
                <p:cNvPr id="6" name="HTMLOption2">
                  <a:extLst>
                    <a:ext uri="{FF2B5EF4-FFF2-40B4-BE49-F238E27FC236}">
                      <a16:creationId xmlns:a16="http://schemas.microsoft.com/office/drawing/2014/main" id="{9FD7D787-D927-4575-8AA8-241FAF15973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5484" name="HTMLOption3" r:id="rId4" imgW="276120" imgH="304920"/>
        </mc:Choice>
        <mc:Fallback>
          <p:control name="HTMLOption3" r:id="rId4" imgW="276120" imgH="304920">
            <p:pic>
              <p:nvPicPr>
                <p:cNvPr id="7" name="HTMLOption3">
                  <a:extLst>
                    <a:ext uri="{FF2B5EF4-FFF2-40B4-BE49-F238E27FC236}">
                      <a16:creationId xmlns:a16="http://schemas.microsoft.com/office/drawing/2014/main" id="{7B223011-359F-46FE-81E1-675F94A1A85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5485" name="HTMLOption4" r:id="rId5" imgW="276120" imgH="304920"/>
        </mc:Choice>
        <mc:Fallback>
          <p:control name="HTMLOption4" r:id="rId5" imgW="276120" imgH="304920">
            <p:pic>
              <p:nvPicPr>
                <p:cNvPr id="8" name="HTMLOption4">
                  <a:extLst>
                    <a:ext uri="{FF2B5EF4-FFF2-40B4-BE49-F238E27FC236}">
                      <a16:creationId xmlns:a16="http://schemas.microsoft.com/office/drawing/2014/main" id="{ABE66686-A90B-4562-8481-2B92FE491689}"/>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1350759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BAC2-9683-4AA5-979D-72E8D28737B4}"/>
              </a:ext>
            </a:extLst>
          </p:cNvPr>
          <p:cNvSpPr>
            <a:spLocks noGrp="1"/>
          </p:cNvSpPr>
          <p:nvPr>
            <p:ph type="title"/>
          </p:nvPr>
        </p:nvSpPr>
        <p:spPr/>
        <p:txBody>
          <a:bodyPr>
            <a:normAutofit fontScale="90000"/>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meant by the phrase ‘the punishment must fit the crime’?</a:t>
            </a:r>
            <a:endParaRPr lang="en-AU" dirty="0">
              <a:solidFill>
                <a:schemeClr val="bg1"/>
              </a:solidFill>
            </a:endParaRPr>
          </a:p>
        </p:txBody>
      </p:sp>
      <p:sp>
        <p:nvSpPr>
          <p:cNvPr id="4" name="Rectangle 1">
            <a:extLst>
              <a:ext uri="{FF2B5EF4-FFF2-40B4-BE49-F238E27FC236}">
                <a16:creationId xmlns:a16="http://schemas.microsoft.com/office/drawing/2014/main" id="{667AC54B-1039-4E21-8F8D-96E0F761616E}"/>
              </a:ext>
            </a:extLst>
          </p:cNvPr>
          <p:cNvSpPr>
            <a:spLocks noChangeArrowheads="1"/>
          </p:cNvSpPr>
          <p:nvPr/>
        </p:nvSpPr>
        <p:spPr bwMode="auto">
          <a:xfrm>
            <a:off x="663926" y="2547261"/>
            <a:ext cx="11071411" cy="40010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plaintiff must pay just compensation for their actions.</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Offenders have to go to jail for justice to be done.</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The sentence of the court should not be too harsh nor too lenient.</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defendant must attend mediation before going to court.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656D78"/>
                </a:solidFill>
                <a:effectLst/>
                <a:latin typeface="Source Sans Pro" panose="020B0503030403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ontrols>
      <mc:AlternateContent xmlns:mc="http://schemas.openxmlformats.org/markup-compatibility/2006">
        <mc:Choice xmlns:v="urn:schemas-microsoft-com:vml" Requires="v">
          <p:control spid="7526" name="HTMLOption1" r:id="rId2" imgW="276120" imgH="304920"/>
        </mc:Choice>
        <mc:Fallback>
          <p:control name="HTMLOption1" r:id="rId2" imgW="276120" imgH="304920">
            <p:pic>
              <p:nvPicPr>
                <p:cNvPr id="5" name="HTMLOption1">
                  <a:extLst>
                    <a:ext uri="{FF2B5EF4-FFF2-40B4-BE49-F238E27FC236}">
                      <a16:creationId xmlns:a16="http://schemas.microsoft.com/office/drawing/2014/main" id="{CF2E95C1-EB67-442A-A32D-0EB7A383E8DE}"/>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7527" name="HTMLOption2" r:id="rId3" imgW="276120" imgH="304920"/>
        </mc:Choice>
        <mc:Fallback>
          <p:control name="HTMLOption2" r:id="rId3" imgW="276120" imgH="304920">
            <p:pic>
              <p:nvPicPr>
                <p:cNvPr id="6" name="HTMLOption2">
                  <a:extLst>
                    <a:ext uri="{FF2B5EF4-FFF2-40B4-BE49-F238E27FC236}">
                      <a16:creationId xmlns:a16="http://schemas.microsoft.com/office/drawing/2014/main" id="{9FD7D787-D927-4575-8AA8-241FAF15973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7528" name="HTMLOption3" r:id="rId4" imgW="276120" imgH="304920"/>
        </mc:Choice>
        <mc:Fallback>
          <p:control name="HTMLOption3" r:id="rId4" imgW="276120" imgH="304920">
            <p:pic>
              <p:nvPicPr>
                <p:cNvPr id="7" name="HTMLOption3">
                  <a:extLst>
                    <a:ext uri="{FF2B5EF4-FFF2-40B4-BE49-F238E27FC236}">
                      <a16:creationId xmlns:a16="http://schemas.microsoft.com/office/drawing/2014/main" id="{7B223011-359F-46FE-81E1-675F94A1A85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7529" name="HTMLOption4" r:id="rId5" imgW="276120" imgH="304920"/>
        </mc:Choice>
        <mc:Fallback>
          <p:control name="HTMLOption4" r:id="rId5" imgW="276120" imgH="304920">
            <p:pic>
              <p:nvPicPr>
                <p:cNvPr id="8" name="HTMLOption4">
                  <a:extLst>
                    <a:ext uri="{FF2B5EF4-FFF2-40B4-BE49-F238E27FC236}">
                      <a16:creationId xmlns:a16="http://schemas.microsoft.com/office/drawing/2014/main" id="{ABE66686-A90B-4562-8481-2B92FE491689}"/>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352603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0AAA-7456-4F48-9A33-B0DE0CB3A3B2}"/>
              </a:ext>
            </a:extLst>
          </p:cNvPr>
          <p:cNvSpPr>
            <a:spLocks noGrp="1"/>
          </p:cNvSpPr>
          <p:nvPr>
            <p:ph type="title"/>
          </p:nvPr>
        </p:nvSpPr>
        <p:spPr>
          <a:xfrm>
            <a:off x="1394797" y="853747"/>
            <a:ext cx="8761413" cy="706964"/>
          </a:xfrm>
        </p:spPr>
        <p:txBody>
          <a:bodyPr>
            <a:normAutofit fontScale="90000"/>
          </a:bodyPr>
          <a:lstStyle/>
          <a:p>
            <a:r>
              <a:rPr lang="en-US" altLang="en-US" dirty="0">
                <a:solidFill>
                  <a:schemeClr val="bg1"/>
                </a:solidFill>
                <a:latin typeface="Source Sans Pro" panose="020B0503030403020204" pitchFamily="34" charset="0"/>
              </a:rPr>
              <a:t>Which of the following is </a:t>
            </a:r>
            <a:r>
              <a:rPr lang="en-US" altLang="en-US" i="1" dirty="0">
                <a:solidFill>
                  <a:schemeClr val="bg1"/>
                </a:solidFill>
                <a:latin typeface="Source Sans Pro" panose="020B0503030403020204" pitchFamily="34" charset="0"/>
              </a:rPr>
              <a:t>not</a:t>
            </a:r>
            <a:r>
              <a:rPr lang="en-US" altLang="en-US" dirty="0">
                <a:solidFill>
                  <a:schemeClr val="bg1"/>
                </a:solidFill>
                <a:latin typeface="Source Sans Pro" panose="020B0503030403020204" pitchFamily="34" charset="0"/>
              </a:rPr>
              <a:t> an example of a civil dispute?</a:t>
            </a:r>
            <a:endParaRPr lang="en-AU" dirty="0">
              <a:solidFill>
                <a:schemeClr val="bg1"/>
              </a:solidFill>
            </a:endParaRPr>
          </a:p>
        </p:txBody>
      </p:sp>
      <p:sp>
        <p:nvSpPr>
          <p:cNvPr id="4" name="Rectangle 1">
            <a:extLst>
              <a:ext uri="{FF2B5EF4-FFF2-40B4-BE49-F238E27FC236}">
                <a16:creationId xmlns:a16="http://schemas.microsoft.com/office/drawing/2014/main" id="{A5A2A0B2-71BD-45B9-9E7C-8134EB7A4772}"/>
              </a:ext>
            </a:extLst>
          </p:cNvPr>
          <p:cNvSpPr>
            <a:spLocks noChangeArrowheads="1"/>
          </p:cNvSpPr>
          <p:nvPr/>
        </p:nvSpPr>
        <p:spPr bwMode="auto">
          <a:xfrm>
            <a:off x="772510" y="2807172"/>
            <a:ext cx="10941269" cy="37240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throwing a brick through a shop window</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not following through on an agreement to buy a car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writing a blog which includes falsehoods about a person or their character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leaving electrical wiring exposed without leaving appropriate warning signs</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01135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0AAA-7456-4F48-9A33-B0DE0CB3A3B2}"/>
              </a:ext>
            </a:extLst>
          </p:cNvPr>
          <p:cNvSpPr>
            <a:spLocks noGrp="1"/>
          </p:cNvSpPr>
          <p:nvPr>
            <p:ph type="title"/>
          </p:nvPr>
        </p:nvSpPr>
        <p:spPr/>
        <p:txBody>
          <a:bodyPr>
            <a:normAutofit fontScale="90000"/>
          </a:bodyPr>
          <a:lstStyle/>
          <a:p>
            <a:r>
              <a:rPr lang="en-US" altLang="en-US" dirty="0">
                <a:solidFill>
                  <a:schemeClr val="bg1"/>
                </a:solidFill>
                <a:latin typeface="Source Sans Pro" panose="020B0503030403020204" pitchFamily="34" charset="0"/>
              </a:rPr>
              <a:t>Which of the following is </a:t>
            </a:r>
            <a:r>
              <a:rPr lang="en-US" altLang="en-US" i="1" dirty="0">
                <a:solidFill>
                  <a:schemeClr val="bg1"/>
                </a:solidFill>
                <a:latin typeface="Source Sans Pro" panose="020B0503030403020204" pitchFamily="34" charset="0"/>
              </a:rPr>
              <a:t>not</a:t>
            </a:r>
            <a:r>
              <a:rPr lang="en-US" altLang="en-US" dirty="0">
                <a:solidFill>
                  <a:schemeClr val="bg1"/>
                </a:solidFill>
                <a:latin typeface="Source Sans Pro" panose="020B0503030403020204" pitchFamily="34" charset="0"/>
              </a:rPr>
              <a:t> an example of a civil dispute?</a:t>
            </a:r>
            <a:endParaRPr lang="en-AU" dirty="0">
              <a:solidFill>
                <a:schemeClr val="bg1"/>
              </a:solidFill>
            </a:endParaRPr>
          </a:p>
        </p:txBody>
      </p:sp>
      <p:sp>
        <p:nvSpPr>
          <p:cNvPr id="4" name="Rectangle 1">
            <a:extLst>
              <a:ext uri="{FF2B5EF4-FFF2-40B4-BE49-F238E27FC236}">
                <a16:creationId xmlns:a16="http://schemas.microsoft.com/office/drawing/2014/main" id="{A5A2A0B2-71BD-45B9-9E7C-8134EB7A4772}"/>
              </a:ext>
            </a:extLst>
          </p:cNvPr>
          <p:cNvSpPr>
            <a:spLocks noChangeArrowheads="1"/>
          </p:cNvSpPr>
          <p:nvPr/>
        </p:nvSpPr>
        <p:spPr bwMode="auto">
          <a:xfrm>
            <a:off x="772510" y="2807172"/>
            <a:ext cx="10941269" cy="37240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throwing a brick through a shop window</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not following through on an agreement to buy a car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writing a blog which includes falsehoods about a person or their character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leaving electrical wiring exposed without leaving appropriate warning signs</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3729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0366-F9D5-4468-AB7C-1DA92D9A0E3B}"/>
              </a:ext>
            </a:extLst>
          </p:cNvPr>
          <p:cNvSpPr>
            <a:spLocks noGrp="1"/>
          </p:cNvSpPr>
          <p:nvPr>
            <p:ph type="title"/>
          </p:nvPr>
        </p:nvSpPr>
        <p:spPr/>
        <p:txBody>
          <a:bodyPr>
            <a:normAutofit fontScale="90000"/>
          </a:bodyPr>
          <a:lstStyle/>
          <a:p>
            <a:r>
              <a:rPr lang="en-US" altLang="en-US" dirty="0">
                <a:solidFill>
                  <a:schemeClr val="bg1"/>
                </a:solidFill>
                <a:latin typeface="Source Sans Pro" panose="020B0503030403020204" pitchFamily="34" charset="0"/>
              </a:rPr>
              <a:t>Which is the most correct reason for the hierarchy of courts in Australia?</a:t>
            </a:r>
            <a:endParaRPr lang="en-AU" dirty="0">
              <a:solidFill>
                <a:schemeClr val="bg1"/>
              </a:solidFill>
            </a:endParaRPr>
          </a:p>
        </p:txBody>
      </p:sp>
      <p:sp>
        <p:nvSpPr>
          <p:cNvPr id="4" name="Rectangle 1">
            <a:extLst>
              <a:ext uri="{FF2B5EF4-FFF2-40B4-BE49-F238E27FC236}">
                <a16:creationId xmlns:a16="http://schemas.microsoft.com/office/drawing/2014/main" id="{35ABD5B7-AE53-4A0F-983E-68A3E075F9BC}"/>
              </a:ext>
            </a:extLst>
          </p:cNvPr>
          <p:cNvSpPr>
            <a:spLocks noChangeArrowheads="1"/>
          </p:cNvSpPr>
          <p:nvPr/>
        </p:nvSpPr>
        <p:spPr bwMode="auto">
          <a:xfrm>
            <a:off x="1115568" y="2248279"/>
            <a:ext cx="1059821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follows the principles of the separation of powers by providing separation of church and state.</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There is a need to separate cases, so they are dealt with before precedent expires.</a:t>
            </a:r>
          </a:p>
          <a:p>
            <a:pPr marL="514350" indent="-514350" eaLnBrk="0" fontAlgn="base" hangingPunct="0">
              <a:spcBef>
                <a:spcPct val="0"/>
              </a:spcBef>
              <a:spcAft>
                <a:spcPts val="1200"/>
              </a:spcAft>
              <a:buFont typeface="+mj-lt"/>
              <a:buAutoNum type="alphaLcPeriod"/>
            </a:pPr>
            <a:r>
              <a:rPr kumimoji="0" lang="en-US" altLang="en-US" sz="2800" b="1" i="0" u="none" strike="noStrike" cap="none" normalizeH="0" baseline="0" dirty="0">
                <a:ln>
                  <a:noFill/>
                </a:ln>
                <a:solidFill>
                  <a:srgbClr val="434A54"/>
                </a:solidFill>
                <a:effectLst/>
                <a:latin typeface="Source Sans Pro" panose="020B0503030403020204" pitchFamily="34" charset="0"/>
              </a:rPr>
              <a:t>When Australia became a country, the Westminster system was </a:t>
            </a:r>
            <a:r>
              <a:rPr lang="en-US" altLang="en-US" sz="2800" b="1" dirty="0">
                <a:solidFill>
                  <a:srgbClr val="434A54"/>
                </a:solidFill>
                <a:latin typeface="Source Sans Pro" panose="020B0503030403020204" pitchFamily="34" charset="0"/>
              </a:rPr>
              <a:t>adopted and never changed.</a:t>
            </a:r>
          </a:p>
          <a:p>
            <a:pPr marL="514350" indent="-514350" eaLnBrk="0" fontAlgn="base" hangingPunct="0">
              <a:spcBef>
                <a:spcPct val="0"/>
              </a:spcBef>
              <a:spcAft>
                <a:spcPts val="1200"/>
              </a:spcAft>
              <a:buFont typeface="+mj-lt"/>
              <a:buAutoNum type="alphaLcPeriod"/>
            </a:pPr>
            <a:r>
              <a:rPr lang="en-US" altLang="en-US" sz="2800" b="1" dirty="0">
                <a:solidFill>
                  <a:srgbClr val="434A54"/>
                </a:solidFill>
                <a:highlight>
                  <a:srgbClr val="FFFF00"/>
                </a:highlight>
                <a:latin typeface="Source Sans Pro" panose="020B0503030403020204" pitchFamily="34" charset="0"/>
              </a:rPr>
              <a:t>It allows for specialist knowledge and efficiency in dealing with legal matters.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7487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0366-F9D5-4468-AB7C-1DA92D9A0E3B}"/>
              </a:ext>
            </a:extLst>
          </p:cNvPr>
          <p:cNvSpPr>
            <a:spLocks noGrp="1"/>
          </p:cNvSpPr>
          <p:nvPr>
            <p:ph type="title"/>
          </p:nvPr>
        </p:nvSpPr>
        <p:spPr/>
        <p:txBody>
          <a:bodyPr>
            <a:normAutofit fontScale="90000"/>
          </a:bodyPr>
          <a:lstStyle/>
          <a:p>
            <a:r>
              <a:rPr lang="en-US" altLang="en-US" dirty="0">
                <a:solidFill>
                  <a:schemeClr val="bg1"/>
                </a:solidFill>
                <a:latin typeface="Source Sans Pro" panose="020B0503030403020204" pitchFamily="34" charset="0"/>
              </a:rPr>
              <a:t>Which is the most correct reason for the hierarchy of courts in Australia?</a:t>
            </a:r>
            <a:endParaRPr lang="en-AU" dirty="0">
              <a:solidFill>
                <a:schemeClr val="bg1"/>
              </a:solidFill>
            </a:endParaRPr>
          </a:p>
        </p:txBody>
      </p:sp>
      <p:sp>
        <p:nvSpPr>
          <p:cNvPr id="4" name="Rectangle 1">
            <a:extLst>
              <a:ext uri="{FF2B5EF4-FFF2-40B4-BE49-F238E27FC236}">
                <a16:creationId xmlns:a16="http://schemas.microsoft.com/office/drawing/2014/main" id="{35ABD5B7-AE53-4A0F-983E-68A3E075F9BC}"/>
              </a:ext>
            </a:extLst>
          </p:cNvPr>
          <p:cNvSpPr>
            <a:spLocks noChangeArrowheads="1"/>
          </p:cNvSpPr>
          <p:nvPr/>
        </p:nvSpPr>
        <p:spPr bwMode="auto">
          <a:xfrm>
            <a:off x="1115568" y="2248279"/>
            <a:ext cx="1059821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follows the principles of the separation of powers by providing separation of church and state.</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There is a need to separate cases, so they are dealt with before precedent expires.</a:t>
            </a:r>
          </a:p>
          <a:p>
            <a:pPr marL="514350" indent="-514350" eaLnBrk="0" fontAlgn="base" hangingPunct="0">
              <a:spcBef>
                <a:spcPct val="0"/>
              </a:spcBef>
              <a:spcAft>
                <a:spcPts val="1200"/>
              </a:spcAft>
              <a:buFont typeface="+mj-lt"/>
              <a:buAutoNum type="alphaLcPeriod"/>
            </a:pPr>
            <a:r>
              <a:rPr kumimoji="0" lang="en-US" altLang="en-US" sz="2800" b="1" i="0" u="none" strike="noStrike" cap="none" normalizeH="0" baseline="0" dirty="0">
                <a:ln>
                  <a:noFill/>
                </a:ln>
                <a:solidFill>
                  <a:srgbClr val="434A54"/>
                </a:solidFill>
                <a:effectLst/>
                <a:latin typeface="Source Sans Pro" panose="020B0503030403020204" pitchFamily="34" charset="0"/>
              </a:rPr>
              <a:t>When Australia became a country, the Westminster system was </a:t>
            </a:r>
            <a:r>
              <a:rPr lang="en-US" altLang="en-US" sz="2800" b="1" dirty="0">
                <a:solidFill>
                  <a:srgbClr val="434A54"/>
                </a:solidFill>
                <a:latin typeface="Source Sans Pro" panose="020B0503030403020204" pitchFamily="34" charset="0"/>
              </a:rPr>
              <a:t>adopted and never changed.</a:t>
            </a:r>
          </a:p>
          <a:p>
            <a:pPr marL="514350" indent="-514350" eaLnBrk="0" fontAlgn="base" hangingPunct="0">
              <a:spcBef>
                <a:spcPct val="0"/>
              </a:spcBef>
              <a:spcAft>
                <a:spcPts val="1200"/>
              </a:spcAft>
              <a:buFont typeface="+mj-lt"/>
              <a:buAutoNum type="alphaLcPeriod"/>
            </a:pPr>
            <a:r>
              <a:rPr lang="en-US" altLang="en-US" sz="2800" b="1" dirty="0">
                <a:solidFill>
                  <a:srgbClr val="434A54"/>
                </a:solidFill>
                <a:latin typeface="Source Sans Pro" panose="020B0503030403020204" pitchFamily="34" charset="0"/>
              </a:rPr>
              <a:t>It allows for specialist knowledge and efficiency in dealing with legal matters.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6993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0366-F9D5-4468-AB7C-1DA92D9A0E3B}"/>
              </a:ext>
            </a:extLst>
          </p:cNvPr>
          <p:cNvSpPr>
            <a:spLocks noGrp="1"/>
          </p:cNvSpPr>
          <p:nvPr>
            <p:ph type="title"/>
          </p:nvPr>
        </p:nvSpPr>
        <p:spPr/>
        <p:txBody>
          <a:bodyPr>
            <a:normAutofit fontScale="90000"/>
          </a:bodyPr>
          <a:lstStyle/>
          <a:p>
            <a:r>
              <a:rPr lang="en-US" altLang="en-US" dirty="0">
                <a:solidFill>
                  <a:schemeClr val="bg1"/>
                </a:solidFill>
                <a:latin typeface="Source Sans Pro" panose="020B0503030403020204" pitchFamily="34" charset="0"/>
              </a:rPr>
              <a:t>Which is the most correct reason for the hierarchy of courts in Australia?</a:t>
            </a:r>
            <a:endParaRPr lang="en-AU" dirty="0">
              <a:solidFill>
                <a:schemeClr val="bg1"/>
              </a:solidFill>
            </a:endParaRPr>
          </a:p>
        </p:txBody>
      </p:sp>
      <p:sp>
        <p:nvSpPr>
          <p:cNvPr id="4" name="Rectangle 1">
            <a:extLst>
              <a:ext uri="{FF2B5EF4-FFF2-40B4-BE49-F238E27FC236}">
                <a16:creationId xmlns:a16="http://schemas.microsoft.com/office/drawing/2014/main" id="{35ABD5B7-AE53-4A0F-983E-68A3E075F9BC}"/>
              </a:ext>
            </a:extLst>
          </p:cNvPr>
          <p:cNvSpPr>
            <a:spLocks noChangeArrowheads="1"/>
          </p:cNvSpPr>
          <p:nvPr/>
        </p:nvSpPr>
        <p:spPr bwMode="auto">
          <a:xfrm>
            <a:off x="1115568" y="2248279"/>
            <a:ext cx="1059821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follows the principles of the separation of powers by providing separation of church and state.</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There is a need to separate cases, so they are dealt with before precedent expires.</a:t>
            </a:r>
          </a:p>
          <a:p>
            <a:pPr marL="514350" indent="-514350" eaLnBrk="0" fontAlgn="base" hangingPunct="0">
              <a:spcBef>
                <a:spcPct val="0"/>
              </a:spcBef>
              <a:spcAft>
                <a:spcPts val="1200"/>
              </a:spcAft>
              <a:buFont typeface="+mj-lt"/>
              <a:buAutoNum type="alphaLcPeriod"/>
            </a:pPr>
            <a:r>
              <a:rPr kumimoji="0" lang="en-US" altLang="en-US" sz="2800" b="1" i="0" u="none" strike="noStrike" cap="none" normalizeH="0" baseline="0" dirty="0">
                <a:ln>
                  <a:noFill/>
                </a:ln>
                <a:solidFill>
                  <a:srgbClr val="434A54"/>
                </a:solidFill>
                <a:effectLst/>
                <a:latin typeface="Source Sans Pro" panose="020B0503030403020204" pitchFamily="34" charset="0"/>
              </a:rPr>
              <a:t>When Australia became a country, the Westminster system was </a:t>
            </a:r>
            <a:r>
              <a:rPr lang="en-US" altLang="en-US" sz="2800" b="1" dirty="0">
                <a:solidFill>
                  <a:srgbClr val="434A54"/>
                </a:solidFill>
                <a:latin typeface="Source Sans Pro" panose="020B0503030403020204" pitchFamily="34" charset="0"/>
              </a:rPr>
              <a:t>adopted and never changed.</a:t>
            </a:r>
          </a:p>
          <a:p>
            <a:pPr marL="514350" indent="-514350" eaLnBrk="0" fontAlgn="base" hangingPunct="0">
              <a:spcBef>
                <a:spcPct val="0"/>
              </a:spcBef>
              <a:spcAft>
                <a:spcPts val="1200"/>
              </a:spcAft>
              <a:buFont typeface="+mj-lt"/>
              <a:buAutoNum type="alphaLcPeriod"/>
            </a:pPr>
            <a:r>
              <a:rPr lang="en-US" altLang="en-US" sz="2800" b="1" dirty="0">
                <a:solidFill>
                  <a:srgbClr val="434A54"/>
                </a:solidFill>
                <a:latin typeface="Source Sans Pro" panose="020B0503030403020204" pitchFamily="34" charset="0"/>
              </a:rPr>
              <a:t>It allows for specialist knowledge and efficiency in dealing with legal matters.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1669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3C58-7F1C-46AB-9F95-65FA43752101}"/>
              </a:ext>
            </a:extLst>
          </p:cNvPr>
          <p:cNvSpPr>
            <a:spLocks noGrp="1"/>
          </p:cNvSpPr>
          <p:nvPr>
            <p:ph type="title"/>
          </p:nvPr>
        </p:nvSpPr>
        <p:spPr>
          <a:xfrm>
            <a:off x="1115568" y="548640"/>
            <a:ext cx="7308904" cy="1179576"/>
          </a:xfrm>
        </p:spPr>
        <p:txBody>
          <a:bodyPr>
            <a:normAutofit fontScale="90000"/>
          </a:bodyPr>
          <a:lstStyle/>
          <a:p>
            <a:r>
              <a:rPr lang="en-AU" dirty="0"/>
              <a:t>Advantages and disadvantages of precedents</a:t>
            </a:r>
          </a:p>
        </p:txBody>
      </p:sp>
      <p:sp>
        <p:nvSpPr>
          <p:cNvPr id="3" name="Content Placeholder 2">
            <a:extLst>
              <a:ext uri="{FF2B5EF4-FFF2-40B4-BE49-F238E27FC236}">
                <a16:creationId xmlns:a16="http://schemas.microsoft.com/office/drawing/2014/main" id="{A6075BEE-4769-4AF7-BE2D-9DE9939AB904}"/>
              </a:ext>
            </a:extLst>
          </p:cNvPr>
          <p:cNvSpPr>
            <a:spLocks noGrp="1"/>
          </p:cNvSpPr>
          <p:nvPr>
            <p:ph idx="1"/>
          </p:nvPr>
        </p:nvSpPr>
        <p:spPr>
          <a:xfrm>
            <a:off x="1154954" y="2398426"/>
            <a:ext cx="8825659" cy="854440"/>
          </a:xfrm>
        </p:spPr>
        <p:txBody>
          <a:bodyPr/>
          <a:lstStyle/>
          <a:p>
            <a:r>
              <a:rPr lang="en-AU" sz="2000" b="1" dirty="0"/>
              <a:t>Watch this video and make a table like below to take notes from the video</a:t>
            </a:r>
          </a:p>
          <a:p>
            <a:endParaRPr lang="en-AU" dirty="0"/>
          </a:p>
        </p:txBody>
      </p:sp>
      <p:pic>
        <p:nvPicPr>
          <p:cNvPr id="9218" name="Picture 2" descr="Video Icon Icons - Download Free Vector Icons | Noun Project">
            <a:hlinkClick r:id="rId2"/>
            <a:extLst>
              <a:ext uri="{FF2B5EF4-FFF2-40B4-BE49-F238E27FC236}">
                <a16:creationId xmlns:a16="http://schemas.microsoft.com/office/drawing/2014/main" id="{AE938E5B-E2CC-4A05-9B12-0943B161A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7796" y="1873146"/>
            <a:ext cx="1905000" cy="190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5">
            <a:extLst>
              <a:ext uri="{FF2B5EF4-FFF2-40B4-BE49-F238E27FC236}">
                <a16:creationId xmlns:a16="http://schemas.microsoft.com/office/drawing/2014/main" id="{084DB43F-1C17-4E08-BEED-7AC6449A645B}"/>
              </a:ext>
            </a:extLst>
          </p:cNvPr>
          <p:cNvGraphicFramePr>
            <a:graphicFrameLocks noGrp="1"/>
          </p:cNvGraphicFramePr>
          <p:nvPr>
            <p:extLst>
              <p:ext uri="{D42A27DB-BD31-4B8C-83A1-F6EECF244321}">
                <p14:modId xmlns:p14="http://schemas.microsoft.com/office/powerpoint/2010/main" val="1543552174"/>
              </p:ext>
            </p:extLst>
          </p:nvPr>
        </p:nvGraphicFramePr>
        <p:xfrm>
          <a:off x="1685561" y="3252866"/>
          <a:ext cx="8128000" cy="320789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993234272"/>
                    </a:ext>
                  </a:extLst>
                </a:gridCol>
                <a:gridCol w="4064000">
                  <a:extLst>
                    <a:ext uri="{9D8B030D-6E8A-4147-A177-3AD203B41FA5}">
                      <a16:colId xmlns:a16="http://schemas.microsoft.com/office/drawing/2014/main" val="4124531468"/>
                    </a:ext>
                  </a:extLst>
                </a:gridCol>
              </a:tblGrid>
              <a:tr h="801974">
                <a:tc>
                  <a:txBody>
                    <a:bodyPr/>
                    <a:lstStyle/>
                    <a:p>
                      <a:r>
                        <a:rPr lang="en-AU" dirty="0"/>
                        <a:t>Advantages of precedents</a:t>
                      </a:r>
                    </a:p>
                  </a:txBody>
                  <a:tcPr/>
                </a:tc>
                <a:tc>
                  <a:txBody>
                    <a:bodyPr/>
                    <a:lstStyle/>
                    <a:p>
                      <a:r>
                        <a:rPr lang="en-AU" dirty="0"/>
                        <a:t>Disadvantages of precedents</a:t>
                      </a:r>
                    </a:p>
                  </a:txBody>
                  <a:tcPr/>
                </a:tc>
                <a:extLst>
                  <a:ext uri="{0D108BD9-81ED-4DB2-BD59-A6C34878D82A}">
                    <a16:rowId xmlns:a16="http://schemas.microsoft.com/office/drawing/2014/main" val="2798174698"/>
                  </a:ext>
                </a:extLst>
              </a:tr>
              <a:tr h="801974">
                <a:tc>
                  <a:txBody>
                    <a:bodyPr/>
                    <a:lstStyle/>
                    <a:p>
                      <a:endParaRPr lang="en-AU"/>
                    </a:p>
                  </a:txBody>
                  <a:tcPr/>
                </a:tc>
                <a:tc>
                  <a:txBody>
                    <a:bodyPr/>
                    <a:lstStyle/>
                    <a:p>
                      <a:endParaRPr lang="en-AU"/>
                    </a:p>
                  </a:txBody>
                  <a:tcPr/>
                </a:tc>
                <a:extLst>
                  <a:ext uri="{0D108BD9-81ED-4DB2-BD59-A6C34878D82A}">
                    <a16:rowId xmlns:a16="http://schemas.microsoft.com/office/drawing/2014/main" val="791535766"/>
                  </a:ext>
                </a:extLst>
              </a:tr>
              <a:tr h="801974">
                <a:tc>
                  <a:txBody>
                    <a:bodyPr/>
                    <a:lstStyle/>
                    <a:p>
                      <a:endParaRPr lang="en-AU"/>
                    </a:p>
                  </a:txBody>
                  <a:tcPr/>
                </a:tc>
                <a:tc>
                  <a:txBody>
                    <a:bodyPr/>
                    <a:lstStyle/>
                    <a:p>
                      <a:endParaRPr lang="en-AU"/>
                    </a:p>
                  </a:txBody>
                  <a:tcPr/>
                </a:tc>
                <a:extLst>
                  <a:ext uri="{0D108BD9-81ED-4DB2-BD59-A6C34878D82A}">
                    <a16:rowId xmlns:a16="http://schemas.microsoft.com/office/drawing/2014/main" val="1181396074"/>
                  </a:ext>
                </a:extLst>
              </a:tr>
              <a:tr h="801974">
                <a:tc>
                  <a:txBody>
                    <a:bodyPr/>
                    <a:lstStyle/>
                    <a:p>
                      <a:endParaRPr lang="en-AU"/>
                    </a:p>
                  </a:txBody>
                  <a:tcPr/>
                </a:tc>
                <a:tc>
                  <a:txBody>
                    <a:bodyPr/>
                    <a:lstStyle/>
                    <a:p>
                      <a:endParaRPr lang="en-AU" dirty="0"/>
                    </a:p>
                  </a:txBody>
                  <a:tcPr/>
                </a:tc>
                <a:extLst>
                  <a:ext uri="{0D108BD9-81ED-4DB2-BD59-A6C34878D82A}">
                    <a16:rowId xmlns:a16="http://schemas.microsoft.com/office/drawing/2014/main" val="1443419074"/>
                  </a:ext>
                </a:extLst>
              </a:tr>
            </a:tbl>
          </a:graphicData>
        </a:graphic>
      </p:graphicFrame>
    </p:spTree>
    <p:extLst>
      <p:ext uri="{BB962C8B-B14F-4D97-AF65-F5344CB8AC3E}">
        <p14:creationId xmlns:p14="http://schemas.microsoft.com/office/powerpoint/2010/main" val="7492382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1046B-06BF-4878-8140-30EA603AFD5B}"/>
              </a:ext>
            </a:extLst>
          </p:cNvPr>
          <p:cNvSpPr>
            <a:spLocks noGrp="1"/>
          </p:cNvSpPr>
          <p:nvPr>
            <p:ph idx="1"/>
          </p:nvPr>
        </p:nvSpPr>
        <p:spPr>
          <a:xfrm>
            <a:off x="1130558" y="2248524"/>
            <a:ext cx="10168128" cy="4302177"/>
          </a:xfrm>
        </p:spPr>
        <p:txBody>
          <a:bodyPr>
            <a:normAutofit fontScale="92500" lnSpcReduction="10000"/>
          </a:bodyPr>
          <a:lstStyle/>
          <a:p>
            <a:r>
              <a:rPr lang="en-US" sz="4000" b="0" i="0" dirty="0">
                <a:solidFill>
                  <a:srgbClr val="000000"/>
                </a:solidFill>
                <a:effectLst/>
                <a:latin typeface="Roboto Condensed"/>
              </a:rPr>
              <a:t>Although many court cases follow existing laws, some cases set new precedents or interpret the law in different ways. As a result, these cases become historic and controversial, influencing how we view future cases for years to come. </a:t>
            </a:r>
          </a:p>
          <a:p>
            <a:r>
              <a:rPr lang="en-US" sz="4000" dirty="0">
                <a:solidFill>
                  <a:srgbClr val="000000"/>
                </a:solidFill>
                <a:latin typeface="Roboto Condensed"/>
              </a:rPr>
              <a:t>Now, Let’s take a </a:t>
            </a:r>
            <a:r>
              <a:rPr lang="en-US" sz="4000" b="0" i="0" dirty="0">
                <a:solidFill>
                  <a:srgbClr val="000000"/>
                </a:solidFill>
                <a:effectLst/>
                <a:latin typeface="Roboto Condensed"/>
              </a:rPr>
              <a:t>look at some of the most famous cases in the history of Australian law.</a:t>
            </a:r>
            <a:endParaRPr lang="en-AU" sz="4000" dirty="0"/>
          </a:p>
        </p:txBody>
      </p:sp>
      <p:pic>
        <p:nvPicPr>
          <p:cNvPr id="5" name="Picture 4">
            <a:extLst>
              <a:ext uri="{FF2B5EF4-FFF2-40B4-BE49-F238E27FC236}">
                <a16:creationId xmlns:a16="http://schemas.microsoft.com/office/drawing/2014/main" id="{189DF519-1DDA-4250-AB1B-2C2632414985}"/>
              </a:ext>
            </a:extLst>
          </p:cNvPr>
          <p:cNvPicPr>
            <a:picLocks noChangeAspect="1"/>
          </p:cNvPicPr>
          <p:nvPr/>
        </p:nvPicPr>
        <p:blipFill>
          <a:blip r:embed="rId2"/>
          <a:stretch>
            <a:fillRect/>
          </a:stretch>
        </p:blipFill>
        <p:spPr>
          <a:xfrm>
            <a:off x="10795895" y="2004934"/>
            <a:ext cx="1249641" cy="1244184"/>
          </a:xfrm>
          <a:prstGeom prst="rect">
            <a:avLst/>
          </a:prstGeom>
        </p:spPr>
      </p:pic>
    </p:spTree>
    <p:extLst>
      <p:ext uri="{BB962C8B-B14F-4D97-AF65-F5344CB8AC3E}">
        <p14:creationId xmlns:p14="http://schemas.microsoft.com/office/powerpoint/2010/main" val="3811576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B1FA-EA8B-4D2D-B773-F3109AF8A5E2}"/>
              </a:ext>
            </a:extLst>
          </p:cNvPr>
          <p:cNvSpPr>
            <a:spLocks noGrp="1"/>
          </p:cNvSpPr>
          <p:nvPr>
            <p:ph type="title"/>
          </p:nvPr>
        </p:nvSpPr>
        <p:spPr/>
        <p:txBody>
          <a:bodyPr/>
          <a:lstStyle/>
          <a:p>
            <a:r>
              <a:rPr lang="nn-NO" dirty="0"/>
              <a:t>Mabo vs Queensland (No 2) – 1992</a:t>
            </a:r>
            <a:endParaRPr lang="en-AU" dirty="0"/>
          </a:p>
        </p:txBody>
      </p:sp>
      <p:sp>
        <p:nvSpPr>
          <p:cNvPr id="3" name="Content Placeholder 2">
            <a:extLst>
              <a:ext uri="{FF2B5EF4-FFF2-40B4-BE49-F238E27FC236}">
                <a16:creationId xmlns:a16="http://schemas.microsoft.com/office/drawing/2014/main" id="{0000867A-5D10-4D5A-B4DE-F2F418277572}"/>
              </a:ext>
            </a:extLst>
          </p:cNvPr>
          <p:cNvSpPr>
            <a:spLocks noGrp="1"/>
          </p:cNvSpPr>
          <p:nvPr>
            <p:ph idx="1"/>
          </p:nvPr>
        </p:nvSpPr>
        <p:spPr>
          <a:xfrm>
            <a:off x="1154954" y="2603500"/>
            <a:ext cx="10462423" cy="4022152"/>
          </a:xfrm>
        </p:spPr>
        <p:txBody>
          <a:bodyPr>
            <a:normAutofit/>
          </a:bodyPr>
          <a:lstStyle/>
          <a:p>
            <a:r>
              <a:rPr lang="en-US" sz="2400" b="1" dirty="0"/>
              <a:t>Mabo vs Queensland (No 2) is arguably the most famous court case in Australian history. The case rewrote national land law, </a:t>
            </a:r>
            <a:r>
              <a:rPr lang="en-US" sz="2400" b="1" dirty="0" err="1"/>
              <a:t>recognising</a:t>
            </a:r>
            <a:r>
              <a:rPr lang="en-US" sz="2400" b="1" dirty="0"/>
              <a:t> indigenous Australians as the original inhabitants of Australia. It also ultimately led to indigenous Australians securing an apology from Prime Minister Kevin Rudd.</a:t>
            </a:r>
          </a:p>
          <a:p>
            <a:endParaRPr lang="en-US" sz="2400" b="1" dirty="0"/>
          </a:p>
          <a:p>
            <a:r>
              <a:rPr lang="en-US" sz="2400" b="1" dirty="0"/>
              <a:t>Overall, the case took over a decade to reach the final conclusion, allowing indigenous people across Australia to claim traditional rights to unalienated land.</a:t>
            </a:r>
            <a:endParaRPr lang="en-AU" sz="2400" b="1" dirty="0"/>
          </a:p>
        </p:txBody>
      </p:sp>
      <p:pic>
        <p:nvPicPr>
          <p:cNvPr id="5" name="Picture 4">
            <a:extLst>
              <a:ext uri="{FF2B5EF4-FFF2-40B4-BE49-F238E27FC236}">
                <a16:creationId xmlns:a16="http://schemas.microsoft.com/office/drawing/2014/main" id="{E93704F2-BBAD-4FD7-A7C8-6378E3F1AFED}"/>
              </a:ext>
            </a:extLst>
          </p:cNvPr>
          <p:cNvPicPr>
            <a:picLocks noChangeAspect="1"/>
          </p:cNvPicPr>
          <p:nvPr/>
        </p:nvPicPr>
        <p:blipFill>
          <a:blip r:embed="rId2"/>
          <a:stretch>
            <a:fillRect/>
          </a:stretch>
        </p:blipFill>
        <p:spPr>
          <a:xfrm>
            <a:off x="10795895" y="1213492"/>
            <a:ext cx="1396105" cy="1390008"/>
          </a:xfrm>
          <a:prstGeom prst="rect">
            <a:avLst/>
          </a:prstGeom>
        </p:spPr>
      </p:pic>
    </p:spTree>
    <p:extLst>
      <p:ext uri="{BB962C8B-B14F-4D97-AF65-F5344CB8AC3E}">
        <p14:creationId xmlns:p14="http://schemas.microsoft.com/office/powerpoint/2010/main" val="2212204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6E4F-6528-4AFB-BA82-8200D73FEED4}"/>
              </a:ext>
            </a:extLst>
          </p:cNvPr>
          <p:cNvSpPr>
            <a:spLocks noGrp="1"/>
          </p:cNvSpPr>
          <p:nvPr>
            <p:ph type="title"/>
          </p:nvPr>
        </p:nvSpPr>
        <p:spPr/>
        <p:txBody>
          <a:bodyPr/>
          <a:lstStyle/>
          <a:p>
            <a:r>
              <a:rPr lang="en-US" dirty="0"/>
              <a:t>Chamberlain vs the Queen – 1984</a:t>
            </a:r>
            <a:endParaRPr lang="en-AU" dirty="0"/>
          </a:p>
        </p:txBody>
      </p:sp>
      <p:sp>
        <p:nvSpPr>
          <p:cNvPr id="3" name="Content Placeholder 2">
            <a:extLst>
              <a:ext uri="{FF2B5EF4-FFF2-40B4-BE49-F238E27FC236}">
                <a16:creationId xmlns:a16="http://schemas.microsoft.com/office/drawing/2014/main" id="{74705838-18E7-4B4B-8303-0C789DA52DC4}"/>
              </a:ext>
            </a:extLst>
          </p:cNvPr>
          <p:cNvSpPr>
            <a:spLocks noGrp="1"/>
          </p:cNvSpPr>
          <p:nvPr>
            <p:ph idx="1"/>
          </p:nvPr>
        </p:nvSpPr>
        <p:spPr>
          <a:xfrm>
            <a:off x="1011935" y="2400759"/>
            <a:ext cx="10785323" cy="4443984"/>
          </a:xfrm>
        </p:spPr>
        <p:txBody>
          <a:bodyPr>
            <a:normAutofit lnSpcReduction="10000"/>
          </a:bodyPr>
          <a:lstStyle/>
          <a:p>
            <a:r>
              <a:rPr lang="en-US" b="1" dirty="0"/>
              <a:t>A murder trial that proved that the truth can be stranger than fiction, this case was one of the most widely broadcasted murder trials in history.</a:t>
            </a:r>
          </a:p>
          <a:p>
            <a:endParaRPr lang="en-US" b="1" dirty="0"/>
          </a:p>
          <a:p>
            <a:r>
              <a:rPr lang="en-US" b="1" dirty="0"/>
              <a:t>The case </a:t>
            </a:r>
            <a:r>
              <a:rPr lang="en-US" b="1" dirty="0" err="1"/>
              <a:t>centred</a:t>
            </a:r>
            <a:r>
              <a:rPr lang="en-US" b="1" dirty="0"/>
              <a:t> around the death of an infant on a camping holiday. The prosecution claimed that she had been murdered by her mother, while the mother claimed she had been taken by a dingo.</a:t>
            </a:r>
          </a:p>
          <a:p>
            <a:endParaRPr lang="en-US" b="1" dirty="0"/>
          </a:p>
          <a:p>
            <a:r>
              <a:rPr lang="en-US" b="1" dirty="0"/>
              <a:t>In spite of questionable blood testing, poor eye-witness testimony that often backed the defendant and a forensic scientist who had their evidence overturned in previous trials, Chamberlain was found guilty.</a:t>
            </a:r>
          </a:p>
          <a:p>
            <a:endParaRPr lang="en-US" b="1" dirty="0"/>
          </a:p>
          <a:p>
            <a:r>
              <a:rPr lang="en-US" b="1" dirty="0"/>
              <a:t>New evidence emerged in 1986 that the child may have in fact been killed by a dingo (this was corroborated in 2012), meaning that Chamberlain was released and eventually acquitted.</a:t>
            </a:r>
            <a:endParaRPr lang="en-AU" b="1" dirty="0"/>
          </a:p>
        </p:txBody>
      </p:sp>
      <p:pic>
        <p:nvPicPr>
          <p:cNvPr id="5" name="Picture 4">
            <a:extLst>
              <a:ext uri="{FF2B5EF4-FFF2-40B4-BE49-F238E27FC236}">
                <a16:creationId xmlns:a16="http://schemas.microsoft.com/office/drawing/2014/main" id="{A1649FC9-B1EF-428A-B51D-54BCB0A6C5E2}"/>
              </a:ext>
            </a:extLst>
          </p:cNvPr>
          <p:cNvPicPr>
            <a:picLocks noChangeAspect="1"/>
          </p:cNvPicPr>
          <p:nvPr/>
        </p:nvPicPr>
        <p:blipFill>
          <a:blip r:embed="rId2"/>
          <a:stretch>
            <a:fillRect/>
          </a:stretch>
        </p:blipFill>
        <p:spPr>
          <a:xfrm>
            <a:off x="10659494" y="815255"/>
            <a:ext cx="1396105" cy="1390008"/>
          </a:xfrm>
          <a:prstGeom prst="rect">
            <a:avLst/>
          </a:prstGeom>
        </p:spPr>
      </p:pic>
    </p:spTree>
    <p:extLst>
      <p:ext uri="{BB962C8B-B14F-4D97-AF65-F5344CB8AC3E}">
        <p14:creationId xmlns:p14="http://schemas.microsoft.com/office/powerpoint/2010/main" val="826570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D193-0F8E-4BB3-879D-270F1CBA18D8}"/>
              </a:ext>
            </a:extLst>
          </p:cNvPr>
          <p:cNvSpPr>
            <a:spLocks noGrp="1"/>
          </p:cNvSpPr>
          <p:nvPr>
            <p:ph type="title"/>
          </p:nvPr>
        </p:nvSpPr>
        <p:spPr/>
        <p:txBody>
          <a:bodyPr/>
          <a:lstStyle/>
          <a:p>
            <a:r>
              <a:rPr lang="en-AU" dirty="0"/>
              <a:t>Al-</a:t>
            </a:r>
            <a:r>
              <a:rPr lang="en-AU" dirty="0" err="1"/>
              <a:t>Kateb</a:t>
            </a:r>
            <a:r>
              <a:rPr lang="en-AU" dirty="0"/>
              <a:t> vs Godwin – 2004</a:t>
            </a:r>
          </a:p>
        </p:txBody>
      </p:sp>
      <p:sp>
        <p:nvSpPr>
          <p:cNvPr id="3" name="Content Placeholder 2">
            <a:extLst>
              <a:ext uri="{FF2B5EF4-FFF2-40B4-BE49-F238E27FC236}">
                <a16:creationId xmlns:a16="http://schemas.microsoft.com/office/drawing/2014/main" id="{EBB771C9-F578-4B74-9478-C3D0F11131F3}"/>
              </a:ext>
            </a:extLst>
          </p:cNvPr>
          <p:cNvSpPr>
            <a:spLocks noGrp="1"/>
          </p:cNvSpPr>
          <p:nvPr>
            <p:ph idx="1"/>
          </p:nvPr>
        </p:nvSpPr>
        <p:spPr>
          <a:xfrm>
            <a:off x="1011936" y="2248525"/>
            <a:ext cx="10168128" cy="4718154"/>
          </a:xfrm>
        </p:spPr>
        <p:txBody>
          <a:bodyPr>
            <a:normAutofit/>
          </a:bodyPr>
          <a:lstStyle/>
          <a:p>
            <a:r>
              <a:rPr lang="en-US" b="1" dirty="0"/>
              <a:t>The case of Ahmed Al-</a:t>
            </a:r>
            <a:r>
              <a:rPr lang="en-US" b="1" dirty="0" err="1"/>
              <a:t>Kateb</a:t>
            </a:r>
            <a:r>
              <a:rPr lang="en-US" b="1" dirty="0"/>
              <a:t> is arguably Australia’s most famous and controversial immigration case. Born in Palestine to Kuwaiti parents, Al-</a:t>
            </a:r>
            <a:r>
              <a:rPr lang="en-US" b="1" dirty="0" err="1"/>
              <a:t>Kateb</a:t>
            </a:r>
            <a:r>
              <a:rPr lang="en-US" b="1" dirty="0"/>
              <a:t> was stateless. When he was refused a temporary protection visa in Australia, he could not be returned to his country of origin.</a:t>
            </a:r>
          </a:p>
          <a:p>
            <a:endParaRPr lang="en-US" b="1" dirty="0"/>
          </a:p>
          <a:p>
            <a:r>
              <a:rPr lang="en-US" b="1" dirty="0"/>
              <a:t>In its ruling, the High Court decided that he could be detained indefinitely and that it was lawful to indefinitely detain any stateless person. Huge controversy surrounded the decision, which led to Immigration Minister Amanda Vanstone reviewing the cases of 24 stateless people in immigration detention.</a:t>
            </a:r>
          </a:p>
          <a:p>
            <a:endParaRPr lang="en-US" b="1" dirty="0"/>
          </a:p>
          <a:p>
            <a:r>
              <a:rPr lang="en-US" b="1" dirty="0"/>
              <a:t>In addition, other countries found this indefinite detention unlawful due to the European Convention on Human Rights. Al-</a:t>
            </a:r>
            <a:r>
              <a:rPr lang="en-US" b="1" dirty="0" err="1"/>
              <a:t>Kateb</a:t>
            </a:r>
            <a:r>
              <a:rPr lang="en-US" b="1" dirty="0"/>
              <a:t> was eventually released (alongside others) and was awarded a permanent visa in 2007.</a:t>
            </a:r>
            <a:endParaRPr lang="en-AU" b="1" dirty="0"/>
          </a:p>
        </p:txBody>
      </p:sp>
      <p:pic>
        <p:nvPicPr>
          <p:cNvPr id="5" name="Picture 4">
            <a:extLst>
              <a:ext uri="{FF2B5EF4-FFF2-40B4-BE49-F238E27FC236}">
                <a16:creationId xmlns:a16="http://schemas.microsoft.com/office/drawing/2014/main" id="{ADFA67FD-1CD0-4533-8976-D9ED0DF13A9C}"/>
              </a:ext>
            </a:extLst>
          </p:cNvPr>
          <p:cNvPicPr>
            <a:picLocks noChangeAspect="1"/>
          </p:cNvPicPr>
          <p:nvPr/>
        </p:nvPicPr>
        <p:blipFill>
          <a:blip r:embed="rId2"/>
          <a:stretch>
            <a:fillRect/>
          </a:stretch>
        </p:blipFill>
        <p:spPr>
          <a:xfrm>
            <a:off x="10614524" y="632146"/>
            <a:ext cx="1396105" cy="1390008"/>
          </a:xfrm>
          <a:prstGeom prst="rect">
            <a:avLst/>
          </a:prstGeom>
        </p:spPr>
      </p:pic>
    </p:spTree>
    <p:extLst>
      <p:ext uri="{BB962C8B-B14F-4D97-AF65-F5344CB8AC3E}">
        <p14:creationId xmlns:p14="http://schemas.microsoft.com/office/powerpoint/2010/main" val="1392963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7EF8D-7732-4450-AB06-C897C884AE07}"/>
              </a:ext>
            </a:extLst>
          </p:cNvPr>
          <p:cNvSpPr>
            <a:spLocks noGrp="1"/>
          </p:cNvSpPr>
          <p:nvPr>
            <p:ph type="title"/>
          </p:nvPr>
        </p:nvSpPr>
        <p:spPr/>
        <p:txBody>
          <a:bodyPr/>
          <a:lstStyle/>
          <a:p>
            <a:r>
              <a:rPr lang="en-AU" dirty="0"/>
              <a:t>Commonwealth vs Tasmania – 1983</a:t>
            </a:r>
          </a:p>
        </p:txBody>
      </p:sp>
      <p:sp>
        <p:nvSpPr>
          <p:cNvPr id="3" name="Content Placeholder 2">
            <a:extLst>
              <a:ext uri="{FF2B5EF4-FFF2-40B4-BE49-F238E27FC236}">
                <a16:creationId xmlns:a16="http://schemas.microsoft.com/office/drawing/2014/main" id="{4F3E8E9C-2532-415D-91C8-A78164E078B3}"/>
              </a:ext>
            </a:extLst>
          </p:cNvPr>
          <p:cNvSpPr>
            <a:spLocks noGrp="1"/>
          </p:cNvSpPr>
          <p:nvPr>
            <p:ph idx="1"/>
          </p:nvPr>
        </p:nvSpPr>
        <p:spPr>
          <a:xfrm>
            <a:off x="1011936" y="2473377"/>
            <a:ext cx="10168128" cy="4193498"/>
          </a:xfrm>
        </p:spPr>
        <p:txBody>
          <a:bodyPr>
            <a:normAutofit/>
          </a:bodyPr>
          <a:lstStyle/>
          <a:p>
            <a:r>
              <a:rPr lang="en-US" sz="2400" b="1" dirty="0"/>
              <a:t>Our final court case is a constitutional landmark and an environmental victory. The case saw the Federal and Tasmanian governments clash in the High Court over the construction of a hydroelectric dam. While the Tasmanian Government believed that they had a legal right to build the dam, the Federal Government opposed it under the World Heritage Convention.</a:t>
            </a:r>
          </a:p>
          <a:p>
            <a:endParaRPr lang="en-US" sz="2400" b="1" dirty="0"/>
          </a:p>
          <a:p>
            <a:r>
              <a:rPr lang="en-US" sz="2400" b="1" dirty="0"/>
              <a:t>The Federal Government won a 4:3 majority in the High Court, setting not only a new legal precedent, but also preserving a key piece of Australian wilderness.</a:t>
            </a:r>
            <a:endParaRPr lang="en-AU" sz="2400" b="1" dirty="0"/>
          </a:p>
        </p:txBody>
      </p:sp>
      <p:pic>
        <p:nvPicPr>
          <p:cNvPr id="5" name="Picture 4">
            <a:extLst>
              <a:ext uri="{FF2B5EF4-FFF2-40B4-BE49-F238E27FC236}">
                <a16:creationId xmlns:a16="http://schemas.microsoft.com/office/drawing/2014/main" id="{F1229C24-37BF-4E2C-B255-00578BA5152C}"/>
              </a:ext>
            </a:extLst>
          </p:cNvPr>
          <p:cNvPicPr>
            <a:picLocks noChangeAspect="1"/>
          </p:cNvPicPr>
          <p:nvPr/>
        </p:nvPicPr>
        <p:blipFill>
          <a:blip r:embed="rId2"/>
          <a:stretch>
            <a:fillRect/>
          </a:stretch>
        </p:blipFill>
        <p:spPr>
          <a:xfrm>
            <a:off x="10482011" y="1083369"/>
            <a:ext cx="1396105" cy="1390008"/>
          </a:xfrm>
          <a:prstGeom prst="rect">
            <a:avLst/>
          </a:prstGeom>
        </p:spPr>
      </p:pic>
    </p:spTree>
    <p:extLst>
      <p:ext uri="{BB962C8B-B14F-4D97-AF65-F5344CB8AC3E}">
        <p14:creationId xmlns:p14="http://schemas.microsoft.com/office/powerpoint/2010/main" val="34187412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FF24EE-D9C2-4391-BC02-D68C9A536E99}"/>
              </a:ext>
            </a:extLst>
          </p:cNvPr>
          <p:cNvSpPr>
            <a:spLocks noGrp="1"/>
          </p:cNvSpPr>
          <p:nvPr>
            <p:ph idx="1"/>
          </p:nvPr>
        </p:nvSpPr>
        <p:spPr/>
        <p:txBody>
          <a:bodyPr>
            <a:normAutofit/>
          </a:bodyPr>
          <a:lstStyle/>
          <a:p>
            <a:r>
              <a:rPr lang="en-US" sz="3200" dirty="0"/>
              <a:t>These are just a few examples of hugely influential and controversial cases in Australian law.</a:t>
            </a:r>
          </a:p>
          <a:p>
            <a:r>
              <a:rPr lang="en-US" sz="3200" dirty="0"/>
              <a:t>Although the vast majority of cases follow precedents, it’s always interesting to see how the law evolves and is applied.</a:t>
            </a:r>
            <a:endParaRPr lang="en-AU" sz="3200" dirty="0"/>
          </a:p>
        </p:txBody>
      </p:sp>
      <p:pic>
        <p:nvPicPr>
          <p:cNvPr id="5" name="Picture 4">
            <a:extLst>
              <a:ext uri="{FF2B5EF4-FFF2-40B4-BE49-F238E27FC236}">
                <a16:creationId xmlns:a16="http://schemas.microsoft.com/office/drawing/2014/main" id="{7F0A7355-175A-4EED-8C8B-C94F19010CB2}"/>
              </a:ext>
            </a:extLst>
          </p:cNvPr>
          <p:cNvPicPr>
            <a:picLocks noChangeAspect="1"/>
          </p:cNvPicPr>
          <p:nvPr/>
        </p:nvPicPr>
        <p:blipFill>
          <a:blip r:embed="rId2"/>
          <a:stretch>
            <a:fillRect/>
          </a:stretch>
        </p:blipFill>
        <p:spPr>
          <a:xfrm>
            <a:off x="10524583" y="1213492"/>
            <a:ext cx="1396105" cy="1390008"/>
          </a:xfrm>
          <a:prstGeom prst="rect">
            <a:avLst/>
          </a:prstGeom>
        </p:spPr>
      </p:pic>
    </p:spTree>
    <p:extLst>
      <p:ext uri="{BB962C8B-B14F-4D97-AF65-F5344CB8AC3E}">
        <p14:creationId xmlns:p14="http://schemas.microsoft.com/office/powerpoint/2010/main" val="6502949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4A381F1-9503-4EB1-81C4-4BD0027FAA7E}"/>
              </a:ext>
            </a:extLst>
          </p:cNvPr>
          <p:cNvPicPr>
            <a:picLocks noGrp="1" noChangeAspect="1"/>
          </p:cNvPicPr>
          <p:nvPr>
            <p:ph idx="1"/>
          </p:nvPr>
        </p:nvPicPr>
        <p:blipFill>
          <a:blip r:embed="rId2"/>
          <a:stretch>
            <a:fillRect/>
          </a:stretch>
        </p:blipFill>
        <p:spPr>
          <a:xfrm>
            <a:off x="539646" y="2278505"/>
            <a:ext cx="6145967" cy="4407108"/>
          </a:xfrm>
        </p:spPr>
      </p:pic>
      <p:pic>
        <p:nvPicPr>
          <p:cNvPr id="5" name="Picture 4">
            <a:extLst>
              <a:ext uri="{FF2B5EF4-FFF2-40B4-BE49-F238E27FC236}">
                <a16:creationId xmlns:a16="http://schemas.microsoft.com/office/drawing/2014/main" id="{6F9CDB45-1512-40CA-861C-3C051AF3F959}"/>
              </a:ext>
            </a:extLst>
          </p:cNvPr>
          <p:cNvPicPr>
            <a:picLocks noChangeAspect="1"/>
          </p:cNvPicPr>
          <p:nvPr/>
        </p:nvPicPr>
        <p:blipFill>
          <a:blip r:embed="rId3"/>
          <a:stretch>
            <a:fillRect/>
          </a:stretch>
        </p:blipFill>
        <p:spPr>
          <a:xfrm>
            <a:off x="3553211" y="799945"/>
            <a:ext cx="4785775" cy="1182727"/>
          </a:xfrm>
          <a:prstGeom prst="rect">
            <a:avLst/>
          </a:prstGeom>
        </p:spPr>
      </p:pic>
    </p:spTree>
    <p:extLst>
      <p:ext uri="{BB962C8B-B14F-4D97-AF65-F5344CB8AC3E}">
        <p14:creationId xmlns:p14="http://schemas.microsoft.com/office/powerpoint/2010/main" val="11308302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465</TotalTime>
  <Words>2587</Words>
  <Application>Microsoft Office PowerPoint</Application>
  <PresentationFormat>Widescreen</PresentationFormat>
  <Paragraphs>191</Paragraphs>
  <Slides>49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Calibri</vt:lpstr>
      <vt:lpstr>Century Gothic</vt:lpstr>
      <vt:lpstr>NonBreakingSpaceOverride</vt:lpstr>
      <vt:lpstr>Roboto Condensed</vt:lpstr>
      <vt:lpstr>Source Sans Pro</vt:lpstr>
      <vt:lpstr>Wingdings</vt:lpstr>
      <vt:lpstr>Wingdings 3</vt:lpstr>
      <vt:lpstr>Ion Boardroom</vt:lpstr>
      <vt:lpstr>Doctrine of Precedent</vt:lpstr>
      <vt:lpstr>Learning Intentions</vt:lpstr>
      <vt:lpstr>PowerPoint Presentation</vt:lpstr>
      <vt:lpstr>Hmm… how about these examples</vt:lpstr>
      <vt:lpstr>PowerPoint Presentation</vt:lpstr>
      <vt:lpstr>So….</vt:lpstr>
      <vt:lpstr> Now, think about a time when your parent, guardian, or teacher seemed to ignore their own previous decision.</vt:lpstr>
      <vt:lpstr>PowerPoint Presentation</vt:lpstr>
      <vt:lpstr>PowerPoint Presentation</vt:lpstr>
      <vt:lpstr>PowerPoint Presentation</vt:lpstr>
      <vt:lpstr>The Role of the Judge</vt:lpstr>
      <vt:lpstr>Importance of precedents</vt:lpstr>
      <vt:lpstr>What is a Precedent?</vt:lpstr>
      <vt:lpstr>Understanding Precedent</vt:lpstr>
      <vt:lpstr>Question 1.</vt:lpstr>
      <vt:lpstr>Answer</vt:lpstr>
      <vt:lpstr>Case 3: </vt:lpstr>
      <vt:lpstr>Question 2:</vt:lpstr>
      <vt:lpstr>Answer:</vt:lpstr>
      <vt:lpstr>Case 4:</vt:lpstr>
      <vt:lpstr>Question 3:</vt:lpstr>
      <vt:lpstr>Answer</vt:lpstr>
      <vt:lpstr>Case 5:</vt:lpstr>
      <vt:lpstr>Question 4:</vt:lpstr>
      <vt:lpstr>Answer</vt:lpstr>
      <vt:lpstr>How does this relate to Common Law?</vt:lpstr>
      <vt:lpstr>PowerPoint Presentation</vt:lpstr>
      <vt:lpstr>Statute and Common Law</vt:lpstr>
      <vt:lpstr>Civil and Criminal Law</vt:lpstr>
      <vt:lpstr>PowerPoint Presentation</vt:lpstr>
      <vt:lpstr>Which of the following best describes the legal system of Australia?</vt:lpstr>
      <vt:lpstr>Which of the following best describes the legal system of Australia?</vt:lpstr>
      <vt:lpstr>What is the meaning of ‘on the balance of probabilities’?</vt:lpstr>
      <vt:lpstr>What is the meaning of ‘on the balance of probabilities’?</vt:lpstr>
      <vt:lpstr>What is meant by the phrase ‘the punishment must fit the crime’?</vt:lpstr>
      <vt:lpstr>What is meant by the phrase ‘the punishment must fit the crime’?</vt:lpstr>
      <vt:lpstr>Which of the following is not an example of a civil dispute?</vt:lpstr>
      <vt:lpstr>Which of the following is not an example of a civil dispute?</vt:lpstr>
      <vt:lpstr>Which is the most correct reason for the hierarchy of courts in Australia?</vt:lpstr>
      <vt:lpstr>Which is the most correct reason for the hierarchy of courts in Australia?</vt:lpstr>
      <vt:lpstr>Which is the most correct reason for the hierarchy of courts in Australia?</vt:lpstr>
      <vt:lpstr>Advantages and disadvantages of precedents</vt:lpstr>
      <vt:lpstr>PowerPoint Presentation</vt:lpstr>
      <vt:lpstr>Mabo vs Queensland (No 2) – 1992</vt:lpstr>
      <vt:lpstr>Chamberlain vs the Queen – 1984</vt:lpstr>
      <vt:lpstr>Al-Kateb vs Godwin – 2004</vt:lpstr>
      <vt:lpstr>Commonwealth vs Tasmania – 1983</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Doctrine of Precedent</dc:title>
  <dc:creator>SARGEANTSON Wendy [Narrogin Senior High School]</dc:creator>
  <cp:lastModifiedBy>Mona Dawson</cp:lastModifiedBy>
  <cp:revision>101</cp:revision>
  <dcterms:created xsi:type="dcterms:W3CDTF">2020-11-17T11:29:26Z</dcterms:created>
  <dcterms:modified xsi:type="dcterms:W3CDTF">2020-11-18T11:19:17Z</dcterms:modified>
</cp:coreProperties>
</file>
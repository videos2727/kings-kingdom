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8" r:id="rId1"/>
  </p:sldMasterIdLst>
  <p:sldIdLst>
    <p:sldId id="300" r:id="rId2"/>
    <p:sldId id="256" r:id="rId3"/>
    <p:sldId id="291" r:id="rId4"/>
    <p:sldId id="257" r:id="rId5"/>
    <p:sldId id="258" r:id="rId6"/>
    <p:sldId id="259" r:id="rId7"/>
    <p:sldId id="298" r:id="rId8"/>
    <p:sldId id="271" r:id="rId9"/>
    <p:sldId id="272" r:id="rId10"/>
    <p:sldId id="299" r:id="rId11"/>
    <p:sldId id="273" r:id="rId12"/>
    <p:sldId id="274" r:id="rId13"/>
    <p:sldId id="295" r:id="rId14"/>
    <p:sldId id="275" r:id="rId15"/>
    <p:sldId id="276" r:id="rId16"/>
    <p:sldId id="296" r:id="rId17"/>
    <p:sldId id="278" r:id="rId18"/>
    <p:sldId id="279" r:id="rId19"/>
    <p:sldId id="297" r:id="rId20"/>
    <p:sldId id="292" r:id="rId21"/>
    <p:sldId id="293" r:id="rId22"/>
    <p:sldId id="294"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12192000" cy="6858000"/>
            <a:chOff x="0" y="0"/>
            <a:chExt cx="12192000" cy="6858000"/>
          </a:xfrm>
        </p:grpSpPr>
        <p:sp>
          <p:nvSpPr>
            <p:cNvPr id="8" name="Rectangle 7"/>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Oval 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76279" y="1792223"/>
            <a:ext cx="990599" cy="304799"/>
          </a:xfrm>
        </p:spPr>
        <p:txBody>
          <a:bodyPr anchor="t"/>
          <a:lstStyle>
            <a:lvl1pPr algn="l">
              <a:defRPr b="0" i="0">
                <a:solidFill>
                  <a:schemeClr val="bg1"/>
                </a:solidFill>
              </a:defRPr>
            </a:lvl1pPr>
          </a:lstStyle>
          <a:p>
            <a:fld id="{9AB3A824-1A51-4B26-AD58-A6D8E14F6C04}" type="datetimeFigureOut">
              <a:rPr lang="en-US" smtClean="0"/>
              <a:t>6/27/2018</a:t>
            </a:fld>
            <a:endParaRPr lang="en-US" dirty="0"/>
          </a:p>
        </p:txBody>
      </p:sp>
      <p:sp>
        <p:nvSpPr>
          <p:cNvPr id="5" name="Footer Placeholder 4"/>
          <p:cNvSpPr>
            <a:spLocks noGrp="1"/>
          </p:cNvSpPr>
          <p:nvPr>
            <p:ph type="ftr" sz="quarter" idx="11"/>
          </p:nvPr>
        </p:nvSpPr>
        <p:spPr bwMode="gray">
          <a:xfrm rot="5400000">
            <a:off x="8963575" y="3226820"/>
            <a:ext cx="3859795" cy="304801"/>
          </a:xfrm>
        </p:spPr>
        <p:txBody>
          <a:bodyPr anchor="b"/>
          <a:lstStyle>
            <a:lvl1pPr>
              <a:defRPr b="0" i="0">
                <a:solidFill>
                  <a:schemeClr val="bg1"/>
                </a:solidFill>
              </a:defRPr>
            </a:lvl1pPr>
          </a:lstStyle>
          <a:p>
            <a:r>
              <a:rPr lang="en-US"/>
              <a:t>
              </a:t>
            </a:r>
            <a:endParaRPr lang="en-US" dirty="0"/>
          </a:p>
        </p:txBody>
      </p:sp>
      <p:sp>
        <p:nvSpPr>
          <p:cNvPr id="17" name="Rectangle 16"/>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172133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6/27/2018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875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4"/>
            <a:ext cx="4351023" cy="2283823"/>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6/27/2018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29585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1368" y="2603500"/>
            <a:ext cx="4828744"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1" y="2603500"/>
            <a:ext cx="4825159" cy="3377705"/>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6/27/2018</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23298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36063"/>
            <a:ext cx="48251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212326"/>
            <a:ext cx="4825158" cy="28074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1" y="2603499"/>
            <a:ext cx="4825160" cy="608825"/>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212327"/>
            <a:ext cx="4825159" cy="280747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6/27/2018</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2880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6/27/2018</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68529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D9284-D300-4297-87F7-E791DCC15DB1}" type="datetimeFigureOut">
              <a:rPr lang="en-US" smtClean="0"/>
              <a:t>6/27/2018</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6" name="Rectangle 5"/>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37523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3129280"/>
            <a:ext cx="2793158" cy="289559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6/27/2018</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88118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8" name="Rectangle 7"/>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2" y="1143000"/>
            <a:ext cx="3227192"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6/27/2018</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5" name="Rectangle 14"/>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73233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0" name="Group 9"/>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5945"/>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2683"/>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CBC1C18-307B-4F68-A007-B5B542270E8D}" type="datetimeFigureOut">
              <a:rPr lang="en-US" smtClean="0"/>
              <a:t>6/27/2018</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2198735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nchor="ct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6/27/2018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3" name="Rectangle 12"/>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1256853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6" name="Rectangle 15"/>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1" name="TextBox 10"/>
          <p:cNvSpPr txBox="1"/>
          <p:nvPr/>
        </p:nvSpPr>
        <p:spPr bwMode="gray">
          <a:xfrm>
            <a:off x="898295" y="603589"/>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13" name="TextBox 12"/>
          <p:cNvSpPr txBox="1"/>
          <p:nvPr/>
        </p:nvSpPr>
        <p:spPr bwMode="gray">
          <a:xfrm>
            <a:off x="9705137" y="2613787"/>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74801" y="980517"/>
            <a:ext cx="8460983" cy="2705034"/>
          </a:xfrm>
        </p:spPr>
        <p:txBody>
          <a:bodyPr anchor="ct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86515"/>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14393"/>
            <a:ext cx="8825659" cy="1012664"/>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6/27/2018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24" name="Rectangle 23"/>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9228214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0" name="Rectangle 9"/>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2404477"/>
            <a:ext cx="8825659" cy="178870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38587" y="5024967"/>
            <a:ext cx="882565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CBC1C18-307B-4F68-A007-B5B542270E8D}" type="datetimeFigureOut">
              <a:rPr lang="en-US" smtClean="0"/>
              <a:t>6/27/2018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2" name="Rectangle 11"/>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71767293"/>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7"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109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87261"/>
            <a:ext cx="3129168" cy="28397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10999"/>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87261"/>
            <a:ext cx="3145380" cy="28397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1" y="2603500"/>
            <a:ext cx="315744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87261"/>
            <a:ext cx="3161029" cy="283979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CBC1C18-307B-4F68-A007-B5B542270E8D}" type="datetimeFigureOut">
              <a:rPr lang="en-US" smtClean="0"/>
              <a:t>6/27/2018</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9336241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20744" cy="576263"/>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11246"/>
            <a:ext cx="2691242" cy="158376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20745"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42840"/>
            <a:ext cx="2691242" cy="155217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7"/>
            <a:ext cx="3050438" cy="92140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4" y="4532845"/>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18992"/>
            <a:ext cx="2691242" cy="157601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09107"/>
            <a:ext cx="3054127" cy="89634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1" name="Straight Connector 20"/>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CBC1C18-307B-4F68-A007-B5B542270E8D}" type="datetimeFigureOut">
              <a:rPr lang="en-US" smtClean="0"/>
              <a:t>6/27/2018</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641473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6/27/2018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895903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2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97430"/>
            <a:ext cx="1409965" cy="4729626"/>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97429"/>
            <a:ext cx="6247546" cy="472962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6/27/2018</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8" name="Rectangle 17"/>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95966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5" name="Rectangle 14"/>
            <p:cNvSpPr/>
            <p:nvPr/>
          </p:nvSpPr>
          <p:spPr>
            <a:xfrm>
              <a:off x="0" y="0"/>
              <a:ext cx="12192000" cy="6858000"/>
            </a:xfrm>
            <a:prstGeom prst="rect">
              <a:avLst/>
            </a:prstGeom>
            <a:blipFill>
              <a:blip r:embed="rId19">
                <a:duotone>
                  <a:schemeClr val="dk2">
                    <a:shade val="42000"/>
                    <a:hueMod val="42000"/>
                    <a:satMod val="124000"/>
                    <a:lumMod val="62000"/>
                  </a:schemeClr>
                  <a:schemeClr val="dk2">
                    <a:tint val="96000"/>
                    <a:satMod val="130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Oval 40"/>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9" name="Oval 3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1587"/>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8" name="Oval 3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49" name="Oval 48"/>
            <p:cNvSpPr/>
            <p:nvPr/>
          </p:nvSpPr>
          <p:spPr>
            <a:xfrm>
              <a:off x="0"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5239"/>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47920"/>
            <a:ext cx="8761413" cy="72848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61110" y="6391839"/>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
              </a:t>
            </a:r>
            <a:endParaRPr lang="en-US" dirty="0"/>
          </a:p>
        </p:txBody>
      </p:sp>
      <p:sp>
        <p:nvSpPr>
          <p:cNvPr id="4" name="Date Placeholder 3"/>
          <p:cNvSpPr>
            <a:spLocks noGrp="1"/>
          </p:cNvSpPr>
          <p:nvPr>
            <p:ph type="dt" sz="half" idx="2"/>
          </p:nvPr>
        </p:nvSpPr>
        <p:spPr>
          <a:xfrm>
            <a:off x="10650938" y="6394407"/>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CBC1C18-307B-4F68-A007-B5B542270E8D}" type="datetimeFigureOut">
              <a:rPr lang="en-US" smtClean="0"/>
              <a:t>6/27/2018</a:t>
            </a:fld>
            <a:endParaRPr lang="en-US" dirty="0"/>
          </a:p>
        </p:txBody>
      </p:sp>
      <p:sp>
        <p:nvSpPr>
          <p:cNvPr id="20" name="Rectangle 19"/>
          <p:cNvSpPr/>
          <p:nvPr/>
        </p:nvSpPr>
        <p:spPr>
          <a:xfrm>
            <a:off x="1044372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51876056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B8F33E8-1D0B-48C8-B61A-A7D955AE55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668333" y="-2668334"/>
            <a:ext cx="6855332" cy="12192001"/>
          </a:xfrm>
          <a:prstGeom prst="rect">
            <a:avLst/>
          </a:prstGeom>
        </p:spPr>
      </p:pic>
      <p:pic>
        <p:nvPicPr>
          <p:cNvPr id="12" name="Picture 11" descr="A close up of an animal&#10;&#10;Description generated with high confidence">
            <a:extLst>
              <a:ext uri="{FF2B5EF4-FFF2-40B4-BE49-F238E27FC236}">
                <a16:creationId xmlns:a16="http://schemas.microsoft.com/office/drawing/2014/main" id="{D58D64F1-5DF4-4A86-9D92-B0F56C73E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593" y="441954"/>
            <a:ext cx="6400813" cy="5974092"/>
          </a:xfrm>
          <a:prstGeom prst="rect">
            <a:avLst/>
          </a:prstGeom>
        </p:spPr>
      </p:pic>
      <p:sp>
        <p:nvSpPr>
          <p:cNvPr id="8" name="Rectangle 7">
            <a:extLst>
              <a:ext uri="{FF2B5EF4-FFF2-40B4-BE49-F238E27FC236}">
                <a16:creationId xmlns:a16="http://schemas.microsoft.com/office/drawing/2014/main" id="{E206BE15-F663-4221-80D4-413F78879578}"/>
              </a:ext>
            </a:extLst>
          </p:cNvPr>
          <p:cNvSpPr/>
          <p:nvPr/>
        </p:nvSpPr>
        <p:spPr>
          <a:xfrm>
            <a:off x="744702" y="2448339"/>
            <a:ext cx="10702595" cy="2123658"/>
          </a:xfrm>
          <a:prstGeom prst="rect">
            <a:avLst/>
          </a:prstGeom>
          <a:noFill/>
        </p:spPr>
        <p:txBody>
          <a:bodyPr wrap="square" lIns="91440" tIns="45720" rIns="91440" bIns="45720">
            <a:spAutoFit/>
          </a:bodyPr>
          <a:lstStyle/>
          <a:p>
            <a:pPr algn="ctr"/>
            <a:r>
              <a:rPr lang="en-US" sz="6600" b="1" cap="none" spc="0" dirty="0">
                <a:ln w="0"/>
                <a:solidFill>
                  <a:schemeClr val="tx1"/>
                </a:solidFill>
                <a:effectLst>
                  <a:outerShdw blurRad="38100" dist="19050" dir="2700000" algn="tl" rotWithShape="0">
                    <a:schemeClr val="dk1">
                      <a:alpha val="40000"/>
                    </a:schemeClr>
                  </a:outerShdw>
                </a:effectLst>
                <a:latin typeface="HelloGeorgeII" panose="02000603000000000000" pitchFamily="2" charset="0"/>
                <a:ea typeface="HelloGeorgeII" panose="02000603000000000000" pitchFamily="2" charset="0"/>
              </a:rPr>
              <a:t>Australian curriculum – Civics and citizenship</a:t>
            </a:r>
          </a:p>
        </p:txBody>
      </p:sp>
      <p:pic>
        <p:nvPicPr>
          <p:cNvPr id="11" name="Picture 10">
            <a:extLst>
              <a:ext uri="{FF2B5EF4-FFF2-40B4-BE49-F238E27FC236}">
                <a16:creationId xmlns:a16="http://schemas.microsoft.com/office/drawing/2014/main" id="{C01BE6B8-71EC-471D-8FDC-D4786273AE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9229" y="81168"/>
            <a:ext cx="3000379" cy="2286003"/>
          </a:xfrm>
          <a:prstGeom prst="rect">
            <a:avLst/>
          </a:prstGeom>
        </p:spPr>
      </p:pic>
    </p:spTree>
    <p:extLst>
      <p:ext uri="{BB962C8B-B14F-4D97-AF65-F5344CB8AC3E}">
        <p14:creationId xmlns:p14="http://schemas.microsoft.com/office/powerpoint/2010/main" val="2833380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96549-3844-4669-BE2B-AD1F7C0517A1}"/>
              </a:ext>
            </a:extLst>
          </p:cNvPr>
          <p:cNvSpPr>
            <a:spLocks noGrp="1"/>
          </p:cNvSpPr>
          <p:nvPr>
            <p:ph type="ctrTitle"/>
          </p:nvPr>
        </p:nvSpPr>
        <p:spPr>
          <a:xfrm>
            <a:off x="1154955" y="1948070"/>
            <a:ext cx="8825658" cy="2073938"/>
          </a:xfrm>
        </p:spPr>
        <p:txBody>
          <a:bodyPr/>
          <a:lstStyle/>
          <a:p>
            <a:r>
              <a:rPr lang="en-AU" dirty="0"/>
              <a:t>Statutory law</a:t>
            </a:r>
          </a:p>
        </p:txBody>
      </p:sp>
      <p:sp>
        <p:nvSpPr>
          <p:cNvPr id="3" name="Subtitle 2">
            <a:extLst>
              <a:ext uri="{FF2B5EF4-FFF2-40B4-BE49-F238E27FC236}">
                <a16:creationId xmlns:a16="http://schemas.microsoft.com/office/drawing/2014/main" id="{0EC2B082-44A2-4C96-A2BA-55A00CD32A5F}"/>
              </a:ext>
            </a:extLst>
          </p:cNvPr>
          <p:cNvSpPr>
            <a:spLocks noGrp="1"/>
          </p:cNvSpPr>
          <p:nvPr>
            <p:ph type="subTitle" idx="1"/>
          </p:nvPr>
        </p:nvSpPr>
        <p:spPr>
          <a:ln>
            <a:solidFill>
              <a:schemeClr val="tx1">
                <a:lumMod val="95000"/>
                <a:lumOff val="5000"/>
              </a:schemeClr>
            </a:solidFill>
          </a:ln>
        </p:spPr>
        <p:txBody>
          <a:bodyPr>
            <a:normAutofit/>
          </a:bodyPr>
          <a:lstStyle/>
          <a:p>
            <a:r>
              <a:rPr lang="en-AU" sz="2000" dirty="0"/>
              <a:t>Learning objective: Identify and describe how statutory laws are made.</a:t>
            </a:r>
          </a:p>
        </p:txBody>
      </p:sp>
    </p:spTree>
    <p:extLst>
      <p:ext uri="{BB962C8B-B14F-4D97-AF65-F5344CB8AC3E}">
        <p14:creationId xmlns:p14="http://schemas.microsoft.com/office/powerpoint/2010/main" val="136954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742B8-1402-4F57-B05B-C2F9DB0F5009}"/>
              </a:ext>
            </a:extLst>
          </p:cNvPr>
          <p:cNvSpPr>
            <a:spLocks noGrp="1"/>
          </p:cNvSpPr>
          <p:nvPr>
            <p:ph type="title"/>
          </p:nvPr>
        </p:nvSpPr>
        <p:spPr/>
        <p:txBody>
          <a:bodyPr/>
          <a:lstStyle/>
          <a:p>
            <a:endParaRPr lang="en-AU"/>
          </a:p>
        </p:txBody>
      </p:sp>
      <p:sp>
        <p:nvSpPr>
          <p:cNvPr id="4" name="TextBox 3">
            <a:extLst>
              <a:ext uri="{FF2B5EF4-FFF2-40B4-BE49-F238E27FC236}">
                <a16:creationId xmlns:a16="http://schemas.microsoft.com/office/drawing/2014/main" id="{C7F51172-7563-4082-A181-CB3FC92B71A8}"/>
              </a:ext>
            </a:extLst>
          </p:cNvPr>
          <p:cNvSpPr txBox="1"/>
          <p:nvPr/>
        </p:nvSpPr>
        <p:spPr>
          <a:xfrm>
            <a:off x="8657410" y="2400372"/>
            <a:ext cx="2517914" cy="369332"/>
          </a:xfrm>
          <a:prstGeom prst="rect">
            <a:avLst/>
          </a:prstGeom>
          <a:noFill/>
          <a:ln w="19050">
            <a:solidFill>
              <a:schemeClr val="accent1"/>
            </a:solidFill>
          </a:ln>
        </p:spPr>
        <p:txBody>
          <a:bodyPr wrap="square" rtlCol="0">
            <a:spAutoFit/>
          </a:bodyPr>
          <a:lstStyle/>
          <a:p>
            <a:pPr algn="ctr"/>
            <a:r>
              <a:rPr lang="en-AU" dirty="0"/>
              <a:t>Cabinet</a:t>
            </a:r>
          </a:p>
        </p:txBody>
      </p:sp>
      <p:sp>
        <p:nvSpPr>
          <p:cNvPr id="6" name="TextBox 5">
            <a:extLst>
              <a:ext uri="{FF2B5EF4-FFF2-40B4-BE49-F238E27FC236}">
                <a16:creationId xmlns:a16="http://schemas.microsoft.com/office/drawing/2014/main" id="{EE0636A8-FAF2-4EF7-A218-E37FC73AEFEC}"/>
              </a:ext>
            </a:extLst>
          </p:cNvPr>
          <p:cNvSpPr txBox="1"/>
          <p:nvPr/>
        </p:nvSpPr>
        <p:spPr>
          <a:xfrm>
            <a:off x="722242" y="2400372"/>
            <a:ext cx="2517914" cy="369332"/>
          </a:xfrm>
          <a:prstGeom prst="rect">
            <a:avLst/>
          </a:prstGeom>
          <a:noFill/>
          <a:ln w="19050">
            <a:solidFill>
              <a:schemeClr val="accent1"/>
            </a:solidFill>
          </a:ln>
        </p:spPr>
        <p:txBody>
          <a:bodyPr wrap="square" rtlCol="0">
            <a:spAutoFit/>
          </a:bodyPr>
          <a:lstStyle/>
          <a:p>
            <a:pPr algn="ctr"/>
            <a:r>
              <a:rPr lang="en-AU" dirty="0"/>
              <a:t>Parliament</a:t>
            </a:r>
          </a:p>
        </p:txBody>
      </p:sp>
      <p:sp>
        <p:nvSpPr>
          <p:cNvPr id="7" name="TextBox 6">
            <a:extLst>
              <a:ext uri="{FF2B5EF4-FFF2-40B4-BE49-F238E27FC236}">
                <a16:creationId xmlns:a16="http://schemas.microsoft.com/office/drawing/2014/main" id="{E69FC61E-FF30-4F9D-B6AE-C1B95C972BA6}"/>
              </a:ext>
            </a:extLst>
          </p:cNvPr>
          <p:cNvSpPr txBox="1"/>
          <p:nvPr/>
        </p:nvSpPr>
        <p:spPr>
          <a:xfrm>
            <a:off x="4724397" y="2400372"/>
            <a:ext cx="2517914" cy="369332"/>
          </a:xfrm>
          <a:prstGeom prst="rect">
            <a:avLst/>
          </a:prstGeom>
          <a:noFill/>
          <a:ln w="19050">
            <a:solidFill>
              <a:schemeClr val="accent1"/>
            </a:solidFill>
          </a:ln>
        </p:spPr>
        <p:txBody>
          <a:bodyPr wrap="square" rtlCol="0">
            <a:spAutoFit/>
          </a:bodyPr>
          <a:lstStyle/>
          <a:p>
            <a:pPr algn="ctr"/>
            <a:r>
              <a:rPr lang="en-AU" dirty="0"/>
              <a:t>Government</a:t>
            </a:r>
          </a:p>
        </p:txBody>
      </p:sp>
      <p:sp>
        <p:nvSpPr>
          <p:cNvPr id="8" name="TextBox 7">
            <a:extLst>
              <a:ext uri="{FF2B5EF4-FFF2-40B4-BE49-F238E27FC236}">
                <a16:creationId xmlns:a16="http://schemas.microsoft.com/office/drawing/2014/main" id="{2468A0C6-7EC6-4B95-9AAF-92DD26BA398E}"/>
              </a:ext>
            </a:extLst>
          </p:cNvPr>
          <p:cNvSpPr txBox="1"/>
          <p:nvPr/>
        </p:nvSpPr>
        <p:spPr>
          <a:xfrm>
            <a:off x="434007" y="3385065"/>
            <a:ext cx="3094383" cy="2862322"/>
          </a:xfrm>
          <a:prstGeom prst="rect">
            <a:avLst/>
          </a:prstGeom>
          <a:noFill/>
          <a:ln w="19050">
            <a:solidFill>
              <a:schemeClr val="accent1"/>
            </a:solidFill>
          </a:ln>
        </p:spPr>
        <p:txBody>
          <a:bodyPr wrap="square" rtlCol="0">
            <a:spAutoFit/>
          </a:bodyPr>
          <a:lstStyle/>
          <a:p>
            <a:pPr algn="ctr"/>
            <a:r>
              <a:rPr lang="en-AU" dirty="0"/>
              <a:t>The law-making body consisting of all members of both houses, from all parties, plus the Crown’s representative. The Commonwealth parliament’s structure is the governor general, the senate and the House Of Representatives.</a:t>
            </a:r>
          </a:p>
        </p:txBody>
      </p:sp>
      <p:sp>
        <p:nvSpPr>
          <p:cNvPr id="9" name="TextBox 8">
            <a:extLst>
              <a:ext uri="{FF2B5EF4-FFF2-40B4-BE49-F238E27FC236}">
                <a16:creationId xmlns:a16="http://schemas.microsoft.com/office/drawing/2014/main" id="{84722425-6FFF-4F62-89DD-8622FC1AC4E5}"/>
              </a:ext>
            </a:extLst>
          </p:cNvPr>
          <p:cNvSpPr txBox="1"/>
          <p:nvPr/>
        </p:nvSpPr>
        <p:spPr>
          <a:xfrm>
            <a:off x="4267198" y="3385065"/>
            <a:ext cx="3432313" cy="2862322"/>
          </a:xfrm>
          <a:prstGeom prst="rect">
            <a:avLst/>
          </a:prstGeom>
          <a:noFill/>
          <a:ln w="19050">
            <a:solidFill>
              <a:schemeClr val="accent1"/>
            </a:solidFill>
          </a:ln>
        </p:spPr>
        <p:txBody>
          <a:bodyPr wrap="square" rtlCol="0">
            <a:spAutoFit/>
          </a:bodyPr>
          <a:lstStyle/>
          <a:p>
            <a:pPr algn="ctr"/>
            <a:r>
              <a:rPr lang="en-AU" dirty="0"/>
              <a:t>The government is the political party that holds a majority in the lower house of parliament. All members of the parliament who belong to this political party form the government. The other major party that did not win the election forms the opposition.</a:t>
            </a:r>
          </a:p>
        </p:txBody>
      </p:sp>
      <p:sp>
        <p:nvSpPr>
          <p:cNvPr id="10" name="TextBox 9">
            <a:extLst>
              <a:ext uri="{FF2B5EF4-FFF2-40B4-BE49-F238E27FC236}">
                <a16:creationId xmlns:a16="http://schemas.microsoft.com/office/drawing/2014/main" id="{E2963B6F-1C4C-4A81-8175-E885ECD29256}"/>
              </a:ext>
            </a:extLst>
          </p:cNvPr>
          <p:cNvSpPr txBox="1"/>
          <p:nvPr/>
        </p:nvSpPr>
        <p:spPr>
          <a:xfrm>
            <a:off x="8158797" y="3385065"/>
            <a:ext cx="3515140" cy="2585323"/>
          </a:xfrm>
          <a:prstGeom prst="rect">
            <a:avLst/>
          </a:prstGeom>
          <a:noFill/>
          <a:ln w="19050">
            <a:solidFill>
              <a:schemeClr val="accent1"/>
            </a:solidFill>
          </a:ln>
        </p:spPr>
        <p:txBody>
          <a:bodyPr wrap="square" rtlCol="0">
            <a:spAutoFit/>
          </a:bodyPr>
          <a:lstStyle/>
          <a:p>
            <a:pPr algn="ctr"/>
            <a:r>
              <a:rPr lang="en-AU" dirty="0"/>
              <a:t>The policy-making body made up of the prime minister and senior government ministers who have been placed in charge of a government department. It decides which laws should be introduced into parliament.</a:t>
            </a:r>
          </a:p>
        </p:txBody>
      </p:sp>
      <p:cxnSp>
        <p:nvCxnSpPr>
          <p:cNvPr id="12" name="Straight Connector 11">
            <a:extLst>
              <a:ext uri="{FF2B5EF4-FFF2-40B4-BE49-F238E27FC236}">
                <a16:creationId xmlns:a16="http://schemas.microsoft.com/office/drawing/2014/main" id="{32BB87CF-2BD2-49F2-BD22-B67589634090}"/>
              </a:ext>
            </a:extLst>
          </p:cNvPr>
          <p:cNvCxnSpPr>
            <a:stCxn id="6" idx="2"/>
            <a:endCxn id="8" idx="0"/>
          </p:cNvCxnSpPr>
          <p:nvPr/>
        </p:nvCxnSpPr>
        <p:spPr>
          <a:xfrm>
            <a:off x="1981199" y="2769704"/>
            <a:ext cx="0" cy="6153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5C28C56-B773-4A3A-8FBE-BEBB6FCBC85C}"/>
              </a:ext>
            </a:extLst>
          </p:cNvPr>
          <p:cNvCxnSpPr/>
          <p:nvPr/>
        </p:nvCxnSpPr>
        <p:spPr>
          <a:xfrm>
            <a:off x="6009857" y="2769704"/>
            <a:ext cx="0" cy="615361"/>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1B7AD68-AEF7-40EF-A7EC-291FB8B4CCDF}"/>
              </a:ext>
            </a:extLst>
          </p:cNvPr>
          <p:cNvCxnSpPr/>
          <p:nvPr/>
        </p:nvCxnSpPr>
        <p:spPr>
          <a:xfrm>
            <a:off x="9916367" y="2789582"/>
            <a:ext cx="0" cy="615361"/>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5" name="Subtitle 2">
            <a:extLst>
              <a:ext uri="{FF2B5EF4-FFF2-40B4-BE49-F238E27FC236}">
                <a16:creationId xmlns:a16="http://schemas.microsoft.com/office/drawing/2014/main" id="{6629E8D2-B1AE-47EE-89BC-44E77EF735C4}"/>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Tree>
    <p:extLst>
      <p:ext uri="{BB962C8B-B14F-4D97-AF65-F5344CB8AC3E}">
        <p14:creationId xmlns:p14="http://schemas.microsoft.com/office/powerpoint/2010/main" val="3662811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ppt_x"/>
                                          </p:val>
                                        </p:tav>
                                        <p:tav tm="100000">
                                          <p:val>
                                            <p:strVal val="#ppt_x"/>
                                          </p:val>
                                        </p:tav>
                                      </p:tavLst>
                                    </p:anim>
                                    <p:anim calcmode="lin" valueType="num">
                                      <p:cBhvr additive="base">
                                        <p:cTn id="3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5A6CC1-D227-452C-BCFE-0FB11BCAF9B6}"/>
              </a:ext>
            </a:extLst>
          </p:cNvPr>
          <p:cNvSpPr txBox="1"/>
          <p:nvPr/>
        </p:nvSpPr>
        <p:spPr>
          <a:xfrm>
            <a:off x="8269357" y="4537678"/>
            <a:ext cx="3505200" cy="1077218"/>
          </a:xfrm>
          <a:prstGeom prst="rect">
            <a:avLst/>
          </a:prstGeom>
          <a:noFill/>
          <a:ln>
            <a:solidFill>
              <a:schemeClr val="tx1"/>
            </a:solidFill>
          </a:ln>
        </p:spPr>
        <p:txBody>
          <a:bodyPr wrap="square" rtlCol="0">
            <a:spAutoFit/>
          </a:bodyPr>
          <a:lstStyle/>
          <a:p>
            <a:r>
              <a:rPr lang="en-AU" sz="1600" dirty="0"/>
              <a:t>Vocabulary:</a:t>
            </a:r>
          </a:p>
          <a:p>
            <a:r>
              <a:rPr lang="en-AU" sz="1600" b="1" dirty="0"/>
              <a:t>Statue law </a:t>
            </a:r>
            <a:r>
              <a:rPr lang="en-AU" sz="1600" dirty="0"/>
              <a:t>– law made by parliament.</a:t>
            </a:r>
          </a:p>
          <a:p>
            <a:r>
              <a:rPr lang="en-AU" sz="1600" b="1" dirty="0"/>
              <a:t>Assent</a:t>
            </a:r>
            <a:r>
              <a:rPr lang="en-AU" sz="1600" dirty="0"/>
              <a:t> - agreement</a:t>
            </a:r>
          </a:p>
        </p:txBody>
      </p:sp>
      <p:sp>
        <p:nvSpPr>
          <p:cNvPr id="4" name="TextBox 3"/>
          <p:cNvSpPr txBox="1"/>
          <p:nvPr/>
        </p:nvSpPr>
        <p:spPr>
          <a:xfrm>
            <a:off x="682486" y="4537678"/>
            <a:ext cx="2942896" cy="1477328"/>
          </a:xfrm>
          <a:prstGeom prst="rect">
            <a:avLst/>
          </a:prstGeom>
          <a:noFill/>
          <a:ln>
            <a:solidFill>
              <a:schemeClr val="tx1"/>
            </a:solidFill>
          </a:ln>
        </p:spPr>
        <p:txBody>
          <a:bodyPr wrap="square" rtlCol="0">
            <a:spAutoFit/>
          </a:bodyPr>
          <a:lstStyle/>
          <a:p>
            <a:r>
              <a:rPr lang="en-AU" dirty="0"/>
              <a:t>CFU:</a:t>
            </a:r>
          </a:p>
          <a:p>
            <a:r>
              <a:rPr lang="en-AU" dirty="0"/>
              <a:t>What is a statue law?</a:t>
            </a:r>
          </a:p>
          <a:p>
            <a:r>
              <a:rPr lang="en-AU" dirty="0"/>
              <a:t>Before a bill can become an act what needs to happen?</a:t>
            </a:r>
          </a:p>
        </p:txBody>
      </p:sp>
      <p:sp>
        <p:nvSpPr>
          <p:cNvPr id="6" name="Content Placeholder 5">
            <a:extLst>
              <a:ext uri="{FF2B5EF4-FFF2-40B4-BE49-F238E27FC236}">
                <a16:creationId xmlns:a16="http://schemas.microsoft.com/office/drawing/2014/main" id="{0E1802F9-41CC-42D6-8A5A-01BAF81FB420}"/>
              </a:ext>
            </a:extLst>
          </p:cNvPr>
          <p:cNvSpPr>
            <a:spLocks noGrp="1"/>
          </p:cNvSpPr>
          <p:nvPr>
            <p:ph idx="1"/>
          </p:nvPr>
        </p:nvSpPr>
        <p:spPr>
          <a:xfrm>
            <a:off x="1154954" y="2603500"/>
            <a:ext cx="8761413" cy="1570935"/>
          </a:xfrm>
        </p:spPr>
        <p:txBody>
          <a:bodyPr/>
          <a:lstStyle/>
          <a:p>
            <a:pPr marL="6160" indent="0">
              <a:buNone/>
            </a:pPr>
            <a:r>
              <a:rPr lang="en-AU" sz="2000" dirty="0">
                <a:solidFill>
                  <a:schemeClr val="tx1"/>
                </a:solidFill>
              </a:rPr>
              <a:t>Statute law – Law made by parliament, also known as legislation.</a:t>
            </a:r>
          </a:p>
          <a:p>
            <a:pPr marL="6160" indent="0">
              <a:buNone/>
            </a:pPr>
            <a:r>
              <a:rPr lang="en-AU" sz="2000" dirty="0">
                <a:solidFill>
                  <a:schemeClr val="tx1"/>
                </a:solidFill>
              </a:rPr>
              <a:t>Law- making is the main role of parliament. A proposed law is a bill. A bill must pass through both houses of parliament and receive royal assent before it can become an act.</a:t>
            </a:r>
          </a:p>
          <a:p>
            <a:pPr marL="0" indent="0">
              <a:buNone/>
            </a:pPr>
            <a:endParaRPr lang="en-AU" dirty="0"/>
          </a:p>
        </p:txBody>
      </p:sp>
      <p:sp>
        <p:nvSpPr>
          <p:cNvPr id="7" name="Subtitle 2">
            <a:extLst>
              <a:ext uri="{FF2B5EF4-FFF2-40B4-BE49-F238E27FC236}">
                <a16:creationId xmlns:a16="http://schemas.microsoft.com/office/drawing/2014/main" id="{0DA12FA7-500A-47C3-817D-86CDFF40A3EA}"/>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Tree>
    <p:extLst>
      <p:ext uri="{BB962C8B-B14F-4D97-AF65-F5344CB8AC3E}">
        <p14:creationId xmlns:p14="http://schemas.microsoft.com/office/powerpoint/2010/main" val="4095251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 calcmode="lin" valueType="num">
                                      <p:cBhvr additive="base">
                                        <p:cTn id="11"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30327-9ED1-4560-8101-6692E26639F9}"/>
              </a:ext>
            </a:extLst>
          </p:cNvPr>
          <p:cNvSpPr>
            <a:spLocks noGrp="1"/>
          </p:cNvSpPr>
          <p:nvPr>
            <p:ph type="title"/>
          </p:nvPr>
        </p:nvSpPr>
        <p:spPr>
          <a:xfrm>
            <a:off x="1958338" y="668001"/>
            <a:ext cx="7958331" cy="525517"/>
          </a:xfrm>
        </p:spPr>
        <p:txBody>
          <a:bodyPr>
            <a:normAutofit fontScale="90000"/>
          </a:bodyPr>
          <a:lstStyle/>
          <a:p>
            <a:pPr algn="ctr"/>
            <a:r>
              <a:rPr lang="en-AU" dirty="0">
                <a:solidFill>
                  <a:schemeClr val="tx1"/>
                </a:solidFill>
              </a:rPr>
              <a:t>Different types of bills</a:t>
            </a:r>
          </a:p>
        </p:txBody>
      </p:sp>
      <p:sp>
        <p:nvSpPr>
          <p:cNvPr id="3" name="Content Placeholder 2">
            <a:extLst>
              <a:ext uri="{FF2B5EF4-FFF2-40B4-BE49-F238E27FC236}">
                <a16:creationId xmlns:a16="http://schemas.microsoft.com/office/drawing/2014/main" id="{3F9CE090-98A5-4351-B2D7-E8DB25F00626}"/>
              </a:ext>
            </a:extLst>
          </p:cNvPr>
          <p:cNvSpPr>
            <a:spLocks noGrp="1"/>
          </p:cNvSpPr>
          <p:nvPr>
            <p:ph idx="1"/>
          </p:nvPr>
        </p:nvSpPr>
        <p:spPr>
          <a:xfrm>
            <a:off x="751331" y="1927163"/>
            <a:ext cx="11056356" cy="3003673"/>
          </a:xfrm>
        </p:spPr>
        <p:txBody>
          <a:bodyPr/>
          <a:lstStyle/>
          <a:p>
            <a:pPr marL="6160" indent="0">
              <a:buNone/>
            </a:pPr>
            <a:r>
              <a:rPr lang="en-AU" sz="2400" dirty="0">
                <a:solidFill>
                  <a:schemeClr val="tx1"/>
                </a:solidFill>
              </a:rPr>
              <a:t>Bills can be:</a:t>
            </a:r>
          </a:p>
          <a:p>
            <a:pPr marL="6160" indent="0">
              <a:buNone/>
            </a:pPr>
            <a:r>
              <a:rPr lang="en-AU" sz="2400" b="1" dirty="0">
                <a:solidFill>
                  <a:schemeClr val="tx1"/>
                </a:solidFill>
              </a:rPr>
              <a:t>Government bills </a:t>
            </a:r>
            <a:r>
              <a:rPr lang="en-AU" sz="2400" dirty="0">
                <a:solidFill>
                  <a:schemeClr val="tx1"/>
                </a:solidFill>
              </a:rPr>
              <a:t>-  the majority of bills are introduced in parliament by the relevant minister on behalf of the government. For example, the minister for health introducing a bill concerning health issues. Government bills have been </a:t>
            </a:r>
            <a:r>
              <a:rPr lang="en-AU" sz="2400" b="1" dirty="0">
                <a:solidFill>
                  <a:schemeClr val="tx1"/>
                </a:solidFill>
              </a:rPr>
              <a:t>formulated</a:t>
            </a:r>
            <a:r>
              <a:rPr lang="en-AU" sz="2400" dirty="0">
                <a:solidFill>
                  <a:schemeClr val="tx1"/>
                </a:solidFill>
              </a:rPr>
              <a:t> by </a:t>
            </a:r>
            <a:r>
              <a:rPr lang="en-AU" sz="2400" b="1" dirty="0">
                <a:solidFill>
                  <a:schemeClr val="tx1"/>
                </a:solidFill>
              </a:rPr>
              <a:t>cabinet</a:t>
            </a:r>
            <a:r>
              <a:rPr lang="en-AU" sz="2400" dirty="0">
                <a:solidFill>
                  <a:schemeClr val="tx1"/>
                </a:solidFill>
              </a:rPr>
              <a:t> as part of its program to </a:t>
            </a:r>
            <a:r>
              <a:rPr lang="en-AU" sz="2400" b="1" dirty="0">
                <a:solidFill>
                  <a:schemeClr val="tx1"/>
                </a:solidFill>
              </a:rPr>
              <a:t>implement</a:t>
            </a:r>
            <a:r>
              <a:rPr lang="en-AU" sz="2400" dirty="0">
                <a:solidFill>
                  <a:schemeClr val="tx1"/>
                </a:solidFill>
              </a:rPr>
              <a:t> government policy.</a:t>
            </a:r>
          </a:p>
          <a:p>
            <a:pPr marL="6160" indent="0">
              <a:buNone/>
            </a:pPr>
            <a:endParaRPr lang="en-AU" dirty="0">
              <a:solidFill>
                <a:schemeClr val="tx1"/>
              </a:solidFill>
            </a:endParaRPr>
          </a:p>
        </p:txBody>
      </p:sp>
      <p:sp>
        <p:nvSpPr>
          <p:cNvPr id="4" name="TextBox 3">
            <a:extLst>
              <a:ext uri="{FF2B5EF4-FFF2-40B4-BE49-F238E27FC236}">
                <a16:creationId xmlns:a16="http://schemas.microsoft.com/office/drawing/2014/main" id="{C16672A9-310D-45BE-B967-A64683A83099}"/>
              </a:ext>
            </a:extLst>
          </p:cNvPr>
          <p:cNvSpPr txBox="1"/>
          <p:nvPr/>
        </p:nvSpPr>
        <p:spPr>
          <a:xfrm>
            <a:off x="7418935" y="4342906"/>
            <a:ext cx="4187687" cy="2308324"/>
          </a:xfrm>
          <a:prstGeom prst="rect">
            <a:avLst/>
          </a:prstGeom>
          <a:noFill/>
          <a:ln>
            <a:solidFill>
              <a:schemeClr val="tx1"/>
            </a:solidFill>
          </a:ln>
        </p:spPr>
        <p:txBody>
          <a:bodyPr wrap="square" rtlCol="0">
            <a:spAutoFit/>
          </a:bodyPr>
          <a:lstStyle/>
          <a:p>
            <a:r>
              <a:rPr lang="en-AU" dirty="0"/>
              <a:t>Vocabulary:</a:t>
            </a:r>
          </a:p>
          <a:p>
            <a:r>
              <a:rPr lang="en-AU" b="1" dirty="0"/>
              <a:t>Cabinet</a:t>
            </a:r>
            <a:r>
              <a:rPr lang="en-AU" dirty="0"/>
              <a:t> – the policy making body of government, made up of the prime minister and senior ministers.</a:t>
            </a:r>
          </a:p>
          <a:p>
            <a:r>
              <a:rPr lang="en-AU" dirty="0"/>
              <a:t>Formulated- create or prepare methodically.</a:t>
            </a:r>
          </a:p>
          <a:p>
            <a:r>
              <a:rPr lang="en-AU" dirty="0"/>
              <a:t>Implement - put (a decision, plan, agreement, etc.) into effect.</a:t>
            </a:r>
          </a:p>
        </p:txBody>
      </p:sp>
      <p:sp>
        <p:nvSpPr>
          <p:cNvPr id="5" name="TextBox 4"/>
          <p:cNvSpPr txBox="1"/>
          <p:nvPr/>
        </p:nvSpPr>
        <p:spPr>
          <a:xfrm>
            <a:off x="947301" y="5342465"/>
            <a:ext cx="3825766" cy="830997"/>
          </a:xfrm>
          <a:prstGeom prst="rect">
            <a:avLst/>
          </a:prstGeom>
          <a:noFill/>
          <a:ln>
            <a:solidFill>
              <a:schemeClr val="tx1"/>
            </a:solidFill>
          </a:ln>
        </p:spPr>
        <p:txBody>
          <a:bodyPr wrap="square" rtlCol="0">
            <a:spAutoFit/>
          </a:bodyPr>
          <a:lstStyle/>
          <a:p>
            <a:r>
              <a:rPr lang="en-AU" sz="1600" dirty="0"/>
              <a:t>CFU: Pair share (Complete sentences)</a:t>
            </a:r>
          </a:p>
          <a:p>
            <a:r>
              <a:rPr lang="en-AU" sz="1600" dirty="0"/>
              <a:t>What is a government bill?</a:t>
            </a:r>
          </a:p>
        </p:txBody>
      </p:sp>
      <p:sp>
        <p:nvSpPr>
          <p:cNvPr id="6" name="Subtitle 2">
            <a:extLst>
              <a:ext uri="{FF2B5EF4-FFF2-40B4-BE49-F238E27FC236}">
                <a16:creationId xmlns:a16="http://schemas.microsoft.com/office/drawing/2014/main" id="{12B6F1DB-A83D-4A9F-BE3F-6B29DD7E8930}"/>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Tree>
    <p:extLst>
      <p:ext uri="{BB962C8B-B14F-4D97-AF65-F5344CB8AC3E}">
        <p14:creationId xmlns:p14="http://schemas.microsoft.com/office/powerpoint/2010/main" val="3897906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950438-9EED-4249-A534-42DFC1630BC8}"/>
              </a:ext>
            </a:extLst>
          </p:cNvPr>
          <p:cNvSpPr>
            <a:spLocks noGrp="1"/>
          </p:cNvSpPr>
          <p:nvPr>
            <p:ph idx="1"/>
          </p:nvPr>
        </p:nvSpPr>
        <p:spPr>
          <a:xfrm>
            <a:off x="490330" y="2195513"/>
            <a:ext cx="11211340" cy="1882723"/>
          </a:xfrm>
        </p:spPr>
        <p:txBody>
          <a:bodyPr>
            <a:normAutofit/>
          </a:bodyPr>
          <a:lstStyle/>
          <a:p>
            <a:pPr marL="6160" indent="0">
              <a:buNone/>
            </a:pPr>
            <a:r>
              <a:rPr lang="en-AU" sz="2400" b="1" dirty="0">
                <a:solidFill>
                  <a:schemeClr val="tx1"/>
                </a:solidFill>
              </a:rPr>
              <a:t>Appropriation bills </a:t>
            </a:r>
            <a:r>
              <a:rPr lang="en-AU" sz="2400" dirty="0">
                <a:solidFill>
                  <a:schemeClr val="tx1"/>
                </a:solidFill>
              </a:rPr>
              <a:t>(also known as money bills or supply bills) – These bills are also government bills. They </a:t>
            </a:r>
            <a:r>
              <a:rPr lang="en-AU" sz="2400" b="1" dirty="0">
                <a:solidFill>
                  <a:schemeClr val="tx1"/>
                </a:solidFill>
              </a:rPr>
              <a:t>authorise</a:t>
            </a:r>
            <a:r>
              <a:rPr lang="en-AU" sz="2400" dirty="0">
                <a:solidFill>
                  <a:schemeClr val="tx1"/>
                </a:solidFill>
              </a:rPr>
              <a:t> the government to spend the money collected through taxation and other means. These bills can only be introduced in the lower house.</a:t>
            </a:r>
          </a:p>
        </p:txBody>
      </p:sp>
      <p:sp>
        <p:nvSpPr>
          <p:cNvPr id="2" name="TextBox 1"/>
          <p:cNvSpPr txBox="1"/>
          <p:nvPr/>
        </p:nvSpPr>
        <p:spPr>
          <a:xfrm>
            <a:off x="490330" y="4798917"/>
            <a:ext cx="3922644" cy="1477328"/>
          </a:xfrm>
          <a:prstGeom prst="rect">
            <a:avLst/>
          </a:prstGeom>
          <a:noFill/>
          <a:ln>
            <a:solidFill>
              <a:schemeClr val="tx1"/>
            </a:solidFill>
          </a:ln>
        </p:spPr>
        <p:txBody>
          <a:bodyPr wrap="square" rtlCol="0">
            <a:spAutoFit/>
          </a:bodyPr>
          <a:lstStyle/>
          <a:p>
            <a:r>
              <a:rPr lang="en-AU" dirty="0"/>
              <a:t>CFU: Pair/share</a:t>
            </a:r>
          </a:p>
          <a:p>
            <a:r>
              <a:rPr lang="en-AU" dirty="0"/>
              <a:t>Where do appropriation bills get introduced?</a:t>
            </a:r>
          </a:p>
          <a:p>
            <a:r>
              <a:rPr lang="en-AU" dirty="0"/>
              <a:t>What are Appropriation bills? What do they authorise?</a:t>
            </a:r>
          </a:p>
        </p:txBody>
      </p:sp>
      <p:sp>
        <p:nvSpPr>
          <p:cNvPr id="4" name="Subtitle 2">
            <a:extLst>
              <a:ext uri="{FF2B5EF4-FFF2-40B4-BE49-F238E27FC236}">
                <a16:creationId xmlns:a16="http://schemas.microsoft.com/office/drawing/2014/main" id="{7FE942B3-182B-48A3-9096-A8B4750C27F6}"/>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5" name="TextBox 4">
            <a:extLst>
              <a:ext uri="{FF2B5EF4-FFF2-40B4-BE49-F238E27FC236}">
                <a16:creationId xmlns:a16="http://schemas.microsoft.com/office/drawing/2014/main" id="{E2C7B166-523B-46D7-BDE0-09E1B5388DA3}"/>
              </a:ext>
            </a:extLst>
          </p:cNvPr>
          <p:cNvSpPr txBox="1"/>
          <p:nvPr/>
        </p:nvSpPr>
        <p:spPr>
          <a:xfrm>
            <a:off x="8242852" y="4691270"/>
            <a:ext cx="2743200" cy="923330"/>
          </a:xfrm>
          <a:prstGeom prst="rect">
            <a:avLst/>
          </a:prstGeom>
          <a:noFill/>
          <a:ln>
            <a:solidFill>
              <a:schemeClr val="accent1"/>
            </a:solidFill>
          </a:ln>
        </p:spPr>
        <p:txBody>
          <a:bodyPr wrap="square" rtlCol="0">
            <a:spAutoFit/>
          </a:bodyPr>
          <a:lstStyle/>
          <a:p>
            <a:r>
              <a:rPr lang="en-AU" dirty="0"/>
              <a:t>Vocabulary:</a:t>
            </a:r>
          </a:p>
          <a:p>
            <a:r>
              <a:rPr lang="en-AU" b="1" dirty="0"/>
              <a:t>Authorise</a:t>
            </a:r>
            <a:r>
              <a:rPr lang="en-AU" dirty="0"/>
              <a:t> – allow</a:t>
            </a:r>
          </a:p>
          <a:p>
            <a:endParaRPr lang="en-AU" dirty="0"/>
          </a:p>
        </p:txBody>
      </p:sp>
    </p:spTree>
    <p:extLst>
      <p:ext uri="{BB962C8B-B14F-4D97-AF65-F5344CB8AC3E}">
        <p14:creationId xmlns:p14="http://schemas.microsoft.com/office/powerpoint/2010/main" val="3034383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5310"/>
            <a:ext cx="8761413" cy="1361090"/>
          </a:xfrm>
        </p:spPr>
        <p:txBody>
          <a:bodyPr/>
          <a:lstStyle/>
          <a:p>
            <a:r>
              <a:rPr lang="en-AU" b="1" dirty="0"/>
              <a:t>Health Care (Appropriation) Amendment Bill 2002</a:t>
            </a:r>
            <a:endParaRPr lang="en-AU" dirty="0"/>
          </a:p>
        </p:txBody>
      </p:sp>
      <p:sp>
        <p:nvSpPr>
          <p:cNvPr id="4" name="Rectangle 3"/>
          <p:cNvSpPr/>
          <p:nvPr/>
        </p:nvSpPr>
        <p:spPr>
          <a:xfrm>
            <a:off x="977462" y="2260597"/>
            <a:ext cx="9995338" cy="1754326"/>
          </a:xfrm>
          <a:prstGeom prst="rect">
            <a:avLst/>
          </a:prstGeom>
        </p:spPr>
        <p:txBody>
          <a:bodyPr wrap="square">
            <a:spAutoFit/>
          </a:bodyPr>
          <a:lstStyle/>
          <a:p>
            <a:r>
              <a:rPr lang="en-AU" dirty="0"/>
              <a:t>This Bill seeks to introduce two changes to the Health Care (</a:t>
            </a:r>
            <a:r>
              <a:rPr lang="en-AU" b="1" dirty="0"/>
              <a:t>Appropriation</a:t>
            </a:r>
            <a:r>
              <a:rPr lang="en-AU" dirty="0"/>
              <a:t>) Act 1998 (‘the Act’). The first proposed change will increase the maximum amount of financial assistance that the Minister for Health and Ageing may grant to the States and Territories under the Australian Health Care Agreements. The second proposed change will require the Minister for Health and Ageing to table a statement of the amount of financial assistance granted under the new maximum payment level.</a:t>
            </a:r>
          </a:p>
        </p:txBody>
      </p:sp>
      <p:sp>
        <p:nvSpPr>
          <p:cNvPr id="6" name="TextBox 5"/>
          <p:cNvSpPr txBox="1"/>
          <p:nvPr/>
        </p:nvSpPr>
        <p:spPr>
          <a:xfrm>
            <a:off x="451945" y="4562280"/>
            <a:ext cx="2900855" cy="1477328"/>
          </a:xfrm>
          <a:prstGeom prst="rect">
            <a:avLst/>
          </a:prstGeom>
          <a:noFill/>
          <a:ln>
            <a:solidFill>
              <a:schemeClr val="accent1"/>
            </a:solidFill>
          </a:ln>
        </p:spPr>
        <p:txBody>
          <a:bodyPr wrap="square" rtlCol="0">
            <a:spAutoFit/>
          </a:bodyPr>
          <a:lstStyle/>
          <a:p>
            <a:r>
              <a:rPr lang="en-AU" dirty="0"/>
              <a:t>CFU:</a:t>
            </a:r>
          </a:p>
          <a:p>
            <a:r>
              <a:rPr lang="en-AU" dirty="0"/>
              <a:t>What was changed to this bill?</a:t>
            </a:r>
          </a:p>
          <a:p>
            <a:r>
              <a:rPr lang="en-AU" dirty="0"/>
              <a:t>Who is affected by this change?</a:t>
            </a:r>
          </a:p>
        </p:txBody>
      </p:sp>
      <p:sp>
        <p:nvSpPr>
          <p:cNvPr id="7" name="TextBox 6"/>
          <p:cNvSpPr txBox="1"/>
          <p:nvPr/>
        </p:nvSpPr>
        <p:spPr>
          <a:xfrm>
            <a:off x="7609490" y="4423781"/>
            <a:ext cx="4056993" cy="1754326"/>
          </a:xfrm>
          <a:prstGeom prst="rect">
            <a:avLst/>
          </a:prstGeom>
          <a:noFill/>
          <a:ln>
            <a:solidFill>
              <a:schemeClr val="accent1"/>
            </a:solidFill>
          </a:ln>
        </p:spPr>
        <p:txBody>
          <a:bodyPr wrap="square" rtlCol="0">
            <a:spAutoFit/>
          </a:bodyPr>
          <a:lstStyle/>
          <a:p>
            <a:r>
              <a:rPr lang="en-AU" dirty="0"/>
              <a:t>Vocabulary:</a:t>
            </a:r>
          </a:p>
          <a:p>
            <a:r>
              <a:rPr lang="en-AU" dirty="0"/>
              <a:t>An </a:t>
            </a:r>
            <a:r>
              <a:rPr lang="en-AU" b="1" dirty="0"/>
              <a:t>appropriation</a:t>
            </a:r>
            <a:r>
              <a:rPr lang="en-AU" dirty="0"/>
              <a:t> is an amount of money that a government or organization reserves for a particular purpose.</a:t>
            </a:r>
          </a:p>
          <a:p>
            <a:r>
              <a:rPr lang="en-AU" dirty="0"/>
              <a:t> </a:t>
            </a:r>
          </a:p>
        </p:txBody>
      </p:sp>
    </p:spTree>
    <p:extLst>
      <p:ext uri="{BB962C8B-B14F-4D97-AF65-F5344CB8AC3E}">
        <p14:creationId xmlns:p14="http://schemas.microsoft.com/office/powerpoint/2010/main" val="399162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D6503-03E8-4369-8C32-97D163A0B3E3}"/>
              </a:ext>
            </a:extLst>
          </p:cNvPr>
          <p:cNvSpPr>
            <a:spLocks noGrp="1"/>
          </p:cNvSpPr>
          <p:nvPr>
            <p:ph idx="1"/>
          </p:nvPr>
        </p:nvSpPr>
        <p:spPr>
          <a:xfrm>
            <a:off x="318052" y="2303593"/>
            <a:ext cx="11436626" cy="2294911"/>
          </a:xfrm>
        </p:spPr>
        <p:txBody>
          <a:bodyPr>
            <a:normAutofit lnSpcReduction="10000"/>
          </a:bodyPr>
          <a:lstStyle/>
          <a:p>
            <a:pPr marL="6160" indent="0">
              <a:buNone/>
            </a:pPr>
            <a:r>
              <a:rPr lang="en-AU" sz="2000" b="1" dirty="0">
                <a:solidFill>
                  <a:schemeClr val="tx1"/>
                </a:solidFill>
              </a:rPr>
              <a:t>Private bills- </a:t>
            </a:r>
            <a:r>
              <a:rPr lang="en-AU" sz="2000" dirty="0">
                <a:solidFill>
                  <a:schemeClr val="tx1"/>
                </a:solidFill>
              </a:rPr>
              <a:t>A private bill is very rare. It is introduced by the government and only applies to one person or one group. </a:t>
            </a:r>
          </a:p>
          <a:p>
            <a:pPr marL="6160" indent="0">
              <a:buNone/>
            </a:pPr>
            <a:r>
              <a:rPr lang="en-AU" sz="2000" dirty="0">
                <a:solidFill>
                  <a:schemeClr val="tx1"/>
                </a:solidFill>
              </a:rPr>
              <a:t>The Community Protection Act 1990(Vic.) was a private bill that only applied to a prisoner named Garry David. He was a prisoner who made wild and dangerous threats such as threatening to blow up the MCG on grand final day. This act was necessary to hold him in prison. Since this time the law has been amended to deal with such violent prisoners in general by introducing </a:t>
            </a:r>
            <a:r>
              <a:rPr lang="en-AU" sz="2000" b="1" dirty="0">
                <a:solidFill>
                  <a:schemeClr val="tx1"/>
                </a:solidFill>
              </a:rPr>
              <a:t>indefinite</a:t>
            </a:r>
            <a:r>
              <a:rPr lang="en-AU" sz="2000" dirty="0">
                <a:solidFill>
                  <a:schemeClr val="tx1"/>
                </a:solidFill>
              </a:rPr>
              <a:t> sentencing.</a:t>
            </a:r>
          </a:p>
        </p:txBody>
      </p:sp>
      <p:sp>
        <p:nvSpPr>
          <p:cNvPr id="4" name="TextBox 3"/>
          <p:cNvSpPr txBox="1"/>
          <p:nvPr/>
        </p:nvSpPr>
        <p:spPr>
          <a:xfrm>
            <a:off x="729337" y="5317777"/>
            <a:ext cx="3878318" cy="830997"/>
          </a:xfrm>
          <a:prstGeom prst="rect">
            <a:avLst/>
          </a:prstGeom>
          <a:noFill/>
          <a:ln>
            <a:solidFill>
              <a:schemeClr val="tx1"/>
            </a:solidFill>
          </a:ln>
        </p:spPr>
        <p:txBody>
          <a:bodyPr wrap="square" rtlCol="0">
            <a:spAutoFit/>
          </a:bodyPr>
          <a:lstStyle/>
          <a:p>
            <a:r>
              <a:rPr lang="en-AU" sz="1600" dirty="0"/>
              <a:t>CFU: Pair/share</a:t>
            </a:r>
          </a:p>
          <a:p>
            <a:r>
              <a:rPr lang="en-AU" sz="1600" dirty="0"/>
              <a:t>What is a private bill?</a:t>
            </a:r>
          </a:p>
          <a:p>
            <a:r>
              <a:rPr lang="en-AU" sz="1600" dirty="0"/>
              <a:t>Who do private bills apply to?</a:t>
            </a:r>
          </a:p>
        </p:txBody>
      </p:sp>
      <p:sp>
        <p:nvSpPr>
          <p:cNvPr id="2" name="TextBox 1">
            <a:extLst>
              <a:ext uri="{FF2B5EF4-FFF2-40B4-BE49-F238E27FC236}">
                <a16:creationId xmlns:a16="http://schemas.microsoft.com/office/drawing/2014/main" id="{B87A1791-D9F4-4B8C-B912-6040C689F0DA}"/>
              </a:ext>
            </a:extLst>
          </p:cNvPr>
          <p:cNvSpPr txBox="1"/>
          <p:nvPr/>
        </p:nvSpPr>
        <p:spPr>
          <a:xfrm>
            <a:off x="7765774" y="5133110"/>
            <a:ext cx="3233530" cy="1200329"/>
          </a:xfrm>
          <a:prstGeom prst="rect">
            <a:avLst/>
          </a:prstGeom>
          <a:noFill/>
          <a:ln>
            <a:solidFill>
              <a:schemeClr val="tx1"/>
            </a:solidFill>
          </a:ln>
        </p:spPr>
        <p:txBody>
          <a:bodyPr wrap="square" rtlCol="0">
            <a:spAutoFit/>
          </a:bodyPr>
          <a:lstStyle/>
          <a:p>
            <a:r>
              <a:rPr lang="en-AU" dirty="0"/>
              <a:t>Vocabulary:</a:t>
            </a:r>
          </a:p>
          <a:p>
            <a:r>
              <a:rPr lang="en-AU" b="1" dirty="0"/>
              <a:t>Indefinite</a:t>
            </a:r>
            <a:r>
              <a:rPr lang="en-AU" dirty="0"/>
              <a:t> - lasting for an unknown or unstated length of time. </a:t>
            </a:r>
          </a:p>
        </p:txBody>
      </p:sp>
      <p:sp>
        <p:nvSpPr>
          <p:cNvPr id="5" name="Subtitle 2">
            <a:extLst>
              <a:ext uri="{FF2B5EF4-FFF2-40B4-BE49-F238E27FC236}">
                <a16:creationId xmlns:a16="http://schemas.microsoft.com/office/drawing/2014/main" id="{F841A26C-EDC1-41DD-9280-A2B5F2C2FFEF}"/>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Tree>
    <p:extLst>
      <p:ext uri="{BB962C8B-B14F-4D97-AF65-F5344CB8AC3E}">
        <p14:creationId xmlns:p14="http://schemas.microsoft.com/office/powerpoint/2010/main" val="390844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0E9C47-08C5-4E47-A83F-674BE2260055}"/>
              </a:ext>
            </a:extLst>
          </p:cNvPr>
          <p:cNvSpPr>
            <a:spLocks noGrp="1"/>
          </p:cNvSpPr>
          <p:nvPr>
            <p:ph idx="1"/>
          </p:nvPr>
        </p:nvSpPr>
        <p:spPr>
          <a:xfrm>
            <a:off x="503582" y="2302336"/>
            <a:ext cx="11184835" cy="2455194"/>
          </a:xfrm>
        </p:spPr>
        <p:txBody>
          <a:bodyPr>
            <a:normAutofit/>
          </a:bodyPr>
          <a:lstStyle/>
          <a:p>
            <a:pPr marL="6160" indent="0">
              <a:buNone/>
            </a:pPr>
            <a:r>
              <a:rPr lang="en-AU" sz="2000" b="1" dirty="0">
                <a:solidFill>
                  <a:schemeClr val="tx1"/>
                </a:solidFill>
              </a:rPr>
              <a:t>Private members’ bills- </a:t>
            </a:r>
            <a:r>
              <a:rPr lang="en-AU" sz="2000" dirty="0">
                <a:solidFill>
                  <a:schemeClr val="tx1"/>
                </a:solidFill>
              </a:rPr>
              <a:t>On some occasions an individual member of parliament (not acting on behalf of the government) may wish to introduce a bill that the cabinet has chosen not to include in its legislative program. This is known as a private members’ bill. These bills are often on </a:t>
            </a:r>
            <a:r>
              <a:rPr lang="en-AU" sz="2000" b="1" dirty="0">
                <a:solidFill>
                  <a:schemeClr val="tx1"/>
                </a:solidFill>
              </a:rPr>
              <a:t>controversial</a:t>
            </a:r>
            <a:r>
              <a:rPr lang="en-AU" sz="2000" dirty="0">
                <a:solidFill>
                  <a:schemeClr val="tx1"/>
                </a:solidFill>
              </a:rPr>
              <a:t> issues such as abortion and euthanasia. Private members’ bills are generally unsuccessful because they do not have the backing of the cabinet, and, as members of parliament often vote according to the dictates of their political party, such bills may not get </a:t>
            </a:r>
            <a:r>
              <a:rPr lang="en-AU" sz="2000" b="1" dirty="0">
                <a:solidFill>
                  <a:schemeClr val="tx1"/>
                </a:solidFill>
              </a:rPr>
              <a:t>sufficient</a:t>
            </a:r>
            <a:r>
              <a:rPr lang="en-AU" sz="2000" dirty="0">
                <a:solidFill>
                  <a:schemeClr val="tx1"/>
                </a:solidFill>
              </a:rPr>
              <a:t> support.</a:t>
            </a:r>
          </a:p>
        </p:txBody>
      </p:sp>
      <p:sp>
        <p:nvSpPr>
          <p:cNvPr id="4" name="TextBox 3"/>
          <p:cNvSpPr txBox="1"/>
          <p:nvPr/>
        </p:nvSpPr>
        <p:spPr>
          <a:xfrm>
            <a:off x="762686" y="5347938"/>
            <a:ext cx="4698125" cy="830997"/>
          </a:xfrm>
          <a:prstGeom prst="rect">
            <a:avLst/>
          </a:prstGeom>
          <a:noFill/>
          <a:ln>
            <a:solidFill>
              <a:schemeClr val="tx1"/>
            </a:solidFill>
          </a:ln>
        </p:spPr>
        <p:txBody>
          <a:bodyPr wrap="square" rtlCol="0">
            <a:spAutoFit/>
          </a:bodyPr>
          <a:lstStyle/>
          <a:p>
            <a:r>
              <a:rPr lang="en-AU" sz="1600" dirty="0"/>
              <a:t>CFU: Pair/share</a:t>
            </a:r>
          </a:p>
          <a:p>
            <a:r>
              <a:rPr lang="en-AU" sz="1600" dirty="0"/>
              <a:t>What is a private members’ bill?</a:t>
            </a:r>
          </a:p>
          <a:p>
            <a:r>
              <a:rPr lang="en-AU" sz="1600" dirty="0"/>
              <a:t>Why are they not generally successful?</a:t>
            </a:r>
          </a:p>
        </p:txBody>
      </p:sp>
      <p:sp>
        <p:nvSpPr>
          <p:cNvPr id="5" name="Subtitle 2">
            <a:extLst>
              <a:ext uri="{FF2B5EF4-FFF2-40B4-BE49-F238E27FC236}">
                <a16:creationId xmlns:a16="http://schemas.microsoft.com/office/drawing/2014/main" id="{A6A98409-A20A-4843-8848-598DF51B2B98}"/>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6" name="TextBox 5">
            <a:extLst>
              <a:ext uri="{FF2B5EF4-FFF2-40B4-BE49-F238E27FC236}">
                <a16:creationId xmlns:a16="http://schemas.microsoft.com/office/drawing/2014/main" id="{34753169-8F32-467E-87C0-C6D4E6B32DE6}"/>
              </a:ext>
            </a:extLst>
          </p:cNvPr>
          <p:cNvSpPr txBox="1"/>
          <p:nvPr/>
        </p:nvSpPr>
        <p:spPr>
          <a:xfrm>
            <a:off x="7765774" y="4838979"/>
            <a:ext cx="3922643" cy="1477328"/>
          </a:xfrm>
          <a:prstGeom prst="rect">
            <a:avLst/>
          </a:prstGeom>
          <a:noFill/>
          <a:ln>
            <a:solidFill>
              <a:schemeClr val="tx1"/>
            </a:solidFill>
          </a:ln>
        </p:spPr>
        <p:txBody>
          <a:bodyPr wrap="square" rtlCol="0">
            <a:spAutoFit/>
          </a:bodyPr>
          <a:lstStyle/>
          <a:p>
            <a:r>
              <a:rPr lang="en-AU" dirty="0"/>
              <a:t>Vocabulary:</a:t>
            </a:r>
          </a:p>
          <a:p>
            <a:r>
              <a:rPr lang="en-AU" b="1" dirty="0"/>
              <a:t>Controversial </a:t>
            </a:r>
            <a:r>
              <a:rPr lang="en-AU" dirty="0"/>
              <a:t>– giving rise or likely to give rise to controversy or public disagreement. </a:t>
            </a:r>
          </a:p>
          <a:p>
            <a:r>
              <a:rPr lang="en-AU" b="1" dirty="0"/>
              <a:t>Sufficient</a:t>
            </a:r>
            <a:r>
              <a:rPr lang="en-AU" dirty="0"/>
              <a:t> - enough; adequate.</a:t>
            </a:r>
          </a:p>
        </p:txBody>
      </p:sp>
    </p:spTree>
    <p:extLst>
      <p:ext uri="{BB962C8B-B14F-4D97-AF65-F5344CB8AC3E}">
        <p14:creationId xmlns:p14="http://schemas.microsoft.com/office/powerpoint/2010/main" val="694411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Private Members bill</a:t>
            </a:r>
          </a:p>
        </p:txBody>
      </p:sp>
      <p:sp>
        <p:nvSpPr>
          <p:cNvPr id="3" name="Content Placeholder 2"/>
          <p:cNvSpPr>
            <a:spLocks noGrp="1"/>
          </p:cNvSpPr>
          <p:nvPr>
            <p:ph idx="1"/>
          </p:nvPr>
        </p:nvSpPr>
        <p:spPr>
          <a:xfrm>
            <a:off x="618925" y="2246148"/>
            <a:ext cx="10889901" cy="1726762"/>
          </a:xfrm>
        </p:spPr>
        <p:txBody>
          <a:bodyPr>
            <a:normAutofit/>
          </a:bodyPr>
          <a:lstStyle/>
          <a:p>
            <a:pPr marL="0" indent="0">
              <a:buNone/>
            </a:pPr>
            <a:r>
              <a:rPr lang="en-AU" sz="2000" dirty="0">
                <a:solidFill>
                  <a:schemeClr val="tx1"/>
                </a:solidFill>
              </a:rPr>
              <a:t>Amends the: </a:t>
            </a:r>
            <a:r>
              <a:rPr lang="en-AU" sz="2000" i="1" dirty="0">
                <a:solidFill>
                  <a:schemeClr val="tx1"/>
                </a:solidFill>
              </a:rPr>
              <a:t>Marriage Act 1961</a:t>
            </a:r>
            <a:r>
              <a:rPr lang="en-AU" sz="2000" dirty="0">
                <a:solidFill>
                  <a:schemeClr val="tx1"/>
                </a:solidFill>
              </a:rPr>
              <a:t> to: </a:t>
            </a:r>
            <a:r>
              <a:rPr lang="en-AU" sz="2000" b="1" dirty="0">
                <a:solidFill>
                  <a:schemeClr val="tx1"/>
                </a:solidFill>
              </a:rPr>
              <a:t>redefine</a:t>
            </a:r>
            <a:r>
              <a:rPr lang="en-AU" sz="2000" dirty="0">
                <a:solidFill>
                  <a:schemeClr val="tx1"/>
                </a:solidFill>
              </a:rPr>
              <a:t> marriage as ‘a </a:t>
            </a:r>
            <a:r>
              <a:rPr lang="en-AU" sz="2000" b="1" dirty="0">
                <a:solidFill>
                  <a:schemeClr val="tx1"/>
                </a:solidFill>
              </a:rPr>
              <a:t>union</a:t>
            </a:r>
            <a:r>
              <a:rPr lang="en-AU" sz="2000" dirty="0">
                <a:solidFill>
                  <a:schemeClr val="tx1"/>
                </a:solidFill>
              </a:rPr>
              <a:t> of two people’; introduce non-gendered language so that the requirements of the Act apply equally to all marriages; enable same-sex marriages that have been, or will be, </a:t>
            </a:r>
            <a:r>
              <a:rPr lang="en-AU" sz="2000" b="1" dirty="0">
                <a:solidFill>
                  <a:schemeClr val="tx1"/>
                </a:solidFill>
              </a:rPr>
              <a:t>solemnised</a:t>
            </a:r>
            <a:r>
              <a:rPr lang="en-AU" sz="2000" dirty="0">
                <a:solidFill>
                  <a:schemeClr val="tx1"/>
                </a:solidFill>
              </a:rPr>
              <a:t> under the law of a foreign country to be recognised in Australia;</a:t>
            </a:r>
          </a:p>
        </p:txBody>
      </p:sp>
      <p:sp>
        <p:nvSpPr>
          <p:cNvPr id="4" name="TextBox 3"/>
          <p:cNvSpPr txBox="1"/>
          <p:nvPr/>
        </p:nvSpPr>
        <p:spPr>
          <a:xfrm>
            <a:off x="5591504" y="4050607"/>
            <a:ext cx="6432330" cy="2308324"/>
          </a:xfrm>
          <a:prstGeom prst="rect">
            <a:avLst/>
          </a:prstGeom>
          <a:noFill/>
          <a:ln>
            <a:solidFill>
              <a:schemeClr val="accent1"/>
            </a:solidFill>
          </a:ln>
        </p:spPr>
        <p:txBody>
          <a:bodyPr wrap="square" rtlCol="0">
            <a:spAutoFit/>
          </a:bodyPr>
          <a:lstStyle/>
          <a:p>
            <a:r>
              <a:rPr lang="en-AU" dirty="0"/>
              <a:t>Vocabulary:</a:t>
            </a:r>
          </a:p>
          <a:p>
            <a:r>
              <a:rPr lang="en-AU" b="1" dirty="0"/>
              <a:t>Redefine</a:t>
            </a:r>
            <a:r>
              <a:rPr lang="en-AU" dirty="0"/>
              <a:t> – define again or differently.</a:t>
            </a:r>
          </a:p>
          <a:p>
            <a:r>
              <a:rPr lang="en-AU" b="1" dirty="0"/>
              <a:t>Union</a:t>
            </a:r>
            <a:r>
              <a:rPr lang="en-AU" dirty="0"/>
              <a:t> – the action of joining together or the fact of being joined together, especially in a political context.</a:t>
            </a:r>
          </a:p>
          <a:p>
            <a:r>
              <a:rPr lang="en-AU" b="1" dirty="0"/>
              <a:t>Solemnised</a:t>
            </a:r>
            <a:r>
              <a:rPr lang="en-AU" dirty="0"/>
              <a:t> – mark (an event) with a formal ceremony</a:t>
            </a:r>
          </a:p>
          <a:p>
            <a:r>
              <a:rPr lang="en-AU" b="1" dirty="0"/>
              <a:t>Amend </a:t>
            </a:r>
            <a:r>
              <a:rPr lang="en-AU" dirty="0"/>
              <a:t>- make minor changes to (a text, piece of legislation, etc.) in order to make it fairer or more accurate, or to reflect changing circumstances.</a:t>
            </a:r>
          </a:p>
        </p:txBody>
      </p:sp>
      <p:sp>
        <p:nvSpPr>
          <p:cNvPr id="5" name="TextBox 4"/>
          <p:cNvSpPr txBox="1"/>
          <p:nvPr/>
        </p:nvSpPr>
        <p:spPr>
          <a:xfrm>
            <a:off x="578070" y="4688687"/>
            <a:ext cx="2554014" cy="1754326"/>
          </a:xfrm>
          <a:prstGeom prst="rect">
            <a:avLst/>
          </a:prstGeom>
          <a:noFill/>
          <a:ln>
            <a:solidFill>
              <a:schemeClr val="accent1"/>
            </a:solidFill>
          </a:ln>
        </p:spPr>
        <p:txBody>
          <a:bodyPr wrap="square" rtlCol="0">
            <a:spAutoFit/>
          </a:bodyPr>
          <a:lstStyle/>
          <a:p>
            <a:r>
              <a:rPr lang="en-AU" dirty="0"/>
              <a:t>CFU:</a:t>
            </a:r>
          </a:p>
          <a:p>
            <a:r>
              <a:rPr lang="en-AU" dirty="0"/>
              <a:t>What group of people did this bill affect?</a:t>
            </a:r>
          </a:p>
          <a:p>
            <a:r>
              <a:rPr lang="en-AU" dirty="0"/>
              <a:t>Why was this act amended?</a:t>
            </a:r>
          </a:p>
        </p:txBody>
      </p:sp>
    </p:spTree>
    <p:extLst>
      <p:ext uri="{BB962C8B-B14F-4D97-AF65-F5344CB8AC3E}">
        <p14:creationId xmlns:p14="http://schemas.microsoft.com/office/powerpoint/2010/main" val="1828163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F1E265-A5A0-4454-8C84-4F45F65E065F}"/>
              </a:ext>
            </a:extLst>
          </p:cNvPr>
          <p:cNvSpPr>
            <a:spLocks noGrp="1"/>
          </p:cNvSpPr>
          <p:nvPr>
            <p:ph idx="1"/>
          </p:nvPr>
        </p:nvSpPr>
        <p:spPr>
          <a:xfrm>
            <a:off x="384453" y="1166648"/>
            <a:ext cx="11489634" cy="3405352"/>
          </a:xfrm>
        </p:spPr>
        <p:txBody>
          <a:bodyPr>
            <a:normAutofit/>
          </a:bodyPr>
          <a:lstStyle/>
          <a:p>
            <a:pPr marL="6160" indent="0">
              <a:buNone/>
            </a:pPr>
            <a:r>
              <a:rPr lang="en-AU" sz="2000" dirty="0">
                <a:solidFill>
                  <a:schemeClr val="tx1"/>
                </a:solidFill>
              </a:rPr>
              <a:t>Because parliament is an elected body, it aims to represent the needs of the </a:t>
            </a:r>
            <a:r>
              <a:rPr lang="en-AU" sz="2000" b="1" dirty="0">
                <a:solidFill>
                  <a:schemeClr val="tx1"/>
                </a:solidFill>
              </a:rPr>
              <a:t>electorate</a:t>
            </a:r>
            <a:r>
              <a:rPr lang="en-AU" sz="2000" dirty="0">
                <a:solidFill>
                  <a:schemeClr val="tx1"/>
                </a:solidFill>
              </a:rPr>
              <a:t>. </a:t>
            </a:r>
          </a:p>
          <a:p>
            <a:pPr marL="6160" indent="0">
              <a:buNone/>
            </a:pPr>
            <a:r>
              <a:rPr lang="en-AU" sz="2000" dirty="0">
                <a:solidFill>
                  <a:schemeClr val="tx1"/>
                </a:solidFill>
              </a:rPr>
              <a:t>The law needs to keep changing in response to changes in the community and changing values. </a:t>
            </a:r>
          </a:p>
          <a:p>
            <a:pPr marL="6160" indent="0">
              <a:buNone/>
            </a:pPr>
            <a:r>
              <a:rPr lang="en-AU" sz="2000" dirty="0">
                <a:solidFill>
                  <a:schemeClr val="tx1"/>
                </a:solidFill>
              </a:rPr>
              <a:t>A change in the law will often begin with a problem that is not </a:t>
            </a:r>
            <a:r>
              <a:rPr lang="en-AU" sz="2000" b="1" dirty="0">
                <a:solidFill>
                  <a:schemeClr val="tx1"/>
                </a:solidFill>
              </a:rPr>
              <a:t>adequately</a:t>
            </a:r>
            <a:r>
              <a:rPr lang="en-AU" sz="2000" dirty="0">
                <a:solidFill>
                  <a:schemeClr val="tx1"/>
                </a:solidFill>
              </a:rPr>
              <a:t> dealt with by the law as it stands. </a:t>
            </a:r>
          </a:p>
          <a:p>
            <a:pPr marL="6160" indent="0">
              <a:buNone/>
            </a:pPr>
            <a:r>
              <a:rPr lang="en-AU" sz="2000" dirty="0">
                <a:solidFill>
                  <a:schemeClr val="tx1"/>
                </a:solidFill>
              </a:rPr>
              <a:t>This leads to demands being made by members of the community for changes in the law. </a:t>
            </a:r>
          </a:p>
          <a:p>
            <a:pPr marL="6160" indent="0">
              <a:buNone/>
            </a:pPr>
            <a:r>
              <a:rPr lang="en-AU" sz="2000" dirty="0">
                <a:solidFill>
                  <a:schemeClr val="tx1"/>
                </a:solidFill>
              </a:rPr>
              <a:t>For example, injury and loss of life on our roads is a constant problem that has been addressed in many ways such as laws against speeding and tailgating. A problem that continues to exist is the large number of fatal crashes that involve P plate drivers.</a:t>
            </a:r>
          </a:p>
        </p:txBody>
      </p:sp>
      <p:sp>
        <p:nvSpPr>
          <p:cNvPr id="4" name="TextBox 3"/>
          <p:cNvSpPr txBox="1"/>
          <p:nvPr/>
        </p:nvSpPr>
        <p:spPr>
          <a:xfrm>
            <a:off x="599546" y="5413940"/>
            <a:ext cx="3909848" cy="830997"/>
          </a:xfrm>
          <a:prstGeom prst="rect">
            <a:avLst/>
          </a:prstGeom>
          <a:noFill/>
          <a:ln>
            <a:solidFill>
              <a:schemeClr val="tx1"/>
            </a:solidFill>
          </a:ln>
        </p:spPr>
        <p:txBody>
          <a:bodyPr wrap="square" rtlCol="0">
            <a:spAutoFit/>
          </a:bodyPr>
          <a:lstStyle/>
          <a:p>
            <a:r>
              <a:rPr lang="en-AU" sz="1600" dirty="0"/>
              <a:t>CFU: Pair/share</a:t>
            </a:r>
          </a:p>
          <a:p>
            <a:r>
              <a:rPr lang="en-AU" sz="1600" dirty="0"/>
              <a:t>Why does the law need to keep changing?</a:t>
            </a:r>
          </a:p>
        </p:txBody>
      </p:sp>
      <p:sp>
        <p:nvSpPr>
          <p:cNvPr id="5" name="Subtitle 2">
            <a:extLst>
              <a:ext uri="{FF2B5EF4-FFF2-40B4-BE49-F238E27FC236}">
                <a16:creationId xmlns:a16="http://schemas.microsoft.com/office/drawing/2014/main" id="{C19387CF-A8A2-465F-98EA-C507DE7FA6D7}"/>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2" name="Rectangle 1">
            <a:extLst>
              <a:ext uri="{FF2B5EF4-FFF2-40B4-BE49-F238E27FC236}">
                <a16:creationId xmlns:a16="http://schemas.microsoft.com/office/drawing/2014/main" id="{8A8088DB-9732-41CC-AE93-0371DF84AC16}"/>
              </a:ext>
            </a:extLst>
          </p:cNvPr>
          <p:cNvSpPr/>
          <p:nvPr/>
        </p:nvSpPr>
        <p:spPr>
          <a:xfrm>
            <a:off x="7987862" y="4934312"/>
            <a:ext cx="3588419" cy="1477328"/>
          </a:xfrm>
          <a:prstGeom prst="rect">
            <a:avLst/>
          </a:prstGeom>
          <a:ln>
            <a:solidFill>
              <a:schemeClr val="accent1"/>
            </a:solidFill>
          </a:ln>
        </p:spPr>
        <p:txBody>
          <a:bodyPr wrap="square">
            <a:spAutoFit/>
          </a:bodyPr>
          <a:lstStyle/>
          <a:p>
            <a:r>
              <a:rPr lang="en-AU" dirty="0">
                <a:solidFill>
                  <a:srgbClr val="222222"/>
                </a:solidFill>
                <a:latin typeface="arial" panose="020B0604020202020204" pitchFamily="34" charset="0"/>
              </a:rPr>
              <a:t>Adequately –</a:t>
            </a:r>
            <a:r>
              <a:rPr lang="en-AU" dirty="0"/>
              <a:t>to a satisfactory or acceptable extent.</a:t>
            </a:r>
            <a:r>
              <a:rPr lang="en-AU" dirty="0">
                <a:solidFill>
                  <a:srgbClr val="222222"/>
                </a:solidFill>
                <a:latin typeface="arial" panose="020B0604020202020204" pitchFamily="34" charset="0"/>
              </a:rPr>
              <a:t> </a:t>
            </a:r>
          </a:p>
          <a:p>
            <a:r>
              <a:rPr lang="en-AU" dirty="0">
                <a:solidFill>
                  <a:srgbClr val="222222"/>
                </a:solidFill>
                <a:latin typeface="arial" panose="020B0604020202020204" pitchFamily="34" charset="0"/>
              </a:rPr>
              <a:t>Electorate - </a:t>
            </a:r>
            <a:r>
              <a:rPr lang="en-AU" dirty="0"/>
              <a:t>the area represented by one Member of Parliament.</a:t>
            </a:r>
            <a:endParaRPr lang="en-AU" dirty="0">
              <a:solidFill>
                <a:srgbClr val="222222"/>
              </a:solidFill>
              <a:latin typeface="arial" panose="020B0604020202020204" pitchFamily="34" charset="0"/>
            </a:endParaRPr>
          </a:p>
        </p:txBody>
      </p:sp>
    </p:spTree>
    <p:extLst>
      <p:ext uri="{BB962C8B-B14F-4D97-AF65-F5344CB8AC3E}">
        <p14:creationId xmlns:p14="http://schemas.microsoft.com/office/powerpoint/2010/main" val="1173037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741F52-4FC9-4F80-A1BC-E60BBBDC7746}"/>
              </a:ext>
            </a:extLst>
          </p:cNvPr>
          <p:cNvSpPr>
            <a:spLocks noGrp="1"/>
          </p:cNvSpPr>
          <p:nvPr>
            <p:ph type="title"/>
          </p:nvPr>
        </p:nvSpPr>
        <p:spPr/>
        <p:txBody>
          <a:bodyPr/>
          <a:lstStyle/>
          <a:p>
            <a:r>
              <a:rPr lang="en-AU" dirty="0"/>
              <a:t>Pressures for change</a:t>
            </a:r>
          </a:p>
        </p:txBody>
      </p:sp>
      <p:sp>
        <p:nvSpPr>
          <p:cNvPr id="8" name="Content Placeholder 7">
            <a:extLst>
              <a:ext uri="{FF2B5EF4-FFF2-40B4-BE49-F238E27FC236}">
                <a16:creationId xmlns:a16="http://schemas.microsoft.com/office/drawing/2014/main" id="{7B86625B-337E-4090-A9CA-DF9137E5A2AE}"/>
              </a:ext>
            </a:extLst>
          </p:cNvPr>
          <p:cNvSpPr>
            <a:spLocks noGrp="1"/>
          </p:cNvSpPr>
          <p:nvPr>
            <p:ph idx="1"/>
          </p:nvPr>
        </p:nvSpPr>
        <p:spPr>
          <a:xfrm>
            <a:off x="583096" y="2251168"/>
            <a:ext cx="10495722" cy="2021509"/>
          </a:xfrm>
        </p:spPr>
        <p:txBody>
          <a:bodyPr>
            <a:normAutofit/>
          </a:bodyPr>
          <a:lstStyle/>
          <a:p>
            <a:pPr marL="0" indent="0">
              <a:buNone/>
            </a:pPr>
            <a:r>
              <a:rPr lang="en-AU" sz="2400" dirty="0">
                <a:solidFill>
                  <a:schemeClr val="tx1"/>
                </a:solidFill>
              </a:rPr>
              <a:t>Many individuals or institutions and groups influence law-makers to change the law. Individuals can express their views to members of parliament or through the media. They can gain the attention of the law-makers by signing petitions, writing to the editors of newspapers, joining a pressure group or being involved in demonstrations.</a:t>
            </a:r>
          </a:p>
        </p:txBody>
      </p:sp>
      <p:sp>
        <p:nvSpPr>
          <p:cNvPr id="9" name="TextBox 8">
            <a:extLst>
              <a:ext uri="{FF2B5EF4-FFF2-40B4-BE49-F238E27FC236}">
                <a16:creationId xmlns:a16="http://schemas.microsoft.com/office/drawing/2014/main" id="{408B7D7C-5996-4FEE-9F52-25E840D87193}"/>
              </a:ext>
            </a:extLst>
          </p:cNvPr>
          <p:cNvSpPr txBox="1"/>
          <p:nvPr/>
        </p:nvSpPr>
        <p:spPr>
          <a:xfrm>
            <a:off x="583096" y="5275005"/>
            <a:ext cx="3697357" cy="923330"/>
          </a:xfrm>
          <a:prstGeom prst="rect">
            <a:avLst/>
          </a:prstGeom>
          <a:noFill/>
          <a:ln>
            <a:solidFill>
              <a:schemeClr val="tx1"/>
            </a:solidFill>
          </a:ln>
        </p:spPr>
        <p:txBody>
          <a:bodyPr wrap="square" rtlCol="0">
            <a:spAutoFit/>
          </a:bodyPr>
          <a:lstStyle/>
          <a:p>
            <a:r>
              <a:rPr lang="en-AU" dirty="0"/>
              <a:t>CFU:</a:t>
            </a:r>
          </a:p>
          <a:p>
            <a:r>
              <a:rPr lang="en-AU" dirty="0"/>
              <a:t>How can law makers be influenced to change the law?</a:t>
            </a:r>
          </a:p>
        </p:txBody>
      </p:sp>
      <p:sp>
        <p:nvSpPr>
          <p:cNvPr id="5" name="Subtitle 2">
            <a:extLst>
              <a:ext uri="{FF2B5EF4-FFF2-40B4-BE49-F238E27FC236}">
                <a16:creationId xmlns:a16="http://schemas.microsoft.com/office/drawing/2014/main" id="{B72619DA-431B-4CBF-91BE-04ECF6B5FDBC}"/>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2" name="TextBox 1">
            <a:extLst>
              <a:ext uri="{FF2B5EF4-FFF2-40B4-BE49-F238E27FC236}">
                <a16:creationId xmlns:a16="http://schemas.microsoft.com/office/drawing/2014/main" id="{940E5A8C-0B95-4BF8-8478-527DE95E4DDA}"/>
              </a:ext>
            </a:extLst>
          </p:cNvPr>
          <p:cNvSpPr txBox="1"/>
          <p:nvPr/>
        </p:nvSpPr>
        <p:spPr>
          <a:xfrm>
            <a:off x="7447722" y="4272677"/>
            <a:ext cx="4558747" cy="2585323"/>
          </a:xfrm>
          <a:prstGeom prst="rect">
            <a:avLst/>
          </a:prstGeom>
          <a:noFill/>
          <a:ln>
            <a:solidFill>
              <a:schemeClr val="accent1"/>
            </a:solidFill>
          </a:ln>
        </p:spPr>
        <p:txBody>
          <a:bodyPr wrap="square" rtlCol="0">
            <a:spAutoFit/>
          </a:bodyPr>
          <a:lstStyle/>
          <a:p>
            <a:r>
              <a:rPr lang="en-AU" dirty="0"/>
              <a:t>Institutions – an organization founded for a religious, educational, professional, or social purpose. </a:t>
            </a:r>
          </a:p>
          <a:p>
            <a:r>
              <a:rPr lang="en-AU" dirty="0"/>
              <a:t>Express – convey (a thought or feeling) in words or by gestures and conduct</a:t>
            </a:r>
          </a:p>
          <a:p>
            <a:r>
              <a:rPr lang="en-AU" dirty="0"/>
              <a:t>Petitions - a formal written request, typically one signed by many people, appealing to authority in respect of a particular cause.</a:t>
            </a:r>
          </a:p>
        </p:txBody>
      </p:sp>
    </p:spTree>
    <p:extLst>
      <p:ext uri="{BB962C8B-B14F-4D97-AF65-F5344CB8AC3E}">
        <p14:creationId xmlns:p14="http://schemas.microsoft.com/office/powerpoint/2010/main" val="1545333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741F52-4FC9-4F80-A1BC-E60BBBDC7746}"/>
              </a:ext>
            </a:extLst>
          </p:cNvPr>
          <p:cNvSpPr>
            <a:spLocks noGrp="1"/>
          </p:cNvSpPr>
          <p:nvPr>
            <p:ph type="title"/>
          </p:nvPr>
        </p:nvSpPr>
        <p:spPr/>
        <p:txBody>
          <a:bodyPr/>
          <a:lstStyle/>
          <a:p>
            <a:r>
              <a:rPr lang="en-AU" dirty="0"/>
              <a:t>Pressures for change</a:t>
            </a:r>
          </a:p>
        </p:txBody>
      </p:sp>
      <p:sp>
        <p:nvSpPr>
          <p:cNvPr id="8" name="Content Placeholder 7">
            <a:extLst>
              <a:ext uri="{FF2B5EF4-FFF2-40B4-BE49-F238E27FC236}">
                <a16:creationId xmlns:a16="http://schemas.microsoft.com/office/drawing/2014/main" id="{7B86625B-337E-4090-A9CA-DF9137E5A2AE}"/>
              </a:ext>
            </a:extLst>
          </p:cNvPr>
          <p:cNvSpPr>
            <a:spLocks noGrp="1"/>
          </p:cNvSpPr>
          <p:nvPr>
            <p:ph idx="1"/>
          </p:nvPr>
        </p:nvSpPr>
        <p:spPr>
          <a:xfrm>
            <a:off x="583096" y="2364961"/>
            <a:ext cx="10495722" cy="2021509"/>
          </a:xfrm>
        </p:spPr>
        <p:txBody>
          <a:bodyPr>
            <a:normAutofit fontScale="92500" lnSpcReduction="10000"/>
          </a:bodyPr>
          <a:lstStyle/>
          <a:p>
            <a:pPr marL="0" indent="0">
              <a:buNone/>
            </a:pPr>
            <a:r>
              <a:rPr lang="en-AU" sz="2400" dirty="0">
                <a:solidFill>
                  <a:schemeClr val="tx1"/>
                </a:solidFill>
              </a:rPr>
              <a:t>Parliamentary committees may be asked to investigate the need for change in the law and make recommendations to parliament. Government departments also constantly review the laws in operation and the need for changes in the law. For example, the tax department may find loopholes or gaps when processing tax returns and may recommend to parliament that changes in the law be made to close these loopholes.</a:t>
            </a:r>
          </a:p>
          <a:p>
            <a:pPr marL="0" indent="0">
              <a:buNone/>
            </a:pPr>
            <a:endParaRPr lang="en-AU" sz="2400" dirty="0">
              <a:solidFill>
                <a:schemeClr val="tx1"/>
              </a:solidFill>
            </a:endParaRPr>
          </a:p>
        </p:txBody>
      </p:sp>
      <p:sp>
        <p:nvSpPr>
          <p:cNvPr id="9" name="TextBox 8">
            <a:extLst>
              <a:ext uri="{FF2B5EF4-FFF2-40B4-BE49-F238E27FC236}">
                <a16:creationId xmlns:a16="http://schemas.microsoft.com/office/drawing/2014/main" id="{408B7D7C-5996-4FEE-9F52-25E840D87193}"/>
              </a:ext>
            </a:extLst>
          </p:cNvPr>
          <p:cNvSpPr txBox="1"/>
          <p:nvPr/>
        </p:nvSpPr>
        <p:spPr>
          <a:xfrm>
            <a:off x="583096" y="5275005"/>
            <a:ext cx="3697357" cy="923330"/>
          </a:xfrm>
          <a:prstGeom prst="rect">
            <a:avLst/>
          </a:prstGeom>
          <a:noFill/>
          <a:ln>
            <a:solidFill>
              <a:schemeClr val="tx1"/>
            </a:solidFill>
          </a:ln>
        </p:spPr>
        <p:txBody>
          <a:bodyPr wrap="square" rtlCol="0">
            <a:spAutoFit/>
          </a:bodyPr>
          <a:lstStyle/>
          <a:p>
            <a:r>
              <a:rPr lang="en-AU" dirty="0"/>
              <a:t>CFU:</a:t>
            </a:r>
          </a:p>
          <a:p>
            <a:r>
              <a:rPr lang="en-AU" dirty="0"/>
              <a:t>1. What do government departments do?</a:t>
            </a:r>
          </a:p>
        </p:txBody>
      </p:sp>
      <p:sp>
        <p:nvSpPr>
          <p:cNvPr id="5" name="Subtitle 2">
            <a:extLst>
              <a:ext uri="{FF2B5EF4-FFF2-40B4-BE49-F238E27FC236}">
                <a16:creationId xmlns:a16="http://schemas.microsoft.com/office/drawing/2014/main" id="{B72619DA-431B-4CBF-91BE-04ECF6B5FDBC}"/>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2" name="TextBox 1">
            <a:extLst>
              <a:ext uri="{FF2B5EF4-FFF2-40B4-BE49-F238E27FC236}">
                <a16:creationId xmlns:a16="http://schemas.microsoft.com/office/drawing/2014/main" id="{C58B32A6-36BB-4E03-BAAA-F362941E6075}"/>
              </a:ext>
            </a:extLst>
          </p:cNvPr>
          <p:cNvSpPr txBox="1"/>
          <p:nvPr/>
        </p:nvSpPr>
        <p:spPr>
          <a:xfrm>
            <a:off x="7699513" y="4638261"/>
            <a:ext cx="3909391" cy="1754326"/>
          </a:xfrm>
          <a:prstGeom prst="rect">
            <a:avLst/>
          </a:prstGeom>
          <a:noFill/>
          <a:ln>
            <a:solidFill>
              <a:schemeClr val="accent1"/>
            </a:solidFill>
          </a:ln>
        </p:spPr>
        <p:txBody>
          <a:bodyPr wrap="square" rtlCol="0">
            <a:spAutoFit/>
          </a:bodyPr>
          <a:lstStyle/>
          <a:p>
            <a:r>
              <a:rPr lang="en-AU" dirty="0"/>
              <a:t>Loopholes - an ambiguity or inadequacy in the law or a set of rules. </a:t>
            </a:r>
          </a:p>
          <a:p>
            <a:r>
              <a:rPr lang="en-AU" dirty="0"/>
              <a:t>Ambiguity - the quality of being open to more than one interpretation; inexactness. </a:t>
            </a:r>
          </a:p>
        </p:txBody>
      </p:sp>
    </p:spTree>
    <p:extLst>
      <p:ext uri="{BB962C8B-B14F-4D97-AF65-F5344CB8AC3E}">
        <p14:creationId xmlns:p14="http://schemas.microsoft.com/office/powerpoint/2010/main" val="63824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1568" y="5009821"/>
            <a:ext cx="3815255" cy="1323439"/>
          </a:xfrm>
          <a:prstGeom prst="rect">
            <a:avLst/>
          </a:prstGeom>
          <a:noFill/>
          <a:ln>
            <a:solidFill>
              <a:schemeClr val="accent1"/>
            </a:solidFill>
          </a:ln>
        </p:spPr>
        <p:txBody>
          <a:bodyPr wrap="square" rtlCol="0">
            <a:spAutoFit/>
          </a:bodyPr>
          <a:lstStyle/>
          <a:p>
            <a:r>
              <a:rPr lang="en-AU" sz="1600" dirty="0"/>
              <a:t>CFU: Pair/share</a:t>
            </a:r>
          </a:p>
          <a:p>
            <a:r>
              <a:rPr lang="en-AU" sz="1600" dirty="0"/>
              <a:t>What are the three types of committees?</a:t>
            </a:r>
          </a:p>
          <a:p>
            <a:r>
              <a:rPr lang="en-AU" sz="1600" dirty="0"/>
              <a:t>Why have these committees been set up?</a:t>
            </a:r>
          </a:p>
        </p:txBody>
      </p:sp>
      <p:sp>
        <p:nvSpPr>
          <p:cNvPr id="6" name="Content Placeholder 5">
            <a:extLst>
              <a:ext uri="{FF2B5EF4-FFF2-40B4-BE49-F238E27FC236}">
                <a16:creationId xmlns:a16="http://schemas.microsoft.com/office/drawing/2014/main" id="{A25DD1AB-F353-42C4-BDA6-F6A025A6A0FC}"/>
              </a:ext>
            </a:extLst>
          </p:cNvPr>
          <p:cNvSpPr>
            <a:spLocks noGrp="1"/>
          </p:cNvSpPr>
          <p:nvPr>
            <p:ph idx="1"/>
          </p:nvPr>
        </p:nvSpPr>
        <p:spPr>
          <a:xfrm>
            <a:off x="200798" y="2120349"/>
            <a:ext cx="11540628" cy="2862468"/>
          </a:xfrm>
        </p:spPr>
        <p:txBody>
          <a:bodyPr/>
          <a:lstStyle/>
          <a:p>
            <a:pPr marL="0" indent="0">
              <a:buNone/>
            </a:pPr>
            <a:r>
              <a:rPr lang="en-AU" dirty="0">
                <a:solidFill>
                  <a:schemeClr val="tx1"/>
                </a:solidFill>
              </a:rPr>
              <a:t>To assist in the running of parliamentary business, committees have been set up to investigate a variety of matters and report back to parliament. They consist of members of parliament and are established because parliament does not have the time to carry out its own enquiries into particular aspects of society and the possible needs for changes to the law.</a:t>
            </a:r>
          </a:p>
          <a:p>
            <a:pPr marL="0" indent="0">
              <a:buNone/>
            </a:pPr>
            <a:r>
              <a:rPr lang="en-AU" dirty="0">
                <a:solidFill>
                  <a:schemeClr val="tx1"/>
                </a:solidFill>
              </a:rPr>
              <a:t>Committees can discuss matters in detail, conduct public enquiries, hear witnesses, and promote public awareness and debate on matters being considered by the parliament.</a:t>
            </a:r>
          </a:p>
          <a:p>
            <a:pPr marL="0" indent="0">
              <a:buNone/>
            </a:pPr>
            <a:r>
              <a:rPr lang="en-AU" dirty="0">
                <a:solidFill>
                  <a:schemeClr val="tx1"/>
                </a:solidFill>
              </a:rPr>
              <a:t>They are also a method used by the parliament to ascertain the needs of the people. There are three main types of committees: joint committees, standing committees and select committees.</a:t>
            </a:r>
          </a:p>
        </p:txBody>
      </p:sp>
      <p:sp>
        <p:nvSpPr>
          <p:cNvPr id="8" name="Title 7">
            <a:extLst>
              <a:ext uri="{FF2B5EF4-FFF2-40B4-BE49-F238E27FC236}">
                <a16:creationId xmlns:a16="http://schemas.microsoft.com/office/drawing/2014/main" id="{F990EE8E-BFE7-4CFE-A319-4AAC56CFBA59}"/>
              </a:ext>
            </a:extLst>
          </p:cNvPr>
          <p:cNvSpPr>
            <a:spLocks noGrp="1"/>
          </p:cNvSpPr>
          <p:nvPr>
            <p:ph type="title"/>
          </p:nvPr>
        </p:nvSpPr>
        <p:spPr/>
        <p:txBody>
          <a:bodyPr/>
          <a:lstStyle/>
          <a:p>
            <a:r>
              <a:rPr lang="en-AU" dirty="0"/>
              <a:t>Parliamentary committees</a:t>
            </a:r>
          </a:p>
        </p:txBody>
      </p:sp>
      <p:sp>
        <p:nvSpPr>
          <p:cNvPr id="5" name="Subtitle 2">
            <a:extLst>
              <a:ext uri="{FF2B5EF4-FFF2-40B4-BE49-F238E27FC236}">
                <a16:creationId xmlns:a16="http://schemas.microsoft.com/office/drawing/2014/main" id="{79305C91-A85E-41EB-B737-6CD07D0CD8CC}"/>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2" name="TextBox 1">
            <a:extLst>
              <a:ext uri="{FF2B5EF4-FFF2-40B4-BE49-F238E27FC236}">
                <a16:creationId xmlns:a16="http://schemas.microsoft.com/office/drawing/2014/main" id="{3A92BE9B-0E27-42CB-8D98-CF4D95878482}"/>
              </a:ext>
            </a:extLst>
          </p:cNvPr>
          <p:cNvSpPr txBox="1"/>
          <p:nvPr/>
        </p:nvSpPr>
        <p:spPr>
          <a:xfrm>
            <a:off x="8203096" y="5028567"/>
            <a:ext cx="2822713" cy="923330"/>
          </a:xfrm>
          <a:prstGeom prst="rect">
            <a:avLst/>
          </a:prstGeom>
          <a:noFill/>
          <a:ln>
            <a:solidFill>
              <a:schemeClr val="accent1"/>
            </a:solidFill>
          </a:ln>
        </p:spPr>
        <p:txBody>
          <a:bodyPr wrap="square" rtlCol="0">
            <a:spAutoFit/>
          </a:bodyPr>
          <a:lstStyle/>
          <a:p>
            <a:r>
              <a:rPr lang="en-AU" dirty="0"/>
              <a:t>Ascertain - find (something) out for certain; make sure of. </a:t>
            </a:r>
          </a:p>
        </p:txBody>
      </p:sp>
    </p:spTree>
    <p:extLst>
      <p:ext uri="{BB962C8B-B14F-4D97-AF65-F5344CB8AC3E}">
        <p14:creationId xmlns:p14="http://schemas.microsoft.com/office/powerpoint/2010/main" val="287894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11566" y="5033757"/>
            <a:ext cx="4382813" cy="584775"/>
          </a:xfrm>
          <a:prstGeom prst="rect">
            <a:avLst/>
          </a:prstGeom>
          <a:noFill/>
          <a:ln>
            <a:solidFill>
              <a:schemeClr val="accent1"/>
            </a:solidFill>
          </a:ln>
        </p:spPr>
        <p:txBody>
          <a:bodyPr wrap="square" rtlCol="0">
            <a:spAutoFit/>
          </a:bodyPr>
          <a:lstStyle/>
          <a:p>
            <a:r>
              <a:rPr lang="en-AU" sz="1600" dirty="0"/>
              <a:t>CFU: Pair/share</a:t>
            </a:r>
          </a:p>
          <a:p>
            <a:r>
              <a:rPr lang="en-AU" sz="1600" dirty="0"/>
              <a:t>What is the role of cabinet?</a:t>
            </a:r>
          </a:p>
        </p:txBody>
      </p:sp>
      <p:sp>
        <p:nvSpPr>
          <p:cNvPr id="6" name="Title 5">
            <a:extLst>
              <a:ext uri="{FF2B5EF4-FFF2-40B4-BE49-F238E27FC236}">
                <a16:creationId xmlns:a16="http://schemas.microsoft.com/office/drawing/2014/main" id="{5C50BD20-D112-4961-9B7C-09308C1C639E}"/>
              </a:ext>
            </a:extLst>
          </p:cNvPr>
          <p:cNvSpPr>
            <a:spLocks noGrp="1"/>
          </p:cNvSpPr>
          <p:nvPr>
            <p:ph type="title"/>
          </p:nvPr>
        </p:nvSpPr>
        <p:spPr/>
        <p:txBody>
          <a:bodyPr/>
          <a:lstStyle/>
          <a:p>
            <a:r>
              <a:rPr lang="en-AU" dirty="0"/>
              <a:t>Role of cabinet and ministers</a:t>
            </a:r>
          </a:p>
        </p:txBody>
      </p:sp>
      <p:sp>
        <p:nvSpPr>
          <p:cNvPr id="8" name="Content Placeholder 7">
            <a:extLst>
              <a:ext uri="{FF2B5EF4-FFF2-40B4-BE49-F238E27FC236}">
                <a16:creationId xmlns:a16="http://schemas.microsoft.com/office/drawing/2014/main" id="{46DDCD96-6C6B-47A7-AF9A-39F5FE77E42C}"/>
              </a:ext>
            </a:extLst>
          </p:cNvPr>
          <p:cNvSpPr>
            <a:spLocks noGrp="1"/>
          </p:cNvSpPr>
          <p:nvPr>
            <p:ph idx="1"/>
          </p:nvPr>
        </p:nvSpPr>
        <p:spPr>
          <a:xfrm>
            <a:off x="152400" y="2279526"/>
            <a:ext cx="11675165" cy="2318978"/>
          </a:xfrm>
        </p:spPr>
        <p:txBody>
          <a:bodyPr>
            <a:normAutofit/>
          </a:bodyPr>
          <a:lstStyle/>
          <a:p>
            <a:pPr marL="0" indent="0">
              <a:buNone/>
            </a:pPr>
            <a:r>
              <a:rPr lang="en-AU" dirty="0">
                <a:solidFill>
                  <a:schemeClr val="tx1"/>
                </a:solidFill>
              </a:rPr>
              <a:t>Cabinet decides on which laws need to be changed. To do this they have extensive resources to find out what laws need to be changed or what new laws need to be developed. </a:t>
            </a:r>
          </a:p>
          <a:p>
            <a:pPr marL="0" indent="0">
              <a:buNone/>
            </a:pPr>
            <a:r>
              <a:rPr lang="en-AU" dirty="0">
                <a:solidFill>
                  <a:schemeClr val="tx1"/>
                </a:solidFill>
              </a:rPr>
              <a:t>The cabinet is very influential on bills that are passed through parliament. This is particularly the case when the government holds majority in both house, as bills that are proposed by cabinet will receive the support of the majority of members in both houses.</a:t>
            </a:r>
          </a:p>
          <a:p>
            <a:pPr marL="0" indent="0">
              <a:buNone/>
            </a:pPr>
            <a:r>
              <a:rPr lang="en-AU" dirty="0">
                <a:solidFill>
                  <a:schemeClr val="tx1"/>
                </a:solidFill>
              </a:rPr>
              <a:t>The cabinet and the prime minister are not mentioned in the Constitution, but are conventions inherited from England. At a state level the premier is the head of the cabinet.</a:t>
            </a:r>
          </a:p>
        </p:txBody>
      </p:sp>
      <p:sp>
        <p:nvSpPr>
          <p:cNvPr id="5" name="Subtitle 2">
            <a:extLst>
              <a:ext uri="{FF2B5EF4-FFF2-40B4-BE49-F238E27FC236}">
                <a16:creationId xmlns:a16="http://schemas.microsoft.com/office/drawing/2014/main" id="{34A89A31-85FD-4844-8261-87F860CB3271}"/>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2" name="TextBox 1">
            <a:extLst>
              <a:ext uri="{FF2B5EF4-FFF2-40B4-BE49-F238E27FC236}">
                <a16:creationId xmlns:a16="http://schemas.microsoft.com/office/drawing/2014/main" id="{BD42B9F7-0D43-4578-928C-D2AF3EE5DA40}"/>
              </a:ext>
            </a:extLst>
          </p:cNvPr>
          <p:cNvSpPr txBox="1"/>
          <p:nvPr/>
        </p:nvSpPr>
        <p:spPr>
          <a:xfrm>
            <a:off x="7497622" y="4844827"/>
            <a:ext cx="4111640" cy="1754326"/>
          </a:xfrm>
          <a:prstGeom prst="rect">
            <a:avLst/>
          </a:prstGeom>
          <a:noFill/>
          <a:ln>
            <a:solidFill>
              <a:schemeClr val="accent1"/>
            </a:solidFill>
          </a:ln>
        </p:spPr>
        <p:txBody>
          <a:bodyPr wrap="square" rtlCol="0">
            <a:spAutoFit/>
          </a:bodyPr>
          <a:lstStyle/>
          <a:p>
            <a:r>
              <a:rPr lang="en-AU" dirty="0"/>
              <a:t>Extensive – covering or affecting a large area </a:t>
            </a:r>
          </a:p>
          <a:p>
            <a:r>
              <a:rPr lang="en-AU" dirty="0"/>
              <a:t>Influential – having great influence on someone or something.</a:t>
            </a:r>
          </a:p>
          <a:p>
            <a:r>
              <a:rPr lang="en-AU" dirty="0"/>
              <a:t>Inherited -to receive as if by succession from predecessors </a:t>
            </a:r>
          </a:p>
        </p:txBody>
      </p:sp>
    </p:spTree>
    <p:extLst>
      <p:ext uri="{BB962C8B-B14F-4D97-AF65-F5344CB8AC3E}">
        <p14:creationId xmlns:p14="http://schemas.microsoft.com/office/powerpoint/2010/main" val="391276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 calcmode="lin" valueType="num">
                                      <p:cBhvr additive="base">
                                        <p:cTn id="1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57CE8-75FF-4440-9801-EB7296C84D72}"/>
              </a:ext>
            </a:extLst>
          </p:cNvPr>
          <p:cNvSpPr>
            <a:spLocks noGrp="1"/>
          </p:cNvSpPr>
          <p:nvPr>
            <p:ph type="title"/>
          </p:nvPr>
        </p:nvSpPr>
        <p:spPr/>
        <p:txBody>
          <a:bodyPr/>
          <a:lstStyle/>
          <a:p>
            <a:endParaRPr lang="en-AU"/>
          </a:p>
        </p:txBody>
      </p:sp>
      <p:pic>
        <p:nvPicPr>
          <p:cNvPr id="5" name="Content Placeholder 4" descr="A screenshot of a cell phone&#10;&#10;Description generated with very high confidence">
            <a:extLst>
              <a:ext uri="{FF2B5EF4-FFF2-40B4-BE49-F238E27FC236}">
                <a16:creationId xmlns:a16="http://schemas.microsoft.com/office/drawing/2014/main" id="{0D1A0995-AF3A-4C12-B0E1-BD2C01B19100}"/>
              </a:ext>
            </a:extLst>
          </p:cNvPr>
          <p:cNvPicPr>
            <a:picLocks noGrp="1" noChangeAspect="1"/>
          </p:cNvPicPr>
          <p:nvPr>
            <p:ph idx="1"/>
          </p:nvPr>
        </p:nvPicPr>
        <p:blipFill>
          <a:blip r:embed="rId2"/>
          <a:stretch>
            <a:fillRect/>
          </a:stretch>
        </p:blipFill>
        <p:spPr>
          <a:xfrm>
            <a:off x="910859" y="2464904"/>
            <a:ext cx="10370282" cy="3228043"/>
          </a:xfrm>
        </p:spPr>
      </p:pic>
      <p:sp>
        <p:nvSpPr>
          <p:cNvPr id="6" name="Subtitle 2">
            <a:extLst>
              <a:ext uri="{FF2B5EF4-FFF2-40B4-BE49-F238E27FC236}">
                <a16:creationId xmlns:a16="http://schemas.microsoft.com/office/drawing/2014/main" id="{19FCFA17-DB14-45E2-9333-CD4CBD5F0B33}"/>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Tree>
    <p:extLst>
      <p:ext uri="{BB962C8B-B14F-4D97-AF65-F5344CB8AC3E}">
        <p14:creationId xmlns:p14="http://schemas.microsoft.com/office/powerpoint/2010/main" val="3427886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93DEFB-9087-45D4-B6A4-3420A12EF64C}"/>
              </a:ext>
            </a:extLst>
          </p:cNvPr>
          <p:cNvSpPr>
            <a:spLocks noGrp="1"/>
          </p:cNvSpPr>
          <p:nvPr>
            <p:ph type="title"/>
          </p:nvPr>
        </p:nvSpPr>
        <p:spPr/>
        <p:txBody>
          <a:bodyPr/>
          <a:lstStyle/>
          <a:p>
            <a:endParaRPr lang="en-AU"/>
          </a:p>
        </p:txBody>
      </p:sp>
      <p:sp>
        <p:nvSpPr>
          <p:cNvPr id="7" name="Content Placeholder 6">
            <a:extLst>
              <a:ext uri="{FF2B5EF4-FFF2-40B4-BE49-F238E27FC236}">
                <a16:creationId xmlns:a16="http://schemas.microsoft.com/office/drawing/2014/main" id="{399AF9C3-4ED0-4BDE-8325-F1DA77C54B8E}"/>
              </a:ext>
            </a:extLst>
          </p:cNvPr>
          <p:cNvSpPr>
            <a:spLocks noGrp="1"/>
          </p:cNvSpPr>
          <p:nvPr>
            <p:ph idx="1"/>
          </p:nvPr>
        </p:nvSpPr>
        <p:spPr>
          <a:xfrm>
            <a:off x="424069" y="2252869"/>
            <a:ext cx="11343861" cy="2796209"/>
          </a:xfrm>
        </p:spPr>
        <p:txBody>
          <a:bodyPr>
            <a:normAutofit/>
          </a:bodyPr>
          <a:lstStyle/>
          <a:p>
            <a:pPr marL="0" indent="0">
              <a:buNone/>
            </a:pPr>
            <a:r>
              <a:rPr lang="en-AU" sz="2000" dirty="0">
                <a:solidFill>
                  <a:schemeClr val="tx1"/>
                </a:solidFill>
              </a:rPr>
              <a:t>Ministers are responsible for government departments. It is their role to find out what changes in the law may be required in their field of responsibility. If a department feels a change in the law is necessary it will </a:t>
            </a:r>
            <a:r>
              <a:rPr lang="en-AU" sz="2000" b="1" dirty="0">
                <a:solidFill>
                  <a:schemeClr val="tx1"/>
                </a:solidFill>
              </a:rPr>
              <a:t>advise</a:t>
            </a:r>
            <a:r>
              <a:rPr lang="en-AU" sz="2000" dirty="0">
                <a:solidFill>
                  <a:schemeClr val="tx1"/>
                </a:solidFill>
              </a:rPr>
              <a:t> its minister who, if in agreement with the </a:t>
            </a:r>
            <a:r>
              <a:rPr lang="en-AU" sz="2000" b="1" dirty="0">
                <a:solidFill>
                  <a:schemeClr val="tx1"/>
                </a:solidFill>
              </a:rPr>
              <a:t>proposal</a:t>
            </a:r>
            <a:r>
              <a:rPr lang="en-AU" sz="2000" dirty="0">
                <a:solidFill>
                  <a:schemeClr val="tx1"/>
                </a:solidFill>
              </a:rPr>
              <a:t>, will ask for cabinet approval.</a:t>
            </a:r>
          </a:p>
          <a:p>
            <a:pPr marL="0" indent="0">
              <a:buNone/>
            </a:pPr>
            <a:r>
              <a:rPr lang="en-AU" sz="2000" dirty="0">
                <a:solidFill>
                  <a:schemeClr val="tx1"/>
                </a:solidFill>
              </a:rPr>
              <a:t>If the minister is not a member of the cabinet (for example, the minister for science), the minister will contact a member of cabinet to have the proposal brought to the notice of cabinet. The </a:t>
            </a:r>
            <a:r>
              <a:rPr lang="en-AU" sz="2000" b="1" dirty="0">
                <a:solidFill>
                  <a:schemeClr val="tx1"/>
                </a:solidFill>
              </a:rPr>
              <a:t>relevant</a:t>
            </a:r>
            <a:r>
              <a:rPr lang="en-AU" sz="2000" dirty="0">
                <a:solidFill>
                  <a:schemeClr val="tx1"/>
                </a:solidFill>
              </a:rPr>
              <a:t> minister will usually introduce the bill to parliament.</a:t>
            </a:r>
          </a:p>
        </p:txBody>
      </p:sp>
      <p:sp>
        <p:nvSpPr>
          <p:cNvPr id="8" name="TextBox 7">
            <a:extLst>
              <a:ext uri="{FF2B5EF4-FFF2-40B4-BE49-F238E27FC236}">
                <a16:creationId xmlns:a16="http://schemas.microsoft.com/office/drawing/2014/main" id="{B9C76AD8-271A-4142-BDA3-4865C10F2C4D}"/>
              </a:ext>
            </a:extLst>
          </p:cNvPr>
          <p:cNvSpPr txBox="1"/>
          <p:nvPr/>
        </p:nvSpPr>
        <p:spPr>
          <a:xfrm>
            <a:off x="311568" y="4816113"/>
            <a:ext cx="3419061" cy="646331"/>
          </a:xfrm>
          <a:prstGeom prst="rect">
            <a:avLst/>
          </a:prstGeom>
          <a:noFill/>
          <a:ln>
            <a:solidFill>
              <a:schemeClr val="accent1"/>
            </a:solidFill>
          </a:ln>
        </p:spPr>
        <p:txBody>
          <a:bodyPr wrap="square" rtlCol="0">
            <a:spAutoFit/>
          </a:bodyPr>
          <a:lstStyle/>
          <a:p>
            <a:r>
              <a:rPr lang="en-AU" dirty="0"/>
              <a:t>CFU:</a:t>
            </a:r>
          </a:p>
          <a:p>
            <a:r>
              <a:rPr lang="en-AU" dirty="0"/>
              <a:t>What does the minister do?</a:t>
            </a:r>
          </a:p>
        </p:txBody>
      </p:sp>
      <p:sp>
        <p:nvSpPr>
          <p:cNvPr id="6" name="Subtitle 2">
            <a:extLst>
              <a:ext uri="{FF2B5EF4-FFF2-40B4-BE49-F238E27FC236}">
                <a16:creationId xmlns:a16="http://schemas.microsoft.com/office/drawing/2014/main" id="{640EDA2F-2AB4-4902-AA52-7FF4247911C6}"/>
              </a:ext>
            </a:extLst>
          </p:cNvPr>
          <p:cNvSpPr txBox="1">
            <a:spLocks/>
          </p:cNvSpPr>
          <p:nvPr/>
        </p:nvSpPr>
        <p:spPr>
          <a:xfrm>
            <a:off x="159027"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2" name="TextBox 1">
            <a:extLst>
              <a:ext uri="{FF2B5EF4-FFF2-40B4-BE49-F238E27FC236}">
                <a16:creationId xmlns:a16="http://schemas.microsoft.com/office/drawing/2014/main" id="{B5C2410F-6836-47F1-BC0B-0E4C122AAD11}"/>
              </a:ext>
            </a:extLst>
          </p:cNvPr>
          <p:cNvSpPr txBox="1"/>
          <p:nvPr/>
        </p:nvSpPr>
        <p:spPr>
          <a:xfrm>
            <a:off x="7242311" y="4702660"/>
            <a:ext cx="4790662" cy="2031325"/>
          </a:xfrm>
          <a:prstGeom prst="rect">
            <a:avLst/>
          </a:prstGeom>
          <a:noFill/>
          <a:ln>
            <a:solidFill>
              <a:schemeClr val="accent1"/>
            </a:solidFill>
          </a:ln>
        </p:spPr>
        <p:txBody>
          <a:bodyPr wrap="square" rtlCol="0">
            <a:spAutoFit/>
          </a:bodyPr>
          <a:lstStyle/>
          <a:p>
            <a:r>
              <a:rPr lang="en-AU" b="1" dirty="0"/>
              <a:t>Advise</a:t>
            </a:r>
            <a:r>
              <a:rPr lang="en-AU" dirty="0"/>
              <a:t> – recommend</a:t>
            </a:r>
          </a:p>
          <a:p>
            <a:r>
              <a:rPr lang="en-AU" b="1" dirty="0"/>
              <a:t>Proposal </a:t>
            </a:r>
            <a:r>
              <a:rPr lang="en-AU" dirty="0"/>
              <a:t>– a plan or suggestion, especially a formal or written one, put forward for consideration by others.</a:t>
            </a:r>
          </a:p>
          <a:p>
            <a:r>
              <a:rPr lang="en-AU" b="1" dirty="0"/>
              <a:t>Relevant </a:t>
            </a:r>
            <a:r>
              <a:rPr lang="en-AU" dirty="0"/>
              <a:t>- closely connected or appropriate to what is being done or considered.</a:t>
            </a:r>
          </a:p>
        </p:txBody>
      </p:sp>
    </p:spTree>
    <p:extLst>
      <p:ext uri="{BB962C8B-B14F-4D97-AF65-F5344CB8AC3E}">
        <p14:creationId xmlns:p14="http://schemas.microsoft.com/office/powerpoint/2010/main" val="620069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59A65C6-6950-4D91-93BE-2987423546FB}"/>
              </a:ext>
            </a:extLst>
          </p:cNvPr>
          <p:cNvSpPr>
            <a:spLocks noGrp="1"/>
          </p:cNvSpPr>
          <p:nvPr>
            <p:ph type="title"/>
          </p:nvPr>
        </p:nvSpPr>
        <p:spPr>
          <a:xfrm>
            <a:off x="558606" y="550355"/>
            <a:ext cx="8761413" cy="728480"/>
          </a:xfrm>
        </p:spPr>
        <p:txBody>
          <a:bodyPr/>
          <a:lstStyle/>
          <a:p>
            <a:r>
              <a:rPr lang="en-AU" dirty="0"/>
              <a:t>Drafting legislation</a:t>
            </a:r>
          </a:p>
        </p:txBody>
      </p:sp>
      <p:sp>
        <p:nvSpPr>
          <p:cNvPr id="9" name="Content Placeholder 8">
            <a:extLst>
              <a:ext uri="{FF2B5EF4-FFF2-40B4-BE49-F238E27FC236}">
                <a16:creationId xmlns:a16="http://schemas.microsoft.com/office/drawing/2014/main" id="{743DB35C-BD06-4680-B7B2-4154CE7E9A5F}"/>
              </a:ext>
            </a:extLst>
          </p:cNvPr>
          <p:cNvSpPr>
            <a:spLocks noGrp="1"/>
          </p:cNvSpPr>
          <p:nvPr>
            <p:ph idx="1"/>
          </p:nvPr>
        </p:nvSpPr>
        <p:spPr>
          <a:xfrm>
            <a:off x="198783" y="2312504"/>
            <a:ext cx="11794434" cy="2232991"/>
          </a:xfrm>
        </p:spPr>
        <p:txBody>
          <a:bodyPr>
            <a:normAutofit/>
          </a:bodyPr>
          <a:lstStyle/>
          <a:p>
            <a:pPr marL="0" indent="0">
              <a:buNone/>
            </a:pPr>
            <a:r>
              <a:rPr lang="en-AU" sz="2400" dirty="0">
                <a:solidFill>
                  <a:schemeClr val="tx1"/>
                </a:solidFill>
              </a:rPr>
              <a:t>A parliamentary counsel is a lawyer who has responsibility for drafting legislation and who is given instructions from cabinet about the purpose and </a:t>
            </a:r>
            <a:r>
              <a:rPr lang="en-AU" sz="2400" b="1" dirty="0">
                <a:solidFill>
                  <a:schemeClr val="tx1"/>
                </a:solidFill>
              </a:rPr>
              <a:t>extent</a:t>
            </a:r>
            <a:r>
              <a:rPr lang="en-AU" sz="2400" dirty="0">
                <a:solidFill>
                  <a:schemeClr val="tx1"/>
                </a:solidFill>
              </a:rPr>
              <a:t> of the proposed legislation. </a:t>
            </a:r>
          </a:p>
          <a:p>
            <a:pPr marL="0" indent="0">
              <a:buNone/>
            </a:pPr>
            <a:r>
              <a:rPr lang="en-AU" sz="2400" dirty="0">
                <a:solidFill>
                  <a:schemeClr val="tx1"/>
                </a:solidFill>
              </a:rPr>
              <a:t>Cabinet formulates the policy proposal. In the case of a Labor Government, the relevant committee is also </a:t>
            </a:r>
            <a:r>
              <a:rPr lang="en-AU" sz="2400" b="1" dirty="0">
                <a:solidFill>
                  <a:schemeClr val="tx1"/>
                </a:solidFill>
              </a:rPr>
              <a:t>consulted</a:t>
            </a:r>
            <a:r>
              <a:rPr lang="en-AU" sz="2400" dirty="0">
                <a:solidFill>
                  <a:schemeClr val="tx1"/>
                </a:solidFill>
              </a:rPr>
              <a:t> about the proposal.</a:t>
            </a:r>
          </a:p>
        </p:txBody>
      </p:sp>
      <p:sp>
        <p:nvSpPr>
          <p:cNvPr id="4" name="Subtitle 2">
            <a:extLst>
              <a:ext uri="{FF2B5EF4-FFF2-40B4-BE49-F238E27FC236}">
                <a16:creationId xmlns:a16="http://schemas.microsoft.com/office/drawing/2014/main" id="{59B656F4-4011-4C7C-85E4-7529106030E5}"/>
              </a:ext>
            </a:extLst>
          </p:cNvPr>
          <p:cNvSpPr txBox="1">
            <a:spLocks/>
          </p:cNvSpPr>
          <p:nvPr/>
        </p:nvSpPr>
        <p:spPr>
          <a:xfrm>
            <a:off x="159027"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2" name="TextBox 1">
            <a:extLst>
              <a:ext uri="{FF2B5EF4-FFF2-40B4-BE49-F238E27FC236}">
                <a16:creationId xmlns:a16="http://schemas.microsoft.com/office/drawing/2014/main" id="{561333AC-1CAA-4B6B-9B6A-8616C60BD2F6}"/>
              </a:ext>
            </a:extLst>
          </p:cNvPr>
          <p:cNvSpPr txBox="1"/>
          <p:nvPr/>
        </p:nvSpPr>
        <p:spPr>
          <a:xfrm>
            <a:off x="410817" y="4545495"/>
            <a:ext cx="3061253" cy="1200329"/>
          </a:xfrm>
          <a:prstGeom prst="rect">
            <a:avLst/>
          </a:prstGeom>
          <a:noFill/>
          <a:ln>
            <a:solidFill>
              <a:schemeClr val="accent1"/>
            </a:solidFill>
          </a:ln>
        </p:spPr>
        <p:txBody>
          <a:bodyPr wrap="square" rtlCol="0">
            <a:spAutoFit/>
          </a:bodyPr>
          <a:lstStyle/>
          <a:p>
            <a:r>
              <a:rPr lang="en-AU" dirty="0"/>
              <a:t>CFU:</a:t>
            </a:r>
          </a:p>
          <a:p>
            <a:pPr marL="342900" indent="-342900">
              <a:buAutoNum type="arabicPeriod"/>
            </a:pPr>
            <a:r>
              <a:rPr lang="en-AU" dirty="0"/>
              <a:t>Who drafts legislation?</a:t>
            </a:r>
          </a:p>
          <a:p>
            <a:pPr marL="342900" indent="-342900">
              <a:buAutoNum type="arabicPeriod"/>
            </a:pPr>
            <a:r>
              <a:rPr lang="en-AU" dirty="0"/>
              <a:t>Who formulates the proposal?</a:t>
            </a:r>
          </a:p>
        </p:txBody>
      </p:sp>
      <p:sp>
        <p:nvSpPr>
          <p:cNvPr id="3" name="TextBox 2"/>
          <p:cNvSpPr txBox="1"/>
          <p:nvPr/>
        </p:nvSpPr>
        <p:spPr>
          <a:xfrm>
            <a:off x="7304690" y="4950373"/>
            <a:ext cx="4361793" cy="1754326"/>
          </a:xfrm>
          <a:prstGeom prst="rect">
            <a:avLst/>
          </a:prstGeom>
          <a:noFill/>
          <a:ln>
            <a:solidFill>
              <a:schemeClr val="accent1"/>
            </a:solidFill>
          </a:ln>
        </p:spPr>
        <p:txBody>
          <a:bodyPr wrap="square" rtlCol="0">
            <a:spAutoFit/>
          </a:bodyPr>
          <a:lstStyle/>
          <a:p>
            <a:r>
              <a:rPr lang="en-AU" b="1" dirty="0"/>
              <a:t>Extent</a:t>
            </a:r>
            <a:r>
              <a:rPr lang="en-AU" dirty="0"/>
              <a:t> – the particular degree to which something is or is believed to be the case.</a:t>
            </a:r>
          </a:p>
          <a:p>
            <a:r>
              <a:rPr lang="en-AU" b="1" dirty="0"/>
              <a:t>Consulted</a:t>
            </a:r>
            <a:r>
              <a:rPr lang="en-AU" dirty="0"/>
              <a:t> - seek information or advice from (someone, especially an expert or professional). </a:t>
            </a:r>
          </a:p>
        </p:txBody>
      </p:sp>
    </p:spTree>
    <p:extLst>
      <p:ext uri="{BB962C8B-B14F-4D97-AF65-F5344CB8AC3E}">
        <p14:creationId xmlns:p14="http://schemas.microsoft.com/office/powerpoint/2010/main" val="3455335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 calcmode="lin" valueType="num">
                                      <p:cBhvr additive="base">
                                        <p:cTn id="13"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BF56B9-C249-4249-8393-94697FE0A7BB}"/>
              </a:ext>
            </a:extLst>
          </p:cNvPr>
          <p:cNvSpPr>
            <a:spLocks noGrp="1"/>
          </p:cNvSpPr>
          <p:nvPr>
            <p:ph idx="1"/>
          </p:nvPr>
        </p:nvSpPr>
        <p:spPr>
          <a:xfrm>
            <a:off x="331306" y="937258"/>
            <a:ext cx="8761414" cy="4296894"/>
          </a:xfrm>
        </p:spPr>
        <p:txBody>
          <a:bodyPr>
            <a:normAutofit fontScale="92500" lnSpcReduction="20000"/>
          </a:bodyPr>
          <a:lstStyle/>
          <a:p>
            <a:pPr marL="0" indent="0">
              <a:buNone/>
            </a:pPr>
            <a:r>
              <a:rPr lang="en-AU" sz="2200" dirty="0">
                <a:solidFill>
                  <a:schemeClr val="tx1"/>
                </a:solidFill>
              </a:rPr>
              <a:t>The parliamentary counsel’s role is too:</a:t>
            </a:r>
          </a:p>
          <a:p>
            <a:r>
              <a:rPr lang="en-AU" sz="2200" b="1" dirty="0">
                <a:solidFill>
                  <a:schemeClr val="tx1"/>
                </a:solidFill>
              </a:rPr>
              <a:t>Examine</a:t>
            </a:r>
            <a:r>
              <a:rPr lang="en-AU" sz="2200" dirty="0">
                <a:solidFill>
                  <a:schemeClr val="tx1"/>
                </a:solidFill>
              </a:rPr>
              <a:t> and </a:t>
            </a:r>
            <a:r>
              <a:rPr lang="en-AU" sz="2200" b="1" dirty="0">
                <a:solidFill>
                  <a:schemeClr val="tx1"/>
                </a:solidFill>
              </a:rPr>
              <a:t>analyse</a:t>
            </a:r>
            <a:r>
              <a:rPr lang="en-AU" sz="2200" dirty="0">
                <a:solidFill>
                  <a:schemeClr val="tx1"/>
                </a:solidFill>
              </a:rPr>
              <a:t> the instructions given by cabinet</a:t>
            </a:r>
          </a:p>
          <a:p>
            <a:r>
              <a:rPr lang="en-AU" sz="2200" dirty="0">
                <a:solidFill>
                  <a:schemeClr val="tx1"/>
                </a:solidFill>
              </a:rPr>
              <a:t>Examine the constitutional, legal and other </a:t>
            </a:r>
            <a:r>
              <a:rPr lang="en-AU" sz="2200" b="1" dirty="0">
                <a:solidFill>
                  <a:schemeClr val="tx1"/>
                </a:solidFill>
              </a:rPr>
              <a:t>implications </a:t>
            </a:r>
            <a:r>
              <a:rPr lang="en-AU" sz="2200" dirty="0">
                <a:solidFill>
                  <a:schemeClr val="tx1"/>
                </a:solidFill>
              </a:rPr>
              <a:t>of the policy</a:t>
            </a:r>
          </a:p>
          <a:p>
            <a:r>
              <a:rPr lang="en-AU" sz="2200" dirty="0">
                <a:solidFill>
                  <a:schemeClr val="tx1"/>
                </a:solidFill>
              </a:rPr>
              <a:t>Discuss the </a:t>
            </a:r>
            <a:r>
              <a:rPr lang="en-AU" sz="2200" b="1" dirty="0">
                <a:solidFill>
                  <a:schemeClr val="tx1"/>
                </a:solidFill>
              </a:rPr>
              <a:t>proposals</a:t>
            </a:r>
            <a:r>
              <a:rPr lang="en-AU" sz="2200" dirty="0">
                <a:solidFill>
                  <a:schemeClr val="tx1"/>
                </a:solidFill>
              </a:rPr>
              <a:t> with the relevant government departments</a:t>
            </a:r>
          </a:p>
          <a:p>
            <a:r>
              <a:rPr lang="en-AU" sz="2200" dirty="0">
                <a:solidFill>
                  <a:schemeClr val="tx1"/>
                </a:solidFill>
              </a:rPr>
              <a:t>Decide how the policies can be implemented</a:t>
            </a:r>
          </a:p>
          <a:p>
            <a:r>
              <a:rPr lang="en-AU" sz="2200" dirty="0">
                <a:solidFill>
                  <a:schemeClr val="tx1"/>
                </a:solidFill>
              </a:rPr>
              <a:t>Prepare a draft bill</a:t>
            </a:r>
          </a:p>
          <a:p>
            <a:r>
              <a:rPr lang="en-AU" sz="2200" dirty="0">
                <a:solidFill>
                  <a:schemeClr val="tx1"/>
                </a:solidFill>
              </a:rPr>
              <a:t>Send the draft bill to the relevant government department for </a:t>
            </a:r>
            <a:r>
              <a:rPr lang="en-AU" sz="2200" b="1" dirty="0">
                <a:solidFill>
                  <a:schemeClr val="tx1"/>
                </a:solidFill>
              </a:rPr>
              <a:t>consideration</a:t>
            </a:r>
          </a:p>
          <a:p>
            <a:r>
              <a:rPr lang="en-AU" sz="2200" dirty="0">
                <a:solidFill>
                  <a:schemeClr val="tx1"/>
                </a:solidFill>
              </a:rPr>
              <a:t>Send copies of the draft to others</a:t>
            </a:r>
          </a:p>
          <a:p>
            <a:r>
              <a:rPr lang="en-AU" sz="2200" dirty="0">
                <a:solidFill>
                  <a:schemeClr val="tx1"/>
                </a:solidFill>
              </a:rPr>
              <a:t>Ensure that legislation is legally effective, that is, does what it is intended to do.</a:t>
            </a:r>
          </a:p>
          <a:p>
            <a:endParaRPr lang="en-AU" dirty="0"/>
          </a:p>
        </p:txBody>
      </p:sp>
      <p:sp>
        <p:nvSpPr>
          <p:cNvPr id="4" name="Subtitle 2">
            <a:extLst>
              <a:ext uri="{FF2B5EF4-FFF2-40B4-BE49-F238E27FC236}">
                <a16:creationId xmlns:a16="http://schemas.microsoft.com/office/drawing/2014/main" id="{7C5EBC82-2B19-445B-A78F-42947B371D4C}"/>
              </a:ext>
            </a:extLst>
          </p:cNvPr>
          <p:cNvSpPr txBox="1">
            <a:spLocks/>
          </p:cNvSpPr>
          <p:nvPr/>
        </p:nvSpPr>
        <p:spPr>
          <a:xfrm>
            <a:off x="159027"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5" name="TextBox 4">
            <a:extLst>
              <a:ext uri="{FF2B5EF4-FFF2-40B4-BE49-F238E27FC236}">
                <a16:creationId xmlns:a16="http://schemas.microsoft.com/office/drawing/2014/main" id="{D9A06BE3-DF9F-4201-B25C-C96288A770D1}"/>
              </a:ext>
            </a:extLst>
          </p:cNvPr>
          <p:cNvSpPr txBox="1"/>
          <p:nvPr/>
        </p:nvSpPr>
        <p:spPr>
          <a:xfrm>
            <a:off x="3238458" y="4736966"/>
            <a:ext cx="2767976" cy="1477328"/>
          </a:xfrm>
          <a:prstGeom prst="rect">
            <a:avLst/>
          </a:prstGeom>
          <a:noFill/>
          <a:ln>
            <a:solidFill>
              <a:schemeClr val="accent1"/>
            </a:solidFill>
          </a:ln>
        </p:spPr>
        <p:txBody>
          <a:bodyPr wrap="square" rtlCol="0">
            <a:spAutoFit/>
          </a:bodyPr>
          <a:lstStyle/>
          <a:p>
            <a:r>
              <a:rPr lang="en-AU" dirty="0"/>
              <a:t>CFU:</a:t>
            </a:r>
          </a:p>
          <a:p>
            <a:r>
              <a:rPr lang="en-AU" dirty="0"/>
              <a:t>1. What do you think is the most important role of the parliamentary counsel?</a:t>
            </a:r>
          </a:p>
        </p:txBody>
      </p:sp>
      <p:sp>
        <p:nvSpPr>
          <p:cNvPr id="6" name="TextBox 5"/>
          <p:cNvSpPr txBox="1"/>
          <p:nvPr/>
        </p:nvSpPr>
        <p:spPr>
          <a:xfrm>
            <a:off x="8502868" y="2802383"/>
            <a:ext cx="3552497" cy="3293209"/>
          </a:xfrm>
          <a:prstGeom prst="rect">
            <a:avLst/>
          </a:prstGeom>
          <a:noFill/>
          <a:ln>
            <a:solidFill>
              <a:schemeClr val="accent1"/>
            </a:solidFill>
          </a:ln>
        </p:spPr>
        <p:txBody>
          <a:bodyPr wrap="square" rtlCol="0">
            <a:spAutoFit/>
          </a:bodyPr>
          <a:lstStyle/>
          <a:p>
            <a:r>
              <a:rPr lang="en-AU" sz="1600" dirty="0"/>
              <a:t>Vocabulary:</a:t>
            </a:r>
          </a:p>
          <a:p>
            <a:r>
              <a:rPr lang="en-AU" sz="1600" b="1" dirty="0"/>
              <a:t>Examine</a:t>
            </a:r>
            <a:r>
              <a:rPr lang="en-AU" sz="1600" dirty="0"/>
              <a:t> – Inspect thoroughly </a:t>
            </a:r>
          </a:p>
          <a:p>
            <a:r>
              <a:rPr lang="en-AU" sz="1600" dirty="0"/>
              <a:t>Analyse – examine closely</a:t>
            </a:r>
          </a:p>
          <a:p>
            <a:r>
              <a:rPr lang="en-AU" sz="1600" b="1" dirty="0"/>
              <a:t>Implications</a:t>
            </a:r>
            <a:r>
              <a:rPr lang="en-AU" sz="1600" dirty="0"/>
              <a:t> –</a:t>
            </a:r>
            <a:br>
              <a:rPr lang="en-AU" sz="1600" dirty="0"/>
            </a:br>
            <a:r>
              <a:rPr lang="en-AU" sz="1600" dirty="0"/>
              <a:t>the conclusion that can be drawn from something although it is not explicitly stated.</a:t>
            </a:r>
          </a:p>
          <a:p>
            <a:r>
              <a:rPr lang="en-AU" sz="1600" b="1" dirty="0"/>
              <a:t>Proposals</a:t>
            </a:r>
            <a:r>
              <a:rPr lang="en-AU" sz="1600" dirty="0"/>
              <a:t> – a plan or suggestion, especially a formal or written one, put forward for consideration by others.</a:t>
            </a:r>
          </a:p>
          <a:p>
            <a:r>
              <a:rPr lang="en-AU" sz="1600" b="1" dirty="0"/>
              <a:t>Consideration</a:t>
            </a:r>
            <a:r>
              <a:rPr lang="en-AU" sz="1600" dirty="0"/>
              <a:t> – careful thought, typically over a period of time.</a:t>
            </a:r>
          </a:p>
        </p:txBody>
      </p:sp>
    </p:spTree>
    <p:extLst>
      <p:ext uri="{BB962C8B-B14F-4D97-AF65-F5344CB8AC3E}">
        <p14:creationId xmlns:p14="http://schemas.microsoft.com/office/powerpoint/2010/main" val="481900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76A28-C47C-4902-A597-567B9719386C}"/>
              </a:ext>
            </a:extLst>
          </p:cNvPr>
          <p:cNvSpPr>
            <a:spLocks noGrp="1"/>
          </p:cNvSpPr>
          <p:nvPr>
            <p:ph type="title"/>
          </p:nvPr>
        </p:nvSpPr>
        <p:spPr/>
        <p:txBody>
          <a:bodyPr/>
          <a:lstStyle/>
          <a:p>
            <a:r>
              <a:rPr lang="en-AU" dirty="0"/>
              <a:t>Process of a bill through parliament</a:t>
            </a:r>
          </a:p>
        </p:txBody>
      </p:sp>
      <p:sp>
        <p:nvSpPr>
          <p:cNvPr id="3" name="Content Placeholder 2">
            <a:extLst>
              <a:ext uri="{FF2B5EF4-FFF2-40B4-BE49-F238E27FC236}">
                <a16:creationId xmlns:a16="http://schemas.microsoft.com/office/drawing/2014/main" id="{C7B2FBB6-95BC-4DCE-A60D-387BDB0CF15D}"/>
              </a:ext>
            </a:extLst>
          </p:cNvPr>
          <p:cNvSpPr>
            <a:spLocks noGrp="1"/>
          </p:cNvSpPr>
          <p:nvPr>
            <p:ph idx="1"/>
          </p:nvPr>
        </p:nvSpPr>
        <p:spPr>
          <a:xfrm>
            <a:off x="265043" y="2603500"/>
            <a:ext cx="11648661" cy="2207039"/>
          </a:xfrm>
        </p:spPr>
        <p:txBody>
          <a:bodyPr>
            <a:normAutofit/>
          </a:bodyPr>
          <a:lstStyle/>
          <a:p>
            <a:pPr marL="0" indent="0">
              <a:buNone/>
            </a:pPr>
            <a:r>
              <a:rPr lang="en-AU" sz="2400" dirty="0">
                <a:solidFill>
                  <a:schemeClr val="tx1"/>
                </a:solidFill>
              </a:rPr>
              <a:t>A bill may be introduced in either the upper or the lower house except those bills that give the government the </a:t>
            </a:r>
            <a:r>
              <a:rPr lang="en-AU" sz="2400" b="1" dirty="0">
                <a:solidFill>
                  <a:schemeClr val="tx1"/>
                </a:solidFill>
              </a:rPr>
              <a:t>authority</a:t>
            </a:r>
            <a:r>
              <a:rPr lang="en-AU" sz="2400" dirty="0">
                <a:solidFill>
                  <a:schemeClr val="tx1"/>
                </a:solidFill>
              </a:rPr>
              <a:t> to raise taxes or spend money. These bills must be introduced into the lower house, which is a tradition </a:t>
            </a:r>
            <a:r>
              <a:rPr lang="en-AU" sz="2400" b="1" dirty="0">
                <a:solidFill>
                  <a:schemeClr val="tx1"/>
                </a:solidFill>
              </a:rPr>
              <a:t>inherited</a:t>
            </a:r>
            <a:r>
              <a:rPr lang="en-AU" sz="2400" dirty="0">
                <a:solidFill>
                  <a:schemeClr val="tx1"/>
                </a:solidFill>
              </a:rPr>
              <a:t> from England. More bills are introduced in the lower house because about three-quarters of ministers sit in the lower house.</a:t>
            </a:r>
          </a:p>
        </p:txBody>
      </p:sp>
      <p:sp>
        <p:nvSpPr>
          <p:cNvPr id="4" name="TextBox 3">
            <a:extLst>
              <a:ext uri="{FF2B5EF4-FFF2-40B4-BE49-F238E27FC236}">
                <a16:creationId xmlns:a16="http://schemas.microsoft.com/office/drawing/2014/main" id="{7C60ECF2-746E-40A0-8835-FA928E71AB51}"/>
              </a:ext>
            </a:extLst>
          </p:cNvPr>
          <p:cNvSpPr txBox="1"/>
          <p:nvPr/>
        </p:nvSpPr>
        <p:spPr>
          <a:xfrm>
            <a:off x="596348" y="4810539"/>
            <a:ext cx="3485322" cy="1200329"/>
          </a:xfrm>
          <a:prstGeom prst="rect">
            <a:avLst/>
          </a:prstGeom>
          <a:noFill/>
          <a:ln>
            <a:solidFill>
              <a:schemeClr val="accent1"/>
            </a:solidFill>
          </a:ln>
        </p:spPr>
        <p:txBody>
          <a:bodyPr wrap="square" rtlCol="0">
            <a:spAutoFit/>
          </a:bodyPr>
          <a:lstStyle/>
          <a:p>
            <a:r>
              <a:rPr lang="en-AU" dirty="0"/>
              <a:t>CFU:</a:t>
            </a:r>
          </a:p>
          <a:p>
            <a:r>
              <a:rPr lang="en-AU" dirty="0"/>
              <a:t>What two bills are not introduced in the upper or lower house?</a:t>
            </a:r>
          </a:p>
        </p:txBody>
      </p:sp>
      <p:sp>
        <p:nvSpPr>
          <p:cNvPr id="5" name="Subtitle 2">
            <a:extLst>
              <a:ext uri="{FF2B5EF4-FFF2-40B4-BE49-F238E27FC236}">
                <a16:creationId xmlns:a16="http://schemas.microsoft.com/office/drawing/2014/main" id="{05FA39B4-78C7-438F-868B-7F80EE703FCE}"/>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
        <p:nvSpPr>
          <p:cNvPr id="6" name="TextBox 5">
            <a:extLst>
              <a:ext uri="{FF2B5EF4-FFF2-40B4-BE49-F238E27FC236}">
                <a16:creationId xmlns:a16="http://schemas.microsoft.com/office/drawing/2014/main" id="{F7140CAB-2CBA-42B4-AB0B-9019505FEFDD}"/>
              </a:ext>
            </a:extLst>
          </p:cNvPr>
          <p:cNvSpPr txBox="1"/>
          <p:nvPr/>
        </p:nvSpPr>
        <p:spPr>
          <a:xfrm>
            <a:off x="7420304" y="4702660"/>
            <a:ext cx="4265829" cy="2031325"/>
          </a:xfrm>
          <a:prstGeom prst="rect">
            <a:avLst/>
          </a:prstGeom>
          <a:noFill/>
          <a:ln>
            <a:solidFill>
              <a:schemeClr val="accent1"/>
            </a:solidFill>
          </a:ln>
        </p:spPr>
        <p:txBody>
          <a:bodyPr wrap="square" rtlCol="0">
            <a:spAutoFit/>
          </a:bodyPr>
          <a:lstStyle/>
          <a:p>
            <a:r>
              <a:rPr lang="en-AU" b="1" dirty="0"/>
              <a:t>Authority</a:t>
            </a:r>
            <a:r>
              <a:rPr lang="en-AU" dirty="0"/>
              <a:t> – the power or right to give orders, make decisions, and enforce obedience.</a:t>
            </a:r>
          </a:p>
          <a:p>
            <a:r>
              <a:rPr lang="en-AU" b="1" dirty="0"/>
              <a:t>Inherited</a:t>
            </a:r>
            <a:r>
              <a:rPr lang="en-AU" dirty="0"/>
              <a:t> - derive (a quality, characteristic, or predisposition) genetically from one's parents or ancestors.</a:t>
            </a:r>
          </a:p>
        </p:txBody>
      </p:sp>
    </p:spTree>
    <p:extLst>
      <p:ext uri="{BB962C8B-B14F-4D97-AF65-F5344CB8AC3E}">
        <p14:creationId xmlns:p14="http://schemas.microsoft.com/office/powerpoint/2010/main" val="365872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ell phone&#10;&#10;Description generated with very high confidence">
            <a:extLst>
              <a:ext uri="{FF2B5EF4-FFF2-40B4-BE49-F238E27FC236}">
                <a16:creationId xmlns:a16="http://schemas.microsoft.com/office/drawing/2014/main" id="{8FA0F1D4-05D5-4BBD-B3C3-21B756D275A8}"/>
              </a:ext>
            </a:extLst>
          </p:cNvPr>
          <p:cNvPicPr>
            <a:picLocks noGrp="1" noChangeAspect="1"/>
          </p:cNvPicPr>
          <p:nvPr>
            <p:ph idx="1"/>
          </p:nvPr>
        </p:nvPicPr>
        <p:blipFill>
          <a:blip r:embed="rId2"/>
          <a:stretch>
            <a:fillRect/>
          </a:stretch>
        </p:blipFill>
        <p:spPr>
          <a:xfrm>
            <a:off x="3173892" y="210718"/>
            <a:ext cx="3171640" cy="6436564"/>
          </a:xfrm>
        </p:spPr>
      </p:pic>
      <p:sp>
        <p:nvSpPr>
          <p:cNvPr id="6" name="TextBox 5">
            <a:extLst>
              <a:ext uri="{FF2B5EF4-FFF2-40B4-BE49-F238E27FC236}">
                <a16:creationId xmlns:a16="http://schemas.microsoft.com/office/drawing/2014/main" id="{2CB6BAB8-7F8A-42FA-A91D-15173E91307B}"/>
              </a:ext>
            </a:extLst>
          </p:cNvPr>
          <p:cNvSpPr txBox="1"/>
          <p:nvPr/>
        </p:nvSpPr>
        <p:spPr>
          <a:xfrm>
            <a:off x="7931354" y="447533"/>
            <a:ext cx="3975653" cy="2031325"/>
          </a:xfrm>
          <a:prstGeom prst="rect">
            <a:avLst/>
          </a:prstGeom>
          <a:noFill/>
          <a:ln>
            <a:solidFill>
              <a:schemeClr val="accent1"/>
            </a:solidFill>
          </a:ln>
        </p:spPr>
        <p:txBody>
          <a:bodyPr wrap="square" rtlCol="0">
            <a:spAutoFit/>
          </a:bodyPr>
          <a:lstStyle/>
          <a:p>
            <a:r>
              <a:rPr lang="en-AU" dirty="0"/>
              <a:t>House of representatives:</a:t>
            </a:r>
          </a:p>
          <a:p>
            <a:pPr marL="285750" indent="-285750">
              <a:buFont typeface="Arial" panose="020B0604020202020204" pitchFamily="34" charset="0"/>
              <a:buChar char="•"/>
            </a:pPr>
            <a:r>
              <a:rPr lang="en-AU" dirty="0"/>
              <a:t>First reading</a:t>
            </a:r>
          </a:p>
          <a:p>
            <a:pPr marL="285750" indent="-285750">
              <a:buFont typeface="Arial" panose="020B0604020202020204" pitchFamily="34" charset="0"/>
              <a:buChar char="•"/>
            </a:pPr>
            <a:r>
              <a:rPr lang="en-AU" dirty="0"/>
              <a:t>2</a:t>
            </a:r>
            <a:r>
              <a:rPr lang="en-AU" baseline="30000" dirty="0"/>
              <a:t>nd</a:t>
            </a:r>
            <a:r>
              <a:rPr lang="en-AU" dirty="0"/>
              <a:t> reading</a:t>
            </a:r>
          </a:p>
          <a:p>
            <a:pPr marL="285750" indent="-285750">
              <a:buFont typeface="Arial" panose="020B0604020202020204" pitchFamily="34" charset="0"/>
              <a:buChar char="•"/>
            </a:pPr>
            <a:r>
              <a:rPr lang="en-AU" dirty="0"/>
              <a:t>House committee</a:t>
            </a:r>
          </a:p>
          <a:p>
            <a:pPr marL="285750" indent="-285750">
              <a:buFont typeface="Arial" panose="020B0604020202020204" pitchFamily="34" charset="0"/>
              <a:buChar char="•"/>
            </a:pPr>
            <a:r>
              <a:rPr lang="en-AU" dirty="0"/>
              <a:t>Consideration in detail</a:t>
            </a:r>
          </a:p>
          <a:p>
            <a:pPr marL="285750" indent="-285750">
              <a:buFont typeface="Arial" panose="020B0604020202020204" pitchFamily="34" charset="0"/>
              <a:buChar char="•"/>
            </a:pPr>
            <a:r>
              <a:rPr lang="en-AU" dirty="0"/>
              <a:t>3</a:t>
            </a:r>
            <a:r>
              <a:rPr lang="en-AU" baseline="30000" dirty="0"/>
              <a:t>rd</a:t>
            </a:r>
            <a:r>
              <a:rPr lang="en-AU" dirty="0"/>
              <a:t> reading</a:t>
            </a:r>
          </a:p>
          <a:p>
            <a:pPr marL="285750" indent="-285750">
              <a:buFont typeface="Arial" panose="020B0604020202020204" pitchFamily="34" charset="0"/>
              <a:buChar char="•"/>
            </a:pPr>
            <a:r>
              <a:rPr lang="en-AU" dirty="0"/>
              <a:t>Bill is passed.</a:t>
            </a:r>
          </a:p>
        </p:txBody>
      </p:sp>
      <p:sp>
        <p:nvSpPr>
          <p:cNvPr id="7" name="TextBox 6">
            <a:extLst>
              <a:ext uri="{FF2B5EF4-FFF2-40B4-BE49-F238E27FC236}">
                <a16:creationId xmlns:a16="http://schemas.microsoft.com/office/drawing/2014/main" id="{F0907287-2F17-4DD9-9677-22CCD7BD32B8}"/>
              </a:ext>
            </a:extLst>
          </p:cNvPr>
          <p:cNvSpPr txBox="1"/>
          <p:nvPr/>
        </p:nvSpPr>
        <p:spPr>
          <a:xfrm>
            <a:off x="7931353" y="2478858"/>
            <a:ext cx="3975653" cy="2031325"/>
          </a:xfrm>
          <a:prstGeom prst="rect">
            <a:avLst/>
          </a:prstGeom>
          <a:noFill/>
          <a:ln>
            <a:solidFill>
              <a:schemeClr val="accent1"/>
            </a:solidFill>
          </a:ln>
        </p:spPr>
        <p:txBody>
          <a:bodyPr wrap="square" rtlCol="0">
            <a:spAutoFit/>
          </a:bodyPr>
          <a:lstStyle/>
          <a:p>
            <a:r>
              <a:rPr lang="en-AU" dirty="0"/>
              <a:t>Senate:</a:t>
            </a:r>
          </a:p>
          <a:p>
            <a:pPr marL="285750" indent="-285750">
              <a:buFont typeface="Arial" panose="020B0604020202020204" pitchFamily="34" charset="0"/>
              <a:buChar char="•"/>
            </a:pPr>
            <a:r>
              <a:rPr lang="en-AU" dirty="0"/>
              <a:t>1</a:t>
            </a:r>
            <a:r>
              <a:rPr lang="en-AU" baseline="30000" dirty="0"/>
              <a:t>st</a:t>
            </a:r>
            <a:r>
              <a:rPr lang="en-AU" dirty="0"/>
              <a:t> reading</a:t>
            </a:r>
          </a:p>
          <a:p>
            <a:pPr marL="285750" indent="-285750">
              <a:buFont typeface="Arial" panose="020B0604020202020204" pitchFamily="34" charset="0"/>
              <a:buChar char="•"/>
            </a:pPr>
            <a:r>
              <a:rPr lang="en-AU" dirty="0"/>
              <a:t>2</a:t>
            </a:r>
            <a:r>
              <a:rPr lang="en-AU" baseline="30000" dirty="0"/>
              <a:t>nd</a:t>
            </a:r>
            <a:r>
              <a:rPr lang="en-AU" dirty="0"/>
              <a:t> reading</a:t>
            </a:r>
          </a:p>
          <a:p>
            <a:pPr marL="285750" indent="-285750">
              <a:buFont typeface="Arial" panose="020B0604020202020204" pitchFamily="34" charset="0"/>
              <a:buChar char="•"/>
            </a:pPr>
            <a:r>
              <a:rPr lang="en-AU" dirty="0"/>
              <a:t>Senate committee</a:t>
            </a:r>
          </a:p>
          <a:p>
            <a:pPr marL="285750" indent="-285750">
              <a:buFont typeface="Arial" panose="020B0604020202020204" pitchFamily="34" charset="0"/>
              <a:buChar char="•"/>
            </a:pPr>
            <a:r>
              <a:rPr lang="en-AU" dirty="0"/>
              <a:t>Committee of the whole</a:t>
            </a:r>
          </a:p>
          <a:p>
            <a:pPr marL="285750" indent="-285750">
              <a:buFont typeface="Arial" panose="020B0604020202020204" pitchFamily="34" charset="0"/>
              <a:buChar char="•"/>
            </a:pPr>
            <a:r>
              <a:rPr lang="en-AU" dirty="0"/>
              <a:t>3</a:t>
            </a:r>
            <a:r>
              <a:rPr lang="en-AU" baseline="30000" dirty="0"/>
              <a:t>rd</a:t>
            </a:r>
            <a:r>
              <a:rPr lang="en-AU" dirty="0"/>
              <a:t> reading</a:t>
            </a:r>
          </a:p>
          <a:p>
            <a:pPr marL="285750" indent="-285750">
              <a:buFont typeface="Arial" panose="020B0604020202020204" pitchFamily="34" charset="0"/>
              <a:buChar char="•"/>
            </a:pPr>
            <a:r>
              <a:rPr lang="en-AU" dirty="0"/>
              <a:t>Bill is passed</a:t>
            </a:r>
          </a:p>
        </p:txBody>
      </p:sp>
      <p:sp>
        <p:nvSpPr>
          <p:cNvPr id="8" name="TextBox 7">
            <a:extLst>
              <a:ext uri="{FF2B5EF4-FFF2-40B4-BE49-F238E27FC236}">
                <a16:creationId xmlns:a16="http://schemas.microsoft.com/office/drawing/2014/main" id="{BAC4CBDB-44B5-4E22-94FE-A39FB8C6EF16}"/>
              </a:ext>
            </a:extLst>
          </p:cNvPr>
          <p:cNvSpPr txBox="1"/>
          <p:nvPr/>
        </p:nvSpPr>
        <p:spPr>
          <a:xfrm>
            <a:off x="7931352" y="4510183"/>
            <a:ext cx="3975653" cy="1477328"/>
          </a:xfrm>
          <a:prstGeom prst="rect">
            <a:avLst/>
          </a:prstGeom>
          <a:noFill/>
          <a:ln>
            <a:solidFill>
              <a:schemeClr val="accent1"/>
            </a:solidFill>
          </a:ln>
        </p:spPr>
        <p:txBody>
          <a:bodyPr wrap="square" rtlCol="0">
            <a:spAutoFit/>
          </a:bodyPr>
          <a:lstStyle/>
          <a:p>
            <a:r>
              <a:rPr lang="en-AU" dirty="0"/>
              <a:t>Governor-General:</a:t>
            </a:r>
          </a:p>
          <a:p>
            <a:r>
              <a:rPr lang="en-AU" dirty="0"/>
              <a:t>Royal assent by the Governor-General</a:t>
            </a:r>
          </a:p>
          <a:p>
            <a:r>
              <a:rPr lang="en-AU" dirty="0"/>
              <a:t>Bill becomes an act of parliament.</a:t>
            </a:r>
          </a:p>
        </p:txBody>
      </p:sp>
      <p:sp>
        <p:nvSpPr>
          <p:cNvPr id="9" name="Subtitle 2">
            <a:extLst>
              <a:ext uri="{FF2B5EF4-FFF2-40B4-BE49-F238E27FC236}">
                <a16:creationId xmlns:a16="http://schemas.microsoft.com/office/drawing/2014/main" id="{0FF89345-CB72-4B50-B459-846CC6D142B2}"/>
              </a:ext>
            </a:extLst>
          </p:cNvPr>
          <p:cNvSpPr txBox="1">
            <a:spLocks/>
          </p:cNvSpPr>
          <p:nvPr/>
        </p:nvSpPr>
        <p:spPr>
          <a:xfrm>
            <a:off x="284993" y="6479168"/>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Tree>
    <p:extLst>
      <p:ext uri="{BB962C8B-B14F-4D97-AF65-F5344CB8AC3E}">
        <p14:creationId xmlns:p14="http://schemas.microsoft.com/office/powerpoint/2010/main" val="245508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B579-1E58-4602-B4FA-54B95F3450DF}"/>
              </a:ext>
            </a:extLst>
          </p:cNvPr>
          <p:cNvSpPr>
            <a:spLocks noGrp="1"/>
          </p:cNvSpPr>
          <p:nvPr>
            <p:ph type="title"/>
          </p:nvPr>
        </p:nvSpPr>
        <p:spPr>
          <a:xfrm>
            <a:off x="1154954" y="563606"/>
            <a:ext cx="8761413" cy="947141"/>
          </a:xfrm>
          <a:ln>
            <a:solidFill>
              <a:schemeClr val="accent1"/>
            </a:solidFill>
          </a:ln>
        </p:spPr>
        <p:txBody>
          <a:bodyPr/>
          <a:lstStyle/>
          <a:p>
            <a:r>
              <a:rPr lang="en-AU" dirty="0"/>
              <a:t>Restrictions on law-making by parliament</a:t>
            </a:r>
          </a:p>
        </p:txBody>
      </p:sp>
      <p:sp>
        <p:nvSpPr>
          <p:cNvPr id="3" name="Content Placeholder 2">
            <a:extLst>
              <a:ext uri="{FF2B5EF4-FFF2-40B4-BE49-F238E27FC236}">
                <a16:creationId xmlns:a16="http://schemas.microsoft.com/office/drawing/2014/main" id="{7B77523D-39C3-4B15-A302-20BE53735EE1}"/>
              </a:ext>
            </a:extLst>
          </p:cNvPr>
          <p:cNvSpPr>
            <a:spLocks noGrp="1"/>
          </p:cNvSpPr>
          <p:nvPr>
            <p:ph idx="1"/>
          </p:nvPr>
        </p:nvSpPr>
        <p:spPr>
          <a:xfrm>
            <a:off x="477078" y="2603500"/>
            <a:ext cx="5777948" cy="3416300"/>
          </a:xfrm>
        </p:spPr>
        <p:txBody>
          <a:bodyPr>
            <a:normAutofit fontScale="92500"/>
          </a:bodyPr>
          <a:lstStyle/>
          <a:p>
            <a:pPr marL="0" indent="0">
              <a:buNone/>
            </a:pPr>
            <a:r>
              <a:rPr lang="en-AU" dirty="0">
                <a:solidFill>
                  <a:schemeClr val="tx1"/>
                </a:solidFill>
              </a:rPr>
              <a:t>There are however, restrictions on parliaments’ ability to make laws. Some of these are shown below.</a:t>
            </a:r>
          </a:p>
          <a:p>
            <a:r>
              <a:rPr lang="en-AU" dirty="0">
                <a:solidFill>
                  <a:schemeClr val="tx1"/>
                </a:solidFill>
              </a:rPr>
              <a:t>Conflicting views within the community</a:t>
            </a:r>
          </a:p>
          <a:p>
            <a:r>
              <a:rPr lang="en-AU" dirty="0">
                <a:solidFill>
                  <a:schemeClr val="tx1"/>
                </a:solidFill>
              </a:rPr>
              <a:t>Economic viability</a:t>
            </a:r>
          </a:p>
          <a:p>
            <a:r>
              <a:rPr lang="en-AU" dirty="0">
                <a:solidFill>
                  <a:schemeClr val="tx1"/>
                </a:solidFill>
              </a:rPr>
              <a:t>Public debate</a:t>
            </a:r>
          </a:p>
          <a:p>
            <a:r>
              <a:rPr lang="en-AU" dirty="0">
                <a:solidFill>
                  <a:schemeClr val="tx1"/>
                </a:solidFill>
              </a:rPr>
              <a:t>Constitutional restrictions</a:t>
            </a:r>
          </a:p>
          <a:p>
            <a:r>
              <a:rPr lang="en-AU" dirty="0">
                <a:solidFill>
                  <a:schemeClr val="tx1"/>
                </a:solidFill>
              </a:rPr>
              <a:t>A hostile upper house</a:t>
            </a:r>
          </a:p>
          <a:p>
            <a:r>
              <a:rPr lang="en-AU" dirty="0">
                <a:solidFill>
                  <a:schemeClr val="tx1"/>
                </a:solidFill>
              </a:rPr>
              <a:t>Outdated legislation</a:t>
            </a:r>
          </a:p>
          <a:p>
            <a:r>
              <a:rPr lang="en-AU" dirty="0">
                <a:solidFill>
                  <a:schemeClr val="tx1"/>
                </a:solidFill>
              </a:rPr>
              <a:t>Lack of time</a:t>
            </a:r>
          </a:p>
        </p:txBody>
      </p:sp>
      <p:sp>
        <p:nvSpPr>
          <p:cNvPr id="4" name="TextBox 3">
            <a:extLst>
              <a:ext uri="{FF2B5EF4-FFF2-40B4-BE49-F238E27FC236}">
                <a16:creationId xmlns:a16="http://schemas.microsoft.com/office/drawing/2014/main" id="{CA8D645F-0FBD-4B03-8AE2-A0FABB366BC8}"/>
              </a:ext>
            </a:extLst>
          </p:cNvPr>
          <p:cNvSpPr txBox="1"/>
          <p:nvPr/>
        </p:nvSpPr>
        <p:spPr>
          <a:xfrm>
            <a:off x="8494643" y="5107562"/>
            <a:ext cx="2517913" cy="1477328"/>
          </a:xfrm>
          <a:prstGeom prst="rect">
            <a:avLst/>
          </a:prstGeom>
          <a:noFill/>
          <a:ln>
            <a:solidFill>
              <a:schemeClr val="accent1"/>
            </a:solidFill>
          </a:ln>
        </p:spPr>
        <p:txBody>
          <a:bodyPr wrap="square" rtlCol="0">
            <a:spAutoFit/>
          </a:bodyPr>
          <a:lstStyle/>
          <a:p>
            <a:r>
              <a:rPr lang="en-AU" dirty="0"/>
              <a:t>CFU:</a:t>
            </a:r>
          </a:p>
          <a:p>
            <a:r>
              <a:rPr lang="en-AU" dirty="0"/>
              <a:t>What are some of the restrictions parliaments have on making laws?</a:t>
            </a:r>
          </a:p>
        </p:txBody>
      </p:sp>
      <p:sp>
        <p:nvSpPr>
          <p:cNvPr id="5" name="TextBox 4">
            <a:extLst>
              <a:ext uri="{FF2B5EF4-FFF2-40B4-BE49-F238E27FC236}">
                <a16:creationId xmlns:a16="http://schemas.microsoft.com/office/drawing/2014/main" id="{2A2003B6-2B2D-45E6-BA57-8FE53A5359B5}"/>
              </a:ext>
            </a:extLst>
          </p:cNvPr>
          <p:cNvSpPr txBox="1"/>
          <p:nvPr/>
        </p:nvSpPr>
        <p:spPr>
          <a:xfrm>
            <a:off x="8494643" y="3167270"/>
            <a:ext cx="3220279" cy="1754326"/>
          </a:xfrm>
          <a:prstGeom prst="rect">
            <a:avLst/>
          </a:prstGeom>
          <a:noFill/>
          <a:ln>
            <a:solidFill>
              <a:schemeClr val="accent1"/>
            </a:solidFill>
          </a:ln>
        </p:spPr>
        <p:txBody>
          <a:bodyPr wrap="square" rtlCol="0">
            <a:spAutoFit/>
          </a:bodyPr>
          <a:lstStyle/>
          <a:p>
            <a:r>
              <a:rPr lang="en-AU" dirty="0"/>
              <a:t>Vocabulary:</a:t>
            </a:r>
          </a:p>
          <a:p>
            <a:r>
              <a:rPr lang="en-AU" dirty="0"/>
              <a:t>Viability – the capacity to operate or be sustained</a:t>
            </a:r>
          </a:p>
          <a:p>
            <a:r>
              <a:rPr lang="en-AU" dirty="0"/>
              <a:t>Hostile – showing or feeling opposition or dislike; unfriendly.</a:t>
            </a:r>
          </a:p>
        </p:txBody>
      </p:sp>
      <p:sp>
        <p:nvSpPr>
          <p:cNvPr id="6" name="Subtitle 2">
            <a:extLst>
              <a:ext uri="{FF2B5EF4-FFF2-40B4-BE49-F238E27FC236}">
                <a16:creationId xmlns:a16="http://schemas.microsoft.com/office/drawing/2014/main" id="{496C5456-E96D-4934-9308-76DCDD52667E}"/>
              </a:ext>
            </a:extLst>
          </p:cNvPr>
          <p:cNvSpPr txBox="1">
            <a:spLocks/>
          </p:cNvSpPr>
          <p:nvPr/>
        </p:nvSpPr>
        <p:spPr>
          <a:xfrm>
            <a:off x="311568" y="6397757"/>
            <a:ext cx="6930743" cy="336228"/>
          </a:xfrm>
          <a:prstGeom prst="rect">
            <a:avLst/>
          </a:prstGeom>
          <a:ln>
            <a:solidFill>
              <a:schemeClr val="tx1">
                <a:lumMod val="95000"/>
                <a:lumOff val="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AU" sz="1400" dirty="0"/>
              <a:t>Learning objective: Identify and describe how statutory laws are made.</a:t>
            </a:r>
          </a:p>
        </p:txBody>
      </p:sp>
    </p:spTree>
    <p:extLst>
      <p:ext uri="{BB962C8B-B14F-4D97-AF65-F5344CB8AC3E}">
        <p14:creationId xmlns:p14="http://schemas.microsoft.com/office/powerpoint/2010/main" val="179113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anim calcmode="lin" valueType="num">
                                      <p:cBhvr additive="base">
                                        <p:cTn id="55" dur="500" fill="hold"/>
                                        <p:tgtEl>
                                          <p:spTgt spid="5"/>
                                        </p:tgtEl>
                                        <p:attrNameLst>
                                          <p:attrName>ppt_x</p:attrName>
                                        </p:attrNameLst>
                                      </p:cBhvr>
                                      <p:tavLst>
                                        <p:tav tm="0">
                                          <p:val>
                                            <p:strVal val="#ppt_x"/>
                                          </p:val>
                                        </p:tav>
                                        <p:tav tm="100000">
                                          <p:val>
                                            <p:strVal val="#ppt_x"/>
                                          </p:val>
                                        </p:tav>
                                      </p:tavLst>
                                    </p:anim>
                                    <p:anim calcmode="lin" valueType="num">
                                      <p:cBhvr additive="base">
                                        <p:cTn id="5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docProps/app.xml><?xml version="1.0" encoding="utf-8"?>
<Properties xmlns="http://schemas.openxmlformats.org/officeDocument/2006/extended-properties" xmlns:vt="http://schemas.openxmlformats.org/officeDocument/2006/docPropsVTypes">
  <Template>Ion Boardroom</Template>
  <TotalTime>504</TotalTime>
  <Words>2457</Words>
  <Application>Microsoft Office PowerPoint</Application>
  <PresentationFormat>Widescreen</PresentationFormat>
  <Paragraphs>190</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Arial</vt:lpstr>
      <vt:lpstr>Century Gothic</vt:lpstr>
      <vt:lpstr>HelloGeorgeII</vt:lpstr>
      <vt:lpstr>Wingdings 3</vt:lpstr>
      <vt:lpstr>Ion Boardroom</vt:lpstr>
      <vt:lpstr>PowerPoint Presentation</vt:lpstr>
      <vt:lpstr>Statutory law</vt:lpstr>
      <vt:lpstr>PowerPoint Presentation</vt:lpstr>
      <vt:lpstr>PowerPoint Presentation</vt:lpstr>
      <vt:lpstr>Different types of bills</vt:lpstr>
      <vt:lpstr>PowerPoint Presentation</vt:lpstr>
      <vt:lpstr>Health Care (Appropriation) Amendment Bill 2002</vt:lpstr>
      <vt:lpstr>PowerPoint Presentation</vt:lpstr>
      <vt:lpstr>PowerPoint Presentation</vt:lpstr>
      <vt:lpstr>Example Private Members bill</vt:lpstr>
      <vt:lpstr>PowerPoint Presentation</vt:lpstr>
      <vt:lpstr>Pressures for change</vt:lpstr>
      <vt:lpstr>Pressures for change</vt:lpstr>
      <vt:lpstr>Parliamentary committees</vt:lpstr>
      <vt:lpstr>Role of cabinet and ministers</vt:lpstr>
      <vt:lpstr>PowerPoint Presentation</vt:lpstr>
      <vt:lpstr>PowerPoint Presentation</vt:lpstr>
      <vt:lpstr>Drafting legislation</vt:lpstr>
      <vt:lpstr>PowerPoint Presentation</vt:lpstr>
      <vt:lpstr>Process of a bill through parliament</vt:lpstr>
      <vt:lpstr>PowerPoint Presentation</vt:lpstr>
      <vt:lpstr>Restrictions on law-making by parliament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of Law</dc:title>
  <dc:creator>gemma berrill</dc:creator>
  <cp:lastModifiedBy>gemma berrill</cp:lastModifiedBy>
  <cp:revision>88</cp:revision>
  <dcterms:created xsi:type="dcterms:W3CDTF">2018-04-10T02:11:40Z</dcterms:created>
  <dcterms:modified xsi:type="dcterms:W3CDTF">2018-06-27T10:56:33Z</dcterms:modified>
</cp:coreProperties>
</file>
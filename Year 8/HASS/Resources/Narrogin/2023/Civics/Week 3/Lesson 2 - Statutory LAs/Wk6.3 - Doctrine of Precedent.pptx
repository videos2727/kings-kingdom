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9" r:id="rId11"/>
    <p:sldId id="264" r:id="rId12"/>
    <p:sldId id="265" r:id="rId13"/>
    <p:sldId id="270" r:id="rId14"/>
    <p:sldId id="266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610" autoAdjust="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activeX1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2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3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4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5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6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7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8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9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0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1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2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470D4-55D5-4100-861E-01155ABB89F9}" type="datetimeFigureOut">
              <a:rPr lang="en-AU" smtClean="0"/>
              <a:t>17/11/2020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B74B6-C8FE-4D9E-A0B1-649E6B0CE0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283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Image sourced from Lawgovpol.com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B74B6-C8FE-4D9E-A0B1-649E6B0CE0A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5516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B74B6-C8FE-4D9E-A0B1-649E6B0CE0A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521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Image and text sourced from https://unistuff977075235.wordpress.com/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B74B6-C8FE-4D9E-A0B1-649E6B0CE0AF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291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2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8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3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3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2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2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9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3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4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3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2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2.xml"/><Relationship Id="rId7" Type="http://schemas.openxmlformats.org/officeDocument/2006/relationships/image" Target="../media/image4.wmf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control" Target="../activeX/activeX4.xml"/><Relationship Id="rId4" Type="http://schemas.openxmlformats.org/officeDocument/2006/relationships/control" Target="../activeX/activeX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6.xml"/><Relationship Id="rId7" Type="http://schemas.openxmlformats.org/officeDocument/2006/relationships/image" Target="../media/image4.wmf"/><Relationship Id="rId2" Type="http://schemas.openxmlformats.org/officeDocument/2006/relationships/control" Target="../activeX/activeX5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control" Target="../activeX/activeX8.xml"/><Relationship Id="rId4" Type="http://schemas.openxmlformats.org/officeDocument/2006/relationships/control" Target="../activeX/activeX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10.xml"/><Relationship Id="rId7" Type="http://schemas.openxmlformats.org/officeDocument/2006/relationships/image" Target="../media/image5.wmf"/><Relationship Id="rId2" Type="http://schemas.openxmlformats.org/officeDocument/2006/relationships/control" Target="../activeX/activeX9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control" Target="../activeX/activeX12.xml"/><Relationship Id="rId4" Type="http://schemas.openxmlformats.org/officeDocument/2006/relationships/control" Target="../activeX/activeX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031EA4A4-5D79-4817-B146-24029A2F3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46F6A-C009-4993-8F3D-F2AB9F0FC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3977640" cy="3204134"/>
          </a:xfrm>
        </p:spPr>
        <p:txBody>
          <a:bodyPr anchor="b">
            <a:normAutofit/>
          </a:bodyPr>
          <a:lstStyle/>
          <a:p>
            <a:r>
              <a:rPr lang="en-AU" sz="4800" dirty="0"/>
              <a:t>Doctrine of Precedent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301E2-D795-4645-8E79-CA3AAFB89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3977640" cy="1208141"/>
          </a:xfrm>
        </p:spPr>
        <p:txBody>
          <a:bodyPr>
            <a:normAutofit/>
          </a:bodyPr>
          <a:lstStyle/>
          <a:p>
            <a:endParaRPr lang="en-AU" sz="2000"/>
          </a:p>
        </p:txBody>
      </p:sp>
      <p:pic>
        <p:nvPicPr>
          <p:cNvPr id="15" name="Picture 3" descr="A close up of a building&#10;&#10;Description automatically generated">
            <a:extLst>
              <a:ext uri="{FF2B5EF4-FFF2-40B4-BE49-F238E27FC236}">
                <a16:creationId xmlns:a16="http://schemas.microsoft.com/office/drawing/2014/main" id="{FAC186CF-2B33-48B4-AD35-994AAF13A1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02" r="14951" b="-1"/>
          <a:stretch/>
        </p:blipFill>
        <p:spPr>
          <a:xfrm>
            <a:off x="20" y="10"/>
            <a:ext cx="7443196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67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7322-0DDB-4201-8C0A-2FF82267D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4607315" cy="1179576"/>
          </a:xfrm>
        </p:spPr>
        <p:txBody>
          <a:bodyPr>
            <a:normAutofit fontScale="90000"/>
          </a:bodyPr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C386-E5D3-4FE7-AEDB-A462A7E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4607315" cy="3694176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E3A266-85D5-4748-B408-73961444BBD8}"/>
              </a:ext>
            </a:extLst>
          </p:cNvPr>
          <p:cNvSpPr txBox="1">
            <a:spLocks/>
          </p:cNvSpPr>
          <p:nvPr/>
        </p:nvSpPr>
        <p:spPr>
          <a:xfrm>
            <a:off x="6469119" y="548640"/>
            <a:ext cx="4607315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151516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EFA-80FC-49E8-9B4B-2EA5475C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Role of the Judge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4D58-7254-4080-8746-D2E788B0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New and unusual cases come up in Australian courts every day and sometimes the parliament made, statutory law is not clear about how a particular case should be dealt with.</a:t>
            </a:r>
          </a:p>
          <a:p>
            <a:pPr marL="0" indent="0">
              <a:buNone/>
            </a:pPr>
            <a:r>
              <a:rPr lang="en-AU" dirty="0"/>
              <a:t>So a judge from a superior court must make a decision on how to resolve the issue in a fair and just way.</a:t>
            </a:r>
          </a:p>
          <a:p>
            <a:pPr marL="0" indent="0">
              <a:buNone/>
            </a:pPr>
            <a:r>
              <a:rPr lang="en-AU" dirty="0"/>
              <a:t>This decision sets a </a:t>
            </a:r>
            <a:r>
              <a:rPr lang="en-AU" b="1" dirty="0"/>
              <a:t>precedent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072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3" name="Freeform: Shape 72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B84E1-704E-4F5E-9854-FDC0A314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AU" sz="2800" dirty="0"/>
              <a:t>What is a </a:t>
            </a:r>
            <a:r>
              <a:rPr lang="en-AU" sz="2800" b="1" dirty="0"/>
              <a:t>Precedent</a:t>
            </a:r>
            <a:r>
              <a:rPr lang="en-AU" sz="2800" dirty="0"/>
              <a:t>?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1F689-9D2B-47B8-B938-E7FE8DD9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AU" dirty="0"/>
              <a:t>A precedent means that any similar cases in the future should be dealt with in the same way.</a:t>
            </a:r>
          </a:p>
          <a:p>
            <a:pPr marL="0" indent="0">
              <a:buNone/>
            </a:pPr>
            <a:endParaRPr lang="en-AU" sz="1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3E0CB5-9F5D-4357-95E7-CA14D764C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18054" y="843533"/>
            <a:ext cx="6683765" cy="528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430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DAB9-EB59-4F98-8064-0507AA6E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Understanding Precedent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5C581-02D2-4A0F-8B7C-662CB094D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2207941"/>
            <a:ext cx="10615515" cy="42597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To understand the system of precent, think about these school incidents.</a:t>
            </a:r>
          </a:p>
          <a:p>
            <a:pPr marL="0" indent="0">
              <a:buNone/>
            </a:pPr>
            <a:endParaRPr lang="en-AU" dirty="0"/>
          </a:p>
          <a:p>
            <a:pPr marL="1338263" indent="-1338263">
              <a:buNone/>
            </a:pPr>
            <a:r>
              <a:rPr lang="en-AU" b="1" dirty="0"/>
              <a:t>Case 1: </a:t>
            </a:r>
            <a:r>
              <a:rPr lang="en-AU" dirty="0"/>
              <a:t>You arrive late to school because you slept in. Your teacher gives you detention.</a:t>
            </a:r>
          </a:p>
          <a:p>
            <a:pPr marL="0" indent="0">
              <a:buNone/>
            </a:pPr>
            <a:endParaRPr lang="en-AU" dirty="0"/>
          </a:p>
          <a:p>
            <a:pPr marL="1338263" indent="-1338263">
              <a:buNone/>
            </a:pPr>
            <a:r>
              <a:rPr lang="en-AU" b="1" dirty="0"/>
              <a:t>Case 2: </a:t>
            </a:r>
            <a:r>
              <a:rPr lang="en-AU" dirty="0"/>
              <a:t>Your friend arrives late to school because she slept in. The teacher uses case 1 as a precedent.</a:t>
            </a:r>
          </a:p>
        </p:txBody>
      </p:sp>
    </p:spTree>
    <p:extLst>
      <p:ext uri="{BB962C8B-B14F-4D97-AF65-F5344CB8AC3E}">
        <p14:creationId xmlns:p14="http://schemas.microsoft.com/office/powerpoint/2010/main" val="378975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7427-245A-44D5-ACC4-1F438AF6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 1.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6D908-EA5A-44AA-BFCD-FA8CC5F37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Should the teacher give your friend a detention?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4050070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633F-5B79-42E6-8175-14251612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07C7-66AB-4B3A-AFFB-C2AD0D54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These are the same circumstances, so the decision should be consistent.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GIVE A DETENTION.</a:t>
            </a:r>
          </a:p>
        </p:txBody>
      </p:sp>
    </p:spTree>
    <p:extLst>
      <p:ext uri="{BB962C8B-B14F-4D97-AF65-F5344CB8AC3E}">
        <p14:creationId xmlns:p14="http://schemas.microsoft.com/office/powerpoint/2010/main" val="224892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CCE7-2F07-4FCB-864F-225AF595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Case 3:</a:t>
            </a:r>
            <a:r>
              <a:rPr lang="en-AU" dirty="0"/>
              <a:t>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400A7-83E0-46EB-B4C8-23D07256B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Your friend arrives late the next day because the school bus broke down.</a:t>
            </a:r>
          </a:p>
        </p:txBody>
      </p:sp>
    </p:spTree>
    <p:extLst>
      <p:ext uri="{BB962C8B-B14F-4D97-AF65-F5344CB8AC3E}">
        <p14:creationId xmlns:p14="http://schemas.microsoft.com/office/powerpoint/2010/main" val="175981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06D1-1477-457B-AB62-F6984CC0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Question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1BC47-4990-48D8-B9EB-9A60EEC09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Should the teacher use Case 1 and Case 2 as precedents and give a detention? Why?</a:t>
            </a:r>
          </a:p>
        </p:txBody>
      </p:sp>
    </p:spTree>
    <p:extLst>
      <p:ext uri="{BB962C8B-B14F-4D97-AF65-F5344CB8AC3E}">
        <p14:creationId xmlns:p14="http://schemas.microsoft.com/office/powerpoint/2010/main" val="336904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AFA0C-CCC9-483F-AE8B-ED88CFAA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EE5E-7DF2-434C-846F-4DF5AB387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This is different because it was not the student’s fault. </a:t>
            </a:r>
          </a:p>
          <a:p>
            <a:pPr marL="0" indent="0">
              <a:buNone/>
            </a:pPr>
            <a:r>
              <a:rPr lang="en-AU" dirty="0"/>
              <a:t>Cases 1 and 2 are not precedents for Case 3.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NO DETENTION.</a:t>
            </a:r>
          </a:p>
        </p:txBody>
      </p:sp>
    </p:spTree>
    <p:extLst>
      <p:ext uri="{BB962C8B-B14F-4D97-AF65-F5344CB8AC3E}">
        <p14:creationId xmlns:p14="http://schemas.microsoft.com/office/powerpoint/2010/main" val="835571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DCD4-695C-45C9-9145-B5FC54C2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Case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E54F-E115-4BB3-8A4A-FA03CCAE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are your friend arrive late because you thought the bus was still broken down (but it had been fixed), so you just took your time to get there.</a:t>
            </a:r>
          </a:p>
        </p:txBody>
      </p:sp>
    </p:spTree>
    <p:extLst>
      <p:ext uri="{BB962C8B-B14F-4D97-AF65-F5344CB8AC3E}">
        <p14:creationId xmlns:p14="http://schemas.microsoft.com/office/powerpoint/2010/main" val="234809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387B-7F90-4FE5-9C68-78C78A2C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Question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4DBC-FD82-4AC7-81E4-7F3505AF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Are Cases 1, 2 or 3 precedents for this situation?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Should the teacher give you a detention?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896182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7C32-A580-401B-BED2-ADCEBFB9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24F3-3943-4BE4-B9EE-235DCDB59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Cases 1 and 2 are precedents because being late was your fault.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DETENTION</a:t>
            </a:r>
          </a:p>
        </p:txBody>
      </p:sp>
    </p:spTree>
    <p:extLst>
      <p:ext uri="{BB962C8B-B14F-4D97-AF65-F5344CB8AC3E}">
        <p14:creationId xmlns:p14="http://schemas.microsoft.com/office/powerpoint/2010/main" val="2403416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775E-C6FA-403B-B199-AFC6939A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Case 5: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9469-898E-4BE8-A52E-7241ED97F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leave school early because you are bored with school.</a:t>
            </a:r>
          </a:p>
        </p:txBody>
      </p:sp>
    </p:spTree>
    <p:extLst>
      <p:ext uri="{BB962C8B-B14F-4D97-AF65-F5344CB8AC3E}">
        <p14:creationId xmlns:p14="http://schemas.microsoft.com/office/powerpoint/2010/main" val="404907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F0332-BFD7-4207-A0A9-B505E547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Question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8484-E144-46D4-A7CB-DEB2C087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Can Case 1 be used as a precedent for deciding whether or not to give you a detention?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606337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D5F5-37A6-4AD9-A390-E24B1C1F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1F4D7-9530-471A-90CE-BB82CE541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Case 1 is a precedent, because it and this case are both about you not being at school through your own faut.  It does not matter that Case 1 is about arriving late ad Case 5 is about leaving early as the principles is the same.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DETENTION</a:t>
            </a:r>
          </a:p>
        </p:txBody>
      </p:sp>
    </p:spTree>
    <p:extLst>
      <p:ext uri="{BB962C8B-B14F-4D97-AF65-F5344CB8AC3E}">
        <p14:creationId xmlns:p14="http://schemas.microsoft.com/office/powerpoint/2010/main" val="2342982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6CBC-7353-4EBD-8638-A6F36CCF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How does this relate to Common Law?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11D25-1D46-429F-955D-B1AD15C37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63" y="2388814"/>
            <a:ext cx="11172184" cy="3694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Among other things, judges look at cases from the past that are similar in facts or principle to make decisions about penalty. A judge is a theft case might make a decision based on a case that happened hundreds of years ago.  </a:t>
            </a:r>
          </a:p>
          <a:p>
            <a:pPr marL="0" indent="0">
              <a:buNone/>
            </a:pPr>
            <a:r>
              <a:rPr lang="en-AU" dirty="0"/>
              <a:t>Alternatively, although the facts are similar – for example, both cases might involve stealing a loaf of bread – the judge may decide that different conditions in society then and now mean that today’s case should not be decided in the same way.</a:t>
            </a:r>
          </a:p>
        </p:txBody>
      </p:sp>
    </p:spTree>
    <p:extLst>
      <p:ext uri="{BB962C8B-B14F-4D97-AF65-F5344CB8AC3E}">
        <p14:creationId xmlns:p14="http://schemas.microsoft.com/office/powerpoint/2010/main" val="4193567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E05C-D384-4B2A-A4C3-9151FBCA7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Common law is the law developed by judges over time, based on decisions in previous cases.  </a:t>
            </a:r>
          </a:p>
          <a:p>
            <a:pPr marL="0" indent="0">
              <a:buNone/>
            </a:pPr>
            <a:r>
              <a:rPr lang="en-AU" dirty="0"/>
              <a:t>These decisions are recorded in special law report books to which lawyers can refer to argue their cases and judges can refer to make their decisions. </a:t>
            </a:r>
          </a:p>
          <a:p>
            <a:pPr marL="0" indent="0">
              <a:buNone/>
            </a:pPr>
            <a:r>
              <a:rPr lang="en-AU" dirty="0"/>
              <a:t>It is only the decisions of the highest and most important courts that are recorded and referred to in this way.</a:t>
            </a:r>
          </a:p>
        </p:txBody>
      </p:sp>
    </p:spTree>
    <p:extLst>
      <p:ext uri="{BB962C8B-B14F-4D97-AF65-F5344CB8AC3E}">
        <p14:creationId xmlns:p14="http://schemas.microsoft.com/office/powerpoint/2010/main" val="1429342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366CE2-1632-4664-A278-8F6E214E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19175"/>
            <a:ext cx="5648325" cy="4819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7F2204-8E55-46E6-998C-CA823FB10E28}"/>
              </a:ext>
            </a:extLst>
          </p:cNvPr>
          <p:cNvSpPr txBox="1"/>
          <p:nvPr/>
        </p:nvSpPr>
        <p:spPr>
          <a:xfrm>
            <a:off x="447675" y="1659285"/>
            <a:ext cx="515023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0" i="0" dirty="0">
                <a:solidFill>
                  <a:srgbClr val="111111"/>
                </a:solidFill>
                <a:effectLst/>
                <a:latin typeface="NonBreakingSpaceOverride"/>
              </a:rPr>
              <a:t>The court’s version or interpretation of the law is the ratio decidendi (the reason behind the decision) and binding direction for future judges; the expectation means that lower courts follow the binding precedent based on the reasoning of higher court decisions.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736961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64B7-C092-4278-BD26-BE2FF17D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Which of the following best describes the legal system of Australia?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DDFA54-121E-4DF1-AA5F-1ACA5EAA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68" y="2492931"/>
            <a:ext cx="7720383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Appeals flow down and precedents flow up.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Precedents are initiated by parliament.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Precedents flow down and appeals flow up.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Appeals are only heard by the Federal Court.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70" name="HTMLOption1" r:id="rId2" imgW="1371600" imgH="304920"/>
        </mc:Choice>
        <mc:Fallback>
          <p:control name="HTMLOption1" r:id="rId2" imgW="1371600" imgH="304920">
            <p:pic>
              <p:nvPicPr>
                <p:cNvPr id="5" name="HTMLOption1">
                  <a:extLst>
                    <a:ext uri="{FF2B5EF4-FFF2-40B4-BE49-F238E27FC236}">
                      <a16:creationId xmlns:a16="http://schemas.microsoft.com/office/drawing/2014/main" id="{E37763ED-740C-4E0D-BBB6-8689948D7510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1" name="HTMLOption2" r:id="rId3" imgW="1371600" imgH="304920"/>
        </mc:Choice>
        <mc:Fallback>
          <p:control name="HTMLOption2" r:id="rId3" imgW="1371600" imgH="304920">
            <p:pic>
              <p:nvPicPr>
                <p:cNvPr id="6" name="HTMLOption2">
                  <a:extLst>
                    <a:ext uri="{FF2B5EF4-FFF2-40B4-BE49-F238E27FC236}">
                      <a16:creationId xmlns:a16="http://schemas.microsoft.com/office/drawing/2014/main" id="{393A7429-724D-454B-B779-0555FA5043FA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2" name="HTMLOption3" r:id="rId4" imgW="1371600" imgH="304920"/>
        </mc:Choice>
        <mc:Fallback>
          <p:control name="HTMLOption3" r:id="rId4" imgW="1371600" imgH="304920">
            <p:pic>
              <p:nvPicPr>
                <p:cNvPr id="7" name="HTMLOption3">
                  <a:extLst>
                    <a:ext uri="{FF2B5EF4-FFF2-40B4-BE49-F238E27FC236}">
                      <a16:creationId xmlns:a16="http://schemas.microsoft.com/office/drawing/2014/main" id="{B5FA81FD-BBEA-438B-8AEE-9D89FE2FEDBE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073" name="HTMLOption4" r:id="rId5" imgW="1371600" imgH="304920"/>
        </mc:Choice>
        <mc:Fallback>
          <p:control name="HTMLOption4" r:id="rId5" imgW="1371600" imgH="304920">
            <p:pic>
              <p:nvPicPr>
                <p:cNvPr id="8" name="HTMLOption4">
                  <a:extLst>
                    <a:ext uri="{FF2B5EF4-FFF2-40B4-BE49-F238E27FC236}">
                      <a16:creationId xmlns:a16="http://schemas.microsoft.com/office/drawing/2014/main" id="{CA9A83A5-B58C-4798-AF2D-9F62D3B16C1F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415547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64B7-C092-4278-BD26-BE2FF17D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Which of the following best describes the legal system of Australia?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DDFA54-121E-4DF1-AA5F-1ACA5EAA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68" y="2492931"/>
            <a:ext cx="7720383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Appeals flow down and precedents flow up.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Precedents are initiated by parliament.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Precedents flow down and appeals flow up.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Appeals are only heard by the Federal Court.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217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4F6C-1E2D-4D80-B510-BA6C11EA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What is the meaning of ‘on the balance of probabilities’?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64CCAC-64F6-453E-B52C-FDD3E74F8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79" y="2273617"/>
            <a:ext cx="1125070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judge believes that there is sufficient evidence to show that it is likely the defendant harmed the plaintiff in some way.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It is believed that the plaintiff is guilty beyond reasonable doubt of the accusations against them.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jury has convicted the accused based on the evidence presented to them by the prosecution.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offender is more than likely to re-offend and imprisonment is the best option for sentencing and providing compensation.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15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4F6C-1E2D-4D80-B510-BA6C11EA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What is the meaning of ‘on the balance of probabilities’?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64CCAC-64F6-453E-B52C-FDD3E74F8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79" y="2273617"/>
            <a:ext cx="1125070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The judge believes that there is sufficient evidence to show that it is likely the defendant harmed the plaintiff in some way.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It is believed that the plaintiff is guilty beyond reasonable doubt of the accusations against them.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jury has convicted the accused based on the evidence presented to them by the prosecution.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offender is more than likely to re-offend and imprisonment is the best option for sentencing and providing compensation.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315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BAC2-9683-4AA5-979D-72E8D287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What is meant by the phrase ‘the punishment must fit the crime’?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7AC54B-1039-4E21-8F8D-96E0F7616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26" y="2547261"/>
            <a:ext cx="11071411" cy="40010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plaintiff must pay just compensation for their actions.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Offenders have to go to jail for justice to be done.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sentence of the court should not be too harsh nor too lenient.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defendant must attend mediation before going to court.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56D78"/>
                </a:solidFill>
                <a:effectLst/>
                <a:latin typeface="Source Sans Pro" panose="020B0503030403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134" name="HTMLOption1" r:id="rId2" imgW="1371600" imgH="304920"/>
        </mc:Choice>
        <mc:Fallback>
          <p:control name="HTMLOption1" r:id="rId2" imgW="1371600" imgH="304920">
            <p:pic>
              <p:nvPicPr>
                <p:cNvPr id="5" name="HTMLOption1">
                  <a:extLst>
                    <a:ext uri="{FF2B5EF4-FFF2-40B4-BE49-F238E27FC236}">
                      <a16:creationId xmlns:a16="http://schemas.microsoft.com/office/drawing/2014/main" id="{CF2E95C1-EB67-442A-A32D-0EB7A383E8DE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135" name="HTMLOption2" r:id="rId3" imgW="1371600" imgH="304920"/>
        </mc:Choice>
        <mc:Fallback>
          <p:control name="HTMLOption2" r:id="rId3" imgW="1371600" imgH="304920">
            <p:pic>
              <p:nvPicPr>
                <p:cNvPr id="6" name="HTMLOption2">
                  <a:extLst>
                    <a:ext uri="{FF2B5EF4-FFF2-40B4-BE49-F238E27FC236}">
                      <a16:creationId xmlns:a16="http://schemas.microsoft.com/office/drawing/2014/main" id="{9FD7D787-D927-4575-8AA8-241FAF15973A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136" name="HTMLOption3" r:id="rId4" imgW="1371600" imgH="304920"/>
        </mc:Choice>
        <mc:Fallback>
          <p:control name="HTMLOption3" r:id="rId4" imgW="1371600" imgH="304920">
            <p:pic>
              <p:nvPicPr>
                <p:cNvPr id="7" name="HTMLOption3">
                  <a:extLst>
                    <a:ext uri="{FF2B5EF4-FFF2-40B4-BE49-F238E27FC236}">
                      <a16:creationId xmlns:a16="http://schemas.microsoft.com/office/drawing/2014/main" id="{7B223011-359F-46FE-81E1-675F94A1A85A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137" name="HTMLOption4" r:id="rId5" imgW="1371600" imgH="304920"/>
        </mc:Choice>
        <mc:Fallback>
          <p:control name="HTMLOption4" r:id="rId5" imgW="1371600" imgH="304920">
            <p:pic>
              <p:nvPicPr>
                <p:cNvPr id="8" name="HTMLOption4">
                  <a:extLst>
                    <a:ext uri="{FF2B5EF4-FFF2-40B4-BE49-F238E27FC236}">
                      <a16:creationId xmlns:a16="http://schemas.microsoft.com/office/drawing/2014/main" id="{ABE66686-A90B-4562-8481-2B92FE491689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350759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BAC2-9683-4AA5-979D-72E8D287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What is meant by the phrase ‘the punishment must fit the crime’?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7AC54B-1039-4E21-8F8D-96E0F7616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26" y="2547261"/>
            <a:ext cx="11071411" cy="40010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plaintiff must pay just compensation for their actions.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Offenders have to go to jail for justice to be done.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The sentence of the court should not be too harsh nor too lenient.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 defendant must attend mediation before going to court.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56D78"/>
                </a:solidFill>
                <a:effectLst/>
                <a:latin typeface="Source Sans Pro" panose="020B0503030403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7178" name="HTMLOption1" r:id="rId2" imgW="257040" imgH="304920"/>
        </mc:Choice>
        <mc:Fallback>
          <p:control name="HTMLOption1" r:id="rId2" imgW="257040" imgH="304920">
            <p:pic>
              <p:nvPicPr>
                <p:cNvPr id="5" name="HTMLOption1">
                  <a:extLst>
                    <a:ext uri="{FF2B5EF4-FFF2-40B4-BE49-F238E27FC236}">
                      <a16:creationId xmlns:a16="http://schemas.microsoft.com/office/drawing/2014/main" id="{CF2E95C1-EB67-442A-A32D-0EB7A383E8DE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179" name="HTMLOption2" r:id="rId3" imgW="257040" imgH="304920"/>
        </mc:Choice>
        <mc:Fallback>
          <p:control name="HTMLOption2" r:id="rId3" imgW="257040" imgH="304920">
            <p:pic>
              <p:nvPicPr>
                <p:cNvPr id="6" name="HTMLOption2">
                  <a:extLst>
                    <a:ext uri="{FF2B5EF4-FFF2-40B4-BE49-F238E27FC236}">
                      <a16:creationId xmlns:a16="http://schemas.microsoft.com/office/drawing/2014/main" id="{9FD7D787-D927-4575-8AA8-241FAF15973A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180" name="HTMLOption3" r:id="rId4" imgW="257040" imgH="304920"/>
        </mc:Choice>
        <mc:Fallback>
          <p:control name="HTMLOption3" r:id="rId4" imgW="257040" imgH="304920">
            <p:pic>
              <p:nvPicPr>
                <p:cNvPr id="7" name="HTMLOption3">
                  <a:extLst>
                    <a:ext uri="{FF2B5EF4-FFF2-40B4-BE49-F238E27FC236}">
                      <a16:creationId xmlns:a16="http://schemas.microsoft.com/office/drawing/2014/main" id="{7B223011-359F-46FE-81E1-675F94A1A85A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181" name="HTMLOption4" r:id="rId5" imgW="257040" imgH="304920"/>
        </mc:Choice>
        <mc:Fallback>
          <p:control name="HTMLOption4" r:id="rId5" imgW="257040" imgH="304920">
            <p:pic>
              <p:nvPicPr>
                <p:cNvPr id="8" name="HTMLOption4">
                  <a:extLst>
                    <a:ext uri="{FF2B5EF4-FFF2-40B4-BE49-F238E27FC236}">
                      <a16:creationId xmlns:a16="http://schemas.microsoft.com/office/drawing/2014/main" id="{ABE66686-A90B-4562-8481-2B92FE491689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352603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0AAA-7456-4F48-9A33-B0DE0CB3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Which of the following is </a:t>
            </a:r>
            <a:r>
              <a:rPr lang="en-US" altLang="en-US" i="1" dirty="0">
                <a:solidFill>
                  <a:srgbClr val="434A54"/>
                </a:solidFill>
                <a:latin typeface="Source Sans Pro" panose="020B0503030403020204" pitchFamily="34" charset="0"/>
              </a:rPr>
              <a:t>not</a:t>
            </a:r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 an example of a civil dispute?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A2A0B2-71BD-45B9-9E7C-8134EB7A4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510" y="2807172"/>
            <a:ext cx="10941269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throwing a brick through a shop window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not following through on an agreement to buy a car</a:t>
            </a:r>
          </a:p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writing a blog which includes falsehoods about a person or their character</a:t>
            </a:r>
          </a:p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leaving electrical wiring exposed without leaving appropriate warning signs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13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0AAA-7456-4F48-9A33-B0DE0CB3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Which of the following is </a:t>
            </a:r>
            <a:r>
              <a:rPr lang="en-US" altLang="en-US" i="1" dirty="0">
                <a:solidFill>
                  <a:srgbClr val="434A54"/>
                </a:solidFill>
                <a:latin typeface="Source Sans Pro" panose="020B0503030403020204" pitchFamily="34" charset="0"/>
              </a:rPr>
              <a:t>not</a:t>
            </a:r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 an example of a civil dispute?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A2A0B2-71BD-45B9-9E7C-8134EB7A4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510" y="2807172"/>
            <a:ext cx="10941269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throwing a brick through a shop window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58B957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 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434A54"/>
              </a:solidFill>
              <a:effectLst/>
              <a:highlight>
                <a:srgbClr val="FFFF00"/>
              </a:highlight>
              <a:latin typeface="Source Sans Pro" panose="020B0503030403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not following through on an agreement to buy a car</a:t>
            </a:r>
          </a:p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writing a blog which includes falsehoods about a person or their character</a:t>
            </a:r>
          </a:p>
          <a:p>
            <a:pPr marL="514350" marR="0" lvl="0" indent="-514350" algn="l" defTabSz="914400" rtl="0" eaLnBrk="0" fontAlgn="base" latinLnBrk="0" hangingPunct="0"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leaving electrical wiring exposed without leaving appropriate warning signs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729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0366-F9D5-4468-AB7C-1DA92D9A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Which is the most correct reason for the hierarchy of courts in Australia?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ABD5B7-AE53-4A0F-983E-68A3E075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68" y="2248279"/>
            <a:ext cx="1059821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It follows the principles of the separation of powers by providing separation of church and state.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There is a need to separate cases, so they are dealt with before precedent expires.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lphaL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When Australia became a country, the Westminster system was </a:t>
            </a:r>
            <a:r>
              <a:rPr lang="en-US" altLang="en-US" sz="2800" b="1" dirty="0">
                <a:solidFill>
                  <a:srgbClr val="434A54"/>
                </a:solidFill>
                <a:latin typeface="Source Sans Pro" panose="020B0503030403020204" pitchFamily="34" charset="0"/>
              </a:rPr>
              <a:t>adopted and never changed.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lphaLcPeriod"/>
            </a:pPr>
            <a:r>
              <a:rPr lang="en-US" altLang="en-US" sz="2800" b="1" dirty="0">
                <a:solidFill>
                  <a:srgbClr val="434A54"/>
                </a:solidFill>
                <a:latin typeface="Source Sans Pro" panose="020B0503030403020204" pitchFamily="34" charset="0"/>
              </a:rPr>
              <a:t>It allows for specialist knowledge and efficiency in dealing with legal matters.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93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0366-F9D5-4468-AB7C-1DA92D9A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34A54"/>
                </a:solidFill>
                <a:latin typeface="Source Sans Pro" panose="020B0503030403020204" pitchFamily="34" charset="0"/>
              </a:rPr>
              <a:t>Which is the most correct reason for the hierarchy of courts in Australia?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ABD5B7-AE53-4A0F-983E-68A3E075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68" y="2248279"/>
            <a:ext cx="1059821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It follows the principles of the separation of powers by providing separation of church and state.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There is a need to separate cases, so they are dealt with before precedent expires.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lphaL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434A54"/>
                </a:solidFill>
                <a:effectLst/>
                <a:latin typeface="Source Sans Pro" panose="020B0503030403020204" pitchFamily="34" charset="0"/>
              </a:rPr>
              <a:t>When Australia became a country, the Westminster system was </a:t>
            </a:r>
            <a:r>
              <a:rPr lang="en-US" altLang="en-US" sz="2800" b="1" dirty="0">
                <a:solidFill>
                  <a:srgbClr val="434A54"/>
                </a:solidFill>
                <a:latin typeface="Source Sans Pro" panose="020B0503030403020204" pitchFamily="34" charset="0"/>
              </a:rPr>
              <a:t>adopted and never changed.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lphaLcPeriod"/>
            </a:pPr>
            <a:r>
              <a:rPr lang="en-US" altLang="en-US" sz="2800" b="1" dirty="0">
                <a:solidFill>
                  <a:srgbClr val="434A54"/>
                </a:solidFill>
                <a:highlight>
                  <a:srgbClr val="FFFF00"/>
                </a:highlight>
                <a:latin typeface="Source Sans Pro" panose="020B0503030403020204" pitchFamily="34" charset="0"/>
              </a:rPr>
              <a:t>It allows for specialist knowledge and efficiency in dealing with legal matters.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48754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3D3423"/>
      </a:dk2>
      <a:lt2>
        <a:srgbClr val="E2E8E7"/>
      </a:lt2>
      <a:accent1>
        <a:srgbClr val="C6969E"/>
      </a:accent1>
      <a:accent2>
        <a:srgbClr val="BA8E7F"/>
      </a:accent2>
      <a:accent3>
        <a:srgbClr val="B2A281"/>
      </a:accent3>
      <a:accent4>
        <a:srgbClr val="A3A872"/>
      </a:accent4>
      <a:accent5>
        <a:srgbClr val="95AA81"/>
      </a:accent5>
      <a:accent6>
        <a:srgbClr val="7CAF78"/>
      </a:accent6>
      <a:hlink>
        <a:srgbClr val="568E85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1289</Words>
  <Application>Microsoft Office PowerPoint</Application>
  <PresentationFormat>Widescreen</PresentationFormat>
  <Paragraphs>118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Avenir Next LT Pro</vt:lpstr>
      <vt:lpstr>Calibri</vt:lpstr>
      <vt:lpstr>NonBreakingSpaceOverride</vt:lpstr>
      <vt:lpstr>Source Sans Pro</vt:lpstr>
      <vt:lpstr>AccentBoxVTI</vt:lpstr>
      <vt:lpstr>Doctrine of Precedent</vt:lpstr>
      <vt:lpstr>Learning Intentions</vt:lpstr>
      <vt:lpstr>The Role of the Judge</vt:lpstr>
      <vt:lpstr>What is a Precedent?</vt:lpstr>
      <vt:lpstr>Understanding Precedent</vt:lpstr>
      <vt:lpstr>Question 1.</vt:lpstr>
      <vt:lpstr>Answer</vt:lpstr>
      <vt:lpstr>Case 3: </vt:lpstr>
      <vt:lpstr>Question 2:</vt:lpstr>
      <vt:lpstr>Answer:</vt:lpstr>
      <vt:lpstr>Case 4:</vt:lpstr>
      <vt:lpstr>Question 3:</vt:lpstr>
      <vt:lpstr>Answer</vt:lpstr>
      <vt:lpstr>Case 5:</vt:lpstr>
      <vt:lpstr>Question 4:</vt:lpstr>
      <vt:lpstr>Answer</vt:lpstr>
      <vt:lpstr>How does this relate to Common Law?</vt:lpstr>
      <vt:lpstr>PowerPoint Presentation</vt:lpstr>
      <vt:lpstr>PowerPoint Presentation</vt:lpstr>
      <vt:lpstr>Which of the following best describes the legal system of Australia?</vt:lpstr>
      <vt:lpstr>Which of the following best describes the legal system of Australia?</vt:lpstr>
      <vt:lpstr>What is the meaning of ‘on the balance of probabilities’?</vt:lpstr>
      <vt:lpstr>What is the meaning of ‘on the balance of probabilities’?</vt:lpstr>
      <vt:lpstr>What is meant by the phrase ‘the punishment must fit the crime’?</vt:lpstr>
      <vt:lpstr>What is meant by the phrase ‘the punishment must fit the crime’?</vt:lpstr>
      <vt:lpstr>Which of the following is not an example of a civil dispute?</vt:lpstr>
      <vt:lpstr>Which of the following is not an example of a civil dispute?</vt:lpstr>
      <vt:lpstr>Which is the most correct reason for the hierarchy of courts in Australia?</vt:lpstr>
      <vt:lpstr>Which is the most correct reason for the hierarchy of courts in Australia?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Doctrine of Precedent</dc:title>
  <dc:creator>SARGEANTSON Wendy [Narrogin Senior High School]</dc:creator>
  <cp:lastModifiedBy>SARGEANTSON Wendy [Narrogin Senior High School]</cp:lastModifiedBy>
  <cp:revision>14</cp:revision>
  <dcterms:created xsi:type="dcterms:W3CDTF">2020-11-17T11:29:26Z</dcterms:created>
  <dcterms:modified xsi:type="dcterms:W3CDTF">2020-11-17T13:28:04Z</dcterms:modified>
</cp:coreProperties>
</file>
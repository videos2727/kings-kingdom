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93" r:id="rId2"/>
    <p:sldId id="256" r:id="rId3"/>
    <p:sldId id="292" r:id="rId4"/>
    <p:sldId id="289" r:id="rId5"/>
    <p:sldId id="290" r:id="rId6"/>
    <p:sldId id="291" r:id="rId7"/>
    <p:sldId id="285" r:id="rId8"/>
    <p:sldId id="270" r:id="rId9"/>
    <p:sldId id="271" r:id="rId10"/>
    <p:sldId id="272" r:id="rId11"/>
    <p:sldId id="273" r:id="rId12"/>
    <p:sldId id="268" r:id="rId13"/>
    <p:sldId id="269" r:id="rId14"/>
    <p:sldId id="275" r:id="rId15"/>
    <p:sldId id="276" r:id="rId16"/>
    <p:sldId id="277" r:id="rId17"/>
    <p:sldId id="286" r:id="rId18"/>
    <p:sldId id="287" r:id="rId19"/>
    <p:sldId id="288" r:id="rId20"/>
    <p:sldId id="284" r:id="rId21"/>
    <p:sldId id="278" r:id="rId22"/>
    <p:sldId id="279" r:id="rId23"/>
    <p:sldId id="280" r:id="rId24"/>
    <p:sldId id="282" r:id="rId25"/>
    <p:sldId id="281" r:id="rId26"/>
    <p:sldId id="28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C49DF01-31CA-4DEC-A5DE-5A1FC0158B49}" type="datetimeFigureOut">
              <a:rPr lang="en-AU" smtClean="0"/>
              <a:t>27/06/2018</a:t>
            </a:fld>
            <a:endParaRPr lang="en-AU"/>
          </a:p>
        </p:txBody>
      </p:sp>
      <p:sp>
        <p:nvSpPr>
          <p:cNvPr id="5" name="Footer Placeholder 4"/>
          <p:cNvSpPr>
            <a:spLocks noGrp="1"/>
          </p:cNvSpPr>
          <p:nvPr>
            <p:ph type="ftr" sz="quarter" idx="11"/>
          </p:nvPr>
        </p:nvSpPr>
        <p:spPr>
          <a:xfrm>
            <a:off x="2416500" y="329307"/>
            <a:ext cx="4973915" cy="309201"/>
          </a:xfrm>
        </p:spPr>
        <p:txBody>
          <a:bodyPr/>
          <a:lstStyle/>
          <a:p>
            <a:endParaRPr lang="en-AU"/>
          </a:p>
        </p:txBody>
      </p:sp>
      <p:sp>
        <p:nvSpPr>
          <p:cNvPr id="6" name="Slide Number Placeholder 5"/>
          <p:cNvSpPr>
            <a:spLocks noGrp="1"/>
          </p:cNvSpPr>
          <p:nvPr>
            <p:ph type="sldNum" sz="quarter" idx="12"/>
          </p:nvPr>
        </p:nvSpPr>
        <p:spPr>
          <a:xfrm>
            <a:off x="1437664" y="798973"/>
            <a:ext cx="811019" cy="503578"/>
          </a:xfrm>
        </p:spPr>
        <p:txBody>
          <a:bodyPr/>
          <a:lstStyle/>
          <a:p>
            <a:fld id="{6D3C4371-CEC8-4673-904E-57CD34F5F840}" type="slidenum">
              <a:rPr lang="en-AU" smtClean="0"/>
              <a:t>‹#›</a:t>
            </a:fld>
            <a:endParaRPr lang="en-AU"/>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54510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49DF01-31CA-4DEC-A5DE-5A1FC0158B49}" type="datetimeFigureOut">
              <a:rPr lang="en-AU" smtClean="0"/>
              <a:t>27/06/2018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D3C4371-CEC8-4673-904E-57CD34F5F840}" type="slidenum">
              <a:rPr lang="en-AU" smtClean="0"/>
              <a:t>‹#›</a:t>
            </a:fld>
            <a:endParaRPr lang="en-AU"/>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50616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C49DF01-31CA-4DEC-A5DE-5A1FC0158B49}" type="datetimeFigureOut">
              <a:rPr lang="en-AU" smtClean="0"/>
              <a:t>27/06/2018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D3C4371-CEC8-4673-904E-57CD34F5F840}" type="slidenum">
              <a:rPr lang="en-AU" smtClean="0"/>
              <a:t>‹#›</a:t>
            </a:fld>
            <a:endParaRPr lang="en-AU"/>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0504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C49DF01-31CA-4DEC-A5DE-5A1FC0158B49}" type="datetimeFigureOut">
              <a:rPr lang="en-AU" smtClean="0"/>
              <a:t>27/06/2018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D3C4371-CEC8-4673-904E-57CD34F5F840}" type="slidenum">
              <a:rPr lang="en-AU" smtClean="0"/>
              <a:t>‹#›</a:t>
            </a:fld>
            <a:endParaRPr lang="en-AU"/>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4730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C49DF01-31CA-4DEC-A5DE-5A1FC0158B49}" type="datetimeFigureOut">
              <a:rPr lang="en-AU" smtClean="0"/>
              <a:t>27/06/2018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6D3C4371-CEC8-4673-904E-57CD34F5F840}" type="slidenum">
              <a:rPr lang="en-AU" smtClean="0"/>
              <a:t>‹#›</a:t>
            </a:fld>
            <a:endParaRPr lang="en-AU"/>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18702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C49DF01-31CA-4DEC-A5DE-5A1FC0158B49}" type="datetimeFigureOut">
              <a:rPr lang="en-AU" smtClean="0"/>
              <a:t>27/06/2018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6D3C4371-CEC8-4673-904E-57CD34F5F840}" type="slidenum">
              <a:rPr lang="en-AU" smtClean="0"/>
              <a:t>‹#›</a:t>
            </a:fld>
            <a:endParaRPr lang="en-AU"/>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01430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49DF01-31CA-4DEC-A5DE-5A1FC0158B49}" type="datetimeFigureOut">
              <a:rPr lang="en-AU" smtClean="0"/>
              <a:t>27/06/2018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6D3C4371-CEC8-4673-904E-57CD34F5F840}" type="slidenum">
              <a:rPr lang="en-AU" smtClean="0"/>
              <a:t>‹#›</a:t>
            </a:fld>
            <a:endParaRPr lang="en-AU"/>
          </a:p>
        </p:txBody>
      </p:sp>
    </p:spTree>
    <p:extLst>
      <p:ext uri="{BB962C8B-B14F-4D97-AF65-F5344CB8AC3E}">
        <p14:creationId xmlns:p14="http://schemas.microsoft.com/office/powerpoint/2010/main" val="573272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49DF01-31CA-4DEC-A5DE-5A1FC0158B49}" type="datetimeFigureOut">
              <a:rPr lang="en-AU" smtClean="0"/>
              <a:t>27/06/2018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D3C4371-CEC8-4673-904E-57CD34F5F840}" type="slidenum">
              <a:rPr lang="en-AU" smtClean="0"/>
              <a:t>‹#›</a:t>
            </a:fld>
            <a:endParaRPr lang="en-AU"/>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47619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C49DF01-31CA-4DEC-A5DE-5A1FC0158B49}" type="datetimeFigureOut">
              <a:rPr lang="en-AU" smtClean="0"/>
              <a:t>27/06/2018</a:t>
            </a:fld>
            <a:endParaRPr lang="en-AU"/>
          </a:p>
        </p:txBody>
      </p:sp>
      <p:sp>
        <p:nvSpPr>
          <p:cNvPr id="6" name="Footer Placeholder 5"/>
          <p:cNvSpPr>
            <a:spLocks noGrp="1"/>
          </p:cNvSpPr>
          <p:nvPr>
            <p:ph type="ftr" sz="quarter" idx="11"/>
          </p:nvPr>
        </p:nvSpPr>
        <p:spPr>
          <a:xfrm>
            <a:off x="1447382" y="318640"/>
            <a:ext cx="5541004" cy="320931"/>
          </a:xfrm>
        </p:spPr>
        <p:txBody>
          <a:bodyPr/>
          <a:lstStyle/>
          <a:p>
            <a:endParaRPr lang="en-AU"/>
          </a:p>
        </p:txBody>
      </p:sp>
      <p:sp>
        <p:nvSpPr>
          <p:cNvPr id="7" name="Slide Number Placeholder 6"/>
          <p:cNvSpPr>
            <a:spLocks noGrp="1"/>
          </p:cNvSpPr>
          <p:nvPr>
            <p:ph type="sldNum" sz="quarter" idx="12"/>
          </p:nvPr>
        </p:nvSpPr>
        <p:spPr/>
        <p:txBody>
          <a:bodyPr/>
          <a:lstStyle/>
          <a:p>
            <a:fld id="{6D3C4371-CEC8-4673-904E-57CD34F5F840}" type="slidenum">
              <a:rPr lang="en-AU" smtClean="0"/>
              <a:t>‹#›</a:t>
            </a:fld>
            <a:endParaRPr lang="en-AU"/>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20358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49DF01-31CA-4DEC-A5DE-5A1FC0158B49}" type="datetimeFigureOut">
              <a:rPr lang="en-AU" smtClean="0"/>
              <a:t>27/06/2018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D3C4371-CEC8-4673-904E-57CD34F5F840}" type="slidenum">
              <a:rPr lang="en-AU" smtClean="0"/>
              <a:t>‹#›</a:t>
            </a:fld>
            <a:endParaRPr lang="en-AU"/>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9970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49DF01-31CA-4DEC-A5DE-5A1FC0158B49}" type="datetimeFigureOut">
              <a:rPr lang="en-AU" smtClean="0"/>
              <a:t>27/06/2018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D3C4371-CEC8-4673-904E-57CD34F5F840}" type="slidenum">
              <a:rPr lang="en-AU" smtClean="0"/>
              <a:t>‹#›</a:t>
            </a:fld>
            <a:endParaRPr lang="en-AU"/>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11702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C49DF01-31CA-4DEC-A5DE-5A1FC0158B49}" type="datetimeFigureOut">
              <a:rPr lang="en-AU" smtClean="0"/>
              <a:t>27/06/2018</a:t>
            </a:fld>
            <a:endParaRPr lang="en-AU"/>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3C4371-CEC8-4673-904E-57CD34F5F840}" type="slidenum">
              <a:rPr lang="en-AU" smtClean="0"/>
              <a:t>‹#›</a:t>
            </a:fld>
            <a:endParaRPr lang="en-AU"/>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71548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supremecourt.vic.gov.au/going-to-court/for-the-public/vce-education-program/video-resource-for-teachers-and-students" TargetMode="Externa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B8F33E8-1D0B-48C8-B61A-A7D955AE55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2668333" y="-2668334"/>
            <a:ext cx="6855332" cy="12192001"/>
          </a:xfrm>
          <a:prstGeom prst="rect">
            <a:avLst/>
          </a:prstGeom>
        </p:spPr>
      </p:pic>
      <p:pic>
        <p:nvPicPr>
          <p:cNvPr id="12" name="Picture 11" descr="A close up of an animal&#10;&#10;Description generated with high confidence">
            <a:extLst>
              <a:ext uri="{FF2B5EF4-FFF2-40B4-BE49-F238E27FC236}">
                <a16:creationId xmlns:a16="http://schemas.microsoft.com/office/drawing/2014/main" id="{D58D64F1-5DF4-4A86-9D92-B0F56C73E0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593" y="441954"/>
            <a:ext cx="6400813" cy="5974092"/>
          </a:xfrm>
          <a:prstGeom prst="rect">
            <a:avLst/>
          </a:prstGeom>
        </p:spPr>
      </p:pic>
      <p:sp>
        <p:nvSpPr>
          <p:cNvPr id="8" name="Rectangle 7">
            <a:extLst>
              <a:ext uri="{FF2B5EF4-FFF2-40B4-BE49-F238E27FC236}">
                <a16:creationId xmlns:a16="http://schemas.microsoft.com/office/drawing/2014/main" id="{E206BE15-F663-4221-80D4-413F78879578}"/>
              </a:ext>
            </a:extLst>
          </p:cNvPr>
          <p:cNvSpPr/>
          <p:nvPr/>
        </p:nvSpPr>
        <p:spPr>
          <a:xfrm>
            <a:off x="744702" y="2448339"/>
            <a:ext cx="10702595" cy="2123658"/>
          </a:xfrm>
          <a:prstGeom prst="rect">
            <a:avLst/>
          </a:prstGeom>
          <a:noFill/>
        </p:spPr>
        <p:txBody>
          <a:bodyPr wrap="square" lIns="91440" tIns="45720" rIns="91440" bIns="45720">
            <a:spAutoFit/>
          </a:bodyPr>
          <a:lstStyle/>
          <a:p>
            <a:pPr algn="ctr"/>
            <a:r>
              <a:rPr lang="en-US" sz="6600" b="1" cap="none" spc="0" dirty="0">
                <a:ln w="0"/>
                <a:solidFill>
                  <a:schemeClr val="tx1"/>
                </a:solidFill>
                <a:effectLst>
                  <a:outerShdw blurRad="38100" dist="19050" dir="2700000" algn="tl" rotWithShape="0">
                    <a:schemeClr val="dk1">
                      <a:alpha val="40000"/>
                    </a:schemeClr>
                  </a:outerShdw>
                </a:effectLst>
                <a:latin typeface="HelloGeorgeII" panose="02000603000000000000" pitchFamily="2" charset="0"/>
                <a:ea typeface="HelloGeorgeII" panose="02000603000000000000" pitchFamily="2" charset="0"/>
              </a:rPr>
              <a:t>Australian curriculum – Civics and citizenship</a:t>
            </a:r>
          </a:p>
        </p:txBody>
      </p:sp>
      <p:pic>
        <p:nvPicPr>
          <p:cNvPr id="11" name="Picture 10">
            <a:extLst>
              <a:ext uri="{FF2B5EF4-FFF2-40B4-BE49-F238E27FC236}">
                <a16:creationId xmlns:a16="http://schemas.microsoft.com/office/drawing/2014/main" id="{C01BE6B8-71EC-471D-8FDC-D4786273AE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39229" y="81168"/>
            <a:ext cx="3000379" cy="2286003"/>
          </a:xfrm>
          <a:prstGeom prst="rect">
            <a:avLst/>
          </a:prstGeom>
        </p:spPr>
      </p:pic>
    </p:spTree>
    <p:extLst>
      <p:ext uri="{BB962C8B-B14F-4D97-AF65-F5344CB8AC3E}">
        <p14:creationId xmlns:p14="http://schemas.microsoft.com/office/powerpoint/2010/main" val="2833380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A4E4C-AEB7-445E-A497-CD0FE9C8F572}"/>
              </a:ext>
            </a:extLst>
          </p:cNvPr>
          <p:cNvSpPr>
            <a:spLocks noGrp="1"/>
          </p:cNvSpPr>
          <p:nvPr>
            <p:ph type="ctrTitle"/>
          </p:nvPr>
        </p:nvSpPr>
        <p:spPr/>
        <p:txBody>
          <a:bodyPr/>
          <a:lstStyle/>
          <a:p>
            <a:r>
              <a:rPr lang="en-AU" dirty="0"/>
              <a:t>Common Law</a:t>
            </a:r>
          </a:p>
        </p:txBody>
      </p:sp>
      <p:sp>
        <p:nvSpPr>
          <p:cNvPr id="3" name="Subtitle 2">
            <a:extLst>
              <a:ext uri="{FF2B5EF4-FFF2-40B4-BE49-F238E27FC236}">
                <a16:creationId xmlns:a16="http://schemas.microsoft.com/office/drawing/2014/main" id="{6093A330-2067-4F0A-B169-CA1569015EC6}"/>
              </a:ext>
            </a:extLst>
          </p:cNvPr>
          <p:cNvSpPr>
            <a:spLocks noGrp="1"/>
          </p:cNvSpPr>
          <p:nvPr>
            <p:ph type="subTitle" idx="1"/>
          </p:nvPr>
        </p:nvSpPr>
        <p:spPr/>
        <p:txBody>
          <a:bodyPr/>
          <a:lstStyle/>
          <a:p>
            <a:r>
              <a:rPr lang="en-AU" dirty="0"/>
              <a:t>Learning objective: Identify and describe how common laws are made  through court.</a:t>
            </a:r>
          </a:p>
        </p:txBody>
      </p:sp>
    </p:spTree>
    <p:extLst>
      <p:ext uri="{BB962C8B-B14F-4D97-AF65-F5344CB8AC3E}">
        <p14:creationId xmlns:p14="http://schemas.microsoft.com/office/powerpoint/2010/main" val="2197024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9938" y="394616"/>
            <a:ext cx="9603275" cy="530295"/>
          </a:xfrm>
        </p:spPr>
        <p:txBody>
          <a:bodyPr>
            <a:normAutofit fontScale="90000"/>
          </a:bodyPr>
          <a:lstStyle/>
          <a:p>
            <a:r>
              <a:rPr lang="en-AU" dirty="0"/>
              <a:t>Court hierarchy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46644" y="406754"/>
            <a:ext cx="4807582" cy="5055861"/>
          </a:xfrm>
        </p:spPr>
      </p:pic>
      <p:sp>
        <p:nvSpPr>
          <p:cNvPr id="5" name="TextBox 4"/>
          <p:cNvSpPr txBox="1"/>
          <p:nvPr/>
        </p:nvSpPr>
        <p:spPr>
          <a:xfrm>
            <a:off x="672662" y="2617077"/>
            <a:ext cx="3594538" cy="2031325"/>
          </a:xfrm>
          <a:prstGeom prst="rect">
            <a:avLst/>
          </a:prstGeom>
          <a:noFill/>
          <a:ln>
            <a:solidFill>
              <a:schemeClr val="tx1"/>
            </a:solidFill>
          </a:ln>
        </p:spPr>
        <p:txBody>
          <a:bodyPr wrap="square" rtlCol="0">
            <a:spAutoFit/>
          </a:bodyPr>
          <a:lstStyle/>
          <a:p>
            <a:r>
              <a:rPr lang="en-AU" dirty="0"/>
              <a:t>The High court is the Highest of all the courts which is then followed by the Supreme Court, Country or district court and Magistrates court.</a:t>
            </a:r>
          </a:p>
          <a:p>
            <a:r>
              <a:rPr lang="en-AU" dirty="0"/>
              <a:t>Each court has different branches such as the Family court and Federal court.</a:t>
            </a:r>
          </a:p>
        </p:txBody>
      </p:sp>
      <p:sp>
        <p:nvSpPr>
          <p:cNvPr id="6" name="Subtitle 2">
            <a:extLst>
              <a:ext uri="{FF2B5EF4-FFF2-40B4-BE49-F238E27FC236}">
                <a16:creationId xmlns:a16="http://schemas.microsoft.com/office/drawing/2014/main" id="{E949BD1F-A05E-4F03-BB95-76225FB54565}"/>
              </a:ext>
            </a:extLst>
          </p:cNvPr>
          <p:cNvSpPr txBox="1">
            <a:spLocks/>
          </p:cNvSpPr>
          <p:nvPr/>
        </p:nvSpPr>
        <p:spPr>
          <a:xfrm>
            <a:off x="68737" y="5504655"/>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Tree>
    <p:extLst>
      <p:ext uri="{BB962C8B-B14F-4D97-AF65-F5344CB8AC3E}">
        <p14:creationId xmlns:p14="http://schemas.microsoft.com/office/powerpoint/2010/main" val="441158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2F26-F058-46B0-9BBC-2C989EB3FC3B}"/>
              </a:ext>
            </a:extLst>
          </p:cNvPr>
          <p:cNvSpPr>
            <a:spLocks noGrp="1"/>
          </p:cNvSpPr>
          <p:nvPr>
            <p:ph type="title"/>
          </p:nvPr>
        </p:nvSpPr>
        <p:spPr/>
        <p:txBody>
          <a:bodyPr/>
          <a:lstStyle/>
          <a:p>
            <a:r>
              <a:rPr lang="en-AU" dirty="0"/>
              <a:t>Why are laws needed?</a:t>
            </a:r>
          </a:p>
        </p:txBody>
      </p:sp>
      <p:sp>
        <p:nvSpPr>
          <p:cNvPr id="3" name="Content Placeholder 2">
            <a:extLst>
              <a:ext uri="{FF2B5EF4-FFF2-40B4-BE49-F238E27FC236}">
                <a16:creationId xmlns:a16="http://schemas.microsoft.com/office/drawing/2014/main" id="{1ADB82EF-755E-43F4-A76F-FF61EAEB6242}"/>
              </a:ext>
            </a:extLst>
          </p:cNvPr>
          <p:cNvSpPr>
            <a:spLocks noGrp="1"/>
          </p:cNvSpPr>
          <p:nvPr>
            <p:ph idx="1"/>
          </p:nvPr>
        </p:nvSpPr>
        <p:spPr>
          <a:xfrm>
            <a:off x="450574" y="1423493"/>
            <a:ext cx="9603275" cy="2317729"/>
          </a:xfrm>
        </p:spPr>
        <p:txBody>
          <a:bodyPr/>
          <a:lstStyle/>
          <a:p>
            <a:pPr marL="0" indent="0">
              <a:buNone/>
            </a:pPr>
            <a:r>
              <a:rPr lang="en-AU" dirty="0"/>
              <a:t>Laws provide the framework in which society functions so individuals can </a:t>
            </a:r>
            <a:r>
              <a:rPr lang="en-AU" b="1" dirty="0"/>
              <a:t>cooperate</a:t>
            </a:r>
            <a:r>
              <a:rPr lang="en-AU" dirty="0"/>
              <a:t> and live in harmony. This is known as social </a:t>
            </a:r>
            <a:r>
              <a:rPr lang="en-AU" b="1" dirty="0"/>
              <a:t>cohesion</a:t>
            </a:r>
            <a:r>
              <a:rPr lang="en-AU" dirty="0"/>
              <a:t>. Without laws there would be no guidelines on what is acceptable behaviour. The main aim of laws is to protect individuals from harm and to ensure that the rights of individuals are </a:t>
            </a:r>
            <a:r>
              <a:rPr lang="en-AU" b="1" dirty="0"/>
              <a:t>preserved</a:t>
            </a:r>
            <a:r>
              <a:rPr lang="en-AU" dirty="0"/>
              <a:t>. Without laws, people would not feel safe to walk down the street.	The existence of these laws </a:t>
            </a:r>
            <a:r>
              <a:rPr lang="en-AU" b="1" dirty="0"/>
              <a:t>deters</a:t>
            </a:r>
            <a:r>
              <a:rPr lang="en-AU" dirty="0"/>
              <a:t> most people from committing crimes.</a:t>
            </a:r>
          </a:p>
        </p:txBody>
      </p:sp>
      <p:sp>
        <p:nvSpPr>
          <p:cNvPr id="4" name="Subtitle 2">
            <a:extLst>
              <a:ext uri="{FF2B5EF4-FFF2-40B4-BE49-F238E27FC236}">
                <a16:creationId xmlns:a16="http://schemas.microsoft.com/office/drawing/2014/main" id="{E949BD1F-A05E-4F03-BB95-76225FB54565}"/>
              </a:ext>
            </a:extLst>
          </p:cNvPr>
          <p:cNvSpPr txBox="1">
            <a:spLocks/>
          </p:cNvSpPr>
          <p:nvPr/>
        </p:nvSpPr>
        <p:spPr>
          <a:xfrm>
            <a:off x="68737" y="5504655"/>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5" name="TextBox 4">
            <a:extLst>
              <a:ext uri="{FF2B5EF4-FFF2-40B4-BE49-F238E27FC236}">
                <a16:creationId xmlns:a16="http://schemas.microsoft.com/office/drawing/2014/main" id="{9DA8C1E3-4009-4982-B04B-7FB3CDB3EBF1}"/>
              </a:ext>
            </a:extLst>
          </p:cNvPr>
          <p:cNvSpPr txBox="1"/>
          <p:nvPr/>
        </p:nvSpPr>
        <p:spPr>
          <a:xfrm>
            <a:off x="7765774" y="3468158"/>
            <a:ext cx="4227443" cy="2585323"/>
          </a:xfrm>
          <a:prstGeom prst="rect">
            <a:avLst/>
          </a:prstGeom>
          <a:noFill/>
          <a:ln>
            <a:solidFill>
              <a:schemeClr val="accent1"/>
            </a:solidFill>
          </a:ln>
        </p:spPr>
        <p:txBody>
          <a:bodyPr wrap="square" rtlCol="0">
            <a:spAutoFit/>
          </a:bodyPr>
          <a:lstStyle/>
          <a:p>
            <a:r>
              <a:rPr lang="en-AU" b="1" dirty="0"/>
              <a:t>Cooperate</a:t>
            </a:r>
            <a:r>
              <a:rPr lang="en-AU" dirty="0"/>
              <a:t> – work jointly towards the same end.</a:t>
            </a:r>
          </a:p>
          <a:p>
            <a:r>
              <a:rPr lang="en-AU" b="1" dirty="0"/>
              <a:t>Cohesion</a:t>
            </a:r>
            <a:r>
              <a:rPr lang="en-AU" dirty="0"/>
              <a:t> – the action or fact of forming a united whole.</a:t>
            </a:r>
          </a:p>
          <a:p>
            <a:r>
              <a:rPr lang="en-AU" b="1" dirty="0"/>
              <a:t>Preserved</a:t>
            </a:r>
            <a:r>
              <a:rPr lang="en-AU" dirty="0"/>
              <a:t> - maintain (something) in its original or existing state.</a:t>
            </a:r>
          </a:p>
          <a:p>
            <a:r>
              <a:rPr lang="en-AU" b="1" dirty="0"/>
              <a:t>Deters</a:t>
            </a:r>
            <a:r>
              <a:rPr lang="en-AU" dirty="0"/>
              <a:t> - discourage (someone) from doing something by instilling doubt or fear of the consequences.</a:t>
            </a:r>
          </a:p>
        </p:txBody>
      </p:sp>
      <p:sp>
        <p:nvSpPr>
          <p:cNvPr id="6" name="TextBox 5">
            <a:extLst>
              <a:ext uri="{FF2B5EF4-FFF2-40B4-BE49-F238E27FC236}">
                <a16:creationId xmlns:a16="http://schemas.microsoft.com/office/drawing/2014/main" id="{7EC94B4F-0EB8-4F33-A6EA-DC412524A8B1}"/>
              </a:ext>
            </a:extLst>
          </p:cNvPr>
          <p:cNvSpPr txBox="1"/>
          <p:nvPr/>
        </p:nvSpPr>
        <p:spPr>
          <a:xfrm>
            <a:off x="450574" y="4275642"/>
            <a:ext cx="3398717" cy="923330"/>
          </a:xfrm>
          <a:prstGeom prst="rect">
            <a:avLst/>
          </a:prstGeom>
          <a:noFill/>
          <a:ln>
            <a:solidFill>
              <a:schemeClr val="accent1"/>
            </a:solidFill>
          </a:ln>
        </p:spPr>
        <p:txBody>
          <a:bodyPr wrap="square" rtlCol="0">
            <a:spAutoFit/>
          </a:bodyPr>
          <a:lstStyle/>
          <a:p>
            <a:r>
              <a:rPr lang="en-AU" dirty="0"/>
              <a:t>CFU:</a:t>
            </a:r>
          </a:p>
          <a:p>
            <a:pPr marL="342900" indent="-342900">
              <a:buAutoNum type="arabicPeriod"/>
            </a:pPr>
            <a:r>
              <a:rPr lang="en-AU" dirty="0"/>
              <a:t>Why do we need laws?</a:t>
            </a:r>
          </a:p>
          <a:p>
            <a:pPr marL="342900" indent="-342900">
              <a:buAutoNum type="arabicPeriod"/>
            </a:pPr>
            <a:r>
              <a:rPr lang="en-AU" dirty="0"/>
              <a:t>What is the main aim of laws?</a:t>
            </a:r>
          </a:p>
        </p:txBody>
      </p:sp>
    </p:spTree>
    <p:extLst>
      <p:ext uri="{BB962C8B-B14F-4D97-AF65-F5344CB8AC3E}">
        <p14:creationId xmlns:p14="http://schemas.microsoft.com/office/powerpoint/2010/main" val="4144494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24B96A-56AB-4A94-9535-F6D82F1E5233}"/>
              </a:ext>
            </a:extLst>
          </p:cNvPr>
          <p:cNvSpPr>
            <a:spLocks noGrp="1"/>
          </p:cNvSpPr>
          <p:nvPr>
            <p:ph idx="1"/>
          </p:nvPr>
        </p:nvSpPr>
        <p:spPr>
          <a:xfrm>
            <a:off x="450574" y="639311"/>
            <a:ext cx="9603275" cy="2039433"/>
          </a:xfrm>
        </p:spPr>
        <p:txBody>
          <a:bodyPr/>
          <a:lstStyle/>
          <a:p>
            <a:pPr marL="0" indent="0">
              <a:buNone/>
            </a:pPr>
            <a:r>
              <a:rPr lang="en-AU" dirty="0"/>
              <a:t>When people live together, laws will be broken and </a:t>
            </a:r>
            <a:r>
              <a:rPr lang="en-AU" b="1" dirty="0"/>
              <a:t>disputes</a:t>
            </a:r>
            <a:r>
              <a:rPr lang="en-AU" dirty="0"/>
              <a:t> will arise as each person </a:t>
            </a:r>
            <a:r>
              <a:rPr lang="en-AU" b="1" dirty="0"/>
              <a:t>competes</a:t>
            </a:r>
            <a:r>
              <a:rPr lang="en-AU" dirty="0"/>
              <a:t> for a share of the same space and resources. To survive, society must develop a mechanism of dispute resolution so disputes that arise can be settled peacefully. Laws need to reflect the values and attitudes of the </a:t>
            </a:r>
            <a:r>
              <a:rPr lang="en-AU" b="1" dirty="0"/>
              <a:t>majority</a:t>
            </a:r>
            <a:r>
              <a:rPr lang="en-AU" dirty="0"/>
              <a:t> in the community, and need to	 change as values and attitudes change.</a:t>
            </a:r>
          </a:p>
        </p:txBody>
      </p:sp>
      <p:sp>
        <p:nvSpPr>
          <p:cNvPr id="4" name="Subtitle 2">
            <a:extLst>
              <a:ext uri="{FF2B5EF4-FFF2-40B4-BE49-F238E27FC236}">
                <a16:creationId xmlns:a16="http://schemas.microsoft.com/office/drawing/2014/main" id="{C3D6B0AE-DF24-4034-BBF8-7EE190DFDF94}"/>
              </a:ext>
            </a:extLst>
          </p:cNvPr>
          <p:cNvSpPr txBox="1">
            <a:spLocks/>
          </p:cNvSpPr>
          <p:nvPr/>
        </p:nvSpPr>
        <p:spPr>
          <a:xfrm>
            <a:off x="204667" y="5410847"/>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7" name="TextBox 6">
            <a:extLst>
              <a:ext uri="{FF2B5EF4-FFF2-40B4-BE49-F238E27FC236}">
                <a16:creationId xmlns:a16="http://schemas.microsoft.com/office/drawing/2014/main" id="{5B29B9B8-F187-4835-9161-724CC43DF398}"/>
              </a:ext>
            </a:extLst>
          </p:cNvPr>
          <p:cNvSpPr txBox="1"/>
          <p:nvPr/>
        </p:nvSpPr>
        <p:spPr>
          <a:xfrm>
            <a:off x="344557" y="3576789"/>
            <a:ext cx="3398717" cy="1200329"/>
          </a:xfrm>
          <a:prstGeom prst="rect">
            <a:avLst/>
          </a:prstGeom>
          <a:noFill/>
          <a:ln>
            <a:solidFill>
              <a:schemeClr val="accent1"/>
            </a:solidFill>
          </a:ln>
        </p:spPr>
        <p:txBody>
          <a:bodyPr wrap="square" rtlCol="0">
            <a:spAutoFit/>
          </a:bodyPr>
          <a:lstStyle/>
          <a:p>
            <a:r>
              <a:rPr lang="en-AU" dirty="0"/>
              <a:t>CFU:</a:t>
            </a:r>
          </a:p>
          <a:p>
            <a:pPr marL="342900" indent="-342900">
              <a:buAutoNum type="arabicPeriod"/>
            </a:pPr>
            <a:r>
              <a:rPr lang="en-AU" dirty="0"/>
              <a:t>To survive what must society do?</a:t>
            </a:r>
          </a:p>
          <a:p>
            <a:pPr marL="342900" indent="-342900">
              <a:buAutoNum type="arabicPeriod"/>
            </a:pPr>
            <a:r>
              <a:rPr lang="en-AU" dirty="0"/>
              <a:t>What do laws need to reflect?</a:t>
            </a:r>
          </a:p>
        </p:txBody>
      </p:sp>
      <p:sp>
        <p:nvSpPr>
          <p:cNvPr id="8" name="TextBox 7">
            <a:extLst>
              <a:ext uri="{FF2B5EF4-FFF2-40B4-BE49-F238E27FC236}">
                <a16:creationId xmlns:a16="http://schemas.microsoft.com/office/drawing/2014/main" id="{CA6857D4-EE68-47CD-82E2-6C658727A8C9}"/>
              </a:ext>
            </a:extLst>
          </p:cNvPr>
          <p:cNvSpPr txBox="1"/>
          <p:nvPr/>
        </p:nvSpPr>
        <p:spPr>
          <a:xfrm>
            <a:off x="8852451" y="3299791"/>
            <a:ext cx="2782957" cy="1754326"/>
          </a:xfrm>
          <a:prstGeom prst="rect">
            <a:avLst/>
          </a:prstGeom>
          <a:noFill/>
          <a:ln>
            <a:solidFill>
              <a:schemeClr val="accent1"/>
            </a:solidFill>
          </a:ln>
        </p:spPr>
        <p:txBody>
          <a:bodyPr wrap="square" rtlCol="0">
            <a:spAutoFit/>
          </a:bodyPr>
          <a:lstStyle/>
          <a:p>
            <a:r>
              <a:rPr lang="en-AU" b="1" dirty="0"/>
              <a:t>Disputes</a:t>
            </a:r>
            <a:r>
              <a:rPr lang="en-AU" dirty="0"/>
              <a:t> – a disagreement or argument.</a:t>
            </a:r>
          </a:p>
          <a:p>
            <a:r>
              <a:rPr lang="en-AU" b="1" dirty="0"/>
              <a:t>Competes</a:t>
            </a:r>
            <a:r>
              <a:rPr lang="en-AU" dirty="0"/>
              <a:t> – be able to rival another or others.</a:t>
            </a:r>
          </a:p>
          <a:p>
            <a:r>
              <a:rPr lang="en-AU" b="1" dirty="0"/>
              <a:t>Majority</a:t>
            </a:r>
            <a:r>
              <a:rPr lang="en-AU" dirty="0"/>
              <a:t> – the greater number/ most of.</a:t>
            </a:r>
          </a:p>
        </p:txBody>
      </p:sp>
    </p:spTree>
    <p:extLst>
      <p:ext uri="{BB962C8B-B14F-4D97-AF65-F5344CB8AC3E}">
        <p14:creationId xmlns:p14="http://schemas.microsoft.com/office/powerpoint/2010/main" val="2786342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ell phone&#10;&#10;Description generated with very high confidence">
            <a:extLst>
              <a:ext uri="{FF2B5EF4-FFF2-40B4-BE49-F238E27FC236}">
                <a16:creationId xmlns:a16="http://schemas.microsoft.com/office/drawing/2014/main" id="{6DFA8AB7-9B37-4DBA-9237-F0363C212E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5179" y="415705"/>
            <a:ext cx="10721641" cy="2486646"/>
          </a:xfrm>
          <a:prstGeom prst="rect">
            <a:avLst/>
          </a:prstGeom>
        </p:spPr>
      </p:pic>
      <p:sp>
        <p:nvSpPr>
          <p:cNvPr id="12" name="Subtitle 2">
            <a:extLst>
              <a:ext uri="{FF2B5EF4-FFF2-40B4-BE49-F238E27FC236}">
                <a16:creationId xmlns:a16="http://schemas.microsoft.com/office/drawing/2014/main" id="{2E1D5CED-DF03-422F-846A-B365CFD4BD5F}"/>
              </a:ext>
            </a:extLst>
          </p:cNvPr>
          <p:cNvSpPr txBox="1">
            <a:spLocks/>
          </p:cNvSpPr>
          <p:nvPr/>
        </p:nvSpPr>
        <p:spPr>
          <a:xfrm>
            <a:off x="204667" y="5410847"/>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14" name="TextBox 13">
            <a:extLst>
              <a:ext uri="{FF2B5EF4-FFF2-40B4-BE49-F238E27FC236}">
                <a16:creationId xmlns:a16="http://schemas.microsoft.com/office/drawing/2014/main" id="{F6D71163-EEB1-4D0E-9B5F-FD2D16C5944D}"/>
              </a:ext>
            </a:extLst>
          </p:cNvPr>
          <p:cNvSpPr txBox="1"/>
          <p:nvPr/>
        </p:nvSpPr>
        <p:spPr>
          <a:xfrm>
            <a:off x="437322" y="3955650"/>
            <a:ext cx="3398717" cy="923330"/>
          </a:xfrm>
          <a:prstGeom prst="rect">
            <a:avLst/>
          </a:prstGeom>
          <a:noFill/>
          <a:ln>
            <a:solidFill>
              <a:schemeClr val="accent1"/>
            </a:solidFill>
          </a:ln>
        </p:spPr>
        <p:txBody>
          <a:bodyPr wrap="square" rtlCol="0">
            <a:spAutoFit/>
          </a:bodyPr>
          <a:lstStyle/>
          <a:p>
            <a:r>
              <a:rPr lang="en-AU" dirty="0"/>
              <a:t>CFU:</a:t>
            </a:r>
          </a:p>
          <a:p>
            <a:pPr marL="342900" indent="-342900">
              <a:buAutoNum type="arabicPeriod"/>
            </a:pPr>
            <a:r>
              <a:rPr lang="en-AU" dirty="0"/>
              <a:t>Laws provide a code……..</a:t>
            </a:r>
          </a:p>
          <a:p>
            <a:pPr marL="342900" indent="-342900">
              <a:buAutoNum type="arabicPeriod"/>
            </a:pPr>
            <a:r>
              <a:rPr lang="en-AU" dirty="0"/>
              <a:t>Why do laws change?</a:t>
            </a:r>
          </a:p>
        </p:txBody>
      </p:sp>
    </p:spTree>
    <p:extLst>
      <p:ext uri="{BB962C8B-B14F-4D97-AF65-F5344CB8AC3E}">
        <p14:creationId xmlns:p14="http://schemas.microsoft.com/office/powerpoint/2010/main" val="3820659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F2995-5509-457D-8396-84E0A113BB6D}"/>
              </a:ext>
            </a:extLst>
          </p:cNvPr>
          <p:cNvSpPr>
            <a:spLocks noGrp="1"/>
          </p:cNvSpPr>
          <p:nvPr>
            <p:ph type="title"/>
          </p:nvPr>
        </p:nvSpPr>
        <p:spPr/>
        <p:txBody>
          <a:bodyPr/>
          <a:lstStyle/>
          <a:p>
            <a:r>
              <a:rPr lang="en-AU" dirty="0"/>
              <a:t>What is Common law?</a:t>
            </a:r>
          </a:p>
        </p:txBody>
      </p:sp>
      <p:sp>
        <p:nvSpPr>
          <p:cNvPr id="3" name="Content Placeholder 2">
            <a:extLst>
              <a:ext uri="{FF2B5EF4-FFF2-40B4-BE49-F238E27FC236}">
                <a16:creationId xmlns:a16="http://schemas.microsoft.com/office/drawing/2014/main" id="{0E8917A5-2EAE-4DF7-A86E-B6361876127F}"/>
              </a:ext>
            </a:extLst>
          </p:cNvPr>
          <p:cNvSpPr>
            <a:spLocks noGrp="1"/>
          </p:cNvSpPr>
          <p:nvPr>
            <p:ph idx="1"/>
          </p:nvPr>
        </p:nvSpPr>
        <p:spPr>
          <a:xfrm>
            <a:off x="1451578" y="1853754"/>
            <a:ext cx="9603275" cy="1774390"/>
          </a:xfrm>
        </p:spPr>
        <p:txBody>
          <a:bodyPr/>
          <a:lstStyle/>
          <a:p>
            <a:pPr marL="0" indent="0">
              <a:buNone/>
            </a:pPr>
            <a:r>
              <a:rPr lang="en-AU" dirty="0"/>
              <a:t>Common law was founded in England and adopted by the Australian legal system. It is law developed through the courts and is also known as judge-made law. It can only be created when a case is brought to the courts. It is therefore also known as case law. It develops through the </a:t>
            </a:r>
            <a:r>
              <a:rPr lang="en-AU" b="1" dirty="0"/>
              <a:t>doctrine</a:t>
            </a:r>
            <a:r>
              <a:rPr lang="en-AU" dirty="0"/>
              <a:t> of </a:t>
            </a:r>
            <a:r>
              <a:rPr lang="en-AU" b="1" dirty="0"/>
              <a:t>precedent.</a:t>
            </a:r>
          </a:p>
        </p:txBody>
      </p:sp>
      <p:sp>
        <p:nvSpPr>
          <p:cNvPr id="4" name="TextBox 3">
            <a:extLst>
              <a:ext uri="{FF2B5EF4-FFF2-40B4-BE49-F238E27FC236}">
                <a16:creationId xmlns:a16="http://schemas.microsoft.com/office/drawing/2014/main" id="{F1510B37-E6FA-4FCA-B735-2878A42FFE9A}"/>
              </a:ext>
            </a:extLst>
          </p:cNvPr>
          <p:cNvSpPr txBox="1"/>
          <p:nvPr/>
        </p:nvSpPr>
        <p:spPr>
          <a:xfrm>
            <a:off x="493674" y="3928552"/>
            <a:ext cx="2941983" cy="1200329"/>
          </a:xfrm>
          <a:prstGeom prst="rect">
            <a:avLst/>
          </a:prstGeom>
          <a:noFill/>
          <a:ln>
            <a:solidFill>
              <a:schemeClr val="accent1"/>
            </a:solidFill>
          </a:ln>
        </p:spPr>
        <p:txBody>
          <a:bodyPr wrap="square" rtlCol="0">
            <a:spAutoFit/>
          </a:bodyPr>
          <a:lstStyle/>
          <a:p>
            <a:r>
              <a:rPr lang="en-AU" dirty="0"/>
              <a:t>CFU:</a:t>
            </a:r>
          </a:p>
          <a:p>
            <a:r>
              <a:rPr lang="en-AU" dirty="0"/>
              <a:t>What is common law?</a:t>
            </a:r>
          </a:p>
          <a:p>
            <a:r>
              <a:rPr lang="en-AU" dirty="0"/>
              <a:t>Where did common law come from?</a:t>
            </a:r>
          </a:p>
        </p:txBody>
      </p:sp>
      <p:sp>
        <p:nvSpPr>
          <p:cNvPr id="5" name="Subtitle 2">
            <a:extLst>
              <a:ext uri="{FF2B5EF4-FFF2-40B4-BE49-F238E27FC236}">
                <a16:creationId xmlns:a16="http://schemas.microsoft.com/office/drawing/2014/main" id="{E106D398-B301-4AB2-BA00-117E299E181C}"/>
              </a:ext>
            </a:extLst>
          </p:cNvPr>
          <p:cNvSpPr txBox="1">
            <a:spLocks/>
          </p:cNvSpPr>
          <p:nvPr/>
        </p:nvSpPr>
        <p:spPr>
          <a:xfrm>
            <a:off x="204667" y="5410847"/>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6" name="TextBox 5">
            <a:extLst>
              <a:ext uri="{FF2B5EF4-FFF2-40B4-BE49-F238E27FC236}">
                <a16:creationId xmlns:a16="http://schemas.microsoft.com/office/drawing/2014/main" id="{B3DFC937-1390-46B6-92DC-FEA1A210A37B}"/>
              </a:ext>
            </a:extLst>
          </p:cNvPr>
          <p:cNvSpPr txBox="1"/>
          <p:nvPr/>
        </p:nvSpPr>
        <p:spPr>
          <a:xfrm>
            <a:off x="8756344" y="3885257"/>
            <a:ext cx="3154017" cy="1754326"/>
          </a:xfrm>
          <a:prstGeom prst="rect">
            <a:avLst/>
          </a:prstGeom>
          <a:noFill/>
          <a:ln>
            <a:solidFill>
              <a:schemeClr val="accent1"/>
            </a:solidFill>
          </a:ln>
        </p:spPr>
        <p:txBody>
          <a:bodyPr wrap="square" rtlCol="0">
            <a:spAutoFit/>
          </a:bodyPr>
          <a:lstStyle/>
          <a:p>
            <a:r>
              <a:rPr lang="en-AU" dirty="0"/>
              <a:t>Doctrine – a particular principle, position, or policy taught or advocated. </a:t>
            </a:r>
          </a:p>
          <a:p>
            <a:endParaRPr lang="en-AU" dirty="0"/>
          </a:p>
          <a:p>
            <a:r>
              <a:rPr lang="en-AU" dirty="0"/>
              <a:t>Precedent - preceding in time, order, or importance. </a:t>
            </a:r>
          </a:p>
        </p:txBody>
      </p:sp>
      <p:sp>
        <p:nvSpPr>
          <p:cNvPr id="7" name="TextBox 6">
            <a:extLst>
              <a:ext uri="{FF2B5EF4-FFF2-40B4-BE49-F238E27FC236}">
                <a16:creationId xmlns:a16="http://schemas.microsoft.com/office/drawing/2014/main" id="{6FCB1F2B-FD2D-4943-BA02-7F1820529801}"/>
              </a:ext>
            </a:extLst>
          </p:cNvPr>
          <p:cNvSpPr txBox="1"/>
          <p:nvPr/>
        </p:nvSpPr>
        <p:spPr>
          <a:xfrm>
            <a:off x="8892209" y="225287"/>
            <a:ext cx="3154017" cy="369332"/>
          </a:xfrm>
          <a:prstGeom prst="rect">
            <a:avLst/>
          </a:prstGeom>
          <a:noFill/>
          <a:ln>
            <a:solidFill>
              <a:schemeClr val="accent1"/>
            </a:solidFill>
          </a:ln>
        </p:spPr>
        <p:txBody>
          <a:bodyPr wrap="square" rtlCol="0">
            <a:spAutoFit/>
          </a:bodyPr>
          <a:lstStyle/>
          <a:p>
            <a:r>
              <a:rPr lang="en-AU" dirty="0"/>
              <a:t>READ/TRACK/PRONOUNCE</a:t>
            </a:r>
          </a:p>
        </p:txBody>
      </p:sp>
    </p:spTree>
    <p:extLst>
      <p:ext uri="{BB962C8B-B14F-4D97-AF65-F5344CB8AC3E}">
        <p14:creationId xmlns:p14="http://schemas.microsoft.com/office/powerpoint/2010/main" val="18649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A252AB-9D66-4B86-8EE1-7D295A5E31D1}"/>
              </a:ext>
            </a:extLst>
          </p:cNvPr>
          <p:cNvSpPr>
            <a:spLocks noGrp="1"/>
          </p:cNvSpPr>
          <p:nvPr>
            <p:ph idx="1"/>
          </p:nvPr>
        </p:nvSpPr>
        <p:spPr>
          <a:xfrm>
            <a:off x="1491335" y="306202"/>
            <a:ext cx="9603275" cy="2370738"/>
          </a:xfrm>
        </p:spPr>
        <p:txBody>
          <a:bodyPr/>
          <a:lstStyle/>
          <a:p>
            <a:pPr marL="0" indent="0">
              <a:buNone/>
            </a:pPr>
            <a:r>
              <a:rPr lang="en-AU" b="1" u="sng" dirty="0"/>
              <a:t>Regulatory</a:t>
            </a:r>
            <a:r>
              <a:rPr lang="en-AU" dirty="0"/>
              <a:t> control can be divided into two </a:t>
            </a:r>
            <a:r>
              <a:rPr lang="en-AU" b="1" u="sng" dirty="0"/>
              <a:t>facets</a:t>
            </a:r>
            <a:r>
              <a:rPr lang="en-AU" dirty="0"/>
              <a:t>. The first we call legislation. Legislation is the laws or acts of the parliaments which lay down the rules governing society. The second, we call executive government or administration. This is the arm of government which implements the rules. Both, of course, are to be contrasted with the third arm of government which is the courts or the judiciary.</a:t>
            </a:r>
          </a:p>
        </p:txBody>
      </p:sp>
      <p:sp>
        <p:nvSpPr>
          <p:cNvPr id="4" name="TextBox 3">
            <a:extLst>
              <a:ext uri="{FF2B5EF4-FFF2-40B4-BE49-F238E27FC236}">
                <a16:creationId xmlns:a16="http://schemas.microsoft.com/office/drawing/2014/main" id="{9EA737BB-BEF8-4C61-B56B-D87C6580539F}"/>
              </a:ext>
            </a:extLst>
          </p:cNvPr>
          <p:cNvSpPr txBox="1"/>
          <p:nvPr/>
        </p:nvSpPr>
        <p:spPr>
          <a:xfrm>
            <a:off x="7156173" y="3346689"/>
            <a:ext cx="4532244" cy="1477328"/>
          </a:xfrm>
          <a:prstGeom prst="rect">
            <a:avLst/>
          </a:prstGeom>
          <a:noFill/>
          <a:ln>
            <a:solidFill>
              <a:schemeClr val="tx1"/>
            </a:solidFill>
          </a:ln>
        </p:spPr>
        <p:txBody>
          <a:bodyPr wrap="square" rtlCol="0">
            <a:spAutoFit/>
          </a:bodyPr>
          <a:lstStyle/>
          <a:p>
            <a:r>
              <a:rPr lang="en-AU" dirty="0"/>
              <a:t>Vocabulary:</a:t>
            </a:r>
          </a:p>
          <a:p>
            <a:r>
              <a:rPr lang="en-AU" dirty="0"/>
              <a:t>Facets – a particular aspect or feature of something.</a:t>
            </a:r>
          </a:p>
          <a:p>
            <a:r>
              <a:rPr lang="en-AU" dirty="0"/>
              <a:t>Regulatory – serving or intended to regulate something.</a:t>
            </a:r>
          </a:p>
        </p:txBody>
      </p:sp>
      <p:sp>
        <p:nvSpPr>
          <p:cNvPr id="5" name="TextBox 4">
            <a:extLst>
              <a:ext uri="{FF2B5EF4-FFF2-40B4-BE49-F238E27FC236}">
                <a16:creationId xmlns:a16="http://schemas.microsoft.com/office/drawing/2014/main" id="{CFA6A0EA-EB9F-4E5F-9381-8B9777A39F55}"/>
              </a:ext>
            </a:extLst>
          </p:cNvPr>
          <p:cNvSpPr txBox="1"/>
          <p:nvPr/>
        </p:nvSpPr>
        <p:spPr>
          <a:xfrm>
            <a:off x="503583" y="3069691"/>
            <a:ext cx="4002156" cy="2031325"/>
          </a:xfrm>
          <a:prstGeom prst="rect">
            <a:avLst/>
          </a:prstGeom>
          <a:noFill/>
          <a:ln>
            <a:solidFill>
              <a:schemeClr val="tx1"/>
            </a:solidFill>
          </a:ln>
        </p:spPr>
        <p:txBody>
          <a:bodyPr wrap="square" rtlCol="0">
            <a:spAutoFit/>
          </a:bodyPr>
          <a:lstStyle/>
          <a:p>
            <a:r>
              <a:rPr lang="en-AU" dirty="0"/>
              <a:t>CFU:</a:t>
            </a:r>
          </a:p>
          <a:p>
            <a:r>
              <a:rPr lang="en-AU" dirty="0"/>
              <a:t>1.What are two regulatory facets?</a:t>
            </a:r>
          </a:p>
          <a:p>
            <a:r>
              <a:rPr lang="en-AU" dirty="0"/>
              <a:t>2. Pair share what arm of government implements the rules?</a:t>
            </a:r>
          </a:p>
          <a:p>
            <a:r>
              <a:rPr lang="en-AU" dirty="0"/>
              <a:t>3. What are the three arms of government?</a:t>
            </a:r>
          </a:p>
          <a:p>
            <a:r>
              <a:rPr lang="en-AU" dirty="0"/>
              <a:t>4. What is Legislation?</a:t>
            </a:r>
          </a:p>
        </p:txBody>
      </p:sp>
      <p:sp>
        <p:nvSpPr>
          <p:cNvPr id="6" name="Subtitle 2">
            <a:extLst>
              <a:ext uri="{FF2B5EF4-FFF2-40B4-BE49-F238E27FC236}">
                <a16:creationId xmlns:a16="http://schemas.microsoft.com/office/drawing/2014/main" id="{01FC9379-2FFA-498F-8CDB-8FC799713D3D}"/>
              </a:ext>
            </a:extLst>
          </p:cNvPr>
          <p:cNvSpPr txBox="1">
            <a:spLocks/>
          </p:cNvSpPr>
          <p:nvPr/>
        </p:nvSpPr>
        <p:spPr>
          <a:xfrm>
            <a:off x="164910" y="5512787"/>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7" name="TextBox 6">
            <a:extLst>
              <a:ext uri="{FF2B5EF4-FFF2-40B4-BE49-F238E27FC236}">
                <a16:creationId xmlns:a16="http://schemas.microsoft.com/office/drawing/2014/main" id="{40C10273-1646-48F6-AE55-314822A47479}"/>
              </a:ext>
            </a:extLst>
          </p:cNvPr>
          <p:cNvSpPr txBox="1"/>
          <p:nvPr/>
        </p:nvSpPr>
        <p:spPr>
          <a:xfrm>
            <a:off x="8852452" y="5600928"/>
            <a:ext cx="3154017" cy="369332"/>
          </a:xfrm>
          <a:prstGeom prst="rect">
            <a:avLst/>
          </a:prstGeom>
          <a:noFill/>
          <a:ln>
            <a:solidFill>
              <a:schemeClr val="accent1"/>
            </a:solidFill>
          </a:ln>
        </p:spPr>
        <p:txBody>
          <a:bodyPr wrap="square" rtlCol="0">
            <a:spAutoFit/>
          </a:bodyPr>
          <a:lstStyle/>
          <a:p>
            <a:r>
              <a:rPr lang="en-AU" dirty="0"/>
              <a:t>READ/TRACK/PRONOUNCE</a:t>
            </a:r>
          </a:p>
        </p:txBody>
      </p:sp>
    </p:spTree>
    <p:extLst>
      <p:ext uri="{BB962C8B-B14F-4D97-AF65-F5344CB8AC3E}">
        <p14:creationId xmlns:p14="http://schemas.microsoft.com/office/powerpoint/2010/main" val="296136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AF7CF9-1A7F-4900-9974-3EFD332EC2D0}"/>
              </a:ext>
            </a:extLst>
          </p:cNvPr>
          <p:cNvSpPr>
            <a:spLocks noGrp="1"/>
          </p:cNvSpPr>
          <p:nvPr>
            <p:ph idx="1"/>
          </p:nvPr>
        </p:nvSpPr>
        <p:spPr>
          <a:xfrm>
            <a:off x="1294362" y="306202"/>
            <a:ext cx="9603275" cy="1986425"/>
          </a:xfrm>
        </p:spPr>
        <p:txBody>
          <a:bodyPr>
            <a:normAutofit/>
          </a:bodyPr>
          <a:lstStyle/>
          <a:p>
            <a:pPr marL="0" indent="0">
              <a:buNone/>
            </a:pPr>
            <a:r>
              <a:rPr lang="en-AU" dirty="0"/>
              <a:t>At the same time as the monarch and parliament were legislating with respect to prescriptive aspects of regulating society, the courts, in the name of the Crown, were resolving </a:t>
            </a:r>
            <a:r>
              <a:rPr lang="en-AU" b="1" dirty="0"/>
              <a:t>disputes</a:t>
            </a:r>
            <a:r>
              <a:rPr lang="en-AU" dirty="0"/>
              <a:t> between citizens. The </a:t>
            </a:r>
            <a:r>
              <a:rPr lang="en-AU" b="1" dirty="0"/>
              <a:t>monarch</a:t>
            </a:r>
            <a:r>
              <a:rPr lang="en-AU" dirty="0"/>
              <a:t> was less concerned with the matters which troubled ordinary subjects than with raising armies and collecting taxes to provide for them. Staying on the throne was a difficult job. </a:t>
            </a:r>
          </a:p>
        </p:txBody>
      </p:sp>
      <p:sp>
        <p:nvSpPr>
          <p:cNvPr id="4" name="TextBox 3">
            <a:extLst>
              <a:ext uri="{FF2B5EF4-FFF2-40B4-BE49-F238E27FC236}">
                <a16:creationId xmlns:a16="http://schemas.microsoft.com/office/drawing/2014/main" id="{32A65289-C2BA-456C-B517-1A73E1B8E7FC}"/>
              </a:ext>
            </a:extLst>
          </p:cNvPr>
          <p:cNvSpPr txBox="1"/>
          <p:nvPr/>
        </p:nvSpPr>
        <p:spPr>
          <a:xfrm>
            <a:off x="8072103" y="3266029"/>
            <a:ext cx="3935896" cy="1477328"/>
          </a:xfrm>
          <a:prstGeom prst="rect">
            <a:avLst/>
          </a:prstGeom>
          <a:noFill/>
          <a:ln>
            <a:solidFill>
              <a:schemeClr val="tx1"/>
            </a:solidFill>
          </a:ln>
        </p:spPr>
        <p:txBody>
          <a:bodyPr wrap="square" rtlCol="0">
            <a:spAutoFit/>
          </a:bodyPr>
          <a:lstStyle/>
          <a:p>
            <a:r>
              <a:rPr lang="en-AU" dirty="0"/>
              <a:t>Vocabulary:</a:t>
            </a:r>
          </a:p>
          <a:p>
            <a:r>
              <a:rPr lang="en-AU" dirty="0"/>
              <a:t>Monarch -</a:t>
            </a:r>
            <a:br>
              <a:rPr lang="en-AU" dirty="0"/>
            </a:br>
            <a:r>
              <a:rPr lang="en-AU" dirty="0"/>
              <a:t>a sovereign head of state, especially a king, queen, or emperor. </a:t>
            </a:r>
          </a:p>
          <a:p>
            <a:r>
              <a:rPr lang="en-AU" dirty="0"/>
              <a:t>Disputes - a disagreement or argument.</a:t>
            </a:r>
          </a:p>
        </p:txBody>
      </p:sp>
      <p:sp>
        <p:nvSpPr>
          <p:cNvPr id="6" name="TextBox 5">
            <a:extLst>
              <a:ext uri="{FF2B5EF4-FFF2-40B4-BE49-F238E27FC236}">
                <a16:creationId xmlns:a16="http://schemas.microsoft.com/office/drawing/2014/main" id="{3DEFC04A-D93B-4D27-8843-221BA7097FA7}"/>
              </a:ext>
            </a:extLst>
          </p:cNvPr>
          <p:cNvSpPr txBox="1"/>
          <p:nvPr/>
        </p:nvSpPr>
        <p:spPr>
          <a:xfrm>
            <a:off x="250263" y="3351960"/>
            <a:ext cx="3869635" cy="1477328"/>
          </a:xfrm>
          <a:prstGeom prst="rect">
            <a:avLst/>
          </a:prstGeom>
          <a:noFill/>
          <a:ln>
            <a:solidFill>
              <a:schemeClr val="tx1"/>
            </a:solidFill>
          </a:ln>
        </p:spPr>
        <p:txBody>
          <a:bodyPr wrap="square" rtlCol="0">
            <a:spAutoFit/>
          </a:bodyPr>
          <a:lstStyle/>
          <a:p>
            <a:r>
              <a:rPr lang="en-AU" dirty="0"/>
              <a:t>CFU:</a:t>
            </a:r>
          </a:p>
          <a:p>
            <a:r>
              <a:rPr lang="en-AU" dirty="0"/>
              <a:t>What is the courts job? (pair share)</a:t>
            </a:r>
          </a:p>
          <a:p>
            <a:r>
              <a:rPr lang="en-AU" dirty="0"/>
              <a:t>What are the three arms of government?</a:t>
            </a:r>
          </a:p>
          <a:p>
            <a:r>
              <a:rPr lang="en-AU" dirty="0"/>
              <a:t>What is a dispute?</a:t>
            </a:r>
          </a:p>
        </p:txBody>
      </p:sp>
      <p:sp>
        <p:nvSpPr>
          <p:cNvPr id="5" name="Subtitle 2">
            <a:extLst>
              <a:ext uri="{FF2B5EF4-FFF2-40B4-BE49-F238E27FC236}">
                <a16:creationId xmlns:a16="http://schemas.microsoft.com/office/drawing/2014/main" id="{0DE04726-7288-46CA-BD01-117FCEAC3C81}"/>
              </a:ext>
            </a:extLst>
          </p:cNvPr>
          <p:cNvSpPr txBox="1">
            <a:spLocks/>
          </p:cNvSpPr>
          <p:nvPr/>
        </p:nvSpPr>
        <p:spPr>
          <a:xfrm>
            <a:off x="98650" y="5532510"/>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7" name="TextBox 6">
            <a:extLst>
              <a:ext uri="{FF2B5EF4-FFF2-40B4-BE49-F238E27FC236}">
                <a16:creationId xmlns:a16="http://schemas.microsoft.com/office/drawing/2014/main" id="{FE2DFDA2-6071-45A4-920D-667E3D3C527B}"/>
              </a:ext>
            </a:extLst>
          </p:cNvPr>
          <p:cNvSpPr txBox="1"/>
          <p:nvPr/>
        </p:nvSpPr>
        <p:spPr>
          <a:xfrm>
            <a:off x="8852452" y="5600928"/>
            <a:ext cx="3154017" cy="369332"/>
          </a:xfrm>
          <a:prstGeom prst="rect">
            <a:avLst/>
          </a:prstGeom>
          <a:noFill/>
          <a:ln>
            <a:solidFill>
              <a:schemeClr val="accent1"/>
            </a:solidFill>
          </a:ln>
        </p:spPr>
        <p:txBody>
          <a:bodyPr wrap="square" rtlCol="0">
            <a:spAutoFit/>
          </a:bodyPr>
          <a:lstStyle/>
          <a:p>
            <a:r>
              <a:rPr lang="en-AU" dirty="0"/>
              <a:t>READ/TRACK/PRONOUNCE</a:t>
            </a:r>
          </a:p>
        </p:txBody>
      </p:sp>
    </p:spTree>
    <p:extLst>
      <p:ext uri="{BB962C8B-B14F-4D97-AF65-F5344CB8AC3E}">
        <p14:creationId xmlns:p14="http://schemas.microsoft.com/office/powerpoint/2010/main" val="3765091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AF7CF9-1A7F-4900-9974-3EFD332EC2D0}"/>
              </a:ext>
            </a:extLst>
          </p:cNvPr>
          <p:cNvSpPr>
            <a:spLocks noGrp="1"/>
          </p:cNvSpPr>
          <p:nvPr>
            <p:ph idx="1"/>
          </p:nvPr>
        </p:nvSpPr>
        <p:spPr>
          <a:xfrm>
            <a:off x="1716622" y="316141"/>
            <a:ext cx="9603275" cy="2808059"/>
          </a:xfrm>
        </p:spPr>
        <p:txBody>
          <a:bodyPr>
            <a:normAutofit/>
          </a:bodyPr>
          <a:lstStyle/>
          <a:p>
            <a:pPr marL="0" indent="0">
              <a:buNone/>
            </a:pPr>
            <a:r>
              <a:rPr lang="en-AU" dirty="0"/>
              <a:t>Accordingly, the courts began to develop their own rules to assist in the resolving of common </a:t>
            </a:r>
            <a:r>
              <a:rPr lang="en-AU" b="1" dirty="0"/>
              <a:t>disputes</a:t>
            </a:r>
            <a:r>
              <a:rPr lang="en-AU" dirty="0"/>
              <a:t>. Faced with disputes about broken promises they began to develop the law of contract. Faced with disputes about injury and damage to persons and property they began to develop the law of torts or injury. The rules established by courts formed the backbone of the common law. They were not established like acts of parliament establish rules. They were not created as rules. They simply emerged from a pattern of decision-making by the courts. </a:t>
            </a:r>
          </a:p>
        </p:txBody>
      </p:sp>
      <p:sp>
        <p:nvSpPr>
          <p:cNvPr id="4" name="TextBox 3">
            <a:extLst>
              <a:ext uri="{FF2B5EF4-FFF2-40B4-BE49-F238E27FC236}">
                <a16:creationId xmlns:a16="http://schemas.microsoft.com/office/drawing/2014/main" id="{E9FAA8EC-F484-44CA-A638-4AE48DEEC533}"/>
              </a:ext>
            </a:extLst>
          </p:cNvPr>
          <p:cNvSpPr txBox="1"/>
          <p:nvPr/>
        </p:nvSpPr>
        <p:spPr>
          <a:xfrm>
            <a:off x="367377" y="3360802"/>
            <a:ext cx="3458817" cy="2031325"/>
          </a:xfrm>
          <a:prstGeom prst="rect">
            <a:avLst/>
          </a:prstGeom>
          <a:noFill/>
          <a:ln>
            <a:solidFill>
              <a:schemeClr val="tx1"/>
            </a:solidFill>
          </a:ln>
        </p:spPr>
        <p:txBody>
          <a:bodyPr wrap="square" rtlCol="0">
            <a:spAutoFit/>
          </a:bodyPr>
          <a:lstStyle/>
          <a:p>
            <a:r>
              <a:rPr lang="en-AU" dirty="0"/>
              <a:t>CFU:</a:t>
            </a:r>
          </a:p>
          <a:p>
            <a:r>
              <a:rPr lang="en-AU" dirty="0"/>
              <a:t>Why was Common law established?</a:t>
            </a:r>
          </a:p>
          <a:p>
            <a:r>
              <a:rPr lang="en-AU" dirty="0"/>
              <a:t>What law was created for disputes about injury and damage?</a:t>
            </a:r>
          </a:p>
          <a:p>
            <a:r>
              <a:rPr lang="en-AU" dirty="0"/>
              <a:t>The law of contract was developed for what type of disputes?</a:t>
            </a:r>
          </a:p>
        </p:txBody>
      </p:sp>
      <p:sp>
        <p:nvSpPr>
          <p:cNvPr id="5" name="Subtitle 2">
            <a:extLst>
              <a:ext uri="{FF2B5EF4-FFF2-40B4-BE49-F238E27FC236}">
                <a16:creationId xmlns:a16="http://schemas.microsoft.com/office/drawing/2014/main" id="{8F94FE65-3AB8-4B4A-A3C3-781EDECB509F}"/>
              </a:ext>
            </a:extLst>
          </p:cNvPr>
          <p:cNvSpPr txBox="1">
            <a:spLocks/>
          </p:cNvSpPr>
          <p:nvPr/>
        </p:nvSpPr>
        <p:spPr>
          <a:xfrm>
            <a:off x="151657" y="5506005"/>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6" name="TextBox 5">
            <a:extLst>
              <a:ext uri="{FF2B5EF4-FFF2-40B4-BE49-F238E27FC236}">
                <a16:creationId xmlns:a16="http://schemas.microsoft.com/office/drawing/2014/main" id="{71660E78-6A5E-464C-9859-461AD2FE531F}"/>
              </a:ext>
            </a:extLst>
          </p:cNvPr>
          <p:cNvSpPr txBox="1"/>
          <p:nvPr/>
        </p:nvSpPr>
        <p:spPr>
          <a:xfrm>
            <a:off x="8852452" y="5600928"/>
            <a:ext cx="3154017" cy="369332"/>
          </a:xfrm>
          <a:prstGeom prst="rect">
            <a:avLst/>
          </a:prstGeom>
          <a:noFill/>
          <a:ln>
            <a:solidFill>
              <a:schemeClr val="accent1"/>
            </a:solidFill>
          </a:ln>
        </p:spPr>
        <p:txBody>
          <a:bodyPr wrap="square" rtlCol="0">
            <a:spAutoFit/>
          </a:bodyPr>
          <a:lstStyle/>
          <a:p>
            <a:r>
              <a:rPr lang="en-AU" dirty="0"/>
              <a:t>READ/TRACK/PRONOUNCE</a:t>
            </a:r>
          </a:p>
        </p:txBody>
      </p:sp>
      <p:sp>
        <p:nvSpPr>
          <p:cNvPr id="2" name="Rectangle 1">
            <a:extLst>
              <a:ext uri="{FF2B5EF4-FFF2-40B4-BE49-F238E27FC236}">
                <a16:creationId xmlns:a16="http://schemas.microsoft.com/office/drawing/2014/main" id="{2EBB7FE4-5581-4D34-B32B-9857A5B264CD}"/>
              </a:ext>
            </a:extLst>
          </p:cNvPr>
          <p:cNvSpPr/>
          <p:nvPr/>
        </p:nvSpPr>
        <p:spPr>
          <a:xfrm>
            <a:off x="8688994" y="3591634"/>
            <a:ext cx="3317475" cy="646331"/>
          </a:xfrm>
          <a:prstGeom prst="rect">
            <a:avLst/>
          </a:prstGeom>
          <a:ln>
            <a:solidFill>
              <a:schemeClr val="accent1"/>
            </a:solidFill>
          </a:ln>
        </p:spPr>
        <p:txBody>
          <a:bodyPr wrap="square">
            <a:spAutoFit/>
          </a:bodyPr>
          <a:lstStyle/>
          <a:p>
            <a:r>
              <a:rPr lang="en-AU" dirty="0"/>
              <a:t>Disputes - a disagreement or argument.</a:t>
            </a:r>
          </a:p>
        </p:txBody>
      </p:sp>
    </p:spTree>
    <p:extLst>
      <p:ext uri="{BB962C8B-B14F-4D97-AF65-F5344CB8AC3E}">
        <p14:creationId xmlns:p14="http://schemas.microsoft.com/office/powerpoint/2010/main" val="4248652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AF7CF9-1A7F-4900-9974-3EFD332EC2D0}"/>
              </a:ext>
            </a:extLst>
          </p:cNvPr>
          <p:cNvSpPr>
            <a:spLocks noGrp="1"/>
          </p:cNvSpPr>
          <p:nvPr>
            <p:ph idx="1"/>
          </p:nvPr>
        </p:nvSpPr>
        <p:spPr>
          <a:xfrm>
            <a:off x="285388" y="432372"/>
            <a:ext cx="9603275" cy="2211710"/>
          </a:xfrm>
        </p:spPr>
        <p:txBody>
          <a:bodyPr>
            <a:normAutofit lnSpcReduction="10000"/>
          </a:bodyPr>
          <a:lstStyle/>
          <a:p>
            <a:pPr marL="0" indent="0">
              <a:buNone/>
            </a:pPr>
            <a:r>
              <a:rPr lang="en-AU" dirty="0"/>
              <a:t>So, a </a:t>
            </a:r>
            <a:r>
              <a:rPr lang="en-AU" b="1" dirty="0"/>
              <a:t>doctrine</a:t>
            </a:r>
            <a:r>
              <a:rPr lang="en-AU" dirty="0"/>
              <a:t> of </a:t>
            </a:r>
            <a:r>
              <a:rPr lang="en-AU" b="1" dirty="0"/>
              <a:t>precedent </a:t>
            </a:r>
            <a:r>
              <a:rPr lang="en-AU" dirty="0"/>
              <a:t>(policy of importance) emerged in the law of contract. Contracts cannot be voluntary. Both parties must contribute something in money or money's worth. No judge has ever sat down and </a:t>
            </a:r>
            <a:r>
              <a:rPr lang="en-AU" b="1" dirty="0"/>
              <a:t>promulgated</a:t>
            </a:r>
            <a:r>
              <a:rPr lang="en-AU" dirty="0"/>
              <a:t> such a rule. It simply emerges from reading a series of cases. Once it had emerged, </a:t>
            </a:r>
            <a:r>
              <a:rPr lang="en-AU" b="1" dirty="0"/>
              <a:t>subsequent</a:t>
            </a:r>
            <a:r>
              <a:rPr lang="en-AU" dirty="0"/>
              <a:t> decisions noted the rule and recorded it. We know this process as the doctrine of precedent. The resulting body of cases is the common law.</a:t>
            </a:r>
          </a:p>
        </p:txBody>
      </p:sp>
      <p:sp>
        <p:nvSpPr>
          <p:cNvPr id="4" name="TextBox 3">
            <a:extLst>
              <a:ext uri="{FF2B5EF4-FFF2-40B4-BE49-F238E27FC236}">
                <a16:creationId xmlns:a16="http://schemas.microsoft.com/office/drawing/2014/main" id="{63A06D5A-C95A-4713-AB10-504906912ABC}"/>
              </a:ext>
            </a:extLst>
          </p:cNvPr>
          <p:cNvSpPr txBox="1"/>
          <p:nvPr/>
        </p:nvSpPr>
        <p:spPr>
          <a:xfrm>
            <a:off x="438851" y="3586874"/>
            <a:ext cx="3260034" cy="1200329"/>
          </a:xfrm>
          <a:prstGeom prst="rect">
            <a:avLst/>
          </a:prstGeom>
          <a:noFill/>
          <a:ln>
            <a:solidFill>
              <a:schemeClr val="tx1"/>
            </a:solidFill>
          </a:ln>
        </p:spPr>
        <p:txBody>
          <a:bodyPr wrap="square" rtlCol="0">
            <a:spAutoFit/>
          </a:bodyPr>
          <a:lstStyle/>
          <a:p>
            <a:r>
              <a:rPr lang="en-AU" dirty="0"/>
              <a:t>CFU:</a:t>
            </a:r>
          </a:p>
          <a:p>
            <a:r>
              <a:rPr lang="en-AU" dirty="0"/>
              <a:t>For a contract to work both parties have to?</a:t>
            </a:r>
          </a:p>
          <a:p>
            <a:r>
              <a:rPr lang="en-AU" dirty="0"/>
              <a:t>What is a doctrine of precedent?</a:t>
            </a:r>
          </a:p>
        </p:txBody>
      </p:sp>
      <p:sp>
        <p:nvSpPr>
          <p:cNvPr id="5" name="TextBox 4">
            <a:extLst>
              <a:ext uri="{FF2B5EF4-FFF2-40B4-BE49-F238E27FC236}">
                <a16:creationId xmlns:a16="http://schemas.microsoft.com/office/drawing/2014/main" id="{1BC2CBED-25D3-42FB-97BB-B1CA41E8BFBF}"/>
              </a:ext>
            </a:extLst>
          </p:cNvPr>
          <p:cNvSpPr txBox="1"/>
          <p:nvPr/>
        </p:nvSpPr>
        <p:spPr>
          <a:xfrm>
            <a:off x="8493117" y="2478879"/>
            <a:ext cx="3657600" cy="2862322"/>
          </a:xfrm>
          <a:prstGeom prst="rect">
            <a:avLst/>
          </a:prstGeom>
          <a:noFill/>
          <a:ln>
            <a:solidFill>
              <a:schemeClr val="tx1"/>
            </a:solidFill>
          </a:ln>
        </p:spPr>
        <p:txBody>
          <a:bodyPr wrap="square" rtlCol="0">
            <a:spAutoFit/>
          </a:bodyPr>
          <a:lstStyle/>
          <a:p>
            <a:r>
              <a:rPr lang="en-AU" dirty="0"/>
              <a:t>Vocabulary:</a:t>
            </a:r>
          </a:p>
          <a:p>
            <a:r>
              <a:rPr lang="en-AU" b="1" dirty="0"/>
              <a:t>Doctrine</a:t>
            </a:r>
            <a:r>
              <a:rPr lang="en-AU" dirty="0"/>
              <a:t> – a particular principle, position, or policy taught or advocated. </a:t>
            </a:r>
          </a:p>
          <a:p>
            <a:r>
              <a:rPr lang="en-AU" b="1" dirty="0"/>
              <a:t>Precedent</a:t>
            </a:r>
            <a:r>
              <a:rPr lang="en-AU" dirty="0"/>
              <a:t> - preceding in time, order, or importance. </a:t>
            </a:r>
          </a:p>
          <a:p>
            <a:r>
              <a:rPr lang="en-AU" b="1" dirty="0"/>
              <a:t>Promulgated</a:t>
            </a:r>
            <a:r>
              <a:rPr lang="en-AU" dirty="0"/>
              <a:t> – promote or make widely known.</a:t>
            </a:r>
          </a:p>
          <a:p>
            <a:r>
              <a:rPr lang="en-AU" b="1" dirty="0"/>
              <a:t>Subsequent</a:t>
            </a:r>
            <a:r>
              <a:rPr lang="en-AU" dirty="0"/>
              <a:t> - coming after something in time; following.</a:t>
            </a:r>
          </a:p>
        </p:txBody>
      </p:sp>
      <p:sp>
        <p:nvSpPr>
          <p:cNvPr id="6" name="Subtitle 2">
            <a:extLst>
              <a:ext uri="{FF2B5EF4-FFF2-40B4-BE49-F238E27FC236}">
                <a16:creationId xmlns:a16="http://schemas.microsoft.com/office/drawing/2014/main" id="{6A1E49C3-BD58-4E90-BFB8-F4BBE4D3C7CC}"/>
              </a:ext>
            </a:extLst>
          </p:cNvPr>
          <p:cNvSpPr txBox="1">
            <a:spLocks/>
          </p:cNvSpPr>
          <p:nvPr/>
        </p:nvSpPr>
        <p:spPr>
          <a:xfrm>
            <a:off x="138406" y="5452996"/>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7" name="TextBox 6">
            <a:extLst>
              <a:ext uri="{FF2B5EF4-FFF2-40B4-BE49-F238E27FC236}">
                <a16:creationId xmlns:a16="http://schemas.microsoft.com/office/drawing/2014/main" id="{D1C7B6B2-106F-4583-B087-56139FDFA177}"/>
              </a:ext>
            </a:extLst>
          </p:cNvPr>
          <p:cNvSpPr txBox="1"/>
          <p:nvPr/>
        </p:nvSpPr>
        <p:spPr>
          <a:xfrm>
            <a:off x="8852452" y="5600928"/>
            <a:ext cx="3154017" cy="369332"/>
          </a:xfrm>
          <a:prstGeom prst="rect">
            <a:avLst/>
          </a:prstGeom>
          <a:noFill/>
          <a:ln>
            <a:solidFill>
              <a:schemeClr val="accent1"/>
            </a:solidFill>
          </a:ln>
        </p:spPr>
        <p:txBody>
          <a:bodyPr wrap="square" rtlCol="0">
            <a:spAutoFit/>
          </a:bodyPr>
          <a:lstStyle/>
          <a:p>
            <a:r>
              <a:rPr lang="en-AU" dirty="0"/>
              <a:t>READ/TRACK/PRONOUNCE</a:t>
            </a:r>
          </a:p>
        </p:txBody>
      </p:sp>
    </p:spTree>
    <p:extLst>
      <p:ext uri="{BB962C8B-B14F-4D97-AF65-F5344CB8AC3E}">
        <p14:creationId xmlns:p14="http://schemas.microsoft.com/office/powerpoint/2010/main" val="333621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is common law?</a:t>
            </a:r>
          </a:p>
        </p:txBody>
      </p:sp>
      <p:sp>
        <p:nvSpPr>
          <p:cNvPr id="3" name="Content Placeholder 2"/>
          <p:cNvSpPr>
            <a:spLocks noGrp="1"/>
          </p:cNvSpPr>
          <p:nvPr>
            <p:ph idx="1"/>
          </p:nvPr>
        </p:nvSpPr>
        <p:spPr/>
        <p:txBody>
          <a:bodyPr/>
          <a:lstStyle/>
          <a:p>
            <a:pPr marL="6160" indent="0">
              <a:buNone/>
            </a:pPr>
            <a:r>
              <a:rPr lang="en-AU" dirty="0"/>
              <a:t>a. Is the law made by judges when deciding a particular case before them.</a:t>
            </a:r>
          </a:p>
          <a:p>
            <a:pPr marL="6160" indent="0">
              <a:buNone/>
            </a:pPr>
            <a:r>
              <a:rPr lang="en-AU" dirty="0"/>
              <a:t>b. A law that is common is all states.</a:t>
            </a:r>
          </a:p>
          <a:p>
            <a:pPr marL="6160" indent="0">
              <a:buNone/>
            </a:pPr>
            <a:r>
              <a:rPr lang="en-AU" dirty="0"/>
              <a:t>c. A law that only rich people follow.</a:t>
            </a:r>
          </a:p>
        </p:txBody>
      </p:sp>
    </p:spTree>
    <p:extLst>
      <p:ext uri="{BB962C8B-B14F-4D97-AF65-F5344CB8AC3E}">
        <p14:creationId xmlns:p14="http://schemas.microsoft.com/office/powerpoint/2010/main" val="1480425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is common law?</a:t>
            </a:r>
          </a:p>
        </p:txBody>
      </p:sp>
      <p:sp>
        <p:nvSpPr>
          <p:cNvPr id="3" name="Content Placeholder 2"/>
          <p:cNvSpPr>
            <a:spLocks noGrp="1"/>
          </p:cNvSpPr>
          <p:nvPr>
            <p:ph idx="1"/>
          </p:nvPr>
        </p:nvSpPr>
        <p:spPr/>
        <p:txBody>
          <a:bodyPr/>
          <a:lstStyle/>
          <a:p>
            <a:pPr marL="6160" indent="0">
              <a:buNone/>
            </a:pPr>
            <a:r>
              <a:rPr lang="en-AU" dirty="0"/>
              <a:t>a. </a:t>
            </a:r>
            <a:r>
              <a:rPr lang="en-AU" dirty="0">
                <a:solidFill>
                  <a:srgbClr val="FF0000"/>
                </a:solidFill>
              </a:rPr>
              <a:t>Is the law made by judges when deciding a particular case before them.</a:t>
            </a:r>
          </a:p>
          <a:p>
            <a:pPr marL="6160" indent="0">
              <a:buNone/>
            </a:pPr>
            <a:r>
              <a:rPr lang="en-AU" dirty="0"/>
              <a:t>b. A law that is common is all states.</a:t>
            </a:r>
          </a:p>
          <a:p>
            <a:pPr marL="6160" indent="0">
              <a:buNone/>
            </a:pPr>
            <a:r>
              <a:rPr lang="en-AU" dirty="0"/>
              <a:t>c. A law that only rich people follow.</a:t>
            </a:r>
          </a:p>
        </p:txBody>
      </p:sp>
    </p:spTree>
    <p:extLst>
      <p:ext uri="{BB962C8B-B14F-4D97-AF65-F5344CB8AC3E}">
        <p14:creationId xmlns:p14="http://schemas.microsoft.com/office/powerpoint/2010/main" val="3819321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A41684-CEA6-4F43-AAF5-3B8B2747F62D}"/>
              </a:ext>
            </a:extLst>
          </p:cNvPr>
          <p:cNvSpPr>
            <a:spLocks noGrp="1"/>
          </p:cNvSpPr>
          <p:nvPr>
            <p:ph idx="1"/>
          </p:nvPr>
        </p:nvSpPr>
        <p:spPr>
          <a:xfrm>
            <a:off x="470918" y="173681"/>
            <a:ext cx="9603275" cy="2841322"/>
          </a:xfrm>
        </p:spPr>
        <p:txBody>
          <a:bodyPr>
            <a:normAutofit fontScale="92500"/>
          </a:bodyPr>
          <a:lstStyle/>
          <a:p>
            <a:pPr marL="0" indent="0">
              <a:buNone/>
            </a:pPr>
            <a:r>
              <a:rPr lang="en-AU" dirty="0"/>
              <a:t>Generally speaking, parliament has </a:t>
            </a:r>
            <a:r>
              <a:rPr lang="en-AU" b="1" u="sng" dirty="0"/>
              <a:t>supremacy</a:t>
            </a:r>
            <a:r>
              <a:rPr lang="en-AU" dirty="0"/>
              <a:t> over the courts. Although it cannot reverse the results in particular court decisions, it can vary the common law through </a:t>
            </a:r>
            <a:r>
              <a:rPr lang="en-AU" b="1" u="sng" dirty="0"/>
              <a:t>legislation</a:t>
            </a:r>
            <a:r>
              <a:rPr lang="en-AU" dirty="0"/>
              <a:t>.</a:t>
            </a:r>
          </a:p>
          <a:p>
            <a:pPr marL="0" indent="0">
              <a:buNone/>
            </a:pPr>
            <a:r>
              <a:rPr lang="en-AU" dirty="0"/>
              <a:t>Accordingly the parliament came, gradually, to modify the common law. For example, legislation was passed to require certain contracts to be in writing before they could be enforced. Over the course of time, parliaments have intruded more and more into the development of the common law. There are now hundreds of acts of parliament which modify it. In some fields the entirety of the common law has been </a:t>
            </a:r>
            <a:r>
              <a:rPr lang="en-AU" b="1" u="sng" dirty="0"/>
              <a:t>displaced</a:t>
            </a:r>
            <a:r>
              <a:rPr lang="en-AU" dirty="0"/>
              <a:t> (taken over) by legislation.</a:t>
            </a:r>
          </a:p>
          <a:p>
            <a:pPr marL="0" indent="0">
              <a:buNone/>
            </a:pPr>
            <a:endParaRPr lang="en-AU" dirty="0"/>
          </a:p>
        </p:txBody>
      </p:sp>
      <p:sp>
        <p:nvSpPr>
          <p:cNvPr id="4" name="TextBox 3">
            <a:extLst>
              <a:ext uri="{FF2B5EF4-FFF2-40B4-BE49-F238E27FC236}">
                <a16:creationId xmlns:a16="http://schemas.microsoft.com/office/drawing/2014/main" id="{197BA9A5-2444-4271-9F6D-7FEFE7F2DD8C}"/>
              </a:ext>
            </a:extLst>
          </p:cNvPr>
          <p:cNvSpPr txBox="1"/>
          <p:nvPr/>
        </p:nvSpPr>
        <p:spPr>
          <a:xfrm>
            <a:off x="6518259" y="3172602"/>
            <a:ext cx="5483203" cy="1477328"/>
          </a:xfrm>
          <a:prstGeom prst="rect">
            <a:avLst/>
          </a:prstGeom>
          <a:noFill/>
          <a:ln>
            <a:solidFill>
              <a:schemeClr val="accent1"/>
            </a:solidFill>
          </a:ln>
        </p:spPr>
        <p:txBody>
          <a:bodyPr wrap="square" rtlCol="0">
            <a:spAutoFit/>
          </a:bodyPr>
          <a:lstStyle/>
          <a:p>
            <a:r>
              <a:rPr lang="en-AU" dirty="0"/>
              <a:t>Vocabulary:</a:t>
            </a:r>
          </a:p>
          <a:p>
            <a:r>
              <a:rPr lang="en-AU" b="1" dirty="0"/>
              <a:t>Supremacy</a:t>
            </a:r>
            <a:r>
              <a:rPr lang="en-AU" dirty="0"/>
              <a:t> –the state or condition of being superior to all others in authority, power, or status</a:t>
            </a:r>
          </a:p>
          <a:p>
            <a:r>
              <a:rPr lang="en-AU" b="1" dirty="0"/>
              <a:t>Legislation</a:t>
            </a:r>
            <a:r>
              <a:rPr lang="en-AU" dirty="0"/>
              <a:t> - the process of making or enacting laws.</a:t>
            </a:r>
          </a:p>
          <a:p>
            <a:r>
              <a:rPr lang="en-AU" b="1" dirty="0"/>
              <a:t>Displaced</a:t>
            </a:r>
            <a:r>
              <a:rPr lang="en-AU" dirty="0"/>
              <a:t> - take over the place, position, or role of.</a:t>
            </a:r>
          </a:p>
        </p:txBody>
      </p:sp>
      <p:sp>
        <p:nvSpPr>
          <p:cNvPr id="5" name="TextBox 4">
            <a:extLst>
              <a:ext uri="{FF2B5EF4-FFF2-40B4-BE49-F238E27FC236}">
                <a16:creationId xmlns:a16="http://schemas.microsoft.com/office/drawing/2014/main" id="{E3178B4C-FF59-402B-BE52-4C1C99F8F23D}"/>
              </a:ext>
            </a:extLst>
          </p:cNvPr>
          <p:cNvSpPr txBox="1"/>
          <p:nvPr/>
        </p:nvSpPr>
        <p:spPr>
          <a:xfrm>
            <a:off x="304799" y="3507920"/>
            <a:ext cx="4518992" cy="1200329"/>
          </a:xfrm>
          <a:prstGeom prst="rect">
            <a:avLst/>
          </a:prstGeom>
          <a:noFill/>
          <a:ln>
            <a:solidFill>
              <a:schemeClr val="accent1"/>
            </a:solidFill>
          </a:ln>
        </p:spPr>
        <p:txBody>
          <a:bodyPr wrap="square" rtlCol="0">
            <a:spAutoFit/>
          </a:bodyPr>
          <a:lstStyle/>
          <a:p>
            <a:r>
              <a:rPr lang="en-AU" dirty="0"/>
              <a:t>CFU: (pair share)</a:t>
            </a:r>
          </a:p>
          <a:p>
            <a:r>
              <a:rPr lang="en-AU" dirty="0"/>
              <a:t>Who can change or modify common law and why?</a:t>
            </a:r>
          </a:p>
          <a:p>
            <a:r>
              <a:rPr lang="en-AU" dirty="0"/>
              <a:t>What is common law?</a:t>
            </a:r>
          </a:p>
        </p:txBody>
      </p:sp>
      <p:sp>
        <p:nvSpPr>
          <p:cNvPr id="6" name="Subtitle 2">
            <a:extLst>
              <a:ext uri="{FF2B5EF4-FFF2-40B4-BE49-F238E27FC236}">
                <a16:creationId xmlns:a16="http://schemas.microsoft.com/office/drawing/2014/main" id="{AE29E42B-1E64-4D98-A1F2-CA605CA7BC5A}"/>
              </a:ext>
            </a:extLst>
          </p:cNvPr>
          <p:cNvSpPr txBox="1">
            <a:spLocks/>
          </p:cNvSpPr>
          <p:nvPr/>
        </p:nvSpPr>
        <p:spPr>
          <a:xfrm>
            <a:off x="111901" y="5638526"/>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7" name="TextBox 6">
            <a:extLst>
              <a:ext uri="{FF2B5EF4-FFF2-40B4-BE49-F238E27FC236}">
                <a16:creationId xmlns:a16="http://schemas.microsoft.com/office/drawing/2014/main" id="{E7CA8FEF-F044-4E9F-B0DF-430AA43F3D4C}"/>
              </a:ext>
            </a:extLst>
          </p:cNvPr>
          <p:cNvSpPr txBox="1"/>
          <p:nvPr/>
        </p:nvSpPr>
        <p:spPr>
          <a:xfrm>
            <a:off x="8852452" y="5600928"/>
            <a:ext cx="3154017" cy="369332"/>
          </a:xfrm>
          <a:prstGeom prst="rect">
            <a:avLst/>
          </a:prstGeom>
          <a:noFill/>
          <a:ln>
            <a:solidFill>
              <a:schemeClr val="accent1"/>
            </a:solidFill>
          </a:ln>
        </p:spPr>
        <p:txBody>
          <a:bodyPr wrap="square" rtlCol="0">
            <a:spAutoFit/>
          </a:bodyPr>
          <a:lstStyle/>
          <a:p>
            <a:r>
              <a:rPr lang="en-AU" dirty="0"/>
              <a:t>READ/TRACK/PRONOUNCE</a:t>
            </a:r>
          </a:p>
        </p:txBody>
      </p:sp>
    </p:spTree>
    <p:extLst>
      <p:ext uri="{BB962C8B-B14F-4D97-AF65-F5344CB8AC3E}">
        <p14:creationId xmlns:p14="http://schemas.microsoft.com/office/powerpoint/2010/main" val="1549064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E34CF8-FD39-4781-920A-A6CC190A6974}"/>
              </a:ext>
            </a:extLst>
          </p:cNvPr>
          <p:cNvSpPr>
            <a:spLocks noGrp="1"/>
          </p:cNvSpPr>
          <p:nvPr>
            <p:ph idx="1"/>
          </p:nvPr>
        </p:nvSpPr>
        <p:spPr>
          <a:xfrm>
            <a:off x="484170" y="0"/>
            <a:ext cx="9603275" cy="3450613"/>
          </a:xfrm>
        </p:spPr>
        <p:txBody>
          <a:bodyPr/>
          <a:lstStyle/>
          <a:p>
            <a:r>
              <a:rPr lang="en-AU" dirty="0"/>
              <a:t>A good example is the criminal law. There once were common law crimes of murder, robbery and </a:t>
            </a:r>
            <a:r>
              <a:rPr lang="en-AU" b="1" dirty="0"/>
              <a:t>larceny</a:t>
            </a:r>
            <a:r>
              <a:rPr lang="en-AU" dirty="0"/>
              <a:t> (theft). However, for a very long time, these common law crimes and other crimes have mostly been replaced by crimes created or modified by legislation. The Commonwealth, Queensland and Western Australia have criminal codes. The whole of their criminal law is found in legislation.</a:t>
            </a:r>
          </a:p>
          <a:p>
            <a:r>
              <a:rPr lang="en-AU" dirty="0"/>
              <a:t>Some acts of parliaments relate to topics which are wholly covered by </a:t>
            </a:r>
            <a:r>
              <a:rPr lang="en-AU" b="1" dirty="0"/>
              <a:t>statute</a:t>
            </a:r>
            <a:r>
              <a:rPr lang="en-AU" dirty="0"/>
              <a:t> and have never been the </a:t>
            </a:r>
            <a:r>
              <a:rPr lang="en-AU" b="1" dirty="0"/>
              <a:t>province</a:t>
            </a:r>
            <a:r>
              <a:rPr lang="en-AU" dirty="0"/>
              <a:t> of the common law, such as the raising of income tax. Other acts vary or </a:t>
            </a:r>
            <a:r>
              <a:rPr lang="en-AU" b="1" dirty="0"/>
              <a:t>amend</a:t>
            </a:r>
            <a:r>
              <a:rPr lang="en-AU" dirty="0"/>
              <a:t> the common law established over the years by the courts.</a:t>
            </a:r>
          </a:p>
          <a:p>
            <a:pPr marL="0" indent="0">
              <a:buNone/>
            </a:pPr>
            <a:endParaRPr lang="en-AU" dirty="0"/>
          </a:p>
        </p:txBody>
      </p:sp>
      <p:sp>
        <p:nvSpPr>
          <p:cNvPr id="4" name="TextBox 3">
            <a:extLst>
              <a:ext uri="{FF2B5EF4-FFF2-40B4-BE49-F238E27FC236}">
                <a16:creationId xmlns:a16="http://schemas.microsoft.com/office/drawing/2014/main" id="{4FF2C11F-6C96-4701-9C46-FAF726F22197}"/>
              </a:ext>
            </a:extLst>
          </p:cNvPr>
          <p:cNvSpPr txBox="1"/>
          <p:nvPr/>
        </p:nvSpPr>
        <p:spPr>
          <a:xfrm>
            <a:off x="7500731" y="3425639"/>
            <a:ext cx="4505738" cy="2031325"/>
          </a:xfrm>
          <a:prstGeom prst="rect">
            <a:avLst/>
          </a:prstGeom>
          <a:noFill/>
          <a:ln>
            <a:solidFill>
              <a:schemeClr val="accent1"/>
            </a:solidFill>
          </a:ln>
        </p:spPr>
        <p:txBody>
          <a:bodyPr wrap="square" rtlCol="0">
            <a:spAutoFit/>
          </a:bodyPr>
          <a:lstStyle/>
          <a:p>
            <a:r>
              <a:rPr lang="en-AU" dirty="0"/>
              <a:t>Vocabulary:</a:t>
            </a:r>
          </a:p>
          <a:p>
            <a:r>
              <a:rPr lang="en-AU" b="1" dirty="0"/>
              <a:t>Legislation</a:t>
            </a:r>
            <a:r>
              <a:rPr lang="en-AU" dirty="0"/>
              <a:t> - the process of making or enacting laws.</a:t>
            </a:r>
          </a:p>
          <a:p>
            <a:r>
              <a:rPr lang="en-AU" b="1" dirty="0"/>
              <a:t>Larceny</a:t>
            </a:r>
            <a:r>
              <a:rPr lang="en-AU" dirty="0"/>
              <a:t> – Theft</a:t>
            </a:r>
          </a:p>
          <a:p>
            <a:r>
              <a:rPr lang="en-AU" b="1" dirty="0"/>
              <a:t>Statute</a:t>
            </a:r>
            <a:r>
              <a:rPr lang="en-AU" dirty="0"/>
              <a:t> – a written law passed by a legislative body.</a:t>
            </a:r>
          </a:p>
          <a:p>
            <a:r>
              <a:rPr lang="en-AU" b="1" dirty="0"/>
              <a:t>Amend</a:t>
            </a:r>
            <a:r>
              <a:rPr lang="en-AU" dirty="0"/>
              <a:t> - make minor changes to</a:t>
            </a:r>
          </a:p>
        </p:txBody>
      </p:sp>
      <p:sp>
        <p:nvSpPr>
          <p:cNvPr id="5" name="TextBox 4">
            <a:extLst>
              <a:ext uri="{FF2B5EF4-FFF2-40B4-BE49-F238E27FC236}">
                <a16:creationId xmlns:a16="http://schemas.microsoft.com/office/drawing/2014/main" id="{13765FDA-FCE9-4BE7-BB30-0565064EC922}"/>
              </a:ext>
            </a:extLst>
          </p:cNvPr>
          <p:cNvSpPr txBox="1"/>
          <p:nvPr/>
        </p:nvSpPr>
        <p:spPr>
          <a:xfrm>
            <a:off x="185530" y="3530458"/>
            <a:ext cx="4203480" cy="1200329"/>
          </a:xfrm>
          <a:prstGeom prst="rect">
            <a:avLst/>
          </a:prstGeom>
          <a:noFill/>
          <a:ln>
            <a:solidFill>
              <a:schemeClr val="accent1"/>
            </a:solidFill>
          </a:ln>
        </p:spPr>
        <p:txBody>
          <a:bodyPr wrap="square" rtlCol="0">
            <a:spAutoFit/>
          </a:bodyPr>
          <a:lstStyle/>
          <a:p>
            <a:r>
              <a:rPr lang="en-AU" dirty="0"/>
              <a:t>CFU: Pair/share</a:t>
            </a:r>
          </a:p>
          <a:p>
            <a:r>
              <a:rPr lang="en-AU" dirty="0"/>
              <a:t>Why have statutory laws been established for criminal law?</a:t>
            </a:r>
          </a:p>
          <a:p>
            <a:r>
              <a:rPr lang="en-AU" dirty="0"/>
              <a:t>What is common law?</a:t>
            </a:r>
          </a:p>
        </p:txBody>
      </p:sp>
      <p:sp>
        <p:nvSpPr>
          <p:cNvPr id="6" name="Subtitle 2">
            <a:extLst>
              <a:ext uri="{FF2B5EF4-FFF2-40B4-BE49-F238E27FC236}">
                <a16:creationId xmlns:a16="http://schemas.microsoft.com/office/drawing/2014/main" id="{B7515128-01A6-4108-A344-D788E4045827}"/>
              </a:ext>
            </a:extLst>
          </p:cNvPr>
          <p:cNvSpPr txBox="1">
            <a:spLocks/>
          </p:cNvSpPr>
          <p:nvPr/>
        </p:nvSpPr>
        <p:spPr>
          <a:xfrm>
            <a:off x="185530" y="5519257"/>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7" name="TextBox 6">
            <a:extLst>
              <a:ext uri="{FF2B5EF4-FFF2-40B4-BE49-F238E27FC236}">
                <a16:creationId xmlns:a16="http://schemas.microsoft.com/office/drawing/2014/main" id="{8562B6D7-375C-4D41-B2E6-16DFA85F014A}"/>
              </a:ext>
            </a:extLst>
          </p:cNvPr>
          <p:cNvSpPr txBox="1"/>
          <p:nvPr/>
        </p:nvSpPr>
        <p:spPr>
          <a:xfrm>
            <a:off x="8852452" y="5600928"/>
            <a:ext cx="3154017" cy="369332"/>
          </a:xfrm>
          <a:prstGeom prst="rect">
            <a:avLst/>
          </a:prstGeom>
          <a:noFill/>
          <a:ln>
            <a:solidFill>
              <a:schemeClr val="accent1"/>
            </a:solidFill>
          </a:ln>
        </p:spPr>
        <p:txBody>
          <a:bodyPr wrap="square" rtlCol="0">
            <a:spAutoFit/>
          </a:bodyPr>
          <a:lstStyle/>
          <a:p>
            <a:r>
              <a:rPr lang="en-AU" dirty="0"/>
              <a:t>READ/TRACK/PRONOUNCE</a:t>
            </a:r>
          </a:p>
        </p:txBody>
      </p:sp>
    </p:spTree>
    <p:extLst>
      <p:ext uri="{BB962C8B-B14F-4D97-AF65-F5344CB8AC3E}">
        <p14:creationId xmlns:p14="http://schemas.microsoft.com/office/powerpoint/2010/main" val="2287672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A45F96-1765-441E-AE77-F218A6588A29}"/>
              </a:ext>
            </a:extLst>
          </p:cNvPr>
          <p:cNvSpPr>
            <a:spLocks noGrp="1"/>
          </p:cNvSpPr>
          <p:nvPr>
            <p:ph idx="1"/>
          </p:nvPr>
        </p:nvSpPr>
        <p:spPr>
          <a:xfrm>
            <a:off x="868482" y="786163"/>
            <a:ext cx="9603275" cy="2224964"/>
          </a:xfrm>
        </p:spPr>
        <p:txBody>
          <a:bodyPr>
            <a:normAutofit fontScale="92500" lnSpcReduction="10000"/>
          </a:bodyPr>
          <a:lstStyle/>
          <a:p>
            <a:pPr marL="0" indent="0">
              <a:buNone/>
            </a:pPr>
            <a:r>
              <a:rPr lang="en-AU" dirty="0"/>
              <a:t>For the </a:t>
            </a:r>
            <a:r>
              <a:rPr lang="en-AU" b="1" dirty="0"/>
              <a:t>doctrine</a:t>
            </a:r>
            <a:r>
              <a:rPr lang="en-AU" dirty="0"/>
              <a:t> of </a:t>
            </a:r>
            <a:r>
              <a:rPr lang="en-AU" b="1" dirty="0"/>
              <a:t>precedent</a:t>
            </a:r>
            <a:r>
              <a:rPr lang="en-AU" dirty="0"/>
              <a:t> to operate it is necessary for </a:t>
            </a:r>
            <a:r>
              <a:rPr lang="en-AU" b="1" dirty="0"/>
              <a:t>inferior</a:t>
            </a:r>
            <a:r>
              <a:rPr lang="en-AU" dirty="0"/>
              <a:t> courts to follow precedents set in superior courts. Therefore precedent depends on the courts being organised in a hierarchy of courts.</a:t>
            </a:r>
          </a:p>
          <a:p>
            <a:pPr marL="0" indent="0">
              <a:buNone/>
            </a:pPr>
            <a:r>
              <a:rPr lang="en-AU" dirty="0"/>
              <a:t>The high court is the highest court in the country and is at the top of all the state and federal court hierarchies. A decision made by the High court on appeal from a state or territory court is </a:t>
            </a:r>
            <a:r>
              <a:rPr lang="en-AU" b="1" dirty="0"/>
              <a:t>binding</a:t>
            </a:r>
            <a:r>
              <a:rPr lang="en-AU" dirty="0"/>
              <a:t> on courts in all states and territories. </a:t>
            </a:r>
          </a:p>
        </p:txBody>
      </p:sp>
      <p:sp>
        <p:nvSpPr>
          <p:cNvPr id="4" name="TextBox 3">
            <a:extLst>
              <a:ext uri="{FF2B5EF4-FFF2-40B4-BE49-F238E27FC236}">
                <a16:creationId xmlns:a16="http://schemas.microsoft.com/office/drawing/2014/main" id="{D62A3640-CE4B-4916-BEC1-5FB0E840EB0B}"/>
              </a:ext>
            </a:extLst>
          </p:cNvPr>
          <p:cNvSpPr txBox="1"/>
          <p:nvPr/>
        </p:nvSpPr>
        <p:spPr>
          <a:xfrm>
            <a:off x="6367207" y="3168126"/>
            <a:ext cx="5380382" cy="2308324"/>
          </a:xfrm>
          <a:prstGeom prst="rect">
            <a:avLst/>
          </a:prstGeom>
          <a:noFill/>
          <a:ln>
            <a:solidFill>
              <a:schemeClr val="accent1"/>
            </a:solidFill>
          </a:ln>
        </p:spPr>
        <p:txBody>
          <a:bodyPr wrap="square" rtlCol="0">
            <a:spAutoFit/>
          </a:bodyPr>
          <a:lstStyle/>
          <a:p>
            <a:r>
              <a:rPr lang="en-AU" dirty="0"/>
              <a:t>Vocabulary:</a:t>
            </a:r>
          </a:p>
          <a:p>
            <a:r>
              <a:rPr lang="en-AU" b="1" dirty="0"/>
              <a:t>Legislature</a:t>
            </a:r>
            <a:r>
              <a:rPr lang="en-AU" dirty="0"/>
              <a:t> – create laws</a:t>
            </a:r>
          </a:p>
          <a:p>
            <a:r>
              <a:rPr lang="en-AU" b="1" dirty="0"/>
              <a:t>Executive</a:t>
            </a:r>
            <a:r>
              <a:rPr lang="en-AU" dirty="0"/>
              <a:t> – implement laws</a:t>
            </a:r>
          </a:p>
          <a:p>
            <a:r>
              <a:rPr lang="en-AU" b="1" dirty="0"/>
              <a:t>Judiciary</a:t>
            </a:r>
            <a:r>
              <a:rPr lang="en-AU" dirty="0"/>
              <a:t> – resolve disputes, make common law.</a:t>
            </a:r>
          </a:p>
          <a:p>
            <a:r>
              <a:rPr lang="en-AU" b="1" dirty="0"/>
              <a:t>Precedent</a:t>
            </a:r>
            <a:r>
              <a:rPr lang="en-AU" dirty="0"/>
              <a:t> –a court decision that must be followed by another court lower in the hierarchy.</a:t>
            </a:r>
          </a:p>
          <a:p>
            <a:r>
              <a:rPr lang="en-AU" b="1" dirty="0"/>
              <a:t>Inferior</a:t>
            </a:r>
            <a:r>
              <a:rPr lang="en-AU" dirty="0"/>
              <a:t> - lower in rank, status, or quality.</a:t>
            </a:r>
          </a:p>
          <a:p>
            <a:r>
              <a:rPr lang="en-AU" b="1" dirty="0"/>
              <a:t>Binding</a:t>
            </a:r>
            <a:r>
              <a:rPr lang="en-AU" dirty="0"/>
              <a:t> - involving an obligation that cannot be broken</a:t>
            </a:r>
          </a:p>
        </p:txBody>
      </p:sp>
      <p:sp>
        <p:nvSpPr>
          <p:cNvPr id="2" name="TextBox 1">
            <a:extLst>
              <a:ext uri="{FF2B5EF4-FFF2-40B4-BE49-F238E27FC236}">
                <a16:creationId xmlns:a16="http://schemas.microsoft.com/office/drawing/2014/main" id="{15FD7F46-F1C1-4254-9CAF-F28B1F162800}"/>
              </a:ext>
            </a:extLst>
          </p:cNvPr>
          <p:cNvSpPr txBox="1"/>
          <p:nvPr/>
        </p:nvSpPr>
        <p:spPr>
          <a:xfrm>
            <a:off x="444411" y="3445125"/>
            <a:ext cx="3464979" cy="1754326"/>
          </a:xfrm>
          <a:prstGeom prst="rect">
            <a:avLst/>
          </a:prstGeom>
          <a:noFill/>
          <a:ln>
            <a:solidFill>
              <a:schemeClr val="accent1"/>
            </a:solidFill>
          </a:ln>
        </p:spPr>
        <p:txBody>
          <a:bodyPr wrap="square" rtlCol="0">
            <a:spAutoFit/>
          </a:bodyPr>
          <a:lstStyle/>
          <a:p>
            <a:r>
              <a:rPr lang="en-AU" dirty="0"/>
              <a:t>CFU:</a:t>
            </a:r>
          </a:p>
          <a:p>
            <a:r>
              <a:rPr lang="en-AU" dirty="0"/>
              <a:t>1.What court is at the top of all courts?</a:t>
            </a:r>
          </a:p>
          <a:p>
            <a:r>
              <a:rPr lang="en-AU" dirty="0"/>
              <a:t>2.What is common law?</a:t>
            </a:r>
          </a:p>
          <a:p>
            <a:r>
              <a:rPr lang="en-AU" dirty="0"/>
              <a:t>3.Why must inferior courts follow precedents set in superior courts?</a:t>
            </a:r>
          </a:p>
        </p:txBody>
      </p:sp>
      <p:sp>
        <p:nvSpPr>
          <p:cNvPr id="5" name="Subtitle 2">
            <a:extLst>
              <a:ext uri="{FF2B5EF4-FFF2-40B4-BE49-F238E27FC236}">
                <a16:creationId xmlns:a16="http://schemas.microsoft.com/office/drawing/2014/main" id="{5ACF98C2-1EA0-4857-9443-C241FDB3F3F7}"/>
              </a:ext>
            </a:extLst>
          </p:cNvPr>
          <p:cNvSpPr txBox="1">
            <a:spLocks/>
          </p:cNvSpPr>
          <p:nvPr/>
        </p:nvSpPr>
        <p:spPr>
          <a:xfrm>
            <a:off x="98649" y="5614364"/>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6" name="TextBox 5">
            <a:extLst>
              <a:ext uri="{FF2B5EF4-FFF2-40B4-BE49-F238E27FC236}">
                <a16:creationId xmlns:a16="http://schemas.microsoft.com/office/drawing/2014/main" id="{017CEF2B-21F6-4473-B75E-9BC49F3CEEDF}"/>
              </a:ext>
            </a:extLst>
          </p:cNvPr>
          <p:cNvSpPr txBox="1"/>
          <p:nvPr/>
        </p:nvSpPr>
        <p:spPr>
          <a:xfrm>
            <a:off x="8852452" y="5600928"/>
            <a:ext cx="3154017" cy="369332"/>
          </a:xfrm>
          <a:prstGeom prst="rect">
            <a:avLst/>
          </a:prstGeom>
          <a:noFill/>
          <a:ln>
            <a:solidFill>
              <a:schemeClr val="accent1"/>
            </a:solidFill>
          </a:ln>
        </p:spPr>
        <p:txBody>
          <a:bodyPr wrap="square" rtlCol="0">
            <a:spAutoFit/>
          </a:bodyPr>
          <a:lstStyle/>
          <a:p>
            <a:r>
              <a:rPr lang="en-AU" dirty="0"/>
              <a:t>READ/TRACK/PRONOUNCE</a:t>
            </a:r>
          </a:p>
        </p:txBody>
      </p:sp>
    </p:spTree>
    <p:extLst>
      <p:ext uri="{BB962C8B-B14F-4D97-AF65-F5344CB8AC3E}">
        <p14:creationId xmlns:p14="http://schemas.microsoft.com/office/powerpoint/2010/main" val="2722483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5876B-C5AF-4612-A4AA-F2B8898CA1B9}"/>
              </a:ext>
            </a:extLst>
          </p:cNvPr>
          <p:cNvSpPr>
            <a:spLocks noGrp="1"/>
          </p:cNvSpPr>
          <p:nvPr>
            <p:ph type="title"/>
          </p:nvPr>
        </p:nvSpPr>
        <p:spPr/>
        <p:txBody>
          <a:bodyPr/>
          <a:lstStyle/>
          <a:p>
            <a:r>
              <a:rPr lang="en-AU" dirty="0"/>
              <a:t>Judges’ ability to make law</a:t>
            </a:r>
          </a:p>
        </p:txBody>
      </p:sp>
      <p:sp>
        <p:nvSpPr>
          <p:cNvPr id="3" name="Content Placeholder 2">
            <a:extLst>
              <a:ext uri="{FF2B5EF4-FFF2-40B4-BE49-F238E27FC236}">
                <a16:creationId xmlns:a16="http://schemas.microsoft.com/office/drawing/2014/main" id="{DE0E2D64-4ACC-4C3C-9D3C-630434722524}"/>
              </a:ext>
            </a:extLst>
          </p:cNvPr>
          <p:cNvSpPr>
            <a:spLocks noGrp="1"/>
          </p:cNvSpPr>
          <p:nvPr>
            <p:ph idx="1"/>
          </p:nvPr>
        </p:nvSpPr>
        <p:spPr>
          <a:xfrm>
            <a:off x="397565" y="1785581"/>
            <a:ext cx="9603275" cy="1694877"/>
          </a:xfrm>
        </p:spPr>
        <p:txBody>
          <a:bodyPr/>
          <a:lstStyle/>
          <a:p>
            <a:pPr marL="0" indent="0">
              <a:buNone/>
            </a:pPr>
            <a:r>
              <a:rPr lang="en-AU" dirty="0"/>
              <a:t>Judges are not free to make law when they feel the need arises. Judge-made law can only occur when an appropriate case is brought to the superior courts. Parliament, on the other hand, is free to make or change the law at any time if it feels the need exists.</a:t>
            </a:r>
          </a:p>
          <a:p>
            <a:pPr marL="0" indent="0">
              <a:buNone/>
            </a:pPr>
            <a:endParaRPr lang="en-AU" dirty="0"/>
          </a:p>
        </p:txBody>
      </p:sp>
      <p:sp>
        <p:nvSpPr>
          <p:cNvPr id="4" name="TextBox 3">
            <a:extLst>
              <a:ext uri="{FF2B5EF4-FFF2-40B4-BE49-F238E27FC236}">
                <a16:creationId xmlns:a16="http://schemas.microsoft.com/office/drawing/2014/main" id="{658CEEE2-3D0E-4320-809F-0D3035FA974E}"/>
              </a:ext>
            </a:extLst>
          </p:cNvPr>
          <p:cNvSpPr txBox="1"/>
          <p:nvPr/>
        </p:nvSpPr>
        <p:spPr>
          <a:xfrm>
            <a:off x="397564" y="3732438"/>
            <a:ext cx="3313045" cy="1477328"/>
          </a:xfrm>
          <a:prstGeom prst="rect">
            <a:avLst/>
          </a:prstGeom>
          <a:noFill/>
          <a:ln>
            <a:solidFill>
              <a:schemeClr val="accent1"/>
            </a:solidFill>
          </a:ln>
        </p:spPr>
        <p:txBody>
          <a:bodyPr wrap="square" rtlCol="0">
            <a:spAutoFit/>
          </a:bodyPr>
          <a:lstStyle/>
          <a:p>
            <a:r>
              <a:rPr lang="en-AU" dirty="0"/>
              <a:t>CFU:</a:t>
            </a:r>
          </a:p>
          <a:p>
            <a:r>
              <a:rPr lang="en-AU" dirty="0"/>
              <a:t>1.Can judges make law whenever they want?</a:t>
            </a:r>
          </a:p>
          <a:p>
            <a:r>
              <a:rPr lang="en-AU" dirty="0"/>
              <a:t>2.Who is free to make or change laws at any time?</a:t>
            </a:r>
          </a:p>
        </p:txBody>
      </p:sp>
      <p:sp>
        <p:nvSpPr>
          <p:cNvPr id="5" name="Subtitle 2">
            <a:extLst>
              <a:ext uri="{FF2B5EF4-FFF2-40B4-BE49-F238E27FC236}">
                <a16:creationId xmlns:a16="http://schemas.microsoft.com/office/drawing/2014/main" id="{4509EA21-1531-423C-9E6A-F48DB2B34F64}"/>
              </a:ext>
            </a:extLst>
          </p:cNvPr>
          <p:cNvSpPr txBox="1">
            <a:spLocks/>
          </p:cNvSpPr>
          <p:nvPr/>
        </p:nvSpPr>
        <p:spPr>
          <a:xfrm>
            <a:off x="151658" y="5385864"/>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6" name="TextBox 5">
            <a:extLst>
              <a:ext uri="{FF2B5EF4-FFF2-40B4-BE49-F238E27FC236}">
                <a16:creationId xmlns:a16="http://schemas.microsoft.com/office/drawing/2014/main" id="{35D6B7B9-2C4E-4E8A-B340-CAD60333233D}"/>
              </a:ext>
            </a:extLst>
          </p:cNvPr>
          <p:cNvSpPr txBox="1"/>
          <p:nvPr/>
        </p:nvSpPr>
        <p:spPr>
          <a:xfrm>
            <a:off x="8852452" y="5600928"/>
            <a:ext cx="3154017" cy="369332"/>
          </a:xfrm>
          <a:prstGeom prst="rect">
            <a:avLst/>
          </a:prstGeom>
          <a:noFill/>
          <a:ln>
            <a:solidFill>
              <a:schemeClr val="accent1"/>
            </a:solidFill>
          </a:ln>
        </p:spPr>
        <p:txBody>
          <a:bodyPr wrap="square" rtlCol="0">
            <a:spAutoFit/>
          </a:bodyPr>
          <a:lstStyle/>
          <a:p>
            <a:r>
              <a:rPr lang="en-AU" dirty="0"/>
              <a:t>READ/TRACK/PRONOUNCE</a:t>
            </a:r>
          </a:p>
        </p:txBody>
      </p:sp>
      <p:sp>
        <p:nvSpPr>
          <p:cNvPr id="7" name="TextBox 6">
            <a:extLst>
              <a:ext uri="{FF2B5EF4-FFF2-40B4-BE49-F238E27FC236}">
                <a16:creationId xmlns:a16="http://schemas.microsoft.com/office/drawing/2014/main" id="{7FF841BA-E360-4F4D-9732-DCC8C8EF85EC}"/>
              </a:ext>
            </a:extLst>
          </p:cNvPr>
          <p:cNvSpPr txBox="1"/>
          <p:nvPr/>
        </p:nvSpPr>
        <p:spPr>
          <a:xfrm>
            <a:off x="8481391" y="3429000"/>
            <a:ext cx="3034748" cy="646331"/>
          </a:xfrm>
          <a:prstGeom prst="rect">
            <a:avLst/>
          </a:prstGeom>
          <a:noFill/>
          <a:ln>
            <a:solidFill>
              <a:schemeClr val="accent1"/>
            </a:solidFill>
          </a:ln>
        </p:spPr>
        <p:txBody>
          <a:bodyPr wrap="square" rtlCol="0">
            <a:spAutoFit/>
          </a:bodyPr>
          <a:lstStyle/>
          <a:p>
            <a:r>
              <a:rPr lang="en-AU" b="1" dirty="0"/>
              <a:t>Arises</a:t>
            </a:r>
            <a:r>
              <a:rPr lang="en-AU" dirty="0"/>
              <a:t> – emerge; become apparent. </a:t>
            </a:r>
          </a:p>
        </p:txBody>
      </p:sp>
    </p:spTree>
    <p:extLst>
      <p:ext uri="{BB962C8B-B14F-4D97-AF65-F5344CB8AC3E}">
        <p14:creationId xmlns:p14="http://schemas.microsoft.com/office/powerpoint/2010/main" val="2181636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D499F-4416-4C56-B4AB-ECC3F3830613}"/>
              </a:ext>
            </a:extLst>
          </p:cNvPr>
          <p:cNvSpPr>
            <a:spLocks noGrp="1"/>
          </p:cNvSpPr>
          <p:nvPr>
            <p:ph type="title"/>
          </p:nvPr>
        </p:nvSpPr>
        <p:spPr/>
        <p:txBody>
          <a:bodyPr>
            <a:normAutofit fontScale="90000"/>
          </a:bodyPr>
          <a:lstStyle/>
          <a:p>
            <a:r>
              <a:rPr lang="en-AU" dirty="0"/>
              <a:t>The restrictions on judges in the way they make law are:</a:t>
            </a:r>
            <a:br>
              <a:rPr lang="en-AU" dirty="0"/>
            </a:br>
            <a:endParaRPr lang="en-AU" dirty="0"/>
          </a:p>
        </p:txBody>
      </p:sp>
      <p:sp>
        <p:nvSpPr>
          <p:cNvPr id="3" name="Content Placeholder 2">
            <a:extLst>
              <a:ext uri="{FF2B5EF4-FFF2-40B4-BE49-F238E27FC236}">
                <a16:creationId xmlns:a16="http://schemas.microsoft.com/office/drawing/2014/main" id="{A6F036B8-B53B-430F-95B8-3C015B3268FB}"/>
              </a:ext>
            </a:extLst>
          </p:cNvPr>
          <p:cNvSpPr>
            <a:spLocks noGrp="1"/>
          </p:cNvSpPr>
          <p:nvPr>
            <p:ph idx="1"/>
          </p:nvPr>
        </p:nvSpPr>
        <p:spPr>
          <a:xfrm>
            <a:off x="1451579" y="2015733"/>
            <a:ext cx="9603275" cy="1814146"/>
          </a:xfrm>
        </p:spPr>
        <p:txBody>
          <a:bodyPr/>
          <a:lstStyle/>
          <a:p>
            <a:r>
              <a:rPr lang="en-AU" dirty="0"/>
              <a:t>A case needs to be brought before the superior courts- judges can only develop or change the law when they have to decide a specific case. A case will be brought by a person who feels </a:t>
            </a:r>
            <a:r>
              <a:rPr lang="en-AU" b="1" dirty="0"/>
              <a:t>aggrieved</a:t>
            </a:r>
            <a:r>
              <a:rPr lang="en-AU" dirty="0"/>
              <a:t> or injured by a decision and has decided to have the issue resolved in court.</a:t>
            </a:r>
          </a:p>
        </p:txBody>
      </p:sp>
      <p:sp>
        <p:nvSpPr>
          <p:cNvPr id="4" name="TextBox 3">
            <a:extLst>
              <a:ext uri="{FF2B5EF4-FFF2-40B4-BE49-F238E27FC236}">
                <a16:creationId xmlns:a16="http://schemas.microsoft.com/office/drawing/2014/main" id="{20E12454-CF17-41F9-AD3F-41841C3A93E2}"/>
              </a:ext>
            </a:extLst>
          </p:cNvPr>
          <p:cNvSpPr txBox="1"/>
          <p:nvPr/>
        </p:nvSpPr>
        <p:spPr>
          <a:xfrm>
            <a:off x="391405" y="3744553"/>
            <a:ext cx="2948144" cy="1477328"/>
          </a:xfrm>
          <a:prstGeom prst="rect">
            <a:avLst/>
          </a:prstGeom>
          <a:noFill/>
          <a:ln>
            <a:solidFill>
              <a:schemeClr val="accent1"/>
            </a:solidFill>
          </a:ln>
        </p:spPr>
        <p:txBody>
          <a:bodyPr wrap="square" rtlCol="0">
            <a:spAutoFit/>
          </a:bodyPr>
          <a:lstStyle/>
          <a:p>
            <a:r>
              <a:rPr lang="en-AU" dirty="0"/>
              <a:t>CFU:</a:t>
            </a:r>
          </a:p>
          <a:p>
            <a:pPr marL="342900" indent="-342900">
              <a:buAutoNum type="arabicPeriod"/>
            </a:pPr>
            <a:r>
              <a:rPr lang="en-AU" dirty="0"/>
              <a:t>Who can bring a case to court?</a:t>
            </a:r>
          </a:p>
          <a:p>
            <a:pPr marL="342900" indent="-342900">
              <a:buAutoNum type="arabicPeriod"/>
            </a:pPr>
            <a:r>
              <a:rPr lang="en-AU" dirty="0"/>
              <a:t>When can judges develop or change the law?</a:t>
            </a:r>
          </a:p>
        </p:txBody>
      </p:sp>
      <p:sp>
        <p:nvSpPr>
          <p:cNvPr id="5" name="Subtitle 2">
            <a:extLst>
              <a:ext uri="{FF2B5EF4-FFF2-40B4-BE49-F238E27FC236}">
                <a16:creationId xmlns:a16="http://schemas.microsoft.com/office/drawing/2014/main" id="{1ED8C077-464F-4F63-96B5-49C794105D36}"/>
              </a:ext>
            </a:extLst>
          </p:cNvPr>
          <p:cNvSpPr txBox="1">
            <a:spLocks/>
          </p:cNvSpPr>
          <p:nvPr/>
        </p:nvSpPr>
        <p:spPr>
          <a:xfrm>
            <a:off x="102333" y="5505888"/>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6" name="TextBox 5">
            <a:extLst>
              <a:ext uri="{FF2B5EF4-FFF2-40B4-BE49-F238E27FC236}">
                <a16:creationId xmlns:a16="http://schemas.microsoft.com/office/drawing/2014/main" id="{28CE12D8-3D9E-4020-80A4-017D3BA5AB55}"/>
              </a:ext>
            </a:extLst>
          </p:cNvPr>
          <p:cNvSpPr txBox="1"/>
          <p:nvPr/>
        </p:nvSpPr>
        <p:spPr>
          <a:xfrm>
            <a:off x="8852452" y="5600928"/>
            <a:ext cx="3154017" cy="369332"/>
          </a:xfrm>
          <a:prstGeom prst="rect">
            <a:avLst/>
          </a:prstGeom>
          <a:noFill/>
          <a:ln>
            <a:solidFill>
              <a:schemeClr val="accent1"/>
            </a:solidFill>
          </a:ln>
        </p:spPr>
        <p:txBody>
          <a:bodyPr wrap="square" rtlCol="0">
            <a:spAutoFit/>
          </a:bodyPr>
          <a:lstStyle/>
          <a:p>
            <a:r>
              <a:rPr lang="en-AU" dirty="0"/>
              <a:t>READ/TRACK/PRONOUNCE</a:t>
            </a:r>
          </a:p>
        </p:txBody>
      </p:sp>
      <p:sp>
        <p:nvSpPr>
          <p:cNvPr id="7" name="TextBox 6">
            <a:extLst>
              <a:ext uri="{FF2B5EF4-FFF2-40B4-BE49-F238E27FC236}">
                <a16:creationId xmlns:a16="http://schemas.microsoft.com/office/drawing/2014/main" id="{38E3E12D-3832-461C-8CA3-84C289B735DF}"/>
              </a:ext>
            </a:extLst>
          </p:cNvPr>
          <p:cNvSpPr txBox="1"/>
          <p:nvPr/>
        </p:nvSpPr>
        <p:spPr>
          <a:xfrm>
            <a:off x="9328259" y="3829879"/>
            <a:ext cx="2202402" cy="923330"/>
          </a:xfrm>
          <a:prstGeom prst="rect">
            <a:avLst/>
          </a:prstGeom>
          <a:noFill/>
          <a:ln>
            <a:solidFill>
              <a:schemeClr val="accent1"/>
            </a:solidFill>
          </a:ln>
        </p:spPr>
        <p:txBody>
          <a:bodyPr wrap="square" rtlCol="0">
            <a:spAutoFit/>
          </a:bodyPr>
          <a:lstStyle/>
          <a:p>
            <a:r>
              <a:rPr lang="en-AU" b="1" dirty="0"/>
              <a:t>Aggrieved</a:t>
            </a:r>
            <a:r>
              <a:rPr lang="en-AU" dirty="0"/>
              <a:t> – feeling resentment at having been unfairly treated.</a:t>
            </a:r>
          </a:p>
        </p:txBody>
      </p:sp>
    </p:spTree>
    <p:extLst>
      <p:ext uri="{BB962C8B-B14F-4D97-AF65-F5344CB8AC3E}">
        <p14:creationId xmlns:p14="http://schemas.microsoft.com/office/powerpoint/2010/main" val="287244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89B8EF-A9A0-45DA-A1A8-5E32232C26FB}"/>
              </a:ext>
            </a:extLst>
          </p:cNvPr>
          <p:cNvSpPr>
            <a:spLocks noGrp="1"/>
          </p:cNvSpPr>
          <p:nvPr>
            <p:ph idx="1"/>
          </p:nvPr>
        </p:nvSpPr>
        <p:spPr>
          <a:xfrm>
            <a:off x="1294362" y="1074828"/>
            <a:ext cx="9603275" cy="2118946"/>
          </a:xfrm>
        </p:spPr>
        <p:txBody>
          <a:bodyPr/>
          <a:lstStyle/>
          <a:p>
            <a:r>
              <a:rPr lang="en-AU" dirty="0"/>
              <a:t>Judges are bound by precedent – judges can make laws on a new issue that has not previously been considered by the courts or parliament (and so create a precedent). However, if a precedent has been created in a higher court in the same hierarchy and the facts are similar, then a lower court in the same hierarchy is bound to follow the reasoning or </a:t>
            </a:r>
            <a:r>
              <a:rPr lang="en-AU" b="1" dirty="0"/>
              <a:t>ratio decidendi </a:t>
            </a:r>
            <a:r>
              <a:rPr lang="en-AU" dirty="0"/>
              <a:t>in the earlier precedent.</a:t>
            </a:r>
          </a:p>
        </p:txBody>
      </p:sp>
      <p:sp>
        <p:nvSpPr>
          <p:cNvPr id="4" name="Rectangle 3">
            <a:extLst>
              <a:ext uri="{FF2B5EF4-FFF2-40B4-BE49-F238E27FC236}">
                <a16:creationId xmlns:a16="http://schemas.microsoft.com/office/drawing/2014/main" id="{B25F7204-5797-4CC1-B400-B0711A9B1FB4}"/>
              </a:ext>
            </a:extLst>
          </p:cNvPr>
          <p:cNvSpPr/>
          <p:nvPr/>
        </p:nvSpPr>
        <p:spPr>
          <a:xfrm>
            <a:off x="7354958" y="3163957"/>
            <a:ext cx="4651511" cy="2308324"/>
          </a:xfrm>
          <a:prstGeom prst="rect">
            <a:avLst/>
          </a:prstGeom>
          <a:ln>
            <a:solidFill>
              <a:schemeClr val="accent1"/>
            </a:solidFill>
          </a:ln>
        </p:spPr>
        <p:txBody>
          <a:bodyPr wrap="square">
            <a:spAutoFit/>
          </a:bodyPr>
          <a:lstStyle/>
          <a:p>
            <a:r>
              <a:rPr lang="en-AU" dirty="0"/>
              <a:t>Vocabulary:</a:t>
            </a:r>
          </a:p>
          <a:p>
            <a:r>
              <a:rPr lang="en-AU" b="1" dirty="0"/>
              <a:t>Precedent</a:t>
            </a:r>
            <a:r>
              <a:rPr lang="en-AU" dirty="0"/>
              <a:t> –a court decision that must be followed by another court lower in the hierarchy.</a:t>
            </a:r>
          </a:p>
          <a:p>
            <a:r>
              <a:rPr lang="en-AU" b="1" dirty="0"/>
              <a:t>Ratio decidendi </a:t>
            </a:r>
            <a:r>
              <a:rPr lang="en-AU" dirty="0"/>
              <a:t>- the rule of law on which a judicial decision is based.</a:t>
            </a:r>
          </a:p>
          <a:p>
            <a:r>
              <a:rPr lang="en-AU" b="1" dirty="0"/>
              <a:t>Judicial</a:t>
            </a:r>
            <a:r>
              <a:rPr lang="en-AU" dirty="0"/>
              <a:t> - relating to the administration of justice</a:t>
            </a:r>
          </a:p>
        </p:txBody>
      </p:sp>
      <p:sp>
        <p:nvSpPr>
          <p:cNvPr id="5" name="TextBox 4">
            <a:extLst>
              <a:ext uri="{FF2B5EF4-FFF2-40B4-BE49-F238E27FC236}">
                <a16:creationId xmlns:a16="http://schemas.microsoft.com/office/drawing/2014/main" id="{84CFD5F3-39F1-469D-99B4-3ABAEFAE1F7F}"/>
              </a:ext>
            </a:extLst>
          </p:cNvPr>
          <p:cNvSpPr txBox="1"/>
          <p:nvPr/>
        </p:nvSpPr>
        <p:spPr>
          <a:xfrm>
            <a:off x="437321" y="3664227"/>
            <a:ext cx="2358887" cy="1754326"/>
          </a:xfrm>
          <a:prstGeom prst="rect">
            <a:avLst/>
          </a:prstGeom>
          <a:noFill/>
          <a:ln>
            <a:solidFill>
              <a:schemeClr val="accent1"/>
            </a:solidFill>
          </a:ln>
        </p:spPr>
        <p:txBody>
          <a:bodyPr wrap="square" rtlCol="0">
            <a:spAutoFit/>
          </a:bodyPr>
          <a:lstStyle/>
          <a:p>
            <a:r>
              <a:rPr lang="en-AU" dirty="0"/>
              <a:t>CFU:</a:t>
            </a:r>
          </a:p>
          <a:p>
            <a:pPr marL="342900" indent="-342900">
              <a:buAutoNum type="arabicPeriod"/>
            </a:pPr>
            <a:r>
              <a:rPr lang="en-AU" dirty="0"/>
              <a:t>What is a precedent?</a:t>
            </a:r>
          </a:p>
          <a:p>
            <a:pPr marL="342900" indent="-342900">
              <a:buAutoNum type="arabicPeriod"/>
            </a:pPr>
            <a:r>
              <a:rPr lang="en-AU" dirty="0"/>
              <a:t>When can judges make laws?</a:t>
            </a:r>
          </a:p>
          <a:p>
            <a:pPr marL="342900" indent="-342900">
              <a:buAutoNum type="arabicPeriod"/>
            </a:pPr>
            <a:endParaRPr lang="en-AU" dirty="0"/>
          </a:p>
        </p:txBody>
      </p:sp>
      <p:sp>
        <p:nvSpPr>
          <p:cNvPr id="6" name="Subtitle 2">
            <a:extLst>
              <a:ext uri="{FF2B5EF4-FFF2-40B4-BE49-F238E27FC236}">
                <a16:creationId xmlns:a16="http://schemas.microsoft.com/office/drawing/2014/main" id="{58F1D18E-3AE6-43AE-BAE3-F0F9152A8EC8}"/>
              </a:ext>
            </a:extLst>
          </p:cNvPr>
          <p:cNvSpPr txBox="1">
            <a:spLocks/>
          </p:cNvSpPr>
          <p:nvPr/>
        </p:nvSpPr>
        <p:spPr>
          <a:xfrm>
            <a:off x="185531" y="5600928"/>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7" name="TextBox 6">
            <a:extLst>
              <a:ext uri="{FF2B5EF4-FFF2-40B4-BE49-F238E27FC236}">
                <a16:creationId xmlns:a16="http://schemas.microsoft.com/office/drawing/2014/main" id="{7ACE1169-DB48-4846-BCB2-CD94A94A294E}"/>
              </a:ext>
            </a:extLst>
          </p:cNvPr>
          <p:cNvSpPr txBox="1"/>
          <p:nvPr/>
        </p:nvSpPr>
        <p:spPr>
          <a:xfrm>
            <a:off x="8852452" y="5600928"/>
            <a:ext cx="3154017" cy="369332"/>
          </a:xfrm>
          <a:prstGeom prst="rect">
            <a:avLst/>
          </a:prstGeom>
          <a:noFill/>
          <a:ln>
            <a:solidFill>
              <a:schemeClr val="accent1"/>
            </a:solidFill>
          </a:ln>
        </p:spPr>
        <p:txBody>
          <a:bodyPr wrap="square" rtlCol="0">
            <a:spAutoFit/>
          </a:bodyPr>
          <a:lstStyle/>
          <a:p>
            <a:r>
              <a:rPr lang="en-AU" dirty="0"/>
              <a:t>READ/TRACK/PRONOUNCE</a:t>
            </a:r>
          </a:p>
        </p:txBody>
      </p:sp>
    </p:spTree>
    <p:extLst>
      <p:ext uri="{BB962C8B-B14F-4D97-AF65-F5344CB8AC3E}">
        <p14:creationId xmlns:p14="http://schemas.microsoft.com/office/powerpoint/2010/main" val="44827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07F87-5019-4550-B01C-B921D9775589}"/>
              </a:ext>
            </a:extLst>
          </p:cNvPr>
          <p:cNvSpPr>
            <a:spLocks noGrp="1"/>
          </p:cNvSpPr>
          <p:nvPr>
            <p:ph type="title"/>
          </p:nvPr>
        </p:nvSpPr>
        <p:spPr>
          <a:xfrm>
            <a:off x="1333603" y="252248"/>
            <a:ext cx="9605635" cy="592442"/>
          </a:xfrm>
        </p:spPr>
        <p:txBody>
          <a:bodyPr/>
          <a:lstStyle/>
          <a:p>
            <a:r>
              <a:rPr lang="en-AU" dirty="0"/>
              <a:t>Example of creation of common law</a:t>
            </a:r>
          </a:p>
        </p:txBody>
      </p:sp>
      <p:sp>
        <p:nvSpPr>
          <p:cNvPr id="3" name="Content Placeholder 2">
            <a:extLst>
              <a:ext uri="{FF2B5EF4-FFF2-40B4-BE49-F238E27FC236}">
                <a16:creationId xmlns:a16="http://schemas.microsoft.com/office/drawing/2014/main" id="{6ED2C407-27DF-488D-93A7-326216748F51}"/>
              </a:ext>
            </a:extLst>
          </p:cNvPr>
          <p:cNvSpPr>
            <a:spLocks noGrp="1"/>
          </p:cNvSpPr>
          <p:nvPr>
            <p:ph sz="half" idx="1"/>
          </p:nvPr>
        </p:nvSpPr>
        <p:spPr>
          <a:xfrm>
            <a:off x="325820" y="1243624"/>
            <a:ext cx="5787683" cy="3843384"/>
          </a:xfrm>
          <a:ln>
            <a:solidFill>
              <a:schemeClr val="accent1"/>
            </a:solidFill>
          </a:ln>
        </p:spPr>
        <p:txBody>
          <a:bodyPr>
            <a:normAutofit fontScale="92500" lnSpcReduction="10000"/>
          </a:bodyPr>
          <a:lstStyle/>
          <a:p>
            <a:pPr marL="0" indent="0">
              <a:buNone/>
            </a:pPr>
            <a:r>
              <a:rPr lang="en-AU" dirty="0"/>
              <a:t>Cases involving Human rights involve the courts creating common laws. Discrimination against:</a:t>
            </a:r>
          </a:p>
          <a:p>
            <a:r>
              <a:rPr lang="en-AU" dirty="0"/>
              <a:t>age</a:t>
            </a:r>
          </a:p>
          <a:p>
            <a:r>
              <a:rPr lang="en-AU" dirty="0"/>
              <a:t>disability</a:t>
            </a:r>
          </a:p>
          <a:p>
            <a:r>
              <a:rPr lang="en-AU" dirty="0"/>
              <a:t>race</a:t>
            </a:r>
          </a:p>
          <a:p>
            <a:r>
              <a:rPr lang="en-AU" dirty="0"/>
              <a:t>sex, pregnancy or </a:t>
            </a:r>
            <a:r>
              <a:rPr lang="en-AU" b="1" u="sng" dirty="0"/>
              <a:t>breastfeeding</a:t>
            </a:r>
          </a:p>
          <a:p>
            <a:r>
              <a:rPr lang="en-AU" dirty="0"/>
              <a:t>marital or relationship status</a:t>
            </a:r>
          </a:p>
          <a:p>
            <a:r>
              <a:rPr lang="en-AU" dirty="0"/>
              <a:t>sexual orientation, (gender identity or intersex status which fall under anti-discrimination legislation)</a:t>
            </a:r>
          </a:p>
        </p:txBody>
      </p:sp>
      <p:sp>
        <p:nvSpPr>
          <p:cNvPr id="4" name="Content Placeholder 3">
            <a:extLst>
              <a:ext uri="{FF2B5EF4-FFF2-40B4-BE49-F238E27FC236}">
                <a16:creationId xmlns:a16="http://schemas.microsoft.com/office/drawing/2014/main" id="{DC35BFB2-C77E-4D4F-8BF5-63C1F5B99C8F}"/>
              </a:ext>
            </a:extLst>
          </p:cNvPr>
          <p:cNvSpPr>
            <a:spLocks noGrp="1"/>
          </p:cNvSpPr>
          <p:nvPr>
            <p:ph sz="half" idx="2"/>
          </p:nvPr>
        </p:nvSpPr>
        <p:spPr>
          <a:xfrm>
            <a:off x="6626087" y="1868520"/>
            <a:ext cx="5103247" cy="1724340"/>
          </a:xfrm>
          <a:ln>
            <a:solidFill>
              <a:schemeClr val="accent1"/>
            </a:solidFill>
          </a:ln>
        </p:spPr>
        <p:txBody>
          <a:bodyPr>
            <a:normAutofit fontScale="92500" lnSpcReduction="10000"/>
          </a:bodyPr>
          <a:lstStyle/>
          <a:p>
            <a:pPr marL="0" indent="0">
              <a:buNone/>
            </a:pPr>
            <a:r>
              <a:rPr lang="en-AU" dirty="0"/>
              <a:t>As these are disputes the court has to solve they have to come up with a common law which both parties agree with. This could be one party receiving compensation from the other.</a:t>
            </a:r>
          </a:p>
        </p:txBody>
      </p:sp>
      <p:sp>
        <p:nvSpPr>
          <p:cNvPr id="5" name="TextBox 4"/>
          <p:cNvSpPr txBox="1"/>
          <p:nvPr/>
        </p:nvSpPr>
        <p:spPr>
          <a:xfrm>
            <a:off x="8576231" y="4129153"/>
            <a:ext cx="3153103" cy="923330"/>
          </a:xfrm>
          <a:prstGeom prst="rect">
            <a:avLst/>
          </a:prstGeom>
          <a:noFill/>
          <a:ln>
            <a:solidFill>
              <a:schemeClr val="accent1"/>
            </a:solidFill>
          </a:ln>
        </p:spPr>
        <p:txBody>
          <a:bodyPr wrap="square" rtlCol="0">
            <a:spAutoFit/>
          </a:bodyPr>
          <a:lstStyle/>
          <a:p>
            <a:r>
              <a:rPr lang="en-AU" dirty="0"/>
              <a:t>CFU:</a:t>
            </a:r>
          </a:p>
          <a:p>
            <a:r>
              <a:rPr lang="en-AU" dirty="0"/>
              <a:t>What cases involve the courts making common law?</a:t>
            </a:r>
          </a:p>
        </p:txBody>
      </p:sp>
      <p:sp>
        <p:nvSpPr>
          <p:cNvPr id="6" name="Subtitle 2">
            <a:extLst>
              <a:ext uri="{FF2B5EF4-FFF2-40B4-BE49-F238E27FC236}">
                <a16:creationId xmlns:a16="http://schemas.microsoft.com/office/drawing/2014/main" id="{1021E66B-22B6-499A-852A-E633DC9170B5}"/>
              </a:ext>
            </a:extLst>
          </p:cNvPr>
          <p:cNvSpPr txBox="1">
            <a:spLocks/>
          </p:cNvSpPr>
          <p:nvPr/>
        </p:nvSpPr>
        <p:spPr>
          <a:xfrm>
            <a:off x="185531" y="5600928"/>
            <a:ext cx="7561107" cy="457473"/>
          </a:xfrm>
          <a:prstGeom prst="rect">
            <a:avLst/>
          </a:prstGeom>
          <a:ln>
            <a:solidFill>
              <a:schemeClr val="accent1"/>
            </a:solidFill>
          </a:ln>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AU" sz="1600" dirty="0"/>
              <a:t>Learning objective: Identify and describe how common laws are made through court.</a:t>
            </a:r>
          </a:p>
        </p:txBody>
      </p:sp>
      <p:sp>
        <p:nvSpPr>
          <p:cNvPr id="7" name="TextBox 6">
            <a:extLst>
              <a:ext uri="{FF2B5EF4-FFF2-40B4-BE49-F238E27FC236}">
                <a16:creationId xmlns:a16="http://schemas.microsoft.com/office/drawing/2014/main" id="{171A88BC-B3A2-48A1-B22E-F710B545734C}"/>
              </a:ext>
            </a:extLst>
          </p:cNvPr>
          <p:cNvSpPr txBox="1"/>
          <p:nvPr/>
        </p:nvSpPr>
        <p:spPr>
          <a:xfrm>
            <a:off x="8852452" y="5600928"/>
            <a:ext cx="3154017" cy="369332"/>
          </a:xfrm>
          <a:prstGeom prst="rect">
            <a:avLst/>
          </a:prstGeom>
          <a:noFill/>
          <a:ln>
            <a:solidFill>
              <a:schemeClr val="accent1"/>
            </a:solidFill>
          </a:ln>
        </p:spPr>
        <p:txBody>
          <a:bodyPr wrap="square" rtlCol="0">
            <a:spAutoFit/>
          </a:bodyPr>
          <a:lstStyle/>
          <a:p>
            <a:r>
              <a:rPr lang="en-AU" dirty="0"/>
              <a:t>READ/TRACK/PRONOUNCE</a:t>
            </a:r>
          </a:p>
        </p:txBody>
      </p:sp>
      <p:sp>
        <p:nvSpPr>
          <p:cNvPr id="8" name="Rectangle 7"/>
          <p:cNvSpPr/>
          <p:nvPr/>
        </p:nvSpPr>
        <p:spPr>
          <a:xfrm>
            <a:off x="6327228" y="812714"/>
            <a:ext cx="5759669" cy="923330"/>
          </a:xfrm>
          <a:prstGeom prst="rect">
            <a:avLst/>
          </a:prstGeom>
          <a:ln>
            <a:solidFill>
              <a:schemeClr val="accent1"/>
            </a:solidFill>
          </a:ln>
        </p:spPr>
        <p:txBody>
          <a:bodyPr wrap="square">
            <a:spAutoFit/>
          </a:bodyPr>
          <a:lstStyle/>
          <a:p>
            <a:r>
              <a:rPr lang="en-AU" dirty="0">
                <a:hlinkClick r:id="rId2"/>
              </a:rPr>
              <a:t>https</a:t>
            </a:r>
            <a:r>
              <a:rPr lang="en-AU">
                <a:hlinkClick r:id="rId2"/>
              </a:rPr>
              <a:t>://www.supremecourt.vic.gov.au/going-to-court/for-the-public/vce-education-program/video-resource-for-teachers-and-students</a:t>
            </a:r>
            <a:r>
              <a:rPr lang="en-AU"/>
              <a:t> </a:t>
            </a:r>
            <a:endParaRPr lang="en-AU" dirty="0"/>
          </a:p>
        </p:txBody>
      </p:sp>
    </p:spTree>
    <p:extLst>
      <p:ext uri="{BB962C8B-B14F-4D97-AF65-F5344CB8AC3E}">
        <p14:creationId xmlns:p14="http://schemas.microsoft.com/office/powerpoint/2010/main" val="4219251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
                                            <p:bg/>
                                          </p:spTgt>
                                        </p:tgtEl>
                                        <p:attrNameLst>
                                          <p:attrName>style.visibility</p:attrName>
                                        </p:attrNameLst>
                                      </p:cBhvr>
                                      <p:to>
                                        <p:strVal val="visible"/>
                                      </p:to>
                                    </p:set>
                                    <p:anim calcmode="lin" valueType="num">
                                      <p:cBhvr additive="base">
                                        <p:cTn id="49" dur="500" fill="hold"/>
                                        <p:tgtEl>
                                          <p:spTgt spid="4">
                                            <p:bg/>
                                          </p:spTgt>
                                        </p:tgtEl>
                                        <p:attrNameLst>
                                          <p:attrName>ppt_x</p:attrName>
                                        </p:attrNameLst>
                                      </p:cBhvr>
                                      <p:tavLst>
                                        <p:tav tm="0">
                                          <p:val>
                                            <p:strVal val="#ppt_x"/>
                                          </p:val>
                                        </p:tav>
                                        <p:tav tm="100000">
                                          <p:val>
                                            <p:strVal val="#ppt_x"/>
                                          </p:val>
                                        </p:tav>
                                      </p:tavLst>
                                    </p:anim>
                                    <p:anim calcmode="lin" valueType="num">
                                      <p:cBhvr additive="base">
                                        <p:cTn id="50" dur="500" fill="hold"/>
                                        <p:tgtEl>
                                          <p:spTgt spid="4">
                                            <p:bg/>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
                                            <p:txEl>
                                              <p:pRg st="0" end="0"/>
                                            </p:txEl>
                                          </p:spTgt>
                                        </p:tgtEl>
                                        <p:attrNameLst>
                                          <p:attrName>style.visibility</p:attrName>
                                        </p:attrNameLst>
                                      </p:cBhvr>
                                      <p:to>
                                        <p:strVal val="visible"/>
                                      </p:to>
                                    </p:set>
                                    <p:anim calcmode="lin" valueType="num">
                                      <p:cBhvr additive="base">
                                        <p:cTn id="55"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anim calcmode="lin" valueType="num">
                                      <p:cBhvr additive="base">
                                        <p:cTn id="61" dur="500" fill="hold"/>
                                        <p:tgtEl>
                                          <p:spTgt spid="5"/>
                                        </p:tgtEl>
                                        <p:attrNameLst>
                                          <p:attrName>ppt_x</p:attrName>
                                        </p:attrNameLst>
                                      </p:cBhvr>
                                      <p:tavLst>
                                        <p:tav tm="0">
                                          <p:val>
                                            <p:strVal val="#ppt_x"/>
                                          </p:val>
                                        </p:tav>
                                        <p:tav tm="100000">
                                          <p:val>
                                            <p:strVal val="#ppt_x"/>
                                          </p:val>
                                        </p:tav>
                                      </p:tavLst>
                                    </p:anim>
                                    <p:anim calcmode="lin" valueType="num">
                                      <p:cBhvr additive="base">
                                        <p:cTn id="6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E02D-21FE-44C9-9E7C-F23354CCCDE8}"/>
              </a:ext>
            </a:extLst>
          </p:cNvPr>
          <p:cNvSpPr>
            <a:spLocks noGrp="1"/>
          </p:cNvSpPr>
          <p:nvPr>
            <p:ph type="title"/>
          </p:nvPr>
        </p:nvSpPr>
        <p:spPr/>
        <p:txBody>
          <a:bodyPr/>
          <a:lstStyle/>
          <a:p>
            <a:r>
              <a:rPr lang="en-AU" dirty="0"/>
              <a:t>The legislature do what?</a:t>
            </a:r>
          </a:p>
        </p:txBody>
      </p:sp>
      <p:sp>
        <p:nvSpPr>
          <p:cNvPr id="3" name="Content Placeholder 2">
            <a:extLst>
              <a:ext uri="{FF2B5EF4-FFF2-40B4-BE49-F238E27FC236}">
                <a16:creationId xmlns:a16="http://schemas.microsoft.com/office/drawing/2014/main" id="{9CF0D2B9-5A5E-437F-ABA7-4AEAA7360D81}"/>
              </a:ext>
            </a:extLst>
          </p:cNvPr>
          <p:cNvSpPr>
            <a:spLocks noGrp="1"/>
          </p:cNvSpPr>
          <p:nvPr>
            <p:ph idx="1"/>
          </p:nvPr>
        </p:nvSpPr>
        <p:spPr/>
        <p:txBody>
          <a:bodyPr/>
          <a:lstStyle/>
          <a:p>
            <a:pPr marL="457200" indent="-457200">
              <a:buAutoNum type="alphaLcPeriod"/>
            </a:pPr>
            <a:r>
              <a:rPr lang="en-AU" dirty="0"/>
              <a:t>Solve disputes, make common law</a:t>
            </a:r>
          </a:p>
          <a:p>
            <a:pPr marL="457200" indent="-457200">
              <a:buAutoNum type="alphaLcPeriod"/>
            </a:pPr>
            <a:r>
              <a:rPr lang="en-AU" dirty="0"/>
              <a:t>Implement the law</a:t>
            </a:r>
          </a:p>
          <a:p>
            <a:pPr marL="457200" indent="-457200">
              <a:buAutoNum type="alphaLcPeriod"/>
            </a:pPr>
            <a:r>
              <a:rPr lang="en-AU" dirty="0"/>
              <a:t>Create laws</a:t>
            </a:r>
          </a:p>
          <a:p>
            <a:pPr marL="457200" indent="-457200">
              <a:buAutoNum type="alphaLcPeriod"/>
            </a:pPr>
            <a:endParaRPr lang="en-AU" dirty="0"/>
          </a:p>
          <a:p>
            <a:pPr marL="457200" indent="-457200">
              <a:buAutoNum type="alphaLcPeriod"/>
            </a:pPr>
            <a:endParaRPr lang="en-AU" dirty="0"/>
          </a:p>
        </p:txBody>
      </p:sp>
    </p:spTree>
    <p:extLst>
      <p:ext uri="{BB962C8B-B14F-4D97-AF65-F5344CB8AC3E}">
        <p14:creationId xmlns:p14="http://schemas.microsoft.com/office/powerpoint/2010/main" val="3283951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E02D-21FE-44C9-9E7C-F23354CCCDE8}"/>
              </a:ext>
            </a:extLst>
          </p:cNvPr>
          <p:cNvSpPr>
            <a:spLocks noGrp="1"/>
          </p:cNvSpPr>
          <p:nvPr>
            <p:ph type="title"/>
          </p:nvPr>
        </p:nvSpPr>
        <p:spPr/>
        <p:txBody>
          <a:bodyPr/>
          <a:lstStyle/>
          <a:p>
            <a:r>
              <a:rPr lang="en-AU" dirty="0"/>
              <a:t>The legislature do what?</a:t>
            </a:r>
          </a:p>
        </p:txBody>
      </p:sp>
      <p:sp>
        <p:nvSpPr>
          <p:cNvPr id="3" name="Content Placeholder 2">
            <a:extLst>
              <a:ext uri="{FF2B5EF4-FFF2-40B4-BE49-F238E27FC236}">
                <a16:creationId xmlns:a16="http://schemas.microsoft.com/office/drawing/2014/main" id="{9CF0D2B9-5A5E-437F-ABA7-4AEAA7360D81}"/>
              </a:ext>
            </a:extLst>
          </p:cNvPr>
          <p:cNvSpPr>
            <a:spLocks noGrp="1"/>
          </p:cNvSpPr>
          <p:nvPr>
            <p:ph idx="1"/>
          </p:nvPr>
        </p:nvSpPr>
        <p:spPr/>
        <p:txBody>
          <a:bodyPr/>
          <a:lstStyle/>
          <a:p>
            <a:pPr marL="457200" indent="-457200">
              <a:buAutoNum type="alphaLcPeriod"/>
            </a:pPr>
            <a:r>
              <a:rPr lang="en-AU" dirty="0"/>
              <a:t>Solve disputes, make common law</a:t>
            </a:r>
          </a:p>
          <a:p>
            <a:pPr marL="457200" indent="-457200">
              <a:buAutoNum type="alphaLcPeriod"/>
            </a:pPr>
            <a:r>
              <a:rPr lang="en-AU" dirty="0"/>
              <a:t>Implement the law</a:t>
            </a:r>
          </a:p>
          <a:p>
            <a:pPr marL="457200" indent="-457200">
              <a:buAutoNum type="alphaLcPeriod"/>
            </a:pPr>
            <a:r>
              <a:rPr lang="en-AU" dirty="0">
                <a:solidFill>
                  <a:srgbClr val="FF0000"/>
                </a:solidFill>
              </a:rPr>
              <a:t>Create laws</a:t>
            </a:r>
          </a:p>
          <a:p>
            <a:pPr marL="457200" indent="-457200">
              <a:buAutoNum type="alphaLcPeriod"/>
            </a:pPr>
            <a:endParaRPr lang="en-AU" dirty="0"/>
          </a:p>
          <a:p>
            <a:pPr marL="457200" indent="-457200">
              <a:buAutoNum type="alphaLcPeriod"/>
            </a:pPr>
            <a:endParaRPr lang="en-AU" dirty="0"/>
          </a:p>
        </p:txBody>
      </p:sp>
    </p:spTree>
    <p:extLst>
      <p:ext uri="{BB962C8B-B14F-4D97-AF65-F5344CB8AC3E}">
        <p14:creationId xmlns:p14="http://schemas.microsoft.com/office/powerpoint/2010/main" val="2679990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E02D-21FE-44C9-9E7C-F23354CCCDE8}"/>
              </a:ext>
            </a:extLst>
          </p:cNvPr>
          <p:cNvSpPr>
            <a:spLocks noGrp="1"/>
          </p:cNvSpPr>
          <p:nvPr>
            <p:ph type="title"/>
          </p:nvPr>
        </p:nvSpPr>
        <p:spPr/>
        <p:txBody>
          <a:bodyPr/>
          <a:lstStyle/>
          <a:p>
            <a:r>
              <a:rPr lang="en-AU" dirty="0"/>
              <a:t>The Executive do what?</a:t>
            </a:r>
          </a:p>
        </p:txBody>
      </p:sp>
      <p:sp>
        <p:nvSpPr>
          <p:cNvPr id="3" name="Content Placeholder 2">
            <a:extLst>
              <a:ext uri="{FF2B5EF4-FFF2-40B4-BE49-F238E27FC236}">
                <a16:creationId xmlns:a16="http://schemas.microsoft.com/office/drawing/2014/main" id="{9CF0D2B9-5A5E-437F-ABA7-4AEAA7360D81}"/>
              </a:ext>
            </a:extLst>
          </p:cNvPr>
          <p:cNvSpPr>
            <a:spLocks noGrp="1"/>
          </p:cNvSpPr>
          <p:nvPr>
            <p:ph idx="1"/>
          </p:nvPr>
        </p:nvSpPr>
        <p:spPr/>
        <p:txBody>
          <a:bodyPr/>
          <a:lstStyle/>
          <a:p>
            <a:pPr marL="457200" indent="-457200">
              <a:buAutoNum type="alphaLcPeriod"/>
            </a:pPr>
            <a:r>
              <a:rPr lang="en-AU" dirty="0"/>
              <a:t>Solve disputes, make common law</a:t>
            </a:r>
          </a:p>
          <a:p>
            <a:pPr marL="457200" indent="-457200">
              <a:buAutoNum type="alphaLcPeriod"/>
            </a:pPr>
            <a:r>
              <a:rPr lang="en-AU" dirty="0"/>
              <a:t>Implement the law</a:t>
            </a:r>
          </a:p>
          <a:p>
            <a:pPr marL="457200" indent="-457200">
              <a:buAutoNum type="alphaLcPeriod"/>
            </a:pPr>
            <a:r>
              <a:rPr lang="en-AU" dirty="0"/>
              <a:t>Create laws</a:t>
            </a:r>
          </a:p>
          <a:p>
            <a:pPr marL="457200" indent="-457200">
              <a:buAutoNum type="alphaLcPeriod"/>
            </a:pPr>
            <a:endParaRPr lang="en-AU" dirty="0"/>
          </a:p>
          <a:p>
            <a:pPr marL="457200" indent="-457200">
              <a:buAutoNum type="alphaLcPeriod"/>
            </a:pPr>
            <a:endParaRPr lang="en-AU" dirty="0"/>
          </a:p>
        </p:txBody>
      </p:sp>
    </p:spTree>
    <p:extLst>
      <p:ext uri="{BB962C8B-B14F-4D97-AF65-F5344CB8AC3E}">
        <p14:creationId xmlns:p14="http://schemas.microsoft.com/office/powerpoint/2010/main" val="24885634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E02D-21FE-44C9-9E7C-F23354CCCDE8}"/>
              </a:ext>
            </a:extLst>
          </p:cNvPr>
          <p:cNvSpPr>
            <a:spLocks noGrp="1"/>
          </p:cNvSpPr>
          <p:nvPr>
            <p:ph type="title"/>
          </p:nvPr>
        </p:nvSpPr>
        <p:spPr/>
        <p:txBody>
          <a:bodyPr/>
          <a:lstStyle/>
          <a:p>
            <a:r>
              <a:rPr lang="en-AU" dirty="0"/>
              <a:t>The Executive do what?</a:t>
            </a:r>
          </a:p>
        </p:txBody>
      </p:sp>
      <p:sp>
        <p:nvSpPr>
          <p:cNvPr id="3" name="Content Placeholder 2">
            <a:extLst>
              <a:ext uri="{FF2B5EF4-FFF2-40B4-BE49-F238E27FC236}">
                <a16:creationId xmlns:a16="http://schemas.microsoft.com/office/drawing/2014/main" id="{9CF0D2B9-5A5E-437F-ABA7-4AEAA7360D81}"/>
              </a:ext>
            </a:extLst>
          </p:cNvPr>
          <p:cNvSpPr>
            <a:spLocks noGrp="1"/>
          </p:cNvSpPr>
          <p:nvPr>
            <p:ph idx="1"/>
          </p:nvPr>
        </p:nvSpPr>
        <p:spPr/>
        <p:txBody>
          <a:bodyPr/>
          <a:lstStyle/>
          <a:p>
            <a:pPr marL="457200" indent="-457200">
              <a:buAutoNum type="alphaLcPeriod"/>
            </a:pPr>
            <a:r>
              <a:rPr lang="en-AU" dirty="0"/>
              <a:t>Solve disputes, make common law</a:t>
            </a:r>
          </a:p>
          <a:p>
            <a:pPr marL="457200" indent="-457200">
              <a:buAutoNum type="alphaLcPeriod"/>
            </a:pPr>
            <a:r>
              <a:rPr lang="en-AU" dirty="0">
                <a:solidFill>
                  <a:srgbClr val="FF0000"/>
                </a:solidFill>
              </a:rPr>
              <a:t>Implement the law</a:t>
            </a:r>
          </a:p>
          <a:p>
            <a:pPr marL="457200" indent="-457200">
              <a:buAutoNum type="alphaLcPeriod"/>
            </a:pPr>
            <a:r>
              <a:rPr lang="en-AU" dirty="0"/>
              <a:t>Create laws</a:t>
            </a:r>
          </a:p>
          <a:p>
            <a:pPr marL="457200" indent="-457200">
              <a:buAutoNum type="alphaLcPeriod"/>
            </a:pPr>
            <a:endParaRPr lang="en-AU" dirty="0"/>
          </a:p>
          <a:p>
            <a:pPr marL="457200" indent="-457200">
              <a:buAutoNum type="alphaLcPeriod"/>
            </a:pPr>
            <a:endParaRPr lang="en-AU" dirty="0"/>
          </a:p>
        </p:txBody>
      </p:sp>
    </p:spTree>
    <p:extLst>
      <p:ext uri="{BB962C8B-B14F-4D97-AF65-F5344CB8AC3E}">
        <p14:creationId xmlns:p14="http://schemas.microsoft.com/office/powerpoint/2010/main" val="2207695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E02D-21FE-44C9-9E7C-F23354CCCDE8}"/>
              </a:ext>
            </a:extLst>
          </p:cNvPr>
          <p:cNvSpPr>
            <a:spLocks noGrp="1"/>
          </p:cNvSpPr>
          <p:nvPr>
            <p:ph type="title"/>
          </p:nvPr>
        </p:nvSpPr>
        <p:spPr/>
        <p:txBody>
          <a:bodyPr/>
          <a:lstStyle/>
          <a:p>
            <a:r>
              <a:rPr lang="en-AU" dirty="0"/>
              <a:t>The judiciary do what?</a:t>
            </a:r>
          </a:p>
        </p:txBody>
      </p:sp>
      <p:sp>
        <p:nvSpPr>
          <p:cNvPr id="3" name="Content Placeholder 2">
            <a:extLst>
              <a:ext uri="{FF2B5EF4-FFF2-40B4-BE49-F238E27FC236}">
                <a16:creationId xmlns:a16="http://schemas.microsoft.com/office/drawing/2014/main" id="{9CF0D2B9-5A5E-437F-ABA7-4AEAA7360D81}"/>
              </a:ext>
            </a:extLst>
          </p:cNvPr>
          <p:cNvSpPr>
            <a:spLocks noGrp="1"/>
          </p:cNvSpPr>
          <p:nvPr>
            <p:ph idx="1"/>
          </p:nvPr>
        </p:nvSpPr>
        <p:spPr/>
        <p:txBody>
          <a:bodyPr/>
          <a:lstStyle/>
          <a:p>
            <a:pPr marL="457200" indent="-457200">
              <a:buAutoNum type="alphaLcPeriod"/>
            </a:pPr>
            <a:r>
              <a:rPr lang="en-AU" dirty="0"/>
              <a:t>Solve disputes, make common law</a:t>
            </a:r>
          </a:p>
          <a:p>
            <a:pPr marL="457200" indent="-457200">
              <a:buAutoNum type="alphaLcPeriod"/>
            </a:pPr>
            <a:r>
              <a:rPr lang="en-AU" dirty="0"/>
              <a:t>Implement the law</a:t>
            </a:r>
          </a:p>
          <a:p>
            <a:pPr marL="457200" indent="-457200">
              <a:buAutoNum type="alphaLcPeriod"/>
            </a:pPr>
            <a:r>
              <a:rPr lang="en-AU" dirty="0"/>
              <a:t>Create laws</a:t>
            </a:r>
          </a:p>
          <a:p>
            <a:pPr marL="457200" indent="-457200">
              <a:buAutoNum type="alphaLcPeriod"/>
            </a:pPr>
            <a:endParaRPr lang="en-AU" dirty="0"/>
          </a:p>
          <a:p>
            <a:pPr marL="457200" indent="-457200">
              <a:buAutoNum type="alphaLcPeriod"/>
            </a:pPr>
            <a:endParaRPr lang="en-AU" dirty="0"/>
          </a:p>
        </p:txBody>
      </p:sp>
    </p:spTree>
    <p:extLst>
      <p:ext uri="{BB962C8B-B14F-4D97-AF65-F5344CB8AC3E}">
        <p14:creationId xmlns:p14="http://schemas.microsoft.com/office/powerpoint/2010/main" val="2485523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E02D-21FE-44C9-9E7C-F23354CCCDE8}"/>
              </a:ext>
            </a:extLst>
          </p:cNvPr>
          <p:cNvSpPr>
            <a:spLocks noGrp="1"/>
          </p:cNvSpPr>
          <p:nvPr>
            <p:ph type="title"/>
          </p:nvPr>
        </p:nvSpPr>
        <p:spPr/>
        <p:txBody>
          <a:bodyPr/>
          <a:lstStyle/>
          <a:p>
            <a:r>
              <a:rPr lang="en-AU" dirty="0"/>
              <a:t>The judiciary do what?</a:t>
            </a:r>
          </a:p>
        </p:txBody>
      </p:sp>
      <p:sp>
        <p:nvSpPr>
          <p:cNvPr id="3" name="Content Placeholder 2">
            <a:extLst>
              <a:ext uri="{FF2B5EF4-FFF2-40B4-BE49-F238E27FC236}">
                <a16:creationId xmlns:a16="http://schemas.microsoft.com/office/drawing/2014/main" id="{9CF0D2B9-5A5E-437F-ABA7-4AEAA7360D81}"/>
              </a:ext>
            </a:extLst>
          </p:cNvPr>
          <p:cNvSpPr>
            <a:spLocks noGrp="1"/>
          </p:cNvSpPr>
          <p:nvPr>
            <p:ph idx="1"/>
          </p:nvPr>
        </p:nvSpPr>
        <p:spPr/>
        <p:txBody>
          <a:bodyPr/>
          <a:lstStyle/>
          <a:p>
            <a:pPr marL="457200" indent="-457200">
              <a:buAutoNum type="alphaLcPeriod"/>
            </a:pPr>
            <a:r>
              <a:rPr lang="en-AU" dirty="0">
                <a:solidFill>
                  <a:srgbClr val="FF0000"/>
                </a:solidFill>
              </a:rPr>
              <a:t>Solve disputes, make common law</a:t>
            </a:r>
          </a:p>
          <a:p>
            <a:pPr marL="457200" indent="-457200">
              <a:buAutoNum type="alphaLcPeriod"/>
            </a:pPr>
            <a:r>
              <a:rPr lang="en-AU" dirty="0"/>
              <a:t>Implement the law</a:t>
            </a:r>
          </a:p>
          <a:p>
            <a:pPr marL="457200" indent="-457200">
              <a:buAutoNum type="alphaLcPeriod"/>
            </a:pPr>
            <a:r>
              <a:rPr lang="en-AU" dirty="0"/>
              <a:t>Create laws</a:t>
            </a:r>
          </a:p>
          <a:p>
            <a:pPr marL="457200" indent="-457200">
              <a:buAutoNum type="alphaLcPeriod"/>
            </a:pPr>
            <a:endParaRPr lang="en-AU" dirty="0"/>
          </a:p>
          <a:p>
            <a:pPr marL="457200" indent="-457200">
              <a:buAutoNum type="alphaLcPeriod"/>
            </a:pPr>
            <a:endParaRPr lang="en-AU" dirty="0"/>
          </a:p>
        </p:txBody>
      </p:sp>
    </p:spTree>
    <p:extLst>
      <p:ext uri="{BB962C8B-B14F-4D97-AF65-F5344CB8AC3E}">
        <p14:creationId xmlns:p14="http://schemas.microsoft.com/office/powerpoint/2010/main" val="98225291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298</TotalTime>
  <Words>2379</Words>
  <Application>Microsoft Office PowerPoint</Application>
  <PresentationFormat>Widescreen</PresentationFormat>
  <Paragraphs>189</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Gill Sans MT</vt:lpstr>
      <vt:lpstr>HelloGeorgeII</vt:lpstr>
      <vt:lpstr>Gallery</vt:lpstr>
      <vt:lpstr>PowerPoint Presentation</vt:lpstr>
      <vt:lpstr>Common Law</vt:lpstr>
      <vt:lpstr>Court hierarchy</vt:lpstr>
      <vt:lpstr>Why are laws needed?</vt:lpstr>
      <vt:lpstr>PowerPoint Presentation</vt:lpstr>
      <vt:lpstr>PowerPoint Presentation</vt:lpstr>
      <vt:lpstr>What is Common law?</vt:lpstr>
      <vt:lpstr>PowerPoint Presentation</vt:lpstr>
      <vt:lpstr>PowerPoint Presentation</vt:lpstr>
      <vt:lpstr>PowerPoint Presentation</vt:lpstr>
      <vt:lpstr>PowerPoint Presentation</vt:lpstr>
      <vt:lpstr>What is common law?</vt:lpstr>
      <vt:lpstr>What is common law?</vt:lpstr>
      <vt:lpstr>PowerPoint Presentation</vt:lpstr>
      <vt:lpstr>PowerPoint Presentation</vt:lpstr>
      <vt:lpstr>PowerPoint Presentation</vt:lpstr>
      <vt:lpstr>Judges’ ability to make law</vt:lpstr>
      <vt:lpstr>The restrictions on judges in the way they make law are: </vt:lpstr>
      <vt:lpstr>PowerPoint Presentation</vt:lpstr>
      <vt:lpstr>Example of creation of common law</vt:lpstr>
      <vt:lpstr>The legislature do what?</vt:lpstr>
      <vt:lpstr>The legislature do what?</vt:lpstr>
      <vt:lpstr>The Executive do what?</vt:lpstr>
      <vt:lpstr>The Executive do what?</vt:lpstr>
      <vt:lpstr>The judiciary do what?</vt:lpstr>
      <vt:lpstr>The judiciary do what?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gemma berrill</dc:creator>
  <cp:lastModifiedBy>gemma berrill</cp:lastModifiedBy>
  <cp:revision>48</cp:revision>
  <dcterms:created xsi:type="dcterms:W3CDTF">2018-05-05T08:08:11Z</dcterms:created>
  <dcterms:modified xsi:type="dcterms:W3CDTF">2018-06-27T10:56:51Z</dcterms:modified>
</cp:coreProperties>
</file>
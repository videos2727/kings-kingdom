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105" d="100"/>
          <a:sy n="105" d="100"/>
        </p:scale>
        <p:origin x="12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11/2/2023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999525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11/2/2023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0839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11/2/2023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96167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11/2/2023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35354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11/2/2023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06943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11/2/2023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43614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11/2/2023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15537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11/2/2023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193331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11/2/2023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80583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11/2/2023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114769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11/2/2023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43942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11/2/2023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605057288"/>
      </p:ext>
    </p:extLst>
  </p:cSld>
  <p:clrMap bg1="lt1" tx1="dk1" bg2="lt2" tx2="dk2" accent1="accent1" accent2="accent2" accent3="accent3" accent4="accent4" accent5="accent5" accent6="accent6" hlink="hlink" folHlink="folHlink"/>
  <p:sldLayoutIdLst>
    <p:sldLayoutId id="2147483711" r:id="rId1"/>
    <p:sldLayoutId id="2147483701" r:id="rId2"/>
    <p:sldLayoutId id="2147483702" r:id="rId3"/>
    <p:sldLayoutId id="2147483703" r:id="rId4"/>
    <p:sldLayoutId id="2147483704" r:id="rId5"/>
    <p:sldLayoutId id="2147483705" r:id="rId6"/>
    <p:sldLayoutId id="2147483706" r:id="rId7"/>
    <p:sldLayoutId id="2147483710" r:id="rId8"/>
    <p:sldLayoutId id="2147483707" r:id="rId9"/>
    <p:sldLayoutId id="2147483708" r:id="rId10"/>
    <p:sldLayoutId id="2147483709"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C4056FD6-9767-4B1A-ACC2-9883F6A5B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79928" cy="6858000"/>
          </a:xfrm>
          <a:prstGeom prst="rect">
            <a:avLst/>
          </a:prstGeom>
          <a:blipFill dpi="0" rotWithShape="1">
            <a:blip r:embed="rId2">
              <a:alphaModFix amt="2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lorful leaf patterns">
            <a:extLst>
              <a:ext uri="{FF2B5EF4-FFF2-40B4-BE49-F238E27FC236}">
                <a16:creationId xmlns:a16="http://schemas.microsoft.com/office/drawing/2014/main" id="{0139328A-A848-A073-EBC6-2545C1BBB752}"/>
              </a:ext>
            </a:extLst>
          </p:cNvPr>
          <p:cNvPicPr>
            <a:picLocks noChangeAspect="1"/>
          </p:cNvPicPr>
          <p:nvPr/>
        </p:nvPicPr>
        <p:blipFill rotWithShape="1">
          <a:blip r:embed="rId3">
            <a:alphaModFix amt="70000"/>
          </a:blip>
          <a:srcRect t="5751" r="-1" b="13887"/>
          <a:stretch/>
        </p:blipFill>
        <p:spPr>
          <a:xfrm>
            <a:off x="20" y="10"/>
            <a:ext cx="12188932" cy="6856614"/>
          </a:xfrm>
          <a:prstGeom prst="rect">
            <a:avLst/>
          </a:prstGeom>
        </p:spPr>
      </p:pic>
      <p:sp>
        <p:nvSpPr>
          <p:cNvPr id="2" name="Title 1">
            <a:extLst>
              <a:ext uri="{FF2B5EF4-FFF2-40B4-BE49-F238E27FC236}">
                <a16:creationId xmlns:a16="http://schemas.microsoft.com/office/drawing/2014/main" id="{39FD4657-3D3E-0562-C414-3818ABF73E8F}"/>
              </a:ext>
            </a:extLst>
          </p:cNvPr>
          <p:cNvSpPr>
            <a:spLocks noGrp="1"/>
          </p:cNvSpPr>
          <p:nvPr>
            <p:ph type="ctrTitle"/>
          </p:nvPr>
        </p:nvSpPr>
        <p:spPr>
          <a:xfrm>
            <a:off x="996275" y="744909"/>
            <a:ext cx="10190071" cy="3145855"/>
          </a:xfrm>
        </p:spPr>
        <p:txBody>
          <a:bodyPr anchor="b">
            <a:normAutofit/>
          </a:bodyPr>
          <a:lstStyle/>
          <a:p>
            <a:r>
              <a:rPr lang="en-AU" sz="4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Legal Protection of Consumer Rights Keeping Consumers Safe </a:t>
            </a:r>
            <a:endParaRPr lang="en-AU" sz="8800" dirty="0">
              <a:solidFill>
                <a:schemeClr val="tx1"/>
              </a:solidFill>
            </a:endParaRPr>
          </a:p>
        </p:txBody>
      </p:sp>
      <p:sp>
        <p:nvSpPr>
          <p:cNvPr id="3" name="Subtitle 2">
            <a:extLst>
              <a:ext uri="{FF2B5EF4-FFF2-40B4-BE49-F238E27FC236}">
                <a16:creationId xmlns:a16="http://schemas.microsoft.com/office/drawing/2014/main" id="{4B9392DB-12A3-67F5-9EDD-B624D937187D}"/>
              </a:ext>
            </a:extLst>
          </p:cNvPr>
          <p:cNvSpPr>
            <a:spLocks noGrp="1"/>
          </p:cNvSpPr>
          <p:nvPr>
            <p:ph type="subTitle" idx="1"/>
          </p:nvPr>
        </p:nvSpPr>
        <p:spPr>
          <a:xfrm>
            <a:off x="1218708" y="4069780"/>
            <a:ext cx="9781327" cy="2056617"/>
          </a:xfrm>
        </p:spPr>
        <p:txBody>
          <a:bodyPr anchor="t">
            <a:normAutofit/>
          </a:bodyPr>
          <a:lstStyle/>
          <a:p>
            <a:endParaRPr lang="en-AU" sz="2200">
              <a:solidFill>
                <a:srgbClr val="FFFFFF"/>
              </a:solidFill>
            </a:endParaRPr>
          </a:p>
        </p:txBody>
      </p:sp>
    </p:spTree>
    <p:extLst>
      <p:ext uri="{BB962C8B-B14F-4D97-AF65-F5344CB8AC3E}">
        <p14:creationId xmlns:p14="http://schemas.microsoft.com/office/powerpoint/2010/main" val="272528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609B9-AB45-EF88-B23B-FA23CD11C458}"/>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Learning Intentions</a:t>
            </a:r>
            <a:endParaRPr lang="en-AU" dirty="0"/>
          </a:p>
        </p:txBody>
      </p:sp>
      <p:sp>
        <p:nvSpPr>
          <p:cNvPr id="3" name="Content Placeholder 2">
            <a:extLst>
              <a:ext uri="{FF2B5EF4-FFF2-40B4-BE49-F238E27FC236}">
                <a16:creationId xmlns:a16="http://schemas.microsoft.com/office/drawing/2014/main" id="{D95D4B12-A4CA-049E-971C-9A5D6D3C2063}"/>
              </a:ext>
            </a:extLst>
          </p:cNvPr>
          <p:cNvSpPr>
            <a:spLocks noGrp="1"/>
          </p:cNvSpPr>
          <p:nvPr>
            <p:ph idx="1"/>
          </p:nvPr>
        </p:nvSpPr>
        <p:spPr/>
        <p:txBody>
          <a:bodyPr/>
          <a:lstStyle/>
          <a:p>
            <a:pPr>
              <a:lnSpc>
                <a:spcPct val="107000"/>
              </a:lnSpc>
              <a:spcAft>
                <a:spcPts val="800"/>
              </a:spcAft>
            </a:pPr>
            <a:r>
              <a:rPr lang="en-AU" sz="1800" b="1" dirty="0">
                <a:effectLst/>
                <a:latin typeface="Calibri" panose="020F0502020204030204" pitchFamily="34" charset="0"/>
                <a:ea typeface="Calibri" panose="020F0502020204030204" pitchFamily="34" charset="0"/>
                <a:cs typeface="Times New Roman" panose="02020603050405020304" pitchFamily="18" charset="0"/>
              </a:rPr>
              <a:t>Explore </a:t>
            </a:r>
            <a:r>
              <a:rPr lang="en-AU" sz="1800" dirty="0">
                <a:effectLst/>
                <a:latin typeface="Calibri" panose="020F0502020204030204" pitchFamily="34" charset="0"/>
                <a:ea typeface="Calibri" panose="020F0502020204030204" pitchFamily="34" charset="0"/>
                <a:cs typeface="Times New Roman" panose="02020603050405020304" pitchFamily="18" charset="0"/>
              </a:rPr>
              <a:t>and </a:t>
            </a:r>
            <a:r>
              <a:rPr lang="en-AU" sz="1800" b="1" dirty="0">
                <a:effectLst/>
                <a:latin typeface="Calibri" panose="020F0502020204030204" pitchFamily="34" charset="0"/>
                <a:ea typeface="Calibri" panose="020F0502020204030204" pitchFamily="34" charset="0"/>
                <a:cs typeface="Times New Roman" panose="02020603050405020304" pitchFamily="18" charset="0"/>
              </a:rPr>
              <a:t>Understand </a:t>
            </a:r>
            <a:r>
              <a:rPr lang="en-AU" sz="1800" dirty="0">
                <a:effectLst/>
                <a:latin typeface="Calibri" panose="020F0502020204030204" pitchFamily="34" charset="0"/>
                <a:ea typeface="Calibri" panose="020F0502020204030204" pitchFamily="34" charset="0"/>
                <a:cs typeface="Times New Roman" panose="02020603050405020304" pitchFamily="18" charset="0"/>
              </a:rPr>
              <a:t>Australian consumer law. </a:t>
            </a:r>
          </a:p>
          <a:p>
            <a:r>
              <a:rPr lang="en-AU" sz="1800" b="1" dirty="0">
                <a:effectLst/>
                <a:latin typeface="Calibri" panose="020F0502020204030204" pitchFamily="34" charset="0"/>
                <a:ea typeface="Calibri" panose="020F0502020204030204" pitchFamily="34" charset="0"/>
                <a:cs typeface="Times New Roman" panose="02020603050405020304" pitchFamily="18" charset="0"/>
              </a:rPr>
              <a:t>Examine </a:t>
            </a:r>
            <a:r>
              <a:rPr lang="en-AU" sz="1800" dirty="0">
                <a:effectLst/>
                <a:latin typeface="Calibri" panose="020F0502020204030204" pitchFamily="34" charset="0"/>
                <a:ea typeface="Calibri" panose="020F0502020204030204" pitchFamily="34" charset="0"/>
                <a:cs typeface="Times New Roman" panose="02020603050405020304" pitchFamily="18" charset="0"/>
              </a:rPr>
              <a:t>Australian Consumer Law and how it keeps consumers safe</a:t>
            </a:r>
            <a:endParaRPr lang="en-AU" dirty="0"/>
          </a:p>
        </p:txBody>
      </p:sp>
    </p:spTree>
    <p:extLst>
      <p:ext uri="{BB962C8B-B14F-4D97-AF65-F5344CB8AC3E}">
        <p14:creationId xmlns:p14="http://schemas.microsoft.com/office/powerpoint/2010/main" val="2629997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EF3E6-D955-6947-4104-5BF0280973D1}"/>
              </a:ext>
            </a:extLst>
          </p:cNvPr>
          <p:cNvSpPr>
            <a:spLocks noGrp="1"/>
          </p:cNvSpPr>
          <p:nvPr>
            <p:ph type="title"/>
          </p:nvPr>
        </p:nvSpPr>
        <p:spPr/>
        <p:txBody>
          <a:bodyPr/>
          <a:lstStyle/>
          <a:p>
            <a:r>
              <a:rPr lang="en-AU" sz="1800" b="1" dirty="0">
                <a:effectLst/>
                <a:latin typeface="Calibri" panose="020F0502020204030204" pitchFamily="34" charset="0"/>
                <a:ea typeface="Calibri" panose="020F0502020204030204" pitchFamily="34" charset="0"/>
                <a:cs typeface="Times New Roman" panose="02020603050405020304" pitchFamily="18" charset="0"/>
              </a:rPr>
              <a:t>Success Criteria </a:t>
            </a:r>
            <a:endParaRPr lang="en-AU" dirty="0"/>
          </a:p>
        </p:txBody>
      </p:sp>
      <p:sp>
        <p:nvSpPr>
          <p:cNvPr id="3" name="Content Placeholder 2">
            <a:extLst>
              <a:ext uri="{FF2B5EF4-FFF2-40B4-BE49-F238E27FC236}">
                <a16:creationId xmlns:a16="http://schemas.microsoft.com/office/drawing/2014/main" id="{9B7A1E4E-471E-340B-F78E-ECAA60237364}"/>
              </a:ext>
            </a:extLst>
          </p:cNvPr>
          <p:cNvSpPr>
            <a:spLocks noGrp="1"/>
          </p:cNvSpPr>
          <p:nvPr>
            <p:ph idx="1"/>
          </p:nvPr>
        </p:nvSpPr>
        <p:spPr/>
        <p:txBody>
          <a:bodyPr/>
          <a:lstStyle/>
          <a:p>
            <a:pPr>
              <a:lnSpc>
                <a:spcPct val="107000"/>
              </a:lnSpc>
              <a:spcAft>
                <a:spcPts val="800"/>
              </a:spcAft>
            </a:pPr>
            <a:r>
              <a:rPr lang="en-AU" sz="1800" b="1" dirty="0">
                <a:effectLst/>
                <a:latin typeface="Calibri" panose="020F0502020204030204" pitchFamily="34" charset="0"/>
                <a:ea typeface="Calibri" panose="020F0502020204030204" pitchFamily="34" charset="0"/>
                <a:cs typeface="Times New Roman" panose="02020603050405020304" pitchFamily="18" charset="0"/>
              </a:rPr>
              <a:t>Define </a:t>
            </a:r>
            <a:r>
              <a:rPr lang="en-AU" sz="1800" dirty="0">
                <a:effectLst/>
                <a:latin typeface="Calibri" panose="020F0502020204030204" pitchFamily="34" charset="0"/>
                <a:ea typeface="Calibri" panose="020F0502020204030204" pitchFamily="34" charset="0"/>
                <a:cs typeface="Times New Roman" panose="02020603050405020304" pitchFamily="18" charset="0"/>
              </a:rPr>
              <a:t>the term Australian Consumer Law.</a:t>
            </a:r>
          </a:p>
          <a:p>
            <a:pPr>
              <a:lnSpc>
                <a:spcPct val="107000"/>
              </a:lnSpc>
              <a:spcAft>
                <a:spcPts val="800"/>
              </a:spcAft>
            </a:pPr>
            <a:r>
              <a:rPr lang="en-AU" sz="1800" b="1" dirty="0">
                <a:effectLst/>
                <a:latin typeface="Calibri" panose="020F0502020204030204" pitchFamily="34" charset="0"/>
                <a:ea typeface="Calibri" panose="020F0502020204030204" pitchFamily="34" charset="0"/>
                <a:cs typeface="Times New Roman" panose="02020603050405020304" pitchFamily="18" charset="0"/>
              </a:rPr>
              <a:t>Outline and describe </a:t>
            </a:r>
            <a:r>
              <a:rPr lang="en-AU" sz="1800" dirty="0">
                <a:effectLst/>
                <a:latin typeface="Calibri" panose="020F0502020204030204" pitchFamily="34" charset="0"/>
                <a:ea typeface="Calibri" panose="020F0502020204030204" pitchFamily="34" charset="0"/>
                <a:cs typeface="Times New Roman" panose="02020603050405020304" pitchFamily="18" charset="0"/>
              </a:rPr>
              <a:t>consumer law</a:t>
            </a:r>
            <a:r>
              <a:rPr lang="en-AU" sz="1800" b="1" dirty="0">
                <a:effectLst/>
                <a:latin typeface="Calibri" panose="020F0502020204030204" pitchFamily="34" charset="0"/>
                <a:ea typeface="Calibri" panose="020F0502020204030204" pitchFamily="34" charset="0"/>
                <a:cs typeface="Times New Roman" panose="02020603050405020304" pitchFamily="18" charset="0"/>
              </a:rPr>
              <a:t>.</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U" sz="1800" b="1" dirty="0">
                <a:effectLst/>
                <a:latin typeface="Calibri" panose="020F0502020204030204" pitchFamily="34" charset="0"/>
                <a:ea typeface="Calibri" panose="020F0502020204030204" pitchFamily="34" charset="0"/>
                <a:cs typeface="Times New Roman" panose="02020603050405020304" pitchFamily="18" charset="0"/>
              </a:rPr>
              <a:t>Describe and outline </a:t>
            </a:r>
            <a:r>
              <a:rPr lang="en-AU" sz="1800" dirty="0">
                <a:effectLst/>
                <a:latin typeface="Calibri" panose="020F0502020204030204" pitchFamily="34" charset="0"/>
                <a:ea typeface="Calibri" panose="020F0502020204030204" pitchFamily="34" charset="0"/>
                <a:cs typeface="Times New Roman" panose="02020603050405020304" pitchFamily="18" charset="0"/>
              </a:rPr>
              <a:t>what functions of this law keep consumers safe. </a:t>
            </a:r>
            <a:r>
              <a:rPr lang="en-AU" sz="1800" dirty="0" err="1">
                <a:effectLst/>
                <a:latin typeface="Calibri" panose="020F0502020204030204" pitchFamily="34" charset="0"/>
                <a:ea typeface="Calibri" panose="020F0502020204030204" pitchFamily="34" charset="0"/>
                <a:cs typeface="Times New Roman" panose="02020603050405020304" pitchFamily="18" charset="0"/>
              </a:rPr>
              <a:t>Ie</a:t>
            </a:r>
            <a:r>
              <a:rPr lang="en-AU" sz="1800" dirty="0">
                <a:effectLst/>
                <a:latin typeface="Calibri" panose="020F0502020204030204" pitchFamily="34" charset="0"/>
                <a:ea typeface="Calibri" panose="020F0502020204030204" pitchFamily="34" charset="0"/>
                <a:cs typeface="Times New Roman" panose="02020603050405020304" pitchFamily="18" charset="0"/>
              </a:rPr>
              <a:t>. Replace, refund or recall.</a:t>
            </a:r>
            <a:endParaRPr lang="en-AU" dirty="0"/>
          </a:p>
        </p:txBody>
      </p:sp>
    </p:spTree>
    <p:extLst>
      <p:ext uri="{BB962C8B-B14F-4D97-AF65-F5344CB8AC3E}">
        <p14:creationId xmlns:p14="http://schemas.microsoft.com/office/powerpoint/2010/main" val="3046166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3" name="Rectangle 3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35" name="Picture 3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D91CF9D0-4002-756D-9F05-1385B7F8013A}"/>
              </a:ext>
            </a:extLst>
          </p:cNvPr>
          <p:cNvSpPr>
            <a:spLocks noGrp="1"/>
          </p:cNvSpPr>
          <p:nvPr>
            <p:ph type="title"/>
          </p:nvPr>
        </p:nvSpPr>
        <p:spPr>
          <a:xfrm>
            <a:off x="838201" y="559813"/>
            <a:ext cx="10348146" cy="1283471"/>
          </a:xfrm>
        </p:spPr>
        <p:txBody>
          <a:bodyPr anchor="t">
            <a:normAutofit/>
          </a:bodyPr>
          <a:lstStyle/>
          <a:p>
            <a:endParaRPr lang="en-AU" dirty="0">
              <a:solidFill>
                <a:schemeClr val="tx2"/>
              </a:solidFill>
            </a:endParaRPr>
          </a:p>
        </p:txBody>
      </p:sp>
      <p:pic>
        <p:nvPicPr>
          <p:cNvPr id="37" name="Picture 3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4" name="Content Placeholder 3">
            <a:extLst>
              <a:ext uri="{FF2B5EF4-FFF2-40B4-BE49-F238E27FC236}">
                <a16:creationId xmlns:a16="http://schemas.microsoft.com/office/drawing/2014/main" id="{D56F4FFF-12D8-1BBA-2669-1CC4FD3964B2}"/>
              </a:ext>
            </a:extLst>
          </p:cNvPr>
          <p:cNvGraphicFramePr>
            <a:graphicFrameLocks noGrp="1"/>
          </p:cNvGraphicFramePr>
          <p:nvPr>
            <p:ph idx="1"/>
            <p:extLst>
              <p:ext uri="{D42A27DB-BD31-4B8C-83A1-F6EECF244321}">
                <p14:modId xmlns:p14="http://schemas.microsoft.com/office/powerpoint/2010/main" val="2423391253"/>
              </p:ext>
            </p:extLst>
          </p:nvPr>
        </p:nvGraphicFramePr>
        <p:xfrm>
          <a:off x="830249" y="401445"/>
          <a:ext cx="10523551" cy="6188926"/>
        </p:xfrm>
        <a:graphic>
          <a:graphicData uri="http://schemas.openxmlformats.org/drawingml/2006/table">
            <a:tbl>
              <a:tblPr firstRow="1" firstCol="1" bandRow="1">
                <a:solidFill>
                  <a:srgbClr val="404040"/>
                </a:solidFill>
                <a:tableStyleId>{5C22544A-7EE6-4342-B048-85BDC9FD1C3A}</a:tableStyleId>
              </a:tblPr>
              <a:tblGrid>
                <a:gridCol w="2278466">
                  <a:extLst>
                    <a:ext uri="{9D8B030D-6E8A-4147-A177-3AD203B41FA5}">
                      <a16:colId xmlns:a16="http://schemas.microsoft.com/office/drawing/2014/main" val="484544450"/>
                    </a:ext>
                  </a:extLst>
                </a:gridCol>
                <a:gridCol w="8245085">
                  <a:extLst>
                    <a:ext uri="{9D8B030D-6E8A-4147-A177-3AD203B41FA5}">
                      <a16:colId xmlns:a16="http://schemas.microsoft.com/office/drawing/2014/main" val="2210389673"/>
                    </a:ext>
                  </a:extLst>
                </a:gridCol>
              </a:tblGrid>
              <a:tr h="574241">
                <a:tc>
                  <a:txBody>
                    <a:bodyPr/>
                    <a:lstStyle/>
                    <a:p>
                      <a:pPr>
                        <a:lnSpc>
                          <a:spcPts val="1300"/>
                        </a:lnSpc>
                        <a:spcBef>
                          <a:spcPts val="960"/>
                        </a:spcBef>
                        <a:spcAft>
                          <a:spcPts val="960"/>
                        </a:spcAft>
                      </a:pPr>
                      <a:r>
                        <a:rPr lang="en-US" sz="2100" b="0" cap="none" spc="0">
                          <a:solidFill>
                            <a:schemeClr val="bg1"/>
                          </a:solidFill>
                          <a:effectLst/>
                        </a:rPr>
                        <a:t>Terminology</a:t>
                      </a:r>
                      <a:endParaRPr lang="en-AU" sz="2100" b="0"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lnL>
                    <a:lnR w="12700" cmpd="sng">
                      <a:noFill/>
                    </a:lnR>
                    <a:lnT w="19050" cap="flat" cmpd="sng" algn="ctr">
                      <a:noFill/>
                      <a:prstDash val="solid"/>
                    </a:lnT>
                    <a:lnB w="38100" cmpd="sng">
                      <a:noFill/>
                    </a:lnB>
                    <a:solidFill>
                      <a:schemeClr val="accent2"/>
                    </a:solidFill>
                  </a:tcPr>
                </a:tc>
                <a:tc>
                  <a:txBody>
                    <a:bodyPr/>
                    <a:lstStyle/>
                    <a:p>
                      <a:pPr>
                        <a:lnSpc>
                          <a:spcPts val="1300"/>
                        </a:lnSpc>
                        <a:spcBef>
                          <a:spcPts val="400"/>
                        </a:spcBef>
                        <a:spcAft>
                          <a:spcPts val="400"/>
                        </a:spcAft>
                      </a:pPr>
                      <a:r>
                        <a:rPr lang="en-US" sz="2100" b="0" cap="none" spc="0" dirty="0">
                          <a:solidFill>
                            <a:schemeClr val="bg1"/>
                          </a:solidFill>
                          <a:effectLst/>
                        </a:rPr>
                        <a:t>Definition</a:t>
                      </a:r>
                      <a:endParaRPr lang="en-AU" sz="2100" b="0" cap="none" spc="0" dirty="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3807831275"/>
                  </a:ext>
                </a:extLst>
              </a:tr>
              <a:tr h="564699">
                <a:tc>
                  <a:txBody>
                    <a:bodyPr/>
                    <a:lstStyle/>
                    <a:p>
                      <a:pPr>
                        <a:lnSpc>
                          <a:spcPts val="1300"/>
                        </a:lnSpc>
                        <a:spcBef>
                          <a:spcPts val="400"/>
                        </a:spcBef>
                        <a:spcAft>
                          <a:spcPts val="400"/>
                        </a:spcAft>
                      </a:pPr>
                      <a:r>
                        <a:rPr lang="en-US" sz="1500" b="1" cap="none" spc="0">
                          <a:solidFill>
                            <a:schemeClr val="bg1"/>
                          </a:solidFill>
                          <a:effectLst/>
                        </a:rPr>
                        <a:t>Acceptable quality</a:t>
                      </a:r>
                      <a:endParaRPr lang="en-AU" sz="1500" b="1"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nSpc>
                          <a:spcPts val="1300"/>
                        </a:lnSpc>
                        <a:spcBef>
                          <a:spcPts val="400"/>
                        </a:spcBef>
                        <a:spcAft>
                          <a:spcPts val="400"/>
                        </a:spcAft>
                      </a:pPr>
                      <a:r>
                        <a:rPr lang="en-US" sz="1500" cap="none" spc="0" dirty="0">
                          <a:solidFill>
                            <a:schemeClr val="bg1"/>
                          </a:solidFill>
                          <a:effectLst/>
                        </a:rPr>
                        <a:t>A product or service fit for purpose. Products free of defects, safe and durable.</a:t>
                      </a:r>
                      <a:endParaRPr lang="en-AU" sz="1500" cap="none" spc="0" dirty="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856888147"/>
                  </a:ext>
                </a:extLst>
              </a:tr>
              <a:tr h="882770">
                <a:tc>
                  <a:txBody>
                    <a:bodyPr/>
                    <a:lstStyle/>
                    <a:p>
                      <a:pPr>
                        <a:lnSpc>
                          <a:spcPts val="1300"/>
                        </a:lnSpc>
                        <a:spcBef>
                          <a:spcPts val="400"/>
                        </a:spcBef>
                        <a:spcAft>
                          <a:spcPts val="400"/>
                        </a:spcAft>
                      </a:pPr>
                      <a:r>
                        <a:rPr lang="en-US" sz="1500" b="1" cap="none" spc="0">
                          <a:solidFill>
                            <a:schemeClr val="bg1"/>
                          </a:solidFill>
                          <a:effectLst/>
                        </a:rPr>
                        <a:t>Caveat emptor</a:t>
                      </a:r>
                      <a:endParaRPr lang="en-AU" sz="1500" b="1"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nSpc>
                          <a:spcPts val="1300"/>
                        </a:lnSpc>
                        <a:spcBef>
                          <a:spcPts val="400"/>
                        </a:spcBef>
                        <a:spcAft>
                          <a:spcPts val="400"/>
                        </a:spcAft>
                      </a:pPr>
                      <a:r>
                        <a:rPr lang="en-US" sz="1500" cap="none" spc="0">
                          <a:solidFill>
                            <a:schemeClr val="bg1"/>
                          </a:solidFill>
                          <a:effectLst/>
                        </a:rPr>
                        <a:t>A term meaning ‘let the buyer beware’. Meaning that the seller does not have to tell the consumer everything about the product or service.</a:t>
                      </a:r>
                      <a:endParaRPr lang="en-AU" sz="1500"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478041424"/>
                  </a:ext>
                </a:extLst>
              </a:tr>
              <a:tr h="564699">
                <a:tc>
                  <a:txBody>
                    <a:bodyPr/>
                    <a:lstStyle/>
                    <a:p>
                      <a:pPr>
                        <a:lnSpc>
                          <a:spcPts val="1300"/>
                        </a:lnSpc>
                        <a:spcBef>
                          <a:spcPts val="400"/>
                        </a:spcBef>
                        <a:spcAft>
                          <a:spcPts val="400"/>
                        </a:spcAft>
                      </a:pPr>
                      <a:r>
                        <a:rPr lang="en-US" sz="1500" b="1" cap="none" spc="0">
                          <a:solidFill>
                            <a:schemeClr val="bg1"/>
                          </a:solidFill>
                          <a:effectLst/>
                        </a:rPr>
                        <a:t>Consumer rights</a:t>
                      </a:r>
                      <a:endParaRPr lang="en-AU" sz="1500" b="1"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nSpc>
                          <a:spcPts val="1300"/>
                        </a:lnSpc>
                        <a:spcBef>
                          <a:spcPts val="400"/>
                        </a:spcBef>
                        <a:spcAft>
                          <a:spcPts val="400"/>
                        </a:spcAft>
                      </a:pPr>
                      <a:r>
                        <a:rPr lang="en-US" sz="1500" cap="none" spc="0">
                          <a:solidFill>
                            <a:schemeClr val="bg1"/>
                          </a:solidFill>
                          <a:effectLst/>
                        </a:rPr>
                        <a:t>A set of consumer ‘guarantees’ and remedies for defective goods and services.</a:t>
                      </a:r>
                      <a:endParaRPr lang="en-AU" sz="1500"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2057267910"/>
                  </a:ext>
                </a:extLst>
              </a:tr>
              <a:tr h="1836980">
                <a:tc>
                  <a:txBody>
                    <a:bodyPr/>
                    <a:lstStyle/>
                    <a:p>
                      <a:pPr>
                        <a:lnSpc>
                          <a:spcPts val="1300"/>
                        </a:lnSpc>
                        <a:spcBef>
                          <a:spcPts val="400"/>
                        </a:spcBef>
                        <a:spcAft>
                          <a:spcPts val="400"/>
                        </a:spcAft>
                      </a:pPr>
                      <a:r>
                        <a:rPr lang="en-US" sz="1500" b="1" cap="none" spc="0">
                          <a:solidFill>
                            <a:schemeClr val="bg1"/>
                          </a:solidFill>
                          <a:effectLst/>
                        </a:rPr>
                        <a:t>Consumer protection</a:t>
                      </a:r>
                      <a:endParaRPr lang="en-AU" sz="1500" b="1"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nSpc>
                          <a:spcPts val="1300"/>
                        </a:lnSpc>
                        <a:spcBef>
                          <a:spcPts val="400"/>
                        </a:spcBef>
                        <a:spcAft>
                          <a:spcPts val="400"/>
                        </a:spcAft>
                      </a:pPr>
                      <a:r>
                        <a:rPr lang="en-US" sz="1500" cap="none" spc="0">
                          <a:solidFill>
                            <a:schemeClr val="bg1"/>
                          </a:solidFill>
                          <a:effectLst/>
                        </a:rPr>
                        <a:t>Consumers are protected by a series of laws that protect consumers under Australian Consumer Law (ACL). The protections in the ACL are generally reflected in similar provisions in the Australian Securities and Investments Commission Act 2011 (ASIC Act) so that financial products and services are treated the same way as consumer products.</a:t>
                      </a:r>
                      <a:endParaRPr lang="en-AU" sz="1500"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354766512"/>
                  </a:ext>
                </a:extLst>
              </a:tr>
              <a:tr h="1200838">
                <a:tc>
                  <a:txBody>
                    <a:bodyPr/>
                    <a:lstStyle/>
                    <a:p>
                      <a:pPr>
                        <a:lnSpc>
                          <a:spcPts val="1300"/>
                        </a:lnSpc>
                        <a:spcBef>
                          <a:spcPts val="400"/>
                        </a:spcBef>
                        <a:spcAft>
                          <a:spcPts val="400"/>
                        </a:spcAft>
                      </a:pPr>
                      <a:r>
                        <a:rPr lang="en-US" sz="1500" b="1" cap="none" spc="0">
                          <a:solidFill>
                            <a:schemeClr val="bg1"/>
                          </a:solidFill>
                          <a:effectLst/>
                        </a:rPr>
                        <a:t>Contract</a:t>
                      </a:r>
                      <a:endParaRPr lang="en-AU" sz="1500" b="1"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nSpc>
                          <a:spcPts val="1300"/>
                        </a:lnSpc>
                        <a:spcBef>
                          <a:spcPts val="400"/>
                        </a:spcBef>
                        <a:spcAft>
                          <a:spcPts val="400"/>
                        </a:spcAft>
                      </a:pPr>
                      <a:r>
                        <a:rPr lang="en-US" sz="1500" cap="none" spc="0">
                          <a:solidFill>
                            <a:schemeClr val="bg1"/>
                          </a:solidFill>
                          <a:effectLst/>
                        </a:rPr>
                        <a:t>A contract is a legally binding agreement between two or more people. A contract can be written or verbal however a written contract will reduce misunderstandings and disputes.</a:t>
                      </a:r>
                      <a:endParaRPr lang="en-AU" sz="1500"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357244787"/>
                  </a:ext>
                </a:extLst>
              </a:tr>
              <a:tr h="564699">
                <a:tc>
                  <a:txBody>
                    <a:bodyPr/>
                    <a:lstStyle/>
                    <a:p>
                      <a:pPr>
                        <a:lnSpc>
                          <a:spcPts val="1300"/>
                        </a:lnSpc>
                        <a:spcBef>
                          <a:spcPts val="400"/>
                        </a:spcBef>
                        <a:spcAft>
                          <a:spcPts val="400"/>
                        </a:spcAft>
                      </a:pPr>
                      <a:r>
                        <a:rPr lang="en-US" sz="1500" b="1" cap="none" spc="0">
                          <a:solidFill>
                            <a:schemeClr val="bg1"/>
                          </a:solidFill>
                          <a:effectLst/>
                        </a:rPr>
                        <a:t>Consumer redress</a:t>
                      </a:r>
                      <a:endParaRPr lang="en-AU" sz="1500" b="1" cap="none" spc="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nSpc>
                          <a:spcPts val="1300"/>
                        </a:lnSpc>
                        <a:spcBef>
                          <a:spcPts val="400"/>
                        </a:spcBef>
                        <a:spcAft>
                          <a:spcPts val="400"/>
                        </a:spcAft>
                      </a:pPr>
                      <a:r>
                        <a:rPr lang="en-US" sz="1500" cap="none" spc="0" dirty="0">
                          <a:solidFill>
                            <a:schemeClr val="bg1"/>
                          </a:solidFill>
                          <a:effectLst/>
                        </a:rPr>
                        <a:t>When consumers seek to rectify a problem with a product or service.</a:t>
                      </a:r>
                      <a:endParaRPr lang="en-AU" sz="1500" cap="none" spc="0" dirty="0">
                        <a:solidFill>
                          <a:schemeClr val="bg1"/>
                        </a:solidFill>
                        <a:effectLst/>
                        <a:latin typeface="Arial" panose="020B0604020202020204" pitchFamily="34" charset="0"/>
                        <a:ea typeface="SimSun" panose="02010600030101010101" pitchFamily="2" charset="-122"/>
                        <a:cs typeface="Times New Roman" panose="02020603050405020304" pitchFamily="18" charset="0"/>
                      </a:endParaRPr>
                    </a:p>
                  </a:txBody>
                  <a:tcPr marL="165317" marR="165317" marT="117205" marB="0"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476633636"/>
                  </a:ext>
                </a:extLst>
              </a:tr>
            </a:tbl>
          </a:graphicData>
        </a:graphic>
      </p:graphicFrame>
    </p:spTree>
    <p:extLst>
      <p:ext uri="{BB962C8B-B14F-4D97-AF65-F5344CB8AC3E}">
        <p14:creationId xmlns:p14="http://schemas.microsoft.com/office/powerpoint/2010/main" val="133195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A3B100-92BD-0A4B-22DD-E16D566BE8DC}"/>
              </a:ext>
            </a:extLst>
          </p:cNvPr>
          <p:cNvSpPr>
            <a:spLocks noGrp="1"/>
          </p:cNvSpPr>
          <p:nvPr>
            <p:ph type="title"/>
          </p:nvPr>
        </p:nvSpPr>
        <p:spPr>
          <a:xfrm>
            <a:off x="838200" y="381000"/>
            <a:ext cx="10003218" cy="1600124"/>
          </a:xfrm>
        </p:spPr>
        <p:txBody>
          <a:bodyPr>
            <a:normAutofit/>
          </a:bodyPr>
          <a:lstStyle/>
          <a:p>
            <a:r>
              <a:rPr lang="en-AU" dirty="0"/>
              <a:t>Complete the matching worksheet</a:t>
            </a:r>
          </a:p>
        </p:txBody>
      </p:sp>
      <p:sp>
        <p:nvSpPr>
          <p:cNvPr id="3" name="Content Placeholder 2">
            <a:extLst>
              <a:ext uri="{FF2B5EF4-FFF2-40B4-BE49-F238E27FC236}">
                <a16:creationId xmlns:a16="http://schemas.microsoft.com/office/drawing/2014/main" id="{7581C45F-B9AD-EBD2-69E0-BFB5D1914B6A}"/>
              </a:ext>
            </a:extLst>
          </p:cNvPr>
          <p:cNvSpPr>
            <a:spLocks noGrp="1"/>
          </p:cNvSpPr>
          <p:nvPr>
            <p:ph idx="1"/>
          </p:nvPr>
        </p:nvSpPr>
        <p:spPr>
          <a:xfrm>
            <a:off x="838200" y="2745362"/>
            <a:ext cx="4800600" cy="3552824"/>
          </a:xfrm>
        </p:spPr>
        <p:txBody>
          <a:bodyPr anchor="ctr">
            <a:normAutofit/>
          </a:bodyPr>
          <a:lstStyle/>
          <a:p>
            <a:r>
              <a:rPr lang="en-AU" sz="6000" dirty="0">
                <a:solidFill>
                  <a:schemeClr val="tx1"/>
                </a:solidFill>
              </a:rPr>
              <a:t>Answers </a:t>
            </a:r>
          </a:p>
          <a:p>
            <a:endParaRPr lang="en-AU" sz="1800" dirty="0">
              <a:solidFill>
                <a:schemeClr val="tx1"/>
              </a:solidFill>
            </a:endParaRPr>
          </a:p>
        </p:txBody>
      </p:sp>
      <p:graphicFrame>
        <p:nvGraphicFramePr>
          <p:cNvPr id="4" name="Table 3">
            <a:extLst>
              <a:ext uri="{FF2B5EF4-FFF2-40B4-BE49-F238E27FC236}">
                <a16:creationId xmlns:a16="http://schemas.microsoft.com/office/drawing/2014/main" id="{58729653-5802-6421-A152-453E7D49A069}"/>
              </a:ext>
            </a:extLst>
          </p:cNvPr>
          <p:cNvGraphicFramePr>
            <a:graphicFrameLocks noGrp="1"/>
          </p:cNvGraphicFramePr>
          <p:nvPr>
            <p:extLst>
              <p:ext uri="{D42A27DB-BD31-4B8C-83A1-F6EECF244321}">
                <p14:modId xmlns:p14="http://schemas.microsoft.com/office/powerpoint/2010/main" val="3665227761"/>
              </p:ext>
            </p:extLst>
          </p:nvPr>
        </p:nvGraphicFramePr>
        <p:xfrm>
          <a:off x="5996628" y="3997355"/>
          <a:ext cx="5585775" cy="1048838"/>
        </p:xfrm>
        <a:graphic>
          <a:graphicData uri="http://schemas.openxmlformats.org/drawingml/2006/table">
            <a:tbl>
              <a:tblPr firstRow="1" firstCol="1" bandRow="1"/>
              <a:tblGrid>
                <a:gridCol w="943831">
                  <a:extLst>
                    <a:ext uri="{9D8B030D-6E8A-4147-A177-3AD203B41FA5}">
                      <a16:colId xmlns:a16="http://schemas.microsoft.com/office/drawing/2014/main" val="4063264328"/>
                    </a:ext>
                  </a:extLst>
                </a:gridCol>
                <a:gridCol w="912946">
                  <a:extLst>
                    <a:ext uri="{9D8B030D-6E8A-4147-A177-3AD203B41FA5}">
                      <a16:colId xmlns:a16="http://schemas.microsoft.com/office/drawing/2014/main" val="2142933424"/>
                    </a:ext>
                  </a:extLst>
                </a:gridCol>
                <a:gridCol w="943831">
                  <a:extLst>
                    <a:ext uri="{9D8B030D-6E8A-4147-A177-3AD203B41FA5}">
                      <a16:colId xmlns:a16="http://schemas.microsoft.com/office/drawing/2014/main" val="3024370917"/>
                    </a:ext>
                  </a:extLst>
                </a:gridCol>
                <a:gridCol w="928389">
                  <a:extLst>
                    <a:ext uri="{9D8B030D-6E8A-4147-A177-3AD203B41FA5}">
                      <a16:colId xmlns:a16="http://schemas.microsoft.com/office/drawing/2014/main" val="4010270258"/>
                    </a:ext>
                  </a:extLst>
                </a:gridCol>
                <a:gridCol w="928389">
                  <a:extLst>
                    <a:ext uri="{9D8B030D-6E8A-4147-A177-3AD203B41FA5}">
                      <a16:colId xmlns:a16="http://schemas.microsoft.com/office/drawing/2014/main" val="3914628715"/>
                    </a:ext>
                  </a:extLst>
                </a:gridCol>
                <a:gridCol w="928389">
                  <a:extLst>
                    <a:ext uri="{9D8B030D-6E8A-4147-A177-3AD203B41FA5}">
                      <a16:colId xmlns:a16="http://schemas.microsoft.com/office/drawing/2014/main" val="2636655570"/>
                    </a:ext>
                  </a:extLst>
                </a:gridCol>
              </a:tblGrid>
              <a:tr h="1048838">
                <a:tc>
                  <a:txBody>
                    <a:bodyPr/>
                    <a:lstStyle/>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 </a:t>
                      </a:r>
                      <a:endParaRPr lang="en-AU" sz="3500" b="0" i="0" u="none" strike="noStrike">
                        <a:effectLst/>
                        <a:latin typeface="Arial" panose="020B0604020202020204" pitchFamily="34" charset="0"/>
                      </a:endParaRPr>
                    </a:p>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1.C</a:t>
                      </a:r>
                      <a:endParaRPr lang="en-AU" sz="3500" b="0" i="0" u="none" strike="noStrike">
                        <a:effectLst/>
                        <a:latin typeface="Arial" panose="020B0604020202020204" pitchFamily="34" charset="0"/>
                      </a:endParaRPr>
                    </a:p>
                  </a:txBody>
                  <a:tcPr marL="133421" marR="133421" marT="1853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 </a:t>
                      </a:r>
                      <a:endParaRPr lang="en-AU" sz="3500" b="0" i="0" u="none" strike="noStrike">
                        <a:effectLst/>
                        <a:latin typeface="Arial" panose="020B0604020202020204" pitchFamily="34" charset="0"/>
                      </a:endParaRPr>
                    </a:p>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2.F</a:t>
                      </a:r>
                      <a:endParaRPr lang="en-AU" sz="3500" b="0" i="0" u="none" strike="noStrike">
                        <a:effectLst/>
                        <a:latin typeface="Arial" panose="020B0604020202020204" pitchFamily="34" charset="0"/>
                      </a:endParaRPr>
                    </a:p>
                  </a:txBody>
                  <a:tcPr marL="133421" marR="133421" marT="1853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 </a:t>
                      </a:r>
                      <a:endParaRPr lang="en-AU" sz="3500" b="0" i="0" u="none" strike="noStrike">
                        <a:effectLst/>
                        <a:latin typeface="Arial" panose="020B0604020202020204" pitchFamily="34" charset="0"/>
                      </a:endParaRPr>
                    </a:p>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3.D</a:t>
                      </a:r>
                      <a:endParaRPr lang="en-AU" sz="3500" b="0" i="0" u="none" strike="noStrike">
                        <a:effectLst/>
                        <a:latin typeface="Arial" panose="020B0604020202020204" pitchFamily="34" charset="0"/>
                      </a:endParaRPr>
                    </a:p>
                  </a:txBody>
                  <a:tcPr marL="133421" marR="133421" marT="1853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 </a:t>
                      </a:r>
                      <a:endParaRPr lang="en-AU" sz="3500" b="0" i="0" u="none" strike="noStrike">
                        <a:effectLst/>
                        <a:latin typeface="Arial" panose="020B0604020202020204" pitchFamily="34" charset="0"/>
                      </a:endParaRPr>
                    </a:p>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4.E</a:t>
                      </a:r>
                      <a:endParaRPr lang="en-AU" sz="3500" b="0" i="0" u="none" strike="noStrike">
                        <a:effectLst/>
                        <a:latin typeface="Arial" panose="020B0604020202020204" pitchFamily="34" charset="0"/>
                      </a:endParaRPr>
                    </a:p>
                  </a:txBody>
                  <a:tcPr marL="133421" marR="133421" marT="1853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 </a:t>
                      </a:r>
                      <a:endParaRPr lang="en-AU" sz="3500" b="0" i="0" u="none" strike="noStrike">
                        <a:effectLst/>
                        <a:latin typeface="Arial" panose="020B0604020202020204" pitchFamily="34" charset="0"/>
                      </a:endParaRPr>
                    </a:p>
                    <a:p>
                      <a:pPr algn="l" fontAlgn="t">
                        <a:lnSpc>
                          <a:spcPct val="107000"/>
                        </a:lnSpc>
                        <a:spcBef>
                          <a:spcPts val="0"/>
                        </a:spcBef>
                        <a:spcAft>
                          <a:spcPts val="800"/>
                        </a:spcAft>
                      </a:pPr>
                      <a:r>
                        <a:rPr lang="en-AU" sz="2300" b="0" i="0" u="none" strike="noStrike">
                          <a:effectLst/>
                          <a:latin typeface="Arial" panose="020B0604020202020204" pitchFamily="34" charset="0"/>
                          <a:ea typeface="Calibri" panose="020F0502020204030204" pitchFamily="34" charset="0"/>
                          <a:cs typeface="Times New Roman" panose="02020603050405020304" pitchFamily="18" charset="0"/>
                        </a:rPr>
                        <a:t>5.A</a:t>
                      </a:r>
                      <a:endParaRPr lang="en-AU" sz="3500" b="0" i="0" u="none" strike="noStrike">
                        <a:effectLst/>
                        <a:latin typeface="Arial" panose="020B0604020202020204" pitchFamily="34" charset="0"/>
                      </a:endParaRPr>
                    </a:p>
                  </a:txBody>
                  <a:tcPr marL="133421" marR="133421" marT="1853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t">
                        <a:lnSpc>
                          <a:spcPct val="107000"/>
                        </a:lnSpc>
                        <a:spcBef>
                          <a:spcPts val="0"/>
                        </a:spcBef>
                        <a:spcAft>
                          <a:spcPts val="800"/>
                        </a:spcAft>
                      </a:pPr>
                      <a:r>
                        <a:rPr lang="en-AU" sz="2300" b="0" i="0" u="none" strike="noStrike" dirty="0">
                          <a:effectLst/>
                          <a:latin typeface="Arial" panose="020B0604020202020204" pitchFamily="34" charset="0"/>
                          <a:ea typeface="Calibri" panose="020F0502020204030204" pitchFamily="34" charset="0"/>
                          <a:cs typeface="Times New Roman" panose="02020603050405020304" pitchFamily="18" charset="0"/>
                        </a:rPr>
                        <a:t> </a:t>
                      </a:r>
                      <a:endParaRPr lang="en-AU" sz="3500" b="0" i="0" u="none" strike="noStrike" dirty="0">
                        <a:effectLst/>
                        <a:latin typeface="Arial" panose="020B0604020202020204" pitchFamily="34" charset="0"/>
                      </a:endParaRPr>
                    </a:p>
                    <a:p>
                      <a:pPr algn="l" fontAlgn="t">
                        <a:lnSpc>
                          <a:spcPct val="107000"/>
                        </a:lnSpc>
                        <a:spcBef>
                          <a:spcPts val="0"/>
                        </a:spcBef>
                        <a:spcAft>
                          <a:spcPts val="800"/>
                        </a:spcAft>
                      </a:pPr>
                      <a:r>
                        <a:rPr lang="en-AU" sz="2300" b="0" i="0" u="none" strike="noStrike" dirty="0">
                          <a:effectLst/>
                          <a:latin typeface="Arial" panose="020B0604020202020204" pitchFamily="34" charset="0"/>
                          <a:ea typeface="Calibri" panose="020F0502020204030204" pitchFamily="34" charset="0"/>
                          <a:cs typeface="Times New Roman" panose="02020603050405020304" pitchFamily="18" charset="0"/>
                        </a:rPr>
                        <a:t>6.B</a:t>
                      </a:r>
                      <a:endParaRPr lang="en-AU" sz="3500" b="0" i="0" u="none" strike="noStrike" dirty="0">
                        <a:effectLst/>
                        <a:latin typeface="Arial" panose="020B0604020202020204" pitchFamily="34" charset="0"/>
                      </a:endParaRPr>
                    </a:p>
                  </a:txBody>
                  <a:tcPr marL="133421" marR="133421" marT="18531"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9448702"/>
                  </a:ext>
                </a:extLst>
              </a:tr>
            </a:tbl>
          </a:graphicData>
        </a:graphic>
      </p:graphicFrame>
    </p:spTree>
    <p:extLst>
      <p:ext uri="{BB962C8B-B14F-4D97-AF65-F5344CB8AC3E}">
        <p14:creationId xmlns:p14="http://schemas.microsoft.com/office/powerpoint/2010/main" val="312542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C156-07C4-7A8E-0833-A554644C1E12}"/>
              </a:ext>
            </a:extLst>
          </p:cNvPr>
          <p:cNvSpPr>
            <a:spLocks noGrp="1"/>
          </p:cNvSpPr>
          <p:nvPr>
            <p:ph type="title"/>
          </p:nvPr>
        </p:nvSpPr>
        <p:spPr/>
        <p:txBody>
          <a:bodyPr>
            <a:normAutofit/>
          </a:bodyPr>
          <a:lstStyle/>
          <a:p>
            <a:r>
              <a:rPr lang="en-AU" sz="3600" dirty="0">
                <a:solidFill>
                  <a:schemeClr val="tx1"/>
                </a:solidFill>
                <a:effectLst/>
                <a:latin typeface="Arial" panose="020B0604020202020204" pitchFamily="34" charset="0"/>
                <a:ea typeface="Calibri" panose="020F0502020204030204" pitchFamily="34" charset="0"/>
                <a:cs typeface="Times New Roman" panose="02020603050405020304" pitchFamily="18" charset="0"/>
              </a:rPr>
              <a:t>The Australian Consumer Law  (ACL)</a:t>
            </a:r>
            <a:endParaRPr lang="en-AU" sz="7200" dirty="0">
              <a:solidFill>
                <a:schemeClr val="tx1"/>
              </a:solidFill>
            </a:endParaRPr>
          </a:p>
        </p:txBody>
      </p:sp>
      <p:sp>
        <p:nvSpPr>
          <p:cNvPr id="3" name="Content Placeholder 2">
            <a:extLst>
              <a:ext uri="{FF2B5EF4-FFF2-40B4-BE49-F238E27FC236}">
                <a16:creationId xmlns:a16="http://schemas.microsoft.com/office/drawing/2014/main" id="{2DC5A66E-D25F-CE5E-41BA-5E06916A3E7D}"/>
              </a:ext>
            </a:extLst>
          </p:cNvPr>
          <p:cNvSpPr>
            <a:spLocks noGrp="1"/>
          </p:cNvSpPr>
          <p:nvPr>
            <p:ph idx="1"/>
          </p:nvPr>
        </p:nvSpPr>
        <p:spPr>
          <a:xfrm>
            <a:off x="838200" y="1600200"/>
            <a:ext cx="10515600" cy="4545013"/>
          </a:xfrm>
        </p:spPr>
        <p:txBody>
          <a:bodyPr/>
          <a:lstStyle/>
          <a:p>
            <a:r>
              <a:rPr lang="en-AU" sz="2000" dirty="0">
                <a:effectLst/>
                <a:latin typeface="Arial" panose="020B0604020202020204" pitchFamily="34" charset="0"/>
                <a:ea typeface="Calibri" panose="020F0502020204030204" pitchFamily="34" charset="0"/>
                <a:cs typeface="Times New Roman" panose="02020603050405020304" pitchFamily="18" charset="0"/>
              </a:rPr>
              <a:t>Creates a basic set of guarantees for consumers who acquire goods and services from Australian suppliers, importers or manufacturers.</a:t>
            </a:r>
          </a:p>
          <a:p>
            <a:r>
              <a:rPr lang="en-AU" sz="2000" dirty="0">
                <a:effectLst/>
                <a:latin typeface="Arial" panose="020B0604020202020204" pitchFamily="34" charset="0"/>
                <a:ea typeface="Calibri" panose="020F0502020204030204" pitchFamily="34" charset="0"/>
                <a:cs typeface="Times New Roman" panose="02020603050405020304" pitchFamily="18" charset="0"/>
              </a:rPr>
              <a:t>These are intended to ensure that consumers receive the goods or services that they have paid for. </a:t>
            </a:r>
          </a:p>
          <a:p>
            <a:r>
              <a:rPr lang="en-AU" sz="2000" dirty="0">
                <a:effectLst/>
                <a:latin typeface="Arial" panose="020B0604020202020204" pitchFamily="34" charset="0"/>
                <a:ea typeface="Calibri" panose="020F0502020204030204" pitchFamily="34" charset="0"/>
                <a:cs typeface="Times New Roman" panose="02020603050405020304" pitchFamily="18" charset="0"/>
              </a:rPr>
              <a:t>When there is a problem and one of the guarantees has not been met, consumers are entitled to a redress (to have the situation ‘put right’). If the problem is with goods, consumers have the legal right to a refund, a replacement or to have the product repaired. The choice is up to the consumer. </a:t>
            </a:r>
          </a:p>
          <a:p>
            <a:pPr>
              <a:lnSpc>
                <a:spcPct val="115000"/>
              </a:lnSpc>
              <a:spcBef>
                <a:spcPts val="1200"/>
              </a:spcBef>
            </a:pPr>
            <a:r>
              <a:rPr lang="en-AU" sz="2000" dirty="0">
                <a:effectLst/>
                <a:latin typeface="Arial" panose="020B0604020202020204" pitchFamily="34" charset="0"/>
                <a:ea typeface="Calibri" panose="020F0502020204030204" pitchFamily="34" charset="0"/>
                <a:cs typeface="Times New Roman" panose="02020603050405020304" pitchFamily="18" charset="0"/>
              </a:rPr>
              <a:t> If the service is at fault, the consumer has the right to have the service performed again.</a:t>
            </a:r>
          </a:p>
          <a:p>
            <a:pPr marL="0" indent="0">
              <a:buNone/>
            </a:pPr>
            <a:endParaRPr lang="en-AU" dirty="0"/>
          </a:p>
        </p:txBody>
      </p:sp>
    </p:spTree>
    <p:extLst>
      <p:ext uri="{BB962C8B-B14F-4D97-AF65-F5344CB8AC3E}">
        <p14:creationId xmlns:p14="http://schemas.microsoft.com/office/powerpoint/2010/main" val="809604620"/>
      </p:ext>
    </p:extLst>
  </p:cSld>
  <p:clrMapOvr>
    <a:masterClrMapping/>
  </p:clrMapOvr>
</p:sld>
</file>

<file path=ppt/theme/theme1.xml><?xml version="1.0" encoding="utf-8"?>
<a:theme xmlns:a="http://schemas.openxmlformats.org/drawingml/2006/main" name="BlockprintVTI">
  <a:themeElements>
    <a:clrScheme name="AnalogousFromLightSeed_2SEEDS">
      <a:dk1>
        <a:srgbClr val="000000"/>
      </a:dk1>
      <a:lt1>
        <a:srgbClr val="FFFFFF"/>
      </a:lt1>
      <a:dk2>
        <a:srgbClr val="413024"/>
      </a:dk2>
      <a:lt2>
        <a:srgbClr val="E2E6E8"/>
      </a:lt2>
      <a:accent1>
        <a:srgbClr val="D59164"/>
      </a:accent1>
      <a:accent2>
        <a:srgbClr val="DC8081"/>
      </a:accent2>
      <a:accent3>
        <a:srgbClr val="AFA266"/>
      </a:accent3>
      <a:accent4>
        <a:srgbClr val="52AFAF"/>
      </a:accent4>
      <a:accent5>
        <a:srgbClr val="69A8D6"/>
      </a:accent5>
      <a:accent6>
        <a:srgbClr val="6476D5"/>
      </a:accent6>
      <a:hlink>
        <a:srgbClr val="5986A5"/>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docProps/app.xml><?xml version="1.0" encoding="utf-8"?>
<Properties xmlns="http://schemas.openxmlformats.org/officeDocument/2006/extended-properties" xmlns:vt="http://schemas.openxmlformats.org/officeDocument/2006/docPropsVTypes">
  <TotalTime>115</TotalTime>
  <Words>392</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Avenir Next LT Pro</vt:lpstr>
      <vt:lpstr>AvenirNext LT Pro Medium</vt:lpstr>
      <vt:lpstr>Calibri</vt:lpstr>
      <vt:lpstr>BlockprintVTI</vt:lpstr>
      <vt:lpstr>Legal Protection of Consumer Rights Keeping Consumers Safe </vt:lpstr>
      <vt:lpstr>Learning Intentions</vt:lpstr>
      <vt:lpstr>Success Criteria </vt:lpstr>
      <vt:lpstr>PowerPoint Presentation</vt:lpstr>
      <vt:lpstr>Complete the matching worksheet</vt:lpstr>
      <vt:lpstr>The Australian Consumer Law  (ACL)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Protection of Consumer Rights Keeping Consumers Safe </dc:title>
  <dc:creator>LACHMAN Sarah [Narrogin Senior High School]</dc:creator>
  <cp:lastModifiedBy>LACHMAN Sarah [Narrogin Senior High School]</cp:lastModifiedBy>
  <cp:revision>1</cp:revision>
  <dcterms:created xsi:type="dcterms:W3CDTF">2023-11-02T03:50:57Z</dcterms:created>
  <dcterms:modified xsi:type="dcterms:W3CDTF">2023-11-02T05:46:19Z</dcterms:modified>
</cp:coreProperties>
</file>
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8" r:id="rId9"/>
    <p:sldId id="261" r:id="rId10"/>
    <p:sldId id="269" r:id="rId11"/>
    <p:sldId id="262" r:id="rId12"/>
    <p:sldId id="270" r:id="rId13"/>
    <p:sldId id="263" r:id="rId14"/>
    <p:sldId id="271" r:id="rId15"/>
    <p:sldId id="272" r:id="rId16"/>
    <p:sldId id="264" r:id="rId17"/>
    <p:sldId id="265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0" autoAdjust="0"/>
    <p:restoredTop sz="94660"/>
  </p:normalViewPr>
  <p:slideViewPr>
    <p:cSldViewPr>
      <p:cViewPr varScale="1">
        <p:scale>
          <a:sx n="66" d="100"/>
          <a:sy n="66" d="100"/>
        </p:scale>
        <p:origin x="-32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16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414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56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197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48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805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530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6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545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626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1592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63C30-8A0F-4E4C-BE51-990BCC0E8FB0}" type="datetimeFigureOut">
              <a:rPr lang="en-AU" smtClean="0"/>
              <a:t>29/04/2015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8ED3D-188C-4EAC-B395-2CF59F1208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8538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SClB6-OH-Q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19" y="0"/>
            <a:ext cx="89441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0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>
                <a:hlinkClick r:id="rId2"/>
              </a:rPr>
              <a:t>https://www.youtube.com/watch?v=ySClB6-OH-Q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64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What caused the Black Death?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The </a:t>
            </a:r>
            <a:r>
              <a:rPr lang="en-AU" dirty="0"/>
              <a:t>smallpox </a:t>
            </a:r>
            <a:r>
              <a:rPr lang="en-AU" dirty="0" smtClean="0"/>
              <a:t>virus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The </a:t>
            </a:r>
            <a:r>
              <a:rPr lang="en-AU" dirty="0"/>
              <a:t>influenza </a:t>
            </a:r>
            <a:r>
              <a:rPr lang="en-AU" dirty="0" smtClean="0"/>
              <a:t>virus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Bubonic </a:t>
            </a:r>
            <a:r>
              <a:rPr lang="en-AU" dirty="0"/>
              <a:t>plague </a:t>
            </a:r>
            <a:r>
              <a:rPr lang="en-AU" dirty="0" smtClean="0"/>
              <a:t>bacterium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The </a:t>
            </a:r>
            <a:r>
              <a:rPr lang="en-AU" dirty="0"/>
              <a:t>tuberculosis </a:t>
            </a:r>
            <a:r>
              <a:rPr lang="en-AU" dirty="0" smtClean="0"/>
              <a:t>bacterium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No </a:t>
            </a:r>
            <a:r>
              <a:rPr lang="en-AU" dirty="0"/>
              <a:t>one knows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261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What caused the Black Death?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The </a:t>
            </a:r>
            <a:r>
              <a:rPr lang="en-AU" dirty="0"/>
              <a:t>smallpox </a:t>
            </a:r>
            <a:r>
              <a:rPr lang="en-AU" dirty="0" smtClean="0"/>
              <a:t>virus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The </a:t>
            </a:r>
            <a:r>
              <a:rPr lang="en-AU" dirty="0"/>
              <a:t>influenza </a:t>
            </a:r>
            <a:r>
              <a:rPr lang="en-AU" dirty="0" smtClean="0"/>
              <a:t>virus</a:t>
            </a:r>
          </a:p>
          <a:p>
            <a:pPr marL="514350" lvl="0" indent="-514350">
              <a:buAutoNum type="alphaLcParenR"/>
            </a:pPr>
            <a:r>
              <a:rPr lang="en-AU" dirty="0" smtClean="0">
                <a:solidFill>
                  <a:srgbClr val="0070C0"/>
                </a:solidFill>
              </a:rPr>
              <a:t>Bubonic </a:t>
            </a:r>
            <a:r>
              <a:rPr lang="en-AU" dirty="0">
                <a:solidFill>
                  <a:srgbClr val="0070C0"/>
                </a:solidFill>
              </a:rPr>
              <a:t>plague </a:t>
            </a:r>
            <a:r>
              <a:rPr lang="en-AU" dirty="0" smtClean="0">
                <a:solidFill>
                  <a:srgbClr val="0070C0"/>
                </a:solidFill>
              </a:rPr>
              <a:t>bacterium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The </a:t>
            </a:r>
            <a:r>
              <a:rPr lang="en-AU" dirty="0"/>
              <a:t>tuberculosis </a:t>
            </a:r>
            <a:r>
              <a:rPr lang="en-AU" dirty="0" smtClean="0"/>
              <a:t>bacterium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No </a:t>
            </a:r>
            <a:r>
              <a:rPr lang="en-AU" dirty="0"/>
              <a:t>one knows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562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How was the Black Death likely spread?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From </a:t>
            </a:r>
            <a:r>
              <a:rPr lang="en-AU" dirty="0"/>
              <a:t>person to </a:t>
            </a:r>
            <a:r>
              <a:rPr lang="en-AU" dirty="0" smtClean="0"/>
              <a:t>person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By </a:t>
            </a:r>
            <a:r>
              <a:rPr lang="en-AU" dirty="0"/>
              <a:t>contaminated </a:t>
            </a:r>
            <a:r>
              <a:rPr lang="en-AU" dirty="0" smtClean="0"/>
              <a:t>food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By mosquitos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By </a:t>
            </a:r>
            <a:r>
              <a:rPr lang="en-AU" dirty="0"/>
              <a:t>rats and their fleas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867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How was the Black Death likely spread?</a:t>
            </a:r>
          </a:p>
          <a:p>
            <a:pPr marL="514350" lvl="0" indent="-514350">
              <a:buAutoNum type="alphaLcParenR"/>
            </a:pPr>
            <a:r>
              <a:rPr lang="en-AU" dirty="0" smtClean="0">
                <a:solidFill>
                  <a:srgbClr val="0070C0"/>
                </a:solidFill>
              </a:rPr>
              <a:t>From </a:t>
            </a:r>
            <a:r>
              <a:rPr lang="en-AU" dirty="0">
                <a:solidFill>
                  <a:srgbClr val="0070C0"/>
                </a:solidFill>
              </a:rPr>
              <a:t>person to </a:t>
            </a:r>
            <a:r>
              <a:rPr lang="en-AU" dirty="0" smtClean="0">
                <a:solidFill>
                  <a:srgbClr val="0070C0"/>
                </a:solidFill>
              </a:rPr>
              <a:t>person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By </a:t>
            </a:r>
            <a:r>
              <a:rPr lang="en-AU" dirty="0"/>
              <a:t>contaminated </a:t>
            </a:r>
            <a:r>
              <a:rPr lang="en-AU" dirty="0" smtClean="0"/>
              <a:t>food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By mosquitos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By </a:t>
            </a:r>
            <a:r>
              <a:rPr lang="en-AU" dirty="0"/>
              <a:t>rats and their fleas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392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The Black Death was the second major epidemic of its kind. What was the first known epidemic of the disease that also caused the Black Death?</a:t>
            </a:r>
          </a:p>
          <a:p>
            <a:pPr marL="0" lvl="0" indent="0">
              <a:buNone/>
            </a:pPr>
            <a:r>
              <a:rPr lang="en-AU" dirty="0" smtClean="0"/>
              <a:t>a) The </a:t>
            </a:r>
            <a:r>
              <a:rPr lang="en-AU" dirty="0"/>
              <a:t>Plague of India</a:t>
            </a:r>
          </a:p>
          <a:p>
            <a:pPr marL="0" lvl="0" indent="0">
              <a:buNone/>
            </a:pPr>
            <a:r>
              <a:rPr lang="en-AU" dirty="0" smtClean="0"/>
              <a:t>b) The </a:t>
            </a:r>
            <a:r>
              <a:rPr lang="en-AU" dirty="0"/>
              <a:t>Plague of Justinian</a:t>
            </a:r>
          </a:p>
          <a:p>
            <a:pPr marL="0" lvl="0" indent="0">
              <a:buNone/>
            </a:pPr>
            <a:r>
              <a:rPr lang="en-AU" dirty="0" smtClean="0"/>
              <a:t>c) The </a:t>
            </a:r>
            <a:r>
              <a:rPr lang="en-AU" dirty="0"/>
              <a:t>Hong Kong Plague</a:t>
            </a:r>
          </a:p>
          <a:p>
            <a:pPr marL="0" lvl="0" indent="0">
              <a:buNone/>
            </a:pPr>
            <a:r>
              <a:rPr lang="en-AU" dirty="0" smtClean="0"/>
              <a:t>d) The </a:t>
            </a:r>
            <a:r>
              <a:rPr lang="en-AU" dirty="0" err="1"/>
              <a:t>Antonine</a:t>
            </a:r>
            <a:r>
              <a:rPr lang="en-AU" dirty="0"/>
              <a:t> Plague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141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rPr lang="en-AU" dirty="0"/>
              <a:t>The Black Death was the second major epidemic of its kind. What was the first known epidemic of the disease that also caused the Black Death?</a:t>
            </a:r>
          </a:p>
          <a:p>
            <a:pPr marL="0" lvl="0" indent="0">
              <a:buNone/>
            </a:pPr>
            <a:r>
              <a:rPr lang="en-AU" dirty="0" smtClean="0"/>
              <a:t>a) The </a:t>
            </a:r>
            <a:r>
              <a:rPr lang="en-AU" dirty="0"/>
              <a:t>Plague of India</a:t>
            </a:r>
          </a:p>
          <a:p>
            <a:pPr marL="0" lvl="0" indent="0">
              <a:buNone/>
            </a:pPr>
            <a:r>
              <a:rPr lang="en-AU" dirty="0" smtClean="0"/>
              <a:t>b) </a:t>
            </a:r>
            <a:r>
              <a:rPr lang="en-AU" dirty="0" smtClean="0">
                <a:solidFill>
                  <a:srgbClr val="0070C0"/>
                </a:solidFill>
              </a:rPr>
              <a:t>The </a:t>
            </a:r>
            <a:r>
              <a:rPr lang="en-AU" dirty="0">
                <a:solidFill>
                  <a:srgbClr val="0070C0"/>
                </a:solidFill>
              </a:rPr>
              <a:t>Plague of Justinian</a:t>
            </a:r>
          </a:p>
          <a:p>
            <a:pPr marL="0" lvl="0" indent="0">
              <a:buNone/>
            </a:pPr>
            <a:r>
              <a:rPr lang="en-AU" dirty="0" smtClean="0"/>
              <a:t>c) The </a:t>
            </a:r>
            <a:r>
              <a:rPr lang="en-AU" dirty="0"/>
              <a:t>Hong Kong Plague</a:t>
            </a:r>
          </a:p>
          <a:p>
            <a:pPr marL="0" lvl="0" indent="0">
              <a:buNone/>
            </a:pPr>
            <a:r>
              <a:rPr lang="en-AU" dirty="0" smtClean="0"/>
              <a:t>d) The </a:t>
            </a:r>
            <a:r>
              <a:rPr lang="en-AU" dirty="0" err="1"/>
              <a:t>Antonine</a:t>
            </a:r>
            <a:r>
              <a:rPr lang="en-AU" dirty="0"/>
              <a:t> Plague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992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What proportion of the affected population was killed by the Black Death?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Less </a:t>
            </a:r>
            <a:r>
              <a:rPr lang="en-AU" dirty="0"/>
              <a:t>than </a:t>
            </a:r>
            <a:r>
              <a:rPr lang="en-AU" dirty="0" smtClean="0"/>
              <a:t>10%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About 25%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Over 90%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About </a:t>
            </a:r>
            <a:r>
              <a:rPr lang="en-AU" dirty="0"/>
              <a:t>50%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614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What proportion of the affected population was killed by the Black Death?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Less </a:t>
            </a:r>
            <a:r>
              <a:rPr lang="en-AU" dirty="0"/>
              <a:t>than </a:t>
            </a:r>
            <a:r>
              <a:rPr lang="en-AU" dirty="0" smtClean="0"/>
              <a:t>10%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About 25%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Over 90%</a:t>
            </a:r>
          </a:p>
          <a:p>
            <a:pPr marL="514350" lvl="0" indent="-514350">
              <a:buAutoNum type="alphaLcParenR"/>
            </a:pPr>
            <a:r>
              <a:rPr lang="en-AU" dirty="0" smtClean="0">
                <a:solidFill>
                  <a:srgbClr val="0070C0"/>
                </a:solidFill>
              </a:rPr>
              <a:t>About </a:t>
            </a:r>
            <a:r>
              <a:rPr lang="en-AU" dirty="0">
                <a:solidFill>
                  <a:srgbClr val="0070C0"/>
                </a:solidFill>
              </a:rPr>
              <a:t>50%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7405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When did the Black Death initially occur?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14</a:t>
            </a:r>
            <a:r>
              <a:rPr lang="en-AU" baseline="30000" dirty="0" smtClean="0"/>
              <a:t>th</a:t>
            </a:r>
            <a:r>
              <a:rPr lang="en-AU" dirty="0" smtClean="0"/>
              <a:t> </a:t>
            </a:r>
            <a:r>
              <a:rPr lang="en-AU" dirty="0"/>
              <a:t>century </a:t>
            </a:r>
            <a:r>
              <a:rPr lang="en-AU" dirty="0" smtClean="0"/>
              <a:t>A.D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19</a:t>
            </a:r>
            <a:r>
              <a:rPr lang="en-AU" baseline="30000" dirty="0" smtClean="0"/>
              <a:t>th</a:t>
            </a:r>
            <a:r>
              <a:rPr lang="en-AU" dirty="0" smtClean="0"/>
              <a:t> </a:t>
            </a:r>
            <a:r>
              <a:rPr lang="en-AU" dirty="0"/>
              <a:t>century </a:t>
            </a:r>
            <a:r>
              <a:rPr lang="en-AU" dirty="0" smtClean="0"/>
              <a:t>A.D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541 A.D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1904 A.D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710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When did the Black Death initially occur?</a:t>
            </a:r>
          </a:p>
          <a:p>
            <a:pPr marL="514350" lvl="0" indent="-514350">
              <a:buAutoNum type="alphaLcParenR"/>
            </a:pPr>
            <a:r>
              <a:rPr lang="en-AU" dirty="0" smtClean="0">
                <a:solidFill>
                  <a:srgbClr val="0070C0"/>
                </a:solidFill>
              </a:rPr>
              <a:t>14</a:t>
            </a:r>
            <a:r>
              <a:rPr lang="en-AU" baseline="30000" dirty="0" smtClean="0">
                <a:solidFill>
                  <a:srgbClr val="0070C0"/>
                </a:solidFill>
              </a:rPr>
              <a:t>th</a:t>
            </a:r>
            <a:r>
              <a:rPr lang="en-AU" dirty="0" smtClean="0">
                <a:solidFill>
                  <a:srgbClr val="0070C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</a:rPr>
              <a:t>century </a:t>
            </a:r>
            <a:r>
              <a:rPr lang="en-AU" dirty="0" smtClean="0">
                <a:solidFill>
                  <a:srgbClr val="0070C0"/>
                </a:solidFill>
              </a:rPr>
              <a:t>A.D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19</a:t>
            </a:r>
            <a:r>
              <a:rPr lang="en-AU" baseline="30000" dirty="0" smtClean="0"/>
              <a:t>th</a:t>
            </a:r>
            <a:r>
              <a:rPr lang="en-AU" dirty="0" smtClean="0"/>
              <a:t> </a:t>
            </a:r>
            <a:r>
              <a:rPr lang="en-AU" dirty="0"/>
              <a:t>century </a:t>
            </a:r>
            <a:r>
              <a:rPr lang="en-AU" dirty="0" smtClean="0"/>
              <a:t>A.D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541 A.D</a:t>
            </a:r>
          </a:p>
          <a:p>
            <a:pPr marL="514350" lvl="0" indent="-514350">
              <a:buAutoNum type="alphaLcParenR"/>
            </a:pPr>
            <a:r>
              <a:rPr lang="en-AU" dirty="0" smtClean="0"/>
              <a:t>1904 A.D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5222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How would you describe the population that existed right before the Black Death in terms of size, availability of food, and general health?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715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How would you describe the population that existed right before the Black Death in terms of size, availability of food, and general health</a:t>
            </a:r>
            <a:r>
              <a:rPr lang="en-AU" dirty="0" smtClean="0"/>
              <a:t>?</a:t>
            </a:r>
          </a:p>
          <a:p>
            <a:pPr marL="0" lvl="0" indent="0">
              <a:buNone/>
            </a:pPr>
            <a:endParaRPr lang="en-AU" dirty="0"/>
          </a:p>
          <a:p>
            <a:pPr marL="0" lvl="0" indent="0">
              <a:buNone/>
            </a:pPr>
            <a:r>
              <a:rPr lang="en-AU" dirty="0">
                <a:solidFill>
                  <a:srgbClr val="0070C0"/>
                </a:solidFill>
              </a:rPr>
              <a:t>large, not much food available, poor general health, affected by poverty, famine and disease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193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In what ways could the Black Death have led to improvements in health in surviving populations?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945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In what ways could the Black Death have led to improvements in health in surviving populations</a:t>
            </a:r>
            <a:r>
              <a:rPr lang="en-AU" dirty="0" smtClean="0"/>
              <a:t>?</a:t>
            </a:r>
          </a:p>
          <a:p>
            <a:pPr marL="0" lv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Improving the </a:t>
            </a:r>
            <a:r>
              <a:rPr lang="en-AU">
                <a:solidFill>
                  <a:srgbClr val="0070C0"/>
                </a:solidFill>
              </a:rPr>
              <a:t>gene </a:t>
            </a:r>
            <a:r>
              <a:rPr lang="en-AU" smtClean="0">
                <a:solidFill>
                  <a:srgbClr val="0070C0"/>
                </a:solidFill>
              </a:rPr>
              <a:t>pool. </a:t>
            </a:r>
            <a:endParaRPr lang="en-AU" dirty="0">
              <a:solidFill>
                <a:srgbClr val="0070C0"/>
              </a:solidFill>
            </a:endParaRPr>
          </a:p>
          <a:p>
            <a:pPr marL="0" lv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163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What has DNA analysis revealed about the Black Death?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523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AU" dirty="0"/>
              <a:t>What has DNA analysis revealed about the Black Death?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That it is the same strain as the modern strain prevalent today. People who died suffered from poverty, famine and poor general health.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329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</a:t>
            </a:r>
            <a:r>
              <a:rPr lang="en-AU" dirty="0" smtClean="0"/>
              <a:t>t we will learn…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Origins</a:t>
            </a:r>
          </a:p>
          <a:p>
            <a:pPr marL="0" indent="0">
              <a:buNone/>
            </a:pPr>
            <a:r>
              <a:rPr lang="en-AU" dirty="0" smtClean="0"/>
              <a:t>Symptoms and Causes</a:t>
            </a:r>
          </a:p>
          <a:p>
            <a:pPr marL="0" indent="0">
              <a:buNone/>
            </a:pPr>
            <a:r>
              <a:rPr lang="en-AU" dirty="0" smtClean="0"/>
              <a:t>How it was spread – Trade Routes</a:t>
            </a:r>
          </a:p>
          <a:p>
            <a:pPr marL="0" indent="0">
              <a:buNone/>
            </a:pPr>
            <a:r>
              <a:rPr lang="en-AU" dirty="0" smtClean="0"/>
              <a:t>Impacts on Society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036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455</Words>
  <Application>Microsoft Office PowerPoint</Application>
  <PresentationFormat>On-screen Show (4:3)</PresentationFormat>
  <Paragraphs>72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Questions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will learn…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Black Death</dc:title>
  <dc:creator>DONAVON Rebecca</dc:creator>
  <cp:lastModifiedBy>DONAVON Rebecca</cp:lastModifiedBy>
  <cp:revision>5</cp:revision>
  <dcterms:created xsi:type="dcterms:W3CDTF">2015-04-29T03:52:49Z</dcterms:created>
  <dcterms:modified xsi:type="dcterms:W3CDTF">2015-04-29T06:01:51Z</dcterms:modified>
</cp:coreProperties>
</file>
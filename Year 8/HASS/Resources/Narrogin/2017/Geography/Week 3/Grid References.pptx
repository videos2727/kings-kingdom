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2" r:id="rId15"/>
    <p:sldId id="271" r:id="rId16"/>
    <p:sldId id="270" r:id="rId17"/>
    <p:sldId id="273" r:id="rId18"/>
    <p:sldId id="275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>
        <p:scale>
          <a:sx n="107" d="100"/>
          <a:sy n="107" d="100"/>
        </p:scale>
        <p:origin x="-84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92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80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49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88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6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23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24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71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22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89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45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2C54E-7B2F-4E76-8C95-E7116E5DE573}" type="datetimeFigureOut">
              <a:rPr lang="en-GB" smtClean="0"/>
              <a:t>14/08/2017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BE72F-0B2E-4D78-A75A-D41207A9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84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2882"/>
            <a:ext cx="7772400" cy="1470025"/>
          </a:xfrm>
        </p:spPr>
        <p:txBody>
          <a:bodyPr/>
          <a:lstStyle/>
          <a:p>
            <a:r>
              <a:rPr lang="en-GB" b="1" u="sng" dirty="0" smtClean="0"/>
              <a:t>Grid Reference</a:t>
            </a:r>
            <a:endParaRPr lang="en-GB" b="1" u="sng" dirty="0"/>
          </a:p>
        </p:txBody>
      </p:sp>
      <p:sp>
        <p:nvSpPr>
          <p:cNvPr id="4" name="Text Box 4"/>
          <p:cNvSpPr txBox="1">
            <a:spLocks noGrp="1" noChangeArrowheads="1"/>
          </p:cNvSpPr>
          <p:nvPr>
            <p:ph type="subTitle" idx="1"/>
          </p:nvPr>
        </p:nvSpPr>
        <p:spPr bwMode="auto">
          <a:xfrm>
            <a:off x="179512" y="1268760"/>
            <a:ext cx="8676456" cy="442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Arial" charset="0"/>
              </a:rPr>
              <a:t>A </a:t>
            </a:r>
            <a:r>
              <a:rPr lang="en-GB" b="1" dirty="0">
                <a:solidFill>
                  <a:srgbClr val="FF0000"/>
                </a:solidFill>
                <a:latin typeface="Arial" charset="0"/>
              </a:rPr>
              <a:t>GRID REFERENCE </a:t>
            </a:r>
            <a:r>
              <a:rPr lang="en-GB" b="1" dirty="0">
                <a:solidFill>
                  <a:schemeClr val="tx1"/>
                </a:solidFill>
                <a:latin typeface="Arial" charset="0"/>
              </a:rPr>
              <a:t>is a number which gives a location on a </a:t>
            </a:r>
            <a:r>
              <a:rPr lang="en-GB" b="1" dirty="0" smtClean="0">
                <a:solidFill>
                  <a:schemeClr val="tx1"/>
                </a:solidFill>
                <a:latin typeface="Arial" charset="0"/>
              </a:rPr>
              <a:t>map.</a:t>
            </a:r>
            <a:endParaRPr lang="en-GB" b="1" dirty="0">
              <a:solidFill>
                <a:schemeClr val="tx1"/>
              </a:solidFill>
              <a:latin typeface="Arial" charset="0"/>
            </a:endParaRPr>
          </a:p>
          <a:p>
            <a:pPr algn="l"/>
            <a:endParaRPr lang="en-GB" b="1" dirty="0">
              <a:solidFill>
                <a:schemeClr val="tx1"/>
              </a:solidFill>
              <a:latin typeface="Arial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Arial" charset="0"/>
              </a:rPr>
              <a:t>We can use them to </a:t>
            </a:r>
            <a:r>
              <a:rPr lang="en-GB" b="1" dirty="0" smtClean="0">
                <a:solidFill>
                  <a:schemeClr val="tx1"/>
                </a:solidFill>
                <a:latin typeface="Arial" charset="0"/>
              </a:rPr>
              <a:t>say </a:t>
            </a:r>
            <a:r>
              <a:rPr lang="en-GB" b="1" dirty="0">
                <a:solidFill>
                  <a:schemeClr val="tx1"/>
                </a:solidFill>
                <a:latin typeface="Arial" charset="0"/>
              </a:rPr>
              <a:t>where </a:t>
            </a:r>
            <a:r>
              <a:rPr lang="en-GB" b="1" dirty="0" smtClean="0">
                <a:solidFill>
                  <a:schemeClr val="tx1"/>
                </a:solidFill>
                <a:latin typeface="Arial" charset="0"/>
              </a:rPr>
              <a:t>something is …</a:t>
            </a:r>
            <a:endParaRPr lang="en-GB" b="1" dirty="0">
              <a:solidFill>
                <a:schemeClr val="tx1"/>
              </a:solidFill>
              <a:latin typeface="Arial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endParaRPr lang="en-GB" b="1" dirty="0">
              <a:solidFill>
                <a:schemeClr val="tx1"/>
              </a:solidFill>
              <a:latin typeface="Arial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Arial" charset="0"/>
              </a:rPr>
              <a:t>...or if we </a:t>
            </a:r>
            <a:r>
              <a:rPr lang="en-GB" b="1" dirty="0" smtClean="0">
                <a:solidFill>
                  <a:schemeClr val="tx1"/>
                </a:solidFill>
                <a:latin typeface="Arial" charset="0"/>
              </a:rPr>
              <a:t>got lost </a:t>
            </a:r>
            <a:r>
              <a:rPr lang="en-GB" b="1" dirty="0">
                <a:solidFill>
                  <a:schemeClr val="tx1"/>
                </a:solidFill>
                <a:latin typeface="Arial" charset="0"/>
              </a:rPr>
              <a:t>we </a:t>
            </a:r>
            <a:r>
              <a:rPr lang="en-GB" b="1" dirty="0" smtClean="0">
                <a:solidFill>
                  <a:schemeClr val="tx1"/>
                </a:solidFill>
                <a:latin typeface="Arial" charset="0"/>
              </a:rPr>
              <a:t>could explain to someone else where </a:t>
            </a:r>
            <a:r>
              <a:rPr lang="en-GB" b="1" dirty="0">
                <a:solidFill>
                  <a:schemeClr val="tx1"/>
                </a:solidFill>
                <a:latin typeface="Arial" charset="0"/>
              </a:rPr>
              <a:t>we </a:t>
            </a:r>
            <a:r>
              <a:rPr lang="en-GB" b="1" dirty="0" smtClean="0">
                <a:solidFill>
                  <a:schemeClr val="tx1"/>
                </a:solidFill>
                <a:latin typeface="Arial" charset="0"/>
              </a:rPr>
              <a:t>were.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37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406193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345851" y="87897"/>
            <a:ext cx="669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 smtClean="0"/>
              <a:t>The numbers at the bottom are called </a:t>
            </a:r>
            <a:r>
              <a:rPr lang="en-GB" sz="2200" b="1" dirty="0" err="1" smtClean="0">
                <a:solidFill>
                  <a:srgbClr val="FF0000"/>
                </a:solidFill>
              </a:rPr>
              <a:t>Eastings</a:t>
            </a:r>
            <a:r>
              <a:rPr lang="en-GB" sz="2200" b="1" dirty="0" smtClean="0"/>
              <a:t> because they show you how far </a:t>
            </a:r>
            <a:r>
              <a:rPr lang="en-GB" sz="2200" b="1" dirty="0" smtClean="0">
                <a:solidFill>
                  <a:srgbClr val="FF0000"/>
                </a:solidFill>
              </a:rPr>
              <a:t>East</a:t>
            </a:r>
            <a:r>
              <a:rPr lang="en-GB" sz="2200" b="1" dirty="0" smtClean="0"/>
              <a:t> you are. </a:t>
            </a:r>
            <a:endParaRPr lang="en-GB" sz="2200" b="1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268016" y="995838"/>
            <a:ext cx="0" cy="449497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25594" y="995838"/>
            <a:ext cx="0" cy="449497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796136" y="995838"/>
            <a:ext cx="0" cy="449497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28384" y="995838"/>
            <a:ext cx="0" cy="449497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62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513381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345851" y="87897"/>
            <a:ext cx="669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 smtClean="0"/>
              <a:t>Each </a:t>
            </a:r>
            <a:r>
              <a:rPr lang="en-GB" sz="2200" b="1" dirty="0" smtClean="0">
                <a:solidFill>
                  <a:srgbClr val="FF0000"/>
                </a:solidFill>
              </a:rPr>
              <a:t>Easting</a:t>
            </a:r>
            <a:r>
              <a:rPr lang="en-GB" sz="2200" b="1" dirty="0" smtClean="0"/>
              <a:t> refers to the column which is to the </a:t>
            </a:r>
            <a:r>
              <a:rPr lang="en-GB" sz="2200" b="1" dirty="0" smtClean="0">
                <a:solidFill>
                  <a:srgbClr val="FF0000"/>
                </a:solidFill>
              </a:rPr>
              <a:t>right</a:t>
            </a:r>
            <a:r>
              <a:rPr lang="en-GB" sz="2200" b="1" dirty="0" smtClean="0"/>
              <a:t> of its line. </a:t>
            </a:r>
            <a:endParaRPr lang="en-GB" sz="2200" b="1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268016" y="995838"/>
            <a:ext cx="0" cy="449497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268016" y="995838"/>
            <a:ext cx="2295872" cy="464133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10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51483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345851" y="87897"/>
            <a:ext cx="669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 smtClean="0"/>
              <a:t>The numbers at the side are called </a:t>
            </a:r>
            <a:r>
              <a:rPr lang="en-GB" sz="2200" b="1" dirty="0" smtClean="0">
                <a:solidFill>
                  <a:srgbClr val="FF0000"/>
                </a:solidFill>
              </a:rPr>
              <a:t>Northings </a:t>
            </a:r>
            <a:r>
              <a:rPr lang="en-GB" sz="2200" b="1" dirty="0" smtClean="0"/>
              <a:t>because they show you how far </a:t>
            </a:r>
            <a:r>
              <a:rPr lang="en-GB" sz="2200" b="1" dirty="0" smtClean="0">
                <a:solidFill>
                  <a:srgbClr val="FF0000"/>
                </a:solidFill>
              </a:rPr>
              <a:t>North </a:t>
            </a:r>
            <a:r>
              <a:rPr lang="en-GB" sz="2200" b="1" dirty="0" smtClean="0"/>
              <a:t>you are. </a:t>
            </a:r>
            <a:endParaRPr lang="en-GB" sz="2200" b="1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268016" y="5490810"/>
            <a:ext cx="677457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253805" y="4041205"/>
            <a:ext cx="677457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268016" y="2503368"/>
            <a:ext cx="677457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253804" y="1014103"/>
            <a:ext cx="677457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91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225862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345851" y="87897"/>
            <a:ext cx="66967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 smtClean="0"/>
              <a:t>Each </a:t>
            </a:r>
            <a:r>
              <a:rPr lang="en-GB" sz="2200" b="1" dirty="0" smtClean="0">
                <a:solidFill>
                  <a:srgbClr val="FF0000"/>
                </a:solidFill>
              </a:rPr>
              <a:t>Northing</a:t>
            </a:r>
            <a:r>
              <a:rPr lang="en-GB" sz="2200" b="1" dirty="0" smtClean="0"/>
              <a:t> refers to the row </a:t>
            </a:r>
            <a:r>
              <a:rPr lang="en-GB" sz="2200" b="1" dirty="0" smtClean="0">
                <a:solidFill>
                  <a:srgbClr val="FF0000"/>
                </a:solidFill>
              </a:rPr>
              <a:t>above</a:t>
            </a:r>
            <a:r>
              <a:rPr lang="en-GB" sz="2200" b="1" dirty="0" smtClean="0"/>
              <a:t> its line. </a:t>
            </a:r>
            <a:endParaRPr lang="en-GB" sz="2200" b="1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268016" y="5490810"/>
            <a:ext cx="677457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268016" y="4050650"/>
            <a:ext cx="6760368" cy="14401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53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We always read the Easting First and the Northing Second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You can remember this by thinking…</a:t>
            </a:r>
          </a:p>
          <a:p>
            <a:pPr marL="0" indent="0" algn="ctr">
              <a:buNone/>
            </a:pPr>
            <a:r>
              <a:rPr lang="en-GB" dirty="0" smtClean="0">
                <a:solidFill>
                  <a:srgbClr val="FF0000"/>
                </a:solidFill>
              </a:rPr>
              <a:t>Along</a:t>
            </a:r>
            <a:r>
              <a:rPr lang="en-GB" dirty="0" smtClean="0"/>
              <a:t> the corridor and </a:t>
            </a:r>
            <a:r>
              <a:rPr lang="en-GB" dirty="0" smtClean="0">
                <a:solidFill>
                  <a:srgbClr val="FF0000"/>
                </a:solidFill>
              </a:rPr>
              <a:t>up</a:t>
            </a:r>
            <a:r>
              <a:rPr lang="en-GB" dirty="0" smtClean="0"/>
              <a:t> the stairs!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072399"/>
              </p:ext>
            </p:extLst>
          </p:nvPr>
        </p:nvGraphicFramePr>
        <p:xfrm>
          <a:off x="2195736" y="2996952"/>
          <a:ext cx="4608510" cy="31843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6170"/>
                <a:gridCol w="1536170"/>
                <a:gridCol w="1536170"/>
              </a:tblGrid>
              <a:tr h="101321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</a:tr>
              <a:tr h="1085574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  <a:tr h="1085574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2195736" y="6165304"/>
            <a:ext cx="302433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258544" y="4005064"/>
            <a:ext cx="0" cy="216024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69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904228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Let’s work out the </a:t>
            </a:r>
            <a:r>
              <a:rPr lang="en-GB" sz="2800" b="1" dirty="0" smtClean="0">
                <a:solidFill>
                  <a:srgbClr val="FF0000"/>
                </a:solidFill>
              </a:rPr>
              <a:t>Grid Reference </a:t>
            </a:r>
            <a:r>
              <a:rPr lang="en-GB" sz="2800" b="1" dirty="0" smtClean="0"/>
              <a:t>of the blue square by reading </a:t>
            </a:r>
            <a:r>
              <a:rPr lang="en-GB" sz="2800" b="1" dirty="0" smtClean="0">
                <a:solidFill>
                  <a:srgbClr val="FF0000"/>
                </a:solidFill>
              </a:rPr>
              <a:t>along</a:t>
            </a:r>
            <a:r>
              <a:rPr lang="en-GB" sz="2800" b="1" dirty="0" smtClean="0"/>
              <a:t> the corridor then </a:t>
            </a:r>
            <a:r>
              <a:rPr lang="en-GB" sz="2800" b="1" dirty="0" smtClean="0">
                <a:solidFill>
                  <a:srgbClr val="FF0000"/>
                </a:solidFill>
              </a:rPr>
              <a:t>up</a:t>
            </a:r>
            <a:r>
              <a:rPr lang="en-GB" sz="2800" b="1" dirty="0" smtClean="0"/>
              <a:t> the stairs</a:t>
            </a:r>
            <a:r>
              <a:rPr lang="en-GB" sz="2000" dirty="0" smtClean="0"/>
              <a:t>!</a:t>
            </a:r>
            <a:endParaRPr lang="en-GB" sz="20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268016" y="5490810"/>
            <a:ext cx="45281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796136" y="2466474"/>
            <a:ext cx="0" cy="302433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84168" y="1257448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 smtClean="0"/>
              <a:t>3246!</a:t>
            </a:r>
            <a:endParaRPr lang="en-GB" sz="4800" b="1" dirty="0"/>
          </a:p>
        </p:txBody>
      </p:sp>
    </p:spTree>
    <p:extLst>
      <p:ext uri="{BB962C8B-B14F-4D97-AF65-F5344CB8AC3E}">
        <p14:creationId xmlns:p14="http://schemas.microsoft.com/office/powerpoint/2010/main" val="187816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220441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Norbury</a:t>
                      </a:r>
                      <a:r>
                        <a:rPr lang="en-GB" dirty="0" smtClean="0"/>
                        <a:t> Park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School</a:t>
                      </a:r>
                      <a:endParaRPr lang="en-GB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488165">
                <a:tc>
                  <a:txBody>
                    <a:bodyPr/>
                    <a:lstStyle/>
                    <a:p>
                      <a:pPr algn="r"/>
                      <a:endParaRPr lang="en-GB" dirty="0" smtClean="0"/>
                    </a:p>
                    <a:p>
                      <a:pPr algn="r"/>
                      <a:endParaRPr lang="en-GB" dirty="0" smtClean="0"/>
                    </a:p>
                    <a:p>
                      <a:pPr algn="r"/>
                      <a:r>
                        <a:rPr lang="en-GB" dirty="0" smtClean="0"/>
                        <a:t>Lodge Farm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Cowslip</a:t>
                      </a:r>
                      <a:r>
                        <a:rPr lang="en-GB" baseline="0" dirty="0" smtClean="0"/>
                        <a:t> Farm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Mickleham</a:t>
                      </a:r>
                      <a:r>
                        <a:rPr lang="en-GB" dirty="0" smtClean="0"/>
                        <a:t> Hall</a:t>
                      </a:r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Beechy</a:t>
                      </a:r>
                      <a:r>
                        <a:rPr lang="en-GB" dirty="0" smtClean="0"/>
                        <a:t> Wood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Fredley</a:t>
                      </a:r>
                      <a:r>
                        <a:rPr lang="en-GB" baseline="0" dirty="0" smtClean="0"/>
                        <a:t> Manor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On a whiteboard hold up the </a:t>
            </a:r>
            <a:r>
              <a:rPr lang="en-GB" sz="2800" b="1" dirty="0" smtClean="0">
                <a:solidFill>
                  <a:srgbClr val="FF0000"/>
                </a:solidFill>
              </a:rPr>
              <a:t>Grid Reference </a:t>
            </a:r>
            <a:r>
              <a:rPr lang="en-GB" sz="2800" b="1" dirty="0" smtClean="0"/>
              <a:t>for </a:t>
            </a:r>
          </a:p>
          <a:p>
            <a:pPr algn="ctr"/>
            <a:r>
              <a:rPr lang="en-GB" sz="2800" b="1" dirty="0" smtClean="0">
                <a:solidFill>
                  <a:schemeClr val="accent1">
                    <a:lumMod val="75000"/>
                  </a:schemeClr>
                </a:solidFill>
              </a:rPr>
              <a:t>Cowslip Farm</a:t>
            </a:r>
            <a:endParaRPr lang="en-GB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890799" y="177281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2771800" y="342900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139952" y="3525327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1556048" y="504918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6228184" y="465313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588224" y="3140968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6585591" y="168836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68016" y="5490810"/>
            <a:ext cx="22958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563888" y="4050650"/>
            <a:ext cx="0" cy="14401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7-Point Star 25"/>
          <p:cNvSpPr/>
          <p:nvPr/>
        </p:nvSpPr>
        <p:spPr>
          <a:xfrm>
            <a:off x="4284227" y="567844"/>
            <a:ext cx="4752528" cy="3744416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 smtClean="0">
                <a:solidFill>
                  <a:schemeClr val="tx1"/>
                </a:solidFill>
              </a:rPr>
              <a:t>3145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96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020309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Norbury</a:t>
                      </a:r>
                      <a:r>
                        <a:rPr lang="en-GB" dirty="0" smtClean="0"/>
                        <a:t> Park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School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1488165">
                <a:tc>
                  <a:txBody>
                    <a:bodyPr/>
                    <a:lstStyle/>
                    <a:p>
                      <a:pPr algn="r"/>
                      <a:endParaRPr lang="en-GB" dirty="0" smtClean="0"/>
                    </a:p>
                    <a:p>
                      <a:pPr algn="r"/>
                      <a:endParaRPr lang="en-GB" dirty="0" smtClean="0"/>
                    </a:p>
                    <a:p>
                      <a:pPr algn="r"/>
                      <a:r>
                        <a:rPr lang="en-GB" dirty="0" smtClean="0"/>
                        <a:t>Lodge Farm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Cowslip</a:t>
                      </a:r>
                      <a:r>
                        <a:rPr lang="en-GB" baseline="0" dirty="0" smtClean="0"/>
                        <a:t> Farm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Mickleham</a:t>
                      </a:r>
                      <a:r>
                        <a:rPr lang="en-GB" dirty="0" smtClean="0"/>
                        <a:t> Hall</a:t>
                      </a:r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Beechy</a:t>
                      </a:r>
                      <a:r>
                        <a:rPr lang="en-GB" dirty="0" smtClean="0"/>
                        <a:t> Wood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Fredley</a:t>
                      </a:r>
                      <a:r>
                        <a:rPr lang="en-GB" baseline="0" dirty="0" smtClean="0"/>
                        <a:t> Manor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On a whiteboard hold up the </a:t>
            </a:r>
            <a:r>
              <a:rPr lang="en-GB" sz="2800" b="1" dirty="0" smtClean="0">
                <a:solidFill>
                  <a:srgbClr val="FF0000"/>
                </a:solidFill>
              </a:rPr>
              <a:t>Grid Reference </a:t>
            </a:r>
            <a:r>
              <a:rPr lang="en-GB" sz="2800" b="1" dirty="0" smtClean="0"/>
              <a:t>for </a:t>
            </a:r>
          </a:p>
          <a:p>
            <a:pPr algn="ctr"/>
            <a:r>
              <a:rPr lang="en-GB" sz="2800" b="1" dirty="0" smtClean="0">
                <a:solidFill>
                  <a:schemeClr val="accent1">
                    <a:lumMod val="75000"/>
                  </a:schemeClr>
                </a:solidFill>
              </a:rPr>
              <a:t>School</a:t>
            </a:r>
            <a:endParaRPr lang="en-GB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890799" y="177281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2771800" y="342900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139952" y="3525327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1556048" y="504918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6228184" y="465313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588224" y="3140968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6585591" y="168836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7-Point Star 25"/>
          <p:cNvSpPr/>
          <p:nvPr/>
        </p:nvSpPr>
        <p:spPr>
          <a:xfrm>
            <a:off x="899592" y="1358770"/>
            <a:ext cx="4752528" cy="3744416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 smtClean="0">
                <a:solidFill>
                  <a:schemeClr val="tx1"/>
                </a:solidFill>
              </a:rPr>
              <a:t>3246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06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377977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Norbury</a:t>
                      </a:r>
                      <a:r>
                        <a:rPr lang="en-GB" dirty="0" smtClean="0"/>
                        <a:t> Park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School</a:t>
                      </a:r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1488165">
                <a:tc>
                  <a:txBody>
                    <a:bodyPr/>
                    <a:lstStyle/>
                    <a:p>
                      <a:pPr algn="r"/>
                      <a:endParaRPr lang="en-GB" dirty="0" smtClean="0"/>
                    </a:p>
                    <a:p>
                      <a:pPr algn="r"/>
                      <a:endParaRPr lang="en-GB" dirty="0" smtClean="0"/>
                    </a:p>
                    <a:p>
                      <a:pPr algn="r"/>
                      <a:r>
                        <a:rPr lang="en-GB" dirty="0" smtClean="0"/>
                        <a:t>Lodge Farm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Cowslip</a:t>
                      </a:r>
                      <a:r>
                        <a:rPr lang="en-GB" baseline="0" dirty="0" smtClean="0"/>
                        <a:t> Farm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Mickleham</a:t>
                      </a:r>
                      <a:r>
                        <a:rPr lang="en-GB" dirty="0" smtClean="0"/>
                        <a:t> Hall</a:t>
                      </a:r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Beechy</a:t>
                      </a:r>
                      <a:r>
                        <a:rPr lang="en-GB" dirty="0" smtClean="0"/>
                        <a:t> Wood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Fredley</a:t>
                      </a:r>
                      <a:r>
                        <a:rPr lang="en-GB" baseline="0" dirty="0" smtClean="0"/>
                        <a:t> Manor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On a whiteboard hold up the </a:t>
            </a:r>
            <a:r>
              <a:rPr lang="en-GB" sz="2800" b="1" dirty="0" smtClean="0">
                <a:solidFill>
                  <a:srgbClr val="FF0000"/>
                </a:solidFill>
              </a:rPr>
              <a:t>Grid Reference </a:t>
            </a:r>
            <a:r>
              <a:rPr lang="en-GB" sz="2800" b="1" dirty="0" smtClean="0"/>
              <a:t>for </a:t>
            </a:r>
          </a:p>
          <a:p>
            <a:pPr algn="ctr"/>
            <a:r>
              <a:rPr lang="en-GB" sz="2800" b="1" dirty="0" err="1" smtClean="0">
                <a:solidFill>
                  <a:schemeClr val="accent1">
                    <a:lumMod val="75000"/>
                  </a:schemeClr>
                </a:solidFill>
              </a:rPr>
              <a:t>Fredley</a:t>
            </a:r>
            <a:r>
              <a:rPr lang="en-GB" sz="2800" b="1" dirty="0" smtClean="0">
                <a:solidFill>
                  <a:schemeClr val="accent1">
                    <a:lumMod val="75000"/>
                  </a:schemeClr>
                </a:solidFill>
              </a:rPr>
              <a:t> Manor</a:t>
            </a:r>
            <a:endParaRPr lang="en-GB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890799" y="177281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2771800" y="342900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139952" y="3525327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1556048" y="504918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6228184" y="465313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588224" y="3140968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6585591" y="168836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7-Point Star 25"/>
          <p:cNvSpPr/>
          <p:nvPr/>
        </p:nvSpPr>
        <p:spPr>
          <a:xfrm>
            <a:off x="4572000" y="477054"/>
            <a:ext cx="4752528" cy="3744416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 smtClean="0">
                <a:solidFill>
                  <a:schemeClr val="tx1"/>
                </a:solidFill>
              </a:rPr>
              <a:t>3244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39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327438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Norbury</a:t>
                      </a:r>
                      <a:r>
                        <a:rPr lang="en-GB" dirty="0" smtClean="0"/>
                        <a:t> Park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School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488165">
                <a:tc>
                  <a:txBody>
                    <a:bodyPr/>
                    <a:lstStyle/>
                    <a:p>
                      <a:pPr algn="r"/>
                      <a:endParaRPr lang="en-GB" dirty="0" smtClean="0"/>
                    </a:p>
                    <a:p>
                      <a:pPr algn="r"/>
                      <a:endParaRPr lang="en-GB" dirty="0" smtClean="0"/>
                    </a:p>
                    <a:p>
                      <a:pPr algn="r"/>
                      <a:r>
                        <a:rPr lang="en-GB" dirty="0" smtClean="0"/>
                        <a:t>Lodge Farm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Cowslip</a:t>
                      </a:r>
                      <a:r>
                        <a:rPr lang="en-GB" baseline="0" dirty="0" smtClean="0"/>
                        <a:t> Farm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Mickleham</a:t>
                      </a:r>
                      <a:r>
                        <a:rPr lang="en-GB" dirty="0" smtClean="0"/>
                        <a:t> Hall</a:t>
                      </a:r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Beechy</a:t>
                      </a:r>
                      <a:r>
                        <a:rPr lang="en-GB" dirty="0" smtClean="0"/>
                        <a:t> Wood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Fredley</a:t>
                      </a:r>
                      <a:r>
                        <a:rPr lang="en-GB" baseline="0" dirty="0" smtClean="0"/>
                        <a:t> Manor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On a whiteboard hold up the </a:t>
            </a:r>
            <a:r>
              <a:rPr lang="en-GB" sz="2800" b="1" dirty="0" smtClean="0">
                <a:solidFill>
                  <a:srgbClr val="FF0000"/>
                </a:solidFill>
              </a:rPr>
              <a:t>Grid Reference </a:t>
            </a:r>
            <a:r>
              <a:rPr lang="en-GB" sz="2800" b="1" dirty="0" smtClean="0"/>
              <a:t>for </a:t>
            </a:r>
          </a:p>
          <a:p>
            <a:pPr algn="ctr"/>
            <a:r>
              <a:rPr lang="en-GB" sz="2800" b="1" dirty="0" err="1" smtClean="0">
                <a:solidFill>
                  <a:schemeClr val="accent1">
                    <a:lumMod val="75000"/>
                  </a:schemeClr>
                </a:solidFill>
              </a:rPr>
              <a:t>Norbury</a:t>
            </a:r>
            <a:r>
              <a:rPr lang="en-GB" sz="2800" b="1" dirty="0" smtClean="0">
                <a:solidFill>
                  <a:schemeClr val="accent1">
                    <a:lumMod val="75000"/>
                  </a:schemeClr>
                </a:solidFill>
              </a:rPr>
              <a:t> Park</a:t>
            </a:r>
            <a:endParaRPr lang="en-GB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890799" y="177281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2771800" y="342900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139952" y="3525327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1556048" y="504918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6228184" y="465313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588224" y="3140968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6585591" y="168836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7-Point Star 25"/>
          <p:cNvSpPr/>
          <p:nvPr/>
        </p:nvSpPr>
        <p:spPr>
          <a:xfrm>
            <a:off x="4788024" y="332656"/>
            <a:ext cx="4752528" cy="3744416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 smtClean="0">
                <a:solidFill>
                  <a:schemeClr val="tx1"/>
                </a:solidFill>
              </a:rPr>
              <a:t>3046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93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624609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Norbury</a:t>
                      </a:r>
                      <a:r>
                        <a:rPr lang="en-GB" dirty="0" smtClean="0"/>
                        <a:t> Park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School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488165">
                <a:tc>
                  <a:txBody>
                    <a:bodyPr/>
                    <a:lstStyle/>
                    <a:p>
                      <a:pPr algn="r"/>
                      <a:endParaRPr lang="en-GB" dirty="0" smtClean="0"/>
                    </a:p>
                    <a:p>
                      <a:pPr algn="r"/>
                      <a:endParaRPr lang="en-GB" dirty="0" smtClean="0"/>
                    </a:p>
                    <a:p>
                      <a:pPr algn="r"/>
                      <a:r>
                        <a:rPr lang="en-GB" dirty="0" smtClean="0"/>
                        <a:t>Lodge Farm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Cowslip</a:t>
                      </a:r>
                      <a:r>
                        <a:rPr lang="en-GB" baseline="0" dirty="0" smtClean="0"/>
                        <a:t> Farm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Mickleham</a:t>
                      </a:r>
                      <a:r>
                        <a:rPr lang="en-GB" dirty="0" smtClean="0"/>
                        <a:t> Hall</a:t>
                      </a:r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Beechy</a:t>
                      </a:r>
                      <a:r>
                        <a:rPr lang="en-GB" dirty="0" smtClean="0"/>
                        <a:t> Wood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Fredley</a:t>
                      </a:r>
                      <a:r>
                        <a:rPr lang="en-GB" baseline="0" dirty="0" smtClean="0"/>
                        <a:t> Manor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On a whiteboard hold up the </a:t>
            </a:r>
            <a:r>
              <a:rPr lang="en-GB" sz="2800" b="1" dirty="0" smtClean="0">
                <a:solidFill>
                  <a:srgbClr val="FF0000"/>
                </a:solidFill>
              </a:rPr>
              <a:t>Grid Reference </a:t>
            </a:r>
            <a:r>
              <a:rPr lang="en-GB" sz="2800" b="1" dirty="0" smtClean="0"/>
              <a:t>for </a:t>
            </a:r>
          </a:p>
          <a:p>
            <a:pPr algn="ctr"/>
            <a:r>
              <a:rPr lang="en-GB" sz="2800" b="1" dirty="0" err="1" smtClean="0">
                <a:solidFill>
                  <a:schemeClr val="accent1">
                    <a:lumMod val="75000"/>
                  </a:schemeClr>
                </a:solidFill>
              </a:rPr>
              <a:t>Beechy</a:t>
            </a:r>
            <a:r>
              <a:rPr lang="en-GB" sz="2800" b="1" dirty="0" smtClean="0">
                <a:solidFill>
                  <a:schemeClr val="accent1">
                    <a:lumMod val="75000"/>
                  </a:schemeClr>
                </a:solidFill>
              </a:rPr>
              <a:t> Wood</a:t>
            </a:r>
            <a:endParaRPr lang="en-GB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890799" y="177281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2771800" y="342900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139952" y="3525327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1556048" y="504918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6228184" y="465313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588224" y="3140968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6585591" y="168836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7-Point Star 25"/>
          <p:cNvSpPr/>
          <p:nvPr/>
        </p:nvSpPr>
        <p:spPr>
          <a:xfrm>
            <a:off x="4593052" y="332656"/>
            <a:ext cx="4752528" cy="3744416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 smtClean="0">
                <a:solidFill>
                  <a:schemeClr val="tx1"/>
                </a:solidFill>
              </a:rPr>
              <a:t>3044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93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351403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Norbury</a:t>
                      </a:r>
                      <a:r>
                        <a:rPr lang="en-GB" dirty="0" smtClean="0"/>
                        <a:t> Park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School</a:t>
                      </a:r>
                      <a:endParaRPr lang="en-GB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1488165">
                <a:tc>
                  <a:txBody>
                    <a:bodyPr/>
                    <a:lstStyle/>
                    <a:p>
                      <a:pPr algn="r"/>
                      <a:endParaRPr lang="en-GB" dirty="0" smtClean="0"/>
                    </a:p>
                    <a:p>
                      <a:pPr algn="r"/>
                      <a:endParaRPr lang="en-GB" dirty="0" smtClean="0"/>
                    </a:p>
                    <a:p>
                      <a:pPr algn="r"/>
                      <a:r>
                        <a:rPr lang="en-GB" dirty="0" smtClean="0"/>
                        <a:t>Lodge Farm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Cowslip</a:t>
                      </a:r>
                      <a:r>
                        <a:rPr lang="en-GB" baseline="0" dirty="0" smtClean="0"/>
                        <a:t> Farm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Mickleham</a:t>
                      </a:r>
                      <a:r>
                        <a:rPr lang="en-GB" dirty="0" smtClean="0"/>
                        <a:t> Hall</a:t>
                      </a:r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Beechy</a:t>
                      </a:r>
                      <a:r>
                        <a:rPr lang="en-GB" dirty="0" smtClean="0"/>
                        <a:t> Wood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Fredley</a:t>
                      </a:r>
                      <a:r>
                        <a:rPr lang="en-GB" baseline="0" dirty="0" smtClean="0"/>
                        <a:t> Manor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On a whiteboard hold up the </a:t>
            </a:r>
            <a:r>
              <a:rPr lang="en-GB" sz="2800" b="1" dirty="0" smtClean="0">
                <a:solidFill>
                  <a:srgbClr val="FF0000"/>
                </a:solidFill>
              </a:rPr>
              <a:t>Grid Reference </a:t>
            </a:r>
            <a:r>
              <a:rPr lang="en-GB" sz="2800" b="1" dirty="0" smtClean="0"/>
              <a:t>for </a:t>
            </a:r>
          </a:p>
          <a:p>
            <a:pPr algn="ctr"/>
            <a:r>
              <a:rPr lang="en-GB" sz="2800" b="1" dirty="0" smtClean="0">
                <a:solidFill>
                  <a:schemeClr val="accent1">
                    <a:lumMod val="75000"/>
                  </a:schemeClr>
                </a:solidFill>
              </a:rPr>
              <a:t>Lodge Farm</a:t>
            </a:r>
            <a:endParaRPr lang="en-GB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890799" y="177281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2771800" y="342900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139952" y="3525327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1556048" y="504918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6228184" y="465313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588224" y="3140968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6585591" y="168836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7-Point Star 25"/>
          <p:cNvSpPr/>
          <p:nvPr/>
        </p:nvSpPr>
        <p:spPr>
          <a:xfrm>
            <a:off x="4563675" y="477054"/>
            <a:ext cx="4752528" cy="3744416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b="1" dirty="0" smtClean="0">
                <a:solidFill>
                  <a:schemeClr val="tx1"/>
                </a:solidFill>
              </a:rPr>
              <a:t>3045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93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 smtClean="0"/>
              <a:t>6 Figure Grid References</a:t>
            </a:r>
            <a:endParaRPr lang="en-GB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4 figure grid references give us a grid location but they are not very specific.</a:t>
            </a:r>
          </a:p>
          <a:p>
            <a:r>
              <a:rPr lang="en-GB" dirty="0" smtClean="0"/>
              <a:t>To be more exact we can use 6 figure grid references to explain where exactly something is within a square.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870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530691"/>
              </p:ext>
            </p:extLst>
          </p:nvPr>
        </p:nvGraphicFramePr>
        <p:xfrm>
          <a:off x="1259632" y="1052736"/>
          <a:ext cx="6768753" cy="4464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251"/>
                <a:gridCol w="2256251"/>
                <a:gridCol w="2256251"/>
              </a:tblGrid>
              <a:tr h="1488165">
                <a:tc>
                  <a:txBody>
                    <a:bodyPr/>
                    <a:lstStyle/>
                    <a:p>
                      <a:pPr algn="ctr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Norbury</a:t>
                      </a:r>
                      <a:r>
                        <a:rPr lang="en-GB" dirty="0" smtClean="0"/>
                        <a:t> Park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ctr"/>
                      <a:r>
                        <a:rPr lang="en-GB" dirty="0" smtClean="0"/>
                        <a:t>School</a:t>
                      </a:r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     church</a:t>
                      </a:r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1488165">
                <a:tc>
                  <a:txBody>
                    <a:bodyPr/>
                    <a:lstStyle/>
                    <a:p>
                      <a:pPr algn="r"/>
                      <a:endParaRPr lang="en-GB" dirty="0" smtClean="0"/>
                    </a:p>
                    <a:p>
                      <a:pPr algn="r"/>
                      <a:endParaRPr lang="en-GB" dirty="0" smtClean="0"/>
                    </a:p>
                    <a:p>
                      <a:pPr algn="r"/>
                      <a:r>
                        <a:rPr lang="en-GB" dirty="0" smtClean="0"/>
                        <a:t>Lodge Farm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smtClean="0"/>
                        <a:t>Cowslip</a:t>
                      </a:r>
                      <a:r>
                        <a:rPr lang="en-GB" baseline="0" dirty="0" smtClean="0"/>
                        <a:t> Farm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Mickleham</a:t>
                      </a:r>
                      <a:r>
                        <a:rPr lang="en-GB" dirty="0" smtClean="0"/>
                        <a:t> Hall</a:t>
                      </a:r>
                      <a:endParaRPr lang="en-GB" dirty="0"/>
                    </a:p>
                  </a:txBody>
                  <a:tcPr/>
                </a:tc>
              </a:tr>
              <a:tr h="1488165"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Beechy</a:t>
                      </a:r>
                      <a:r>
                        <a:rPr lang="en-GB" dirty="0" smtClean="0"/>
                        <a:t> Wood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 smtClean="0"/>
                    </a:p>
                    <a:p>
                      <a:pPr algn="l"/>
                      <a:r>
                        <a:rPr lang="en-GB" dirty="0" err="1" smtClean="0"/>
                        <a:t>Fredley</a:t>
                      </a:r>
                      <a:r>
                        <a:rPr lang="en-GB" baseline="0" dirty="0" smtClean="0"/>
                        <a:t> Manor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9552" y="73422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47</a:t>
            </a:r>
            <a:endParaRPr lang="en-GB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0486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46</a:t>
            </a:r>
            <a:endParaRPr lang="en-GB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378904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45</a:t>
            </a:r>
            <a:endParaRPr lang="en-GB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522920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44</a:t>
            </a:r>
            <a:endParaRPr lang="en-GB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31</a:t>
            </a:r>
            <a:endParaRPr lang="en-GB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40352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33</a:t>
            </a:r>
            <a:endParaRPr lang="en-GB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50810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32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79984" y="564321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30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On the map there is actually a school and a church in square 3246</a:t>
            </a:r>
            <a:endParaRPr lang="en-GB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1890799" y="177281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2771800" y="342900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139952" y="3525327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1556048" y="5049180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6228184" y="465313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588224" y="3140968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6228184" y="1772816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6832512" y="2204864"/>
            <a:ext cx="180020" cy="1800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319972" y="1605373"/>
            <a:ext cx="1818202" cy="22733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5418094" y="2459659"/>
            <a:ext cx="1440160" cy="96934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15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27784" y="1412776"/>
            <a:ext cx="4032448" cy="3672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794110" y="4620154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46</a:t>
            </a:r>
            <a:endParaRPr lang="en-GB" b="1" dirty="0"/>
          </a:p>
        </p:txBody>
      </p:sp>
      <p:sp>
        <p:nvSpPr>
          <p:cNvPr id="6" name="Rectangle 5"/>
          <p:cNvSpPr/>
          <p:nvPr/>
        </p:nvSpPr>
        <p:spPr>
          <a:xfrm>
            <a:off x="6264188" y="5271583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33</a:t>
            </a:r>
            <a:endParaRPr lang="en-GB" b="1" dirty="0"/>
          </a:p>
        </p:txBody>
      </p:sp>
      <p:sp>
        <p:nvSpPr>
          <p:cNvPr id="7" name="Rectangle 6"/>
          <p:cNvSpPr/>
          <p:nvPr/>
        </p:nvSpPr>
        <p:spPr>
          <a:xfrm>
            <a:off x="1763688" y="1016732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47</a:t>
            </a:r>
            <a:endParaRPr lang="en-GB" b="1" dirty="0"/>
          </a:p>
        </p:txBody>
      </p:sp>
      <p:sp>
        <p:nvSpPr>
          <p:cNvPr id="8" name="Rectangle 7"/>
          <p:cNvSpPr/>
          <p:nvPr/>
        </p:nvSpPr>
        <p:spPr>
          <a:xfrm>
            <a:off x="2293745" y="5271583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32</a:t>
            </a:r>
            <a:endParaRPr lang="en-GB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845737"/>
              </p:ext>
            </p:extLst>
          </p:nvPr>
        </p:nvGraphicFramePr>
        <p:xfrm>
          <a:off x="2627780" y="1412776"/>
          <a:ext cx="403245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</a:tblGrid>
              <a:tr h="3641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149198"/>
            <a:ext cx="8938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In order to give more precise locations for the church and the school </a:t>
            </a:r>
          </a:p>
          <a:p>
            <a:r>
              <a:rPr lang="en-GB" sz="2400" b="1" dirty="0" smtClean="0"/>
              <a:t>we divide each side of the square into 10 equal parts in our minds.  </a:t>
            </a:r>
            <a:endParaRPr lang="en-GB" sz="2400" b="1" dirty="0"/>
          </a:p>
        </p:txBody>
      </p:sp>
      <p:sp>
        <p:nvSpPr>
          <p:cNvPr id="12" name="Oval 11"/>
          <p:cNvSpPr/>
          <p:nvPr/>
        </p:nvSpPr>
        <p:spPr>
          <a:xfrm>
            <a:off x="3707904" y="3104964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499992" y="4584150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35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27784" y="1412776"/>
            <a:ext cx="4032448" cy="3672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794110" y="4620154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46</a:t>
            </a:r>
            <a:endParaRPr lang="en-GB" b="1" dirty="0"/>
          </a:p>
        </p:txBody>
      </p:sp>
      <p:sp>
        <p:nvSpPr>
          <p:cNvPr id="6" name="Rectangle 5"/>
          <p:cNvSpPr/>
          <p:nvPr/>
        </p:nvSpPr>
        <p:spPr>
          <a:xfrm>
            <a:off x="6264188" y="5271583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33</a:t>
            </a:r>
            <a:endParaRPr lang="en-GB" b="1" dirty="0"/>
          </a:p>
        </p:txBody>
      </p:sp>
      <p:sp>
        <p:nvSpPr>
          <p:cNvPr id="7" name="Rectangle 6"/>
          <p:cNvSpPr/>
          <p:nvPr/>
        </p:nvSpPr>
        <p:spPr>
          <a:xfrm>
            <a:off x="1763688" y="1016732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47</a:t>
            </a:r>
            <a:endParaRPr lang="en-GB" b="1" dirty="0"/>
          </a:p>
        </p:txBody>
      </p:sp>
      <p:sp>
        <p:nvSpPr>
          <p:cNvPr id="8" name="Rectangle 7"/>
          <p:cNvSpPr/>
          <p:nvPr/>
        </p:nvSpPr>
        <p:spPr>
          <a:xfrm>
            <a:off x="2293745" y="5271583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32</a:t>
            </a:r>
            <a:endParaRPr lang="en-GB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9851"/>
              </p:ext>
            </p:extLst>
          </p:nvPr>
        </p:nvGraphicFramePr>
        <p:xfrm>
          <a:off x="2627780" y="1412776"/>
          <a:ext cx="403245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</a:tblGrid>
              <a:tr h="3641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403648" y="260648"/>
            <a:ext cx="690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Each of these lines also has its own number…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486047" y="5086917"/>
            <a:ext cx="4423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 </a:t>
            </a:r>
            <a:r>
              <a:rPr lang="en-GB" dirty="0" smtClean="0"/>
              <a:t>      1      2      3     4     5      6     7      8      9      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2293745" y="1490079"/>
            <a:ext cx="292453" cy="3378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 smtClean="0"/>
              <a:t>9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8</a:t>
            </a: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 smtClean="0"/>
              <a:t>7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6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5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4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3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2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3707904" y="3104964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499992" y="4584150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39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27784" y="1412776"/>
            <a:ext cx="4032448" cy="3672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794110" y="4620154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46</a:t>
            </a:r>
            <a:endParaRPr lang="en-GB" b="1" dirty="0"/>
          </a:p>
        </p:txBody>
      </p:sp>
      <p:sp>
        <p:nvSpPr>
          <p:cNvPr id="6" name="Rectangle 5"/>
          <p:cNvSpPr/>
          <p:nvPr/>
        </p:nvSpPr>
        <p:spPr>
          <a:xfrm>
            <a:off x="6264188" y="5271583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33</a:t>
            </a:r>
            <a:endParaRPr lang="en-GB" b="1" dirty="0"/>
          </a:p>
        </p:txBody>
      </p:sp>
      <p:sp>
        <p:nvSpPr>
          <p:cNvPr id="7" name="Rectangle 6"/>
          <p:cNvSpPr/>
          <p:nvPr/>
        </p:nvSpPr>
        <p:spPr>
          <a:xfrm>
            <a:off x="1763688" y="1016732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47</a:t>
            </a:r>
            <a:endParaRPr lang="en-GB" b="1" dirty="0"/>
          </a:p>
        </p:txBody>
      </p:sp>
      <p:sp>
        <p:nvSpPr>
          <p:cNvPr id="8" name="Rectangle 7"/>
          <p:cNvSpPr/>
          <p:nvPr/>
        </p:nvSpPr>
        <p:spPr>
          <a:xfrm>
            <a:off x="2293745" y="5271583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32</a:t>
            </a:r>
            <a:endParaRPr lang="en-GB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301176"/>
              </p:ext>
            </p:extLst>
          </p:nvPr>
        </p:nvGraphicFramePr>
        <p:xfrm>
          <a:off x="2627780" y="1412776"/>
          <a:ext cx="403245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</a:tblGrid>
              <a:tr h="3641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-11825" y="1341"/>
            <a:ext cx="88747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/>
              <a:t>R</a:t>
            </a:r>
            <a:r>
              <a:rPr lang="en-GB" sz="2800" b="1" dirty="0" smtClean="0"/>
              <a:t>eading along the corridor and then up the stairs what do </a:t>
            </a:r>
          </a:p>
          <a:p>
            <a:pPr algn="ctr"/>
            <a:r>
              <a:rPr lang="en-GB" sz="2800" b="1" dirty="0" smtClean="0"/>
              <a:t>You think the 6 figure grid reference for the school is? 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486047" y="5086917"/>
            <a:ext cx="4423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 </a:t>
            </a:r>
            <a:r>
              <a:rPr lang="en-GB" dirty="0" smtClean="0"/>
              <a:t>      1      2      3     4     5      6     7      8      9      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2293745" y="1490079"/>
            <a:ext cx="292453" cy="3378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 smtClean="0"/>
              <a:t>9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8</a:t>
            </a: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 smtClean="0"/>
              <a:t>7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6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5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4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3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2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3707904" y="3104964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499992" y="4584150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4146545" y="1620713"/>
            <a:ext cx="2909731" cy="14941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627784" y="5085184"/>
            <a:ext cx="1224136" cy="173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3851920" y="3248980"/>
            <a:ext cx="0" cy="183793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7-Point Star 19"/>
          <p:cNvSpPr/>
          <p:nvPr/>
        </p:nvSpPr>
        <p:spPr>
          <a:xfrm>
            <a:off x="5477749" y="1773504"/>
            <a:ext cx="3384376" cy="2448272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 smtClean="0">
                <a:solidFill>
                  <a:schemeClr val="tx1"/>
                </a:solidFill>
              </a:rPr>
              <a:t>32</a:t>
            </a:r>
            <a:r>
              <a:rPr lang="en-GB" sz="3200" b="1" dirty="0" smtClean="0">
                <a:solidFill>
                  <a:srgbClr val="FF0000"/>
                </a:solidFill>
              </a:rPr>
              <a:t>3</a:t>
            </a:r>
            <a:r>
              <a:rPr lang="en-GB" sz="3200" b="1" dirty="0" smtClean="0">
                <a:solidFill>
                  <a:schemeClr val="tx1"/>
                </a:solidFill>
              </a:rPr>
              <a:t>46</a:t>
            </a:r>
            <a:r>
              <a:rPr lang="en-GB" sz="3200" b="1" dirty="0" smtClean="0">
                <a:solidFill>
                  <a:srgbClr val="FF0000"/>
                </a:solidFill>
              </a:rPr>
              <a:t>5</a:t>
            </a:r>
            <a:endParaRPr lang="en-GB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77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27784" y="1412776"/>
            <a:ext cx="4032448" cy="36724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794110" y="4620154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46</a:t>
            </a:r>
            <a:endParaRPr lang="en-GB" b="1" dirty="0"/>
          </a:p>
        </p:txBody>
      </p:sp>
      <p:sp>
        <p:nvSpPr>
          <p:cNvPr id="6" name="Rectangle 5"/>
          <p:cNvSpPr/>
          <p:nvPr/>
        </p:nvSpPr>
        <p:spPr>
          <a:xfrm>
            <a:off x="6264188" y="5271583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33</a:t>
            </a:r>
            <a:endParaRPr lang="en-GB" b="1" dirty="0"/>
          </a:p>
        </p:txBody>
      </p:sp>
      <p:sp>
        <p:nvSpPr>
          <p:cNvPr id="7" name="Rectangle 6"/>
          <p:cNvSpPr/>
          <p:nvPr/>
        </p:nvSpPr>
        <p:spPr>
          <a:xfrm>
            <a:off x="1763688" y="1016732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47</a:t>
            </a:r>
            <a:endParaRPr lang="en-GB" b="1" dirty="0"/>
          </a:p>
        </p:txBody>
      </p:sp>
      <p:sp>
        <p:nvSpPr>
          <p:cNvPr id="8" name="Rectangle 7"/>
          <p:cNvSpPr/>
          <p:nvPr/>
        </p:nvSpPr>
        <p:spPr>
          <a:xfrm>
            <a:off x="2293745" y="5271583"/>
            <a:ext cx="792088" cy="7920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32</a:t>
            </a:r>
            <a:endParaRPr lang="en-GB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74299"/>
              </p:ext>
            </p:extLst>
          </p:nvPr>
        </p:nvGraphicFramePr>
        <p:xfrm>
          <a:off x="2627780" y="1412776"/>
          <a:ext cx="403245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  <a:gridCol w="403245"/>
              </a:tblGrid>
              <a:tr h="3641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6418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-11825" y="1341"/>
            <a:ext cx="88747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/>
              <a:t>R</a:t>
            </a:r>
            <a:r>
              <a:rPr lang="en-GB" sz="2800" b="1" dirty="0" smtClean="0"/>
              <a:t>eading along the corridor and then up the stairs what do </a:t>
            </a:r>
          </a:p>
          <a:p>
            <a:pPr algn="ctr"/>
            <a:r>
              <a:rPr lang="en-GB" sz="2800" b="1" dirty="0" smtClean="0"/>
              <a:t>You think the 6 figure grid reference for the church is? </a:t>
            </a:r>
            <a:endParaRPr lang="en-GB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486047" y="5086917"/>
            <a:ext cx="4423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 </a:t>
            </a:r>
            <a:r>
              <a:rPr lang="en-GB" dirty="0" smtClean="0"/>
              <a:t>      1      2      3     4     5      6     7      8      9      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2293745" y="1490079"/>
            <a:ext cx="292453" cy="3378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 smtClean="0"/>
              <a:t>9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8</a:t>
            </a: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 smtClean="0"/>
              <a:t>7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6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5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4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3</a:t>
            </a:r>
          </a:p>
          <a:p>
            <a:pPr>
              <a:lnSpc>
                <a:spcPct val="150000"/>
              </a:lnSpc>
            </a:pPr>
            <a:r>
              <a:rPr lang="en-GB" sz="1600" dirty="0" smtClean="0"/>
              <a:t>2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3707904" y="3104964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499992" y="4584150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4846384" y="3089984"/>
            <a:ext cx="2909731" cy="14941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0" idx="2"/>
          </p:cNvCxnSpPr>
          <p:nvPr/>
        </p:nvCxnSpPr>
        <p:spPr>
          <a:xfrm flipV="1">
            <a:off x="2627784" y="5070376"/>
            <a:ext cx="2016221" cy="1480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644008" y="4726432"/>
            <a:ext cx="0" cy="35875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7-Point Star 19"/>
          <p:cNvSpPr/>
          <p:nvPr/>
        </p:nvSpPr>
        <p:spPr>
          <a:xfrm>
            <a:off x="5477749" y="1773504"/>
            <a:ext cx="3384376" cy="2448272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 smtClean="0">
                <a:solidFill>
                  <a:schemeClr val="tx1"/>
                </a:solidFill>
              </a:rPr>
              <a:t>32</a:t>
            </a:r>
            <a:r>
              <a:rPr lang="en-GB" sz="3200" b="1" dirty="0" smtClean="0">
                <a:solidFill>
                  <a:srgbClr val="FF0000"/>
                </a:solidFill>
              </a:rPr>
              <a:t>5</a:t>
            </a:r>
            <a:r>
              <a:rPr lang="en-GB" sz="3200" b="1" dirty="0" smtClean="0">
                <a:solidFill>
                  <a:schemeClr val="tx1"/>
                </a:solidFill>
              </a:rPr>
              <a:t>46</a:t>
            </a:r>
            <a:r>
              <a:rPr lang="en-GB" sz="3200" b="1" dirty="0" smtClean="0">
                <a:solidFill>
                  <a:srgbClr val="FF0000"/>
                </a:solidFill>
              </a:rPr>
              <a:t>1</a:t>
            </a:r>
            <a:endParaRPr lang="en-GB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082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624</Words>
  <Application>Microsoft Office PowerPoint</Application>
  <PresentationFormat>On-screen Show (4:3)</PresentationFormat>
  <Paragraphs>358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Grid Reference</vt:lpstr>
      <vt:lpstr>PowerPoint Presentation</vt:lpstr>
      <vt:lpstr>PowerPoint Presentation</vt:lpstr>
      <vt:lpstr>PowerPoint Presentation</vt:lpstr>
      <vt:lpstr>PowerPoint Presentation</vt:lpstr>
      <vt:lpstr>We always read the Easting First and the Northing Second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 Figure Grid 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 Reference</dc:title>
  <dc:creator>Steff &amp; Ads</dc:creator>
  <cp:lastModifiedBy>GOODWIN Nina</cp:lastModifiedBy>
  <cp:revision>10</cp:revision>
  <dcterms:created xsi:type="dcterms:W3CDTF">2012-11-06T16:03:24Z</dcterms:created>
  <dcterms:modified xsi:type="dcterms:W3CDTF">2017-08-14T02:12:47Z</dcterms:modified>
</cp:coreProperties>
</file>
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1" r:id="rId3"/>
    <p:sldId id="262" r:id="rId4"/>
    <p:sldId id="257" r:id="rId5"/>
    <p:sldId id="267" r:id="rId6"/>
    <p:sldId id="265" r:id="rId7"/>
    <p:sldId id="266" r:id="rId8"/>
    <p:sldId id="263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81B111E-8EC1-43C0-96F3-D1046A455BA7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D2B1293-EEFF-4498-A756-DC1263AF189D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mPi4zwEpsw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Ke7ygkkzs" TargetMode="External"/><Relationship Id="rId2" Type="http://schemas.openxmlformats.org/officeDocument/2006/relationships/hyperlink" Target="https://www.youtube.com/watch?v=_jnMivEZ8g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Urbanisation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8 Geography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58568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121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Consider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3600" dirty="0" smtClean="0"/>
              <a:t>What is urbanisation?</a:t>
            </a:r>
          </a:p>
          <a:p>
            <a:r>
              <a:rPr lang="en-AU" sz="3600" dirty="0" smtClean="0"/>
              <a:t>What causes urbanisation?</a:t>
            </a:r>
          </a:p>
          <a:p>
            <a:r>
              <a:rPr lang="en-AU" sz="3600" dirty="0" smtClean="0"/>
              <a:t>Why do people choose to move from rural areas to urban centres</a:t>
            </a:r>
            <a:r>
              <a:rPr lang="en-AU" sz="3600" dirty="0" smtClean="0"/>
              <a:t>?</a:t>
            </a:r>
          </a:p>
          <a:p>
            <a:r>
              <a:rPr lang="en-AU" sz="3600" dirty="0" smtClean="0"/>
              <a:t>List six examples of </a:t>
            </a:r>
            <a:r>
              <a:rPr lang="en-AU" sz="3600" i="1" u="sng" dirty="0" smtClean="0"/>
              <a:t>Infrastructure</a:t>
            </a:r>
            <a:endParaRPr lang="en-AU" sz="3600" i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980" y="30019"/>
            <a:ext cx="4725612" cy="267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97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Urbanisation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Urbanisation is the movement of people from rural areas to large </a:t>
            </a:r>
            <a:r>
              <a:rPr lang="en-AU" dirty="0" smtClean="0"/>
              <a:t>cities.  Cities are becoming increasingly densely populated.</a:t>
            </a:r>
            <a:endParaRPr lang="en-AU" dirty="0" smtClean="0"/>
          </a:p>
          <a:p>
            <a:r>
              <a:rPr lang="en-AU" dirty="0" smtClean="0"/>
              <a:t>This occurs rapidly in developing countries. </a:t>
            </a:r>
          </a:p>
          <a:p>
            <a:pPr marL="45720" indent="0">
              <a:buNone/>
            </a:pPr>
            <a:r>
              <a:rPr lang="en-AU" dirty="0" smtClean="0"/>
              <a:t>Infrastructure Challenges: </a:t>
            </a:r>
          </a:p>
          <a:p>
            <a:pPr marL="502920" indent="-457200">
              <a:buFont typeface="+mj-lt"/>
              <a:buAutoNum type="arabicPeriod"/>
            </a:pPr>
            <a:r>
              <a:rPr lang="en-AU" dirty="0" smtClean="0"/>
              <a:t>Housing</a:t>
            </a:r>
          </a:p>
          <a:p>
            <a:pPr marL="502920" indent="-457200">
              <a:buFont typeface="+mj-lt"/>
              <a:buAutoNum type="arabicPeriod"/>
            </a:pPr>
            <a:r>
              <a:rPr lang="en-AU" dirty="0" smtClean="0"/>
              <a:t>Employment</a:t>
            </a:r>
          </a:p>
          <a:p>
            <a:pPr marL="502920" indent="-457200">
              <a:buFont typeface="+mj-lt"/>
              <a:buAutoNum type="arabicPeriod"/>
            </a:pPr>
            <a:r>
              <a:rPr lang="en-AU" dirty="0" smtClean="0"/>
              <a:t>Clean water</a:t>
            </a:r>
          </a:p>
          <a:p>
            <a:pPr marL="502920" indent="-457200">
              <a:buFont typeface="+mj-lt"/>
              <a:buAutoNum type="arabicPeriod"/>
            </a:pPr>
            <a:r>
              <a:rPr lang="en-AU" dirty="0" smtClean="0"/>
              <a:t>Electricity</a:t>
            </a:r>
          </a:p>
          <a:p>
            <a:pPr marL="502920" indent="-457200">
              <a:buFont typeface="+mj-lt"/>
              <a:buAutoNum type="arabicPeriod"/>
            </a:pPr>
            <a:r>
              <a:rPr lang="en-AU" dirty="0" smtClean="0"/>
              <a:t>Sewerage systems</a:t>
            </a:r>
          </a:p>
          <a:p>
            <a:pPr marL="4572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976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Glossary: write these definitions into your notes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u="sng" dirty="0" smtClean="0">
                <a:solidFill>
                  <a:srgbClr val="00B050"/>
                </a:solidFill>
              </a:rPr>
              <a:t>Urban Growth </a:t>
            </a:r>
            <a:r>
              <a:rPr lang="en-AU" dirty="0" smtClean="0"/>
              <a:t>– the increase in the population living in cities, expressed as a number measured over a period of time</a:t>
            </a:r>
          </a:p>
          <a:p>
            <a:r>
              <a:rPr lang="en-AU" u="sng" dirty="0" smtClean="0">
                <a:solidFill>
                  <a:srgbClr val="00B050"/>
                </a:solidFill>
              </a:rPr>
              <a:t>Urbanisation</a:t>
            </a:r>
            <a:r>
              <a:rPr lang="en-AU" dirty="0" smtClean="0"/>
              <a:t> – the process by which an increasing proportion of a population lives in towns and cities measured as %</a:t>
            </a:r>
          </a:p>
          <a:p>
            <a:r>
              <a:rPr lang="en-AU" u="sng" dirty="0" smtClean="0">
                <a:solidFill>
                  <a:srgbClr val="00B050"/>
                </a:solidFill>
              </a:rPr>
              <a:t>Push and </a:t>
            </a:r>
            <a:r>
              <a:rPr lang="en-AU" u="sng" dirty="0">
                <a:solidFill>
                  <a:srgbClr val="00B050"/>
                </a:solidFill>
              </a:rPr>
              <a:t>P</a:t>
            </a:r>
            <a:r>
              <a:rPr lang="en-AU" u="sng" dirty="0" smtClean="0">
                <a:solidFill>
                  <a:srgbClr val="00B050"/>
                </a:solidFill>
              </a:rPr>
              <a:t>ull Factors </a:t>
            </a:r>
            <a:r>
              <a:rPr lang="en-AU" dirty="0" smtClean="0"/>
              <a:t>– Push: reasons why people leave rural areas. Pull: reasons why people move to cities.</a:t>
            </a:r>
          </a:p>
          <a:p>
            <a:r>
              <a:rPr lang="en-AU" u="sng" dirty="0" smtClean="0">
                <a:solidFill>
                  <a:srgbClr val="00B050"/>
                </a:solidFill>
              </a:rPr>
              <a:t>Mega City </a:t>
            </a:r>
            <a:r>
              <a:rPr lang="en-AU" dirty="0" smtClean="0"/>
              <a:t>– a city with more than 10 million people</a:t>
            </a:r>
          </a:p>
          <a:p>
            <a:r>
              <a:rPr lang="en-AU" u="sng" dirty="0" smtClean="0">
                <a:solidFill>
                  <a:srgbClr val="00B050"/>
                </a:solidFill>
              </a:rPr>
              <a:t>World City </a:t>
            </a:r>
            <a:r>
              <a:rPr lang="en-AU" dirty="0" smtClean="0"/>
              <a:t>– a city considered to be an important centre of global economic activity, such as New York, Tokyo, London and </a:t>
            </a:r>
            <a:r>
              <a:rPr lang="en-AU" dirty="0" smtClean="0"/>
              <a:t>Paris</a:t>
            </a:r>
          </a:p>
          <a:p>
            <a:r>
              <a:rPr lang="en-AU" u="sng" dirty="0" smtClean="0">
                <a:solidFill>
                  <a:srgbClr val="00B050"/>
                </a:solidFill>
              </a:rPr>
              <a:t>Infrastructure</a:t>
            </a:r>
            <a:r>
              <a:rPr lang="en-AU" dirty="0" smtClean="0"/>
              <a:t> - </a:t>
            </a:r>
            <a:r>
              <a:rPr lang="en-AU" dirty="0"/>
              <a:t>The basic physical and organizational structures and facilities (e.g. buildings, roads, power supplies) needed for the operation of a </a:t>
            </a:r>
            <a:r>
              <a:rPr lang="en-AU" dirty="0" smtClean="0"/>
              <a:t>society.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0"/>
            <a:ext cx="18573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03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Vocabulary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AU" u="sng" dirty="0" smtClean="0">
                <a:solidFill>
                  <a:srgbClr val="00B050"/>
                </a:solidFill>
              </a:rPr>
              <a:t>Biodiversity</a:t>
            </a:r>
            <a:r>
              <a:rPr lang="en-AU" dirty="0" smtClean="0">
                <a:solidFill>
                  <a:srgbClr val="00B050"/>
                </a:solidFill>
              </a:rPr>
              <a:t>:</a:t>
            </a:r>
          </a:p>
          <a:p>
            <a:pPr marL="45720" indent="0">
              <a:buNone/>
            </a:pPr>
            <a:endParaRPr lang="en-AU" dirty="0" smtClean="0"/>
          </a:p>
          <a:p>
            <a:pPr marL="45720" indent="0">
              <a:buNone/>
            </a:pPr>
            <a:r>
              <a:rPr lang="en-AU" dirty="0" smtClean="0">
                <a:solidFill>
                  <a:srgbClr val="00B050"/>
                </a:solidFill>
              </a:rPr>
              <a:t>This is </a:t>
            </a:r>
            <a:r>
              <a:rPr lang="en-AU" dirty="0">
                <a:solidFill>
                  <a:srgbClr val="00B050"/>
                </a:solidFill>
              </a:rPr>
              <a:t>the variety of all living </a:t>
            </a:r>
            <a:r>
              <a:rPr lang="en-AU" dirty="0" smtClean="0">
                <a:solidFill>
                  <a:srgbClr val="00B050"/>
                </a:solidFill>
              </a:rPr>
              <a:t>things.</a:t>
            </a:r>
          </a:p>
          <a:p>
            <a:pPr marL="45720" indent="0">
              <a:buNone/>
            </a:pPr>
            <a:r>
              <a:rPr lang="en-AU" dirty="0" smtClean="0">
                <a:solidFill>
                  <a:srgbClr val="00B050"/>
                </a:solidFill>
              </a:rPr>
              <a:t>Plants </a:t>
            </a:r>
          </a:p>
          <a:p>
            <a:pPr marL="45720" indent="0">
              <a:buNone/>
            </a:pPr>
            <a:r>
              <a:rPr lang="en-AU" dirty="0" smtClean="0">
                <a:solidFill>
                  <a:srgbClr val="00B050"/>
                </a:solidFill>
              </a:rPr>
              <a:t>Animals </a:t>
            </a:r>
          </a:p>
          <a:p>
            <a:pPr marL="45720" indent="0">
              <a:buNone/>
            </a:pPr>
            <a:r>
              <a:rPr lang="en-AU" dirty="0">
                <a:solidFill>
                  <a:srgbClr val="00B050"/>
                </a:solidFill>
              </a:rPr>
              <a:t>M</a:t>
            </a:r>
            <a:r>
              <a:rPr lang="en-AU" dirty="0" smtClean="0">
                <a:solidFill>
                  <a:srgbClr val="00B050"/>
                </a:solidFill>
              </a:rPr>
              <a:t>icro organisms </a:t>
            </a:r>
          </a:p>
          <a:p>
            <a:pPr marL="45720" indent="0">
              <a:buNone/>
            </a:pPr>
            <a:r>
              <a:rPr lang="en-AU" dirty="0">
                <a:solidFill>
                  <a:srgbClr val="00B050"/>
                </a:solidFill>
              </a:rPr>
              <a:t>E</a:t>
            </a:r>
            <a:r>
              <a:rPr lang="en-AU" dirty="0" smtClean="0">
                <a:solidFill>
                  <a:srgbClr val="00B050"/>
                </a:solidFill>
              </a:rPr>
              <a:t>cosystems  </a:t>
            </a:r>
          </a:p>
          <a:p>
            <a:pPr marL="45720" indent="0">
              <a:buNone/>
            </a:pPr>
            <a:endParaRPr lang="en-AU" dirty="0" smtClean="0">
              <a:solidFill>
                <a:srgbClr val="00B050"/>
              </a:solidFill>
            </a:endParaRPr>
          </a:p>
          <a:p>
            <a:pPr marL="45720" indent="0">
              <a:buNone/>
            </a:pPr>
            <a:r>
              <a:rPr lang="en-AU" dirty="0" smtClean="0">
                <a:solidFill>
                  <a:srgbClr val="00B050"/>
                </a:solidFill>
              </a:rPr>
              <a:t>Biodiversity creates </a:t>
            </a:r>
            <a:r>
              <a:rPr lang="en-AU" dirty="0">
                <a:solidFill>
                  <a:srgbClr val="00B050"/>
                </a:solidFill>
              </a:rPr>
              <a:t>the complexity of life on Earth.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0"/>
            <a:ext cx="4704184" cy="352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93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Urbanisation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endParaRPr lang="en-AU" dirty="0">
              <a:hlinkClick r:id="rId2"/>
            </a:endParaRPr>
          </a:p>
          <a:p>
            <a:pPr marL="45720" indent="0">
              <a:buNone/>
            </a:pPr>
            <a:r>
              <a:rPr lang="en-AU" dirty="0" smtClean="0">
                <a:hlinkClick r:id="rId2"/>
              </a:rPr>
              <a:t>https</a:t>
            </a:r>
            <a:r>
              <a:rPr lang="en-AU" dirty="0">
                <a:hlinkClick r:id="rId2"/>
              </a:rPr>
              <a:t>://</a:t>
            </a:r>
            <a:r>
              <a:rPr lang="en-AU" dirty="0" smtClean="0">
                <a:hlinkClick r:id="rId2"/>
              </a:rPr>
              <a:t>www.youtube.com/watch?v=mPi4zwEpswE</a:t>
            </a:r>
            <a:endParaRPr lang="en-AU" dirty="0" smtClean="0"/>
          </a:p>
          <a:p>
            <a:pPr marL="45720" indent="0">
              <a:buNone/>
            </a:pPr>
            <a:endParaRPr lang="en-AU" dirty="0" smtClean="0"/>
          </a:p>
          <a:p>
            <a:pPr marL="45720" indent="0">
              <a:buNone/>
            </a:pPr>
            <a:r>
              <a:rPr lang="en-AU" dirty="0" smtClean="0"/>
              <a:t>An Urbanising Planet </a:t>
            </a:r>
          </a:p>
          <a:p>
            <a:pPr marL="45720" indent="0">
              <a:buNone/>
            </a:pPr>
            <a:r>
              <a:rPr lang="en-AU" dirty="0" smtClean="0"/>
              <a:t>Read by Edward Norton </a:t>
            </a:r>
          </a:p>
          <a:p>
            <a:pPr marL="45720" indent="0">
              <a:buNone/>
            </a:pPr>
            <a:r>
              <a:rPr lang="en-AU" dirty="0" smtClean="0"/>
              <a:t>(</a:t>
            </a:r>
            <a:r>
              <a:rPr lang="en-AU" dirty="0"/>
              <a:t>D</a:t>
            </a:r>
            <a:r>
              <a:rPr lang="en-AU" dirty="0" smtClean="0"/>
              <a:t>o you know what movies he has been in?)</a:t>
            </a:r>
          </a:p>
          <a:p>
            <a:pPr marL="45720" indent="0">
              <a:buNone/>
            </a:pPr>
            <a:r>
              <a:rPr lang="en-AU" dirty="0" smtClean="0"/>
              <a:t>(3.21 minutes)</a:t>
            </a:r>
          </a:p>
          <a:p>
            <a:pPr marL="45720" indent="0">
              <a:buNone/>
            </a:pPr>
            <a:endParaRPr lang="en-AU" dirty="0" smtClean="0"/>
          </a:p>
          <a:p>
            <a:pPr marL="45720" indent="0">
              <a:buNone/>
            </a:pPr>
            <a:r>
              <a:rPr lang="en-AU" dirty="0" smtClean="0"/>
              <a:t>Watch twice. Answer the question sheet provided.</a:t>
            </a:r>
          </a:p>
          <a:p>
            <a:pPr marL="45720" indent="0">
              <a:buNone/>
            </a:pP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6838"/>
            <a:ext cx="47148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512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Urbanisation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AU" dirty="0">
                <a:hlinkClick r:id="rId2"/>
              </a:rPr>
              <a:t>https://www.youtube.com/watch?v=_jnMivEZ8gc</a:t>
            </a:r>
            <a:endParaRPr lang="en-AU" dirty="0"/>
          </a:p>
          <a:p>
            <a:pPr marL="45720" indent="0">
              <a:buNone/>
            </a:pPr>
            <a:r>
              <a:rPr lang="en-AU" dirty="0" smtClean="0"/>
              <a:t>Megacities </a:t>
            </a:r>
            <a:r>
              <a:rPr lang="en-AU" dirty="0"/>
              <a:t>of </a:t>
            </a:r>
            <a:r>
              <a:rPr lang="en-AU" dirty="0" smtClean="0"/>
              <a:t>2050</a:t>
            </a:r>
          </a:p>
          <a:p>
            <a:pPr marL="45720" indent="0">
              <a:buNone/>
            </a:pPr>
            <a:endParaRPr lang="en-AU" dirty="0" smtClean="0"/>
          </a:p>
          <a:p>
            <a:pPr marL="45720" indent="0">
              <a:buNone/>
            </a:pPr>
            <a:r>
              <a:rPr lang="en-AU" dirty="0" smtClean="0"/>
              <a:t>Listen for and note down interesting facts about:</a:t>
            </a:r>
          </a:p>
          <a:p>
            <a:pPr marL="45720" indent="0">
              <a:buNone/>
            </a:pPr>
            <a:r>
              <a:rPr lang="en-AU" dirty="0" smtClean="0"/>
              <a:t>Shenzhen </a:t>
            </a:r>
          </a:p>
          <a:p>
            <a:pPr marL="45720" indent="0">
              <a:buNone/>
            </a:pPr>
            <a:r>
              <a:rPr lang="en-AU" dirty="0" smtClean="0"/>
              <a:t>Karachi</a:t>
            </a:r>
          </a:p>
          <a:p>
            <a:pPr marL="45720" indent="0">
              <a:buNone/>
            </a:pPr>
            <a:r>
              <a:rPr lang="en-AU" dirty="0" smtClean="0"/>
              <a:t>South Korea</a:t>
            </a:r>
          </a:p>
          <a:p>
            <a:pPr marL="45720" indent="0">
              <a:buNone/>
            </a:pPr>
            <a:r>
              <a:rPr lang="en-AU" dirty="0" smtClean="0"/>
              <a:t>Mexico</a:t>
            </a:r>
          </a:p>
          <a:p>
            <a:pPr marL="45720" indent="0">
              <a:buNone/>
            </a:pPr>
            <a:endParaRPr lang="en-AU" dirty="0" smtClean="0"/>
          </a:p>
          <a:p>
            <a:pPr marL="45720" indent="0">
              <a:buNone/>
            </a:pPr>
            <a:r>
              <a:rPr lang="en-AU" dirty="0" smtClean="0"/>
              <a:t>What will life be like in megacities of the future? (5 dot points)</a:t>
            </a:r>
          </a:p>
          <a:p>
            <a:pPr marL="45720" indent="0">
              <a:buNone/>
            </a:pPr>
            <a:endParaRPr lang="en-AU" dirty="0"/>
          </a:p>
          <a:p>
            <a:pPr marL="45720" indent="0">
              <a:buNone/>
            </a:pPr>
            <a:endParaRPr lang="en-AU" dirty="0" smtClean="0">
              <a:hlinkClick r:id="rId3"/>
            </a:endParaRPr>
          </a:p>
          <a:p>
            <a:endParaRPr lang="en-AU" dirty="0">
              <a:hlinkClick r:id="rId3"/>
            </a:endParaRPr>
          </a:p>
          <a:p>
            <a:pPr marL="4572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418930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Rate of Urbanisation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200800" cy="406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998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Percentage of people living in Urban areas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36912"/>
            <a:ext cx="8834094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89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Why move to cities? Pull Factors</a:t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AU" sz="3200" dirty="0" smtClean="0"/>
              <a:t>Employment opportunities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3200" dirty="0" smtClean="0"/>
              <a:t>“Promise” </a:t>
            </a:r>
            <a:r>
              <a:rPr lang="en-AU" sz="3200" dirty="0" smtClean="0"/>
              <a:t>of higher standards of living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3200" dirty="0" smtClean="0"/>
              <a:t>Entertainment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3200" dirty="0" smtClean="0"/>
              <a:t>Medical Facilities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3200" dirty="0" smtClean="0"/>
              <a:t>Educational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260603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Why move from rural areas? </a:t>
            </a:r>
            <a:br>
              <a:rPr lang="en-AU" dirty="0" smtClean="0"/>
            </a:br>
            <a:r>
              <a:rPr lang="en-AU" dirty="0" smtClean="0"/>
              <a:t>Push Factors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Landlessness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War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Desertification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Rapid population growth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Rural </a:t>
            </a:r>
            <a:r>
              <a:rPr lang="en-AU" sz="2400" dirty="0" smtClean="0"/>
              <a:t>poverty</a:t>
            </a:r>
            <a:endParaRPr lang="en-AU" sz="2400" dirty="0" smtClean="0"/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Lack of educational opportunity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Move from subsistence farming to commercial farming</a:t>
            </a:r>
          </a:p>
          <a:p>
            <a:pPr marL="502920" indent="-457200">
              <a:buFont typeface="+mj-lt"/>
              <a:buAutoNum type="arabicPeriod"/>
            </a:pPr>
            <a:r>
              <a:rPr lang="en-AU" sz="2400" dirty="0" smtClean="0"/>
              <a:t>Intolerance to alternative lifestyles</a:t>
            </a:r>
          </a:p>
        </p:txBody>
      </p:sp>
    </p:spTree>
    <p:extLst>
      <p:ext uri="{BB962C8B-B14F-4D97-AF65-F5344CB8AC3E}">
        <p14:creationId xmlns:p14="http://schemas.microsoft.com/office/powerpoint/2010/main" val="2432300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134</TotalTime>
  <Words>361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Perspective</vt:lpstr>
      <vt:lpstr>Urbanisation</vt:lpstr>
      <vt:lpstr>Consider</vt:lpstr>
      <vt:lpstr>Urbanisation </vt:lpstr>
      <vt:lpstr>Glossary: write these definitions into your notes</vt:lpstr>
      <vt:lpstr>Vocabulary</vt:lpstr>
      <vt:lpstr>Urbanisation</vt:lpstr>
      <vt:lpstr>Urbanisation</vt:lpstr>
      <vt:lpstr>Rate of Urbanisation</vt:lpstr>
      <vt:lpstr>Percentage of people living in Urban areas</vt:lpstr>
      <vt:lpstr>  Why move to cities? Pull Factors </vt:lpstr>
      <vt:lpstr>Why move from rural areas?  Push Factors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Urbanisation</dc:title>
  <dc:creator>ALLENBY Rebecca</dc:creator>
  <cp:lastModifiedBy>ALLENBY Rebecca</cp:lastModifiedBy>
  <cp:revision>30</cp:revision>
  <dcterms:created xsi:type="dcterms:W3CDTF">2017-08-22T02:23:25Z</dcterms:created>
  <dcterms:modified xsi:type="dcterms:W3CDTF">2017-08-23T09:25:28Z</dcterms:modified>
</cp:coreProperties>
</file>
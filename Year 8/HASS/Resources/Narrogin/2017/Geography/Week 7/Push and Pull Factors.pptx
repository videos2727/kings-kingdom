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2" r:id="rId10"/>
    <p:sldId id="266" r:id="rId11"/>
    <p:sldId id="269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426" y="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B1BD38C3-81F2-4EF6-8006-A97AD8453AE4}" type="datetimeFigureOut">
              <a:rPr lang="en-GB" smtClean="0"/>
              <a:t>28/08/2017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F5F9FFF-3417-46B9-8EA5-7087BC088C6B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matthewniederhauser.com/research/wp-content/uploads/2010/10/20100930_shanghai_world_financial_center_observation_deck_urban_development004.jpg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jpeg"/><Relationship Id="rId7" Type="http://schemas.openxmlformats.org/officeDocument/2006/relationships/hyperlink" Target="http://scijinks.jpl.nasa.gov/review/tornado/nssl0137-lrg.png" TargetMode="External"/><Relationship Id="rId12" Type="http://schemas.openxmlformats.org/officeDocument/2006/relationships/image" Target="../media/image12.png"/><Relationship Id="rId2" Type="http://schemas.openxmlformats.org/officeDocument/2006/relationships/hyperlink" Target="http://worldbeyondwar.org/beneficial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1.jpeg"/><Relationship Id="rId5" Type="http://schemas.openxmlformats.org/officeDocument/2006/relationships/image" Target="../media/image6.jpeg"/><Relationship Id="rId10" Type="http://schemas.openxmlformats.org/officeDocument/2006/relationships/image" Target="../media/image10.jpeg"/><Relationship Id="rId4" Type="http://schemas.openxmlformats.org/officeDocument/2006/relationships/hyperlink" Target="http://affairstoday.co.uk/wp-content/uploads/2014/03/Poverty-in-Afghanistan-008.jpg" TargetMode="External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upload.wikimedia.org/wikipedia/commons/thumb/f/f2/Scottsdale_cityscape4.jpg/1920px-Scottsdale_cityscape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56"/>
            <a:ext cx="9144000" cy="6855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-387424"/>
            <a:ext cx="7239000" cy="1143000"/>
          </a:xfrm>
        </p:spPr>
        <p:txBody>
          <a:bodyPr/>
          <a:lstStyle/>
          <a:p>
            <a:r>
              <a:rPr lang="en-GB" dirty="0" smtClean="0"/>
              <a:t>Settler activity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179512" y="836712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TASK- </a:t>
            </a:r>
            <a:r>
              <a:rPr lang="en-GB" sz="1600" u="sng" dirty="0" smtClean="0"/>
              <a:t>State</a:t>
            </a:r>
            <a:r>
              <a:rPr lang="en-GB" sz="1600" dirty="0" smtClean="0"/>
              <a:t> three problems that urban sprawl could be causing in the location below. </a:t>
            </a:r>
            <a:endParaRPr lang="en-GB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144298" y="6383015"/>
            <a:ext cx="8784976" cy="338554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i="1" dirty="0" smtClean="0"/>
              <a:t>Location: Phoenix, Arizona, United States.</a:t>
            </a:r>
            <a:endParaRPr lang="en-GB" sz="1600" i="1" dirty="0"/>
          </a:p>
        </p:txBody>
      </p:sp>
    </p:spTree>
    <p:extLst>
      <p:ext uri="{BB962C8B-B14F-4D97-AF65-F5344CB8AC3E}">
        <p14:creationId xmlns:p14="http://schemas.microsoft.com/office/powerpoint/2010/main" val="236783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-459432"/>
            <a:ext cx="7239000" cy="1143000"/>
          </a:xfrm>
        </p:spPr>
        <p:txBody>
          <a:bodyPr/>
          <a:lstStyle/>
          <a:p>
            <a:r>
              <a:rPr lang="en-GB" dirty="0" smtClean="0"/>
              <a:t>Starter activity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484784"/>
            <a:ext cx="9209031" cy="5373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79512" y="836712"/>
            <a:ext cx="8784976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TASK- </a:t>
            </a:r>
            <a:r>
              <a:rPr lang="en-GB" sz="1600" u="sng" dirty="0" smtClean="0"/>
              <a:t>Describe</a:t>
            </a:r>
            <a:r>
              <a:rPr lang="en-GB" sz="1600" dirty="0" smtClean="0"/>
              <a:t> the emotional state of the character in the cartoon. Why do you think he feels this way? </a:t>
            </a:r>
            <a:endParaRPr lang="en-GB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12026" y="6309320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EXTENSION- In </a:t>
            </a:r>
            <a:r>
              <a:rPr lang="en-GB" sz="1600" u="sng" dirty="0" smtClean="0"/>
              <a:t>which</a:t>
            </a:r>
            <a:r>
              <a:rPr lang="en-GB" sz="1600" dirty="0" smtClean="0"/>
              <a:t> country do you believe this character lives? </a:t>
            </a:r>
            <a:r>
              <a:rPr lang="en-GB" sz="1600" u="sng" dirty="0" smtClean="0"/>
              <a:t>Why</a:t>
            </a:r>
            <a:r>
              <a:rPr lang="en-GB" sz="1600" dirty="0" smtClean="0"/>
              <a:t>?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88336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u="sng" dirty="0" smtClean="0"/>
              <a:t>Date</a:t>
            </a:r>
            <a:br>
              <a:rPr lang="en-GB" u="sng" dirty="0" smtClean="0"/>
            </a:br>
            <a:r>
              <a:rPr lang="en-GB" u="sng" dirty="0" smtClean="0"/>
              <a:t>push and pull factors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170861" y="1700808"/>
            <a:ext cx="8784976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 smtClean="0"/>
              <a:t>Learning Objectives:</a:t>
            </a:r>
          </a:p>
          <a:p>
            <a:endParaRPr lang="en-GB" sz="2800" dirty="0"/>
          </a:p>
          <a:p>
            <a:r>
              <a:rPr lang="en-GB" sz="2800" dirty="0" smtClean="0"/>
              <a:t>I can explain the various reasons that encourage people rural-urban migration.</a:t>
            </a:r>
          </a:p>
          <a:p>
            <a:endParaRPr lang="en-GB" sz="2800" dirty="0"/>
          </a:p>
          <a:p>
            <a:r>
              <a:rPr lang="en-GB" sz="2800" dirty="0" smtClean="0"/>
              <a:t>I can investigate urbanisation in China and apply my knowledge to create my own immigration story.</a:t>
            </a:r>
          </a:p>
        </p:txBody>
      </p:sp>
    </p:spTree>
    <p:extLst>
      <p:ext uri="{BB962C8B-B14F-4D97-AF65-F5344CB8AC3E}">
        <p14:creationId xmlns:p14="http://schemas.microsoft.com/office/powerpoint/2010/main" val="365026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Urban sprawl in Pudong from the top of the Shanghai World Financial Center">
            <a:hlinkClick r:id="rId2" tooltip="Urban sprawl in Pudong from the top of the Shanghai World Financial Center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56034"/>
            <a:ext cx="7239000" cy="4846320"/>
          </a:xfrm>
        </p:spPr>
        <p:txBody>
          <a:bodyPr/>
          <a:lstStyle/>
          <a:p>
            <a:r>
              <a:rPr lang="en-GB" dirty="0" smtClean="0"/>
              <a:t>z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1610169"/>
            <a:ext cx="8784976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Migration</a:t>
            </a:r>
            <a:r>
              <a:rPr lang="en-GB" sz="2400" b="1" dirty="0" smtClean="0"/>
              <a:t>- </a:t>
            </a:r>
            <a:r>
              <a:rPr lang="en-GB" sz="2400" dirty="0" smtClean="0"/>
              <a:t>the process whereby people move to </a:t>
            </a:r>
            <a:r>
              <a:rPr lang="en-GB" sz="2400" u="sng" dirty="0" smtClean="0"/>
              <a:t>live</a:t>
            </a:r>
            <a:r>
              <a:rPr lang="en-GB" sz="2400" dirty="0" smtClean="0"/>
              <a:t> in another place, this may be forced or voluntary.</a:t>
            </a:r>
          </a:p>
          <a:p>
            <a:pPr>
              <a:buNone/>
            </a:pPr>
            <a:endParaRPr lang="en-GB" sz="2400" dirty="0" smtClean="0"/>
          </a:p>
          <a:p>
            <a:pPr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Push factors</a:t>
            </a:r>
            <a:r>
              <a:rPr lang="en-GB" sz="2400" dirty="0" smtClean="0">
                <a:solidFill>
                  <a:srgbClr val="FF0000"/>
                </a:solidFill>
              </a:rPr>
              <a:t>- </a:t>
            </a:r>
            <a:r>
              <a:rPr lang="en-GB" sz="2400" dirty="0" smtClean="0"/>
              <a:t>these are reasons why people migrate </a:t>
            </a:r>
            <a:r>
              <a:rPr lang="en-GB" sz="2400" u="sng" dirty="0" smtClean="0"/>
              <a:t>from</a:t>
            </a:r>
            <a:r>
              <a:rPr lang="en-GB" sz="2400" dirty="0" smtClean="0"/>
              <a:t> a place e.g. the water supply is unreliable.</a:t>
            </a:r>
          </a:p>
          <a:p>
            <a:pPr>
              <a:buNone/>
            </a:pPr>
            <a:endParaRPr lang="en-GB" sz="2400" dirty="0" smtClean="0"/>
          </a:p>
          <a:p>
            <a:pPr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Pull factors</a:t>
            </a:r>
            <a:r>
              <a:rPr lang="en-GB" sz="2400" dirty="0" smtClean="0">
                <a:solidFill>
                  <a:srgbClr val="FF0000"/>
                </a:solidFill>
              </a:rPr>
              <a:t>-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 smtClean="0"/>
              <a:t>these are reasons why people migrate </a:t>
            </a:r>
            <a:r>
              <a:rPr lang="en-GB" sz="2400" u="sng" dirty="0" smtClean="0"/>
              <a:t>to</a:t>
            </a:r>
            <a:r>
              <a:rPr lang="en-GB" sz="2400" dirty="0" smtClean="0"/>
              <a:t> a place e.g. there are lots of jobs available.</a:t>
            </a:r>
            <a:endParaRPr lang="en-GB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260648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TASK- Add the following key terms to your glossary.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78862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6111362"/>
              </p:ext>
            </p:extLst>
          </p:nvPr>
        </p:nvGraphicFramePr>
        <p:xfrm>
          <a:off x="467544" y="1844824"/>
          <a:ext cx="7239000" cy="12852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19500"/>
                <a:gridCol w="36195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Push factors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Pull</a:t>
                      </a:r>
                      <a:r>
                        <a:rPr lang="en-GB" baseline="0" dirty="0" smtClean="0"/>
                        <a:t> factors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 smtClean="0"/>
                    </a:p>
                    <a:p>
                      <a:endParaRPr lang="en-GB" dirty="0" smtClean="0"/>
                    </a:p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8927" y="101125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TASK- To work in pairs to identify reasons which cause people to migrate to urban areas.</a:t>
            </a:r>
            <a:endParaRPr lang="en-GB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58546" y="548680"/>
            <a:ext cx="8784976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INSTRUCTIONS:</a:t>
            </a:r>
          </a:p>
          <a:p>
            <a:pPr marL="342900" indent="-342900">
              <a:buAutoNum type="arabicPeriod"/>
            </a:pPr>
            <a:r>
              <a:rPr lang="en-GB" sz="1600" dirty="0" smtClean="0"/>
              <a:t>Assign yourselves either the letter ‘A’ or letter ‘B’.</a:t>
            </a:r>
          </a:p>
          <a:p>
            <a:pPr marL="285750" indent="-285750">
              <a:buFontTx/>
              <a:buChar char="-"/>
            </a:pPr>
            <a:r>
              <a:rPr lang="en-GB" sz="1600" dirty="0" smtClean="0"/>
              <a:t>Student A: Create a list of possible </a:t>
            </a:r>
            <a:r>
              <a:rPr lang="en-GB" sz="1600" b="1" dirty="0" smtClean="0"/>
              <a:t>push</a:t>
            </a:r>
            <a:r>
              <a:rPr lang="en-GB" sz="1600" dirty="0" smtClean="0"/>
              <a:t> factors.</a:t>
            </a:r>
          </a:p>
          <a:p>
            <a:pPr marL="285750" indent="-285750">
              <a:buFontTx/>
              <a:buChar char="-"/>
            </a:pPr>
            <a:r>
              <a:rPr lang="en-GB" sz="1600" dirty="0" smtClean="0"/>
              <a:t>Student B: Create a list of possible </a:t>
            </a:r>
            <a:r>
              <a:rPr lang="en-GB" sz="1600" b="1" dirty="0" smtClean="0"/>
              <a:t>pull</a:t>
            </a:r>
            <a:r>
              <a:rPr lang="en-GB" sz="1600" dirty="0" smtClean="0"/>
              <a:t> factors.</a:t>
            </a:r>
          </a:p>
        </p:txBody>
      </p:sp>
      <p:sp>
        <p:nvSpPr>
          <p:cNvPr id="6" name="Oval 5"/>
          <p:cNvSpPr/>
          <p:nvPr/>
        </p:nvSpPr>
        <p:spPr>
          <a:xfrm>
            <a:off x="6588224" y="836712"/>
            <a:ext cx="1944216" cy="72008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 Minutes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45289" y="5949280"/>
            <a:ext cx="8784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2. Student A should </a:t>
            </a:r>
            <a:r>
              <a:rPr lang="en-GB" sz="1600" u="sng" dirty="0" smtClean="0"/>
              <a:t>explain</a:t>
            </a:r>
            <a:r>
              <a:rPr lang="en-GB" sz="1600" dirty="0" smtClean="0"/>
              <a:t> and </a:t>
            </a:r>
            <a:r>
              <a:rPr lang="en-GB" sz="1600" u="sng" dirty="0" smtClean="0"/>
              <a:t>teach</a:t>
            </a:r>
            <a:r>
              <a:rPr lang="en-GB" sz="1600" dirty="0" smtClean="0"/>
              <a:t> Student B the push factors they have come up with. </a:t>
            </a:r>
            <a:r>
              <a:rPr lang="en-GB" sz="1600" i="1" dirty="0" smtClean="0"/>
              <a:t>Once complete, swap over and repeat.</a:t>
            </a:r>
          </a:p>
          <a:p>
            <a:r>
              <a:rPr lang="en-GB" sz="1600" dirty="0" smtClean="0"/>
              <a:t>3. </a:t>
            </a:r>
            <a:r>
              <a:rPr lang="en-GB" sz="1600" u="sng" dirty="0" smtClean="0"/>
              <a:t>Add</a:t>
            </a:r>
            <a:r>
              <a:rPr lang="en-GB" sz="1600" dirty="0" smtClean="0"/>
              <a:t> any ideas your partner didn’t come up with to your table.</a:t>
            </a:r>
          </a:p>
        </p:txBody>
      </p:sp>
      <p:sp>
        <p:nvSpPr>
          <p:cNvPr id="8" name="Oval 7"/>
          <p:cNvSpPr/>
          <p:nvPr/>
        </p:nvSpPr>
        <p:spPr>
          <a:xfrm>
            <a:off x="6952869" y="6237312"/>
            <a:ext cx="1944216" cy="470957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5 Minutes</a:t>
            </a:r>
            <a:endParaRPr lang="en-GB" dirty="0"/>
          </a:p>
        </p:txBody>
      </p:sp>
      <p:pic>
        <p:nvPicPr>
          <p:cNvPr id="8194" name="Picture 2" descr="Myth: War Is Beneficial (summary)">
            <a:hlinkClick r:id="rId2" tooltip="Myth: War Is Beneficial (summary)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84984"/>
            <a:ext cx="2000250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guardian.co.uk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3271242"/>
            <a:ext cx="2139702" cy="134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LEDC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59" y="4618485"/>
            <a:ext cx="2005209" cy="116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Photo of a funnel cloud hanging in the sky, not touching the ground.">
            <a:hlinkClick r:id="rId7" tooltip=" A funnel cloud hangs in the sky. Will it touch down?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4592929"/>
            <a:ext cx="2139702" cy="119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Roles of the future could include body part makers and child designers.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255969"/>
            <a:ext cx="2141900" cy="133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6" name="Picture 14" descr="Cool flat in Berlin scene location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851" y="3284984"/>
            <a:ext cx="1818541" cy="130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Police Officers in front of a crowd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1" y="4592929"/>
            <a:ext cx="2141900" cy="119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11" name="Picture 19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9" t="50000" r="42813" b="27750"/>
          <a:stretch/>
        </p:blipFill>
        <p:spPr bwMode="auto">
          <a:xfrm>
            <a:off x="6281853" y="4592929"/>
            <a:ext cx="1818540" cy="1190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949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70650"/>
              </p:ext>
            </p:extLst>
          </p:nvPr>
        </p:nvGraphicFramePr>
        <p:xfrm>
          <a:off x="467544" y="1844824"/>
          <a:ext cx="7239000" cy="3535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19500"/>
                <a:gridCol w="3619500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Push factors</a:t>
                      </a:r>
                      <a:endParaRPr lang="en-GB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 smtClean="0"/>
                        <a:t>Pull</a:t>
                      </a:r>
                      <a:r>
                        <a:rPr lang="en-GB" sz="2000" baseline="0" dirty="0" smtClean="0"/>
                        <a:t> factors</a:t>
                      </a:r>
                      <a:endParaRPr lang="en-GB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lack of religious freedom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corrupt governments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lack of opportunity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poor education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lack of religious freedom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civil strife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lack of medical care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natural disasters</a:t>
                      </a:r>
                    </a:p>
                    <a:p>
                      <a:r>
                        <a:rPr lang="en-GB" sz="2000" dirty="0" smtClean="0">
                          <a:solidFill>
                            <a:srgbClr val="0070C0"/>
                          </a:solidFill>
                        </a:rPr>
                        <a:t>- poverty</a:t>
                      </a:r>
                      <a:endParaRPr lang="en-GB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religious freedom or freedom in general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higher standard of living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jobs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lower cost of living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medical care / medicine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safety/protection</a:t>
                      </a:r>
                    </a:p>
                    <a:p>
                      <a:r>
                        <a:rPr kumimoji="0" lang="en-GB" sz="2000" b="0" i="0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GB" sz="2000" b="0" i="1" u="none" strike="noStrike" kern="1200" baseline="0" dirty="0" smtClean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fair or just government</a:t>
                      </a:r>
                      <a:endParaRPr lang="en-GB" sz="20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GB" sz="2000" dirty="0" smtClean="0">
                        <a:solidFill>
                          <a:srgbClr val="0070C0"/>
                        </a:solidFill>
                      </a:endParaRPr>
                    </a:p>
                    <a:p>
                      <a:endParaRPr lang="en-GB" sz="200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8927" y="101125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TASK- Add any push and pull factors you didn’t get into your table in </a:t>
            </a:r>
            <a:r>
              <a:rPr lang="en-GB" sz="1600" dirty="0" smtClean="0">
                <a:solidFill>
                  <a:srgbClr val="0070C0"/>
                </a:solidFill>
              </a:rPr>
              <a:t>blue pen</a:t>
            </a:r>
            <a:r>
              <a:rPr lang="en-GB" sz="1600" dirty="0" smtClean="0"/>
              <a:t>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6501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168927" y="620688"/>
            <a:ext cx="8784976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INSTRUCTIONS:</a:t>
            </a:r>
          </a:p>
          <a:p>
            <a:pPr marL="342900" indent="-342900">
              <a:buAutoNum type="arabicPeriod"/>
            </a:pPr>
            <a:r>
              <a:rPr lang="en-GB" sz="1600" dirty="0" smtClean="0"/>
              <a:t>Statements will be read out that will be a push factor, pull factor, or both.</a:t>
            </a:r>
          </a:p>
          <a:p>
            <a:pPr marL="342900" indent="-342900">
              <a:buAutoNum type="arabicPeriod"/>
            </a:pPr>
            <a:endParaRPr lang="en-GB" sz="1600" dirty="0" smtClean="0"/>
          </a:p>
          <a:p>
            <a:pPr marL="342900" indent="-342900">
              <a:buAutoNum type="arabicPeriod"/>
            </a:pPr>
            <a:r>
              <a:rPr lang="en-GB" sz="1600" dirty="0" smtClean="0"/>
              <a:t>If you think it is a: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b="1" dirty="0" smtClean="0"/>
              <a:t>Push factor</a:t>
            </a:r>
            <a:r>
              <a:rPr lang="en-GB" sz="1600" dirty="0" smtClean="0"/>
              <a:t>: </a:t>
            </a:r>
            <a:r>
              <a:rPr lang="en-GB" sz="1600" dirty="0" smtClean="0">
                <a:solidFill>
                  <a:srgbClr val="0070C0"/>
                </a:solidFill>
              </a:rPr>
              <a:t>squat</a:t>
            </a:r>
            <a:r>
              <a:rPr lang="en-GB" sz="1600" dirty="0" smtClean="0"/>
              <a:t> 5 times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b="1" dirty="0" smtClean="0"/>
              <a:t>Pull factor</a:t>
            </a:r>
            <a:r>
              <a:rPr lang="en-GB" sz="1600" dirty="0" smtClean="0"/>
              <a:t>: </a:t>
            </a:r>
            <a:r>
              <a:rPr lang="en-GB" sz="1600" dirty="0" smtClean="0">
                <a:solidFill>
                  <a:srgbClr val="0070C0"/>
                </a:solidFill>
              </a:rPr>
              <a:t>hop</a:t>
            </a:r>
            <a:r>
              <a:rPr lang="en-GB" sz="1600" dirty="0" smtClean="0"/>
              <a:t> back and forth 5 times.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b="1" dirty="0" smtClean="0"/>
              <a:t>Both</a:t>
            </a:r>
            <a:r>
              <a:rPr lang="en-GB" sz="1600" dirty="0" smtClean="0"/>
              <a:t>: </a:t>
            </a:r>
            <a:r>
              <a:rPr lang="en-GB" sz="1600" dirty="0" smtClean="0">
                <a:solidFill>
                  <a:srgbClr val="0070C0"/>
                </a:solidFill>
              </a:rPr>
              <a:t>jump</a:t>
            </a:r>
            <a:r>
              <a:rPr lang="en-GB" sz="1600" dirty="0" smtClean="0"/>
              <a:t> and then </a:t>
            </a:r>
            <a:r>
              <a:rPr lang="en-GB" sz="1600" dirty="0" smtClean="0">
                <a:solidFill>
                  <a:srgbClr val="0070C0"/>
                </a:solidFill>
              </a:rPr>
              <a:t>touch</a:t>
            </a:r>
            <a:r>
              <a:rPr lang="en-GB" sz="1600" dirty="0" smtClean="0"/>
              <a:t> your </a:t>
            </a:r>
            <a:r>
              <a:rPr lang="en-GB" sz="1600" dirty="0" smtClean="0">
                <a:solidFill>
                  <a:schemeClr val="tx1"/>
                </a:solidFill>
              </a:rPr>
              <a:t>toes</a:t>
            </a:r>
            <a:r>
              <a:rPr lang="en-GB" sz="1600" dirty="0" smtClean="0"/>
              <a:t> 5 times.</a:t>
            </a:r>
          </a:p>
          <a:p>
            <a:pPr marL="285750" indent="-285750">
              <a:buFont typeface="Arial" pitchFamily="34" charset="0"/>
              <a:buChar char="•"/>
            </a:pPr>
            <a:endParaRPr lang="en-GB" sz="1600" dirty="0" smtClean="0"/>
          </a:p>
          <a:p>
            <a:r>
              <a:rPr lang="en-GB" sz="1600" dirty="0" smtClean="0"/>
              <a:t>3.  You must march on the spot between statements.</a:t>
            </a:r>
            <a:endParaRPr lang="en-GB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68927" y="101125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TASK- To test your knowledge of push and pull factors through a physical activity game!</a:t>
            </a:r>
            <a:endParaRPr lang="en-GB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168927" y="6381328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i="1" dirty="0" smtClean="0"/>
              <a:t>Make sure the floor is clear of obstacles!</a:t>
            </a:r>
            <a:endParaRPr lang="en-GB" sz="1600" i="1" dirty="0"/>
          </a:p>
        </p:txBody>
      </p:sp>
    </p:spTree>
    <p:extLst>
      <p:ext uri="{BB962C8B-B14F-4D97-AF65-F5344CB8AC3E}">
        <p14:creationId xmlns:p14="http://schemas.microsoft.com/office/powerpoint/2010/main" val="324108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8926" y="4882807"/>
            <a:ext cx="850752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000" dirty="0" smtClean="0"/>
              <a:t>If you think it is a: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000" b="1" dirty="0" smtClean="0"/>
              <a:t>Push factor</a:t>
            </a:r>
            <a:r>
              <a:rPr lang="en-GB" sz="2000" dirty="0" smtClean="0"/>
              <a:t>: </a:t>
            </a:r>
            <a:r>
              <a:rPr lang="en-GB" sz="2000" dirty="0" smtClean="0">
                <a:solidFill>
                  <a:srgbClr val="0070C0"/>
                </a:solidFill>
              </a:rPr>
              <a:t>squat</a:t>
            </a:r>
            <a:r>
              <a:rPr lang="en-GB" sz="2000" dirty="0" smtClean="0"/>
              <a:t> 5 times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000" b="1" dirty="0" smtClean="0"/>
              <a:t>Pull factor</a:t>
            </a:r>
            <a:r>
              <a:rPr lang="en-GB" sz="2000" dirty="0" smtClean="0"/>
              <a:t>: </a:t>
            </a:r>
            <a:r>
              <a:rPr lang="en-GB" sz="2000" dirty="0" smtClean="0">
                <a:solidFill>
                  <a:srgbClr val="0070C0"/>
                </a:solidFill>
              </a:rPr>
              <a:t>hop</a:t>
            </a:r>
            <a:r>
              <a:rPr lang="en-GB" sz="2000" dirty="0" smtClean="0"/>
              <a:t> back and forth 5 times.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000" b="1" dirty="0" smtClean="0"/>
              <a:t>Both</a:t>
            </a:r>
            <a:r>
              <a:rPr lang="en-GB" sz="2000" dirty="0" smtClean="0"/>
              <a:t>: </a:t>
            </a:r>
            <a:r>
              <a:rPr lang="en-GB" sz="2000" dirty="0" smtClean="0">
                <a:solidFill>
                  <a:srgbClr val="0070C0"/>
                </a:solidFill>
              </a:rPr>
              <a:t>jump</a:t>
            </a:r>
            <a:r>
              <a:rPr lang="en-GB" sz="2000" dirty="0" smtClean="0"/>
              <a:t> and then touch your </a:t>
            </a:r>
            <a:r>
              <a:rPr lang="en-GB" sz="2000" dirty="0" smtClean="0">
                <a:solidFill>
                  <a:srgbClr val="0070C0"/>
                </a:solidFill>
              </a:rPr>
              <a:t>toes</a:t>
            </a:r>
            <a:r>
              <a:rPr lang="en-GB" sz="2000" dirty="0" smtClean="0"/>
              <a:t> 5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26" y="116632"/>
            <a:ext cx="850752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0000"/>
                </a:solidFill>
              </a:rPr>
              <a:t>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26" y="660104"/>
            <a:ext cx="850752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0000"/>
                </a:solidFill>
              </a:rPr>
              <a:t>Climate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926" y="1239134"/>
            <a:ext cx="850752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0000"/>
                </a:solidFill>
              </a:rP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925" y="1844824"/>
            <a:ext cx="850752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0000"/>
                </a:solidFill>
              </a:rPr>
              <a:t>Job opportunities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924" y="2420888"/>
            <a:ext cx="850752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0000"/>
                </a:solidFill>
              </a:rPr>
              <a:t>Natural disaster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8926" y="3068960"/>
            <a:ext cx="850752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0000"/>
                </a:solidFill>
              </a:rPr>
              <a:t>Discrimination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926" y="3717032"/>
            <a:ext cx="8507529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 smtClean="0">
                <a:solidFill>
                  <a:srgbClr val="FF0000"/>
                </a:solidFill>
              </a:rPr>
              <a:t>Higher standard of living</a:t>
            </a:r>
          </a:p>
        </p:txBody>
      </p:sp>
    </p:spTree>
    <p:extLst>
      <p:ext uri="{BB962C8B-B14F-4D97-AF65-F5344CB8AC3E}">
        <p14:creationId xmlns:p14="http://schemas.microsoft.com/office/powerpoint/2010/main" val="107585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u="sng" dirty="0" smtClean="0"/>
              <a:t>push and pull factors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170861" y="1700808"/>
            <a:ext cx="8784976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 smtClean="0"/>
              <a:t>Learning Objectives:</a:t>
            </a:r>
          </a:p>
          <a:p>
            <a:endParaRPr lang="en-GB" sz="2800" dirty="0" smtClean="0"/>
          </a:p>
          <a:p>
            <a:r>
              <a:rPr lang="en-GB" sz="2800" dirty="0" smtClean="0"/>
              <a:t>I can explain the various reasons that encourage people rural-urban migration.</a:t>
            </a:r>
          </a:p>
          <a:p>
            <a:endParaRPr lang="en-GB" sz="2800" dirty="0" smtClean="0"/>
          </a:p>
          <a:p>
            <a:r>
              <a:rPr lang="en-GB" sz="2800" dirty="0" smtClean="0"/>
              <a:t>I can investigate urbanisation in China and apply my knowledge to create my own immigration story.</a:t>
            </a:r>
          </a:p>
        </p:txBody>
      </p:sp>
    </p:spTree>
    <p:extLst>
      <p:ext uri="{BB962C8B-B14F-4D97-AF65-F5344CB8AC3E}">
        <p14:creationId xmlns:p14="http://schemas.microsoft.com/office/powerpoint/2010/main" val="193552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771800" y="2060848"/>
            <a:ext cx="2736304" cy="648072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 smtClean="0">
                <a:solidFill>
                  <a:sysClr val="windowText" lastClr="000000"/>
                </a:solidFill>
                <a:latin typeface="Comic Sans MS" pitchFamily="66" charset="0"/>
              </a:rPr>
              <a:t>Urbanisation in China</a:t>
            </a:r>
            <a:endParaRPr lang="en-GB" sz="2000" dirty="0">
              <a:solidFill>
                <a:sysClr val="windowText" lastClr="00000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8095" y="4096277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BRONZE- Write a </a:t>
            </a:r>
            <a:r>
              <a:rPr lang="en-GB" sz="1600" u="sng" dirty="0" smtClean="0"/>
              <a:t>definition</a:t>
            </a:r>
            <a:r>
              <a:rPr lang="en-GB" sz="1600" dirty="0" smtClean="0"/>
              <a:t> for the term ‘rural-urban migration’.</a:t>
            </a:r>
            <a:endParaRPr lang="en-GB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138095" y="4587231"/>
            <a:ext cx="8784976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SILVER- Using the information on page 37, </a:t>
            </a:r>
            <a:r>
              <a:rPr lang="en-GB" sz="1600" u="sng" dirty="0" smtClean="0"/>
              <a:t>complete</a:t>
            </a:r>
            <a:r>
              <a:rPr lang="en-GB" sz="1600" dirty="0" smtClean="0"/>
              <a:t> the </a:t>
            </a:r>
            <a:r>
              <a:rPr lang="en-GB" sz="1600" dirty="0" err="1" smtClean="0"/>
              <a:t>mindmap</a:t>
            </a:r>
            <a:r>
              <a:rPr lang="en-GB" sz="1600" dirty="0" smtClean="0"/>
              <a:t> above. Include facts and figures. </a:t>
            </a:r>
            <a:endParaRPr lang="en-GB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68927" y="101125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TASK- To understand why people migrate to cities in LEDCs.</a:t>
            </a:r>
            <a:endParaRPr lang="en-GB" sz="1600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5364088" y="1370936"/>
            <a:ext cx="1440160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1547664" y="1370936"/>
            <a:ext cx="1368152" cy="86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588224" y="116632"/>
            <a:ext cx="1944216" cy="72008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10 Minutes</a:t>
            </a:r>
            <a:endParaRPr lang="en-GB" dirty="0"/>
          </a:p>
        </p:txBody>
      </p:sp>
      <p:sp>
        <p:nvSpPr>
          <p:cNvPr id="18" name="TextBox 17"/>
          <p:cNvSpPr txBox="1"/>
          <p:nvPr/>
        </p:nvSpPr>
        <p:spPr>
          <a:xfrm>
            <a:off x="138095" y="5373216"/>
            <a:ext cx="8784976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GOLD- </a:t>
            </a:r>
            <a:r>
              <a:rPr lang="en-GB" sz="1600" u="sng" dirty="0" smtClean="0"/>
              <a:t>Why</a:t>
            </a:r>
            <a:r>
              <a:rPr lang="en-GB" sz="1600" dirty="0" smtClean="0"/>
              <a:t> might estimates of future urban populations in developing countries be inaccurate?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12850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168927" y="101125"/>
            <a:ext cx="8784976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TASK- </a:t>
            </a:r>
            <a:r>
              <a:rPr lang="en-GB" sz="1600" u="sng" dirty="0" smtClean="0"/>
              <a:t>Create</a:t>
            </a:r>
            <a:r>
              <a:rPr lang="en-GB" sz="1600" dirty="0" smtClean="0"/>
              <a:t> your own immigrant story based upon our learning today.</a:t>
            </a:r>
            <a:endParaRPr lang="en-GB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68927" y="592079"/>
            <a:ext cx="8784976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INSTRUCTIONS:</a:t>
            </a:r>
          </a:p>
          <a:p>
            <a:r>
              <a:rPr lang="en-GB" sz="1600" dirty="0" smtClean="0"/>
              <a:t>Your story should: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u="sng" dirty="0"/>
              <a:t>D</a:t>
            </a:r>
            <a:r>
              <a:rPr lang="en-GB" sz="1600" u="sng" dirty="0" smtClean="0"/>
              <a:t>escribe</a:t>
            </a:r>
            <a:r>
              <a:rPr lang="en-GB" sz="1600" dirty="0" smtClean="0"/>
              <a:t> </a:t>
            </a:r>
            <a:r>
              <a:rPr lang="en-GB" sz="1600" dirty="0"/>
              <a:t>what life was like in their </a:t>
            </a:r>
            <a:r>
              <a:rPr lang="en-GB" sz="1600" dirty="0" smtClean="0"/>
              <a:t>homeland.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u="sng" dirty="0" smtClean="0"/>
              <a:t>Explain</a:t>
            </a:r>
            <a:r>
              <a:rPr lang="en-GB" sz="1600" dirty="0" smtClean="0"/>
              <a:t> they </a:t>
            </a:r>
            <a:r>
              <a:rPr lang="en-GB" sz="1600" dirty="0"/>
              <a:t>decided to leave (push factors</a:t>
            </a:r>
            <a:r>
              <a:rPr lang="en-GB" sz="1600" dirty="0" smtClean="0"/>
              <a:t>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u="sng" dirty="0" smtClean="0"/>
              <a:t>Explain</a:t>
            </a:r>
            <a:r>
              <a:rPr lang="en-GB" sz="1600" dirty="0" smtClean="0"/>
              <a:t> why they chose </a:t>
            </a:r>
            <a:r>
              <a:rPr lang="en-GB" sz="1600" i="1" dirty="0" smtClean="0"/>
              <a:t>______*(*Country) </a:t>
            </a:r>
            <a:r>
              <a:rPr lang="en-GB" sz="1600" dirty="0" smtClean="0"/>
              <a:t>(pull factors).</a:t>
            </a:r>
            <a:endParaRPr lang="en-GB" sz="1600" dirty="0"/>
          </a:p>
        </p:txBody>
      </p:sp>
      <p:sp>
        <p:nvSpPr>
          <p:cNvPr id="6" name="Oval 5"/>
          <p:cNvSpPr/>
          <p:nvPr/>
        </p:nvSpPr>
        <p:spPr>
          <a:xfrm>
            <a:off x="6979167" y="129754"/>
            <a:ext cx="1944216" cy="72008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10 Minutes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168927" y="4293096"/>
            <a:ext cx="8784976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i="1" dirty="0" smtClean="0"/>
              <a:t>Possible scenarios: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i="1" dirty="0" smtClean="0"/>
              <a:t>A Polish immigrant who cannot get work.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i="1" dirty="0" smtClean="0"/>
              <a:t>A Nigerian farmer whose crops have failed.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1600" i="1" dirty="0" smtClean="0"/>
              <a:t>A Syrian family fleeing the terrorist group Islamic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03" y="2509076"/>
            <a:ext cx="8846399" cy="12241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 smtClean="0"/>
              <a:t>A long time ago I used to live in…</a:t>
            </a:r>
          </a:p>
          <a:p>
            <a:r>
              <a:rPr lang="en-GB" dirty="0" smtClean="0"/>
              <a:t>Life was difficult since…</a:t>
            </a:r>
          </a:p>
          <a:p>
            <a:r>
              <a:rPr lang="en-GB" dirty="0" smtClean="0"/>
              <a:t>I decided to leave my homeland because…</a:t>
            </a:r>
          </a:p>
          <a:p>
            <a:r>
              <a:rPr lang="en-GB" dirty="0" smtClean="0"/>
              <a:t>I wanted to move to _______ because…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168927" y="5877272"/>
            <a:ext cx="8784976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 smtClean="0"/>
              <a:t>EXTENSION- </a:t>
            </a:r>
            <a:r>
              <a:rPr lang="en-GB" sz="1600" u="sng" dirty="0" smtClean="0"/>
              <a:t>Justify</a:t>
            </a:r>
            <a:r>
              <a:rPr lang="en-GB" sz="1600" dirty="0" smtClean="0"/>
              <a:t> why they chose to move to your chosen country rather than other countries.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94962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u="sng" dirty="0" smtClean="0"/>
              <a:t>push and pull factors</a:t>
            </a:r>
            <a:endParaRPr lang="en-GB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170861" y="1700808"/>
            <a:ext cx="8784976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800" dirty="0" smtClean="0"/>
              <a:t>Learning Objectives:</a:t>
            </a:r>
          </a:p>
          <a:p>
            <a:endParaRPr lang="en-GB" sz="2800" dirty="0" smtClean="0"/>
          </a:p>
          <a:p>
            <a:r>
              <a:rPr lang="en-GB" sz="2800" dirty="0" smtClean="0"/>
              <a:t>I can explain the various reasons that encourage people rural-urban migration.</a:t>
            </a:r>
          </a:p>
          <a:p>
            <a:endParaRPr lang="en-GB" sz="2800" dirty="0" smtClean="0"/>
          </a:p>
          <a:p>
            <a:r>
              <a:rPr lang="en-GB" sz="2800" dirty="0" smtClean="0"/>
              <a:t>I can investigate urbanisation in China and apply my knowledge to create my own immigration story.</a:t>
            </a:r>
          </a:p>
        </p:txBody>
      </p:sp>
    </p:spTree>
    <p:extLst>
      <p:ext uri="{BB962C8B-B14F-4D97-AF65-F5344CB8AC3E}">
        <p14:creationId xmlns:p14="http://schemas.microsoft.com/office/powerpoint/2010/main" val="256866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homework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8784976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3200" dirty="0" smtClean="0"/>
              <a:t>Explain why people move from rural to urban areas in LEDCs. [4]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17241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111</TotalTime>
  <Words>761</Words>
  <Application>Microsoft Office PowerPoint</Application>
  <PresentationFormat>On-screen Show (4:3)</PresentationFormat>
  <Paragraphs>108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Opulent</vt:lpstr>
      <vt:lpstr>Settler activity</vt:lpstr>
      <vt:lpstr>Starter activity</vt:lpstr>
      <vt:lpstr>Date push and pull factors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push and pull factors</vt:lpstr>
      <vt:lpstr>PowerPoint Presentation</vt:lpstr>
      <vt:lpstr>PowerPoint Presentation</vt:lpstr>
      <vt:lpstr>push and pull factors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Settler activity</dc:title>
  <dc:creator>Lewis</dc:creator>
  <cp:lastModifiedBy>GOODWIN Nina</cp:lastModifiedBy>
  <cp:revision>14</cp:revision>
  <dcterms:created xsi:type="dcterms:W3CDTF">2014-12-13T13:20:00Z</dcterms:created>
  <dcterms:modified xsi:type="dcterms:W3CDTF">2017-08-28T02:15:48Z</dcterms:modified>
</cp:coreProperties>
</file>
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C1CE-5292-4367-832E-A05CC0B8DA6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CC696-5CE6-4855-9965-8C8BBD68684D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C1CE-5292-4367-832E-A05CC0B8DA6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CC696-5CE6-4855-9965-8C8BBD68684D}" type="slidenum">
              <a:rPr lang="en-AU" smtClean="0"/>
              <a:t>‹#›</a:t>
            </a:fld>
            <a:endParaRPr lang="en-AU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C1CE-5292-4367-832E-A05CC0B8DA6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CC696-5CE6-4855-9965-8C8BBD68684D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C1CE-5292-4367-832E-A05CC0B8DA6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CC696-5CE6-4855-9965-8C8BBD68684D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658368"/>
            <a:ext cx="3273552" cy="3429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658368"/>
            <a:ext cx="3273552" cy="3432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371600"/>
            <a:ext cx="32766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371600"/>
            <a:ext cx="3273552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C1CE-5292-4367-832E-A05CC0B8DA6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CC696-5CE6-4855-9965-8C8BBD68684D}" type="slidenum">
              <a:rPr lang="en-AU" smtClean="0"/>
              <a:t>‹#›</a:t>
            </a:fld>
            <a:endParaRPr lang="en-AU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C1CE-5292-4367-832E-A05CC0B8DA6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CC696-5CE6-4855-9965-8C8BBD68684D}" type="slidenum">
              <a:rPr lang="en-AU" smtClean="0"/>
              <a:t>‹#›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C1CE-5292-4367-832E-A05CC0B8DA6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CC696-5CE6-4855-9965-8C8BBD68684D}" type="slidenum">
              <a:rPr lang="en-AU" smtClean="0"/>
              <a:t>‹#›</a:t>
            </a:fld>
            <a:endParaRPr lang="en-A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43434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685801"/>
            <a:ext cx="25908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C1CE-5292-4367-832E-A05CC0B8DA6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CC696-5CE6-4855-9965-8C8BBD68684D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612775"/>
            <a:ext cx="67056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3453047"/>
            <a:ext cx="50292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C1CE-5292-4367-832E-A05CC0B8DA6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9CC696-5CE6-4855-9965-8C8BBD68684D}" type="slidenum">
              <a:rPr lang="en-AU" smtClean="0"/>
              <a:t>‹#›</a:t>
            </a:fld>
            <a:endParaRPr lang="en-AU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685801"/>
            <a:ext cx="5791200" cy="35051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C1CE-5292-4367-832E-A05CC0B8DA6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CC696-5CE6-4855-9965-8C8BBD68684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609601"/>
            <a:ext cx="21336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685801"/>
            <a:ext cx="5029200" cy="45720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0C1CE-5292-4367-832E-A05CC0B8DA6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CC696-5CE6-4855-9965-8C8BBD68684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373221" y="1038440"/>
            <a:ext cx="724062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-274211" y="1165875"/>
            <a:ext cx="5538472" cy="448045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116854"/>
            <a:ext cx="6479362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8090C1CE-5292-4367-832E-A05CC0B8DA6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119CC696-5CE6-4855-9965-8C8BBD68684D}" type="slidenum">
              <a:rPr lang="en-AU" smtClean="0"/>
              <a:t>‹#›</a:t>
            </a:fld>
            <a:endParaRPr lang="en-A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1196752"/>
            <a:ext cx="7543800" cy="2152650"/>
          </a:xfrm>
        </p:spPr>
        <p:txBody>
          <a:bodyPr/>
          <a:lstStyle/>
          <a:p>
            <a:r>
              <a:rPr lang="en-AU" dirty="0" smtClean="0"/>
              <a:t>National Identity </a:t>
            </a:r>
            <a:br>
              <a:rPr lang="en-AU" dirty="0" smtClean="0"/>
            </a:br>
            <a:r>
              <a:rPr lang="en-AU" dirty="0" smtClean="0"/>
              <a:t>and Landscapes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How landscapes contribute to National Identity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4062527"/>
            <a:ext cx="3692358" cy="22321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4221088"/>
            <a:ext cx="3304435" cy="219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78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685801"/>
            <a:ext cx="7258000" cy="3175247"/>
          </a:xfrm>
        </p:spPr>
        <p:txBody>
          <a:bodyPr/>
          <a:lstStyle/>
          <a:p>
            <a:r>
              <a:rPr lang="en-AU" dirty="0" smtClean="0"/>
              <a:t>Landscapes are </a:t>
            </a:r>
            <a:r>
              <a:rPr lang="en-AU" dirty="0" smtClean="0"/>
              <a:t>a living record of our past and inspiration for our culture.</a:t>
            </a:r>
          </a:p>
          <a:p>
            <a:r>
              <a:rPr lang="en-AU" dirty="0" smtClean="0"/>
              <a:t>They provide a wide range of </a:t>
            </a:r>
            <a:r>
              <a:rPr lang="en-AU" dirty="0" smtClean="0"/>
              <a:t>social, health and economic benefits 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476672"/>
            <a:ext cx="7543800" cy="914400"/>
          </a:xfrm>
        </p:spPr>
        <p:txBody>
          <a:bodyPr/>
          <a:lstStyle/>
          <a:p>
            <a:r>
              <a:rPr lang="en-AU" dirty="0" smtClean="0"/>
              <a:t>Valuing landscapes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429000"/>
            <a:ext cx="4053542" cy="25334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531" y="3429000"/>
            <a:ext cx="4514173" cy="253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386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96252" y="1556792"/>
            <a:ext cx="3816424" cy="3528392"/>
          </a:xfrm>
        </p:spPr>
        <p:txBody>
          <a:bodyPr>
            <a:normAutofit lnSpcReduction="10000"/>
          </a:bodyPr>
          <a:lstStyle/>
          <a:p>
            <a:r>
              <a:rPr lang="en-US" altLang="en-US" sz="2000" dirty="0"/>
              <a:t>Landscapes are powerful symbols of national culture and </a:t>
            </a:r>
            <a:r>
              <a:rPr lang="en-US" altLang="en-US" sz="2000" dirty="0" smtClean="0"/>
              <a:t>society. </a:t>
            </a:r>
          </a:p>
          <a:p>
            <a:pPr marL="18288" indent="0">
              <a:buNone/>
            </a:pPr>
            <a:endParaRPr lang="en-US" altLang="en-US" sz="2000" dirty="0" smtClean="0"/>
          </a:p>
          <a:p>
            <a:r>
              <a:rPr lang="en-US" altLang="en-US" sz="2000" dirty="0" smtClean="0"/>
              <a:t>Our national anthem refers to ‘golden soil’ and being ‘girt by sea’ </a:t>
            </a:r>
            <a:r>
              <a:rPr lang="en-US" altLang="en-US" sz="2000" dirty="0" err="1" smtClean="0"/>
              <a:t>e.g</a:t>
            </a:r>
            <a:r>
              <a:rPr lang="en-US" altLang="en-US" sz="2000" dirty="0" smtClean="0"/>
              <a:t> surrounded by water. </a:t>
            </a:r>
            <a:r>
              <a:rPr lang="en-US" altLang="en-US" sz="2000" dirty="0"/>
              <a:t>T</a:t>
            </a:r>
            <a:r>
              <a:rPr lang="en-US" altLang="en-US" sz="2000" dirty="0" smtClean="0"/>
              <a:t>his conjures up images of a hot sandy deserts with red dirt surrounded by beautiful coastal landscapes. </a:t>
            </a:r>
            <a:endParaRPr lang="en-US" altLang="en-US" sz="2000" dirty="0"/>
          </a:p>
          <a:p>
            <a:endParaRPr lang="en-AU" dirty="0" smtClean="0">
              <a:effectLst/>
            </a:endParaRPr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728700"/>
            <a:ext cx="7543800" cy="648072"/>
          </a:xfrm>
        </p:spPr>
        <p:txBody>
          <a:bodyPr/>
          <a:lstStyle/>
          <a:p>
            <a:r>
              <a:rPr lang="en-AU" sz="4000" dirty="0" smtClean="0"/>
              <a:t>Powerful symbols of national identity </a:t>
            </a:r>
            <a:endParaRPr lang="en-AU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052736"/>
            <a:ext cx="4283968" cy="28548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077072"/>
            <a:ext cx="4355976" cy="24502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4581128"/>
            <a:ext cx="3441076" cy="219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33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55576" y="692696"/>
            <a:ext cx="7392144" cy="3657599"/>
          </a:xfrm>
        </p:spPr>
        <p:txBody>
          <a:bodyPr/>
          <a:lstStyle/>
          <a:p>
            <a:r>
              <a:rPr lang="en-AU" dirty="0">
                <a:effectLst/>
              </a:rPr>
              <a:t>Some landscapes are considered ‘iconic’ and the world recognises these landscapes as being central to that nation’s </a:t>
            </a:r>
            <a:r>
              <a:rPr lang="en-AU" dirty="0" smtClean="0">
                <a:effectLst/>
              </a:rPr>
              <a:t>identity</a:t>
            </a:r>
          </a:p>
          <a:p>
            <a:r>
              <a:rPr lang="en-AU" dirty="0" smtClean="0">
                <a:effectLst/>
              </a:rPr>
              <a:t>Examples include: The Grand Canyon in the United States, The Eiffel Tower in France, the Pyramids of  Giza in Egypt </a:t>
            </a:r>
            <a:endParaRPr lang="en-AU" dirty="0">
              <a:effectLst/>
            </a:endParaRPr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55576" y="332656"/>
            <a:ext cx="7543800" cy="914400"/>
          </a:xfrm>
        </p:spPr>
        <p:txBody>
          <a:bodyPr/>
          <a:lstStyle/>
          <a:p>
            <a:r>
              <a:rPr lang="en-AU" dirty="0" smtClean="0"/>
              <a:t>Iconic landscapes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629191"/>
            <a:ext cx="5452120" cy="294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874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11560" y="1052736"/>
            <a:ext cx="7056784" cy="3024337"/>
          </a:xfrm>
        </p:spPr>
        <p:txBody>
          <a:bodyPr/>
          <a:lstStyle/>
          <a:p>
            <a:r>
              <a:rPr lang="en-AU" dirty="0" smtClean="0"/>
              <a:t>This is the idea of attractiveness and beauty</a:t>
            </a:r>
          </a:p>
          <a:p>
            <a:r>
              <a:rPr lang="en-AU" dirty="0" smtClean="0"/>
              <a:t>This depends of people’s perspectives, attitudes and personal values</a:t>
            </a:r>
          </a:p>
          <a:p>
            <a:r>
              <a:rPr lang="en-AU" dirty="0" smtClean="0"/>
              <a:t>For example thousands of people travel to Australia’s red centre to see landforms such as Uluru </a:t>
            </a:r>
          </a:p>
          <a:p>
            <a:r>
              <a:rPr lang="en-AU" dirty="0" smtClean="0"/>
              <a:t>Australian’s head overseas to see the managed and constructed landscapes of South East Asia. </a:t>
            </a:r>
            <a:endParaRPr lang="en-A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5576" y="116632"/>
            <a:ext cx="7543800" cy="914400"/>
          </a:xfrm>
        </p:spPr>
        <p:txBody>
          <a:bodyPr/>
          <a:lstStyle/>
          <a:p>
            <a:r>
              <a:rPr lang="en-AU" dirty="0" smtClean="0"/>
              <a:t>Aesthetic value 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3841574"/>
            <a:ext cx="4260397" cy="283510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126624"/>
            <a:ext cx="4097860" cy="230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978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55576" y="908720"/>
            <a:ext cx="7464152" cy="3297559"/>
          </a:xfrm>
        </p:spPr>
        <p:txBody>
          <a:bodyPr/>
          <a:lstStyle/>
          <a:p>
            <a:r>
              <a:rPr lang="en-AU" dirty="0" smtClean="0"/>
              <a:t>People often develop emotional attachments to landscapes resulting from long term connections to that place.</a:t>
            </a:r>
          </a:p>
          <a:p>
            <a:r>
              <a:rPr lang="en-AU" dirty="0" smtClean="0"/>
              <a:t>This can be exceptionally strong for indigenous peoples </a:t>
            </a:r>
            <a:endParaRPr lang="en-AU" dirty="0" smtClean="0"/>
          </a:p>
          <a:p>
            <a:r>
              <a:rPr lang="en-AU" dirty="0" smtClean="0"/>
              <a:t>This may be through holidays we go on or through our recreational activities.</a:t>
            </a:r>
          </a:p>
          <a:p>
            <a:r>
              <a:rPr lang="en-AU" dirty="0" smtClean="0"/>
              <a:t>Landscapes are also a source of inspiration for many people such as painters and writers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3568" y="116632"/>
            <a:ext cx="7543800" cy="914400"/>
          </a:xfrm>
        </p:spPr>
        <p:txBody>
          <a:bodyPr/>
          <a:lstStyle/>
          <a:p>
            <a:r>
              <a:rPr lang="en-AU" dirty="0" smtClean="0"/>
              <a:t>Emotional Value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4025954"/>
            <a:ext cx="4136504" cy="264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34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3568" y="1124744"/>
            <a:ext cx="7546032" cy="2808312"/>
          </a:xfrm>
        </p:spPr>
        <p:txBody>
          <a:bodyPr/>
          <a:lstStyle/>
          <a:p>
            <a:r>
              <a:rPr lang="en-AU" dirty="0" smtClean="0"/>
              <a:t>Landscapes hold special spiritual significance for some people. </a:t>
            </a:r>
          </a:p>
          <a:p>
            <a:r>
              <a:rPr lang="en-AU" dirty="0" smtClean="0"/>
              <a:t>Many Aboriginal and Torres Strait islanders have strong connections to rivers, mountains and trees</a:t>
            </a:r>
          </a:p>
          <a:p>
            <a:r>
              <a:rPr lang="en-AU" dirty="0" smtClean="0"/>
              <a:t>Through these features they connect by means of song and ritual to the Dreaming and ancestral creator beings.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9552" y="260648"/>
            <a:ext cx="7543800" cy="914400"/>
          </a:xfrm>
        </p:spPr>
        <p:txBody>
          <a:bodyPr/>
          <a:lstStyle/>
          <a:p>
            <a:r>
              <a:rPr lang="en-AU" dirty="0" smtClean="0"/>
              <a:t>Spiritual Value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5" y="4189667"/>
            <a:ext cx="4176464" cy="20755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895484"/>
            <a:ext cx="3995936" cy="266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21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268760"/>
            <a:ext cx="7632848" cy="2808313"/>
          </a:xfrm>
        </p:spPr>
        <p:txBody>
          <a:bodyPr>
            <a:normAutofit/>
          </a:bodyPr>
          <a:lstStyle/>
          <a:p>
            <a:r>
              <a:rPr lang="en-AU" dirty="0" smtClean="0"/>
              <a:t>Agricultural, industrial and urban landscapes are the product of economic activity </a:t>
            </a:r>
          </a:p>
          <a:p>
            <a:r>
              <a:rPr lang="en-AU" dirty="0" smtClean="0"/>
              <a:t>Unique and spectacular landscapes are important tourist destinations and they generate employment and money into economies. </a:t>
            </a:r>
          </a:p>
          <a:p>
            <a:r>
              <a:rPr lang="en-AU" dirty="0" smtClean="0"/>
              <a:t>For example, 1.6 million people visit the Great Barrier Reef each year and Venice in Italy receives 22 million visitors a year. 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3568" y="260648"/>
            <a:ext cx="7543800" cy="914400"/>
          </a:xfrm>
        </p:spPr>
        <p:txBody>
          <a:bodyPr/>
          <a:lstStyle/>
          <a:p>
            <a:r>
              <a:rPr lang="en-AU" dirty="0" smtClean="0"/>
              <a:t>Economic Value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3819946"/>
            <a:ext cx="4104456" cy="274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436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1033</TotalTime>
  <Words>341</Words>
  <Application>Microsoft Office PowerPoint</Application>
  <PresentationFormat>On-screen Show (4:3)</PresentationFormat>
  <Paragraphs>30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Elemental</vt:lpstr>
      <vt:lpstr>National Identity  and Landscapes</vt:lpstr>
      <vt:lpstr>Valuing landscapes</vt:lpstr>
      <vt:lpstr>Powerful symbols of national identity </vt:lpstr>
      <vt:lpstr>Iconic landscapes</vt:lpstr>
      <vt:lpstr>Aesthetic value </vt:lpstr>
      <vt:lpstr>Emotional Value</vt:lpstr>
      <vt:lpstr>Spiritual Value</vt:lpstr>
      <vt:lpstr>Economic Value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Identity  and Landforms</dc:title>
  <dc:creator>GOODWIN Nina</dc:creator>
  <cp:lastModifiedBy>GOODWIN Nina</cp:lastModifiedBy>
  <cp:revision>20</cp:revision>
  <dcterms:created xsi:type="dcterms:W3CDTF">2017-07-26T08:47:34Z</dcterms:created>
  <dcterms:modified xsi:type="dcterms:W3CDTF">2017-07-27T05:23:23Z</dcterms:modified>
</cp:coreProperties>
</file>
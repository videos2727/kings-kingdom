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74" y="-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E3D03-9DCC-451B-AB18-C477EF7A2614}" type="datetimeFigureOut">
              <a:rPr lang="en-GB" smtClean="0"/>
              <a:t>24/08/2015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1C802-D986-44A4-864B-5A3723213E2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8611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E3D03-9DCC-451B-AB18-C477EF7A2614}" type="datetimeFigureOut">
              <a:rPr lang="en-GB" smtClean="0"/>
              <a:t>24/08/2015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1C802-D986-44A4-864B-5A3723213E2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7626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E3D03-9DCC-451B-AB18-C477EF7A2614}" type="datetimeFigureOut">
              <a:rPr lang="en-GB" smtClean="0"/>
              <a:t>24/08/2015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1C802-D986-44A4-864B-5A3723213E2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2476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E3D03-9DCC-451B-AB18-C477EF7A2614}" type="datetimeFigureOut">
              <a:rPr lang="en-GB" smtClean="0"/>
              <a:t>24/08/2015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1C802-D986-44A4-864B-5A3723213E2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760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E3D03-9DCC-451B-AB18-C477EF7A2614}" type="datetimeFigureOut">
              <a:rPr lang="en-GB" smtClean="0"/>
              <a:t>24/08/2015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1C802-D986-44A4-864B-5A3723213E2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160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E3D03-9DCC-451B-AB18-C477EF7A2614}" type="datetimeFigureOut">
              <a:rPr lang="en-GB" smtClean="0"/>
              <a:t>24/08/2015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1C802-D986-44A4-864B-5A3723213E2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7184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E3D03-9DCC-451B-AB18-C477EF7A2614}" type="datetimeFigureOut">
              <a:rPr lang="en-GB" smtClean="0"/>
              <a:t>24/08/2015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1C802-D986-44A4-864B-5A3723213E2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8552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E3D03-9DCC-451B-AB18-C477EF7A2614}" type="datetimeFigureOut">
              <a:rPr lang="en-GB" smtClean="0"/>
              <a:t>24/08/2015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1C802-D986-44A4-864B-5A3723213E2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051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E3D03-9DCC-451B-AB18-C477EF7A2614}" type="datetimeFigureOut">
              <a:rPr lang="en-GB" smtClean="0"/>
              <a:t>24/08/2015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1C802-D986-44A4-864B-5A3723213E2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1721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E3D03-9DCC-451B-AB18-C477EF7A2614}" type="datetimeFigureOut">
              <a:rPr lang="en-GB" smtClean="0"/>
              <a:t>24/08/2015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1C802-D986-44A4-864B-5A3723213E2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8199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E3D03-9DCC-451B-AB18-C477EF7A2614}" type="datetimeFigureOut">
              <a:rPr lang="en-GB" smtClean="0"/>
              <a:t>24/08/2015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1C802-D986-44A4-864B-5A3723213E2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4127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E3D03-9DCC-451B-AB18-C477EF7A2614}" type="datetimeFigureOut">
              <a:rPr lang="en-GB" smtClean="0"/>
              <a:t>24/08/2015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B1C802-D986-44A4-864B-5A3723213E2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1287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static.bbc.co.uk/earthscience/images/ic/640x360/natural_disasters/volcan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94"/>
            <a:ext cx="9157560" cy="6879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343351"/>
            <a:ext cx="7772400" cy="1470025"/>
          </a:xfrm>
        </p:spPr>
        <p:txBody>
          <a:bodyPr>
            <a:normAutofit/>
          </a:bodyPr>
          <a:lstStyle/>
          <a:p>
            <a:r>
              <a:rPr lang="en-GB" sz="5400" dirty="0" smtClean="0">
                <a:solidFill>
                  <a:srgbClr val="92D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3.</a:t>
            </a:r>
            <a:r>
              <a:rPr lang="en-GB" sz="4800" dirty="0" smtClean="0">
                <a:solidFill>
                  <a:srgbClr val="92D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Volcanoes</a:t>
            </a:r>
            <a:endParaRPr lang="en-GB" sz="4800" dirty="0">
              <a:solidFill>
                <a:srgbClr val="92D0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69292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200"/>
            </a:gs>
            <a:gs pos="45000">
              <a:srgbClr val="FF7A00"/>
            </a:gs>
            <a:gs pos="70000">
              <a:srgbClr val="FF0300"/>
            </a:gs>
            <a:gs pos="100000">
              <a:srgbClr val="4D0808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chemeClr val="tx2">
                    <a:lumMod val="75000"/>
                  </a:schemeClr>
                </a:solidFill>
                <a:latin typeface="Comic Sans MS" panose="030F0702030302020204" pitchFamily="66" charset="0"/>
              </a:rPr>
              <a:t>3. Volcanoes </a:t>
            </a:r>
            <a:endParaRPr lang="en-GB" b="1" dirty="0">
              <a:solidFill>
                <a:schemeClr val="tx2">
                  <a:lumMod val="7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>
                <a:solidFill>
                  <a:schemeClr val="tx2">
                    <a:lumMod val="75000"/>
                  </a:schemeClr>
                </a:solidFill>
                <a:latin typeface="Comic Sans MS" panose="030F0702030302020204" pitchFamily="66" charset="0"/>
              </a:rPr>
              <a:t>By the end of the lesson you should be able to:</a:t>
            </a:r>
          </a:p>
          <a:p>
            <a:pPr marL="0" indent="0">
              <a:buNone/>
            </a:pPr>
            <a:endParaRPr lang="en-GB" sz="2000" b="1" dirty="0">
              <a:solidFill>
                <a:srgbClr val="FFFF00"/>
              </a:solidFill>
              <a:latin typeface="Comic Sans MS" panose="030F0702030302020204" pitchFamily="66" charset="0"/>
            </a:endParaRPr>
          </a:p>
          <a:p>
            <a:pPr marL="457200" indent="-457200"/>
            <a:r>
              <a:rPr lang="en-GB" b="1" dirty="0">
                <a:solidFill>
                  <a:srgbClr val="FFFF00"/>
                </a:solidFill>
                <a:latin typeface="Comic Sans MS" panose="030F0702030302020204" pitchFamily="66" charset="0"/>
              </a:rPr>
              <a:t>Explain why volcanoes erupt</a:t>
            </a:r>
            <a:r>
              <a:rPr lang="en-GB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.</a:t>
            </a:r>
          </a:p>
          <a:p>
            <a:pPr marL="0" indent="0">
              <a:buNone/>
            </a:pPr>
            <a:endParaRPr lang="en-GB" sz="2000" b="1" dirty="0">
              <a:solidFill>
                <a:srgbClr val="FFFF00"/>
              </a:solidFill>
              <a:latin typeface="Comic Sans MS" panose="030F0702030302020204" pitchFamily="66" charset="0"/>
            </a:endParaRPr>
          </a:p>
          <a:p>
            <a:pPr marL="457200" indent="-457200"/>
            <a:r>
              <a:rPr lang="en-GB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Identify the differences between a </a:t>
            </a:r>
            <a:r>
              <a:rPr lang="en-GB" b="1" u="sng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Composite</a:t>
            </a:r>
            <a:r>
              <a:rPr lang="en-GB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 and a </a:t>
            </a:r>
            <a:r>
              <a:rPr lang="en-GB" b="1" u="sng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Shield</a:t>
            </a:r>
            <a:r>
              <a:rPr lang="en-GB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 volcano.</a:t>
            </a:r>
          </a:p>
          <a:p>
            <a:pPr marL="457200" indent="-457200"/>
            <a:endParaRPr lang="en-GB" b="1" dirty="0" smtClean="0">
              <a:solidFill>
                <a:srgbClr val="FFFF00"/>
              </a:solidFill>
              <a:latin typeface="Comic Sans MS" panose="030F0702030302020204" pitchFamily="66" charset="0"/>
            </a:endParaRPr>
          </a:p>
          <a:p>
            <a:pPr marL="457200" indent="-457200"/>
            <a:r>
              <a:rPr lang="en-GB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Draw and label a cross section of a volcano. </a:t>
            </a:r>
            <a:endParaRPr lang="en-GB" b="1" dirty="0">
              <a:solidFill>
                <a:srgbClr val="FFFF00"/>
              </a:solidFill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GB" b="1" dirty="0">
              <a:solidFill>
                <a:srgbClr val="FFFF00"/>
              </a:solidFill>
              <a:latin typeface="Comic Sans MS" panose="030F0702030302020204" pitchFamily="66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7196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4797152"/>
            <a:ext cx="9036496" cy="2088232"/>
          </a:xfrm>
        </p:spPr>
        <p:txBody>
          <a:bodyPr>
            <a:noAutofit/>
          </a:bodyPr>
          <a:lstStyle/>
          <a:p>
            <a:r>
              <a:rPr lang="en-GB" sz="2400" b="1" dirty="0" smtClean="0">
                <a:latin typeface="Comic Sans MS" panose="030F0702030302020204" pitchFamily="66" charset="0"/>
              </a:rPr>
              <a:t>Volcanoes occur close to tectonic plate boundaries. </a:t>
            </a:r>
          </a:p>
          <a:p>
            <a:pPr marL="0" indent="0">
              <a:buNone/>
            </a:pPr>
            <a:endParaRPr lang="en-GB" sz="800" b="1" dirty="0">
              <a:latin typeface="Comic Sans MS" panose="030F0702030302020204" pitchFamily="66" charset="0"/>
            </a:endParaRPr>
          </a:p>
          <a:p>
            <a:r>
              <a:rPr lang="en-GB" sz="2400" b="1" dirty="0" smtClean="0">
                <a:latin typeface="Comic Sans MS" panose="030F0702030302020204" pitchFamily="66" charset="0"/>
              </a:rPr>
              <a:t>There are no active volcanoes in the UK because there are no plate boundaries near to us. </a:t>
            </a:r>
          </a:p>
          <a:p>
            <a:pPr marL="0" indent="0">
              <a:buNone/>
            </a:pPr>
            <a:endParaRPr lang="en-GB" sz="800" b="1" dirty="0">
              <a:latin typeface="Comic Sans MS" panose="030F0702030302020204" pitchFamily="66" charset="0"/>
            </a:endParaRPr>
          </a:p>
          <a:p>
            <a:r>
              <a:rPr lang="en-GB" sz="2400" b="1" dirty="0" smtClean="0">
                <a:latin typeface="Comic Sans MS" panose="030F0702030302020204" pitchFamily="66" charset="0"/>
              </a:rPr>
              <a:t>The nearest active volcanoes are in Iceland and Italy.</a:t>
            </a:r>
            <a:endParaRPr lang="en-GB" sz="2400" b="1" dirty="0">
              <a:latin typeface="Comic Sans MS" panose="030F0702030302020204" pitchFamily="66" charset="0"/>
            </a:endParaRPr>
          </a:p>
        </p:txBody>
      </p:sp>
      <p:pic>
        <p:nvPicPr>
          <p:cNvPr id="2054" name="Picture 6" descr="http://classconnection.s3.amazonaws.com/754/flashcards/1160754/png/parts_of_a_volcano1328636763089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2"/>
          <a:stretch/>
        </p:blipFill>
        <p:spPr bwMode="auto">
          <a:xfrm>
            <a:off x="63499" y="72008"/>
            <a:ext cx="8682493" cy="4725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597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778098"/>
          </a:xfrm>
        </p:spPr>
        <p:txBody>
          <a:bodyPr>
            <a:normAutofit/>
          </a:bodyPr>
          <a:lstStyle/>
          <a:p>
            <a:r>
              <a:rPr lang="en-GB" sz="3200" b="1" dirty="0" smtClean="0">
                <a:latin typeface="Comic Sans MS" panose="030F0702030302020204" pitchFamily="66" charset="0"/>
              </a:rPr>
              <a:t>Why do Volcanoes erupt?</a:t>
            </a:r>
            <a:endParaRPr lang="en-GB" sz="3200" b="1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9610" y="764704"/>
            <a:ext cx="5112568" cy="6093296"/>
          </a:xfrm>
        </p:spPr>
        <p:txBody>
          <a:bodyPr>
            <a:noAutofit/>
          </a:bodyPr>
          <a:lstStyle/>
          <a:p>
            <a:r>
              <a:rPr lang="en-GB" sz="2400" dirty="0">
                <a:latin typeface="Comic Sans MS" panose="030F0702030302020204" pitchFamily="66" charset="0"/>
              </a:rPr>
              <a:t>H</a:t>
            </a:r>
            <a:r>
              <a:rPr lang="en-GB" sz="2400" dirty="0" smtClean="0">
                <a:latin typeface="Comic Sans MS" panose="030F0702030302020204" pitchFamily="66" charset="0"/>
              </a:rPr>
              <a:t>eat deep within the Earth’s Mantle melts </a:t>
            </a:r>
            <a:r>
              <a:rPr lang="en-GB" sz="2400" dirty="0">
                <a:latin typeface="Comic Sans MS" panose="030F0702030302020204" pitchFamily="66" charset="0"/>
              </a:rPr>
              <a:t>rocks to create a slow moving substance called </a:t>
            </a:r>
            <a:r>
              <a:rPr lang="en-GB" sz="2400" dirty="0" smtClean="0">
                <a:latin typeface="Comic Sans MS" panose="030F0702030302020204" pitchFamily="66" charset="0"/>
              </a:rPr>
              <a:t>Magma</a:t>
            </a:r>
            <a:r>
              <a:rPr lang="en-GB" sz="2400" dirty="0">
                <a:latin typeface="Comic Sans MS" panose="030F0702030302020204" pitchFamily="66" charset="0"/>
              </a:rPr>
              <a:t>.  </a:t>
            </a:r>
            <a:endParaRPr lang="en-GB" sz="2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GB" sz="1200" dirty="0" smtClean="0">
              <a:latin typeface="Comic Sans MS" panose="030F0702030302020204" pitchFamily="66" charset="0"/>
            </a:endParaRPr>
          </a:p>
          <a:p>
            <a:r>
              <a:rPr lang="en-GB" sz="2400" dirty="0" smtClean="0">
                <a:latin typeface="Comic Sans MS" panose="030F0702030302020204" pitchFamily="66" charset="0"/>
              </a:rPr>
              <a:t>Magma </a:t>
            </a:r>
            <a:r>
              <a:rPr lang="en-GB" sz="2400" dirty="0">
                <a:latin typeface="Comic Sans MS" panose="030F0702030302020204" pitchFamily="66" charset="0"/>
              </a:rPr>
              <a:t>is lighter than </a:t>
            </a:r>
            <a:r>
              <a:rPr lang="en-GB" sz="2400" dirty="0" smtClean="0">
                <a:latin typeface="Comic Sans MS" panose="030F0702030302020204" pitchFamily="66" charset="0"/>
              </a:rPr>
              <a:t>solid </a:t>
            </a:r>
            <a:r>
              <a:rPr lang="en-GB" sz="2400" dirty="0">
                <a:latin typeface="Comic Sans MS" panose="030F0702030302020204" pitchFamily="66" charset="0"/>
              </a:rPr>
              <a:t>rock </a:t>
            </a:r>
            <a:r>
              <a:rPr lang="en-GB" sz="2400" dirty="0" smtClean="0">
                <a:latin typeface="Comic Sans MS" panose="030F0702030302020204" pitchFamily="66" charset="0"/>
              </a:rPr>
              <a:t>so it rises </a:t>
            </a:r>
            <a:r>
              <a:rPr lang="en-GB" sz="2400" dirty="0">
                <a:latin typeface="Comic Sans MS" panose="030F0702030302020204" pitchFamily="66" charset="0"/>
              </a:rPr>
              <a:t>and collects in magma chambers.  </a:t>
            </a:r>
            <a:endParaRPr lang="en-GB" sz="2400" dirty="0" smtClean="0">
              <a:latin typeface="Comic Sans MS" panose="030F0702030302020204" pitchFamily="66" charset="0"/>
            </a:endParaRPr>
          </a:p>
          <a:p>
            <a:endParaRPr lang="en-GB" sz="1200" dirty="0" smtClean="0">
              <a:latin typeface="Comic Sans MS" panose="030F0702030302020204" pitchFamily="66" charset="0"/>
            </a:endParaRPr>
          </a:p>
          <a:p>
            <a:r>
              <a:rPr lang="en-GB" sz="2400" dirty="0" smtClean="0">
                <a:latin typeface="Comic Sans MS" panose="030F0702030302020204" pitchFamily="66" charset="0"/>
              </a:rPr>
              <a:t>Eventually magma </a:t>
            </a:r>
            <a:r>
              <a:rPr lang="en-GB" sz="2400" dirty="0">
                <a:latin typeface="Comic Sans MS" panose="030F0702030302020204" pitchFamily="66" charset="0"/>
              </a:rPr>
              <a:t>pushes through </a:t>
            </a:r>
            <a:r>
              <a:rPr lang="en-GB" sz="2400" dirty="0" smtClean="0">
                <a:latin typeface="Comic Sans MS" panose="030F0702030302020204" pitchFamily="66" charset="0"/>
              </a:rPr>
              <a:t>vents in </a:t>
            </a:r>
            <a:r>
              <a:rPr lang="en-GB" sz="2400" dirty="0">
                <a:latin typeface="Comic Sans MS" panose="030F0702030302020204" pitchFamily="66" charset="0"/>
              </a:rPr>
              <a:t>the </a:t>
            </a:r>
            <a:r>
              <a:rPr lang="en-GB" sz="2400" dirty="0" smtClean="0">
                <a:latin typeface="Comic Sans MS" panose="030F0702030302020204" pitchFamily="66" charset="0"/>
              </a:rPr>
              <a:t>Earth's surface causing a </a:t>
            </a:r>
            <a:r>
              <a:rPr lang="en-GB" sz="2400" dirty="0">
                <a:latin typeface="Comic Sans MS" panose="030F0702030302020204" pitchFamily="66" charset="0"/>
              </a:rPr>
              <a:t>volcanic </a:t>
            </a:r>
            <a:r>
              <a:rPr lang="en-GB" sz="2400" dirty="0" smtClean="0">
                <a:latin typeface="Comic Sans MS" panose="030F0702030302020204" pitchFamily="66" charset="0"/>
              </a:rPr>
              <a:t>eruption.</a:t>
            </a:r>
          </a:p>
          <a:p>
            <a:pPr marL="0" indent="0">
              <a:buNone/>
            </a:pPr>
            <a:endParaRPr lang="en-GB" sz="1200" dirty="0" smtClean="0">
              <a:latin typeface="Comic Sans MS" panose="030F0702030302020204" pitchFamily="66" charset="0"/>
            </a:endParaRPr>
          </a:p>
          <a:p>
            <a:r>
              <a:rPr lang="en-GB" sz="2400" dirty="0" smtClean="0">
                <a:latin typeface="Comic Sans MS" panose="030F0702030302020204" pitchFamily="66" charset="0"/>
              </a:rPr>
              <a:t>The </a:t>
            </a:r>
            <a:r>
              <a:rPr lang="en-GB" sz="2400" dirty="0">
                <a:latin typeface="Comic Sans MS" panose="030F0702030302020204" pitchFamily="66" charset="0"/>
              </a:rPr>
              <a:t>magma comes out of the volcano and is now called lava.</a:t>
            </a:r>
          </a:p>
        </p:txBody>
      </p:sp>
      <p:pic>
        <p:nvPicPr>
          <p:cNvPr id="3076" name="Picture 4" descr="http://4.bp.blogspot.com/-UlYUHWTPHYs/Tg3a7iWu_8I/AAAAAAAAAEM/marSsW4t-Oo/s1600/volcanoXjup1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46" r="13550"/>
          <a:stretch/>
        </p:blipFill>
        <p:spPr bwMode="auto">
          <a:xfrm>
            <a:off x="5004048" y="836712"/>
            <a:ext cx="4104456" cy="5832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8936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40000"/>
                <a:lumOff val="60000"/>
              </a:schemeClr>
            </a:gs>
            <a:gs pos="13000">
              <a:srgbClr val="0047FF"/>
            </a:gs>
            <a:gs pos="28000">
              <a:srgbClr val="000082"/>
            </a:gs>
            <a:gs pos="42999">
              <a:srgbClr val="0047FF"/>
            </a:gs>
            <a:gs pos="58000">
              <a:srgbClr val="000082"/>
            </a:gs>
            <a:gs pos="72000">
              <a:srgbClr val="0047FF"/>
            </a:gs>
            <a:gs pos="87000">
              <a:srgbClr val="000082"/>
            </a:gs>
            <a:gs pos="100000">
              <a:srgbClr val="0047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293096"/>
            <a:ext cx="9139320" cy="3096344"/>
          </a:xfrm>
        </p:spPr>
        <p:txBody>
          <a:bodyPr>
            <a:normAutofit/>
          </a:bodyPr>
          <a:lstStyle/>
          <a:p>
            <a:r>
              <a:rPr lang="en-GB" sz="24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They </a:t>
            </a:r>
            <a:r>
              <a:rPr lang="en-GB" sz="2400" b="1" dirty="0">
                <a:solidFill>
                  <a:srgbClr val="FFFF00"/>
                </a:solidFill>
                <a:latin typeface="Comic Sans MS" panose="030F0702030302020204" pitchFamily="66" charset="0"/>
              </a:rPr>
              <a:t>form along plate boundaries called subduction zones where one of the Earth's plates moves below </a:t>
            </a:r>
            <a:r>
              <a:rPr lang="en-GB" sz="24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another.</a:t>
            </a:r>
          </a:p>
          <a:p>
            <a:pPr marL="0" indent="0">
              <a:buNone/>
            </a:pPr>
            <a:endParaRPr lang="en-GB" sz="2400" b="1" dirty="0" smtClean="0">
              <a:solidFill>
                <a:srgbClr val="FFFF00"/>
              </a:solidFill>
              <a:latin typeface="Comic Sans MS" panose="030F0702030302020204" pitchFamily="66" charset="0"/>
            </a:endParaRPr>
          </a:p>
          <a:p>
            <a:r>
              <a:rPr lang="en-GB" sz="24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In 79 AD the eruption of Vesuvius</a:t>
            </a:r>
            <a:r>
              <a:rPr lang="en-GB" sz="2400" b="1" dirty="0">
                <a:solidFill>
                  <a:srgbClr val="FFFF00"/>
                </a:solidFill>
                <a:latin typeface="Comic Sans MS" panose="030F0702030302020204" pitchFamily="66" charset="0"/>
              </a:rPr>
              <a:t>, </a:t>
            </a:r>
            <a:r>
              <a:rPr lang="en-GB" sz="24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destroyed the </a:t>
            </a:r>
            <a:r>
              <a:rPr lang="en-GB" sz="2400" b="1" dirty="0">
                <a:solidFill>
                  <a:srgbClr val="FFFF00"/>
                </a:solidFill>
                <a:latin typeface="Comic Sans MS" panose="030F0702030302020204" pitchFamily="66" charset="0"/>
              </a:rPr>
              <a:t>towns Pompeii and </a:t>
            </a:r>
            <a:r>
              <a:rPr lang="en-GB" sz="24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Herculaneum, claiming thousands </a:t>
            </a:r>
            <a:r>
              <a:rPr lang="en-GB" sz="2400" b="1" dirty="0">
                <a:solidFill>
                  <a:srgbClr val="FFFF00"/>
                </a:solidFill>
                <a:latin typeface="Comic Sans MS" panose="030F0702030302020204" pitchFamily="66" charset="0"/>
              </a:rPr>
              <a:t>of lives</a:t>
            </a:r>
          </a:p>
          <a:p>
            <a:endParaRPr lang="en-GB" b="1" dirty="0">
              <a:solidFill>
                <a:srgbClr val="FFFF00"/>
              </a:solidFill>
            </a:endParaRPr>
          </a:p>
        </p:txBody>
      </p:sp>
      <p:pic>
        <p:nvPicPr>
          <p:cNvPr id="1026" name="Picture 2" descr="http://www.weatherwizkids.com/volcano_diagra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0"/>
            <a:ext cx="4139952" cy="3917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4169" y="260648"/>
            <a:ext cx="500404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00"/>
                </a:solidFill>
                <a:latin typeface="Comic Sans MS" panose="030F0702030302020204" pitchFamily="66" charset="0"/>
              </a:rPr>
              <a:t>Composite volcanoes are steep-sided and cone-shaped</a:t>
            </a:r>
            <a:r>
              <a:rPr lang="en-GB" sz="24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.</a:t>
            </a:r>
          </a:p>
          <a:p>
            <a:endParaRPr lang="en-GB" sz="2400" b="1" dirty="0" smtClean="0">
              <a:solidFill>
                <a:srgbClr val="FFFF00"/>
              </a:solidFill>
              <a:latin typeface="Comic Sans MS" panose="030F0702030302020204" pitchFamily="66" charset="0"/>
            </a:endParaRPr>
          </a:p>
          <a:p>
            <a:endParaRPr lang="en-GB" sz="2400" b="1" dirty="0">
              <a:solidFill>
                <a:srgbClr val="FFFF00"/>
              </a:solidFill>
              <a:latin typeface="Comic Sans MS" panose="030F0702030302020204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Eruptions can be explosive, with hot ash clouds and </a:t>
            </a:r>
            <a:r>
              <a:rPr lang="en-GB" sz="24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viscous </a:t>
            </a:r>
            <a:r>
              <a:rPr lang="en-GB" sz="2400" b="1" smtClean="0">
                <a:solidFill>
                  <a:srgbClr val="FFFF00"/>
                </a:solidFill>
                <a:latin typeface="Comic Sans MS" panose="030F0702030302020204" pitchFamily="66" charset="0"/>
              </a:rPr>
              <a:t>(sticky) </a:t>
            </a:r>
            <a:r>
              <a:rPr lang="en-GB" sz="24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lava that doesn’t flow far.</a:t>
            </a:r>
            <a:endParaRPr lang="en-GB" sz="2400" b="1" dirty="0">
              <a:solidFill>
                <a:srgbClr val="FFFF00"/>
              </a:solidFill>
              <a:latin typeface="Comic Sans MS" panose="030F0702030302020204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387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771926"/>
          </a:xfrm>
        </p:spPr>
        <p:txBody>
          <a:bodyPr>
            <a:normAutofit/>
          </a:bodyPr>
          <a:lstStyle/>
          <a:p>
            <a:r>
              <a:rPr lang="en-GB" sz="3600" b="1" dirty="0" smtClean="0">
                <a:latin typeface="Comic Sans MS" panose="030F0702030302020204" pitchFamily="66" charset="0"/>
              </a:rPr>
              <a:t>Mount Vesuvius</a:t>
            </a:r>
            <a:endParaRPr lang="en-GB" sz="3600" b="1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0428" y="1406604"/>
            <a:ext cx="5283572" cy="5262756"/>
          </a:xfrm>
        </p:spPr>
        <p:txBody>
          <a:bodyPr>
            <a:normAutofit fontScale="32500" lnSpcReduction="20000"/>
          </a:bodyPr>
          <a:lstStyle/>
          <a:p>
            <a:r>
              <a:rPr lang="en-GB" sz="7400" b="1" dirty="0">
                <a:latin typeface="Comic Sans MS" panose="030F0702030302020204" pitchFamily="66" charset="0"/>
              </a:rPr>
              <a:t>Mount </a:t>
            </a:r>
            <a:r>
              <a:rPr lang="en-GB" sz="7400" b="1" dirty="0" smtClean="0">
                <a:latin typeface="Comic Sans MS" panose="030F0702030302020204" pitchFamily="66" charset="0"/>
              </a:rPr>
              <a:t>Vesuvius is a composite volcano.</a:t>
            </a:r>
          </a:p>
          <a:p>
            <a:pPr marL="0" indent="0">
              <a:buNone/>
            </a:pPr>
            <a:endParaRPr lang="en-GB" sz="3400" b="1" dirty="0" smtClean="0">
              <a:latin typeface="Comic Sans MS" panose="030F0702030302020204" pitchFamily="66" charset="0"/>
            </a:endParaRPr>
          </a:p>
          <a:p>
            <a:r>
              <a:rPr lang="en-GB" sz="6000" b="1" dirty="0" smtClean="0">
                <a:latin typeface="Comic Sans MS" panose="030F0702030302020204" pitchFamily="66" charset="0"/>
              </a:rPr>
              <a:t>Located </a:t>
            </a:r>
            <a:r>
              <a:rPr lang="en-GB" sz="6000" b="1" dirty="0">
                <a:latin typeface="Comic Sans MS" panose="030F0702030302020204" pitchFamily="66" charset="0"/>
              </a:rPr>
              <a:t>in Italy</a:t>
            </a:r>
            <a:r>
              <a:rPr lang="en-GB" sz="6000" b="1" dirty="0" smtClean="0">
                <a:latin typeface="Comic Sans MS" panose="030F0702030302020204" pitchFamily="66" charset="0"/>
              </a:rPr>
              <a:t>, </a:t>
            </a:r>
            <a:r>
              <a:rPr lang="en-GB" sz="6000" b="1" dirty="0">
                <a:latin typeface="Comic Sans MS" panose="030F0702030302020204" pitchFamily="66" charset="0"/>
              </a:rPr>
              <a:t>about 9 miles from the city of Naples</a:t>
            </a:r>
            <a:r>
              <a:rPr lang="en-GB" sz="6000" b="1" dirty="0" smtClean="0">
                <a:latin typeface="Comic Sans MS" panose="030F0702030302020204" pitchFamily="66" charset="0"/>
              </a:rPr>
              <a:t>.</a:t>
            </a:r>
          </a:p>
          <a:p>
            <a:pPr marL="0" indent="0">
              <a:buNone/>
            </a:pPr>
            <a:endParaRPr lang="en-GB" sz="3100" b="1" dirty="0">
              <a:latin typeface="Comic Sans MS" panose="030F0702030302020204" pitchFamily="66" charset="0"/>
            </a:endParaRPr>
          </a:p>
          <a:p>
            <a:r>
              <a:rPr lang="en-GB" sz="6000" b="1" dirty="0">
                <a:latin typeface="Comic Sans MS" panose="030F0702030302020204" pitchFamily="66" charset="0"/>
              </a:rPr>
              <a:t>Mount Vesuvius is about 4,190 feet high and measures about 30 miles around its base. </a:t>
            </a:r>
            <a:endParaRPr lang="en-GB" sz="6000" b="1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GB" sz="3100" b="1" dirty="0" smtClean="0">
              <a:latin typeface="Comic Sans MS" panose="030F0702030302020204" pitchFamily="66" charset="0"/>
            </a:endParaRPr>
          </a:p>
          <a:p>
            <a:r>
              <a:rPr lang="en-GB" sz="6000" b="1" dirty="0" smtClean="0">
                <a:latin typeface="Comic Sans MS" panose="030F0702030302020204" pitchFamily="66" charset="0"/>
              </a:rPr>
              <a:t>Geologists </a:t>
            </a:r>
            <a:r>
              <a:rPr lang="en-GB" sz="6000" b="1" dirty="0">
                <a:latin typeface="Comic Sans MS" panose="030F0702030302020204" pitchFamily="66" charset="0"/>
              </a:rPr>
              <a:t>estimate it to be about 17,000 years old</a:t>
            </a:r>
            <a:r>
              <a:rPr lang="en-GB" sz="6000" b="1" dirty="0" smtClean="0">
                <a:latin typeface="Comic Sans MS" panose="030F0702030302020204" pitchFamily="66" charset="0"/>
              </a:rPr>
              <a:t>.</a:t>
            </a:r>
          </a:p>
          <a:p>
            <a:pPr marL="0" indent="0">
              <a:buNone/>
            </a:pPr>
            <a:endParaRPr lang="en-GB" sz="3100" b="1" dirty="0">
              <a:latin typeface="Comic Sans MS" panose="030F0702030302020204" pitchFamily="66" charset="0"/>
            </a:endParaRPr>
          </a:p>
          <a:p>
            <a:r>
              <a:rPr lang="en-GB" sz="6000" b="1" dirty="0">
                <a:latin typeface="Comic Sans MS" panose="030F0702030302020204" pitchFamily="66" charset="0"/>
              </a:rPr>
              <a:t>Vesuvius is the only volcano on the European mainland that has erupted during the last century and is still active. </a:t>
            </a:r>
            <a:endParaRPr lang="en-GB" sz="6000" b="1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GB" sz="3100" b="1" dirty="0" smtClean="0">
              <a:latin typeface="Comic Sans MS" panose="030F0702030302020204" pitchFamily="66" charset="0"/>
            </a:endParaRPr>
          </a:p>
          <a:p>
            <a:r>
              <a:rPr lang="en-GB" sz="6000" b="1" dirty="0" smtClean="0">
                <a:latin typeface="Comic Sans MS" panose="030F0702030302020204" pitchFamily="66" charset="0"/>
              </a:rPr>
              <a:t>It </a:t>
            </a:r>
            <a:r>
              <a:rPr lang="en-GB" sz="6000" b="1" dirty="0">
                <a:latin typeface="Comic Sans MS" panose="030F0702030302020204" pitchFamily="66" charset="0"/>
              </a:rPr>
              <a:t>has erupted over 50 times during the last 2,000 years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2050" name="Picture 2" descr="http://www.buzzle.com/img/articleImages/273400-371-1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46564"/>
            <a:ext cx="3860428" cy="5766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0026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52936"/>
            <a:ext cx="8291264" cy="3672408"/>
          </a:xfrm>
        </p:spPr>
        <p:txBody>
          <a:bodyPr>
            <a:normAutofit fontScale="77500" lnSpcReduction="20000"/>
          </a:bodyPr>
          <a:lstStyle/>
          <a:p>
            <a:r>
              <a:rPr lang="en-GB" b="1" dirty="0">
                <a:latin typeface="Comic Sans MS" panose="030F0702030302020204" pitchFamily="66" charset="0"/>
              </a:rPr>
              <a:t>Shield volcanoes are usually found at constructive or tensional boundaries</a:t>
            </a:r>
            <a:r>
              <a:rPr lang="en-GB" b="1" dirty="0" smtClean="0">
                <a:latin typeface="Comic Sans MS" panose="030F0702030302020204" pitchFamily="66" charset="0"/>
              </a:rPr>
              <a:t>.</a:t>
            </a:r>
          </a:p>
          <a:p>
            <a:endParaRPr lang="en-GB" b="1" dirty="0">
              <a:latin typeface="Comic Sans MS" panose="030F0702030302020204" pitchFamily="66" charset="0"/>
            </a:endParaRPr>
          </a:p>
          <a:p>
            <a:r>
              <a:rPr lang="en-GB" b="1" dirty="0">
                <a:latin typeface="Comic Sans MS" panose="030F0702030302020204" pitchFamily="66" charset="0"/>
              </a:rPr>
              <a:t>They are low, with gently sloping sides</a:t>
            </a:r>
            <a:r>
              <a:rPr lang="en-GB" b="1" dirty="0" smtClean="0">
                <a:latin typeface="Comic Sans MS" panose="030F0702030302020204" pitchFamily="66" charset="0"/>
              </a:rPr>
              <a:t>.</a:t>
            </a:r>
          </a:p>
          <a:p>
            <a:pPr marL="0" indent="0">
              <a:buNone/>
            </a:pPr>
            <a:endParaRPr lang="en-GB" b="1" dirty="0">
              <a:latin typeface="Comic Sans MS" panose="030F0702030302020204" pitchFamily="66" charset="0"/>
            </a:endParaRPr>
          </a:p>
          <a:p>
            <a:r>
              <a:rPr lang="en-GB" b="1" dirty="0">
                <a:latin typeface="Comic Sans MS" panose="030F0702030302020204" pitchFamily="66" charset="0"/>
              </a:rPr>
              <a:t>They are formed by eruptions of thin, runny lava</a:t>
            </a:r>
            <a:r>
              <a:rPr lang="en-GB" b="1" dirty="0" smtClean="0">
                <a:latin typeface="Comic Sans MS" panose="030F0702030302020204" pitchFamily="66" charset="0"/>
              </a:rPr>
              <a:t>.</a:t>
            </a:r>
          </a:p>
          <a:p>
            <a:pPr marL="0" indent="0">
              <a:buNone/>
            </a:pPr>
            <a:endParaRPr lang="en-GB" b="1" dirty="0">
              <a:latin typeface="Comic Sans MS" panose="030F0702030302020204" pitchFamily="66" charset="0"/>
            </a:endParaRPr>
          </a:p>
          <a:p>
            <a:r>
              <a:rPr lang="en-GB" b="1" dirty="0">
                <a:latin typeface="Comic Sans MS" panose="030F0702030302020204" pitchFamily="66" charset="0"/>
              </a:rPr>
              <a:t>Eruptions tend to be frequent but relatively gentle.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3076" name="Picture 4" descr="http://www.coolgeography.co.uk/GCSE/AQA/Restless%20Earth/Volcanoes/Shield%20Volcano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139"/>
          <a:stretch/>
        </p:blipFill>
        <p:spPr bwMode="auto">
          <a:xfrm>
            <a:off x="35496" y="1341"/>
            <a:ext cx="9072031" cy="2419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78530" y="2420888"/>
            <a:ext cx="0" cy="4437112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9108504" y="0"/>
            <a:ext cx="0" cy="685800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78530" y="6858000"/>
            <a:ext cx="9028998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7570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todayinheritagehistory.files.wordpress.com/2012/02/mauna-lo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9141"/>
            <a:ext cx="9144000" cy="699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221088"/>
            <a:ext cx="9144000" cy="2708920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US" b="1" dirty="0">
                <a:solidFill>
                  <a:srgbClr val="FFFF00"/>
                </a:solidFill>
                <a:latin typeface="Comic Sans MS" panose="030F0702030302020204" pitchFamily="66" charset="0"/>
              </a:rPr>
              <a:t>Mauna Loa is a shield volcano </a:t>
            </a:r>
            <a:r>
              <a:rPr lang="en-US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and is </a:t>
            </a:r>
            <a:r>
              <a:rPr lang="en-US" b="1" dirty="0">
                <a:solidFill>
                  <a:srgbClr val="FFFF00"/>
                </a:solidFill>
                <a:latin typeface="Comic Sans MS" panose="030F0702030302020204" pitchFamily="66" charset="0"/>
              </a:rPr>
              <a:t>the largest in the </a:t>
            </a:r>
            <a:r>
              <a:rPr lang="en-US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world.</a:t>
            </a:r>
          </a:p>
          <a:p>
            <a:pPr lvl="0"/>
            <a:endParaRPr lang="en-US" sz="700" dirty="0" smtClean="0">
              <a:solidFill>
                <a:srgbClr val="FFFF00"/>
              </a:solidFill>
              <a:latin typeface="Comic Sans MS" panose="030F0702030302020204" pitchFamily="66" charset="0"/>
            </a:endParaRPr>
          </a:p>
          <a:p>
            <a:pPr lvl="0"/>
            <a:r>
              <a:rPr lang="en-US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It makes </a:t>
            </a:r>
            <a:r>
              <a:rPr lang="en-US" b="1" dirty="0">
                <a:solidFill>
                  <a:srgbClr val="FFFF00"/>
                </a:solidFill>
                <a:latin typeface="Comic Sans MS" panose="030F0702030302020204" pitchFamily="66" charset="0"/>
              </a:rPr>
              <a:t>up over half of the island of </a:t>
            </a:r>
            <a:r>
              <a:rPr lang="en-US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Hawaii</a:t>
            </a:r>
          </a:p>
          <a:p>
            <a:pPr marL="0" lvl="0" indent="0">
              <a:buNone/>
            </a:pPr>
            <a:endParaRPr lang="en-GB" sz="700" dirty="0">
              <a:solidFill>
                <a:srgbClr val="FFFF00"/>
              </a:solidFill>
              <a:latin typeface="Comic Sans MS" panose="030F0702030302020204" pitchFamily="66" charset="0"/>
            </a:endParaRPr>
          </a:p>
          <a:p>
            <a:pPr lvl="0"/>
            <a:r>
              <a:rPr lang="en-US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Mauna </a:t>
            </a:r>
            <a:r>
              <a:rPr lang="en-US" b="1" dirty="0">
                <a:solidFill>
                  <a:srgbClr val="FFFF00"/>
                </a:solidFill>
                <a:latin typeface="Comic Sans MS" panose="030F0702030302020204" pitchFamily="66" charset="0"/>
              </a:rPr>
              <a:t>Loa is an active volcano. Its last eruption was in </a:t>
            </a:r>
            <a:r>
              <a:rPr lang="en-US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1984.</a:t>
            </a:r>
          </a:p>
          <a:p>
            <a:pPr marL="0" lvl="0" indent="0">
              <a:buNone/>
            </a:pPr>
            <a:endParaRPr lang="en-GB" sz="600" dirty="0">
              <a:solidFill>
                <a:srgbClr val="FFFF00"/>
              </a:solidFill>
              <a:latin typeface="Comic Sans MS" panose="030F0702030302020204" pitchFamily="66" charset="0"/>
            </a:endParaRPr>
          </a:p>
          <a:p>
            <a:pPr lvl="0"/>
            <a:r>
              <a:rPr lang="en-US" b="1" dirty="0">
                <a:solidFill>
                  <a:srgbClr val="FFFF00"/>
                </a:solidFill>
                <a:latin typeface="Comic Sans MS" panose="030F0702030302020204" pitchFamily="66" charset="0"/>
              </a:rPr>
              <a:t>Eruptions of Mauna Loa </a:t>
            </a:r>
            <a:r>
              <a:rPr lang="en-US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feature slow moving lava flows.</a:t>
            </a:r>
          </a:p>
          <a:p>
            <a:pPr marL="0" lvl="0" indent="0">
              <a:buNone/>
            </a:pPr>
            <a:endParaRPr lang="en-GB" sz="600" dirty="0">
              <a:solidFill>
                <a:srgbClr val="FFFF00"/>
              </a:solidFill>
              <a:latin typeface="Comic Sans MS" panose="030F0702030302020204" pitchFamily="66" charset="0"/>
            </a:endParaRPr>
          </a:p>
          <a:p>
            <a:pPr lvl="0"/>
            <a:r>
              <a:rPr lang="en-US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It </a:t>
            </a:r>
            <a:r>
              <a:rPr lang="en-US" b="1" dirty="0">
                <a:solidFill>
                  <a:srgbClr val="FFFF00"/>
                </a:solidFill>
                <a:latin typeface="Comic Sans MS" panose="030F0702030302020204" pitchFamily="66" charset="0"/>
              </a:rPr>
              <a:t>has long, </a:t>
            </a:r>
            <a:r>
              <a:rPr lang="en-US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gradual </a:t>
            </a:r>
            <a:r>
              <a:rPr lang="en-US" b="1" dirty="0">
                <a:solidFill>
                  <a:srgbClr val="FFFF00"/>
                </a:solidFill>
                <a:latin typeface="Comic Sans MS" panose="030F0702030302020204" pitchFamily="66" charset="0"/>
              </a:rPr>
              <a:t>slopes that extend to the sea floor</a:t>
            </a:r>
            <a:r>
              <a:rPr lang="en-US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.</a:t>
            </a:r>
          </a:p>
          <a:p>
            <a:pPr lvl="0"/>
            <a:endParaRPr lang="en-GB" sz="600" dirty="0">
              <a:solidFill>
                <a:srgbClr val="FFFF00"/>
              </a:solidFill>
              <a:latin typeface="Comic Sans MS" panose="030F0702030302020204" pitchFamily="66" charset="0"/>
            </a:endParaRPr>
          </a:p>
          <a:p>
            <a:pPr lvl="0"/>
            <a:r>
              <a:rPr lang="en-US" b="1" dirty="0">
                <a:solidFill>
                  <a:srgbClr val="FFFF00"/>
                </a:solidFill>
                <a:latin typeface="Comic Sans MS" panose="030F0702030302020204" pitchFamily="66" charset="0"/>
              </a:rPr>
              <a:t>Mauna Loa rises from the sea </a:t>
            </a:r>
            <a:r>
              <a:rPr lang="en-US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floor to a </a:t>
            </a:r>
            <a:r>
              <a:rPr lang="en-US" b="1" dirty="0">
                <a:solidFill>
                  <a:srgbClr val="FFFF00"/>
                </a:solidFill>
                <a:latin typeface="Comic Sans MS" panose="030F0702030302020204" pitchFamily="66" charset="0"/>
              </a:rPr>
              <a:t>summit </a:t>
            </a:r>
            <a:r>
              <a:rPr lang="en-US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of 9170m. </a:t>
            </a:r>
            <a:r>
              <a:rPr lang="en-US" b="1" dirty="0">
                <a:solidFill>
                  <a:srgbClr val="FFFF00"/>
                </a:solidFill>
                <a:latin typeface="Comic Sans MS" panose="030F0702030302020204" pitchFamily="66" charset="0"/>
              </a:rPr>
              <a:t>This is greater than the height of Mount Everest</a:t>
            </a:r>
            <a:r>
              <a:rPr lang="en-US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.</a:t>
            </a:r>
            <a:endParaRPr lang="en-GB" b="1" dirty="0">
              <a:solidFill>
                <a:srgbClr val="FFFF00"/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1520" y="184284"/>
            <a:ext cx="3384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Mauna Loa</a:t>
            </a:r>
            <a:endParaRPr lang="en-GB" sz="3600" b="1" dirty="0">
              <a:solidFill>
                <a:srgbClr val="FFFF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9475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en-GB" sz="3200" b="1" dirty="0" smtClean="0">
                <a:latin typeface="Comic Sans MS" panose="030F0702030302020204" pitchFamily="66" charset="0"/>
              </a:rPr>
              <a:t>Show what you have learned</a:t>
            </a:r>
            <a:endParaRPr lang="en-GB" sz="3200" b="1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616624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en-GB" sz="2800" dirty="0" smtClean="0">
                <a:latin typeface="Comic Sans MS" panose="030F0702030302020204" pitchFamily="66" charset="0"/>
              </a:rPr>
              <a:t>Explain why volcanoes erupt.</a:t>
            </a:r>
          </a:p>
          <a:p>
            <a:pPr marL="514350" indent="-514350">
              <a:buAutoNum type="arabicPeriod"/>
            </a:pPr>
            <a:endParaRPr lang="en-GB" sz="1300" dirty="0" smtClean="0">
              <a:latin typeface="Comic Sans MS" panose="030F0702030302020204" pitchFamily="66" charset="0"/>
            </a:endParaRPr>
          </a:p>
          <a:p>
            <a:pPr marL="514350" indent="-514350">
              <a:buAutoNum type="arabicPeriod"/>
            </a:pPr>
            <a:r>
              <a:rPr lang="en-GB" sz="2800" dirty="0" smtClean="0">
                <a:latin typeface="Comic Sans MS" panose="030F0702030302020204" pitchFamily="66" charset="0"/>
              </a:rPr>
              <a:t>Draw and label a cross section of a </a:t>
            </a:r>
            <a:r>
              <a:rPr lang="en-GB" sz="2800" b="1" u="sng" dirty="0" smtClean="0">
                <a:latin typeface="Comic Sans MS" panose="030F0702030302020204" pitchFamily="66" charset="0"/>
              </a:rPr>
              <a:t>Composite</a:t>
            </a:r>
            <a:r>
              <a:rPr lang="en-GB" sz="2800" dirty="0" smtClean="0">
                <a:latin typeface="Comic Sans MS" panose="030F0702030302020204" pitchFamily="66" charset="0"/>
              </a:rPr>
              <a:t> volcano.</a:t>
            </a:r>
          </a:p>
          <a:p>
            <a:pPr marL="514350" indent="-514350">
              <a:buAutoNum type="arabicPeriod"/>
            </a:pPr>
            <a:endParaRPr lang="en-GB" sz="1300" dirty="0" smtClean="0">
              <a:latin typeface="Comic Sans MS" panose="030F0702030302020204" pitchFamily="66" charset="0"/>
            </a:endParaRPr>
          </a:p>
          <a:p>
            <a:pPr marL="514350" indent="-514350">
              <a:buAutoNum type="arabicPeriod"/>
            </a:pPr>
            <a:r>
              <a:rPr lang="en-GB" sz="2800" dirty="0" smtClean="0">
                <a:latin typeface="Comic Sans MS" panose="030F0702030302020204" pitchFamily="66" charset="0"/>
              </a:rPr>
              <a:t>Identify the type of plate boundary where </a:t>
            </a:r>
            <a:r>
              <a:rPr lang="en-GB" sz="2800" b="1" u="sng" dirty="0">
                <a:latin typeface="Comic Sans MS" panose="030F0702030302020204" pitchFamily="66" charset="0"/>
              </a:rPr>
              <a:t>C</a:t>
            </a:r>
            <a:r>
              <a:rPr lang="en-GB" sz="2800" b="1" u="sng" dirty="0" smtClean="0">
                <a:latin typeface="Comic Sans MS" panose="030F0702030302020204" pitchFamily="66" charset="0"/>
              </a:rPr>
              <a:t>omposite</a:t>
            </a:r>
            <a:r>
              <a:rPr lang="en-GB" sz="2800" dirty="0" smtClean="0">
                <a:latin typeface="Comic Sans MS" panose="030F0702030302020204" pitchFamily="66" charset="0"/>
              </a:rPr>
              <a:t> volcanoes occur.</a:t>
            </a:r>
          </a:p>
          <a:p>
            <a:pPr marL="514350" indent="-514350">
              <a:buAutoNum type="arabicPeriod"/>
            </a:pPr>
            <a:endParaRPr lang="en-GB" sz="1300" dirty="0" smtClean="0">
              <a:latin typeface="Comic Sans MS" panose="030F0702030302020204" pitchFamily="66" charset="0"/>
            </a:endParaRPr>
          </a:p>
          <a:p>
            <a:pPr marL="514350" indent="-514350">
              <a:buAutoNum type="arabicPeriod"/>
            </a:pPr>
            <a:r>
              <a:rPr lang="en-GB" sz="2800" dirty="0" smtClean="0">
                <a:latin typeface="Comic Sans MS" panose="030F0702030302020204" pitchFamily="66" charset="0"/>
              </a:rPr>
              <a:t>Draw </a:t>
            </a:r>
            <a:r>
              <a:rPr lang="en-GB" sz="2800" dirty="0">
                <a:latin typeface="Comic Sans MS" panose="030F0702030302020204" pitchFamily="66" charset="0"/>
              </a:rPr>
              <a:t>and label a cross section of a </a:t>
            </a:r>
            <a:r>
              <a:rPr lang="en-GB" sz="2800" b="1" u="sng" dirty="0" smtClean="0">
                <a:latin typeface="Comic Sans MS" panose="030F0702030302020204" pitchFamily="66" charset="0"/>
              </a:rPr>
              <a:t>Shield</a:t>
            </a:r>
            <a:r>
              <a:rPr lang="en-GB" sz="2800" dirty="0" smtClean="0">
                <a:latin typeface="Comic Sans MS" panose="030F0702030302020204" pitchFamily="66" charset="0"/>
              </a:rPr>
              <a:t> </a:t>
            </a:r>
            <a:r>
              <a:rPr lang="en-GB" sz="2800" dirty="0">
                <a:latin typeface="Comic Sans MS" panose="030F0702030302020204" pitchFamily="66" charset="0"/>
              </a:rPr>
              <a:t>volcano</a:t>
            </a:r>
            <a:r>
              <a:rPr lang="en-GB" sz="2800" dirty="0" smtClean="0">
                <a:latin typeface="Comic Sans MS" panose="030F0702030302020204" pitchFamily="66" charset="0"/>
              </a:rPr>
              <a:t>.</a:t>
            </a:r>
          </a:p>
          <a:p>
            <a:pPr marL="514350" indent="-514350">
              <a:buAutoNum type="arabicPeriod"/>
            </a:pPr>
            <a:endParaRPr lang="en-GB" sz="1300" dirty="0">
              <a:latin typeface="Comic Sans MS" panose="030F0702030302020204" pitchFamily="66" charset="0"/>
            </a:endParaRPr>
          </a:p>
          <a:p>
            <a:pPr marL="514350" indent="-514350">
              <a:buAutoNum type="arabicPeriod"/>
            </a:pPr>
            <a:r>
              <a:rPr lang="en-GB" sz="2800" dirty="0">
                <a:latin typeface="Comic Sans MS" panose="030F0702030302020204" pitchFamily="66" charset="0"/>
              </a:rPr>
              <a:t>Identify the type of plate boundary where </a:t>
            </a:r>
            <a:r>
              <a:rPr lang="en-GB" sz="2800" b="1" u="sng" dirty="0" smtClean="0">
                <a:latin typeface="Comic Sans MS" panose="030F0702030302020204" pitchFamily="66" charset="0"/>
              </a:rPr>
              <a:t>Shield</a:t>
            </a:r>
            <a:r>
              <a:rPr lang="en-GB" sz="2800" dirty="0" smtClean="0">
                <a:latin typeface="Comic Sans MS" panose="030F0702030302020204" pitchFamily="66" charset="0"/>
              </a:rPr>
              <a:t> </a:t>
            </a:r>
            <a:r>
              <a:rPr lang="en-GB" sz="2800" dirty="0">
                <a:latin typeface="Comic Sans MS" panose="030F0702030302020204" pitchFamily="66" charset="0"/>
              </a:rPr>
              <a:t>volcanoes occur</a:t>
            </a:r>
            <a:r>
              <a:rPr lang="en-GB" sz="2800" dirty="0" smtClean="0">
                <a:latin typeface="Comic Sans MS" panose="030F0702030302020204" pitchFamily="66" charset="0"/>
              </a:rPr>
              <a:t>.</a:t>
            </a:r>
          </a:p>
          <a:p>
            <a:pPr marL="514350" indent="-514350">
              <a:buAutoNum type="arabicPeriod"/>
            </a:pPr>
            <a:endParaRPr lang="en-GB" sz="1300" dirty="0" smtClean="0">
              <a:latin typeface="Comic Sans MS" panose="030F0702030302020204" pitchFamily="66" charset="0"/>
            </a:endParaRPr>
          </a:p>
          <a:p>
            <a:pPr marL="514350" indent="-514350">
              <a:buAutoNum type="arabicPeriod"/>
            </a:pPr>
            <a:r>
              <a:rPr lang="en-GB" sz="2800" dirty="0" smtClean="0">
                <a:latin typeface="Comic Sans MS" panose="030F0702030302020204" pitchFamily="66" charset="0"/>
              </a:rPr>
              <a:t>Explain the difference between a </a:t>
            </a:r>
            <a:r>
              <a:rPr lang="en-GB" sz="2800" b="1" dirty="0" smtClean="0">
                <a:latin typeface="Comic Sans MS" panose="030F0702030302020204" pitchFamily="66" charset="0"/>
              </a:rPr>
              <a:t>Composite</a:t>
            </a:r>
            <a:r>
              <a:rPr lang="en-GB" sz="2800" dirty="0" smtClean="0">
                <a:latin typeface="Comic Sans MS" panose="030F0702030302020204" pitchFamily="66" charset="0"/>
              </a:rPr>
              <a:t> and a </a:t>
            </a:r>
            <a:r>
              <a:rPr lang="en-GB" sz="2800" b="1" dirty="0" smtClean="0">
                <a:latin typeface="Comic Sans MS" panose="030F0702030302020204" pitchFamily="66" charset="0"/>
              </a:rPr>
              <a:t>Shield</a:t>
            </a:r>
            <a:r>
              <a:rPr lang="en-GB" sz="2800" dirty="0" smtClean="0">
                <a:latin typeface="Comic Sans MS" panose="030F0702030302020204" pitchFamily="66" charset="0"/>
              </a:rPr>
              <a:t> volcano.</a:t>
            </a:r>
            <a:endParaRPr lang="en-GB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256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352</Words>
  <Application>Microsoft Office PowerPoint</Application>
  <PresentationFormat>On-screen Show (4:3)</PresentationFormat>
  <Paragraphs>72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3.Volcanoes</vt:lpstr>
      <vt:lpstr>3. Volcanoes </vt:lpstr>
      <vt:lpstr>PowerPoint Presentation</vt:lpstr>
      <vt:lpstr>Why do Volcanoes erupt?</vt:lpstr>
      <vt:lpstr>PowerPoint Presentation</vt:lpstr>
      <vt:lpstr>Mount Vesuvius</vt:lpstr>
      <vt:lpstr>PowerPoint Presentation</vt:lpstr>
      <vt:lpstr>PowerPoint Presentation</vt:lpstr>
      <vt:lpstr>Show what you have learned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3.Volcanoes</dc:title>
  <dc:creator>user</dc:creator>
  <cp:lastModifiedBy>David Parker</cp:lastModifiedBy>
  <cp:revision>28</cp:revision>
  <dcterms:created xsi:type="dcterms:W3CDTF">2014-01-26T20:12:29Z</dcterms:created>
  <dcterms:modified xsi:type="dcterms:W3CDTF">2015-08-24T20:29:29Z</dcterms:modified>
</cp:coreProperties>
</file>
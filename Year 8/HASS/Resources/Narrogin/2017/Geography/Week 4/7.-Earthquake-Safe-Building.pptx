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4" r:id="rId2"/>
    <p:sldId id="268" r:id="rId3"/>
    <p:sldId id="263" r:id="rId4"/>
    <p:sldId id="270" r:id="rId5"/>
    <p:sldId id="257" r:id="rId6"/>
    <p:sldId id="259" r:id="rId7"/>
    <p:sldId id="265" r:id="rId8"/>
    <p:sldId id="266" r:id="rId9"/>
    <p:sldId id="267" r:id="rId10"/>
    <p:sldId id="269" r:id="rId11"/>
    <p:sldId id="271" r:id="rId12"/>
    <p:sldId id="258" r:id="rId13"/>
    <p:sldId id="261" r:id="rId14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99"/>
    <a:srgbClr val="CCDA46"/>
    <a:srgbClr val="00FF00"/>
    <a:srgbClr val="FFFF66"/>
    <a:srgbClr val="FF7C80"/>
    <a:srgbClr val="D1F3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3" autoAdjust="0"/>
    <p:restoredTop sz="93961" autoAdjust="0"/>
  </p:normalViewPr>
  <p:slideViewPr>
    <p:cSldViewPr>
      <p:cViewPr>
        <p:scale>
          <a:sx n="70" d="100"/>
          <a:sy n="70" d="100"/>
        </p:scale>
        <p:origin x="-137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20896-C670-4D6E-AE02-A259E232F675}" type="datetimeFigureOut">
              <a:rPr lang="en-GB" smtClean="0"/>
              <a:t>24/08/2015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18B790-11A4-41EF-A66B-F2FDD2CF2E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9892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18B790-11A4-41EF-A66B-F2FDD2CF2ED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896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AA03B0-2188-4321-B29D-263E9FC74FF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22154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B5D24F-C455-47D1-B50A-309C8428FE5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63992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598524-DBF7-4C77-8CB1-7BDE56E6EAC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47169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1525F-F8E9-40E9-AC65-889B3EB757E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64692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B8F028-2C81-4B78-B64C-0CD9EA80F9C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3856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A24C3E-9641-46A1-AAEC-DB57431A19F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41862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D42738-036A-440B-8489-EBB0526596F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2697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76C4E1-6EE5-4C1F-B817-12F7FC65D56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19851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5689AE-04E9-4B21-A7F9-A98ED8624CD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73001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8D22D1-A0B9-4C11-B881-A18203A93A4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70846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520A63-2660-4015-9300-D974AECBB65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41428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8578997-856F-46E2-AF06-B4005449288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8854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text styles</a:t>
            </a:r>
          </a:p>
          <a:p>
            <a:pPr lvl="1"/>
            <a:r>
              <a:rPr lang="en-GB" altLang="en-US" smtClean="0"/>
              <a:t>Second level</a:t>
            </a:r>
          </a:p>
          <a:p>
            <a:pPr lvl="2"/>
            <a:r>
              <a:rPr lang="en-GB" altLang="en-US" smtClean="0"/>
              <a:t>Third level</a:t>
            </a:r>
          </a:p>
          <a:p>
            <a:pPr lvl="3"/>
            <a:r>
              <a:rPr lang="en-GB" altLang="en-US" smtClean="0"/>
              <a:t>Fourth level</a:t>
            </a:r>
          </a:p>
          <a:p>
            <a:pPr lvl="4"/>
            <a:r>
              <a:rPr lang="en-GB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GB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GB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264BCCF-D14D-4194-9C12-9E7D19EAA90C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6" name="Picture 6" descr="http://2.bp.blogspot.com/-ee9H0QjGSEY/Tjmbfl2lQTI/AAAAAAAAALo/F9nOpqJo504/s1600/home-Earthquake-resistant-0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510" y="3534"/>
            <a:ext cx="9162510" cy="6854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38334" y="6002856"/>
            <a:ext cx="9182334" cy="846524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r>
              <a:rPr lang="en-GB" sz="4000" dirty="0" smtClean="0">
                <a:solidFill>
                  <a:schemeClr val="tx1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7</a:t>
            </a:r>
            <a:r>
              <a:rPr lang="en-GB" sz="6000" dirty="0" smtClean="0">
                <a:solidFill>
                  <a:schemeClr val="tx1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. </a:t>
            </a:r>
            <a:r>
              <a:rPr lang="en-GB" sz="3600" dirty="0" smtClean="0">
                <a:solidFill>
                  <a:schemeClr val="tx1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Design an earthquake </a:t>
            </a:r>
            <a:r>
              <a:rPr lang="en-GB" sz="3600" dirty="0" smtClean="0">
                <a:solidFill>
                  <a:schemeClr val="tx1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safe</a:t>
            </a:r>
            <a:r>
              <a:rPr lang="en-GB" sz="3600" dirty="0" smtClean="0">
                <a:solidFill>
                  <a:schemeClr val="tx1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 </a:t>
            </a:r>
            <a:r>
              <a:rPr lang="en-GB" sz="3600" dirty="0" smtClean="0">
                <a:solidFill>
                  <a:schemeClr val="tx1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building</a:t>
            </a:r>
            <a:endParaRPr lang="en-GB" sz="3600" dirty="0">
              <a:solidFill>
                <a:schemeClr val="tx1"/>
              </a:solidFill>
              <a:latin typeface="Comic Sans MS" panose="030F0702030302020204" pitchFamily="66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68015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095" y="503675"/>
            <a:ext cx="8190910" cy="765085"/>
          </a:xfrm>
        </p:spPr>
        <p:txBody>
          <a:bodyPr/>
          <a:lstStyle/>
          <a:p>
            <a:r>
              <a:rPr lang="en-GB" sz="3200" b="1" dirty="0">
                <a:solidFill>
                  <a:schemeClr val="tx1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7. Design an earthquake </a:t>
            </a:r>
            <a:r>
              <a:rPr lang="en-GB" sz="3200" b="1" dirty="0" smtClean="0">
                <a:solidFill>
                  <a:schemeClr val="tx1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safe </a:t>
            </a:r>
            <a:r>
              <a:rPr lang="en-GB" sz="3200" b="1" dirty="0">
                <a:solidFill>
                  <a:schemeClr val="tx1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building</a:t>
            </a:r>
            <a:endParaRPr lang="en-GB" sz="3200" b="1" dirty="0"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555" y="1538790"/>
            <a:ext cx="810090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By the end of the lesson you should be able to: </a:t>
            </a:r>
          </a:p>
          <a:p>
            <a:endParaRPr lang="en-GB" sz="4000" b="1" dirty="0">
              <a:latin typeface="Comic Sans MS" panose="030F0702030302020204" pitchFamily="66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 smtClean="0">
                <a:latin typeface="Comic Sans MS" panose="030F0702030302020204" pitchFamily="66" charset="0"/>
              </a:rPr>
              <a:t>Identify a successful design for an earthquake </a:t>
            </a:r>
            <a:r>
              <a:rPr lang="en-GB" dirty="0" smtClean="0">
                <a:latin typeface="Comic Sans MS" panose="030F0702030302020204" pitchFamily="66" charset="0"/>
              </a:rPr>
              <a:t>safe </a:t>
            </a:r>
            <a:r>
              <a:rPr lang="en-GB" dirty="0" smtClean="0">
                <a:latin typeface="Comic Sans MS" panose="030F0702030302020204" pitchFamily="66" charset="0"/>
              </a:rPr>
              <a:t>building and list the construction materials that could be used.</a:t>
            </a:r>
          </a:p>
          <a:p>
            <a:endParaRPr lang="en-GB" dirty="0" smtClean="0">
              <a:latin typeface="Comic Sans MS" panose="030F0702030302020204" pitchFamily="66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 smtClean="0">
                <a:latin typeface="Comic Sans MS" panose="030F0702030302020204" pitchFamily="66" charset="0"/>
              </a:rPr>
              <a:t>Show how people inside and outside the building will be safer during an earthquake.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dirty="0" smtClean="0">
              <a:latin typeface="Comic Sans MS" panose="030F0702030302020204" pitchFamily="66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 smtClean="0">
                <a:latin typeface="Comic Sans MS" panose="030F0702030302020204" pitchFamily="66" charset="0"/>
              </a:rPr>
              <a:t>Explain how water, electricity and gas supplies could be protected from earthquake damage.</a:t>
            </a:r>
          </a:p>
        </p:txBody>
      </p:sp>
    </p:spTree>
    <p:extLst>
      <p:ext uri="{BB962C8B-B14F-4D97-AF65-F5344CB8AC3E}">
        <p14:creationId xmlns:p14="http://schemas.microsoft.com/office/powerpoint/2010/main" val="2474587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5157065" y="998730"/>
            <a:ext cx="2745305" cy="1785104"/>
          </a:xfrm>
          <a:prstGeom prst="rect">
            <a:avLst/>
          </a:prstGeom>
          <a:solidFill>
            <a:srgbClr val="FFFF00"/>
          </a:solidFill>
          <a:ln w="38100">
            <a:solidFill>
              <a:schemeClr val="accent2">
                <a:lumMod val="75000"/>
              </a:schemeClr>
            </a:solidFill>
          </a:ln>
          <a:effectLst/>
          <a:ex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000" b="1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</a:rPr>
              <a:t>San Francisco, 1989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b="1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</a:rPr>
              <a:t>67 dead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b="1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</a:rPr>
              <a:t>2,000 homeless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b="1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</a:rPr>
              <a:t>6.9 Richter scale</a:t>
            </a:r>
            <a:endParaRPr lang="en-GB" altLang="en-US" sz="2000" b="1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1241630" y="3789040"/>
            <a:ext cx="2835315" cy="1785104"/>
          </a:xfrm>
          <a:prstGeom prst="rect">
            <a:avLst/>
          </a:prstGeom>
          <a:solidFill>
            <a:srgbClr val="C0000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000" b="1" dirty="0">
                <a:solidFill>
                  <a:srgbClr val="FFFF00"/>
                </a:solidFill>
                <a:latin typeface="Comic Sans MS" panose="030F0702030302020204" pitchFamily="66" charset="0"/>
              </a:rPr>
              <a:t>Bam, Iran, 2003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b="1" dirty="0">
                <a:solidFill>
                  <a:srgbClr val="FFFF00"/>
                </a:solidFill>
                <a:latin typeface="Comic Sans MS" panose="030F0702030302020204" pitchFamily="66" charset="0"/>
              </a:rPr>
              <a:t>30,000 dead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b="1" dirty="0">
                <a:solidFill>
                  <a:srgbClr val="FFFF00"/>
                </a:solidFill>
                <a:latin typeface="Comic Sans MS" panose="030F0702030302020204" pitchFamily="66" charset="0"/>
              </a:rPr>
              <a:t>70,000 homeless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b="1" dirty="0">
                <a:solidFill>
                  <a:srgbClr val="FFFF00"/>
                </a:solidFill>
                <a:latin typeface="Comic Sans MS" panose="030F0702030302020204" pitchFamily="66" charset="0"/>
              </a:rPr>
              <a:t>6.7 Richter scale</a:t>
            </a:r>
            <a:r>
              <a:rPr lang="en-US" altLang="en-US" sz="2000" b="1" dirty="0">
                <a:solidFill>
                  <a:schemeClr val="bg1"/>
                </a:solidFill>
                <a:latin typeface="Comic Sans MS" panose="030F0702030302020204" pitchFamily="66" charset="0"/>
              </a:rPr>
              <a:t>.</a:t>
            </a:r>
            <a:endParaRPr lang="en-GB" altLang="en-US" sz="2000" b="1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02432" y="278650"/>
            <a:ext cx="8068234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GB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Similar sized earthquakes but very different results</a:t>
            </a:r>
            <a:endParaRPr lang="en-GB" b="1" dirty="0">
              <a:solidFill>
                <a:srgbClr val="FFFF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2050" name="Picture 2" descr="http://www.gg2.net/newImage/original/1366290682_Quake%20Maskheel%20debri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531" y="3203975"/>
            <a:ext cx="3666404" cy="2530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upload.wikimedia.org/wikipedia/commons/thumb/8/86/022srUSGSCyprusVia.jpg/220px-022srUSGSCyprusVi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97" y="1026402"/>
            <a:ext cx="3575248" cy="2421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66555" y="5988477"/>
            <a:ext cx="7650850" cy="707886"/>
          </a:xfrm>
          <a:prstGeom prst="rect">
            <a:avLst/>
          </a:prstGeom>
          <a:solidFill>
            <a:srgbClr val="92D050"/>
          </a:solidFill>
          <a:ln w="38100">
            <a:solidFill>
              <a:schemeClr val="accent4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Comic Sans MS" panose="030F0702030302020204" pitchFamily="66" charset="0"/>
              </a:rPr>
              <a:t>Although the earthquake in Bam was slightly smaller  it killed 70,000 people compared to 67 in San Francisco,  but why?</a:t>
            </a:r>
            <a:endParaRPr lang="en-GB" sz="20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animBg="1"/>
      <p:bldP spid="9221" grpId="0" animBg="1"/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://www.google.co.uk/url?sa=i&amp;source=images&amp;cd=&amp;docid=Gdt4v4Us-pYf3M&amp;tbnid=0776WFGNhsr_oM&amp;ved=0CAUQjBw&amp;url=http%3A%2F%2Fnewsimg.bbc.co.uk%2Fmedia%2Fimages%2F39695000%2Fgif%2F_39695683_bam_house_inf_416.gif&amp;ei=rVo4U6fyMq3X7AaEwoGYCA&amp;psig=AFQjCNGfG5qwiaqarF6nszpGuGA91mtaIw&amp;ust=1396288557918724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" name="AutoShape 4" descr="http://www.google.co.uk/url?sa=i&amp;source=images&amp;cd=&amp;docid=Gdt4v4Us-pYf3M&amp;tbnid=0776WFGNhsr_oM&amp;ved=0CAUQjBw&amp;url=http%3A%2F%2Fnewsimg.bbc.co.uk%2Fmedia%2Fimages%2F39695000%2Fgif%2F_39695683_bam_house_inf_416.gif&amp;ei=rVo4U6fyMq3X7AaEwoGYCA&amp;psig=AFQjCNGfG5qwiaqarF6nszpGuGA91mtaIw&amp;ust=1396288557918724"/>
          <p:cNvSpPr>
            <a:spLocks noChangeAspect="1" noChangeArrowheads="1"/>
          </p:cNvSpPr>
          <p:nvPr/>
        </p:nvSpPr>
        <p:spPr bwMode="auto">
          <a:xfrm>
            <a:off x="215900" y="15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30" name="Picture 6" descr="Diagram showing how some houses in Bam were built, BBC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3" t="26932"/>
          <a:stretch/>
        </p:blipFill>
        <p:spPr bwMode="auto">
          <a:xfrm>
            <a:off x="2096725" y="2033516"/>
            <a:ext cx="7047275" cy="329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667547" y="5324782"/>
            <a:ext cx="2925325" cy="584775"/>
          </a:xfrm>
          <a:prstGeom prst="rect">
            <a:avLst/>
          </a:prstGeom>
          <a:solidFill>
            <a:srgbClr val="FF0000"/>
          </a:solidFill>
          <a:ln w="381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Earthquake causes bricks to separate and crumble</a:t>
            </a:r>
            <a:endParaRPr lang="en-GB" sz="1600" dirty="0">
              <a:solidFill>
                <a:srgbClr val="FFFF00"/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82090" y="2152599"/>
            <a:ext cx="2070230" cy="584775"/>
          </a:xfrm>
          <a:prstGeom prst="rect">
            <a:avLst/>
          </a:prstGeom>
          <a:solidFill>
            <a:srgbClr val="FFFF00"/>
          </a:solidFill>
          <a:ln w="381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 smtClean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</a:rPr>
              <a:t>Roof and girders crush floors below</a:t>
            </a:r>
            <a:r>
              <a:rPr lang="en-GB" sz="1600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.</a:t>
            </a:r>
            <a:endParaRPr lang="en-GB" sz="1600" dirty="0">
              <a:solidFill>
                <a:srgbClr val="FFFF00"/>
              </a:solidFill>
              <a:latin typeface="Comic Sans MS" panose="030F0702030302020204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6676" y="1387514"/>
            <a:ext cx="2160239" cy="58477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Heavy roof sealed with cement.</a:t>
            </a:r>
            <a:endParaRPr lang="en-GB" sz="1600" dirty="0">
              <a:solidFill>
                <a:srgbClr val="FFFF00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91932" y="354103"/>
            <a:ext cx="6665433" cy="523220"/>
          </a:xfrm>
          <a:prstGeom prst="rect">
            <a:avLst/>
          </a:prstGeom>
          <a:solidFill>
            <a:srgbClr val="00B0F0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>
                <a:solidFill>
                  <a:schemeClr val="bg1">
                    <a:lumMod val="95000"/>
                  </a:schemeClr>
                </a:solidFill>
                <a:latin typeface="Comic Sans MS" panose="030F0702030302020204" pitchFamily="66" charset="0"/>
              </a:rPr>
              <a:t>Traditional Houses in Bam</a:t>
            </a:r>
            <a:endParaRPr lang="en-GB" sz="2800" b="1" dirty="0">
              <a:solidFill>
                <a:schemeClr val="bg1">
                  <a:lumMod val="9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5298" y="2304165"/>
            <a:ext cx="1521427" cy="584775"/>
          </a:xfrm>
          <a:prstGeom prst="rect">
            <a:avLst/>
          </a:prstGeom>
          <a:solidFill>
            <a:srgbClr val="FF0000"/>
          </a:solidFill>
          <a:ln w="381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Steel roof girders</a:t>
            </a:r>
            <a:endParaRPr lang="en-GB" sz="1600" dirty="0">
              <a:solidFill>
                <a:srgbClr val="FFFF00"/>
              </a:solidFill>
              <a:latin typeface="Comic Sans MS" panose="030F0702030302020204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1510" y="3138063"/>
            <a:ext cx="2060844" cy="830997"/>
          </a:xfrm>
          <a:prstGeom prst="rect">
            <a:avLst/>
          </a:prstGeom>
          <a:solidFill>
            <a:schemeClr val="accent3">
              <a:lumMod val="65000"/>
            </a:schemeClr>
          </a:solidFill>
          <a:ln w="38100">
            <a:solidFill>
              <a:schemeClr val="accent4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 smtClean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</a:rPr>
              <a:t>Extra floor added to increase living space.</a:t>
            </a:r>
            <a:endParaRPr lang="en-GB" sz="16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96725" y="5021564"/>
            <a:ext cx="2025225" cy="615553"/>
          </a:xfrm>
          <a:prstGeom prst="rect">
            <a:avLst/>
          </a:prstGeom>
          <a:solidFill>
            <a:srgbClr val="99FF99"/>
          </a:solidFill>
          <a:ln w="381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800" dirty="0" smtClean="0">
                <a:solidFill>
                  <a:srgbClr val="C00000"/>
                </a:solidFill>
                <a:latin typeface="Comic Sans MS" panose="030F0702030302020204" pitchFamily="66" charset="0"/>
              </a:rPr>
              <a:t>M</a:t>
            </a:r>
            <a:r>
              <a:rPr lang="en-GB" sz="1600" dirty="0" smtClean="0">
                <a:solidFill>
                  <a:srgbClr val="C00000"/>
                </a:solidFill>
                <a:latin typeface="Comic Sans MS" panose="030F0702030302020204" pitchFamily="66" charset="0"/>
              </a:rPr>
              <a:t>ud brick walls, no support beams</a:t>
            </a:r>
            <a:endParaRPr lang="en-GB" sz="1600" dirty="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440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4955"/>
            <a:ext cx="4571999" cy="1253805"/>
          </a:xfrm>
          <a:solidFill>
            <a:schemeClr val="accent2"/>
          </a:solidFill>
        </p:spPr>
        <p:txBody>
          <a:bodyPr/>
          <a:lstStyle/>
          <a:p>
            <a:r>
              <a:rPr lang="en-GB" altLang="en-US" sz="2800" b="1" dirty="0">
                <a:solidFill>
                  <a:srgbClr val="FFFF00"/>
                </a:solidFill>
                <a:latin typeface="Comic Sans MS" panose="030F0702030302020204" pitchFamily="66" charset="0"/>
              </a:rPr>
              <a:t>An </a:t>
            </a:r>
            <a:r>
              <a:rPr lang="en-GB" altLang="en-US" sz="28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earthquake </a:t>
            </a:r>
            <a:r>
              <a:rPr lang="en-GB" altLang="en-US" sz="28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safe building </a:t>
            </a:r>
            <a:r>
              <a:rPr lang="en-GB" altLang="en-US" sz="28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in San Francisco</a:t>
            </a:r>
            <a:endParaRPr lang="en-GB" altLang="en-US" sz="2800" b="1" dirty="0">
              <a:solidFill>
                <a:srgbClr val="FFFF00"/>
              </a:solidFill>
              <a:latin typeface="Comic Sans MS" panose="030F0702030302020204" pitchFamily="66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6505" y="1673805"/>
            <a:ext cx="4410490" cy="4467200"/>
          </a:xfrm>
        </p:spPr>
        <p:txBody>
          <a:bodyPr/>
          <a:lstStyle/>
          <a:p>
            <a:pPr marL="0" lvl="1" indent="0">
              <a:lnSpc>
                <a:spcPct val="90000"/>
              </a:lnSpc>
              <a:buNone/>
            </a:pPr>
            <a:r>
              <a:rPr lang="en-GB" altLang="en-US" sz="2600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The </a:t>
            </a:r>
            <a:r>
              <a:rPr lang="en-GB" altLang="en-US" sz="26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Transamerica Pyramid </a:t>
            </a:r>
            <a:r>
              <a:rPr lang="en-GB" altLang="en-US" sz="2600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in </a:t>
            </a:r>
            <a:r>
              <a:rPr lang="en-GB" altLang="en-US" sz="26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San Francisco</a:t>
            </a:r>
            <a:r>
              <a:rPr lang="en-GB" altLang="en-US" sz="2600" dirty="0">
                <a:solidFill>
                  <a:srgbClr val="FFFF00"/>
                </a:solidFill>
                <a:latin typeface="Comic Sans MS" panose="030F0702030302020204" pitchFamily="66" charset="0"/>
              </a:rPr>
              <a:t> </a:t>
            </a:r>
            <a:r>
              <a:rPr lang="en-GB" altLang="en-US" sz="2600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was built to withstand earthquakes.</a:t>
            </a:r>
          </a:p>
          <a:p>
            <a:pPr marL="0" lvl="1" indent="0">
              <a:lnSpc>
                <a:spcPct val="90000"/>
              </a:lnSpc>
              <a:buNone/>
            </a:pPr>
            <a:endParaRPr lang="en-GB" altLang="en-US" sz="2400" dirty="0" smtClean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pPr marL="0" lvl="1" indent="0">
              <a:lnSpc>
                <a:spcPct val="90000"/>
              </a:lnSpc>
              <a:buNone/>
            </a:pPr>
            <a:r>
              <a:rPr lang="en-GB" altLang="en-US" sz="2600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In the 1989 earthquake it swayed more than 1 foot but was not damaged.</a:t>
            </a:r>
          </a:p>
          <a:p>
            <a:pPr marL="0" lvl="1" indent="0">
              <a:lnSpc>
                <a:spcPct val="90000"/>
              </a:lnSpc>
              <a:buNone/>
            </a:pPr>
            <a:endParaRPr lang="en-GB" altLang="en-US" sz="2400" dirty="0" smtClean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pPr marL="0" lvl="1" indent="0">
              <a:lnSpc>
                <a:spcPct val="90000"/>
              </a:lnSpc>
              <a:buNone/>
            </a:pPr>
            <a:r>
              <a:rPr lang="en-GB" altLang="en-US" sz="2600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It is built on very solid ground that is less likely to fracture during an earthquake.</a:t>
            </a:r>
            <a:endParaRPr lang="en-GB" altLang="en-US" sz="2600" dirty="0">
              <a:solidFill>
                <a:srgbClr val="FFFF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3079" name="Picture 7" descr="photos_bigger4"/>
          <p:cNvPicPr>
            <a:picLocks noGrp="1" noChangeAspect="1" noChangeArrowheads="1"/>
          </p:cNvPicPr>
          <p:nvPr>
            <p:ph type="clipArt"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10" r="7068"/>
          <a:stretch/>
        </p:blipFill>
        <p:spPr>
          <a:xfrm>
            <a:off x="4576961" y="0"/>
            <a:ext cx="4567039" cy="6858000"/>
          </a:xfrm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3989388" y="2738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grpSp>
        <p:nvGrpSpPr>
          <p:cNvPr id="5128" name="Group 8"/>
          <p:cNvGrpSpPr>
            <a:grpSpLocks/>
          </p:cNvGrpSpPr>
          <p:nvPr/>
        </p:nvGrpSpPr>
        <p:grpSpPr bwMode="auto">
          <a:xfrm>
            <a:off x="5532438" y="2738438"/>
            <a:ext cx="6057900" cy="0"/>
            <a:chOff x="0" y="0"/>
            <a:chExt cx="3816" cy="0"/>
          </a:xfrm>
        </p:grpSpPr>
        <p:sp>
          <p:nvSpPr>
            <p:cNvPr id="5123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3816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grpSp>
          <p:nvGrpSpPr>
            <p:cNvPr id="5127" name="Group 7"/>
            <p:cNvGrpSpPr>
              <a:grpSpLocks/>
            </p:cNvGrpSpPr>
            <p:nvPr/>
          </p:nvGrpSpPr>
          <p:grpSpPr bwMode="auto">
            <a:xfrm>
              <a:off x="0" y="0"/>
              <a:ext cx="3816" cy="0"/>
              <a:chOff x="0" y="0"/>
              <a:chExt cx="3816" cy="0"/>
            </a:xfrm>
          </p:grpSpPr>
          <p:sp>
            <p:nvSpPr>
              <p:cNvPr id="5126" name="Rectangl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16" cy="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24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16" cy="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GB"/>
              </a:p>
            </p:txBody>
          </p:sp>
        </p:grpSp>
      </p:grp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3989388" y="2738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grpSp>
        <p:nvGrpSpPr>
          <p:cNvPr id="5135" name="Group 15"/>
          <p:cNvGrpSpPr>
            <a:grpSpLocks/>
          </p:cNvGrpSpPr>
          <p:nvPr/>
        </p:nvGrpSpPr>
        <p:grpSpPr bwMode="auto">
          <a:xfrm>
            <a:off x="5532438" y="2738438"/>
            <a:ext cx="6057900" cy="0"/>
            <a:chOff x="0" y="0"/>
            <a:chExt cx="3816" cy="0"/>
          </a:xfrm>
        </p:grpSpPr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0" y="0"/>
              <a:ext cx="3816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grpSp>
          <p:nvGrpSpPr>
            <p:cNvPr id="5134" name="Group 14"/>
            <p:cNvGrpSpPr>
              <a:grpSpLocks/>
            </p:cNvGrpSpPr>
            <p:nvPr/>
          </p:nvGrpSpPr>
          <p:grpSpPr bwMode="auto">
            <a:xfrm>
              <a:off x="0" y="0"/>
              <a:ext cx="3816" cy="0"/>
              <a:chOff x="0" y="0"/>
              <a:chExt cx="3816" cy="0"/>
            </a:xfrm>
          </p:grpSpPr>
          <p:sp>
            <p:nvSpPr>
              <p:cNvPr id="5133" name="Rectangle 1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16" cy="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31" name="Rectangle 1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16" cy="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GB"/>
              </a:p>
            </p:txBody>
          </p:sp>
        </p:grpSp>
      </p:grpSp>
      <p:pic>
        <p:nvPicPr>
          <p:cNvPr id="5132" name="Picture 12" descr="bi_ani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828020"/>
            <a:ext cx="385127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6" name="Rectangle 16"/>
          <p:cNvSpPr>
            <a:spLocks noChangeArrowheads="1"/>
          </p:cNvSpPr>
          <p:nvPr/>
        </p:nvSpPr>
        <p:spPr bwMode="auto">
          <a:xfrm>
            <a:off x="0" y="271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grpSp>
        <p:nvGrpSpPr>
          <p:cNvPr id="5142" name="Group 22"/>
          <p:cNvGrpSpPr>
            <a:grpSpLocks/>
          </p:cNvGrpSpPr>
          <p:nvPr/>
        </p:nvGrpSpPr>
        <p:grpSpPr bwMode="auto">
          <a:xfrm>
            <a:off x="457200" y="-2286000"/>
            <a:ext cx="6057900" cy="1417637"/>
            <a:chOff x="0" y="0"/>
            <a:chExt cx="3816" cy="893"/>
          </a:xfrm>
        </p:grpSpPr>
        <p:sp>
          <p:nvSpPr>
            <p:cNvPr id="5137" name="Rectangle 17"/>
            <p:cNvSpPr>
              <a:spLocks noChangeArrowheads="1"/>
            </p:cNvSpPr>
            <p:nvPr/>
          </p:nvSpPr>
          <p:spPr bwMode="auto">
            <a:xfrm>
              <a:off x="0" y="0"/>
              <a:ext cx="3816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GB"/>
            </a:p>
          </p:txBody>
        </p:sp>
        <p:grpSp>
          <p:nvGrpSpPr>
            <p:cNvPr id="5141" name="Group 21"/>
            <p:cNvGrpSpPr>
              <a:grpSpLocks/>
            </p:cNvGrpSpPr>
            <p:nvPr/>
          </p:nvGrpSpPr>
          <p:grpSpPr bwMode="auto">
            <a:xfrm>
              <a:off x="0" y="0"/>
              <a:ext cx="3816" cy="893"/>
              <a:chOff x="0" y="0"/>
              <a:chExt cx="3816" cy="893"/>
            </a:xfrm>
          </p:grpSpPr>
          <p:sp>
            <p:nvSpPr>
              <p:cNvPr id="5140" name="Rectangle 2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16" cy="89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38" name="Rectangle 1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16" cy="89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 altLang="en-US"/>
                  <a:t>  </a:t>
                </a:r>
                <a:r>
                  <a:rPr lang="en-GB" altLang="en-US" sz="8700"/>
                  <a:t> </a:t>
                </a:r>
                <a:r>
                  <a:rPr lang="en-GB" altLang="en-US"/>
                  <a:t>           </a:t>
                </a:r>
              </a:p>
            </p:txBody>
          </p:sp>
        </p:grpSp>
      </p:grpSp>
      <p:sp>
        <p:nvSpPr>
          <p:cNvPr id="5143" name="Rectangle 23"/>
          <p:cNvSpPr>
            <a:spLocks noChangeArrowheads="1"/>
          </p:cNvSpPr>
          <p:nvPr/>
        </p:nvSpPr>
        <p:spPr bwMode="auto">
          <a:xfrm>
            <a:off x="0" y="271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pic>
        <p:nvPicPr>
          <p:cNvPr id="5146" name="Picture 26" descr="nobi_ani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2" y="836630"/>
            <a:ext cx="4300538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50" name="Text Box 30"/>
          <p:cNvSpPr txBox="1">
            <a:spLocks noChangeArrowheads="1"/>
          </p:cNvSpPr>
          <p:nvPr/>
        </p:nvSpPr>
        <p:spPr bwMode="auto">
          <a:xfrm>
            <a:off x="0" y="304800"/>
            <a:ext cx="914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800" b="1" dirty="0">
                <a:latin typeface="Comic Sans MS" panose="030F0702030302020204" pitchFamily="66" charset="0"/>
              </a:rPr>
              <a:t>Two ways a building can withstand an Earthquake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80020" y="5608692"/>
            <a:ext cx="4121950" cy="923330"/>
          </a:xfrm>
          <a:prstGeom prst="rect">
            <a:avLst/>
          </a:prstGeom>
          <a:solidFill>
            <a:schemeClr val="accent2"/>
          </a:solidFill>
          <a:ln w="571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GB" sz="18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The foundations are solid but the building moves so it doesn’t fracture during an earthquake.</a:t>
            </a:r>
            <a:endParaRPr lang="en-GB" sz="1800" b="1" dirty="0">
              <a:solidFill>
                <a:srgbClr val="FFFF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28117" y="5611015"/>
            <a:ext cx="3719358" cy="923330"/>
          </a:xfrm>
          <a:prstGeom prst="rect">
            <a:avLst/>
          </a:prstGeom>
          <a:solidFill>
            <a:srgbClr val="FFFF00"/>
          </a:solidFill>
          <a:ln w="381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800" b="1" dirty="0" smtClean="0">
                <a:solidFill>
                  <a:srgbClr val="002060"/>
                </a:solidFill>
                <a:latin typeface="Comic Sans MS" panose="030F0702030302020204" pitchFamily="66" charset="0"/>
              </a:rPr>
              <a:t>The building is solid but the foundations move so it doesn’t fracture during an earthquake.</a:t>
            </a:r>
            <a:endParaRPr lang="en-GB" sz="1800" b="1" dirty="0">
              <a:solidFill>
                <a:srgbClr val="00206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www.eclp.com.na/resources11_12/socialsciences/geography/module1/images/build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510" y="0"/>
            <a:ext cx="724580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27296" y="1490008"/>
            <a:ext cx="1916704" cy="1938992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2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Comic Sans MS" panose="030F0702030302020204" pitchFamily="66" charset="0"/>
              </a:rPr>
              <a:t>A</a:t>
            </a:r>
            <a:r>
              <a:rPr lang="en-GB" b="1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 design for an earthquake </a:t>
            </a:r>
            <a:r>
              <a:rPr lang="en-GB" b="1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safe tower </a:t>
            </a:r>
            <a:r>
              <a:rPr lang="en-GB" b="1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block</a:t>
            </a:r>
            <a:endParaRPr lang="en-GB" b="1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246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ttp://news.bbc.co.uk/olmedia/1780000/images/_1780053_earthquake_proof_300inf.gif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9"/>
          <a:stretch/>
        </p:blipFill>
        <p:spPr bwMode="auto">
          <a:xfrm>
            <a:off x="2416459" y="98630"/>
            <a:ext cx="6701046" cy="6723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6505" y="1958641"/>
            <a:ext cx="2340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latin typeface="Comic Sans MS" panose="030F0702030302020204" pitchFamily="66" charset="0"/>
              </a:rPr>
              <a:t>A design for an earthquake proof house.</a:t>
            </a:r>
            <a:endParaRPr lang="en-GB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32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amboo housing project in haiti 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939" y="4095993"/>
            <a:ext cx="3635531" cy="207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amboo housing project in hait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524" y="1268760"/>
            <a:ext cx="3975441" cy="2385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391981" y="1222590"/>
            <a:ext cx="4590509" cy="2431435"/>
          </a:xfrm>
          <a:prstGeom prst="rect">
            <a:avLst/>
          </a:prstGeom>
          <a:solidFill>
            <a:srgbClr val="FFFF00"/>
          </a:solidFill>
          <a:ln w="381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Comic Sans MS" panose="030F0702030302020204" pitchFamily="66" charset="0"/>
              </a:rPr>
              <a:t>Haiti is a poor country. In  2010 an earthquake killed thousands of people and made many homeless. </a:t>
            </a:r>
          </a:p>
          <a:p>
            <a:endParaRPr lang="en-GB" sz="1200" dirty="0" smtClean="0">
              <a:latin typeface="Comic Sans MS" panose="030F0702030302020204" pitchFamily="66" charset="0"/>
            </a:endParaRPr>
          </a:p>
          <a:p>
            <a:r>
              <a:rPr lang="en-GB" sz="2000" dirty="0" smtClean="0">
                <a:latin typeface="Comic Sans MS" panose="030F0702030302020204" pitchFamily="66" charset="0"/>
              </a:rPr>
              <a:t>These </a:t>
            </a:r>
            <a:r>
              <a:rPr lang="en-GB" sz="2000" dirty="0">
                <a:latin typeface="Comic Sans MS" panose="030F0702030302020204" pitchFamily="66" charset="0"/>
              </a:rPr>
              <a:t>bamboo homes are built using </a:t>
            </a:r>
            <a:r>
              <a:rPr lang="en-GB" sz="2000" dirty="0" smtClean="0">
                <a:latin typeface="Comic Sans MS" panose="030F0702030302020204" pitchFamily="66" charset="0"/>
              </a:rPr>
              <a:t>traditional </a:t>
            </a:r>
            <a:r>
              <a:rPr lang="en-GB" sz="2000" dirty="0">
                <a:latin typeface="Comic Sans MS" panose="030F0702030302020204" pitchFamily="66" charset="0"/>
              </a:rPr>
              <a:t>basket weaving </a:t>
            </a:r>
            <a:r>
              <a:rPr lang="en-GB" sz="2000" dirty="0" smtClean="0">
                <a:latin typeface="Comic Sans MS" panose="030F0702030302020204" pitchFamily="66" charset="0"/>
              </a:rPr>
              <a:t>skills. Local natural fibres are interwoven and moulded into </a:t>
            </a:r>
            <a:r>
              <a:rPr lang="en-GB" sz="2000" dirty="0">
                <a:latin typeface="Comic Sans MS" panose="030F0702030302020204" pitchFamily="66" charset="0"/>
              </a:rPr>
              <a:t>a cocoon shape</a:t>
            </a:r>
            <a:r>
              <a:rPr lang="en-GB" sz="2000" dirty="0" smtClean="0">
                <a:latin typeface="Comic Sans MS" panose="030F0702030302020204" pitchFamily="66" charset="0"/>
              </a:rPr>
              <a:t>.</a:t>
            </a:r>
            <a:endParaRPr lang="en-GB" sz="2000" dirty="0"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1530" y="4282641"/>
            <a:ext cx="4545505" cy="1846659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Bamboo </a:t>
            </a:r>
            <a:r>
              <a:rPr lang="en-GB" sz="2000" dirty="0">
                <a:solidFill>
                  <a:srgbClr val="FFFF00"/>
                </a:solidFill>
                <a:latin typeface="Comic Sans MS" panose="030F0702030302020204" pitchFamily="66" charset="0"/>
              </a:rPr>
              <a:t>is </a:t>
            </a:r>
            <a:r>
              <a:rPr lang="en-GB" sz="2000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 a cheap building material. It is </a:t>
            </a:r>
            <a:r>
              <a:rPr lang="en-GB" sz="2000" dirty="0">
                <a:solidFill>
                  <a:srgbClr val="FFFF00"/>
                </a:solidFill>
                <a:latin typeface="Comic Sans MS" panose="030F0702030302020204" pitchFamily="66" charset="0"/>
              </a:rPr>
              <a:t>flexible and </a:t>
            </a:r>
            <a:r>
              <a:rPr lang="en-GB" sz="2000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strong, making the houses earthquake-safe</a:t>
            </a:r>
            <a:r>
              <a:rPr lang="en-GB" sz="2000" dirty="0">
                <a:solidFill>
                  <a:srgbClr val="FFFF00"/>
                </a:solidFill>
                <a:latin typeface="Comic Sans MS" panose="030F0702030302020204" pitchFamily="66" charset="0"/>
              </a:rPr>
              <a:t>. </a:t>
            </a:r>
            <a:endParaRPr lang="en-GB" sz="2000" dirty="0" smtClean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endParaRPr lang="en-GB" sz="1200" dirty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r>
              <a:rPr lang="en-GB" sz="2000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The </a:t>
            </a:r>
            <a:r>
              <a:rPr lang="en-GB" sz="2000" dirty="0">
                <a:solidFill>
                  <a:srgbClr val="FFFF00"/>
                </a:solidFill>
                <a:latin typeface="Comic Sans MS" panose="030F0702030302020204" pitchFamily="66" charset="0"/>
              </a:rPr>
              <a:t>homes are also resistant to high winds and floods.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6565" y="278650"/>
            <a:ext cx="8145905" cy="523220"/>
          </a:xfrm>
          <a:prstGeom prst="rect">
            <a:avLst/>
          </a:prstGeom>
          <a:solidFill>
            <a:srgbClr val="FF0000"/>
          </a:solidFill>
          <a:ln w="381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Earthquake-safe </a:t>
            </a:r>
            <a:r>
              <a:rPr lang="en-GB" sz="28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homes made of bamboo</a:t>
            </a:r>
            <a:endParaRPr lang="en-GB" sz="2800" b="1" dirty="0">
              <a:solidFill>
                <a:srgbClr val="FFFF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828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www.alphasalestech.com/images/Animated_horz_f2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00" y="1567534"/>
            <a:ext cx="3675446" cy="1861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97356" y="163543"/>
            <a:ext cx="8595954" cy="492443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600" b="1" dirty="0" smtClean="0">
                <a:latin typeface="Comic Sans MS" panose="030F0702030302020204" pitchFamily="66" charset="0"/>
              </a:rPr>
              <a:t>Making homes safer for everyone</a:t>
            </a:r>
            <a:endParaRPr lang="en-GB" sz="2600" b="1" dirty="0">
              <a:latin typeface="Comic Sans MS" panose="030F0702030302020204" pitchFamily="66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66755" y="2924653"/>
            <a:ext cx="6732240" cy="369332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chemeClr val="bg1"/>
                </a:solidFill>
                <a:latin typeface="Comic Sans MS" panose="030F0702030302020204" pitchFamily="66" charset="0"/>
              </a:rPr>
              <a:t>E</a:t>
            </a:r>
            <a:r>
              <a:rPr lang="en-GB" sz="18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arthquake </a:t>
            </a:r>
            <a:r>
              <a:rPr lang="en-GB" sz="1800" dirty="0">
                <a:solidFill>
                  <a:schemeClr val="bg1"/>
                </a:solidFill>
                <a:latin typeface="Comic Sans MS" panose="030F0702030302020204" pitchFamily="66" charset="0"/>
              </a:rPr>
              <a:t>activated shut-off </a:t>
            </a:r>
            <a:r>
              <a:rPr lang="en-GB" sz="18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valves on gas pipes into </a:t>
            </a:r>
            <a:r>
              <a:rPr lang="en-GB" sz="1800" dirty="0">
                <a:solidFill>
                  <a:schemeClr val="bg1"/>
                </a:solidFill>
                <a:latin typeface="Comic Sans MS" panose="030F0702030302020204" pitchFamily="66" charset="0"/>
              </a:rPr>
              <a:t>house. </a:t>
            </a:r>
            <a:endParaRPr lang="en-GB" sz="1600" b="1" dirty="0" smtClean="0"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96696" y="838422"/>
            <a:ext cx="4500499" cy="646331"/>
          </a:xfrm>
          <a:prstGeom prst="rect">
            <a:avLst/>
          </a:prstGeom>
          <a:solidFill>
            <a:srgbClr val="002060"/>
          </a:solidFill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rgbClr val="FFFF00"/>
                </a:solidFill>
                <a:latin typeface="Comic Sans MS" panose="030F0702030302020204" pitchFamily="66" charset="0"/>
              </a:rPr>
              <a:t>Gas leaks from pipe ruptures after an earthquake are a major cause of fires.</a:t>
            </a:r>
            <a:endParaRPr lang="en-GB" sz="1800" dirty="0">
              <a:solidFill>
                <a:srgbClr val="FFFF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0" y="4426947"/>
            <a:ext cx="2430268" cy="1477328"/>
          </a:xfrm>
          <a:prstGeom prst="rect">
            <a:avLst/>
          </a:prstGeom>
          <a:solidFill>
            <a:srgbClr val="FFC000"/>
          </a:solidFill>
          <a:ln w="3810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800" dirty="0" smtClean="0">
                <a:latin typeface="Comic Sans MS" panose="030F0702030302020204" pitchFamily="66" charset="0"/>
              </a:rPr>
              <a:t>A </a:t>
            </a:r>
            <a:r>
              <a:rPr lang="en-GB" sz="1800" dirty="0">
                <a:latin typeface="Comic Sans MS" panose="030F0702030302020204" pitchFamily="66" charset="0"/>
              </a:rPr>
              <a:t>bracing kit for </a:t>
            </a:r>
            <a:r>
              <a:rPr lang="en-GB" sz="1800" dirty="0" smtClean="0">
                <a:latin typeface="Comic Sans MS" panose="030F0702030302020204" pitchFamily="66" charset="0"/>
              </a:rPr>
              <a:t>a water </a:t>
            </a:r>
            <a:r>
              <a:rPr lang="en-GB" sz="1800" dirty="0">
                <a:latin typeface="Comic Sans MS" panose="030F0702030302020204" pitchFamily="66" charset="0"/>
              </a:rPr>
              <a:t>heater made out of heavy metal strappings and </a:t>
            </a:r>
            <a:r>
              <a:rPr lang="en-GB" sz="1800" dirty="0" smtClean="0">
                <a:latin typeface="Comic Sans MS" panose="030F0702030302020204" pitchFamily="66" charset="0"/>
              </a:rPr>
              <a:t>bolted </a:t>
            </a:r>
            <a:r>
              <a:rPr lang="en-GB" sz="1800" dirty="0">
                <a:latin typeface="Comic Sans MS" panose="030F0702030302020204" pitchFamily="66" charset="0"/>
              </a:rPr>
              <a:t>to </a:t>
            </a:r>
            <a:r>
              <a:rPr lang="en-GB" sz="1800" dirty="0" smtClean="0">
                <a:latin typeface="Comic Sans MS" panose="030F0702030302020204" pitchFamily="66" charset="0"/>
              </a:rPr>
              <a:t>the wall.</a:t>
            </a:r>
            <a:endParaRPr lang="en-GB" sz="1800" dirty="0"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500" y="3474005"/>
            <a:ext cx="3241766" cy="120032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1800" dirty="0" smtClean="0">
                <a:latin typeface="Comic Sans MS" panose="030F0702030302020204" pitchFamily="66" charset="0"/>
              </a:rPr>
              <a:t>Flexible </a:t>
            </a:r>
            <a:r>
              <a:rPr lang="en-GB" sz="1800" dirty="0">
                <a:latin typeface="Comic Sans MS" panose="030F0702030302020204" pitchFamily="66" charset="0"/>
              </a:rPr>
              <a:t>gas and water pipe fittings to all appliances to avoid ruptures during ground movement. </a:t>
            </a:r>
          </a:p>
        </p:txBody>
      </p:sp>
      <p:pic>
        <p:nvPicPr>
          <p:cNvPr id="1026" name="Picture 2" descr="http://www.trbimg.com/img-52ceef2c/turbine/la-readers-quake-pictures-009/980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89" r="23167"/>
          <a:stretch/>
        </p:blipFill>
        <p:spPr bwMode="auto">
          <a:xfrm>
            <a:off x="6102170" y="655986"/>
            <a:ext cx="2925325" cy="2051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www.plumbnation.co.uk/site/tracpipe-flexible-gas-pipe-coil---fittings-pack--dn28--15-metre-/large-omegaflex-tracpipe-kit-with-fittings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45" y="4734145"/>
            <a:ext cx="2535498" cy="2041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of How To Secure Your Water Heater Against an Earthquak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2290" y="3474005"/>
            <a:ext cx="1620180" cy="32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5306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615" y="5108991"/>
            <a:ext cx="2332170" cy="1200329"/>
          </a:xfrm>
          <a:prstGeom prst="rect">
            <a:avLst/>
          </a:prstGeom>
          <a:solidFill>
            <a:srgbClr val="FF0000"/>
          </a:solidFill>
          <a:ln w="38100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800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Stop fridges and cookers </a:t>
            </a:r>
            <a:r>
              <a:rPr lang="en-GB" sz="1800" dirty="0">
                <a:solidFill>
                  <a:srgbClr val="FFFF00"/>
                </a:solidFill>
                <a:latin typeface="Comic Sans MS" panose="030F0702030302020204" pitchFamily="66" charset="0"/>
              </a:rPr>
              <a:t>from rolling by </a:t>
            </a:r>
            <a:r>
              <a:rPr lang="en-GB" sz="1800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bolting </a:t>
            </a:r>
            <a:r>
              <a:rPr lang="en-GB" sz="1800" dirty="0">
                <a:solidFill>
                  <a:srgbClr val="FFFF00"/>
                </a:solidFill>
                <a:latin typeface="Comic Sans MS" panose="030F0702030302020204" pitchFamily="66" charset="0"/>
              </a:rPr>
              <a:t>them to the kitchen floor.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9763" y="233645"/>
            <a:ext cx="8550949" cy="492443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600" b="1" dirty="0" smtClean="0">
                <a:solidFill>
                  <a:schemeClr val="tx2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Making fixtures and furnishing earthquake proof</a:t>
            </a:r>
            <a:endParaRPr lang="en-GB" sz="2600" b="1" dirty="0">
              <a:solidFill>
                <a:schemeClr val="tx2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487" y="908720"/>
            <a:ext cx="4808878" cy="646331"/>
          </a:xfrm>
          <a:prstGeom prst="rect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Even a weak earthquake can overturn furniture and dislodge pictures from walls.</a:t>
            </a:r>
            <a:endParaRPr lang="en-GB" sz="18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77244" y="2304744"/>
            <a:ext cx="2250251" cy="17543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800" dirty="0" smtClean="0">
                <a:latin typeface="Comic Sans MS" panose="030F0702030302020204" pitchFamily="66" charset="0"/>
              </a:rPr>
              <a:t>Secure all </a:t>
            </a:r>
            <a:r>
              <a:rPr lang="en-GB" sz="1800" dirty="0">
                <a:latin typeface="Comic Sans MS" panose="030F0702030302020204" pitchFamily="66" charset="0"/>
              </a:rPr>
              <a:t>pictures and mirrors to the walls. </a:t>
            </a:r>
            <a:r>
              <a:rPr lang="en-GB" sz="1800" dirty="0" smtClean="0">
                <a:latin typeface="Comic Sans MS" panose="030F0702030302020204" pitchFamily="66" charset="0"/>
              </a:rPr>
              <a:t>Ensure </a:t>
            </a:r>
            <a:r>
              <a:rPr lang="en-GB" sz="1800" dirty="0">
                <a:latin typeface="Comic Sans MS" panose="030F0702030302020204" pitchFamily="66" charset="0"/>
              </a:rPr>
              <a:t>that </a:t>
            </a:r>
            <a:r>
              <a:rPr lang="en-GB" sz="1800" dirty="0" smtClean="0">
                <a:latin typeface="Comic Sans MS" panose="030F0702030302020204" pitchFamily="66" charset="0"/>
              </a:rPr>
              <a:t>lights are </a:t>
            </a:r>
            <a:r>
              <a:rPr lang="en-GB" sz="1800" dirty="0">
                <a:latin typeface="Comic Sans MS" panose="030F0702030302020204" pitchFamily="66" charset="0"/>
              </a:rPr>
              <a:t>fixed correctly to the ceiling.</a:t>
            </a:r>
            <a:endParaRPr lang="en-GB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3822016" y="5661850"/>
            <a:ext cx="4980454" cy="92333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chemeClr val="bg1"/>
                </a:solidFill>
                <a:latin typeface="Comic Sans MS" panose="030F0702030302020204" pitchFamily="66" charset="0"/>
              </a:rPr>
              <a:t>Strap bookcases </a:t>
            </a:r>
            <a:r>
              <a:rPr lang="en-GB" sz="18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 </a:t>
            </a:r>
            <a:r>
              <a:rPr lang="en-GB" sz="1800" dirty="0">
                <a:solidFill>
                  <a:schemeClr val="bg1"/>
                </a:solidFill>
                <a:latin typeface="Comic Sans MS" panose="030F0702030302020204" pitchFamily="66" charset="0"/>
              </a:rPr>
              <a:t>to walls </a:t>
            </a:r>
            <a:r>
              <a:rPr lang="en-GB" sz="18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 to prevent overturning</a:t>
            </a:r>
            <a:r>
              <a:rPr lang="en-GB" sz="1800" dirty="0">
                <a:solidFill>
                  <a:schemeClr val="bg1"/>
                </a:solidFill>
                <a:latin typeface="Comic Sans MS" panose="030F0702030302020204" pitchFamily="66" charset="0"/>
              </a:rPr>
              <a:t>. Ensure that </a:t>
            </a:r>
            <a:r>
              <a:rPr lang="en-GB" sz="18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all doors </a:t>
            </a:r>
            <a:r>
              <a:rPr lang="en-GB" sz="1800" dirty="0">
                <a:solidFill>
                  <a:schemeClr val="bg1"/>
                </a:solidFill>
                <a:latin typeface="Comic Sans MS" panose="030F0702030302020204" pitchFamily="66" charset="0"/>
              </a:rPr>
              <a:t>have good latches to </a:t>
            </a:r>
            <a:r>
              <a:rPr lang="en-GB" sz="18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stop them </a:t>
            </a:r>
            <a:r>
              <a:rPr lang="en-GB" sz="1800" dirty="0">
                <a:solidFill>
                  <a:schemeClr val="bg1"/>
                </a:solidFill>
                <a:latin typeface="Comic Sans MS" panose="030F0702030302020204" pitchFamily="66" charset="0"/>
              </a:rPr>
              <a:t>from flying open. </a:t>
            </a:r>
          </a:p>
        </p:txBody>
      </p:sp>
      <p:pic>
        <p:nvPicPr>
          <p:cNvPr id="1026" name="Picture 2" descr="http://blog.ambitious.me/wp-content/uploads/2011/03/Securing-Furnitur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820" y="166668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data:image/jpeg;base64,/9j/4AAQSkZJRgABAQAAAQABAAD/2wCEAAkGBxQTEhUUEBQUFBQUFBYVFRQUFBQUFBQUFhQWGBQUFBQYHCggGBolHBQUITEhJSkrLi4uFx8zODMsNygtLisBCgoKDg0OGhAQGiwkHCQsLCwsLCwsLCwsLCwsLCwsLCwsLCwtLCwsLCwsLCwsLCwsLCwtLCwsLCwsLCwsLCwuLP/AABEIAL4BCQMBIgACEQEDEQH/xAAcAAACAwEBAQEAAAAAAAAAAAADBAIFBgcBAAj/xABQEAACAQIDAgcLBwkHAgcBAAABAgADEQQSIQUxBiJBUWFxsQcTIzJygZGhssHRJDNSYoKS8CVCU3OitMLS4RQVFjRjk/FEszVUg6Okw9MX/8QAGAEAAwEBAAAAAAAAAAAAAAAAAQIDAAT/xAAoEQEBAAICAgIABQUBAAAAAAAAAQIRITEDEjJBE0KBwfBRYZGhsQT/2gAMAwEAAhEDEQA/ANeWgaraT1mgnM5ZHSrsZy9UEhhcXAIZsoEFnsgDJSZk1MmDBSazaYZTDpF1EPTlMYWr7Yo4jeWvYYhS/Hnlhsj5s+X2CIYfcOodkrl8YSd1paI4i+SJ5yjrhQNB1Dsgjv8ATHhXH+Hj5sTiTzLRUedVPumz7n1LLgKPT3xvTVeYLhXUvVxJ56qD7oYTpXBKnlwWGH+ih+8M3vhz+gi0IgqghzA1BJ05rYA8IfJPaIPbQ8MeodkNsIeE+ye0QG2ntWPUvZGl1CXssohFEq9r4400zLltezMwdso6EQXa+7eLXvrulYvCqnuuSeinVHqI98X2bTUmoF4zGyi1zYnl5hqZwFmF8mcCxy2443aWNxpuG+dRxnCYOjKEYhtDxTe176cYc0z2NoUa1i9GtoCvFAW6kgm/hNdVGsOpZzP5/g0ulNsRHpBieNnVSLFrAKXuS1rf8S5w1ZrNo+YWNnZdM24AA7rht+uhvCYajQRQq0a1hyd9Kechanr6uaHtS/8ALE+VWYno1Nzz+mGcTRsrjbeC+J4S1KFJS1EEX3iob2ILEhcvIAeXk6Ynwj20z0nyZPBuhIub5TcX5OcHS+h6JaLTpnQYOgOl8rgdNsmvpEGOCdF85IbMO9luMmS7d9GlNx3tbd70sBbzQTftNfzmftufqXLVnE0zdWke/EpmKhbAm4PnHJD5DLLhXgjh6a1LsWqcbUKDYMg0y6WIJ1HNK/YbisbOtXUAAjMFDKt3JIOl7i3nnV4/jz2jnr246QyHnkDTPOZqcJsmlkuVJ8be7kWBPO3ROZ52O9m+8Y+XBZy0fezzn0mM976T6T8ZWbG4MtiaZqd8CAOVsVZybAG+h+t6pd/4FP6dP9s/zSN8kP6toxg3MkTBMZyR00piorTOgjOJidM6DqEGYQcGEECphVkzCCEUSCwizMIgh0gkhUjwF7s7Sietj6onh10HmjmF/wAuep+wwGGGo6xK5dROfbREe6L1jYE8ynsjLxPGvlRzzKemPAcQ25Uv35ufEP6N/vnYNj0stCiv0aNMeimonFNoNeiPrVGP7CzuyJYAcwA9AtDn2EeNBsIVoNpMxrYvzn2T2iVvCN7V26l7JZ7F+c+ye0Sj4VVLYhvJX2RNfiH2oduVS1JgOddxA/OHPpMzTw9Q6HMBa3jLppb803/AlztYM9OotO+YqQpBtrya8kxrbLxfL34/+o57DK+HHjmp52y8RaHAVSdDWAt9Ek7jbQnTU+i1tReEo7PqLYjvh0Atl5iTc8Ya3C8u4yopbNxPjEVNNSHL20578kkKde9hh7nmGdtOrPL+s/rE9/2q8GFqnTwo5r7t2t7PcX03brdMscEDoppOgC8uXLppbimZGphMQf8Apqi63utOrfq1J0kDs3Efoa33H+E34cv3G97Pqtk+GrEmzBBc2stz0ZrjT0y82DTvVrb/AJrDkqDY275itZzFdnV7/NVv9up8Jstl4FiqXp1Se80qdhTa4ZS7EkH9Z6jEy8clnMPM7ZeG7xlLLlFiNL2JJIuecnon2zEvUF9dDv15Le+UeyQ608oCA3JIerlbXQaBWHJz+aX+y86sS6oNLfOHnHOgkMprJSXhnOHtMUmU0qdMeBqM1rU7nXU5V4xsDvnFlUWE7jwq2NVxNcstRVpGktIoLkgEv3xlJ0zEPppplG+Zv/8AmFHkrVx1mn7qcvMpMZE9XdK8DEtg05Mz1D+2V/hl5k6T65n+EpfZdOilPvdWm2cJnzCpdbMxawy735OiU/8Ajqt+jp+kznuNt2pK3ZMG09JkTJxWlcTEqR0HUOyOYiJUtw6h2QZhB1MKkAkMsmcZYRYJYVJmHSGWBSFWUhV7S/yx8l/WTB4McZfKHbCf9MPJ7Wn2zxx165TL6JPtePKfhJUy4Ws3NTP49UuXmb4cvbA1+lbem8pOy1x5lv3heeqR6XCzvDbz1zheF1r4NefEJ68SJ3ODLtoi0G0I0E0Qx7Y9Mipc/RPaJleHD2rufqr7M12y/H+ye0TGd0D56p5C+zNfiF7VAkgJGibqDzgH0iEEuQtj2sh1G7dKzYtTwoHPTb2hFuFlfvZpubEENTsdBcsjBr8hsrD7UX4NVc1VSLbmGjFr6X3xLlrgZGzAkgJ6ohAsYEBJNXZVZlNiBoebUQeLos1N1RsjMjKr2uUYggNblsdfNKHFbPxiqfDh10BFhe3nWHTNTQXVesdomqyXNpz/AGBhsYK9Pv8AURqebjDi3O/LlsgO/LyzolNdRNWQFNb7ievTttF2XU9csDYRNlis5b3ZUzPhlBAypVNjy52QD2DMJ/Ym519J+E2ndUq1P7aAqsVTDLxghYZi9Q20Ft1pi/7TX5n/ANozbo8OskyN54TPLzni1AxBiFI6DqHZHcREKR0mzCGFMMpiymGUyRjCwqGAUwqQsZQwqwCmGUx4C/q/5depPaElsseEXz9hkMV8yg6E7L+6F2QOOOoymXcJOlw8yXdGqWwTD6VSmP21+M1bmYfuo1bYamPpVfZBb+GUxLXOti64zAD/AFaB/wDdDTuU4fwbH5RwQ5mpepSfdO3QZdtOnxg2kzB8vniGWWzPnPsntEx3dAXwz+QPZE2GzPnPsntEyfDkXrN1L61EN+IXtn9mG9Gn5C+oAe6NWiGxm8CvRmHodhLBTKykZzhbhyyoQKnFfU0wGZQVOuUg3HJu5ZX8GFArKAS2/wAYAHxDyDTz8vmmydNDMtwct39Pt+wYuWEvIytmBJCQBkhGBISNccRvN2yVp5W8Q9a9szHMAPCJ5Q7ZocICS1juduy0oNm/OJ5UvtnPpU1txj6/+IKxvvN95i0mKljprzk/Dl88Uq4VWqJVN81NairqbAVMmckcp8GB0XPPCzkndG4QCnjay5SSgRAbowzd5RgCoYMBdt/XMz/imr9Cn6H/AJptNvCnWxOJFWlSqKGq2vSUvdAFvnAzbh6phu9UfoYj0Uf/AMov4lH1dRvIkzwmeEyEVoWIMQpmPYiJ4ZLm3SfRebIImphkMRo1CCAdb+nljiGTs0cdTDoYsph0MzGUMKDApCrHgNDtDREHSvqRofYw4x8k9ogNqfmDp7FI98Y2NvbqEpl8iTpZVDOdd1up4OgvTVb0Uqg/iE6FVM5l3WKnhaK81GofvPSUdplIWszwY12pheh+yk/wnaZxfgmPyrh/Lf8A7FWdoi5d0Z08Ywd9R1iSaArpmFjFFbbLcd8tceKeXpEyvDEfKKnQKfsS74OYQLWJH0CPWvwlFwub5VVFj4lO2mmgEP5S3tl9jGyMOao49Nj/ABS0pym2dVAaqP8AUv6VHwlzRaPjeCpmZHg6vyhejP7BmvmW4OaYhh0P6mEOxawSYMhJTAkGnlY8U9a9s8kax4v2l7ZmWWyj4Ves+yZb4BbfaXN5ww9z+qU+yh4QdTeyZeZcrUwd+U+jKJqw0HVqKoJYhVGpJIAA5SSdwn1WtY2UZm5twHlH838aRHaAAp1HqWfJTdrEcQZVJ0U7928681pts5X/AGp2OKagy98qrVCtcbqjG5BG6wI1if8AacT+kw/3/wCkqsHTuVV1qEMVVwjlrrmBYWK3Og+laKf3cn0V++0lPHcrdm9o6aTExtdM2WzZhoRlFr2J0JOu4+iMlpTYikyuXSykgBja62BBuy9SjUbrc0TSm1jWxvMrfs27Ith8ZluxFtbAE7yXtYc55ZEYmowFjqeTiC3nA7Ivg6+WupZrkBgRqbAk3ZWtobhd+8Q3XAcpmoM9uUMdOjWWCmV9VgalvosfeI4pk8uxnRlTGKZiqGMUzBBNIYejvHXFkMawnjr5S9ojQF7tQ8ZftfwxzY25vN75X7SPHHUfWR8JY7I8Ruv3Sl+ZZ8TVUzlXdMq3xeX6NGiPvVCf/rnU3nMe6hSAr0mG9yFOnJTBZbnl1qN6JWFUHAvXalDrq/u9WdnvOK8BW/KdDrq/u9WdnJiXumfMYJjJkwTGLRP7CPhT5J7RK/hFhQa7MTyLoOocse2CfC/YPasQ2/V8PUHME9a/0j48wmXbJ8IgFyWFhcj0gb/uweDqaCL8M8WKdA1CCQjputfjHLy+VKbY/CGi+mcKeZ+L6zofTNArWgzL7D0xTjpq+3NAlS405ZndkaYxx9ar7RjM1oaegyAkgZgSg8W+VQToocZjcAKOc3/Gs9rXynIQGscpO4G2hMoauPxa8QUqdWoDmWzZEZbEEMx3NyjSFmr2TiVLEhlIytuIO8WG7rjffVpDNVOQleKo0qMNLm35o03ntiXBrFMaXfatEUair82SrFDnKgF1ADAgA9Rj2Pw61j3xBlqAqpBsyrbMQ6A8tyd+4+mc3/q8meHjuWE3TYyW8rDD1LopAy5lDZd9iwudeU675U8MsV3vAYpzyUHH3hkHtS1EzfdJdhs6sVt41AG+639opXv6h55XC3U2FcswDtUqUrK9O7GzEWvxSOL9LfLb+4R+lp+lv5IvtbaaVGV7EBaZ05mYgBb7ju5IH/Elb9LV/wB1/jN7Z3mDqNixgDvhjBGJD0nWwQFyjZdDpYFeN42h5+X46xPBEc3jKCW5WN9bjkALEDoUHeTLZ90qcC1gFJBtqLcxtpflsAvVc9QWybaUbvfGB6fPHliqtrGFMQw6mMUzFUMPTMMY7TMd2ePCJ5Q7ZX0zLLZY8KnX7jGnYVZY8+E+yPWzfCWuyvm/tH3SmxZ8IepR2n3y62f82PP2x/zl+hXnKO6hWvi6a/RpZvOSw906qx1nHO6HUvtCp9Wmi9p/ilYUhwFb8pYbpNX93qztN5xPgQfylhvLqfu9WdpJk72Z6xgmMkxgmMWmix4P/OnyD2rOc90TbzYXadfJWVy9KlbDFWYKcg8Iz6ZPJBObltvHReDx8MfIPas5J3WNi1a21qrAhKfe6ILnlsmtgNT6pXxy2cJ58Vidu7Zesb1nLnkUaKvQqjQdvXIbP2PVq2zDvaEgXPjW5wu/02mlwOxaVHVRmb6b6n7I5PNGiLHziW/D1Np+zQ7MoinTRFvZFVRfU2AsLyp2eLY5vKqesEy4wrXAlPhtMcfKPrpXkzRqQZMQd5IGBk5441XrPsz4GeVDqv2uyZltstbhhzlO0mWVEcZ+tfTl/rKzZtXKrNa+q9HPLLDAhbneeMfP+BEyNE2WZruh1VGArh9zUyBpfjXUU/22TXkmlzTI90fjYZ1O7vRJHXVpW5PqRN6/1/0dOQ+LQv8ASe3oB+E9zj8Ax1sKppIGZUAvqxUDU6XJIHPD/wB1p+mT00/55THMtjaEyBnpMjeIoi+6VWAFgAVIK3APIy3sCAelW16pZuZUbPA33OYEqwP2bG/LuI+yeiLl20OqdTGFMWA1h6ZiGHUw9MxcGFpmYDlIy22P86vn9kympmXOxPH+yfdHx7a9Gq58I3WPZWXuE+bXqmfqNx28rsAHumgpaIo+qOyNPlQvUekzh/DPEXx2JPJmA9CLO25pwHb9bNicQees49DEe6VKb4Dn8o4Xy6n7vVnaSZxTgN/4jhvKqfu9WdoJkqZ8TBsZ6TBsYpotODh8MfIPasx/D1Qcc+Y2GRNbE/mDcByzXcGj4Y+Qe1ZjO6Gfl1TyafsidPgQ8rOYlwfEBA5ybk9P9OiJ1R6vx8IxUMXqmdF6Ti/wJ4olYNMf1kf9mPbMe6CIVTbHL05fYtOZSNNeSBgryQMzCAz1zqvU3ug7z1jqvUe0QMt8EL0z0uB6pcMZX7HUZNfpk+fKI4zSWV5PHt5kuGuHr1MyUlVkakqnWzhg5Y2uQLaL65qM0SxJ4x83qEnl0Mc22BsCpXLjFUGpKgXJm0IYg5wu8MBYG/TbXcL3/BtL6n3D/NNWFEJYfi0S2jpibyJM+vI3lweOZVYEk2YnXjKw0BBuGtbrZtevmlo8qsHc8bQAlgbc4bNr08c+YCDIYbUaw6GLpvMMsmYwphUMAhhlMwGqcutheMehD2iUdMy82BvbqA9J/pKYdwL0JfjN5Te0Zo2PJzWHqEzOGNyOlr+k/wBZpKhhw7rZIVW4p6j2T884irmd2+k7t6WJ9877tKplpOeZCfVPz0jadMoVfcAhfaOH6O+n/wCPVHvnZCZyHuci+Pp9CVW/Yy/xTrZMlTR8xg2M9ZoJjAeLbgwfDnyG7VmL7oQtj6vStM9XgwPdNlwWPhz+rbtWYzujn5e/kU/ZE6PAh5e2acxepCVKgAirG+/To+Pw/wCJ0pLzY7cQRXGn5ZT+x2kT7Y1TQ9cHtNvlNI+R7ZnPVI0wMkDAo0KIATnp3jyT2yF57fjDyffALR7J+b85+Huh3aK7Obwa+f2jCO8jezpZoq+89cKrQUTIY9EJmgpOTMw955eRvPLzoB6xlVhfGLAWBZwekhibnm3gW+IlmxlVQPHYgEAswNzoSOUC2ninn3wZMaXeYZTF13mGUyZjKmHUxVDDoYQpqmZe7CNg58n3zP0zLrZjWpVD1+pf6x8OwvQ+y9SnWvumgdpQ7J8dej3CXLND42yVvCutlwdc81JvZM4RTE7P3QK2XAVulQvpNvfOLI0cGq7mQ+Xnow9Q/t0h751VjOZdy5PlNVvo0LfeqJ/LOklpOmj1jBO0+ZoJmimXXBM+HP6tvaWYjum1rbQdQLsUp2UeSNSeQdPadJs+CB+UH9W3tLMJ3V9o94x7sF0YUgzAaoMnj+6/ICd06PBeEfL2z9SkVPGILdG5OdR08/L1bgBmnrNAO86UVlsZ7XHN8J5tdvDUT1epx8YrsduOYXbps9E9J9RWRyPGoUw6mKBoZGiiPefX432R74MNPQeMeoe+BmiwZ8GvV7zPWMFhzxF8kdkleQqggM8gw9yQNw3npkxEtF6RJ3gy09v1RRYSRvK7Z2LYMaNbx18Vv0ij+IfjnL5M6rjosr1jK5EIqOeQ2Nunq6w3pjzGJk8Y9Q7Wi5dMIN94RTAgyamRpzKGHQxVDDIYdsbQy0Sjmwx4zLxieKbZhlylG01U33SoQy3pvbDjpP8AGBGxLVjsg8e/QTLUtKfYx1J+r7xLMGHC8NYy/dPrWwRH0nQftA+6clpzpXdXrWoU156nYrf0nMgY06at33LF4+Jb6tFfXVJ7BN6zTE9zFbUa7c9VV+6l/wCOa9nk7TRNngmeBq4lV8ZgOsjsidXaaDcSeofG0Xm9GazgY3yg/q29pJz/ALsJJxtbKuc5KalRy5qY+M2Pc+xufFkBSB3lzc+UmkxXdUF9qV10+bw7i97XC2vYb7ZV06p0+GWRDyc1msOpWmisbkKoPWAAZFvXJsYajRlc/J6xOY7fYMtTNyMwPNvHmO/8b57tzEBhSZTcXYdXi6EckdpU5U7X2fUZiy6WyqoFyXzXudBYW5b2tcb9ZGZ37U016tCo8p8PjCoAq/eF8vnHJ6x1SxR7x+KU6pnqnjHzRenUk1bU/jkgZpEbir1DskKlW27ed3R0wbVAB1TzDC5ud59Q5pz5VWQ5h1AEm0jeQZpMXrGfX/FoJqklnhZznaeF74oKaVE4yNzEQ+zMWKqZjZWFwwJAysNGHrHpEkkrCO9YmwAZayk2N7K6a5vRcToxu56/rP3LZrlcPUQfnL5uN2RJqyljbMdPo254RmfkyjqX4xM5sxuxOn40i3Wh+zBbzSQMEghJC04yGGUxanDAzbY2rS1p1AVp0rMWqA2AHJxizZjoLWBte+615TIZb9+KikV0IsR12/rHxuthYs9kKVDBtGFgfj1Rx9rLTBDFbHSxIve41A3/AIM9q7PFYK44uZQemx1tMTw54PjCZNoIQe9sFqJuLoxAtfl1YD17wI3js6DIl3Vq7Xoo9r8ZhbcRxcp6bhphEmn7olctXpJckJSUKTvysA6g9QcDzTP4bClja4v6vT/SNbJA1bW/4B4KucLeiDleo5zWG8WQ6nyZpl4OV2+dqBR0sT6tBK3gdjXTA0FVioKFrD67sx188fqVid5J6zeS97D+oybBw6fOVc3Qv9IRThU8SlmPO1vfeV5aDLRLlb3TTGNjwR2hnrlQiqO9sdOhl+M5z3V1P96sR+iRT51Ugn0H0za8Aj8qP6p/aSZfum0b7RqH6lL2J0eLL1w3EfJN5MjQpcscppJJR6odaUG980HiiEEkKZ6JLvULBlbwQpFdUNvq/mnzch6RGxRnpombbBUMaLgNxWOgBOhP1Ty9W+NYHEBs2U3s5Xzi0UxGBDCzBSOYi4hNn4KzAiwPOIbmGmjLZmsNwOvSY6htE8OlhaHuZG8qDmpBtUgyTBMTNphmqT3vgirAwms2mf/Z"/>
          <p:cNvSpPr>
            <a:spLocks noChangeAspect="1" noChangeArrowheads="1"/>
          </p:cNvSpPr>
          <p:nvPr/>
        </p:nvSpPr>
        <p:spPr bwMode="auto">
          <a:xfrm>
            <a:off x="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AutoShape 8" descr="http://www.google.co.uk/url?sa=i&amp;source=images&amp;cd=&amp;docid=bpbsmqNnR-NniM&amp;tbnid=2v1Lv6AUQGxwOM:&amp;ved=0CAUQjBw&amp;url=http%3A%2F%2Fcardiolab.ucsf.edu%2Fmolcardiolab%2Fimages%2Ffreezers.jpg&amp;ei=pNE7U9S_KMGv7Qaf8ICIDA&amp;psig=AFQjCNEKi8gzAzo_7duBg5n_1yLuub-FGQ&amp;ust=1396515620739234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1" name="Picture 10"/>
          <p:cNvPicPr/>
          <p:nvPr/>
        </p:nvPicPr>
        <p:blipFill rotWithShape="1">
          <a:blip r:embed="rId3"/>
          <a:srcRect l="23286" t="15385" r="61911" b="37278"/>
          <a:stretch/>
        </p:blipFill>
        <p:spPr bwMode="auto">
          <a:xfrm>
            <a:off x="341529" y="1358769"/>
            <a:ext cx="2295256" cy="351039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1352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224390"/>
            <a:ext cx="8685965" cy="999365"/>
          </a:xfrm>
        </p:spPr>
        <p:txBody>
          <a:bodyPr/>
          <a:lstStyle/>
          <a:p>
            <a:r>
              <a:rPr lang="en-GB" altLang="en-US" sz="2600" b="1" dirty="0">
                <a:latin typeface="Comic Sans MS" panose="030F0702030302020204" pitchFamily="66" charset="0"/>
              </a:rPr>
              <a:t>Questions to </a:t>
            </a:r>
            <a:r>
              <a:rPr lang="en-GB" altLang="en-US" sz="2600" b="1" dirty="0" smtClean="0">
                <a:latin typeface="Comic Sans MS" panose="030F0702030302020204" pitchFamily="66" charset="0"/>
              </a:rPr>
              <a:t>consider when designing an earthquake </a:t>
            </a:r>
            <a:r>
              <a:rPr lang="en-GB" altLang="en-US" sz="2600" b="1" dirty="0" smtClean="0">
                <a:latin typeface="Comic Sans MS" panose="030F0702030302020204" pitchFamily="66" charset="0"/>
              </a:rPr>
              <a:t>safe </a:t>
            </a:r>
            <a:r>
              <a:rPr lang="en-GB" altLang="en-US" sz="2600" b="1" dirty="0" smtClean="0">
                <a:latin typeface="Comic Sans MS" panose="030F0702030302020204" pitchFamily="66" charset="0"/>
              </a:rPr>
              <a:t>building for a poorer country like Iran</a:t>
            </a:r>
            <a:endParaRPr lang="en-GB" altLang="en-US" sz="2600" b="1" dirty="0">
              <a:latin typeface="Comic Sans MS" panose="030F0702030302020204" pitchFamily="66" charset="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555" y="1763815"/>
            <a:ext cx="7920879" cy="423047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GB" altLang="en-US" sz="2400" dirty="0" smtClean="0">
                <a:latin typeface="Comic Sans MS" panose="030F0702030302020204" pitchFamily="66" charset="0"/>
              </a:rPr>
              <a:t>1. How </a:t>
            </a:r>
            <a:r>
              <a:rPr lang="en-GB" altLang="en-US" sz="2400" dirty="0">
                <a:latin typeface="Comic Sans MS" panose="030F0702030302020204" pitchFamily="66" charset="0"/>
              </a:rPr>
              <a:t>will you stop </a:t>
            </a:r>
            <a:r>
              <a:rPr lang="en-GB" altLang="en-US" sz="2400" dirty="0" smtClean="0">
                <a:latin typeface="Comic Sans MS" panose="030F0702030302020204" pitchFamily="66" charset="0"/>
              </a:rPr>
              <a:t>the building from </a:t>
            </a:r>
            <a:r>
              <a:rPr lang="en-GB" altLang="en-US" sz="2400" dirty="0">
                <a:latin typeface="Comic Sans MS" panose="030F0702030302020204" pitchFamily="66" charset="0"/>
              </a:rPr>
              <a:t>collapsing</a:t>
            </a:r>
            <a:r>
              <a:rPr lang="en-GB" altLang="en-US" sz="2400" dirty="0" smtClean="0">
                <a:latin typeface="Comic Sans MS" panose="030F0702030302020204" pitchFamily="66" charset="0"/>
              </a:rPr>
              <a:t>?</a:t>
            </a:r>
          </a:p>
          <a:p>
            <a:pPr marL="0" indent="0">
              <a:lnSpc>
                <a:spcPct val="90000"/>
              </a:lnSpc>
              <a:buNone/>
            </a:pPr>
            <a:endParaRPr lang="en-GB" altLang="en-US" sz="1600" dirty="0">
              <a:latin typeface="Comic Sans MS" panose="030F0702030302020204" pitchFamily="66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2400" dirty="0" smtClean="0">
                <a:latin typeface="Comic Sans MS" panose="030F0702030302020204" pitchFamily="66" charset="0"/>
              </a:rPr>
              <a:t>2. How will people inside the building be protected as </a:t>
            </a:r>
            <a:r>
              <a:rPr lang="en-GB" altLang="en-US" sz="2400" dirty="0">
                <a:latin typeface="Comic Sans MS" panose="030F0702030302020204" pitchFamily="66" charset="0"/>
              </a:rPr>
              <a:t>it moves</a:t>
            </a:r>
            <a:r>
              <a:rPr lang="en-GB" altLang="en-US" sz="2400" dirty="0" smtClean="0">
                <a:latin typeface="Comic Sans MS" panose="030F0702030302020204" pitchFamily="66" charset="0"/>
              </a:rPr>
              <a:t>?</a:t>
            </a:r>
          </a:p>
          <a:p>
            <a:pPr marL="0" indent="0">
              <a:lnSpc>
                <a:spcPct val="90000"/>
              </a:lnSpc>
              <a:buNone/>
            </a:pPr>
            <a:endParaRPr lang="en-GB" altLang="en-US" sz="1600" dirty="0">
              <a:latin typeface="Comic Sans MS" panose="030F0702030302020204" pitchFamily="66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2400" dirty="0" smtClean="0">
                <a:latin typeface="Comic Sans MS" panose="030F0702030302020204" pitchFamily="66" charset="0"/>
              </a:rPr>
              <a:t>3. What </a:t>
            </a:r>
            <a:r>
              <a:rPr lang="en-GB" altLang="en-US" sz="2400" dirty="0">
                <a:latin typeface="Comic Sans MS" panose="030F0702030302020204" pitchFamily="66" charset="0"/>
              </a:rPr>
              <a:t>about falling glass and rubble on the people </a:t>
            </a:r>
            <a:r>
              <a:rPr lang="en-GB" altLang="en-US" sz="2400" dirty="0" smtClean="0">
                <a:latin typeface="Comic Sans MS" panose="030F0702030302020204" pitchFamily="66" charset="0"/>
              </a:rPr>
              <a:t>below?</a:t>
            </a:r>
          </a:p>
          <a:p>
            <a:pPr marL="0" indent="0">
              <a:lnSpc>
                <a:spcPct val="90000"/>
              </a:lnSpc>
              <a:buNone/>
            </a:pPr>
            <a:endParaRPr lang="en-GB" altLang="en-US" sz="1600" dirty="0">
              <a:latin typeface="Comic Sans MS" panose="030F0702030302020204" pitchFamily="66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2400" dirty="0" smtClean="0">
                <a:latin typeface="Comic Sans MS" panose="030F0702030302020204" pitchFamily="66" charset="0"/>
              </a:rPr>
              <a:t>4. What </a:t>
            </a:r>
            <a:r>
              <a:rPr lang="en-GB" altLang="en-US" sz="2400" dirty="0">
                <a:latin typeface="Comic Sans MS" panose="030F0702030302020204" pitchFamily="66" charset="0"/>
              </a:rPr>
              <a:t>about problems after the </a:t>
            </a:r>
            <a:r>
              <a:rPr lang="en-GB" altLang="en-US" sz="2400" dirty="0" smtClean="0">
                <a:latin typeface="Comic Sans MS" panose="030F0702030302020204" pitchFamily="66" charset="0"/>
              </a:rPr>
              <a:t>earthquake:</a:t>
            </a:r>
            <a:r>
              <a:rPr lang="en-GB" altLang="en-US" sz="2400" i="1" dirty="0" smtClean="0">
                <a:latin typeface="Comic Sans MS" panose="030F0702030302020204" pitchFamily="66" charset="0"/>
              </a:rPr>
              <a:t> </a:t>
            </a:r>
            <a:r>
              <a:rPr lang="en-GB" altLang="en-US" sz="2400" i="1" dirty="0">
                <a:latin typeface="Comic Sans MS" panose="030F0702030302020204" pitchFamily="66" charset="0"/>
              </a:rPr>
              <a:t>gas and water </a:t>
            </a:r>
            <a:r>
              <a:rPr lang="en-GB" altLang="en-US" sz="2400" i="1" dirty="0" smtClean="0">
                <a:latin typeface="Comic Sans MS" panose="030F0702030302020204" pitchFamily="66" charset="0"/>
              </a:rPr>
              <a:t>leaks?</a:t>
            </a:r>
            <a:endParaRPr lang="en-GB" altLang="en-US" sz="2400" i="1" dirty="0">
              <a:latin typeface="Comic Sans MS" panose="030F0702030302020204" pitchFamily="66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GB" altLang="en-US" sz="1600" dirty="0" smtClean="0">
              <a:latin typeface="Comic Sans MS" panose="030F0702030302020204" pitchFamily="66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2400" dirty="0" smtClean="0">
                <a:latin typeface="Comic Sans MS" panose="030F0702030302020204" pitchFamily="66" charset="0"/>
              </a:rPr>
              <a:t>5. Will the building be located away </a:t>
            </a:r>
            <a:r>
              <a:rPr lang="en-GB" altLang="en-US" sz="2400" dirty="0">
                <a:latin typeface="Comic Sans MS" panose="030F0702030302020204" pitchFamily="66" charset="0"/>
              </a:rPr>
              <a:t>from built up areas or </a:t>
            </a:r>
            <a:r>
              <a:rPr lang="en-GB" altLang="en-US" sz="2400" dirty="0" smtClean="0">
                <a:latin typeface="Comic Sans MS" panose="030F0702030302020204" pitchFamily="66" charset="0"/>
              </a:rPr>
              <a:t>near to </a:t>
            </a:r>
            <a:r>
              <a:rPr lang="en-GB" altLang="en-US" sz="2400" dirty="0">
                <a:latin typeface="Comic Sans MS" panose="030F0702030302020204" pitchFamily="66" charset="0"/>
              </a:rPr>
              <a:t>emergency services</a:t>
            </a:r>
            <a:r>
              <a:rPr lang="en-GB" altLang="en-US" sz="2400" dirty="0" smtClean="0">
                <a:latin typeface="Comic Sans MS" panose="030F0702030302020204" pitchFamily="66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56565" y="638690"/>
            <a:ext cx="7772400" cy="614155"/>
          </a:xfrm>
        </p:spPr>
        <p:txBody>
          <a:bodyPr/>
          <a:lstStyle/>
          <a:p>
            <a:r>
              <a:rPr lang="en-US" altLang="en-US" sz="3600" b="1" dirty="0">
                <a:solidFill>
                  <a:srgbClr val="FFFF00"/>
                </a:solidFill>
                <a:latin typeface="Comic Sans MS" panose="030F0702030302020204" pitchFamily="66" charset="0"/>
              </a:rPr>
              <a:t>Plenary</a:t>
            </a:r>
            <a:endParaRPr lang="en-GB" altLang="en-US" sz="3600" b="1" dirty="0">
              <a:solidFill>
                <a:srgbClr val="FFFF00"/>
              </a:solidFill>
              <a:latin typeface="Comic Sans MS" panose="030F0702030302020204" pitchFamily="66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514" y="1448781"/>
            <a:ext cx="8685965" cy="4815534"/>
          </a:xfrm>
        </p:spPr>
        <p:txBody>
          <a:bodyPr/>
          <a:lstStyle/>
          <a:p>
            <a:pPr indent="0">
              <a:buFontTx/>
              <a:buNone/>
            </a:pPr>
            <a:r>
              <a:rPr lang="en-US" altLang="en-US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The </a:t>
            </a:r>
            <a:r>
              <a:rPr lang="en-US" altLang="en-US" sz="2400" b="1" dirty="0">
                <a:solidFill>
                  <a:srgbClr val="FFFF00"/>
                </a:solidFill>
                <a:latin typeface="Comic Sans MS" panose="030F0702030302020204" pitchFamily="66" charset="0"/>
              </a:rPr>
              <a:t>size of the earthquake on the Richter scale does not mean there will be more damage and destruction. </a:t>
            </a:r>
            <a:endParaRPr lang="en-US" altLang="en-US" sz="2400" b="1" dirty="0" smtClean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pPr indent="0">
              <a:buFontTx/>
              <a:buNone/>
            </a:pPr>
            <a:endParaRPr lang="en-US" altLang="en-US" sz="2400" b="1" dirty="0" smtClean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pPr indent="0">
              <a:buFontTx/>
              <a:buNone/>
            </a:pPr>
            <a:r>
              <a:rPr lang="en-US" altLang="en-US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What </a:t>
            </a:r>
            <a:r>
              <a:rPr lang="en-US" altLang="en-US" sz="2400" b="1" dirty="0">
                <a:solidFill>
                  <a:srgbClr val="FFFF00"/>
                </a:solidFill>
                <a:latin typeface="Comic Sans MS" panose="030F0702030302020204" pitchFamily="66" charset="0"/>
              </a:rPr>
              <a:t>is more important is </a:t>
            </a:r>
            <a:r>
              <a:rPr lang="en-US" altLang="en-US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how people </a:t>
            </a:r>
            <a:r>
              <a:rPr lang="en-US" altLang="en-US" sz="2400" b="1" dirty="0">
                <a:solidFill>
                  <a:srgbClr val="FFFF00"/>
                </a:solidFill>
                <a:latin typeface="Comic Sans MS" panose="030F0702030302020204" pitchFamily="66" charset="0"/>
              </a:rPr>
              <a:t>are </a:t>
            </a:r>
            <a:r>
              <a:rPr lang="en-US" altLang="en-US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respond </a:t>
            </a:r>
            <a:r>
              <a:rPr lang="en-US" altLang="en-US" sz="2400" b="1" dirty="0">
                <a:solidFill>
                  <a:srgbClr val="FFFF00"/>
                </a:solidFill>
                <a:latin typeface="Comic Sans MS" panose="030F0702030302020204" pitchFamily="66" charset="0"/>
              </a:rPr>
              <a:t>to earthquakes and how much money can be spent on making buildings, </a:t>
            </a:r>
            <a:r>
              <a:rPr lang="en-US" altLang="en-US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bridges and </a:t>
            </a:r>
            <a:r>
              <a:rPr lang="en-US" altLang="en-US" sz="2400" b="1" dirty="0">
                <a:solidFill>
                  <a:srgbClr val="FFFF00"/>
                </a:solidFill>
                <a:latin typeface="Comic Sans MS" panose="030F0702030302020204" pitchFamily="66" charset="0"/>
              </a:rPr>
              <a:t>pipes </a:t>
            </a:r>
            <a:r>
              <a:rPr lang="en-US" altLang="en-US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more earthquake </a:t>
            </a:r>
            <a:r>
              <a:rPr lang="en-US" altLang="en-US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safe.</a:t>
            </a:r>
            <a:endParaRPr lang="en-US" altLang="en-US" sz="2400" b="1" dirty="0" smtClean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pPr indent="0">
              <a:buFontTx/>
              <a:buNone/>
            </a:pPr>
            <a:endParaRPr lang="en-US" altLang="en-US" sz="2400" b="1" dirty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pPr indent="0">
              <a:buFontTx/>
              <a:buNone/>
            </a:pPr>
            <a:r>
              <a:rPr lang="en-US" altLang="en-US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Therefore </a:t>
            </a:r>
            <a:r>
              <a:rPr lang="en-US" altLang="en-US" sz="2400" b="1" dirty="0">
                <a:solidFill>
                  <a:srgbClr val="FFFF00"/>
                </a:solidFill>
                <a:latin typeface="Comic Sans MS" panose="030F0702030302020204" pitchFamily="66" charset="0"/>
              </a:rPr>
              <a:t>richer countries like Japan and the USA have less </a:t>
            </a:r>
            <a:r>
              <a:rPr lang="en-US" altLang="en-US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problems</a:t>
            </a:r>
            <a:r>
              <a:rPr lang="en-US" altLang="en-US" sz="2400" b="1" dirty="0">
                <a:solidFill>
                  <a:srgbClr val="FFFF00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and fewer deaths caused by earthquakes.</a:t>
            </a:r>
            <a:endParaRPr lang="en-GB" altLang="en-US" sz="2400" b="1" dirty="0">
              <a:solidFill>
                <a:srgbClr val="FFFF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N:\MyWork\AppData\TEMPLATES\Blank Presentation.pot</Template>
  <TotalTime>725</TotalTime>
  <Words>647</Words>
  <Application>Microsoft Office PowerPoint</Application>
  <PresentationFormat>On-screen Show (4:3)</PresentationFormat>
  <Paragraphs>72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BLANK PRESENTATION</vt:lpstr>
      <vt:lpstr>7. Design an earthquake safe building</vt:lpstr>
      <vt:lpstr>7. Design an earthquake safe building</vt:lpstr>
      <vt:lpstr>PowerPoint Presentation</vt:lpstr>
      <vt:lpstr>PowerPoint Presentation</vt:lpstr>
      <vt:lpstr>An earthquake safe building in San Francisco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 to consider when designing an earthquake safe building for a poorer country like Iran</vt:lpstr>
      <vt:lpstr>Plenary</vt:lpstr>
    </vt:vector>
  </TitlesOfParts>
  <Company>RM Networks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 Building to withstand Earthquakes</dc:title>
  <dc:creator>RM</dc:creator>
  <cp:lastModifiedBy>David Parker</cp:lastModifiedBy>
  <cp:revision>66</cp:revision>
  <dcterms:created xsi:type="dcterms:W3CDTF">2004-03-02T09:57:51Z</dcterms:created>
  <dcterms:modified xsi:type="dcterms:W3CDTF">2015-08-24T21:05:01Z</dcterms:modified>
</cp:coreProperties>
</file>
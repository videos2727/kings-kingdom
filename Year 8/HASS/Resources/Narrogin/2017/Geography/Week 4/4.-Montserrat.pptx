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9AFB6-418D-4898-94BD-12593D50F7D5}" type="datetimeFigureOut">
              <a:rPr lang="en-GB" smtClean="0"/>
              <a:t>03/02/2014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A281F-15B2-487C-802B-97EFFA46F1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40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F8615-94FB-4410-964B-0DE38A29B28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89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336F-C094-4AD9-9766-4D4BEB27920B}" type="datetimeFigureOut">
              <a:rPr lang="en-GB" smtClean="0"/>
              <a:t>03/02/2014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E5B6-60BD-45AB-BD19-F880F0677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20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336F-C094-4AD9-9766-4D4BEB27920B}" type="datetimeFigureOut">
              <a:rPr lang="en-GB" smtClean="0"/>
              <a:t>03/02/2014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E5B6-60BD-45AB-BD19-F880F0677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398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336F-C094-4AD9-9766-4D4BEB27920B}" type="datetimeFigureOut">
              <a:rPr lang="en-GB" smtClean="0"/>
              <a:t>03/02/2014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E5B6-60BD-45AB-BD19-F880F0677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244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336F-C094-4AD9-9766-4D4BEB27920B}" type="datetimeFigureOut">
              <a:rPr lang="en-GB" smtClean="0"/>
              <a:t>03/02/2014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E5B6-60BD-45AB-BD19-F880F0677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97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336F-C094-4AD9-9766-4D4BEB27920B}" type="datetimeFigureOut">
              <a:rPr lang="en-GB" smtClean="0"/>
              <a:t>03/02/2014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E5B6-60BD-45AB-BD19-F880F0677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76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336F-C094-4AD9-9766-4D4BEB27920B}" type="datetimeFigureOut">
              <a:rPr lang="en-GB" smtClean="0"/>
              <a:t>03/02/2014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E5B6-60BD-45AB-BD19-F880F0677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28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336F-C094-4AD9-9766-4D4BEB27920B}" type="datetimeFigureOut">
              <a:rPr lang="en-GB" smtClean="0"/>
              <a:t>03/02/2014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E5B6-60BD-45AB-BD19-F880F0677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916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336F-C094-4AD9-9766-4D4BEB27920B}" type="datetimeFigureOut">
              <a:rPr lang="en-GB" smtClean="0"/>
              <a:t>03/02/2014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E5B6-60BD-45AB-BD19-F880F0677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945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336F-C094-4AD9-9766-4D4BEB27920B}" type="datetimeFigureOut">
              <a:rPr lang="en-GB" smtClean="0"/>
              <a:t>03/02/2014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E5B6-60BD-45AB-BD19-F880F0677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344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336F-C094-4AD9-9766-4D4BEB27920B}" type="datetimeFigureOut">
              <a:rPr lang="en-GB" smtClean="0"/>
              <a:t>03/02/2014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E5B6-60BD-45AB-BD19-F880F0677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586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336F-C094-4AD9-9766-4D4BEB27920B}" type="datetimeFigureOut">
              <a:rPr lang="en-GB" smtClean="0"/>
              <a:t>03/02/2014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3E5B6-60BD-45AB-BD19-F880F0677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0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A336F-C094-4AD9-9766-4D4BEB27920B}" type="datetimeFigureOut">
              <a:rPr lang="en-GB" smtClean="0"/>
              <a:t>03/02/2014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3E5B6-60BD-45AB-BD19-F880F0677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7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www.google.co.uk/url?sa=i&amp;rct=j&amp;q=montserrat%20covered%20in%20ash&amp;source=images&amp;cd=&amp;cad=rja&amp;docid=YaywqWS3ju06XM&amp;tbnid=GcilJjSMDxOGcM:&amp;ved=&amp;url=http://priestlandsgeog.blogspot.com/2010/04/montserrat-volcano-ledc-cast-study.html&amp;ei=fGzvUpXGO4bJhAfO9oEg&amp;psig=AFQjCNHg3CX5RVMYx0vxvNdvIgCSPsamMQ&amp;ust=1391508989413160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18321" y="1700808"/>
            <a:ext cx="4125679" cy="4926409"/>
          </a:xfrm>
        </p:spPr>
        <p:txBody>
          <a:bodyPr/>
          <a:lstStyle/>
          <a:p>
            <a:r>
              <a:rPr lang="en-GB" sz="6000" dirty="0" smtClean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4. </a:t>
            </a:r>
            <a:r>
              <a:rPr lang="en-GB" dirty="0" smtClean="0">
                <a:solidFill>
                  <a:srgbClr val="FFF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Montserrat: Living with a volcano</a:t>
            </a:r>
            <a:endParaRPr lang="en-GB" dirty="0">
              <a:solidFill>
                <a:srgbClr val="FFFF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026" name="Picture 2" descr="http://cdn.theatlantic.com/static/infocus/souf050313/s01_00000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925714" y="913965"/>
            <a:ext cx="6833238" cy="505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872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sz="3600" b="1" dirty="0" smtClean="0">
                <a:latin typeface="Comic Sans MS" panose="030F0702030302020204" pitchFamily="66" charset="0"/>
              </a:rPr>
              <a:t>4. Montserrat: Living with a volcano</a:t>
            </a:r>
            <a:endParaRPr lang="en-GB" sz="3600" b="1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628800"/>
            <a:ext cx="8507288" cy="4608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By the end of the end of the lesson you should be able to:</a:t>
            </a:r>
          </a:p>
          <a:p>
            <a:pPr marL="0" indent="0">
              <a:buNone/>
            </a:pPr>
            <a:endParaRPr lang="en-GB" sz="1200" b="1" dirty="0" smtClean="0">
              <a:latin typeface="Comic Sans MS" panose="030F0702030302020204" pitchFamily="66" charset="0"/>
            </a:endParaRPr>
          </a:p>
          <a:p>
            <a:r>
              <a:rPr lang="en-GB" sz="2800" dirty="0" smtClean="0">
                <a:latin typeface="Comic Sans MS" panose="030F0702030302020204" pitchFamily="66" charset="0"/>
              </a:rPr>
              <a:t>Explain why the </a:t>
            </a:r>
            <a:r>
              <a:rPr lang="en-GB" sz="2800" dirty="0" err="1">
                <a:latin typeface="Comic Sans MS" panose="030F0702030302020204" pitchFamily="66" charset="0"/>
              </a:rPr>
              <a:t>Soufrière</a:t>
            </a:r>
            <a:r>
              <a:rPr lang="en-GB" sz="2800" dirty="0">
                <a:latin typeface="Comic Sans MS" panose="030F0702030302020204" pitchFamily="66" charset="0"/>
              </a:rPr>
              <a:t> Hills </a:t>
            </a:r>
            <a:r>
              <a:rPr lang="en-GB" sz="2800" dirty="0" smtClean="0">
                <a:latin typeface="Comic Sans MS" panose="030F0702030302020204" pitchFamily="66" charset="0"/>
              </a:rPr>
              <a:t>volcano </a:t>
            </a:r>
            <a:r>
              <a:rPr lang="en-GB" sz="2800" dirty="0" smtClean="0">
                <a:latin typeface="Comic Sans MS" panose="030F0702030302020204" pitchFamily="66" charset="0"/>
              </a:rPr>
              <a:t>on Montserrat is erupting.</a:t>
            </a:r>
          </a:p>
          <a:p>
            <a:pPr marL="0" indent="0">
              <a:buNone/>
            </a:pPr>
            <a:endParaRPr lang="en-GB" sz="1100" dirty="0" smtClean="0">
              <a:latin typeface="Comic Sans MS" panose="030F0702030302020204" pitchFamily="66" charset="0"/>
            </a:endParaRPr>
          </a:p>
          <a:p>
            <a:r>
              <a:rPr lang="en-GB" sz="2800" dirty="0" smtClean="0">
                <a:latin typeface="Comic Sans MS" panose="030F0702030302020204" pitchFamily="66" charset="0"/>
              </a:rPr>
              <a:t>Know why a pyroclastic flow is so deadly.</a:t>
            </a:r>
            <a:endParaRPr lang="en-GB" sz="2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GB" sz="1200" dirty="0" smtClean="0">
              <a:latin typeface="Comic Sans MS" panose="030F0702030302020204" pitchFamily="66" charset="0"/>
            </a:endParaRPr>
          </a:p>
          <a:p>
            <a:r>
              <a:rPr lang="en-GB" sz="2800" dirty="0" smtClean="0">
                <a:latin typeface="Comic Sans MS" panose="030F0702030302020204" pitchFamily="66" charset="0"/>
              </a:rPr>
              <a:t>Describe what happened to Plymouth, the capital and other settlements in the south.</a:t>
            </a:r>
          </a:p>
          <a:p>
            <a:pPr marL="0" indent="0">
              <a:buNone/>
            </a:pPr>
            <a:endParaRPr lang="en-GB" sz="1200" dirty="0" smtClean="0">
              <a:latin typeface="Comic Sans MS" panose="030F0702030302020204" pitchFamily="66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8529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bgs.ac.uk/discoveringgeology/hazards/volcanoes/images/tectonics_fig2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0" t="2830" r="699" b="5213"/>
          <a:stretch/>
        </p:blipFill>
        <p:spPr bwMode="auto">
          <a:xfrm>
            <a:off x="-36512" y="-27384"/>
            <a:ext cx="9180512" cy="461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44624"/>
            <a:ext cx="6192688" cy="778098"/>
          </a:xfrm>
        </p:spPr>
        <p:txBody>
          <a:bodyPr>
            <a:normAutofit fontScale="90000"/>
          </a:bodyPr>
          <a:lstStyle/>
          <a:p>
            <a:r>
              <a:rPr lang="en-GB" sz="3600" b="1" dirty="0" smtClean="0">
                <a:latin typeface="Comic Sans MS" panose="030F0702030302020204" pitchFamily="66" charset="0"/>
              </a:rPr>
              <a:t>Why is the volcano erupting?</a:t>
            </a:r>
            <a:endParaRPr lang="en-GB" sz="3600" b="1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2852936"/>
            <a:ext cx="2335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 smtClean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South American plate</a:t>
            </a:r>
            <a:endParaRPr lang="en-GB" sz="1600" b="1" dirty="0">
              <a:solidFill>
                <a:schemeClr val="tx2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52320" y="2653246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 smtClean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Caribbean plate</a:t>
            </a:r>
            <a:endParaRPr lang="en-GB" sz="1600" b="1" dirty="0">
              <a:solidFill>
                <a:schemeClr val="tx2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36512" y="4581128"/>
            <a:ext cx="9180513" cy="227754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>
                <a:latin typeface="Comic Sans MS" panose="030F0702030302020204" pitchFamily="66" charset="0"/>
              </a:rPr>
              <a:t>T</a:t>
            </a:r>
            <a:r>
              <a:rPr lang="en-GB" b="1" dirty="0" smtClean="0">
                <a:latin typeface="Comic Sans MS" panose="030F0702030302020204" pitchFamily="66" charset="0"/>
              </a:rPr>
              <a:t>he heavier North and South American plates have pushed under the lighter Caribbean plate.</a:t>
            </a:r>
          </a:p>
          <a:p>
            <a:pPr marL="342900" indent="-342900">
              <a:buFont typeface="+mj-lt"/>
              <a:buAutoNum type="arabicPeriod"/>
            </a:pPr>
            <a:endParaRPr lang="en-GB" sz="1000" dirty="0" smtClean="0">
              <a:latin typeface="Comic Sans MS" panose="030F0702030302020204" pitchFamily="66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1" dirty="0" smtClean="0">
                <a:latin typeface="Comic Sans MS" panose="030F0702030302020204" pitchFamily="66" charset="0"/>
              </a:rPr>
              <a:t>Rock melted and pushed its way through the ocean floor forming underwater volcanoes.</a:t>
            </a:r>
          </a:p>
          <a:p>
            <a:pPr marL="342900" indent="-342900">
              <a:buFont typeface="+mj-lt"/>
              <a:buAutoNum type="arabicPeriod"/>
            </a:pPr>
            <a:endParaRPr lang="en-GB" sz="1000" dirty="0" smtClean="0">
              <a:latin typeface="Comic Sans MS" panose="030F0702030302020204" pitchFamily="66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1" dirty="0" smtClean="0">
                <a:latin typeface="Comic Sans MS" panose="030F0702030302020204" pitchFamily="66" charset="0"/>
              </a:rPr>
              <a:t>The volcanoes grew, forming Montserrat and other Caribbean islands.</a:t>
            </a:r>
          </a:p>
          <a:p>
            <a:pPr marL="342900" indent="-342900">
              <a:buFont typeface="+mj-lt"/>
              <a:buAutoNum type="arabicPeriod"/>
            </a:pPr>
            <a:endParaRPr lang="en-GB" sz="1000" dirty="0" smtClean="0">
              <a:latin typeface="Comic Sans MS" panose="030F0702030302020204" pitchFamily="66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1" dirty="0" smtClean="0">
                <a:latin typeface="Comic Sans MS" panose="030F0702030302020204" pitchFamily="66" charset="0"/>
              </a:rPr>
              <a:t>The plates are still moving, causing Montserrat’s volcano to erupt again.</a:t>
            </a:r>
          </a:p>
        </p:txBody>
      </p:sp>
    </p:spTree>
    <p:extLst>
      <p:ext uri="{BB962C8B-B14F-4D97-AF65-F5344CB8AC3E}">
        <p14:creationId xmlns:p14="http://schemas.microsoft.com/office/powerpoint/2010/main" val="4048494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632"/>
            <a:ext cx="5724128" cy="774029"/>
          </a:xfrm>
        </p:spPr>
        <p:txBody>
          <a:bodyPr>
            <a:noAutofit/>
          </a:bodyPr>
          <a:lstStyle/>
          <a:p>
            <a:r>
              <a:rPr lang="en-GB" sz="36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The Volcano Awakens</a:t>
            </a:r>
            <a:endParaRPr lang="en-GB" sz="3600" b="1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3648" y="1304764"/>
            <a:ext cx="4608512" cy="9721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In January </a:t>
            </a:r>
            <a:r>
              <a:rPr lang="en-GB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1995 </a:t>
            </a:r>
            <a:r>
              <a:rPr lang="en-GB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11000 people lived on Montserrat.</a:t>
            </a:r>
          </a:p>
          <a:p>
            <a:pPr marL="0" indent="0">
              <a:buNone/>
            </a:pPr>
            <a:endParaRPr lang="en-GB" sz="1800" b="1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GB" sz="1800" b="1" dirty="0" smtClean="0">
              <a:latin typeface="Comic Sans MS" panose="030F0702030302020204" pitchFamily="66" charset="0"/>
            </a:endParaRPr>
          </a:p>
        </p:txBody>
      </p:sp>
      <p:pic>
        <p:nvPicPr>
          <p:cNvPr id="2050" name="Picture 2" descr="http://www.njcharters.com/nj_charters_blog/uploaded_images/Montserrat-volcano-72198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02" y="2276872"/>
            <a:ext cx="3245705" cy="216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986" y="5157192"/>
            <a:ext cx="53593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People </a:t>
            </a:r>
            <a:r>
              <a:rPr lang="en-GB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abandoned the </a:t>
            </a:r>
            <a:r>
              <a:rPr lang="en-GB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c</a:t>
            </a:r>
            <a:r>
              <a:rPr lang="en-GB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apital, Plymouth and by </a:t>
            </a:r>
            <a:r>
              <a:rPr lang="en-GB" sz="2400" b="1" dirty="0" smtClean="0">
                <a:solidFill>
                  <a:srgbClr val="FFFF00"/>
                </a:solidFill>
                <a:latin typeface="Comic Sans MS" panose="030F0702030302020204" pitchFamily="66" charset="0"/>
              </a:rPr>
              <a:t>April 1996 the South of the island was empty.</a:t>
            </a:r>
          </a:p>
          <a:p>
            <a:endParaRPr lang="en-GB" dirty="0"/>
          </a:p>
        </p:txBody>
      </p:sp>
      <p:pic>
        <p:nvPicPr>
          <p:cNvPr id="5" name="Picture 2" descr="http://www.geo-logic.org/images/Predicting/Montserrat/plymouth-518555-sw%20aft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356" y="4465604"/>
            <a:ext cx="3704546" cy="2347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://tejiendoelmundo.wordpress.com/files/2009/10/plymouth_montserrat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58" t="5322" r="34167" b="39790"/>
          <a:stretch/>
        </p:blipFill>
        <p:spPr bwMode="auto">
          <a:xfrm>
            <a:off x="5900365" y="24991"/>
            <a:ext cx="3234400" cy="2611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347864" y="2886035"/>
            <a:ext cx="5786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On July 18</a:t>
            </a:r>
            <a:r>
              <a:rPr lang="en-GB" sz="2400" b="1" baseline="30000" dirty="0">
                <a:solidFill>
                  <a:srgbClr val="FFFF00"/>
                </a:solidFill>
                <a:latin typeface="Comic Sans MS" panose="030F0702030302020204" pitchFamily="66" charset="0"/>
              </a:rPr>
              <a:t>th</a:t>
            </a:r>
            <a:r>
              <a:rPr lang="en-GB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 1995 the volcano began to awaken after nearly 400 years.</a:t>
            </a:r>
          </a:p>
        </p:txBody>
      </p:sp>
    </p:spTree>
    <p:extLst>
      <p:ext uri="{BB962C8B-B14F-4D97-AF65-F5344CB8AC3E}">
        <p14:creationId xmlns:p14="http://schemas.microsoft.com/office/powerpoint/2010/main" val="49934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r>
              <a:rPr lang="en-GB" sz="3600" b="1" dirty="0" smtClean="0">
                <a:latin typeface="Comic Sans MS" panose="030F0702030302020204" pitchFamily="66" charset="0"/>
              </a:rPr>
              <a:t>Pyroclastic Flows</a:t>
            </a:r>
            <a:endParaRPr lang="en-GB" sz="3600" b="1" dirty="0">
              <a:latin typeface="Comic Sans MS" panose="030F0702030302020204" pitchFamily="66" charset="0"/>
            </a:endParaRPr>
          </a:p>
        </p:txBody>
      </p:sp>
      <p:sp>
        <p:nvSpPr>
          <p:cNvPr id="4" name="AutoShape 2" descr="http://www.photovolcanica.com/VolcanoInfo/Soufriere%20Hills/MS10_0717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 descr="http://www.photovolcanica.com/VolcanoInfo/Soufriere%20Hills/MS10_0717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872" y="810759"/>
            <a:ext cx="5091344" cy="600261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5496" y="764704"/>
            <a:ext cx="4176464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 smtClean="0">
                <a:latin typeface="Comic Sans MS" panose="030F0702030302020204" pitchFamily="66" charset="0"/>
              </a:rPr>
              <a:t>Pyroclastic flows </a:t>
            </a:r>
            <a:r>
              <a:rPr lang="en-GB" sz="2200" dirty="0" smtClean="0">
                <a:latin typeface="Comic Sans MS" panose="030F0702030302020204" pitchFamily="66" charset="0"/>
              </a:rPr>
              <a:t>are a </a:t>
            </a:r>
            <a:r>
              <a:rPr lang="en-GB" sz="2200" dirty="0" smtClean="0">
                <a:latin typeface="Comic Sans MS" panose="030F0702030302020204" pitchFamily="66" charset="0"/>
              </a:rPr>
              <a:t>mixture </a:t>
            </a:r>
            <a:r>
              <a:rPr lang="en-GB" sz="2200" dirty="0">
                <a:latin typeface="Comic Sans MS" panose="030F0702030302020204" pitchFamily="66" charset="0"/>
              </a:rPr>
              <a:t>of hot volcanic ash, boulders and </a:t>
            </a:r>
            <a:r>
              <a:rPr lang="en-GB" sz="2200" dirty="0" smtClean="0">
                <a:latin typeface="Comic Sans MS" panose="030F0702030302020204" pitchFamily="66" charset="0"/>
              </a:rPr>
              <a:t>gas.</a:t>
            </a:r>
          </a:p>
          <a:p>
            <a:endParaRPr lang="en-GB" sz="1400" dirty="0" smtClean="0">
              <a:latin typeface="Comic Sans MS" panose="030F0702030302020204" pitchFamily="66" charset="0"/>
            </a:endParaRPr>
          </a:p>
          <a:p>
            <a:r>
              <a:rPr lang="en-GB" sz="2200" dirty="0" smtClean="0">
                <a:latin typeface="Comic Sans MS" panose="030F0702030302020204" pitchFamily="66" charset="0"/>
              </a:rPr>
              <a:t>Temperatures </a:t>
            </a:r>
            <a:r>
              <a:rPr lang="en-GB" sz="2200" dirty="0">
                <a:latin typeface="Comic Sans MS" panose="030F0702030302020204" pitchFamily="66" charset="0"/>
              </a:rPr>
              <a:t>can be from 100 to </a:t>
            </a:r>
            <a:r>
              <a:rPr lang="en-GB" sz="2200" dirty="0" smtClean="0">
                <a:latin typeface="Comic Sans MS" panose="030F0702030302020204" pitchFamily="66" charset="0"/>
              </a:rPr>
              <a:t>600 C </a:t>
            </a:r>
            <a:endParaRPr lang="en-GB" sz="2200" dirty="0" smtClean="0">
              <a:latin typeface="Comic Sans MS" panose="030F0702030302020204" pitchFamily="66" charset="0"/>
            </a:endParaRPr>
          </a:p>
          <a:p>
            <a:endParaRPr lang="en-GB" sz="1400" dirty="0" smtClean="0">
              <a:latin typeface="Comic Sans MS" panose="030F0702030302020204" pitchFamily="66" charset="0"/>
            </a:endParaRPr>
          </a:p>
          <a:p>
            <a:r>
              <a:rPr lang="en-GB" sz="2200" dirty="0" smtClean="0">
                <a:latin typeface="Comic Sans MS" panose="030F0702030302020204" pitchFamily="66" charset="0"/>
              </a:rPr>
              <a:t>They travel </a:t>
            </a:r>
            <a:r>
              <a:rPr lang="en-GB" sz="2200" dirty="0">
                <a:latin typeface="Comic Sans MS" panose="030F0702030302020204" pitchFamily="66" charset="0"/>
              </a:rPr>
              <a:t>at </a:t>
            </a:r>
            <a:r>
              <a:rPr lang="en-GB" sz="2200" dirty="0" smtClean="0">
                <a:latin typeface="Comic Sans MS" panose="030F0702030302020204" pitchFamily="66" charset="0"/>
              </a:rPr>
              <a:t>over 70 mph down </a:t>
            </a:r>
            <a:r>
              <a:rPr lang="en-GB" sz="2200" dirty="0">
                <a:latin typeface="Comic Sans MS" panose="030F0702030302020204" pitchFamily="66" charset="0"/>
              </a:rPr>
              <a:t>the </a:t>
            </a:r>
            <a:r>
              <a:rPr lang="en-GB" sz="2200" dirty="0" smtClean="0">
                <a:latin typeface="Comic Sans MS" panose="030F0702030302020204" pitchFamily="66" charset="0"/>
              </a:rPr>
              <a:t>volcano</a:t>
            </a:r>
          </a:p>
          <a:p>
            <a:endParaRPr lang="en-GB" sz="1400" dirty="0" smtClean="0">
              <a:latin typeface="Comic Sans MS" panose="030F0702030302020204" pitchFamily="66" charset="0"/>
            </a:endParaRPr>
          </a:p>
          <a:p>
            <a:r>
              <a:rPr lang="en-GB" sz="2200" dirty="0" smtClean="0">
                <a:latin typeface="Comic Sans MS" panose="030F0702030302020204" pitchFamily="66" charset="0"/>
              </a:rPr>
              <a:t>Composite volcanoes </a:t>
            </a:r>
            <a:r>
              <a:rPr lang="en-GB" sz="2200" dirty="0" smtClean="0">
                <a:latin typeface="Comic Sans MS" panose="030F0702030302020204" pitchFamily="66" charset="0"/>
              </a:rPr>
              <a:t>erupting </a:t>
            </a:r>
            <a:r>
              <a:rPr lang="en-GB" sz="2200" dirty="0" smtClean="0">
                <a:latin typeface="Comic Sans MS" panose="030F0702030302020204" pitchFamily="66" charset="0"/>
              </a:rPr>
              <a:t>very </a:t>
            </a:r>
            <a:r>
              <a:rPr lang="en-GB" sz="2200" dirty="0">
                <a:latin typeface="Comic Sans MS" panose="030F0702030302020204" pitchFamily="66" charset="0"/>
              </a:rPr>
              <a:t>sticky </a:t>
            </a:r>
            <a:r>
              <a:rPr lang="en-GB" sz="2200" dirty="0" smtClean="0">
                <a:latin typeface="Comic Sans MS" panose="030F0702030302020204" pitchFamily="66" charset="0"/>
              </a:rPr>
              <a:t>lava </a:t>
            </a:r>
            <a:r>
              <a:rPr lang="en-GB" sz="2200" dirty="0">
                <a:latin typeface="Comic Sans MS" panose="030F0702030302020204" pitchFamily="66" charset="0"/>
              </a:rPr>
              <a:t>can </a:t>
            </a:r>
            <a:r>
              <a:rPr lang="en-GB" sz="2200" dirty="0" smtClean="0">
                <a:latin typeface="Comic Sans MS" panose="030F0702030302020204" pitchFamily="66" charset="0"/>
              </a:rPr>
              <a:t>produce </a:t>
            </a:r>
            <a:r>
              <a:rPr lang="en-GB" sz="2200" dirty="0">
                <a:latin typeface="Comic Sans MS" panose="030F0702030302020204" pitchFamily="66" charset="0"/>
              </a:rPr>
              <a:t>pyroclastic flows, when the dome becomes unstable. </a:t>
            </a:r>
            <a:endParaRPr lang="en-GB" sz="2200" dirty="0" smtClean="0">
              <a:latin typeface="Comic Sans MS" panose="030F0702030302020204" pitchFamily="66" charset="0"/>
            </a:endParaRPr>
          </a:p>
          <a:p>
            <a:endParaRPr lang="en-GB" sz="2400" dirty="0" smtClean="0">
              <a:latin typeface="Comic Sans MS" panose="030F0702030302020204" pitchFamily="66" charset="0"/>
            </a:endParaRPr>
          </a:p>
          <a:p>
            <a:r>
              <a:rPr lang="en-GB" sz="2200" dirty="0" smtClean="0">
                <a:latin typeface="Comic Sans MS" panose="030F0702030302020204" pitchFamily="66" charset="0"/>
              </a:rPr>
              <a:t>Pyroclastic </a:t>
            </a:r>
            <a:r>
              <a:rPr lang="en-GB" sz="2200" dirty="0">
                <a:latin typeface="Comic Sans MS" panose="030F0702030302020204" pitchFamily="66" charset="0"/>
              </a:rPr>
              <a:t>flows </a:t>
            </a:r>
            <a:r>
              <a:rPr lang="en-GB" sz="2200" dirty="0" smtClean="0">
                <a:latin typeface="Comic Sans MS" panose="030F0702030302020204" pitchFamily="66" charset="0"/>
              </a:rPr>
              <a:t>occur</a:t>
            </a:r>
            <a:r>
              <a:rPr lang="en-GB" sz="2200" dirty="0" smtClean="0">
                <a:latin typeface="Comic Sans MS" panose="030F0702030302020204" pitchFamily="66" charset="0"/>
              </a:rPr>
              <a:t> </a:t>
            </a:r>
            <a:r>
              <a:rPr lang="en-GB" sz="2200" dirty="0">
                <a:latin typeface="Comic Sans MS" panose="030F0702030302020204" pitchFamily="66" charset="0"/>
              </a:rPr>
              <a:t>when large portions of the dome collapse and disintegrate</a:t>
            </a:r>
            <a:r>
              <a:rPr lang="en-GB" sz="2200" dirty="0" smtClean="0">
                <a:latin typeface="Comic Sans MS" panose="030F0702030302020204" pitchFamily="66" charset="0"/>
              </a:rPr>
              <a:t>.</a:t>
            </a:r>
            <a:endParaRPr lang="en-GB" sz="22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166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8614"/>
            <a:ext cx="9144000" cy="634082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latin typeface="Comic Sans MS" panose="030F0702030302020204" pitchFamily="66" charset="0"/>
              </a:rPr>
              <a:t>When </a:t>
            </a:r>
            <a:r>
              <a:rPr lang="en-GB" sz="3200" b="1" dirty="0" err="1" smtClean="0">
                <a:latin typeface="Comic Sans MS" panose="030F0702030302020204" pitchFamily="66" charset="0"/>
              </a:rPr>
              <a:t>Soufr</a:t>
            </a:r>
            <a:r>
              <a:rPr lang="en-GB" sz="3200" b="1" dirty="0" err="1">
                <a:latin typeface="Comic Sans MS" panose="030F0702030302020204" pitchFamily="66" charset="0"/>
              </a:rPr>
              <a:t>ière</a:t>
            </a:r>
            <a:r>
              <a:rPr lang="en-GB" sz="3200" b="1" dirty="0" smtClean="0">
                <a:latin typeface="Comic Sans MS" panose="030F0702030302020204" pitchFamily="66" charset="0"/>
              </a:rPr>
              <a:t> </a:t>
            </a:r>
            <a:r>
              <a:rPr lang="en-GB" sz="3200" b="1" dirty="0">
                <a:latin typeface="Comic Sans MS" panose="030F0702030302020204" pitchFamily="66" charset="0"/>
              </a:rPr>
              <a:t>Hills </a:t>
            </a:r>
            <a:r>
              <a:rPr lang="en-GB" sz="3200" b="1" dirty="0" smtClean="0">
                <a:latin typeface="Comic Sans MS" panose="030F0702030302020204" pitchFamily="66" charset="0"/>
              </a:rPr>
              <a:t>volcano </a:t>
            </a:r>
            <a:r>
              <a:rPr lang="en-GB" sz="3200" b="1" dirty="0">
                <a:latin typeface="Comic Sans MS" panose="030F0702030302020204" pitchFamily="66" charset="0"/>
              </a:rPr>
              <a:t>b</a:t>
            </a:r>
            <a:r>
              <a:rPr lang="en-GB" sz="3200" b="1" dirty="0" smtClean="0">
                <a:latin typeface="Comic Sans MS" panose="030F0702030302020204" pitchFamily="66" charset="0"/>
              </a:rPr>
              <a:t>lew its’ top </a:t>
            </a:r>
            <a:endParaRPr lang="en-GB" sz="3200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86" y="4733507"/>
            <a:ext cx="9047018" cy="1935853"/>
          </a:xfrm>
        </p:spPr>
        <p:txBody>
          <a:bodyPr>
            <a:normAutofit/>
          </a:bodyPr>
          <a:lstStyle/>
          <a:p>
            <a:r>
              <a:rPr lang="en-GB" sz="2400" b="1" dirty="0" smtClean="0">
                <a:latin typeface="Comic Sans MS" panose="030F0702030302020204" pitchFamily="66" charset="0"/>
              </a:rPr>
              <a:t>On 25 June 1997 a massive eruption causes the dome of </a:t>
            </a:r>
            <a:r>
              <a:rPr lang="en-GB" sz="2400" b="1" dirty="0" err="1" smtClean="0">
                <a:latin typeface="Comic Sans MS" panose="030F0702030302020204" pitchFamily="66" charset="0"/>
              </a:rPr>
              <a:t>Soufrière</a:t>
            </a:r>
            <a:r>
              <a:rPr lang="en-GB" sz="2400" b="1" dirty="0" smtClean="0">
                <a:latin typeface="Comic Sans MS" panose="030F0702030302020204" pitchFamily="66" charset="0"/>
              </a:rPr>
              <a:t> volcano on Montserrat to collapse.</a:t>
            </a:r>
          </a:p>
          <a:p>
            <a:pPr marL="0" indent="0">
              <a:buNone/>
            </a:pPr>
            <a:endParaRPr lang="en-GB" sz="1400" b="1" dirty="0" smtClean="0">
              <a:latin typeface="Comic Sans MS" panose="030F0702030302020204" pitchFamily="66" charset="0"/>
            </a:endParaRPr>
          </a:p>
          <a:p>
            <a:r>
              <a:rPr lang="en-GB" sz="2400" b="1" dirty="0" smtClean="0">
                <a:latin typeface="Comic Sans MS" panose="030F0702030302020204" pitchFamily="66" charset="0"/>
              </a:rPr>
              <a:t>The resulting pyroclastic flow killed 19 people who had returned to their farms in the exclusion zone.</a:t>
            </a:r>
            <a:endParaRPr lang="en-GB" sz="2400" b="1" dirty="0">
              <a:latin typeface="Comic Sans MS" panose="030F0702030302020204" pitchFamily="66" charset="0"/>
            </a:endParaRPr>
          </a:p>
        </p:txBody>
      </p:sp>
      <p:pic>
        <p:nvPicPr>
          <p:cNvPr id="1026" name="Picture 2" descr="http://newsimg.bbc.co.uk/media/images/40108000/gif/_40108186_volcano_416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" t="2636" r="1180" b="9084"/>
          <a:stretch/>
        </p:blipFill>
        <p:spPr bwMode="auto">
          <a:xfrm>
            <a:off x="61486" y="723474"/>
            <a:ext cx="9047018" cy="392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8180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2.bp.blogspot.com/_CsD4iJmxPUY/S8wIoCa7TeI/AAAAAAAAAEU/eUFD3czssjI/s1600/risk_map_montserrat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861938"/>
            <a:ext cx="9197171" cy="5015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61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en-GB" sz="2800" b="1" u="sng" dirty="0" smtClean="0">
                <a:solidFill>
                  <a:schemeClr val="tx2">
                    <a:lumMod val="50000"/>
                  </a:schemeClr>
                </a:solidFill>
                <a:latin typeface="Comic Sans MS" panose="030F0702030302020204" pitchFamily="66" charset="0"/>
              </a:rPr>
              <a:t>Show what you have learned</a:t>
            </a:r>
            <a:endParaRPr lang="en-GB" sz="2800" b="1" u="sng" dirty="0">
              <a:solidFill>
                <a:schemeClr val="tx2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052737"/>
            <a:ext cx="9036496" cy="583264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000" b="1" dirty="0" smtClean="0">
                <a:latin typeface="Comic Sans MS" panose="030F0702030302020204" pitchFamily="66" charset="0"/>
              </a:rPr>
              <a:t>Explain in your own words why the volcano on Montserrat is erupting.</a:t>
            </a:r>
          </a:p>
          <a:p>
            <a:pPr marL="514350" indent="-514350">
              <a:buFont typeface="+mj-lt"/>
              <a:buAutoNum type="arabicPeriod"/>
            </a:pPr>
            <a:endParaRPr lang="en-GB" sz="800" b="1" dirty="0" smtClean="0">
              <a:latin typeface="Comic Sans MS" panose="030F0702030302020204" pitchFamily="66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000" b="1" dirty="0" smtClean="0">
                <a:latin typeface="Comic Sans MS" panose="030F0702030302020204" pitchFamily="66" charset="0"/>
              </a:rPr>
              <a:t>Look at the photos of Plymouth, the capital of Monserrat before and after the eruptions. Describe how it looks now</a:t>
            </a:r>
            <a:r>
              <a:rPr lang="en-GB" sz="2000" dirty="0" smtClean="0">
                <a:latin typeface="Comic Sans MS" panose="030F0702030302020204" pitchFamily="66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GB" sz="800" dirty="0" smtClean="0">
              <a:latin typeface="Comic Sans MS" panose="030F0702030302020204" pitchFamily="66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000" b="1" dirty="0" smtClean="0">
                <a:latin typeface="Comic Sans MS" panose="030F0702030302020204" pitchFamily="66" charset="0"/>
              </a:rPr>
              <a:t>How will the eruptions on Montserrat have affected: </a:t>
            </a:r>
          </a:p>
          <a:p>
            <a:pPr marL="0" indent="0">
              <a:buNone/>
            </a:pPr>
            <a:r>
              <a:rPr lang="en-GB" sz="2000" b="1" dirty="0">
                <a:latin typeface="Comic Sans MS" panose="030F0702030302020204" pitchFamily="66" charset="0"/>
              </a:rPr>
              <a:t>	</a:t>
            </a:r>
            <a:r>
              <a:rPr lang="en-GB" sz="2000" b="1" dirty="0" smtClean="0">
                <a:latin typeface="Comic Sans MS" panose="030F0702030302020204" pitchFamily="66" charset="0"/>
              </a:rPr>
              <a:t>a) farmers?	b) hotel owners? c) taxi drivers?</a:t>
            </a:r>
          </a:p>
          <a:p>
            <a:pPr marL="0" indent="0">
              <a:buNone/>
            </a:pPr>
            <a:endParaRPr lang="en-GB" sz="800" b="1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GB" sz="2000" b="1" dirty="0" smtClean="0">
                <a:latin typeface="Comic Sans MS" panose="030F0702030302020204" pitchFamily="66" charset="0"/>
              </a:rPr>
              <a:t>4. Montserrat hopes to attract tourists again – as a volcano island! You are in charge of tourism.</a:t>
            </a:r>
          </a:p>
          <a:p>
            <a:pPr marL="457200" indent="-457200">
              <a:buAutoNum type="alphaLcParenR"/>
            </a:pPr>
            <a:r>
              <a:rPr lang="en-GB" sz="2000" i="1" dirty="0" smtClean="0">
                <a:latin typeface="Comic Sans MS" panose="030F0702030302020204" pitchFamily="66" charset="0"/>
              </a:rPr>
              <a:t>Draw a sketch map of the island, showing the volcano, the new airport and the safe zone</a:t>
            </a:r>
            <a:r>
              <a:rPr lang="en-GB" sz="2000" b="1" dirty="0" smtClean="0">
                <a:latin typeface="Comic Sans MS" panose="030F0702030302020204" pitchFamily="66" charset="0"/>
              </a:rPr>
              <a:t>.</a:t>
            </a:r>
          </a:p>
          <a:p>
            <a:pPr marL="457200" indent="-457200">
              <a:buAutoNum type="alphaLcParenR"/>
            </a:pPr>
            <a:r>
              <a:rPr lang="en-GB" sz="2000" i="1" dirty="0" smtClean="0">
                <a:latin typeface="Comic Sans MS" panose="030F0702030302020204" pitchFamily="66" charset="0"/>
              </a:rPr>
              <a:t>Mark in where you would put a new tourist hotel.</a:t>
            </a:r>
          </a:p>
          <a:p>
            <a:pPr marL="457200" indent="-457200">
              <a:buAutoNum type="alphaLcParenR"/>
            </a:pPr>
            <a:r>
              <a:rPr lang="en-GB" sz="2000" i="1" dirty="0" smtClean="0">
                <a:latin typeface="Comic Sans MS" panose="030F0702030302020204" pitchFamily="66" charset="0"/>
              </a:rPr>
              <a:t>What activities will you lay on for tourists?</a:t>
            </a:r>
          </a:p>
          <a:p>
            <a:pPr marL="457200" indent="-457200">
              <a:buAutoNum type="alphaLcParenR"/>
            </a:pPr>
            <a:r>
              <a:rPr lang="en-GB" sz="2000" i="1" dirty="0" smtClean="0">
                <a:latin typeface="Comic Sans MS" panose="030F0702030302020204" pitchFamily="66" charset="0"/>
              </a:rPr>
              <a:t>How will you make sure the tourists are safe?</a:t>
            </a:r>
          </a:p>
          <a:p>
            <a:pPr marL="457200" indent="-457200">
              <a:buAutoNum type="alphaLcParenR"/>
            </a:pPr>
            <a:r>
              <a:rPr lang="en-GB" sz="2000" i="1" dirty="0" smtClean="0">
                <a:latin typeface="Comic Sans MS" panose="030F0702030302020204" pitchFamily="66" charset="0"/>
              </a:rPr>
              <a:t>What kind of souvenirs will you sell them?</a:t>
            </a:r>
          </a:p>
          <a:p>
            <a:pPr marL="457200" indent="-457200">
              <a:buAutoNum type="alphaLcParenR"/>
            </a:pPr>
            <a:r>
              <a:rPr lang="en-GB" sz="2000" i="1" dirty="0" smtClean="0">
                <a:latin typeface="Comic Sans MS" panose="030F0702030302020204" pitchFamily="66" charset="0"/>
              </a:rPr>
              <a:t>Make up a slogan to attract tourists to the island.</a:t>
            </a:r>
          </a:p>
          <a:p>
            <a:pPr marL="514350" indent="-514350">
              <a:buFont typeface="+mj-lt"/>
              <a:buAutoNum type="arabicPeriod"/>
            </a:pPr>
            <a:endParaRPr lang="en-GB" sz="2400" b="1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GB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737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332</Words>
  <Application>Microsoft Office PowerPoint</Application>
  <PresentationFormat>On-screen Show (4:3)</PresentationFormat>
  <Paragraphs>53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4. Montserrat: Living with a volcano</vt:lpstr>
      <vt:lpstr>4. Montserrat: Living with a volcano</vt:lpstr>
      <vt:lpstr>Why is the volcano erupting?</vt:lpstr>
      <vt:lpstr>The Volcano Awakens</vt:lpstr>
      <vt:lpstr>Pyroclastic Flows</vt:lpstr>
      <vt:lpstr>When Soufrière Hills volcano blew its’ top </vt:lpstr>
      <vt:lpstr>PowerPoint Presentation</vt:lpstr>
      <vt:lpstr>Show what you have learned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Montserrat: Living with a volcano</dc:title>
  <dc:creator>user</dc:creator>
  <cp:lastModifiedBy>user</cp:lastModifiedBy>
  <cp:revision>20</cp:revision>
  <dcterms:created xsi:type="dcterms:W3CDTF">2014-02-02T16:40:09Z</dcterms:created>
  <dcterms:modified xsi:type="dcterms:W3CDTF">2014-02-03T21:46:20Z</dcterms:modified>
</cp:coreProperties>
</file>
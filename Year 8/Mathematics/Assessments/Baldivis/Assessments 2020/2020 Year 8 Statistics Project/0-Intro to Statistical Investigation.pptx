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1" autoAdjust="0"/>
    <p:restoredTop sz="94660"/>
  </p:normalViewPr>
  <p:slideViewPr>
    <p:cSldViewPr snapToGrid="0">
      <p:cViewPr varScale="1">
        <p:scale>
          <a:sx n="66" d="100"/>
          <a:sy n="66" d="100"/>
        </p:scale>
        <p:origin x="90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8/23/2020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ssapostercomp.info/resources.s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5361" y="656417"/>
            <a:ext cx="7766936" cy="1646302"/>
          </a:xfrm>
        </p:spPr>
        <p:txBody>
          <a:bodyPr/>
          <a:lstStyle/>
          <a:p>
            <a:r>
              <a:rPr lang="en-AU" sz="6000" dirty="0"/>
              <a:t>Topic- Statistical Investigation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1232" y="2571657"/>
            <a:ext cx="7766936" cy="1096899"/>
          </a:xfrm>
        </p:spPr>
        <p:txBody>
          <a:bodyPr>
            <a:normAutofit/>
          </a:bodyPr>
          <a:lstStyle/>
          <a:p>
            <a:r>
              <a:rPr lang="en-AU" sz="2800" dirty="0"/>
              <a:t>EQ- What are the requirements to produce an outstanding statistical investigation?</a:t>
            </a:r>
          </a:p>
        </p:txBody>
      </p:sp>
      <p:pic>
        <p:nvPicPr>
          <p:cNvPr id="4" name="Picture 3" descr="Graph Pie Chart Business · Free image on Pixaba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919" y="3668556"/>
            <a:ext cx="3074141" cy="2097461"/>
          </a:xfrm>
          <a:prstGeom prst="rect">
            <a:avLst/>
          </a:prstGeom>
        </p:spPr>
      </p:pic>
      <p:pic>
        <p:nvPicPr>
          <p:cNvPr id="5" name="Picture 4" descr="Australian Bureau of &lt;strong&gt;Statistics&lt;/strong&gt; - Wikipe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5373" y="3378737"/>
            <a:ext cx="2936490" cy="2677100"/>
          </a:xfrm>
          <a:prstGeom prst="rect">
            <a:avLst/>
          </a:prstGeom>
        </p:spPr>
      </p:pic>
      <p:pic>
        <p:nvPicPr>
          <p:cNvPr id="6" name="Picture 5" descr="The Code4Lib Journal – The Wise Use of &lt;strong&gt;Statistics&lt;/strong&gt; in a ..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156" y="3668556"/>
            <a:ext cx="1410108" cy="236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60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233081"/>
            <a:ext cx="8596668" cy="1609165"/>
          </a:xfrm>
        </p:spPr>
        <p:txBody>
          <a:bodyPr>
            <a:normAutofit fontScale="90000"/>
          </a:bodyPr>
          <a:lstStyle/>
          <a:p>
            <a:r>
              <a:rPr lang="en-AU" dirty="0"/>
              <a:t>Aim: to produce, analyse and compare data in the form of a dot plot, histogram or stem and leaf plot.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3923" y="2111187"/>
            <a:ext cx="8596668" cy="3880773"/>
          </a:xfrm>
        </p:spPr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AU" sz="2400" dirty="0"/>
              <a:t>Choose a topic or question that you can collect data for. Ideally this will be a question that is really interesting and relevant to you.</a:t>
            </a:r>
          </a:p>
          <a:p>
            <a:pPr>
              <a:buFont typeface="+mj-lt"/>
              <a:buAutoNum type="arabicPeriod"/>
            </a:pPr>
            <a:r>
              <a:rPr lang="en-AU" sz="2400" dirty="0"/>
              <a:t>Design a survey to collect primary data.</a:t>
            </a:r>
          </a:p>
          <a:p>
            <a:pPr lvl="1">
              <a:buFont typeface="+mj-lt"/>
              <a:buAutoNum type="arabicPeriod"/>
            </a:pPr>
            <a:r>
              <a:rPr lang="en-AU" sz="2200" dirty="0"/>
              <a:t>Primary data- using methods like surveys, interviews, or experiments.</a:t>
            </a:r>
          </a:p>
          <a:p>
            <a:pPr>
              <a:buFont typeface="+mj-lt"/>
              <a:buAutoNum type="arabicPeriod"/>
            </a:pPr>
            <a:r>
              <a:rPr lang="en-AU" sz="2400" dirty="0"/>
              <a:t>Compare your primary data with secondary data.</a:t>
            </a:r>
          </a:p>
          <a:p>
            <a:pPr lvl="1">
              <a:buFont typeface="+mj-lt"/>
              <a:buAutoNum type="arabicPeriod"/>
            </a:pPr>
            <a:r>
              <a:rPr lang="en-AU" sz="2200" dirty="0"/>
              <a:t>Secondary data- data collected by someone other than the researcher such as census information and government reports.</a:t>
            </a:r>
          </a:p>
        </p:txBody>
      </p:sp>
      <p:pic>
        <p:nvPicPr>
          <p:cNvPr id="4" name="Picture 3" descr="Finishing Up! | Dr. K's Blo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002" y="700367"/>
            <a:ext cx="2628900" cy="2552700"/>
          </a:xfrm>
          <a:prstGeom prst="rect">
            <a:avLst/>
          </a:prstGeom>
        </p:spPr>
      </p:pic>
      <p:pic>
        <p:nvPicPr>
          <p:cNvPr id="5" name="Picture 4" descr="&lt;strong&gt;Department&lt;/strong&gt; of Education, Science and Training - Wikipedi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4001" y="3720353"/>
            <a:ext cx="2789081" cy="991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160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9620" y="361472"/>
            <a:ext cx="8596668" cy="1320800"/>
          </a:xfrm>
        </p:spPr>
        <p:txBody>
          <a:bodyPr/>
          <a:lstStyle/>
          <a:p>
            <a:r>
              <a:rPr lang="en-AU" dirty="0"/>
              <a:t>Assignment 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311" y="1399558"/>
            <a:ext cx="8596668" cy="4462932"/>
          </a:xfrm>
        </p:spPr>
        <p:txBody>
          <a:bodyPr>
            <a:normAutofit lnSpcReduction="10000"/>
          </a:bodyPr>
          <a:lstStyle/>
          <a:p>
            <a:r>
              <a:rPr lang="en-AU" sz="2000" dirty="0"/>
              <a:t>You (up to 3 in a group) will be required to submit a poster (up to A1 in size).</a:t>
            </a:r>
          </a:p>
          <a:p>
            <a:pPr lvl="1"/>
            <a:r>
              <a:rPr lang="en-AU" sz="1800" dirty="0"/>
              <a:t>Must be able to be read from a distance of 2 metres</a:t>
            </a:r>
          </a:p>
          <a:p>
            <a:r>
              <a:rPr lang="en-AU" sz="2000" dirty="0"/>
              <a:t>The poster may be digital or hard copy.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Hypothesis and background information.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Organised primary and secondary data (including source/s)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Data represented graphically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Analysis of data (centre and spread)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Discussion of findings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Conclusion</a:t>
            </a:r>
          </a:p>
          <a:p>
            <a:pPr>
              <a:buFont typeface="+mj-lt"/>
              <a:buAutoNum type="arabicPeriod"/>
            </a:pPr>
            <a:r>
              <a:rPr lang="en-AU" sz="2000" dirty="0"/>
              <a:t>References</a:t>
            </a:r>
          </a:p>
          <a:p>
            <a:pPr>
              <a:buFont typeface="+mj-lt"/>
              <a:buAutoNum type="arabicPeriod"/>
            </a:pPr>
            <a:endParaRPr lang="en-AU" sz="2000" dirty="0"/>
          </a:p>
          <a:p>
            <a:endParaRPr lang="en-AU" sz="20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64" y="3819710"/>
            <a:ext cx="5302076" cy="279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30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951 0.03056 L -0.38802 -0.35023 " pathEditMode="relative" ptsTypes="AA">
                                      <p:cBhvr>
                                        <p:cTn id="2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This years topic!</a:t>
            </a:r>
          </a:p>
        </p:txBody>
      </p:sp>
      <p:pic>
        <p:nvPicPr>
          <p:cNvPr id="4" name="Content Placeholder 3" descr="royalty free ideas photos free download | Piqsels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67956" y="1270000"/>
            <a:ext cx="3330558" cy="2127267"/>
          </a:xfrm>
        </p:spPr>
      </p:pic>
      <p:pic>
        <p:nvPicPr>
          <p:cNvPr id="5" name="Picture 4" descr="Premium Royalty Free PSD - ID: 71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77" y="1270000"/>
            <a:ext cx="3779252" cy="2127267"/>
          </a:xfrm>
          <a:prstGeom prst="rect">
            <a:avLst/>
          </a:prstGeom>
        </p:spPr>
      </p:pic>
      <p:pic>
        <p:nvPicPr>
          <p:cNvPr id="6" name="Picture 5" descr="The Gaming Community - Toxic Fandoms &amp; Hatedoms Wiki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7956" y="3397266"/>
            <a:ext cx="3330558" cy="2352207"/>
          </a:xfrm>
          <a:prstGeom prst="rect">
            <a:avLst/>
          </a:prstGeom>
        </p:spPr>
      </p:pic>
      <p:pic>
        <p:nvPicPr>
          <p:cNvPr id="7" name="Picture 6" descr="Free vector graphic: Long Shadow, Icon, &lt;strong&gt;Technology&lt;/strong&gt; - Free ..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377" y="3397267"/>
            <a:ext cx="3779252" cy="21647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10550" y="2493051"/>
            <a:ext cx="35414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600" u="sng" dirty="0"/>
              <a:t>The use of Technology!</a:t>
            </a:r>
          </a:p>
        </p:txBody>
      </p:sp>
    </p:spTree>
    <p:extLst>
      <p:ext uri="{BB962C8B-B14F-4D97-AF65-F5344CB8AC3E}">
        <p14:creationId xmlns:p14="http://schemas.microsoft.com/office/powerpoint/2010/main" val="24895629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077" y="319314"/>
            <a:ext cx="8596668" cy="1320800"/>
          </a:xfrm>
        </p:spPr>
        <p:txBody>
          <a:bodyPr/>
          <a:lstStyle/>
          <a:p>
            <a:r>
              <a:rPr lang="en-AU" dirty="0">
                <a:hlinkClick r:id="rId2"/>
              </a:rPr>
              <a:t>https://ssapostercomp.info/resources.shtml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6706" y="1928360"/>
            <a:ext cx="8596668" cy="3880773"/>
          </a:xfrm>
        </p:spPr>
        <p:txBody>
          <a:bodyPr/>
          <a:lstStyle/>
          <a:p>
            <a:r>
              <a:rPr lang="en-AU" dirty="0"/>
              <a:t>Jessie Roberts explains how diverse and useful the field of statistics is.</a:t>
            </a:r>
          </a:p>
          <a:p>
            <a:r>
              <a:rPr lang="en-AU" dirty="0"/>
              <a:t>This diversity can be a tool when planning your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2625816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Sourcing Secondary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105961">
            <a:off x="5320145" y="648959"/>
            <a:ext cx="5229225" cy="27908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30773">
            <a:off x="55563" y="3245940"/>
            <a:ext cx="5172075" cy="333375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51536">
            <a:off x="6830331" y="3429931"/>
            <a:ext cx="5494111" cy="304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427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Sourcing Secondary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619" y="1930400"/>
            <a:ext cx="8596668" cy="3880773"/>
          </a:xfrm>
        </p:spPr>
        <p:txBody>
          <a:bodyPr/>
          <a:lstStyle/>
          <a:p>
            <a:r>
              <a:rPr lang="en-AU" dirty="0"/>
              <a:t>Resources to get you started with your research will be available on Connect. </a:t>
            </a:r>
          </a:p>
          <a:p>
            <a:r>
              <a:rPr lang="en-AU" dirty="0"/>
              <a:t>However you are required to do you own research to find reliable and relevant data.</a:t>
            </a:r>
          </a:p>
          <a:p>
            <a:r>
              <a:rPr lang="en-AU" dirty="0"/>
              <a:t>The internet will be your best tool here!</a:t>
            </a:r>
          </a:p>
          <a:p>
            <a:r>
              <a:rPr lang="en-AU" dirty="0"/>
              <a:t>The Australian Bureau of Statistics, Government Departments or websites that contain the .org or .</a:t>
            </a:r>
            <a:r>
              <a:rPr lang="en-AU" dirty="0" err="1"/>
              <a:t>edu</a:t>
            </a:r>
            <a:r>
              <a:rPr lang="en-AU" dirty="0"/>
              <a:t> domain.</a:t>
            </a:r>
          </a:p>
          <a:p>
            <a:r>
              <a:rPr lang="en-AU" dirty="0"/>
              <a:t>You may wish to extend yourself and compare groups such as gender, states in Australia or even finding data from Asia! </a:t>
            </a:r>
          </a:p>
        </p:txBody>
      </p:sp>
    </p:spTree>
    <p:extLst>
      <p:ext uri="{BB962C8B-B14F-4D97-AF65-F5344CB8AC3E}">
        <p14:creationId xmlns:p14="http://schemas.microsoft.com/office/powerpoint/2010/main" val="874160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Questions to guide your thinking.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3560" y="2046514"/>
            <a:ext cx="8451437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1978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Left Hand Side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7161" y="1667103"/>
            <a:ext cx="4126895" cy="4907868"/>
          </a:xfrm>
        </p:spPr>
        <p:txBody>
          <a:bodyPr>
            <a:normAutofit fontScale="92500" lnSpcReduction="10000"/>
          </a:bodyPr>
          <a:lstStyle/>
          <a:p>
            <a:r>
              <a:rPr lang="en-AU" dirty="0"/>
              <a:t>Rule your page into thirds.</a:t>
            </a:r>
          </a:p>
          <a:p>
            <a:endParaRPr lang="en-AU" dirty="0"/>
          </a:p>
          <a:p>
            <a:r>
              <a:rPr lang="en-AU" dirty="0"/>
              <a:t>In the top third.</a:t>
            </a:r>
          </a:p>
          <a:p>
            <a:r>
              <a:rPr lang="en-AU" dirty="0"/>
              <a:t>You have one minute to brainstorm all the technology that you can think of. Be prepared to share your answers.</a:t>
            </a:r>
          </a:p>
          <a:p>
            <a:r>
              <a:rPr lang="en-AU" dirty="0"/>
              <a:t>In the middle third.</a:t>
            </a:r>
          </a:p>
          <a:p>
            <a:r>
              <a:rPr lang="en-AU" dirty="0"/>
              <a:t>You have three minutes to write down how you may use technology in your social life and for emotional and physical wellbeing.</a:t>
            </a:r>
          </a:p>
          <a:p>
            <a:endParaRPr lang="en-AU" dirty="0"/>
          </a:p>
          <a:p>
            <a:r>
              <a:rPr lang="en-AU" dirty="0"/>
              <a:t>In the final third.</a:t>
            </a:r>
          </a:p>
          <a:p>
            <a:r>
              <a:rPr lang="en-AU" dirty="0"/>
              <a:t>Write 5 questions that you may be interested in researching.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71772" y="341086"/>
            <a:ext cx="5123543" cy="608148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6" name="Straight Connector 5"/>
          <p:cNvCxnSpPr/>
          <p:nvPr/>
        </p:nvCxnSpPr>
        <p:spPr>
          <a:xfrm>
            <a:off x="6371772" y="2436360"/>
            <a:ext cx="512354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371772" y="4286932"/>
            <a:ext cx="5123543" cy="0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8" name="Cloud 7"/>
          <p:cNvSpPr/>
          <p:nvPr/>
        </p:nvSpPr>
        <p:spPr>
          <a:xfrm>
            <a:off x="8011886" y="942409"/>
            <a:ext cx="1843314" cy="827314"/>
          </a:xfrm>
          <a:prstGeom prst="cloud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8207986" y="1141743"/>
            <a:ext cx="1451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Technology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8011886" y="2436360"/>
            <a:ext cx="0" cy="185057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9964058" y="2436360"/>
            <a:ext cx="0" cy="1850572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375559" y="2811123"/>
            <a:ext cx="5119756" cy="42074"/>
          </a:xfrm>
          <a:prstGeom prst="line">
            <a:avLst/>
          </a:prstGeom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756400" y="2462778"/>
            <a:ext cx="1335314" cy="37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Social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1831" y="2462777"/>
            <a:ext cx="1335314" cy="37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Emotional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57972" y="2457397"/>
            <a:ext cx="1335314" cy="374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Physical</a:t>
            </a:r>
          </a:p>
        </p:txBody>
      </p:sp>
    </p:spTree>
    <p:extLst>
      <p:ext uri="{BB962C8B-B14F-4D97-AF65-F5344CB8AC3E}">
        <p14:creationId xmlns:p14="http://schemas.microsoft.com/office/powerpoint/2010/main" val="285570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You have 3 minutes to organise yourself to work individually in a pair or group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Compare the brainstorm that you have completed.</a:t>
            </a:r>
          </a:p>
          <a:p>
            <a:r>
              <a:rPr lang="en-AU" dirty="0"/>
              <a:t>Highlight any similar words in each of the three sections.</a:t>
            </a:r>
          </a:p>
          <a:p>
            <a:endParaRPr lang="en-AU" dirty="0"/>
          </a:p>
          <a:p>
            <a:r>
              <a:rPr lang="en-AU" dirty="0"/>
              <a:t>The assessment counts towards your grade but will also but will also be submitted into a national competition. </a:t>
            </a:r>
          </a:p>
          <a:p>
            <a:r>
              <a:rPr lang="en-AU" dirty="0"/>
              <a:t>The competition has prizes that you can win and rules you must follow (all available on Connect).</a:t>
            </a:r>
          </a:p>
        </p:txBody>
      </p:sp>
    </p:spTree>
    <p:extLst>
      <p:ext uri="{BB962C8B-B14F-4D97-AF65-F5344CB8AC3E}">
        <p14:creationId xmlns:p14="http://schemas.microsoft.com/office/powerpoint/2010/main" val="1933503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Hints and tips for designing a good statistical investigation.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AU" sz="2000" dirty="0"/>
              <a:t>Data collected must be numerical.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Make sure your research and hypothesis includes “Technology”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Before committing to a question or theme, ensure there is sufficient secondary data to compare the data you collect.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Whilst collecting primary data look for opportunities for bias.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Understand how you can use your statistical investigation to compare, contrast and graphically represent your data.</a:t>
            </a:r>
          </a:p>
          <a:p>
            <a:pPr marL="0" indent="0">
              <a:lnSpc>
                <a:spcPct val="150000"/>
              </a:lnSpc>
              <a:buNone/>
            </a:pPr>
            <a:endParaRPr lang="en-AU" sz="2000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021945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179</TotalTime>
  <Words>552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Trebuchet MS</vt:lpstr>
      <vt:lpstr>Wingdings 3</vt:lpstr>
      <vt:lpstr>Facet</vt:lpstr>
      <vt:lpstr>Topic- Statistical Investigation</vt:lpstr>
      <vt:lpstr>Aim: to produce, analyse and compare data in the form of a dot plot, histogram or stem and leaf plot.</vt:lpstr>
      <vt:lpstr>Assignment Product</vt:lpstr>
      <vt:lpstr>This years topic!</vt:lpstr>
      <vt:lpstr>https://ssapostercomp.info/resources.shtml</vt:lpstr>
      <vt:lpstr>Sourcing Secondary Data</vt:lpstr>
      <vt:lpstr>Sourcing Secondary Data</vt:lpstr>
      <vt:lpstr>Questions to guide your thinking.</vt:lpstr>
      <vt:lpstr>Left Hand Side Activity</vt:lpstr>
      <vt:lpstr>You have 3 minutes to organise yourself to work individually in a pair or group of 3</vt:lpstr>
      <vt:lpstr>Hints and tips for designing a good statistical investigation.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Topic- Statistical Investigation</dc:title>
  <dc:creator>Jacob Dodds</dc:creator>
  <cp:lastModifiedBy>Jacob Dodds</cp:lastModifiedBy>
  <cp:revision>13</cp:revision>
  <dcterms:created xsi:type="dcterms:W3CDTF">2020-08-23T03:27:30Z</dcterms:created>
  <dcterms:modified xsi:type="dcterms:W3CDTF">2020-08-23T06:27:11Z</dcterms:modified>
</cp:coreProperties>
</file>
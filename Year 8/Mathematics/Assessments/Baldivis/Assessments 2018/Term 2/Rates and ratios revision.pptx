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82" d="100"/>
          <a:sy n="82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545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2335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11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747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850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2257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4336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43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5922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599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772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22F35-CB05-4522-8085-A260264B0E3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153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1A2E-A2EE-4DB8-9E7F-11743DDE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3"/>
            <a:ext cx="6858000" cy="811436"/>
          </a:xfrm>
        </p:spPr>
        <p:txBody>
          <a:bodyPr>
            <a:normAutofit fontScale="90000"/>
          </a:bodyPr>
          <a:lstStyle/>
          <a:p>
            <a:r>
              <a:rPr lang="en-AU" dirty="0"/>
              <a:t>Topic:</a:t>
            </a:r>
            <a:br>
              <a:rPr lang="en-AU" dirty="0"/>
            </a:br>
            <a:r>
              <a:rPr lang="en-AU" dirty="0"/>
              <a:t>Review of rates and ratios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11DDD-FF70-4020-AEA7-C5E2269A9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899729"/>
            <a:ext cx="6858000" cy="1379802"/>
          </a:xfrm>
        </p:spPr>
        <p:txBody>
          <a:bodyPr/>
          <a:lstStyle/>
          <a:p>
            <a:r>
              <a:rPr lang="en-AU" dirty="0"/>
              <a:t>EQ: What do we know about rates and ratios.</a:t>
            </a:r>
          </a:p>
        </p:txBody>
      </p:sp>
    </p:spTree>
    <p:extLst>
      <p:ext uri="{BB962C8B-B14F-4D97-AF65-F5344CB8AC3E}">
        <p14:creationId xmlns:p14="http://schemas.microsoft.com/office/powerpoint/2010/main" val="292319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EA7BAA6E-AF1F-4D3C-8660-9CA6D378B2E8}"/>
              </a:ext>
            </a:extLst>
          </p:cNvPr>
          <p:cNvSpPr txBox="1"/>
          <p:nvPr/>
        </p:nvSpPr>
        <p:spPr>
          <a:xfrm>
            <a:off x="607205" y="1731974"/>
            <a:ext cx="82202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arenR"/>
            </a:pPr>
            <a:r>
              <a:rPr lang="en-AU" dirty="0"/>
              <a:t>If there are 15 green cars, 3 red cars and 4  blue cars</a:t>
            </a:r>
          </a:p>
          <a:p>
            <a:r>
              <a:rPr lang="en-AU" dirty="0"/>
              <a:t>	a) what is the ratio of blue cars to green cars?</a:t>
            </a:r>
          </a:p>
          <a:p>
            <a:pPr lvl="2"/>
            <a:r>
              <a:rPr lang="en-AU" dirty="0"/>
              <a:t>b) What is the ratio of red cars to green cars?</a:t>
            </a:r>
          </a:p>
          <a:p>
            <a:pPr lvl="2"/>
            <a:r>
              <a:rPr lang="en-AU" dirty="0"/>
              <a:t>c) What is the ratio of blue cars to total cars?</a:t>
            </a:r>
          </a:p>
          <a:p>
            <a:pPr lvl="2"/>
            <a:endParaRPr lang="en-AU" dirty="0"/>
          </a:p>
          <a:p>
            <a:pPr lvl="2"/>
            <a:endParaRPr lang="en-AU" dirty="0"/>
          </a:p>
          <a:p>
            <a:pPr marL="342900" indent="-342900">
              <a:buAutoNum type="arabicParenR" startAt="2"/>
            </a:pPr>
            <a:r>
              <a:rPr lang="en-AU" dirty="0"/>
              <a:t>A  toy company makes 6 rubber ducks and 5 dolls to every 2 toy drill. 	</a:t>
            </a:r>
          </a:p>
          <a:p>
            <a:pPr lvl="2"/>
            <a:r>
              <a:rPr lang="en-AU" dirty="0"/>
              <a:t>a) Write this in a ratio of drills to ducks</a:t>
            </a:r>
          </a:p>
          <a:p>
            <a:pPr lvl="2"/>
            <a:r>
              <a:rPr lang="en-AU" dirty="0"/>
              <a:t>B) drills to ducks to dolls</a:t>
            </a:r>
          </a:p>
          <a:p>
            <a:pPr lvl="2"/>
            <a:r>
              <a:rPr lang="en-AU" dirty="0"/>
              <a:t>C) dolls to total</a:t>
            </a:r>
          </a:p>
          <a:p>
            <a:pPr lvl="2"/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6B595-8A7C-4CE4-B43B-FE71D6AE976D}"/>
              </a:ext>
            </a:extLst>
          </p:cNvPr>
          <p:cNvSpPr/>
          <p:nvPr/>
        </p:nvSpPr>
        <p:spPr>
          <a:xfrm>
            <a:off x="1418492" y="449805"/>
            <a:ext cx="617806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dirty="0"/>
              <a:t>Ratios are used to compare quantities with the same units.</a:t>
            </a:r>
          </a:p>
          <a:p>
            <a:pPr algn="ctr"/>
            <a:r>
              <a:rPr lang="en-AU" dirty="0"/>
              <a:t>The ratio of 2 to 5 is written as </a:t>
            </a:r>
            <a:r>
              <a:rPr lang="en-AU" dirty="0">
                <a:solidFill>
                  <a:srgbClr val="0070C0"/>
                </a:solidFill>
              </a:rPr>
              <a:t>2 : 5</a:t>
            </a:r>
          </a:p>
        </p:txBody>
      </p:sp>
    </p:spTree>
    <p:extLst>
      <p:ext uri="{BB962C8B-B14F-4D97-AF65-F5344CB8AC3E}">
        <p14:creationId xmlns:p14="http://schemas.microsoft.com/office/powerpoint/2010/main" val="2104880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1D3DD1-0942-4316-B0D4-18A418BD376A}"/>
              </a:ext>
            </a:extLst>
          </p:cNvPr>
          <p:cNvSpPr/>
          <p:nvPr/>
        </p:nvSpPr>
        <p:spPr>
          <a:xfrm>
            <a:off x="1312985" y="273958"/>
            <a:ext cx="643596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dirty="0"/>
              <a:t>The trick with simplifying ratios is to always multiply or divide the numbers by the </a:t>
            </a:r>
            <a:r>
              <a:rPr lang="en-AU" b="1" dirty="0"/>
              <a:t>same</a:t>
            </a:r>
            <a:r>
              <a:rPr lang="en-AU" dirty="0"/>
              <a:t> </a:t>
            </a:r>
            <a:r>
              <a:rPr lang="en-AU" b="1" dirty="0"/>
              <a:t>number</a:t>
            </a:r>
            <a:r>
              <a:rPr lang="en-AU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728660-D60E-4C5F-A299-D124B5E1573F}"/>
              </a:ext>
            </a:extLst>
          </p:cNvPr>
          <p:cNvSpPr/>
          <p:nvPr/>
        </p:nvSpPr>
        <p:spPr>
          <a:xfrm>
            <a:off x="398584" y="920289"/>
            <a:ext cx="826476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endParaRPr lang="en-AU" dirty="0"/>
          </a:p>
          <a:p>
            <a:pPr marL="342900" indent="-342900">
              <a:buAutoNum type="arabicParenR" startAt="3"/>
            </a:pPr>
            <a:r>
              <a:rPr lang="en-AU" dirty="0"/>
              <a:t>Simplify   a) 12:24			b)  36:18			c)  8:102</a:t>
            </a:r>
          </a:p>
          <a:p>
            <a:pPr marL="342900" indent="-342900">
              <a:buAutoNum type="arabicParenR" startAt="3"/>
            </a:pPr>
            <a:endParaRPr lang="en-AU" dirty="0"/>
          </a:p>
          <a:p>
            <a:pPr marL="342900" indent="-342900">
              <a:buAutoNum type="arabicParenR" startAt="3"/>
            </a:pPr>
            <a:endParaRPr lang="en-AU" dirty="0"/>
          </a:p>
          <a:p>
            <a:r>
              <a:rPr lang="en-AU" dirty="0"/>
              <a:t>4)    A recipe requires 4 cups of water to 6 cups of flour. Write this in its simplest form.</a:t>
            </a:r>
          </a:p>
          <a:p>
            <a:endParaRPr lang="en-AU" dirty="0"/>
          </a:p>
          <a:p>
            <a:pPr marL="342900" indent="-342900">
              <a:buAutoNum type="arabicParenR" startAt="2"/>
            </a:pPr>
            <a:endParaRPr lang="en-AU" dirty="0"/>
          </a:p>
          <a:p>
            <a:endParaRPr lang="en-AU" dirty="0"/>
          </a:p>
          <a:p>
            <a:r>
              <a:rPr lang="en-AU" dirty="0"/>
              <a:t>5)	The ratio at a conference is 2 girls to every 3 boys, how many girls are there if there are 120 boys?</a:t>
            </a:r>
          </a:p>
          <a:p>
            <a:pPr marL="342900" indent="-342900">
              <a:buAutoNum type="arabicParenR" startAt="4"/>
            </a:pPr>
            <a:endParaRPr lang="en-AU" dirty="0"/>
          </a:p>
          <a:p>
            <a:pPr marL="342900" indent="-342900">
              <a:buAutoNum type="arabicParenR" startAt="4"/>
            </a:pPr>
            <a:endParaRPr lang="en-AU" dirty="0"/>
          </a:p>
          <a:p>
            <a:r>
              <a:rPr lang="en-AU" dirty="0"/>
              <a:t>6) 	If a blend of coffee requires 3g of arabica beans to 4g of </a:t>
            </a:r>
            <a:r>
              <a:rPr lang="en-AU" dirty="0" err="1"/>
              <a:t>robusta</a:t>
            </a:r>
            <a:r>
              <a:rPr lang="en-AU" dirty="0"/>
              <a:t>, How many grams of arabica do I need if I use 48g of </a:t>
            </a:r>
            <a:r>
              <a:rPr lang="en-AU" dirty="0" err="1"/>
              <a:t>robusta</a:t>
            </a:r>
            <a:r>
              <a:rPr lang="en-AU" dirty="0"/>
              <a:t> and what is the total weight?</a:t>
            </a:r>
          </a:p>
        </p:txBody>
      </p:sp>
    </p:spTree>
    <p:extLst>
      <p:ext uri="{BB962C8B-B14F-4D97-AF65-F5344CB8AC3E}">
        <p14:creationId xmlns:p14="http://schemas.microsoft.com/office/powerpoint/2010/main" val="3500121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F261CB-3909-4D35-B517-CC5301D402C4}"/>
              </a:ext>
            </a:extLst>
          </p:cNvPr>
          <p:cNvSpPr/>
          <p:nvPr/>
        </p:nvSpPr>
        <p:spPr>
          <a:xfrm>
            <a:off x="1101969" y="188884"/>
            <a:ext cx="6670432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dirty="0"/>
              <a:t>Think of a ratio in terms of parts. A ratio of 2 : 3 has a total of 5 parts.</a:t>
            </a:r>
          </a:p>
          <a:p>
            <a:r>
              <a:rPr lang="en-AU" dirty="0"/>
              <a:t>To split a number by a ratio use the following procedure: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Find the total number of parts in the ratio.</a:t>
            </a:r>
          </a:p>
          <a:p>
            <a:pPr marL="342900" indent="-342900">
              <a:buAutoNum type="arabicPeriod"/>
            </a:pPr>
            <a:r>
              <a:rPr lang="en-AU" dirty="0"/>
              <a:t>Find the value of one part.</a:t>
            </a:r>
          </a:p>
          <a:p>
            <a:pPr marL="342900" indent="-342900">
              <a:buAutoNum type="arabicPeriod"/>
            </a:pPr>
            <a:r>
              <a:rPr lang="en-AU" dirty="0"/>
              <a:t>Find the valve of the number of parts.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B244D4-D171-4107-B4A1-AD45582E4191}"/>
              </a:ext>
            </a:extLst>
          </p:cNvPr>
          <p:cNvSpPr txBox="1"/>
          <p:nvPr/>
        </p:nvSpPr>
        <p:spPr>
          <a:xfrm>
            <a:off x="269629" y="2192215"/>
            <a:ext cx="87336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7) Split $100 in the ratio of 4:6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8) A class has 32 students in a ratio of 7 boys : 9 girls.  How many boys are there?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9) Marco owns 30% of a company, Julia owns 60% and Julio owns 10%.</a:t>
            </a:r>
          </a:p>
          <a:p>
            <a:r>
              <a:rPr lang="en-AU" dirty="0"/>
              <a:t>	a) write this as a ratio</a:t>
            </a:r>
          </a:p>
          <a:p>
            <a:r>
              <a:rPr lang="en-AU" dirty="0"/>
              <a:t>	b) the company earns $10,000 profit on a contract.  How much does each person get?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0681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D32E4C-E074-4104-80FA-71498F73B59B}"/>
              </a:ext>
            </a:extLst>
          </p:cNvPr>
          <p:cNvSpPr/>
          <p:nvPr/>
        </p:nvSpPr>
        <p:spPr>
          <a:xfrm>
            <a:off x="339970" y="161082"/>
            <a:ext cx="8475784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AU" dirty="0"/>
              <a:t>A rate compares related quantities with different units. </a:t>
            </a:r>
          </a:p>
          <a:p>
            <a:r>
              <a:rPr lang="en-AU" dirty="0"/>
              <a:t>Rates are usually written with one quantity compared to a single unit of the other.</a:t>
            </a:r>
          </a:p>
          <a:p>
            <a:endParaRPr lang="en-AU" dirty="0"/>
          </a:p>
          <a:p>
            <a:r>
              <a:rPr lang="en-AU" dirty="0"/>
              <a:t>km/hr		$/hr			$/kg			L/min		beats/min	    goals/game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C2BDD4-8888-42AF-9D7B-4085C7CE41AA}"/>
              </a:ext>
            </a:extLst>
          </p:cNvPr>
          <p:cNvSpPr txBox="1"/>
          <p:nvPr/>
        </p:nvSpPr>
        <p:spPr>
          <a:xfrm>
            <a:off x="1418492" y="1910861"/>
            <a:ext cx="74910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Write the following as rates</a:t>
            </a:r>
          </a:p>
          <a:p>
            <a:pPr lvl="1"/>
            <a:r>
              <a:rPr lang="en-AU" dirty="0"/>
              <a:t>a) driving 450km over 9 hours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b) getting paid $150 for 6 hours work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c) Filling a 9 litre bucket in 30 seconds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d) Scoring 90 pts over 5 games of basketball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e) Writing 1200 words over 60 minutes</a:t>
            </a:r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790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1A64F1-4035-4C06-9CBA-3DBA9F67C30C}"/>
              </a:ext>
            </a:extLst>
          </p:cNvPr>
          <p:cNvSpPr/>
          <p:nvPr/>
        </p:nvSpPr>
        <p:spPr>
          <a:xfrm>
            <a:off x="855785" y="0"/>
            <a:ext cx="6972101" cy="210041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5BF1-C3B5-437D-A521-B3C2A87361D2}"/>
              </a:ext>
            </a:extLst>
          </p:cNvPr>
          <p:cNvSpPr/>
          <p:nvPr/>
        </p:nvSpPr>
        <p:spPr>
          <a:xfrm>
            <a:off x="1160585" y="49275"/>
            <a:ext cx="64359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find the rate we need to work out what </a:t>
            </a:r>
            <a:r>
              <a:rPr lang="en-US" b="1" u="sng" dirty="0"/>
              <a:t>one of that unit </a:t>
            </a:r>
            <a:r>
              <a:rPr lang="en-US" dirty="0"/>
              <a:t>will be. </a:t>
            </a:r>
          </a:p>
          <a:p>
            <a:endParaRPr lang="en-US" dirty="0"/>
          </a:p>
          <a:p>
            <a:r>
              <a:rPr lang="en-US" dirty="0"/>
              <a:t>To do this we need to </a:t>
            </a:r>
            <a:r>
              <a:rPr lang="en-US" b="1" u="sng" dirty="0"/>
              <a:t>divide both numbers by the second number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CF7033-A811-4F22-93EB-3C63F3DE38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535" b="67958"/>
          <a:stretch/>
        </p:blipFill>
        <p:spPr>
          <a:xfrm>
            <a:off x="1221103" y="972605"/>
            <a:ext cx="3564645" cy="3236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3F3212-3B2E-4D0F-8AB7-B568BF11F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94" t="-476" b="67958"/>
          <a:stretch/>
        </p:blipFill>
        <p:spPr>
          <a:xfrm>
            <a:off x="5159313" y="985121"/>
            <a:ext cx="2273748" cy="328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45BF28-8294-404F-8AD0-AE5F1FC569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26831" r="558" b="-4010"/>
          <a:stretch/>
        </p:blipFill>
        <p:spPr>
          <a:xfrm>
            <a:off x="4729186" y="1320838"/>
            <a:ext cx="2867368" cy="7795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FF0CB9-0FA4-476B-9248-BCB49014BF1D}"/>
              </a:ext>
            </a:extLst>
          </p:cNvPr>
          <p:cNvSpPr txBox="1"/>
          <p:nvPr/>
        </p:nvSpPr>
        <p:spPr>
          <a:xfrm>
            <a:off x="336840" y="2100411"/>
            <a:ext cx="749104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Now simplify the following as rates with the units in the brackets</a:t>
            </a:r>
          </a:p>
          <a:p>
            <a:pPr lvl="1"/>
            <a:r>
              <a:rPr lang="en-AU" dirty="0"/>
              <a:t>a) driving 450km over 5 hours (km/hr)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b) getting paid $150 for 5 hours work ($/hr)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c) Filling a 9 litre bucket in 2 minutes (l/min)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d) Scoring 110 pts over 5 games of basketball (pts/game)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e) Writing 1800 words over 2hours (words/min)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f) 3kg of apples for $15 ($/kg)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9853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D3B7EBD-D472-45E7-973F-9FBA69E763F9}"/>
              </a:ext>
            </a:extLst>
          </p:cNvPr>
          <p:cNvSpPr/>
          <p:nvPr/>
        </p:nvSpPr>
        <p:spPr>
          <a:xfrm>
            <a:off x="187570" y="99320"/>
            <a:ext cx="8088922" cy="210041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32893A25-C2FB-477C-881C-794DA36AEC4A}"/>
              </a:ext>
            </a:extLst>
          </p:cNvPr>
          <p:cNvSpPr txBox="1"/>
          <p:nvPr/>
        </p:nvSpPr>
        <p:spPr>
          <a:xfrm>
            <a:off x="284978" y="99320"/>
            <a:ext cx="8520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Comparing Unit Prices can be a good way of finding which is the "best buy"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F6E6C-6216-4E15-8AF9-460AE36A14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355" t="37692" r="55387" b="48728"/>
          <a:stretch/>
        </p:blipFill>
        <p:spPr>
          <a:xfrm>
            <a:off x="832329" y="538371"/>
            <a:ext cx="3554323" cy="13402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24">
                <a:extLst>
                  <a:ext uri="{FF2B5EF4-FFF2-40B4-BE49-F238E27FC236}">
                    <a16:creationId xmlns:a16="http://schemas.microsoft.com/office/drawing/2014/main" id="{57A317F5-E587-43FC-9846-05A59589D2A2}"/>
                  </a:ext>
                </a:extLst>
              </p:cNvPr>
              <p:cNvSpPr txBox="1"/>
              <p:nvPr/>
            </p:nvSpPr>
            <p:spPr>
              <a:xfrm>
                <a:off x="4386652" y="997688"/>
                <a:ext cx="21288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𝟗𝟎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𝒑𝒆𝒓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𝑳𝒊𝒕𝒓𝒆</m:t>
                      </m:r>
                    </m:oMath>
                  </m:oMathPara>
                </a14:m>
                <a:endParaRPr lang="en-AU" sz="2000" b="1" dirty="0"/>
              </a:p>
            </p:txBody>
          </p:sp>
        </mc:Choice>
        <mc:Fallback>
          <p:sp>
            <p:nvSpPr>
              <p:cNvPr id="6" name="TextBox 24">
                <a:extLst>
                  <a:ext uri="{FF2B5EF4-FFF2-40B4-BE49-F238E27FC236}">
                    <a16:creationId xmlns:a16="http://schemas.microsoft.com/office/drawing/2014/main" id="{57A317F5-E587-43FC-9846-05A59589D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652" y="997688"/>
                <a:ext cx="2128849" cy="400110"/>
              </a:xfrm>
              <a:prstGeom prst="rect">
                <a:avLst/>
              </a:prstGeom>
              <a:blipFill>
                <a:blip r:embed="rId3"/>
                <a:stretch>
                  <a:fillRect r="-8023" b="-92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25">
                <a:extLst>
                  <a:ext uri="{FF2B5EF4-FFF2-40B4-BE49-F238E27FC236}">
                    <a16:creationId xmlns:a16="http://schemas.microsoft.com/office/drawing/2014/main" id="{3435E055-4FA8-46A9-9FAD-09A48E5785CC}"/>
                  </a:ext>
                </a:extLst>
              </p:cNvPr>
              <p:cNvSpPr txBox="1"/>
              <p:nvPr/>
            </p:nvSpPr>
            <p:spPr>
              <a:xfrm>
                <a:off x="4386651" y="1485634"/>
                <a:ext cx="21288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𝒑𝒆𝒓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𝑳𝒊𝒕𝒓𝒆</m:t>
                      </m:r>
                    </m:oMath>
                  </m:oMathPara>
                </a14:m>
                <a:endParaRPr lang="en-AU" sz="2000" b="1" dirty="0"/>
              </a:p>
            </p:txBody>
          </p:sp>
        </mc:Choice>
        <mc:Fallback>
          <p:sp>
            <p:nvSpPr>
              <p:cNvPr id="7" name="TextBox 25">
                <a:extLst>
                  <a:ext uri="{FF2B5EF4-FFF2-40B4-BE49-F238E27FC236}">
                    <a16:creationId xmlns:a16="http://schemas.microsoft.com/office/drawing/2014/main" id="{3435E055-4FA8-46A9-9FAD-09A48E578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651" y="1485634"/>
                <a:ext cx="2128849" cy="400110"/>
              </a:xfrm>
              <a:prstGeom prst="rect">
                <a:avLst/>
              </a:prstGeom>
              <a:blipFill>
                <a:blip r:embed="rId4"/>
                <a:stretch>
                  <a:fillRect r="-8023" b="-92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97489433-73D2-4A25-9713-81928C6DFDD5}"/>
              </a:ext>
            </a:extLst>
          </p:cNvPr>
          <p:cNvSpPr/>
          <p:nvPr/>
        </p:nvSpPr>
        <p:spPr>
          <a:xfrm>
            <a:off x="1113942" y="1397798"/>
            <a:ext cx="3431356" cy="58886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2EFE2B-F966-43F7-8360-1DAD65E3D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675" y="2337397"/>
            <a:ext cx="776287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15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2297</TotalTime>
  <Words>411</Words>
  <Application>Microsoft Office PowerPoint</Application>
  <PresentationFormat>On-screen Show (16:10)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Topic: Review of rates and ratios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Review of rates and ratios</dc:title>
  <dc:creator>WILSON James [Baldivis Secondary College]</dc:creator>
  <cp:lastModifiedBy>WILSON James [Baldivis Secondary College]</cp:lastModifiedBy>
  <cp:revision>13</cp:revision>
  <dcterms:created xsi:type="dcterms:W3CDTF">2018-05-17T13:52:28Z</dcterms:created>
  <dcterms:modified xsi:type="dcterms:W3CDTF">2018-05-20T13:40:51Z</dcterms:modified>
</cp:coreProperties>
</file>
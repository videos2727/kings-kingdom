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261" r:id="rId5"/>
    <p:sldId id="296" r:id="rId6"/>
    <p:sldId id="295" r:id="rId7"/>
    <p:sldId id="297" r:id="rId8"/>
    <p:sldId id="298" r:id="rId9"/>
    <p:sldId id="299" r:id="rId10"/>
    <p:sldId id="300" r:id="rId11"/>
    <p:sldId id="294" r:id="rId12"/>
    <p:sldId id="305" r:id="rId13"/>
    <p:sldId id="302" r:id="rId14"/>
    <p:sldId id="301" r:id="rId15"/>
    <p:sldId id="306" r:id="rId16"/>
    <p:sldId id="290" r:id="rId17"/>
    <p:sldId id="292" r:id="rId18"/>
    <p:sldId id="291" r:id="rId19"/>
    <p:sldId id="29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10/09/2014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10/09/2014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10/09/2014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10/09/2014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10/09/2014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10/09/2014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10/09/2014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10/09/2014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10/09/2014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10/09/2014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10/09/2014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10/09/2014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Perimeter, Area and Volume 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Name </a:t>
            </a:r>
          </a:p>
          <a:p>
            <a:r>
              <a:rPr lang="en-AU" dirty="0" smtClean="0"/>
              <a:t>Class </a:t>
            </a:r>
          </a:p>
          <a:p>
            <a:r>
              <a:rPr lang="en-AU" dirty="0" smtClean="0"/>
              <a:t>Term 3 Semester 2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333427" y="2348880"/>
            <a:ext cx="1260140" cy="1396872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rapezoid 4"/>
          <p:cNvSpPr/>
          <p:nvPr/>
        </p:nvSpPr>
        <p:spPr>
          <a:xfrm>
            <a:off x="2699792" y="2348880"/>
            <a:ext cx="1440160" cy="648072"/>
          </a:xfrm>
          <a:prstGeom prst="trapezoi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Hexagon 5"/>
          <p:cNvSpPr/>
          <p:nvPr/>
        </p:nvSpPr>
        <p:spPr>
          <a:xfrm>
            <a:off x="5076056" y="2348880"/>
            <a:ext cx="1512168" cy="1368152"/>
          </a:xfrm>
          <a:prstGeom prst="hexag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Decagon 6"/>
          <p:cNvSpPr/>
          <p:nvPr/>
        </p:nvSpPr>
        <p:spPr>
          <a:xfrm>
            <a:off x="7596336" y="2852936"/>
            <a:ext cx="1224136" cy="1296144"/>
          </a:xfrm>
          <a:prstGeom prst="decag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Pie 8"/>
          <p:cNvSpPr/>
          <p:nvPr/>
        </p:nvSpPr>
        <p:spPr>
          <a:xfrm>
            <a:off x="683568" y="4653136"/>
            <a:ext cx="1368152" cy="1440160"/>
          </a:xfrm>
          <a:prstGeom prst="pi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48264" y="5301208"/>
            <a:ext cx="115212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L-Shape 10"/>
          <p:cNvSpPr/>
          <p:nvPr/>
        </p:nvSpPr>
        <p:spPr>
          <a:xfrm>
            <a:off x="323528" y="548680"/>
            <a:ext cx="936104" cy="1368152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Parallelogram 11"/>
          <p:cNvSpPr/>
          <p:nvPr/>
        </p:nvSpPr>
        <p:spPr>
          <a:xfrm>
            <a:off x="7524328" y="1232756"/>
            <a:ext cx="936104" cy="1116124"/>
          </a:xfrm>
          <a:prstGeom prst="parallelogram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/>
          <p:cNvSpPr/>
          <p:nvPr/>
        </p:nvSpPr>
        <p:spPr>
          <a:xfrm>
            <a:off x="2339752" y="3717032"/>
            <a:ext cx="936104" cy="93610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10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15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</a:t>
            </a:r>
            <a:r>
              <a:rPr lang="en-AU" sz="2400" dirty="0" smtClean="0"/>
              <a:t>for Area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5837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convert between units of area</a:t>
            </a:r>
            <a:r>
              <a:rPr lang="en-AU" sz="2400" dirty="0" smtClean="0"/>
              <a:t>.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30627" y="2020189"/>
            <a:ext cx="3000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Area – Is a measure of surface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624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15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</a:t>
            </a:r>
            <a:r>
              <a:rPr lang="en-AU" sz="2400" dirty="0" smtClean="0"/>
              <a:t>for Area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5837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convert between units of area</a:t>
            </a:r>
            <a:r>
              <a:rPr lang="en-AU" sz="2400" dirty="0" smtClean="0"/>
              <a:t>.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30627" y="2020189"/>
            <a:ext cx="3000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Area – Is a measure of surface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6" t="14356" r="63257" b="39147"/>
          <a:stretch/>
        </p:blipFill>
        <p:spPr bwMode="auto">
          <a:xfrm>
            <a:off x="2942464" y="2389521"/>
            <a:ext cx="3259072" cy="304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607108" y="3704871"/>
                <a:ext cx="3170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𝑙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08" y="3704871"/>
                <a:ext cx="317010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348683" y="5065376"/>
                <a:ext cx="3170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𝑙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683" y="5065376"/>
                <a:ext cx="317010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52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15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</a:t>
            </a:r>
            <a:r>
              <a:rPr lang="en-AU" sz="2400" dirty="0" smtClean="0"/>
              <a:t>for Area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5837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convert between units of area</a:t>
            </a:r>
            <a:r>
              <a:rPr lang="en-AU" sz="2400" dirty="0" smtClean="0"/>
              <a:t>.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30627" y="2020189"/>
            <a:ext cx="3000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Area – Is a measure of surface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6" t="14356" r="63257" b="39147"/>
          <a:stretch/>
        </p:blipFill>
        <p:spPr bwMode="auto">
          <a:xfrm>
            <a:off x="2942464" y="2389521"/>
            <a:ext cx="3259072" cy="304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607108" y="3704871"/>
                <a:ext cx="3170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𝑙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08" y="3704871"/>
                <a:ext cx="317010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348683" y="5065376"/>
                <a:ext cx="3170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𝑙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683" y="5065376"/>
                <a:ext cx="317010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6277185" y="2504542"/>
            <a:ext cx="27461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How many square centimetres make up the surface of the square?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6336562" y="4074202"/>
                <a:ext cx="11404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</a:rPr>
                        <m:t>16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𝑐𝑚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6562" y="4074202"/>
                <a:ext cx="1140440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366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15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</a:t>
            </a:r>
            <a:r>
              <a:rPr lang="en-AU" sz="2400" dirty="0" smtClean="0"/>
              <a:t>for Area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5837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convert between units of area</a:t>
            </a:r>
            <a:r>
              <a:rPr lang="en-AU" sz="2400" dirty="0" smtClean="0"/>
              <a:t>.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30627" y="2020189"/>
            <a:ext cx="3000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Area – Is a measure of surface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6" t="14356" r="63257" b="39147"/>
          <a:stretch/>
        </p:blipFill>
        <p:spPr bwMode="auto">
          <a:xfrm>
            <a:off x="2942464" y="2389521"/>
            <a:ext cx="3259072" cy="304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607108" y="3704871"/>
                <a:ext cx="3170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𝑙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08" y="3704871"/>
                <a:ext cx="317010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348683" y="5065376"/>
                <a:ext cx="3170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𝑙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683" y="5065376"/>
                <a:ext cx="317010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6277185" y="2504542"/>
            <a:ext cx="27461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How many square centimetres make up the surface of the square?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6240296" y="4074202"/>
                <a:ext cx="11404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</a:rPr>
                        <m:t>16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𝑐𝑚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296" y="4074202"/>
                <a:ext cx="1140440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6336562" y="4535867"/>
                <a:ext cx="184941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400" dirty="0" smtClean="0"/>
                  <a:t>Same as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/>
                      </a:rPr>
                      <m:t>𝑙</m:t>
                    </m:r>
                    <m:r>
                      <a:rPr lang="en-AU" sz="2400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sz="2400" b="0" i="1" smtClean="0">
                        <a:latin typeface="Cambria Math"/>
                        <a:ea typeface="Cambria Math"/>
                      </a:rPr>
                      <m:t>𝑙</m:t>
                    </m:r>
                  </m:oMath>
                </a14:m>
                <a:endParaRPr lang="en-AU" sz="2400" b="0" dirty="0" smtClean="0">
                  <a:ea typeface="Cambria Math"/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6562" y="4535867"/>
                <a:ext cx="1849417" cy="461665"/>
              </a:xfrm>
              <a:prstGeom prst="rect">
                <a:avLst/>
              </a:prstGeom>
              <a:blipFill rotWithShape="1">
                <a:blip r:embed="rId6"/>
                <a:stretch>
                  <a:fillRect l="-4934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041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15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</a:t>
            </a:r>
            <a:r>
              <a:rPr lang="en-AU" sz="2400" dirty="0" smtClean="0"/>
              <a:t>for Area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5837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convert between units of area</a:t>
            </a:r>
            <a:r>
              <a:rPr lang="en-AU" sz="2400" dirty="0" smtClean="0"/>
              <a:t>.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30627" y="2020189"/>
            <a:ext cx="3000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Area – Is a measure of surface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6" t="14356" r="63257" b="39147"/>
          <a:stretch/>
        </p:blipFill>
        <p:spPr bwMode="auto">
          <a:xfrm>
            <a:off x="2942464" y="2389521"/>
            <a:ext cx="3259072" cy="304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607108" y="3704871"/>
                <a:ext cx="3170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𝑙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08" y="3704871"/>
                <a:ext cx="317010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348683" y="5065376"/>
                <a:ext cx="3170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𝑙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683" y="5065376"/>
                <a:ext cx="317010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6182726" y="2530087"/>
            <a:ext cx="27461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How many square centimetres make up the surface of the square?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6175589" y="4075169"/>
                <a:ext cx="11404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</a:rPr>
                        <m:t>16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𝑐𝑚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589" y="4075169"/>
                <a:ext cx="1140440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6175589" y="4535867"/>
                <a:ext cx="3138808" cy="8626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400" dirty="0" smtClean="0"/>
                  <a:t>Same as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/>
                      </a:rPr>
                      <m:t>𝑙</m:t>
                    </m:r>
                    <m:r>
                      <a:rPr lang="en-AU" sz="2400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sz="2400" b="0" i="1" smtClean="0">
                        <a:latin typeface="Cambria Math"/>
                        <a:ea typeface="Cambria Math"/>
                      </a:rPr>
                      <m:t>𝑙</m:t>
                    </m:r>
                    <m:r>
                      <a:rPr lang="en-AU" sz="2400" b="0" i="1" smtClean="0"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/>
                            <a:ea typeface="Cambria Math"/>
                          </a:rPr>
                          <m:t>𝑙</m:t>
                        </m:r>
                      </m:e>
                      <m:sup>
                        <m:r>
                          <a:rPr lang="en-AU" sz="2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400" b="0" dirty="0" smtClean="0">
                  <a:ea typeface="Cambria Math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4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𝑐𝑚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×4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𝑐𝑚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=16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𝑐𝑚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b="0" dirty="0" smtClean="0">
                  <a:ea typeface="Cambria Math"/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589" y="4535867"/>
                <a:ext cx="3138808" cy="862608"/>
              </a:xfrm>
              <a:prstGeom prst="rect">
                <a:avLst/>
              </a:prstGeom>
              <a:blipFill rotWithShape="1">
                <a:blip r:embed="rId6"/>
                <a:stretch>
                  <a:fillRect l="-2913" t="-56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8907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15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</a:t>
            </a:r>
            <a:r>
              <a:rPr lang="en-AU" sz="2400" dirty="0" smtClean="0"/>
              <a:t>for Area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5837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convert between units of area</a:t>
            </a:r>
            <a:r>
              <a:rPr lang="en-AU" sz="2400" dirty="0" smtClean="0"/>
              <a:t>.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30627" y="2020189"/>
            <a:ext cx="3000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Area – Is a measure of surface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6" t="14356" r="63257" b="39147"/>
          <a:stretch/>
        </p:blipFill>
        <p:spPr bwMode="auto">
          <a:xfrm>
            <a:off x="2942464" y="2389521"/>
            <a:ext cx="3259072" cy="304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607108" y="3704871"/>
                <a:ext cx="3170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𝑙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08" y="3704871"/>
                <a:ext cx="317010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348683" y="5065376"/>
                <a:ext cx="3170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𝑙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683" y="5065376"/>
                <a:ext cx="317010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6182726" y="2530087"/>
            <a:ext cx="27461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How many square centimetres make up the surface of the square?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6175589" y="4075169"/>
                <a:ext cx="11404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</a:rPr>
                        <m:t>16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𝑐𝑚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589" y="4075169"/>
                <a:ext cx="1140440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6175589" y="4535867"/>
                <a:ext cx="3138808" cy="8626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400" dirty="0" smtClean="0"/>
                  <a:t>Same as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/>
                      </a:rPr>
                      <m:t>𝑙</m:t>
                    </m:r>
                    <m:r>
                      <a:rPr lang="en-AU" sz="2400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sz="2400" b="0" i="1" smtClean="0">
                        <a:latin typeface="Cambria Math"/>
                        <a:ea typeface="Cambria Math"/>
                      </a:rPr>
                      <m:t>𝑙</m:t>
                    </m:r>
                    <m:r>
                      <a:rPr lang="en-AU" sz="2400" b="0" i="1" smtClean="0"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/>
                            <a:ea typeface="Cambria Math"/>
                          </a:rPr>
                          <m:t>𝑙</m:t>
                        </m:r>
                      </m:e>
                      <m:sup>
                        <m:r>
                          <a:rPr lang="en-AU" sz="2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400" b="0" dirty="0" smtClean="0">
                  <a:ea typeface="Cambria Math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4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𝑐𝑚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×4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𝑐𝑚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=16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𝑐𝑚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b="0" dirty="0" smtClean="0">
                  <a:ea typeface="Cambria Math"/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589" y="4535867"/>
                <a:ext cx="3138808" cy="862608"/>
              </a:xfrm>
              <a:prstGeom prst="rect">
                <a:avLst/>
              </a:prstGeom>
              <a:blipFill rotWithShape="1">
                <a:blip r:embed="rId6"/>
                <a:stretch>
                  <a:fillRect l="-2913" t="-56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216642" y="5757307"/>
                <a:ext cx="45820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400" dirty="0" smtClean="0"/>
                  <a:t>Formula –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/>
                      </a:rPr>
                      <m:t>𝐴𝑟𝑒𝑎</m:t>
                    </m:r>
                    <m:r>
                      <a:rPr lang="en-AU" sz="2400" b="0" i="1" smtClean="0">
                        <a:latin typeface="Cambria Math"/>
                      </a:rPr>
                      <m:t> </m:t>
                    </m:r>
                    <m:r>
                      <a:rPr lang="en-AU" sz="2400" b="0" i="1" smtClean="0">
                        <a:latin typeface="Cambria Math"/>
                      </a:rPr>
                      <m:t>𝑜𝑓</m:t>
                    </m:r>
                    <m:r>
                      <a:rPr lang="en-AU" sz="2400" b="0" i="1" smtClean="0">
                        <a:latin typeface="Cambria Math"/>
                      </a:rPr>
                      <m:t> </m:t>
                    </m:r>
                    <m:r>
                      <a:rPr lang="en-AU" sz="2400" b="0" i="1" smtClean="0">
                        <a:latin typeface="Cambria Math"/>
                      </a:rPr>
                      <m:t>𝑎</m:t>
                    </m:r>
                    <m:r>
                      <a:rPr lang="en-AU" sz="2400" b="0" i="1" smtClean="0">
                        <a:latin typeface="Cambria Math"/>
                      </a:rPr>
                      <m:t> </m:t>
                    </m:r>
                    <m:r>
                      <a:rPr lang="en-AU" sz="2400" b="0" i="1" smtClean="0">
                        <a:latin typeface="Cambria Math"/>
                      </a:rPr>
                      <m:t>𝑠𝑞𝑢𝑎𝑟𝑒</m:t>
                    </m:r>
                    <m:r>
                      <a:rPr lang="en-AU" sz="2400" b="0" i="1" smtClean="0">
                        <a:latin typeface="Cambria Math"/>
                      </a:rPr>
                      <m:t>= </m:t>
                    </m:r>
                    <m:sSup>
                      <m:sSupPr>
                        <m:ctrlPr>
                          <a:rPr lang="en-AU" sz="24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/>
                          </a:rPr>
                          <m:t>𝑙</m:t>
                        </m:r>
                      </m:e>
                      <m:sup>
                        <m:r>
                          <a:rPr lang="en-AU" sz="24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642" y="5757307"/>
                <a:ext cx="4582088" cy="461665"/>
              </a:xfrm>
              <a:prstGeom prst="rect">
                <a:avLst/>
              </a:prstGeom>
              <a:blipFill rotWithShape="1">
                <a:blip r:embed="rId7"/>
                <a:stretch>
                  <a:fillRect l="-2130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3944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77253"/>
            <a:ext cx="8229600" cy="1143000"/>
          </a:xfrm>
        </p:spPr>
        <p:txBody>
          <a:bodyPr/>
          <a:lstStyle/>
          <a:p>
            <a:r>
              <a:rPr lang="en-AU" dirty="0" smtClean="0"/>
              <a:t>Task-Find the area of the squares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964819" y="1412776"/>
            <a:ext cx="1296144" cy="12241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/>
          <p:cNvSpPr/>
          <p:nvPr/>
        </p:nvSpPr>
        <p:spPr>
          <a:xfrm>
            <a:off x="3778406" y="1410397"/>
            <a:ext cx="129614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964819" y="3068960"/>
            <a:ext cx="1296144" cy="122413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/>
          <p:cNvSpPr txBox="1"/>
          <p:nvPr/>
        </p:nvSpPr>
        <p:spPr>
          <a:xfrm>
            <a:off x="4169613" y="2560614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1cm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179731" y="2634533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10mm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203964" y="4293096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100cm</a:t>
            </a:r>
            <a:endParaRPr lang="en-AU" dirty="0"/>
          </a:p>
        </p:txBody>
      </p:sp>
      <p:sp>
        <p:nvSpPr>
          <p:cNvPr id="11" name="Rectangle 10"/>
          <p:cNvSpPr/>
          <p:nvPr/>
        </p:nvSpPr>
        <p:spPr>
          <a:xfrm>
            <a:off x="3778406" y="3068960"/>
            <a:ext cx="1296144" cy="1224136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extBox 11"/>
          <p:cNvSpPr txBox="1"/>
          <p:nvPr/>
        </p:nvSpPr>
        <p:spPr>
          <a:xfrm>
            <a:off x="4102442" y="4293096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1m</a:t>
            </a:r>
            <a:endParaRPr lang="en-AU" dirty="0"/>
          </a:p>
        </p:txBody>
      </p:sp>
      <p:sp>
        <p:nvSpPr>
          <p:cNvPr id="13" name="Rectangle 12"/>
          <p:cNvSpPr/>
          <p:nvPr/>
        </p:nvSpPr>
        <p:spPr>
          <a:xfrm>
            <a:off x="964819" y="4797152"/>
            <a:ext cx="1296144" cy="1224136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/>
          <p:cNvSpPr/>
          <p:nvPr/>
        </p:nvSpPr>
        <p:spPr>
          <a:xfrm>
            <a:off x="3777459" y="4797152"/>
            <a:ext cx="1296144" cy="122413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/>
          <p:cNvSpPr txBox="1"/>
          <p:nvPr/>
        </p:nvSpPr>
        <p:spPr>
          <a:xfrm>
            <a:off x="1142249" y="6021288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1000m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4160288" y="6021288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1km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6694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15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</a:t>
            </a:r>
            <a:r>
              <a:rPr lang="en-AU" sz="2400" dirty="0" smtClean="0"/>
              <a:t>for Area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5837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convert between units of area</a:t>
            </a:r>
            <a:r>
              <a:rPr lang="en-AU" sz="2400" dirty="0" smtClean="0"/>
              <a:t>.</a:t>
            </a:r>
            <a:endParaRPr lang="en-AU" sz="2400" dirty="0"/>
          </a:p>
        </p:txBody>
      </p:sp>
      <p:sp>
        <p:nvSpPr>
          <p:cNvPr id="13" name="Circular Arrow 12"/>
          <p:cNvSpPr/>
          <p:nvPr/>
        </p:nvSpPr>
        <p:spPr>
          <a:xfrm>
            <a:off x="3474844" y="2739321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4" name="Circular Arrow 13"/>
          <p:cNvSpPr/>
          <p:nvPr/>
        </p:nvSpPr>
        <p:spPr>
          <a:xfrm>
            <a:off x="6086815" y="2739321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5" name="Circular Arrow 14"/>
          <p:cNvSpPr/>
          <p:nvPr/>
        </p:nvSpPr>
        <p:spPr>
          <a:xfrm>
            <a:off x="4816382" y="2739321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04616" y="3153368"/>
            <a:ext cx="4363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km </a:t>
            </a:r>
            <a:r>
              <a:rPr lang="en-AU" baseline="30000" dirty="0" smtClean="0"/>
              <a:t>2</a:t>
            </a:r>
            <a:r>
              <a:rPr lang="en-AU" dirty="0" smtClean="0"/>
              <a:t>             m</a:t>
            </a:r>
            <a:r>
              <a:rPr lang="en-AU" baseline="30000" dirty="0"/>
              <a:t> 2</a:t>
            </a:r>
            <a:r>
              <a:rPr lang="en-AU" dirty="0" smtClean="0"/>
              <a:t>                   cm</a:t>
            </a:r>
            <a:r>
              <a:rPr lang="en-AU" baseline="30000" dirty="0"/>
              <a:t> 2</a:t>
            </a:r>
            <a:r>
              <a:rPr lang="en-AU" dirty="0" smtClean="0"/>
              <a:t>               mm</a:t>
            </a:r>
            <a:r>
              <a:rPr lang="en-AU" baseline="30000" dirty="0"/>
              <a:t> 2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2963741" y="1916832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71289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15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</a:t>
            </a:r>
            <a:r>
              <a:rPr lang="en-AU" sz="2400" dirty="0" smtClean="0"/>
              <a:t>for Area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5837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convert between units of area</a:t>
            </a:r>
            <a:r>
              <a:rPr lang="en-AU" sz="2400" dirty="0" smtClean="0"/>
              <a:t>.</a:t>
            </a:r>
            <a:endParaRPr lang="en-AU" sz="2400" dirty="0"/>
          </a:p>
        </p:txBody>
      </p:sp>
      <p:sp>
        <p:nvSpPr>
          <p:cNvPr id="13" name="Circular Arrow 12"/>
          <p:cNvSpPr/>
          <p:nvPr/>
        </p:nvSpPr>
        <p:spPr>
          <a:xfrm>
            <a:off x="3474844" y="2739321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4" name="Circular Arrow 13"/>
          <p:cNvSpPr/>
          <p:nvPr/>
        </p:nvSpPr>
        <p:spPr>
          <a:xfrm>
            <a:off x="6086815" y="2739321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5" name="Circular Arrow 14"/>
          <p:cNvSpPr/>
          <p:nvPr/>
        </p:nvSpPr>
        <p:spPr>
          <a:xfrm>
            <a:off x="4816382" y="2739321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04616" y="3153368"/>
            <a:ext cx="4363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km </a:t>
            </a:r>
            <a:r>
              <a:rPr lang="en-AU" baseline="30000" dirty="0" smtClean="0"/>
              <a:t>2</a:t>
            </a:r>
            <a:r>
              <a:rPr lang="en-AU" dirty="0" smtClean="0"/>
              <a:t>             m</a:t>
            </a:r>
            <a:r>
              <a:rPr lang="en-AU" baseline="30000" dirty="0"/>
              <a:t> 2</a:t>
            </a:r>
            <a:r>
              <a:rPr lang="en-AU" dirty="0" smtClean="0"/>
              <a:t>                   cm</a:t>
            </a:r>
            <a:r>
              <a:rPr lang="en-AU" baseline="30000" dirty="0"/>
              <a:t> 2</a:t>
            </a:r>
            <a:r>
              <a:rPr lang="en-AU" dirty="0" smtClean="0"/>
              <a:t>               mm</a:t>
            </a:r>
            <a:r>
              <a:rPr lang="en-AU" baseline="30000" dirty="0"/>
              <a:t> 2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2963741" y="1916832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560014" y="241823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x1000</a:t>
            </a:r>
            <a:r>
              <a:rPr lang="en-AU" baseline="30000" dirty="0"/>
              <a:t> </a:t>
            </a:r>
            <a:r>
              <a:rPr lang="en-AU" baseline="30000" dirty="0">
                <a:solidFill>
                  <a:srgbClr val="00B050"/>
                </a:solidFill>
              </a:rPr>
              <a:t>2 </a:t>
            </a:r>
            <a:r>
              <a:rPr lang="en-AU" dirty="0" smtClean="0">
                <a:solidFill>
                  <a:srgbClr val="00B050"/>
                </a:solidFill>
              </a:rPr>
              <a:t>	         x 100</a:t>
            </a:r>
            <a:r>
              <a:rPr lang="en-AU" baseline="30000" dirty="0">
                <a:solidFill>
                  <a:srgbClr val="00B050"/>
                </a:solidFill>
              </a:rPr>
              <a:t> 2</a:t>
            </a:r>
            <a:r>
              <a:rPr lang="en-AU" dirty="0" smtClean="0">
                <a:solidFill>
                  <a:srgbClr val="00B050"/>
                </a:solidFill>
              </a:rPr>
              <a:t>                x10</a:t>
            </a:r>
            <a:r>
              <a:rPr lang="en-AU" baseline="30000" dirty="0">
                <a:solidFill>
                  <a:srgbClr val="00B050"/>
                </a:solidFill>
              </a:rPr>
              <a:t> 2 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779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15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</a:t>
            </a:r>
            <a:r>
              <a:rPr lang="en-AU" sz="2400" dirty="0" smtClean="0"/>
              <a:t>for Area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5837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convert between units of area</a:t>
            </a:r>
            <a:r>
              <a:rPr lang="en-AU" sz="2400" dirty="0" smtClean="0"/>
              <a:t>.</a:t>
            </a:r>
            <a:endParaRPr lang="en-AU" sz="2400" dirty="0"/>
          </a:p>
        </p:txBody>
      </p:sp>
      <p:sp>
        <p:nvSpPr>
          <p:cNvPr id="13" name="Circular Arrow 12"/>
          <p:cNvSpPr/>
          <p:nvPr/>
        </p:nvSpPr>
        <p:spPr>
          <a:xfrm>
            <a:off x="3474844" y="2739321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4" name="Circular Arrow 13"/>
          <p:cNvSpPr/>
          <p:nvPr/>
        </p:nvSpPr>
        <p:spPr>
          <a:xfrm>
            <a:off x="6086815" y="2739321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5" name="Circular Arrow 14"/>
          <p:cNvSpPr/>
          <p:nvPr/>
        </p:nvSpPr>
        <p:spPr>
          <a:xfrm>
            <a:off x="4816382" y="2739321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6" name="Circular Arrow 15"/>
          <p:cNvSpPr/>
          <p:nvPr/>
        </p:nvSpPr>
        <p:spPr>
          <a:xfrm rot="10800000">
            <a:off x="3455752" y="3153368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7" name="Circular Arrow 16"/>
          <p:cNvSpPr/>
          <p:nvPr/>
        </p:nvSpPr>
        <p:spPr>
          <a:xfrm rot="10800000">
            <a:off x="6086815" y="3145371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8" name="Circular Arrow 17"/>
          <p:cNvSpPr/>
          <p:nvPr/>
        </p:nvSpPr>
        <p:spPr>
          <a:xfrm rot="10800000">
            <a:off x="4797002" y="3153367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04616" y="3153368"/>
            <a:ext cx="4363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km </a:t>
            </a:r>
            <a:r>
              <a:rPr lang="en-AU" baseline="30000" dirty="0" smtClean="0"/>
              <a:t>2</a:t>
            </a:r>
            <a:r>
              <a:rPr lang="en-AU" dirty="0" smtClean="0"/>
              <a:t>             m</a:t>
            </a:r>
            <a:r>
              <a:rPr lang="en-AU" baseline="30000" dirty="0"/>
              <a:t> 2</a:t>
            </a:r>
            <a:r>
              <a:rPr lang="en-AU" dirty="0" smtClean="0"/>
              <a:t>                   cm</a:t>
            </a:r>
            <a:r>
              <a:rPr lang="en-AU" baseline="30000" dirty="0"/>
              <a:t> 2</a:t>
            </a:r>
            <a:r>
              <a:rPr lang="en-AU" dirty="0" smtClean="0"/>
              <a:t>               mm</a:t>
            </a:r>
            <a:r>
              <a:rPr lang="en-AU" baseline="30000" dirty="0"/>
              <a:t> 2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530262" y="2462089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x1000</a:t>
            </a:r>
            <a:r>
              <a:rPr lang="en-AU" baseline="30000" dirty="0"/>
              <a:t> </a:t>
            </a:r>
            <a:r>
              <a:rPr lang="en-AU" baseline="30000" dirty="0">
                <a:solidFill>
                  <a:srgbClr val="00B050"/>
                </a:solidFill>
              </a:rPr>
              <a:t>2 </a:t>
            </a:r>
            <a:r>
              <a:rPr lang="en-AU" dirty="0" smtClean="0">
                <a:solidFill>
                  <a:srgbClr val="00B050"/>
                </a:solidFill>
              </a:rPr>
              <a:t>	         x 100</a:t>
            </a:r>
            <a:r>
              <a:rPr lang="en-AU" baseline="30000" dirty="0">
                <a:solidFill>
                  <a:srgbClr val="00B050"/>
                </a:solidFill>
              </a:rPr>
              <a:t> 2</a:t>
            </a:r>
            <a:r>
              <a:rPr lang="en-AU" dirty="0" smtClean="0">
                <a:solidFill>
                  <a:srgbClr val="00B050"/>
                </a:solidFill>
              </a:rPr>
              <a:t>                x10</a:t>
            </a:r>
            <a:r>
              <a:rPr lang="en-AU" baseline="30000" dirty="0">
                <a:solidFill>
                  <a:srgbClr val="00B050"/>
                </a:solidFill>
              </a:rPr>
              <a:t> 2 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963741" y="1916832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78756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15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</a:t>
            </a:r>
            <a:r>
              <a:rPr lang="en-AU" sz="2400" dirty="0" smtClean="0"/>
              <a:t>for Area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5837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convert between units of area</a:t>
            </a:r>
            <a:r>
              <a:rPr lang="en-AU" sz="2400" dirty="0" smtClean="0"/>
              <a:t>.</a:t>
            </a:r>
            <a:endParaRPr lang="en-AU" sz="2400" dirty="0"/>
          </a:p>
        </p:txBody>
      </p:sp>
      <p:sp>
        <p:nvSpPr>
          <p:cNvPr id="13" name="Circular Arrow 12"/>
          <p:cNvSpPr/>
          <p:nvPr/>
        </p:nvSpPr>
        <p:spPr>
          <a:xfrm>
            <a:off x="3474844" y="2739321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4" name="Circular Arrow 13"/>
          <p:cNvSpPr/>
          <p:nvPr/>
        </p:nvSpPr>
        <p:spPr>
          <a:xfrm>
            <a:off x="6086815" y="2739321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5" name="Circular Arrow 14"/>
          <p:cNvSpPr/>
          <p:nvPr/>
        </p:nvSpPr>
        <p:spPr>
          <a:xfrm>
            <a:off x="4816382" y="2739321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6" name="Circular Arrow 15"/>
          <p:cNvSpPr/>
          <p:nvPr/>
        </p:nvSpPr>
        <p:spPr>
          <a:xfrm rot="10800000">
            <a:off x="3455752" y="3153368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7" name="Circular Arrow 16"/>
          <p:cNvSpPr/>
          <p:nvPr/>
        </p:nvSpPr>
        <p:spPr>
          <a:xfrm rot="10800000">
            <a:off x="6086815" y="3145371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8" name="Circular Arrow 17"/>
          <p:cNvSpPr/>
          <p:nvPr/>
        </p:nvSpPr>
        <p:spPr>
          <a:xfrm rot="10800000">
            <a:off x="4797002" y="3153367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04616" y="3153368"/>
            <a:ext cx="4363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km </a:t>
            </a:r>
            <a:r>
              <a:rPr lang="en-AU" baseline="30000" dirty="0" smtClean="0"/>
              <a:t>2</a:t>
            </a:r>
            <a:r>
              <a:rPr lang="en-AU" dirty="0" smtClean="0"/>
              <a:t>             m</a:t>
            </a:r>
            <a:r>
              <a:rPr lang="en-AU" baseline="30000" dirty="0"/>
              <a:t> 2</a:t>
            </a:r>
            <a:r>
              <a:rPr lang="en-AU" dirty="0" smtClean="0"/>
              <a:t>                   cm</a:t>
            </a:r>
            <a:r>
              <a:rPr lang="en-AU" baseline="30000" dirty="0"/>
              <a:t> 2</a:t>
            </a:r>
            <a:r>
              <a:rPr lang="en-AU" dirty="0" smtClean="0"/>
              <a:t>               mm</a:t>
            </a:r>
            <a:r>
              <a:rPr lang="en-AU" baseline="30000" dirty="0"/>
              <a:t> 2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530262" y="2462089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x1000</a:t>
            </a:r>
            <a:r>
              <a:rPr lang="en-AU" baseline="30000" dirty="0"/>
              <a:t> </a:t>
            </a:r>
            <a:r>
              <a:rPr lang="en-AU" baseline="30000" dirty="0">
                <a:solidFill>
                  <a:srgbClr val="00B050"/>
                </a:solidFill>
              </a:rPr>
              <a:t>2 </a:t>
            </a:r>
            <a:r>
              <a:rPr lang="en-AU" dirty="0" smtClean="0">
                <a:solidFill>
                  <a:srgbClr val="00B050"/>
                </a:solidFill>
              </a:rPr>
              <a:t>	         x 100</a:t>
            </a:r>
            <a:r>
              <a:rPr lang="en-AU" baseline="30000" dirty="0">
                <a:solidFill>
                  <a:srgbClr val="00B050"/>
                </a:solidFill>
              </a:rPr>
              <a:t> 2</a:t>
            </a:r>
            <a:r>
              <a:rPr lang="en-AU" dirty="0" smtClean="0">
                <a:solidFill>
                  <a:srgbClr val="00B050"/>
                </a:solidFill>
              </a:rPr>
              <a:t>                x10</a:t>
            </a:r>
            <a:r>
              <a:rPr lang="en-AU" baseline="30000" dirty="0">
                <a:solidFill>
                  <a:srgbClr val="00B050"/>
                </a:solidFill>
              </a:rPr>
              <a:t> 2 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3616240" y="3973463"/>
                <a:ext cx="38992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</a:t>
                </a:r>
                <a:r>
                  <a:rPr lang="en-AU" baseline="30000" dirty="0">
                    <a:solidFill>
                      <a:srgbClr val="00B050"/>
                    </a:solidFill>
                  </a:rPr>
                  <a:t> 2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	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</a:t>
                </a:r>
                <a:r>
                  <a:rPr lang="en-AU" baseline="30000" dirty="0">
                    <a:solidFill>
                      <a:srgbClr val="00B050"/>
                    </a:solidFill>
                  </a:rPr>
                  <a:t> 2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</a:t>
                </a:r>
                <a:r>
                  <a:rPr lang="en-AU" baseline="30000" dirty="0">
                    <a:solidFill>
                      <a:srgbClr val="00B050"/>
                    </a:solidFill>
                  </a:rPr>
                  <a:t> 2 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240" y="3973463"/>
                <a:ext cx="3899214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2963741" y="1916832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7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15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</a:t>
            </a:r>
            <a:r>
              <a:rPr lang="en-AU" sz="2400" dirty="0" smtClean="0"/>
              <a:t>for Area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5837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convert between units of area</a:t>
            </a:r>
            <a:r>
              <a:rPr lang="en-AU" sz="2400" dirty="0" smtClean="0"/>
              <a:t>.</a:t>
            </a:r>
            <a:endParaRPr lang="en-AU" sz="2400" dirty="0"/>
          </a:p>
        </p:txBody>
      </p:sp>
      <p:sp>
        <p:nvSpPr>
          <p:cNvPr id="13" name="Circular Arrow 12"/>
          <p:cNvSpPr/>
          <p:nvPr/>
        </p:nvSpPr>
        <p:spPr>
          <a:xfrm>
            <a:off x="3474844" y="2739321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4" name="Circular Arrow 13"/>
          <p:cNvSpPr/>
          <p:nvPr/>
        </p:nvSpPr>
        <p:spPr>
          <a:xfrm>
            <a:off x="6086815" y="2739321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5" name="Circular Arrow 14"/>
          <p:cNvSpPr/>
          <p:nvPr/>
        </p:nvSpPr>
        <p:spPr>
          <a:xfrm>
            <a:off x="4816382" y="2739321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6" name="Circular Arrow 15"/>
          <p:cNvSpPr/>
          <p:nvPr/>
        </p:nvSpPr>
        <p:spPr>
          <a:xfrm rot="10800000">
            <a:off x="3455752" y="3153368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7" name="Circular Arrow 16"/>
          <p:cNvSpPr/>
          <p:nvPr/>
        </p:nvSpPr>
        <p:spPr>
          <a:xfrm rot="10800000">
            <a:off x="6086815" y="3145371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8" name="Circular Arrow 17"/>
          <p:cNvSpPr/>
          <p:nvPr/>
        </p:nvSpPr>
        <p:spPr>
          <a:xfrm rot="10800000">
            <a:off x="4797002" y="3153367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04616" y="3153368"/>
            <a:ext cx="4363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km </a:t>
            </a:r>
            <a:r>
              <a:rPr lang="en-AU" baseline="30000" dirty="0" smtClean="0"/>
              <a:t>2</a:t>
            </a:r>
            <a:r>
              <a:rPr lang="en-AU" dirty="0" smtClean="0"/>
              <a:t>             m</a:t>
            </a:r>
            <a:r>
              <a:rPr lang="en-AU" baseline="30000" dirty="0"/>
              <a:t> 2</a:t>
            </a:r>
            <a:r>
              <a:rPr lang="en-AU" dirty="0" smtClean="0"/>
              <a:t>                   cm</a:t>
            </a:r>
            <a:r>
              <a:rPr lang="en-AU" baseline="30000" dirty="0"/>
              <a:t> 2</a:t>
            </a:r>
            <a:r>
              <a:rPr lang="en-AU" dirty="0" smtClean="0"/>
              <a:t>               mm</a:t>
            </a:r>
            <a:r>
              <a:rPr lang="en-AU" baseline="30000" dirty="0"/>
              <a:t> 2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530262" y="2462089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x1000</a:t>
            </a:r>
            <a:r>
              <a:rPr lang="en-AU" baseline="30000" dirty="0"/>
              <a:t> </a:t>
            </a:r>
            <a:r>
              <a:rPr lang="en-AU" baseline="30000" dirty="0">
                <a:solidFill>
                  <a:srgbClr val="00B050"/>
                </a:solidFill>
              </a:rPr>
              <a:t>2 </a:t>
            </a:r>
            <a:r>
              <a:rPr lang="en-AU" dirty="0" smtClean="0">
                <a:solidFill>
                  <a:srgbClr val="00B050"/>
                </a:solidFill>
              </a:rPr>
              <a:t>	         x 100</a:t>
            </a:r>
            <a:r>
              <a:rPr lang="en-AU" baseline="30000" dirty="0">
                <a:solidFill>
                  <a:srgbClr val="00B050"/>
                </a:solidFill>
              </a:rPr>
              <a:t> 2</a:t>
            </a:r>
            <a:r>
              <a:rPr lang="en-AU" dirty="0" smtClean="0">
                <a:solidFill>
                  <a:srgbClr val="00B050"/>
                </a:solidFill>
              </a:rPr>
              <a:t>                x10</a:t>
            </a:r>
            <a:r>
              <a:rPr lang="en-AU" baseline="30000" dirty="0">
                <a:solidFill>
                  <a:srgbClr val="00B050"/>
                </a:solidFill>
              </a:rPr>
              <a:t> 2 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3616240" y="3973463"/>
                <a:ext cx="38992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</a:t>
                </a:r>
                <a:r>
                  <a:rPr lang="en-AU" baseline="30000" dirty="0">
                    <a:solidFill>
                      <a:srgbClr val="00B050"/>
                    </a:solidFill>
                  </a:rPr>
                  <a:t> 2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	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</a:t>
                </a:r>
                <a:r>
                  <a:rPr lang="en-AU" baseline="30000" dirty="0">
                    <a:solidFill>
                      <a:srgbClr val="00B050"/>
                    </a:solidFill>
                  </a:rPr>
                  <a:t> 2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</a:t>
                </a:r>
                <a:r>
                  <a:rPr lang="en-AU" baseline="30000" dirty="0">
                    <a:solidFill>
                      <a:srgbClr val="00B050"/>
                    </a:solidFill>
                  </a:rPr>
                  <a:t> 2 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240" y="3973463"/>
                <a:ext cx="3899214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2963741" y="1916832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290363" y="4473116"/>
            <a:ext cx="295209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Examples</a:t>
            </a:r>
          </a:p>
          <a:p>
            <a:pPr marL="342900" indent="-342900">
              <a:buAutoNum type="arabicPeriod"/>
            </a:pPr>
            <a:r>
              <a:rPr lang="en-AU" dirty="0" smtClean="0"/>
              <a:t>Change 5cm</a:t>
            </a:r>
            <a:r>
              <a:rPr lang="en-AU" baseline="30000" dirty="0" smtClean="0"/>
              <a:t>2</a:t>
            </a:r>
            <a:r>
              <a:rPr lang="en-AU" dirty="0" smtClean="0"/>
              <a:t> to mm</a:t>
            </a:r>
            <a:r>
              <a:rPr lang="en-AU" baseline="30000" dirty="0" smtClean="0"/>
              <a:t>2</a:t>
            </a:r>
          </a:p>
          <a:p>
            <a:endParaRPr lang="en-AU" baseline="30000" dirty="0" smtClean="0"/>
          </a:p>
          <a:p>
            <a:r>
              <a:rPr lang="en-AU" dirty="0" smtClean="0"/>
              <a:t>2. </a:t>
            </a:r>
            <a:r>
              <a:rPr lang="en-AU" smtClean="0"/>
              <a:t>Change </a:t>
            </a:r>
            <a:r>
              <a:rPr lang="en-AU" dirty="0" smtClean="0"/>
              <a:t>8 000 00 m</a:t>
            </a:r>
            <a:r>
              <a:rPr lang="en-AU" baseline="30000" dirty="0" smtClean="0"/>
              <a:t>2</a:t>
            </a:r>
            <a:r>
              <a:rPr lang="en-AU" dirty="0" smtClean="0"/>
              <a:t> to cm</a:t>
            </a:r>
            <a:r>
              <a:rPr lang="en-AU" baseline="30000" dirty="0" smtClean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86509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Write in the questions for the notes taken in todays lesson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01320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Plenary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Draw three shapes with a perimeter of 36cm.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1452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581</Words>
  <Application>Microsoft Office PowerPoint</Application>
  <PresentationFormat>On-screen Show (4:3)</PresentationFormat>
  <Paragraphs>171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My Perimeter, Area and Volume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Task-Find the area of the squares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Notes Review</vt:lpstr>
      <vt:lpstr>Homework</vt:lpstr>
      <vt:lpstr>Plenary 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22</cp:revision>
  <dcterms:created xsi:type="dcterms:W3CDTF">2014-05-14T02:58:57Z</dcterms:created>
  <dcterms:modified xsi:type="dcterms:W3CDTF">2014-09-10T00:17:55Z</dcterms:modified>
</cp:coreProperties>
</file>
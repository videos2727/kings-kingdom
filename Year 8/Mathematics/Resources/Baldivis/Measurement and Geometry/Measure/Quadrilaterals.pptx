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sldIdLst>
    <p:sldId id="260" r:id="rId3"/>
    <p:sldId id="259" r:id="rId4"/>
    <p:sldId id="258" r:id="rId5"/>
    <p:sldId id="305" r:id="rId6"/>
    <p:sldId id="323" r:id="rId7"/>
    <p:sldId id="322" r:id="rId8"/>
    <p:sldId id="321" r:id="rId9"/>
    <p:sldId id="320" r:id="rId10"/>
    <p:sldId id="319" r:id="rId11"/>
    <p:sldId id="318" r:id="rId12"/>
    <p:sldId id="303" r:id="rId13"/>
    <p:sldId id="317" r:id="rId14"/>
    <p:sldId id="306" r:id="rId15"/>
    <p:sldId id="316" r:id="rId16"/>
    <p:sldId id="307" r:id="rId17"/>
    <p:sldId id="315" r:id="rId18"/>
    <p:sldId id="308" r:id="rId19"/>
    <p:sldId id="314" r:id="rId20"/>
    <p:sldId id="309" r:id="rId21"/>
    <p:sldId id="313" r:id="rId22"/>
    <p:sldId id="312" r:id="rId23"/>
    <p:sldId id="310" r:id="rId24"/>
    <p:sldId id="311" r:id="rId25"/>
    <p:sldId id="324" r:id="rId26"/>
    <p:sldId id="325" r:id="rId27"/>
    <p:sldId id="327" r:id="rId28"/>
    <p:sldId id="292" r:id="rId29"/>
    <p:sldId id="291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89165" autoAdjust="0"/>
  </p:normalViewPr>
  <p:slideViewPr>
    <p:cSldViewPr>
      <p:cViewPr varScale="1">
        <p:scale>
          <a:sx n="81" d="100"/>
          <a:sy n="81" d="100"/>
        </p:scale>
        <p:origin x="77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5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581400" y="685800"/>
            <a:ext cx="5561013" cy="33528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0" y="4038600"/>
            <a:ext cx="3960813" cy="1752600"/>
          </a:xfrm>
          <a:ln w="9525">
            <a:headEnd/>
            <a:tailEnd/>
          </a:ln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solidFill>
                  <a:srgbClr val="EAEAEA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solidFill>
                  <a:srgbClr val="EAEAEA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solidFill>
                  <a:srgbClr val="EAEAEA"/>
                </a:solidFill>
              </a:defRPr>
            </a:lvl1pPr>
          </a:lstStyle>
          <a:p>
            <a:fld id="{2B734B5E-9A01-4F29-A8FD-E2F9098AA8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99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3703F1-6400-4E1D-87FD-DD4A1009008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429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42AC03-911E-4500-A4DE-A77E7A87C40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085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9812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19812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66A652-058C-4208-8578-294274A1693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696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5E4E3-293A-4F78-A49E-EF4B4682278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451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DC4944-C785-455D-AD67-9A37775AE39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477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59A4DD-FC44-4D5B-AEE4-281805708E4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646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BF50F9-A782-4983-8D59-05C37A99189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732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F53EA2-0FBC-4058-86D9-5CEFA061595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724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7A57A0-3706-4461-A92D-CA531FF2C24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373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33400"/>
            <a:ext cx="19050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533400"/>
            <a:ext cx="556260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2D813B-A51F-4F55-8F59-6F161C5D608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4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533400"/>
            <a:ext cx="7543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latin typeface="Times New Roman" pitchFamily="18" charset="0"/>
              </a:defRPr>
            </a:lvl1pPr>
          </a:lstStyle>
          <a:p>
            <a:pPr fontAlgn="base"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3429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b="0">
                <a:latin typeface="Times New Roman" pitchFamily="18" charset="0"/>
              </a:defRPr>
            </a:lvl1pPr>
          </a:lstStyle>
          <a:p>
            <a:pPr fontAlgn="base"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b="0">
                <a:latin typeface="Times New Roman" pitchFamily="18" charset="0"/>
              </a:defRPr>
            </a:lvl1pPr>
          </a:lstStyle>
          <a:p>
            <a:pPr fontAlgn="base">
              <a:spcAft>
                <a:spcPct val="0"/>
              </a:spcAft>
            </a:pPr>
            <a:fld id="{38C2C36E-1BC5-4276-9694-F29D7831F0A1}" type="slidenum">
              <a:rPr 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10246" name="Picture 6" descr="strtegic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219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981200"/>
            <a:ext cx="7620000" cy="411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426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w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95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7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Shape and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Mrs Keen</a:t>
            </a:r>
          </a:p>
          <a:p>
            <a:pPr algn="l"/>
            <a:r>
              <a:rPr lang="en-AU" dirty="0" smtClean="0"/>
              <a:t>Semester 1</a:t>
            </a:r>
          </a:p>
          <a:p>
            <a:pPr algn="l"/>
            <a:r>
              <a:rPr lang="en-AU" dirty="0" smtClean="0"/>
              <a:t>Term 2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4122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88840"/>
            <a:ext cx="272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quadrilateral?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3347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88840"/>
            <a:ext cx="272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quadrilateral?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987824" y="1988840"/>
            <a:ext cx="603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quadrilateral is any 2D polygon that has 4 sides.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098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88840"/>
            <a:ext cx="272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quadrilateral?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987824" y="1988840"/>
            <a:ext cx="603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quadrilateral is any 2D polygon that has 4 sides.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2381245"/>
            <a:ext cx="56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 has 4 internal angles that add to 360⁰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086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88840"/>
            <a:ext cx="272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quadrilateral?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987824" y="1988840"/>
            <a:ext cx="603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quadrilateral is any 2D polygon that has 4 sides.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41998" y="2723109"/>
            <a:ext cx="2698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types of quadrilateral?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2381245"/>
            <a:ext cx="56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 has 4 internal angles that add to 360⁰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108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88840"/>
            <a:ext cx="272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quadrilateral?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987824" y="1988840"/>
            <a:ext cx="603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quadrilateral is any 2D polygon that has 4 sides.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41998" y="2723109"/>
            <a:ext cx="2698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types of quadrilateral?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7824" y="2749569"/>
            <a:ext cx="568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There are 6 types of quadrilateral: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2381245"/>
            <a:ext cx="56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 has 4 internal angles that add to 360⁰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197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88840"/>
            <a:ext cx="272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quadrilateral?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987824" y="1988840"/>
            <a:ext cx="603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quadrilateral is any 2D polygon that has 4 sides.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41998" y="2723109"/>
            <a:ext cx="2698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types of quadrilateral?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7824" y="2749569"/>
            <a:ext cx="568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There are 6 types of quadrilateral: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2381245"/>
            <a:ext cx="56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 has 4 internal angles that add to 360⁰</a:t>
            </a:r>
            <a:endParaRPr lang="en-AU" dirty="0"/>
          </a:p>
        </p:txBody>
      </p:sp>
      <p:grpSp>
        <p:nvGrpSpPr>
          <p:cNvPr id="14" name="Group 13"/>
          <p:cNvGrpSpPr/>
          <p:nvPr/>
        </p:nvGrpSpPr>
        <p:grpSpPr>
          <a:xfrm>
            <a:off x="3231580" y="3284984"/>
            <a:ext cx="5760640" cy="3276052"/>
            <a:chOff x="467544" y="2457036"/>
            <a:chExt cx="7200800" cy="4031992"/>
          </a:xfrm>
        </p:grpSpPr>
        <p:cxnSp>
          <p:nvCxnSpPr>
            <p:cNvPr id="15" name="Elbow Connector 14"/>
            <p:cNvCxnSpPr>
              <a:stCxn id="22" idx="2"/>
              <a:endCxn id="23" idx="0"/>
            </p:cNvCxnSpPr>
            <p:nvPr/>
          </p:nvCxnSpPr>
          <p:spPr>
            <a:xfrm rot="5400000">
              <a:off x="2462911" y="1830607"/>
              <a:ext cx="285237" cy="227675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798694" y="5193628"/>
              <a:ext cx="1228725" cy="129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Rectangle 16"/>
            <p:cNvSpPr/>
            <p:nvPr/>
          </p:nvSpPr>
          <p:spPr>
            <a:xfrm>
              <a:off x="5580112" y="4329244"/>
              <a:ext cx="936103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Parallelogram 17"/>
            <p:cNvSpPr/>
            <p:nvPr/>
          </p:nvSpPr>
          <p:spPr>
            <a:xfrm>
              <a:off x="1193179" y="4142452"/>
              <a:ext cx="1152128" cy="936104"/>
            </a:xfrm>
            <a:prstGeom prst="parallelogram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868144" y="3033100"/>
              <a:ext cx="1800200" cy="504056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Trapezoid 19"/>
            <p:cNvSpPr/>
            <p:nvPr/>
          </p:nvSpPr>
          <p:spPr>
            <a:xfrm>
              <a:off x="4211960" y="5409364"/>
              <a:ext cx="1944216" cy="576064"/>
            </a:xfrm>
            <a:prstGeom prst="trapezoid">
              <a:avLst>
                <a:gd name="adj" fmla="val 89738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Parallelogram 20"/>
            <p:cNvSpPr/>
            <p:nvPr/>
          </p:nvSpPr>
          <p:spPr>
            <a:xfrm>
              <a:off x="467544" y="3105108"/>
              <a:ext cx="1944216" cy="432048"/>
            </a:xfrm>
            <a:prstGeom prst="parallelogram">
              <a:avLst>
                <a:gd name="adj" fmla="val 68574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699792" y="2457036"/>
              <a:ext cx="2088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2">
                      <a:lumMod val="75000"/>
                    </a:schemeClr>
                  </a:solidFill>
                </a:rPr>
                <a:t>Quadrilaterals</a:t>
              </a:r>
              <a:endParaRPr lang="en-AU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7039" y="3111605"/>
              <a:ext cx="1980219" cy="454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accent6"/>
                  </a:solidFill>
                </a:rPr>
                <a:t>Parallelograms</a:t>
              </a:r>
              <a:endParaRPr lang="en-AU" b="1" dirty="0">
                <a:solidFill>
                  <a:schemeClr val="accent6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012159" y="3044718"/>
              <a:ext cx="1531509" cy="454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accent6"/>
                  </a:solidFill>
                </a:rPr>
                <a:t>Rectangles </a:t>
              </a:r>
              <a:endParaRPr lang="en-AU" b="1" dirty="0">
                <a:solidFill>
                  <a:schemeClr val="accent6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508104" y="4329244"/>
              <a:ext cx="1269810" cy="454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accent6"/>
                  </a:solidFill>
                </a:rPr>
                <a:t>Squares</a:t>
              </a:r>
              <a:r>
                <a:rPr lang="en-US" dirty="0" smtClean="0"/>
                <a:t> </a:t>
              </a:r>
              <a:endParaRPr lang="en-AU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17850" y="4226623"/>
              <a:ext cx="2664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accent6"/>
                  </a:solidFill>
                </a:rPr>
                <a:t>Rhombuses (diamonds)</a:t>
              </a:r>
              <a:endParaRPr lang="en-AU" b="1" dirty="0">
                <a:solidFill>
                  <a:schemeClr val="accent6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499992" y="5490664"/>
              <a:ext cx="1656185" cy="454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accent6"/>
                  </a:solidFill>
                </a:rPr>
                <a:t>Trapeziums </a:t>
              </a:r>
              <a:endParaRPr lang="en-AU" b="1" dirty="0">
                <a:solidFill>
                  <a:schemeClr val="accent6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987824" y="5337356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accent6"/>
                  </a:solidFill>
                </a:rPr>
                <a:t>Kites </a:t>
              </a:r>
              <a:endParaRPr lang="en-AU" b="1" dirty="0">
                <a:solidFill>
                  <a:schemeClr val="accent6"/>
                </a:solidFill>
              </a:endParaRPr>
            </a:p>
          </p:txBody>
        </p:sp>
        <p:cxnSp>
          <p:nvCxnSpPr>
            <p:cNvPr id="29" name="Elbow Connector 28"/>
            <p:cNvCxnSpPr>
              <a:stCxn id="22" idx="2"/>
              <a:endCxn id="24" idx="0"/>
            </p:cNvCxnSpPr>
            <p:nvPr/>
          </p:nvCxnSpPr>
          <p:spPr>
            <a:xfrm rot="16200000" flipH="1">
              <a:off x="5151736" y="1418539"/>
              <a:ext cx="218349" cy="303400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/>
            <p:cNvCxnSpPr>
              <a:stCxn id="22" idx="2"/>
              <a:endCxn id="25" idx="0"/>
            </p:cNvCxnSpPr>
            <p:nvPr/>
          </p:nvCxnSpPr>
          <p:spPr>
            <a:xfrm rot="16200000" flipH="1">
              <a:off x="4192020" y="2378255"/>
              <a:ext cx="1502875" cy="239910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hape 22"/>
            <p:cNvCxnSpPr>
              <a:stCxn id="22" idx="2"/>
              <a:endCxn id="26" idx="0"/>
            </p:cNvCxnSpPr>
            <p:nvPr/>
          </p:nvCxnSpPr>
          <p:spPr>
            <a:xfrm rot="5400000">
              <a:off x="2346827" y="2829541"/>
              <a:ext cx="1400254" cy="139390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>
              <a:stCxn id="22" idx="2"/>
              <a:endCxn id="28" idx="0"/>
            </p:cNvCxnSpPr>
            <p:nvPr/>
          </p:nvCxnSpPr>
          <p:spPr>
            <a:xfrm rot="5400000">
              <a:off x="2326396" y="3919844"/>
              <a:ext cx="2510988" cy="32403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>
              <a:stCxn id="22" idx="2"/>
              <a:endCxn id="27" idx="0"/>
            </p:cNvCxnSpPr>
            <p:nvPr/>
          </p:nvCxnSpPr>
          <p:spPr>
            <a:xfrm rot="16200000" flipH="1">
              <a:off x="3203848" y="3366427"/>
              <a:ext cx="2664296" cy="158417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952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059832" y="206084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Rectangles and Parallelograms</a:t>
            </a:r>
            <a:endParaRPr lang="en-AU" dirty="0"/>
          </a:p>
        </p:txBody>
      </p:sp>
      <p:sp>
        <p:nvSpPr>
          <p:cNvPr id="41" name="TextBox 40"/>
          <p:cNvSpPr txBox="1"/>
          <p:nvPr/>
        </p:nvSpPr>
        <p:spPr>
          <a:xfrm>
            <a:off x="131765" y="2060848"/>
            <a:ext cx="2784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properties of rectangles and parallelograms?</a:t>
            </a:r>
            <a:endParaRPr lang="en-AU" dirty="0"/>
          </a:p>
        </p:txBody>
      </p:sp>
      <p:pic>
        <p:nvPicPr>
          <p:cNvPr id="44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33641" y="2898251"/>
            <a:ext cx="2195057" cy="1233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44"/>
          <p:cNvSpPr/>
          <p:nvPr/>
        </p:nvSpPr>
        <p:spPr>
          <a:xfrm>
            <a:off x="3095160" y="2566151"/>
            <a:ext cx="71825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Rectangle: </a:t>
            </a:r>
            <a:r>
              <a:rPr lang="en-US" dirty="0"/>
              <a:t>	</a:t>
            </a:r>
            <a:r>
              <a:rPr lang="en-US" dirty="0" smtClean="0"/>
              <a:t>	Opposite </a:t>
            </a:r>
            <a:r>
              <a:rPr lang="en-US" dirty="0"/>
              <a:t>sides equal and parallel</a:t>
            </a:r>
          </a:p>
          <a:p>
            <a:pPr marL="514350" indent="-514350">
              <a:buNone/>
            </a:pPr>
            <a:r>
              <a:rPr lang="en-US" dirty="0"/>
              <a:t>        			</a:t>
            </a:r>
            <a:r>
              <a:rPr lang="en-US" dirty="0" smtClean="0"/>
              <a:t>	Diagonals </a:t>
            </a:r>
            <a:r>
              <a:rPr lang="en-US" dirty="0"/>
              <a:t>equal length</a:t>
            </a:r>
          </a:p>
          <a:p>
            <a:pPr marL="514350" indent="-514350">
              <a:buNone/>
            </a:pPr>
            <a:r>
              <a:rPr lang="en-US" dirty="0"/>
              <a:t>				Diagonals bisect each </a:t>
            </a:r>
            <a:r>
              <a:rPr lang="en-US" dirty="0" smtClean="0"/>
              <a:t>other</a:t>
            </a:r>
          </a:p>
          <a:p>
            <a:pPr marL="514350" indent="-514350"/>
            <a:r>
              <a:rPr lang="en-US" dirty="0"/>
              <a:t>	</a:t>
            </a:r>
            <a:r>
              <a:rPr lang="en-US" dirty="0" smtClean="0"/>
              <a:t>			</a:t>
            </a:r>
            <a:r>
              <a:rPr lang="en-US" dirty="0"/>
              <a:t>all angles are 90°</a:t>
            </a:r>
          </a:p>
          <a:p>
            <a:pPr marL="514350" indent="-51435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059832" y="206084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Rectangles and Parallelograms</a:t>
            </a:r>
            <a:endParaRPr lang="en-AU" dirty="0"/>
          </a:p>
        </p:txBody>
      </p:sp>
      <p:sp>
        <p:nvSpPr>
          <p:cNvPr id="41" name="TextBox 40"/>
          <p:cNvSpPr txBox="1"/>
          <p:nvPr/>
        </p:nvSpPr>
        <p:spPr>
          <a:xfrm>
            <a:off x="131765" y="2060848"/>
            <a:ext cx="2784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properties of rectangles and parallelograms?</a:t>
            </a:r>
            <a:endParaRPr lang="en-AU" dirty="0"/>
          </a:p>
        </p:txBody>
      </p:sp>
      <p:pic>
        <p:nvPicPr>
          <p:cNvPr id="42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12151" y="5052837"/>
            <a:ext cx="2515011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" name="Rectangle 42"/>
          <p:cNvSpPr/>
          <p:nvPr/>
        </p:nvSpPr>
        <p:spPr>
          <a:xfrm>
            <a:off x="3106227" y="4718401"/>
            <a:ext cx="5929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Parallelogram:	</a:t>
            </a:r>
            <a:r>
              <a:rPr lang="en-US" dirty="0" smtClean="0"/>
              <a:t>	2 pairs </a:t>
            </a:r>
            <a:r>
              <a:rPr lang="en-US" dirty="0"/>
              <a:t>of opposite equal sides</a:t>
            </a:r>
          </a:p>
          <a:p>
            <a:pPr marL="514350" indent="-514350">
              <a:buNone/>
            </a:pPr>
            <a:r>
              <a:rPr lang="en-US" dirty="0"/>
              <a:t>    				2 </a:t>
            </a:r>
            <a:r>
              <a:rPr lang="en-US" dirty="0" smtClean="0"/>
              <a:t>pairs </a:t>
            </a:r>
            <a:r>
              <a:rPr lang="en-US" dirty="0"/>
              <a:t>of parallel sides</a:t>
            </a:r>
          </a:p>
          <a:p>
            <a:pPr marL="514350" indent="-514350">
              <a:buNone/>
            </a:pPr>
            <a:r>
              <a:rPr lang="en-US" dirty="0"/>
              <a:t>       			</a:t>
            </a:r>
            <a:r>
              <a:rPr lang="en-US" dirty="0" smtClean="0"/>
              <a:t>	Opposite </a:t>
            </a:r>
            <a:r>
              <a:rPr lang="en-US" dirty="0"/>
              <a:t>angles are equal</a:t>
            </a:r>
          </a:p>
          <a:p>
            <a:pPr marL="514350" indent="-514350">
              <a:buNone/>
            </a:pPr>
            <a:r>
              <a:rPr lang="en-US" dirty="0"/>
              <a:t>          		</a:t>
            </a:r>
            <a:r>
              <a:rPr lang="en-US" dirty="0" smtClean="0"/>
              <a:t>	Diagonals </a:t>
            </a:r>
            <a:r>
              <a:rPr lang="en-US" dirty="0"/>
              <a:t>bisect each other</a:t>
            </a:r>
            <a:endParaRPr lang="en-AU" dirty="0"/>
          </a:p>
        </p:txBody>
      </p:sp>
      <p:pic>
        <p:nvPicPr>
          <p:cNvPr id="44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33641" y="2898251"/>
            <a:ext cx="2195057" cy="1233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44"/>
          <p:cNvSpPr/>
          <p:nvPr/>
        </p:nvSpPr>
        <p:spPr>
          <a:xfrm>
            <a:off x="3095160" y="2566151"/>
            <a:ext cx="71825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Rectangle: </a:t>
            </a:r>
            <a:r>
              <a:rPr lang="en-US" dirty="0"/>
              <a:t>	</a:t>
            </a:r>
            <a:r>
              <a:rPr lang="en-US" dirty="0" smtClean="0"/>
              <a:t>	Opposite </a:t>
            </a:r>
            <a:r>
              <a:rPr lang="en-US" dirty="0"/>
              <a:t>sides equal and parallel</a:t>
            </a:r>
          </a:p>
          <a:p>
            <a:pPr marL="514350" indent="-514350">
              <a:buNone/>
            </a:pPr>
            <a:r>
              <a:rPr lang="en-US" dirty="0"/>
              <a:t>        			</a:t>
            </a:r>
            <a:r>
              <a:rPr lang="en-US" dirty="0" smtClean="0"/>
              <a:t>	Diagonals </a:t>
            </a:r>
            <a:r>
              <a:rPr lang="en-US" dirty="0"/>
              <a:t>equal length</a:t>
            </a:r>
          </a:p>
          <a:p>
            <a:pPr marL="514350" indent="-514350">
              <a:buNone/>
            </a:pPr>
            <a:r>
              <a:rPr lang="en-US" dirty="0"/>
              <a:t>				Diagonals bisect each </a:t>
            </a:r>
            <a:r>
              <a:rPr lang="en-US" dirty="0" smtClean="0"/>
              <a:t>other</a:t>
            </a:r>
          </a:p>
          <a:p>
            <a:pPr marL="514350" indent="-514350"/>
            <a:r>
              <a:rPr lang="en-US" dirty="0"/>
              <a:t>	</a:t>
            </a:r>
            <a:r>
              <a:rPr lang="en-US" dirty="0" smtClean="0"/>
              <a:t>			</a:t>
            </a:r>
            <a:r>
              <a:rPr lang="en-US" dirty="0"/>
              <a:t>all angles are 90°</a:t>
            </a:r>
          </a:p>
          <a:p>
            <a:pPr marL="514350" indent="-51435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5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059832" y="206084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Squares and Rhombus’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properties of rectangles and parallelograms?</a:t>
            </a:r>
            <a:endParaRPr lang="en-AU" dirty="0"/>
          </a:p>
        </p:txBody>
      </p:sp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64822" y="2712940"/>
            <a:ext cx="1440160" cy="1552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3059832" y="2470831"/>
            <a:ext cx="77048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Square:		O</a:t>
            </a:r>
            <a:r>
              <a:rPr lang="en-US" dirty="0" smtClean="0"/>
              <a:t>pposite </a:t>
            </a:r>
            <a:r>
              <a:rPr lang="en-US" dirty="0"/>
              <a:t>sides are equal</a:t>
            </a:r>
          </a:p>
          <a:p>
            <a:pPr marL="514350" indent="-514350">
              <a:buNone/>
            </a:pPr>
            <a:r>
              <a:rPr lang="en-US" dirty="0"/>
              <a:t>                         	Diagonals are </a:t>
            </a:r>
            <a:r>
              <a:rPr lang="en-US" dirty="0" smtClean="0"/>
              <a:t>equal</a:t>
            </a:r>
          </a:p>
          <a:p>
            <a:pPr marL="514350" indent="-514350">
              <a:buNone/>
            </a:pPr>
            <a:r>
              <a:rPr lang="en-US" dirty="0"/>
              <a:t>	</a:t>
            </a:r>
            <a:r>
              <a:rPr lang="en-US" dirty="0" smtClean="0"/>
              <a:t>		All </a:t>
            </a:r>
            <a:r>
              <a:rPr lang="en-US" dirty="0"/>
              <a:t>angles are 90°</a:t>
            </a:r>
          </a:p>
          <a:p>
            <a:pPr marL="514350" indent="-514350"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dirty="0">
                <a:solidFill>
                  <a:srgbClr val="FF0000"/>
                </a:solidFill>
              </a:rPr>
              <a:t>square is a right angled rhombus and a </a:t>
            </a:r>
            <a:endParaRPr lang="en-US" dirty="0" smtClean="0">
              <a:solidFill>
                <a:srgbClr val="FF0000"/>
              </a:solidFill>
            </a:endParaRPr>
          </a:p>
          <a:p>
            <a:pPr marL="514350" indent="-514350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		rectangle </a:t>
            </a:r>
            <a:r>
              <a:rPr lang="en-US" dirty="0">
                <a:solidFill>
                  <a:srgbClr val="FF0000"/>
                </a:solidFill>
              </a:rPr>
              <a:t>with equal sides</a:t>
            </a:r>
            <a:r>
              <a:rPr lang="en-US" dirty="0"/>
              <a:t>		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976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059832" y="206084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Squares and Rhombus’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properties of rectangles and parallelograms?</a:t>
            </a:r>
            <a:endParaRPr lang="en-AU" dirty="0"/>
          </a:p>
        </p:txBody>
      </p:sp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64822" y="2712940"/>
            <a:ext cx="1440160" cy="1552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3059832" y="2470831"/>
            <a:ext cx="77048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Square:		O</a:t>
            </a:r>
            <a:r>
              <a:rPr lang="en-US" dirty="0" smtClean="0"/>
              <a:t>pposite </a:t>
            </a:r>
            <a:r>
              <a:rPr lang="en-US" dirty="0"/>
              <a:t>sides are equal</a:t>
            </a:r>
          </a:p>
          <a:p>
            <a:pPr marL="514350" indent="-514350">
              <a:buNone/>
            </a:pPr>
            <a:r>
              <a:rPr lang="en-US" dirty="0"/>
              <a:t>                         	Diagonals are </a:t>
            </a:r>
            <a:r>
              <a:rPr lang="en-US" dirty="0" smtClean="0"/>
              <a:t>equal</a:t>
            </a:r>
          </a:p>
          <a:p>
            <a:pPr marL="514350" indent="-514350">
              <a:buNone/>
            </a:pPr>
            <a:r>
              <a:rPr lang="en-US" dirty="0"/>
              <a:t>	</a:t>
            </a:r>
            <a:r>
              <a:rPr lang="en-US" dirty="0" smtClean="0"/>
              <a:t>		All </a:t>
            </a:r>
            <a:r>
              <a:rPr lang="en-US" dirty="0"/>
              <a:t>angles are 90°</a:t>
            </a:r>
          </a:p>
          <a:p>
            <a:pPr marL="514350" indent="-514350"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dirty="0">
                <a:solidFill>
                  <a:srgbClr val="FF0000"/>
                </a:solidFill>
              </a:rPr>
              <a:t>square is a right angled rhombus and a </a:t>
            </a:r>
            <a:endParaRPr lang="en-US" dirty="0" smtClean="0">
              <a:solidFill>
                <a:srgbClr val="FF0000"/>
              </a:solidFill>
            </a:endParaRPr>
          </a:p>
          <a:p>
            <a:pPr marL="514350" indent="-514350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		rectangle </a:t>
            </a:r>
            <a:r>
              <a:rPr lang="en-US" dirty="0">
                <a:solidFill>
                  <a:srgbClr val="FF0000"/>
                </a:solidFill>
              </a:rPr>
              <a:t>with equal sides</a:t>
            </a:r>
            <a:r>
              <a:rPr lang="en-US" dirty="0"/>
              <a:t>		</a:t>
            </a:r>
            <a:endParaRPr lang="en-AU" dirty="0"/>
          </a:p>
        </p:txBody>
      </p:sp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59831" y="4984351"/>
            <a:ext cx="1728192" cy="121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059831" y="4681027"/>
            <a:ext cx="59635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Rhombus:	Parallelogram with all sides equal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 smtClean="0"/>
              <a:t>Opposite </a:t>
            </a:r>
            <a:r>
              <a:rPr lang="en-US" dirty="0"/>
              <a:t>sides are parallel</a:t>
            </a:r>
          </a:p>
          <a:p>
            <a:pPr marL="514350" indent="-514350">
              <a:buNone/>
            </a:pPr>
            <a:r>
              <a:rPr lang="en-US" dirty="0"/>
              <a:t>			</a:t>
            </a:r>
            <a:r>
              <a:rPr lang="en-US" dirty="0" smtClean="0"/>
              <a:t>Opposite </a:t>
            </a:r>
            <a:r>
              <a:rPr lang="en-US" dirty="0"/>
              <a:t>angles are equal</a:t>
            </a:r>
          </a:p>
          <a:p>
            <a:pPr marL="514350" indent="-514350">
              <a:buNone/>
            </a:pPr>
            <a:r>
              <a:rPr lang="en-US" dirty="0"/>
              <a:t>          		Diagonals bisect each other at 90°</a:t>
            </a:r>
          </a:p>
        </p:txBody>
      </p:sp>
    </p:spTree>
    <p:extLst>
      <p:ext uri="{BB962C8B-B14F-4D97-AF65-F5344CB8AC3E}">
        <p14:creationId xmlns:p14="http://schemas.microsoft.com/office/powerpoint/2010/main" val="7303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059832" y="206084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Kites and Trapeziums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properties of rectangles and parallelograms?</a:t>
            </a:r>
            <a:endParaRPr lang="en-AU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13202" y="2809556"/>
            <a:ext cx="2090300" cy="113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59830" y="2493116"/>
            <a:ext cx="727280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Kite:		</a:t>
            </a:r>
            <a:r>
              <a:rPr lang="en-US" dirty="0" smtClean="0"/>
              <a:t>A </a:t>
            </a:r>
            <a:r>
              <a:rPr lang="en-US" dirty="0"/>
              <a:t>quadrilateral with 2 pair of 	</a:t>
            </a:r>
            <a:r>
              <a:rPr lang="en-US" dirty="0" smtClean="0"/>
              <a:t>adjacent equal</a:t>
            </a:r>
          </a:p>
          <a:p>
            <a:r>
              <a:rPr lang="en-US" dirty="0"/>
              <a:t>	</a:t>
            </a:r>
            <a:r>
              <a:rPr lang="en-US" dirty="0" smtClean="0"/>
              <a:t>	sides</a:t>
            </a:r>
            <a:endParaRPr lang="en-US" dirty="0"/>
          </a:p>
          <a:p>
            <a:pPr marL="514350" indent="-514350">
              <a:buNone/>
            </a:pPr>
            <a:r>
              <a:rPr lang="en-US" dirty="0"/>
              <a:t>			O</a:t>
            </a:r>
            <a:r>
              <a:rPr lang="en-US" dirty="0" smtClean="0"/>
              <a:t>ne </a:t>
            </a:r>
            <a:r>
              <a:rPr lang="en-US" dirty="0"/>
              <a:t>pair of opposite equal </a:t>
            </a:r>
            <a:r>
              <a:rPr lang="en-US" dirty="0" smtClean="0"/>
              <a:t>angles</a:t>
            </a:r>
            <a:endParaRPr lang="en-US" dirty="0"/>
          </a:p>
          <a:p>
            <a:pPr marL="514350" indent="-514350">
              <a:buNone/>
            </a:pPr>
            <a:r>
              <a:rPr lang="en-US" dirty="0"/>
              <a:t>         			Diagonals cross at right </a:t>
            </a:r>
            <a:r>
              <a:rPr lang="en-US" dirty="0" smtClean="0"/>
              <a:t>angles</a:t>
            </a:r>
            <a:endParaRPr lang="en-US" dirty="0"/>
          </a:p>
          <a:p>
            <a:pPr marL="514350" indent="-514350">
              <a:buNone/>
            </a:pPr>
            <a:r>
              <a:rPr lang="en-US" dirty="0"/>
              <a:t>          		One diagonal is bisected by the </a:t>
            </a:r>
            <a:r>
              <a:rPr lang="en-US" dirty="0" smtClean="0"/>
              <a:t>other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56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059832" y="206084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Kites and Trapeziums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properties of rectangles and parallelograms?</a:t>
            </a:r>
            <a:endParaRPr lang="en-AU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13202" y="2809556"/>
            <a:ext cx="2090300" cy="113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59830" y="5229200"/>
            <a:ext cx="2304281" cy="987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59830" y="2493116"/>
            <a:ext cx="727280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Kite:		</a:t>
            </a:r>
            <a:r>
              <a:rPr lang="en-US" dirty="0" smtClean="0"/>
              <a:t>A </a:t>
            </a:r>
            <a:r>
              <a:rPr lang="en-US" dirty="0"/>
              <a:t>quadrilateral with 2 pair of 	</a:t>
            </a:r>
            <a:r>
              <a:rPr lang="en-US" dirty="0" smtClean="0"/>
              <a:t>adjacent equal</a:t>
            </a:r>
          </a:p>
          <a:p>
            <a:r>
              <a:rPr lang="en-US" dirty="0"/>
              <a:t>	</a:t>
            </a:r>
            <a:r>
              <a:rPr lang="en-US" dirty="0" smtClean="0"/>
              <a:t>	sides</a:t>
            </a:r>
            <a:endParaRPr lang="en-US" dirty="0"/>
          </a:p>
          <a:p>
            <a:pPr marL="514350" indent="-514350">
              <a:buNone/>
            </a:pPr>
            <a:r>
              <a:rPr lang="en-US" dirty="0"/>
              <a:t>			O</a:t>
            </a:r>
            <a:r>
              <a:rPr lang="en-US" dirty="0" smtClean="0"/>
              <a:t>ne </a:t>
            </a:r>
            <a:r>
              <a:rPr lang="en-US" dirty="0"/>
              <a:t>pair of opposite equal </a:t>
            </a:r>
            <a:r>
              <a:rPr lang="en-US" dirty="0" smtClean="0"/>
              <a:t>angles</a:t>
            </a:r>
            <a:endParaRPr lang="en-US" dirty="0"/>
          </a:p>
          <a:p>
            <a:pPr marL="514350" indent="-514350">
              <a:buNone/>
            </a:pPr>
            <a:r>
              <a:rPr lang="en-US" dirty="0"/>
              <a:t>         			Diagonals cross at right </a:t>
            </a:r>
            <a:r>
              <a:rPr lang="en-US" dirty="0" smtClean="0"/>
              <a:t>angles</a:t>
            </a:r>
            <a:endParaRPr lang="en-US" dirty="0"/>
          </a:p>
          <a:p>
            <a:pPr marL="514350" indent="-514350">
              <a:buNone/>
            </a:pPr>
            <a:r>
              <a:rPr lang="en-US" dirty="0"/>
              <a:t>          		One diagonal is bisected by the </a:t>
            </a:r>
            <a:r>
              <a:rPr lang="en-US" dirty="0" smtClean="0"/>
              <a:t>other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59830" y="4826875"/>
            <a:ext cx="6555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Trapezium:	A quadrilateral with 1 pair of          			parallel sides.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042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perimeter and area of each shape?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1304" y="2069267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perimeter is the total measurement around the outside edge of the shape.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407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perimeter and area of each shape?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1304" y="2069267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perimeter is the total measurement around the outside edge of the shape.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64692" y="2955419"/>
            <a:ext cx="576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find it you can simply add the lengths of all the edges together. But, there are some simple tricks (to make it faster).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367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perimeter and area of each shape?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1304" y="2069267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perimeter is the total measurement around the outside edge of the shape.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51304" y="2715598"/>
            <a:ext cx="576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find it you can simply add the lengths of all the edges together. But, there are some simple tricks (to make it faster).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7999" y="3751728"/>
                <a:ext cx="54726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Squares and rhombus’ edges are the same length, so simply times the length by 4: 		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999" y="3751728"/>
                <a:ext cx="547260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100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28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perimeter and area of each shape?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1304" y="2069267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perimeter is the total measurement around the outside edge of the shape.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51304" y="2715598"/>
            <a:ext cx="576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find it you can simply add the lengths of all the edges together. But, there are some simple tricks (to make it faster).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7999" y="3751728"/>
                <a:ext cx="54726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Squares and rhombus’ edges are the same length, so simply times the length by 4: 		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999" y="3751728"/>
                <a:ext cx="547260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100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77999" y="4510859"/>
                <a:ext cx="569349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Rectangles and parallelograms have opposite sides equal in length so multiply each side by 2 and add them together: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999" y="4510859"/>
                <a:ext cx="5693493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964" t="-3974" r="-1499" b="-4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95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perimeter and area of each shape?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1304" y="2069267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perimeter is the total measurement around the outside edge of the shape.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51304" y="2715598"/>
            <a:ext cx="576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find it you can simply add the lengths of all the edges together. But, there are some simple tricks (to make it faster).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7999" y="3751728"/>
                <a:ext cx="54726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Squares and rhombus’ edges are the same length, so simply times the length by 4: 		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999" y="3751728"/>
                <a:ext cx="547260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100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77999" y="4510859"/>
                <a:ext cx="569349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Rectangles and parallelograms have opposite sides equal in length so multiply each side by 2 and add them together: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999" y="4510859"/>
                <a:ext cx="5693493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964" t="-3974" r="-1499" b="-4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77999" y="5661248"/>
            <a:ext cx="5693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F0"/>
                </a:solidFill>
              </a:rPr>
              <a:t>Remember! You need to make sure that all your lengths are in the same unit of measurement. If they are not, you will need to convert them.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90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Find the perimeters of these shapes: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971600" y="2420888"/>
            <a:ext cx="1512168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2627784" y="270892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2cm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403648" y="350100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4cm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4211960" y="2420888"/>
            <a:ext cx="3816424" cy="4320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8172400" y="245224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5mm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5796136" y="2876903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6cm</a:t>
            </a:r>
            <a:endParaRPr lang="en-AU" dirty="0"/>
          </a:p>
        </p:txBody>
      </p:sp>
      <p:sp>
        <p:nvSpPr>
          <p:cNvPr id="11" name="Diamond 10"/>
          <p:cNvSpPr/>
          <p:nvPr/>
        </p:nvSpPr>
        <p:spPr>
          <a:xfrm>
            <a:off x="935596" y="4224761"/>
            <a:ext cx="1548172" cy="1617043"/>
          </a:xfrm>
          <a:prstGeom prst="diamond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2216184" y="4232875"/>
            <a:ext cx="915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2.5cm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195736" y="54452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25mm</a:t>
            </a:r>
            <a:endParaRPr lang="en-AU" dirty="0"/>
          </a:p>
        </p:txBody>
      </p:sp>
      <p:sp>
        <p:nvSpPr>
          <p:cNvPr id="14" name="Diamond 13"/>
          <p:cNvSpPr/>
          <p:nvPr/>
        </p:nvSpPr>
        <p:spPr>
          <a:xfrm rot="4272389">
            <a:off x="4523082" y="2763471"/>
            <a:ext cx="1059424" cy="293373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886855" y="414596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55mm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995936" y="479715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5862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Find the perimeters of these shapes: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971600" y="2420888"/>
            <a:ext cx="1512168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2627784" y="270892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2cm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403648" y="350100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4cm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4211960" y="2420888"/>
            <a:ext cx="3816424" cy="4320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8172400" y="245224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5mm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5796136" y="2876903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6cm</a:t>
            </a:r>
            <a:endParaRPr lang="en-AU" dirty="0"/>
          </a:p>
        </p:txBody>
      </p:sp>
      <p:sp>
        <p:nvSpPr>
          <p:cNvPr id="11" name="Diamond 10"/>
          <p:cNvSpPr/>
          <p:nvPr/>
        </p:nvSpPr>
        <p:spPr>
          <a:xfrm>
            <a:off x="935596" y="4224761"/>
            <a:ext cx="1548172" cy="1617043"/>
          </a:xfrm>
          <a:prstGeom prst="diamond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2216184" y="4232875"/>
            <a:ext cx="915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2.5cm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195736" y="54452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25mm</a:t>
            </a:r>
            <a:endParaRPr lang="en-AU" dirty="0"/>
          </a:p>
        </p:txBody>
      </p:sp>
      <p:sp>
        <p:nvSpPr>
          <p:cNvPr id="14" name="Diamond 13"/>
          <p:cNvSpPr/>
          <p:nvPr/>
        </p:nvSpPr>
        <p:spPr>
          <a:xfrm rot="4272389">
            <a:off x="4523082" y="2763471"/>
            <a:ext cx="1059424" cy="293373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886855" y="414596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55mm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995936" y="479715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5cm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394426" y="5195051"/>
            <a:ext cx="4984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Draw some other quadrilaterals in your book. Measure each side with a ruler and calculate their perimeters.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1721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and area of each shape?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099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39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Quadrilaterals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</a:t>
            </a:r>
            <a:r>
              <a:rPr lang="en-AU" sz="2400" dirty="0" smtClean="0"/>
              <a:t>quadrilaterals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1765" y="2060848"/>
            <a:ext cx="2784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and area of each shape?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1304" y="2069267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area is the measurement of space within a shape.</a:t>
            </a:r>
            <a:endParaRPr lang="en-AU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F4FD"/>
              </a:clrFrom>
              <a:clrTo>
                <a:srgbClr val="E2F4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42832" y="2813792"/>
            <a:ext cx="1656184" cy="930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716016" y="285678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Rectangle: Area = length x width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716016" y="3226112"/>
                <a:ext cx="3024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3226112"/>
                <a:ext cx="3024336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626908" y="3618160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908" y="3618160"/>
                <a:ext cx="28803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477496" y="3079413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496" y="3079413"/>
                <a:ext cx="36004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27584" y="2405790"/>
                <a:ext cx="57123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measurements are in square units </a:t>
                </a:r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584" y="2405790"/>
                <a:ext cx="5712352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96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965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752600" y="990600"/>
            <a:ext cx="6553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1.5: Trapeziums 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752600" y="3200400"/>
            <a:ext cx="565467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sz="2400" dirty="0">
                <a:solidFill>
                  <a:srgbClr val="000000"/>
                </a:solidFill>
              </a:rPr>
              <a:t>For these, you need 3 measurements....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81400" y="1600200"/>
            <a:ext cx="2667000" cy="1371600"/>
            <a:chOff x="2256" y="1008"/>
            <a:chExt cx="1680" cy="864"/>
          </a:xfrm>
        </p:grpSpPr>
        <p:sp>
          <p:nvSpPr>
            <p:cNvPr id="1040" name="Line 4"/>
            <p:cNvSpPr>
              <a:spLocks noChangeShapeType="1"/>
            </p:cNvSpPr>
            <p:nvPr/>
          </p:nvSpPr>
          <p:spPr bwMode="auto">
            <a:xfrm>
              <a:off x="2784" y="1008"/>
              <a:ext cx="91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sz="2000" b="1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  <p:sp>
          <p:nvSpPr>
            <p:cNvPr id="1041" name="Line 5"/>
            <p:cNvSpPr>
              <a:spLocks noChangeShapeType="1"/>
            </p:cNvSpPr>
            <p:nvPr/>
          </p:nvSpPr>
          <p:spPr bwMode="auto">
            <a:xfrm>
              <a:off x="2256" y="1872"/>
              <a:ext cx="168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sz="2000" b="1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  <p:sp>
          <p:nvSpPr>
            <p:cNvPr id="1042" name="Line 6"/>
            <p:cNvSpPr>
              <a:spLocks noChangeShapeType="1"/>
            </p:cNvSpPr>
            <p:nvPr/>
          </p:nvSpPr>
          <p:spPr bwMode="auto">
            <a:xfrm>
              <a:off x="3696" y="1008"/>
              <a:ext cx="240" cy="86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sz="2000" b="1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  <p:sp>
          <p:nvSpPr>
            <p:cNvPr id="1043" name="Line 7"/>
            <p:cNvSpPr>
              <a:spLocks noChangeShapeType="1"/>
            </p:cNvSpPr>
            <p:nvPr/>
          </p:nvSpPr>
          <p:spPr bwMode="auto">
            <a:xfrm flipH="1">
              <a:off x="2256" y="1008"/>
              <a:ext cx="528" cy="86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sz="2000" b="1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</p:grp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590800" y="3657600"/>
            <a:ext cx="4953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AU" sz="2400" i="1" dirty="0">
                <a:solidFill>
                  <a:srgbClr val="D60093"/>
                </a:solidFill>
              </a:rPr>
              <a:t>“a”, </a:t>
            </a:r>
            <a:r>
              <a:rPr lang="en-AU" sz="2400" dirty="0">
                <a:solidFill>
                  <a:srgbClr val="D60093"/>
                </a:solidFill>
              </a:rPr>
              <a:t>one of the two parallel sides</a:t>
            </a:r>
            <a:endParaRPr lang="en-AU" sz="2400" i="1" dirty="0">
              <a:solidFill>
                <a:srgbClr val="D60093"/>
              </a:solidFill>
            </a:endParaRP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800600" y="1219200"/>
            <a:ext cx="762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AU" sz="2400" i="1">
                <a:solidFill>
                  <a:srgbClr val="D60093"/>
                </a:solidFill>
              </a:rPr>
              <a:t>a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2590800" y="4114800"/>
            <a:ext cx="4953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AU" sz="2400" i="1" dirty="0">
                <a:solidFill>
                  <a:srgbClr val="0000FF"/>
                </a:solidFill>
              </a:rPr>
              <a:t>“b”, </a:t>
            </a:r>
            <a:r>
              <a:rPr lang="en-AU" sz="2400" dirty="0">
                <a:solidFill>
                  <a:srgbClr val="0000FF"/>
                </a:solidFill>
              </a:rPr>
              <a:t>the other parallel side</a:t>
            </a:r>
            <a:endParaRPr lang="en-AU" sz="2400" i="1" dirty="0">
              <a:solidFill>
                <a:srgbClr val="0000FF"/>
              </a:solidFill>
            </a:endParaRP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4800600" y="2895600"/>
            <a:ext cx="762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AU" sz="2400" i="1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2590800" y="4572000"/>
            <a:ext cx="4953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AU" sz="2400" i="1" dirty="0">
                <a:solidFill>
                  <a:srgbClr val="003300"/>
                </a:solidFill>
              </a:rPr>
              <a:t>“h”, </a:t>
            </a:r>
            <a:r>
              <a:rPr lang="en-AU" sz="2400" dirty="0">
                <a:solidFill>
                  <a:srgbClr val="003300"/>
                </a:solidFill>
              </a:rPr>
              <a:t>the perpendicular height</a:t>
            </a:r>
            <a:endParaRPr lang="en-AU" sz="2400" i="1" dirty="0">
              <a:solidFill>
                <a:srgbClr val="003300"/>
              </a:solidFill>
            </a:endParaRP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648200" y="1676400"/>
            <a:ext cx="762000" cy="1295400"/>
            <a:chOff x="2928" y="1056"/>
            <a:chExt cx="480" cy="816"/>
          </a:xfrm>
        </p:grpSpPr>
        <p:sp>
          <p:nvSpPr>
            <p:cNvPr id="1038" name="Text Box 14"/>
            <p:cNvSpPr txBox="1">
              <a:spLocks noChangeArrowheads="1"/>
            </p:cNvSpPr>
            <p:nvPr/>
          </p:nvSpPr>
          <p:spPr bwMode="auto">
            <a:xfrm>
              <a:off x="2928" y="1296"/>
              <a:ext cx="480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sz="2400" i="1">
                  <a:solidFill>
                    <a:srgbClr val="003300"/>
                  </a:solidFill>
                </a:rPr>
                <a:t>h</a:t>
              </a:r>
            </a:p>
          </p:txBody>
        </p:sp>
        <p:sp>
          <p:nvSpPr>
            <p:cNvPr id="1039" name="Line 15"/>
            <p:cNvSpPr>
              <a:spLocks noChangeShapeType="1"/>
            </p:cNvSpPr>
            <p:nvPr/>
          </p:nvSpPr>
          <p:spPr bwMode="auto">
            <a:xfrm>
              <a:off x="3120" y="1056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sz="2000" b="1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</p:grp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3962400" y="5334000"/>
            <a:ext cx="1447800" cy="6254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AU" sz="3500">
                <a:solidFill>
                  <a:srgbClr val="000000"/>
                </a:solidFill>
              </a:rPr>
              <a:t>Area = </a:t>
            </a:r>
          </a:p>
        </p:txBody>
      </p:sp>
      <p:graphicFrame>
        <p:nvGraphicFramePr>
          <p:cNvPr id="67584" name="Object 2048"/>
          <p:cNvGraphicFramePr>
            <a:graphicFrameLocks noChangeAspect="1"/>
          </p:cNvGraphicFramePr>
          <p:nvPr/>
        </p:nvGraphicFramePr>
        <p:xfrm>
          <a:off x="5410200" y="5105400"/>
          <a:ext cx="18288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774360" imgH="444240" progId="Equation.3">
                  <p:embed/>
                </p:oleObj>
              </mc:Choice>
              <mc:Fallback>
                <p:oleObj name="Equation" r:id="rId3" imgW="7743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105400"/>
                        <a:ext cx="1828800" cy="1049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3200400" y="5105400"/>
            <a:ext cx="4953000" cy="1371600"/>
          </a:xfrm>
          <a:prstGeom prst="rect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sz="2000" b="1">
              <a:solidFill>
                <a:srgbClr val="0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40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7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7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  <p:bldP spid="9225" grpId="0" autoUpdateAnimBg="0"/>
      <p:bldP spid="9226" grpId="0" autoUpdateAnimBg="0"/>
      <p:bldP spid="9227" grpId="0" autoUpdateAnimBg="0"/>
      <p:bldP spid="9228" grpId="0" autoUpdateAnimBg="0"/>
      <p:bldP spid="9229" grpId="0" autoUpdateAnimBg="0"/>
      <p:bldP spid="9233" grpId="0" autoUpdateAnimBg="0"/>
      <p:bldP spid="92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</a:t>
            </a:r>
            <a:r>
              <a:rPr lang="en-AU" smtClean="0"/>
              <a:t>page 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ategic">
  <a:themeElements>
    <a:clrScheme name="Strategic 2">
      <a:dk1>
        <a:srgbClr val="000000"/>
      </a:dk1>
      <a:lt1>
        <a:srgbClr val="E9E2B6"/>
      </a:lt1>
      <a:dk2>
        <a:srgbClr val="996600"/>
      </a:dk2>
      <a:lt2>
        <a:srgbClr val="786950"/>
      </a:lt2>
      <a:accent1>
        <a:srgbClr val="727DE0"/>
      </a:accent1>
      <a:accent2>
        <a:srgbClr val="D54F41"/>
      </a:accent2>
      <a:accent3>
        <a:srgbClr val="F2EED7"/>
      </a:accent3>
      <a:accent4>
        <a:srgbClr val="000000"/>
      </a:accent4>
      <a:accent5>
        <a:srgbClr val="BCBFED"/>
      </a:accent5>
      <a:accent6>
        <a:srgbClr val="C1473A"/>
      </a:accent6>
      <a:hlink>
        <a:srgbClr val="003300"/>
      </a:hlink>
      <a:folHlink>
        <a:srgbClr val="339933"/>
      </a:folHlink>
    </a:clrScheme>
    <a:fontScheme name="Strategic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rgbClr val="161B1C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rgbClr val="161B1C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Strategic 1">
        <a:dk1>
          <a:srgbClr val="000000"/>
        </a:dk1>
        <a:lt1>
          <a:srgbClr val="EAEAEA"/>
        </a:lt1>
        <a:dk2>
          <a:srgbClr val="819E81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C1CCC1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tegic 2">
        <a:dk1>
          <a:srgbClr val="000000"/>
        </a:dk1>
        <a:lt1>
          <a:srgbClr val="E9E2B6"/>
        </a:lt1>
        <a:dk2>
          <a:srgbClr val="996600"/>
        </a:dk2>
        <a:lt2>
          <a:srgbClr val="786950"/>
        </a:lt2>
        <a:accent1>
          <a:srgbClr val="727DE0"/>
        </a:accent1>
        <a:accent2>
          <a:srgbClr val="D54F41"/>
        </a:accent2>
        <a:accent3>
          <a:srgbClr val="F2EED7"/>
        </a:accent3>
        <a:accent4>
          <a:srgbClr val="000000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33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ic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ic 4">
        <a:dk1>
          <a:srgbClr val="000000"/>
        </a:dk1>
        <a:lt1>
          <a:srgbClr val="EAEAEA"/>
        </a:lt1>
        <a:dk2>
          <a:srgbClr val="BC6262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DAB7B7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00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tegic 5">
        <a:dk1>
          <a:srgbClr val="000000"/>
        </a:dk1>
        <a:lt1>
          <a:srgbClr val="EAEAEA"/>
        </a:lt1>
        <a:dk2>
          <a:srgbClr val="5C74A4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B5BCCF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FFFFCC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tegic 6">
        <a:dk1>
          <a:srgbClr val="000000"/>
        </a:dk1>
        <a:lt1>
          <a:srgbClr val="EAEAEA"/>
        </a:lt1>
        <a:dk2>
          <a:srgbClr val="996600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CAB8AA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1179</Words>
  <Application>Microsoft Office PowerPoint</Application>
  <PresentationFormat>On-screen Show (4:3)</PresentationFormat>
  <Paragraphs>290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Cambria Math</vt:lpstr>
      <vt:lpstr>Comic Sans MS</vt:lpstr>
      <vt:lpstr>Times New Roman</vt:lpstr>
      <vt:lpstr>Wingdings</vt:lpstr>
      <vt:lpstr>Office Theme</vt:lpstr>
      <vt:lpstr>Strategic</vt:lpstr>
      <vt:lpstr>Equation</vt:lpstr>
      <vt:lpstr>My Shape and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</vt:lpstr>
      <vt:lpstr>Task 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83</cp:revision>
  <dcterms:created xsi:type="dcterms:W3CDTF">2014-05-14T02:58:57Z</dcterms:created>
  <dcterms:modified xsi:type="dcterms:W3CDTF">2015-06-01T09:10:36Z</dcterms:modified>
</cp:coreProperties>
</file>
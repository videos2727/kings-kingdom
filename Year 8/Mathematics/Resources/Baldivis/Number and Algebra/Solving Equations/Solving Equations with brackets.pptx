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6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845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65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3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3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02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69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91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56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2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34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24/08/2016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2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prstClr val="black"/>
                </a:solidFill>
              </a:rPr>
              <a:t>24</a:t>
            </a:r>
          </a:p>
          <a:p>
            <a:r>
              <a:rPr lang="en-AU" sz="1000" dirty="0">
                <a:solidFill>
                  <a:prstClr val="black"/>
                </a:solidFill>
              </a:rPr>
              <a:t>7</a:t>
            </a:r>
          </a:p>
          <a:p>
            <a:r>
              <a:rPr lang="en-AU" sz="1000" dirty="0">
                <a:solidFill>
                  <a:prstClr val="black"/>
                </a:solidFill>
              </a:rPr>
              <a:t>30</a:t>
            </a:r>
            <a:endParaRPr lang="en-AU" sz="1000" dirty="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solidFill>
                  <a:prstClr val="black"/>
                </a:solidFill>
              </a:rPr>
              <a:t>Essential Question</a:t>
            </a:r>
            <a:endParaRPr lang="en-AU" sz="1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solidFill>
                  <a:prstClr val="black"/>
                </a:solidFill>
              </a:rPr>
              <a:t>Notes</a:t>
            </a:r>
            <a:endParaRPr lang="en-AU" sz="10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solidFill>
                  <a:prstClr val="black"/>
                </a:solidFill>
              </a:rPr>
              <a:t>Questions</a:t>
            </a:r>
            <a:endParaRPr lang="en-AU" sz="1000" dirty="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>
                <a:solidFill>
                  <a:prstClr val="black"/>
                </a:solidFill>
              </a:rPr>
              <a:t>Summary</a:t>
            </a:r>
            <a:endParaRPr lang="en-AU" sz="1000" dirty="0">
              <a:solidFill>
                <a:prstClr val="black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Tasks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95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 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11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Topic: Solving Equations with Brackets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Date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– </a:t>
            </a:r>
            <a:r>
              <a:rPr lang="en-AU" sz="2400" dirty="0" smtClean="0">
                <a:solidFill>
                  <a:prstClr val="black"/>
                </a:solidFill>
              </a:rPr>
              <a:t>How do I solve equations with brackets? 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27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260648"/>
            <a:ext cx="8496944" cy="5688632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AU" dirty="0" smtClean="0">
                <a:solidFill>
                  <a:schemeClr val="tx1"/>
                </a:solidFill>
              </a:rPr>
              <a:t>You can use backtracking or the balance method to solve equations with brackets.</a:t>
            </a:r>
          </a:p>
          <a:p>
            <a:pPr algn="l"/>
            <a:r>
              <a:rPr lang="en-AU" dirty="0" smtClean="0">
                <a:solidFill>
                  <a:schemeClr val="tx1"/>
                </a:solidFill>
              </a:rPr>
              <a:t>Example:</a:t>
            </a:r>
          </a:p>
          <a:p>
            <a:pPr algn="l"/>
            <a:r>
              <a:rPr lang="en-AU" dirty="0" smtClean="0">
                <a:solidFill>
                  <a:schemeClr val="tx1"/>
                </a:solidFill>
              </a:rPr>
              <a:t>2(x+3) = 10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smtClean="0">
                <a:solidFill>
                  <a:schemeClr val="tx1"/>
                </a:solidFill>
              </a:rPr>
              <a:t>    x+3 = 5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smtClean="0">
                <a:solidFill>
                  <a:schemeClr val="tx1"/>
                </a:solidFill>
              </a:rPr>
              <a:t>        x = 2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79073" y="1484784"/>
            <a:ext cx="48965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REMEMBER BIMDAS!!</a:t>
            </a:r>
          </a:p>
          <a:p>
            <a:r>
              <a:rPr lang="en-AU" sz="2400" i="1" dirty="0" smtClean="0"/>
              <a:t>x</a:t>
            </a:r>
            <a:r>
              <a:rPr lang="en-AU" sz="2400" dirty="0" smtClean="0"/>
              <a:t> has been:</a:t>
            </a:r>
          </a:p>
          <a:p>
            <a:r>
              <a:rPr lang="en-AU" sz="2400" dirty="0" smtClean="0"/>
              <a:t>1.  Added to 3</a:t>
            </a:r>
          </a:p>
          <a:p>
            <a:r>
              <a:rPr lang="en-AU" sz="2400" dirty="0" smtClean="0"/>
              <a:t>2.  Then the result is multiplied by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779073" y="3140968"/>
            <a:ext cx="4975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We would need to reverse each of these two operations to solve for the value of </a:t>
            </a:r>
            <a:r>
              <a:rPr lang="en-AU" sz="2400" i="1" dirty="0" smtClean="0"/>
              <a:t>x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7" name="Rectangle 6"/>
          <p:cNvSpPr/>
          <p:nvPr/>
        </p:nvSpPr>
        <p:spPr>
          <a:xfrm>
            <a:off x="3818674" y="4323265"/>
            <a:ext cx="4896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REVERSE BIMDAS TO SOLVE!!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Then the result is multiplied by 2</a:t>
            </a:r>
          </a:p>
          <a:p>
            <a:pPr marL="342900" indent="-342900">
              <a:buFont typeface="Calibri" pitchFamily="34" charset="0"/>
              <a:buChar char="→"/>
            </a:pPr>
            <a:r>
              <a:rPr lang="en-AU" sz="2400" dirty="0"/>
              <a:t> </a:t>
            </a:r>
            <a:r>
              <a:rPr lang="en-AU" sz="2400" dirty="0" smtClean="0"/>
              <a:t>Divide both sides by 2</a:t>
            </a:r>
            <a:endParaRPr lang="en-AU" sz="24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858275" y="5589240"/>
            <a:ext cx="4896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REVERSE BIMDAS TO SOLVE!!</a:t>
            </a:r>
          </a:p>
          <a:p>
            <a:r>
              <a:rPr lang="en-AU" sz="2400" dirty="0" smtClean="0"/>
              <a:t>1.  </a:t>
            </a:r>
            <a:r>
              <a:rPr lang="en-AU" sz="2400" dirty="0" smtClean="0"/>
              <a:t>x is added to 3</a:t>
            </a:r>
            <a:endParaRPr lang="en-AU" sz="2400" dirty="0" smtClean="0"/>
          </a:p>
          <a:p>
            <a:pPr marL="342900" indent="-342900">
              <a:buFont typeface="Calibri" pitchFamily="34" charset="0"/>
              <a:buChar char="→"/>
            </a:pPr>
            <a:r>
              <a:rPr lang="en-AU" sz="2400" dirty="0" smtClean="0"/>
              <a:t>Subtract 3 from both sides</a:t>
            </a: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val="151806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260648"/>
            <a:ext cx="8496944" cy="5688632"/>
          </a:xfrm>
        </p:spPr>
        <p:txBody>
          <a:bodyPr>
            <a:normAutofit/>
          </a:bodyPr>
          <a:lstStyle/>
          <a:p>
            <a:pPr algn="l"/>
            <a:r>
              <a:rPr lang="en-AU" dirty="0" smtClean="0">
                <a:solidFill>
                  <a:schemeClr val="tx1"/>
                </a:solidFill>
              </a:rPr>
              <a:t>Example:</a:t>
            </a:r>
          </a:p>
          <a:p>
            <a:pPr algn="l"/>
            <a:r>
              <a:rPr lang="en-AU" dirty="0" smtClean="0">
                <a:solidFill>
                  <a:schemeClr val="tx1"/>
                </a:solidFill>
              </a:rPr>
              <a:t>3(x-4) = 21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smtClean="0">
                <a:solidFill>
                  <a:schemeClr val="tx1"/>
                </a:solidFill>
              </a:rPr>
              <a:t>    x-4 = 7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</a:t>
            </a:r>
            <a:r>
              <a:rPr lang="en-AU" dirty="0" smtClean="0">
                <a:solidFill>
                  <a:schemeClr val="tx1"/>
                </a:solidFill>
              </a:rPr>
              <a:t>        x = 11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07904" y="332656"/>
            <a:ext cx="48965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REMEMBER BIMDAS!!</a:t>
            </a:r>
          </a:p>
          <a:p>
            <a:r>
              <a:rPr lang="en-AU" sz="2400" i="1" dirty="0" smtClean="0"/>
              <a:t>x</a:t>
            </a:r>
            <a:r>
              <a:rPr lang="en-AU" sz="2400" dirty="0" smtClean="0"/>
              <a:t> has:</a:t>
            </a:r>
          </a:p>
          <a:p>
            <a:r>
              <a:rPr lang="en-AU" sz="2400" dirty="0" smtClean="0"/>
              <a:t>1.  Had 4 subtracted from it</a:t>
            </a:r>
          </a:p>
          <a:p>
            <a:r>
              <a:rPr lang="en-AU" sz="2400" dirty="0" smtClean="0"/>
              <a:t>2.  Then the result is multiplied by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774427" y="2204864"/>
            <a:ext cx="4975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We would need to reverse each of these two operations to solve for the value of </a:t>
            </a:r>
            <a:r>
              <a:rPr lang="en-AU" sz="2400" i="1" dirty="0" smtClean="0"/>
              <a:t>x</a:t>
            </a:r>
            <a:r>
              <a:rPr lang="en-AU" sz="2400" dirty="0" smtClean="0"/>
              <a:t>.</a:t>
            </a:r>
            <a:endParaRPr lang="en-AU" sz="2400" dirty="0"/>
          </a:p>
        </p:txBody>
      </p:sp>
      <p:sp>
        <p:nvSpPr>
          <p:cNvPr id="7" name="Rectangle 6"/>
          <p:cNvSpPr/>
          <p:nvPr/>
        </p:nvSpPr>
        <p:spPr>
          <a:xfrm>
            <a:off x="3814028" y="3645024"/>
            <a:ext cx="4896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REVERSE BIMDAS TO SOLVE!!</a:t>
            </a:r>
          </a:p>
          <a:p>
            <a:pPr marL="457200" indent="-457200">
              <a:buAutoNum type="arabicPeriod"/>
            </a:pPr>
            <a:r>
              <a:rPr lang="en-AU" sz="2400" dirty="0" smtClean="0"/>
              <a:t>Then the result is multiplied by 3</a:t>
            </a:r>
          </a:p>
          <a:p>
            <a:pPr marL="342900" indent="-342900">
              <a:buFont typeface="Calibri" pitchFamily="34" charset="0"/>
              <a:buChar char="→"/>
            </a:pPr>
            <a:r>
              <a:rPr lang="en-AU" sz="2400" dirty="0"/>
              <a:t> </a:t>
            </a:r>
            <a:r>
              <a:rPr lang="en-AU" sz="2400" dirty="0" smtClean="0"/>
              <a:t>Divide both sides by 3</a:t>
            </a:r>
            <a:endParaRPr lang="en-AU" sz="24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3853629" y="4992327"/>
            <a:ext cx="4896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REVERSE BIMDAS TO SOLVE!!</a:t>
            </a:r>
          </a:p>
          <a:p>
            <a:r>
              <a:rPr lang="en-AU" sz="2400" dirty="0" smtClean="0"/>
              <a:t>1.  </a:t>
            </a:r>
            <a:r>
              <a:rPr lang="en-AU" sz="2400" dirty="0" smtClean="0"/>
              <a:t>x had 4 subtracted from it</a:t>
            </a:r>
            <a:endParaRPr lang="en-AU" sz="2400" dirty="0" smtClean="0"/>
          </a:p>
          <a:p>
            <a:pPr marL="342900" indent="-342900">
              <a:buFont typeface="Calibri" pitchFamily="34" charset="0"/>
              <a:buChar char="→"/>
            </a:pPr>
            <a:r>
              <a:rPr lang="en-AU" sz="2400" dirty="0" smtClean="0"/>
              <a:t>Add 4 to both sides</a:t>
            </a: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val="22873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205</Words>
  <Application>Microsoft Office PowerPoint</Application>
  <PresentationFormat>On-screen Show (4:3)</PresentationFormat>
  <Paragraphs>47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FRASER-JONES Laura</dc:creator>
  <cp:lastModifiedBy>FRASER-JONES Laura</cp:lastModifiedBy>
  <cp:revision>4</cp:revision>
  <dcterms:created xsi:type="dcterms:W3CDTF">2016-08-24T00:13:41Z</dcterms:created>
  <dcterms:modified xsi:type="dcterms:W3CDTF">2016-08-24T01:07:17Z</dcterms:modified>
</cp:coreProperties>
</file>
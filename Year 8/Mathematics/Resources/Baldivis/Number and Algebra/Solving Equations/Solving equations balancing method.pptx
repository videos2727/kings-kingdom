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66" r:id="rId2"/>
    <p:sldId id="260" r:id="rId3"/>
    <p:sldId id="256" r:id="rId4"/>
    <p:sldId id="257" r:id="rId5"/>
    <p:sldId id="261" r:id="rId6"/>
    <p:sldId id="258" r:id="rId7"/>
    <p:sldId id="259" r:id="rId8"/>
    <p:sldId id="262" r:id="rId9"/>
    <p:sldId id="264" r:id="rId10"/>
    <p:sldId id="270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4" autoAdjust="0"/>
  </p:normalViewPr>
  <p:slideViewPr>
    <p:cSldViewPr snapToGrid="0">
      <p:cViewPr>
        <p:scale>
          <a:sx n="91" d="100"/>
          <a:sy n="91" d="100"/>
        </p:scale>
        <p:origin x="-1229" y="-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CD6A36-B26C-40B5-9D63-59D7A245402F}" type="datetimeFigureOut">
              <a:rPr lang="en-GB" smtClean="0"/>
              <a:pPr/>
              <a:t>15/08/2016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D88B3-DEDE-49EA-B8FD-04061A0C439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533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AD88B3-DEDE-49EA-B8FD-04061A0C4390}" type="slidenum">
              <a:rPr lang="en-GB" smtClean="0"/>
              <a:pPr/>
              <a:t>6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15/08/2016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67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15/08/2016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2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15/08/2016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337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15/08/2016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693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15/08/2016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546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15/08/2016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389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15/08/2016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36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15/08/2016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727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15/08/2016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58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15/08/2016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488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15/08/2016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961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02ACC-3968-4E6E-9E5C-AE6A17245F70}" type="datetimeFigureOut">
              <a:rPr lang="en-GB" smtClean="0"/>
              <a:pPr/>
              <a:t>15/08/2016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808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84371" y="27710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Topic: Solving </a:t>
            </a:r>
            <a:r>
              <a:rPr lang="en-GB" b="1" dirty="0" smtClean="0"/>
              <a:t>Equations</a:t>
            </a:r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/>
              <a:t/>
            </a:r>
            <a:br>
              <a:rPr lang="en-GB" b="1" dirty="0"/>
            </a:br>
            <a:r>
              <a:rPr lang="en-GB" b="1" dirty="0" smtClean="0"/>
              <a:t>EQ: How do I </a:t>
            </a:r>
            <a:r>
              <a:rPr lang="en-GB" b="1" dirty="0" smtClean="0"/>
              <a:t>solve </a:t>
            </a:r>
            <a:r>
              <a:rPr lang="en-GB" b="1" dirty="0" smtClean="0"/>
              <a:t>equations?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96125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j03441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700213"/>
            <a:ext cx="5688012" cy="4110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26" name="Group 6"/>
          <p:cNvGrpSpPr>
            <a:grpSpLocks/>
          </p:cNvGrpSpPr>
          <p:nvPr/>
        </p:nvGrpSpPr>
        <p:grpSpPr bwMode="auto">
          <a:xfrm>
            <a:off x="4787900" y="3789363"/>
            <a:ext cx="720725" cy="792162"/>
            <a:chOff x="204" y="3212"/>
            <a:chExt cx="726" cy="807"/>
          </a:xfrm>
        </p:grpSpPr>
        <p:sp>
          <p:nvSpPr>
            <p:cNvPr id="5127" name="AutoShape 7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128" name="Oval 8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5129" name="Group 9"/>
          <p:cNvGrpSpPr>
            <a:grpSpLocks/>
          </p:cNvGrpSpPr>
          <p:nvPr/>
        </p:nvGrpSpPr>
        <p:grpSpPr bwMode="auto">
          <a:xfrm>
            <a:off x="4427538" y="3933825"/>
            <a:ext cx="720725" cy="792163"/>
            <a:chOff x="204" y="3212"/>
            <a:chExt cx="726" cy="807"/>
          </a:xfrm>
        </p:grpSpPr>
        <p:sp>
          <p:nvSpPr>
            <p:cNvPr id="5130" name="AutoShape 10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131" name="Oval 11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106363" y="109538"/>
            <a:ext cx="6337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>
                <a:latin typeface="Comic Sans MS" panose="030F0702030302020204" pitchFamily="66" charset="0"/>
              </a:rPr>
              <a:t>Equations – Keep it balanced…</a:t>
            </a:r>
          </a:p>
        </p:txBody>
      </p:sp>
      <p:grpSp>
        <p:nvGrpSpPr>
          <p:cNvPr id="5133" name="Group 13"/>
          <p:cNvGrpSpPr>
            <a:grpSpLocks/>
          </p:cNvGrpSpPr>
          <p:nvPr/>
        </p:nvGrpSpPr>
        <p:grpSpPr bwMode="auto">
          <a:xfrm>
            <a:off x="5148263" y="3933825"/>
            <a:ext cx="720725" cy="792163"/>
            <a:chOff x="204" y="3212"/>
            <a:chExt cx="726" cy="807"/>
          </a:xfrm>
        </p:grpSpPr>
        <p:sp>
          <p:nvSpPr>
            <p:cNvPr id="5134" name="AutoShape 14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135" name="Oval 15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137" name="WordArt 17"/>
          <p:cNvSpPr>
            <a:spLocks noChangeArrowheads="1" noChangeShapeType="1" noTextEdit="1"/>
          </p:cNvSpPr>
          <p:nvPr/>
        </p:nvSpPr>
        <p:spPr bwMode="auto">
          <a:xfrm>
            <a:off x="827088" y="1196975"/>
            <a:ext cx="431800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5138" name="WordArt 18"/>
          <p:cNvSpPr>
            <a:spLocks noChangeArrowheads="1" noChangeShapeType="1" noTextEdit="1"/>
          </p:cNvSpPr>
          <p:nvPr/>
        </p:nvSpPr>
        <p:spPr bwMode="auto">
          <a:xfrm>
            <a:off x="2987675" y="1196975"/>
            <a:ext cx="431800" cy="431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5139" name="WordArt 19"/>
          <p:cNvSpPr>
            <a:spLocks noChangeArrowheads="1" noChangeShapeType="1" noTextEdit="1"/>
          </p:cNvSpPr>
          <p:nvPr/>
        </p:nvSpPr>
        <p:spPr bwMode="auto">
          <a:xfrm>
            <a:off x="4787900" y="1196975"/>
            <a:ext cx="504825" cy="50323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5</a:t>
            </a:r>
          </a:p>
        </p:txBody>
      </p:sp>
      <p:sp>
        <p:nvSpPr>
          <p:cNvPr id="5140" name="WordArt 20"/>
          <p:cNvSpPr>
            <a:spLocks noChangeArrowheads="1" noChangeShapeType="1" noTextEdit="1"/>
          </p:cNvSpPr>
          <p:nvPr/>
        </p:nvSpPr>
        <p:spPr bwMode="auto">
          <a:xfrm>
            <a:off x="1331913" y="1196975"/>
            <a:ext cx="504825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+</a:t>
            </a:r>
          </a:p>
        </p:txBody>
      </p:sp>
      <p:sp>
        <p:nvSpPr>
          <p:cNvPr id="5141" name="WordArt 21"/>
          <p:cNvSpPr>
            <a:spLocks noChangeArrowheads="1" noChangeShapeType="1" noTextEdit="1"/>
          </p:cNvSpPr>
          <p:nvPr/>
        </p:nvSpPr>
        <p:spPr bwMode="auto">
          <a:xfrm>
            <a:off x="1979613" y="1196975"/>
            <a:ext cx="358775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3</a:t>
            </a:r>
          </a:p>
        </p:txBody>
      </p:sp>
      <p:grpSp>
        <p:nvGrpSpPr>
          <p:cNvPr id="5145" name="Group 25"/>
          <p:cNvGrpSpPr>
            <a:grpSpLocks/>
          </p:cNvGrpSpPr>
          <p:nvPr/>
        </p:nvGrpSpPr>
        <p:grpSpPr bwMode="auto">
          <a:xfrm>
            <a:off x="1042988" y="3933825"/>
            <a:ext cx="720725" cy="792163"/>
            <a:chOff x="204" y="3212"/>
            <a:chExt cx="726" cy="807"/>
          </a:xfrm>
        </p:grpSpPr>
        <p:sp>
          <p:nvSpPr>
            <p:cNvPr id="5146" name="AutoShape 26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147" name="Oval 27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pic>
        <p:nvPicPr>
          <p:cNvPr id="5148" name="Picture 2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836613"/>
            <a:ext cx="2736850" cy="561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49" name="Text Box 29"/>
          <p:cNvSpPr txBox="1">
            <a:spLocks noChangeArrowheads="1"/>
          </p:cNvSpPr>
          <p:nvPr/>
        </p:nvSpPr>
        <p:spPr bwMode="auto">
          <a:xfrm>
            <a:off x="6659563" y="1058863"/>
            <a:ext cx="25923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 x + 3 = 5</a:t>
            </a:r>
          </a:p>
        </p:txBody>
      </p:sp>
      <p:sp>
        <p:nvSpPr>
          <p:cNvPr id="5150" name="Text Box 30"/>
          <p:cNvSpPr txBox="1">
            <a:spLocks noChangeArrowheads="1"/>
          </p:cNvSpPr>
          <p:nvPr/>
        </p:nvSpPr>
        <p:spPr bwMode="auto">
          <a:xfrm>
            <a:off x="6588125" y="2211388"/>
            <a:ext cx="25923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 x        = 2</a:t>
            </a:r>
          </a:p>
        </p:txBody>
      </p:sp>
      <p:sp>
        <p:nvSpPr>
          <p:cNvPr id="5151" name="Text Box 31"/>
          <p:cNvSpPr txBox="1">
            <a:spLocks noChangeArrowheads="1"/>
          </p:cNvSpPr>
          <p:nvPr/>
        </p:nvSpPr>
        <p:spPr bwMode="auto">
          <a:xfrm>
            <a:off x="7400698" y="1682523"/>
            <a:ext cx="48926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-3</a:t>
            </a:r>
            <a:endParaRPr lang="en-GB" altLang="en-US" sz="24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grpSp>
        <p:nvGrpSpPr>
          <p:cNvPr id="5157" name="Group 37"/>
          <p:cNvGrpSpPr>
            <a:grpSpLocks/>
          </p:cNvGrpSpPr>
          <p:nvPr/>
        </p:nvGrpSpPr>
        <p:grpSpPr bwMode="auto">
          <a:xfrm>
            <a:off x="971550" y="3429000"/>
            <a:ext cx="720725" cy="792163"/>
            <a:chOff x="204" y="3212"/>
            <a:chExt cx="726" cy="807"/>
          </a:xfrm>
        </p:grpSpPr>
        <p:sp>
          <p:nvSpPr>
            <p:cNvPr id="5158" name="AutoShape 38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159" name="Oval 39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5154" name="Group 34"/>
          <p:cNvGrpSpPr>
            <a:grpSpLocks/>
          </p:cNvGrpSpPr>
          <p:nvPr/>
        </p:nvGrpSpPr>
        <p:grpSpPr bwMode="auto">
          <a:xfrm>
            <a:off x="1403350" y="3932238"/>
            <a:ext cx="720725" cy="792162"/>
            <a:chOff x="204" y="3212"/>
            <a:chExt cx="726" cy="807"/>
          </a:xfrm>
        </p:grpSpPr>
        <p:sp>
          <p:nvSpPr>
            <p:cNvPr id="5155" name="AutoShape 35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156" name="Oval 36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5123" name="Group 3"/>
          <p:cNvGrpSpPr>
            <a:grpSpLocks/>
          </p:cNvGrpSpPr>
          <p:nvPr/>
        </p:nvGrpSpPr>
        <p:grpSpPr bwMode="auto">
          <a:xfrm>
            <a:off x="611188" y="3644900"/>
            <a:ext cx="865187" cy="1079500"/>
            <a:chOff x="204" y="3212"/>
            <a:chExt cx="726" cy="807"/>
          </a:xfrm>
        </p:grpSpPr>
        <p:sp>
          <p:nvSpPr>
            <p:cNvPr id="5124" name="AutoShape 4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5125" name="Oval 5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5166" name="Group 46"/>
          <p:cNvGrpSpPr>
            <a:grpSpLocks/>
          </p:cNvGrpSpPr>
          <p:nvPr/>
        </p:nvGrpSpPr>
        <p:grpSpPr bwMode="auto">
          <a:xfrm>
            <a:off x="5076825" y="3933825"/>
            <a:ext cx="720725" cy="792163"/>
            <a:chOff x="204" y="3212"/>
            <a:chExt cx="726" cy="807"/>
          </a:xfrm>
        </p:grpSpPr>
        <p:sp>
          <p:nvSpPr>
            <p:cNvPr id="5167" name="AutoShape 47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168" name="Oval 48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5169" name="Group 49"/>
          <p:cNvGrpSpPr>
            <a:grpSpLocks/>
          </p:cNvGrpSpPr>
          <p:nvPr/>
        </p:nvGrpSpPr>
        <p:grpSpPr bwMode="auto">
          <a:xfrm>
            <a:off x="4643438" y="3933825"/>
            <a:ext cx="720725" cy="792163"/>
            <a:chOff x="204" y="3212"/>
            <a:chExt cx="726" cy="807"/>
          </a:xfrm>
        </p:grpSpPr>
        <p:sp>
          <p:nvSpPr>
            <p:cNvPr id="5170" name="AutoShape 50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171" name="Oval 51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4" name="Text Box 31"/>
          <p:cNvSpPr txBox="1">
            <a:spLocks noChangeArrowheads="1"/>
          </p:cNvSpPr>
          <p:nvPr/>
        </p:nvSpPr>
        <p:spPr bwMode="auto">
          <a:xfrm>
            <a:off x="8376058" y="1691232"/>
            <a:ext cx="49362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-3</a:t>
            </a:r>
            <a:endParaRPr lang="en-GB" altLang="en-US" sz="24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6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9" grpId="0"/>
      <p:bldP spid="5150" grpId="0"/>
      <p:bldP spid="5151" grpId="0"/>
      <p:bldP spid="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>
            <a:off x="3494548" y="981953"/>
            <a:ext cx="1742536" cy="462375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6" name="Group 15"/>
          <p:cNvGrpSpPr/>
          <p:nvPr/>
        </p:nvGrpSpPr>
        <p:grpSpPr>
          <a:xfrm>
            <a:off x="6316845" y="1578997"/>
            <a:ext cx="1661375" cy="2904186"/>
            <a:chOff x="566547" y="1590541"/>
            <a:chExt cx="1661375" cy="2343955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785611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1397235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566547" y="3837904"/>
              <a:ext cx="1661375" cy="965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1" name="Rectangle 20"/>
          <p:cNvSpPr/>
          <p:nvPr/>
        </p:nvSpPr>
        <p:spPr>
          <a:xfrm>
            <a:off x="2227922" y="5428810"/>
            <a:ext cx="4275786" cy="1769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0" name="Group 19"/>
          <p:cNvGrpSpPr/>
          <p:nvPr/>
        </p:nvGrpSpPr>
        <p:grpSpPr>
          <a:xfrm>
            <a:off x="1397235" y="1324303"/>
            <a:ext cx="5937161" cy="630621"/>
            <a:chOff x="1397235" y="1324303"/>
            <a:chExt cx="5937161" cy="630621"/>
          </a:xfrm>
        </p:grpSpPr>
        <p:sp>
          <p:nvSpPr>
            <p:cNvPr id="5" name="Rectangle 4"/>
            <p:cNvSpPr/>
            <p:nvPr/>
          </p:nvSpPr>
          <p:spPr>
            <a:xfrm>
              <a:off x="1397235" y="1493949"/>
              <a:ext cx="5937161" cy="19318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Oval 5"/>
            <p:cNvSpPr/>
            <p:nvPr/>
          </p:nvSpPr>
          <p:spPr>
            <a:xfrm>
              <a:off x="4099034" y="1324303"/>
              <a:ext cx="536028" cy="630621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53412" y="1590540"/>
            <a:ext cx="1661375" cy="2904186"/>
            <a:chOff x="566547" y="1590541"/>
            <a:chExt cx="1661375" cy="2343955"/>
          </a:xfrm>
        </p:grpSpPr>
        <p:cxnSp>
          <p:nvCxnSpPr>
            <p:cNvPr id="24" name="Straight Connector 23"/>
            <p:cNvCxnSpPr/>
            <p:nvPr/>
          </p:nvCxnSpPr>
          <p:spPr>
            <a:xfrm flipH="1">
              <a:off x="785611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1397235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566547" y="3837904"/>
              <a:ext cx="1661375" cy="965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2" name="Flowchart: Connector 31"/>
          <p:cNvSpPr/>
          <p:nvPr/>
        </p:nvSpPr>
        <p:spPr>
          <a:xfrm>
            <a:off x="1413997" y="3915991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4" name="Flowchart: Connector 33"/>
          <p:cNvSpPr/>
          <p:nvPr/>
        </p:nvSpPr>
        <p:spPr>
          <a:xfrm>
            <a:off x="1820439" y="3915322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x</a:t>
            </a:r>
            <a:r>
              <a:rPr lang="en-GB" sz="3200" dirty="0" smtClean="0"/>
              <a:t> + 2 = 4</a:t>
            </a:r>
            <a:endParaRPr lang="en-GB" sz="3200" dirty="0"/>
          </a:p>
        </p:txBody>
      </p:sp>
      <p:sp>
        <p:nvSpPr>
          <p:cNvPr id="27" name="Regular Pentagon 26"/>
          <p:cNvSpPr/>
          <p:nvPr/>
        </p:nvSpPr>
        <p:spPr>
          <a:xfrm>
            <a:off x="765302" y="3791158"/>
            <a:ext cx="596618" cy="588658"/>
          </a:xfrm>
          <a:prstGeom prst="pentag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30" name="Flowchart: Connector 29"/>
          <p:cNvSpPr/>
          <p:nvPr/>
        </p:nvSpPr>
        <p:spPr>
          <a:xfrm>
            <a:off x="7149233" y="3896295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7" name="Flowchart: Connector 36"/>
          <p:cNvSpPr/>
          <p:nvPr/>
        </p:nvSpPr>
        <p:spPr>
          <a:xfrm>
            <a:off x="6708508" y="3900412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8" name="Flowchart: Connector 37"/>
          <p:cNvSpPr/>
          <p:nvPr/>
        </p:nvSpPr>
        <p:spPr>
          <a:xfrm>
            <a:off x="7585838" y="3900414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0" name="Flowchart: Connector 39"/>
          <p:cNvSpPr/>
          <p:nvPr/>
        </p:nvSpPr>
        <p:spPr>
          <a:xfrm>
            <a:off x="6276021" y="3900414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127157" y="432486"/>
            <a:ext cx="64255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solidFill>
                  <a:srgbClr val="C00000"/>
                </a:solidFill>
              </a:rPr>
              <a:t>-2</a:t>
            </a:r>
            <a:endParaRPr lang="en-GB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46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1.48148E-6 L -3.88889E-6 -0.07732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7778E-6 1.85185E-6 L 2.77778E-6 0.07083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600000">
                                      <p:cBhvr>
                                        <p:cTn id="2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7778E-6 -1.11022E-16 L 2.77778E-6 -0.07731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 animBg="1"/>
      <p:bldP spid="27" grpId="0" animBg="1"/>
      <p:bldP spid="30" grpId="0" animBg="1"/>
      <p:bldP spid="37" grpId="0" animBg="1"/>
      <p:bldP spid="38" grpId="0" animBg="1"/>
      <p:bldP spid="40" grpId="0" animBg="1"/>
      <p:bldP spid="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>
            <a:off x="3494548" y="981953"/>
            <a:ext cx="1742536" cy="462375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2227922" y="5428810"/>
            <a:ext cx="4275786" cy="1769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0" name="Group 19"/>
          <p:cNvGrpSpPr/>
          <p:nvPr/>
        </p:nvGrpSpPr>
        <p:grpSpPr>
          <a:xfrm rot="600000">
            <a:off x="1397235" y="1324303"/>
            <a:ext cx="5937161" cy="630621"/>
            <a:chOff x="1397235" y="1324303"/>
            <a:chExt cx="5937161" cy="630621"/>
          </a:xfrm>
        </p:grpSpPr>
        <p:sp>
          <p:nvSpPr>
            <p:cNvPr id="5" name="Rectangle 4"/>
            <p:cNvSpPr/>
            <p:nvPr/>
          </p:nvSpPr>
          <p:spPr>
            <a:xfrm>
              <a:off x="1397235" y="1493949"/>
              <a:ext cx="5937161" cy="19318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Oval 5"/>
            <p:cNvSpPr/>
            <p:nvPr/>
          </p:nvSpPr>
          <p:spPr>
            <a:xfrm>
              <a:off x="4099034" y="1324303"/>
              <a:ext cx="536028" cy="630621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753412" y="1077243"/>
            <a:ext cx="1661375" cy="2904186"/>
            <a:chOff x="566547" y="1590541"/>
            <a:chExt cx="1661375" cy="2343955"/>
          </a:xfrm>
        </p:grpSpPr>
        <p:cxnSp>
          <p:nvCxnSpPr>
            <p:cNvPr id="27" name="Straight Connector 26"/>
            <p:cNvCxnSpPr/>
            <p:nvPr/>
          </p:nvCxnSpPr>
          <p:spPr>
            <a:xfrm flipH="1">
              <a:off x="785611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397235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566547" y="3837904"/>
              <a:ext cx="1661375" cy="965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316844" y="2063531"/>
            <a:ext cx="1661375" cy="2904186"/>
            <a:chOff x="566547" y="1590541"/>
            <a:chExt cx="1661375" cy="2343955"/>
          </a:xfrm>
        </p:grpSpPr>
        <p:cxnSp>
          <p:nvCxnSpPr>
            <p:cNvPr id="31" name="Straight Connector 30"/>
            <p:cNvCxnSpPr/>
            <p:nvPr/>
          </p:nvCxnSpPr>
          <p:spPr>
            <a:xfrm flipH="1">
              <a:off x="785611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397235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/>
            <p:cNvSpPr/>
            <p:nvPr/>
          </p:nvSpPr>
          <p:spPr>
            <a:xfrm>
              <a:off x="566547" y="3837904"/>
              <a:ext cx="1661375" cy="965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9" name="Flowchart: Connector 38"/>
          <p:cNvSpPr/>
          <p:nvPr/>
        </p:nvSpPr>
        <p:spPr>
          <a:xfrm>
            <a:off x="6271469" y="4378063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2" name="Flowchart: Connector 41"/>
          <p:cNvSpPr/>
          <p:nvPr/>
        </p:nvSpPr>
        <p:spPr>
          <a:xfrm>
            <a:off x="7582200" y="4378063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x</a:t>
            </a:r>
            <a:r>
              <a:rPr lang="en-GB" sz="3200" dirty="0" smtClean="0"/>
              <a:t> </a:t>
            </a:r>
            <a:r>
              <a:rPr lang="en-GB" sz="3200" dirty="0" smtClean="0">
                <a:solidFill>
                  <a:schemeClr val="bg1"/>
                </a:solidFill>
              </a:rPr>
              <a:t>+ 2</a:t>
            </a:r>
            <a:r>
              <a:rPr lang="en-GB" sz="3200" dirty="0" smtClean="0"/>
              <a:t> =</a:t>
            </a:r>
            <a:r>
              <a:rPr lang="en-GB" sz="3200" dirty="0" smtClean="0">
                <a:solidFill>
                  <a:schemeClr val="bg1"/>
                </a:solidFill>
              </a:rPr>
              <a:t> 4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23" name="Regular Pentagon 22"/>
          <p:cNvSpPr/>
          <p:nvPr/>
        </p:nvSpPr>
        <p:spPr>
          <a:xfrm>
            <a:off x="776134" y="3280242"/>
            <a:ext cx="596618" cy="588658"/>
          </a:xfrm>
          <a:prstGeom prst="pentag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24" name="Flowchart: Connector 23"/>
          <p:cNvSpPr/>
          <p:nvPr/>
        </p:nvSpPr>
        <p:spPr>
          <a:xfrm>
            <a:off x="7149227" y="4372522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25" name="Flowchart: Connector 24"/>
          <p:cNvSpPr/>
          <p:nvPr/>
        </p:nvSpPr>
        <p:spPr>
          <a:xfrm>
            <a:off x="6708502" y="4376641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27157" y="432486"/>
            <a:ext cx="64255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solidFill>
                  <a:srgbClr val="C00000"/>
                </a:solidFill>
              </a:rPr>
              <a:t>-2</a:t>
            </a:r>
            <a:endParaRPr lang="en-GB" sz="2800" dirty="0">
              <a:solidFill>
                <a:srgbClr val="C0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83892" y="424248"/>
            <a:ext cx="64255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solidFill>
                  <a:srgbClr val="C00000"/>
                </a:solidFill>
              </a:rPr>
              <a:t>-2</a:t>
            </a:r>
            <a:endParaRPr lang="en-GB" sz="2800" dirty="0">
              <a:solidFill>
                <a:srgbClr val="C0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940141" y="0"/>
            <a:ext cx="393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 smtClean="0"/>
              <a:t>4</a:t>
            </a:r>
            <a:endParaRPr lang="en-GB" sz="3200" dirty="0"/>
          </a:p>
        </p:txBody>
      </p:sp>
      <p:sp>
        <p:nvSpPr>
          <p:cNvPr id="36" name="Rectangle 35"/>
          <p:cNvSpPr/>
          <p:nvPr/>
        </p:nvSpPr>
        <p:spPr>
          <a:xfrm>
            <a:off x="4931904" y="0"/>
            <a:ext cx="393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 smtClean="0"/>
              <a:t>2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71676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600000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" presetID="42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64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7778E-6 -1.11022E-16 L 2.77778E-6 -0.07731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33333E-6 2.96296E-6 L -3.33333E-6 0.07083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38889E-6 3.7037E-6 L 1.38889E-6 -0.07732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38889E-6 3.7037E-6 L 1.38889E-6 -0.07732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 animBg="1"/>
      <p:bldP spid="23" grpId="0" animBg="1"/>
      <p:bldP spid="24" grpId="0" animBg="1"/>
      <p:bldP spid="25" grpId="0" animBg="1"/>
      <p:bldP spid="34" grpId="0" animBg="1"/>
      <p:bldP spid="35" grpId="0"/>
      <p:bldP spid="3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9" name="Picture 11" descr="j03441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700213"/>
            <a:ext cx="5688012" cy="4110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63" name="Group 15"/>
          <p:cNvGrpSpPr>
            <a:grpSpLocks/>
          </p:cNvGrpSpPr>
          <p:nvPr/>
        </p:nvGrpSpPr>
        <p:grpSpPr bwMode="auto">
          <a:xfrm>
            <a:off x="468313" y="3573463"/>
            <a:ext cx="865187" cy="1079500"/>
            <a:chOff x="204" y="3212"/>
            <a:chExt cx="726" cy="807"/>
          </a:xfrm>
        </p:grpSpPr>
        <p:sp>
          <p:nvSpPr>
            <p:cNvPr id="2060" name="AutoShape 12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2061" name="Oval 13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2086" name="Group 38"/>
          <p:cNvGrpSpPr>
            <a:grpSpLocks/>
          </p:cNvGrpSpPr>
          <p:nvPr/>
        </p:nvGrpSpPr>
        <p:grpSpPr bwMode="auto">
          <a:xfrm>
            <a:off x="4787900" y="3789363"/>
            <a:ext cx="720725" cy="792162"/>
            <a:chOff x="204" y="3212"/>
            <a:chExt cx="726" cy="807"/>
          </a:xfrm>
        </p:grpSpPr>
        <p:sp>
          <p:nvSpPr>
            <p:cNvPr id="2087" name="AutoShape 39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088" name="Oval 40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2080" name="Group 32"/>
          <p:cNvGrpSpPr>
            <a:grpSpLocks/>
          </p:cNvGrpSpPr>
          <p:nvPr/>
        </p:nvGrpSpPr>
        <p:grpSpPr bwMode="auto">
          <a:xfrm>
            <a:off x="4427538" y="3933825"/>
            <a:ext cx="720725" cy="792163"/>
            <a:chOff x="204" y="3212"/>
            <a:chExt cx="726" cy="807"/>
          </a:xfrm>
        </p:grpSpPr>
        <p:sp>
          <p:nvSpPr>
            <p:cNvPr id="2081" name="AutoShape 33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082" name="Oval 34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2083" name="Group 35"/>
          <p:cNvGrpSpPr>
            <a:grpSpLocks/>
          </p:cNvGrpSpPr>
          <p:nvPr/>
        </p:nvGrpSpPr>
        <p:grpSpPr bwMode="auto">
          <a:xfrm>
            <a:off x="5148263" y="3933825"/>
            <a:ext cx="720725" cy="792163"/>
            <a:chOff x="204" y="3212"/>
            <a:chExt cx="726" cy="807"/>
          </a:xfrm>
        </p:grpSpPr>
        <p:sp>
          <p:nvSpPr>
            <p:cNvPr id="2084" name="AutoShape 36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085" name="Oval 37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089" name="WordArt 41"/>
          <p:cNvSpPr>
            <a:spLocks noChangeArrowheads="1" noChangeShapeType="1" noTextEdit="1"/>
          </p:cNvSpPr>
          <p:nvPr/>
        </p:nvSpPr>
        <p:spPr bwMode="auto">
          <a:xfrm>
            <a:off x="323850" y="1196975"/>
            <a:ext cx="431800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2</a:t>
            </a:r>
          </a:p>
        </p:txBody>
      </p:sp>
      <p:sp>
        <p:nvSpPr>
          <p:cNvPr id="2090" name="WordArt 42"/>
          <p:cNvSpPr>
            <a:spLocks noChangeArrowheads="1" noChangeShapeType="1" noTextEdit="1"/>
          </p:cNvSpPr>
          <p:nvPr/>
        </p:nvSpPr>
        <p:spPr bwMode="auto">
          <a:xfrm>
            <a:off x="827088" y="1196975"/>
            <a:ext cx="431800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2091" name="WordArt 43"/>
          <p:cNvSpPr>
            <a:spLocks noChangeArrowheads="1" noChangeShapeType="1" noTextEdit="1"/>
          </p:cNvSpPr>
          <p:nvPr/>
        </p:nvSpPr>
        <p:spPr bwMode="auto">
          <a:xfrm>
            <a:off x="2987675" y="1196975"/>
            <a:ext cx="431800" cy="431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2092" name="WordArt 44"/>
          <p:cNvSpPr>
            <a:spLocks noChangeArrowheads="1" noChangeShapeType="1" noTextEdit="1"/>
          </p:cNvSpPr>
          <p:nvPr/>
        </p:nvSpPr>
        <p:spPr bwMode="auto">
          <a:xfrm>
            <a:off x="4787900" y="1196975"/>
            <a:ext cx="504825" cy="50323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3</a:t>
            </a:r>
          </a:p>
        </p:txBody>
      </p:sp>
      <p:sp>
        <p:nvSpPr>
          <p:cNvPr id="2093" name="WordArt 45"/>
          <p:cNvSpPr>
            <a:spLocks noChangeArrowheads="1" noChangeShapeType="1" noTextEdit="1"/>
          </p:cNvSpPr>
          <p:nvPr/>
        </p:nvSpPr>
        <p:spPr bwMode="auto">
          <a:xfrm>
            <a:off x="1331913" y="1196975"/>
            <a:ext cx="504825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+</a:t>
            </a:r>
          </a:p>
        </p:txBody>
      </p:sp>
      <p:sp>
        <p:nvSpPr>
          <p:cNvPr id="2094" name="WordArt 46"/>
          <p:cNvSpPr>
            <a:spLocks noChangeArrowheads="1" noChangeShapeType="1" noTextEdit="1"/>
          </p:cNvSpPr>
          <p:nvPr/>
        </p:nvSpPr>
        <p:spPr bwMode="auto">
          <a:xfrm>
            <a:off x="1979613" y="1196975"/>
            <a:ext cx="358775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</a:t>
            </a:r>
          </a:p>
        </p:txBody>
      </p:sp>
      <p:grpSp>
        <p:nvGrpSpPr>
          <p:cNvPr id="2095" name="Group 47"/>
          <p:cNvGrpSpPr>
            <a:grpSpLocks/>
          </p:cNvGrpSpPr>
          <p:nvPr/>
        </p:nvGrpSpPr>
        <p:grpSpPr bwMode="auto">
          <a:xfrm>
            <a:off x="1331913" y="3573463"/>
            <a:ext cx="865187" cy="1079500"/>
            <a:chOff x="204" y="3212"/>
            <a:chExt cx="726" cy="807"/>
          </a:xfrm>
        </p:grpSpPr>
        <p:sp>
          <p:nvSpPr>
            <p:cNvPr id="2096" name="AutoShape 48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2097" name="Oval 49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2067" name="Group 19"/>
          <p:cNvGrpSpPr>
            <a:grpSpLocks/>
          </p:cNvGrpSpPr>
          <p:nvPr/>
        </p:nvGrpSpPr>
        <p:grpSpPr bwMode="auto">
          <a:xfrm>
            <a:off x="1042988" y="3933825"/>
            <a:ext cx="720725" cy="792163"/>
            <a:chOff x="204" y="3212"/>
            <a:chExt cx="726" cy="807"/>
          </a:xfrm>
        </p:grpSpPr>
        <p:sp>
          <p:nvSpPr>
            <p:cNvPr id="2068" name="AutoShape 20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069" name="Oval 21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pic>
        <p:nvPicPr>
          <p:cNvPr id="2098" name="Picture 5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836613"/>
            <a:ext cx="2736850" cy="561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99" name="Text Box 51"/>
          <p:cNvSpPr txBox="1">
            <a:spLocks noChangeArrowheads="1"/>
          </p:cNvSpPr>
          <p:nvPr/>
        </p:nvSpPr>
        <p:spPr bwMode="auto">
          <a:xfrm>
            <a:off x="6659563" y="1058863"/>
            <a:ext cx="25923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2x + 1 = 3</a:t>
            </a:r>
          </a:p>
        </p:txBody>
      </p:sp>
      <p:sp>
        <p:nvSpPr>
          <p:cNvPr id="2100" name="Text Box 52"/>
          <p:cNvSpPr txBox="1">
            <a:spLocks noChangeArrowheads="1"/>
          </p:cNvSpPr>
          <p:nvPr/>
        </p:nvSpPr>
        <p:spPr bwMode="auto">
          <a:xfrm>
            <a:off x="6588125" y="2211388"/>
            <a:ext cx="25923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2x        = 2</a:t>
            </a:r>
          </a:p>
        </p:txBody>
      </p:sp>
      <p:sp>
        <p:nvSpPr>
          <p:cNvPr id="2101" name="Text Box 53"/>
          <p:cNvSpPr txBox="1">
            <a:spLocks noChangeArrowheads="1"/>
          </p:cNvSpPr>
          <p:nvPr/>
        </p:nvSpPr>
        <p:spPr bwMode="auto">
          <a:xfrm>
            <a:off x="7191693" y="1656398"/>
            <a:ext cx="5545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-1</a:t>
            </a:r>
            <a:endParaRPr lang="en-GB" altLang="en-US" sz="24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2102" name="Text Box 54"/>
          <p:cNvSpPr txBox="1">
            <a:spLocks noChangeArrowheads="1"/>
          </p:cNvSpPr>
          <p:nvPr/>
        </p:nvSpPr>
        <p:spPr bwMode="auto">
          <a:xfrm>
            <a:off x="6551614" y="2900363"/>
            <a:ext cx="65908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÷2</a:t>
            </a:r>
            <a:endParaRPr lang="en-GB" altLang="en-US" sz="24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2103" name="Text Box 55"/>
          <p:cNvSpPr txBox="1">
            <a:spLocks noChangeArrowheads="1"/>
          </p:cNvSpPr>
          <p:nvPr/>
        </p:nvSpPr>
        <p:spPr bwMode="auto">
          <a:xfrm>
            <a:off x="6588125" y="3357563"/>
            <a:ext cx="25923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  x        = 1</a:t>
            </a:r>
          </a:p>
        </p:txBody>
      </p:sp>
      <p:sp>
        <p:nvSpPr>
          <p:cNvPr id="2105" name="Text Box 57"/>
          <p:cNvSpPr txBox="1">
            <a:spLocks noChangeArrowheads="1"/>
          </p:cNvSpPr>
          <p:nvPr/>
        </p:nvSpPr>
        <p:spPr bwMode="auto">
          <a:xfrm>
            <a:off x="106363" y="109538"/>
            <a:ext cx="6337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>
                <a:latin typeface="Comic Sans MS" panose="030F0702030302020204" pitchFamily="66" charset="0"/>
              </a:rPr>
              <a:t>Equations – Keep it balanced…</a:t>
            </a:r>
          </a:p>
        </p:txBody>
      </p:sp>
      <p:sp>
        <p:nvSpPr>
          <p:cNvPr id="82" name="Text Box 53"/>
          <p:cNvSpPr txBox="1">
            <a:spLocks noChangeArrowheads="1"/>
          </p:cNvSpPr>
          <p:nvPr/>
        </p:nvSpPr>
        <p:spPr bwMode="auto">
          <a:xfrm>
            <a:off x="8585064" y="1691234"/>
            <a:ext cx="5589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-1</a:t>
            </a:r>
            <a:endParaRPr lang="en-GB" altLang="en-US" sz="24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83" name="Text Box 54"/>
          <p:cNvSpPr txBox="1">
            <a:spLocks noChangeArrowheads="1"/>
          </p:cNvSpPr>
          <p:nvPr/>
        </p:nvSpPr>
        <p:spPr bwMode="auto">
          <a:xfrm>
            <a:off x="8258494" y="2896008"/>
            <a:ext cx="65908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÷2</a:t>
            </a:r>
            <a:endParaRPr lang="en-GB" altLang="en-US" sz="24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71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" grpId="0"/>
      <p:bldP spid="2100" grpId="0"/>
      <p:bldP spid="2101" grpId="0"/>
      <p:bldP spid="2102" grpId="0"/>
      <p:bldP spid="2103" grpId="0"/>
      <p:bldP spid="82" grpId="0"/>
      <p:bldP spid="8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>
            <a:off x="3494548" y="981953"/>
            <a:ext cx="1742536" cy="462375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6" name="Group 15"/>
          <p:cNvGrpSpPr/>
          <p:nvPr/>
        </p:nvGrpSpPr>
        <p:grpSpPr>
          <a:xfrm>
            <a:off x="6316845" y="1578997"/>
            <a:ext cx="1661375" cy="2904186"/>
            <a:chOff x="566547" y="1590541"/>
            <a:chExt cx="1661375" cy="2343955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785611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1397235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566547" y="3837904"/>
              <a:ext cx="1661375" cy="965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1" name="Rectangle 20"/>
          <p:cNvSpPr/>
          <p:nvPr/>
        </p:nvSpPr>
        <p:spPr>
          <a:xfrm>
            <a:off x="2227922" y="5428810"/>
            <a:ext cx="4275786" cy="1769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0" name="Group 19"/>
          <p:cNvGrpSpPr/>
          <p:nvPr/>
        </p:nvGrpSpPr>
        <p:grpSpPr>
          <a:xfrm>
            <a:off x="1397235" y="1324303"/>
            <a:ext cx="5937161" cy="630621"/>
            <a:chOff x="1397235" y="1324303"/>
            <a:chExt cx="5937161" cy="630621"/>
          </a:xfrm>
        </p:grpSpPr>
        <p:sp>
          <p:nvSpPr>
            <p:cNvPr id="5" name="Rectangle 4"/>
            <p:cNvSpPr/>
            <p:nvPr/>
          </p:nvSpPr>
          <p:spPr>
            <a:xfrm>
              <a:off x="1397235" y="1493949"/>
              <a:ext cx="5937161" cy="19318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Oval 5"/>
            <p:cNvSpPr/>
            <p:nvPr/>
          </p:nvSpPr>
          <p:spPr>
            <a:xfrm>
              <a:off x="4099034" y="1324303"/>
              <a:ext cx="536028" cy="630621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53412" y="1590540"/>
            <a:ext cx="1661375" cy="2904186"/>
            <a:chOff x="566547" y="1590541"/>
            <a:chExt cx="1661375" cy="2343955"/>
          </a:xfrm>
        </p:grpSpPr>
        <p:cxnSp>
          <p:nvCxnSpPr>
            <p:cNvPr id="24" name="Straight Connector 23"/>
            <p:cNvCxnSpPr/>
            <p:nvPr/>
          </p:nvCxnSpPr>
          <p:spPr>
            <a:xfrm flipH="1">
              <a:off x="785611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1397235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566547" y="3837904"/>
              <a:ext cx="1661375" cy="965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2" name="Flowchart: Connector 31"/>
          <p:cNvSpPr/>
          <p:nvPr/>
        </p:nvSpPr>
        <p:spPr>
          <a:xfrm>
            <a:off x="1438710" y="3903634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4" name="Flowchart: Connector 33"/>
          <p:cNvSpPr/>
          <p:nvPr/>
        </p:nvSpPr>
        <p:spPr>
          <a:xfrm>
            <a:off x="1845152" y="3902965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7" name="Flowchart: Connector 36"/>
          <p:cNvSpPr/>
          <p:nvPr/>
        </p:nvSpPr>
        <p:spPr>
          <a:xfrm>
            <a:off x="1626087" y="3479849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 smtClean="0"/>
              <a:t>2x+ 3 = 7</a:t>
            </a:r>
            <a:endParaRPr lang="en-GB" sz="3200" dirty="0"/>
          </a:p>
        </p:txBody>
      </p:sp>
      <p:sp>
        <p:nvSpPr>
          <p:cNvPr id="39" name="Flowchart: Connector 38"/>
          <p:cNvSpPr/>
          <p:nvPr/>
        </p:nvSpPr>
        <p:spPr>
          <a:xfrm>
            <a:off x="6283825" y="3908507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0" name="Flowchart: Connector 39"/>
          <p:cNvSpPr/>
          <p:nvPr/>
        </p:nvSpPr>
        <p:spPr>
          <a:xfrm>
            <a:off x="6720658" y="3896295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1" name="Flowchart: Connector 40"/>
          <p:cNvSpPr/>
          <p:nvPr/>
        </p:nvSpPr>
        <p:spPr>
          <a:xfrm>
            <a:off x="7161589" y="3896295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2" name="Flowchart: Connector 41"/>
          <p:cNvSpPr/>
          <p:nvPr/>
        </p:nvSpPr>
        <p:spPr>
          <a:xfrm>
            <a:off x="7594556" y="3908507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7" name="Flowchart: Connector 46"/>
          <p:cNvSpPr/>
          <p:nvPr/>
        </p:nvSpPr>
        <p:spPr>
          <a:xfrm>
            <a:off x="7363896" y="3467782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8" name="Flowchart: Connector 47"/>
          <p:cNvSpPr/>
          <p:nvPr/>
        </p:nvSpPr>
        <p:spPr>
          <a:xfrm>
            <a:off x="6931410" y="3480139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9" name="Flowchart: Connector 48"/>
          <p:cNvSpPr/>
          <p:nvPr/>
        </p:nvSpPr>
        <p:spPr>
          <a:xfrm>
            <a:off x="6486567" y="3480140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50" name="Regular Pentagon 49"/>
          <p:cNvSpPr/>
          <p:nvPr/>
        </p:nvSpPr>
        <p:spPr>
          <a:xfrm>
            <a:off x="802373" y="3778802"/>
            <a:ext cx="596618" cy="588658"/>
          </a:xfrm>
          <a:prstGeom prst="pentag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51" name="Regular Pentagon 50"/>
          <p:cNvSpPr/>
          <p:nvPr/>
        </p:nvSpPr>
        <p:spPr>
          <a:xfrm>
            <a:off x="809876" y="3179122"/>
            <a:ext cx="596618" cy="588658"/>
          </a:xfrm>
          <a:prstGeom prst="pentag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44722" y="432486"/>
            <a:ext cx="64255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solidFill>
                  <a:srgbClr val="C00000"/>
                </a:solidFill>
              </a:rPr>
              <a:t>-3</a:t>
            </a:r>
            <a:endParaRPr lang="en-GB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11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64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1.48148E-6 L -3.88889E-6 -0.07732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7778E-6 1.85185E-6 L 2.77778E-6 0.07083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600000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7778E-6 -1.11022E-16 L 2.77778E-6 -0.07731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7778E-6 -1.11022E-16 L 2.77778E-6 -0.07731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 animBg="1"/>
      <p:bldP spid="37" grpId="0" animBg="1"/>
      <p:bldP spid="39" grpId="0" animBg="1"/>
      <p:bldP spid="40" grpId="0" animBg="1"/>
      <p:bldP spid="41" grpId="0" animBg="1"/>
      <p:bldP spid="42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 smtClean="0"/>
              <a:t>2x</a:t>
            </a:r>
            <a:r>
              <a:rPr lang="en-GB" sz="3200" dirty="0" smtClean="0">
                <a:solidFill>
                  <a:schemeClr val="bg1"/>
                </a:solidFill>
              </a:rPr>
              <a:t>+ 3</a:t>
            </a:r>
            <a:r>
              <a:rPr lang="en-GB" sz="3200" dirty="0" smtClean="0"/>
              <a:t> = </a:t>
            </a:r>
            <a:r>
              <a:rPr lang="en-GB" sz="3200" dirty="0" smtClean="0">
                <a:solidFill>
                  <a:schemeClr val="bg1"/>
                </a:solidFill>
              </a:rPr>
              <a:t>7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016903" y="0"/>
            <a:ext cx="393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 smtClean="0"/>
              <a:t>7</a:t>
            </a:r>
            <a:endParaRPr lang="en-GB" sz="3200" dirty="0"/>
          </a:p>
        </p:txBody>
      </p:sp>
      <p:sp>
        <p:nvSpPr>
          <p:cNvPr id="4" name="Isosceles Triangle 3"/>
          <p:cNvSpPr/>
          <p:nvPr/>
        </p:nvSpPr>
        <p:spPr>
          <a:xfrm>
            <a:off x="3494548" y="981953"/>
            <a:ext cx="1742536" cy="462375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2227922" y="5428810"/>
            <a:ext cx="4275786" cy="1769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0" name="Group 19"/>
          <p:cNvGrpSpPr/>
          <p:nvPr/>
        </p:nvGrpSpPr>
        <p:grpSpPr>
          <a:xfrm rot="600000">
            <a:off x="1397235" y="1324303"/>
            <a:ext cx="5937161" cy="630621"/>
            <a:chOff x="1397235" y="1324303"/>
            <a:chExt cx="5937161" cy="630621"/>
          </a:xfrm>
        </p:grpSpPr>
        <p:sp>
          <p:nvSpPr>
            <p:cNvPr id="5" name="Rectangle 4"/>
            <p:cNvSpPr/>
            <p:nvPr/>
          </p:nvSpPr>
          <p:spPr>
            <a:xfrm>
              <a:off x="1397235" y="1493949"/>
              <a:ext cx="5937161" cy="19318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Oval 5"/>
            <p:cNvSpPr/>
            <p:nvPr/>
          </p:nvSpPr>
          <p:spPr>
            <a:xfrm>
              <a:off x="4099034" y="1324303"/>
              <a:ext cx="536028" cy="630621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753412" y="1077243"/>
            <a:ext cx="1661375" cy="2904186"/>
            <a:chOff x="566547" y="1590541"/>
            <a:chExt cx="1661375" cy="2343955"/>
          </a:xfrm>
        </p:grpSpPr>
        <p:cxnSp>
          <p:nvCxnSpPr>
            <p:cNvPr id="27" name="Straight Connector 26"/>
            <p:cNvCxnSpPr/>
            <p:nvPr/>
          </p:nvCxnSpPr>
          <p:spPr>
            <a:xfrm flipH="1">
              <a:off x="785611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397235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566547" y="3837904"/>
              <a:ext cx="1661375" cy="965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316844" y="2063531"/>
            <a:ext cx="1661375" cy="2904186"/>
            <a:chOff x="566547" y="1590541"/>
            <a:chExt cx="1661375" cy="2343955"/>
          </a:xfrm>
        </p:grpSpPr>
        <p:cxnSp>
          <p:nvCxnSpPr>
            <p:cNvPr id="31" name="Straight Connector 30"/>
            <p:cNvCxnSpPr/>
            <p:nvPr/>
          </p:nvCxnSpPr>
          <p:spPr>
            <a:xfrm flipH="1">
              <a:off x="785611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397235" y="1590541"/>
              <a:ext cx="611624" cy="2247363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/>
            <p:cNvSpPr/>
            <p:nvPr/>
          </p:nvSpPr>
          <p:spPr>
            <a:xfrm>
              <a:off x="566547" y="3837904"/>
              <a:ext cx="1661375" cy="965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4" name="Flowchart: Connector 33"/>
          <p:cNvSpPr/>
          <p:nvPr/>
        </p:nvSpPr>
        <p:spPr>
          <a:xfrm>
            <a:off x="6283820" y="4397090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5" name="Flowchart: Connector 34"/>
          <p:cNvSpPr/>
          <p:nvPr/>
        </p:nvSpPr>
        <p:spPr>
          <a:xfrm>
            <a:off x="6720653" y="4384878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6" name="Flowchart: Connector 35"/>
          <p:cNvSpPr/>
          <p:nvPr/>
        </p:nvSpPr>
        <p:spPr>
          <a:xfrm>
            <a:off x="7161584" y="4384878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7" name="Flowchart: Connector 36"/>
          <p:cNvSpPr/>
          <p:nvPr/>
        </p:nvSpPr>
        <p:spPr>
          <a:xfrm>
            <a:off x="7594551" y="4397090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4" name="Flowchart: Connector 43"/>
          <p:cNvSpPr/>
          <p:nvPr/>
        </p:nvSpPr>
        <p:spPr>
          <a:xfrm>
            <a:off x="7375486" y="3965775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5" name="Flowchart: Connector 44"/>
          <p:cNvSpPr/>
          <p:nvPr/>
        </p:nvSpPr>
        <p:spPr>
          <a:xfrm>
            <a:off x="6947682" y="3961762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6" name="Flowchart: Connector 45"/>
          <p:cNvSpPr/>
          <p:nvPr/>
        </p:nvSpPr>
        <p:spPr>
          <a:xfrm>
            <a:off x="6505119" y="3961762"/>
            <a:ext cx="410363" cy="459870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1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7" name="Regular Pentagon 46"/>
          <p:cNvSpPr/>
          <p:nvPr/>
        </p:nvSpPr>
        <p:spPr>
          <a:xfrm>
            <a:off x="813205" y="3267885"/>
            <a:ext cx="596618" cy="588658"/>
          </a:xfrm>
          <a:prstGeom prst="pentag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48" name="Regular Pentagon 47"/>
          <p:cNvSpPr/>
          <p:nvPr/>
        </p:nvSpPr>
        <p:spPr>
          <a:xfrm>
            <a:off x="834591" y="2678893"/>
            <a:ext cx="596618" cy="588658"/>
          </a:xfrm>
          <a:prstGeom prst="pentag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4722" y="432486"/>
            <a:ext cx="64255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solidFill>
                  <a:srgbClr val="C00000"/>
                </a:solidFill>
              </a:rPr>
              <a:t>-3</a:t>
            </a:r>
            <a:endParaRPr lang="en-GB" sz="2800" dirty="0">
              <a:solidFill>
                <a:srgbClr val="C0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79013" y="418631"/>
            <a:ext cx="64255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solidFill>
                  <a:srgbClr val="C00000"/>
                </a:solidFill>
              </a:rPr>
              <a:t>-3</a:t>
            </a:r>
            <a:endParaRPr lang="en-GB" sz="2800" dirty="0">
              <a:solidFill>
                <a:srgbClr val="C0000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042741" y="0"/>
            <a:ext cx="393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 smtClean="0"/>
              <a:t>4</a:t>
            </a:r>
            <a:endParaRPr lang="en-GB" sz="3200" dirty="0"/>
          </a:p>
        </p:txBody>
      </p:sp>
      <p:sp>
        <p:nvSpPr>
          <p:cNvPr id="43" name="TextBox 42"/>
          <p:cNvSpPr txBox="1"/>
          <p:nvPr/>
        </p:nvSpPr>
        <p:spPr>
          <a:xfrm>
            <a:off x="4244722" y="432486"/>
            <a:ext cx="64255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solidFill>
                  <a:srgbClr val="C00000"/>
                </a:solidFill>
              </a:rPr>
              <a:t>÷2</a:t>
            </a:r>
            <a:endParaRPr lang="en-GB" sz="2800" dirty="0">
              <a:solidFill>
                <a:srgbClr val="C0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979013" y="418631"/>
            <a:ext cx="64255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solidFill>
                  <a:srgbClr val="C00000"/>
                </a:solidFill>
              </a:rPr>
              <a:t>÷2</a:t>
            </a:r>
            <a:endParaRPr lang="en-GB" sz="2800" dirty="0">
              <a:solidFill>
                <a:srgbClr val="C00000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015032" y="0"/>
            <a:ext cx="393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 smtClean="0"/>
              <a:t>2</a:t>
            </a:r>
            <a:endParaRPr lang="en-GB" sz="3200" dirty="0"/>
          </a:p>
        </p:txBody>
      </p:sp>
      <p:sp>
        <p:nvSpPr>
          <p:cNvPr id="51" name="Rectangle 50"/>
          <p:cNvSpPr/>
          <p:nvPr/>
        </p:nvSpPr>
        <p:spPr>
          <a:xfrm>
            <a:off x="3214255" y="0"/>
            <a:ext cx="803563" cy="6373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7372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600000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" presetID="42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 L -3.88889E-6 0.07083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7778E-6 -1.11022E-16 L 2.77778E-6 -0.07731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38889E-6 3.7037E-6 L 1.38889E-6 -0.07732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8.33333E-7 1.85185E-6 L -8.33333E-7 -0.07732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1.48148E-6 L -3.88889E-6 -0.07732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1.48148E-6 L -3.88889E-6 -0.07732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866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7778E-6 1.85185E-6 L 2.77778E-6 0.07083 " pathEditMode="relative" rAng="0" ptsTypes="AA">
                                      <p:cBhvr>
                                        <p:cTn id="4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2.59259E-6 L -3.88889E-6 0.07083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34" grpId="0" animBg="1"/>
      <p:bldP spid="34" grpId="1" animBg="1"/>
      <p:bldP spid="35" grpId="0" animBg="1"/>
      <p:bldP spid="36" grpId="0" animBg="1"/>
      <p:bldP spid="37" grpId="0" animBg="1"/>
      <p:bldP spid="37" grpId="1" animBg="1"/>
      <p:bldP spid="44" grpId="0" animBg="1"/>
      <p:bldP spid="45" grpId="0" animBg="1"/>
      <p:bldP spid="46" grpId="0" animBg="1"/>
      <p:bldP spid="47" grpId="0" animBg="1"/>
      <p:bldP spid="48" grpId="0" animBg="1"/>
      <p:bldP spid="48" grpId="1" animBg="1"/>
      <p:bldP spid="25" grpId="0" animBg="1"/>
      <p:bldP spid="39" grpId="0" animBg="1"/>
      <p:bldP spid="39" grpId="1" animBg="1"/>
      <p:bldP spid="42" grpId="0"/>
      <p:bldP spid="42" grpId="1"/>
      <p:bldP spid="43" grpId="0" animBg="1"/>
      <p:bldP spid="49" grpId="0" animBg="1"/>
      <p:bldP spid="50" grpId="0"/>
      <p:bldP spid="5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j03441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700213"/>
            <a:ext cx="5688012" cy="4110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18" name="Group 46"/>
          <p:cNvGrpSpPr>
            <a:grpSpLocks/>
          </p:cNvGrpSpPr>
          <p:nvPr/>
        </p:nvGrpSpPr>
        <p:grpSpPr bwMode="auto">
          <a:xfrm>
            <a:off x="4787900" y="3933825"/>
            <a:ext cx="720725" cy="792163"/>
            <a:chOff x="204" y="3212"/>
            <a:chExt cx="726" cy="807"/>
          </a:xfrm>
        </p:grpSpPr>
        <p:sp>
          <p:nvSpPr>
            <p:cNvPr id="3119" name="AutoShape 47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120" name="Oval 48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124" name="Group 52"/>
          <p:cNvGrpSpPr>
            <a:grpSpLocks/>
          </p:cNvGrpSpPr>
          <p:nvPr/>
        </p:nvGrpSpPr>
        <p:grpSpPr bwMode="auto">
          <a:xfrm>
            <a:off x="5219700" y="3933825"/>
            <a:ext cx="720725" cy="792163"/>
            <a:chOff x="204" y="3212"/>
            <a:chExt cx="726" cy="807"/>
          </a:xfrm>
        </p:grpSpPr>
        <p:sp>
          <p:nvSpPr>
            <p:cNvPr id="3125" name="AutoShape 53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126" name="Oval 54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106" name="Group 34"/>
          <p:cNvGrpSpPr>
            <a:grpSpLocks/>
          </p:cNvGrpSpPr>
          <p:nvPr/>
        </p:nvGrpSpPr>
        <p:grpSpPr bwMode="auto">
          <a:xfrm>
            <a:off x="900113" y="3213100"/>
            <a:ext cx="865187" cy="1079500"/>
            <a:chOff x="204" y="3212"/>
            <a:chExt cx="726" cy="807"/>
          </a:xfrm>
        </p:grpSpPr>
        <p:sp>
          <p:nvSpPr>
            <p:cNvPr id="3107" name="AutoShape 35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3108" name="Oval 36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075" name="Group 3"/>
          <p:cNvGrpSpPr>
            <a:grpSpLocks/>
          </p:cNvGrpSpPr>
          <p:nvPr/>
        </p:nvGrpSpPr>
        <p:grpSpPr bwMode="auto">
          <a:xfrm>
            <a:off x="468313" y="3573463"/>
            <a:ext cx="865187" cy="1079500"/>
            <a:chOff x="204" y="3212"/>
            <a:chExt cx="726" cy="807"/>
          </a:xfrm>
        </p:grpSpPr>
        <p:sp>
          <p:nvSpPr>
            <p:cNvPr id="3076" name="AutoShape 4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3077" name="Oval 5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078" name="Group 6"/>
          <p:cNvGrpSpPr>
            <a:grpSpLocks/>
          </p:cNvGrpSpPr>
          <p:nvPr/>
        </p:nvGrpSpPr>
        <p:grpSpPr bwMode="auto">
          <a:xfrm>
            <a:off x="5076825" y="3284538"/>
            <a:ext cx="720725" cy="792162"/>
            <a:chOff x="204" y="3212"/>
            <a:chExt cx="726" cy="807"/>
          </a:xfrm>
        </p:grpSpPr>
        <p:sp>
          <p:nvSpPr>
            <p:cNvPr id="3079" name="AutoShape 7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080" name="Oval 8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081" name="Group 9"/>
          <p:cNvGrpSpPr>
            <a:grpSpLocks/>
          </p:cNvGrpSpPr>
          <p:nvPr/>
        </p:nvGrpSpPr>
        <p:grpSpPr bwMode="auto">
          <a:xfrm>
            <a:off x="4284663" y="3860800"/>
            <a:ext cx="720725" cy="792163"/>
            <a:chOff x="204" y="3212"/>
            <a:chExt cx="726" cy="807"/>
          </a:xfrm>
        </p:grpSpPr>
        <p:sp>
          <p:nvSpPr>
            <p:cNvPr id="3082" name="AutoShape 10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083" name="Oval 11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085" name="Group 13"/>
          <p:cNvGrpSpPr>
            <a:grpSpLocks/>
          </p:cNvGrpSpPr>
          <p:nvPr/>
        </p:nvGrpSpPr>
        <p:grpSpPr bwMode="auto">
          <a:xfrm>
            <a:off x="5003800" y="3933825"/>
            <a:ext cx="720725" cy="792163"/>
            <a:chOff x="204" y="3212"/>
            <a:chExt cx="726" cy="807"/>
          </a:xfrm>
        </p:grpSpPr>
        <p:sp>
          <p:nvSpPr>
            <p:cNvPr id="3086" name="AutoShape 14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087" name="Oval 15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3088" name="WordArt 16"/>
          <p:cNvSpPr>
            <a:spLocks noChangeArrowheads="1" noChangeShapeType="1" noTextEdit="1"/>
          </p:cNvSpPr>
          <p:nvPr/>
        </p:nvSpPr>
        <p:spPr bwMode="auto">
          <a:xfrm>
            <a:off x="323850" y="1196975"/>
            <a:ext cx="431800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3</a:t>
            </a:r>
          </a:p>
        </p:txBody>
      </p:sp>
      <p:sp>
        <p:nvSpPr>
          <p:cNvPr id="3089" name="WordArt 17"/>
          <p:cNvSpPr>
            <a:spLocks noChangeArrowheads="1" noChangeShapeType="1" noTextEdit="1"/>
          </p:cNvSpPr>
          <p:nvPr/>
        </p:nvSpPr>
        <p:spPr bwMode="auto">
          <a:xfrm>
            <a:off x="827088" y="1196975"/>
            <a:ext cx="431800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3090" name="WordArt 18"/>
          <p:cNvSpPr>
            <a:spLocks noChangeArrowheads="1" noChangeShapeType="1" noTextEdit="1"/>
          </p:cNvSpPr>
          <p:nvPr/>
        </p:nvSpPr>
        <p:spPr bwMode="auto">
          <a:xfrm>
            <a:off x="2987675" y="1196975"/>
            <a:ext cx="431800" cy="431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3091" name="WordArt 19"/>
          <p:cNvSpPr>
            <a:spLocks noChangeArrowheads="1" noChangeShapeType="1" noTextEdit="1"/>
          </p:cNvSpPr>
          <p:nvPr/>
        </p:nvSpPr>
        <p:spPr bwMode="auto">
          <a:xfrm>
            <a:off x="4787900" y="1196975"/>
            <a:ext cx="504825" cy="50323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8</a:t>
            </a:r>
          </a:p>
        </p:txBody>
      </p:sp>
      <p:sp>
        <p:nvSpPr>
          <p:cNvPr id="3092" name="WordArt 20"/>
          <p:cNvSpPr>
            <a:spLocks noChangeArrowheads="1" noChangeShapeType="1" noTextEdit="1"/>
          </p:cNvSpPr>
          <p:nvPr/>
        </p:nvSpPr>
        <p:spPr bwMode="auto">
          <a:xfrm>
            <a:off x="1331913" y="1196975"/>
            <a:ext cx="504825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+</a:t>
            </a:r>
          </a:p>
        </p:txBody>
      </p:sp>
      <p:sp>
        <p:nvSpPr>
          <p:cNvPr id="3093" name="WordArt 21"/>
          <p:cNvSpPr>
            <a:spLocks noChangeArrowheads="1" noChangeShapeType="1" noTextEdit="1"/>
          </p:cNvSpPr>
          <p:nvPr/>
        </p:nvSpPr>
        <p:spPr bwMode="auto">
          <a:xfrm>
            <a:off x="1979613" y="1196975"/>
            <a:ext cx="358775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2</a:t>
            </a:r>
          </a:p>
        </p:txBody>
      </p:sp>
      <p:grpSp>
        <p:nvGrpSpPr>
          <p:cNvPr id="3094" name="Group 22"/>
          <p:cNvGrpSpPr>
            <a:grpSpLocks/>
          </p:cNvGrpSpPr>
          <p:nvPr/>
        </p:nvGrpSpPr>
        <p:grpSpPr bwMode="auto">
          <a:xfrm>
            <a:off x="1331913" y="3573463"/>
            <a:ext cx="865187" cy="1079500"/>
            <a:chOff x="204" y="3212"/>
            <a:chExt cx="726" cy="807"/>
          </a:xfrm>
        </p:grpSpPr>
        <p:sp>
          <p:nvSpPr>
            <p:cNvPr id="3095" name="AutoShape 23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3096" name="Oval 24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097" name="Group 25"/>
          <p:cNvGrpSpPr>
            <a:grpSpLocks/>
          </p:cNvGrpSpPr>
          <p:nvPr/>
        </p:nvGrpSpPr>
        <p:grpSpPr bwMode="auto">
          <a:xfrm>
            <a:off x="684213" y="3860800"/>
            <a:ext cx="720725" cy="792163"/>
            <a:chOff x="204" y="3212"/>
            <a:chExt cx="726" cy="807"/>
          </a:xfrm>
        </p:grpSpPr>
        <p:sp>
          <p:nvSpPr>
            <p:cNvPr id="3098" name="AutoShape 26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099" name="Oval 27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pic>
        <p:nvPicPr>
          <p:cNvPr id="3100" name="Picture 2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836613"/>
            <a:ext cx="2736850" cy="561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01" name="Text Box 29"/>
          <p:cNvSpPr txBox="1">
            <a:spLocks noChangeArrowheads="1"/>
          </p:cNvSpPr>
          <p:nvPr/>
        </p:nvSpPr>
        <p:spPr bwMode="auto">
          <a:xfrm>
            <a:off x="6659563" y="1058863"/>
            <a:ext cx="25923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3x + 2 = 8</a:t>
            </a:r>
          </a:p>
        </p:txBody>
      </p:sp>
      <p:sp>
        <p:nvSpPr>
          <p:cNvPr id="3102" name="Text Box 30"/>
          <p:cNvSpPr txBox="1">
            <a:spLocks noChangeArrowheads="1"/>
          </p:cNvSpPr>
          <p:nvPr/>
        </p:nvSpPr>
        <p:spPr bwMode="auto">
          <a:xfrm>
            <a:off x="6588125" y="2211388"/>
            <a:ext cx="25923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3x        = 6</a:t>
            </a:r>
          </a:p>
        </p:txBody>
      </p:sp>
      <p:sp>
        <p:nvSpPr>
          <p:cNvPr id="3103" name="Text Box 31"/>
          <p:cNvSpPr txBox="1">
            <a:spLocks noChangeArrowheads="1"/>
          </p:cNvSpPr>
          <p:nvPr/>
        </p:nvSpPr>
        <p:spPr bwMode="auto">
          <a:xfrm>
            <a:off x="7313523" y="1707924"/>
            <a:ext cx="511129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0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-2</a:t>
            </a:r>
            <a:endParaRPr lang="en-GB" altLang="en-US" sz="20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3104" name="Text Box 32"/>
          <p:cNvSpPr txBox="1">
            <a:spLocks noChangeArrowheads="1"/>
          </p:cNvSpPr>
          <p:nvPr/>
        </p:nvSpPr>
        <p:spPr bwMode="auto">
          <a:xfrm>
            <a:off x="6551614" y="2908436"/>
            <a:ext cx="6852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0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÷3</a:t>
            </a:r>
            <a:endParaRPr lang="en-GB" altLang="en-US" sz="20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3105" name="Text Box 33"/>
          <p:cNvSpPr txBox="1">
            <a:spLocks noChangeArrowheads="1"/>
          </p:cNvSpPr>
          <p:nvPr/>
        </p:nvSpPr>
        <p:spPr bwMode="auto">
          <a:xfrm>
            <a:off x="6516688" y="3651250"/>
            <a:ext cx="25923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  x        = 2</a:t>
            </a:r>
          </a:p>
        </p:txBody>
      </p:sp>
      <p:grpSp>
        <p:nvGrpSpPr>
          <p:cNvPr id="3109" name="Group 37"/>
          <p:cNvGrpSpPr>
            <a:grpSpLocks/>
          </p:cNvGrpSpPr>
          <p:nvPr/>
        </p:nvGrpSpPr>
        <p:grpSpPr bwMode="auto">
          <a:xfrm>
            <a:off x="1331913" y="3860800"/>
            <a:ext cx="720725" cy="792163"/>
            <a:chOff x="204" y="3212"/>
            <a:chExt cx="726" cy="807"/>
          </a:xfrm>
        </p:grpSpPr>
        <p:sp>
          <p:nvSpPr>
            <p:cNvPr id="3110" name="AutoShape 38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111" name="Oval 39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112" name="Group 40"/>
          <p:cNvGrpSpPr>
            <a:grpSpLocks/>
          </p:cNvGrpSpPr>
          <p:nvPr/>
        </p:nvGrpSpPr>
        <p:grpSpPr bwMode="auto">
          <a:xfrm>
            <a:off x="4932363" y="3933825"/>
            <a:ext cx="720725" cy="792163"/>
            <a:chOff x="204" y="3212"/>
            <a:chExt cx="726" cy="807"/>
          </a:xfrm>
        </p:grpSpPr>
        <p:sp>
          <p:nvSpPr>
            <p:cNvPr id="3113" name="AutoShape 41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114" name="Oval 42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115" name="Group 43"/>
          <p:cNvGrpSpPr>
            <a:grpSpLocks/>
          </p:cNvGrpSpPr>
          <p:nvPr/>
        </p:nvGrpSpPr>
        <p:grpSpPr bwMode="auto">
          <a:xfrm>
            <a:off x="4500563" y="3284538"/>
            <a:ext cx="720725" cy="792162"/>
            <a:chOff x="204" y="3212"/>
            <a:chExt cx="726" cy="807"/>
          </a:xfrm>
        </p:grpSpPr>
        <p:sp>
          <p:nvSpPr>
            <p:cNvPr id="3116" name="AutoShape 44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117" name="Oval 45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121" name="Group 49"/>
          <p:cNvGrpSpPr>
            <a:grpSpLocks/>
          </p:cNvGrpSpPr>
          <p:nvPr/>
        </p:nvGrpSpPr>
        <p:grpSpPr bwMode="auto">
          <a:xfrm>
            <a:off x="4500563" y="3933825"/>
            <a:ext cx="720725" cy="792163"/>
            <a:chOff x="204" y="3212"/>
            <a:chExt cx="726" cy="807"/>
          </a:xfrm>
        </p:grpSpPr>
        <p:sp>
          <p:nvSpPr>
            <p:cNvPr id="3122" name="AutoShape 50"/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r>
                <a:rPr lang="en-GB" altLang="en-US"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123" name="Oval 51"/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3127" name="Text Box 55"/>
          <p:cNvSpPr txBox="1">
            <a:spLocks noChangeArrowheads="1"/>
          </p:cNvSpPr>
          <p:nvPr/>
        </p:nvSpPr>
        <p:spPr bwMode="auto">
          <a:xfrm>
            <a:off x="106363" y="109538"/>
            <a:ext cx="6337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>
                <a:latin typeface="Comic Sans MS" panose="030F0702030302020204" pitchFamily="66" charset="0"/>
              </a:rPr>
              <a:t>Equations – Keep it balanced…</a:t>
            </a:r>
          </a:p>
        </p:txBody>
      </p:sp>
      <p:sp>
        <p:nvSpPr>
          <p:cNvPr id="71" name="Text Box 31"/>
          <p:cNvSpPr txBox="1">
            <a:spLocks noChangeArrowheads="1"/>
          </p:cNvSpPr>
          <p:nvPr/>
        </p:nvSpPr>
        <p:spPr bwMode="auto">
          <a:xfrm>
            <a:off x="8632871" y="1716632"/>
            <a:ext cx="511129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0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-2</a:t>
            </a:r>
            <a:endParaRPr lang="en-GB" altLang="en-US" sz="20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72" name="Text Box 32"/>
          <p:cNvSpPr txBox="1">
            <a:spLocks noChangeArrowheads="1"/>
          </p:cNvSpPr>
          <p:nvPr/>
        </p:nvSpPr>
        <p:spPr bwMode="auto">
          <a:xfrm>
            <a:off x="8271557" y="2930208"/>
            <a:ext cx="6852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0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÷3</a:t>
            </a:r>
            <a:endParaRPr lang="en-GB" altLang="en-US" sz="20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65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1" grpId="0"/>
      <p:bldP spid="3102" grpId="0"/>
      <p:bldP spid="3103" grpId="0"/>
      <p:bldP spid="3104" grpId="0"/>
      <p:bldP spid="3105" grpId="0"/>
      <p:bldP spid="71" grpId="0"/>
      <p:bldP spid="7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250825" y="1341438"/>
            <a:ext cx="7705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>
                <a:solidFill>
                  <a:srgbClr val="FF0000"/>
                </a:solidFill>
                <a:latin typeface="Comic Sans MS" panose="030F0702030302020204" pitchFamily="66" charset="0"/>
              </a:rPr>
              <a:t>What if…</a:t>
            </a:r>
            <a:endParaRPr lang="en-GB" altLang="en-US">
              <a:latin typeface="Comic Sans MS" panose="030F0702030302020204" pitchFamily="66" charset="0"/>
            </a:endParaRPr>
          </a:p>
        </p:txBody>
      </p:sp>
      <p:sp>
        <p:nvSpPr>
          <p:cNvPr id="6149" name="WordArt 5"/>
          <p:cNvSpPr>
            <a:spLocks noChangeArrowheads="1" noChangeShapeType="1" noTextEdit="1"/>
          </p:cNvSpPr>
          <p:nvPr/>
        </p:nvSpPr>
        <p:spPr bwMode="auto">
          <a:xfrm>
            <a:off x="1908175" y="2024063"/>
            <a:ext cx="431800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4</a:t>
            </a:r>
          </a:p>
        </p:txBody>
      </p:sp>
      <p:sp>
        <p:nvSpPr>
          <p:cNvPr id="6150" name="WordArt 6"/>
          <p:cNvSpPr>
            <a:spLocks noChangeArrowheads="1" noChangeShapeType="1" noTextEdit="1"/>
          </p:cNvSpPr>
          <p:nvPr/>
        </p:nvSpPr>
        <p:spPr bwMode="auto">
          <a:xfrm>
            <a:off x="2411413" y="2024063"/>
            <a:ext cx="431800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6151" name="WordArt 7"/>
          <p:cNvSpPr>
            <a:spLocks noChangeArrowheads="1" noChangeShapeType="1" noTextEdit="1"/>
          </p:cNvSpPr>
          <p:nvPr/>
        </p:nvSpPr>
        <p:spPr bwMode="auto">
          <a:xfrm>
            <a:off x="4787900" y="2024063"/>
            <a:ext cx="431800" cy="431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6152" name="WordArt 8"/>
          <p:cNvSpPr>
            <a:spLocks noChangeArrowheads="1" noChangeShapeType="1" noTextEdit="1"/>
          </p:cNvSpPr>
          <p:nvPr/>
        </p:nvSpPr>
        <p:spPr bwMode="auto">
          <a:xfrm>
            <a:off x="5722938" y="1989138"/>
            <a:ext cx="720725" cy="50323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18</a:t>
            </a:r>
          </a:p>
        </p:txBody>
      </p:sp>
      <p:sp>
        <p:nvSpPr>
          <p:cNvPr id="6153" name="WordArt 9"/>
          <p:cNvSpPr>
            <a:spLocks noChangeArrowheads="1" noChangeShapeType="1" noTextEdit="1"/>
          </p:cNvSpPr>
          <p:nvPr/>
        </p:nvSpPr>
        <p:spPr bwMode="auto">
          <a:xfrm>
            <a:off x="3043238" y="2174875"/>
            <a:ext cx="360362" cy="142875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-</a:t>
            </a:r>
          </a:p>
        </p:txBody>
      </p:sp>
      <p:sp>
        <p:nvSpPr>
          <p:cNvPr id="6154" name="WordArt 10"/>
          <p:cNvSpPr>
            <a:spLocks noChangeArrowheads="1" noChangeShapeType="1" noTextEdit="1"/>
          </p:cNvSpPr>
          <p:nvPr/>
        </p:nvSpPr>
        <p:spPr bwMode="auto">
          <a:xfrm>
            <a:off x="3563938" y="2024063"/>
            <a:ext cx="790575" cy="4333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10</a:t>
            </a:r>
          </a:p>
        </p:txBody>
      </p:sp>
      <p:sp>
        <p:nvSpPr>
          <p:cNvPr id="6179" name="WordArt 35"/>
          <p:cNvSpPr>
            <a:spLocks noChangeArrowheads="1" noChangeShapeType="1" noTextEdit="1"/>
          </p:cNvSpPr>
          <p:nvPr/>
        </p:nvSpPr>
        <p:spPr bwMode="auto">
          <a:xfrm>
            <a:off x="6804025" y="2060575"/>
            <a:ext cx="431800" cy="4333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?</a:t>
            </a:r>
          </a:p>
        </p:txBody>
      </p:sp>
      <p:pic>
        <p:nvPicPr>
          <p:cNvPr id="6180" name="Picture 3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483"/>
          <a:stretch>
            <a:fillRect/>
          </a:stretch>
        </p:blipFill>
        <p:spPr bwMode="auto">
          <a:xfrm>
            <a:off x="2771775" y="2701925"/>
            <a:ext cx="3743325" cy="367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81" name="Text Box 37"/>
          <p:cNvSpPr txBox="1">
            <a:spLocks noChangeArrowheads="1"/>
          </p:cNvSpPr>
          <p:nvPr/>
        </p:nvSpPr>
        <p:spPr bwMode="auto">
          <a:xfrm>
            <a:off x="3419475" y="2924175"/>
            <a:ext cx="295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4x - 10 = 18</a:t>
            </a:r>
          </a:p>
        </p:txBody>
      </p:sp>
      <p:sp>
        <p:nvSpPr>
          <p:cNvPr id="6182" name="Text Box 38"/>
          <p:cNvSpPr txBox="1">
            <a:spLocks noChangeArrowheads="1"/>
          </p:cNvSpPr>
          <p:nvPr/>
        </p:nvSpPr>
        <p:spPr bwMode="auto">
          <a:xfrm>
            <a:off x="3419475" y="4076700"/>
            <a:ext cx="3168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4x        = 28</a:t>
            </a:r>
          </a:p>
        </p:txBody>
      </p:sp>
      <p:sp>
        <p:nvSpPr>
          <p:cNvPr id="6183" name="Text Box 39"/>
          <p:cNvSpPr txBox="1">
            <a:spLocks noChangeArrowheads="1"/>
          </p:cNvSpPr>
          <p:nvPr/>
        </p:nvSpPr>
        <p:spPr bwMode="auto">
          <a:xfrm>
            <a:off x="3812177" y="3563212"/>
            <a:ext cx="825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+10</a:t>
            </a:r>
            <a:endParaRPr lang="en-GB" altLang="en-US" sz="24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6184" name="Text Box 40"/>
          <p:cNvSpPr txBox="1">
            <a:spLocks noChangeArrowheads="1"/>
          </p:cNvSpPr>
          <p:nvPr/>
        </p:nvSpPr>
        <p:spPr bwMode="auto">
          <a:xfrm>
            <a:off x="3348039" y="4797425"/>
            <a:ext cx="70144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÷4</a:t>
            </a:r>
            <a:endParaRPr lang="en-GB" altLang="en-US" sz="24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6185" name="Text Box 41"/>
          <p:cNvSpPr txBox="1">
            <a:spLocks noChangeArrowheads="1"/>
          </p:cNvSpPr>
          <p:nvPr/>
        </p:nvSpPr>
        <p:spPr bwMode="auto">
          <a:xfrm>
            <a:off x="3419475" y="5516563"/>
            <a:ext cx="25923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3600" b="1">
                <a:latin typeface="Bradley Hand ITC" panose="03070402050302030203" pitchFamily="66" charset="0"/>
              </a:rPr>
              <a:t>  x        = 7</a:t>
            </a:r>
          </a:p>
        </p:txBody>
      </p:sp>
      <p:sp>
        <p:nvSpPr>
          <p:cNvPr id="6186" name="WordArt 42"/>
          <p:cNvSpPr>
            <a:spLocks noChangeArrowheads="1" noChangeShapeType="1" noTextEdit="1"/>
          </p:cNvSpPr>
          <p:nvPr/>
        </p:nvSpPr>
        <p:spPr bwMode="auto">
          <a:xfrm>
            <a:off x="1547813" y="333375"/>
            <a:ext cx="5876925" cy="504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25400" algn="ctr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effectLst>
                  <a:outerShdw dist="107763" dir="2700000" algn="ctr" rotWithShape="0">
                    <a:srgbClr val="868686">
                      <a:alpha val="50000"/>
                    </a:srgbClr>
                  </a:outerShdw>
                </a:effectLst>
                <a:latin typeface="Comic Sans MS" panose="030F0702030302020204" pitchFamily="66" charset="0"/>
              </a:rPr>
              <a:t>Solving Equations</a:t>
            </a:r>
          </a:p>
        </p:txBody>
      </p:sp>
      <p:sp>
        <p:nvSpPr>
          <p:cNvPr id="38" name="Text Box 39"/>
          <p:cNvSpPr txBox="1">
            <a:spLocks noChangeArrowheads="1"/>
          </p:cNvSpPr>
          <p:nvPr/>
        </p:nvSpPr>
        <p:spPr bwMode="auto">
          <a:xfrm>
            <a:off x="5349240" y="3558858"/>
            <a:ext cx="825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+10</a:t>
            </a:r>
            <a:endParaRPr lang="en-GB" altLang="en-US" sz="24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39" name="Text Box 40"/>
          <p:cNvSpPr txBox="1">
            <a:spLocks noChangeArrowheads="1"/>
          </p:cNvSpPr>
          <p:nvPr/>
        </p:nvSpPr>
        <p:spPr bwMode="auto">
          <a:xfrm>
            <a:off x="5342302" y="4780007"/>
            <a:ext cx="70144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÷4</a:t>
            </a:r>
            <a:endParaRPr lang="en-GB" altLang="en-US" sz="2400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453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6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6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81" grpId="0"/>
      <p:bldP spid="6182" grpId="0"/>
      <p:bldP spid="6183" grpId="0"/>
      <p:bldP spid="6184" grpId="0"/>
      <p:bldP spid="6185" grpId="0"/>
      <p:bldP spid="38" grpId="0"/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1886" y="948963"/>
            <a:ext cx="8286750" cy="401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863</TotalTime>
  <Words>228</Words>
  <Application>Microsoft Office PowerPoint</Application>
  <PresentationFormat>On-screen Show (4:3)</PresentationFormat>
  <Paragraphs>134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Topic: Solving Equations  EQ: How do I solve equations?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</dc:creator>
  <cp:lastModifiedBy>FRASER-JONES Laura</cp:lastModifiedBy>
  <cp:revision>42</cp:revision>
  <dcterms:created xsi:type="dcterms:W3CDTF">2015-12-01T21:48:47Z</dcterms:created>
  <dcterms:modified xsi:type="dcterms:W3CDTF">2016-08-15T04:59:04Z</dcterms:modified>
</cp:coreProperties>
</file>
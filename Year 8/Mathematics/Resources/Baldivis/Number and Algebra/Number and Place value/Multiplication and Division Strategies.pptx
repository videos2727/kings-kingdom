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60" r:id="rId2"/>
    <p:sldId id="304" r:id="rId3"/>
    <p:sldId id="259" r:id="rId4"/>
    <p:sldId id="258" r:id="rId5"/>
    <p:sldId id="303" r:id="rId6"/>
    <p:sldId id="356" r:id="rId7"/>
    <p:sldId id="357" r:id="rId8"/>
    <p:sldId id="358" r:id="rId9"/>
    <p:sldId id="354" r:id="rId10"/>
    <p:sldId id="359" r:id="rId11"/>
    <p:sldId id="360" r:id="rId12"/>
    <p:sldId id="345" r:id="rId13"/>
    <p:sldId id="349" r:id="rId14"/>
    <p:sldId id="350" r:id="rId15"/>
    <p:sldId id="351" r:id="rId16"/>
    <p:sldId id="292" r:id="rId17"/>
    <p:sldId id="291"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62" autoAdjust="0"/>
    <p:restoredTop sz="92895" autoAdjust="0"/>
  </p:normalViewPr>
  <p:slideViewPr>
    <p:cSldViewPr>
      <p:cViewPr varScale="1">
        <p:scale>
          <a:sx n="61" d="100"/>
          <a:sy n="61" d="100"/>
        </p:scale>
        <p:origin x="1430" y="43"/>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75AD73A-AE13-444E-A6A8-7967ABAB8119}" type="datetimeFigureOut">
              <a:rPr lang="en-AU" smtClean="0"/>
              <a:pPr/>
              <a:t>17/02/2015</a:t>
            </a:fld>
            <a:endParaRPr lang="en-AU"/>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516DE00-3598-450D-9FD4-B3F4D33F029B}" type="slidenum">
              <a:rPr lang="en-AU" smtClean="0"/>
              <a:pPr/>
              <a:t>‹#›</a:t>
            </a:fld>
            <a:endParaRPr lang="en-AU"/>
          </a:p>
        </p:txBody>
      </p:sp>
    </p:spTree>
    <p:extLst>
      <p:ext uri="{BB962C8B-B14F-4D97-AF65-F5344CB8AC3E}">
        <p14:creationId xmlns:p14="http://schemas.microsoft.com/office/powerpoint/2010/main" val="5759409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AU"/>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303B91B3-E50F-4EFF-8D5F-21DA810ECD9F}" type="datetimeFigureOut">
              <a:rPr lang="en-AU" smtClean="0"/>
              <a:pPr/>
              <a:t>17/02/2015</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pPr/>
              <a:t>‹#›</a:t>
            </a:fld>
            <a:endParaRPr lang="en-AU" dirty="0"/>
          </a:p>
        </p:txBody>
      </p:sp>
    </p:spTree>
    <p:extLst>
      <p:ext uri="{BB962C8B-B14F-4D97-AF65-F5344CB8AC3E}">
        <p14:creationId xmlns:p14="http://schemas.microsoft.com/office/powerpoint/2010/main" val="34326484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303B91B3-E50F-4EFF-8D5F-21DA810ECD9F}" type="datetimeFigureOut">
              <a:rPr lang="en-AU" smtClean="0"/>
              <a:pPr/>
              <a:t>17/02/2015</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pPr/>
              <a:t>‹#›</a:t>
            </a:fld>
            <a:endParaRPr lang="en-AU" dirty="0"/>
          </a:p>
        </p:txBody>
      </p:sp>
    </p:spTree>
    <p:extLst>
      <p:ext uri="{BB962C8B-B14F-4D97-AF65-F5344CB8AC3E}">
        <p14:creationId xmlns:p14="http://schemas.microsoft.com/office/powerpoint/2010/main" val="38355484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03B91B3-E50F-4EFF-8D5F-21DA810ECD9F}" type="datetimeFigureOut">
              <a:rPr lang="en-AU" smtClean="0"/>
              <a:pPr/>
              <a:t>17/02/2015</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pPr/>
              <a:t>‹#›</a:t>
            </a:fld>
            <a:endParaRPr lang="en-AU" dirty="0"/>
          </a:p>
        </p:txBody>
      </p:sp>
    </p:spTree>
    <p:extLst>
      <p:ext uri="{BB962C8B-B14F-4D97-AF65-F5344CB8AC3E}">
        <p14:creationId xmlns:p14="http://schemas.microsoft.com/office/powerpoint/2010/main" val="41804912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303B91B3-E50F-4EFF-8D5F-21DA810ECD9F}" type="datetimeFigureOut">
              <a:rPr lang="en-AU" smtClean="0"/>
              <a:pPr/>
              <a:t>17/02/2015</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FD937BE4-3242-4672-8D3A-460DCD9877AE}" type="slidenum">
              <a:rPr lang="en-AU" smtClean="0"/>
              <a:pPr/>
              <a:t>‹#›</a:t>
            </a:fld>
            <a:endParaRPr lang="en-AU" dirty="0"/>
          </a:p>
        </p:txBody>
      </p:sp>
    </p:spTree>
    <p:extLst>
      <p:ext uri="{BB962C8B-B14F-4D97-AF65-F5344CB8AC3E}">
        <p14:creationId xmlns:p14="http://schemas.microsoft.com/office/powerpoint/2010/main" val="17425957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303B91B3-E50F-4EFF-8D5F-21DA810ECD9F}" type="datetimeFigureOut">
              <a:rPr lang="en-AU" smtClean="0"/>
              <a:pPr/>
              <a:t>17/02/2015</a:t>
            </a:fld>
            <a:endParaRPr lang="en-AU" dirty="0"/>
          </a:p>
        </p:txBody>
      </p:sp>
      <p:sp>
        <p:nvSpPr>
          <p:cNvPr id="8" name="Footer Placeholder 7"/>
          <p:cNvSpPr>
            <a:spLocks noGrp="1"/>
          </p:cNvSpPr>
          <p:nvPr>
            <p:ph type="ftr" sz="quarter" idx="11"/>
          </p:nvPr>
        </p:nvSpPr>
        <p:spPr/>
        <p:txBody>
          <a:bodyPr/>
          <a:lstStyle/>
          <a:p>
            <a:endParaRPr lang="en-AU" dirty="0"/>
          </a:p>
        </p:txBody>
      </p:sp>
      <p:sp>
        <p:nvSpPr>
          <p:cNvPr id="9" name="Slide Number Placeholder 8"/>
          <p:cNvSpPr>
            <a:spLocks noGrp="1"/>
          </p:cNvSpPr>
          <p:nvPr>
            <p:ph type="sldNum" sz="quarter" idx="12"/>
          </p:nvPr>
        </p:nvSpPr>
        <p:spPr/>
        <p:txBody>
          <a:bodyPr/>
          <a:lstStyle/>
          <a:p>
            <a:fld id="{FD937BE4-3242-4672-8D3A-460DCD9877AE}" type="slidenum">
              <a:rPr lang="en-AU" smtClean="0"/>
              <a:pPr/>
              <a:t>‹#›</a:t>
            </a:fld>
            <a:endParaRPr lang="en-AU" dirty="0"/>
          </a:p>
        </p:txBody>
      </p:sp>
    </p:spTree>
    <p:extLst>
      <p:ext uri="{BB962C8B-B14F-4D97-AF65-F5344CB8AC3E}">
        <p14:creationId xmlns:p14="http://schemas.microsoft.com/office/powerpoint/2010/main" val="20071826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303B91B3-E50F-4EFF-8D5F-21DA810ECD9F}" type="datetimeFigureOut">
              <a:rPr lang="en-AU" smtClean="0"/>
              <a:pPr/>
              <a:t>17/02/2015</a:t>
            </a:fld>
            <a:endParaRPr lang="en-AU" dirty="0"/>
          </a:p>
        </p:txBody>
      </p:sp>
      <p:sp>
        <p:nvSpPr>
          <p:cNvPr id="4" name="Footer Placeholder 3"/>
          <p:cNvSpPr>
            <a:spLocks noGrp="1"/>
          </p:cNvSpPr>
          <p:nvPr>
            <p:ph type="ftr" sz="quarter" idx="11"/>
          </p:nvPr>
        </p:nvSpPr>
        <p:spPr/>
        <p:txBody>
          <a:bodyPr/>
          <a:lstStyle/>
          <a:p>
            <a:endParaRPr lang="en-AU" dirty="0"/>
          </a:p>
        </p:txBody>
      </p:sp>
      <p:sp>
        <p:nvSpPr>
          <p:cNvPr id="5" name="Slide Number Placeholder 4"/>
          <p:cNvSpPr>
            <a:spLocks noGrp="1"/>
          </p:cNvSpPr>
          <p:nvPr>
            <p:ph type="sldNum" sz="quarter" idx="12"/>
          </p:nvPr>
        </p:nvSpPr>
        <p:spPr/>
        <p:txBody>
          <a:bodyPr/>
          <a:lstStyle/>
          <a:p>
            <a:fld id="{FD937BE4-3242-4672-8D3A-460DCD9877AE}" type="slidenum">
              <a:rPr lang="en-AU" smtClean="0"/>
              <a:pPr/>
              <a:t>‹#›</a:t>
            </a:fld>
            <a:endParaRPr lang="en-AU" dirty="0"/>
          </a:p>
        </p:txBody>
      </p:sp>
    </p:spTree>
    <p:extLst>
      <p:ext uri="{BB962C8B-B14F-4D97-AF65-F5344CB8AC3E}">
        <p14:creationId xmlns:p14="http://schemas.microsoft.com/office/powerpoint/2010/main" val="5772354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03B91B3-E50F-4EFF-8D5F-21DA810ECD9F}" type="datetimeFigureOut">
              <a:rPr lang="en-AU" smtClean="0"/>
              <a:pPr/>
              <a:t>17/02/2015</a:t>
            </a:fld>
            <a:endParaRPr lang="en-AU" dirty="0"/>
          </a:p>
        </p:txBody>
      </p:sp>
      <p:sp>
        <p:nvSpPr>
          <p:cNvPr id="3" name="Footer Placeholder 2"/>
          <p:cNvSpPr>
            <a:spLocks noGrp="1"/>
          </p:cNvSpPr>
          <p:nvPr>
            <p:ph type="ftr" sz="quarter" idx="11"/>
          </p:nvPr>
        </p:nvSpPr>
        <p:spPr/>
        <p:txBody>
          <a:bodyPr/>
          <a:lstStyle/>
          <a:p>
            <a:endParaRPr lang="en-AU" dirty="0"/>
          </a:p>
        </p:txBody>
      </p:sp>
      <p:sp>
        <p:nvSpPr>
          <p:cNvPr id="4" name="Slide Number Placeholder 3"/>
          <p:cNvSpPr>
            <a:spLocks noGrp="1"/>
          </p:cNvSpPr>
          <p:nvPr>
            <p:ph type="sldNum" sz="quarter" idx="12"/>
          </p:nvPr>
        </p:nvSpPr>
        <p:spPr/>
        <p:txBody>
          <a:bodyPr/>
          <a:lstStyle/>
          <a:p>
            <a:fld id="{FD937BE4-3242-4672-8D3A-460DCD9877AE}" type="slidenum">
              <a:rPr lang="en-AU" smtClean="0"/>
              <a:pPr/>
              <a:t>‹#›</a:t>
            </a:fld>
            <a:endParaRPr lang="en-AU" dirty="0"/>
          </a:p>
        </p:txBody>
      </p:sp>
    </p:spTree>
    <p:extLst>
      <p:ext uri="{BB962C8B-B14F-4D97-AF65-F5344CB8AC3E}">
        <p14:creationId xmlns:p14="http://schemas.microsoft.com/office/powerpoint/2010/main" val="1919919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03B91B3-E50F-4EFF-8D5F-21DA810ECD9F}" type="datetimeFigureOut">
              <a:rPr lang="en-AU" smtClean="0"/>
              <a:pPr/>
              <a:t>17/02/2015</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FD937BE4-3242-4672-8D3A-460DCD9877AE}" type="slidenum">
              <a:rPr lang="en-AU" smtClean="0"/>
              <a:pPr/>
              <a:t>‹#›</a:t>
            </a:fld>
            <a:endParaRPr lang="en-AU" dirty="0"/>
          </a:p>
        </p:txBody>
      </p:sp>
    </p:spTree>
    <p:extLst>
      <p:ext uri="{BB962C8B-B14F-4D97-AF65-F5344CB8AC3E}">
        <p14:creationId xmlns:p14="http://schemas.microsoft.com/office/powerpoint/2010/main" val="8185026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03B91B3-E50F-4EFF-8D5F-21DA810ECD9F}" type="datetimeFigureOut">
              <a:rPr lang="en-AU" smtClean="0"/>
              <a:pPr/>
              <a:t>17/02/2015</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FD937BE4-3242-4672-8D3A-460DCD9877AE}" type="slidenum">
              <a:rPr lang="en-AU" smtClean="0"/>
              <a:pPr/>
              <a:t>‹#›</a:t>
            </a:fld>
            <a:endParaRPr lang="en-AU" dirty="0"/>
          </a:p>
        </p:txBody>
      </p:sp>
    </p:spTree>
    <p:extLst>
      <p:ext uri="{BB962C8B-B14F-4D97-AF65-F5344CB8AC3E}">
        <p14:creationId xmlns:p14="http://schemas.microsoft.com/office/powerpoint/2010/main" val="23839825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303B91B3-E50F-4EFF-8D5F-21DA810ECD9F}" type="datetimeFigureOut">
              <a:rPr lang="en-AU" smtClean="0"/>
              <a:pPr/>
              <a:t>17/02/2015</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pPr/>
              <a:t>‹#›</a:t>
            </a:fld>
            <a:endParaRPr lang="en-AU" dirty="0"/>
          </a:p>
        </p:txBody>
      </p:sp>
    </p:spTree>
    <p:extLst>
      <p:ext uri="{BB962C8B-B14F-4D97-AF65-F5344CB8AC3E}">
        <p14:creationId xmlns:p14="http://schemas.microsoft.com/office/powerpoint/2010/main" val="40963694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303B91B3-E50F-4EFF-8D5F-21DA810ECD9F}" type="datetimeFigureOut">
              <a:rPr lang="en-AU" smtClean="0"/>
              <a:pPr/>
              <a:t>17/02/2015</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pPr/>
              <a:t>‹#›</a:t>
            </a:fld>
            <a:endParaRPr lang="en-AU" dirty="0"/>
          </a:p>
        </p:txBody>
      </p:sp>
    </p:spTree>
    <p:extLst>
      <p:ext uri="{BB962C8B-B14F-4D97-AF65-F5344CB8AC3E}">
        <p14:creationId xmlns:p14="http://schemas.microsoft.com/office/powerpoint/2010/main" val="18802157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03B91B3-E50F-4EFF-8D5F-21DA810ECD9F}" type="datetimeFigureOut">
              <a:rPr lang="en-AU" smtClean="0"/>
              <a:pPr/>
              <a:t>17/02/2015</a:t>
            </a:fld>
            <a:endParaRPr lang="en-AU"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D937BE4-3242-4672-8D3A-460DCD9877AE}" type="slidenum">
              <a:rPr lang="en-AU" smtClean="0"/>
              <a:pPr/>
              <a:t>‹#›</a:t>
            </a:fld>
            <a:endParaRPr lang="en-AU" dirty="0"/>
          </a:p>
        </p:txBody>
      </p:sp>
    </p:spTree>
    <p:extLst>
      <p:ext uri="{BB962C8B-B14F-4D97-AF65-F5344CB8AC3E}">
        <p14:creationId xmlns:p14="http://schemas.microsoft.com/office/powerpoint/2010/main" val="24286664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332656"/>
            <a:ext cx="7772400" cy="1470025"/>
          </a:xfrm>
        </p:spPr>
        <p:txBody>
          <a:bodyPr/>
          <a:lstStyle/>
          <a:p>
            <a:r>
              <a:rPr lang="en-AU" dirty="0" smtClean="0"/>
              <a:t>My Number</a:t>
            </a:r>
            <a:br>
              <a:rPr lang="en-AU" dirty="0" smtClean="0"/>
            </a:br>
            <a:r>
              <a:rPr lang="en-AU" dirty="0" smtClean="0"/>
              <a:t>Interactive Notebook</a:t>
            </a:r>
            <a:endParaRPr lang="en-AU" dirty="0"/>
          </a:p>
        </p:txBody>
      </p:sp>
      <p:sp>
        <p:nvSpPr>
          <p:cNvPr id="3" name="Subtitle 2"/>
          <p:cNvSpPr>
            <a:spLocks noGrp="1"/>
          </p:cNvSpPr>
          <p:nvPr>
            <p:ph type="subTitle" idx="1"/>
          </p:nvPr>
        </p:nvSpPr>
        <p:spPr/>
        <p:txBody>
          <a:bodyPr>
            <a:normAutofit fontScale="85000" lnSpcReduction="20000"/>
          </a:bodyPr>
          <a:lstStyle/>
          <a:p>
            <a:pPr algn="l"/>
            <a:r>
              <a:rPr lang="en-AU" dirty="0" smtClean="0"/>
              <a:t>Name </a:t>
            </a:r>
          </a:p>
          <a:p>
            <a:pPr algn="l"/>
            <a:r>
              <a:rPr lang="en-AU" dirty="0" smtClean="0"/>
              <a:t>Class </a:t>
            </a:r>
          </a:p>
          <a:p>
            <a:pPr algn="l"/>
            <a:r>
              <a:rPr lang="en-AU" dirty="0" smtClean="0"/>
              <a:t>Teacher </a:t>
            </a:r>
          </a:p>
          <a:p>
            <a:pPr algn="l"/>
            <a:r>
              <a:rPr lang="en-AU" dirty="0" smtClean="0"/>
              <a:t>Term 1 Semester 1</a:t>
            </a:r>
          </a:p>
        </p:txBody>
      </p:sp>
      <p:sp>
        <p:nvSpPr>
          <p:cNvPr id="13" name="TextBox 12"/>
          <p:cNvSpPr txBox="1"/>
          <p:nvPr/>
        </p:nvSpPr>
        <p:spPr>
          <a:xfrm>
            <a:off x="8748464" y="6488668"/>
            <a:ext cx="549775" cy="369332"/>
          </a:xfrm>
          <a:prstGeom prst="rect">
            <a:avLst/>
          </a:prstGeom>
          <a:noFill/>
        </p:spPr>
        <p:txBody>
          <a:bodyPr wrap="square" rtlCol="0">
            <a:spAutoFit/>
          </a:bodyPr>
          <a:lstStyle/>
          <a:p>
            <a:r>
              <a:rPr lang="en-AU" dirty="0"/>
              <a:t>1</a:t>
            </a:r>
          </a:p>
        </p:txBody>
      </p:sp>
      <mc:AlternateContent xmlns:mc="http://schemas.openxmlformats.org/markup-compatibility/2006" xmlns:a14="http://schemas.microsoft.com/office/drawing/2010/main">
        <mc:Choice Requires="a14">
          <p:sp>
            <p:nvSpPr>
              <p:cNvPr id="4" name="TextBox 3"/>
              <p:cNvSpPr txBox="1"/>
              <p:nvPr/>
            </p:nvSpPr>
            <p:spPr>
              <a:xfrm>
                <a:off x="484796" y="548680"/>
                <a:ext cx="1368152" cy="144655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8800" i="1" smtClean="0">
                          <a:solidFill>
                            <a:srgbClr val="7030A0"/>
                          </a:solidFill>
                          <a:latin typeface="Cambria Math"/>
                          <a:ea typeface="Cambria Math"/>
                        </a:rPr>
                        <m:t>×</m:t>
                      </m:r>
                    </m:oMath>
                  </m:oMathPara>
                </a14:m>
                <a:endParaRPr lang="en-AU" sz="8800" dirty="0">
                  <a:solidFill>
                    <a:srgbClr val="7030A0"/>
                  </a:solidFill>
                </a:endParaRPr>
              </a:p>
            </p:txBody>
          </p:sp>
        </mc:Choice>
        <mc:Fallback xmlns="">
          <p:sp>
            <p:nvSpPr>
              <p:cNvPr id="4" name="TextBox 3"/>
              <p:cNvSpPr txBox="1">
                <a:spLocks noRot="1" noChangeAspect="1" noMove="1" noResize="1" noEditPoints="1" noAdjustHandles="1" noChangeArrowheads="1" noChangeShapeType="1" noTextEdit="1"/>
              </p:cNvSpPr>
              <p:nvPr/>
            </p:nvSpPr>
            <p:spPr>
              <a:xfrm>
                <a:off x="484796" y="548680"/>
                <a:ext cx="1368152" cy="1446550"/>
              </a:xfrm>
              <a:prstGeom prst="rect">
                <a:avLst/>
              </a:prstGeom>
              <a:blipFill rotWithShape="1">
                <a:blip r:embed="rId2" cstate="print"/>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2123728" y="1884135"/>
                <a:ext cx="1368152" cy="144655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8800" i="1" smtClean="0">
                          <a:solidFill>
                            <a:srgbClr val="00FF00"/>
                          </a:solidFill>
                          <a:latin typeface="Cambria Math"/>
                          <a:ea typeface="Cambria Math"/>
                        </a:rPr>
                        <m:t>÷</m:t>
                      </m:r>
                    </m:oMath>
                  </m:oMathPara>
                </a14:m>
                <a:endParaRPr lang="en-AU" sz="8800" dirty="0">
                  <a:solidFill>
                    <a:srgbClr val="00FF00"/>
                  </a:solidFill>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2123728" y="1884135"/>
                <a:ext cx="1368152" cy="1446550"/>
              </a:xfrm>
              <a:prstGeom prst="rect">
                <a:avLst/>
              </a:prstGeom>
              <a:blipFill rotWithShape="1">
                <a:blip r:embed="rId3" cstate="print"/>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4307644" y="3572848"/>
                <a:ext cx="1368152" cy="144655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8800" b="0" i="1" smtClean="0">
                          <a:solidFill>
                            <a:srgbClr val="FF0000"/>
                          </a:solidFill>
                          <a:latin typeface="Cambria Math"/>
                        </a:rPr>
                        <m:t>7</m:t>
                      </m:r>
                    </m:oMath>
                  </m:oMathPara>
                </a14:m>
                <a:endParaRPr lang="en-AU" sz="8800" dirty="0">
                  <a:solidFill>
                    <a:srgbClr val="FF0000"/>
                  </a:solidFill>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4307644" y="3572848"/>
                <a:ext cx="1368152" cy="1446550"/>
              </a:xfrm>
              <a:prstGeom prst="rect">
                <a:avLst/>
              </a:prstGeom>
              <a:blipFill rotWithShape="1">
                <a:blip r:embed="rId4" cstate="print"/>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6660232" y="2708920"/>
                <a:ext cx="1368152" cy="144655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8800" b="0" i="1" smtClean="0">
                          <a:solidFill>
                            <a:srgbClr val="00B050"/>
                          </a:solidFill>
                          <a:latin typeface="Cambria Math"/>
                        </a:rPr>
                        <m:t>−</m:t>
                      </m:r>
                    </m:oMath>
                  </m:oMathPara>
                </a14:m>
                <a:endParaRPr lang="en-AU" sz="8800" dirty="0">
                  <a:solidFill>
                    <a:srgbClr val="00B050"/>
                  </a:solidFill>
                </a:endParaRPr>
              </a:p>
            </p:txBody>
          </p:sp>
        </mc:Choice>
        <mc:Fallback xmlns="">
          <p:sp>
            <p:nvSpPr>
              <p:cNvPr id="8" name="TextBox 7"/>
              <p:cNvSpPr txBox="1">
                <a:spLocks noRot="1" noChangeAspect="1" noMove="1" noResize="1" noEditPoints="1" noAdjustHandles="1" noChangeArrowheads="1" noChangeShapeType="1" noTextEdit="1"/>
              </p:cNvSpPr>
              <p:nvPr/>
            </p:nvSpPr>
            <p:spPr>
              <a:xfrm>
                <a:off x="6660232" y="2708920"/>
                <a:ext cx="1368152" cy="1446550"/>
              </a:xfrm>
              <a:prstGeom prst="rect">
                <a:avLst/>
              </a:prstGeom>
              <a:blipFill rotWithShape="1">
                <a:blip r:embed="rId5" cstate="print"/>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4307644" y="1902233"/>
                <a:ext cx="1368152" cy="144655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8800" b="0" i="1" smtClean="0">
                          <a:solidFill>
                            <a:srgbClr val="0070C0"/>
                          </a:solidFill>
                          <a:latin typeface="Cambria Math"/>
                        </a:rPr>
                        <m:t>+</m:t>
                      </m:r>
                    </m:oMath>
                  </m:oMathPara>
                </a14:m>
                <a:endParaRPr lang="en-AU" sz="8800" dirty="0">
                  <a:solidFill>
                    <a:srgbClr val="0070C0"/>
                  </a:solidFill>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4307644" y="1902233"/>
                <a:ext cx="1368152" cy="1446550"/>
              </a:xfrm>
              <a:prstGeom prst="rect">
                <a:avLst/>
              </a:prstGeom>
              <a:blipFill rotWithShape="1">
                <a:blip r:embed="rId6" cstate="print"/>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7236296" y="437585"/>
                <a:ext cx="1368152" cy="199381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AU" sz="6600" i="1" smtClean="0">
                              <a:solidFill>
                                <a:srgbClr val="FFFF00"/>
                              </a:solidFill>
                              <a:latin typeface="Cambria Math" panose="02040503050406030204" pitchFamily="18" charset="0"/>
                            </a:rPr>
                          </m:ctrlPr>
                        </m:fPr>
                        <m:num>
                          <m:r>
                            <a:rPr lang="en-AU" sz="6600" b="0" i="1" smtClean="0">
                              <a:solidFill>
                                <a:srgbClr val="FFFF00"/>
                              </a:solidFill>
                              <a:latin typeface="Cambria Math"/>
                            </a:rPr>
                            <m:t>1</m:t>
                          </m:r>
                        </m:num>
                        <m:den>
                          <m:r>
                            <a:rPr lang="en-AU" sz="6600" b="0" i="1" smtClean="0">
                              <a:solidFill>
                                <a:srgbClr val="FFFF00"/>
                              </a:solidFill>
                              <a:latin typeface="Cambria Math"/>
                            </a:rPr>
                            <m:t>2</m:t>
                          </m:r>
                        </m:den>
                      </m:f>
                    </m:oMath>
                  </m:oMathPara>
                </a14:m>
                <a:endParaRPr lang="en-AU" sz="6600" dirty="0"/>
              </a:p>
            </p:txBody>
          </p:sp>
        </mc:Choice>
        <mc:Fallback xmlns="">
          <p:sp>
            <p:nvSpPr>
              <p:cNvPr id="10" name="TextBox 9"/>
              <p:cNvSpPr txBox="1">
                <a:spLocks noRot="1" noChangeAspect="1" noMove="1" noResize="1" noEditPoints="1" noAdjustHandles="1" noChangeArrowheads="1" noChangeShapeType="1" noTextEdit="1"/>
              </p:cNvSpPr>
              <p:nvPr/>
            </p:nvSpPr>
            <p:spPr>
              <a:xfrm>
                <a:off x="7236296" y="437585"/>
                <a:ext cx="1368152" cy="1993816"/>
              </a:xfrm>
              <a:prstGeom prst="rect">
                <a:avLst/>
              </a:prstGeom>
              <a:blipFill rotWithShape="1">
                <a:blip r:embed="rId7" cstate="print"/>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107504" y="3068960"/>
                <a:ext cx="1368152" cy="199381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AU" sz="6600" i="1" smtClean="0">
                              <a:solidFill>
                                <a:srgbClr val="C00000"/>
                              </a:solidFill>
                              <a:latin typeface="Cambria Math" panose="02040503050406030204" pitchFamily="18" charset="0"/>
                            </a:rPr>
                          </m:ctrlPr>
                        </m:fPr>
                        <m:num>
                          <m:r>
                            <a:rPr lang="en-AU" sz="6600" b="0" i="1" smtClean="0">
                              <a:solidFill>
                                <a:srgbClr val="C00000"/>
                              </a:solidFill>
                              <a:latin typeface="Cambria Math"/>
                            </a:rPr>
                            <m:t>3</m:t>
                          </m:r>
                        </m:num>
                        <m:den>
                          <m:r>
                            <a:rPr lang="en-AU" sz="6600" b="0" i="1" smtClean="0">
                              <a:solidFill>
                                <a:srgbClr val="C00000"/>
                              </a:solidFill>
                              <a:latin typeface="Cambria Math"/>
                            </a:rPr>
                            <m:t>5</m:t>
                          </m:r>
                        </m:den>
                      </m:f>
                    </m:oMath>
                  </m:oMathPara>
                </a14:m>
                <a:endParaRPr lang="en-AU" sz="6600" dirty="0"/>
              </a:p>
            </p:txBody>
          </p:sp>
        </mc:Choice>
        <mc:Fallback xmlns="">
          <p:sp>
            <p:nvSpPr>
              <p:cNvPr id="11" name="TextBox 10"/>
              <p:cNvSpPr txBox="1">
                <a:spLocks noRot="1" noChangeAspect="1" noMove="1" noResize="1" noEditPoints="1" noAdjustHandles="1" noChangeArrowheads="1" noChangeShapeType="1" noTextEdit="1"/>
              </p:cNvSpPr>
              <p:nvPr/>
            </p:nvSpPr>
            <p:spPr>
              <a:xfrm>
                <a:off x="107504" y="3068960"/>
                <a:ext cx="1368152" cy="1993816"/>
              </a:xfrm>
              <a:prstGeom prst="rect">
                <a:avLst/>
              </a:prstGeom>
              <a:blipFill rotWithShape="1">
                <a:blip r:embed="rId8" cstate="print"/>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7344308" y="3909817"/>
                <a:ext cx="1368152" cy="110799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AU" sz="6600" i="1" smtClean="0">
                              <a:solidFill>
                                <a:srgbClr val="002060"/>
                              </a:solidFill>
                              <a:latin typeface="Cambria Math" panose="02040503050406030204" pitchFamily="18" charset="0"/>
                            </a:rPr>
                          </m:ctrlPr>
                        </m:sSupPr>
                        <m:e>
                          <m:r>
                            <a:rPr lang="en-AU" sz="6600" b="0" i="1" smtClean="0">
                              <a:solidFill>
                                <a:srgbClr val="002060"/>
                              </a:solidFill>
                              <a:latin typeface="Cambria Math"/>
                            </a:rPr>
                            <m:t>5</m:t>
                          </m:r>
                        </m:e>
                        <m:sup>
                          <m:r>
                            <a:rPr lang="en-AU" sz="6600" b="0" i="1" smtClean="0">
                              <a:solidFill>
                                <a:srgbClr val="002060"/>
                              </a:solidFill>
                              <a:latin typeface="Cambria Math"/>
                            </a:rPr>
                            <m:t>2</m:t>
                          </m:r>
                        </m:sup>
                      </m:sSup>
                    </m:oMath>
                  </m:oMathPara>
                </a14:m>
                <a:endParaRPr lang="en-AU" sz="6600" dirty="0"/>
              </a:p>
            </p:txBody>
          </p:sp>
        </mc:Choice>
        <mc:Fallback xmlns="">
          <p:sp>
            <p:nvSpPr>
              <p:cNvPr id="12" name="TextBox 11"/>
              <p:cNvSpPr txBox="1">
                <a:spLocks noRot="1" noChangeAspect="1" noMove="1" noResize="1" noEditPoints="1" noAdjustHandles="1" noChangeArrowheads="1" noChangeShapeType="1" noTextEdit="1"/>
              </p:cNvSpPr>
              <p:nvPr/>
            </p:nvSpPr>
            <p:spPr>
              <a:xfrm>
                <a:off x="7344308" y="3909817"/>
                <a:ext cx="1368152" cy="1107996"/>
              </a:xfrm>
              <a:prstGeom prst="rect">
                <a:avLst/>
              </a:prstGeom>
              <a:blipFill rotWithShape="1">
                <a:blip r:embed="rId9" cstate="print"/>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5652120" y="4797152"/>
                <a:ext cx="1368152" cy="122764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ad>
                        <m:radPr>
                          <m:degHide m:val="on"/>
                          <m:ctrlPr>
                            <a:rPr lang="en-AU" sz="6600" i="1" smtClean="0">
                              <a:latin typeface="Cambria Math" panose="02040503050406030204" pitchFamily="18" charset="0"/>
                            </a:rPr>
                          </m:ctrlPr>
                        </m:radPr>
                        <m:deg/>
                        <m:e>
                          <m:r>
                            <a:rPr lang="en-AU" sz="6600" b="0" i="1" smtClean="0">
                              <a:latin typeface="Cambria Math"/>
                            </a:rPr>
                            <m:t>9</m:t>
                          </m:r>
                        </m:e>
                      </m:rad>
                    </m:oMath>
                  </m:oMathPara>
                </a14:m>
                <a:endParaRPr lang="en-AU" sz="6600" dirty="0"/>
              </a:p>
            </p:txBody>
          </p:sp>
        </mc:Choice>
        <mc:Fallback xmlns="">
          <p:sp>
            <p:nvSpPr>
              <p:cNvPr id="14" name="TextBox 13"/>
              <p:cNvSpPr txBox="1">
                <a:spLocks noRot="1" noChangeAspect="1" noMove="1" noResize="1" noEditPoints="1" noAdjustHandles="1" noChangeArrowheads="1" noChangeShapeType="1" noTextEdit="1"/>
              </p:cNvSpPr>
              <p:nvPr/>
            </p:nvSpPr>
            <p:spPr>
              <a:xfrm>
                <a:off x="5652120" y="4797152"/>
                <a:ext cx="1368152" cy="1227644"/>
              </a:xfrm>
              <a:prstGeom prst="rect">
                <a:avLst/>
              </a:prstGeom>
              <a:blipFill rotWithShape="1">
                <a:blip r:embed="rId10" cstate="print"/>
                <a:stretch>
                  <a:fillRect/>
                </a:stretch>
              </a:blipFill>
            </p:spPr>
            <p:txBody>
              <a:bodyPr/>
              <a:lstStyle/>
              <a:p>
                <a:r>
                  <a:rPr lang="en-AU">
                    <a:noFill/>
                  </a:rPr>
                  <a:t> </a:t>
                </a:r>
              </a:p>
            </p:txBody>
          </p:sp>
        </mc:Fallback>
      </mc:AlternateContent>
    </p:spTree>
    <p:extLst>
      <p:ext uri="{BB962C8B-B14F-4D97-AF65-F5344CB8AC3E}">
        <p14:creationId xmlns:p14="http://schemas.microsoft.com/office/powerpoint/2010/main" val="312506273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AU" dirty="0" smtClean="0"/>
              <a:t>Create your own front page</a:t>
            </a:r>
            <a:endParaRPr lang="en-AU" dirty="0"/>
          </a:p>
        </p:txBody>
      </p:sp>
      <p:sp>
        <p:nvSpPr>
          <p:cNvPr id="4" name="Content Placeholder 3"/>
          <p:cNvSpPr>
            <a:spLocks noGrp="1"/>
          </p:cNvSpPr>
          <p:nvPr>
            <p:ph idx="1"/>
          </p:nvPr>
        </p:nvSpPr>
        <p:spPr/>
        <p:txBody>
          <a:bodyPr>
            <a:normAutofit/>
          </a:bodyPr>
          <a:lstStyle/>
          <a:p>
            <a:pPr marL="0" indent="0">
              <a:buNone/>
            </a:pPr>
            <a:r>
              <a:rPr lang="en-AU" dirty="0" smtClean="0"/>
              <a:t>It needs to contain the following –</a:t>
            </a:r>
          </a:p>
          <a:p>
            <a:pPr>
              <a:buFontTx/>
              <a:buChar char="-"/>
            </a:pPr>
            <a:r>
              <a:rPr lang="en-AU" dirty="0" smtClean="0"/>
              <a:t>My number interactive notebook</a:t>
            </a:r>
          </a:p>
          <a:p>
            <a:pPr>
              <a:buFontTx/>
              <a:buChar char="-"/>
            </a:pPr>
            <a:r>
              <a:rPr lang="en-AU" dirty="0" smtClean="0"/>
              <a:t>Name </a:t>
            </a:r>
          </a:p>
          <a:p>
            <a:pPr>
              <a:buFontTx/>
              <a:buChar char="-"/>
            </a:pPr>
            <a:r>
              <a:rPr lang="en-AU" dirty="0" smtClean="0"/>
              <a:t>Class</a:t>
            </a:r>
          </a:p>
          <a:p>
            <a:pPr>
              <a:buFontTx/>
              <a:buChar char="-"/>
            </a:pPr>
            <a:r>
              <a:rPr lang="en-AU" dirty="0" smtClean="0"/>
              <a:t>Teachers Name</a:t>
            </a:r>
          </a:p>
          <a:p>
            <a:pPr>
              <a:buFontTx/>
              <a:buChar char="-"/>
            </a:pPr>
            <a:r>
              <a:rPr lang="en-AU" dirty="0" smtClean="0"/>
              <a:t>Semester 1 Term 1</a:t>
            </a:r>
          </a:p>
          <a:p>
            <a:pPr>
              <a:buFontTx/>
              <a:buChar char="-"/>
            </a:pPr>
            <a:r>
              <a:rPr lang="en-AU" dirty="0" smtClean="0"/>
              <a:t>Page number 1</a:t>
            </a:r>
            <a:endParaRPr lang="en-AU" dirty="0"/>
          </a:p>
        </p:txBody>
      </p:sp>
    </p:spTree>
    <p:extLst>
      <p:ext uri="{BB962C8B-B14F-4D97-AF65-F5344CB8AC3E}">
        <p14:creationId xmlns:p14="http://schemas.microsoft.com/office/powerpoint/2010/main" val="8286990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4500081" y="0"/>
            <a:ext cx="72008" cy="6957392"/>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403" y="6474667"/>
            <a:ext cx="301686" cy="369332"/>
          </a:xfrm>
          <a:prstGeom prst="rect">
            <a:avLst/>
          </a:prstGeom>
          <a:noFill/>
        </p:spPr>
        <p:txBody>
          <a:bodyPr wrap="none" rtlCol="0">
            <a:spAutoFit/>
          </a:bodyPr>
          <a:lstStyle/>
          <a:p>
            <a:r>
              <a:rPr lang="en-AU" dirty="0" smtClean="0"/>
              <a:t>2</a:t>
            </a:r>
            <a:endParaRPr lang="en-AU" dirty="0"/>
          </a:p>
        </p:txBody>
      </p:sp>
      <p:sp>
        <p:nvSpPr>
          <p:cNvPr id="7" name="TextBox 6"/>
          <p:cNvSpPr txBox="1"/>
          <p:nvPr/>
        </p:nvSpPr>
        <p:spPr>
          <a:xfrm>
            <a:off x="8748464" y="6488668"/>
            <a:ext cx="549775" cy="369332"/>
          </a:xfrm>
          <a:prstGeom prst="rect">
            <a:avLst/>
          </a:prstGeom>
          <a:noFill/>
        </p:spPr>
        <p:txBody>
          <a:bodyPr wrap="square" rtlCol="0">
            <a:spAutoFit/>
          </a:bodyPr>
          <a:lstStyle/>
          <a:p>
            <a:r>
              <a:rPr lang="en-AU" dirty="0" smtClean="0"/>
              <a:t>3</a:t>
            </a:r>
            <a:endParaRPr lang="en-AU" dirty="0"/>
          </a:p>
        </p:txBody>
      </p:sp>
      <p:cxnSp>
        <p:nvCxnSpPr>
          <p:cNvPr id="9" name="Straight Connector 8"/>
          <p:cNvCxnSpPr/>
          <p:nvPr/>
        </p:nvCxnSpPr>
        <p:spPr>
          <a:xfrm>
            <a:off x="-143838" y="620688"/>
            <a:ext cx="4643919"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5" name="Straight Connector 14"/>
          <p:cNvCxnSpPr/>
          <p:nvPr/>
        </p:nvCxnSpPr>
        <p:spPr>
          <a:xfrm>
            <a:off x="1115616" y="404664"/>
            <a:ext cx="0" cy="5867980"/>
          </a:xfrm>
          <a:prstGeom prst="line">
            <a:avLst/>
          </a:prstGeom>
        </p:spPr>
        <p:style>
          <a:lnRef idx="1">
            <a:schemeClr val="accent2"/>
          </a:lnRef>
          <a:fillRef idx="0">
            <a:schemeClr val="accent2"/>
          </a:fillRef>
          <a:effectRef idx="0">
            <a:schemeClr val="accent2"/>
          </a:effectRef>
          <a:fontRef idx="minor">
            <a:schemeClr val="tx1"/>
          </a:fontRef>
        </p:style>
      </p:cxnSp>
      <p:sp>
        <p:nvSpPr>
          <p:cNvPr id="20" name="TextBox 19"/>
          <p:cNvSpPr txBox="1"/>
          <p:nvPr/>
        </p:nvSpPr>
        <p:spPr>
          <a:xfrm>
            <a:off x="577648" y="5803"/>
            <a:ext cx="932050" cy="338554"/>
          </a:xfrm>
          <a:prstGeom prst="rect">
            <a:avLst/>
          </a:prstGeom>
          <a:noFill/>
        </p:spPr>
        <p:txBody>
          <a:bodyPr wrap="none" rtlCol="0">
            <a:spAutoFit/>
          </a:bodyPr>
          <a:lstStyle/>
          <a:p>
            <a:r>
              <a:rPr lang="en-AU" sz="1600" dirty="0" smtClean="0"/>
              <a:t>Contents</a:t>
            </a:r>
            <a:endParaRPr lang="en-AU" sz="1600" dirty="0"/>
          </a:p>
        </p:txBody>
      </p:sp>
      <p:sp>
        <p:nvSpPr>
          <p:cNvPr id="23" name="TextBox 22"/>
          <p:cNvSpPr txBox="1"/>
          <p:nvPr/>
        </p:nvSpPr>
        <p:spPr>
          <a:xfrm>
            <a:off x="223224" y="374467"/>
            <a:ext cx="580865" cy="338554"/>
          </a:xfrm>
          <a:prstGeom prst="rect">
            <a:avLst/>
          </a:prstGeom>
          <a:noFill/>
        </p:spPr>
        <p:txBody>
          <a:bodyPr wrap="none" rtlCol="0">
            <a:spAutoFit/>
          </a:bodyPr>
          <a:lstStyle/>
          <a:p>
            <a:r>
              <a:rPr lang="en-AU" sz="1600" dirty="0" smtClean="0"/>
              <a:t>Page</a:t>
            </a:r>
            <a:endParaRPr lang="en-AU" sz="1600" dirty="0"/>
          </a:p>
        </p:txBody>
      </p:sp>
      <p:cxnSp>
        <p:nvCxnSpPr>
          <p:cNvPr id="16" name="Straight Connector 15"/>
          <p:cNvCxnSpPr/>
          <p:nvPr/>
        </p:nvCxnSpPr>
        <p:spPr>
          <a:xfrm>
            <a:off x="2143810" y="404664"/>
            <a:ext cx="0" cy="5867980"/>
          </a:xfrm>
          <a:prstGeom prst="line">
            <a:avLst/>
          </a:prstGeom>
        </p:spPr>
        <p:style>
          <a:lnRef idx="1">
            <a:schemeClr val="accent2"/>
          </a:lnRef>
          <a:fillRef idx="0">
            <a:schemeClr val="accent2"/>
          </a:fillRef>
          <a:effectRef idx="0">
            <a:schemeClr val="accent2"/>
          </a:effectRef>
          <a:fontRef idx="minor">
            <a:schemeClr val="tx1"/>
          </a:fontRef>
        </p:style>
      </p:cxnSp>
      <p:sp>
        <p:nvSpPr>
          <p:cNvPr id="17" name="TextBox 16"/>
          <p:cNvSpPr txBox="1"/>
          <p:nvPr/>
        </p:nvSpPr>
        <p:spPr>
          <a:xfrm>
            <a:off x="1403646" y="344357"/>
            <a:ext cx="576504" cy="338554"/>
          </a:xfrm>
          <a:prstGeom prst="rect">
            <a:avLst/>
          </a:prstGeom>
          <a:noFill/>
        </p:spPr>
        <p:txBody>
          <a:bodyPr wrap="none" rtlCol="0">
            <a:spAutoFit/>
          </a:bodyPr>
          <a:lstStyle/>
          <a:p>
            <a:r>
              <a:rPr lang="en-AU" sz="1600" dirty="0" smtClean="0"/>
              <a:t>Date</a:t>
            </a:r>
            <a:endParaRPr lang="en-AU" sz="1600" dirty="0"/>
          </a:p>
        </p:txBody>
      </p:sp>
      <p:sp>
        <p:nvSpPr>
          <p:cNvPr id="18" name="TextBox 17"/>
          <p:cNvSpPr txBox="1"/>
          <p:nvPr/>
        </p:nvSpPr>
        <p:spPr>
          <a:xfrm>
            <a:off x="2555776" y="344357"/>
            <a:ext cx="1398888" cy="338554"/>
          </a:xfrm>
          <a:prstGeom prst="rect">
            <a:avLst/>
          </a:prstGeom>
          <a:noFill/>
        </p:spPr>
        <p:txBody>
          <a:bodyPr wrap="square" rtlCol="0">
            <a:spAutoFit/>
          </a:bodyPr>
          <a:lstStyle/>
          <a:p>
            <a:r>
              <a:rPr lang="en-AU" sz="1600" dirty="0" smtClean="0"/>
              <a:t>Description</a:t>
            </a:r>
            <a:endParaRPr lang="en-AU" sz="1600" dirty="0"/>
          </a:p>
        </p:txBody>
      </p:sp>
      <p:sp>
        <p:nvSpPr>
          <p:cNvPr id="21" name="TextBox 20"/>
          <p:cNvSpPr txBox="1"/>
          <p:nvPr/>
        </p:nvSpPr>
        <p:spPr>
          <a:xfrm>
            <a:off x="5796136" y="66504"/>
            <a:ext cx="2592288" cy="338554"/>
          </a:xfrm>
          <a:prstGeom prst="rect">
            <a:avLst/>
          </a:prstGeom>
          <a:noFill/>
        </p:spPr>
        <p:txBody>
          <a:bodyPr wrap="square" rtlCol="0">
            <a:spAutoFit/>
          </a:bodyPr>
          <a:lstStyle/>
          <a:p>
            <a:r>
              <a:rPr lang="en-AU" sz="1600" dirty="0" smtClean="0"/>
              <a:t>Glossary or Formula Page</a:t>
            </a:r>
            <a:endParaRPr lang="en-AU" sz="1600" dirty="0"/>
          </a:p>
        </p:txBody>
      </p:sp>
    </p:spTree>
    <p:extLst>
      <p:ext uri="{BB962C8B-B14F-4D97-AF65-F5344CB8AC3E}">
        <p14:creationId xmlns:p14="http://schemas.microsoft.com/office/powerpoint/2010/main" val="151545733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4500081" y="0"/>
            <a:ext cx="72008" cy="6957392"/>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403" y="6474667"/>
            <a:ext cx="301686" cy="369332"/>
          </a:xfrm>
          <a:prstGeom prst="rect">
            <a:avLst/>
          </a:prstGeom>
          <a:noFill/>
        </p:spPr>
        <p:txBody>
          <a:bodyPr wrap="none" rtlCol="0">
            <a:spAutoFit/>
          </a:bodyPr>
          <a:lstStyle/>
          <a:p>
            <a:r>
              <a:rPr lang="en-AU" dirty="0"/>
              <a:t>4</a:t>
            </a:r>
          </a:p>
        </p:txBody>
      </p:sp>
      <p:cxnSp>
        <p:nvCxnSpPr>
          <p:cNvPr id="9" name="Straight Connector 8"/>
          <p:cNvCxnSpPr/>
          <p:nvPr/>
        </p:nvCxnSpPr>
        <p:spPr>
          <a:xfrm>
            <a:off x="4500081" y="620688"/>
            <a:ext cx="4643919"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1" name="Straight Connector 10"/>
          <p:cNvCxnSpPr/>
          <p:nvPr/>
        </p:nvCxnSpPr>
        <p:spPr>
          <a:xfrm>
            <a:off x="4500081" y="1196752"/>
            <a:ext cx="4643919"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3" name="Straight Connector 12"/>
          <p:cNvCxnSpPr/>
          <p:nvPr/>
        </p:nvCxnSpPr>
        <p:spPr>
          <a:xfrm>
            <a:off x="4572089" y="5373216"/>
            <a:ext cx="472615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5" name="Straight Connector 14"/>
          <p:cNvCxnSpPr/>
          <p:nvPr/>
        </p:nvCxnSpPr>
        <p:spPr>
          <a:xfrm>
            <a:off x="5868144" y="1196752"/>
            <a:ext cx="0" cy="4176464"/>
          </a:xfrm>
          <a:prstGeom prst="line">
            <a:avLst/>
          </a:prstGeom>
        </p:spPr>
        <p:style>
          <a:lnRef idx="1">
            <a:schemeClr val="accent2"/>
          </a:lnRef>
          <a:fillRef idx="0">
            <a:schemeClr val="accent2"/>
          </a:fillRef>
          <a:effectRef idx="0">
            <a:schemeClr val="accent2"/>
          </a:effectRef>
          <a:fontRef idx="minor">
            <a:schemeClr val="tx1"/>
          </a:fontRef>
        </p:style>
      </p:cxnSp>
      <p:sp>
        <p:nvSpPr>
          <p:cNvPr id="19" name="TextBox 18"/>
          <p:cNvSpPr txBox="1"/>
          <p:nvPr/>
        </p:nvSpPr>
        <p:spPr>
          <a:xfrm>
            <a:off x="4533261" y="66690"/>
            <a:ext cx="431959" cy="553998"/>
          </a:xfrm>
          <a:prstGeom prst="rect">
            <a:avLst/>
          </a:prstGeom>
          <a:noFill/>
        </p:spPr>
        <p:txBody>
          <a:bodyPr wrap="square" rtlCol="0">
            <a:spAutoFit/>
          </a:bodyPr>
          <a:lstStyle/>
          <a:p>
            <a:r>
              <a:rPr lang="en-AU" sz="1000" dirty="0" smtClean="0"/>
              <a:t>24</a:t>
            </a:r>
          </a:p>
          <a:p>
            <a:r>
              <a:rPr lang="en-AU" sz="1000" dirty="0" smtClean="0"/>
              <a:t>7</a:t>
            </a:r>
          </a:p>
          <a:p>
            <a:r>
              <a:rPr lang="en-AU" sz="1000" dirty="0" smtClean="0"/>
              <a:t>30</a:t>
            </a:r>
            <a:endParaRPr lang="en-AU" sz="1000" dirty="0"/>
          </a:p>
        </p:txBody>
      </p:sp>
      <p:sp>
        <p:nvSpPr>
          <p:cNvPr id="20" name="TextBox 19"/>
          <p:cNvSpPr txBox="1"/>
          <p:nvPr/>
        </p:nvSpPr>
        <p:spPr>
          <a:xfrm>
            <a:off x="4572089" y="601548"/>
            <a:ext cx="1143262" cy="246221"/>
          </a:xfrm>
          <a:prstGeom prst="rect">
            <a:avLst/>
          </a:prstGeom>
          <a:noFill/>
        </p:spPr>
        <p:txBody>
          <a:bodyPr wrap="none" rtlCol="0">
            <a:spAutoFit/>
          </a:bodyPr>
          <a:lstStyle/>
          <a:p>
            <a:r>
              <a:rPr lang="en-AU" sz="1000" dirty="0" smtClean="0"/>
              <a:t>Essential Question</a:t>
            </a:r>
            <a:endParaRPr lang="en-AU" sz="1000" dirty="0"/>
          </a:p>
        </p:txBody>
      </p:sp>
      <p:sp>
        <p:nvSpPr>
          <p:cNvPr id="22" name="TextBox 21"/>
          <p:cNvSpPr txBox="1"/>
          <p:nvPr/>
        </p:nvSpPr>
        <p:spPr>
          <a:xfrm>
            <a:off x="5867750" y="1196751"/>
            <a:ext cx="492443" cy="246221"/>
          </a:xfrm>
          <a:prstGeom prst="rect">
            <a:avLst/>
          </a:prstGeom>
          <a:noFill/>
        </p:spPr>
        <p:txBody>
          <a:bodyPr wrap="none" rtlCol="0">
            <a:spAutoFit/>
          </a:bodyPr>
          <a:lstStyle/>
          <a:p>
            <a:r>
              <a:rPr lang="en-AU" sz="1000" dirty="0" smtClean="0"/>
              <a:t>Notes</a:t>
            </a:r>
            <a:endParaRPr lang="en-AU" sz="1000" dirty="0"/>
          </a:p>
        </p:txBody>
      </p:sp>
      <p:sp>
        <p:nvSpPr>
          <p:cNvPr id="23" name="TextBox 22"/>
          <p:cNvSpPr txBox="1"/>
          <p:nvPr/>
        </p:nvSpPr>
        <p:spPr>
          <a:xfrm>
            <a:off x="4521850" y="1196752"/>
            <a:ext cx="708848" cy="246221"/>
          </a:xfrm>
          <a:prstGeom prst="rect">
            <a:avLst/>
          </a:prstGeom>
          <a:noFill/>
        </p:spPr>
        <p:txBody>
          <a:bodyPr wrap="none" rtlCol="0">
            <a:spAutoFit/>
          </a:bodyPr>
          <a:lstStyle/>
          <a:p>
            <a:r>
              <a:rPr lang="en-AU" sz="1000" dirty="0" smtClean="0"/>
              <a:t>Questions</a:t>
            </a:r>
            <a:endParaRPr lang="en-AU" sz="1000" dirty="0"/>
          </a:p>
        </p:txBody>
      </p:sp>
      <p:sp>
        <p:nvSpPr>
          <p:cNvPr id="24" name="TextBox 23"/>
          <p:cNvSpPr txBox="1"/>
          <p:nvPr/>
        </p:nvSpPr>
        <p:spPr>
          <a:xfrm>
            <a:off x="4572089" y="5373216"/>
            <a:ext cx="679994" cy="246221"/>
          </a:xfrm>
          <a:prstGeom prst="rect">
            <a:avLst/>
          </a:prstGeom>
          <a:noFill/>
        </p:spPr>
        <p:txBody>
          <a:bodyPr wrap="none" rtlCol="0">
            <a:spAutoFit/>
          </a:bodyPr>
          <a:lstStyle/>
          <a:p>
            <a:r>
              <a:rPr lang="en-AU" sz="1000" dirty="0" smtClean="0"/>
              <a:t>Summary</a:t>
            </a:r>
            <a:endParaRPr lang="en-AU" sz="1000" dirty="0"/>
          </a:p>
        </p:txBody>
      </p:sp>
      <p:sp>
        <p:nvSpPr>
          <p:cNvPr id="25" name="TextBox 24"/>
          <p:cNvSpPr txBox="1"/>
          <p:nvPr/>
        </p:nvSpPr>
        <p:spPr>
          <a:xfrm>
            <a:off x="151246" y="142494"/>
            <a:ext cx="671081" cy="369332"/>
          </a:xfrm>
          <a:prstGeom prst="rect">
            <a:avLst/>
          </a:prstGeom>
          <a:noFill/>
        </p:spPr>
        <p:txBody>
          <a:bodyPr wrap="none" rtlCol="0">
            <a:spAutoFit/>
          </a:bodyPr>
          <a:lstStyle/>
          <a:p>
            <a:r>
              <a:rPr lang="en-AU" dirty="0" smtClean="0"/>
              <a:t>Tasks</a:t>
            </a:r>
            <a:endParaRPr lang="en-AU" dirty="0"/>
          </a:p>
        </p:txBody>
      </p:sp>
    </p:spTree>
    <p:extLst>
      <p:ext uri="{BB962C8B-B14F-4D97-AF65-F5344CB8AC3E}">
        <p14:creationId xmlns:p14="http://schemas.microsoft.com/office/powerpoint/2010/main" val="221653258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smtClean="0"/>
              <a:t> </a:t>
            </a:r>
            <a:endParaRPr lang="en-AU" dirty="0"/>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smtClean="0"/>
              <a:t>24</a:t>
            </a:r>
          </a:p>
          <a:p>
            <a:r>
              <a:rPr lang="en-AU" sz="1600" dirty="0" smtClean="0"/>
              <a:t>7</a:t>
            </a:r>
          </a:p>
          <a:p>
            <a:r>
              <a:rPr lang="en-AU" sz="1600" dirty="0" smtClean="0"/>
              <a:t>30</a:t>
            </a:r>
            <a:endParaRPr lang="en-AU" sz="1600" dirty="0"/>
          </a:p>
        </p:txBody>
      </p:sp>
      <p:cxnSp>
        <p:nvCxnSpPr>
          <p:cNvPr id="9" name="Straight Connector 8"/>
          <p:cNvCxnSpPr/>
          <p:nvPr/>
        </p:nvCxnSpPr>
        <p:spPr>
          <a:xfrm>
            <a:off x="2915816"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5511445" cy="523220"/>
          </a:xfrm>
          <a:prstGeom prst="rect">
            <a:avLst/>
          </a:prstGeom>
          <a:noFill/>
        </p:spPr>
        <p:txBody>
          <a:bodyPr wrap="none" rtlCol="0">
            <a:spAutoFit/>
          </a:bodyPr>
          <a:lstStyle/>
          <a:p>
            <a:r>
              <a:rPr lang="en-AU" sz="2800" dirty="0" smtClean="0"/>
              <a:t>Multiplication and </a:t>
            </a:r>
            <a:r>
              <a:rPr lang="en-AU" sz="2800" dirty="0" err="1" smtClean="0"/>
              <a:t>DivisionStrategies</a:t>
            </a:r>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smtClean="0"/>
              <a:t>Date</a:t>
            </a:r>
            <a:endParaRPr lang="en-AU" sz="2400" dirty="0"/>
          </a:p>
        </p:txBody>
      </p:sp>
      <p:sp>
        <p:nvSpPr>
          <p:cNvPr id="12" name="TextBox 11"/>
          <p:cNvSpPr txBox="1"/>
          <p:nvPr/>
        </p:nvSpPr>
        <p:spPr>
          <a:xfrm>
            <a:off x="93471" y="1078502"/>
            <a:ext cx="8620422" cy="461665"/>
          </a:xfrm>
          <a:prstGeom prst="rect">
            <a:avLst/>
          </a:prstGeom>
          <a:noFill/>
        </p:spPr>
        <p:txBody>
          <a:bodyPr wrap="square" rtlCol="0">
            <a:spAutoFit/>
          </a:bodyPr>
          <a:lstStyle/>
          <a:p>
            <a:r>
              <a:rPr lang="en-AU" sz="2400" dirty="0" smtClean="0"/>
              <a:t>EQ – </a:t>
            </a:r>
            <a:r>
              <a:rPr lang="en-AU" sz="2400" dirty="0" smtClean="0"/>
              <a:t>What</a:t>
            </a:r>
            <a:r>
              <a:rPr lang="en-AU" sz="2400" dirty="0" smtClean="0"/>
              <a:t> </a:t>
            </a:r>
            <a:r>
              <a:rPr lang="en-AU" sz="2400" dirty="0" smtClean="0"/>
              <a:t>strategies we can use to multiply and divide </a:t>
            </a:r>
            <a:r>
              <a:rPr lang="en-AU" sz="2400" dirty="0" smtClean="0"/>
              <a:t>mentally?</a:t>
            </a:r>
            <a:endParaRPr lang="en-AU" sz="2400" dirty="0"/>
          </a:p>
        </p:txBody>
      </p:sp>
    </p:spTree>
    <p:extLst>
      <p:ext uri="{BB962C8B-B14F-4D97-AF65-F5344CB8AC3E}">
        <p14:creationId xmlns:p14="http://schemas.microsoft.com/office/powerpoint/2010/main" val="167090258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smtClean="0"/>
              <a:t>24</a:t>
            </a:r>
          </a:p>
          <a:p>
            <a:r>
              <a:rPr lang="en-AU" sz="1600" dirty="0" smtClean="0"/>
              <a:t>7</a:t>
            </a:r>
          </a:p>
          <a:p>
            <a:r>
              <a:rPr lang="en-AU" sz="1600" dirty="0" smtClean="0"/>
              <a:t>30</a:t>
            </a:r>
            <a:endParaRPr lang="en-AU" sz="1600" dirty="0"/>
          </a:p>
        </p:txBody>
      </p:sp>
      <p:cxnSp>
        <p:nvCxnSpPr>
          <p:cNvPr id="9" name="Straight Connector 8"/>
          <p:cNvCxnSpPr/>
          <p:nvPr/>
        </p:nvCxnSpPr>
        <p:spPr>
          <a:xfrm>
            <a:off x="2339752"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5511445" cy="523220"/>
          </a:xfrm>
          <a:prstGeom prst="rect">
            <a:avLst/>
          </a:prstGeom>
          <a:noFill/>
        </p:spPr>
        <p:txBody>
          <a:bodyPr wrap="none" rtlCol="0">
            <a:spAutoFit/>
          </a:bodyPr>
          <a:lstStyle/>
          <a:p>
            <a:r>
              <a:rPr lang="en-AU" sz="2800" dirty="0" smtClean="0"/>
              <a:t>Multiplication and </a:t>
            </a:r>
            <a:r>
              <a:rPr lang="en-AU" sz="2800" dirty="0" err="1" smtClean="0"/>
              <a:t>DivisionStrategies</a:t>
            </a:r>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smtClean="0"/>
              <a:t>Date</a:t>
            </a:r>
            <a:endParaRPr lang="en-AU" sz="2400" dirty="0"/>
          </a:p>
        </p:txBody>
      </p:sp>
      <p:sp>
        <p:nvSpPr>
          <p:cNvPr id="12" name="TextBox 11"/>
          <p:cNvSpPr txBox="1"/>
          <p:nvPr/>
        </p:nvSpPr>
        <p:spPr>
          <a:xfrm>
            <a:off x="93471" y="1078502"/>
            <a:ext cx="8620422" cy="461665"/>
          </a:xfrm>
          <a:prstGeom prst="rect">
            <a:avLst/>
          </a:prstGeom>
          <a:noFill/>
        </p:spPr>
        <p:txBody>
          <a:bodyPr wrap="square" rtlCol="0">
            <a:spAutoFit/>
          </a:bodyPr>
          <a:lstStyle/>
          <a:p>
            <a:r>
              <a:rPr lang="en-AU" sz="2400" dirty="0" smtClean="0"/>
              <a:t>EQ – </a:t>
            </a:r>
            <a:r>
              <a:rPr lang="en-AU" sz="2400" dirty="0" smtClean="0"/>
              <a:t>What</a:t>
            </a:r>
            <a:r>
              <a:rPr lang="en-AU" sz="2400" dirty="0" smtClean="0"/>
              <a:t> </a:t>
            </a:r>
            <a:r>
              <a:rPr lang="en-AU" sz="2400" dirty="0" smtClean="0"/>
              <a:t>strategies we can use to multiply and divide </a:t>
            </a:r>
            <a:r>
              <a:rPr lang="en-AU" sz="2400" dirty="0" smtClean="0"/>
              <a:t>mentally?</a:t>
            </a:r>
            <a:endParaRPr lang="en-AU" sz="2400" dirty="0"/>
          </a:p>
        </p:txBody>
      </p:sp>
      <p:sp>
        <p:nvSpPr>
          <p:cNvPr id="5" name="TextBox 4"/>
          <p:cNvSpPr txBox="1"/>
          <p:nvPr/>
        </p:nvSpPr>
        <p:spPr>
          <a:xfrm>
            <a:off x="2411760" y="2014605"/>
            <a:ext cx="6480720" cy="923330"/>
          </a:xfrm>
          <a:prstGeom prst="rect">
            <a:avLst/>
          </a:prstGeom>
          <a:noFill/>
        </p:spPr>
        <p:txBody>
          <a:bodyPr wrap="square" rtlCol="0">
            <a:spAutoFit/>
          </a:bodyPr>
          <a:lstStyle/>
          <a:p>
            <a:r>
              <a:rPr lang="en-AU" dirty="0" smtClean="0"/>
              <a:t>Multiplication can be done in any order. The associative and commutative laws do not hold for division (in the same way that they hold for addition but not for subtraction).</a:t>
            </a:r>
            <a:endParaRPr lang="en-AU" dirty="0"/>
          </a:p>
        </p:txBody>
      </p:sp>
      <p:sp>
        <p:nvSpPr>
          <p:cNvPr id="8" name="TextBox 7"/>
          <p:cNvSpPr txBox="1"/>
          <p:nvPr/>
        </p:nvSpPr>
        <p:spPr>
          <a:xfrm>
            <a:off x="161764" y="2036825"/>
            <a:ext cx="2016224" cy="923330"/>
          </a:xfrm>
          <a:prstGeom prst="rect">
            <a:avLst/>
          </a:prstGeom>
          <a:noFill/>
        </p:spPr>
        <p:txBody>
          <a:bodyPr wrap="square" rtlCol="0">
            <a:spAutoFit/>
          </a:bodyPr>
          <a:lstStyle/>
          <a:p>
            <a:r>
              <a:rPr lang="en-AU" dirty="0" smtClean="0"/>
              <a:t>The commutative and associative laws</a:t>
            </a:r>
            <a:endParaRPr lang="en-AU" dirty="0"/>
          </a:p>
        </p:txBody>
      </p:sp>
    </p:spTree>
    <p:extLst>
      <p:ext uri="{BB962C8B-B14F-4D97-AF65-F5344CB8AC3E}">
        <p14:creationId xmlns:p14="http://schemas.microsoft.com/office/powerpoint/2010/main" val="40904040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smtClean="0"/>
              <a:t>24</a:t>
            </a:r>
          </a:p>
          <a:p>
            <a:r>
              <a:rPr lang="en-AU" sz="1600" dirty="0" smtClean="0"/>
              <a:t>7</a:t>
            </a:r>
          </a:p>
          <a:p>
            <a:r>
              <a:rPr lang="en-AU" sz="1600" dirty="0" smtClean="0"/>
              <a:t>30</a:t>
            </a:r>
            <a:endParaRPr lang="en-AU" sz="1600" dirty="0"/>
          </a:p>
        </p:txBody>
      </p:sp>
      <p:cxnSp>
        <p:nvCxnSpPr>
          <p:cNvPr id="9" name="Straight Connector 8"/>
          <p:cNvCxnSpPr/>
          <p:nvPr/>
        </p:nvCxnSpPr>
        <p:spPr>
          <a:xfrm>
            <a:off x="2339752"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5511445" cy="523220"/>
          </a:xfrm>
          <a:prstGeom prst="rect">
            <a:avLst/>
          </a:prstGeom>
          <a:noFill/>
        </p:spPr>
        <p:txBody>
          <a:bodyPr wrap="none" rtlCol="0">
            <a:spAutoFit/>
          </a:bodyPr>
          <a:lstStyle/>
          <a:p>
            <a:r>
              <a:rPr lang="en-AU" sz="2800" dirty="0" smtClean="0"/>
              <a:t>Multiplication and </a:t>
            </a:r>
            <a:r>
              <a:rPr lang="en-AU" sz="2800" dirty="0" err="1" smtClean="0"/>
              <a:t>DivisionStrategies</a:t>
            </a:r>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smtClean="0"/>
              <a:t>Date</a:t>
            </a:r>
            <a:endParaRPr lang="en-AU" sz="2400" dirty="0"/>
          </a:p>
        </p:txBody>
      </p:sp>
      <p:sp>
        <p:nvSpPr>
          <p:cNvPr id="12" name="TextBox 11"/>
          <p:cNvSpPr txBox="1"/>
          <p:nvPr/>
        </p:nvSpPr>
        <p:spPr>
          <a:xfrm>
            <a:off x="93471" y="1078502"/>
            <a:ext cx="8620422" cy="461665"/>
          </a:xfrm>
          <a:prstGeom prst="rect">
            <a:avLst/>
          </a:prstGeom>
          <a:noFill/>
        </p:spPr>
        <p:txBody>
          <a:bodyPr wrap="square" rtlCol="0">
            <a:spAutoFit/>
          </a:bodyPr>
          <a:lstStyle/>
          <a:p>
            <a:r>
              <a:rPr lang="en-AU" sz="2400" dirty="0" smtClean="0"/>
              <a:t>EQ – </a:t>
            </a:r>
            <a:r>
              <a:rPr lang="en-AU" sz="2400" dirty="0" smtClean="0"/>
              <a:t>What</a:t>
            </a:r>
            <a:r>
              <a:rPr lang="en-AU" sz="2400" dirty="0" smtClean="0"/>
              <a:t> </a:t>
            </a:r>
            <a:r>
              <a:rPr lang="en-AU" sz="2400" dirty="0" smtClean="0"/>
              <a:t>strategies we can use to multiply and divide </a:t>
            </a:r>
            <a:r>
              <a:rPr lang="en-AU" sz="2400" dirty="0" smtClean="0"/>
              <a:t>mentally?</a:t>
            </a:r>
            <a:endParaRPr lang="en-AU" sz="2400" dirty="0"/>
          </a:p>
        </p:txBody>
      </p:sp>
      <p:sp>
        <p:nvSpPr>
          <p:cNvPr id="5" name="TextBox 4"/>
          <p:cNvSpPr txBox="1"/>
          <p:nvPr/>
        </p:nvSpPr>
        <p:spPr>
          <a:xfrm>
            <a:off x="2411760" y="2014605"/>
            <a:ext cx="6480720" cy="923330"/>
          </a:xfrm>
          <a:prstGeom prst="rect">
            <a:avLst/>
          </a:prstGeom>
          <a:noFill/>
        </p:spPr>
        <p:txBody>
          <a:bodyPr wrap="square" rtlCol="0">
            <a:spAutoFit/>
          </a:bodyPr>
          <a:lstStyle/>
          <a:p>
            <a:r>
              <a:rPr lang="en-AU" dirty="0" smtClean="0"/>
              <a:t>Multiplication can be done in any order and can be grouped in any way. The associative law does not hold for division (in the same way that they hold for addition but not for subtraction).</a:t>
            </a:r>
            <a:endParaRPr lang="en-AU" dirty="0"/>
          </a:p>
        </p:txBody>
      </p:sp>
      <p:sp>
        <p:nvSpPr>
          <p:cNvPr id="8" name="TextBox 7"/>
          <p:cNvSpPr txBox="1"/>
          <p:nvPr/>
        </p:nvSpPr>
        <p:spPr>
          <a:xfrm>
            <a:off x="161764" y="2036825"/>
            <a:ext cx="2016224" cy="646331"/>
          </a:xfrm>
          <a:prstGeom prst="rect">
            <a:avLst/>
          </a:prstGeom>
          <a:noFill/>
        </p:spPr>
        <p:txBody>
          <a:bodyPr wrap="square" rtlCol="0">
            <a:spAutoFit/>
          </a:bodyPr>
          <a:lstStyle/>
          <a:p>
            <a:r>
              <a:rPr lang="en-AU" dirty="0" smtClean="0"/>
              <a:t>The associative laws</a:t>
            </a:r>
            <a:endParaRPr lang="en-AU" dirty="0"/>
          </a:p>
        </p:txBody>
      </p:sp>
      <mc:AlternateContent xmlns:mc="http://schemas.openxmlformats.org/markup-compatibility/2006">
        <mc:Choice xmlns:a14="http://schemas.microsoft.com/office/drawing/2010/main" Requires="a14">
          <p:sp>
            <p:nvSpPr>
              <p:cNvPr id="3" name="TextBox 2"/>
              <p:cNvSpPr txBox="1"/>
              <p:nvPr/>
            </p:nvSpPr>
            <p:spPr>
              <a:xfrm>
                <a:off x="2447764" y="2994352"/>
                <a:ext cx="6408712" cy="923330"/>
              </a:xfrm>
              <a:prstGeom prst="rect">
                <a:avLst/>
              </a:prstGeom>
              <a:noFill/>
            </p:spPr>
            <p:txBody>
              <a:bodyPr wrap="square" rtlCol="0">
                <a:spAutoFit/>
              </a:bodyPr>
              <a:lstStyle/>
              <a:p>
                <a:r>
                  <a:rPr lang="en-AU" dirty="0" smtClean="0">
                    <a:solidFill>
                      <a:srgbClr val="FF0000"/>
                    </a:solidFill>
                  </a:rPr>
                  <a:t>The Associative Law:</a:t>
                </a:r>
              </a:p>
              <a:p>
                <a:endParaRPr lang="en-AU" dirty="0">
                  <a:solidFill>
                    <a:srgbClr val="FF0000"/>
                  </a:solidFill>
                </a:endParaRPr>
              </a:p>
              <a:p>
                <a14:m>
                  <m:oMathPara xmlns:m="http://schemas.openxmlformats.org/officeDocument/2006/math">
                    <m:oMathParaPr>
                      <m:jc m:val="centerGroup"/>
                    </m:oMathParaPr>
                    <m:oMath xmlns:m="http://schemas.openxmlformats.org/officeDocument/2006/math">
                      <m:d>
                        <m:dPr>
                          <m:ctrlPr>
                            <a:rPr lang="en-AU" b="0" i="1" smtClean="0">
                              <a:solidFill>
                                <a:srgbClr val="FF0000"/>
                              </a:solidFill>
                              <a:latin typeface="Cambria Math" panose="02040503050406030204" pitchFamily="18" charset="0"/>
                            </a:rPr>
                          </m:ctrlPr>
                        </m:dPr>
                        <m:e>
                          <m:r>
                            <a:rPr lang="en-AU" b="0" i="1" smtClean="0">
                              <a:solidFill>
                                <a:srgbClr val="FF0000"/>
                              </a:solidFill>
                              <a:latin typeface="Cambria Math" panose="02040503050406030204" pitchFamily="18" charset="0"/>
                            </a:rPr>
                            <m:t>𝑎</m:t>
                          </m:r>
                          <m:r>
                            <a:rPr lang="en-AU" b="0" i="1" smtClean="0">
                              <a:solidFill>
                                <a:srgbClr val="FF0000"/>
                              </a:solidFill>
                              <a:latin typeface="Cambria Math" panose="02040503050406030204" pitchFamily="18" charset="0"/>
                            </a:rPr>
                            <m:t>  ×  </m:t>
                          </m:r>
                          <m:r>
                            <a:rPr lang="en-AU" b="0" i="1" smtClean="0">
                              <a:solidFill>
                                <a:srgbClr val="FF0000"/>
                              </a:solidFill>
                              <a:latin typeface="Cambria Math" panose="02040503050406030204" pitchFamily="18" charset="0"/>
                            </a:rPr>
                            <m:t>𝑏</m:t>
                          </m:r>
                        </m:e>
                      </m:d>
                      <m:r>
                        <a:rPr lang="en-AU" b="0" i="1" smtClean="0">
                          <a:solidFill>
                            <a:srgbClr val="FF0000"/>
                          </a:solidFill>
                          <a:latin typeface="Cambria Math" panose="02040503050406030204" pitchFamily="18" charset="0"/>
                        </a:rPr>
                        <m:t> </m:t>
                      </m:r>
                      <m:r>
                        <a:rPr lang="en-AU" b="0" i="1" smtClean="0">
                          <a:solidFill>
                            <a:srgbClr val="FF0000"/>
                          </a:solidFill>
                          <a:latin typeface="Cambria Math" panose="02040503050406030204" pitchFamily="18" charset="0"/>
                          <a:ea typeface="Cambria Math" panose="02040503050406030204" pitchFamily="18" charset="0"/>
                        </a:rPr>
                        <m:t>×</m:t>
                      </m:r>
                      <m:r>
                        <a:rPr lang="en-AU" b="0" i="1" smtClean="0">
                          <a:solidFill>
                            <a:srgbClr val="FF0000"/>
                          </a:solidFill>
                          <a:latin typeface="Cambria Math" panose="02040503050406030204" pitchFamily="18" charset="0"/>
                        </a:rPr>
                        <m:t>  </m:t>
                      </m:r>
                      <m:r>
                        <a:rPr lang="en-AU" b="0" i="1" smtClean="0">
                          <a:solidFill>
                            <a:srgbClr val="FF0000"/>
                          </a:solidFill>
                          <a:latin typeface="Cambria Math" panose="02040503050406030204" pitchFamily="18" charset="0"/>
                        </a:rPr>
                        <m:t>𝑐</m:t>
                      </m:r>
                      <m:r>
                        <a:rPr lang="en-AU" b="0" i="1" smtClean="0">
                          <a:solidFill>
                            <a:srgbClr val="FF0000"/>
                          </a:solidFill>
                          <a:latin typeface="Cambria Math" panose="02040503050406030204" pitchFamily="18" charset="0"/>
                        </a:rPr>
                        <m:t> =  </m:t>
                      </m:r>
                      <m:r>
                        <a:rPr lang="en-AU" b="0" i="1" smtClean="0">
                          <a:solidFill>
                            <a:srgbClr val="FF0000"/>
                          </a:solidFill>
                          <a:latin typeface="Cambria Math" panose="02040503050406030204" pitchFamily="18" charset="0"/>
                        </a:rPr>
                        <m:t>𝑎</m:t>
                      </m:r>
                      <m:r>
                        <a:rPr lang="en-AU" b="0" i="1" smtClean="0">
                          <a:solidFill>
                            <a:srgbClr val="FF0000"/>
                          </a:solidFill>
                          <a:latin typeface="Cambria Math" panose="02040503050406030204" pitchFamily="18" charset="0"/>
                        </a:rPr>
                        <m:t>  ×  (</m:t>
                      </m:r>
                      <m:r>
                        <a:rPr lang="en-AU" b="0" i="1" smtClean="0">
                          <a:solidFill>
                            <a:srgbClr val="FF0000"/>
                          </a:solidFill>
                          <a:latin typeface="Cambria Math" panose="02040503050406030204" pitchFamily="18" charset="0"/>
                        </a:rPr>
                        <m:t>𝑏</m:t>
                      </m:r>
                      <m:r>
                        <a:rPr lang="en-AU" b="0" i="1" smtClean="0">
                          <a:solidFill>
                            <a:srgbClr val="FF0000"/>
                          </a:solidFill>
                          <a:latin typeface="Cambria Math" panose="02040503050406030204" pitchFamily="18" charset="0"/>
                        </a:rPr>
                        <m:t>  × </m:t>
                      </m:r>
                      <m:r>
                        <a:rPr lang="en-AU" b="0" i="1" smtClean="0">
                          <a:solidFill>
                            <a:srgbClr val="FF0000"/>
                          </a:solidFill>
                          <a:latin typeface="Cambria Math" panose="02040503050406030204" pitchFamily="18" charset="0"/>
                        </a:rPr>
                        <m:t>𝑐</m:t>
                      </m:r>
                      <m:r>
                        <a:rPr lang="en-AU" b="0" i="1" smtClean="0">
                          <a:solidFill>
                            <a:srgbClr val="FF0000"/>
                          </a:solidFill>
                          <a:latin typeface="Cambria Math" panose="02040503050406030204" pitchFamily="18" charset="0"/>
                        </a:rPr>
                        <m:t>)</m:t>
                      </m:r>
                    </m:oMath>
                  </m:oMathPara>
                </a14:m>
                <a:endParaRPr lang="en-AU" dirty="0">
                  <a:solidFill>
                    <a:srgbClr val="FF0000"/>
                  </a:solidFill>
                </a:endParaRPr>
              </a:p>
            </p:txBody>
          </p:sp>
        </mc:Choice>
        <mc:Fallback>
          <p:sp>
            <p:nvSpPr>
              <p:cNvPr id="3" name="TextBox 2"/>
              <p:cNvSpPr txBox="1">
                <a:spLocks noRot="1" noChangeAspect="1" noMove="1" noResize="1" noEditPoints="1" noAdjustHandles="1" noChangeArrowheads="1" noChangeShapeType="1" noTextEdit="1"/>
              </p:cNvSpPr>
              <p:nvPr/>
            </p:nvSpPr>
            <p:spPr>
              <a:xfrm>
                <a:off x="2447764" y="2994352"/>
                <a:ext cx="6408712" cy="923330"/>
              </a:xfrm>
              <a:prstGeom prst="rect">
                <a:avLst/>
              </a:prstGeom>
              <a:blipFill rotWithShape="0">
                <a:blip r:embed="rId2"/>
                <a:stretch>
                  <a:fillRect l="-856" t="-3289" b="-4605"/>
                </a:stretch>
              </a:blipFill>
            </p:spPr>
            <p:txBody>
              <a:bodyPr/>
              <a:lstStyle/>
              <a:p>
                <a:r>
                  <a:rPr lang="en-AU">
                    <a:noFill/>
                  </a:rPr>
                  <a:t> </a:t>
                </a:r>
              </a:p>
            </p:txBody>
          </p:sp>
        </mc:Fallback>
      </mc:AlternateContent>
    </p:spTree>
    <p:extLst>
      <p:ext uri="{BB962C8B-B14F-4D97-AF65-F5344CB8AC3E}">
        <p14:creationId xmlns:p14="http://schemas.microsoft.com/office/powerpoint/2010/main" val="62676450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smtClean="0"/>
              <a:t>24</a:t>
            </a:r>
          </a:p>
          <a:p>
            <a:r>
              <a:rPr lang="en-AU" sz="1600" dirty="0" smtClean="0"/>
              <a:t>7</a:t>
            </a:r>
          </a:p>
          <a:p>
            <a:r>
              <a:rPr lang="en-AU" sz="1600" dirty="0" smtClean="0"/>
              <a:t>30</a:t>
            </a:r>
            <a:endParaRPr lang="en-AU" sz="1600" dirty="0"/>
          </a:p>
        </p:txBody>
      </p:sp>
      <p:cxnSp>
        <p:nvCxnSpPr>
          <p:cNvPr id="9" name="Straight Connector 8"/>
          <p:cNvCxnSpPr/>
          <p:nvPr/>
        </p:nvCxnSpPr>
        <p:spPr>
          <a:xfrm>
            <a:off x="2339752"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5511445" cy="523220"/>
          </a:xfrm>
          <a:prstGeom prst="rect">
            <a:avLst/>
          </a:prstGeom>
          <a:noFill/>
        </p:spPr>
        <p:txBody>
          <a:bodyPr wrap="none" rtlCol="0">
            <a:spAutoFit/>
          </a:bodyPr>
          <a:lstStyle/>
          <a:p>
            <a:r>
              <a:rPr lang="en-AU" sz="2800" dirty="0" smtClean="0"/>
              <a:t>Multiplication and </a:t>
            </a:r>
            <a:r>
              <a:rPr lang="en-AU" sz="2800" dirty="0" err="1" smtClean="0"/>
              <a:t>DivisionStrategies</a:t>
            </a:r>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smtClean="0"/>
              <a:t>Date</a:t>
            </a:r>
            <a:endParaRPr lang="en-AU" sz="2400" dirty="0"/>
          </a:p>
        </p:txBody>
      </p:sp>
      <p:sp>
        <p:nvSpPr>
          <p:cNvPr id="12" name="TextBox 11"/>
          <p:cNvSpPr txBox="1"/>
          <p:nvPr/>
        </p:nvSpPr>
        <p:spPr>
          <a:xfrm>
            <a:off x="93471" y="1078502"/>
            <a:ext cx="8620422" cy="461665"/>
          </a:xfrm>
          <a:prstGeom prst="rect">
            <a:avLst/>
          </a:prstGeom>
          <a:noFill/>
        </p:spPr>
        <p:txBody>
          <a:bodyPr wrap="square" rtlCol="0">
            <a:spAutoFit/>
          </a:bodyPr>
          <a:lstStyle/>
          <a:p>
            <a:r>
              <a:rPr lang="en-AU" sz="2400" dirty="0" smtClean="0"/>
              <a:t>EQ – </a:t>
            </a:r>
            <a:r>
              <a:rPr lang="en-AU" sz="2400" dirty="0" smtClean="0"/>
              <a:t>What</a:t>
            </a:r>
            <a:r>
              <a:rPr lang="en-AU" sz="2400" dirty="0" smtClean="0"/>
              <a:t> </a:t>
            </a:r>
            <a:r>
              <a:rPr lang="en-AU" sz="2400" dirty="0" smtClean="0"/>
              <a:t>strategies we can use to multiply and divide </a:t>
            </a:r>
            <a:r>
              <a:rPr lang="en-AU" sz="2400" dirty="0" smtClean="0"/>
              <a:t>mentally?</a:t>
            </a:r>
            <a:endParaRPr lang="en-AU" sz="2400" dirty="0"/>
          </a:p>
        </p:txBody>
      </p:sp>
      <p:sp>
        <p:nvSpPr>
          <p:cNvPr id="5" name="TextBox 4"/>
          <p:cNvSpPr txBox="1"/>
          <p:nvPr/>
        </p:nvSpPr>
        <p:spPr>
          <a:xfrm>
            <a:off x="2411760" y="2014605"/>
            <a:ext cx="6480720" cy="923330"/>
          </a:xfrm>
          <a:prstGeom prst="rect">
            <a:avLst/>
          </a:prstGeom>
          <a:noFill/>
        </p:spPr>
        <p:txBody>
          <a:bodyPr wrap="square" rtlCol="0">
            <a:spAutoFit/>
          </a:bodyPr>
          <a:lstStyle/>
          <a:p>
            <a:r>
              <a:rPr lang="en-AU" dirty="0" smtClean="0"/>
              <a:t>Multiplication can be done in any order and can be grouped in any way. The associative law does not hold for division (in the same way that they hold for addition but not for subtraction).</a:t>
            </a:r>
            <a:endParaRPr lang="en-AU" dirty="0"/>
          </a:p>
        </p:txBody>
      </p:sp>
      <p:sp>
        <p:nvSpPr>
          <p:cNvPr id="8" name="TextBox 7"/>
          <p:cNvSpPr txBox="1"/>
          <p:nvPr/>
        </p:nvSpPr>
        <p:spPr>
          <a:xfrm>
            <a:off x="161764" y="2036825"/>
            <a:ext cx="2016224" cy="646331"/>
          </a:xfrm>
          <a:prstGeom prst="rect">
            <a:avLst/>
          </a:prstGeom>
          <a:noFill/>
        </p:spPr>
        <p:txBody>
          <a:bodyPr wrap="square" rtlCol="0">
            <a:spAutoFit/>
          </a:bodyPr>
          <a:lstStyle/>
          <a:p>
            <a:r>
              <a:rPr lang="en-AU" dirty="0" smtClean="0"/>
              <a:t>The associative laws</a:t>
            </a:r>
            <a:endParaRPr lang="en-AU" dirty="0"/>
          </a:p>
        </p:txBody>
      </p:sp>
      <mc:AlternateContent xmlns:mc="http://schemas.openxmlformats.org/markup-compatibility/2006">
        <mc:Choice xmlns:a14="http://schemas.microsoft.com/office/drawing/2010/main" Requires="a14">
          <p:sp>
            <p:nvSpPr>
              <p:cNvPr id="3" name="TextBox 2"/>
              <p:cNvSpPr txBox="1"/>
              <p:nvPr/>
            </p:nvSpPr>
            <p:spPr>
              <a:xfrm>
                <a:off x="2447764" y="2994352"/>
                <a:ext cx="6408712" cy="923330"/>
              </a:xfrm>
              <a:prstGeom prst="rect">
                <a:avLst/>
              </a:prstGeom>
              <a:noFill/>
            </p:spPr>
            <p:txBody>
              <a:bodyPr wrap="square" rtlCol="0">
                <a:spAutoFit/>
              </a:bodyPr>
              <a:lstStyle/>
              <a:p>
                <a:r>
                  <a:rPr lang="en-AU" dirty="0" smtClean="0">
                    <a:solidFill>
                      <a:srgbClr val="FF0000"/>
                    </a:solidFill>
                  </a:rPr>
                  <a:t>The Associative Law:</a:t>
                </a:r>
              </a:p>
              <a:p>
                <a:endParaRPr lang="en-AU" dirty="0">
                  <a:solidFill>
                    <a:srgbClr val="FF0000"/>
                  </a:solidFill>
                </a:endParaRPr>
              </a:p>
              <a:p>
                <a14:m>
                  <m:oMathPara xmlns:m="http://schemas.openxmlformats.org/officeDocument/2006/math">
                    <m:oMathParaPr>
                      <m:jc m:val="centerGroup"/>
                    </m:oMathParaPr>
                    <m:oMath xmlns:m="http://schemas.openxmlformats.org/officeDocument/2006/math">
                      <m:d>
                        <m:dPr>
                          <m:ctrlPr>
                            <a:rPr lang="en-AU" b="0" i="1" smtClean="0">
                              <a:solidFill>
                                <a:srgbClr val="FF0000"/>
                              </a:solidFill>
                              <a:latin typeface="Cambria Math" panose="02040503050406030204" pitchFamily="18" charset="0"/>
                            </a:rPr>
                          </m:ctrlPr>
                        </m:dPr>
                        <m:e>
                          <m:r>
                            <a:rPr lang="en-AU" b="0" i="1" smtClean="0">
                              <a:solidFill>
                                <a:srgbClr val="FF0000"/>
                              </a:solidFill>
                              <a:latin typeface="Cambria Math" panose="02040503050406030204" pitchFamily="18" charset="0"/>
                            </a:rPr>
                            <m:t>𝑎</m:t>
                          </m:r>
                          <m:r>
                            <a:rPr lang="en-AU" b="0" i="1" smtClean="0">
                              <a:solidFill>
                                <a:srgbClr val="FF0000"/>
                              </a:solidFill>
                              <a:latin typeface="Cambria Math" panose="02040503050406030204" pitchFamily="18" charset="0"/>
                            </a:rPr>
                            <m:t>  ×  </m:t>
                          </m:r>
                          <m:r>
                            <a:rPr lang="en-AU" b="0" i="1" smtClean="0">
                              <a:solidFill>
                                <a:srgbClr val="FF0000"/>
                              </a:solidFill>
                              <a:latin typeface="Cambria Math" panose="02040503050406030204" pitchFamily="18" charset="0"/>
                            </a:rPr>
                            <m:t>𝑏</m:t>
                          </m:r>
                        </m:e>
                      </m:d>
                      <m:r>
                        <a:rPr lang="en-AU" b="0" i="1" smtClean="0">
                          <a:solidFill>
                            <a:srgbClr val="FF0000"/>
                          </a:solidFill>
                          <a:latin typeface="Cambria Math" panose="02040503050406030204" pitchFamily="18" charset="0"/>
                        </a:rPr>
                        <m:t> </m:t>
                      </m:r>
                      <m:r>
                        <a:rPr lang="en-AU" b="0" i="1" smtClean="0">
                          <a:solidFill>
                            <a:srgbClr val="FF0000"/>
                          </a:solidFill>
                          <a:latin typeface="Cambria Math" panose="02040503050406030204" pitchFamily="18" charset="0"/>
                          <a:ea typeface="Cambria Math" panose="02040503050406030204" pitchFamily="18" charset="0"/>
                        </a:rPr>
                        <m:t>×</m:t>
                      </m:r>
                      <m:r>
                        <a:rPr lang="en-AU" b="0" i="1" smtClean="0">
                          <a:solidFill>
                            <a:srgbClr val="FF0000"/>
                          </a:solidFill>
                          <a:latin typeface="Cambria Math" panose="02040503050406030204" pitchFamily="18" charset="0"/>
                        </a:rPr>
                        <m:t>  </m:t>
                      </m:r>
                      <m:r>
                        <a:rPr lang="en-AU" b="0" i="1" smtClean="0">
                          <a:solidFill>
                            <a:srgbClr val="FF0000"/>
                          </a:solidFill>
                          <a:latin typeface="Cambria Math" panose="02040503050406030204" pitchFamily="18" charset="0"/>
                        </a:rPr>
                        <m:t>𝑐</m:t>
                      </m:r>
                      <m:r>
                        <a:rPr lang="en-AU" b="0" i="1" smtClean="0">
                          <a:solidFill>
                            <a:srgbClr val="FF0000"/>
                          </a:solidFill>
                          <a:latin typeface="Cambria Math" panose="02040503050406030204" pitchFamily="18" charset="0"/>
                        </a:rPr>
                        <m:t> =  </m:t>
                      </m:r>
                      <m:r>
                        <a:rPr lang="en-AU" b="0" i="1" smtClean="0">
                          <a:solidFill>
                            <a:srgbClr val="FF0000"/>
                          </a:solidFill>
                          <a:latin typeface="Cambria Math" panose="02040503050406030204" pitchFamily="18" charset="0"/>
                        </a:rPr>
                        <m:t>𝑎</m:t>
                      </m:r>
                      <m:r>
                        <a:rPr lang="en-AU" b="0" i="1" smtClean="0">
                          <a:solidFill>
                            <a:srgbClr val="FF0000"/>
                          </a:solidFill>
                          <a:latin typeface="Cambria Math" panose="02040503050406030204" pitchFamily="18" charset="0"/>
                        </a:rPr>
                        <m:t>  ×  (</m:t>
                      </m:r>
                      <m:r>
                        <a:rPr lang="en-AU" b="0" i="1" smtClean="0">
                          <a:solidFill>
                            <a:srgbClr val="FF0000"/>
                          </a:solidFill>
                          <a:latin typeface="Cambria Math" panose="02040503050406030204" pitchFamily="18" charset="0"/>
                        </a:rPr>
                        <m:t>𝑏</m:t>
                      </m:r>
                      <m:r>
                        <a:rPr lang="en-AU" b="0" i="1" smtClean="0">
                          <a:solidFill>
                            <a:srgbClr val="FF0000"/>
                          </a:solidFill>
                          <a:latin typeface="Cambria Math" panose="02040503050406030204" pitchFamily="18" charset="0"/>
                        </a:rPr>
                        <m:t>  × </m:t>
                      </m:r>
                      <m:r>
                        <a:rPr lang="en-AU" b="0" i="1" smtClean="0">
                          <a:solidFill>
                            <a:srgbClr val="FF0000"/>
                          </a:solidFill>
                          <a:latin typeface="Cambria Math" panose="02040503050406030204" pitchFamily="18" charset="0"/>
                        </a:rPr>
                        <m:t>𝑐</m:t>
                      </m:r>
                      <m:r>
                        <a:rPr lang="en-AU" b="0" i="1" smtClean="0">
                          <a:solidFill>
                            <a:srgbClr val="FF0000"/>
                          </a:solidFill>
                          <a:latin typeface="Cambria Math" panose="02040503050406030204" pitchFamily="18" charset="0"/>
                        </a:rPr>
                        <m:t>)</m:t>
                      </m:r>
                    </m:oMath>
                  </m:oMathPara>
                </a14:m>
                <a:endParaRPr lang="en-AU" dirty="0">
                  <a:solidFill>
                    <a:srgbClr val="FF0000"/>
                  </a:solidFill>
                </a:endParaRPr>
              </a:p>
            </p:txBody>
          </p:sp>
        </mc:Choice>
        <mc:Fallback>
          <p:sp>
            <p:nvSpPr>
              <p:cNvPr id="3" name="TextBox 2"/>
              <p:cNvSpPr txBox="1">
                <a:spLocks noRot="1" noChangeAspect="1" noMove="1" noResize="1" noEditPoints="1" noAdjustHandles="1" noChangeArrowheads="1" noChangeShapeType="1" noTextEdit="1"/>
              </p:cNvSpPr>
              <p:nvPr/>
            </p:nvSpPr>
            <p:spPr>
              <a:xfrm>
                <a:off x="2447764" y="2994352"/>
                <a:ext cx="6408712" cy="923330"/>
              </a:xfrm>
              <a:prstGeom prst="rect">
                <a:avLst/>
              </a:prstGeom>
              <a:blipFill rotWithShape="0">
                <a:blip r:embed="rId2"/>
                <a:stretch>
                  <a:fillRect l="-856" t="-3289" b="-4605"/>
                </a:stretch>
              </a:blipFill>
            </p:spPr>
            <p:txBody>
              <a:bodyPr/>
              <a:lstStyle/>
              <a:p>
                <a:r>
                  <a:rPr lang="en-AU">
                    <a:noFill/>
                  </a:rPr>
                  <a:t> </a:t>
                </a:r>
              </a:p>
            </p:txBody>
          </p:sp>
        </mc:Fallback>
      </mc:AlternateContent>
      <p:pic>
        <p:nvPicPr>
          <p:cNvPr id="14" name="Picture 2"/>
          <p:cNvPicPr>
            <a:picLocks noChangeAspect="1" noChangeArrowheads="1"/>
          </p:cNvPicPr>
          <p:nvPr/>
        </p:nvPicPr>
        <p:blipFill>
          <a:blip r:embed="rId3" cstate="print"/>
          <a:srcRect/>
          <a:stretch>
            <a:fillRect/>
          </a:stretch>
        </p:blipFill>
        <p:spPr bwMode="auto">
          <a:xfrm>
            <a:off x="2843808" y="4221088"/>
            <a:ext cx="5688632" cy="1151111"/>
          </a:xfrm>
          <a:prstGeom prst="rect">
            <a:avLst/>
          </a:prstGeom>
          <a:noFill/>
          <a:ln w="9525">
            <a:noFill/>
            <a:miter lim="800000"/>
            <a:headEnd/>
            <a:tailEnd/>
          </a:ln>
        </p:spPr>
      </p:pic>
    </p:spTree>
    <p:extLst>
      <p:ext uri="{BB962C8B-B14F-4D97-AF65-F5344CB8AC3E}">
        <p14:creationId xmlns:p14="http://schemas.microsoft.com/office/powerpoint/2010/main" val="32277383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smtClean="0"/>
              <a:t> </a:t>
            </a:r>
            <a:endParaRPr lang="en-AU" dirty="0"/>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smtClean="0"/>
              <a:t>24</a:t>
            </a:r>
          </a:p>
          <a:p>
            <a:r>
              <a:rPr lang="en-AU" sz="1600" dirty="0" smtClean="0"/>
              <a:t>7</a:t>
            </a:r>
          </a:p>
          <a:p>
            <a:r>
              <a:rPr lang="en-AU" sz="1600" dirty="0" smtClean="0"/>
              <a:t>30</a:t>
            </a:r>
            <a:endParaRPr lang="en-AU" sz="1600" dirty="0"/>
          </a:p>
        </p:txBody>
      </p:sp>
      <p:cxnSp>
        <p:nvCxnSpPr>
          <p:cNvPr id="9" name="Straight Connector 8"/>
          <p:cNvCxnSpPr/>
          <p:nvPr/>
        </p:nvCxnSpPr>
        <p:spPr>
          <a:xfrm>
            <a:off x="2123728"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5511445" cy="523220"/>
          </a:xfrm>
          <a:prstGeom prst="rect">
            <a:avLst/>
          </a:prstGeom>
          <a:noFill/>
        </p:spPr>
        <p:txBody>
          <a:bodyPr wrap="none" rtlCol="0">
            <a:spAutoFit/>
          </a:bodyPr>
          <a:lstStyle/>
          <a:p>
            <a:r>
              <a:rPr lang="en-AU" sz="2800" dirty="0" smtClean="0"/>
              <a:t>Multiplication and </a:t>
            </a:r>
            <a:r>
              <a:rPr lang="en-AU" sz="2800" dirty="0" err="1" smtClean="0"/>
              <a:t>DivisionStrategies</a:t>
            </a:r>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smtClean="0"/>
              <a:t>Date</a:t>
            </a:r>
            <a:endParaRPr lang="en-AU" sz="2400" dirty="0"/>
          </a:p>
        </p:txBody>
      </p:sp>
      <p:sp>
        <p:nvSpPr>
          <p:cNvPr id="12" name="TextBox 11"/>
          <p:cNvSpPr txBox="1"/>
          <p:nvPr/>
        </p:nvSpPr>
        <p:spPr>
          <a:xfrm>
            <a:off x="93471" y="1078502"/>
            <a:ext cx="8620422" cy="461665"/>
          </a:xfrm>
          <a:prstGeom prst="rect">
            <a:avLst/>
          </a:prstGeom>
          <a:noFill/>
        </p:spPr>
        <p:txBody>
          <a:bodyPr wrap="square" rtlCol="0">
            <a:spAutoFit/>
          </a:bodyPr>
          <a:lstStyle/>
          <a:p>
            <a:r>
              <a:rPr lang="en-AU" sz="2400" dirty="0" smtClean="0"/>
              <a:t>EQ – </a:t>
            </a:r>
            <a:r>
              <a:rPr lang="en-AU" sz="2400" dirty="0" smtClean="0"/>
              <a:t>What </a:t>
            </a:r>
            <a:r>
              <a:rPr lang="en-AU" sz="2400" dirty="0"/>
              <a:t>strategies we can use to multiply and divide </a:t>
            </a:r>
            <a:r>
              <a:rPr lang="en-AU" sz="2400" dirty="0" smtClean="0"/>
              <a:t>mentally?</a:t>
            </a:r>
            <a:endParaRPr lang="en-AU" sz="2400" dirty="0"/>
          </a:p>
        </p:txBody>
      </p:sp>
      <p:pic>
        <p:nvPicPr>
          <p:cNvPr id="10242" name="Picture 2"/>
          <p:cNvPicPr>
            <a:picLocks noChangeAspect="1" noChangeArrowheads="1"/>
          </p:cNvPicPr>
          <p:nvPr/>
        </p:nvPicPr>
        <p:blipFill>
          <a:blip r:embed="rId2" cstate="print"/>
          <a:srcRect/>
          <a:stretch>
            <a:fillRect/>
          </a:stretch>
        </p:blipFill>
        <p:spPr bwMode="auto">
          <a:xfrm>
            <a:off x="2352675" y="2028824"/>
            <a:ext cx="6556460" cy="4136479"/>
          </a:xfrm>
          <a:prstGeom prst="rect">
            <a:avLst/>
          </a:prstGeom>
          <a:noFill/>
          <a:ln w="9525">
            <a:noFill/>
            <a:miter lim="800000"/>
            <a:headEnd/>
            <a:tailEnd/>
          </a:ln>
        </p:spPr>
      </p:pic>
    </p:spTree>
    <p:extLst>
      <p:ext uri="{BB962C8B-B14F-4D97-AF65-F5344CB8AC3E}">
        <p14:creationId xmlns:p14="http://schemas.microsoft.com/office/powerpoint/2010/main" val="167090258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smtClean="0"/>
              <a:t>24</a:t>
            </a:r>
          </a:p>
          <a:p>
            <a:r>
              <a:rPr lang="en-AU" sz="1600" dirty="0" smtClean="0"/>
              <a:t>7</a:t>
            </a:r>
          </a:p>
          <a:p>
            <a:r>
              <a:rPr lang="en-AU" sz="1600" dirty="0" smtClean="0"/>
              <a:t>30</a:t>
            </a:r>
            <a:endParaRPr lang="en-AU" sz="1600" dirty="0"/>
          </a:p>
        </p:txBody>
      </p:sp>
      <p:cxnSp>
        <p:nvCxnSpPr>
          <p:cNvPr id="9" name="Straight Connector 8"/>
          <p:cNvCxnSpPr/>
          <p:nvPr/>
        </p:nvCxnSpPr>
        <p:spPr>
          <a:xfrm>
            <a:off x="2123728"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5511445" cy="523220"/>
          </a:xfrm>
          <a:prstGeom prst="rect">
            <a:avLst/>
          </a:prstGeom>
          <a:noFill/>
        </p:spPr>
        <p:txBody>
          <a:bodyPr wrap="none" rtlCol="0">
            <a:spAutoFit/>
          </a:bodyPr>
          <a:lstStyle/>
          <a:p>
            <a:r>
              <a:rPr lang="en-AU" sz="2800" dirty="0" smtClean="0"/>
              <a:t>Multiplication and </a:t>
            </a:r>
            <a:r>
              <a:rPr lang="en-AU" sz="2800" dirty="0" err="1" smtClean="0"/>
              <a:t>DivisionStrategies</a:t>
            </a:r>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smtClean="0"/>
              <a:t>Date</a:t>
            </a:r>
            <a:endParaRPr lang="en-AU" sz="2400" dirty="0"/>
          </a:p>
        </p:txBody>
      </p:sp>
      <p:sp>
        <p:nvSpPr>
          <p:cNvPr id="12" name="TextBox 11"/>
          <p:cNvSpPr txBox="1"/>
          <p:nvPr/>
        </p:nvSpPr>
        <p:spPr>
          <a:xfrm>
            <a:off x="93471" y="1078502"/>
            <a:ext cx="8620422" cy="461665"/>
          </a:xfrm>
          <a:prstGeom prst="rect">
            <a:avLst/>
          </a:prstGeom>
          <a:noFill/>
        </p:spPr>
        <p:txBody>
          <a:bodyPr wrap="square" rtlCol="0">
            <a:spAutoFit/>
          </a:bodyPr>
          <a:lstStyle/>
          <a:p>
            <a:r>
              <a:rPr lang="en-AU" sz="2400" dirty="0" smtClean="0"/>
              <a:t>EQ – </a:t>
            </a:r>
            <a:r>
              <a:rPr lang="en-AU" sz="2400" dirty="0" smtClean="0"/>
              <a:t>What </a:t>
            </a:r>
            <a:r>
              <a:rPr lang="en-AU" sz="2400" dirty="0"/>
              <a:t>strategies we can use to multiply and divide </a:t>
            </a:r>
            <a:r>
              <a:rPr lang="en-AU" sz="2400" dirty="0" smtClean="0"/>
              <a:t>mentally?</a:t>
            </a:r>
            <a:endParaRPr lang="en-AU" sz="2400" dirty="0"/>
          </a:p>
        </p:txBody>
      </p:sp>
      <p:pic>
        <p:nvPicPr>
          <p:cNvPr id="10243" name="Picture 3"/>
          <p:cNvPicPr>
            <a:picLocks noChangeAspect="1" noChangeArrowheads="1"/>
          </p:cNvPicPr>
          <p:nvPr/>
        </p:nvPicPr>
        <p:blipFill>
          <a:blip r:embed="rId2" cstate="print"/>
          <a:srcRect/>
          <a:stretch>
            <a:fillRect/>
          </a:stretch>
        </p:blipFill>
        <p:spPr bwMode="auto">
          <a:xfrm>
            <a:off x="2123728" y="2739596"/>
            <a:ext cx="7058025" cy="1985547"/>
          </a:xfrm>
          <a:prstGeom prst="rect">
            <a:avLst/>
          </a:prstGeom>
          <a:noFill/>
          <a:ln w="9525">
            <a:noFill/>
            <a:miter lim="800000"/>
            <a:headEnd/>
            <a:tailEnd/>
          </a:ln>
        </p:spPr>
      </p:pic>
      <p:pic>
        <p:nvPicPr>
          <p:cNvPr id="10244" name="Picture 4"/>
          <p:cNvPicPr>
            <a:picLocks noChangeAspect="1" noChangeArrowheads="1"/>
          </p:cNvPicPr>
          <p:nvPr/>
        </p:nvPicPr>
        <p:blipFill>
          <a:blip r:embed="rId3" cstate="print"/>
          <a:srcRect/>
          <a:stretch>
            <a:fillRect/>
          </a:stretch>
        </p:blipFill>
        <p:spPr bwMode="auto">
          <a:xfrm>
            <a:off x="2158458" y="1982228"/>
            <a:ext cx="3227577" cy="473378"/>
          </a:xfrm>
          <a:prstGeom prst="rect">
            <a:avLst/>
          </a:prstGeom>
          <a:noFill/>
          <a:ln w="9525">
            <a:noFill/>
            <a:miter lim="800000"/>
            <a:headEnd/>
            <a:tailEnd/>
          </a:ln>
        </p:spPr>
      </p:pic>
    </p:spTree>
    <p:extLst>
      <p:ext uri="{BB962C8B-B14F-4D97-AF65-F5344CB8AC3E}">
        <p14:creationId xmlns:p14="http://schemas.microsoft.com/office/powerpoint/2010/main" val="113168275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smtClean="0"/>
              <a:t> </a:t>
            </a:r>
            <a:endParaRPr lang="en-AU" dirty="0"/>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smtClean="0"/>
              <a:t>24</a:t>
            </a:r>
          </a:p>
          <a:p>
            <a:r>
              <a:rPr lang="en-AU" sz="1600" dirty="0" smtClean="0"/>
              <a:t>7</a:t>
            </a:r>
          </a:p>
          <a:p>
            <a:r>
              <a:rPr lang="en-AU" sz="1600" dirty="0" smtClean="0"/>
              <a:t>30</a:t>
            </a:r>
            <a:endParaRPr lang="en-AU" sz="1600" dirty="0"/>
          </a:p>
        </p:txBody>
      </p:sp>
      <p:cxnSp>
        <p:nvCxnSpPr>
          <p:cNvPr id="9" name="Straight Connector 8"/>
          <p:cNvCxnSpPr/>
          <p:nvPr/>
        </p:nvCxnSpPr>
        <p:spPr>
          <a:xfrm>
            <a:off x="2123728"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5511445" cy="523220"/>
          </a:xfrm>
          <a:prstGeom prst="rect">
            <a:avLst/>
          </a:prstGeom>
          <a:noFill/>
        </p:spPr>
        <p:txBody>
          <a:bodyPr wrap="none" rtlCol="0">
            <a:spAutoFit/>
          </a:bodyPr>
          <a:lstStyle/>
          <a:p>
            <a:r>
              <a:rPr lang="en-AU" sz="2800" dirty="0" smtClean="0"/>
              <a:t>Multiplication and </a:t>
            </a:r>
            <a:r>
              <a:rPr lang="en-AU" sz="2800" dirty="0" err="1" smtClean="0"/>
              <a:t>DivisionStrategies</a:t>
            </a:r>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smtClean="0"/>
              <a:t>Date</a:t>
            </a:r>
            <a:endParaRPr lang="en-AU" sz="2400" dirty="0"/>
          </a:p>
        </p:txBody>
      </p:sp>
      <p:sp>
        <p:nvSpPr>
          <p:cNvPr id="12" name="TextBox 11"/>
          <p:cNvSpPr txBox="1"/>
          <p:nvPr/>
        </p:nvSpPr>
        <p:spPr>
          <a:xfrm>
            <a:off x="93471" y="1078502"/>
            <a:ext cx="8620422" cy="461665"/>
          </a:xfrm>
          <a:prstGeom prst="rect">
            <a:avLst/>
          </a:prstGeom>
          <a:noFill/>
        </p:spPr>
        <p:txBody>
          <a:bodyPr wrap="square" rtlCol="0">
            <a:spAutoFit/>
          </a:bodyPr>
          <a:lstStyle/>
          <a:p>
            <a:r>
              <a:rPr lang="en-AU" sz="2400" dirty="0" smtClean="0"/>
              <a:t>EQ – </a:t>
            </a:r>
            <a:r>
              <a:rPr lang="en-AU" sz="2400" dirty="0" smtClean="0"/>
              <a:t>What </a:t>
            </a:r>
            <a:r>
              <a:rPr lang="en-AU" sz="2400" dirty="0"/>
              <a:t>strategies we can use to multiply and divide </a:t>
            </a:r>
            <a:r>
              <a:rPr lang="en-AU" sz="2400" dirty="0" smtClean="0"/>
              <a:t>mentally?</a:t>
            </a:r>
            <a:endParaRPr lang="en-AU" sz="2400" dirty="0"/>
          </a:p>
        </p:txBody>
      </p:sp>
      <p:sp>
        <p:nvSpPr>
          <p:cNvPr id="3" name="TextBox 2"/>
          <p:cNvSpPr txBox="1"/>
          <p:nvPr/>
        </p:nvSpPr>
        <p:spPr>
          <a:xfrm>
            <a:off x="2267744" y="2132856"/>
            <a:ext cx="6624736" cy="646331"/>
          </a:xfrm>
          <a:prstGeom prst="rect">
            <a:avLst/>
          </a:prstGeom>
          <a:noFill/>
        </p:spPr>
        <p:txBody>
          <a:bodyPr wrap="square" rtlCol="0">
            <a:spAutoFit/>
          </a:bodyPr>
          <a:lstStyle/>
          <a:p>
            <a:r>
              <a:rPr lang="en-AU" dirty="0" smtClean="0"/>
              <a:t>Discussion:</a:t>
            </a:r>
          </a:p>
          <a:p>
            <a:r>
              <a:rPr lang="en-AU" dirty="0" smtClean="0"/>
              <a:t>Can you think of and describe any other strategies that you use?</a:t>
            </a:r>
            <a:endParaRPr lang="en-AU" dirty="0"/>
          </a:p>
        </p:txBody>
      </p:sp>
    </p:spTree>
    <p:extLst>
      <p:ext uri="{BB962C8B-B14F-4D97-AF65-F5344CB8AC3E}">
        <p14:creationId xmlns:p14="http://schemas.microsoft.com/office/powerpoint/2010/main" val="141464221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835696" y="548680"/>
            <a:ext cx="5256584" cy="369332"/>
          </a:xfrm>
          <a:prstGeom prst="rect">
            <a:avLst/>
          </a:prstGeom>
          <a:noFill/>
        </p:spPr>
        <p:txBody>
          <a:bodyPr wrap="square" rtlCol="0">
            <a:spAutoFit/>
          </a:bodyPr>
          <a:lstStyle/>
          <a:p>
            <a:pPr algn="ctr"/>
            <a:r>
              <a:rPr lang="en-AU" dirty="0" smtClean="0"/>
              <a:t>Task</a:t>
            </a:r>
            <a:endParaRPr lang="en-AU" dirty="0"/>
          </a:p>
        </p:txBody>
      </p:sp>
      <p:pic>
        <p:nvPicPr>
          <p:cNvPr id="4100" name="Picture 4"/>
          <p:cNvPicPr>
            <a:picLocks noChangeAspect="1" noChangeArrowheads="1"/>
          </p:cNvPicPr>
          <p:nvPr/>
        </p:nvPicPr>
        <p:blipFill>
          <a:blip r:embed="rId2" cstate="print"/>
          <a:srcRect/>
          <a:stretch>
            <a:fillRect/>
          </a:stretch>
        </p:blipFill>
        <p:spPr bwMode="auto">
          <a:xfrm>
            <a:off x="1071563" y="990600"/>
            <a:ext cx="7000875" cy="4876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835696" y="548680"/>
            <a:ext cx="5256584" cy="369332"/>
          </a:xfrm>
          <a:prstGeom prst="rect">
            <a:avLst/>
          </a:prstGeom>
          <a:noFill/>
        </p:spPr>
        <p:txBody>
          <a:bodyPr wrap="square" rtlCol="0">
            <a:spAutoFit/>
          </a:bodyPr>
          <a:lstStyle/>
          <a:p>
            <a:pPr algn="ctr"/>
            <a:r>
              <a:rPr lang="en-AU" dirty="0" smtClean="0"/>
              <a:t>Task</a:t>
            </a:r>
            <a:endParaRPr lang="en-AU" dirty="0"/>
          </a:p>
        </p:txBody>
      </p:sp>
      <p:pic>
        <p:nvPicPr>
          <p:cNvPr id="5123" name="Picture 3"/>
          <p:cNvPicPr>
            <a:picLocks noChangeAspect="1" noChangeArrowheads="1"/>
          </p:cNvPicPr>
          <p:nvPr/>
        </p:nvPicPr>
        <p:blipFill>
          <a:blip r:embed="rId2" cstate="print"/>
          <a:srcRect/>
          <a:stretch>
            <a:fillRect/>
          </a:stretch>
        </p:blipFill>
        <p:spPr bwMode="auto">
          <a:xfrm>
            <a:off x="971600" y="908720"/>
            <a:ext cx="7305675" cy="5324475"/>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835696" y="548680"/>
            <a:ext cx="5256584" cy="369332"/>
          </a:xfrm>
          <a:prstGeom prst="rect">
            <a:avLst/>
          </a:prstGeom>
          <a:noFill/>
        </p:spPr>
        <p:txBody>
          <a:bodyPr wrap="square" rtlCol="0">
            <a:spAutoFit/>
          </a:bodyPr>
          <a:lstStyle/>
          <a:p>
            <a:pPr algn="ctr"/>
            <a:r>
              <a:rPr lang="en-AU" dirty="0" smtClean="0"/>
              <a:t>Task</a:t>
            </a:r>
            <a:endParaRPr lang="en-AU" dirty="0"/>
          </a:p>
        </p:txBody>
      </p:sp>
      <p:pic>
        <p:nvPicPr>
          <p:cNvPr id="6147" name="Picture 3"/>
          <p:cNvPicPr>
            <a:picLocks noChangeAspect="1" noChangeArrowheads="1"/>
          </p:cNvPicPr>
          <p:nvPr/>
        </p:nvPicPr>
        <p:blipFill>
          <a:blip r:embed="rId2" cstate="print"/>
          <a:srcRect/>
          <a:stretch>
            <a:fillRect/>
          </a:stretch>
        </p:blipFill>
        <p:spPr bwMode="auto">
          <a:xfrm>
            <a:off x="919163" y="1543050"/>
            <a:ext cx="7305675" cy="3771900"/>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835696" y="548680"/>
            <a:ext cx="5256584" cy="369332"/>
          </a:xfrm>
          <a:prstGeom prst="rect">
            <a:avLst/>
          </a:prstGeom>
          <a:noFill/>
        </p:spPr>
        <p:txBody>
          <a:bodyPr wrap="square" rtlCol="0">
            <a:spAutoFit/>
          </a:bodyPr>
          <a:lstStyle/>
          <a:p>
            <a:pPr algn="ctr"/>
            <a:r>
              <a:rPr lang="en-AU" dirty="0" smtClean="0"/>
              <a:t>Answers</a:t>
            </a:r>
            <a:endParaRPr lang="en-AU" dirty="0"/>
          </a:p>
        </p:txBody>
      </p:sp>
      <p:pic>
        <p:nvPicPr>
          <p:cNvPr id="7171" name="Picture 3"/>
          <p:cNvPicPr>
            <a:picLocks noChangeAspect="1" noChangeArrowheads="1"/>
          </p:cNvPicPr>
          <p:nvPr/>
        </p:nvPicPr>
        <p:blipFill>
          <a:blip r:embed="rId2" cstate="print"/>
          <a:srcRect/>
          <a:stretch>
            <a:fillRect/>
          </a:stretch>
        </p:blipFill>
        <p:spPr bwMode="auto">
          <a:xfrm>
            <a:off x="2709863" y="1162050"/>
            <a:ext cx="3724275" cy="4533900"/>
          </a:xfrm>
          <a:prstGeom prst="rect">
            <a:avLst/>
          </a:prstGeom>
          <a:noFill/>
          <a:ln w="9525">
            <a:noFill/>
            <a:miter lim="800000"/>
            <a:headEnd/>
            <a:tailEnd/>
          </a:ln>
        </p:spPr>
      </p:pic>
      <p:pic>
        <p:nvPicPr>
          <p:cNvPr id="7172" name="Picture 4"/>
          <p:cNvPicPr>
            <a:picLocks noChangeAspect="1" noChangeArrowheads="1"/>
          </p:cNvPicPr>
          <p:nvPr/>
        </p:nvPicPr>
        <p:blipFill>
          <a:blip r:embed="rId3" cstate="print"/>
          <a:srcRect/>
          <a:stretch>
            <a:fillRect/>
          </a:stretch>
        </p:blipFill>
        <p:spPr bwMode="auto">
          <a:xfrm>
            <a:off x="2699792" y="5733256"/>
            <a:ext cx="2952750" cy="619125"/>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Notes Review</a:t>
            </a:r>
            <a:endParaRPr lang="en-AU" dirty="0"/>
          </a:p>
        </p:txBody>
      </p:sp>
      <p:sp>
        <p:nvSpPr>
          <p:cNvPr id="3" name="Content Placeholder 2"/>
          <p:cNvSpPr>
            <a:spLocks noGrp="1"/>
          </p:cNvSpPr>
          <p:nvPr>
            <p:ph idx="1"/>
          </p:nvPr>
        </p:nvSpPr>
        <p:spPr/>
        <p:txBody>
          <a:bodyPr>
            <a:normAutofit fontScale="92500" lnSpcReduction="20000"/>
          </a:bodyPr>
          <a:lstStyle/>
          <a:p>
            <a:r>
              <a:rPr lang="en-AU" dirty="0" smtClean="0"/>
              <a:t>24, 7 ,30</a:t>
            </a:r>
          </a:p>
          <a:p>
            <a:r>
              <a:rPr lang="en-AU" dirty="0" smtClean="0"/>
              <a:t>Date</a:t>
            </a:r>
          </a:p>
          <a:p>
            <a:r>
              <a:rPr lang="en-AU" dirty="0" smtClean="0"/>
              <a:t>Title</a:t>
            </a:r>
          </a:p>
          <a:p>
            <a:r>
              <a:rPr lang="en-AU" dirty="0" smtClean="0"/>
              <a:t>Essential question</a:t>
            </a:r>
          </a:p>
          <a:p>
            <a:r>
              <a:rPr lang="en-AU" dirty="0" smtClean="0"/>
              <a:t>Notes complete </a:t>
            </a:r>
          </a:p>
          <a:p>
            <a:r>
              <a:rPr lang="en-AU" dirty="0" smtClean="0"/>
              <a:t>Notes complete with colour and diagrams</a:t>
            </a:r>
          </a:p>
          <a:p>
            <a:r>
              <a:rPr lang="en-AU" dirty="0" smtClean="0"/>
              <a:t>Questions completed</a:t>
            </a:r>
          </a:p>
          <a:p>
            <a:r>
              <a:rPr lang="en-AU" dirty="0" smtClean="0"/>
              <a:t>Contents page </a:t>
            </a:r>
            <a:r>
              <a:rPr lang="en-AU" dirty="0" smtClean="0"/>
              <a:t>filled </a:t>
            </a:r>
            <a:r>
              <a:rPr lang="en-AU" dirty="0" smtClean="0"/>
              <a:t>in</a:t>
            </a:r>
          </a:p>
          <a:p>
            <a:r>
              <a:rPr lang="en-AU" dirty="0" smtClean="0"/>
              <a:t>Formula page filled in</a:t>
            </a:r>
          </a:p>
          <a:p>
            <a:pPr marL="0" indent="0">
              <a:buNone/>
            </a:pPr>
            <a:endParaRPr lang="en-AU" dirty="0" smtClean="0"/>
          </a:p>
          <a:p>
            <a:endParaRPr lang="en-AU" dirty="0" smtClean="0"/>
          </a:p>
        </p:txBody>
      </p:sp>
    </p:spTree>
    <p:extLst>
      <p:ext uri="{BB962C8B-B14F-4D97-AF65-F5344CB8AC3E}">
        <p14:creationId xmlns:p14="http://schemas.microsoft.com/office/powerpoint/2010/main" val="306992181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Homework</a:t>
            </a:r>
            <a:endParaRPr lang="en-AU" dirty="0"/>
          </a:p>
        </p:txBody>
      </p:sp>
      <p:sp>
        <p:nvSpPr>
          <p:cNvPr id="3" name="Content Placeholder 2"/>
          <p:cNvSpPr>
            <a:spLocks noGrp="1"/>
          </p:cNvSpPr>
          <p:nvPr>
            <p:ph idx="1"/>
          </p:nvPr>
        </p:nvSpPr>
        <p:spPr/>
        <p:txBody>
          <a:bodyPr/>
          <a:lstStyle/>
          <a:p>
            <a:r>
              <a:rPr lang="en-AU" dirty="0" smtClean="0"/>
              <a:t>Review your notes and write a summary answering the essential question. </a:t>
            </a:r>
            <a:endParaRPr lang="en-AU" dirty="0"/>
          </a:p>
        </p:txBody>
      </p:sp>
    </p:spTree>
    <p:extLst>
      <p:ext uri="{BB962C8B-B14F-4D97-AF65-F5344CB8AC3E}">
        <p14:creationId xmlns:p14="http://schemas.microsoft.com/office/powerpoint/2010/main" val="7634225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999</TotalTime>
  <Words>394</Words>
  <Application>Microsoft Office PowerPoint</Application>
  <PresentationFormat>On-screen Show (4:3)</PresentationFormat>
  <Paragraphs>114</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Cambria Math</vt:lpstr>
      <vt:lpstr>Office Theme</vt:lpstr>
      <vt:lpstr>My Number Interactive Notebook</vt:lpstr>
      <vt:lpstr>Create your own front page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Notes Review</vt:lpstr>
      <vt:lpstr>Homework</vt:lpstr>
    </vt:vector>
  </TitlesOfParts>
  <Company>The Department of Education</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Using Venn Diagrams</dc:title>
  <dc:creator>RUST Joanne</dc:creator>
  <cp:lastModifiedBy>E4038674</cp:lastModifiedBy>
  <cp:revision>85</cp:revision>
  <dcterms:created xsi:type="dcterms:W3CDTF">2014-05-14T02:58:57Z</dcterms:created>
  <dcterms:modified xsi:type="dcterms:W3CDTF">2015-02-17T13:54:46Z</dcterms:modified>
</cp:coreProperties>
</file>
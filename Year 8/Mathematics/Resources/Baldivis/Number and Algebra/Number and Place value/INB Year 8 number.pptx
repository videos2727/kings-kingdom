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3" r:id="rId5"/>
    <p:sldId id="301" r:id="rId6"/>
    <p:sldId id="304" r:id="rId7"/>
    <p:sldId id="305" r:id="rId8"/>
    <p:sldId id="306" r:id="rId9"/>
    <p:sldId id="30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 varScale="1">
        <p:scale>
          <a:sx n="69" d="100"/>
          <a:sy n="69" d="100"/>
        </p:scale>
        <p:origin x="69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458112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Your Name</a:t>
            </a:r>
          </a:p>
          <a:p>
            <a:pPr algn="l"/>
            <a:r>
              <a:rPr lang="en-AU" dirty="0" smtClean="0"/>
              <a:t>Class 8.4</a:t>
            </a:r>
          </a:p>
          <a:p>
            <a:pPr algn="l"/>
            <a:r>
              <a:rPr lang="en-AU" dirty="0" smtClean="0"/>
              <a:t>Mrs Riksman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112" y="1945230"/>
            <a:ext cx="4369296" cy="2493348"/>
          </a:xfrm>
          <a:prstGeom prst="rect">
            <a:avLst/>
          </a:prstGeom>
          <a:ln w="158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489272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0" y="389336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92489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8245" y="33837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7327" y="355445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278189" y="50782"/>
            <a:ext cx="1019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-1" y="733870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2" y="6280308"/>
            <a:ext cx="4470126" cy="3220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89272" y="404664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489272" y="733870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70124" y="6312515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84168" y="404664"/>
            <a:ext cx="0" cy="59078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08694" y="372391"/>
            <a:ext cx="80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Word</a:t>
            </a:r>
            <a:endParaRPr lang="en-AU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7113898" y="395316"/>
            <a:ext cx="113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0" y="749198"/>
            <a:ext cx="1092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4-5</a:t>
            </a:r>
            <a:endParaRPr lang="en-AU" dirty="0"/>
          </a:p>
        </p:txBody>
      </p:sp>
      <p:sp>
        <p:nvSpPr>
          <p:cNvPr id="32" name="TextBox 31"/>
          <p:cNvSpPr txBox="1"/>
          <p:nvPr/>
        </p:nvSpPr>
        <p:spPr>
          <a:xfrm>
            <a:off x="1063842" y="734712"/>
            <a:ext cx="105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5/2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235061" y="749198"/>
            <a:ext cx="2235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Number Properties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4489272" y="749198"/>
            <a:ext cx="1594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Perfect Square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6084168" y="749198"/>
            <a:ext cx="3040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whole number that is squared </a:t>
            </a:r>
            <a:r>
              <a:rPr lang="en-AU" dirty="0" err="1" smtClean="0"/>
              <a:t>e.g</a:t>
            </a:r>
            <a:r>
              <a:rPr lang="en-AU" dirty="0" smtClean="0"/>
              <a:t> 4 (2</a:t>
            </a:r>
            <a:r>
              <a:rPr lang="en-AU" baseline="30000" dirty="0" smtClean="0"/>
              <a:t>2</a:t>
            </a:r>
            <a:r>
              <a:rPr lang="en-AU" dirty="0" smtClean="0"/>
              <a:t>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374312" y="-13817"/>
            <a:ext cx="21769" cy="6843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396081" y="601548"/>
            <a:ext cx="4747919" cy="191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396081" y="1196751"/>
            <a:ext cx="474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417850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4572089" y="0"/>
            <a:ext cx="33842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Title:</a:t>
            </a:r>
            <a:endParaRPr lang="en-AU" sz="1000" dirty="0"/>
          </a:p>
        </p:txBody>
      </p:sp>
      <p:sp>
        <p:nvSpPr>
          <p:cNvPr id="4" name="TextBox 3"/>
          <p:cNvSpPr txBox="1"/>
          <p:nvPr/>
        </p:nvSpPr>
        <p:spPr>
          <a:xfrm>
            <a:off x="7956376" y="0"/>
            <a:ext cx="11876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Date:</a:t>
            </a:r>
            <a:endParaRPr lang="en-AU" sz="1000" dirty="0"/>
          </a:p>
        </p:txBody>
      </p:sp>
      <p:sp>
        <p:nvSpPr>
          <p:cNvPr id="16" name="TextBox 15"/>
          <p:cNvSpPr txBox="1"/>
          <p:nvPr/>
        </p:nvSpPr>
        <p:spPr>
          <a:xfrm>
            <a:off x="7729713" y="16460"/>
            <a:ext cx="453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 smtClean="0"/>
              <a:t>24</a:t>
            </a:r>
          </a:p>
          <a:p>
            <a:r>
              <a:rPr lang="en-AU" sz="1200" dirty="0" smtClean="0"/>
              <a:t>7</a:t>
            </a:r>
          </a:p>
          <a:p>
            <a:r>
              <a:rPr lang="en-AU" sz="1200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-10543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Title: 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6647086" y="267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Date: 5/2/15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: Explain the meaning of multiples and factors </a:t>
            </a:r>
            <a:endParaRPr lang="en-AU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Question: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23247" y="1916832"/>
            <a:ext cx="62207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Notes:</a:t>
            </a:r>
          </a:p>
          <a:p>
            <a:endParaRPr lang="en-AU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A multiple of a number is obtained by multiplying the number by the counting numbers.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Lowest Common Multiple (LCM) is the smallest multiple of two or more numbers that is common.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A factor of a number has a remainder of 0 when divided into the given number.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/>
              <a:t>The Highest  Common Factor (HCF) is the largest factor of two or more numbers that is common.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7431" y="2378497"/>
            <a:ext cx="29083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sz="2400" dirty="0" smtClean="0"/>
          </a:p>
          <a:p>
            <a:r>
              <a:rPr lang="en-AU" sz="2400" dirty="0" smtClean="0"/>
              <a:t>What is a multiple?</a:t>
            </a:r>
          </a:p>
          <a:p>
            <a:endParaRPr lang="en-AU" sz="2400" dirty="0"/>
          </a:p>
          <a:p>
            <a:endParaRPr lang="en-AU" sz="2400" dirty="0" smtClean="0"/>
          </a:p>
          <a:p>
            <a:r>
              <a:rPr lang="en-AU" sz="2400" dirty="0" smtClean="0"/>
              <a:t>What is meant by LCM?</a:t>
            </a:r>
          </a:p>
          <a:p>
            <a:endParaRPr lang="en-AU" sz="2400" dirty="0"/>
          </a:p>
          <a:p>
            <a:r>
              <a:rPr lang="en-AU" sz="2400" dirty="0" smtClean="0"/>
              <a:t>What is a factor?</a:t>
            </a:r>
          </a:p>
          <a:p>
            <a:endParaRPr lang="en-AU" sz="2400" dirty="0"/>
          </a:p>
          <a:p>
            <a:r>
              <a:rPr lang="en-AU" sz="2400" dirty="0" smtClean="0"/>
              <a:t>What is meant by HCF?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364088" y="37839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5648761" y="4221088"/>
            <a:ext cx="360040" cy="3600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3203848" y="4221088"/>
            <a:ext cx="360040" cy="3600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TextBox 3"/>
          <p:cNvSpPr txBox="1"/>
          <p:nvPr/>
        </p:nvSpPr>
        <p:spPr>
          <a:xfrm>
            <a:off x="539552" y="260648"/>
            <a:ext cx="8136904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Tasks</a:t>
            </a:r>
          </a:p>
          <a:p>
            <a:pPr marL="457200" indent="-457200">
              <a:buFont typeface="+mj-lt"/>
              <a:buAutoNum type="arabicPeriod"/>
            </a:pPr>
            <a:r>
              <a:rPr lang="en-AU" sz="2400" dirty="0" smtClean="0"/>
              <a:t>Write down the first 5 multiples of the following numbers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7	-	7,14,21,28,35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11	-	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3	-		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5	-	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12	-	</a:t>
            </a:r>
          </a:p>
          <a:p>
            <a:endParaRPr lang="en-AU" sz="2400" dirty="0" smtClean="0"/>
          </a:p>
          <a:p>
            <a:r>
              <a:rPr lang="en-AU" sz="2400" dirty="0" smtClean="0"/>
              <a:t>2. Find the lowest common multiples (LCM) of the following pairs of numbers: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3,4 - 	3,6,9, 12,15,18,	4,8,12,16,20	LCM=12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8,12 -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5,9 -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2,3 -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12,20-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9552" y="260648"/>
            <a:ext cx="813690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Tasks continued</a:t>
            </a:r>
          </a:p>
          <a:p>
            <a:r>
              <a:rPr lang="en-AU" sz="2400" dirty="0" smtClean="0"/>
              <a:t>3</a:t>
            </a:r>
            <a:r>
              <a:rPr lang="en-AU" sz="2200" dirty="0" smtClean="0"/>
              <a:t>. Write the factors of the following numbers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20			1,2,5,10,20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32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48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77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64</a:t>
            </a:r>
          </a:p>
          <a:p>
            <a:endParaRPr lang="en-AU" sz="2200" dirty="0"/>
          </a:p>
          <a:p>
            <a:r>
              <a:rPr lang="en-AU" sz="2200" dirty="0" smtClean="0"/>
              <a:t>4. Find the highest common factor (HCF) of these pairs of numbers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36, 48	36= 1,2,3,4,6,9,12,18,36</a:t>
            </a:r>
          </a:p>
          <a:p>
            <a:pPr lvl="3"/>
            <a:r>
              <a:rPr lang="en-AU" sz="2200" dirty="0"/>
              <a:t>	</a:t>
            </a:r>
            <a:r>
              <a:rPr lang="en-AU" sz="2200" dirty="0" smtClean="0"/>
              <a:t>48= 1,2,3,4,6,8,12,16,24,48		HCF=12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7,13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6,8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16,24</a:t>
            </a:r>
          </a:p>
          <a:p>
            <a:pPr marL="457200" indent="-457200">
              <a:buAutoNum type="alphaLcParenR"/>
            </a:pPr>
            <a:r>
              <a:rPr lang="en-AU" sz="2200" dirty="0" smtClean="0"/>
              <a:t>19,31</a:t>
            </a:r>
          </a:p>
          <a:p>
            <a:pPr marL="457200" indent="-457200">
              <a:buAutoNum type="alphaLcParenR"/>
            </a:pPr>
            <a:endParaRPr lang="en-AU" sz="2400" dirty="0" smtClean="0"/>
          </a:p>
        </p:txBody>
      </p:sp>
    </p:spTree>
    <p:extLst>
      <p:ext uri="{BB962C8B-B14F-4D97-AF65-F5344CB8AC3E}">
        <p14:creationId xmlns:p14="http://schemas.microsoft.com/office/powerpoint/2010/main" val="292991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prstClr val="black"/>
                </a:solidFill>
              </a:rPr>
              <a:t> </a:t>
            </a:r>
            <a:r>
              <a:rPr lang="en-AU" dirty="0">
                <a:solidFill>
                  <a:prstClr val="black"/>
                </a:solidFill>
              </a:rPr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-10543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Title: Number Properties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47086" y="2674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prstClr val="black"/>
                </a:solidFill>
              </a:rPr>
              <a:t>Date: 6/2/15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EQ : 	Describe prime and composite numbers</a:t>
            </a:r>
          </a:p>
          <a:p>
            <a:r>
              <a:rPr lang="en-AU" sz="2400" dirty="0">
                <a:solidFill>
                  <a:prstClr val="black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Define square and cube numbers and there roots  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23247" y="1916832"/>
            <a:ext cx="622075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Prime numbers have only two factors, the number itself and 1 e.g. 2,13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I is not considered to be a prime number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Composite numbers have more than two factors e.g.6, 20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The square of a number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 x </a:t>
            </a:r>
            <a:r>
              <a:rPr lang="en-AU" sz="2400" dirty="0" smtClean="0">
                <a:solidFill>
                  <a:prstClr val="black"/>
                </a:solidFill>
              </a:rPr>
              <a:t>is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r>
              <a:rPr lang="en-AU" sz="2400" baseline="30000" dirty="0" smtClean="0">
                <a:solidFill>
                  <a:prstClr val="black"/>
                </a:solidFill>
              </a:rPr>
              <a:t>2</a:t>
            </a:r>
            <a:r>
              <a:rPr lang="en-AU" sz="2400" dirty="0" smtClean="0">
                <a:solidFill>
                  <a:prstClr val="black"/>
                </a:solidFill>
              </a:rPr>
              <a:t> or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 x </a:t>
            </a:r>
            <a:r>
              <a:rPr lang="en-AU" sz="2400" dirty="0" err="1" smtClean="0">
                <a:solidFill>
                  <a:prstClr val="black"/>
                </a:solidFill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 err="1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endParaRPr lang="en-AU" sz="2400" dirty="0" smtClean="0">
              <a:solidFill>
                <a:prstClr val="black"/>
              </a:solidFill>
              <a:latin typeface="Monotype Corsiva" panose="03010101010201010101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If </a:t>
            </a:r>
            <a:r>
              <a:rPr lang="en-AU" sz="2400" i="1" dirty="0" smtClean="0">
                <a:solidFill>
                  <a:prstClr val="black"/>
                </a:solidFill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is a whole number then </a:t>
            </a:r>
            <a:r>
              <a:rPr lang="en-AU" sz="2400" i="1" dirty="0" smtClean="0">
                <a:solidFill>
                  <a:prstClr val="black"/>
                </a:solidFill>
              </a:rPr>
              <a:t>x</a:t>
            </a:r>
            <a:r>
              <a:rPr lang="en-AU" sz="2400" baseline="30000" dirty="0" smtClean="0">
                <a:solidFill>
                  <a:prstClr val="black"/>
                </a:solidFill>
              </a:rPr>
              <a:t>2</a:t>
            </a:r>
            <a:r>
              <a:rPr lang="en-AU" sz="2400" dirty="0" smtClean="0">
                <a:solidFill>
                  <a:prstClr val="black"/>
                </a:solidFill>
              </a:rPr>
              <a:t> is called a perfect square.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A square root of a number is written with the symbol 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√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b</a:t>
            </a:r>
            <a:r>
              <a:rPr lang="en-AU" sz="2400" dirty="0" smtClean="0">
                <a:solidFill>
                  <a:prstClr val="black"/>
                </a:solidFill>
              </a:rPr>
              <a:t> =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a</a:t>
            </a:r>
            <a:r>
              <a:rPr lang="en-AU" sz="2400" dirty="0" smtClean="0">
                <a:solidFill>
                  <a:prstClr val="black"/>
                </a:solidFill>
              </a:rPr>
              <a:t> if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a</a:t>
            </a:r>
            <a:r>
              <a:rPr lang="en-AU" sz="2400" baseline="30000" dirty="0" smtClean="0">
                <a:solidFill>
                  <a:prstClr val="black"/>
                </a:solidFill>
              </a:rPr>
              <a:t>2</a:t>
            </a:r>
            <a:r>
              <a:rPr lang="en-AU" sz="2400" dirty="0" smtClean="0">
                <a:solidFill>
                  <a:prstClr val="black"/>
                </a:solidFill>
              </a:rPr>
              <a:t>=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b</a:t>
            </a:r>
            <a:r>
              <a:rPr lang="en-AU" sz="2400" dirty="0" smtClean="0">
                <a:solidFill>
                  <a:prstClr val="black"/>
                </a:solidFill>
              </a:rPr>
              <a:t> (and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a</a:t>
            </a:r>
            <a:r>
              <a:rPr lang="en-AU" sz="2400" dirty="0" smtClean="0">
                <a:solidFill>
                  <a:prstClr val="black"/>
                </a:solidFill>
              </a:rPr>
              <a:t> is positive)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The cube of a number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is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r>
              <a:rPr lang="en-AU" sz="2400" baseline="30000" dirty="0" smtClean="0">
                <a:solidFill>
                  <a:prstClr val="black"/>
                </a:solidFill>
              </a:rPr>
              <a:t>3 </a:t>
            </a:r>
            <a:r>
              <a:rPr lang="en-AU" sz="2400" dirty="0" smtClean="0">
                <a:solidFill>
                  <a:prstClr val="black"/>
                </a:solidFill>
              </a:rPr>
              <a:t> =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 err="1" smtClean="0">
                <a:solidFill>
                  <a:prstClr val="black"/>
                </a:solidFill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 err="1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 err="1" smtClean="0">
                <a:solidFill>
                  <a:prstClr val="black"/>
                </a:solidFill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 err="1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endParaRPr lang="en-AU" sz="2400" dirty="0" smtClean="0">
              <a:solidFill>
                <a:prstClr val="black"/>
              </a:solidFill>
              <a:latin typeface="Monotype Corsiva" panose="03010101010201010101" pitchFamily="66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7280" y="2365722"/>
            <a:ext cx="28185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What are prime and composite numbers?</a:t>
            </a:r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  <a:p>
            <a:r>
              <a:rPr lang="en-AU" sz="2400" dirty="0" smtClean="0"/>
              <a:t>Describe a square number and give an example </a:t>
            </a:r>
            <a:endParaRPr lang="en-AU" sz="2400" dirty="0"/>
          </a:p>
        </p:txBody>
      </p:sp>
      <p:sp>
        <p:nvSpPr>
          <p:cNvPr id="16" name="Rectangle 15"/>
          <p:cNvSpPr/>
          <p:nvPr/>
        </p:nvSpPr>
        <p:spPr>
          <a:xfrm>
            <a:off x="8615025" y="6376615"/>
            <a:ext cx="404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8604448" y="6309320"/>
            <a:ext cx="41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364088" y="-10543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2793807" y="1074702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6746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8671583" y="6488666"/>
            <a:ext cx="351768" cy="3693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2923247" y="0"/>
            <a:ext cx="7432" cy="685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504" y="242116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Question:</a:t>
            </a:r>
            <a:endParaRPr lang="en-AU" sz="24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930679" y="251067"/>
            <a:ext cx="62207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The cube of a number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is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r>
              <a:rPr lang="en-AU" sz="2400" baseline="30000" dirty="0" smtClean="0">
                <a:solidFill>
                  <a:prstClr val="black"/>
                </a:solidFill>
              </a:rPr>
              <a:t>3 </a:t>
            </a:r>
            <a:r>
              <a:rPr lang="en-AU" sz="2400" dirty="0" smtClean="0">
                <a:solidFill>
                  <a:prstClr val="black"/>
                </a:solidFill>
              </a:rPr>
              <a:t> =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 err="1" smtClean="0">
                <a:solidFill>
                  <a:prstClr val="black"/>
                </a:solidFill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 err="1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 err="1" smtClean="0">
                <a:solidFill>
                  <a:prstClr val="black"/>
                </a:solidFill>
              </a:rPr>
              <a:t>x</a:t>
            </a:r>
            <a:r>
              <a:rPr lang="en-AU" sz="2400" dirty="0" smtClean="0">
                <a:solidFill>
                  <a:prstClr val="black"/>
                </a:solidFill>
              </a:rPr>
              <a:t> </a:t>
            </a:r>
            <a:r>
              <a:rPr lang="en-AU" sz="2400" dirty="0" err="1" smtClean="0">
                <a:solidFill>
                  <a:prstClr val="black"/>
                </a:solidFill>
                <a:latin typeface="Monotype Corsiva" panose="03010101010201010101" pitchFamily="66" charset="0"/>
              </a:rPr>
              <a:t>x</a:t>
            </a:r>
            <a:endParaRPr lang="en-AU" sz="2400" dirty="0" smtClean="0">
              <a:solidFill>
                <a:prstClr val="black"/>
              </a:solidFill>
              <a:latin typeface="Monotype Corsiva" panose="03010101010201010101" pitchFamily="66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 smtClean="0">
                <a:solidFill>
                  <a:prstClr val="black"/>
                </a:solidFill>
              </a:rPr>
              <a:t>The cube root of a number is written with the symbol </a:t>
            </a:r>
            <a:r>
              <a:rPr lang="en-AU" sz="2400" baseline="30000" dirty="0" smtClean="0">
                <a:solidFill>
                  <a:prstClr val="black"/>
                </a:solidFill>
              </a:rPr>
              <a:t>3</a:t>
            </a:r>
            <a:r>
              <a:rPr lang="en-AU" sz="2400" dirty="0" smtClean="0">
                <a:solidFill>
                  <a:prstClr val="black"/>
                </a:solidFill>
              </a:rPr>
              <a:t> 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aseline="30000" dirty="0">
                <a:solidFill>
                  <a:prstClr val="black"/>
                </a:solidFill>
              </a:rPr>
              <a:t>3</a:t>
            </a:r>
            <a:r>
              <a:rPr lang="en-AU" sz="2400" dirty="0">
                <a:solidFill>
                  <a:prstClr val="black"/>
                </a:solidFill>
              </a:rPr>
              <a:t> </a:t>
            </a:r>
            <a:r>
              <a:rPr lang="en-AU" sz="2400" dirty="0" smtClean="0">
                <a:solidFill>
                  <a:prstClr val="black"/>
                </a:solidFill>
              </a:rPr>
              <a:t>√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b</a:t>
            </a:r>
            <a:r>
              <a:rPr lang="en-AU" sz="2400" dirty="0" smtClean="0">
                <a:solidFill>
                  <a:prstClr val="black"/>
                </a:solidFill>
              </a:rPr>
              <a:t> =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a</a:t>
            </a:r>
            <a:r>
              <a:rPr lang="en-AU" sz="2400" dirty="0" smtClean="0">
                <a:solidFill>
                  <a:prstClr val="black"/>
                </a:solidFill>
              </a:rPr>
              <a:t> if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a</a:t>
            </a:r>
            <a:r>
              <a:rPr lang="en-AU" sz="2400" baseline="30000" dirty="0" smtClean="0">
                <a:solidFill>
                  <a:prstClr val="black"/>
                </a:solidFill>
              </a:rPr>
              <a:t>3 </a:t>
            </a:r>
            <a:r>
              <a:rPr lang="en-AU" sz="2400" dirty="0" smtClean="0">
                <a:solidFill>
                  <a:prstClr val="black"/>
                </a:solidFill>
              </a:rPr>
              <a:t> = </a:t>
            </a:r>
            <a:r>
              <a:rPr lang="en-AU" sz="2400" dirty="0" smtClean="0">
                <a:solidFill>
                  <a:prstClr val="black"/>
                </a:solidFill>
                <a:latin typeface="Monotype Corsiva" panose="03010101010201010101" pitchFamily="66" charset="0"/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504" y="736427"/>
            <a:ext cx="27231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Describe a </a:t>
            </a:r>
            <a:r>
              <a:rPr lang="en-AU" sz="2400" dirty="0" smtClean="0"/>
              <a:t>cube number </a:t>
            </a:r>
            <a:r>
              <a:rPr lang="en-AU" sz="2400" dirty="0"/>
              <a:t>and give an example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08711" y="6257833"/>
            <a:ext cx="414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7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99997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188640"/>
            <a:ext cx="8136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Tasks</a:t>
            </a:r>
          </a:p>
          <a:p>
            <a:r>
              <a:rPr lang="en-AU" sz="2400" dirty="0" smtClean="0"/>
              <a:t>Complete worksheet</a:t>
            </a:r>
          </a:p>
        </p:txBody>
      </p:sp>
    </p:spTree>
    <p:extLst>
      <p:ext uri="{BB962C8B-B14F-4D97-AF65-F5344CB8AC3E}">
        <p14:creationId xmlns:p14="http://schemas.microsoft.com/office/powerpoint/2010/main" val="3010157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2317</TotalTime>
  <Words>427</Words>
  <Application>Microsoft Office PowerPoint</Application>
  <PresentationFormat>On-screen Show (4:3)</PresentationFormat>
  <Paragraphs>130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Monotype Corsiva</vt:lpstr>
      <vt:lpstr>Office Theme</vt:lpstr>
      <vt:lpstr>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Bianca Riksman</cp:lastModifiedBy>
  <cp:revision>71</cp:revision>
  <dcterms:created xsi:type="dcterms:W3CDTF">2014-05-14T02:58:57Z</dcterms:created>
  <dcterms:modified xsi:type="dcterms:W3CDTF">2015-02-08T13:29:50Z</dcterms:modified>
</cp:coreProperties>
</file>
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60" r:id="rId2"/>
    <p:sldId id="304" r:id="rId3"/>
    <p:sldId id="259" r:id="rId4"/>
    <p:sldId id="258" r:id="rId5"/>
    <p:sldId id="303" r:id="rId6"/>
    <p:sldId id="306" r:id="rId7"/>
    <p:sldId id="330" r:id="rId8"/>
    <p:sldId id="335" r:id="rId9"/>
    <p:sldId id="334" r:id="rId10"/>
    <p:sldId id="336" r:id="rId11"/>
    <p:sldId id="332" r:id="rId12"/>
    <p:sldId id="333" r:id="rId13"/>
    <p:sldId id="292" r:id="rId14"/>
    <p:sldId id="29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10A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21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Create your own front page</a:t>
            </a:r>
            <a:endParaRPr lang="en-AU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 smtClean="0"/>
              <a:t>It needs to contain the following –</a:t>
            </a:r>
          </a:p>
          <a:p>
            <a:pPr>
              <a:buFontTx/>
              <a:buChar char="-"/>
            </a:pPr>
            <a:r>
              <a:rPr lang="en-AU" dirty="0" smtClean="0"/>
              <a:t>My number interactive notebook</a:t>
            </a:r>
          </a:p>
          <a:p>
            <a:pPr>
              <a:buFontTx/>
              <a:buChar char="-"/>
            </a:pPr>
            <a:r>
              <a:rPr lang="en-AU" dirty="0" smtClean="0"/>
              <a:t>Name </a:t>
            </a:r>
          </a:p>
          <a:p>
            <a:pPr>
              <a:buFontTx/>
              <a:buChar char="-"/>
            </a:pPr>
            <a:r>
              <a:rPr lang="en-AU" dirty="0" smtClean="0"/>
              <a:t>Class</a:t>
            </a:r>
          </a:p>
          <a:p>
            <a:pPr>
              <a:buFontTx/>
              <a:buChar char="-"/>
            </a:pPr>
            <a:r>
              <a:rPr lang="en-AU" dirty="0" smtClean="0"/>
              <a:t>Teachers Name</a:t>
            </a:r>
          </a:p>
          <a:p>
            <a:pPr>
              <a:buFontTx/>
              <a:buChar char="-"/>
            </a:pPr>
            <a:r>
              <a:rPr lang="en-AU" dirty="0" smtClean="0"/>
              <a:t>Semester 1 Term 1</a:t>
            </a:r>
          </a:p>
          <a:p>
            <a:pPr>
              <a:buFontTx/>
              <a:buChar char="-"/>
            </a:pPr>
            <a:r>
              <a:rPr lang="en-AU" dirty="0" smtClean="0"/>
              <a:t>Page number 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2869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to calculate square and cube numbers</a:t>
            </a:r>
            <a:r>
              <a:rPr lang="en-AU" sz="2400" dirty="0" smtClean="0"/>
              <a:t>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to calculate square and cube numbers? 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chemeClr val="accent4">
                                <a:lumMod val="75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 </a:t>
                </a:r>
                <a:r>
                  <a:rPr lang="en-AU" dirty="0" smtClean="0">
                    <a:solidFill>
                      <a:schemeClr val="accent4">
                        <a:lumMod val="75000"/>
                      </a:schemeClr>
                    </a:solidFill>
                  </a:rPr>
                  <a:t>= 5 x 5 = 25 </a:t>
                </a:r>
              </a:p>
              <a:p>
                <a:r>
                  <a:rPr lang="en-AU" dirty="0" smtClean="0"/>
                  <a:t>25 is a square number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2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Describe how to calculate square and cube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50737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/>
              <a:t>EQ – Describe how to calculate square and cube numbers?  </a:t>
            </a:r>
          </a:p>
          <a:p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9287" y="5669356"/>
            <a:ext cx="21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cube root?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287" y="4350681"/>
            <a:ext cx="252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cube number?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/>
              <p:cNvSpPr txBox="1"/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</a:t>
                </a:r>
                <a:r>
                  <a:rPr lang="en-AU" dirty="0" smtClean="0"/>
                  <a:t>itself three times</a:t>
                </a:r>
                <a:endParaRPr lang="en-AU" dirty="0" smtClean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00B05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= 5 x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5 x 5 = 125 </a:t>
                </a:r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125 </a:t>
                </a:r>
                <a:r>
                  <a:rPr lang="en-AU" dirty="0" smtClean="0"/>
                  <a:t>is a </a:t>
                </a:r>
                <a:r>
                  <a:rPr lang="en-AU" dirty="0" smtClean="0"/>
                  <a:t>cube</a:t>
                </a:r>
                <a:r>
                  <a:rPr lang="en-AU" dirty="0" smtClean="0"/>
                  <a:t> </a:t>
                </a:r>
                <a:r>
                  <a:rPr lang="en-AU" dirty="0" smtClean="0"/>
                  <a:t>number</a:t>
                </a:r>
                <a:endParaRPr lang="en-AU" dirty="0"/>
              </a:p>
            </p:txBody>
          </p:sp>
        </mc:Choice>
        <mc:Fallback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47" y="4385017"/>
                <a:ext cx="5750741" cy="923330"/>
              </a:xfrm>
              <a:prstGeom prst="rect">
                <a:avLst/>
              </a:prstGeom>
              <a:blipFill rotWithShape="1">
                <a:blip r:embed="rId4"/>
                <a:stretch>
                  <a:fillRect l="-847" t="-3289" r="-106" b="-921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inverse operation to cubing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67" y="5486688"/>
                <a:ext cx="3153492" cy="684546"/>
              </a:xfrm>
              <a:prstGeom prst="rect">
                <a:avLst/>
              </a:prstGeom>
              <a:blipFill rotWithShape="1">
                <a:blip r:embed="rId5"/>
                <a:stretch>
                  <a:fillRect l="-1544" t="-4464" r="-96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555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3484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Index Notation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?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3498478"/>
            <a:ext cx="2363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square root?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93471" y="2020198"/>
            <a:ext cx="2704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square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2054534"/>
                <a:ext cx="4618829" cy="923330"/>
              </a:xfrm>
              <a:prstGeom prst="rect">
                <a:avLst/>
              </a:prstGeom>
              <a:blipFill rotWithShape="1">
                <a:blip r:embed="rId2"/>
                <a:stretch>
                  <a:fillRect l="-1055" t="-3311" r="-528" b="-9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3631" y="3525537"/>
                <a:ext cx="3336234" cy="684546"/>
              </a:xfrm>
              <a:prstGeom prst="rect">
                <a:avLst/>
              </a:prstGeom>
              <a:blipFill rotWithShape="1">
                <a:blip r:embed="rId3"/>
                <a:stretch>
                  <a:fillRect l="-1463" t="-4425" r="-10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179287" y="5669356"/>
            <a:ext cx="2131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the cube root?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179287" y="4350681"/>
            <a:ext cx="2524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a cube number?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3079447" y="4385017"/>
                <a:ext cx="4618829" cy="94699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value when a number is multiplied by itself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5</m:t>
                        </m:r>
                      </m:e>
                      <m:sup>
                        <m:r>
                          <a:rPr lang="en-AU" b="0" i="1" smtClean="0">
                            <a:solidFill>
                              <a:srgbClr val="92D050"/>
                            </a:solidFill>
                            <a:latin typeface="Cambria Math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AU" dirty="0" smtClean="0">
                    <a:solidFill>
                      <a:srgbClr val="92D050"/>
                    </a:solidFill>
                  </a:rPr>
                  <a:t> = 5 x 5 = 25 </a:t>
                </a:r>
                <a:endParaRPr lang="en-AU" dirty="0" smtClean="0"/>
              </a:p>
              <a:p>
                <a:r>
                  <a:rPr lang="en-AU" dirty="0" smtClean="0"/>
                  <a:t>25 is a square number</a:t>
                </a:r>
                <a:endParaRPr lang="en-AU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9447" y="4385017"/>
                <a:ext cx="4618829" cy="946991"/>
              </a:xfrm>
              <a:prstGeom prst="rect">
                <a:avLst/>
              </a:prstGeom>
              <a:blipFill rotWithShape="1">
                <a:blip r:embed="rId4"/>
                <a:stretch>
                  <a:fillRect l="-1055" t="-3205" r="-528" b="-641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105467" y="5486688"/>
                <a:ext cx="3336234" cy="6845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The inverse operation to squaring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AU" b="0" i="1" smtClean="0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3</m:t>
                          </m:r>
                        </m:deg>
                        <m:e>
                          <m:r>
                            <a:rPr lang="en-AU" i="1">
                              <a:solidFill>
                                <a:srgbClr val="00B050"/>
                              </a:solidFill>
                              <a:latin typeface="Cambria Math"/>
                            </a:rPr>
                            <m:t>25</m:t>
                          </m:r>
                        </m:e>
                      </m:rad>
                      <m:r>
                        <a:rPr lang="en-AU" i="1">
                          <a:solidFill>
                            <a:srgbClr val="00B050"/>
                          </a:solidFill>
                          <a:latin typeface="Cambria Math"/>
                        </a:rPr>
                        <m:t>=5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467" y="5486688"/>
                <a:ext cx="3336234" cy="684546"/>
              </a:xfrm>
              <a:prstGeom prst="rect">
                <a:avLst/>
              </a:prstGeom>
              <a:blipFill rotWithShape="1">
                <a:blip r:embed="rId5"/>
                <a:stretch>
                  <a:fillRect l="-1460" t="-4464" r="-91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/>
          <p:cNvSpPr txBox="1"/>
          <p:nvPr/>
        </p:nvSpPr>
        <p:spPr>
          <a:xfrm>
            <a:off x="289509" y="6328370"/>
            <a:ext cx="1910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Calculator Buttons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3156912" y="6296620"/>
                <a:ext cx="3692549" cy="4082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AU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               </m:t>
                    </m:r>
                    <m:rad>
                      <m:radPr>
                        <m:degHide m:val="on"/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/>
                      <m:e/>
                    </m:rad>
                    <m:r>
                      <a:rPr lang="en-AU" b="0" i="1" smtClean="0">
                        <a:latin typeface="Cambria Math"/>
                      </a:rPr>
                      <m:t>                </m:t>
                    </m:r>
                    <m:rad>
                      <m:radPr>
                        <m:ctrlPr>
                          <a:rPr lang="en-AU" b="0" i="1" smtClean="0">
                            <a:latin typeface="Cambria Math"/>
                          </a:rPr>
                        </m:ctrlPr>
                      </m:radPr>
                      <m:deg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g>
                      <m:e/>
                    </m:rad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6912" y="6296620"/>
                <a:ext cx="3692549" cy="40825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3156912" y="6296620"/>
            <a:ext cx="406976" cy="40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/>
          <p:cNvSpPr/>
          <p:nvPr/>
        </p:nvSpPr>
        <p:spPr>
          <a:xfrm>
            <a:off x="4022749" y="6328370"/>
            <a:ext cx="406976" cy="40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/>
          <p:cNvSpPr/>
          <p:nvPr/>
        </p:nvSpPr>
        <p:spPr>
          <a:xfrm>
            <a:off x="5185373" y="6312495"/>
            <a:ext cx="406976" cy="40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/>
          <p:cNvSpPr/>
          <p:nvPr/>
        </p:nvSpPr>
        <p:spPr>
          <a:xfrm>
            <a:off x="6329865" y="6323952"/>
            <a:ext cx="406976" cy="40108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024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90" t="27951" r="41630" b="36111"/>
          <a:stretch/>
        </p:blipFill>
        <p:spPr bwMode="auto">
          <a:xfrm>
            <a:off x="2123728" y="1268760"/>
            <a:ext cx="4706094" cy="37612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3" name="Straight Arrow Connector 2"/>
          <p:cNvCxnSpPr/>
          <p:nvPr/>
        </p:nvCxnSpPr>
        <p:spPr>
          <a:xfrm flipH="1">
            <a:off x="4195564" y="620688"/>
            <a:ext cx="3769568" cy="2736304"/>
          </a:xfrm>
          <a:prstGeom prst="straightConnector1">
            <a:avLst/>
          </a:prstGeom>
          <a:ln w="57150">
            <a:solidFill>
              <a:srgbClr val="F610A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976457" y="5835742"/>
                <a:ext cx="2380973" cy="583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sz="2800" dirty="0" smtClean="0"/>
                  <a:t>	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/>
                      </a:rPr>
                      <m:t>         </m:t>
                    </m:r>
                    <m:rad>
                      <m:radPr>
                        <m:degHide m:val="on"/>
                        <m:ctrlPr>
                          <a:rPr lang="en-AU" sz="2800" b="0" i="1" smtClean="0">
                            <a:latin typeface="Cambria Math"/>
                          </a:rPr>
                        </m:ctrlPr>
                      </m:radPr>
                      <m:deg/>
                      <m:e/>
                    </m:rad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457" y="5835742"/>
                <a:ext cx="2380973" cy="5837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7965132" y="328813"/>
            <a:ext cx="613016" cy="5837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/>
          </a:p>
        </p:txBody>
      </p:sp>
      <p:sp>
        <p:nvSpPr>
          <p:cNvPr id="9" name="Rectangle 8"/>
          <p:cNvSpPr/>
          <p:nvPr/>
        </p:nvSpPr>
        <p:spPr>
          <a:xfrm>
            <a:off x="899592" y="601346"/>
            <a:ext cx="666887" cy="552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/>
          </a:p>
        </p:txBody>
      </p:sp>
      <p:sp>
        <p:nvSpPr>
          <p:cNvPr id="10" name="Rectangle 9"/>
          <p:cNvSpPr/>
          <p:nvPr/>
        </p:nvSpPr>
        <p:spPr>
          <a:xfrm>
            <a:off x="4716016" y="5889782"/>
            <a:ext cx="599265" cy="56787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/>
          </a:p>
        </p:txBody>
      </p:sp>
      <p:sp>
        <p:nvSpPr>
          <p:cNvPr id="11" name="Rectangle 10"/>
          <p:cNvSpPr/>
          <p:nvPr/>
        </p:nvSpPr>
        <p:spPr>
          <a:xfrm>
            <a:off x="395536" y="3501008"/>
            <a:ext cx="651892" cy="50742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/>
              <p:cNvSpPr/>
              <p:nvPr/>
            </p:nvSpPr>
            <p:spPr>
              <a:xfrm>
                <a:off x="7988866" y="359078"/>
                <a:ext cx="6440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800" i="1"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8866" y="359078"/>
                <a:ext cx="644022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/>
              <p:cNvSpPr/>
              <p:nvPr/>
            </p:nvSpPr>
            <p:spPr>
              <a:xfrm>
                <a:off x="899592" y="630126"/>
                <a:ext cx="6440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800" i="1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2800" i="1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sz="2800" i="1">
                              <a:latin typeface="Cambria Math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592" y="630126"/>
                <a:ext cx="644022" cy="52322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/>
              <p:cNvSpPr/>
              <p:nvPr/>
            </p:nvSpPr>
            <p:spPr>
              <a:xfrm>
                <a:off x="248684" y="3451866"/>
                <a:ext cx="798744" cy="55656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ctrlPr>
                            <a:rPr lang="en-AU" sz="2400" i="1">
                              <a:latin typeface="Cambria Math"/>
                            </a:rPr>
                          </m:ctrlPr>
                        </m:radPr>
                        <m:deg>
                          <m:r>
                            <a:rPr lang="en-AU" sz="2400" i="1">
                              <a:latin typeface="Cambria Math"/>
                            </a:rPr>
                            <m:t>3</m:t>
                          </m:r>
                        </m:deg>
                        <m:e/>
                      </m:rad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684" y="3451866"/>
                <a:ext cx="798744" cy="55656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/>
          <p:nvPr/>
        </p:nvCxnSpPr>
        <p:spPr>
          <a:xfrm flipV="1">
            <a:off x="1047428" y="3198940"/>
            <a:ext cx="2228428" cy="302068"/>
          </a:xfrm>
          <a:prstGeom prst="straightConnector1">
            <a:avLst/>
          </a:prstGeom>
          <a:ln w="57150">
            <a:solidFill>
              <a:srgbClr val="F610A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 flipV="1">
            <a:off x="3491880" y="3501008"/>
            <a:ext cx="1224136" cy="2334734"/>
          </a:xfrm>
          <a:prstGeom prst="straightConnector1">
            <a:avLst/>
          </a:prstGeom>
          <a:ln w="57150">
            <a:solidFill>
              <a:srgbClr val="F610A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1543614" y="1153346"/>
            <a:ext cx="1442765" cy="1582958"/>
          </a:xfrm>
          <a:prstGeom prst="straightConnector1">
            <a:avLst/>
          </a:prstGeom>
          <a:ln w="57150">
            <a:solidFill>
              <a:srgbClr val="F610A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14998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836712"/>
            <a:ext cx="8510084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560" y="3452752"/>
            <a:ext cx="8370245" cy="1200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1123" y="84792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421123" y="333241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176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916" y="461172"/>
            <a:ext cx="8510084" cy="15121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755" y="3395294"/>
            <a:ext cx="8370245" cy="12003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421123" y="847924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1.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421123" y="333241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  <a:r>
              <a:rPr lang="en-AU" dirty="0" smtClean="0"/>
              <a:t>.</a:t>
            </a:r>
            <a:endParaRPr lang="en-A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312" y="1772816"/>
            <a:ext cx="7488832" cy="1462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7080" y="4869158"/>
            <a:ext cx="7069064" cy="1405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5480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505</Words>
  <Application>Microsoft Office PowerPoint</Application>
  <PresentationFormat>On-screen Show (4:3)</PresentationFormat>
  <Paragraphs>137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My Number Interactive Notebook</vt:lpstr>
      <vt:lpstr>Create your own front 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70</cp:revision>
  <dcterms:created xsi:type="dcterms:W3CDTF">2014-05-14T02:58:57Z</dcterms:created>
  <dcterms:modified xsi:type="dcterms:W3CDTF">2015-02-05T12:15:50Z</dcterms:modified>
</cp:coreProperties>
</file>
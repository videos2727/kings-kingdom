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60" r:id="rId2"/>
    <p:sldId id="258" r:id="rId3"/>
    <p:sldId id="303" r:id="rId4"/>
    <p:sldId id="343" r:id="rId5"/>
    <p:sldId id="344" r:id="rId6"/>
    <p:sldId id="345" r:id="rId7"/>
    <p:sldId id="346" r:id="rId8"/>
    <p:sldId id="347" r:id="rId9"/>
    <p:sldId id="348" r:id="rId10"/>
    <p:sldId id="349" r:id="rId11"/>
    <p:sldId id="292" r:id="rId12"/>
    <p:sldId id="291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95" autoAdjust="0"/>
  </p:normalViewPr>
  <p:slideViewPr>
    <p:cSldViewPr>
      <p:cViewPr varScale="1">
        <p:scale>
          <a:sx n="74" d="100"/>
          <a:sy n="74" d="100"/>
        </p:scale>
        <p:origin x="1058" y="2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5/02/2015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5/02/2015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smtClean="0"/>
              <a:t>Interactive Workbook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we find the HCF and LCM?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203848" y="2276872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List the factors of each number </a:t>
            </a:r>
            <a:r>
              <a:rPr lang="en-AU" dirty="0"/>
              <a:t>a</a:t>
            </a:r>
            <a:r>
              <a:rPr lang="en-AU" dirty="0" smtClean="0"/>
              <a:t>nd then circle the common factors.</a:t>
            </a:r>
          </a:p>
          <a:p>
            <a:r>
              <a:rPr lang="en-AU" dirty="0" smtClean="0"/>
              <a:t>The HCF is the largest number.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676456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we find the HCF and LCM?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203848" y="2276872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List the factors of each number </a:t>
            </a:r>
            <a:r>
              <a:rPr lang="en-AU" dirty="0"/>
              <a:t>a</a:t>
            </a:r>
            <a:r>
              <a:rPr lang="en-AU" dirty="0" smtClean="0"/>
              <a:t>nd then circle the common factors.</a:t>
            </a:r>
          </a:p>
          <a:p>
            <a:r>
              <a:rPr lang="en-AU" dirty="0" smtClean="0"/>
              <a:t>The HCF is the largest number.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275856" y="335699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e.g. What is the HCF of 36 and 54?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06391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we find the HCF and LCM?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1965610"/>
            <a:ext cx="55446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List the factors of each number </a:t>
            </a:r>
            <a:r>
              <a:rPr lang="en-AU" dirty="0"/>
              <a:t>a</a:t>
            </a:r>
            <a:r>
              <a:rPr lang="en-AU" dirty="0" smtClean="0"/>
              <a:t>nd then circle the common factors.</a:t>
            </a:r>
          </a:p>
          <a:p>
            <a:r>
              <a:rPr lang="en-AU" dirty="0" smtClean="0"/>
              <a:t>The HCF is the largest number.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2867822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e.g. What is the HCF of 36 and 54?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3262203"/>
            <a:ext cx="2376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Factor pairs of 36 are:</a:t>
            </a:r>
          </a:p>
          <a:p>
            <a:r>
              <a:rPr lang="en-AU" dirty="0" smtClean="0"/>
              <a:t>1 x 36; 2 x 18; 3 x 12</a:t>
            </a:r>
          </a:p>
          <a:p>
            <a:r>
              <a:rPr lang="en-AU" dirty="0" smtClean="0"/>
              <a:t>4 x 9; 6 x 6. so the factors are: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1, 2, 3, 4, 6, 9, 12, 18, 36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0152" y="3262203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Factor pairs of 54 are:</a:t>
            </a:r>
          </a:p>
          <a:p>
            <a:r>
              <a:rPr lang="en-AU" dirty="0" smtClean="0"/>
              <a:t>1 x 54; 2 x 27; 3 x 18</a:t>
            </a:r>
          </a:p>
          <a:p>
            <a:r>
              <a:rPr lang="en-AU" dirty="0" smtClean="0"/>
              <a:t>6 x 9. so the factors are: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1, 2, 3, 6, 9, 18, 27, 54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54647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we find the HCF and LCM?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1965610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List the factors of each number </a:t>
            </a:r>
            <a:r>
              <a:rPr lang="en-AU" dirty="0"/>
              <a:t>a</a:t>
            </a:r>
            <a:r>
              <a:rPr lang="en-AU" dirty="0" smtClean="0"/>
              <a:t>nd then circle the common factors. The HCF is the largest number.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2677163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e.g. What is the HCF of 36 and 54?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3083113"/>
            <a:ext cx="2376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Factor pairs of 36 are:</a:t>
            </a:r>
          </a:p>
          <a:p>
            <a:r>
              <a:rPr lang="en-AU" dirty="0" smtClean="0"/>
              <a:t>1 x 36; 2 x 18; 3 x 12</a:t>
            </a:r>
          </a:p>
          <a:p>
            <a:r>
              <a:rPr lang="en-AU" dirty="0" smtClean="0"/>
              <a:t>4 x 9; 6 x 6. so the factors are: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1, 2, 3, 4, 6, 9, 12, 18, 36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0152" y="3111717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Factor pairs of 54 are:</a:t>
            </a:r>
          </a:p>
          <a:p>
            <a:r>
              <a:rPr lang="en-AU" dirty="0" smtClean="0"/>
              <a:t>1 x 54; 2 x 27; 3 x 18</a:t>
            </a:r>
          </a:p>
          <a:p>
            <a:r>
              <a:rPr lang="en-AU" dirty="0" smtClean="0"/>
              <a:t>6 x 9. so the factors are: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1, 2, 3, 6, 9, 18, 27, 54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7092280" y="3988367"/>
            <a:ext cx="360040" cy="3231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4810883" y="422108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731217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we find the HCF and LCM?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1965610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List the factors of each number </a:t>
            </a:r>
            <a:r>
              <a:rPr lang="en-AU" dirty="0"/>
              <a:t>a</a:t>
            </a:r>
            <a:r>
              <a:rPr lang="en-AU" dirty="0" smtClean="0"/>
              <a:t>nd then circle the common factors. The HCF is the largest number.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2677163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e.g. What is the HCF of 36 and 54?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3083113"/>
            <a:ext cx="2376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Factor pairs of 36 are:</a:t>
            </a:r>
          </a:p>
          <a:p>
            <a:r>
              <a:rPr lang="en-AU" dirty="0" smtClean="0"/>
              <a:t>1 x 36; 2 x 18; 3 x 12</a:t>
            </a:r>
          </a:p>
          <a:p>
            <a:r>
              <a:rPr lang="en-AU" dirty="0" smtClean="0"/>
              <a:t>4 x 9; 6 x 6. so the factors are: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1, 2, 3, 4, 6, 9, 12, 18, 36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0152" y="3111717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Factor pairs of 54 are:</a:t>
            </a:r>
          </a:p>
          <a:p>
            <a:r>
              <a:rPr lang="en-AU" dirty="0" smtClean="0"/>
              <a:t>1 x 54; 2 x 27; 3 x 18</a:t>
            </a:r>
          </a:p>
          <a:p>
            <a:r>
              <a:rPr lang="en-AU" dirty="0" smtClean="0"/>
              <a:t>6 x 9. so the factors are: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1, 2, 3, 6, 9, 18, 27, 54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7092280" y="3988367"/>
            <a:ext cx="360040" cy="3231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4810883" y="422108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/>
          <p:cNvSpPr txBox="1"/>
          <p:nvPr/>
        </p:nvSpPr>
        <p:spPr>
          <a:xfrm>
            <a:off x="3131840" y="4941168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LCM of 4 and 6?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59317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we find the HCF and LCM?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1965610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List the factors of each number </a:t>
            </a:r>
            <a:r>
              <a:rPr lang="en-AU" dirty="0"/>
              <a:t>a</a:t>
            </a:r>
            <a:r>
              <a:rPr lang="en-AU" dirty="0" smtClean="0"/>
              <a:t>nd then circle the common factors. The HCF is the largest number.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2677163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e.g. What is the HCF of 36 and 54?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3083113"/>
            <a:ext cx="2376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Factor pairs of 36 are:</a:t>
            </a:r>
          </a:p>
          <a:p>
            <a:r>
              <a:rPr lang="en-AU" dirty="0" smtClean="0"/>
              <a:t>1 x 36; 2 x 18; 3 x 12</a:t>
            </a:r>
          </a:p>
          <a:p>
            <a:r>
              <a:rPr lang="en-AU" dirty="0" smtClean="0"/>
              <a:t>4 x 9; 6 x 6. so the factors are: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1, 2, 3, 4, 6, 9, 12, 18, 36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0152" y="3111717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Factor pairs of 54 are:</a:t>
            </a:r>
          </a:p>
          <a:p>
            <a:r>
              <a:rPr lang="en-AU" dirty="0" smtClean="0"/>
              <a:t>1 x 54; 2 x 27; 3 x 18</a:t>
            </a:r>
          </a:p>
          <a:p>
            <a:r>
              <a:rPr lang="en-AU" dirty="0" smtClean="0"/>
              <a:t>6 x 9. so the factors are: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1, 2, 3, 6, 9, 18, 27, 54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7092280" y="3988367"/>
            <a:ext cx="360040" cy="3231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4810883" y="4221088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/>
          <p:cNvSpPr txBox="1"/>
          <p:nvPr/>
        </p:nvSpPr>
        <p:spPr>
          <a:xfrm>
            <a:off x="3131840" y="4941168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LCM of 4 and 6?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203848" y="5445224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Multiples of 4 are: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4, 8, 12, 16, 20, 24, 28, 32, 36, 40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76156" y="5470255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Multiples of 6 are: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6, 12, 18, 24, 30, 36, 42, 48, 54, 60</a:t>
            </a:r>
            <a:endParaRPr lang="en-AU" dirty="0">
              <a:solidFill>
                <a:srgbClr val="00B05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94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r>
              <a:rPr lang="en-AU" dirty="0"/>
              <a:t>7</a:t>
            </a:r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9745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Number Properties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93471" y="1078502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we find the HCF and LCM?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3059832" y="1965610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List the factors of each number </a:t>
            </a:r>
            <a:r>
              <a:rPr lang="en-AU" dirty="0"/>
              <a:t>a</a:t>
            </a:r>
            <a:r>
              <a:rPr lang="en-AU" dirty="0" smtClean="0"/>
              <a:t>nd then circle the common factors. The HCF is the largest number.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3059832" y="2677163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e.g. What is the HCF of 36 and 54?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59832" y="3030884"/>
            <a:ext cx="237626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Factor pairs of 36 are:</a:t>
            </a:r>
          </a:p>
          <a:p>
            <a:r>
              <a:rPr lang="en-AU" dirty="0" smtClean="0"/>
              <a:t>1 x 36; 2 x 18; 3 x 12</a:t>
            </a:r>
          </a:p>
          <a:p>
            <a:r>
              <a:rPr lang="en-AU" dirty="0" smtClean="0"/>
              <a:t>4 x 9; 6 x 6. so the factors are: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1, 2, 3, 4, 6, 9, 12, 18, 36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940152" y="3111717"/>
            <a:ext cx="244827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Factor pairs of 54 are:</a:t>
            </a:r>
          </a:p>
          <a:p>
            <a:r>
              <a:rPr lang="en-AU" dirty="0" smtClean="0"/>
              <a:t>1 x 54; 2 x 27; 3 x 18</a:t>
            </a:r>
          </a:p>
          <a:p>
            <a:r>
              <a:rPr lang="en-AU" dirty="0" smtClean="0"/>
              <a:t>6 x 9. so the factors are: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1, 2, 3, 6, 9, 18, 27, 54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4" name="Oval 13"/>
          <p:cNvSpPr/>
          <p:nvPr/>
        </p:nvSpPr>
        <p:spPr>
          <a:xfrm>
            <a:off x="7092280" y="3988367"/>
            <a:ext cx="360040" cy="323166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Oval 14"/>
          <p:cNvSpPr/>
          <p:nvPr/>
        </p:nvSpPr>
        <p:spPr>
          <a:xfrm>
            <a:off x="4788024" y="414995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/>
          <p:cNvSpPr txBox="1"/>
          <p:nvPr/>
        </p:nvSpPr>
        <p:spPr>
          <a:xfrm>
            <a:off x="3095836" y="4817572"/>
            <a:ext cx="54726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What is the LCM of 4 and 6?</a:t>
            </a:r>
            <a:endParaRPr lang="en-AU" dirty="0"/>
          </a:p>
        </p:txBody>
      </p:sp>
      <p:sp>
        <p:nvSpPr>
          <p:cNvPr id="17" name="TextBox 16"/>
          <p:cNvSpPr txBox="1"/>
          <p:nvPr/>
        </p:nvSpPr>
        <p:spPr>
          <a:xfrm>
            <a:off x="3149842" y="5177631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Multiples of 4 are:</a:t>
            </a:r>
          </a:p>
          <a:p>
            <a:r>
              <a:rPr lang="en-AU" dirty="0" smtClean="0">
                <a:solidFill>
                  <a:srgbClr val="FF0000"/>
                </a:solidFill>
              </a:rPr>
              <a:t>4, 8, 12, 16, 20, 24, 28, 32, 36, 40</a:t>
            </a:r>
            <a:endParaRPr lang="en-AU" dirty="0">
              <a:solidFill>
                <a:srgbClr val="FF0000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976156" y="5219266"/>
            <a:ext cx="237626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Multiples of 6 are:</a:t>
            </a:r>
          </a:p>
          <a:p>
            <a:r>
              <a:rPr lang="en-AU" dirty="0" smtClean="0">
                <a:solidFill>
                  <a:srgbClr val="00B050"/>
                </a:solidFill>
              </a:rPr>
              <a:t>6, 12, 18, 24, 30, 36, 42, 48, 54, 60</a:t>
            </a:r>
            <a:endParaRPr lang="en-AU" dirty="0">
              <a:solidFill>
                <a:srgbClr val="00B050"/>
              </a:solidFill>
            </a:endParaRPr>
          </a:p>
        </p:txBody>
      </p:sp>
      <p:sp>
        <p:nvSpPr>
          <p:cNvPr id="19" name="Oval 18"/>
          <p:cNvSpPr/>
          <p:nvPr/>
        </p:nvSpPr>
        <p:spPr>
          <a:xfrm>
            <a:off x="3635896" y="5484094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0" name="Oval 19"/>
          <p:cNvSpPr/>
          <p:nvPr/>
        </p:nvSpPr>
        <p:spPr>
          <a:xfrm>
            <a:off x="6228184" y="5512410"/>
            <a:ext cx="360040" cy="360040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1" name="TextBox 20"/>
          <p:cNvSpPr txBox="1"/>
          <p:nvPr/>
        </p:nvSpPr>
        <p:spPr>
          <a:xfrm>
            <a:off x="3203848" y="6309320"/>
            <a:ext cx="56166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>
                <a:solidFill>
                  <a:srgbClr val="0070C0"/>
                </a:solidFill>
              </a:rPr>
              <a:t>36 is also a common multiple, </a:t>
            </a:r>
            <a:r>
              <a:rPr lang="en-AU" smtClean="0">
                <a:solidFill>
                  <a:srgbClr val="0070C0"/>
                </a:solidFill>
              </a:rPr>
              <a:t>but </a:t>
            </a:r>
            <a:r>
              <a:rPr lang="en-AU" smtClean="0">
                <a:solidFill>
                  <a:srgbClr val="0070C0"/>
                </a:solidFill>
              </a:rPr>
              <a:t>12</a:t>
            </a:r>
            <a:r>
              <a:rPr lang="en-AU" smtClean="0">
                <a:solidFill>
                  <a:srgbClr val="0070C0"/>
                </a:solidFill>
              </a:rPr>
              <a:t> </a:t>
            </a:r>
            <a:r>
              <a:rPr lang="en-AU" dirty="0" smtClean="0">
                <a:solidFill>
                  <a:srgbClr val="0070C0"/>
                </a:solidFill>
              </a:rPr>
              <a:t>is the LCM.</a:t>
            </a:r>
            <a:endParaRPr lang="en-AU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2712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476672"/>
            <a:ext cx="8229600" cy="5649491"/>
          </a:xfrm>
        </p:spPr>
        <p:txBody>
          <a:bodyPr/>
          <a:lstStyle/>
          <a:p>
            <a:r>
              <a:rPr lang="en-AU" dirty="0" smtClean="0"/>
              <a:t>Tasks:</a:t>
            </a:r>
          </a:p>
          <a:p>
            <a:r>
              <a:rPr lang="en-AU" sz="2400" dirty="0"/>
              <a:t>A</a:t>
            </a:r>
            <a:r>
              <a:rPr lang="en-AU" sz="2400" dirty="0" smtClean="0"/>
              <a:t>nswer the following questions from your text book starting on page 15.</a:t>
            </a:r>
          </a:p>
          <a:p>
            <a:r>
              <a:rPr lang="en-AU" sz="2400" dirty="0" smtClean="0"/>
              <a:t>Choose 2 questions from the </a:t>
            </a:r>
            <a:r>
              <a:rPr lang="en-AU" sz="2400" dirty="0" smtClean="0">
                <a:solidFill>
                  <a:srgbClr val="92D050"/>
                </a:solidFill>
              </a:rPr>
              <a:t>understanding </a:t>
            </a:r>
            <a:r>
              <a:rPr lang="en-AU" sz="2400" dirty="0" smtClean="0"/>
              <a:t>section (Q1 to Q4).</a:t>
            </a:r>
          </a:p>
          <a:p>
            <a:r>
              <a:rPr lang="en-AU" sz="2400" dirty="0" smtClean="0"/>
              <a:t>Answer columns 1 and 2 from Q5, Q6, Q7 and Q8 (the </a:t>
            </a:r>
            <a:r>
              <a:rPr lang="en-AU" sz="2400" dirty="0" smtClean="0">
                <a:solidFill>
                  <a:srgbClr val="0070C0"/>
                </a:solidFill>
              </a:rPr>
              <a:t>fluency </a:t>
            </a:r>
            <a:r>
              <a:rPr lang="en-AU" sz="2400" dirty="0" smtClean="0"/>
              <a:t>section)</a:t>
            </a:r>
          </a:p>
          <a:p>
            <a:r>
              <a:rPr lang="en-AU" sz="2400" dirty="0" smtClean="0"/>
              <a:t>Try 1 question from the </a:t>
            </a:r>
            <a:r>
              <a:rPr lang="en-AU" sz="2400" dirty="0" smtClean="0">
                <a:solidFill>
                  <a:schemeClr val="bg1">
                    <a:lumMod val="50000"/>
                  </a:schemeClr>
                </a:solidFill>
              </a:rPr>
              <a:t>problem solving </a:t>
            </a:r>
            <a:r>
              <a:rPr lang="en-AU" sz="2400" dirty="0" smtClean="0"/>
              <a:t>section.</a:t>
            </a:r>
          </a:p>
          <a:p>
            <a:r>
              <a:rPr lang="en-AU" sz="2400" dirty="0" smtClean="0"/>
              <a:t>Try 1 question from the </a:t>
            </a:r>
            <a:r>
              <a:rPr lang="en-AU" sz="2400" dirty="0" smtClean="0">
                <a:solidFill>
                  <a:srgbClr val="00B0F0"/>
                </a:solidFill>
              </a:rPr>
              <a:t>reasoning </a:t>
            </a:r>
            <a:r>
              <a:rPr lang="en-AU" sz="2400" dirty="0" smtClean="0"/>
              <a:t>section.</a:t>
            </a:r>
          </a:p>
          <a:p>
            <a:endParaRPr lang="en-AU" sz="2400" dirty="0"/>
          </a:p>
          <a:p>
            <a:r>
              <a:rPr lang="en-AU" sz="2400" dirty="0" smtClean="0"/>
              <a:t>Extension:</a:t>
            </a:r>
          </a:p>
          <a:p>
            <a:r>
              <a:rPr lang="en-AU" sz="2400" dirty="0" smtClean="0"/>
              <a:t>Ask Mrs Keen for a set of HCF/LCM Tarsia and try to complete the puzzle.</a:t>
            </a:r>
          </a:p>
          <a:p>
            <a:endParaRPr lang="en-AU" sz="2400" dirty="0" smtClean="0"/>
          </a:p>
          <a:p>
            <a:endParaRPr lang="en-AU" sz="2400" dirty="0" smtClean="0"/>
          </a:p>
          <a:p>
            <a:endParaRPr lang="en-AU" sz="2400" dirty="0" smtClean="0"/>
          </a:p>
          <a:p>
            <a:endParaRPr lang="en-AU" sz="2400" dirty="0" smtClean="0"/>
          </a:p>
          <a:p>
            <a:pPr marL="0" indent="0">
              <a:buNone/>
            </a:pP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76611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1254</TotalTime>
  <Words>1063</Words>
  <Application>Microsoft Office PowerPoint</Application>
  <PresentationFormat>On-screen Show (4:3)</PresentationFormat>
  <Paragraphs>166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 Math</vt:lpstr>
      <vt:lpstr>Office Theme</vt:lpstr>
      <vt:lpstr>My Number Interactive Workbook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E4038674</cp:lastModifiedBy>
  <cp:revision>77</cp:revision>
  <dcterms:created xsi:type="dcterms:W3CDTF">2014-05-14T02:58:57Z</dcterms:created>
  <dcterms:modified xsi:type="dcterms:W3CDTF">2015-02-05T04:37:23Z</dcterms:modified>
</cp:coreProperties>
</file>
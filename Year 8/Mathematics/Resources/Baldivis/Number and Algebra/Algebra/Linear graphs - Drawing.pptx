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0" r:id="rId2"/>
    <p:sldId id="259" r:id="rId3"/>
    <p:sldId id="258" r:id="rId4"/>
    <p:sldId id="303" r:id="rId5"/>
    <p:sldId id="304" r:id="rId6"/>
    <p:sldId id="305" r:id="rId7"/>
    <p:sldId id="310" r:id="rId8"/>
    <p:sldId id="311" r:id="rId9"/>
    <p:sldId id="309" r:id="rId10"/>
    <p:sldId id="312" r:id="rId11"/>
    <p:sldId id="313" r:id="rId12"/>
    <p:sldId id="314" r:id="rId13"/>
    <p:sldId id="308" r:id="rId14"/>
    <p:sldId id="301" r:id="rId15"/>
    <p:sldId id="292" r:id="rId16"/>
    <p:sldId id="29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2895" autoAdjust="0"/>
  </p:normalViewPr>
  <p:slideViewPr>
    <p:cSldViewPr>
      <p:cViewPr>
        <p:scale>
          <a:sx n="75" d="100"/>
          <a:sy n="75" d="100"/>
        </p:scale>
        <p:origin x="-1230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DBEE33-D4BC-4E2F-A944-851FF26EC518}" type="datetimeFigureOut">
              <a:rPr lang="en-AU" smtClean="0"/>
              <a:t>9/11/2014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C4587A-04B1-4CF6-9181-927D48407F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8481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4587A-04B1-4CF6-9181-927D48407FBF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635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4587A-04B1-4CF6-9181-927D48407FBF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635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9/11/2014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9/11/2014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9/11/2014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9/11/2014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9/11/2014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9/11/2014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9/11/2014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9/11/2014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9/11/2014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9/11/2014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9/11/2014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9/11/2014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Linear Relationships 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Term 3 Semester 2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988840"/>
            <a:ext cx="4320480" cy="3574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6373978" y="66504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8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9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82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Drawing Linear Graphs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draw a graph given the equation?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4578" y="844251"/>
            <a:ext cx="6274296" cy="6009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67544" y="325595"/>
            <a:ext cx="74313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Draw a coordinate grid from -5 to 5 on both axes. </a:t>
            </a:r>
            <a:endParaRPr lang="en-AU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4283553" y="859430"/>
                <a:ext cx="3713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553" y="859430"/>
                <a:ext cx="371384" cy="369332"/>
              </a:xfrm>
              <a:prstGeom prst="rect">
                <a:avLst/>
              </a:prstGeom>
              <a:blipFill rotWithShape="1">
                <a:blip r:embed="rId3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7631962" y="3848843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1962" y="3848843"/>
                <a:ext cx="367986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7788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82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Drawing Linear Graphs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draw a graph given the equation?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4987929"/>
                  </p:ext>
                </p:extLst>
              </p:nvPr>
            </p:nvGraphicFramePr>
            <p:xfrm>
              <a:off x="3109481" y="3478456"/>
              <a:ext cx="5913869" cy="1762020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844064"/>
                    <a:gridCol w="844064"/>
                    <a:gridCol w="844064"/>
                    <a:gridCol w="844064"/>
                    <a:gridCol w="845871"/>
                    <a:gridCol w="845871"/>
                    <a:gridCol w="845871"/>
                  </a:tblGrid>
                  <a:tr h="5873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73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73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4987929"/>
                  </p:ext>
                </p:extLst>
              </p:nvPr>
            </p:nvGraphicFramePr>
            <p:xfrm>
              <a:off x="3109481" y="3478456"/>
              <a:ext cx="5913869" cy="1762020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844064"/>
                    <a:gridCol w="844064"/>
                    <a:gridCol w="844064"/>
                    <a:gridCol w="844064"/>
                    <a:gridCol w="845871"/>
                    <a:gridCol w="845871"/>
                    <a:gridCol w="845871"/>
                  </a:tblGrid>
                  <a:tr h="5873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17708" r="-603623" b="-2010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73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116495" r="-603623" b="-989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73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109484" y="2810545"/>
                <a:ext cx="56389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 smtClean="0"/>
                  <a:t>Example - Complete the table below for the line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−2</m:t>
                    </m:r>
                  </m:oMath>
                </a14:m>
                <a:endParaRPr lang="en-AU" dirty="0" smtClean="0"/>
              </a:p>
              <a:p>
                <a:r>
                  <a:rPr lang="en-AU" dirty="0" smtClean="0"/>
                  <a:t>Then draw the line</a:t>
                </a:r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9484" y="2810545"/>
                <a:ext cx="5638980" cy="646331"/>
              </a:xfrm>
              <a:prstGeom prst="rect">
                <a:avLst/>
              </a:prstGeom>
              <a:blipFill rotWithShape="1">
                <a:blip r:embed="rId3"/>
                <a:stretch>
                  <a:fillRect l="-865" t="-4717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059832" y="2164214"/>
                <a:ext cx="56166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Substitute the values of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AU" dirty="0" smtClean="0"/>
                  <a:t> into the equation to find the values of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AU" dirty="0" smtClean="0"/>
                  <a:t>.</a:t>
                </a:r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164214"/>
                <a:ext cx="5616624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977" t="-4717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1205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82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Drawing Linear Graphs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draw a graph given the equation?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277182"/>
                  </p:ext>
                </p:extLst>
              </p:nvPr>
            </p:nvGraphicFramePr>
            <p:xfrm>
              <a:off x="3109481" y="3478456"/>
              <a:ext cx="5913869" cy="1762020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844064"/>
                    <a:gridCol w="844064"/>
                    <a:gridCol w="844064"/>
                    <a:gridCol w="844064"/>
                    <a:gridCol w="845871"/>
                    <a:gridCol w="845871"/>
                    <a:gridCol w="845871"/>
                  </a:tblGrid>
                  <a:tr h="5873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73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-4</a:t>
                          </a: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73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277182"/>
                  </p:ext>
                </p:extLst>
              </p:nvPr>
            </p:nvGraphicFramePr>
            <p:xfrm>
              <a:off x="3109481" y="3478456"/>
              <a:ext cx="5913869" cy="1762020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844064"/>
                    <a:gridCol w="844064"/>
                    <a:gridCol w="844064"/>
                    <a:gridCol w="844064"/>
                    <a:gridCol w="845871"/>
                    <a:gridCol w="845871"/>
                    <a:gridCol w="845871"/>
                  </a:tblGrid>
                  <a:tr h="5873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17708" r="-603623" b="-2010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73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116495" r="-603623" b="-989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-4</a:t>
                          </a: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73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109484" y="2810545"/>
                <a:ext cx="56389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 smtClean="0"/>
                  <a:t>Example - Complete the table below for the line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−2</m:t>
                    </m:r>
                  </m:oMath>
                </a14:m>
                <a:endParaRPr lang="en-AU" dirty="0" smtClean="0"/>
              </a:p>
              <a:p>
                <a:r>
                  <a:rPr lang="en-AU" dirty="0" smtClean="0"/>
                  <a:t>Then draw the line</a:t>
                </a:r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9484" y="2810545"/>
                <a:ext cx="5638980" cy="646331"/>
              </a:xfrm>
              <a:prstGeom prst="rect">
                <a:avLst/>
              </a:prstGeom>
              <a:blipFill rotWithShape="1">
                <a:blip r:embed="rId3"/>
                <a:stretch>
                  <a:fillRect l="-865" t="-4717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059832" y="2164214"/>
                <a:ext cx="56166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Substitute the values of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AU" dirty="0" smtClean="0"/>
                  <a:t> into the equation to find the values of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AU" dirty="0" smtClean="0"/>
                  <a:t>.</a:t>
                </a:r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164214"/>
                <a:ext cx="5616624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977" t="-4717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7544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82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Drawing Linear Graphs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draw a graph given the equation?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5051633"/>
                  </p:ext>
                </p:extLst>
              </p:nvPr>
            </p:nvGraphicFramePr>
            <p:xfrm>
              <a:off x="3109481" y="3478456"/>
              <a:ext cx="5913869" cy="1762020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844064"/>
                    <a:gridCol w="844064"/>
                    <a:gridCol w="844064"/>
                    <a:gridCol w="844064"/>
                    <a:gridCol w="845871"/>
                    <a:gridCol w="845871"/>
                    <a:gridCol w="845871"/>
                  </a:tblGrid>
                  <a:tr h="5873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73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-4</a:t>
                          </a: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73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5051633"/>
                  </p:ext>
                </p:extLst>
              </p:nvPr>
            </p:nvGraphicFramePr>
            <p:xfrm>
              <a:off x="3109481" y="3478456"/>
              <a:ext cx="5913869" cy="1762020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844064"/>
                    <a:gridCol w="844064"/>
                    <a:gridCol w="844064"/>
                    <a:gridCol w="844064"/>
                    <a:gridCol w="845871"/>
                    <a:gridCol w="845871"/>
                    <a:gridCol w="845871"/>
                  </a:tblGrid>
                  <a:tr h="5873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17708" r="-603623" b="-2010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73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116495" r="-603623" b="-989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-4</a:t>
                          </a: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73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109484" y="2810545"/>
                <a:ext cx="56389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 smtClean="0"/>
                  <a:t>Example - Complete the table below for the line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−2</m:t>
                    </m:r>
                  </m:oMath>
                </a14:m>
                <a:endParaRPr lang="en-AU" dirty="0" smtClean="0"/>
              </a:p>
              <a:p>
                <a:r>
                  <a:rPr lang="en-AU" dirty="0" smtClean="0"/>
                  <a:t>Then draw the line</a:t>
                </a:r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9484" y="2810545"/>
                <a:ext cx="5638980" cy="646331"/>
              </a:xfrm>
              <a:prstGeom prst="rect">
                <a:avLst/>
              </a:prstGeom>
              <a:blipFill rotWithShape="1">
                <a:blip r:embed="rId3"/>
                <a:stretch>
                  <a:fillRect l="-865" t="-4717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059832" y="2164214"/>
                <a:ext cx="56166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Substitute the values of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AU" dirty="0" smtClean="0"/>
                  <a:t> into the equation to find the values of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AU" dirty="0" smtClean="0"/>
                  <a:t>.</a:t>
                </a:r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164214"/>
                <a:ext cx="5616624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977" t="-4717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7775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82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Drawing Linear Graphs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draw a graph given the equation?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92333642"/>
                  </p:ext>
                </p:extLst>
              </p:nvPr>
            </p:nvGraphicFramePr>
            <p:xfrm>
              <a:off x="3109481" y="3478456"/>
              <a:ext cx="5913869" cy="1762020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844064"/>
                    <a:gridCol w="844064"/>
                    <a:gridCol w="844064"/>
                    <a:gridCol w="844064"/>
                    <a:gridCol w="845871"/>
                    <a:gridCol w="845871"/>
                    <a:gridCol w="845871"/>
                  </a:tblGrid>
                  <a:tr h="5873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73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-4</a:t>
                          </a: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73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(</m:t>
                                </m:r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.</m:t>
                                </m:r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𝑦</m:t>
                                </m:r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0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Times New Roman"/>
                            </a:rPr>
                            <a:t>(-2,-4)</a:t>
                          </a: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92333642"/>
                  </p:ext>
                </p:extLst>
              </p:nvPr>
            </p:nvGraphicFramePr>
            <p:xfrm>
              <a:off x="3109481" y="3478456"/>
              <a:ext cx="5913869" cy="1762020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844064"/>
                    <a:gridCol w="844064"/>
                    <a:gridCol w="844064"/>
                    <a:gridCol w="844064"/>
                    <a:gridCol w="845871"/>
                    <a:gridCol w="845871"/>
                    <a:gridCol w="845871"/>
                  </a:tblGrid>
                  <a:tr h="5873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17708" r="-603623" b="-2010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73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116495" r="-603623" b="-989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-4</a:t>
                          </a: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73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218750" r="-6036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0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Times New Roman"/>
                            </a:rPr>
                            <a:t>(-2,-4)</a:t>
                          </a: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109484" y="2810545"/>
                <a:ext cx="56389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 smtClean="0">
                    <a:solidFill>
                      <a:srgbClr val="7030A0"/>
                    </a:solidFill>
                  </a:rPr>
                  <a:t>Example - Complete the table below for the line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7030A0"/>
                        </a:solidFill>
                        <a:latin typeface="Cambria Math"/>
                      </a:rPr>
                      <m:t>𝑦</m:t>
                    </m:r>
                    <m:r>
                      <a:rPr lang="en-AU" b="0" i="1" smtClean="0">
                        <a:solidFill>
                          <a:srgbClr val="7030A0"/>
                        </a:solidFill>
                        <a:latin typeface="Cambria Math"/>
                      </a:rPr>
                      <m:t>=</m:t>
                    </m:r>
                    <m:r>
                      <a:rPr lang="en-AU" b="0" i="1" smtClean="0">
                        <a:solidFill>
                          <a:srgbClr val="7030A0"/>
                        </a:solidFill>
                        <a:latin typeface="Cambria Math"/>
                      </a:rPr>
                      <m:t>𝑥</m:t>
                    </m:r>
                    <m:r>
                      <a:rPr lang="en-AU" b="0" i="1" smtClean="0">
                        <a:solidFill>
                          <a:srgbClr val="7030A0"/>
                        </a:solidFill>
                        <a:latin typeface="Cambria Math"/>
                      </a:rPr>
                      <m:t>−2</m:t>
                    </m:r>
                  </m:oMath>
                </a14:m>
                <a:endParaRPr lang="en-AU" dirty="0" smtClean="0">
                  <a:solidFill>
                    <a:srgbClr val="7030A0"/>
                  </a:solidFill>
                </a:endParaRPr>
              </a:p>
              <a:p>
                <a:r>
                  <a:rPr lang="en-AU" dirty="0" smtClean="0">
                    <a:solidFill>
                      <a:srgbClr val="7030A0"/>
                    </a:solidFill>
                  </a:rPr>
                  <a:t>Then draw the line</a:t>
                </a:r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9484" y="2810545"/>
                <a:ext cx="5638980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865" t="-4717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059832" y="2164214"/>
                <a:ext cx="56166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Substitute the values of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AU" dirty="0" smtClean="0"/>
                  <a:t> into the equation to find the values of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AU" dirty="0" smtClean="0"/>
                  <a:t>.</a:t>
                </a:r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164214"/>
                <a:ext cx="5616624" cy="646331"/>
              </a:xfrm>
              <a:prstGeom prst="rect">
                <a:avLst/>
              </a:prstGeom>
              <a:blipFill rotWithShape="1">
                <a:blip r:embed="rId5"/>
                <a:stretch>
                  <a:fillRect l="-977" t="-4717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271111" y="5363924"/>
            <a:ext cx="4168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Plot these coordinates on a number plane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19503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82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Drawing Linear Graphs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you draw a graph given the equation?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2684843"/>
                  </p:ext>
                </p:extLst>
              </p:nvPr>
            </p:nvGraphicFramePr>
            <p:xfrm>
              <a:off x="3109481" y="3478456"/>
              <a:ext cx="5913869" cy="1762020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844064"/>
                    <a:gridCol w="844064"/>
                    <a:gridCol w="844064"/>
                    <a:gridCol w="844064"/>
                    <a:gridCol w="845871"/>
                    <a:gridCol w="845871"/>
                    <a:gridCol w="845871"/>
                  </a:tblGrid>
                  <a:tr h="5873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73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73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(</m:t>
                                </m:r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.</m:t>
                                </m:r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𝑦</m:t>
                                </m:r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0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Times New Roman"/>
                            </a:rPr>
                            <a:t>(-2,-4)</a:t>
                          </a: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0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Times New Roman"/>
                            </a:rPr>
                            <a:t>(-1,-3)</a:t>
                          </a: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0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Times New Roman"/>
                            </a:rPr>
                            <a:t>(0,-2)</a:t>
                          </a: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0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Times New Roman"/>
                            </a:rPr>
                            <a:t>(1,-1)</a:t>
                          </a: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0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Times New Roman"/>
                            </a:rPr>
                            <a:t>(2,0)</a:t>
                          </a: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0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Times New Roman"/>
                            </a:rPr>
                            <a:t>(3,1)</a:t>
                          </a: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2684843"/>
                  </p:ext>
                </p:extLst>
              </p:nvPr>
            </p:nvGraphicFramePr>
            <p:xfrm>
              <a:off x="3109481" y="3478456"/>
              <a:ext cx="5913869" cy="1762020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844064"/>
                    <a:gridCol w="844064"/>
                    <a:gridCol w="844064"/>
                    <a:gridCol w="844064"/>
                    <a:gridCol w="845871"/>
                    <a:gridCol w="845871"/>
                    <a:gridCol w="845871"/>
                  </a:tblGrid>
                  <a:tr h="5873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17708" r="-603623" b="-2010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73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116495" r="-603623" b="-989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873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218750" r="-6036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0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Times New Roman"/>
                            </a:rPr>
                            <a:t>(-2,-4)</a:t>
                          </a: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0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Times New Roman"/>
                            </a:rPr>
                            <a:t>(-1,-3)</a:t>
                          </a: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0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Times New Roman"/>
                            </a:rPr>
                            <a:t>(0,-2)</a:t>
                          </a: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0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Times New Roman"/>
                            </a:rPr>
                            <a:t>(1,-1)</a:t>
                          </a: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0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Times New Roman"/>
                            </a:rPr>
                            <a:t>(2,0)</a:t>
                          </a: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0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Times New Roman"/>
                            </a:rPr>
                            <a:t>(3,1)</a:t>
                          </a:r>
                          <a:endParaRPr lang="en-AU" sz="2000" b="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109484" y="2810545"/>
                <a:ext cx="56389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 smtClean="0">
                    <a:solidFill>
                      <a:srgbClr val="7030A0"/>
                    </a:solidFill>
                  </a:rPr>
                  <a:t>Example - Complete the table below for the line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7030A0"/>
                        </a:solidFill>
                        <a:latin typeface="Cambria Math"/>
                      </a:rPr>
                      <m:t>𝑦</m:t>
                    </m:r>
                    <m:r>
                      <a:rPr lang="en-AU" b="0" i="1" smtClean="0">
                        <a:solidFill>
                          <a:srgbClr val="7030A0"/>
                        </a:solidFill>
                        <a:latin typeface="Cambria Math"/>
                      </a:rPr>
                      <m:t>=</m:t>
                    </m:r>
                    <m:r>
                      <a:rPr lang="en-AU" b="0" i="1" smtClean="0">
                        <a:solidFill>
                          <a:srgbClr val="7030A0"/>
                        </a:solidFill>
                        <a:latin typeface="Cambria Math"/>
                      </a:rPr>
                      <m:t>𝑥</m:t>
                    </m:r>
                    <m:r>
                      <a:rPr lang="en-AU" b="0" i="1" smtClean="0">
                        <a:solidFill>
                          <a:srgbClr val="7030A0"/>
                        </a:solidFill>
                        <a:latin typeface="Cambria Math"/>
                      </a:rPr>
                      <m:t>−2</m:t>
                    </m:r>
                  </m:oMath>
                </a14:m>
                <a:endParaRPr lang="en-AU" dirty="0" smtClean="0">
                  <a:solidFill>
                    <a:srgbClr val="7030A0"/>
                  </a:solidFill>
                </a:endParaRPr>
              </a:p>
              <a:p>
                <a:r>
                  <a:rPr lang="en-AU" dirty="0" smtClean="0">
                    <a:solidFill>
                      <a:srgbClr val="7030A0"/>
                    </a:solidFill>
                  </a:rPr>
                  <a:t>Then draw the line</a:t>
                </a:r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9484" y="2810545"/>
                <a:ext cx="5638980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865" t="-4717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059832" y="2164214"/>
                <a:ext cx="56166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Substitute the values of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AU" dirty="0" smtClean="0"/>
                  <a:t> into the equation to find the values of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AU" dirty="0" smtClean="0"/>
                  <a:t>.</a:t>
                </a:r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164214"/>
                <a:ext cx="5616624" cy="646331"/>
              </a:xfrm>
              <a:prstGeom prst="rect">
                <a:avLst/>
              </a:prstGeom>
              <a:blipFill rotWithShape="1">
                <a:blip r:embed="rId5"/>
                <a:stretch>
                  <a:fillRect l="-977" t="-4717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262305" y="5196006"/>
            <a:ext cx="53333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Plot these coordinates on a number plane and draw a line through the points.</a:t>
            </a:r>
          </a:p>
          <a:p>
            <a:endParaRPr lang="en-AU" dirty="0"/>
          </a:p>
          <a:p>
            <a:r>
              <a:rPr lang="en-AU" dirty="0" smtClean="0">
                <a:solidFill>
                  <a:srgbClr val="0070C0"/>
                </a:solidFill>
              </a:rPr>
              <a:t>Make sure you label the graph and put arrows on your lines</a:t>
            </a:r>
            <a:endParaRPr lang="en-A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3326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90922"/>
            <a:ext cx="7416824" cy="6555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5159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32655"/>
            <a:ext cx="7128792" cy="6300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64468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Task – Complete a table and draw the line for the given equation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endParaRPr lang="en-AU" b="0" i="1" dirty="0" smtClean="0">
                  <a:latin typeface="Cambria Math"/>
                </a:endParaRPr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+3</m:t>
                    </m:r>
                  </m:oMath>
                </a14:m>
                <a:endParaRPr lang="en-AU" b="0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+1</m:t>
                    </m:r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=4−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endParaRPr lang="en-AU" b="0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=3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−4</m:t>
                    </m:r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=2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27207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670</TotalTime>
  <Words>576</Words>
  <Application>Microsoft Office PowerPoint</Application>
  <PresentationFormat>On-screen Show (4:3)</PresentationFormat>
  <Paragraphs>186</Paragraphs>
  <Slides>16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My Linear Relationships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– Complete a table and draw the line for the given equation</vt:lpstr>
      <vt:lpstr>Questions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LocalAdmin</cp:lastModifiedBy>
  <cp:revision>47</cp:revision>
  <dcterms:created xsi:type="dcterms:W3CDTF">2014-05-14T02:58:57Z</dcterms:created>
  <dcterms:modified xsi:type="dcterms:W3CDTF">2014-11-09T12:23:11Z</dcterms:modified>
</cp:coreProperties>
</file>
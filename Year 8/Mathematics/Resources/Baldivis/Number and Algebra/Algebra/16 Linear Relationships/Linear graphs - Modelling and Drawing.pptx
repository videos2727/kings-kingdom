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15" r:id="rId5"/>
    <p:sldId id="317" r:id="rId6"/>
    <p:sldId id="316" r:id="rId7"/>
    <p:sldId id="303" r:id="rId8"/>
    <p:sldId id="304" r:id="rId9"/>
    <p:sldId id="305" r:id="rId10"/>
    <p:sldId id="310" r:id="rId11"/>
    <p:sldId id="311" r:id="rId12"/>
    <p:sldId id="309" r:id="rId13"/>
    <p:sldId id="312" r:id="rId14"/>
    <p:sldId id="313" r:id="rId15"/>
    <p:sldId id="314" r:id="rId16"/>
    <p:sldId id="308" r:id="rId17"/>
    <p:sldId id="319" r:id="rId18"/>
    <p:sldId id="318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14" y="-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BEE33-D4BC-4E2F-A944-851FF26EC518}" type="datetimeFigureOut">
              <a:rPr lang="en-AU" smtClean="0"/>
              <a:t>12/10/2016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4587A-04B1-4CF6-9181-927D48407F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848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4587A-04B1-4CF6-9181-927D48407FBF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35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4587A-04B1-4CF6-9181-927D48407FBF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35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12/10/2016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4 </a:t>
            </a:r>
            <a:r>
              <a:rPr lang="en-AU" dirty="0" smtClean="0"/>
              <a:t>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3693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536933"/>
            <a:ext cx="0" cy="55042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965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and using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use a Linear Model?</a:t>
            </a:r>
            <a:endParaRPr lang="en-A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2" t="33582" r="5019" b="19641"/>
          <a:stretch/>
        </p:blipFill>
        <p:spPr bwMode="auto">
          <a:xfrm>
            <a:off x="3979664" y="3469774"/>
            <a:ext cx="3807586" cy="336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19672" y="1700808"/>
            <a:ext cx="712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 have a bank account that goes up as a linear model each year.  Using the table below let’s work out a model that we can use so we will know what we started with and what we will have in 5,8,10 years time?</a:t>
            </a:r>
            <a:endParaRPr lang="en-AU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850624"/>
              </p:ext>
            </p:extLst>
          </p:nvPr>
        </p:nvGraphicFramePr>
        <p:xfrm>
          <a:off x="1835696" y="2610446"/>
          <a:ext cx="540020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200"/>
                <a:gridCol w="720000"/>
                <a:gridCol w="720000"/>
                <a:gridCol w="720000"/>
                <a:gridCol w="720000"/>
                <a:gridCol w="720000"/>
              </a:tblGrid>
              <a:tr h="306790">
                <a:tc>
                  <a:txBody>
                    <a:bodyPr/>
                    <a:lstStyle/>
                    <a:p>
                      <a:r>
                        <a:rPr lang="en-AU" dirty="0" smtClean="0"/>
                        <a:t>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</a:tr>
              <a:tr h="306790">
                <a:tc>
                  <a:txBody>
                    <a:bodyPr/>
                    <a:lstStyle/>
                    <a:p>
                      <a:r>
                        <a:rPr lang="en-AU" dirty="0" smtClean="0"/>
                        <a:t>Amount in bank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880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1160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95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3693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4965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and using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use a Linear Model?</a:t>
            </a:r>
            <a:endParaRPr lang="en-A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2" t="33582" r="5019" b="19641"/>
          <a:stretch/>
        </p:blipFill>
        <p:spPr bwMode="auto">
          <a:xfrm>
            <a:off x="2679064" y="3495546"/>
            <a:ext cx="3540281" cy="3126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19672" y="1700808"/>
            <a:ext cx="712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 have a bank account that goes up as a linear model each year.  Using the table below let’s work out a model that we can use so we will know what we started with and what we will have in 5,8,10 years time?</a:t>
            </a:r>
            <a:endParaRPr lang="en-AU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339815"/>
              </p:ext>
            </p:extLst>
          </p:nvPr>
        </p:nvGraphicFramePr>
        <p:xfrm>
          <a:off x="2411760" y="2624138"/>
          <a:ext cx="540020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200"/>
                <a:gridCol w="720000"/>
                <a:gridCol w="720000"/>
                <a:gridCol w="720000"/>
                <a:gridCol w="720000"/>
                <a:gridCol w="720000"/>
              </a:tblGrid>
              <a:tr h="306790">
                <a:tc>
                  <a:txBody>
                    <a:bodyPr/>
                    <a:lstStyle/>
                    <a:p>
                      <a:r>
                        <a:rPr lang="en-AU" dirty="0" smtClean="0"/>
                        <a:t>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</a:tr>
              <a:tr h="306790">
                <a:tc>
                  <a:txBody>
                    <a:bodyPr/>
                    <a:lstStyle/>
                    <a:p>
                      <a:r>
                        <a:rPr lang="en-AU" dirty="0" smtClean="0"/>
                        <a:t>Amount in bank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 smtClean="0">
                          <a:solidFill>
                            <a:srgbClr val="FF0000"/>
                          </a:solidFill>
                        </a:rPr>
                        <a:t>40</a:t>
                      </a:r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880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1160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23257" y="3482970"/>
            <a:ext cx="29207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say the year 2 and the year 1 to find out how much it goes up by each year.</a:t>
            </a:r>
          </a:p>
          <a:p>
            <a:r>
              <a:rPr lang="en-AU" dirty="0"/>
              <a:t>	</a:t>
            </a:r>
            <a:r>
              <a:rPr lang="en-AU" dirty="0" smtClean="0"/>
              <a:t> 600</a:t>
            </a:r>
          </a:p>
          <a:p>
            <a:r>
              <a:rPr lang="en-AU" dirty="0"/>
              <a:t>	</a:t>
            </a:r>
            <a:r>
              <a:rPr lang="en-AU" u="sng" dirty="0" smtClean="0"/>
              <a:t>-320</a:t>
            </a:r>
          </a:p>
          <a:p>
            <a:r>
              <a:rPr lang="en-AU" dirty="0"/>
              <a:t>	</a:t>
            </a:r>
            <a:r>
              <a:rPr lang="en-AU" dirty="0" smtClean="0"/>
              <a:t> 280</a:t>
            </a:r>
          </a:p>
          <a:p>
            <a:r>
              <a:rPr lang="en-AU" dirty="0" smtClean="0"/>
              <a:t>Each year $280 is added to the account.</a:t>
            </a:r>
          </a:p>
          <a:p>
            <a:r>
              <a:rPr lang="en-AU" dirty="0" smtClean="0"/>
              <a:t>Because it happens each year this is what is multiplied by the year.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119514" y="2624138"/>
            <a:ext cx="1860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find the 0 year</a:t>
            </a:r>
          </a:p>
          <a:p>
            <a:r>
              <a:rPr lang="en-AU" dirty="0" smtClean="0"/>
              <a:t>        320</a:t>
            </a:r>
          </a:p>
          <a:p>
            <a:r>
              <a:rPr lang="en-AU" dirty="0"/>
              <a:t> </a:t>
            </a:r>
            <a:r>
              <a:rPr lang="en-AU" dirty="0" smtClean="0"/>
              <a:t>      </a:t>
            </a:r>
            <a:r>
              <a:rPr lang="en-AU" u="sng" dirty="0" smtClean="0"/>
              <a:t>-280</a:t>
            </a:r>
          </a:p>
          <a:p>
            <a:r>
              <a:rPr lang="en-AU" dirty="0" smtClean="0"/>
              <a:t>           40</a:t>
            </a:r>
            <a:endParaRPr lang="en-AU" dirty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115616" y="3212976"/>
            <a:ext cx="2592288" cy="648072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9514" y="4581128"/>
            <a:ext cx="19992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C($) = 280 * </a:t>
            </a:r>
            <a:r>
              <a:rPr lang="en-AU" dirty="0" err="1" smtClean="0"/>
              <a:t>yr</a:t>
            </a:r>
            <a:r>
              <a:rPr lang="en-AU" dirty="0" smtClean="0"/>
              <a:t> + 40</a:t>
            </a:r>
          </a:p>
          <a:p>
            <a:endParaRPr lang="en-AU" dirty="0"/>
          </a:p>
          <a:p>
            <a:r>
              <a:rPr lang="en-AU" dirty="0" err="1" smtClean="0"/>
              <a:t>Eg</a:t>
            </a:r>
            <a:r>
              <a:rPr lang="en-AU" dirty="0" smtClean="0"/>
              <a:t> </a:t>
            </a:r>
            <a:r>
              <a:rPr lang="en-AU" dirty="0" err="1" smtClean="0"/>
              <a:t>yr</a:t>
            </a:r>
            <a:r>
              <a:rPr lang="en-AU" dirty="0" smtClean="0"/>
              <a:t> 3 would be</a:t>
            </a:r>
          </a:p>
          <a:p>
            <a:r>
              <a:rPr lang="en-AU" dirty="0"/>
              <a:t> </a:t>
            </a:r>
            <a:r>
              <a:rPr lang="en-AU" dirty="0" smtClean="0"/>
              <a:t>C     = 280 * 3 + 40</a:t>
            </a:r>
          </a:p>
          <a:p>
            <a:r>
              <a:rPr lang="en-AU" dirty="0"/>
              <a:t> </a:t>
            </a:r>
            <a:r>
              <a:rPr lang="en-AU" dirty="0" smtClean="0"/>
              <a:t>       = 840 + 40</a:t>
            </a:r>
          </a:p>
          <a:p>
            <a:r>
              <a:rPr lang="en-AU" dirty="0"/>
              <a:t> </a:t>
            </a:r>
            <a:r>
              <a:rPr lang="en-AU" dirty="0" smtClean="0"/>
              <a:t>       = 880</a:t>
            </a:r>
          </a:p>
          <a:p>
            <a:r>
              <a:rPr lang="en-AU" dirty="0"/>
              <a:t> </a:t>
            </a:r>
            <a:r>
              <a:rPr lang="en-AU" dirty="0" smtClean="0"/>
              <a:t>     Correct </a:t>
            </a:r>
            <a:r>
              <a:rPr lang="en-AU" b="1" dirty="0" smtClean="0">
                <a:solidFill>
                  <a:srgbClr val="FF0000"/>
                </a:solidFill>
                <a:sym typeface="Wingdings"/>
              </a:rPr>
              <a:t>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02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090466"/>
          </a:xfrm>
        </p:spPr>
        <p:txBody>
          <a:bodyPr>
            <a:normAutofit/>
          </a:bodyPr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Ex 16.3 and Ex 16.4</a:t>
            </a:r>
            <a:br>
              <a:rPr lang="en-AU" dirty="0" smtClean="0"/>
            </a:br>
            <a:r>
              <a:rPr lang="en-AU" dirty="0" smtClean="0"/>
              <a:t>Pages 216 &amp; 217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62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578" y="844251"/>
            <a:ext cx="6274296" cy="6009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325595"/>
            <a:ext cx="7431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 a coordinate grid from -5 to 5 on both axes. 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283553" y="859430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553" y="859430"/>
                <a:ext cx="371384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631962" y="384884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962" y="3848843"/>
                <a:ext cx="36798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788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987929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987929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20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277182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277182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54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5051633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5051633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77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2333642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(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.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𝑦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(-2,-4)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2333642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18750" r="-603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(-2,-4)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>
                    <a:solidFill>
                      <a:srgbClr val="7030A0"/>
                    </a:solidFill>
                  </a:rPr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𝑦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Then draw the line</a:t>
                </a:r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71111" y="5363924"/>
            <a:ext cx="416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Plot these coordinates on a number plane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950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2684843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(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.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𝑦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(-2,-4)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(-1,-3)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(0,-2)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(1,-1)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(2,0)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(3,1)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2684843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18750" r="-603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(-2,-4)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(-1,-3)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(0,-2)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(1,-1)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(2,0)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(3,1)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>
                    <a:solidFill>
                      <a:srgbClr val="7030A0"/>
                    </a:solidFill>
                  </a:rPr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𝑦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Then draw the line</a:t>
                </a:r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62305" y="5196006"/>
            <a:ext cx="5333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Plot these coordinates on a number plane and draw a line through the points.</a:t>
            </a:r>
          </a:p>
          <a:p>
            <a:endParaRPr lang="en-AU" dirty="0"/>
          </a:p>
          <a:p>
            <a:r>
              <a:rPr lang="en-AU" dirty="0" smtClean="0">
                <a:solidFill>
                  <a:srgbClr val="0070C0"/>
                </a:solidFill>
              </a:rPr>
              <a:t>Make sure you label the graph and put arrows on your lines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32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0922"/>
            <a:ext cx="7416824" cy="655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5159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2655"/>
            <a:ext cx="7128792" cy="6300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4468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Complete a table and draw the line for the given equation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b="0" i="1" dirty="0" smtClean="0">
                  <a:latin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</m:t>
                    </m:r>
                  </m:oMath>
                </a14:m>
                <a:endParaRPr lang="en-AU" b="0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=4−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b="0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−4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720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7544669" cy="525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6063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090466"/>
          </a:xfrm>
        </p:spPr>
        <p:txBody>
          <a:bodyPr>
            <a:normAutofit/>
          </a:bodyPr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Ex </a:t>
            </a:r>
            <a:r>
              <a:rPr lang="en-AU" dirty="0" smtClean="0"/>
              <a:t>16.5, 16.6 &amp; 16.7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Pages </a:t>
            </a:r>
            <a:r>
              <a:rPr lang="en-AU" dirty="0" smtClean="0"/>
              <a:t>218 - 220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683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803</Words>
  <Application>Microsoft Office PowerPoint</Application>
  <PresentationFormat>On-screen Show (4:3)</PresentationFormat>
  <Paragraphs>243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Questions  Ex 16.3 and Ex 16.4 Pages 216 &amp; 217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– Complete a table and draw the line for the given equation</vt:lpstr>
      <vt:lpstr>PowerPoint Presentation</vt:lpstr>
      <vt:lpstr>Questions  Ex 16.5, 16.6 &amp; 16.7 Pages 218 - 220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53</cp:revision>
  <dcterms:created xsi:type="dcterms:W3CDTF">2014-05-14T02:58:57Z</dcterms:created>
  <dcterms:modified xsi:type="dcterms:W3CDTF">2016-10-12T05:05:15Z</dcterms:modified>
</cp:coreProperties>
</file>
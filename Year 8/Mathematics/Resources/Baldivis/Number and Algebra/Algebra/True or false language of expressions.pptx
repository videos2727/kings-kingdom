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2"/>
    <p:restoredTop sz="92197"/>
  </p:normalViewPr>
  <p:slideViewPr>
    <p:cSldViewPr snapToGrid="0" snapToObjects="1">
      <p:cViewPr varScale="1">
        <p:scale>
          <a:sx n="51" d="100"/>
          <a:sy n="51" d="100"/>
        </p:scale>
        <p:origin x="13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722E-A553-A242-8936-AFD74E74A07E}" type="datetimeFigureOut">
              <a:rPr lang="en-US" smtClean="0"/>
              <a:t>2/27/17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CD405-2ECD-3E4D-BB7D-7FF538C45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466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722E-A553-A242-8936-AFD74E74A07E}" type="datetimeFigureOut">
              <a:rPr lang="en-US" smtClean="0"/>
              <a:t>2/27/17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CD405-2ECD-3E4D-BB7D-7FF538C45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03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722E-A553-A242-8936-AFD74E74A07E}" type="datetimeFigureOut">
              <a:rPr lang="en-US" smtClean="0"/>
              <a:t>2/27/17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CD405-2ECD-3E4D-BB7D-7FF538C45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309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722E-A553-A242-8936-AFD74E74A07E}" type="datetimeFigureOut">
              <a:rPr lang="en-US" smtClean="0"/>
              <a:t>2/27/17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CD405-2ECD-3E4D-BB7D-7FF538C45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905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722E-A553-A242-8936-AFD74E74A07E}" type="datetimeFigureOut">
              <a:rPr lang="en-US" smtClean="0"/>
              <a:t>2/27/17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CD405-2ECD-3E4D-BB7D-7FF538C45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347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722E-A553-A242-8936-AFD74E74A07E}" type="datetimeFigureOut">
              <a:rPr lang="en-US" smtClean="0"/>
              <a:t>2/27/17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CD405-2ECD-3E4D-BB7D-7FF538C45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94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722E-A553-A242-8936-AFD74E74A07E}" type="datetimeFigureOut">
              <a:rPr lang="en-US" smtClean="0"/>
              <a:t>2/27/17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CD405-2ECD-3E4D-BB7D-7FF538C45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389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722E-A553-A242-8936-AFD74E74A07E}" type="datetimeFigureOut">
              <a:rPr lang="en-US" smtClean="0"/>
              <a:t>2/27/17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CD405-2ECD-3E4D-BB7D-7FF538C45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360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722E-A553-A242-8936-AFD74E74A07E}" type="datetimeFigureOut">
              <a:rPr lang="en-US" smtClean="0"/>
              <a:t>2/27/17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CD405-2ECD-3E4D-BB7D-7FF538C45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224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722E-A553-A242-8936-AFD74E74A07E}" type="datetimeFigureOut">
              <a:rPr lang="en-US" smtClean="0"/>
              <a:t>2/27/17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CD405-2ECD-3E4D-BB7D-7FF538C45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289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722E-A553-A242-8936-AFD74E74A07E}" type="datetimeFigureOut">
              <a:rPr lang="en-US" smtClean="0"/>
              <a:t>2/27/17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CD405-2ECD-3E4D-BB7D-7FF538C45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06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3722E-A553-A242-8936-AFD74E74A07E}" type="datetimeFigureOut">
              <a:rPr lang="en-US" smtClean="0"/>
              <a:t>2/27/17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2CD405-2ECD-3E4D-BB7D-7FF538C453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05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Mini White Board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sz="4000" dirty="0" smtClean="0"/>
          </a:p>
          <a:p>
            <a:r>
              <a:rPr lang="en-US" sz="4000" dirty="0" smtClean="0"/>
              <a:t>TRUE or FALSE?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230108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Write “</a:t>
            </a:r>
            <a:r>
              <a:rPr lang="en-US" b="1" dirty="0" smtClean="0"/>
              <a:t>T</a:t>
            </a:r>
            <a:r>
              <a:rPr lang="en-US" dirty="0" smtClean="0"/>
              <a:t>” if you agree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 smtClean="0"/>
              <a:t>Write “F” if you don’t 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31499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#1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The </a:t>
            </a:r>
            <a:r>
              <a:rPr lang="en-US" sz="4400" b="1" dirty="0" smtClean="0">
                <a:latin typeface="Times New Roman" charset="0"/>
                <a:ea typeface="Times New Roman" charset="0"/>
                <a:cs typeface="Times New Roman" charset="0"/>
              </a:rPr>
              <a:t>coefficient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of 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x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</a:p>
          <a:p>
            <a:pPr marL="0" indent="0" algn="ctr">
              <a:buNone/>
            </a:pPr>
            <a:endParaRPr lang="en-US" sz="4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in the </a:t>
            </a:r>
            <a:r>
              <a:rPr lang="en-US" sz="4400" b="1" dirty="0" smtClean="0">
                <a:latin typeface="Times New Roman" charset="0"/>
                <a:ea typeface="Times New Roman" charset="0"/>
                <a:cs typeface="Times New Roman" charset="0"/>
              </a:rPr>
              <a:t>expression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</a:p>
          <a:p>
            <a:pPr marL="0" indent="0" algn="ctr">
              <a:buNone/>
            </a:pPr>
            <a:endParaRPr lang="en-US" sz="4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marL="0" indent="0" algn="ctr">
              <a:buNone/>
            </a:pPr>
            <a:r>
              <a:rPr lang="en-US" sz="4400" b="1" dirty="0" smtClean="0">
                <a:latin typeface="Times New Roman" charset="0"/>
                <a:ea typeface="Times New Roman" charset="0"/>
                <a:cs typeface="Times New Roman" charset="0"/>
              </a:rPr>
              <a:t>3</a:t>
            </a:r>
            <a:r>
              <a:rPr lang="en-US" sz="4400" b="1" i="1" dirty="0" smtClean="0">
                <a:latin typeface="Times New Roman" charset="0"/>
                <a:ea typeface="Times New Roman" charset="0"/>
                <a:cs typeface="Times New Roman" charset="0"/>
              </a:rPr>
              <a:t>y</a:t>
            </a:r>
            <a:r>
              <a:rPr lang="en-US" sz="4400" b="1" dirty="0" smtClean="0">
                <a:latin typeface="Times New Roman" charset="0"/>
                <a:ea typeface="Times New Roman" charset="0"/>
                <a:cs typeface="Times New Roman" charset="0"/>
              </a:rPr>
              <a:t>-2</a:t>
            </a:r>
            <a:r>
              <a:rPr lang="en-US" sz="4400" b="1" i="1" dirty="0" smtClean="0">
                <a:latin typeface="Times New Roman" charset="0"/>
                <a:ea typeface="Times New Roman" charset="0"/>
                <a:cs typeface="Times New Roman" charset="0"/>
              </a:rPr>
              <a:t>x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</a:p>
          <a:p>
            <a:pPr marL="0" indent="0" algn="ctr">
              <a:buNone/>
            </a:pPr>
            <a:endParaRPr lang="en-US" sz="4400" i="1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is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3</a:t>
            </a:r>
            <a:endParaRPr lang="en-US" sz="4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425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365125"/>
            <a:ext cx="10134600" cy="1325563"/>
          </a:xfrm>
        </p:spPr>
        <p:txBody>
          <a:bodyPr/>
          <a:lstStyle/>
          <a:p>
            <a:pPr algn="ctr"/>
            <a:r>
              <a:rPr lang="en-US" dirty="0" smtClean="0"/>
              <a:t>#2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4400" dirty="0" smtClean="0"/>
              <a:t>A = 0.5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bh</a:t>
            </a:r>
            <a:r>
              <a:rPr lang="en-US" sz="4400" dirty="0" smtClean="0"/>
              <a:t> </a:t>
            </a:r>
          </a:p>
          <a:p>
            <a:pPr marL="0" indent="0" algn="ctr">
              <a:buNone/>
            </a:pPr>
            <a:endParaRPr lang="en-US" sz="4400" dirty="0" smtClean="0"/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is a well known mathematical formula</a:t>
            </a:r>
            <a:endParaRPr 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708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#3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4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4b</a:t>
            </a:r>
            <a:r>
              <a:rPr lang="en-US" sz="4400" baseline="30000" dirty="0" smtClean="0">
                <a:latin typeface="Times New Roman" charset="0"/>
                <a:ea typeface="Times New Roman" charset="0"/>
                <a:cs typeface="Times New Roman" charset="0"/>
              </a:rPr>
              <a:t>2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x 7h </a:t>
            </a:r>
          </a:p>
          <a:p>
            <a:pPr marL="0" indent="0" algn="ctr">
              <a:buNone/>
            </a:pPr>
            <a:endParaRPr lang="en-US" sz="4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is an expression</a:t>
            </a:r>
            <a:endParaRPr lang="en-US" sz="4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2143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6m + 9z </a:t>
            </a:r>
          </a:p>
          <a:p>
            <a:pPr marL="0" indent="0" algn="ctr">
              <a:buNone/>
            </a:pPr>
            <a:endParaRPr lang="en-US" sz="4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is an algebraic term</a:t>
            </a:r>
            <a:endParaRPr lang="en-US" sz="4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2120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In the equation </a:t>
            </a: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3v+ 2 = 10,</a:t>
            </a:r>
          </a:p>
          <a:p>
            <a:pPr marL="0" indent="0" algn="ctr">
              <a:buNone/>
            </a:pPr>
            <a:endParaRPr lang="en-US" sz="4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V is a </a:t>
            </a:r>
            <a:r>
              <a:rPr lang="en-US" sz="4400" b="1" dirty="0" smtClean="0">
                <a:latin typeface="Times New Roman" charset="0"/>
                <a:ea typeface="Times New Roman" charset="0"/>
                <a:cs typeface="Times New Roman" charset="0"/>
              </a:rPr>
              <a:t>pronumeral</a:t>
            </a:r>
            <a:endParaRPr lang="en-US" sz="4400" b="1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7209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y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= 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x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– 6 is </a:t>
            </a:r>
          </a:p>
          <a:p>
            <a:pPr marL="0" indent="0" algn="ctr">
              <a:buNone/>
            </a:pPr>
            <a:endParaRPr lang="en-US" sz="4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both an equation </a:t>
            </a:r>
            <a:r>
              <a:rPr lang="en-US" sz="4400" u="sng" dirty="0" smtClean="0">
                <a:latin typeface="Times New Roman" charset="0"/>
                <a:ea typeface="Times New Roman" charset="0"/>
                <a:cs typeface="Times New Roman" charset="0"/>
              </a:rPr>
              <a:t>and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an expression</a:t>
            </a:r>
            <a:endParaRPr lang="en-US" sz="4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919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2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def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is the same as</a:t>
            </a: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2 x d x e x f</a:t>
            </a:r>
            <a:endParaRPr lang="en-US" sz="4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16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mtClean="0"/>
              <a:t>8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A pronumeral </a:t>
            </a:r>
          </a:p>
          <a:p>
            <a:pPr marL="0" indent="0" algn="ctr">
              <a:buNone/>
            </a:pPr>
            <a:endParaRPr lang="en-US" sz="4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in the term 11p</a:t>
            </a:r>
            <a:r>
              <a:rPr lang="en-US" sz="4400" baseline="30000" dirty="0" smtClean="0">
                <a:latin typeface="Times New Roman" charset="0"/>
                <a:ea typeface="Times New Roman" charset="0"/>
                <a:cs typeface="Times New Roman" charset="0"/>
              </a:rPr>
              <a:t>2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q </a:t>
            </a: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is </a:t>
            </a: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p</a:t>
            </a:r>
            <a:endParaRPr lang="en-US" sz="4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245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mtClean="0"/>
              <a:t>9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The expression</a:t>
            </a: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11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k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– 13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m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+ 2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n</a:t>
            </a:r>
            <a:r>
              <a:rPr lang="en-US" sz="4400" i="1" baseline="30000" dirty="0" smtClean="0">
                <a:latin typeface="Times New Roman" charset="0"/>
                <a:ea typeface="Times New Roman" charset="0"/>
                <a:cs typeface="Times New Roman" charset="0"/>
              </a:rPr>
              <a:t>2</a:t>
            </a:r>
          </a:p>
          <a:p>
            <a:pPr marL="0" indent="0" algn="ctr">
              <a:buNone/>
            </a:pPr>
            <a:endParaRPr lang="en-US" sz="4400" baseline="300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Contains 3 variables</a:t>
            </a:r>
            <a:endParaRPr lang="en-US" sz="4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8975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The expression</a:t>
            </a: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5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n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+ 2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b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+ 6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k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– 3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w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contains </a:t>
            </a: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5 </a:t>
            </a: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terms</a:t>
            </a:r>
            <a:endParaRPr lang="en-US" sz="4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629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mtClean="0"/>
              <a:t>11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6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y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– 4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= 6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g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+ 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r</a:t>
            </a: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Contains </a:t>
            </a:r>
          </a:p>
          <a:p>
            <a:pPr marL="0" indent="0" algn="ctr">
              <a:buNone/>
            </a:pPr>
            <a:endParaRPr lang="en-US" sz="4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more than</a:t>
            </a: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one expression</a:t>
            </a:r>
            <a:endParaRPr lang="en-US" sz="4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125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12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The equation </a:t>
            </a: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2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a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+ 5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b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= 4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z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contains </a:t>
            </a: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two expressions</a:t>
            </a:r>
            <a:endParaRPr lang="en-US" sz="4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8142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13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The coefficient of </a:t>
            </a:r>
            <a:r>
              <a:rPr lang="en-US" sz="4400" i="1" dirty="0" err="1" smtClean="0">
                <a:latin typeface="Times New Roman" charset="0"/>
                <a:ea typeface="Times New Roman" charset="0"/>
                <a:cs typeface="Times New Roman" charset="0"/>
              </a:rPr>
              <a:t>vt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</a:p>
          <a:p>
            <a:pPr marL="0" indent="0" algn="ctr">
              <a:buNone/>
            </a:pPr>
            <a:endParaRPr lang="en-US" sz="4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in the equation </a:t>
            </a:r>
          </a:p>
          <a:p>
            <a:pPr marL="0" indent="0" algn="ctr">
              <a:buNone/>
            </a:pPr>
            <a:endParaRPr lang="en-US" sz="4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marL="0" indent="0" algn="ctr">
              <a:buNone/>
            </a:pPr>
            <a:r>
              <a:rPr lang="en-US" sz="4400" i="1" dirty="0" err="1" smtClean="0">
                <a:latin typeface="Times New Roman" charset="0"/>
                <a:ea typeface="Times New Roman" charset="0"/>
                <a:cs typeface="Times New Roman" charset="0"/>
              </a:rPr>
              <a:t>vt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= 2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n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+ 4 </a:t>
            </a: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is 1</a:t>
            </a:r>
            <a:endParaRPr lang="en-US" sz="4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026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14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The coefficient of 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g</a:t>
            </a:r>
            <a:r>
              <a:rPr lang="en-US" sz="4400" baseline="30000" dirty="0" smtClean="0">
                <a:latin typeface="Times New Roman" charset="0"/>
                <a:ea typeface="Times New Roman" charset="0"/>
                <a:cs typeface="Times New Roman" charset="0"/>
              </a:rPr>
              <a:t>2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</a:p>
          <a:p>
            <a:pPr marL="0" indent="0" algn="ctr">
              <a:buNone/>
            </a:pPr>
            <a:endParaRPr lang="en-US" sz="4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in the expression 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g</a:t>
            </a:r>
            <a:r>
              <a:rPr lang="en-US" sz="4400" baseline="30000" dirty="0" smtClean="0">
                <a:latin typeface="Times New Roman" charset="0"/>
                <a:ea typeface="Times New Roman" charset="0"/>
                <a:cs typeface="Times New Roman" charset="0"/>
              </a:rPr>
              <a:t>2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- 3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g</a:t>
            </a: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is -3</a:t>
            </a:r>
            <a:r>
              <a:rPr lang="en-US" sz="4400" baseline="30000" dirty="0" smtClean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endParaRPr lang="en-US" sz="4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134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mtClean="0"/>
              <a:t>15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Assuming 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p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and 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q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are positive, </a:t>
            </a:r>
          </a:p>
          <a:p>
            <a:pPr marL="0" indent="0" algn="ctr">
              <a:buNone/>
            </a:pPr>
            <a:endParaRPr lang="en-US" sz="4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marL="0" indent="0" algn="ctr">
              <a:buNone/>
            </a:pP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For 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p/q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to be equal to </a:t>
            </a:r>
          </a:p>
          <a:p>
            <a:pPr marL="0" indent="0" algn="ctr">
              <a:buNone/>
            </a:pPr>
            <a:r>
              <a:rPr lang="en-US" sz="4400" smtClean="0">
                <a:latin typeface="Times New Roman" charset="0"/>
                <a:ea typeface="Times New Roman" charset="0"/>
                <a:cs typeface="Times New Roman" charset="0"/>
              </a:rPr>
              <a:t>a 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positive improper fraction</a:t>
            </a:r>
            <a:r>
              <a:rPr lang="en-US" sz="4400" smtClean="0">
                <a:latin typeface="Times New Roman" charset="0"/>
                <a:ea typeface="Times New Roman" charset="0"/>
                <a:cs typeface="Times New Roman" charset="0"/>
              </a:rPr>
              <a:t>, </a:t>
            </a:r>
          </a:p>
          <a:p>
            <a:pPr marL="0" indent="0" algn="ctr">
              <a:buNone/>
            </a:pPr>
            <a:endParaRPr lang="en-US" sz="4400" dirty="0" smtClean="0">
              <a:latin typeface="Times New Roman" charset="0"/>
              <a:ea typeface="Times New Roman" charset="0"/>
              <a:cs typeface="Times New Roman" charset="0"/>
            </a:endParaRPr>
          </a:p>
          <a:p>
            <a:pPr marL="0" indent="0" algn="ctr">
              <a:buNone/>
            </a:pP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q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 must always be greater than </a:t>
            </a:r>
            <a:r>
              <a:rPr lang="en-US" sz="4400" i="1" dirty="0" smtClean="0">
                <a:latin typeface="Times New Roman" charset="0"/>
                <a:ea typeface="Times New Roman" charset="0"/>
                <a:cs typeface="Times New Roman" charset="0"/>
              </a:rPr>
              <a:t>p</a:t>
            </a:r>
            <a:r>
              <a:rPr lang="en-US" sz="4400" dirty="0" smtClean="0">
                <a:latin typeface="Times New Roman" charset="0"/>
                <a:ea typeface="Times New Roman" charset="0"/>
                <a:cs typeface="Times New Roman" charset="0"/>
              </a:rPr>
              <a:t>.</a:t>
            </a:r>
            <a:endParaRPr lang="en-US" sz="4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0846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217</Words>
  <Application>Microsoft Macintosh PowerPoint</Application>
  <PresentationFormat>Widescreen</PresentationFormat>
  <Paragraphs>91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Calibri</vt:lpstr>
      <vt:lpstr>Calibri Light</vt:lpstr>
      <vt:lpstr>Times New Roman</vt:lpstr>
      <vt:lpstr>Arial</vt:lpstr>
      <vt:lpstr>Office Theme</vt:lpstr>
      <vt:lpstr>Mini White Board</vt:lpstr>
      <vt:lpstr>Write “T” if you agree</vt:lpstr>
      <vt:lpstr>#1</vt:lpstr>
      <vt:lpstr>#2</vt:lpstr>
      <vt:lpstr>#3</vt:lpstr>
      <vt:lpstr>4</vt:lpstr>
      <vt:lpstr>5</vt:lpstr>
      <vt:lpstr>6</vt:lpstr>
      <vt:lpstr>7</vt:lpstr>
      <vt:lpstr>8</vt:lpstr>
      <vt:lpstr>9</vt:lpstr>
      <vt:lpstr>10</vt:lpstr>
      <vt:lpstr>11</vt:lpstr>
      <vt:lpstr> 12 </vt:lpstr>
      <vt:lpstr>13</vt:lpstr>
      <vt:lpstr>14</vt:lpstr>
      <vt:lpstr>15</vt:lpstr>
    </vt:vector>
  </TitlesOfParts>
  <Company/>
  <LinksUpToDate>false</LinksUpToDate>
  <SharedDoc>false</SharedDoc>
  <HyperlinksChanged>false</HyperlinksChanged>
  <AppVersion>15.0024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White Board</dc:title>
  <dc:creator>PATERSON Anne</dc:creator>
  <cp:lastModifiedBy>PATERSON Anne</cp:lastModifiedBy>
  <cp:revision>5</cp:revision>
  <dcterms:created xsi:type="dcterms:W3CDTF">2017-02-27T14:58:02Z</dcterms:created>
  <dcterms:modified xsi:type="dcterms:W3CDTF">2017-02-27T15:35:21Z</dcterms:modified>
</cp:coreProperties>
</file>
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  <p:sldMasterId id="2147483696" r:id="rId2"/>
    <p:sldMasterId id="2147483708" r:id="rId3"/>
    <p:sldMasterId id="2147483720" r:id="rId4"/>
    <p:sldMasterId id="2147483732" r:id="rId5"/>
  </p:sldMasterIdLst>
  <p:notesMasterIdLst>
    <p:notesMasterId r:id="rId24"/>
  </p:notesMasterIdLst>
  <p:sldIdLst>
    <p:sldId id="260" r:id="rId6"/>
    <p:sldId id="259" r:id="rId7"/>
    <p:sldId id="258" r:id="rId8"/>
    <p:sldId id="318" r:id="rId9"/>
    <p:sldId id="305" r:id="rId10"/>
    <p:sldId id="316" r:id="rId11"/>
    <p:sldId id="319" r:id="rId12"/>
    <p:sldId id="320" r:id="rId13"/>
    <p:sldId id="321" r:id="rId14"/>
    <p:sldId id="322" r:id="rId15"/>
    <p:sldId id="323" r:id="rId16"/>
    <p:sldId id="324" r:id="rId17"/>
    <p:sldId id="327" r:id="rId18"/>
    <p:sldId id="328" r:id="rId19"/>
    <p:sldId id="329" r:id="rId20"/>
    <p:sldId id="325" r:id="rId21"/>
    <p:sldId id="330" r:id="rId22"/>
    <p:sldId id="331" r:id="rId2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00CC"/>
    <a:srgbClr val="E200E2"/>
    <a:srgbClr val="FF99FF"/>
    <a:srgbClr val="FF66CC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395" autoAdjust="0"/>
    <p:restoredTop sz="93357" autoAdjust="0"/>
  </p:normalViewPr>
  <p:slideViewPr>
    <p:cSldViewPr>
      <p:cViewPr varScale="1">
        <p:scale>
          <a:sx n="74" d="100"/>
          <a:sy n="74" d="100"/>
        </p:scale>
        <p:origin x="1356" y="5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notesMaster" Target="notesMasters/notesMaster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1912F6-FDB7-44B5-B6C2-078B21714BB5}" type="datetimeFigureOut">
              <a:rPr lang="en-AU" smtClean="0"/>
              <a:t>25/06/2015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BB4E6D-0DB4-482D-956D-DA514B72A19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680360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 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BB4E6D-0DB4-482D-956D-DA514B72A195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93639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BB4E6D-0DB4-482D-956D-DA514B72A195}" type="slidenum">
              <a:rPr lang="en-AU" smtClean="0"/>
              <a:t>13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533906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BB4E6D-0DB4-482D-956D-DA514B72A195}" type="slidenum">
              <a:rPr lang="en-AU" smtClean="0"/>
              <a:t>17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415312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25/06/2015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28522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25/06/2015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91427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25/06/2015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9189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25/06/2015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60537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25/06/2015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67202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25/06/2015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86152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25/06/2015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41538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25/06/2015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22616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25/06/2015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6250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25/06/2015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11002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25/06/2015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00019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25/06/2015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56705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25/06/2015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79932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25/06/2015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50188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25/06/2015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81034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25/06/2015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96693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25/06/2015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578457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25/06/2015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683825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25/06/2015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966554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25/06/2015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97073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25/06/2015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224102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25/06/2015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216624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25/06/2015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418841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25/06/2015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140275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25/06/2015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223864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25/06/2015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036444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25/06/2015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740688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25/06/2015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704224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25/06/2015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782746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25/06/2015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144558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25/06/2015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349200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25/06/2015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593153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25/06/2015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066853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25/06/2015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876242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25/06/2015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094658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25/06/2015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673945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25/06/2015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297158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25/06/2015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37129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25/06/2015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341657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25/06/2015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197531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25/06/2015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980854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25/06/2015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146173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25/06/2015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34160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25/06/2015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959362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25/06/2015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225500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25/06/2015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419034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25/06/2015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694796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25/06/2015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173688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25/06/2015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604642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25/06/2015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18244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25/06/2015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1010799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25/06/2015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114502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25/06/2015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4843344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25/06/2015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7108941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25/06/2015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01400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25/06/2015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6860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25/06/2015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77971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25/06/2015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24169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25/06/2015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73616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25/06/2015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0557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3.gi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3.gif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4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9.xml"/><Relationship Id="rId5" Type="http://schemas.openxmlformats.org/officeDocument/2006/relationships/image" Target="../media/image12.png"/><Relationship Id="rId4" Type="http://schemas.openxmlformats.org/officeDocument/2006/relationships/image" Target="../media/image3.gi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>
            <a:normAutofit/>
          </a:bodyPr>
          <a:lstStyle/>
          <a:p>
            <a:pPr algn="ctr"/>
            <a:r>
              <a:rPr lang="en-AU" dirty="0" smtClean="0"/>
              <a:t> </a:t>
            </a:r>
            <a:r>
              <a:rPr lang="en-AU" sz="4400" dirty="0" smtClean="0"/>
              <a:t>Fractions </a:t>
            </a:r>
            <a:br>
              <a:rPr lang="en-AU" sz="4400" dirty="0" smtClean="0"/>
            </a:br>
            <a:r>
              <a:rPr lang="en-AU" sz="4400" dirty="0" smtClean="0"/>
              <a:t>Interactive Notebook</a:t>
            </a:r>
            <a:endParaRPr lang="en-AU" sz="4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19672" y="4581128"/>
            <a:ext cx="6400800" cy="1752600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en-AU" dirty="0" smtClean="0"/>
              <a:t>Your Name</a:t>
            </a:r>
          </a:p>
          <a:p>
            <a:pPr algn="l"/>
            <a:r>
              <a:rPr lang="en-AU" dirty="0" smtClean="0"/>
              <a:t>Class 8.4</a:t>
            </a:r>
          </a:p>
          <a:p>
            <a:pPr algn="l"/>
            <a:r>
              <a:rPr lang="en-AU" dirty="0" smtClean="0"/>
              <a:t>Mrs Riksman</a:t>
            </a:r>
          </a:p>
          <a:p>
            <a:pPr algn="l"/>
            <a:r>
              <a:rPr lang="en-AU" dirty="0" smtClean="0"/>
              <a:t>Term 2 Semester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9752" y="2060848"/>
            <a:ext cx="4412430" cy="1886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489272" y="0"/>
            <a:ext cx="0" cy="6858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flipV="1">
            <a:off x="0" y="389336"/>
            <a:ext cx="4470125" cy="1532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092489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558245" y="33837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8069" y="372391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264062" y="412262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7327" y="355445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6278189" y="50782"/>
            <a:ext cx="10194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Glossary</a:t>
            </a:r>
            <a:endParaRPr lang="en-AU" sz="1600" dirty="0"/>
          </a:p>
        </p:txBody>
      </p:sp>
      <p:cxnSp>
        <p:nvCxnSpPr>
          <p:cNvPr id="19" name="Straight Connector 18"/>
          <p:cNvCxnSpPr/>
          <p:nvPr/>
        </p:nvCxnSpPr>
        <p:spPr>
          <a:xfrm flipV="1">
            <a:off x="-1" y="733870"/>
            <a:ext cx="4470125" cy="1532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-2" y="6280308"/>
            <a:ext cx="4470126" cy="3220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4489272" y="404664"/>
            <a:ext cx="4654728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4489272" y="733870"/>
            <a:ext cx="4654728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4470124" y="6312515"/>
            <a:ext cx="4654728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6084168" y="404664"/>
            <a:ext cx="0" cy="590785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008694" y="372391"/>
            <a:ext cx="8049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Word</a:t>
            </a:r>
            <a:endParaRPr lang="en-AU" sz="1600" dirty="0"/>
          </a:p>
        </p:txBody>
      </p:sp>
      <p:sp>
        <p:nvSpPr>
          <p:cNvPr id="30" name="TextBox 29"/>
          <p:cNvSpPr txBox="1"/>
          <p:nvPr/>
        </p:nvSpPr>
        <p:spPr>
          <a:xfrm>
            <a:off x="7113898" y="395316"/>
            <a:ext cx="11303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7" name="TextBox 6"/>
          <p:cNvSpPr txBox="1"/>
          <p:nvPr/>
        </p:nvSpPr>
        <p:spPr>
          <a:xfrm>
            <a:off x="-2" y="749198"/>
            <a:ext cx="109249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 smtClean="0"/>
              <a:t>4-5</a:t>
            </a:r>
          </a:p>
          <a:p>
            <a:pPr algn="ctr"/>
            <a:endParaRPr lang="en-AU" dirty="0" smtClean="0"/>
          </a:p>
          <a:p>
            <a:pPr algn="ctr"/>
            <a:r>
              <a:rPr lang="en-AU" dirty="0" smtClean="0"/>
              <a:t>6-7</a:t>
            </a:r>
          </a:p>
          <a:p>
            <a:pPr algn="ctr"/>
            <a:r>
              <a:rPr lang="en-AU" dirty="0" smtClean="0"/>
              <a:t>8-9</a:t>
            </a:r>
          </a:p>
          <a:p>
            <a:pPr algn="ctr"/>
            <a:endParaRPr lang="en-AU" dirty="0" smtClean="0"/>
          </a:p>
          <a:p>
            <a:pPr algn="ctr"/>
            <a:r>
              <a:rPr lang="en-AU" dirty="0" smtClean="0"/>
              <a:t>10-11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092489" y="749198"/>
            <a:ext cx="92558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 smtClean="0"/>
              <a:t>18/6</a:t>
            </a:r>
          </a:p>
          <a:p>
            <a:pPr algn="ctr"/>
            <a:endParaRPr lang="en-AU" dirty="0"/>
          </a:p>
          <a:p>
            <a:pPr algn="ctr"/>
            <a:r>
              <a:rPr lang="en-AU" dirty="0" smtClean="0"/>
              <a:t>19/6</a:t>
            </a:r>
          </a:p>
          <a:p>
            <a:pPr algn="ctr"/>
            <a:r>
              <a:rPr lang="en-AU" dirty="0" smtClean="0"/>
              <a:t>24/6</a:t>
            </a:r>
            <a:endParaRPr lang="en-AU" dirty="0"/>
          </a:p>
          <a:p>
            <a:pPr algn="ctr"/>
            <a:endParaRPr lang="en-AU" dirty="0" smtClean="0"/>
          </a:p>
          <a:p>
            <a:pPr algn="ctr"/>
            <a:r>
              <a:rPr lang="en-AU" dirty="0" smtClean="0"/>
              <a:t>26/6</a:t>
            </a:r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2018069" y="749198"/>
            <a:ext cx="2471203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Introduction to Fractions</a:t>
            </a:r>
          </a:p>
          <a:p>
            <a:r>
              <a:rPr lang="en-AU" dirty="0" smtClean="0"/>
              <a:t>Equivalent Fractions</a:t>
            </a:r>
          </a:p>
          <a:p>
            <a:r>
              <a:rPr lang="en-AU" dirty="0" smtClean="0"/>
              <a:t>Adding and Subtracting Fractions</a:t>
            </a:r>
          </a:p>
          <a:p>
            <a:r>
              <a:rPr lang="en-AU" dirty="0" smtClean="0"/>
              <a:t>Multiplying Fractions</a:t>
            </a:r>
          </a:p>
          <a:p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374312" y="-13817"/>
            <a:ext cx="21769" cy="68439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3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396081" y="601548"/>
            <a:ext cx="4747919" cy="1914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396081" y="1196751"/>
            <a:ext cx="4747919" cy="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417850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4572089" y="0"/>
            <a:ext cx="33842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Title:</a:t>
            </a:r>
            <a:endParaRPr lang="en-AU" sz="1000" dirty="0"/>
          </a:p>
        </p:txBody>
      </p:sp>
      <p:sp>
        <p:nvSpPr>
          <p:cNvPr id="4" name="TextBox 3"/>
          <p:cNvSpPr txBox="1"/>
          <p:nvPr/>
        </p:nvSpPr>
        <p:spPr>
          <a:xfrm>
            <a:off x="7956376" y="0"/>
            <a:ext cx="118762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Date:</a:t>
            </a:r>
            <a:endParaRPr lang="en-AU" sz="1000" dirty="0"/>
          </a:p>
        </p:txBody>
      </p:sp>
      <p:sp>
        <p:nvSpPr>
          <p:cNvPr id="16" name="TextBox 15"/>
          <p:cNvSpPr txBox="1"/>
          <p:nvPr/>
        </p:nvSpPr>
        <p:spPr>
          <a:xfrm>
            <a:off x="7729713" y="16460"/>
            <a:ext cx="4533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 smtClean="0"/>
              <a:t>24</a:t>
            </a:r>
          </a:p>
          <a:p>
            <a:r>
              <a:rPr lang="en-AU" sz="1200" dirty="0" smtClean="0"/>
              <a:t>7</a:t>
            </a:r>
          </a:p>
          <a:p>
            <a:r>
              <a:rPr lang="en-AU" sz="1200" dirty="0" smtClean="0"/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-252536" y="1003698"/>
                <a:ext cx="7775620" cy="60238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AU" sz="2700" u="sng" dirty="0">
                    <a:solidFill>
                      <a:prstClr val="black"/>
                    </a:solidFill>
                  </a:rPr>
                  <a:t>10 Quick Questions</a:t>
                </a:r>
              </a:p>
              <a:p>
                <a:pPr algn="ctr"/>
                <a:endParaRPr lang="en-AU" sz="900" u="sng" dirty="0">
                  <a:solidFill>
                    <a:prstClr val="black"/>
                  </a:solidFill>
                </a:endParaRPr>
              </a:p>
              <a:p>
                <a:r>
                  <a:rPr lang="en-AU" dirty="0">
                    <a:solidFill>
                      <a:prstClr val="black"/>
                    </a:solidFill>
                  </a:rPr>
                  <a:t>			1. 	23 x 5 =</a:t>
                </a:r>
              </a:p>
              <a:p>
                <a:r>
                  <a:rPr lang="en-AU" dirty="0">
                    <a:solidFill>
                      <a:prstClr val="black"/>
                    </a:solidFill>
                  </a:rPr>
                  <a:t>			2.	2165 – 889 =</a:t>
                </a:r>
              </a:p>
              <a:p>
                <a:r>
                  <a:rPr lang="en-AU" dirty="0">
                    <a:solidFill>
                      <a:prstClr val="black"/>
                    </a:solidFill>
                  </a:rPr>
                  <a:t>			3. 	1912 + 796 =</a:t>
                </a:r>
              </a:p>
              <a:p>
                <a:r>
                  <a:rPr lang="en-AU" dirty="0">
                    <a:solidFill>
                      <a:prstClr val="black"/>
                    </a:solidFill>
                  </a:rPr>
                  <a:t>			4. 	5624 ÷ 8 =</a:t>
                </a:r>
              </a:p>
              <a:p>
                <a:r>
                  <a:rPr lang="en-AU" dirty="0">
                    <a:solidFill>
                      <a:prstClr val="black"/>
                    </a:solidFill>
                  </a:rPr>
                  <a:t>			5. 	Round 103.874 to 2 </a:t>
                </a:r>
                <a:r>
                  <a:rPr lang="en-AU" dirty="0" err="1">
                    <a:solidFill>
                      <a:prstClr val="black"/>
                    </a:solidFill>
                  </a:rPr>
                  <a:t>d.p</a:t>
                </a:r>
                <a:endParaRPr lang="en-AU" dirty="0">
                  <a:solidFill>
                    <a:prstClr val="black"/>
                  </a:solidFill>
                </a:endParaRPr>
              </a:p>
              <a:p>
                <a:r>
                  <a:rPr lang="en-AU" dirty="0">
                    <a:solidFill>
                      <a:prstClr val="black"/>
                    </a:solidFill>
                  </a:rPr>
                  <a:t>			6.	Round 387 to the nearest hundred</a:t>
                </a:r>
              </a:p>
              <a:p>
                <a:r>
                  <a:rPr lang="en-AU" dirty="0">
                    <a:solidFill>
                      <a:prstClr val="black"/>
                    </a:solidFill>
                  </a:rPr>
                  <a:t>			7. 	</a:t>
                </a:r>
                <a14:m>
                  <m:oMath xmlns:m="http://schemas.openxmlformats.org/officeDocument/2006/math">
                    <m:r>
                      <a:rPr lang="en-AU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AU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AU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3</m:t>
                    </m:r>
                    <m:r>
                      <a:rPr lang="en-AU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endParaRPr lang="en-AU" dirty="0">
                  <a:solidFill>
                    <a:prstClr val="black"/>
                  </a:solidFill>
                </a:endParaRPr>
              </a:p>
              <a:p>
                <a:r>
                  <a:rPr lang="en-AU" dirty="0">
                    <a:solidFill>
                      <a:prstClr val="black"/>
                    </a:solidFill>
                  </a:rPr>
                  <a:t>			8. 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a:rPr lang="en-AU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𝑜𝑓</m:t>
                    </m:r>
                    <m:r>
                      <a:rPr lang="en-AU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63</m:t>
                    </m:r>
                  </m:oMath>
                </a14:m>
                <a:endParaRPr lang="en-AU" dirty="0">
                  <a:solidFill>
                    <a:prstClr val="black"/>
                  </a:solidFill>
                </a:endParaRPr>
              </a:p>
              <a:p>
                <a:r>
                  <a:rPr lang="en-AU" dirty="0">
                    <a:solidFill>
                      <a:prstClr val="black"/>
                    </a:solidFill>
                  </a:rPr>
                  <a:t>			9.	Find the perimeter</a:t>
                </a:r>
              </a:p>
              <a:p>
                <a:endParaRPr lang="en-AU" dirty="0" smtClean="0">
                  <a:solidFill>
                    <a:prstClr val="black"/>
                  </a:solidFill>
                </a:endParaRPr>
              </a:p>
              <a:p>
                <a:endParaRPr lang="en-AU">
                  <a:solidFill>
                    <a:prstClr val="black"/>
                  </a:solidFill>
                </a:endParaRPr>
              </a:p>
              <a:p>
                <a:r>
                  <a:rPr lang="en-AU" dirty="0">
                    <a:solidFill>
                      <a:prstClr val="black"/>
                    </a:solidFill>
                  </a:rPr>
                  <a:t>			10.	Find the area</a:t>
                </a:r>
              </a:p>
              <a:p>
                <a:r>
                  <a:rPr lang="en-AU" dirty="0">
                    <a:solidFill>
                      <a:prstClr val="black"/>
                    </a:solidFill>
                  </a:rPr>
                  <a:t>					</a:t>
                </a:r>
              </a:p>
              <a:p>
                <a:endParaRPr lang="en-AU" dirty="0">
                  <a:solidFill>
                    <a:prstClr val="black"/>
                  </a:solidFill>
                </a:endParaRPr>
              </a:p>
              <a:p>
                <a:r>
                  <a:rPr lang="en-AU" dirty="0">
                    <a:solidFill>
                      <a:prstClr val="black"/>
                    </a:solidFill>
                  </a:rPr>
                  <a:t> </a:t>
                </a:r>
              </a:p>
              <a:p>
                <a:endParaRPr lang="en-AU" dirty="0">
                  <a:solidFill>
                    <a:prstClr val="black"/>
                  </a:solidFill>
                </a:endParaRPr>
              </a:p>
              <a:p>
                <a:r>
                  <a:rPr lang="en-AU" dirty="0">
                    <a:solidFill>
                      <a:prstClr val="black"/>
                    </a:solidFill>
                    <a:ea typeface="Cambria Math" panose="02040503050406030204" pitchFamily="18" charset="0"/>
                  </a:rPr>
                  <a:t>			</a:t>
                </a:r>
              </a:p>
              <a:p>
                <a:r>
                  <a:rPr lang="en-AU" dirty="0">
                    <a:solidFill>
                      <a:prstClr val="black"/>
                    </a:solidFill>
                  </a:rPr>
                  <a:t>			</a:t>
                </a:r>
              </a:p>
              <a:p>
                <a:pPr algn="ctr"/>
                <a:endParaRPr lang="en-AU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52536" y="1003698"/>
                <a:ext cx="7775620" cy="6023893"/>
              </a:xfrm>
              <a:prstGeom prst="rect">
                <a:avLst/>
              </a:prstGeom>
              <a:blipFill rotWithShape="0">
                <a:blip r:embed="rId2"/>
                <a:stretch>
                  <a:fillRect t="-91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3600550"/>
            <a:ext cx="2246105" cy="224610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1692" y="3877145"/>
            <a:ext cx="1408119" cy="1017632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3002" y="4930444"/>
            <a:ext cx="1408119" cy="101763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78424" y="4247461"/>
            <a:ext cx="753414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350" dirty="0">
                <a:solidFill>
                  <a:prstClr val="black"/>
                </a:solidFill>
              </a:rPr>
              <a:t>3cm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25010" y="3886296"/>
            <a:ext cx="753414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350" dirty="0">
                <a:solidFill>
                  <a:prstClr val="black"/>
                </a:solidFill>
              </a:rPr>
              <a:t>7cm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47707" y="5708155"/>
            <a:ext cx="753414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350" dirty="0">
                <a:solidFill>
                  <a:prstClr val="black"/>
                </a:solidFill>
              </a:rPr>
              <a:t>8m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16055" y="5229547"/>
            <a:ext cx="753414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350" dirty="0">
                <a:solidFill>
                  <a:prstClr val="black"/>
                </a:solidFill>
              </a:rPr>
              <a:t>4m</a:t>
            </a:r>
          </a:p>
        </p:txBody>
      </p:sp>
    </p:spTree>
    <p:extLst>
      <p:ext uri="{BB962C8B-B14F-4D97-AF65-F5344CB8AC3E}">
        <p14:creationId xmlns:p14="http://schemas.microsoft.com/office/powerpoint/2010/main" val="14783470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prstClr val="black"/>
                </a:solidFill>
              </a:rPr>
              <a:t> </a:t>
            </a:r>
            <a:r>
              <a:rPr lang="en-AU" dirty="0">
                <a:solidFill>
                  <a:prstClr val="black"/>
                </a:solidFill>
              </a:rPr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2915816" y="1916832"/>
            <a:ext cx="7431" cy="49411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0" y="457509"/>
            <a:ext cx="74391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 smtClean="0">
                <a:solidFill>
                  <a:prstClr val="black"/>
                </a:solidFill>
              </a:rPr>
              <a:t>Title: Introduction to Fractions</a:t>
            </a:r>
            <a:endParaRPr lang="en-AU" sz="2800" dirty="0">
              <a:solidFill>
                <a:prstClr val="black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233384" y="488084"/>
            <a:ext cx="24969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 smtClean="0">
                <a:solidFill>
                  <a:prstClr val="black"/>
                </a:solidFill>
              </a:rPr>
              <a:t>Date: 18/6/15</a:t>
            </a:r>
            <a:endParaRPr lang="en-AU" sz="2800" dirty="0">
              <a:solidFill>
                <a:prstClr val="black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0" y="1063436"/>
            <a:ext cx="873993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>
                <a:solidFill>
                  <a:prstClr val="black"/>
                </a:solidFill>
              </a:rPr>
              <a:t>EQ : </a:t>
            </a:r>
            <a:r>
              <a:rPr lang="en-AU" sz="2400" dirty="0">
                <a:solidFill>
                  <a:prstClr val="black"/>
                </a:solidFill>
              </a:rPr>
              <a:t>Identify the three types of fractions proper, improper and mixed numerals and how to convert between them</a:t>
            </a:r>
          </a:p>
          <a:p>
            <a:endParaRPr lang="en-AU" dirty="0">
              <a:solidFill>
                <a:prstClr val="black"/>
              </a:solidFill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6228184" y="0"/>
            <a:ext cx="0" cy="980728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431" y="1916832"/>
            <a:ext cx="2915816" cy="4124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>
                <a:solidFill>
                  <a:prstClr val="black"/>
                </a:solidFill>
              </a:rPr>
              <a:t>Question:</a:t>
            </a:r>
          </a:p>
          <a:p>
            <a:endParaRPr lang="en-AU" sz="2400" dirty="0">
              <a:solidFill>
                <a:prstClr val="black"/>
              </a:solidFill>
            </a:endParaRPr>
          </a:p>
          <a:p>
            <a:r>
              <a:rPr lang="en-AU" sz="2400" dirty="0"/>
              <a:t>What is a proper fraction?</a:t>
            </a:r>
          </a:p>
          <a:p>
            <a:endParaRPr lang="en-AU" sz="1000" dirty="0" smtClean="0"/>
          </a:p>
          <a:p>
            <a:endParaRPr lang="en-AU" sz="1000" dirty="0"/>
          </a:p>
          <a:p>
            <a:endParaRPr lang="en-AU" sz="1000" dirty="0"/>
          </a:p>
          <a:p>
            <a:r>
              <a:rPr lang="en-AU" sz="2400" dirty="0" smtClean="0"/>
              <a:t>What </a:t>
            </a:r>
            <a:r>
              <a:rPr lang="en-AU" sz="2400" dirty="0"/>
              <a:t>is an improper fraction?</a:t>
            </a:r>
          </a:p>
          <a:p>
            <a:endParaRPr lang="en-AU" sz="1000" dirty="0" smtClean="0"/>
          </a:p>
          <a:p>
            <a:endParaRPr lang="en-AU" sz="1000" dirty="0"/>
          </a:p>
          <a:p>
            <a:endParaRPr lang="en-AU" sz="1000" dirty="0" smtClean="0"/>
          </a:p>
          <a:p>
            <a:endParaRPr lang="en-AU" sz="1000" dirty="0"/>
          </a:p>
          <a:p>
            <a:r>
              <a:rPr lang="en-AU" sz="2400" dirty="0"/>
              <a:t>What is a mixed numeral?</a:t>
            </a:r>
            <a:endParaRPr lang="en-AU" sz="2400" dirty="0">
              <a:solidFill>
                <a:prstClr val="black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2895249" y="1889152"/>
                <a:ext cx="6220752" cy="53595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 smtClean="0">
                    <a:solidFill>
                      <a:prstClr val="black"/>
                    </a:solidFill>
                  </a:rPr>
                  <a:t>Notes:</a:t>
                </a:r>
              </a:p>
              <a:p>
                <a:endParaRPr lang="en-AU" sz="2400" dirty="0" smtClean="0">
                  <a:solidFill>
                    <a:prstClr val="black"/>
                  </a:solidFill>
                </a:endParaRPr>
              </a:p>
              <a:p>
                <a:pPr marL="342900" indent="-342900">
                  <a:buFont typeface="Wingdings" panose="05000000000000000000" pitchFamily="2" charset="2"/>
                  <a:buChar char="Ø"/>
                </a:pPr>
                <a:r>
                  <a:rPr lang="en-AU" sz="2400" dirty="0">
                    <a:solidFill>
                      <a:srgbClr val="0070C0"/>
                    </a:solidFill>
                  </a:rPr>
                  <a:t>Proper</a:t>
                </a:r>
                <a:r>
                  <a:rPr lang="en-AU" sz="2400" dirty="0">
                    <a:solidFill>
                      <a:prstClr val="black"/>
                    </a:solidFill>
                  </a:rPr>
                  <a:t> </a:t>
                </a:r>
                <a:r>
                  <a:rPr lang="en-AU" sz="2400" dirty="0">
                    <a:solidFill>
                      <a:srgbClr val="0070C0"/>
                    </a:solidFill>
                  </a:rPr>
                  <a:t>fractions</a:t>
                </a:r>
                <a:r>
                  <a:rPr lang="en-AU" sz="2400" dirty="0">
                    <a:solidFill>
                      <a:prstClr val="black"/>
                    </a:solidFill>
                  </a:rPr>
                  <a:t> have a numerator that is less than the denominator. Examples:</a:t>
                </a:r>
              </a:p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en-AU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AU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a:rPr lang="en-AU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,  </m:t>
                    </m:r>
                    <m:f>
                      <m:fPr>
                        <m:ctrlPr>
                          <a:rPr lang="en-AU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AU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</m:oMath>
                </a14:m>
                <a:r>
                  <a:rPr lang="en-AU" sz="2400" dirty="0">
                    <a:solidFill>
                      <a:prstClr val="black"/>
                    </a:solidFill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37</m:t>
                        </m:r>
                      </m:num>
                      <m:den>
                        <m:r>
                          <a:rPr lang="en-AU" sz="24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den>
                    </m:f>
                  </m:oMath>
                </a14:m>
                <a:endParaRPr lang="en-AU" sz="2400" dirty="0">
                  <a:solidFill>
                    <a:prstClr val="black"/>
                  </a:solidFill>
                </a:endParaRPr>
              </a:p>
              <a:p>
                <a:pPr marL="342900" indent="-342900">
                  <a:buFont typeface="Wingdings" panose="05000000000000000000" pitchFamily="2" charset="2"/>
                  <a:buChar char="Ø"/>
                </a:pPr>
                <a:r>
                  <a:rPr lang="en-AU" sz="2400" dirty="0">
                    <a:solidFill>
                      <a:srgbClr val="7030A0"/>
                    </a:solidFill>
                  </a:rPr>
                  <a:t>Improper</a:t>
                </a:r>
                <a:r>
                  <a:rPr lang="en-AU" sz="2400" dirty="0">
                    <a:solidFill>
                      <a:prstClr val="black"/>
                    </a:solidFill>
                  </a:rPr>
                  <a:t> </a:t>
                </a:r>
                <a:r>
                  <a:rPr lang="en-AU" sz="2400" dirty="0">
                    <a:solidFill>
                      <a:srgbClr val="7030A0"/>
                    </a:solidFill>
                  </a:rPr>
                  <a:t>fractions</a:t>
                </a:r>
                <a:r>
                  <a:rPr lang="en-AU" sz="2400" dirty="0">
                    <a:solidFill>
                      <a:prstClr val="black"/>
                    </a:solidFill>
                  </a:rPr>
                  <a:t> have a numerator that is more than the denominator. Examples:</a:t>
                </a:r>
              </a:p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en-AU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AU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a:rPr lang="en-AU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,  </m:t>
                    </m:r>
                    <m:f>
                      <m:fPr>
                        <m:ctrlPr>
                          <a:rPr lang="en-AU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26</m:t>
                        </m:r>
                      </m:num>
                      <m:den>
                        <m:r>
                          <a:rPr lang="en-AU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</m:oMath>
                </a14:m>
                <a:r>
                  <a:rPr lang="en-AU" sz="2400" dirty="0">
                    <a:solidFill>
                      <a:prstClr val="black"/>
                    </a:solidFill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67</m:t>
                        </m:r>
                      </m:num>
                      <m:den>
                        <m:r>
                          <a:rPr lang="en-AU" sz="24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den>
                    </m:f>
                  </m:oMath>
                </a14:m>
                <a:endParaRPr lang="en-AU" sz="2400" dirty="0">
                  <a:solidFill>
                    <a:prstClr val="black"/>
                  </a:solidFill>
                </a:endParaRPr>
              </a:p>
              <a:p>
                <a:pPr marL="342900" indent="-342900">
                  <a:buFont typeface="Wingdings" panose="05000000000000000000" pitchFamily="2" charset="2"/>
                  <a:buChar char="Ø"/>
                </a:pPr>
                <a:r>
                  <a:rPr lang="en-AU" sz="2400" dirty="0">
                    <a:solidFill>
                      <a:srgbClr val="C00000"/>
                    </a:solidFill>
                  </a:rPr>
                  <a:t>Mixed numerals </a:t>
                </a:r>
                <a:r>
                  <a:rPr lang="en-AU" sz="2400" dirty="0"/>
                  <a:t>have</a:t>
                </a:r>
                <a:r>
                  <a:rPr lang="en-AU" sz="2400" dirty="0">
                    <a:solidFill>
                      <a:srgbClr val="C00000"/>
                    </a:solidFill>
                  </a:rPr>
                  <a:t> </a:t>
                </a:r>
                <a:r>
                  <a:rPr lang="en-AU" sz="2400" dirty="0">
                    <a:solidFill>
                      <a:prstClr val="black"/>
                    </a:solidFill>
                  </a:rPr>
                  <a:t>a whole part and a fraction part. </a:t>
                </a:r>
              </a:p>
              <a:p>
                <a:r>
                  <a:rPr lang="en-AU" sz="2400" dirty="0">
                    <a:solidFill>
                      <a:prstClr val="black"/>
                    </a:solidFill>
                  </a:rPr>
                  <a:t>     Examples:</a:t>
                </a:r>
              </a:p>
              <a:p>
                <a:pPr algn="ctr"/>
                <a:r>
                  <a:rPr lang="en-AU" sz="2400" dirty="0" smtClean="0">
                    <a:solidFill>
                      <a:prstClr val="black"/>
                    </a:solidFill>
                  </a:rPr>
                  <a:t>1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AU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a:rPr lang="en-AU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,  2</m:t>
                    </m:r>
                    <m:f>
                      <m:fPr>
                        <m:ctrlPr>
                          <a:rPr lang="en-AU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AU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</m:oMath>
                </a14:m>
                <a:r>
                  <a:rPr lang="en-AU" sz="2400" dirty="0">
                    <a:solidFill>
                      <a:prstClr val="black"/>
                    </a:solidFill>
                  </a:rPr>
                  <a:t>, 3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37</m:t>
                        </m:r>
                      </m:num>
                      <m:den>
                        <m:r>
                          <a:rPr lang="en-AU" sz="24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den>
                    </m:f>
                  </m:oMath>
                </a14:m>
                <a:endParaRPr lang="en-AU" sz="2400" dirty="0" smtClean="0">
                  <a:solidFill>
                    <a:prstClr val="black"/>
                  </a:solidFill>
                </a:endParaRPr>
              </a:p>
              <a:p>
                <a:endParaRPr lang="en-AU" sz="2400" dirty="0" smtClean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5249" y="1889152"/>
                <a:ext cx="6220752" cy="5359544"/>
              </a:xfrm>
              <a:prstGeom prst="rect">
                <a:avLst/>
              </a:prstGeom>
              <a:blipFill rotWithShape="0">
                <a:blip r:embed="rId2"/>
                <a:stretch>
                  <a:fillRect l="-1569" t="-910" r="-127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/>
          <p:cNvSpPr txBox="1"/>
          <p:nvPr/>
        </p:nvSpPr>
        <p:spPr>
          <a:xfrm>
            <a:off x="5364088" y="-10543"/>
            <a:ext cx="8640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24</a:t>
            </a:r>
          </a:p>
          <a:p>
            <a:r>
              <a:rPr lang="en-AU" dirty="0" smtClean="0"/>
              <a:t>7</a:t>
            </a:r>
          </a:p>
          <a:p>
            <a:r>
              <a:rPr lang="en-AU" dirty="0" smtClean="0"/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674608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/>
          <p:nvPr/>
        </p:nvCxnSpPr>
        <p:spPr>
          <a:xfrm flipH="1">
            <a:off x="2923247" y="0"/>
            <a:ext cx="7432" cy="6858000"/>
          </a:xfrm>
          <a:prstGeom prst="line">
            <a:avLst/>
          </a:prstGeom>
          <a:ln w="158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9584" y="-2542"/>
            <a:ext cx="2915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>
                <a:solidFill>
                  <a:prstClr val="black"/>
                </a:solidFill>
              </a:rPr>
              <a:t>Question:</a:t>
            </a:r>
            <a:endParaRPr lang="en-AU" sz="2400" dirty="0">
              <a:solidFill>
                <a:prstClr val="black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953389" y="16080"/>
            <a:ext cx="6220752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>
                <a:solidFill>
                  <a:prstClr val="black"/>
                </a:solidFill>
              </a:rPr>
              <a:t>Notes:</a:t>
            </a:r>
          </a:p>
          <a:p>
            <a:endParaRPr lang="en-AU" sz="1400" dirty="0" smtClean="0">
              <a:solidFill>
                <a:prstClr val="black"/>
              </a:solidFill>
            </a:endParaRPr>
          </a:p>
        </p:txBody>
      </p:sp>
      <p:sp>
        <p:nvSpPr>
          <p:cNvPr id="5" name="Control 1"/>
          <p:cNvSpPr>
            <a:spLocks noChangeArrowheads="1" noChangeShapeType="1"/>
          </p:cNvSpPr>
          <p:nvPr/>
        </p:nvSpPr>
        <p:spPr bwMode="auto">
          <a:xfrm>
            <a:off x="5481638" y="4022725"/>
            <a:ext cx="2165350" cy="3171825"/>
          </a:xfrm>
          <a:prstGeom prst="rect">
            <a:avLst/>
          </a:prstGeom>
          <a:noFill/>
          <a:ln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noFill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6673" y="6421222"/>
            <a:ext cx="548688" cy="493819"/>
          </a:xfrm>
          <a:prstGeom prst="rect">
            <a:avLst/>
          </a:prstGeom>
        </p:spPr>
      </p:pic>
      <p:cxnSp>
        <p:nvCxnSpPr>
          <p:cNvPr id="4" name="Straight Connector 3"/>
          <p:cNvCxnSpPr/>
          <p:nvPr/>
        </p:nvCxnSpPr>
        <p:spPr>
          <a:xfrm>
            <a:off x="0" y="459123"/>
            <a:ext cx="9144000" cy="0"/>
          </a:xfrm>
          <a:prstGeom prst="line">
            <a:avLst/>
          </a:prstGeom>
          <a:ln w="158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2930679" y="477746"/>
                <a:ext cx="6134682" cy="62409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000" dirty="0">
                    <a:solidFill>
                      <a:prstClr val="black"/>
                    </a:solidFill>
                  </a:rPr>
                  <a:t>We need to be able to convert mixed numerals to improper fractions and vice versa.</a:t>
                </a:r>
              </a:p>
              <a:p>
                <a:r>
                  <a:rPr lang="en-AU" sz="2000" dirty="0">
                    <a:solidFill>
                      <a:srgbClr val="0070C0"/>
                    </a:solidFill>
                  </a:rPr>
                  <a:t>Mixed numeral </a:t>
                </a:r>
                <a:r>
                  <a:rPr lang="en-AU" sz="2000" dirty="0">
                    <a:solidFill>
                      <a:srgbClr val="0070C0"/>
                    </a:solidFill>
                    <a:sym typeface="Wingdings" panose="05000000000000000000" pitchFamily="2" charset="2"/>
                  </a:rPr>
                  <a:t> Improper fraction</a:t>
                </a:r>
              </a:p>
              <a:p>
                <a:r>
                  <a:rPr lang="en-AU" sz="2000" dirty="0" err="1">
                    <a:solidFill>
                      <a:prstClr val="black"/>
                    </a:solidFill>
                    <a:sym typeface="Wingdings" panose="05000000000000000000" pitchFamily="2" charset="2"/>
                  </a:rPr>
                  <a:t>Eg</a:t>
                </a:r>
                <a:r>
                  <a:rPr lang="en-AU" sz="2000" dirty="0">
                    <a:solidFill>
                      <a:prstClr val="black"/>
                    </a:solidFill>
                    <a:sym typeface="Wingdings" panose="05000000000000000000" pitchFamily="2" charset="2"/>
                  </a:rPr>
                  <a:t>. 1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en-AU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3</m:t>
                        </m:r>
                      </m:num>
                      <m:den>
                        <m:r>
                          <a:rPr lang="en-AU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4</m:t>
                        </m:r>
                      </m:den>
                    </m:f>
                  </m:oMath>
                </a14:m>
                <a:r>
                  <a:rPr lang="en-AU" sz="2000" dirty="0">
                    <a:solidFill>
                      <a:prstClr val="black"/>
                    </a:solidFill>
                  </a:rPr>
                  <a:t> is made up of 1 whole plus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lang="en-AU" sz="2000" dirty="0">
                  <a:solidFill>
                    <a:prstClr val="black"/>
                  </a:solidFill>
                </a:endParaRPr>
              </a:p>
              <a:p>
                <a:r>
                  <a:rPr lang="en-AU" sz="2000" dirty="0">
                    <a:solidFill>
                      <a:prstClr val="black"/>
                    </a:solidFill>
                  </a:rPr>
                  <a:t> we can write this as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AU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AU" sz="2000" dirty="0">
                    <a:solidFill>
                      <a:prstClr val="black"/>
                    </a:solidFill>
                  </a:rPr>
                  <a:t>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0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sz="20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AU" sz="2000" dirty="0">
                    <a:solidFill>
                      <a:prstClr val="black"/>
                    </a:solidFill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AU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lang="en-AU" sz="2000" dirty="0">
                  <a:solidFill>
                    <a:prstClr val="black"/>
                  </a:solidFill>
                </a:endParaRPr>
              </a:p>
              <a:p>
                <a:endParaRPr lang="en-AU" sz="2000" dirty="0" smtClean="0">
                  <a:solidFill>
                    <a:prstClr val="black"/>
                  </a:solidFill>
                </a:endParaRPr>
              </a:p>
              <a:p>
                <a:endParaRPr lang="en-AU" sz="2000" dirty="0">
                  <a:solidFill>
                    <a:prstClr val="black"/>
                  </a:solidFill>
                </a:endParaRPr>
              </a:p>
              <a:p>
                <a:r>
                  <a:rPr lang="en-AU" sz="2000" dirty="0">
                    <a:solidFill>
                      <a:prstClr val="black"/>
                    </a:solidFill>
                  </a:rPr>
                  <a:t>Now try converting 5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lang="en-AU" sz="2000" dirty="0">
                    <a:solidFill>
                      <a:prstClr val="black"/>
                    </a:solidFill>
                  </a:rPr>
                  <a:t> to an improper fraction</a:t>
                </a:r>
              </a:p>
              <a:p>
                <a:endParaRPr lang="en-AU" sz="2000" dirty="0">
                  <a:solidFill>
                    <a:prstClr val="black"/>
                  </a:solidFill>
                </a:endParaRPr>
              </a:p>
              <a:p>
                <a:endParaRPr lang="en-AU" sz="2000" dirty="0">
                  <a:solidFill>
                    <a:prstClr val="black"/>
                  </a:solidFill>
                </a:endParaRPr>
              </a:p>
              <a:p>
                <a:r>
                  <a:rPr lang="en-AU" sz="2000" dirty="0">
                    <a:solidFill>
                      <a:srgbClr val="7030A0"/>
                    </a:solidFill>
                  </a:rPr>
                  <a:t>Improper fraction </a:t>
                </a:r>
                <a:r>
                  <a:rPr lang="en-AU" sz="2000" dirty="0">
                    <a:solidFill>
                      <a:srgbClr val="7030A0"/>
                    </a:solidFill>
                    <a:sym typeface="Wingdings" panose="05000000000000000000" pitchFamily="2" charset="2"/>
                  </a:rPr>
                  <a:t> Mixed numeral</a:t>
                </a:r>
              </a:p>
              <a:p>
                <a:r>
                  <a:rPr lang="en-AU" sz="2000" dirty="0">
                    <a:solidFill>
                      <a:prstClr val="black"/>
                    </a:solidFill>
                    <a:sym typeface="Wingdings" panose="05000000000000000000" pitchFamily="2" charset="2"/>
                  </a:rPr>
                  <a:t>We need to divide the numerator by the denominator and </a:t>
                </a:r>
                <a:r>
                  <a:rPr lang="en-AU" sz="2000" dirty="0" smtClean="0">
                    <a:solidFill>
                      <a:prstClr val="black"/>
                    </a:solidFill>
                    <a:sym typeface="Wingdings" panose="05000000000000000000" pitchFamily="2" charset="2"/>
                  </a:rPr>
                  <a:t>write the </a:t>
                </a:r>
                <a:r>
                  <a:rPr lang="en-AU" sz="2000" dirty="0">
                    <a:solidFill>
                      <a:prstClr val="black"/>
                    </a:solidFill>
                    <a:sym typeface="Wingdings" panose="05000000000000000000" pitchFamily="2" charset="2"/>
                  </a:rPr>
                  <a:t>remainder as  a proper fraction.</a:t>
                </a:r>
              </a:p>
              <a:p>
                <a:r>
                  <a:rPr lang="en-AU" sz="2000" dirty="0" err="1">
                    <a:solidFill>
                      <a:prstClr val="black"/>
                    </a:solidFill>
                    <a:sym typeface="Wingdings" panose="05000000000000000000" pitchFamily="2" charset="2"/>
                  </a:rPr>
                  <a:t>Eg</a:t>
                </a:r>
                <a:r>
                  <a:rPr lang="en-AU" sz="2000" dirty="0">
                    <a:solidFill>
                      <a:prstClr val="black"/>
                    </a:solidFill>
                    <a:sym typeface="Wingdings" panose="05000000000000000000" pitchFamily="2" charset="2"/>
                  </a:rPr>
                  <a:t>.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en-AU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38</m:t>
                        </m:r>
                      </m:num>
                      <m:den>
                        <m:r>
                          <a:rPr lang="en-AU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3</m:t>
                        </m:r>
                      </m:den>
                    </m:f>
                  </m:oMath>
                </a14:m>
                <a:r>
                  <a:rPr lang="en-AU" sz="2000" dirty="0">
                    <a:solidFill>
                      <a:prstClr val="black"/>
                    </a:solidFill>
                    <a:sym typeface="Wingdings" panose="05000000000000000000" pitchFamily="2" charset="2"/>
                  </a:rPr>
                  <a:t> =	12 remainder 2	=12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en-AU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num>
                      <m:den>
                        <m:r>
                          <a:rPr lang="en-AU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3</m:t>
                        </m:r>
                      </m:den>
                    </m:f>
                  </m:oMath>
                </a14:m>
                <a:endParaRPr lang="en-AU" sz="2000" dirty="0">
                  <a:solidFill>
                    <a:prstClr val="black"/>
                  </a:solidFill>
                  <a:sym typeface="Wingdings" panose="05000000000000000000" pitchFamily="2" charset="2"/>
                </a:endParaRPr>
              </a:p>
              <a:p>
                <a:endParaRPr lang="en-AU" sz="2000" dirty="0" smtClean="0">
                  <a:solidFill>
                    <a:prstClr val="black"/>
                  </a:solidFill>
                  <a:sym typeface="Wingdings" panose="05000000000000000000" pitchFamily="2" charset="2"/>
                </a:endParaRPr>
              </a:p>
              <a:p>
                <a:endParaRPr lang="en-AU" sz="2000" dirty="0">
                  <a:solidFill>
                    <a:prstClr val="black"/>
                  </a:solidFill>
                  <a:sym typeface="Wingdings" panose="05000000000000000000" pitchFamily="2" charset="2"/>
                </a:endParaRPr>
              </a:p>
              <a:p>
                <a:r>
                  <a:rPr lang="en-AU" sz="2000" dirty="0">
                    <a:solidFill>
                      <a:prstClr val="black"/>
                    </a:solidFill>
                    <a:sym typeface="Wingdings" panose="05000000000000000000" pitchFamily="2" charset="2"/>
                  </a:rPr>
                  <a:t>Now try converting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en-AU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27</m:t>
                        </m:r>
                      </m:num>
                      <m:den>
                        <m:r>
                          <a:rPr lang="en-AU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4</m:t>
                        </m:r>
                      </m:den>
                    </m:f>
                    <m:r>
                      <a:rPr lang="en-AU" sz="2000">
                        <a:solidFill>
                          <a:prstClr val="black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 </m:t>
                    </m:r>
                  </m:oMath>
                </a14:m>
                <a:r>
                  <a:rPr lang="en-AU" sz="2000" dirty="0">
                    <a:solidFill>
                      <a:prstClr val="black"/>
                    </a:solidFill>
                    <a:sym typeface="Wingdings" panose="05000000000000000000" pitchFamily="2" charset="2"/>
                  </a:rPr>
                  <a:t>to a mixed numeral</a:t>
                </a:r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0679" y="477746"/>
                <a:ext cx="6134682" cy="6240939"/>
              </a:xfrm>
              <a:prstGeom prst="rect">
                <a:avLst/>
              </a:prstGeom>
              <a:blipFill rotWithShape="0">
                <a:blip r:embed="rId3"/>
                <a:stretch>
                  <a:fillRect l="-1093" t="-48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/>
          <p:cNvSpPr txBox="1"/>
          <p:nvPr/>
        </p:nvSpPr>
        <p:spPr>
          <a:xfrm>
            <a:off x="117227" y="477746"/>
            <a:ext cx="2749221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dirty="0" smtClean="0"/>
          </a:p>
          <a:p>
            <a:endParaRPr lang="en-AU" sz="2200" dirty="0" smtClean="0"/>
          </a:p>
          <a:p>
            <a:r>
              <a:rPr lang="en-AU" sz="2200" dirty="0" smtClean="0"/>
              <a:t>How do we convert a mixed numeral to an improper fraction?</a:t>
            </a:r>
          </a:p>
          <a:p>
            <a:endParaRPr lang="en-AU" sz="2200" dirty="0"/>
          </a:p>
          <a:p>
            <a:endParaRPr lang="en-AU" sz="2200" dirty="0" smtClean="0"/>
          </a:p>
          <a:p>
            <a:endParaRPr lang="en-AU" sz="2200" dirty="0"/>
          </a:p>
          <a:p>
            <a:endParaRPr lang="en-AU" sz="1000" dirty="0"/>
          </a:p>
          <a:p>
            <a:endParaRPr lang="en-AU" sz="1000" dirty="0" smtClean="0"/>
          </a:p>
          <a:p>
            <a:endParaRPr lang="en-AU" sz="1000" dirty="0" smtClean="0"/>
          </a:p>
          <a:p>
            <a:endParaRPr lang="en-AU" sz="1000" dirty="0"/>
          </a:p>
          <a:p>
            <a:endParaRPr lang="en-AU" sz="1000" dirty="0"/>
          </a:p>
          <a:p>
            <a:r>
              <a:rPr lang="en-AU" sz="2200" dirty="0" smtClean="0"/>
              <a:t>How do we convert an improper fraction to a mixed numeral?</a:t>
            </a:r>
          </a:p>
        </p:txBody>
      </p:sp>
    </p:spTree>
    <p:extLst>
      <p:ext uri="{BB962C8B-B14F-4D97-AF65-F5344CB8AC3E}">
        <p14:creationId xmlns:p14="http://schemas.microsoft.com/office/powerpoint/2010/main" val="11581769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681658" y="908720"/>
                <a:ext cx="7778773" cy="63024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AU" sz="2700" u="sng" dirty="0">
                    <a:solidFill>
                      <a:prstClr val="black"/>
                    </a:solidFill>
                  </a:rPr>
                  <a:t>10 Quick Questions</a:t>
                </a:r>
              </a:p>
              <a:p>
                <a:pPr algn="ctr"/>
                <a:endParaRPr lang="en-AU" sz="900" u="sng" dirty="0">
                  <a:solidFill>
                    <a:prstClr val="black"/>
                  </a:solidFill>
                </a:endParaRPr>
              </a:p>
              <a:p>
                <a:r>
                  <a:rPr lang="en-AU" dirty="0">
                    <a:solidFill>
                      <a:prstClr val="black"/>
                    </a:solidFill>
                  </a:rPr>
                  <a:t>			1. 	23 x 8 =</a:t>
                </a:r>
              </a:p>
              <a:p>
                <a:r>
                  <a:rPr lang="en-AU" dirty="0">
                    <a:solidFill>
                      <a:prstClr val="black"/>
                    </a:solidFill>
                  </a:rPr>
                  <a:t>			2.	2429 - 761 =</a:t>
                </a:r>
              </a:p>
              <a:p>
                <a:r>
                  <a:rPr lang="en-AU" dirty="0">
                    <a:solidFill>
                      <a:prstClr val="black"/>
                    </a:solidFill>
                  </a:rPr>
                  <a:t>			3. 	2314 + 827 =</a:t>
                </a:r>
              </a:p>
              <a:p>
                <a:r>
                  <a:rPr lang="en-AU" dirty="0">
                    <a:solidFill>
                      <a:prstClr val="black"/>
                    </a:solidFill>
                  </a:rPr>
                  <a:t>			4. 	4872 ÷ 8 =</a:t>
                </a:r>
              </a:p>
              <a:p>
                <a:r>
                  <a:rPr lang="en-AU" dirty="0">
                    <a:solidFill>
                      <a:prstClr val="black"/>
                    </a:solidFill>
                  </a:rPr>
                  <a:t>			5. 	Round 3.9271 to 2 </a:t>
                </a:r>
                <a:r>
                  <a:rPr lang="en-AU" dirty="0" err="1">
                    <a:solidFill>
                      <a:prstClr val="black"/>
                    </a:solidFill>
                  </a:rPr>
                  <a:t>d.p</a:t>
                </a:r>
                <a:endParaRPr lang="en-AU" dirty="0">
                  <a:solidFill>
                    <a:prstClr val="black"/>
                  </a:solidFill>
                </a:endParaRPr>
              </a:p>
              <a:p>
                <a:r>
                  <a:rPr lang="en-AU" dirty="0">
                    <a:solidFill>
                      <a:prstClr val="black"/>
                    </a:solidFill>
                  </a:rPr>
                  <a:t>			6.	Round 526 to the nearest ten</a:t>
                </a:r>
              </a:p>
              <a:p>
                <a:r>
                  <a:rPr lang="en-AU" dirty="0">
                    <a:solidFill>
                      <a:prstClr val="black"/>
                    </a:solidFill>
                  </a:rPr>
                  <a:t>			7. 	</a:t>
                </a:r>
                <a14:m>
                  <m:oMath xmlns:m="http://schemas.openxmlformats.org/officeDocument/2006/math">
                    <m:r>
                      <a:rPr lang="en-AU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AU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6</m:t>
                    </m:r>
                    <m:r>
                      <a:rPr lang="en-AU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AU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lang="en-AU" dirty="0">
                  <a:solidFill>
                    <a:prstClr val="black"/>
                  </a:solidFill>
                </a:endParaRPr>
              </a:p>
              <a:p>
                <a:r>
                  <a:rPr lang="en-AU" dirty="0">
                    <a:solidFill>
                      <a:prstClr val="black"/>
                    </a:solidFill>
                  </a:rPr>
                  <a:t>			8. 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AU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𝑜𝑓</m:t>
                    </m:r>
                    <m:r>
                      <a:rPr lang="en-AU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AU" dirty="0">
                    <a:solidFill>
                      <a:prstClr val="black"/>
                    </a:solidFill>
                  </a:rPr>
                  <a:t>18</a:t>
                </a:r>
              </a:p>
              <a:p>
                <a:r>
                  <a:rPr lang="en-AU" dirty="0">
                    <a:solidFill>
                      <a:prstClr val="black"/>
                    </a:solidFill>
                  </a:rPr>
                  <a:t>			9.	Find the perimeter</a:t>
                </a:r>
              </a:p>
              <a:p>
                <a:endParaRPr lang="en-AU" dirty="0" smtClean="0">
                  <a:solidFill>
                    <a:prstClr val="black"/>
                  </a:solidFill>
                </a:endParaRPr>
              </a:p>
              <a:p>
                <a:endParaRPr lang="en-AU" dirty="0">
                  <a:solidFill>
                    <a:prstClr val="black"/>
                  </a:solidFill>
                </a:endParaRPr>
              </a:p>
              <a:p>
                <a:endParaRPr lang="en-AU" dirty="0">
                  <a:solidFill>
                    <a:prstClr val="black"/>
                  </a:solidFill>
                </a:endParaRPr>
              </a:p>
              <a:p>
                <a:r>
                  <a:rPr lang="en-AU" dirty="0">
                    <a:solidFill>
                      <a:prstClr val="black"/>
                    </a:solidFill>
                  </a:rPr>
                  <a:t>			10.	Find the area</a:t>
                </a:r>
              </a:p>
              <a:p>
                <a:r>
                  <a:rPr lang="en-AU" dirty="0">
                    <a:solidFill>
                      <a:prstClr val="black"/>
                    </a:solidFill>
                  </a:rPr>
                  <a:t>					</a:t>
                </a:r>
              </a:p>
              <a:p>
                <a:endParaRPr lang="en-AU" dirty="0">
                  <a:solidFill>
                    <a:prstClr val="black"/>
                  </a:solidFill>
                </a:endParaRPr>
              </a:p>
              <a:p>
                <a:r>
                  <a:rPr lang="en-AU" dirty="0">
                    <a:solidFill>
                      <a:prstClr val="black"/>
                    </a:solidFill>
                  </a:rPr>
                  <a:t> </a:t>
                </a:r>
              </a:p>
              <a:p>
                <a:endParaRPr lang="en-AU" dirty="0">
                  <a:solidFill>
                    <a:prstClr val="black"/>
                  </a:solidFill>
                </a:endParaRPr>
              </a:p>
              <a:p>
                <a:r>
                  <a:rPr lang="en-AU" dirty="0">
                    <a:solidFill>
                      <a:prstClr val="black"/>
                    </a:solidFill>
                    <a:ea typeface="Cambria Math" panose="02040503050406030204" pitchFamily="18" charset="0"/>
                  </a:rPr>
                  <a:t>			</a:t>
                </a:r>
              </a:p>
              <a:p>
                <a:r>
                  <a:rPr lang="en-AU" dirty="0">
                    <a:solidFill>
                      <a:prstClr val="black"/>
                    </a:solidFill>
                  </a:rPr>
                  <a:t>			</a:t>
                </a:r>
              </a:p>
              <a:p>
                <a:pPr algn="ctr"/>
                <a:endParaRPr lang="en-AU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658" y="908720"/>
                <a:ext cx="7778773" cy="6302431"/>
              </a:xfrm>
              <a:prstGeom prst="rect">
                <a:avLst/>
              </a:prstGeom>
              <a:blipFill rotWithShape="0">
                <a:blip r:embed="rId2"/>
                <a:stretch>
                  <a:fillRect t="-87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3600550"/>
            <a:ext cx="2246105" cy="224610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1692" y="3877145"/>
            <a:ext cx="1408119" cy="1017632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1299" y="5199339"/>
            <a:ext cx="1408119" cy="101763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78424" y="4247461"/>
            <a:ext cx="753414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350" dirty="0">
                <a:solidFill>
                  <a:prstClr val="black"/>
                </a:solidFill>
              </a:rPr>
              <a:t>4mm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25010" y="3886296"/>
            <a:ext cx="753414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350" dirty="0">
                <a:solidFill>
                  <a:prstClr val="black"/>
                </a:solidFill>
              </a:rPr>
              <a:t>12mm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55365" y="5916889"/>
            <a:ext cx="753414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350" dirty="0">
                <a:solidFill>
                  <a:prstClr val="black"/>
                </a:solidFill>
              </a:rPr>
              <a:t>9cm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78658" y="5199339"/>
            <a:ext cx="753414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350" dirty="0">
                <a:solidFill>
                  <a:prstClr val="black"/>
                </a:solidFill>
              </a:rPr>
              <a:t>3cm</a:t>
            </a:r>
          </a:p>
        </p:txBody>
      </p:sp>
    </p:spTree>
    <p:extLst>
      <p:ext uri="{BB962C8B-B14F-4D97-AF65-F5344CB8AC3E}">
        <p14:creationId xmlns:p14="http://schemas.microsoft.com/office/powerpoint/2010/main" val="15970931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prstClr val="black"/>
                </a:solidFill>
              </a:rPr>
              <a:t> 7</a:t>
            </a:r>
            <a:endParaRPr lang="en-AU" dirty="0">
              <a:solidFill>
                <a:prstClr val="black"/>
              </a:solidFill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2915816" y="1916832"/>
            <a:ext cx="7431" cy="49411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0" y="457509"/>
            <a:ext cx="743917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 smtClean="0">
                <a:solidFill>
                  <a:prstClr val="black"/>
                </a:solidFill>
              </a:rPr>
              <a:t>Title</a:t>
            </a:r>
            <a:r>
              <a:rPr lang="en-AU" sz="2800" dirty="0">
                <a:solidFill>
                  <a:prstClr val="black"/>
                </a:solidFill>
              </a:rPr>
              <a:t>: Equivalent fractions</a:t>
            </a:r>
          </a:p>
          <a:p>
            <a:endParaRPr lang="en-AU" sz="2800" dirty="0">
              <a:solidFill>
                <a:prstClr val="black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233384" y="488084"/>
            <a:ext cx="24969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 smtClean="0">
                <a:solidFill>
                  <a:prstClr val="black"/>
                </a:solidFill>
              </a:rPr>
              <a:t>Date: 19/6/15</a:t>
            </a:r>
            <a:endParaRPr lang="en-AU" sz="2800" dirty="0">
              <a:solidFill>
                <a:prstClr val="black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0" y="1063436"/>
            <a:ext cx="87399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>
                <a:solidFill>
                  <a:prstClr val="black"/>
                </a:solidFill>
              </a:rPr>
              <a:t>EQ : </a:t>
            </a:r>
            <a:r>
              <a:rPr lang="en-AU" sz="2400" dirty="0">
                <a:solidFill>
                  <a:prstClr val="black"/>
                </a:solidFill>
              </a:rPr>
              <a:t>What is an equivalent fraction and how can it be calculated?</a:t>
            </a:r>
          </a:p>
          <a:p>
            <a:endParaRPr lang="en-AU" sz="2400" dirty="0">
              <a:solidFill>
                <a:prstClr val="black"/>
              </a:solidFill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6228184" y="0"/>
            <a:ext cx="0" cy="980728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431" y="1916832"/>
            <a:ext cx="2915816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>
                <a:solidFill>
                  <a:prstClr val="black"/>
                </a:solidFill>
              </a:rPr>
              <a:t>Question:</a:t>
            </a:r>
          </a:p>
          <a:p>
            <a:r>
              <a:rPr lang="en-AU" sz="2400" dirty="0">
                <a:solidFill>
                  <a:prstClr val="black"/>
                </a:solidFill>
              </a:rPr>
              <a:t>What is an equivalent fraction?</a:t>
            </a:r>
          </a:p>
          <a:p>
            <a:endParaRPr lang="en-AU" sz="2400" dirty="0">
              <a:solidFill>
                <a:prstClr val="black"/>
              </a:solidFill>
            </a:endParaRPr>
          </a:p>
          <a:p>
            <a:endParaRPr lang="en-AU" sz="2400" dirty="0">
              <a:solidFill>
                <a:prstClr val="black"/>
              </a:solidFill>
            </a:endParaRPr>
          </a:p>
          <a:p>
            <a:endParaRPr lang="en-AU" sz="1200" dirty="0" smtClean="0">
              <a:solidFill>
                <a:prstClr val="black"/>
              </a:solidFill>
            </a:endParaRPr>
          </a:p>
          <a:p>
            <a:endParaRPr lang="en-AU" sz="1200" dirty="0">
              <a:solidFill>
                <a:prstClr val="black"/>
              </a:solidFill>
            </a:endParaRPr>
          </a:p>
          <a:p>
            <a:endParaRPr lang="en-AU" sz="1200" dirty="0">
              <a:solidFill>
                <a:prstClr val="black"/>
              </a:solidFill>
            </a:endParaRPr>
          </a:p>
          <a:p>
            <a:r>
              <a:rPr lang="en-AU" sz="2400" dirty="0">
                <a:solidFill>
                  <a:prstClr val="black"/>
                </a:solidFill>
              </a:rPr>
              <a:t>What is a common factor and can we use it to find the equivalent fraction</a:t>
            </a:r>
          </a:p>
          <a:p>
            <a:endParaRPr lang="en-AU" sz="2800" dirty="0">
              <a:solidFill>
                <a:prstClr val="black"/>
              </a:solidFill>
            </a:endParaRPr>
          </a:p>
          <a:p>
            <a:endParaRPr lang="en-AU" sz="2400" dirty="0" smtClean="0">
              <a:solidFill>
                <a:prstClr val="black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895248" y="1889152"/>
            <a:ext cx="6248752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>
                <a:solidFill>
                  <a:prstClr val="black"/>
                </a:solidFill>
              </a:rPr>
              <a:t>Notes: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AU" sz="2400" dirty="0">
                <a:solidFill>
                  <a:srgbClr val="0070C0"/>
                </a:solidFill>
              </a:rPr>
              <a:t>Different fractions that are equal in size are called equivalent fractions.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AU" sz="8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AU" sz="2400" dirty="0">
                <a:solidFill>
                  <a:srgbClr val="9900CC"/>
                </a:solidFill>
              </a:rPr>
              <a:t>In its simplest form an equivalent fraction has the lowest possible denominator.</a:t>
            </a:r>
            <a:r>
              <a:rPr lang="en-AU" sz="2400" dirty="0"/>
              <a:t>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AU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AU" sz="8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AU" sz="2400" dirty="0">
                <a:solidFill>
                  <a:prstClr val="black"/>
                </a:solidFill>
              </a:rPr>
              <a:t>A number that goes into both the numerator and the denominator is called a common factor.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AU" sz="800" dirty="0">
              <a:solidFill>
                <a:prstClr val="black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AU" sz="2400" dirty="0">
                <a:solidFill>
                  <a:prstClr val="black"/>
                </a:solidFill>
              </a:rPr>
              <a:t>In its simplest form, a fraction has no common factors in its numerator and denominator (apart from 1).</a:t>
            </a:r>
          </a:p>
          <a:p>
            <a:endParaRPr lang="en-AU" sz="2400" dirty="0" smtClean="0">
              <a:solidFill>
                <a:prstClr val="black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364088" y="-10543"/>
            <a:ext cx="8640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24</a:t>
            </a:r>
          </a:p>
          <a:p>
            <a:r>
              <a:rPr lang="en-AU" dirty="0" smtClean="0"/>
              <a:t>7</a:t>
            </a:r>
          </a:p>
          <a:p>
            <a:r>
              <a:rPr lang="en-AU" dirty="0" smtClean="0"/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31060356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/>
          <p:nvPr/>
        </p:nvCxnSpPr>
        <p:spPr>
          <a:xfrm flipH="1">
            <a:off x="2267744" y="-2543"/>
            <a:ext cx="7432" cy="6858000"/>
          </a:xfrm>
          <a:prstGeom prst="line">
            <a:avLst/>
          </a:prstGeom>
          <a:ln w="158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9584" y="-2542"/>
            <a:ext cx="2915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>
                <a:solidFill>
                  <a:prstClr val="black"/>
                </a:solidFill>
              </a:rPr>
              <a:t>Question:</a:t>
            </a:r>
            <a:endParaRPr lang="en-AU" sz="2400" dirty="0">
              <a:solidFill>
                <a:prstClr val="black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2275176" y="0"/>
                <a:ext cx="7000560" cy="7103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 smtClean="0">
                    <a:solidFill>
                      <a:prstClr val="black"/>
                    </a:solidFill>
                  </a:rPr>
                  <a:t>Notes:</a:t>
                </a:r>
              </a:p>
              <a:p>
                <a:endParaRPr lang="en-AU" sz="2400" dirty="0">
                  <a:solidFill>
                    <a:prstClr val="black"/>
                  </a:solidFill>
                </a:endParaRPr>
              </a:p>
              <a:p>
                <a:r>
                  <a:rPr lang="en-AU" b="1" dirty="0">
                    <a:solidFill>
                      <a:srgbClr val="C00000"/>
                    </a:solidFill>
                  </a:rPr>
                  <a:t>Examples: </a:t>
                </a:r>
              </a:p>
              <a:p>
                <a:r>
                  <a:rPr lang="en-AU" dirty="0"/>
                  <a:t>1) Find the missing term in this pair of equivalent fractions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num>
                        <m:den>
                          <m:r>
                            <a:rPr lang="en-AU" b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r>
                        <a:rPr lang="en-AU" b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AU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?</m:t>
                          </m:r>
                        </m:num>
                        <m:den>
                          <m:r>
                            <a:rPr lang="en-AU" b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𝟐𝟎</m:t>
                          </m:r>
                        </m:den>
                      </m:f>
                    </m:oMath>
                  </m:oMathPara>
                </a14:m>
                <a:endParaRPr lang="en-AU" b="1" dirty="0"/>
              </a:p>
              <a:p>
                <a:endParaRPr lang="en-AU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AU" dirty="0"/>
                  <a:t>To ﬁnd the missing numerator, look at the two given denominators, 4 and 20.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AU" dirty="0"/>
                  <a:t>4 is multiplied by 5 to give 20, so we do the same thing to the numerator 3.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AU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i="1">
                              <a:solidFill>
                                <a:srgbClr val="CC00CC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>
                              <a:solidFill>
                                <a:srgbClr val="CC00CC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AU">
                              <a:solidFill>
                                <a:srgbClr val="CC00CC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AU">
                          <a:solidFill>
                            <a:srgbClr val="CC00CC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i="1">
                              <a:solidFill>
                                <a:srgbClr val="CC00CC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i="1">
                              <a:solidFill>
                                <a:srgbClr val="CC00CC"/>
                              </a:solidFill>
                              <a:latin typeface="Cambria Math" panose="02040503050406030204" pitchFamily="18" charset="0"/>
                            </a:rPr>
                            <m:t>3 </m:t>
                          </m:r>
                          <m:r>
                            <m:rPr>
                              <m:sty m:val="p"/>
                            </m:rPr>
                            <a:rPr lang="en-AU">
                              <a:solidFill>
                                <a:srgbClr val="CC00CC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AU">
                              <a:solidFill>
                                <a:srgbClr val="CC00CC"/>
                              </a:solidFill>
                              <a:latin typeface="Cambria Math" panose="02040503050406030204" pitchFamily="18" charset="0"/>
                            </a:rPr>
                            <m:t> 5</m:t>
                          </m:r>
                        </m:num>
                        <m:den>
                          <m:r>
                            <a:rPr lang="en-AU">
                              <a:solidFill>
                                <a:srgbClr val="CC00CC"/>
                              </a:solidFill>
                              <a:latin typeface="Cambria Math" panose="02040503050406030204" pitchFamily="18" charset="0"/>
                            </a:rPr>
                            <m:t>4 </m:t>
                          </m:r>
                          <m:r>
                            <m:rPr>
                              <m:sty m:val="p"/>
                            </m:rPr>
                            <a:rPr lang="en-AU">
                              <a:solidFill>
                                <a:srgbClr val="CC00CC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AU">
                              <a:solidFill>
                                <a:srgbClr val="CC00CC"/>
                              </a:solidFill>
                              <a:latin typeface="Cambria Math" panose="02040503050406030204" pitchFamily="18" charset="0"/>
                            </a:rPr>
                            <m:t> 5</m:t>
                          </m:r>
                        </m:den>
                      </m:f>
                      <m:r>
                        <a:rPr lang="en-AU">
                          <a:solidFill>
                            <a:srgbClr val="CC00CC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i="1">
                              <a:solidFill>
                                <a:srgbClr val="CC00CC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>
                              <a:solidFill>
                                <a:srgbClr val="CC00CC"/>
                              </a:solidFill>
                              <a:latin typeface="Cambria Math" panose="02040503050406030204" pitchFamily="18" charset="0"/>
                            </a:rPr>
                            <m:t>15</m:t>
                          </m:r>
                        </m:num>
                        <m:den>
                          <m:r>
                            <a:rPr lang="en-AU">
                              <a:solidFill>
                                <a:srgbClr val="CC00CC"/>
                              </a:solidFill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</m:oMath>
                  </m:oMathPara>
                </a14:m>
                <a:endParaRPr lang="en-AU" dirty="0"/>
              </a:p>
              <a:p>
                <a:r>
                  <a:rPr lang="en-AU" dirty="0"/>
                  <a:t>2) Find the missing term in this pair of equivalent fractions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𝟏𝟔</m:t>
                          </m:r>
                        </m:num>
                        <m:den>
                          <m:r>
                            <a:rPr lang="en-AU" b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AU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r>
                        <a:rPr lang="en-AU" b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AU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?</m:t>
                          </m:r>
                        </m:num>
                        <m:den>
                          <m:r>
                            <a:rPr lang="en-AU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𝟔</m:t>
                          </m:r>
                        </m:den>
                      </m:f>
                    </m:oMath>
                  </m:oMathPara>
                </a14:m>
                <a:endParaRPr lang="en-AU" b="1" dirty="0"/>
              </a:p>
              <a:p>
                <a:endParaRPr lang="en-AU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AU" dirty="0"/>
                  <a:t>To ﬁnd the missing numerator, we look at 24 and 6.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AU" dirty="0"/>
                  <a:t>24 is divided by 4 to give 6, so we do the same to the numerator 16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AU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i="1">
                              <a:solidFill>
                                <a:srgbClr val="CC00CC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>
                              <a:solidFill>
                                <a:srgbClr val="CC00CC"/>
                              </a:solidFill>
                              <a:latin typeface="Cambria Math" panose="02040503050406030204" pitchFamily="18" charset="0"/>
                            </a:rPr>
                            <m:t>16</m:t>
                          </m:r>
                        </m:num>
                        <m:den>
                          <m:r>
                            <a:rPr lang="en-AU">
                              <a:solidFill>
                                <a:srgbClr val="CC00CC"/>
                              </a:solidFill>
                              <a:latin typeface="Cambria Math" panose="02040503050406030204" pitchFamily="18" charset="0"/>
                            </a:rPr>
                            <m:t>24</m:t>
                          </m:r>
                        </m:den>
                      </m:f>
                      <m:r>
                        <a:rPr lang="en-AU">
                          <a:solidFill>
                            <a:srgbClr val="CC00CC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i="1">
                              <a:solidFill>
                                <a:srgbClr val="CC00CC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i="1">
                              <a:solidFill>
                                <a:srgbClr val="CC00CC"/>
                              </a:solidFill>
                              <a:latin typeface="Cambria Math" panose="02040503050406030204" pitchFamily="18" charset="0"/>
                            </a:rPr>
                            <m:t>16 ÷4</m:t>
                          </m:r>
                        </m:num>
                        <m:den>
                          <m:r>
                            <a:rPr lang="en-AU">
                              <a:solidFill>
                                <a:srgbClr val="CC00CC"/>
                              </a:solidFill>
                              <a:latin typeface="Cambria Math" panose="02040503050406030204" pitchFamily="18" charset="0"/>
                            </a:rPr>
                            <m:t>24 </m:t>
                          </m:r>
                          <m:r>
                            <a:rPr lang="en-AU" i="1">
                              <a:solidFill>
                                <a:srgbClr val="CC00CC"/>
                              </a:solidFill>
                              <a:latin typeface="Cambria Math" panose="02040503050406030204" pitchFamily="18" charset="0"/>
                            </a:rPr>
                            <m:t>÷4</m:t>
                          </m:r>
                        </m:den>
                      </m:f>
                      <m:r>
                        <a:rPr lang="en-AU">
                          <a:solidFill>
                            <a:srgbClr val="CC00CC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i="1">
                              <a:solidFill>
                                <a:srgbClr val="CC00CC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>
                              <a:solidFill>
                                <a:srgbClr val="CC00CC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AU" i="1">
                              <a:solidFill>
                                <a:srgbClr val="CC00CC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en-AU" dirty="0"/>
              </a:p>
              <a:p>
                <a:endParaRPr lang="en-AU" sz="2400" dirty="0" smtClean="0">
                  <a:solidFill>
                    <a:prstClr val="black"/>
                  </a:solidFill>
                </a:endParaRPr>
              </a:p>
              <a:p>
                <a:endParaRPr lang="en-AU" sz="1400" dirty="0" smtClean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5176" y="0"/>
                <a:ext cx="7000560" cy="7103996"/>
              </a:xfrm>
              <a:prstGeom prst="rect">
                <a:avLst/>
              </a:prstGeom>
              <a:blipFill rotWithShape="0">
                <a:blip r:embed="rId2"/>
                <a:stretch>
                  <a:fillRect l="-1305" t="-687" r="-43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Control 1"/>
          <p:cNvSpPr>
            <a:spLocks noChangeArrowheads="1" noChangeShapeType="1"/>
          </p:cNvSpPr>
          <p:nvPr/>
        </p:nvSpPr>
        <p:spPr bwMode="auto">
          <a:xfrm>
            <a:off x="5481638" y="4022725"/>
            <a:ext cx="2165350" cy="3171825"/>
          </a:xfrm>
          <a:prstGeom prst="rect">
            <a:avLst/>
          </a:prstGeom>
          <a:noFill/>
          <a:ln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noFill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459123"/>
            <a:ext cx="9144000" cy="0"/>
          </a:xfrm>
          <a:prstGeom prst="line">
            <a:avLst/>
          </a:prstGeom>
          <a:ln w="158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12" y="6364181"/>
            <a:ext cx="548688" cy="493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4037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52" t="6010" r="3409" b="40845"/>
          <a:stretch/>
        </p:blipFill>
        <p:spPr>
          <a:xfrm>
            <a:off x="1139780" y="1060094"/>
            <a:ext cx="6655158" cy="4720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99462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52" t="61409" r="3409" b="1221"/>
          <a:stretch/>
        </p:blipFill>
        <p:spPr>
          <a:xfrm>
            <a:off x="502276" y="1079410"/>
            <a:ext cx="8289012" cy="4134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29053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0" y="191817"/>
                <a:ext cx="9144000" cy="7325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AU" sz="2700" u="sng" dirty="0" smtClean="0">
                    <a:solidFill>
                      <a:prstClr val="black"/>
                    </a:solidFill>
                  </a:rPr>
                  <a:t>10 Quick Questions</a:t>
                </a:r>
              </a:p>
              <a:p>
                <a:pPr algn="ctr"/>
                <a:endParaRPr lang="en-AU" sz="900" u="sng" dirty="0">
                  <a:solidFill>
                    <a:prstClr val="black"/>
                  </a:solidFill>
                </a:endParaRPr>
              </a:p>
              <a:p>
                <a:r>
                  <a:rPr lang="en-AU" dirty="0">
                    <a:solidFill>
                      <a:prstClr val="black"/>
                    </a:solidFill>
                  </a:rPr>
                  <a:t>			</a:t>
                </a:r>
                <a:r>
                  <a:rPr lang="en-AU" sz="2400" dirty="0">
                    <a:solidFill>
                      <a:prstClr val="black"/>
                    </a:solidFill>
                  </a:rPr>
                  <a:t>1. 	 43 x 8 =</a:t>
                </a:r>
              </a:p>
              <a:p>
                <a:r>
                  <a:rPr lang="en-AU" sz="2400" dirty="0">
                    <a:solidFill>
                      <a:prstClr val="black"/>
                    </a:solidFill>
                  </a:rPr>
                  <a:t>			2.	 3268 – 892 =</a:t>
                </a:r>
              </a:p>
              <a:p>
                <a:r>
                  <a:rPr lang="en-AU" sz="2400" dirty="0">
                    <a:solidFill>
                      <a:prstClr val="black"/>
                    </a:solidFill>
                  </a:rPr>
                  <a:t>			3. 	 3817 + 1492 =</a:t>
                </a:r>
              </a:p>
              <a:p>
                <a:r>
                  <a:rPr lang="en-AU" sz="2400" dirty="0">
                    <a:solidFill>
                      <a:prstClr val="black"/>
                    </a:solidFill>
                  </a:rPr>
                  <a:t>			4. 	 5648 ÷ 8 =</a:t>
                </a:r>
              </a:p>
              <a:p>
                <a:r>
                  <a:rPr lang="en-AU" sz="2400" dirty="0">
                    <a:solidFill>
                      <a:prstClr val="black"/>
                    </a:solidFill>
                  </a:rPr>
                  <a:t>			5. 	Round to 0.98725 3 </a:t>
                </a:r>
                <a:r>
                  <a:rPr lang="en-AU" sz="2400" dirty="0" err="1">
                    <a:solidFill>
                      <a:prstClr val="black"/>
                    </a:solidFill>
                  </a:rPr>
                  <a:t>d.p</a:t>
                </a:r>
                <a:endParaRPr lang="en-AU" sz="2400" dirty="0">
                  <a:solidFill>
                    <a:prstClr val="black"/>
                  </a:solidFill>
                </a:endParaRPr>
              </a:p>
              <a:p>
                <a:r>
                  <a:rPr lang="en-AU" sz="2400" dirty="0">
                    <a:solidFill>
                      <a:prstClr val="black"/>
                    </a:solidFill>
                  </a:rPr>
                  <a:t>			6.	Write 3 hundredths as a </a:t>
                </a:r>
                <a:r>
                  <a:rPr lang="en-AU" sz="2400" dirty="0" smtClean="0">
                    <a:solidFill>
                      <a:prstClr val="black"/>
                    </a:solidFill>
                  </a:rPr>
                  <a:t>fraction</a:t>
                </a:r>
                <a:endParaRPr lang="en-AU" sz="2400" dirty="0">
                  <a:solidFill>
                    <a:prstClr val="black"/>
                  </a:solidFill>
                </a:endParaRPr>
              </a:p>
              <a:p>
                <a:r>
                  <a:rPr lang="en-AU" sz="2400" dirty="0">
                    <a:solidFill>
                      <a:prstClr val="black"/>
                    </a:solidFill>
                  </a:rPr>
                  <a:t>			7. 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AU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𝑜𝑓</m:t>
                    </m:r>
                    <m:r>
                      <a:rPr lang="en-AU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24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45</m:t>
                    </m:r>
                  </m:oMath>
                </a14:m>
                <a:endParaRPr lang="en-AU" sz="2400" dirty="0">
                  <a:solidFill>
                    <a:prstClr val="black"/>
                  </a:solidFill>
                </a:endParaRPr>
              </a:p>
              <a:p>
                <a:r>
                  <a:rPr lang="en-AU" sz="2400" dirty="0">
                    <a:solidFill>
                      <a:prstClr val="black"/>
                    </a:solidFill>
                  </a:rPr>
                  <a:t>			8. 	</a:t>
                </a:r>
                <a:r>
                  <a:rPr lang="en-AU" sz="2400" dirty="0" smtClean="0">
                    <a:solidFill>
                      <a:prstClr val="black"/>
                    </a:solidFill>
                  </a:rPr>
                  <a:t>Write a fraction equivalent  to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lang="en-AU" sz="2400" dirty="0" smtClean="0">
                  <a:solidFill>
                    <a:prstClr val="black"/>
                  </a:solidFill>
                </a:endParaRPr>
              </a:p>
              <a:p>
                <a:r>
                  <a:rPr lang="en-AU" sz="2400" dirty="0">
                    <a:solidFill>
                      <a:prstClr val="black"/>
                    </a:solidFill>
                  </a:rPr>
                  <a:t>			9.	Find the perimeter</a:t>
                </a:r>
              </a:p>
              <a:p>
                <a:endParaRPr lang="en-AU" dirty="0" smtClean="0">
                  <a:solidFill>
                    <a:prstClr val="black"/>
                  </a:solidFill>
                </a:endParaRPr>
              </a:p>
              <a:p>
                <a:endParaRPr lang="en-AU" dirty="0">
                  <a:solidFill>
                    <a:prstClr val="black"/>
                  </a:solidFill>
                </a:endParaRPr>
              </a:p>
              <a:p>
                <a:endParaRPr lang="en-AU" dirty="0">
                  <a:solidFill>
                    <a:prstClr val="black"/>
                  </a:solidFill>
                </a:endParaRPr>
              </a:p>
              <a:p>
                <a:r>
                  <a:rPr lang="en-AU" dirty="0">
                    <a:solidFill>
                      <a:prstClr val="black"/>
                    </a:solidFill>
                  </a:rPr>
                  <a:t>			10.	Find the area</a:t>
                </a:r>
              </a:p>
              <a:p>
                <a:r>
                  <a:rPr lang="en-AU" dirty="0">
                    <a:solidFill>
                      <a:prstClr val="black"/>
                    </a:solidFill>
                  </a:rPr>
                  <a:t>					</a:t>
                </a:r>
              </a:p>
              <a:p>
                <a:endParaRPr lang="en-AU" dirty="0">
                  <a:solidFill>
                    <a:prstClr val="black"/>
                  </a:solidFill>
                </a:endParaRPr>
              </a:p>
              <a:p>
                <a:r>
                  <a:rPr lang="en-AU" dirty="0">
                    <a:solidFill>
                      <a:prstClr val="black"/>
                    </a:solidFill>
                  </a:rPr>
                  <a:t> </a:t>
                </a:r>
              </a:p>
              <a:p>
                <a:endParaRPr lang="en-AU" dirty="0">
                  <a:solidFill>
                    <a:prstClr val="black"/>
                  </a:solidFill>
                </a:endParaRPr>
              </a:p>
              <a:p>
                <a:r>
                  <a:rPr lang="en-AU" dirty="0">
                    <a:solidFill>
                      <a:prstClr val="black"/>
                    </a:solidFill>
                    <a:ea typeface="Cambria Math" panose="02040503050406030204" pitchFamily="18" charset="0"/>
                  </a:rPr>
                  <a:t>			</a:t>
                </a:r>
              </a:p>
              <a:p>
                <a:r>
                  <a:rPr lang="en-AU" dirty="0">
                    <a:solidFill>
                      <a:prstClr val="black"/>
                    </a:solidFill>
                  </a:rPr>
                  <a:t>			</a:t>
                </a:r>
              </a:p>
              <a:p>
                <a:pPr algn="ctr"/>
                <a:endParaRPr lang="en-AU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91817"/>
                <a:ext cx="9144000" cy="7325916"/>
              </a:xfrm>
              <a:prstGeom prst="rect">
                <a:avLst/>
              </a:prstGeom>
              <a:blipFill rotWithShape="0">
                <a:blip r:embed="rId2"/>
                <a:stretch>
                  <a:fillRect t="-66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3600550"/>
            <a:ext cx="2246105" cy="224610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8264" y="4021106"/>
            <a:ext cx="1838125" cy="132839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77540" y="4538936"/>
            <a:ext cx="7534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prstClr val="black"/>
                </a:solidFill>
              </a:rPr>
              <a:t>11cm</a:t>
            </a:r>
            <a:endParaRPr lang="en-AU" dirty="0">
              <a:solidFill>
                <a:prstClr val="black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490619" y="4051392"/>
            <a:ext cx="7534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prstClr val="black"/>
                </a:solidFill>
              </a:rPr>
              <a:t>15cm</a:t>
            </a:r>
            <a:endParaRPr lang="en-AU" dirty="0">
              <a:solidFill>
                <a:prstClr val="black"/>
              </a:solidFill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4170" y="5550094"/>
            <a:ext cx="1946125" cy="114477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134342" y="6394792"/>
            <a:ext cx="7534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prstClr val="black"/>
                </a:solidFill>
              </a:rPr>
              <a:t>12m</a:t>
            </a:r>
            <a:endParaRPr lang="en-AU" dirty="0">
              <a:solidFill>
                <a:prstClr val="black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757635" y="5956209"/>
            <a:ext cx="7534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prstClr val="black"/>
                </a:solidFill>
              </a:rPr>
              <a:t>9m</a:t>
            </a:r>
            <a:endParaRPr lang="en-A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77848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3878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prstClr val="black"/>
                </a:solidFill>
              </a:rPr>
              <a:t> 9</a:t>
            </a:r>
            <a:endParaRPr lang="en-AU" dirty="0">
              <a:solidFill>
                <a:prstClr val="black"/>
              </a:solidFill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2915816" y="1916832"/>
            <a:ext cx="7431" cy="49411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0" y="24444"/>
            <a:ext cx="622818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 smtClean="0">
                <a:solidFill>
                  <a:prstClr val="black"/>
                </a:solidFill>
              </a:rPr>
              <a:t>Title</a:t>
            </a:r>
            <a:r>
              <a:rPr lang="en-AU" sz="2000" dirty="0">
                <a:solidFill>
                  <a:prstClr val="black"/>
                </a:solidFill>
              </a:rPr>
              <a:t>: </a:t>
            </a:r>
            <a:r>
              <a:rPr lang="en-AU" sz="2400" dirty="0">
                <a:solidFill>
                  <a:prstClr val="black"/>
                </a:solidFill>
              </a:rPr>
              <a:t>Adding and Subtracting Fractions </a:t>
            </a:r>
            <a:endParaRPr lang="en-AU" sz="2400" dirty="0" smtClean="0">
              <a:solidFill>
                <a:prstClr val="black"/>
              </a:solidFill>
            </a:endParaRPr>
          </a:p>
          <a:p>
            <a:r>
              <a:rPr lang="en-AU" sz="2400" dirty="0">
                <a:solidFill>
                  <a:prstClr val="black"/>
                </a:solidFill>
              </a:rPr>
              <a:t>w</a:t>
            </a:r>
            <a:r>
              <a:rPr lang="en-AU" sz="2400" dirty="0" smtClean="0">
                <a:solidFill>
                  <a:prstClr val="black"/>
                </a:solidFill>
              </a:rPr>
              <a:t>ith </a:t>
            </a:r>
            <a:r>
              <a:rPr lang="en-AU" sz="2400" dirty="0">
                <a:solidFill>
                  <a:prstClr val="black"/>
                </a:solidFill>
              </a:rPr>
              <a:t>Related  Denominators</a:t>
            </a:r>
          </a:p>
          <a:p>
            <a:endParaRPr lang="en-AU" sz="2800" dirty="0">
              <a:solidFill>
                <a:prstClr val="black"/>
              </a:solidFill>
            </a:endParaRPr>
          </a:p>
          <a:p>
            <a:endParaRPr lang="en-AU" sz="2800" dirty="0">
              <a:solidFill>
                <a:prstClr val="black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233384" y="488084"/>
            <a:ext cx="24969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 smtClean="0">
                <a:solidFill>
                  <a:prstClr val="black"/>
                </a:solidFill>
              </a:rPr>
              <a:t>Date: 24/6/15</a:t>
            </a:r>
            <a:endParaRPr lang="en-AU" sz="2800" dirty="0">
              <a:solidFill>
                <a:prstClr val="black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0" y="1063436"/>
            <a:ext cx="87399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>
                <a:solidFill>
                  <a:prstClr val="black"/>
                </a:solidFill>
              </a:rPr>
              <a:t>EQ </a:t>
            </a:r>
            <a:r>
              <a:rPr lang="en-AU" sz="2400" dirty="0">
                <a:solidFill>
                  <a:prstClr val="black"/>
                </a:solidFill>
              </a:rPr>
              <a:t>: Explain the process of adding and subtracting fractions with the related denominators </a:t>
            </a:r>
          </a:p>
          <a:p>
            <a:endParaRPr lang="en-AU" sz="2400" dirty="0">
              <a:solidFill>
                <a:prstClr val="black"/>
              </a:solidFill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6228184" y="0"/>
            <a:ext cx="0" cy="980728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431" y="1916832"/>
            <a:ext cx="2915816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>
                <a:solidFill>
                  <a:prstClr val="black"/>
                </a:solidFill>
              </a:rPr>
              <a:t>Question:</a:t>
            </a:r>
          </a:p>
          <a:p>
            <a:endParaRPr lang="en-AU" sz="2800" dirty="0">
              <a:solidFill>
                <a:prstClr val="black"/>
              </a:solidFill>
            </a:endParaRPr>
          </a:p>
          <a:p>
            <a:endParaRPr lang="en-AU" sz="2400" dirty="0" smtClean="0">
              <a:solidFill>
                <a:prstClr val="black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2887559" y="1890964"/>
                <a:ext cx="6248752" cy="48082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 smtClean="0">
                    <a:solidFill>
                      <a:prstClr val="black"/>
                    </a:solidFill>
                  </a:rPr>
                  <a:t>Notes:	</a:t>
                </a:r>
                <a14:m>
                  <m:oMath xmlns:m="http://schemas.openxmlformats.org/officeDocument/2006/math">
                    <m:r>
                      <a:rPr lang="en-AU" sz="2400" b="0" i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        </m:t>
                    </m:r>
                    <m:f>
                      <m:fPr>
                        <m:ctrlPr>
                          <a:rPr lang="en-AU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AU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         </m:t>
                    </m:r>
                  </m:oMath>
                </a14:m>
                <a:r>
                  <a:rPr lang="en-AU" sz="2400" dirty="0">
                    <a:solidFill>
                      <a:prstClr val="black"/>
                    </a:solidFill>
                  </a:rPr>
                  <a:t>+      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endParaRPr lang="en-AU" sz="2400" dirty="0" smtClean="0">
                  <a:solidFill>
                    <a:prstClr val="black"/>
                  </a:solidFill>
                </a:endParaRPr>
              </a:p>
              <a:p>
                <a:endParaRPr lang="en-AU" sz="1200" dirty="0" smtClean="0">
                  <a:solidFill>
                    <a:prstClr val="black"/>
                  </a:solidFill>
                </a:endParaRPr>
              </a:p>
              <a:p>
                <a:endParaRPr lang="en-AU" sz="1200" dirty="0">
                  <a:solidFill>
                    <a:prstClr val="black"/>
                  </a:solidFill>
                </a:endParaRPr>
              </a:p>
              <a:p>
                <a:r>
                  <a:rPr lang="en-AU" sz="2400" dirty="0" smtClean="0">
                    <a:solidFill>
                      <a:prstClr val="black"/>
                    </a:solidFill>
                  </a:rPr>
                  <a:t>		      +		=</a:t>
                </a:r>
              </a:p>
              <a:p>
                <a:endParaRPr lang="en-AU" sz="2400" dirty="0" smtClean="0">
                  <a:solidFill>
                    <a:prstClr val="black"/>
                  </a:solidFill>
                </a:endParaRPr>
              </a:p>
              <a:p>
                <a:endParaRPr lang="en-AU" sz="2000" dirty="0" smtClean="0">
                  <a:solidFill>
                    <a:prstClr val="black"/>
                  </a:solidFill>
                </a:endParaRPr>
              </a:p>
              <a:p>
                <a:r>
                  <a:rPr lang="en-AU" sz="2000" dirty="0"/>
                  <a:t>1. We need to make them the same before we can continue, because we </a:t>
                </a:r>
                <a:r>
                  <a:rPr lang="en-AU" sz="2000" b="1" dirty="0"/>
                  <a:t>can't</a:t>
                </a:r>
                <a:r>
                  <a:rPr lang="en-AU" sz="2000" dirty="0"/>
                  <a:t> add them like that.</a:t>
                </a:r>
              </a:p>
              <a:p>
                <a:endParaRPr lang="en-AU" sz="2000" dirty="0"/>
              </a:p>
              <a:p>
                <a:r>
                  <a:rPr lang="en-AU" sz="2000" dirty="0"/>
                  <a:t>The number "6" is twice as big as "3", so to make the bottom numbers the same we can multiply the top and bottom of the first fraction by </a:t>
                </a:r>
                <a:r>
                  <a:rPr lang="en-AU" sz="2000" b="1" dirty="0"/>
                  <a:t>2</a:t>
                </a:r>
                <a:r>
                  <a:rPr lang="en-AU" sz="2000" dirty="0"/>
                  <a:t>, like this:</a:t>
                </a:r>
              </a:p>
              <a:p>
                <a:endParaRPr lang="en-AU" sz="1600" dirty="0" smtClean="0">
                  <a:solidFill>
                    <a:prstClr val="black"/>
                  </a:solidFill>
                </a:endParaRPr>
              </a:p>
              <a:p>
                <a:endParaRPr lang="en-AU" sz="800" dirty="0" smtClean="0">
                  <a:solidFill>
                    <a:prstClr val="black"/>
                  </a:solidFill>
                </a:endParaRPr>
              </a:p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en-AU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AU" sz="2000" dirty="0">
                    <a:solidFill>
                      <a:prstClr val="black"/>
                    </a:solidFill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endParaRPr lang="en-AU" sz="2000" dirty="0" smtClean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7559" y="1890964"/>
                <a:ext cx="6248752" cy="4808239"/>
              </a:xfrm>
              <a:prstGeom prst="rect">
                <a:avLst/>
              </a:prstGeom>
              <a:blipFill rotWithShape="0">
                <a:blip r:embed="rId3"/>
                <a:stretch>
                  <a:fillRect l="-156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/>
          <p:cNvSpPr txBox="1"/>
          <p:nvPr/>
        </p:nvSpPr>
        <p:spPr>
          <a:xfrm>
            <a:off x="5364088" y="-10543"/>
            <a:ext cx="8640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24</a:t>
            </a:r>
          </a:p>
          <a:p>
            <a:r>
              <a:rPr lang="en-AU" dirty="0" smtClean="0"/>
              <a:t>7</a:t>
            </a:r>
          </a:p>
          <a:p>
            <a:r>
              <a:rPr lang="en-AU" dirty="0" smtClean="0"/>
              <a:t>30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6367" y="2621184"/>
            <a:ext cx="900617" cy="90543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30517" y="2591352"/>
            <a:ext cx="882965" cy="888069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48357" y="2604486"/>
            <a:ext cx="901612" cy="8964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431" y="3178716"/>
            <a:ext cx="290838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dirty="0" smtClean="0"/>
          </a:p>
          <a:p>
            <a:endParaRPr lang="en-AU" sz="2200" dirty="0" smtClean="0"/>
          </a:p>
          <a:p>
            <a:r>
              <a:rPr lang="en-AU" sz="2000" dirty="0" smtClean="0"/>
              <a:t>What </a:t>
            </a:r>
            <a:r>
              <a:rPr lang="en-AU" sz="2000" dirty="0"/>
              <a:t>is the first step in the process</a:t>
            </a:r>
            <a:r>
              <a:rPr lang="en-AU" sz="2000" dirty="0" smtClean="0"/>
              <a:t>?</a:t>
            </a:r>
          </a:p>
          <a:p>
            <a:endParaRPr lang="en-AU" sz="2000" dirty="0"/>
          </a:p>
          <a:p>
            <a:r>
              <a:rPr lang="en-AU" sz="2000" dirty="0" smtClean="0"/>
              <a:t>How </a:t>
            </a:r>
            <a:r>
              <a:rPr lang="en-AU" sz="2000" dirty="0"/>
              <a:t>do we convert the numerator and denominator?</a:t>
            </a:r>
          </a:p>
        </p:txBody>
      </p:sp>
      <p:sp>
        <p:nvSpPr>
          <p:cNvPr id="17" name="Curved Down Arrow 16"/>
          <p:cNvSpPr/>
          <p:nvPr/>
        </p:nvSpPr>
        <p:spPr>
          <a:xfrm>
            <a:off x="5752638" y="5805264"/>
            <a:ext cx="518594" cy="193184"/>
          </a:xfrm>
          <a:prstGeom prst="curvedDown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19" name="Curved Up Arrow 18"/>
          <p:cNvSpPr/>
          <p:nvPr/>
        </p:nvSpPr>
        <p:spPr>
          <a:xfrm>
            <a:off x="5752638" y="6581001"/>
            <a:ext cx="518594" cy="184666"/>
          </a:xfrm>
          <a:prstGeom prst="curvedUp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126816" y="5629116"/>
            <a:ext cx="450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x2</a:t>
            </a:r>
            <a:endParaRPr lang="en-AU" dirty="0"/>
          </a:p>
        </p:txBody>
      </p:sp>
      <p:sp>
        <p:nvSpPr>
          <p:cNvPr id="21" name="TextBox 20"/>
          <p:cNvSpPr txBox="1"/>
          <p:nvPr/>
        </p:nvSpPr>
        <p:spPr>
          <a:xfrm>
            <a:off x="6126816" y="6540405"/>
            <a:ext cx="450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x2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5072971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/>
          <p:nvPr/>
        </p:nvCxnSpPr>
        <p:spPr>
          <a:xfrm flipH="1">
            <a:off x="2267744" y="-2543"/>
            <a:ext cx="7432" cy="6858000"/>
          </a:xfrm>
          <a:prstGeom prst="line">
            <a:avLst/>
          </a:prstGeom>
          <a:ln w="158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9584" y="-2542"/>
            <a:ext cx="2915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>
                <a:solidFill>
                  <a:prstClr val="black"/>
                </a:solidFill>
              </a:rPr>
              <a:t>Question:</a:t>
            </a:r>
            <a:endParaRPr lang="en-AU" sz="2400" dirty="0">
              <a:solidFill>
                <a:prstClr val="black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2275176" y="0"/>
                <a:ext cx="7000560" cy="55462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 smtClean="0">
                    <a:solidFill>
                      <a:prstClr val="black"/>
                    </a:solidFill>
                  </a:rPr>
                  <a:t>Notes:</a:t>
                </a:r>
              </a:p>
              <a:p>
                <a:endParaRPr lang="en-AU" sz="2000" dirty="0">
                  <a:solidFill>
                    <a:prstClr val="black"/>
                  </a:solidFill>
                </a:endParaRPr>
              </a:p>
              <a:p>
                <a:r>
                  <a:rPr lang="en-AU" sz="2200" dirty="0">
                    <a:solidFill>
                      <a:srgbClr val="7030A0"/>
                    </a:solidFill>
                  </a:rPr>
                  <a:t>Important</a:t>
                </a:r>
                <a:r>
                  <a:rPr lang="en-AU" sz="2200" dirty="0"/>
                  <a:t>: you multiply </a:t>
                </a:r>
                <a:r>
                  <a:rPr lang="en-AU" sz="2200" b="1" dirty="0"/>
                  <a:t>both top and bottom</a:t>
                </a:r>
                <a:r>
                  <a:rPr lang="en-AU" sz="2200" dirty="0"/>
                  <a:t> by the same amount, </a:t>
                </a:r>
                <a:r>
                  <a:rPr lang="en-AU" sz="2200" dirty="0" smtClean="0"/>
                  <a:t>to </a:t>
                </a:r>
                <a:r>
                  <a:rPr lang="en-AU" sz="2200" dirty="0"/>
                  <a:t>keep the value of the fraction the </a:t>
                </a:r>
                <a:r>
                  <a:rPr lang="en-AU" sz="2200" dirty="0" smtClean="0"/>
                  <a:t>same.</a:t>
                </a:r>
                <a:endParaRPr lang="en-AU" sz="2200" dirty="0"/>
              </a:p>
              <a:p>
                <a:endParaRPr lang="en-AU" sz="2200" dirty="0">
                  <a:solidFill>
                    <a:prstClr val="black"/>
                  </a:solidFill>
                  <a:sym typeface="Wingdings" panose="05000000000000000000" pitchFamily="2" charset="2"/>
                </a:endParaRPr>
              </a:p>
              <a:p>
                <a:r>
                  <a:rPr lang="en-AU" sz="2200" dirty="0"/>
                  <a:t>Now the fractions have the same bottom number ("6"), and our question looks like this</a:t>
                </a:r>
                <a:r>
                  <a:rPr lang="en-AU" sz="2200" dirty="0" smtClean="0"/>
                  <a:t>:</a:t>
                </a:r>
              </a:p>
              <a:p>
                <a:endParaRPr lang="en-AU" sz="2000" dirty="0"/>
              </a:p>
              <a:p>
                <a:r>
                  <a:rPr lang="en-AU" sz="2000" dirty="0"/>
                  <a:t>		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en-AU" sz="20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         </m:t>
                    </m:r>
                  </m:oMath>
                </a14:m>
                <a:r>
                  <a:rPr lang="en-AU" sz="2000" dirty="0">
                    <a:solidFill>
                      <a:prstClr val="black"/>
                    </a:solidFill>
                  </a:rPr>
                  <a:t>+      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endParaRPr lang="en-AU" sz="2000" dirty="0"/>
              </a:p>
              <a:p>
                <a:endParaRPr lang="en-AU" sz="2400" dirty="0" smtClean="0">
                  <a:solidFill>
                    <a:prstClr val="black"/>
                  </a:solidFill>
                </a:endParaRPr>
              </a:p>
              <a:p>
                <a:endParaRPr lang="en-AU" sz="1400" dirty="0" smtClean="0">
                  <a:solidFill>
                    <a:prstClr val="black"/>
                  </a:solidFill>
                </a:endParaRPr>
              </a:p>
              <a:p>
                <a:endParaRPr lang="en-AU" sz="1400" dirty="0">
                  <a:solidFill>
                    <a:prstClr val="black"/>
                  </a:solidFill>
                </a:endParaRPr>
              </a:p>
              <a:p>
                <a:endParaRPr lang="en-AU" sz="1400" dirty="0" smtClean="0">
                  <a:solidFill>
                    <a:prstClr val="black"/>
                  </a:solidFill>
                </a:endParaRPr>
              </a:p>
              <a:p>
                <a:endParaRPr lang="en-AU" sz="1400" dirty="0">
                  <a:solidFill>
                    <a:prstClr val="black"/>
                  </a:solidFill>
                </a:endParaRPr>
              </a:p>
              <a:p>
                <a:endParaRPr lang="en-AU" sz="1400" dirty="0" smtClean="0">
                  <a:solidFill>
                    <a:prstClr val="black"/>
                  </a:solidFill>
                </a:endParaRPr>
              </a:p>
              <a:p>
                <a:r>
                  <a:rPr lang="en-AU" sz="2200" dirty="0" smtClean="0">
                    <a:solidFill>
                      <a:prstClr val="black"/>
                    </a:solidFill>
                    <a:sym typeface="Wingdings" panose="05000000000000000000" pitchFamily="2" charset="2"/>
                  </a:rPr>
                  <a:t>We </a:t>
                </a:r>
                <a:r>
                  <a:rPr lang="en-AU" sz="2200" dirty="0">
                    <a:solidFill>
                      <a:prstClr val="black"/>
                    </a:solidFill>
                    <a:sym typeface="Wingdings" panose="05000000000000000000" pitchFamily="2" charset="2"/>
                  </a:rPr>
                  <a:t>can now add and subtract like we did for fractions with the same denominator</a:t>
                </a:r>
              </a:p>
              <a:p>
                <a:endParaRPr lang="en-AU" sz="1400" dirty="0" smtClean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5176" y="0"/>
                <a:ext cx="7000560" cy="5546262"/>
              </a:xfrm>
              <a:prstGeom prst="rect">
                <a:avLst/>
              </a:prstGeom>
              <a:blipFill rotWithShape="0">
                <a:blip r:embed="rId2"/>
                <a:stretch>
                  <a:fillRect l="-1305" t="-879" r="-121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Control 1"/>
          <p:cNvSpPr>
            <a:spLocks noChangeArrowheads="1" noChangeShapeType="1"/>
          </p:cNvSpPr>
          <p:nvPr/>
        </p:nvSpPr>
        <p:spPr bwMode="auto">
          <a:xfrm>
            <a:off x="5481638" y="4022725"/>
            <a:ext cx="2165350" cy="3171825"/>
          </a:xfrm>
          <a:prstGeom prst="rect">
            <a:avLst/>
          </a:prstGeom>
          <a:noFill/>
          <a:ln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noFill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459123"/>
            <a:ext cx="9144000" cy="0"/>
          </a:xfrm>
          <a:prstGeom prst="line">
            <a:avLst/>
          </a:prstGeom>
          <a:ln w="158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2788" y="3146465"/>
            <a:ext cx="1066800" cy="10668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2462" y="3155990"/>
            <a:ext cx="1066800" cy="105727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548680"/>
            <a:ext cx="2267744" cy="5293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sz="800" dirty="0" smtClean="0"/>
          </a:p>
          <a:p>
            <a:r>
              <a:rPr lang="en-AU" sz="2200" dirty="0" smtClean="0"/>
              <a:t>Why </a:t>
            </a:r>
            <a:r>
              <a:rPr lang="en-AU" sz="2200" dirty="0"/>
              <a:t>do we multiply both the top and bottom?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 smtClean="0"/>
          </a:p>
          <a:p>
            <a:endParaRPr lang="en-AU" dirty="0"/>
          </a:p>
          <a:p>
            <a:endParaRPr lang="en-AU" sz="800" dirty="0"/>
          </a:p>
          <a:p>
            <a:r>
              <a:rPr lang="en-AU" sz="2200" dirty="0"/>
              <a:t>What is the final step?</a:t>
            </a:r>
          </a:p>
          <a:p>
            <a:endParaRPr lang="en-AU" sz="2200" dirty="0"/>
          </a:p>
        </p:txBody>
      </p:sp>
      <p:sp>
        <p:nvSpPr>
          <p:cNvPr id="12" name="TextBox 11"/>
          <p:cNvSpPr txBox="1"/>
          <p:nvPr/>
        </p:nvSpPr>
        <p:spPr>
          <a:xfrm>
            <a:off x="8748464" y="6488668"/>
            <a:ext cx="3878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prstClr val="black"/>
                </a:solidFill>
              </a:rPr>
              <a:t> 9</a:t>
            </a:r>
            <a:endParaRPr lang="en-A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73931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0" y="191817"/>
                <a:ext cx="9144000" cy="70157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AU" sz="2700" u="sng" dirty="0" smtClean="0">
                    <a:solidFill>
                      <a:prstClr val="black"/>
                    </a:solidFill>
                  </a:rPr>
                  <a:t>10 Quick Questions</a:t>
                </a:r>
              </a:p>
              <a:p>
                <a:pPr algn="ctr"/>
                <a:endParaRPr lang="en-AU" sz="900" u="sng" dirty="0">
                  <a:solidFill>
                    <a:prstClr val="black"/>
                  </a:solidFill>
                </a:endParaRPr>
              </a:p>
              <a:p>
                <a:r>
                  <a:rPr lang="en-AU" dirty="0">
                    <a:solidFill>
                      <a:prstClr val="black"/>
                    </a:solidFill>
                  </a:rPr>
                  <a:t>			</a:t>
                </a:r>
                <a:r>
                  <a:rPr lang="en-AU" sz="2400" dirty="0">
                    <a:solidFill>
                      <a:prstClr val="black"/>
                    </a:solidFill>
                  </a:rPr>
                  <a:t>1. 	 </a:t>
                </a:r>
                <a:r>
                  <a:rPr lang="en-AU" sz="2400" dirty="0" smtClean="0">
                    <a:solidFill>
                      <a:prstClr val="black"/>
                    </a:solidFill>
                  </a:rPr>
                  <a:t>54 </a:t>
                </a:r>
                <a:r>
                  <a:rPr lang="en-AU" sz="2400" dirty="0">
                    <a:solidFill>
                      <a:prstClr val="black"/>
                    </a:solidFill>
                  </a:rPr>
                  <a:t>x </a:t>
                </a:r>
                <a:r>
                  <a:rPr lang="en-AU" sz="2400" dirty="0" smtClean="0">
                    <a:solidFill>
                      <a:prstClr val="black"/>
                    </a:solidFill>
                  </a:rPr>
                  <a:t>6 </a:t>
                </a:r>
                <a:r>
                  <a:rPr lang="en-AU" sz="2400" dirty="0">
                    <a:solidFill>
                      <a:prstClr val="black"/>
                    </a:solidFill>
                  </a:rPr>
                  <a:t>=</a:t>
                </a:r>
              </a:p>
              <a:p>
                <a:r>
                  <a:rPr lang="en-AU" sz="2400" dirty="0">
                    <a:solidFill>
                      <a:prstClr val="black"/>
                    </a:solidFill>
                  </a:rPr>
                  <a:t>			2.	 </a:t>
                </a:r>
                <a:r>
                  <a:rPr lang="en-AU" sz="2400" dirty="0" smtClean="0">
                    <a:solidFill>
                      <a:prstClr val="black"/>
                    </a:solidFill>
                  </a:rPr>
                  <a:t>3819 </a:t>
                </a:r>
                <a:r>
                  <a:rPr lang="en-AU" sz="2400" dirty="0">
                    <a:solidFill>
                      <a:prstClr val="black"/>
                    </a:solidFill>
                  </a:rPr>
                  <a:t>– </a:t>
                </a:r>
                <a:r>
                  <a:rPr lang="en-AU" sz="2400" dirty="0" smtClean="0">
                    <a:solidFill>
                      <a:prstClr val="black"/>
                    </a:solidFill>
                  </a:rPr>
                  <a:t>1264 </a:t>
                </a:r>
                <a:r>
                  <a:rPr lang="en-AU" sz="2400" dirty="0">
                    <a:solidFill>
                      <a:prstClr val="black"/>
                    </a:solidFill>
                  </a:rPr>
                  <a:t>=</a:t>
                </a:r>
              </a:p>
              <a:p>
                <a:r>
                  <a:rPr lang="en-AU" sz="2400" dirty="0">
                    <a:solidFill>
                      <a:prstClr val="black"/>
                    </a:solidFill>
                  </a:rPr>
                  <a:t>			3. 	 </a:t>
                </a:r>
                <a:r>
                  <a:rPr lang="en-AU" sz="2400" dirty="0" smtClean="0">
                    <a:solidFill>
                      <a:prstClr val="black"/>
                    </a:solidFill>
                  </a:rPr>
                  <a:t>3572 </a:t>
                </a:r>
                <a:r>
                  <a:rPr lang="en-AU" sz="2400" dirty="0">
                    <a:solidFill>
                      <a:prstClr val="black"/>
                    </a:solidFill>
                  </a:rPr>
                  <a:t>+ </a:t>
                </a:r>
                <a:r>
                  <a:rPr lang="en-AU" sz="2400" dirty="0" smtClean="0">
                    <a:solidFill>
                      <a:prstClr val="black"/>
                    </a:solidFill>
                  </a:rPr>
                  <a:t>1768 </a:t>
                </a:r>
                <a:r>
                  <a:rPr lang="en-AU" sz="2400" dirty="0">
                    <a:solidFill>
                      <a:prstClr val="black"/>
                    </a:solidFill>
                  </a:rPr>
                  <a:t>=</a:t>
                </a:r>
              </a:p>
              <a:p>
                <a:r>
                  <a:rPr lang="en-AU" sz="2400" dirty="0">
                    <a:solidFill>
                      <a:prstClr val="black"/>
                    </a:solidFill>
                  </a:rPr>
                  <a:t>			4. 	 </a:t>
                </a:r>
                <a:r>
                  <a:rPr lang="en-AU" sz="2400" dirty="0" smtClean="0">
                    <a:solidFill>
                      <a:prstClr val="black"/>
                    </a:solidFill>
                  </a:rPr>
                  <a:t>54612 </a:t>
                </a:r>
                <a:r>
                  <a:rPr lang="en-AU" sz="2400" dirty="0">
                    <a:solidFill>
                      <a:prstClr val="black"/>
                    </a:solidFill>
                  </a:rPr>
                  <a:t>÷ </a:t>
                </a:r>
                <a:r>
                  <a:rPr lang="en-AU" sz="2400" dirty="0" smtClean="0">
                    <a:solidFill>
                      <a:prstClr val="black"/>
                    </a:solidFill>
                  </a:rPr>
                  <a:t>6 </a:t>
                </a:r>
                <a:r>
                  <a:rPr lang="en-AU" sz="2400" dirty="0">
                    <a:solidFill>
                      <a:prstClr val="black"/>
                    </a:solidFill>
                  </a:rPr>
                  <a:t>=</a:t>
                </a:r>
              </a:p>
              <a:p>
                <a:r>
                  <a:rPr lang="en-AU" sz="2400" dirty="0">
                    <a:solidFill>
                      <a:prstClr val="black"/>
                    </a:solidFill>
                  </a:rPr>
                  <a:t>			5. 	Round to 0.98725 </a:t>
                </a:r>
                <a:r>
                  <a:rPr lang="en-AU" sz="2400" dirty="0" smtClean="0">
                    <a:solidFill>
                      <a:prstClr val="black"/>
                    </a:solidFill>
                  </a:rPr>
                  <a:t>2 </a:t>
                </a:r>
                <a:r>
                  <a:rPr lang="en-AU" sz="2400" dirty="0" err="1">
                    <a:solidFill>
                      <a:prstClr val="black"/>
                    </a:solidFill>
                  </a:rPr>
                  <a:t>d.p</a:t>
                </a:r>
                <a:endParaRPr lang="en-AU" sz="2400" dirty="0">
                  <a:solidFill>
                    <a:prstClr val="black"/>
                  </a:solidFill>
                </a:endParaRPr>
              </a:p>
              <a:p>
                <a:r>
                  <a:rPr lang="en-AU" sz="2400" dirty="0">
                    <a:solidFill>
                      <a:prstClr val="black"/>
                    </a:solidFill>
                  </a:rPr>
                  <a:t>			6.	Write </a:t>
                </a:r>
                <a:r>
                  <a:rPr lang="en-AU" sz="2400" dirty="0" smtClean="0">
                    <a:solidFill>
                      <a:prstClr val="black"/>
                    </a:solidFill>
                  </a:rPr>
                  <a:t>13 </a:t>
                </a:r>
                <a:r>
                  <a:rPr lang="en-AU" sz="2400" dirty="0">
                    <a:solidFill>
                      <a:prstClr val="black"/>
                    </a:solidFill>
                  </a:rPr>
                  <a:t>hundredths as a </a:t>
                </a:r>
                <a:r>
                  <a:rPr lang="en-AU" sz="2400" dirty="0" smtClean="0">
                    <a:solidFill>
                      <a:prstClr val="black"/>
                    </a:solidFill>
                  </a:rPr>
                  <a:t>fraction</a:t>
                </a:r>
                <a:endParaRPr lang="en-AU" sz="2400" dirty="0">
                  <a:solidFill>
                    <a:prstClr val="black"/>
                  </a:solidFill>
                </a:endParaRPr>
              </a:p>
              <a:p>
                <a:r>
                  <a:rPr lang="en-AU" sz="2400" dirty="0">
                    <a:solidFill>
                      <a:prstClr val="black"/>
                    </a:solidFill>
                  </a:rPr>
                  <a:t>			7. 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a:rPr lang="en-AU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𝑜𝑓</m:t>
                    </m:r>
                    <m:r>
                      <a:rPr lang="en-AU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2400" b="0" i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56</m:t>
                    </m:r>
                  </m:oMath>
                </a14:m>
                <a:endParaRPr lang="en-AU" sz="2400" dirty="0">
                  <a:solidFill>
                    <a:prstClr val="black"/>
                  </a:solidFill>
                </a:endParaRPr>
              </a:p>
              <a:p>
                <a:r>
                  <a:rPr lang="en-AU" sz="2400" dirty="0">
                    <a:solidFill>
                      <a:prstClr val="black"/>
                    </a:solidFill>
                  </a:rPr>
                  <a:t>			8. 	</a:t>
                </a:r>
                <a:r>
                  <a:rPr lang="en-AU" sz="2400" dirty="0" smtClean="0">
                    <a:solidFill>
                      <a:prstClr val="black"/>
                    </a:solidFill>
                  </a:rPr>
                  <a:t>Write a fraction equivalent  to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lang="en-AU" sz="2400" dirty="0" smtClean="0">
                  <a:solidFill>
                    <a:prstClr val="black"/>
                  </a:solidFill>
                </a:endParaRPr>
              </a:p>
              <a:p>
                <a:r>
                  <a:rPr lang="en-AU" sz="2400" dirty="0">
                    <a:solidFill>
                      <a:prstClr val="black"/>
                    </a:solidFill>
                  </a:rPr>
                  <a:t>			9.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a:rPr lang="en-AU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+ </m:t>
                    </m:r>
                    <m:f>
                      <m:fPr>
                        <m:ctrlPr>
                          <a:rPr lang="en-AU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endParaRPr lang="en-AU" dirty="0" smtClean="0">
                  <a:solidFill>
                    <a:prstClr val="black"/>
                  </a:solidFill>
                </a:endParaRPr>
              </a:p>
              <a:p>
                <a:endParaRPr lang="en-AU" dirty="0">
                  <a:solidFill>
                    <a:prstClr val="black"/>
                  </a:solidFill>
                </a:endParaRPr>
              </a:p>
              <a:p>
                <a:r>
                  <a:rPr lang="en-AU" dirty="0">
                    <a:solidFill>
                      <a:prstClr val="black"/>
                    </a:solidFill>
                  </a:rPr>
                  <a:t>			</a:t>
                </a:r>
                <a:r>
                  <a:rPr lang="en-AU" sz="2400" dirty="0">
                    <a:solidFill>
                      <a:prstClr val="black"/>
                    </a:solidFill>
                  </a:rPr>
                  <a:t>10.</a:t>
                </a:r>
                <a:r>
                  <a:rPr lang="en-AU" dirty="0">
                    <a:solidFill>
                      <a:prstClr val="black"/>
                    </a:solidFill>
                  </a:rPr>
                  <a:t>	</a:t>
                </a:r>
                <a:r>
                  <a:rPr lang="en-AU" sz="2400" dirty="0">
                    <a:solidFill>
                      <a:prstClr val="black"/>
                    </a:solidFill>
                  </a:rPr>
                  <a:t>Find the area</a:t>
                </a:r>
              </a:p>
              <a:p>
                <a:r>
                  <a:rPr lang="en-AU" dirty="0">
                    <a:solidFill>
                      <a:prstClr val="black"/>
                    </a:solidFill>
                  </a:rPr>
                  <a:t>					</a:t>
                </a:r>
              </a:p>
              <a:p>
                <a:endParaRPr lang="en-AU" dirty="0">
                  <a:solidFill>
                    <a:prstClr val="black"/>
                  </a:solidFill>
                </a:endParaRPr>
              </a:p>
              <a:p>
                <a:r>
                  <a:rPr lang="en-AU" dirty="0">
                    <a:solidFill>
                      <a:prstClr val="black"/>
                    </a:solidFill>
                  </a:rPr>
                  <a:t> </a:t>
                </a:r>
              </a:p>
              <a:p>
                <a:endParaRPr lang="en-AU" dirty="0">
                  <a:solidFill>
                    <a:prstClr val="black"/>
                  </a:solidFill>
                </a:endParaRPr>
              </a:p>
              <a:p>
                <a:r>
                  <a:rPr lang="en-AU" dirty="0">
                    <a:solidFill>
                      <a:prstClr val="black"/>
                    </a:solidFill>
                    <a:ea typeface="Cambria Math" panose="02040503050406030204" pitchFamily="18" charset="0"/>
                  </a:rPr>
                  <a:t>			</a:t>
                </a:r>
              </a:p>
              <a:p>
                <a:r>
                  <a:rPr lang="en-AU" dirty="0">
                    <a:solidFill>
                      <a:prstClr val="black"/>
                    </a:solidFill>
                  </a:rPr>
                  <a:t>			</a:t>
                </a:r>
              </a:p>
              <a:p>
                <a:pPr algn="ctr"/>
                <a:endParaRPr lang="en-AU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91817"/>
                <a:ext cx="9144000" cy="7015767"/>
              </a:xfrm>
              <a:prstGeom prst="rect">
                <a:avLst/>
              </a:prstGeom>
              <a:blipFill rotWithShape="0">
                <a:blip r:embed="rId2"/>
                <a:stretch>
                  <a:fillRect t="-69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3600550"/>
            <a:ext cx="2246105" cy="224610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1924" y="5250013"/>
            <a:ext cx="1946125" cy="114477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548622" y="6210126"/>
            <a:ext cx="7534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prstClr val="black"/>
                </a:solidFill>
              </a:rPr>
              <a:t>14cm</a:t>
            </a:r>
            <a:endParaRPr lang="en-AU" dirty="0">
              <a:solidFill>
                <a:prstClr val="black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004048" y="5618833"/>
            <a:ext cx="7534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prstClr val="black"/>
                </a:solidFill>
              </a:rPr>
              <a:t>8cm</a:t>
            </a:r>
            <a:endParaRPr lang="en-A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72160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/>
              <p:cNvSpPr txBox="1"/>
              <p:nvPr/>
            </p:nvSpPr>
            <p:spPr>
              <a:xfrm>
                <a:off x="107504" y="332656"/>
                <a:ext cx="9144000" cy="70157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AU" sz="2700" u="sng" dirty="0" smtClean="0">
                    <a:solidFill>
                      <a:prstClr val="black"/>
                    </a:solidFill>
                  </a:rPr>
                  <a:t>10 Quick Questions</a:t>
                </a:r>
              </a:p>
              <a:p>
                <a:pPr algn="ctr"/>
                <a:endParaRPr lang="en-AU" sz="900" u="sng" dirty="0">
                  <a:solidFill>
                    <a:prstClr val="black"/>
                  </a:solidFill>
                </a:endParaRPr>
              </a:p>
              <a:p>
                <a:r>
                  <a:rPr lang="en-AU" dirty="0">
                    <a:solidFill>
                      <a:prstClr val="black"/>
                    </a:solidFill>
                  </a:rPr>
                  <a:t>			</a:t>
                </a:r>
                <a:r>
                  <a:rPr lang="en-AU" sz="2400" dirty="0">
                    <a:solidFill>
                      <a:prstClr val="black"/>
                    </a:solidFill>
                  </a:rPr>
                  <a:t>1. 	 </a:t>
                </a:r>
                <a:r>
                  <a:rPr lang="en-AU" sz="2400" dirty="0" smtClean="0">
                    <a:solidFill>
                      <a:prstClr val="black"/>
                    </a:solidFill>
                  </a:rPr>
                  <a:t>62 </a:t>
                </a:r>
                <a:r>
                  <a:rPr lang="en-AU" sz="2400" dirty="0">
                    <a:solidFill>
                      <a:prstClr val="black"/>
                    </a:solidFill>
                  </a:rPr>
                  <a:t>x 5</a:t>
                </a:r>
                <a:r>
                  <a:rPr lang="en-AU" sz="2400" dirty="0" smtClean="0">
                    <a:solidFill>
                      <a:prstClr val="black"/>
                    </a:solidFill>
                  </a:rPr>
                  <a:t> </a:t>
                </a:r>
                <a:r>
                  <a:rPr lang="en-AU" sz="2400" dirty="0">
                    <a:solidFill>
                      <a:prstClr val="black"/>
                    </a:solidFill>
                  </a:rPr>
                  <a:t>=</a:t>
                </a:r>
              </a:p>
              <a:p>
                <a:r>
                  <a:rPr lang="en-AU" sz="2400" dirty="0">
                    <a:solidFill>
                      <a:prstClr val="black"/>
                    </a:solidFill>
                  </a:rPr>
                  <a:t>			2.	 </a:t>
                </a:r>
                <a:r>
                  <a:rPr lang="en-AU" sz="2400" dirty="0" smtClean="0">
                    <a:solidFill>
                      <a:prstClr val="black"/>
                    </a:solidFill>
                  </a:rPr>
                  <a:t>3362 </a:t>
                </a:r>
                <a:r>
                  <a:rPr lang="en-AU" sz="2400" dirty="0">
                    <a:solidFill>
                      <a:prstClr val="black"/>
                    </a:solidFill>
                  </a:rPr>
                  <a:t>– </a:t>
                </a:r>
                <a:r>
                  <a:rPr lang="en-AU" sz="2400" dirty="0" smtClean="0">
                    <a:solidFill>
                      <a:prstClr val="black"/>
                    </a:solidFill>
                  </a:rPr>
                  <a:t>1887 </a:t>
                </a:r>
                <a:r>
                  <a:rPr lang="en-AU" sz="2400" dirty="0">
                    <a:solidFill>
                      <a:prstClr val="black"/>
                    </a:solidFill>
                  </a:rPr>
                  <a:t>=</a:t>
                </a:r>
              </a:p>
              <a:p>
                <a:r>
                  <a:rPr lang="en-AU" sz="2400" dirty="0">
                    <a:solidFill>
                      <a:prstClr val="black"/>
                    </a:solidFill>
                  </a:rPr>
                  <a:t>			3. 	 </a:t>
                </a:r>
                <a:r>
                  <a:rPr lang="en-AU" sz="2400" dirty="0" smtClean="0">
                    <a:solidFill>
                      <a:prstClr val="black"/>
                    </a:solidFill>
                  </a:rPr>
                  <a:t>3470 </a:t>
                </a:r>
                <a:r>
                  <a:rPr lang="en-AU" sz="2400" dirty="0">
                    <a:solidFill>
                      <a:prstClr val="black"/>
                    </a:solidFill>
                  </a:rPr>
                  <a:t>+ </a:t>
                </a:r>
                <a:r>
                  <a:rPr lang="en-AU" sz="2400" dirty="0" smtClean="0">
                    <a:solidFill>
                      <a:prstClr val="black"/>
                    </a:solidFill>
                  </a:rPr>
                  <a:t>1768 </a:t>
                </a:r>
                <a:r>
                  <a:rPr lang="en-AU" sz="2400" dirty="0">
                    <a:solidFill>
                      <a:prstClr val="black"/>
                    </a:solidFill>
                  </a:rPr>
                  <a:t>=</a:t>
                </a:r>
              </a:p>
              <a:p>
                <a:r>
                  <a:rPr lang="en-AU" sz="2400" dirty="0">
                    <a:solidFill>
                      <a:prstClr val="black"/>
                    </a:solidFill>
                  </a:rPr>
                  <a:t>			4. 	 </a:t>
                </a:r>
                <a:r>
                  <a:rPr lang="en-AU" sz="2400" dirty="0" smtClean="0">
                    <a:solidFill>
                      <a:prstClr val="black"/>
                    </a:solidFill>
                  </a:rPr>
                  <a:t>60186 </a:t>
                </a:r>
                <a:r>
                  <a:rPr lang="en-AU" sz="2400" dirty="0">
                    <a:solidFill>
                      <a:prstClr val="black"/>
                    </a:solidFill>
                  </a:rPr>
                  <a:t>÷ </a:t>
                </a:r>
                <a:r>
                  <a:rPr lang="en-AU" sz="2400" dirty="0" smtClean="0">
                    <a:solidFill>
                      <a:prstClr val="black"/>
                    </a:solidFill>
                  </a:rPr>
                  <a:t>6 </a:t>
                </a:r>
                <a:r>
                  <a:rPr lang="en-AU" sz="2400" dirty="0">
                    <a:solidFill>
                      <a:prstClr val="black"/>
                    </a:solidFill>
                  </a:rPr>
                  <a:t>=</a:t>
                </a:r>
              </a:p>
              <a:p>
                <a:r>
                  <a:rPr lang="en-AU" sz="2400" dirty="0">
                    <a:solidFill>
                      <a:prstClr val="black"/>
                    </a:solidFill>
                  </a:rPr>
                  <a:t>			5. 	Round to </a:t>
                </a:r>
                <a:r>
                  <a:rPr lang="en-AU" sz="2400" dirty="0" smtClean="0">
                    <a:solidFill>
                      <a:prstClr val="black"/>
                    </a:solidFill>
                  </a:rPr>
                  <a:t>1.98 to 1 </a:t>
                </a:r>
                <a:r>
                  <a:rPr lang="en-AU" sz="2400" dirty="0" err="1">
                    <a:solidFill>
                      <a:prstClr val="black"/>
                    </a:solidFill>
                  </a:rPr>
                  <a:t>d.p</a:t>
                </a:r>
                <a:endParaRPr lang="en-AU" sz="2400" dirty="0">
                  <a:solidFill>
                    <a:prstClr val="black"/>
                  </a:solidFill>
                </a:endParaRPr>
              </a:p>
              <a:p>
                <a:r>
                  <a:rPr lang="en-AU" sz="2400" dirty="0">
                    <a:solidFill>
                      <a:prstClr val="black"/>
                    </a:solidFill>
                  </a:rPr>
                  <a:t>			6.	Write 5</a:t>
                </a:r>
                <a:r>
                  <a:rPr lang="en-AU" sz="2400" dirty="0" smtClean="0">
                    <a:solidFill>
                      <a:prstClr val="black"/>
                    </a:solidFill>
                  </a:rPr>
                  <a:t> tenths </a:t>
                </a:r>
                <a:r>
                  <a:rPr lang="en-AU" sz="2400" dirty="0">
                    <a:solidFill>
                      <a:prstClr val="black"/>
                    </a:solidFill>
                  </a:rPr>
                  <a:t>as a </a:t>
                </a:r>
                <a:r>
                  <a:rPr lang="en-AU" sz="2400" dirty="0" smtClean="0">
                    <a:solidFill>
                      <a:prstClr val="black"/>
                    </a:solidFill>
                  </a:rPr>
                  <a:t>fraction</a:t>
                </a:r>
                <a:endParaRPr lang="en-AU" sz="2400" dirty="0">
                  <a:solidFill>
                    <a:prstClr val="black"/>
                  </a:solidFill>
                </a:endParaRPr>
              </a:p>
              <a:p>
                <a:r>
                  <a:rPr lang="en-AU" sz="2400" dirty="0">
                    <a:solidFill>
                      <a:prstClr val="black"/>
                    </a:solidFill>
                  </a:rPr>
                  <a:t>			7. 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AU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a:rPr lang="en-AU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𝑜𝑓</m:t>
                    </m:r>
                    <m:r>
                      <a:rPr lang="en-AU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2400" b="0" i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81</m:t>
                    </m:r>
                  </m:oMath>
                </a14:m>
                <a:endParaRPr lang="en-AU" sz="2400" dirty="0">
                  <a:solidFill>
                    <a:prstClr val="black"/>
                  </a:solidFill>
                </a:endParaRPr>
              </a:p>
              <a:p>
                <a:r>
                  <a:rPr lang="en-AU" sz="2400" dirty="0">
                    <a:solidFill>
                      <a:prstClr val="black"/>
                    </a:solidFill>
                  </a:rPr>
                  <a:t>			8. 	</a:t>
                </a:r>
                <a:r>
                  <a:rPr lang="en-AU" sz="2400" dirty="0" smtClean="0">
                    <a:solidFill>
                      <a:prstClr val="black"/>
                    </a:solidFill>
                  </a:rPr>
                  <a:t>Write a fraction equivalent  to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AU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endParaRPr lang="en-AU" sz="2400" dirty="0" smtClean="0">
                  <a:solidFill>
                    <a:prstClr val="black"/>
                  </a:solidFill>
                </a:endParaRPr>
              </a:p>
              <a:p>
                <a:r>
                  <a:rPr lang="en-AU" sz="2400" dirty="0">
                    <a:solidFill>
                      <a:prstClr val="black"/>
                    </a:solidFill>
                  </a:rPr>
                  <a:t>			9.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AU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+ </m:t>
                    </m:r>
                    <m:f>
                      <m:fPr>
                        <m:ctrlPr>
                          <a:rPr lang="en-AU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endParaRPr lang="en-AU" dirty="0" smtClean="0">
                  <a:solidFill>
                    <a:prstClr val="black"/>
                  </a:solidFill>
                </a:endParaRPr>
              </a:p>
              <a:p>
                <a:endParaRPr lang="en-AU" dirty="0">
                  <a:solidFill>
                    <a:prstClr val="black"/>
                  </a:solidFill>
                </a:endParaRPr>
              </a:p>
              <a:p>
                <a:r>
                  <a:rPr lang="en-AU" dirty="0">
                    <a:solidFill>
                      <a:prstClr val="black"/>
                    </a:solidFill>
                  </a:rPr>
                  <a:t>			</a:t>
                </a:r>
                <a:r>
                  <a:rPr lang="en-AU" sz="2400" dirty="0">
                    <a:solidFill>
                      <a:prstClr val="black"/>
                    </a:solidFill>
                  </a:rPr>
                  <a:t>10.</a:t>
                </a:r>
                <a:r>
                  <a:rPr lang="en-AU" dirty="0">
                    <a:solidFill>
                      <a:prstClr val="black"/>
                    </a:solidFill>
                  </a:rPr>
                  <a:t>	</a:t>
                </a:r>
                <a:r>
                  <a:rPr lang="en-AU" sz="2400" dirty="0">
                    <a:solidFill>
                      <a:prstClr val="black"/>
                    </a:solidFill>
                  </a:rPr>
                  <a:t>Find the </a:t>
                </a:r>
                <a:r>
                  <a:rPr lang="en-AU" sz="2400" dirty="0" smtClean="0">
                    <a:solidFill>
                      <a:prstClr val="black"/>
                    </a:solidFill>
                  </a:rPr>
                  <a:t>radius</a:t>
                </a:r>
                <a:endParaRPr lang="en-AU" sz="2400" dirty="0">
                  <a:solidFill>
                    <a:prstClr val="black"/>
                  </a:solidFill>
                </a:endParaRPr>
              </a:p>
              <a:p>
                <a:r>
                  <a:rPr lang="en-AU" dirty="0">
                    <a:solidFill>
                      <a:prstClr val="black"/>
                    </a:solidFill>
                  </a:rPr>
                  <a:t>					</a:t>
                </a:r>
              </a:p>
              <a:p>
                <a:endParaRPr lang="en-AU" dirty="0">
                  <a:solidFill>
                    <a:prstClr val="black"/>
                  </a:solidFill>
                </a:endParaRPr>
              </a:p>
              <a:p>
                <a:r>
                  <a:rPr lang="en-AU" dirty="0">
                    <a:solidFill>
                      <a:prstClr val="black"/>
                    </a:solidFill>
                  </a:rPr>
                  <a:t> </a:t>
                </a:r>
              </a:p>
              <a:p>
                <a:endParaRPr lang="en-AU" dirty="0">
                  <a:solidFill>
                    <a:prstClr val="black"/>
                  </a:solidFill>
                </a:endParaRPr>
              </a:p>
              <a:p>
                <a:r>
                  <a:rPr lang="en-AU" dirty="0">
                    <a:solidFill>
                      <a:prstClr val="black"/>
                    </a:solidFill>
                    <a:ea typeface="Cambria Math" panose="02040503050406030204" pitchFamily="18" charset="0"/>
                  </a:rPr>
                  <a:t>			</a:t>
                </a:r>
              </a:p>
              <a:p>
                <a:r>
                  <a:rPr lang="en-AU" dirty="0">
                    <a:solidFill>
                      <a:prstClr val="black"/>
                    </a:solidFill>
                  </a:rPr>
                  <a:t>			</a:t>
                </a:r>
              </a:p>
              <a:p>
                <a:pPr algn="ctr"/>
                <a:endParaRPr lang="en-AU" dirty="0">
                  <a:solidFill>
                    <a:prstClr val="black"/>
                  </a:solidFill>
                </a:endParaRPr>
              </a:p>
            </p:txBody>
          </p:sp>
        </mc:Choice>
        <mc:Fallback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4" y="332656"/>
                <a:ext cx="9144000" cy="7015767"/>
              </a:xfrm>
              <a:prstGeom prst="rect">
                <a:avLst/>
              </a:prstGeom>
              <a:blipFill rotWithShape="0">
                <a:blip r:embed="rId2"/>
                <a:stretch>
                  <a:fillRect t="-78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3600550"/>
            <a:ext cx="2246105" cy="224610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192180" y="5661989"/>
            <a:ext cx="7534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prstClr val="black"/>
                </a:solidFill>
              </a:rPr>
              <a:t>8cm</a:t>
            </a:r>
            <a:endParaRPr lang="en-AU" dirty="0">
              <a:solidFill>
                <a:prstClr val="black"/>
              </a:solidFill>
            </a:endParaRPr>
          </a:p>
        </p:txBody>
      </p:sp>
      <p:sp>
        <p:nvSpPr>
          <p:cNvPr id="3" name="Oval 2"/>
          <p:cNvSpPr/>
          <p:nvPr/>
        </p:nvSpPr>
        <p:spPr>
          <a:xfrm>
            <a:off x="5580112" y="5301208"/>
            <a:ext cx="1224136" cy="122591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6" name="Straight Connector 5"/>
          <p:cNvCxnSpPr>
            <a:stCxn id="3" idx="2"/>
          </p:cNvCxnSpPr>
          <p:nvPr/>
        </p:nvCxnSpPr>
        <p:spPr>
          <a:xfrm flipV="1">
            <a:off x="5580112" y="5914163"/>
            <a:ext cx="1224136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760131" y="5592879"/>
            <a:ext cx="864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18cm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7442190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604448" y="6396335"/>
            <a:ext cx="539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prstClr val="black"/>
                </a:solidFill>
              </a:rPr>
              <a:t> 11</a:t>
            </a:r>
            <a:endParaRPr lang="en-AU" dirty="0">
              <a:solidFill>
                <a:prstClr val="black"/>
              </a:solidFill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2915816" y="1916832"/>
            <a:ext cx="7431" cy="49411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0" y="24444"/>
            <a:ext cx="622818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 smtClean="0">
                <a:solidFill>
                  <a:prstClr val="black"/>
                </a:solidFill>
              </a:rPr>
              <a:t>Title</a:t>
            </a:r>
            <a:r>
              <a:rPr lang="en-AU" sz="2000" dirty="0" smtClean="0">
                <a:solidFill>
                  <a:prstClr val="black"/>
                </a:solidFill>
              </a:rPr>
              <a:t>: </a:t>
            </a:r>
            <a:r>
              <a:rPr lang="en-AU" sz="2400" dirty="0">
                <a:solidFill>
                  <a:prstClr val="black"/>
                </a:solidFill>
              </a:rPr>
              <a:t>Finding fractions of an amount and </a:t>
            </a:r>
          </a:p>
          <a:p>
            <a:r>
              <a:rPr lang="en-AU" sz="2400" dirty="0" smtClean="0">
                <a:solidFill>
                  <a:prstClr val="black"/>
                </a:solidFill>
              </a:rPr>
              <a:t>           Multiplying  </a:t>
            </a:r>
            <a:r>
              <a:rPr lang="en-AU" sz="2400" dirty="0">
                <a:solidFill>
                  <a:prstClr val="black"/>
                </a:solidFill>
              </a:rPr>
              <a:t>Fractions</a:t>
            </a:r>
          </a:p>
          <a:p>
            <a:endParaRPr lang="en-AU" sz="2800" dirty="0">
              <a:solidFill>
                <a:prstClr val="black"/>
              </a:solidFill>
            </a:endParaRPr>
          </a:p>
          <a:p>
            <a:endParaRPr lang="en-AU" sz="2800" dirty="0">
              <a:solidFill>
                <a:prstClr val="black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233384" y="488084"/>
            <a:ext cx="24969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 smtClean="0">
                <a:solidFill>
                  <a:prstClr val="black"/>
                </a:solidFill>
              </a:rPr>
              <a:t>Date: 26/6/15</a:t>
            </a:r>
            <a:endParaRPr lang="en-AU" sz="2800" dirty="0">
              <a:solidFill>
                <a:prstClr val="black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0" y="1063436"/>
            <a:ext cx="87399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>
                <a:solidFill>
                  <a:prstClr val="black"/>
                </a:solidFill>
              </a:rPr>
              <a:t>EQ </a:t>
            </a:r>
            <a:r>
              <a:rPr lang="en-AU" sz="2400" dirty="0">
                <a:solidFill>
                  <a:prstClr val="black"/>
                </a:solidFill>
              </a:rPr>
              <a:t>: Explain how to find the fraction of an amount and the process of </a:t>
            </a:r>
            <a:r>
              <a:rPr lang="en-AU" sz="2400" dirty="0" smtClean="0">
                <a:solidFill>
                  <a:prstClr val="black"/>
                </a:solidFill>
              </a:rPr>
              <a:t>   multiplying </a:t>
            </a:r>
            <a:r>
              <a:rPr lang="en-AU" sz="2400" dirty="0">
                <a:solidFill>
                  <a:prstClr val="black"/>
                </a:solidFill>
              </a:rPr>
              <a:t>fractions</a:t>
            </a:r>
          </a:p>
          <a:p>
            <a:endParaRPr lang="en-AU" sz="2400" dirty="0">
              <a:solidFill>
                <a:prstClr val="black"/>
              </a:solidFill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6228184" y="0"/>
            <a:ext cx="0" cy="980728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431" y="1916832"/>
            <a:ext cx="2915816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>
                <a:solidFill>
                  <a:prstClr val="black"/>
                </a:solidFill>
              </a:rPr>
              <a:t>Question:</a:t>
            </a:r>
          </a:p>
          <a:p>
            <a:endParaRPr lang="en-AU" sz="2800" dirty="0">
              <a:solidFill>
                <a:prstClr val="black"/>
              </a:solidFill>
            </a:endParaRPr>
          </a:p>
          <a:p>
            <a:endParaRPr lang="en-AU" sz="2400" dirty="0" smtClean="0">
              <a:solidFill>
                <a:prstClr val="black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2887559" y="1890964"/>
                <a:ext cx="6256441" cy="62905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 smtClean="0">
                    <a:solidFill>
                      <a:prstClr val="black"/>
                    </a:solidFill>
                  </a:rPr>
                  <a:t>Notes:</a:t>
                </a:r>
              </a:p>
              <a:p>
                <a:endParaRPr lang="en-AU" sz="1200" dirty="0" smtClean="0">
                  <a:solidFill>
                    <a:prstClr val="black"/>
                  </a:solidFill>
                </a:endParaRPr>
              </a:p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en-AU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8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num>
                      <m:den>
                        <m:r>
                          <a:rPr lang="en-AU" sz="28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den>
                    </m:f>
                    <m:r>
                      <a:rPr lang="en-AU" sz="28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AU" sz="2800" dirty="0">
                    <a:solidFill>
                      <a:prstClr val="black"/>
                    </a:solidFill>
                  </a:rPr>
                  <a:t> of $12</a:t>
                </a:r>
              </a:p>
              <a:p>
                <a:r>
                  <a:rPr lang="en-AU" sz="2200" dirty="0">
                    <a:solidFill>
                      <a:prstClr val="black"/>
                    </a:solidFill>
                  </a:rPr>
                  <a:t>1) Find one third of $12 by dividing the amount by the </a:t>
                </a:r>
                <a:r>
                  <a:rPr lang="en-AU" sz="2200" b="1" dirty="0">
                    <a:solidFill>
                      <a:srgbClr val="0070C0"/>
                    </a:solidFill>
                  </a:rPr>
                  <a:t>denominator</a:t>
                </a:r>
              </a:p>
              <a:p>
                <a:pPr algn="ctr"/>
                <a:r>
                  <a:rPr lang="en-AU" sz="2200" dirty="0" smtClean="0">
                    <a:solidFill>
                      <a:prstClr val="black"/>
                    </a:solidFill>
                  </a:rPr>
                  <a:t> </a:t>
                </a:r>
                <a:r>
                  <a:rPr lang="en-AU" sz="2200" dirty="0">
                    <a:solidFill>
                      <a:prstClr val="black"/>
                    </a:solidFill>
                  </a:rPr>
                  <a:t>12 ÷ 3 = $4</a:t>
                </a:r>
              </a:p>
              <a:p>
                <a:r>
                  <a:rPr lang="en-AU" sz="2200" dirty="0">
                    <a:solidFill>
                      <a:prstClr val="black"/>
                    </a:solidFill>
                  </a:rPr>
                  <a:t>2) Multiply the amount in step 1 by the </a:t>
                </a:r>
                <a:r>
                  <a:rPr lang="en-AU" sz="2200" b="1" dirty="0">
                    <a:solidFill>
                      <a:srgbClr val="7030A0"/>
                    </a:solidFill>
                  </a:rPr>
                  <a:t>numerator</a:t>
                </a:r>
                <a:r>
                  <a:rPr lang="en-AU" sz="2200" dirty="0">
                    <a:solidFill>
                      <a:prstClr val="black"/>
                    </a:solidFill>
                  </a:rPr>
                  <a:t> </a:t>
                </a:r>
              </a:p>
              <a:p>
                <a:pPr algn="ctr"/>
                <a:r>
                  <a:rPr lang="en-AU" sz="2200" dirty="0" smtClean="0">
                    <a:solidFill>
                      <a:prstClr val="black"/>
                    </a:solidFill>
                  </a:rPr>
                  <a:t>$</a:t>
                </a:r>
                <a:r>
                  <a:rPr lang="en-AU" sz="2200" dirty="0">
                    <a:solidFill>
                      <a:prstClr val="black"/>
                    </a:solidFill>
                  </a:rPr>
                  <a:t>4 x 2 = $8</a:t>
                </a:r>
              </a:p>
              <a:p>
                <a:endParaRPr lang="en-AU" sz="800" dirty="0" smtClean="0">
                  <a:solidFill>
                    <a:prstClr val="black"/>
                  </a:solidFill>
                </a:endParaRPr>
              </a:p>
              <a:p>
                <a:endParaRPr lang="en-AU" sz="800" dirty="0">
                  <a:solidFill>
                    <a:prstClr val="black"/>
                  </a:solidFill>
                </a:endParaRPr>
              </a:p>
              <a:p>
                <a:endParaRPr lang="en-AU" sz="800" dirty="0" smtClean="0">
                  <a:solidFill>
                    <a:prstClr val="black"/>
                  </a:solidFill>
                </a:endParaRPr>
              </a:p>
              <a:p>
                <a:endParaRPr lang="en-AU" sz="800" dirty="0">
                  <a:solidFill>
                    <a:prstClr val="black"/>
                  </a:solidFill>
                </a:endParaRPr>
              </a:p>
              <a:p>
                <a:endParaRPr lang="en-AU" sz="800" dirty="0">
                  <a:solidFill>
                    <a:prstClr val="black"/>
                  </a:solidFill>
                </a:endParaRPr>
              </a:p>
              <a:p>
                <a:r>
                  <a:rPr lang="en-AU" sz="2200" u="sng" dirty="0">
                    <a:solidFill>
                      <a:prstClr val="black"/>
                    </a:solidFill>
                  </a:rPr>
                  <a:t>Examples:</a:t>
                </a:r>
              </a:p>
              <a:p>
                <a:r>
                  <a:rPr lang="en-AU" sz="2200" dirty="0">
                    <a:solidFill>
                      <a:prstClr val="black"/>
                    </a:solidFill>
                  </a:rPr>
                  <a:t>Find:	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AU" sz="22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22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𝑜𝑓</m:t>
                    </m:r>
                    <m:r>
                      <a:rPr lang="en-AU" sz="22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20</m:t>
                    </m:r>
                  </m:oMath>
                </a14:m>
                <a:r>
                  <a:rPr lang="en-AU" sz="2200" dirty="0">
                    <a:solidFill>
                      <a:prstClr val="black"/>
                    </a:solidFill>
                  </a:rPr>
                  <a:t> =</a:t>
                </a:r>
              </a:p>
              <a:p>
                <a:r>
                  <a:rPr lang="en-AU" sz="2200" dirty="0">
                    <a:solidFill>
                      <a:prstClr val="black"/>
                    </a:solidFill>
                  </a:rPr>
                  <a:t>	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sz="2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a:rPr lang="en-AU" sz="22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22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𝑜𝑓</m:t>
                    </m:r>
                    <m:r>
                      <a:rPr lang="en-AU" sz="22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64</m:t>
                    </m:r>
                  </m:oMath>
                </a14:m>
                <a:r>
                  <a:rPr lang="en-AU" sz="2200" dirty="0">
                    <a:solidFill>
                      <a:prstClr val="black"/>
                    </a:solidFill>
                  </a:rPr>
                  <a:t> =</a:t>
                </a:r>
              </a:p>
              <a:p>
                <a:r>
                  <a:rPr lang="en-AU" sz="2400" dirty="0" smtClean="0">
                    <a:solidFill>
                      <a:prstClr val="black"/>
                    </a:solidFill>
                  </a:rPr>
                  <a:t>	</a:t>
                </a:r>
                <a:endParaRPr lang="en-AU" sz="1200" dirty="0">
                  <a:solidFill>
                    <a:prstClr val="black"/>
                  </a:solidFill>
                </a:endParaRPr>
              </a:p>
              <a:p>
                <a:endParaRPr lang="en-AU" sz="2400" dirty="0" smtClean="0">
                  <a:solidFill>
                    <a:prstClr val="black"/>
                  </a:solidFill>
                </a:endParaRPr>
              </a:p>
              <a:p>
                <a:endParaRPr lang="en-AU" sz="2400" dirty="0" smtClean="0">
                  <a:solidFill>
                    <a:prstClr val="black"/>
                  </a:solidFill>
                </a:endParaRPr>
              </a:p>
              <a:p>
                <a:endParaRPr lang="en-AU" sz="2000" dirty="0" smtClean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7559" y="1890964"/>
                <a:ext cx="6256441" cy="6290505"/>
              </a:xfrm>
              <a:prstGeom prst="rect">
                <a:avLst/>
              </a:prstGeom>
              <a:blipFill rotWithShape="0">
                <a:blip r:embed="rId3"/>
                <a:stretch>
                  <a:fillRect l="-1559" t="-77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/>
          <p:cNvSpPr txBox="1"/>
          <p:nvPr/>
        </p:nvSpPr>
        <p:spPr>
          <a:xfrm>
            <a:off x="5364088" y="-10543"/>
            <a:ext cx="8640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24</a:t>
            </a:r>
          </a:p>
          <a:p>
            <a:r>
              <a:rPr lang="en-AU" dirty="0" smtClean="0"/>
              <a:t>7</a:t>
            </a:r>
          </a:p>
          <a:p>
            <a:r>
              <a:rPr lang="en-AU" dirty="0" smtClean="0"/>
              <a:t>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31" y="3075171"/>
            <a:ext cx="2908385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How do you find a fraction of an amount?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579861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/>
          <p:nvPr/>
        </p:nvCxnSpPr>
        <p:spPr>
          <a:xfrm flipH="1">
            <a:off x="2267744" y="-2543"/>
            <a:ext cx="7432" cy="6858000"/>
          </a:xfrm>
          <a:prstGeom prst="line">
            <a:avLst/>
          </a:prstGeom>
          <a:ln w="158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9584" y="-2542"/>
            <a:ext cx="2915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>
                <a:solidFill>
                  <a:prstClr val="black"/>
                </a:solidFill>
              </a:rPr>
              <a:t>Question:</a:t>
            </a:r>
            <a:endParaRPr lang="en-AU" sz="2400" dirty="0">
              <a:solidFill>
                <a:prstClr val="black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2275176" y="0"/>
                <a:ext cx="7000560" cy="73703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 smtClean="0">
                    <a:solidFill>
                      <a:prstClr val="black"/>
                    </a:solidFill>
                  </a:rPr>
                  <a:t>Notes:</a:t>
                </a:r>
              </a:p>
              <a:p>
                <a:endParaRPr lang="en-AU" sz="2000" dirty="0" smtClean="0">
                  <a:solidFill>
                    <a:prstClr val="black"/>
                  </a:solidFill>
                </a:endParaRPr>
              </a:p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en-AU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32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AU" sz="32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den>
                    </m:f>
                  </m:oMath>
                </a14:m>
                <a:r>
                  <a:rPr lang="en-AU" sz="3200" dirty="0"/>
                  <a:t>    x 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32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num>
                      <m:den>
                        <m:r>
                          <a:rPr lang="en-AU" sz="32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den>
                    </m:f>
                  </m:oMath>
                </a14:m>
                <a:r>
                  <a:rPr lang="en-AU" sz="3200" dirty="0"/>
                  <a:t> 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32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AU" sz="32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3200" b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𝐱</m:t>
                        </m:r>
                        <m:r>
                          <a:rPr lang="en-AU" sz="3200" b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3200" b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num>
                      <m:den>
                        <m:r>
                          <a:rPr lang="en-AU" sz="32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  <m:r>
                          <a:rPr lang="en-AU" sz="32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3200" b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𝐱</m:t>
                        </m:r>
                        <m:r>
                          <a:rPr lang="en-AU" sz="3200" b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3200" b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den>
                    </m:f>
                  </m:oMath>
                </a14:m>
                <a:r>
                  <a:rPr lang="en-AU" sz="32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32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3200" b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num>
                      <m:den>
                        <m:r>
                          <a:rPr lang="en-AU" sz="32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𝟏𝟓</m:t>
                        </m:r>
                      </m:den>
                    </m:f>
                  </m:oMath>
                </a14:m>
                <a:endParaRPr lang="en-AU" sz="3200" b="1" dirty="0"/>
              </a:p>
              <a:p>
                <a:pPr algn="ctr"/>
                <a:endParaRPr lang="en-AU" sz="1200" dirty="0"/>
              </a:p>
              <a:p>
                <a:r>
                  <a:rPr lang="en-AU" sz="2200" dirty="0">
                    <a:solidFill>
                      <a:prstClr val="black"/>
                    </a:solidFill>
                  </a:rPr>
                  <a:t>To multiply two fractions together we follow the steps below:</a:t>
                </a:r>
              </a:p>
              <a:p>
                <a:pPr marL="457200" indent="-457200">
                  <a:buAutoNum type="arabicParenR"/>
                </a:pPr>
                <a:r>
                  <a:rPr lang="en-AU" sz="2200" dirty="0">
                    <a:solidFill>
                      <a:prstClr val="black"/>
                    </a:solidFill>
                  </a:rPr>
                  <a:t>Multiply the </a:t>
                </a:r>
                <a:r>
                  <a:rPr lang="en-AU" sz="2200" b="1" dirty="0">
                    <a:solidFill>
                      <a:srgbClr val="0070C0"/>
                    </a:solidFill>
                  </a:rPr>
                  <a:t>numerators</a:t>
                </a:r>
              </a:p>
              <a:p>
                <a:pPr marL="457200" indent="-457200">
                  <a:buAutoNum type="arabicParenR"/>
                </a:pPr>
                <a:r>
                  <a:rPr lang="en-AU" sz="2200" dirty="0">
                    <a:solidFill>
                      <a:prstClr val="black"/>
                    </a:solidFill>
                  </a:rPr>
                  <a:t>Multiply the </a:t>
                </a:r>
                <a:r>
                  <a:rPr lang="en-AU" sz="2200" b="1" dirty="0">
                    <a:solidFill>
                      <a:srgbClr val="7030A0"/>
                    </a:solidFill>
                  </a:rPr>
                  <a:t>denominators</a:t>
                </a:r>
              </a:p>
              <a:p>
                <a:pPr marL="457200" indent="-457200">
                  <a:buAutoNum type="arabicParenR" startAt="3"/>
                </a:pPr>
                <a:r>
                  <a:rPr lang="en-AU" sz="2200" dirty="0"/>
                  <a:t>Simplify your answer</a:t>
                </a:r>
              </a:p>
              <a:p>
                <a:pPr marL="457200" indent="-457200">
                  <a:buAutoNum type="arabicParenR" startAt="3"/>
                </a:pPr>
                <a:r>
                  <a:rPr lang="en-AU" sz="2200" dirty="0"/>
                  <a:t>If you are given a mixed numeral convert this to an improper fraction before starting the steps</a:t>
                </a:r>
              </a:p>
              <a:p>
                <a:pPr marL="457200" indent="-457200">
                  <a:buAutoNum type="arabicParenR" startAt="3"/>
                </a:pPr>
                <a:endParaRPr lang="en-AU" sz="1100" dirty="0" smtClean="0"/>
              </a:p>
              <a:p>
                <a:pPr marL="457200" indent="-457200">
                  <a:buAutoNum type="arabicParenR" startAt="3"/>
                </a:pPr>
                <a:endParaRPr lang="en-AU" sz="1100" dirty="0"/>
              </a:p>
              <a:p>
                <a:pPr marL="457200" indent="-457200">
                  <a:buAutoNum type="arabicParenR" startAt="3"/>
                </a:pPr>
                <a:endParaRPr lang="en-AU" sz="1100" dirty="0" smtClean="0"/>
              </a:p>
              <a:p>
                <a:pPr marL="457200" indent="-457200">
                  <a:buAutoNum type="arabicParenR" startAt="3"/>
                </a:pPr>
                <a:endParaRPr lang="en-AU" sz="1100" dirty="0"/>
              </a:p>
              <a:p>
                <a:r>
                  <a:rPr lang="en-AU" sz="2000" u="sng" dirty="0"/>
                  <a:t>Examples:</a:t>
                </a:r>
              </a:p>
              <a:p>
                <a:r>
                  <a:rPr lang="en-AU" sz="2000" dirty="0"/>
                  <a:t>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000" i="1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en-AU" sz="2000" dirty="0"/>
                  <a:t> x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i="1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AU" sz="2000" i="1"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lang="en-AU" sz="2000" dirty="0"/>
                  <a:t> = </a:t>
                </a:r>
              </a:p>
              <a:p>
                <a:endParaRPr lang="en-AU" sz="1100" dirty="0"/>
              </a:p>
              <a:p>
                <a:r>
                  <a:rPr lang="en-AU" sz="1100" dirty="0"/>
                  <a:t>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i="1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sz="2000" i="1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en-AU" sz="2000" dirty="0"/>
                  <a:t> x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i="1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AU" sz="2000" i="1"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lang="en-AU" sz="2000" dirty="0"/>
                  <a:t> = </a:t>
                </a:r>
              </a:p>
              <a:p>
                <a:endParaRPr lang="en-AU" sz="1100" dirty="0"/>
              </a:p>
              <a:p>
                <a:r>
                  <a:rPr lang="en-AU" sz="1100" dirty="0"/>
                  <a:t>	</a:t>
                </a:r>
                <a:r>
                  <a:rPr lang="en-AU" sz="2000" dirty="0"/>
                  <a:t>1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i="1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sz="2000" i="1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AU" sz="2000" dirty="0"/>
                  <a:t> x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i="1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sz="2000" i="1"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lang="en-AU" sz="2000" dirty="0"/>
                  <a:t> = </a:t>
                </a:r>
              </a:p>
              <a:p>
                <a:endParaRPr lang="en-AU" sz="2000" dirty="0">
                  <a:solidFill>
                    <a:prstClr val="black"/>
                  </a:solidFill>
                </a:endParaRPr>
              </a:p>
              <a:p>
                <a:endParaRPr lang="en-AU" sz="1400" dirty="0" smtClean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5176" y="0"/>
                <a:ext cx="7000560" cy="7370351"/>
              </a:xfrm>
              <a:prstGeom prst="rect">
                <a:avLst/>
              </a:prstGeom>
              <a:blipFill rotWithShape="0">
                <a:blip r:embed="rId2"/>
                <a:stretch>
                  <a:fillRect l="-1305" t="-66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Control 1"/>
          <p:cNvSpPr>
            <a:spLocks noChangeArrowheads="1" noChangeShapeType="1"/>
          </p:cNvSpPr>
          <p:nvPr/>
        </p:nvSpPr>
        <p:spPr bwMode="auto">
          <a:xfrm>
            <a:off x="5481638" y="4022725"/>
            <a:ext cx="2165350" cy="3171825"/>
          </a:xfrm>
          <a:prstGeom prst="rect">
            <a:avLst/>
          </a:prstGeom>
          <a:noFill/>
          <a:ln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noFill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459123"/>
            <a:ext cx="9144000" cy="0"/>
          </a:xfrm>
          <a:prstGeom prst="line">
            <a:avLst/>
          </a:prstGeom>
          <a:ln w="158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0" y="548680"/>
            <a:ext cx="226774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sz="800" dirty="0" smtClean="0"/>
          </a:p>
          <a:p>
            <a:endParaRPr lang="en-AU" sz="2200" dirty="0"/>
          </a:p>
        </p:txBody>
      </p:sp>
      <p:sp>
        <p:nvSpPr>
          <p:cNvPr id="12" name="TextBox 11"/>
          <p:cNvSpPr txBox="1"/>
          <p:nvPr/>
        </p:nvSpPr>
        <p:spPr>
          <a:xfrm>
            <a:off x="8532440" y="6488668"/>
            <a:ext cx="60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prstClr val="black"/>
                </a:solidFill>
              </a:rPr>
              <a:t> 11</a:t>
            </a:r>
            <a:endParaRPr lang="en-AU" dirty="0">
              <a:solidFill>
                <a:prstClr val="black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0" y="1628800"/>
            <a:ext cx="226774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are the steps to multiply two fractions?</a:t>
            </a:r>
          </a:p>
        </p:txBody>
      </p:sp>
    </p:spTree>
    <p:extLst>
      <p:ext uri="{BB962C8B-B14F-4D97-AF65-F5344CB8AC3E}">
        <p14:creationId xmlns:p14="http://schemas.microsoft.com/office/powerpoint/2010/main" val="10307311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4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4570</TotalTime>
  <Words>488</Words>
  <Application>Microsoft Office PowerPoint</Application>
  <PresentationFormat>On-screen Show (4:3)</PresentationFormat>
  <Paragraphs>367</Paragraphs>
  <Slides>18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18</vt:i4>
      </vt:variant>
    </vt:vector>
  </HeadingPairs>
  <TitlesOfParts>
    <vt:vector size="27" baseType="lpstr">
      <vt:lpstr>Arial</vt:lpstr>
      <vt:lpstr>Calibri</vt:lpstr>
      <vt:lpstr>Cambria Math</vt:lpstr>
      <vt:lpstr>Wingdings</vt:lpstr>
      <vt:lpstr>Office Theme</vt:lpstr>
      <vt:lpstr>1_Office Theme</vt:lpstr>
      <vt:lpstr>2_Office Theme</vt:lpstr>
      <vt:lpstr>3_Office Theme</vt:lpstr>
      <vt:lpstr>4_Office Theme</vt:lpstr>
      <vt:lpstr> Fractions  Interactive Notebook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The Department of Education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e4058769</cp:lastModifiedBy>
  <cp:revision>169</cp:revision>
  <dcterms:created xsi:type="dcterms:W3CDTF">2014-05-14T02:58:57Z</dcterms:created>
  <dcterms:modified xsi:type="dcterms:W3CDTF">2015-06-25T13:41:23Z</dcterms:modified>
</cp:coreProperties>
</file>
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6" r:id="rId3"/>
    <p:sldId id="261" r:id="rId4"/>
    <p:sldId id="257" r:id="rId5"/>
    <p:sldId id="258" r:id="rId6"/>
    <p:sldId id="259" r:id="rId7"/>
    <p:sldId id="260" r:id="rId8"/>
    <p:sldId id="262" r:id="rId9"/>
    <p:sldId id="265" r:id="rId10"/>
    <p:sldId id="266" r:id="rId11"/>
    <p:sldId id="263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  <a:srgbClr val="BFFF00"/>
    <a:srgbClr val="000000"/>
    <a:srgbClr val="B9F700"/>
    <a:srgbClr val="A5DD00"/>
    <a:srgbClr val="6C006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>
        <p:scale>
          <a:sx n="60" d="100"/>
          <a:sy n="60" d="100"/>
        </p:scale>
        <p:origin x="-115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CE069-9B3C-4BB1-BEB0-62F69F80223D}" type="datetimeFigureOut">
              <a:rPr lang="en-AU" smtClean="0"/>
              <a:t>9/05/2016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B3F6-A098-4496-B49D-3615FE7AA9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9953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54F7E93-0AB2-4AC9-91A8-EA488CCE43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14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8040F8-ADE1-4115-875F-580CFE4FF74B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8040F8-ADE1-4115-875F-580CFE4FF74B}" type="slidenum">
              <a:rPr lang="en-US"/>
              <a:pPr/>
              <a:t>2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53D9F5-5428-4015-8CFA-1644194244E9}" type="slidenum">
              <a:rPr lang="en-US"/>
              <a:pPr/>
              <a:t>3</a:t>
            </a:fld>
            <a:endParaRPr lang="en-US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9249D8-B0E5-4780-8399-AE5058E7FD5F}" type="slidenum">
              <a:rPr lang="en-US"/>
              <a:pPr/>
              <a:t>4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AF82A4-7B44-428F-8AE1-B2AECE0CEE73}" type="slidenum">
              <a:rPr lang="en-US"/>
              <a:pPr/>
              <a:t>5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8040F8-ADE1-4115-875F-580CFE4FF74B}" type="slidenum">
              <a:rPr lang="en-US"/>
              <a:pPr/>
              <a:t>6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50662F-13B1-471F-8EFF-3F69A9F61B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8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E16E2-1178-4BB9-AD75-DD0E94133E4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1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CC7BD-BEEE-4209-AFD1-2866890826E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2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0069C-F167-4A27-8143-7EAFF98581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2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172BE-00CF-4F98-A1C5-CB7F64ABC1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082DD5-03E4-41AA-98F9-6F12737A2B1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8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97942-08CB-4E88-9AD2-57C77C4959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8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25B01-E215-4E8A-A9F5-3490FF8FF8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AB1E2-5031-411F-A50E-71AFA4F4AE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1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5E9B13-3D61-46FF-9EBE-38EA33ADB00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2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5EF91D-80DC-40E9-A3FF-4636AD7C5C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26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EF79EF-AC5E-4F89-B04A-29130FE480C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934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BE4CA-53C1-44D3-AAE5-6192B1F8224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459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DFDF1E-A0F1-4C1D-BAF9-6FCFD4FF68E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96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93305C-1398-4AC9-B7C9-3F21952D8A1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381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EB74C-CF29-422F-9B7A-BE5F2639E2F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069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91D22-1A09-445B-8A2F-C0FF0AAD013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3450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2ECB-9C6F-4F04-AB40-59F25A8E9A7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83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E2B44-D99B-42D6-A1A7-68BE10A791F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34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49884-9D7C-4FA3-AB6B-988F0B2B183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2580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A5788-239C-4C04-8AF5-EF33279DEE1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2834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B7125-2F75-4CFC-AAD3-13A3C600A2E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374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97DD284-14A3-4218-ABD3-AACEC96C5A7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624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2F04E93-8DF2-4624-9474-848571536A6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72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65C428B-1F09-4EE4-BCE1-920A5F8515C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MS PGothic" pitchFamily="34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eaLnBrk="1" hangingPunct="1"/>
            <a:endParaRPr lang="en-US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1" hangingPunct="1"/>
            <a:endParaRPr lang="en-US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1" hangingPunct="1"/>
            <a:fld id="{6D5B8210-327C-4F02-BE2F-6F83E9F75A22}" type="slidenum"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pPr eaLnBrk="1" hangingPunct="1"/>
              <a:t>‹#›</a:t>
            </a:fld>
            <a:endParaRPr lang="en-US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967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143000" y="-41362"/>
            <a:ext cx="579998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800" dirty="0" smtClean="0">
                <a:solidFill>
                  <a:srgbClr val="00FF00"/>
                </a:solidFill>
              </a:rPr>
              <a:t>Census </a:t>
            </a:r>
            <a:r>
              <a:rPr lang="en-US" sz="4800" dirty="0" err="1">
                <a:solidFill>
                  <a:srgbClr val="00FF00"/>
                </a:solidFill>
              </a:rPr>
              <a:t>vs</a:t>
            </a:r>
            <a:r>
              <a:rPr lang="en-US" sz="4800" dirty="0">
                <a:solidFill>
                  <a:srgbClr val="00FF00"/>
                </a:solidFill>
              </a:rPr>
              <a:t> </a:t>
            </a:r>
            <a:r>
              <a:rPr lang="en-US" sz="4800" dirty="0" smtClean="0">
                <a:solidFill>
                  <a:srgbClr val="00FF00"/>
                </a:solidFill>
              </a:rPr>
              <a:t>Sampling</a:t>
            </a:r>
            <a:endParaRPr lang="en-US" sz="4800" dirty="0">
              <a:solidFill>
                <a:srgbClr val="00FF00"/>
              </a:solidFill>
            </a:endParaRPr>
          </a:p>
        </p:txBody>
      </p:sp>
      <p:graphicFrame>
        <p:nvGraphicFramePr>
          <p:cNvPr id="2105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384870"/>
              </p:ext>
            </p:extLst>
          </p:nvPr>
        </p:nvGraphicFramePr>
        <p:xfrm>
          <a:off x="381000" y="708082"/>
          <a:ext cx="8534400" cy="6163056"/>
        </p:xfrm>
        <a:graphic>
          <a:graphicData uri="http://schemas.openxmlformats.org/drawingml/2006/table">
            <a:tbl>
              <a:tblPr/>
              <a:tblGrid>
                <a:gridCol w="4267200"/>
                <a:gridCol w="4267200"/>
              </a:tblGrid>
              <a:tr h="406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Census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Overview: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Gathers information about every member of a group – called a population.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en-US" sz="2400" dirty="0" smtClean="0">
                          <a:solidFill>
                            <a:srgbClr val="00FFFF"/>
                          </a:solidFill>
                        </a:rPr>
                        <a:t>survey of an entire population 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Advantages: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Reflects the entire population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Disadvantages: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Takes longer to collect data than a sample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More expansive than a sample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Sampling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Overview:</a:t>
                      </a:r>
                    </a:p>
                    <a:p>
                      <a:pPr marL="342900" indent="-342900" eaLnBrk="1" hangingPunct="1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400" dirty="0" smtClean="0">
                          <a:solidFill>
                            <a:srgbClr val="00FFFF"/>
                          </a:solidFill>
                        </a:rPr>
                        <a:t>survey that examines only a portion of the population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Data which can be measured.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Advantages: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Cheaper than census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Quicker than census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Uses less resources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Disadvantages: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Can have sampling bias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May not reflect population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52400" y="152400"/>
            <a:ext cx="872331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800">
                <a:solidFill>
                  <a:srgbClr val="00FF00"/>
                </a:solidFill>
              </a:rPr>
              <a:t>Qualitative vs Quantitative Data</a:t>
            </a:r>
          </a:p>
        </p:txBody>
      </p:sp>
      <p:graphicFrame>
        <p:nvGraphicFramePr>
          <p:cNvPr id="2105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076098"/>
              </p:ext>
            </p:extLst>
          </p:nvPr>
        </p:nvGraphicFramePr>
        <p:xfrm>
          <a:off x="304800" y="1071563"/>
          <a:ext cx="8534400" cy="5797296"/>
        </p:xfrm>
        <a:graphic>
          <a:graphicData uri="http://schemas.openxmlformats.org/drawingml/2006/table">
            <a:tbl>
              <a:tblPr/>
              <a:tblGrid>
                <a:gridCol w="4267200"/>
                <a:gridCol w="4267200"/>
              </a:tblGrid>
              <a:tr h="406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Qualitative (Categorical) Data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Overview: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Deals with descriptions.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Data can be observed but  not measured.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Colors, textures, smells, tastes, appearance, beauty, etc.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Qualitative → Quality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Quantitative (Numerical) Data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Overview: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Deals with numbers.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Data which can be measured.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Length, height, area, volume, weight, speed, time, temperature, humidity, sound levels, cost, members, ages, etc.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Quantitative → Quantity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62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81" name="Group 61"/>
          <p:cNvGraphicFramePr>
            <a:graphicFrameLocks noGrp="1"/>
          </p:cNvGraphicFramePr>
          <p:nvPr/>
        </p:nvGraphicFramePr>
        <p:xfrm>
          <a:off x="304800" y="2794000"/>
          <a:ext cx="8839200" cy="4064000"/>
        </p:xfrm>
        <a:graphic>
          <a:graphicData uri="http://schemas.openxmlformats.org/drawingml/2006/table">
            <a:tbl>
              <a:tblPr/>
              <a:tblGrid>
                <a:gridCol w="4752975"/>
                <a:gridCol w="4086225"/>
              </a:tblGrid>
              <a:tr h="406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Example 1:  Oil Painting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Qualitative data: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*red/green color, gold frame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*smells old and musty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*texture shows brush strokes of oil paint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*peaceful scene of the country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*masterful brush strokes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Example 1:  Oil Painting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Quantitative data: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*picture is 10" by 14”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with frame 14" by 18”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 weighs 8.5 pounds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surface area of painting is 140 sq. in.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*cost $300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182" name="Picture 62" descr="MCj0097543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57200"/>
            <a:ext cx="209708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10" name="Group 42"/>
          <p:cNvGraphicFramePr>
            <a:graphicFrameLocks noGrp="1"/>
          </p:cNvGraphicFramePr>
          <p:nvPr/>
        </p:nvGraphicFramePr>
        <p:xfrm>
          <a:off x="304800" y="3352800"/>
          <a:ext cx="8839200" cy="4064000"/>
        </p:xfrm>
        <a:graphic>
          <a:graphicData uri="http://schemas.openxmlformats.org/drawingml/2006/table">
            <a:tbl>
              <a:tblPr/>
              <a:tblGrid>
                <a:gridCol w="4752975"/>
                <a:gridCol w="4086225"/>
              </a:tblGrid>
              <a:tr h="406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Example 2:  Latte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Qualitative data: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*robust aroma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*frothy appearance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 strong taste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*glass cup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Example 2:  Latte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Quantitative data: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*12 ounces of latte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*serving temperature 150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Lucida Grande" charset="0"/>
                          <a:ea typeface="MS PGothic" pitchFamily="34" charset="-128"/>
                        </a:rPr>
                        <a:t>0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F.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*serving cup 7 inches in height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*cost $4.95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211" name="Picture 43" descr="MPj0438740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28600"/>
            <a:ext cx="38290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52" name="Group 36"/>
          <p:cNvGraphicFramePr>
            <a:graphicFrameLocks noGrp="1"/>
          </p:cNvGraphicFramePr>
          <p:nvPr/>
        </p:nvGraphicFramePr>
        <p:xfrm>
          <a:off x="304800" y="2514600"/>
          <a:ext cx="8839200" cy="4064000"/>
        </p:xfrm>
        <a:graphic>
          <a:graphicData uri="http://schemas.openxmlformats.org/drawingml/2006/table">
            <a:tbl>
              <a:tblPr/>
              <a:tblGrid>
                <a:gridCol w="4752975"/>
                <a:gridCol w="4086225"/>
              </a:tblGrid>
              <a:tr h="406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Example 3:  Freshman Class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Qualitative data: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*friendly demeanors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*civic minded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*environmentalists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*positive school spirit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Example 3:  Freshman Class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Quantitative data: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*672 students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*394 girls, 278 boys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*68% on honor roll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FF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    *150 students accelerated in   mathematics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9254" name="Picture 38" descr="MPj0438634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33400"/>
            <a:ext cx="6400800" cy="268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400050" y="304800"/>
            <a:ext cx="744915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800" dirty="0" smtClean="0">
                <a:solidFill>
                  <a:srgbClr val="00FF00"/>
                </a:solidFill>
              </a:rPr>
              <a:t>Types of Quantitative Data</a:t>
            </a:r>
            <a:endParaRPr lang="en-US" sz="4800" dirty="0">
              <a:solidFill>
                <a:srgbClr val="00FF00"/>
              </a:solidFill>
            </a:endParaRP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381000" y="13716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Discrete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:  Reflects a number obtained by counting—no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ea typeface="+mn-ea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decimal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Eg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: number of siblings, number of students in the class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800" dirty="0">
              <a:solidFill>
                <a:schemeClr val="bg1"/>
              </a:solidFill>
              <a:latin typeface="Times New Roman" pitchFamily="18" charset="0"/>
              <a:ea typeface="+mn-ea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Continuous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: Reflects a measurement; the number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+mn-ea"/>
              </a:rPr>
              <a:t>     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  decimal places depends on the precision of the measuring device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E.g. persons height, time in a race.</a:t>
            </a:r>
            <a:endParaRPr lang="en-US" dirty="0">
              <a:solidFill>
                <a:schemeClr val="bg1"/>
              </a:solidFill>
              <a:latin typeface="Times New Roman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188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Tables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66"/>
                </a:solidFill>
              </a:rPr>
              <a:t>Statistics</a:t>
            </a:r>
            <a:r>
              <a:rPr lang="en-US" dirty="0"/>
              <a:t> deals with collecting, organizing, and interpreting data.  </a:t>
            </a:r>
            <a:r>
              <a:rPr lang="en-US" b="1" u="sng" dirty="0">
                <a:solidFill>
                  <a:srgbClr val="FF0066"/>
                </a:solidFill>
              </a:rPr>
              <a:t>Data</a:t>
            </a:r>
            <a:r>
              <a:rPr lang="en-US" dirty="0"/>
              <a:t> are pieces of information, which are often numerical.  Large amounts of data can be organized in a frequency table.  A </a:t>
            </a:r>
            <a:r>
              <a:rPr lang="en-US" b="1" u="sng" dirty="0">
                <a:solidFill>
                  <a:srgbClr val="FF0066"/>
                </a:solidFill>
              </a:rPr>
              <a:t>frequency table</a:t>
            </a:r>
            <a:r>
              <a:rPr lang="en-US" dirty="0"/>
              <a:t> </a:t>
            </a:r>
            <a:r>
              <a:rPr lang="en-US" dirty="0" smtClean="0">
                <a:latin typeface="Verdana" pitchFamily="34" charset="0"/>
              </a:rPr>
              <a:t>tells </a:t>
            </a:r>
            <a:r>
              <a:rPr lang="en-US" dirty="0">
                <a:latin typeface="Verdana" pitchFamily="34" charset="0"/>
              </a:rPr>
              <a:t>the number of times an event, category, or group occurs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41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5562600" cy="1066800"/>
          </a:xfrm>
        </p:spPr>
        <p:txBody>
          <a:bodyPr/>
          <a:lstStyle/>
          <a:p>
            <a:r>
              <a:rPr lang="en-US" sz="3200" b="1">
                <a:solidFill>
                  <a:srgbClr val="008000"/>
                </a:solidFill>
              </a:rPr>
              <a:t>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551781"/>
            <a:ext cx="2971800" cy="28194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     </a:t>
            </a:r>
            <a:r>
              <a:rPr lang="en-US" sz="2400" u="sng" dirty="0"/>
              <a:t>Winning Score</a:t>
            </a:r>
          </a:p>
          <a:p>
            <a:r>
              <a:rPr lang="en-US" sz="2400" dirty="0"/>
              <a:t>1</a:t>
            </a:r>
            <a:r>
              <a:rPr lang="en-US" sz="2400" dirty="0" smtClean="0"/>
              <a:t>   2   1   4   </a:t>
            </a:r>
            <a:endParaRPr lang="en-US" sz="2400" dirty="0"/>
          </a:p>
          <a:p>
            <a:r>
              <a:rPr lang="en-US" sz="2400" dirty="0" smtClean="0"/>
              <a:t>3   3    2  4</a:t>
            </a:r>
            <a:endParaRPr lang="en-US" sz="2400" dirty="0"/>
          </a:p>
          <a:p>
            <a:r>
              <a:rPr lang="en-US" sz="2400" dirty="0" smtClean="0"/>
              <a:t>3   2   3   2</a:t>
            </a:r>
            <a:endParaRPr lang="en-US" sz="2400" dirty="0"/>
          </a:p>
          <a:p>
            <a:r>
              <a:rPr lang="en-US" sz="2400" dirty="0" smtClean="0"/>
              <a:t>1   2   4   3</a:t>
            </a:r>
            <a:endParaRPr lang="en-US" sz="2400" dirty="0"/>
          </a:p>
          <a:p>
            <a:r>
              <a:rPr lang="en-US" sz="2400" dirty="0" smtClean="0"/>
              <a:t>4   3   3   2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225" name="Group 33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288867908"/>
                  </p:ext>
                </p:extLst>
              </p:nvPr>
            </p:nvGraphicFramePr>
            <p:xfrm>
              <a:off x="3505200" y="1246981"/>
              <a:ext cx="5257800" cy="5503101"/>
            </p:xfrm>
            <a:graphic>
              <a:graphicData uri="http://schemas.openxmlformats.org/drawingml/2006/table">
                <a:tbl>
                  <a:tblPr/>
                  <a:tblGrid>
                    <a:gridCol w="1752600"/>
                    <a:gridCol w="1752600"/>
                    <a:gridCol w="1752600"/>
                  </a:tblGrid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Scores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Tally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Frequency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64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kumimoji="0" lang="en-US" sz="2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kumimoji="0" lang="en-AU" sz="2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225" name="Group 33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288867908"/>
                  </p:ext>
                </p:extLst>
              </p:nvPr>
            </p:nvGraphicFramePr>
            <p:xfrm>
              <a:off x="3505200" y="1246981"/>
              <a:ext cx="5257800" cy="5503101"/>
            </p:xfrm>
            <a:graphic>
              <a:graphicData uri="http://schemas.openxmlformats.org/drawingml/2006/table">
                <a:tbl>
                  <a:tblPr/>
                  <a:tblGrid>
                    <a:gridCol w="1752600"/>
                    <a:gridCol w="1752600"/>
                    <a:gridCol w="1752600"/>
                  </a:tblGrid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Scores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Tally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Frequency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64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7713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100348" t="-468125" r="-102091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20</a:t>
                          </a: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226" name="Text Box 34"/>
          <p:cNvSpPr txBox="1">
            <a:spLocks noChangeArrowheads="1"/>
          </p:cNvSpPr>
          <p:nvPr/>
        </p:nvSpPr>
        <p:spPr bwMode="auto">
          <a:xfrm>
            <a:off x="3997872" y="2313781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Arial" charset="0"/>
                <a:ea typeface="+mn-ea"/>
              </a:rPr>
              <a:t>1</a:t>
            </a:r>
            <a:endParaRPr lang="en-US" dirty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27" name="Text Box 35"/>
          <p:cNvSpPr txBox="1">
            <a:spLocks noChangeArrowheads="1"/>
          </p:cNvSpPr>
          <p:nvPr/>
        </p:nvSpPr>
        <p:spPr bwMode="auto">
          <a:xfrm>
            <a:off x="3997872" y="3304381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  <a:ea typeface="+mn-ea"/>
              </a:rPr>
              <a:t>2</a:t>
            </a:r>
          </a:p>
        </p:txBody>
      </p:sp>
      <p:sp>
        <p:nvSpPr>
          <p:cNvPr id="8228" name="Text Box 36"/>
          <p:cNvSpPr txBox="1">
            <a:spLocks noChangeArrowheads="1"/>
          </p:cNvSpPr>
          <p:nvPr/>
        </p:nvSpPr>
        <p:spPr bwMode="auto">
          <a:xfrm>
            <a:off x="3984734" y="4142581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  <a:ea typeface="+mn-ea"/>
              </a:rPr>
              <a:t>3</a:t>
            </a:r>
          </a:p>
        </p:txBody>
      </p:sp>
      <p:sp>
        <p:nvSpPr>
          <p:cNvPr id="8229" name="Text Box 37"/>
          <p:cNvSpPr txBox="1">
            <a:spLocks noChangeArrowheads="1"/>
          </p:cNvSpPr>
          <p:nvPr/>
        </p:nvSpPr>
        <p:spPr bwMode="auto">
          <a:xfrm>
            <a:off x="3962400" y="5056981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  <a:ea typeface="+mn-ea"/>
              </a:rPr>
              <a:t>4</a:t>
            </a:r>
          </a:p>
        </p:txBody>
      </p:sp>
      <p:sp>
        <p:nvSpPr>
          <p:cNvPr id="8230" name="Line 38"/>
          <p:cNvSpPr>
            <a:spLocks noChangeShapeType="1"/>
          </p:cNvSpPr>
          <p:nvPr/>
        </p:nvSpPr>
        <p:spPr bwMode="auto">
          <a:xfrm>
            <a:off x="5410200" y="23137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31" name="Line 39"/>
          <p:cNvSpPr>
            <a:spLocks noChangeShapeType="1"/>
          </p:cNvSpPr>
          <p:nvPr/>
        </p:nvSpPr>
        <p:spPr bwMode="auto">
          <a:xfrm>
            <a:off x="5562600" y="23137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32" name="Line 40"/>
          <p:cNvSpPr>
            <a:spLocks noChangeShapeType="1"/>
          </p:cNvSpPr>
          <p:nvPr/>
        </p:nvSpPr>
        <p:spPr bwMode="auto">
          <a:xfrm>
            <a:off x="5715000" y="23137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36" name="Line 44"/>
          <p:cNvSpPr>
            <a:spLocks noChangeShapeType="1"/>
          </p:cNvSpPr>
          <p:nvPr/>
        </p:nvSpPr>
        <p:spPr bwMode="auto">
          <a:xfrm>
            <a:off x="5410200" y="3228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37" name="Line 45"/>
          <p:cNvSpPr>
            <a:spLocks noChangeShapeType="1"/>
          </p:cNvSpPr>
          <p:nvPr/>
        </p:nvSpPr>
        <p:spPr bwMode="auto">
          <a:xfrm>
            <a:off x="5562600" y="3228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38" name="Line 46"/>
          <p:cNvSpPr>
            <a:spLocks noChangeShapeType="1"/>
          </p:cNvSpPr>
          <p:nvPr/>
        </p:nvSpPr>
        <p:spPr bwMode="auto">
          <a:xfrm>
            <a:off x="5715000" y="3228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39" name="Line 47"/>
          <p:cNvSpPr>
            <a:spLocks noChangeShapeType="1"/>
          </p:cNvSpPr>
          <p:nvPr/>
        </p:nvSpPr>
        <p:spPr bwMode="auto">
          <a:xfrm>
            <a:off x="5867400" y="3228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40" name="Line 48"/>
          <p:cNvSpPr>
            <a:spLocks noChangeShapeType="1"/>
          </p:cNvSpPr>
          <p:nvPr/>
        </p:nvSpPr>
        <p:spPr bwMode="auto">
          <a:xfrm>
            <a:off x="6248400" y="3228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44" name="Line 52"/>
          <p:cNvSpPr>
            <a:spLocks noChangeShapeType="1"/>
          </p:cNvSpPr>
          <p:nvPr/>
        </p:nvSpPr>
        <p:spPr bwMode="auto">
          <a:xfrm>
            <a:off x="5334000" y="3304381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45" name="Line 53"/>
          <p:cNvSpPr>
            <a:spLocks noChangeShapeType="1"/>
          </p:cNvSpPr>
          <p:nvPr/>
        </p:nvSpPr>
        <p:spPr bwMode="auto">
          <a:xfrm>
            <a:off x="5410200" y="41425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46" name="Line 54"/>
          <p:cNvSpPr>
            <a:spLocks noChangeShapeType="1"/>
          </p:cNvSpPr>
          <p:nvPr/>
        </p:nvSpPr>
        <p:spPr bwMode="auto">
          <a:xfrm>
            <a:off x="5562600" y="41425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47" name="Line 55"/>
          <p:cNvSpPr>
            <a:spLocks noChangeShapeType="1"/>
          </p:cNvSpPr>
          <p:nvPr/>
        </p:nvSpPr>
        <p:spPr bwMode="auto">
          <a:xfrm>
            <a:off x="5715000" y="41425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48" name="Line 56"/>
          <p:cNvSpPr>
            <a:spLocks noChangeShapeType="1"/>
          </p:cNvSpPr>
          <p:nvPr/>
        </p:nvSpPr>
        <p:spPr bwMode="auto">
          <a:xfrm>
            <a:off x="5410200" y="5133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49" name="Line 57"/>
          <p:cNvSpPr>
            <a:spLocks noChangeShapeType="1"/>
          </p:cNvSpPr>
          <p:nvPr/>
        </p:nvSpPr>
        <p:spPr bwMode="auto">
          <a:xfrm>
            <a:off x="5562600" y="5133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50" name="Text Box 58"/>
          <p:cNvSpPr txBox="1">
            <a:spLocks noChangeArrowheads="1"/>
          </p:cNvSpPr>
          <p:nvPr/>
        </p:nvSpPr>
        <p:spPr bwMode="auto">
          <a:xfrm>
            <a:off x="7543800" y="2313781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Arial" charset="0"/>
                <a:ea typeface="+mn-ea"/>
              </a:rPr>
              <a:t>3</a:t>
            </a:r>
            <a:endParaRPr lang="en-US" dirty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52" name="Text Box 60"/>
          <p:cNvSpPr txBox="1">
            <a:spLocks noChangeArrowheads="1"/>
          </p:cNvSpPr>
          <p:nvPr/>
        </p:nvSpPr>
        <p:spPr bwMode="auto">
          <a:xfrm>
            <a:off x="7543800" y="3228181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000000"/>
                </a:solidFill>
                <a:latin typeface="Arial" charset="0"/>
                <a:ea typeface="+mn-ea"/>
              </a:rPr>
              <a:t>6</a:t>
            </a:r>
            <a:endParaRPr lang="en-US" dirty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8253" name="Text Box 61"/>
          <p:cNvSpPr txBox="1">
            <a:spLocks noChangeArrowheads="1"/>
          </p:cNvSpPr>
          <p:nvPr/>
        </p:nvSpPr>
        <p:spPr bwMode="auto">
          <a:xfrm>
            <a:off x="7543800" y="4142581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  <a:ea typeface="+mn-ea"/>
              </a:rPr>
              <a:t>7</a:t>
            </a:r>
          </a:p>
        </p:txBody>
      </p:sp>
      <p:sp>
        <p:nvSpPr>
          <p:cNvPr id="8254" name="Text Box 62"/>
          <p:cNvSpPr txBox="1">
            <a:spLocks noChangeArrowheads="1"/>
          </p:cNvSpPr>
          <p:nvPr/>
        </p:nvSpPr>
        <p:spPr bwMode="auto">
          <a:xfrm>
            <a:off x="7467600" y="5056981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  <a:ea typeface="+mn-ea"/>
              </a:rPr>
              <a:t>4</a:t>
            </a:r>
          </a:p>
        </p:txBody>
      </p:sp>
      <p:sp>
        <p:nvSpPr>
          <p:cNvPr id="33" name="Line 47"/>
          <p:cNvSpPr>
            <a:spLocks noChangeShapeType="1"/>
          </p:cNvSpPr>
          <p:nvPr/>
        </p:nvSpPr>
        <p:spPr bwMode="auto">
          <a:xfrm>
            <a:off x="5867400" y="41425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34" name="Line 48"/>
          <p:cNvSpPr>
            <a:spLocks noChangeShapeType="1"/>
          </p:cNvSpPr>
          <p:nvPr/>
        </p:nvSpPr>
        <p:spPr bwMode="auto">
          <a:xfrm>
            <a:off x="6248400" y="41425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35" name="Line 52"/>
          <p:cNvSpPr>
            <a:spLocks noChangeShapeType="1"/>
          </p:cNvSpPr>
          <p:nvPr/>
        </p:nvSpPr>
        <p:spPr bwMode="auto">
          <a:xfrm>
            <a:off x="5334000" y="4218781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36" name="Line 48"/>
          <p:cNvSpPr>
            <a:spLocks noChangeShapeType="1"/>
          </p:cNvSpPr>
          <p:nvPr/>
        </p:nvSpPr>
        <p:spPr bwMode="auto">
          <a:xfrm>
            <a:off x="6400800" y="41425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37" name="Line 56"/>
          <p:cNvSpPr>
            <a:spLocks noChangeShapeType="1"/>
          </p:cNvSpPr>
          <p:nvPr/>
        </p:nvSpPr>
        <p:spPr bwMode="auto">
          <a:xfrm>
            <a:off x="5715000" y="5133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38" name="Line 57"/>
          <p:cNvSpPr>
            <a:spLocks noChangeShapeType="1"/>
          </p:cNvSpPr>
          <p:nvPr/>
        </p:nvSpPr>
        <p:spPr bwMode="auto">
          <a:xfrm>
            <a:off x="5867400" y="513318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481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8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6" grpId="0"/>
      <p:bldP spid="8227" grpId="0"/>
      <p:bldP spid="8228" grpId="0"/>
      <p:bldP spid="8229" grpId="0"/>
      <p:bldP spid="8230" grpId="0" animBg="1"/>
      <p:bldP spid="8231" grpId="0" animBg="1"/>
      <p:bldP spid="8232" grpId="0" animBg="1"/>
      <p:bldP spid="8236" grpId="0" animBg="1"/>
      <p:bldP spid="8237" grpId="0" animBg="1"/>
      <p:bldP spid="8238" grpId="0" animBg="1"/>
      <p:bldP spid="8239" grpId="0" animBg="1"/>
      <p:bldP spid="8240" grpId="0" animBg="1"/>
      <p:bldP spid="8244" grpId="0" animBg="1"/>
      <p:bldP spid="8245" grpId="0" animBg="1"/>
      <p:bldP spid="8246" grpId="0" animBg="1"/>
      <p:bldP spid="8247" grpId="0" animBg="1"/>
      <p:bldP spid="8248" grpId="0" animBg="1"/>
      <p:bldP spid="8249" grpId="0" animBg="1"/>
      <p:bldP spid="8250" grpId="0"/>
      <p:bldP spid="8252" grpId="0"/>
      <p:bldP spid="8253" grpId="0"/>
      <p:bldP spid="8254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-381000" y="0"/>
            <a:ext cx="4209393" cy="1066800"/>
          </a:xfrm>
        </p:spPr>
        <p:txBody>
          <a:bodyPr/>
          <a:lstStyle/>
          <a:p>
            <a:r>
              <a:rPr lang="en-US" sz="3200" b="1" dirty="0">
                <a:solidFill>
                  <a:srgbClr val="008000"/>
                </a:solidFill>
              </a:rPr>
              <a:t>Example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45025"/>
            <a:ext cx="3124200" cy="41910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/>
              <a:t>     </a:t>
            </a:r>
            <a:r>
              <a:rPr lang="en-US" sz="2400" u="sng"/>
              <a:t>Favorite Music</a:t>
            </a:r>
          </a:p>
          <a:p>
            <a:r>
              <a:rPr lang="en-US" sz="2400"/>
              <a:t>P   R   F   P   F   </a:t>
            </a:r>
          </a:p>
          <a:p>
            <a:r>
              <a:rPr lang="en-US" sz="2400"/>
              <a:t>F   R   F   P   P</a:t>
            </a:r>
          </a:p>
          <a:p>
            <a:r>
              <a:rPr lang="en-US" sz="2400"/>
              <a:t>F   P   F   C   P</a:t>
            </a:r>
          </a:p>
          <a:p>
            <a:r>
              <a:rPr lang="en-US" sz="2400"/>
              <a:t>C   J   R   R   F</a:t>
            </a:r>
          </a:p>
          <a:p>
            <a:r>
              <a:rPr lang="en-US" sz="2400"/>
              <a:t>J    R   P   P   F</a:t>
            </a:r>
          </a:p>
          <a:p>
            <a:r>
              <a:rPr lang="en-US" sz="2000"/>
              <a:t>R= rock         J= jazz</a:t>
            </a:r>
          </a:p>
          <a:p>
            <a:r>
              <a:rPr lang="en-US" sz="2000"/>
              <a:t>C= country    P= rap</a:t>
            </a:r>
          </a:p>
          <a:p>
            <a:r>
              <a:rPr lang="en-US" sz="2000"/>
              <a:t>F= top 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304" name="Group 64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916264702"/>
                  </p:ext>
                </p:extLst>
              </p:nvPr>
            </p:nvGraphicFramePr>
            <p:xfrm>
              <a:off x="3505200" y="306825"/>
              <a:ext cx="5257800" cy="6407976"/>
            </p:xfrm>
            <a:graphic>
              <a:graphicData uri="http://schemas.openxmlformats.org/drawingml/2006/table">
                <a:tbl>
                  <a:tblPr/>
                  <a:tblGrid>
                    <a:gridCol w="1752600"/>
                    <a:gridCol w="1752600"/>
                    <a:gridCol w="1752600"/>
                  </a:tblGrid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Music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Tally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Frequency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64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kumimoji="0" lang="en-US" sz="2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kumimoji="0" lang="en-AU" sz="2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304" name="Group 64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916264702"/>
                  </p:ext>
                </p:extLst>
              </p:nvPr>
            </p:nvGraphicFramePr>
            <p:xfrm>
              <a:off x="3505200" y="306825"/>
              <a:ext cx="5257800" cy="6407976"/>
            </p:xfrm>
            <a:graphic>
              <a:graphicData uri="http://schemas.openxmlformats.org/drawingml/2006/table">
                <a:tbl>
                  <a:tblPr/>
                  <a:tblGrid>
                    <a:gridCol w="1752600"/>
                    <a:gridCol w="1752600"/>
                    <a:gridCol w="1752600"/>
                  </a:tblGrid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Music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Tally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Frequency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64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04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7713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100348" t="-561875" r="-102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25</a:t>
                          </a:r>
                          <a:endParaRPr kumimoji="0" lang="en-US" sz="24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270" name="Text Box 30"/>
          <p:cNvSpPr txBox="1">
            <a:spLocks noChangeArrowheads="1"/>
          </p:cNvSpPr>
          <p:nvPr/>
        </p:nvSpPr>
        <p:spPr bwMode="auto">
          <a:xfrm>
            <a:off x="3810000" y="13736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Rock</a:t>
            </a:r>
          </a:p>
        </p:txBody>
      </p:sp>
      <p:sp>
        <p:nvSpPr>
          <p:cNvPr id="10271" name="Text Box 31"/>
          <p:cNvSpPr txBox="1">
            <a:spLocks noChangeArrowheads="1"/>
          </p:cNvSpPr>
          <p:nvPr/>
        </p:nvSpPr>
        <p:spPr bwMode="auto">
          <a:xfrm>
            <a:off x="3810000" y="23642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Jazz</a:t>
            </a:r>
          </a:p>
        </p:txBody>
      </p:sp>
      <p:sp>
        <p:nvSpPr>
          <p:cNvPr id="10272" name="Text Box 32"/>
          <p:cNvSpPr txBox="1">
            <a:spLocks noChangeArrowheads="1"/>
          </p:cNvSpPr>
          <p:nvPr/>
        </p:nvSpPr>
        <p:spPr bwMode="auto">
          <a:xfrm>
            <a:off x="3733800" y="32024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Country</a:t>
            </a:r>
          </a:p>
        </p:txBody>
      </p:sp>
      <p:sp>
        <p:nvSpPr>
          <p:cNvPr id="10273" name="Text Box 33"/>
          <p:cNvSpPr txBox="1">
            <a:spLocks noChangeArrowheads="1"/>
          </p:cNvSpPr>
          <p:nvPr/>
        </p:nvSpPr>
        <p:spPr bwMode="auto">
          <a:xfrm>
            <a:off x="3810000" y="41168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Top 40</a:t>
            </a:r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>
            <a:off x="5410200" y="1373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5562600" y="1373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>
            <a:off x="5715000" y="1373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>
            <a:off x="5867400" y="1373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>
            <a:off x="5334000" y="1449825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>
            <a:off x="5410200" y="2288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>
            <a:off x="5562600" y="2288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89" name="Line 49"/>
          <p:cNvSpPr>
            <a:spLocks noChangeShapeType="1"/>
          </p:cNvSpPr>
          <p:nvPr/>
        </p:nvSpPr>
        <p:spPr bwMode="auto">
          <a:xfrm>
            <a:off x="5410200" y="3202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90" name="Line 50"/>
          <p:cNvSpPr>
            <a:spLocks noChangeShapeType="1"/>
          </p:cNvSpPr>
          <p:nvPr/>
        </p:nvSpPr>
        <p:spPr bwMode="auto">
          <a:xfrm>
            <a:off x="5562600" y="3202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92" name="Line 52"/>
          <p:cNvSpPr>
            <a:spLocks noChangeShapeType="1"/>
          </p:cNvSpPr>
          <p:nvPr/>
        </p:nvSpPr>
        <p:spPr bwMode="auto">
          <a:xfrm>
            <a:off x="5410200" y="419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93" name="Line 53"/>
          <p:cNvSpPr>
            <a:spLocks noChangeShapeType="1"/>
          </p:cNvSpPr>
          <p:nvPr/>
        </p:nvSpPr>
        <p:spPr bwMode="auto">
          <a:xfrm>
            <a:off x="5562600" y="419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294" name="Text Box 54"/>
          <p:cNvSpPr txBox="1">
            <a:spLocks noChangeArrowheads="1"/>
          </p:cNvSpPr>
          <p:nvPr/>
        </p:nvSpPr>
        <p:spPr bwMode="auto">
          <a:xfrm>
            <a:off x="7543800" y="137362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5</a:t>
            </a:r>
          </a:p>
        </p:txBody>
      </p:sp>
      <p:sp>
        <p:nvSpPr>
          <p:cNvPr id="10295" name="Text Box 55"/>
          <p:cNvSpPr txBox="1">
            <a:spLocks noChangeArrowheads="1"/>
          </p:cNvSpPr>
          <p:nvPr/>
        </p:nvSpPr>
        <p:spPr bwMode="auto">
          <a:xfrm>
            <a:off x="7543800" y="228802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2</a:t>
            </a:r>
          </a:p>
        </p:txBody>
      </p:sp>
      <p:sp>
        <p:nvSpPr>
          <p:cNvPr id="10296" name="Text Box 56"/>
          <p:cNvSpPr txBox="1">
            <a:spLocks noChangeArrowheads="1"/>
          </p:cNvSpPr>
          <p:nvPr/>
        </p:nvSpPr>
        <p:spPr bwMode="auto">
          <a:xfrm>
            <a:off x="7543800" y="320242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2</a:t>
            </a:r>
          </a:p>
        </p:txBody>
      </p:sp>
      <p:sp>
        <p:nvSpPr>
          <p:cNvPr id="10297" name="Text Box 57"/>
          <p:cNvSpPr txBox="1">
            <a:spLocks noChangeArrowheads="1"/>
          </p:cNvSpPr>
          <p:nvPr/>
        </p:nvSpPr>
        <p:spPr bwMode="auto">
          <a:xfrm>
            <a:off x="7467600" y="411682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8</a:t>
            </a:r>
          </a:p>
        </p:txBody>
      </p:sp>
      <p:sp>
        <p:nvSpPr>
          <p:cNvPr id="10305" name="Text Box 65"/>
          <p:cNvSpPr txBox="1">
            <a:spLocks noChangeArrowheads="1"/>
          </p:cNvSpPr>
          <p:nvPr/>
        </p:nvSpPr>
        <p:spPr bwMode="auto">
          <a:xfrm>
            <a:off x="3810000" y="50312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Rap</a:t>
            </a:r>
          </a:p>
        </p:txBody>
      </p:sp>
      <p:sp>
        <p:nvSpPr>
          <p:cNvPr id="10306" name="Line 66"/>
          <p:cNvSpPr>
            <a:spLocks noChangeShapeType="1"/>
          </p:cNvSpPr>
          <p:nvPr/>
        </p:nvSpPr>
        <p:spPr bwMode="auto">
          <a:xfrm>
            <a:off x="5715000" y="419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07" name="Line 67"/>
          <p:cNvSpPr>
            <a:spLocks noChangeShapeType="1"/>
          </p:cNvSpPr>
          <p:nvPr/>
        </p:nvSpPr>
        <p:spPr bwMode="auto">
          <a:xfrm>
            <a:off x="5867400" y="419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08" name="Line 68"/>
          <p:cNvSpPr>
            <a:spLocks noChangeShapeType="1"/>
          </p:cNvSpPr>
          <p:nvPr/>
        </p:nvSpPr>
        <p:spPr bwMode="auto">
          <a:xfrm>
            <a:off x="6324600" y="419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09" name="Line 69"/>
          <p:cNvSpPr>
            <a:spLocks noChangeShapeType="1"/>
          </p:cNvSpPr>
          <p:nvPr/>
        </p:nvSpPr>
        <p:spPr bwMode="auto">
          <a:xfrm>
            <a:off x="6477000" y="419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10" name="Line 70"/>
          <p:cNvSpPr>
            <a:spLocks noChangeShapeType="1"/>
          </p:cNvSpPr>
          <p:nvPr/>
        </p:nvSpPr>
        <p:spPr bwMode="auto">
          <a:xfrm>
            <a:off x="6629400" y="4193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11" name="Line 71"/>
          <p:cNvSpPr>
            <a:spLocks noChangeShapeType="1"/>
          </p:cNvSpPr>
          <p:nvPr/>
        </p:nvSpPr>
        <p:spPr bwMode="auto">
          <a:xfrm>
            <a:off x="5334000" y="4269225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0" name="Text Box 80"/>
          <p:cNvSpPr txBox="1">
            <a:spLocks noChangeArrowheads="1"/>
          </p:cNvSpPr>
          <p:nvPr/>
        </p:nvSpPr>
        <p:spPr bwMode="auto">
          <a:xfrm>
            <a:off x="7467600" y="503122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8</a:t>
            </a:r>
          </a:p>
        </p:txBody>
      </p:sp>
      <p:sp>
        <p:nvSpPr>
          <p:cNvPr id="10321" name="Line 81"/>
          <p:cNvSpPr>
            <a:spLocks noChangeShapeType="1"/>
          </p:cNvSpPr>
          <p:nvPr/>
        </p:nvSpPr>
        <p:spPr bwMode="auto">
          <a:xfrm>
            <a:off x="5410200" y="510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2" name="Line 82"/>
          <p:cNvSpPr>
            <a:spLocks noChangeShapeType="1"/>
          </p:cNvSpPr>
          <p:nvPr/>
        </p:nvSpPr>
        <p:spPr bwMode="auto">
          <a:xfrm>
            <a:off x="5562600" y="510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3" name="Line 83"/>
          <p:cNvSpPr>
            <a:spLocks noChangeShapeType="1"/>
          </p:cNvSpPr>
          <p:nvPr/>
        </p:nvSpPr>
        <p:spPr bwMode="auto">
          <a:xfrm>
            <a:off x="5715000" y="510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4" name="Line 84"/>
          <p:cNvSpPr>
            <a:spLocks noChangeShapeType="1"/>
          </p:cNvSpPr>
          <p:nvPr/>
        </p:nvSpPr>
        <p:spPr bwMode="auto">
          <a:xfrm>
            <a:off x="5867400" y="510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5" name="Line 85"/>
          <p:cNvSpPr>
            <a:spLocks noChangeShapeType="1"/>
          </p:cNvSpPr>
          <p:nvPr/>
        </p:nvSpPr>
        <p:spPr bwMode="auto">
          <a:xfrm>
            <a:off x="6324600" y="510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6" name="Line 86"/>
          <p:cNvSpPr>
            <a:spLocks noChangeShapeType="1"/>
          </p:cNvSpPr>
          <p:nvPr/>
        </p:nvSpPr>
        <p:spPr bwMode="auto">
          <a:xfrm>
            <a:off x="6477000" y="510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7" name="Line 87"/>
          <p:cNvSpPr>
            <a:spLocks noChangeShapeType="1"/>
          </p:cNvSpPr>
          <p:nvPr/>
        </p:nvSpPr>
        <p:spPr bwMode="auto">
          <a:xfrm>
            <a:off x="6629400" y="510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28" name="Line 88"/>
          <p:cNvSpPr>
            <a:spLocks noChangeShapeType="1"/>
          </p:cNvSpPr>
          <p:nvPr/>
        </p:nvSpPr>
        <p:spPr bwMode="auto">
          <a:xfrm>
            <a:off x="5334000" y="5183625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664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03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0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0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1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" grpId="0"/>
      <p:bldP spid="10271" grpId="0"/>
      <p:bldP spid="10272" grpId="0"/>
      <p:bldP spid="10273" grpId="0"/>
      <p:bldP spid="10274" grpId="0" animBg="1"/>
      <p:bldP spid="10275" grpId="0" animBg="1"/>
      <p:bldP spid="10276" grpId="0" animBg="1"/>
      <p:bldP spid="10277" grpId="0" animBg="1"/>
      <p:bldP spid="10279" grpId="0" animBg="1"/>
      <p:bldP spid="10280" grpId="0" animBg="1"/>
      <p:bldP spid="10281" grpId="0" animBg="1"/>
      <p:bldP spid="10289" grpId="0" animBg="1"/>
      <p:bldP spid="10290" grpId="0" animBg="1"/>
      <p:bldP spid="10292" grpId="0" animBg="1"/>
      <p:bldP spid="10293" grpId="0" animBg="1"/>
      <p:bldP spid="10294" grpId="0"/>
      <p:bldP spid="10295" grpId="0"/>
      <p:bldP spid="10296" grpId="0"/>
      <p:bldP spid="10297" grpId="0"/>
      <p:bldP spid="10305" grpId="0"/>
      <p:bldP spid="10306" grpId="0" animBg="1"/>
      <p:bldP spid="10307" grpId="0" animBg="1"/>
      <p:bldP spid="10308" grpId="0" animBg="1"/>
      <p:bldP spid="10309" grpId="0" animBg="1"/>
      <p:bldP spid="10310" grpId="0" animBg="1"/>
      <p:bldP spid="10311" grpId="0" animBg="1"/>
      <p:bldP spid="10320" grpId="0"/>
      <p:bldP spid="10321" grpId="0" animBg="1"/>
      <p:bldP spid="10322" grpId="0" animBg="1"/>
      <p:bldP spid="10323" grpId="0" animBg="1"/>
      <p:bldP spid="10324" grpId="0" animBg="1"/>
      <p:bldP spid="10325" grpId="0" animBg="1"/>
      <p:bldP spid="10326" grpId="0" animBg="1"/>
      <p:bldP spid="10327" grpId="0" animBg="1"/>
      <p:bldP spid="103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52400"/>
            <a:ext cx="8229600" cy="1143000"/>
          </a:xfrm>
        </p:spPr>
        <p:txBody>
          <a:bodyPr/>
          <a:lstStyle/>
          <a:p>
            <a:r>
              <a:rPr lang="en-US" sz="4000" dirty="0"/>
              <a:t>Frequency </a:t>
            </a:r>
            <a:r>
              <a:rPr lang="en-US" sz="4000" dirty="0" smtClean="0"/>
              <a:t>Tables - Words </a:t>
            </a:r>
            <a:r>
              <a:rPr lang="en-US" sz="4000" dirty="0"/>
              <a:t>to Know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29" name="Group 3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88004970"/>
                  </p:ext>
                </p:extLst>
              </p:nvPr>
            </p:nvGraphicFramePr>
            <p:xfrm>
              <a:off x="4152900" y="986280"/>
              <a:ext cx="4724400" cy="5772913"/>
            </p:xfrm>
            <a:graphic>
              <a:graphicData uri="http://schemas.openxmlformats.org/drawingml/2006/table">
                <a:tbl>
                  <a:tblPr/>
                  <a:tblGrid>
                    <a:gridCol w="1574800"/>
                    <a:gridCol w="1066800"/>
                    <a:gridCol w="2082800"/>
                  </a:tblGrid>
                  <a:tr h="9302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Price $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Tally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Frequency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286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1-25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302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26-50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286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51-75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7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302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76-100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13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302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kumimoji="0" lang="en-US" sz="28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kumimoji="0" lang="en-AU" sz="28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kumimoji="0" lang="en-US" sz="2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129" name="Group 3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88004970"/>
                  </p:ext>
                </p:extLst>
              </p:nvPr>
            </p:nvGraphicFramePr>
            <p:xfrm>
              <a:off x="4152900" y="986280"/>
              <a:ext cx="4724400" cy="5772913"/>
            </p:xfrm>
            <a:graphic>
              <a:graphicData uri="http://schemas.openxmlformats.org/drawingml/2006/table">
                <a:tbl>
                  <a:tblPr/>
                  <a:tblGrid>
                    <a:gridCol w="1574800"/>
                    <a:gridCol w="1066800"/>
                    <a:gridCol w="2082800"/>
                  </a:tblGrid>
                  <a:tr h="9302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Price $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Tally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Frequency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286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1-25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302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26-50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286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51-75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7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9302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76-100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13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11247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147429" t="-420109" r="-19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35</a:t>
                          </a:r>
                          <a:endParaRPr kumimoji="0" lang="en-US" sz="2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30" name="Line 34"/>
          <p:cNvSpPr>
            <a:spLocks noChangeShapeType="1"/>
          </p:cNvSpPr>
          <p:nvPr/>
        </p:nvSpPr>
        <p:spPr bwMode="auto">
          <a:xfrm>
            <a:off x="5905500" y="2129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1" name="Line 35"/>
          <p:cNvSpPr>
            <a:spLocks noChangeShapeType="1"/>
          </p:cNvSpPr>
          <p:nvPr/>
        </p:nvSpPr>
        <p:spPr bwMode="auto">
          <a:xfrm>
            <a:off x="6057900" y="2129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2" name="Line 36"/>
          <p:cNvSpPr>
            <a:spLocks noChangeShapeType="1"/>
          </p:cNvSpPr>
          <p:nvPr/>
        </p:nvSpPr>
        <p:spPr bwMode="auto">
          <a:xfrm>
            <a:off x="6210300" y="2129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6362700" y="2129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4" name="Line 38"/>
          <p:cNvSpPr>
            <a:spLocks noChangeShapeType="1"/>
          </p:cNvSpPr>
          <p:nvPr/>
        </p:nvSpPr>
        <p:spPr bwMode="auto">
          <a:xfrm>
            <a:off x="6210300" y="2967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5" name="Line 39"/>
          <p:cNvSpPr>
            <a:spLocks noChangeShapeType="1"/>
          </p:cNvSpPr>
          <p:nvPr/>
        </p:nvSpPr>
        <p:spPr bwMode="auto">
          <a:xfrm>
            <a:off x="6057900" y="2967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6" name="Line 40"/>
          <p:cNvSpPr>
            <a:spLocks noChangeShapeType="1"/>
          </p:cNvSpPr>
          <p:nvPr/>
        </p:nvSpPr>
        <p:spPr bwMode="auto">
          <a:xfrm>
            <a:off x="5905500" y="2967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7" name="Line 41"/>
          <p:cNvSpPr>
            <a:spLocks noChangeShapeType="1"/>
          </p:cNvSpPr>
          <p:nvPr/>
        </p:nvSpPr>
        <p:spPr bwMode="auto">
          <a:xfrm>
            <a:off x="6362700" y="2967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8" name="Line 42"/>
          <p:cNvSpPr>
            <a:spLocks noChangeShapeType="1"/>
          </p:cNvSpPr>
          <p:nvPr/>
        </p:nvSpPr>
        <p:spPr bwMode="auto">
          <a:xfrm>
            <a:off x="5905500" y="38818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39" name="Line 43"/>
          <p:cNvSpPr>
            <a:spLocks noChangeShapeType="1"/>
          </p:cNvSpPr>
          <p:nvPr/>
        </p:nvSpPr>
        <p:spPr bwMode="auto">
          <a:xfrm>
            <a:off x="6515100" y="3348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0" name="Line 44"/>
          <p:cNvSpPr>
            <a:spLocks noChangeShapeType="1"/>
          </p:cNvSpPr>
          <p:nvPr/>
        </p:nvSpPr>
        <p:spPr bwMode="auto">
          <a:xfrm>
            <a:off x="6362700" y="3348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1" name="Line 45"/>
          <p:cNvSpPr>
            <a:spLocks noChangeShapeType="1"/>
          </p:cNvSpPr>
          <p:nvPr/>
        </p:nvSpPr>
        <p:spPr bwMode="auto">
          <a:xfrm>
            <a:off x="6210300" y="3348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2" name="Line 46"/>
          <p:cNvSpPr>
            <a:spLocks noChangeShapeType="1"/>
          </p:cNvSpPr>
          <p:nvPr/>
        </p:nvSpPr>
        <p:spPr bwMode="auto">
          <a:xfrm>
            <a:off x="6057900" y="3348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3" name="Line 47"/>
          <p:cNvSpPr>
            <a:spLocks noChangeShapeType="1"/>
          </p:cNvSpPr>
          <p:nvPr/>
        </p:nvSpPr>
        <p:spPr bwMode="auto">
          <a:xfrm>
            <a:off x="5905500" y="3348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4" name="Line 48"/>
          <p:cNvSpPr>
            <a:spLocks noChangeShapeType="1"/>
          </p:cNvSpPr>
          <p:nvPr/>
        </p:nvSpPr>
        <p:spPr bwMode="auto">
          <a:xfrm>
            <a:off x="5829300" y="304368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5" name="Line 49"/>
          <p:cNvSpPr>
            <a:spLocks noChangeShapeType="1"/>
          </p:cNvSpPr>
          <p:nvPr/>
        </p:nvSpPr>
        <p:spPr bwMode="auto">
          <a:xfrm>
            <a:off x="5829300" y="342468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6" name="Line 50"/>
          <p:cNvSpPr>
            <a:spLocks noChangeShapeType="1"/>
          </p:cNvSpPr>
          <p:nvPr/>
        </p:nvSpPr>
        <p:spPr bwMode="auto">
          <a:xfrm>
            <a:off x="6057900" y="43390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7" name="Line 51"/>
          <p:cNvSpPr>
            <a:spLocks noChangeShapeType="1"/>
          </p:cNvSpPr>
          <p:nvPr/>
        </p:nvSpPr>
        <p:spPr bwMode="auto">
          <a:xfrm>
            <a:off x="5905500" y="43390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8" name="Line 52"/>
          <p:cNvSpPr>
            <a:spLocks noChangeShapeType="1"/>
          </p:cNvSpPr>
          <p:nvPr/>
        </p:nvSpPr>
        <p:spPr bwMode="auto">
          <a:xfrm>
            <a:off x="6362700" y="38818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49" name="Line 53"/>
          <p:cNvSpPr>
            <a:spLocks noChangeShapeType="1"/>
          </p:cNvSpPr>
          <p:nvPr/>
        </p:nvSpPr>
        <p:spPr bwMode="auto">
          <a:xfrm>
            <a:off x="6210300" y="38818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0" name="Line 54"/>
          <p:cNvSpPr>
            <a:spLocks noChangeShapeType="1"/>
          </p:cNvSpPr>
          <p:nvPr/>
        </p:nvSpPr>
        <p:spPr bwMode="auto">
          <a:xfrm>
            <a:off x="6057900" y="38818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1" name="Line 55"/>
          <p:cNvSpPr>
            <a:spLocks noChangeShapeType="1"/>
          </p:cNvSpPr>
          <p:nvPr/>
        </p:nvSpPr>
        <p:spPr bwMode="auto">
          <a:xfrm>
            <a:off x="5829300" y="395808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2" name="Line 56"/>
          <p:cNvSpPr>
            <a:spLocks noChangeShapeType="1"/>
          </p:cNvSpPr>
          <p:nvPr/>
        </p:nvSpPr>
        <p:spPr bwMode="auto">
          <a:xfrm>
            <a:off x="6057900" y="4796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3" name="Line 57"/>
          <p:cNvSpPr>
            <a:spLocks noChangeShapeType="1"/>
          </p:cNvSpPr>
          <p:nvPr/>
        </p:nvSpPr>
        <p:spPr bwMode="auto">
          <a:xfrm>
            <a:off x="6743700" y="5253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4" name="Line 58"/>
          <p:cNvSpPr>
            <a:spLocks noChangeShapeType="1"/>
          </p:cNvSpPr>
          <p:nvPr/>
        </p:nvSpPr>
        <p:spPr bwMode="auto">
          <a:xfrm>
            <a:off x="6362700" y="4796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5" name="Line 59"/>
          <p:cNvSpPr>
            <a:spLocks noChangeShapeType="1"/>
          </p:cNvSpPr>
          <p:nvPr/>
        </p:nvSpPr>
        <p:spPr bwMode="auto">
          <a:xfrm>
            <a:off x="5905500" y="5177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6" name="Line 60"/>
          <p:cNvSpPr>
            <a:spLocks noChangeShapeType="1"/>
          </p:cNvSpPr>
          <p:nvPr/>
        </p:nvSpPr>
        <p:spPr bwMode="auto">
          <a:xfrm>
            <a:off x="5905500" y="4796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7" name="Line 61"/>
          <p:cNvSpPr>
            <a:spLocks noChangeShapeType="1"/>
          </p:cNvSpPr>
          <p:nvPr/>
        </p:nvSpPr>
        <p:spPr bwMode="auto">
          <a:xfrm>
            <a:off x="6057900" y="5177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8" name="Line 62"/>
          <p:cNvSpPr>
            <a:spLocks noChangeShapeType="1"/>
          </p:cNvSpPr>
          <p:nvPr/>
        </p:nvSpPr>
        <p:spPr bwMode="auto">
          <a:xfrm>
            <a:off x="6210300" y="5177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59" name="Line 63"/>
          <p:cNvSpPr>
            <a:spLocks noChangeShapeType="1"/>
          </p:cNvSpPr>
          <p:nvPr/>
        </p:nvSpPr>
        <p:spPr bwMode="auto">
          <a:xfrm>
            <a:off x="6362700" y="5177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60" name="Line 64"/>
          <p:cNvSpPr>
            <a:spLocks noChangeShapeType="1"/>
          </p:cNvSpPr>
          <p:nvPr/>
        </p:nvSpPr>
        <p:spPr bwMode="auto">
          <a:xfrm>
            <a:off x="5829300" y="487248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61" name="Line 65"/>
          <p:cNvSpPr>
            <a:spLocks noChangeShapeType="1"/>
          </p:cNvSpPr>
          <p:nvPr/>
        </p:nvSpPr>
        <p:spPr bwMode="auto">
          <a:xfrm>
            <a:off x="5829300" y="532968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62" name="Line 66"/>
          <p:cNvSpPr>
            <a:spLocks noChangeShapeType="1"/>
          </p:cNvSpPr>
          <p:nvPr/>
        </p:nvSpPr>
        <p:spPr bwMode="auto">
          <a:xfrm>
            <a:off x="6210300" y="47962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63" name="Line 67"/>
          <p:cNvSpPr>
            <a:spLocks noChangeShapeType="1"/>
          </p:cNvSpPr>
          <p:nvPr/>
        </p:nvSpPr>
        <p:spPr bwMode="auto">
          <a:xfrm>
            <a:off x="6667500" y="5253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64" name="Line 68"/>
          <p:cNvSpPr>
            <a:spLocks noChangeShapeType="1"/>
          </p:cNvSpPr>
          <p:nvPr/>
        </p:nvSpPr>
        <p:spPr bwMode="auto">
          <a:xfrm>
            <a:off x="6591300" y="525348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65" name="Rectangle 69"/>
          <p:cNvSpPr>
            <a:spLocks noChangeArrowheads="1"/>
          </p:cNvSpPr>
          <p:nvPr/>
        </p:nvSpPr>
        <p:spPr bwMode="auto">
          <a:xfrm>
            <a:off x="-38100" y="910080"/>
            <a:ext cx="4038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charset="0"/>
                <a:ea typeface="+mn-ea"/>
              </a:rPr>
              <a:t>Shows the number of pieces of data that fall within given intervals.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800" dirty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66" name="Text Box 70"/>
          <p:cNvSpPr txBox="1">
            <a:spLocks noChangeArrowheads="1"/>
          </p:cNvSpPr>
          <p:nvPr/>
        </p:nvSpPr>
        <p:spPr bwMode="auto">
          <a:xfrm>
            <a:off x="571500" y="2586480"/>
            <a:ext cx="3048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Scale- includes the least value and greatest value</a:t>
            </a:r>
          </a:p>
        </p:txBody>
      </p:sp>
      <p:sp>
        <p:nvSpPr>
          <p:cNvPr id="4168" name="Text Box 72"/>
          <p:cNvSpPr txBox="1">
            <a:spLocks noChangeArrowheads="1"/>
          </p:cNvSpPr>
          <p:nvPr/>
        </p:nvSpPr>
        <p:spPr bwMode="auto">
          <a:xfrm>
            <a:off x="571500" y="4720080"/>
            <a:ext cx="3048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Arial" charset="0"/>
                <a:ea typeface="+mn-ea"/>
              </a:rPr>
              <a:t>Interval- Separates the scale into equal parts</a:t>
            </a:r>
          </a:p>
        </p:txBody>
      </p:sp>
      <p:sp>
        <p:nvSpPr>
          <p:cNvPr id="4170" name="AutoShape 74"/>
          <p:cNvSpPr>
            <a:spLocks/>
          </p:cNvSpPr>
          <p:nvPr/>
        </p:nvSpPr>
        <p:spPr bwMode="auto">
          <a:xfrm>
            <a:off x="3695700" y="1976880"/>
            <a:ext cx="381000" cy="3657600"/>
          </a:xfrm>
          <a:prstGeom prst="leftBrace">
            <a:avLst>
              <a:gd name="adj1" fmla="val 8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4171" name="Line 75"/>
          <p:cNvSpPr>
            <a:spLocks noChangeShapeType="1"/>
          </p:cNvSpPr>
          <p:nvPr/>
        </p:nvSpPr>
        <p:spPr bwMode="auto">
          <a:xfrm>
            <a:off x="2933700" y="319608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AU" sz="180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cxnSp>
        <p:nvCxnSpPr>
          <p:cNvPr id="4173" name="AutoShape 77"/>
          <p:cNvCxnSpPr>
            <a:cxnSpLocks noChangeShapeType="1"/>
          </p:cNvCxnSpPr>
          <p:nvPr/>
        </p:nvCxnSpPr>
        <p:spPr bwMode="auto">
          <a:xfrm flipV="1">
            <a:off x="3314700" y="5177280"/>
            <a:ext cx="1625600" cy="625475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6882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1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1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1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5" dur="80"/>
                                        <p:tgtEl>
                                          <p:spTgt spid="4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6" dur="80"/>
                                        <p:tgtEl>
                                          <p:spTgt spid="4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7" dur="80"/>
                                        <p:tgtEl>
                                          <p:spTgt spid="4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2" dur="80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3" dur="80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4" dur="80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5" dur="80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6" dur="80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80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0" grpId="0" animBg="1"/>
      <p:bldP spid="4131" grpId="0" animBg="1"/>
      <p:bldP spid="4132" grpId="0" animBg="1"/>
      <p:bldP spid="4133" grpId="0" animBg="1"/>
      <p:bldP spid="4134" grpId="0" animBg="1"/>
      <p:bldP spid="4135" grpId="0" animBg="1"/>
      <p:bldP spid="4136" grpId="0" animBg="1"/>
      <p:bldP spid="4137" grpId="0" animBg="1"/>
      <p:bldP spid="4138" grpId="0" animBg="1"/>
      <p:bldP spid="4139" grpId="0" animBg="1"/>
      <p:bldP spid="4140" grpId="0" animBg="1"/>
      <p:bldP spid="4141" grpId="0" animBg="1"/>
      <p:bldP spid="4142" grpId="0" animBg="1"/>
      <p:bldP spid="4143" grpId="0" animBg="1"/>
      <p:bldP spid="4144" grpId="0" animBg="1"/>
      <p:bldP spid="4145" grpId="0" animBg="1"/>
      <p:bldP spid="4146" grpId="0" animBg="1"/>
      <p:bldP spid="4147" grpId="0" animBg="1"/>
      <p:bldP spid="4148" grpId="0" animBg="1"/>
      <p:bldP spid="4149" grpId="0" animBg="1"/>
      <p:bldP spid="4150" grpId="0" animBg="1"/>
      <p:bldP spid="4151" grpId="0" animBg="1"/>
      <p:bldP spid="4152" grpId="0" animBg="1"/>
      <p:bldP spid="4153" grpId="0" animBg="1"/>
      <p:bldP spid="4154" grpId="0" animBg="1"/>
      <p:bldP spid="4155" grpId="0" animBg="1"/>
      <p:bldP spid="4156" grpId="0" animBg="1"/>
      <p:bldP spid="4157" grpId="0" animBg="1"/>
      <p:bldP spid="4158" grpId="0" animBg="1"/>
      <p:bldP spid="4159" grpId="0" animBg="1"/>
      <p:bldP spid="4160" grpId="0" animBg="1"/>
      <p:bldP spid="4161" grpId="0" animBg="1"/>
      <p:bldP spid="4162" grpId="0" animBg="1"/>
      <p:bldP spid="4163" grpId="0" animBg="1"/>
      <p:bldP spid="4164" grpId="0" animBg="1"/>
      <p:bldP spid="4165" grpId="0" build="p"/>
      <p:bldP spid="4166" grpId="0"/>
      <p:bldP spid="4168" grpId="0"/>
      <p:bldP spid="4170" grpId="0" animBg="1"/>
      <p:bldP spid="4171" grpId="0" animBg="1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MS PGothic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588</Words>
  <Application>Microsoft Office PowerPoint</Application>
  <PresentationFormat>On-screen Show (4:3)</PresentationFormat>
  <Paragraphs>170</Paragraphs>
  <Slides>10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Blank Presentation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Frequency Tables</vt:lpstr>
      <vt:lpstr>Example</vt:lpstr>
      <vt:lpstr>Example</vt:lpstr>
      <vt:lpstr>Frequency Tables - Words to Know</vt:lpstr>
    </vt:vector>
  </TitlesOfParts>
  <Company>Denver Public Schools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Jefferson</dc:creator>
  <cp:lastModifiedBy>PURCELL Laura</cp:lastModifiedBy>
  <cp:revision>26</cp:revision>
  <dcterms:created xsi:type="dcterms:W3CDTF">2008-12-09T23:22:16Z</dcterms:created>
  <dcterms:modified xsi:type="dcterms:W3CDTF">2016-05-09T04:32:14Z</dcterms:modified>
</cp:coreProperties>
</file>
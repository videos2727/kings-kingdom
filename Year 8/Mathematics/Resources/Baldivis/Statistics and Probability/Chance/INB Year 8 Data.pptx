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20" r:id="rId2"/>
    <p:sldId id="321" r:id="rId3"/>
    <p:sldId id="322" r:id="rId4"/>
    <p:sldId id="319" r:id="rId5"/>
    <p:sldId id="323" r:id="rId6"/>
    <p:sldId id="324" r:id="rId7"/>
    <p:sldId id="325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 varScale="1">
        <p:scale>
          <a:sx n="69" d="100"/>
          <a:sy n="69" d="100"/>
        </p:scale>
        <p:origin x="141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9A5757-C0A9-4EBB-842D-2F1A3C4CB57C}" type="datetimeFigureOut">
              <a:rPr lang="en-AU" smtClean="0"/>
              <a:t>2/03/2015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0C0F6-E662-4874-8EE2-C5CD58B391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616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2/03/2015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 </a:t>
            </a:r>
            <a:r>
              <a:rPr lang="en-AU" dirty="0" smtClean="0"/>
              <a:t>Data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4581128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Your Name</a:t>
            </a:r>
          </a:p>
          <a:p>
            <a:pPr algn="l"/>
            <a:r>
              <a:rPr lang="en-AU" dirty="0" smtClean="0"/>
              <a:t>Class 8.4</a:t>
            </a:r>
          </a:p>
          <a:p>
            <a:pPr algn="l"/>
            <a:r>
              <a:rPr lang="en-AU" dirty="0" smtClean="0"/>
              <a:t>Mrs Riksman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1026" name="Picture 2" descr="http://dungeonsmaster.com/wp-content/uploads/2011/02/Despicable-Me-Minions-286x3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685" y="1802681"/>
            <a:ext cx="27241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15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489272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0" y="389336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092489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558245" y="33837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7327" y="355445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278189" y="50782"/>
            <a:ext cx="1019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  <p:cxnSp>
        <p:nvCxnSpPr>
          <p:cNvPr id="19" name="Straight Connector 18"/>
          <p:cNvCxnSpPr/>
          <p:nvPr/>
        </p:nvCxnSpPr>
        <p:spPr>
          <a:xfrm flipV="1">
            <a:off x="-1" y="733870"/>
            <a:ext cx="4470125" cy="1532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-2" y="6280308"/>
            <a:ext cx="4470126" cy="3220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489272" y="404664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4489272" y="733870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470124" y="6312515"/>
            <a:ext cx="465472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6084168" y="404664"/>
            <a:ext cx="0" cy="59078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08694" y="372391"/>
            <a:ext cx="804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Word</a:t>
            </a:r>
            <a:endParaRPr lang="en-AU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7113898" y="395316"/>
            <a:ext cx="11303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749198"/>
            <a:ext cx="1092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4-5</a:t>
            </a:r>
          </a:p>
          <a:p>
            <a:pPr algn="ctr"/>
            <a:r>
              <a:rPr lang="en-AU" dirty="0" smtClean="0"/>
              <a:t>6-7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1112484" y="754611"/>
            <a:ext cx="1051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 smtClean="0"/>
              <a:t>4/3</a:t>
            </a:r>
          </a:p>
          <a:p>
            <a:pPr algn="ctr"/>
            <a:r>
              <a:rPr lang="en-AU" dirty="0" smtClean="0"/>
              <a:t>6/3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2143810" y="710945"/>
            <a:ext cx="2326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Measures of Centre</a:t>
            </a:r>
          </a:p>
          <a:p>
            <a:r>
              <a:rPr lang="en-AU" dirty="0" smtClean="0"/>
              <a:t>Measures of Spread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2351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20278" y="474856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</a:t>
            </a:r>
            <a:r>
              <a:rPr lang="en-AU" sz="2800" dirty="0" smtClean="0"/>
              <a:t>: Measures of Centre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251551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</a:t>
            </a:r>
            <a:r>
              <a:rPr lang="en-AU" sz="2800" dirty="0"/>
              <a:t>4</a:t>
            </a:r>
            <a:r>
              <a:rPr lang="en-AU" sz="2800" dirty="0" smtClean="0"/>
              <a:t>/3/15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: </a:t>
            </a:r>
            <a:r>
              <a:rPr lang="en-AU" sz="2400" dirty="0" smtClean="0"/>
              <a:t>Describe what is meant by mean, median and mode.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2"/>
            <a:ext cx="622075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</a:t>
            </a:r>
            <a:r>
              <a:rPr lang="en-AU" sz="24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</a:t>
            </a:r>
            <a:r>
              <a:rPr lang="en-AU" sz="2000" b="1" dirty="0" smtClean="0"/>
              <a:t>mean or average </a:t>
            </a:r>
            <a:r>
              <a:rPr lang="en-AU" sz="2000" dirty="0" smtClean="0"/>
              <a:t>of a set of numbers is calculated by first adding all of the values together and then dividing by the number of values in the data set.</a:t>
            </a:r>
          </a:p>
          <a:p>
            <a:r>
              <a:rPr lang="en-AU" sz="2000" i="1" dirty="0" smtClean="0"/>
              <a:t>	Mean = 	</a:t>
            </a:r>
            <a:r>
              <a:rPr lang="en-AU" sz="2000" i="1" u="sng" dirty="0" smtClean="0"/>
              <a:t>(sum of all the values)</a:t>
            </a:r>
          </a:p>
          <a:p>
            <a:r>
              <a:rPr lang="en-AU" sz="2000" i="1" dirty="0" smtClean="0"/>
              <a:t>		(total number of values)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</a:t>
            </a:r>
            <a:r>
              <a:rPr lang="en-AU" sz="2000" b="1" dirty="0" smtClean="0"/>
              <a:t>median </a:t>
            </a:r>
            <a:r>
              <a:rPr lang="en-AU" sz="2000" dirty="0" smtClean="0"/>
              <a:t>is the middle value when the values are written in ascending or descending order.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b="1" i="1" dirty="0" smtClean="0"/>
              <a:t>Remember</a:t>
            </a:r>
            <a:r>
              <a:rPr lang="en-AU" sz="2000" dirty="0" smtClean="0"/>
              <a:t> ascending is from smallest to largest and descending is the reverse from largest to smallest.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If there are two middle values then the average of them is taken by adding them together and dividing it by two.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most common value (that which occurs most frequently) is called the </a:t>
            </a:r>
            <a:r>
              <a:rPr lang="en-AU" sz="2000" b="1" dirty="0" smtClean="0"/>
              <a:t>mode</a:t>
            </a:r>
            <a:r>
              <a:rPr lang="en-AU" sz="2000" dirty="0" smtClean="0"/>
              <a:t>.</a:t>
            </a:r>
            <a:endParaRPr lang="en-AU" sz="2000" dirty="0" smtClean="0"/>
          </a:p>
          <a:p>
            <a:endParaRPr lang="en-AU" sz="2000" dirty="0" smtClean="0"/>
          </a:p>
          <a:p>
            <a:endParaRPr lang="en-AU" sz="24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7431" y="2378497"/>
            <a:ext cx="290838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Describe how we calculate the mean of a set of data.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How do we find the median?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/>
          </a:p>
          <a:p>
            <a:r>
              <a:rPr lang="en-AU" dirty="0" smtClean="0"/>
              <a:t>What do we do if there is more than one median?</a:t>
            </a:r>
          </a:p>
          <a:p>
            <a:endParaRPr lang="en-AU" dirty="0"/>
          </a:p>
          <a:p>
            <a:r>
              <a:rPr lang="en-AU" dirty="0" smtClean="0"/>
              <a:t>The most frequent value becomes what measure of centre?</a:t>
            </a:r>
            <a:endParaRPr lang="en-AU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3783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83038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512" y="116632"/>
            <a:ext cx="856895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AU" sz="2800" dirty="0" smtClean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43716"/>
              </p:ext>
            </p:extLst>
          </p:nvPr>
        </p:nvGraphicFramePr>
        <p:xfrm>
          <a:off x="1632012" y="916851"/>
          <a:ext cx="6096000" cy="25908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="0" baseline="0" dirty="0" smtClean="0"/>
                        <a:t>30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baseline="0" dirty="0" smtClean="0"/>
                        <a:t>29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 smtClean="0"/>
                        <a:t>30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 smtClean="0"/>
                        <a:t>31</a:t>
                      </a:r>
                      <a:endParaRPr lang="en-AU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b="0" dirty="0" smtClean="0"/>
                        <a:t>34</a:t>
                      </a:r>
                      <a:endParaRPr lang="en-AU" b="0" dirty="0"/>
                    </a:p>
                  </a:txBody>
                  <a:tcPr/>
                </a:tc>
              </a:tr>
              <a:tr h="133216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32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baseline="0" dirty="0" smtClean="0"/>
                        <a:t>29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28</a:t>
                      </a:r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36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37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38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55576" y="404664"/>
            <a:ext cx="7848872" cy="6801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Activity : Maximum Monthly Temperatures for January 2015 </a:t>
            </a:r>
          </a:p>
          <a:p>
            <a:pPr algn="ctr"/>
            <a:endParaRPr lang="en-AU" sz="2400" dirty="0"/>
          </a:p>
          <a:p>
            <a:pPr algn="ctr"/>
            <a:endParaRPr lang="en-AU" sz="2400" dirty="0" smtClean="0"/>
          </a:p>
          <a:p>
            <a:pPr algn="ctr"/>
            <a:endParaRPr lang="en-AU" sz="2400" dirty="0"/>
          </a:p>
          <a:p>
            <a:pPr algn="ctr"/>
            <a:endParaRPr lang="en-AU" sz="2400" dirty="0" smtClean="0"/>
          </a:p>
          <a:p>
            <a:pPr algn="ctr"/>
            <a:endParaRPr lang="en-AU" sz="2400" dirty="0"/>
          </a:p>
          <a:p>
            <a:pPr algn="ctr"/>
            <a:endParaRPr lang="en-AU" sz="2400" dirty="0" smtClean="0"/>
          </a:p>
          <a:p>
            <a:pPr algn="ctr"/>
            <a:endParaRPr lang="en-AU" sz="2400" dirty="0"/>
          </a:p>
          <a:p>
            <a:pPr algn="ctr"/>
            <a:endParaRPr lang="en-AU" sz="2400" dirty="0" smtClean="0"/>
          </a:p>
          <a:p>
            <a:pPr marL="457200" indent="-457200">
              <a:buFont typeface="+mj-lt"/>
              <a:buAutoNum type="arabicPeriod"/>
            </a:pPr>
            <a:r>
              <a:rPr lang="en-AU" sz="2000" dirty="0" smtClean="0"/>
              <a:t>Lets work together to calculate the mean.</a:t>
            </a:r>
          </a:p>
          <a:p>
            <a:pPr marL="457200" indent="-457200">
              <a:buFont typeface="+mj-lt"/>
              <a:buAutoNum type="arabicPeriod"/>
            </a:pPr>
            <a:endParaRPr lang="en-AU" sz="2000" dirty="0"/>
          </a:p>
          <a:p>
            <a:pPr marL="457200" indent="-457200">
              <a:buFont typeface="+mj-lt"/>
              <a:buAutoNum type="arabicPeriod"/>
            </a:pPr>
            <a:endParaRPr lang="en-AU" sz="2000" dirty="0" smtClean="0"/>
          </a:p>
          <a:p>
            <a:pPr marL="457200" indent="-457200">
              <a:buFont typeface="+mj-lt"/>
              <a:buAutoNum type="arabicPeriod"/>
            </a:pPr>
            <a:endParaRPr lang="en-AU" sz="2000" dirty="0"/>
          </a:p>
          <a:p>
            <a:pPr marL="457200" indent="-457200">
              <a:buFont typeface="+mj-lt"/>
              <a:buAutoNum type="arabicPeriod"/>
            </a:pPr>
            <a:r>
              <a:rPr lang="en-AU" sz="2000" dirty="0" smtClean="0"/>
              <a:t>Now lets order the temperatures from smallest to largest to calculate the mean.</a:t>
            </a:r>
          </a:p>
          <a:p>
            <a:pPr marL="457200" indent="-457200">
              <a:buFont typeface="+mj-lt"/>
              <a:buAutoNum type="arabicPeriod"/>
            </a:pPr>
            <a:endParaRPr lang="en-AU" sz="2000" dirty="0"/>
          </a:p>
          <a:p>
            <a:pPr marL="457200" indent="-457200">
              <a:buFont typeface="+mj-lt"/>
              <a:buAutoNum type="arabicPeriod"/>
            </a:pPr>
            <a:endParaRPr lang="en-AU" sz="2000" dirty="0" smtClean="0"/>
          </a:p>
          <a:p>
            <a:pPr marL="457200" indent="-457200">
              <a:buFont typeface="+mj-lt"/>
              <a:buAutoNum type="arabicPeriod"/>
            </a:pPr>
            <a:r>
              <a:rPr lang="en-AU" sz="2000" dirty="0" smtClean="0"/>
              <a:t>Which temperature </a:t>
            </a:r>
            <a:r>
              <a:rPr lang="en-AU" sz="2000" dirty="0"/>
              <a:t>i</a:t>
            </a:r>
            <a:r>
              <a:rPr lang="en-AU" sz="2000" dirty="0" smtClean="0"/>
              <a:t>s most frequent in January?</a:t>
            </a:r>
          </a:p>
          <a:p>
            <a:pPr marL="457200" indent="-457200">
              <a:buAutoNum type="arabicPeriod"/>
            </a:pPr>
            <a:endParaRPr lang="en-AU" sz="2000" dirty="0"/>
          </a:p>
          <a:p>
            <a:pPr marL="457200" indent="-457200">
              <a:buAutoNum type="arabicPeriod"/>
            </a:pP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833142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332656"/>
            <a:ext cx="849694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u="sng" dirty="0" smtClean="0"/>
              <a:t>Activity – Shoe sizes</a:t>
            </a:r>
          </a:p>
          <a:p>
            <a:r>
              <a:rPr lang="en-AU" sz="2400" dirty="0" smtClean="0"/>
              <a:t>Have you class write their shoe size on their white boards and raise them above their heads</a:t>
            </a:r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/>
              <a:t>Tally the number of each size.</a:t>
            </a:r>
          </a:p>
          <a:p>
            <a:r>
              <a:rPr lang="en-AU" sz="2400" u="sng" dirty="0" smtClean="0"/>
              <a:t>Calculate:</a:t>
            </a:r>
          </a:p>
          <a:p>
            <a:r>
              <a:rPr lang="en-AU" sz="2400" dirty="0" smtClean="0"/>
              <a:t>Mean -</a:t>
            </a:r>
          </a:p>
          <a:p>
            <a:endParaRPr lang="en-AU" sz="2400" dirty="0"/>
          </a:p>
          <a:p>
            <a:r>
              <a:rPr lang="en-AU" sz="2400" dirty="0" smtClean="0"/>
              <a:t>Median - </a:t>
            </a:r>
          </a:p>
          <a:p>
            <a:endParaRPr lang="en-AU" sz="2400" dirty="0"/>
          </a:p>
          <a:p>
            <a:r>
              <a:rPr lang="en-AU" sz="2400" dirty="0" smtClean="0"/>
              <a:t>Mode – </a:t>
            </a:r>
          </a:p>
          <a:p>
            <a:endParaRPr lang="en-AU" sz="2400" dirty="0" smtClean="0"/>
          </a:p>
          <a:p>
            <a:r>
              <a:rPr lang="en-AU" sz="2400" dirty="0" smtClean="0"/>
              <a:t>Complete exercise 8D page 465 Q1-18</a:t>
            </a:r>
          </a:p>
          <a:p>
            <a:endParaRPr lang="en-AU" sz="2400" dirty="0"/>
          </a:p>
          <a:p>
            <a:endParaRPr lang="en-AU" sz="2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646440"/>
              </p:ext>
            </p:extLst>
          </p:nvPr>
        </p:nvGraphicFramePr>
        <p:xfrm>
          <a:off x="1403648" y="1772816"/>
          <a:ext cx="6096000" cy="1483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1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5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8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2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6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10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3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7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11</a:t>
                      </a:r>
                      <a:endParaRPr lang="en-AU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 smtClean="0"/>
                        <a:t>4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8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="1" dirty="0" smtClean="0"/>
                        <a:t>12</a:t>
                      </a:r>
                      <a:endParaRPr lang="en-AU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96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915816" y="1916832"/>
            <a:ext cx="7431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20278" y="474856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Title</a:t>
            </a:r>
            <a:r>
              <a:rPr lang="en-AU" sz="2800" dirty="0" smtClean="0"/>
              <a:t>: Measures of Spread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6251551" y="512677"/>
            <a:ext cx="24969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Date: </a:t>
            </a:r>
            <a:r>
              <a:rPr lang="en-AU" sz="2800" dirty="0" smtClean="0"/>
              <a:t>6/3/15</a:t>
            </a:r>
            <a:endParaRPr lang="en-AU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1063436"/>
            <a:ext cx="8739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:Explain how to calculate range and interquartile range (IQR).</a:t>
            </a:r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6228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431" y="1916832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2923247" y="1916832"/>
            <a:ext cx="6220752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</a:t>
            </a:r>
            <a:r>
              <a:rPr lang="en-AU" sz="24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000" dirty="0" smtClean="0"/>
              <a:t>The range of a set of data is calculated by subtracting the lowest number from the highest number.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AU" sz="2000" dirty="0" smtClean="0"/>
          </a:p>
          <a:p>
            <a:r>
              <a:rPr lang="en-AU" sz="2000" i="1" dirty="0" smtClean="0"/>
              <a:t>	Range = 	highest number – lowest number</a:t>
            </a:r>
          </a:p>
          <a:p>
            <a:endParaRPr lang="en-AU" sz="2000" i="1" dirty="0"/>
          </a:p>
          <a:p>
            <a:r>
              <a:rPr lang="en-AU" sz="2000" u="sng" dirty="0" smtClean="0"/>
              <a:t>Example:</a:t>
            </a:r>
          </a:p>
          <a:p>
            <a:r>
              <a:rPr lang="en-AU" sz="2000" dirty="0" smtClean="0"/>
              <a:t>Find the range for the following set of data</a:t>
            </a:r>
          </a:p>
          <a:p>
            <a:endParaRPr lang="en-AU" sz="2000" dirty="0"/>
          </a:p>
          <a:p>
            <a:r>
              <a:rPr lang="en-AU" sz="2000" dirty="0" smtClean="0"/>
              <a:t>1,5,2,3,8,12,4 		= 12 -1 = 11</a:t>
            </a:r>
          </a:p>
          <a:p>
            <a:endParaRPr lang="en-AU" sz="2000" dirty="0"/>
          </a:p>
          <a:p>
            <a:r>
              <a:rPr lang="en-AU" sz="2000" dirty="0" smtClean="0"/>
              <a:t>What about if we have negative numbers in our data?</a:t>
            </a:r>
          </a:p>
          <a:p>
            <a:r>
              <a:rPr lang="en-AU" sz="2000" dirty="0" smtClean="0"/>
              <a:t>-6,-20,7,12, -24,19	= 19-(-24)</a:t>
            </a:r>
          </a:p>
          <a:p>
            <a:r>
              <a:rPr lang="en-AU" sz="2000" dirty="0"/>
              <a:t>	</a:t>
            </a:r>
            <a:r>
              <a:rPr lang="en-AU" sz="2000" dirty="0" smtClean="0"/>
              <a:t>		= 19 + 24</a:t>
            </a:r>
          </a:p>
          <a:p>
            <a:r>
              <a:rPr lang="en-AU" sz="2000" dirty="0"/>
              <a:t>	</a:t>
            </a:r>
            <a:r>
              <a:rPr lang="en-AU" sz="2000" dirty="0" smtClean="0"/>
              <a:t>		= 43 </a:t>
            </a:r>
          </a:p>
          <a:p>
            <a:endParaRPr lang="en-AU" sz="2000" dirty="0" smtClean="0"/>
          </a:p>
          <a:p>
            <a:pPr marL="457200" indent="-457200">
              <a:buAutoNum type="arabicParenR"/>
            </a:pPr>
            <a:endParaRPr lang="en-AU" sz="2000" dirty="0" smtClean="0"/>
          </a:p>
          <a:p>
            <a:pPr marL="457200" indent="-457200">
              <a:buAutoNum type="arabicParenR"/>
            </a:pPr>
            <a:endParaRPr lang="en-AU" sz="2000" dirty="0" smtClean="0"/>
          </a:p>
          <a:p>
            <a:endParaRPr lang="en-AU" sz="2000" dirty="0" smtClean="0"/>
          </a:p>
          <a:p>
            <a:endParaRPr lang="en-AU" sz="24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5364088" y="37839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24</a:t>
            </a:r>
          </a:p>
          <a:p>
            <a:r>
              <a:rPr lang="en-AU" dirty="0" smtClean="0"/>
              <a:t>7</a:t>
            </a:r>
          </a:p>
          <a:p>
            <a:r>
              <a:rPr lang="en-AU" dirty="0" smtClean="0"/>
              <a:t>30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0452" y="6433342"/>
            <a:ext cx="39553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TextBox 14"/>
          <p:cNvSpPr txBox="1"/>
          <p:nvPr/>
        </p:nvSpPr>
        <p:spPr>
          <a:xfrm>
            <a:off x="8594443" y="6378015"/>
            <a:ext cx="370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07504" y="2378497"/>
            <a:ext cx="2664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 smtClean="0"/>
              <a:t>How do we determine range of a set of data?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51741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431" y="26064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2555776" y="260648"/>
            <a:ext cx="0" cy="659735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427" y="260648"/>
            <a:ext cx="1666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Question:</a:t>
            </a:r>
            <a:endParaRPr lang="en-AU" sz="2400" dirty="0"/>
          </a:p>
        </p:txBody>
      </p:sp>
      <p:sp>
        <p:nvSpPr>
          <p:cNvPr id="15" name="Rectangle 14"/>
          <p:cNvSpPr/>
          <p:nvPr/>
        </p:nvSpPr>
        <p:spPr>
          <a:xfrm>
            <a:off x="8677934" y="6395373"/>
            <a:ext cx="404063" cy="3693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8532440" y="6344512"/>
            <a:ext cx="549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555776" y="260648"/>
            <a:ext cx="6526221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Notes continued: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dirty="0"/>
              <a:t>The interquartile range (IQR) can be found </a:t>
            </a:r>
            <a:r>
              <a:rPr lang="en-AU" dirty="0" smtClean="0"/>
              <a:t>by</a:t>
            </a:r>
          </a:p>
          <a:p>
            <a:r>
              <a:rPr lang="en-AU" i="1" dirty="0" smtClean="0"/>
              <a:t>	IQR = upper quartile (UQ) – lower quartile (LQ)</a:t>
            </a:r>
          </a:p>
          <a:p>
            <a:endParaRPr lang="en-AU" dirty="0"/>
          </a:p>
          <a:p>
            <a:pPr marL="457200" indent="-457200">
              <a:buAutoNum type="arabicParenR"/>
            </a:pPr>
            <a:r>
              <a:rPr lang="en-AU" dirty="0"/>
              <a:t>Placing the data in order from smallest to largest (ascending).</a:t>
            </a:r>
          </a:p>
          <a:p>
            <a:pPr marL="457200" indent="-457200">
              <a:buAutoNum type="arabicParenR"/>
            </a:pPr>
            <a:r>
              <a:rPr lang="en-AU" dirty="0"/>
              <a:t>If there is an odd number of values remove the middle one.</a:t>
            </a:r>
          </a:p>
          <a:p>
            <a:pPr marL="457200" indent="-457200">
              <a:buAutoNum type="arabicParenR"/>
            </a:pPr>
            <a:r>
              <a:rPr lang="en-AU" dirty="0"/>
              <a:t>Split the data into two equally sized groups.</a:t>
            </a:r>
          </a:p>
          <a:p>
            <a:pPr marL="457200" indent="-457200">
              <a:buAutoNum type="arabicParenR"/>
            </a:pPr>
            <a:r>
              <a:rPr lang="en-AU" dirty="0"/>
              <a:t>The median of the lower half is called the </a:t>
            </a:r>
            <a:r>
              <a:rPr lang="en-AU" b="1" dirty="0"/>
              <a:t>lower quartile</a:t>
            </a:r>
            <a:r>
              <a:rPr lang="en-AU" dirty="0"/>
              <a:t>.</a:t>
            </a:r>
          </a:p>
          <a:p>
            <a:pPr marL="457200" indent="-457200">
              <a:buAutoNum type="arabicParenR"/>
            </a:pPr>
            <a:r>
              <a:rPr lang="en-AU" dirty="0"/>
              <a:t>The median of the upper half is called the </a:t>
            </a:r>
            <a:r>
              <a:rPr lang="en-AU" b="1" dirty="0"/>
              <a:t>upper </a:t>
            </a:r>
            <a:r>
              <a:rPr lang="en-AU" b="1" dirty="0" smtClean="0"/>
              <a:t>quartile.</a:t>
            </a:r>
          </a:p>
          <a:p>
            <a:pPr marL="457200" indent="-457200">
              <a:buAutoNum type="arabicParenR"/>
            </a:pPr>
            <a:r>
              <a:rPr lang="en-AU" dirty="0" smtClean="0"/>
              <a:t>Subtract the lower quartile from the upper quartile.</a:t>
            </a:r>
            <a:endParaRPr lang="en-AU" dirty="0"/>
          </a:p>
          <a:p>
            <a:endParaRPr lang="en-AU" dirty="0" smtClean="0"/>
          </a:p>
          <a:p>
            <a:r>
              <a:rPr lang="en-AU" u="sng" dirty="0" smtClean="0"/>
              <a:t>Example:</a:t>
            </a:r>
          </a:p>
          <a:p>
            <a:endParaRPr lang="en-AU" dirty="0" smtClean="0"/>
          </a:p>
          <a:p>
            <a:r>
              <a:rPr lang="en-AU" dirty="0" smtClean="0"/>
              <a:t>Find the interquartile range of the following set of data</a:t>
            </a:r>
          </a:p>
          <a:p>
            <a:r>
              <a:rPr lang="en-AU" dirty="0" smtClean="0"/>
              <a:t>1, 15, 8, 2, 13, 10, 4, 14</a:t>
            </a:r>
          </a:p>
          <a:p>
            <a:endParaRPr lang="en-AU" dirty="0" smtClean="0"/>
          </a:p>
          <a:p>
            <a:pPr marL="457200" indent="-457200">
              <a:buAutoNum type="arabicParenR"/>
            </a:pPr>
            <a:r>
              <a:rPr lang="en-AU" dirty="0" smtClean="0"/>
              <a:t>1, 2, 4, 8, 10, 13, 14, 15</a:t>
            </a:r>
          </a:p>
          <a:p>
            <a:pPr marL="457200" indent="-457200">
              <a:buAutoNum type="arabicParenR"/>
            </a:pPr>
            <a:r>
              <a:rPr lang="en-AU" dirty="0" smtClean="0"/>
              <a:t>N/A</a:t>
            </a:r>
          </a:p>
          <a:p>
            <a:pPr marL="457200" indent="-457200">
              <a:buAutoNum type="arabicParenR"/>
            </a:pPr>
            <a:r>
              <a:rPr lang="en-AU" dirty="0" smtClean="0"/>
              <a:t>1, </a:t>
            </a:r>
            <a:r>
              <a:rPr lang="en-AU" dirty="0" smtClean="0">
                <a:solidFill>
                  <a:srgbClr val="9900CC"/>
                </a:solidFill>
              </a:rPr>
              <a:t>2, 4</a:t>
            </a:r>
            <a:r>
              <a:rPr lang="en-AU" dirty="0" smtClean="0"/>
              <a:t>, 8			10, </a:t>
            </a:r>
            <a:r>
              <a:rPr lang="en-AU" dirty="0" smtClean="0">
                <a:solidFill>
                  <a:srgbClr val="9900CC"/>
                </a:solidFill>
              </a:rPr>
              <a:t>13, 14</a:t>
            </a:r>
            <a:r>
              <a:rPr lang="en-AU" dirty="0" smtClean="0"/>
              <a:t>, 15</a:t>
            </a:r>
          </a:p>
          <a:p>
            <a:pPr marL="457200" indent="-457200">
              <a:buAutoNum type="arabicParenR"/>
            </a:pPr>
            <a:r>
              <a:rPr lang="en-AU" dirty="0" smtClean="0"/>
              <a:t>2 + 4 = 6 ÷ 2= 3		LQ = 3</a:t>
            </a:r>
          </a:p>
          <a:p>
            <a:pPr marL="457200" indent="-457200">
              <a:buAutoNum type="arabicParenR"/>
            </a:pPr>
            <a:r>
              <a:rPr lang="en-AU" dirty="0" smtClean="0"/>
              <a:t>13 + 14 = 27 ÷ 2 = 13.5		UQ = 13.5</a:t>
            </a:r>
          </a:p>
          <a:p>
            <a:pPr marL="457200" indent="-457200">
              <a:buAutoNum type="arabicParenR"/>
            </a:pPr>
            <a:r>
              <a:rPr lang="en-AU" dirty="0" smtClean="0"/>
              <a:t>IQR = 13.5 – 3 = 10.5  </a:t>
            </a:r>
          </a:p>
          <a:p>
            <a:pPr marL="457200" indent="-457200">
              <a:buAutoNum type="arabicParenR"/>
            </a:pPr>
            <a:endParaRPr lang="en-AU" sz="2000" dirty="0" smtClean="0"/>
          </a:p>
          <a:p>
            <a:pPr marL="457200" indent="-457200">
              <a:buAutoNum type="arabicParenR"/>
            </a:pPr>
            <a:endParaRPr lang="en-AU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431" y="722313"/>
            <a:ext cx="25483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Describe the 6 step  process we use to determine the Interquartile Range of data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04871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6233</TotalTime>
  <Words>391</Words>
  <Application>Microsoft Office PowerPoint</Application>
  <PresentationFormat>On-screen Show (4:3)</PresentationFormat>
  <Paragraphs>188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 Data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Bianca Riksman</cp:lastModifiedBy>
  <cp:revision>118</cp:revision>
  <dcterms:created xsi:type="dcterms:W3CDTF">2014-05-14T02:58:57Z</dcterms:created>
  <dcterms:modified xsi:type="dcterms:W3CDTF">2015-03-02T14:50:03Z</dcterms:modified>
</cp:coreProperties>
</file>
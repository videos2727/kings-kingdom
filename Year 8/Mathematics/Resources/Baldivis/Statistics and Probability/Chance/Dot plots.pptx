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60" r:id="rId2"/>
    <p:sldId id="304" r:id="rId3"/>
    <p:sldId id="259" r:id="rId4"/>
    <p:sldId id="258" r:id="rId5"/>
    <p:sldId id="303" r:id="rId6"/>
    <p:sldId id="309" r:id="rId7"/>
    <p:sldId id="311" r:id="rId8"/>
    <p:sldId id="310" r:id="rId9"/>
    <p:sldId id="305" r:id="rId10"/>
    <p:sldId id="308" r:id="rId11"/>
    <p:sldId id="307" r:id="rId12"/>
    <p:sldId id="306" r:id="rId13"/>
    <p:sldId id="301" r:id="rId14"/>
    <p:sldId id="312" r:id="rId15"/>
    <p:sldId id="292" r:id="rId16"/>
    <p:sldId id="291"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35" autoAdjust="0"/>
    <p:restoredTop sz="98401" autoAdjust="0"/>
  </p:normalViewPr>
  <p:slideViewPr>
    <p:cSldViewPr>
      <p:cViewPr varScale="1">
        <p:scale>
          <a:sx n="81" d="100"/>
          <a:sy n="81" d="100"/>
        </p:scale>
        <p:origin x="1493"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invertIfNegative val="0"/>
          <c:cat>
            <c:strRef>
              <c:f>Sheet1!$A$2:$A$6</c:f>
              <c:strCache>
                <c:ptCount val="5"/>
                <c:pt idx="0">
                  <c:v>a</c:v>
                </c:pt>
                <c:pt idx="1">
                  <c:v>b</c:v>
                </c:pt>
                <c:pt idx="2">
                  <c:v>c</c:v>
                </c:pt>
                <c:pt idx="3">
                  <c:v>d</c:v>
                </c:pt>
                <c:pt idx="4">
                  <c:v>e</c:v>
                </c:pt>
              </c:strCache>
            </c:strRef>
          </c:cat>
          <c:val>
            <c:numRef>
              <c:f>Sheet1!$B$2:$B$6</c:f>
              <c:numCache>
                <c:formatCode>General</c:formatCode>
                <c:ptCount val="5"/>
                <c:pt idx="0">
                  <c:v>2</c:v>
                </c:pt>
                <c:pt idx="1">
                  <c:v>5</c:v>
                </c:pt>
                <c:pt idx="2">
                  <c:v>6</c:v>
                </c:pt>
                <c:pt idx="3">
                  <c:v>3</c:v>
                </c:pt>
                <c:pt idx="4">
                  <c:v>1</c:v>
                </c:pt>
              </c:numCache>
            </c:numRef>
          </c:val>
        </c:ser>
        <c:dLbls>
          <c:showLegendKey val="0"/>
          <c:showVal val="0"/>
          <c:showCatName val="0"/>
          <c:showSerName val="0"/>
          <c:showPercent val="0"/>
          <c:showBubbleSize val="0"/>
        </c:dLbls>
        <c:gapWidth val="150"/>
        <c:axId val="200485512"/>
        <c:axId val="200486688"/>
      </c:barChart>
      <c:catAx>
        <c:axId val="200485512"/>
        <c:scaling>
          <c:orientation val="minMax"/>
        </c:scaling>
        <c:delete val="0"/>
        <c:axPos val="b"/>
        <c:numFmt formatCode="General" sourceLinked="0"/>
        <c:majorTickMark val="out"/>
        <c:minorTickMark val="none"/>
        <c:tickLblPos val="nextTo"/>
        <c:crossAx val="200486688"/>
        <c:crosses val="autoZero"/>
        <c:auto val="1"/>
        <c:lblAlgn val="ctr"/>
        <c:lblOffset val="100"/>
        <c:noMultiLvlLbl val="0"/>
      </c:catAx>
      <c:valAx>
        <c:axId val="200486688"/>
        <c:scaling>
          <c:orientation val="minMax"/>
        </c:scaling>
        <c:delete val="0"/>
        <c:axPos val="l"/>
        <c:majorGridlines/>
        <c:numFmt formatCode="General" sourceLinked="1"/>
        <c:majorTickMark val="out"/>
        <c:minorTickMark val="none"/>
        <c:tickLblPos val="nextTo"/>
        <c:crossAx val="200485512"/>
        <c:crosses val="autoZero"/>
        <c:crossBetween val="between"/>
      </c:valAx>
    </c:plotArea>
    <c:plotVisOnly val="1"/>
    <c:dispBlanksAs val="gap"/>
    <c:showDLblsOverMax val="0"/>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title>
    <c:autoTitleDeleted val="0"/>
    <c:plotArea>
      <c:layout/>
      <c:pieChart>
        <c:varyColors val="1"/>
        <c:ser>
          <c:idx val="0"/>
          <c:order val="0"/>
          <c:tx>
            <c:strRef>
              <c:f>Sheet1!$B$1</c:f>
              <c:strCache>
                <c:ptCount val="1"/>
              </c:strCache>
            </c:strRef>
          </c:tx>
          <c:cat>
            <c:strRef>
              <c:f>Sheet1!$A$2:$A$6</c:f>
              <c:strCache>
                <c:ptCount val="5"/>
                <c:pt idx="0">
                  <c:v>a</c:v>
                </c:pt>
                <c:pt idx="1">
                  <c:v>b</c:v>
                </c:pt>
                <c:pt idx="2">
                  <c:v>c</c:v>
                </c:pt>
                <c:pt idx="3">
                  <c:v>d</c:v>
                </c:pt>
                <c:pt idx="4">
                  <c:v>e</c:v>
                </c:pt>
              </c:strCache>
            </c:strRef>
          </c:cat>
          <c:val>
            <c:numRef>
              <c:f>Sheet1!$B$2:$B$6</c:f>
              <c:numCache>
                <c:formatCode>General</c:formatCode>
                <c:ptCount val="5"/>
                <c:pt idx="0">
                  <c:v>2</c:v>
                </c:pt>
                <c:pt idx="1">
                  <c:v>5</c:v>
                </c:pt>
                <c:pt idx="2">
                  <c:v>6</c:v>
                </c:pt>
                <c:pt idx="3">
                  <c:v>3</c:v>
                </c:pt>
                <c:pt idx="4">
                  <c:v>1</c:v>
                </c:pt>
              </c:numCache>
            </c:numRef>
          </c:val>
        </c:ser>
        <c:dLbls>
          <c:showLegendKey val="0"/>
          <c:showVal val="0"/>
          <c:showCatName val="0"/>
          <c:showSerName val="0"/>
          <c:showPercent val="0"/>
          <c:showBubbleSize val="0"/>
          <c:showLeaderLines val="1"/>
        </c:dLbls>
        <c:firstSliceAng val="0"/>
      </c:pieChart>
    </c:plotArea>
    <c:plotVisOnly val="1"/>
    <c:dispBlanksAs val="gap"/>
    <c:showDLblsOverMax val="0"/>
  </c:chart>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75AD73A-AE13-444E-A6A8-7967ABAB8119}" type="datetimeFigureOut">
              <a:rPr lang="en-AU" smtClean="0"/>
              <a:t>15/03/2015</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516DE00-3598-450D-9FD4-B3F4D33F029B}" type="slidenum">
              <a:rPr lang="en-AU" smtClean="0"/>
              <a:t>‹#›</a:t>
            </a:fld>
            <a:endParaRPr lang="en-AU"/>
          </a:p>
        </p:txBody>
      </p:sp>
    </p:spTree>
    <p:extLst>
      <p:ext uri="{BB962C8B-B14F-4D97-AF65-F5344CB8AC3E}">
        <p14:creationId xmlns:p14="http://schemas.microsoft.com/office/powerpoint/2010/main" val="5759409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9516DE00-3598-450D-9FD4-B3F4D33F029B}" type="slidenum">
              <a:rPr lang="en-AU" smtClean="0"/>
              <a:t>1</a:t>
            </a:fld>
            <a:endParaRPr lang="en-AU"/>
          </a:p>
        </p:txBody>
      </p:sp>
    </p:spTree>
    <p:extLst>
      <p:ext uri="{BB962C8B-B14F-4D97-AF65-F5344CB8AC3E}">
        <p14:creationId xmlns:p14="http://schemas.microsoft.com/office/powerpoint/2010/main" val="6482686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t>15/03/2015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34326484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t>15/03/2015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38355484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03B91B3-E50F-4EFF-8D5F-21DA810ECD9F}" type="datetimeFigureOut">
              <a:rPr lang="en-AU" smtClean="0"/>
              <a:t>15/03/2015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41804912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303B91B3-E50F-4EFF-8D5F-21DA810ECD9F}" type="datetimeFigureOut">
              <a:rPr lang="en-AU" smtClean="0"/>
              <a:t>15/03/2015</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17425957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303B91B3-E50F-4EFF-8D5F-21DA810ECD9F}" type="datetimeFigureOut">
              <a:rPr lang="en-AU" smtClean="0"/>
              <a:t>15/03/2015</a:t>
            </a:fld>
            <a:endParaRPr lang="en-AU" dirty="0"/>
          </a:p>
        </p:txBody>
      </p:sp>
      <p:sp>
        <p:nvSpPr>
          <p:cNvPr id="8" name="Footer Placeholder 7"/>
          <p:cNvSpPr>
            <a:spLocks noGrp="1"/>
          </p:cNvSpPr>
          <p:nvPr>
            <p:ph type="ftr" sz="quarter" idx="11"/>
          </p:nvPr>
        </p:nvSpPr>
        <p:spPr/>
        <p:txBody>
          <a:bodyPr/>
          <a:lstStyle/>
          <a:p>
            <a:endParaRPr lang="en-AU" dirty="0"/>
          </a:p>
        </p:txBody>
      </p:sp>
      <p:sp>
        <p:nvSpPr>
          <p:cNvPr id="9" name="Slide Number Placeholder 8"/>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20071826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303B91B3-E50F-4EFF-8D5F-21DA810ECD9F}" type="datetimeFigureOut">
              <a:rPr lang="en-AU" smtClean="0"/>
              <a:t>15/03/2015</a:t>
            </a:fld>
            <a:endParaRPr lang="en-AU" dirty="0"/>
          </a:p>
        </p:txBody>
      </p:sp>
      <p:sp>
        <p:nvSpPr>
          <p:cNvPr id="4" name="Footer Placeholder 3"/>
          <p:cNvSpPr>
            <a:spLocks noGrp="1"/>
          </p:cNvSpPr>
          <p:nvPr>
            <p:ph type="ftr" sz="quarter" idx="11"/>
          </p:nvPr>
        </p:nvSpPr>
        <p:spPr/>
        <p:txBody>
          <a:bodyPr/>
          <a:lstStyle/>
          <a:p>
            <a:endParaRPr lang="en-AU" dirty="0"/>
          </a:p>
        </p:txBody>
      </p:sp>
      <p:sp>
        <p:nvSpPr>
          <p:cNvPr id="5" name="Slide Number Placeholder 4"/>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5772354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3B91B3-E50F-4EFF-8D5F-21DA810ECD9F}" type="datetimeFigureOut">
              <a:rPr lang="en-AU" smtClean="0"/>
              <a:t>15/03/2015</a:t>
            </a:fld>
            <a:endParaRPr lang="en-AU" dirty="0"/>
          </a:p>
        </p:txBody>
      </p:sp>
      <p:sp>
        <p:nvSpPr>
          <p:cNvPr id="3" name="Footer Placeholder 2"/>
          <p:cNvSpPr>
            <a:spLocks noGrp="1"/>
          </p:cNvSpPr>
          <p:nvPr>
            <p:ph type="ftr" sz="quarter" idx="11"/>
          </p:nvPr>
        </p:nvSpPr>
        <p:spPr/>
        <p:txBody>
          <a:bodyPr/>
          <a:lstStyle/>
          <a:p>
            <a:endParaRPr lang="en-AU" dirty="0"/>
          </a:p>
        </p:txBody>
      </p:sp>
      <p:sp>
        <p:nvSpPr>
          <p:cNvPr id="4" name="Slide Number Placeholder 3"/>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1919919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03B91B3-E50F-4EFF-8D5F-21DA810ECD9F}" type="datetimeFigureOut">
              <a:rPr lang="en-AU" smtClean="0"/>
              <a:t>15/03/2015</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8185026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03B91B3-E50F-4EFF-8D5F-21DA810ECD9F}" type="datetimeFigureOut">
              <a:rPr lang="en-AU" smtClean="0"/>
              <a:t>15/03/2015</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23839825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t>15/03/2015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40963694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t>15/03/2015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18802157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3B91B3-E50F-4EFF-8D5F-21DA810ECD9F}" type="datetimeFigureOut">
              <a:rPr lang="en-AU" smtClean="0"/>
              <a:t>15/03/2015</a:t>
            </a:fld>
            <a:endParaRPr lang="en-AU"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937BE4-3242-4672-8D3A-460DCD9877AE}" type="slidenum">
              <a:rPr lang="en-AU" smtClean="0"/>
              <a:t>‹#›</a:t>
            </a:fld>
            <a:endParaRPr lang="en-AU" dirty="0"/>
          </a:p>
        </p:txBody>
      </p:sp>
    </p:spTree>
    <p:extLst>
      <p:ext uri="{BB962C8B-B14F-4D97-AF65-F5344CB8AC3E}">
        <p14:creationId xmlns:p14="http://schemas.microsoft.com/office/powerpoint/2010/main" val="24286664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chart" Target="../charts/chart2.xml"/><Relationship Id="rId4" Type="http://schemas.openxmlformats.org/officeDocument/2006/relationships/chart" Target="../charts/char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C:\Users\e4047095\AppData\Local\Microsoft\Windows\Temporary Internet Files\Content.IE5\UN5YM58D\Line_Graph[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40" y="1556792"/>
            <a:ext cx="3793604" cy="292739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755576" y="260648"/>
            <a:ext cx="7772400" cy="1470025"/>
          </a:xfrm>
        </p:spPr>
        <p:txBody>
          <a:bodyPr/>
          <a:lstStyle/>
          <a:p>
            <a:r>
              <a:rPr lang="en-AU" dirty="0" smtClean="0"/>
              <a:t>My Statistics</a:t>
            </a:r>
            <a:br>
              <a:rPr lang="en-AU" dirty="0" smtClean="0"/>
            </a:br>
            <a:r>
              <a:rPr lang="en-AU" dirty="0" smtClean="0"/>
              <a:t>Interactive Notebook</a:t>
            </a:r>
            <a:endParaRPr lang="en-AU" dirty="0"/>
          </a:p>
        </p:txBody>
      </p:sp>
      <p:sp>
        <p:nvSpPr>
          <p:cNvPr id="3" name="Subtitle 2"/>
          <p:cNvSpPr>
            <a:spLocks noGrp="1"/>
          </p:cNvSpPr>
          <p:nvPr>
            <p:ph type="subTitle" idx="1"/>
          </p:nvPr>
        </p:nvSpPr>
        <p:spPr>
          <a:xfrm>
            <a:off x="600844" y="4467670"/>
            <a:ext cx="6400800" cy="1752600"/>
          </a:xfrm>
        </p:spPr>
        <p:txBody>
          <a:bodyPr>
            <a:normAutofit fontScale="85000" lnSpcReduction="20000"/>
          </a:bodyPr>
          <a:lstStyle/>
          <a:p>
            <a:pPr algn="l"/>
            <a:r>
              <a:rPr lang="en-AU" dirty="0" smtClean="0"/>
              <a:t>Name </a:t>
            </a:r>
          </a:p>
          <a:p>
            <a:pPr algn="l"/>
            <a:r>
              <a:rPr lang="en-AU" dirty="0" smtClean="0"/>
              <a:t>Class </a:t>
            </a:r>
          </a:p>
          <a:p>
            <a:pPr algn="l"/>
            <a:r>
              <a:rPr lang="en-AU" dirty="0" smtClean="0"/>
              <a:t>Teacher </a:t>
            </a:r>
          </a:p>
          <a:p>
            <a:pPr algn="l"/>
            <a:r>
              <a:rPr lang="en-AU" dirty="0" smtClean="0"/>
              <a:t>Term 1 Semester 1</a:t>
            </a:r>
          </a:p>
        </p:txBody>
      </p:sp>
      <p:sp>
        <p:nvSpPr>
          <p:cNvPr id="13" name="TextBox 12"/>
          <p:cNvSpPr txBox="1"/>
          <p:nvPr/>
        </p:nvSpPr>
        <p:spPr>
          <a:xfrm>
            <a:off x="8748464" y="6488668"/>
            <a:ext cx="549775" cy="369332"/>
          </a:xfrm>
          <a:prstGeom prst="rect">
            <a:avLst/>
          </a:prstGeom>
          <a:noFill/>
        </p:spPr>
        <p:txBody>
          <a:bodyPr wrap="square" rtlCol="0">
            <a:spAutoFit/>
          </a:bodyPr>
          <a:lstStyle/>
          <a:p>
            <a:r>
              <a:rPr lang="en-AU" dirty="0"/>
              <a:t>1</a:t>
            </a:r>
          </a:p>
        </p:txBody>
      </p:sp>
      <p:graphicFrame>
        <p:nvGraphicFramePr>
          <p:cNvPr id="16" name="Chart 15"/>
          <p:cNvGraphicFramePr>
            <a:graphicFrameLocks/>
          </p:cNvGraphicFramePr>
          <p:nvPr>
            <p:extLst>
              <p:ext uri="{D42A27DB-BD31-4B8C-83A1-F6EECF244321}">
                <p14:modId xmlns:p14="http://schemas.microsoft.com/office/powerpoint/2010/main" val="4044940676"/>
              </p:ext>
            </p:extLst>
          </p:nvPr>
        </p:nvGraphicFramePr>
        <p:xfrm>
          <a:off x="5369199" y="1700808"/>
          <a:ext cx="3654152" cy="1803648"/>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7" name="Chart 16"/>
          <p:cNvGraphicFramePr>
            <a:graphicFrameLocks/>
          </p:cNvGraphicFramePr>
          <p:nvPr>
            <p:extLst>
              <p:ext uri="{D42A27DB-BD31-4B8C-83A1-F6EECF244321}">
                <p14:modId xmlns:p14="http://schemas.microsoft.com/office/powerpoint/2010/main" val="635245832"/>
              </p:ext>
            </p:extLst>
          </p:nvPr>
        </p:nvGraphicFramePr>
        <p:xfrm>
          <a:off x="4283968" y="3212976"/>
          <a:ext cx="4248472" cy="2599184"/>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312506273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AU" dirty="0" smtClean="0"/>
              <a:t>Create your own front page</a:t>
            </a:r>
            <a:endParaRPr lang="en-AU" dirty="0"/>
          </a:p>
        </p:txBody>
      </p:sp>
      <p:sp>
        <p:nvSpPr>
          <p:cNvPr id="4" name="Content Placeholder 3"/>
          <p:cNvSpPr>
            <a:spLocks noGrp="1"/>
          </p:cNvSpPr>
          <p:nvPr>
            <p:ph idx="1"/>
          </p:nvPr>
        </p:nvSpPr>
        <p:spPr/>
        <p:txBody>
          <a:bodyPr>
            <a:normAutofit/>
          </a:bodyPr>
          <a:lstStyle/>
          <a:p>
            <a:pPr marL="0" indent="0">
              <a:buNone/>
            </a:pPr>
            <a:r>
              <a:rPr lang="en-AU" dirty="0" smtClean="0"/>
              <a:t>It needs to contain the following –</a:t>
            </a:r>
          </a:p>
          <a:p>
            <a:pPr>
              <a:buFontTx/>
              <a:buChar char="-"/>
            </a:pPr>
            <a:r>
              <a:rPr lang="en-AU" dirty="0" smtClean="0"/>
              <a:t>My number interactive notebook</a:t>
            </a:r>
          </a:p>
          <a:p>
            <a:pPr>
              <a:buFontTx/>
              <a:buChar char="-"/>
            </a:pPr>
            <a:r>
              <a:rPr lang="en-AU" dirty="0" smtClean="0"/>
              <a:t>Name </a:t>
            </a:r>
          </a:p>
          <a:p>
            <a:pPr>
              <a:buFontTx/>
              <a:buChar char="-"/>
            </a:pPr>
            <a:r>
              <a:rPr lang="en-AU" dirty="0" smtClean="0"/>
              <a:t>Class</a:t>
            </a:r>
          </a:p>
          <a:p>
            <a:pPr>
              <a:buFontTx/>
              <a:buChar char="-"/>
            </a:pPr>
            <a:r>
              <a:rPr lang="en-AU" dirty="0" smtClean="0"/>
              <a:t>Teachers Name</a:t>
            </a:r>
          </a:p>
          <a:p>
            <a:pPr>
              <a:buFontTx/>
              <a:buChar char="-"/>
            </a:pPr>
            <a:r>
              <a:rPr lang="en-AU" dirty="0" smtClean="0"/>
              <a:t>Semester 1 Term 1</a:t>
            </a:r>
          </a:p>
          <a:p>
            <a:pPr>
              <a:buFontTx/>
              <a:buChar char="-"/>
            </a:pPr>
            <a:r>
              <a:rPr lang="en-AU" dirty="0" smtClean="0"/>
              <a:t>Page number 1</a:t>
            </a:r>
            <a:endParaRPr lang="en-AU" dirty="0"/>
          </a:p>
        </p:txBody>
      </p:sp>
    </p:spTree>
    <p:extLst>
      <p:ext uri="{BB962C8B-B14F-4D97-AF65-F5344CB8AC3E}">
        <p14:creationId xmlns:p14="http://schemas.microsoft.com/office/powerpoint/2010/main" val="8286990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4500081" y="0"/>
            <a:ext cx="72008" cy="6957392"/>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403" y="6474667"/>
            <a:ext cx="301686" cy="369332"/>
          </a:xfrm>
          <a:prstGeom prst="rect">
            <a:avLst/>
          </a:prstGeom>
          <a:noFill/>
        </p:spPr>
        <p:txBody>
          <a:bodyPr wrap="none" rtlCol="0">
            <a:spAutoFit/>
          </a:bodyPr>
          <a:lstStyle/>
          <a:p>
            <a:r>
              <a:rPr lang="en-AU" dirty="0" smtClean="0"/>
              <a:t>2</a:t>
            </a:r>
            <a:endParaRPr lang="en-AU" dirty="0"/>
          </a:p>
        </p:txBody>
      </p:sp>
      <p:sp>
        <p:nvSpPr>
          <p:cNvPr id="7" name="TextBox 6"/>
          <p:cNvSpPr txBox="1"/>
          <p:nvPr/>
        </p:nvSpPr>
        <p:spPr>
          <a:xfrm>
            <a:off x="8748464" y="6488668"/>
            <a:ext cx="549775" cy="369332"/>
          </a:xfrm>
          <a:prstGeom prst="rect">
            <a:avLst/>
          </a:prstGeom>
          <a:noFill/>
        </p:spPr>
        <p:txBody>
          <a:bodyPr wrap="square" rtlCol="0">
            <a:spAutoFit/>
          </a:bodyPr>
          <a:lstStyle/>
          <a:p>
            <a:r>
              <a:rPr lang="en-AU" dirty="0" smtClean="0"/>
              <a:t>3</a:t>
            </a:r>
            <a:endParaRPr lang="en-AU" dirty="0"/>
          </a:p>
        </p:txBody>
      </p:sp>
      <p:cxnSp>
        <p:nvCxnSpPr>
          <p:cNvPr id="9" name="Straight Connector 8"/>
          <p:cNvCxnSpPr/>
          <p:nvPr/>
        </p:nvCxnSpPr>
        <p:spPr>
          <a:xfrm>
            <a:off x="-143838" y="620688"/>
            <a:ext cx="4643919"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5" name="Straight Connector 14"/>
          <p:cNvCxnSpPr/>
          <p:nvPr/>
        </p:nvCxnSpPr>
        <p:spPr>
          <a:xfrm>
            <a:off x="1115616" y="404664"/>
            <a:ext cx="0" cy="5867980"/>
          </a:xfrm>
          <a:prstGeom prst="line">
            <a:avLst/>
          </a:prstGeom>
        </p:spPr>
        <p:style>
          <a:lnRef idx="1">
            <a:schemeClr val="accent2"/>
          </a:lnRef>
          <a:fillRef idx="0">
            <a:schemeClr val="accent2"/>
          </a:fillRef>
          <a:effectRef idx="0">
            <a:schemeClr val="accent2"/>
          </a:effectRef>
          <a:fontRef idx="minor">
            <a:schemeClr val="tx1"/>
          </a:fontRef>
        </p:style>
      </p:cxnSp>
      <p:sp>
        <p:nvSpPr>
          <p:cNvPr id="20" name="TextBox 19"/>
          <p:cNvSpPr txBox="1"/>
          <p:nvPr/>
        </p:nvSpPr>
        <p:spPr>
          <a:xfrm>
            <a:off x="577648" y="5803"/>
            <a:ext cx="932050" cy="338554"/>
          </a:xfrm>
          <a:prstGeom prst="rect">
            <a:avLst/>
          </a:prstGeom>
          <a:noFill/>
        </p:spPr>
        <p:txBody>
          <a:bodyPr wrap="none" rtlCol="0">
            <a:spAutoFit/>
          </a:bodyPr>
          <a:lstStyle/>
          <a:p>
            <a:r>
              <a:rPr lang="en-AU" sz="1600" dirty="0" smtClean="0"/>
              <a:t>Contents</a:t>
            </a:r>
            <a:endParaRPr lang="en-AU" sz="1600" dirty="0"/>
          </a:p>
        </p:txBody>
      </p:sp>
      <p:sp>
        <p:nvSpPr>
          <p:cNvPr id="23" name="TextBox 22"/>
          <p:cNvSpPr txBox="1"/>
          <p:nvPr/>
        </p:nvSpPr>
        <p:spPr>
          <a:xfrm>
            <a:off x="223224" y="374467"/>
            <a:ext cx="580865" cy="338554"/>
          </a:xfrm>
          <a:prstGeom prst="rect">
            <a:avLst/>
          </a:prstGeom>
          <a:noFill/>
        </p:spPr>
        <p:txBody>
          <a:bodyPr wrap="none" rtlCol="0">
            <a:spAutoFit/>
          </a:bodyPr>
          <a:lstStyle/>
          <a:p>
            <a:r>
              <a:rPr lang="en-AU" sz="1600" dirty="0" smtClean="0"/>
              <a:t>Page</a:t>
            </a:r>
            <a:endParaRPr lang="en-AU" sz="1600" dirty="0"/>
          </a:p>
        </p:txBody>
      </p:sp>
      <p:cxnSp>
        <p:nvCxnSpPr>
          <p:cNvPr id="16" name="Straight Connector 15"/>
          <p:cNvCxnSpPr/>
          <p:nvPr/>
        </p:nvCxnSpPr>
        <p:spPr>
          <a:xfrm>
            <a:off x="2143810" y="404664"/>
            <a:ext cx="0" cy="5867980"/>
          </a:xfrm>
          <a:prstGeom prst="line">
            <a:avLst/>
          </a:prstGeom>
        </p:spPr>
        <p:style>
          <a:lnRef idx="1">
            <a:schemeClr val="accent2"/>
          </a:lnRef>
          <a:fillRef idx="0">
            <a:schemeClr val="accent2"/>
          </a:fillRef>
          <a:effectRef idx="0">
            <a:schemeClr val="accent2"/>
          </a:effectRef>
          <a:fontRef idx="minor">
            <a:schemeClr val="tx1"/>
          </a:fontRef>
        </p:style>
      </p:cxnSp>
      <p:sp>
        <p:nvSpPr>
          <p:cNvPr id="17" name="TextBox 16"/>
          <p:cNvSpPr txBox="1"/>
          <p:nvPr/>
        </p:nvSpPr>
        <p:spPr>
          <a:xfrm>
            <a:off x="1403646" y="344357"/>
            <a:ext cx="576504" cy="338554"/>
          </a:xfrm>
          <a:prstGeom prst="rect">
            <a:avLst/>
          </a:prstGeom>
          <a:noFill/>
        </p:spPr>
        <p:txBody>
          <a:bodyPr wrap="none" rtlCol="0">
            <a:spAutoFit/>
          </a:bodyPr>
          <a:lstStyle/>
          <a:p>
            <a:r>
              <a:rPr lang="en-AU" sz="1600" dirty="0" smtClean="0"/>
              <a:t>Date</a:t>
            </a:r>
            <a:endParaRPr lang="en-AU" sz="1600" dirty="0"/>
          </a:p>
        </p:txBody>
      </p:sp>
      <p:sp>
        <p:nvSpPr>
          <p:cNvPr id="18" name="TextBox 17"/>
          <p:cNvSpPr txBox="1"/>
          <p:nvPr/>
        </p:nvSpPr>
        <p:spPr>
          <a:xfrm>
            <a:off x="2555776" y="344357"/>
            <a:ext cx="1398888" cy="338554"/>
          </a:xfrm>
          <a:prstGeom prst="rect">
            <a:avLst/>
          </a:prstGeom>
          <a:noFill/>
        </p:spPr>
        <p:txBody>
          <a:bodyPr wrap="square" rtlCol="0">
            <a:spAutoFit/>
          </a:bodyPr>
          <a:lstStyle/>
          <a:p>
            <a:r>
              <a:rPr lang="en-AU" sz="1600" dirty="0" smtClean="0"/>
              <a:t>Description</a:t>
            </a:r>
            <a:endParaRPr lang="en-AU" sz="1600" dirty="0"/>
          </a:p>
        </p:txBody>
      </p:sp>
      <p:sp>
        <p:nvSpPr>
          <p:cNvPr id="21" name="TextBox 20"/>
          <p:cNvSpPr txBox="1"/>
          <p:nvPr/>
        </p:nvSpPr>
        <p:spPr>
          <a:xfrm>
            <a:off x="5796136" y="66504"/>
            <a:ext cx="2592288" cy="338554"/>
          </a:xfrm>
          <a:prstGeom prst="rect">
            <a:avLst/>
          </a:prstGeom>
          <a:noFill/>
        </p:spPr>
        <p:txBody>
          <a:bodyPr wrap="square" rtlCol="0">
            <a:spAutoFit/>
          </a:bodyPr>
          <a:lstStyle/>
          <a:p>
            <a:r>
              <a:rPr lang="en-AU" sz="1600" dirty="0" smtClean="0"/>
              <a:t>Glossary or Formula Page</a:t>
            </a:r>
            <a:endParaRPr lang="en-AU" sz="1600" dirty="0"/>
          </a:p>
        </p:txBody>
      </p:sp>
    </p:spTree>
    <p:extLst>
      <p:ext uri="{BB962C8B-B14F-4D97-AF65-F5344CB8AC3E}">
        <p14:creationId xmlns:p14="http://schemas.microsoft.com/office/powerpoint/2010/main" val="151545733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4500081" y="0"/>
            <a:ext cx="72008" cy="6957392"/>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403" y="6474667"/>
            <a:ext cx="301686" cy="369332"/>
          </a:xfrm>
          <a:prstGeom prst="rect">
            <a:avLst/>
          </a:prstGeom>
          <a:noFill/>
        </p:spPr>
        <p:txBody>
          <a:bodyPr wrap="none" rtlCol="0">
            <a:spAutoFit/>
          </a:bodyPr>
          <a:lstStyle/>
          <a:p>
            <a:r>
              <a:rPr lang="en-AU" dirty="0"/>
              <a:t>4</a:t>
            </a:r>
          </a:p>
        </p:txBody>
      </p:sp>
      <p:sp>
        <p:nvSpPr>
          <p:cNvPr id="7" name="TextBox 6"/>
          <p:cNvSpPr txBox="1"/>
          <p:nvPr/>
        </p:nvSpPr>
        <p:spPr>
          <a:xfrm>
            <a:off x="8748463" y="6525528"/>
            <a:ext cx="549775" cy="369332"/>
          </a:xfrm>
          <a:prstGeom prst="rect">
            <a:avLst/>
          </a:prstGeom>
          <a:noFill/>
        </p:spPr>
        <p:txBody>
          <a:bodyPr wrap="square" rtlCol="0">
            <a:spAutoFit/>
          </a:bodyPr>
          <a:lstStyle/>
          <a:p>
            <a:r>
              <a:rPr lang="en-AU" dirty="0"/>
              <a:t>5</a:t>
            </a:r>
          </a:p>
        </p:txBody>
      </p:sp>
      <p:cxnSp>
        <p:nvCxnSpPr>
          <p:cNvPr id="9" name="Straight Connector 8"/>
          <p:cNvCxnSpPr/>
          <p:nvPr/>
        </p:nvCxnSpPr>
        <p:spPr>
          <a:xfrm>
            <a:off x="4500081" y="620688"/>
            <a:ext cx="4643919"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1" name="Straight Connector 10"/>
          <p:cNvCxnSpPr/>
          <p:nvPr/>
        </p:nvCxnSpPr>
        <p:spPr>
          <a:xfrm>
            <a:off x="4500081" y="1196752"/>
            <a:ext cx="4643919"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3" name="Straight Connector 12"/>
          <p:cNvCxnSpPr/>
          <p:nvPr/>
        </p:nvCxnSpPr>
        <p:spPr>
          <a:xfrm>
            <a:off x="4572089" y="5373216"/>
            <a:ext cx="472615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5" name="Straight Connector 14"/>
          <p:cNvCxnSpPr/>
          <p:nvPr/>
        </p:nvCxnSpPr>
        <p:spPr>
          <a:xfrm>
            <a:off x="5868144" y="1196752"/>
            <a:ext cx="0" cy="4176464"/>
          </a:xfrm>
          <a:prstGeom prst="line">
            <a:avLst/>
          </a:prstGeom>
        </p:spPr>
        <p:style>
          <a:lnRef idx="1">
            <a:schemeClr val="accent2"/>
          </a:lnRef>
          <a:fillRef idx="0">
            <a:schemeClr val="accent2"/>
          </a:fillRef>
          <a:effectRef idx="0">
            <a:schemeClr val="accent2"/>
          </a:effectRef>
          <a:fontRef idx="minor">
            <a:schemeClr val="tx1"/>
          </a:fontRef>
        </p:style>
      </p:cxnSp>
      <p:sp>
        <p:nvSpPr>
          <p:cNvPr id="19" name="TextBox 18"/>
          <p:cNvSpPr txBox="1"/>
          <p:nvPr/>
        </p:nvSpPr>
        <p:spPr>
          <a:xfrm>
            <a:off x="4533261" y="66690"/>
            <a:ext cx="431959" cy="553998"/>
          </a:xfrm>
          <a:prstGeom prst="rect">
            <a:avLst/>
          </a:prstGeom>
          <a:noFill/>
        </p:spPr>
        <p:txBody>
          <a:bodyPr wrap="square" rtlCol="0">
            <a:spAutoFit/>
          </a:bodyPr>
          <a:lstStyle/>
          <a:p>
            <a:r>
              <a:rPr lang="en-AU" sz="1000" dirty="0" smtClean="0"/>
              <a:t>24</a:t>
            </a:r>
          </a:p>
          <a:p>
            <a:r>
              <a:rPr lang="en-AU" sz="1000" dirty="0" smtClean="0"/>
              <a:t>7</a:t>
            </a:r>
          </a:p>
          <a:p>
            <a:r>
              <a:rPr lang="en-AU" sz="1000" dirty="0" smtClean="0"/>
              <a:t>30</a:t>
            </a:r>
            <a:endParaRPr lang="en-AU" sz="1000" dirty="0"/>
          </a:p>
        </p:txBody>
      </p:sp>
      <p:sp>
        <p:nvSpPr>
          <p:cNvPr id="20" name="TextBox 19"/>
          <p:cNvSpPr txBox="1"/>
          <p:nvPr/>
        </p:nvSpPr>
        <p:spPr>
          <a:xfrm>
            <a:off x="4572089" y="601548"/>
            <a:ext cx="1143262" cy="246221"/>
          </a:xfrm>
          <a:prstGeom prst="rect">
            <a:avLst/>
          </a:prstGeom>
          <a:noFill/>
        </p:spPr>
        <p:txBody>
          <a:bodyPr wrap="none" rtlCol="0">
            <a:spAutoFit/>
          </a:bodyPr>
          <a:lstStyle/>
          <a:p>
            <a:r>
              <a:rPr lang="en-AU" sz="1000" dirty="0" smtClean="0"/>
              <a:t>Essential Question</a:t>
            </a:r>
            <a:endParaRPr lang="en-AU" sz="1000" dirty="0"/>
          </a:p>
        </p:txBody>
      </p:sp>
      <p:sp>
        <p:nvSpPr>
          <p:cNvPr id="22" name="TextBox 21"/>
          <p:cNvSpPr txBox="1"/>
          <p:nvPr/>
        </p:nvSpPr>
        <p:spPr>
          <a:xfrm>
            <a:off x="5867750" y="1196751"/>
            <a:ext cx="492443" cy="246221"/>
          </a:xfrm>
          <a:prstGeom prst="rect">
            <a:avLst/>
          </a:prstGeom>
          <a:noFill/>
        </p:spPr>
        <p:txBody>
          <a:bodyPr wrap="none" rtlCol="0">
            <a:spAutoFit/>
          </a:bodyPr>
          <a:lstStyle/>
          <a:p>
            <a:r>
              <a:rPr lang="en-AU" sz="1000" dirty="0" smtClean="0"/>
              <a:t>Notes</a:t>
            </a:r>
            <a:endParaRPr lang="en-AU" sz="1000" dirty="0"/>
          </a:p>
        </p:txBody>
      </p:sp>
      <p:sp>
        <p:nvSpPr>
          <p:cNvPr id="23" name="TextBox 22"/>
          <p:cNvSpPr txBox="1"/>
          <p:nvPr/>
        </p:nvSpPr>
        <p:spPr>
          <a:xfrm>
            <a:off x="4521850" y="1196752"/>
            <a:ext cx="708848" cy="246221"/>
          </a:xfrm>
          <a:prstGeom prst="rect">
            <a:avLst/>
          </a:prstGeom>
          <a:noFill/>
        </p:spPr>
        <p:txBody>
          <a:bodyPr wrap="none" rtlCol="0">
            <a:spAutoFit/>
          </a:bodyPr>
          <a:lstStyle/>
          <a:p>
            <a:r>
              <a:rPr lang="en-AU" sz="1000" dirty="0" smtClean="0"/>
              <a:t>Questions</a:t>
            </a:r>
            <a:endParaRPr lang="en-AU" sz="1000" dirty="0"/>
          </a:p>
        </p:txBody>
      </p:sp>
      <p:sp>
        <p:nvSpPr>
          <p:cNvPr id="24" name="TextBox 23"/>
          <p:cNvSpPr txBox="1"/>
          <p:nvPr/>
        </p:nvSpPr>
        <p:spPr>
          <a:xfrm>
            <a:off x="4572089" y="5373216"/>
            <a:ext cx="679994" cy="246221"/>
          </a:xfrm>
          <a:prstGeom prst="rect">
            <a:avLst/>
          </a:prstGeom>
          <a:noFill/>
        </p:spPr>
        <p:txBody>
          <a:bodyPr wrap="none" rtlCol="0">
            <a:spAutoFit/>
          </a:bodyPr>
          <a:lstStyle/>
          <a:p>
            <a:r>
              <a:rPr lang="en-AU" sz="1000" dirty="0" smtClean="0"/>
              <a:t>Summary</a:t>
            </a:r>
            <a:endParaRPr lang="en-AU" sz="1000" dirty="0"/>
          </a:p>
        </p:txBody>
      </p:sp>
      <p:sp>
        <p:nvSpPr>
          <p:cNvPr id="25" name="TextBox 24"/>
          <p:cNvSpPr txBox="1"/>
          <p:nvPr/>
        </p:nvSpPr>
        <p:spPr>
          <a:xfrm>
            <a:off x="151246" y="142494"/>
            <a:ext cx="671081" cy="369332"/>
          </a:xfrm>
          <a:prstGeom prst="rect">
            <a:avLst/>
          </a:prstGeom>
          <a:noFill/>
        </p:spPr>
        <p:txBody>
          <a:bodyPr wrap="none" rtlCol="0">
            <a:spAutoFit/>
          </a:bodyPr>
          <a:lstStyle/>
          <a:p>
            <a:r>
              <a:rPr lang="en-AU" dirty="0" smtClean="0"/>
              <a:t>Tasks</a:t>
            </a:r>
            <a:endParaRPr lang="en-AU" dirty="0"/>
          </a:p>
        </p:txBody>
      </p:sp>
    </p:spTree>
    <p:extLst>
      <p:ext uri="{BB962C8B-B14F-4D97-AF65-F5344CB8AC3E}">
        <p14:creationId xmlns:p14="http://schemas.microsoft.com/office/powerpoint/2010/main" val="221653258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r>
              <a:rPr lang="en-AU" dirty="0"/>
              <a:t>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821059" cy="523220"/>
          </a:xfrm>
          <a:prstGeom prst="rect">
            <a:avLst/>
          </a:prstGeom>
          <a:noFill/>
        </p:spPr>
        <p:txBody>
          <a:bodyPr wrap="none" rtlCol="0">
            <a:spAutoFit/>
          </a:bodyPr>
          <a:lstStyle/>
          <a:p>
            <a:r>
              <a:rPr lang="en-AU" sz="2800" dirty="0" smtClean="0"/>
              <a:t>Title</a:t>
            </a: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smtClean="0"/>
              <a:t>EQ –</a:t>
            </a:r>
            <a:endParaRPr lang="en-AU" sz="2400" dirty="0"/>
          </a:p>
        </p:txBody>
      </p:sp>
    </p:spTree>
    <p:extLst>
      <p:ext uri="{BB962C8B-B14F-4D97-AF65-F5344CB8AC3E}">
        <p14:creationId xmlns:p14="http://schemas.microsoft.com/office/powerpoint/2010/main" val="167090258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endParaRPr lang="en-AU" dirty="0"/>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1600118" cy="523220"/>
          </a:xfrm>
          <a:prstGeom prst="rect">
            <a:avLst/>
          </a:prstGeom>
          <a:noFill/>
        </p:spPr>
        <p:txBody>
          <a:bodyPr wrap="none" rtlCol="0">
            <a:spAutoFit/>
          </a:bodyPr>
          <a:lstStyle/>
          <a:p>
            <a:r>
              <a:rPr lang="en-AU" sz="2800" dirty="0" smtClean="0"/>
              <a:t>Dot plots</a:t>
            </a:r>
            <a:r>
              <a:rPr lang="en-AU" sz="2800" dirty="0" smtClean="0"/>
              <a:t> </a:t>
            </a: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smtClean="0"/>
              <a:t>EQ </a:t>
            </a:r>
            <a:r>
              <a:rPr lang="en-AU" sz="2400" dirty="0" smtClean="0"/>
              <a:t>– How do I </a:t>
            </a:r>
            <a:r>
              <a:rPr lang="en-AU" sz="2400" dirty="0" smtClean="0"/>
              <a:t>construct a dot plot</a:t>
            </a:r>
            <a:r>
              <a:rPr lang="en-AU" sz="2400" dirty="0" smtClean="0"/>
              <a:t>?</a:t>
            </a:r>
            <a:endParaRPr lang="en-AU" sz="2400" dirty="0"/>
          </a:p>
        </p:txBody>
      </p:sp>
    </p:spTree>
    <p:extLst>
      <p:ext uri="{BB962C8B-B14F-4D97-AF65-F5344CB8AC3E}">
        <p14:creationId xmlns:p14="http://schemas.microsoft.com/office/powerpoint/2010/main" val="216247526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endParaRPr lang="en-AU" dirty="0"/>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1600118" cy="523220"/>
          </a:xfrm>
          <a:prstGeom prst="rect">
            <a:avLst/>
          </a:prstGeom>
          <a:noFill/>
        </p:spPr>
        <p:txBody>
          <a:bodyPr wrap="none" rtlCol="0">
            <a:spAutoFit/>
          </a:bodyPr>
          <a:lstStyle/>
          <a:p>
            <a:r>
              <a:rPr lang="en-AU" sz="2800" dirty="0" smtClean="0"/>
              <a:t>Dot plots</a:t>
            </a:r>
            <a:r>
              <a:rPr lang="en-AU" sz="2800" dirty="0" smtClean="0"/>
              <a:t> </a:t>
            </a: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smtClean="0"/>
              <a:t>EQ </a:t>
            </a:r>
            <a:r>
              <a:rPr lang="en-AU" sz="2400" dirty="0" smtClean="0"/>
              <a:t>– How do I </a:t>
            </a:r>
            <a:r>
              <a:rPr lang="en-AU" sz="2400" dirty="0" smtClean="0"/>
              <a:t>construct a dot plot</a:t>
            </a:r>
            <a:r>
              <a:rPr lang="en-AU" sz="2400" dirty="0" smtClean="0"/>
              <a:t>?</a:t>
            </a:r>
            <a:endParaRPr lang="en-AU" sz="2400" dirty="0"/>
          </a:p>
        </p:txBody>
      </p:sp>
      <p:sp>
        <p:nvSpPr>
          <p:cNvPr id="3" name="TextBox 2"/>
          <p:cNvSpPr txBox="1"/>
          <p:nvPr/>
        </p:nvSpPr>
        <p:spPr>
          <a:xfrm>
            <a:off x="119514" y="1979548"/>
            <a:ext cx="1963486" cy="369332"/>
          </a:xfrm>
          <a:prstGeom prst="rect">
            <a:avLst/>
          </a:prstGeom>
          <a:noFill/>
        </p:spPr>
        <p:txBody>
          <a:bodyPr wrap="none" rtlCol="0">
            <a:spAutoFit/>
          </a:bodyPr>
          <a:lstStyle/>
          <a:p>
            <a:r>
              <a:rPr lang="en-AU" dirty="0" smtClean="0"/>
              <a:t>What is a </a:t>
            </a:r>
            <a:r>
              <a:rPr lang="en-AU" dirty="0" smtClean="0"/>
              <a:t>dot plot</a:t>
            </a:r>
            <a:r>
              <a:rPr lang="en-AU" dirty="0" smtClean="0"/>
              <a:t>?</a:t>
            </a:r>
            <a:endParaRPr lang="en-AU" dirty="0"/>
          </a:p>
        </p:txBody>
      </p:sp>
    </p:spTree>
    <p:extLst>
      <p:ext uri="{BB962C8B-B14F-4D97-AF65-F5344CB8AC3E}">
        <p14:creationId xmlns:p14="http://schemas.microsoft.com/office/powerpoint/2010/main" val="391232572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endParaRPr lang="en-AU" dirty="0"/>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1600118" cy="523220"/>
          </a:xfrm>
          <a:prstGeom prst="rect">
            <a:avLst/>
          </a:prstGeom>
          <a:noFill/>
        </p:spPr>
        <p:txBody>
          <a:bodyPr wrap="none" rtlCol="0">
            <a:spAutoFit/>
          </a:bodyPr>
          <a:lstStyle/>
          <a:p>
            <a:r>
              <a:rPr lang="en-AU" sz="2800" dirty="0" smtClean="0"/>
              <a:t>Dot plots</a:t>
            </a:r>
            <a:r>
              <a:rPr lang="en-AU" sz="2800" dirty="0" smtClean="0"/>
              <a:t> </a:t>
            </a: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smtClean="0"/>
              <a:t>EQ </a:t>
            </a:r>
            <a:r>
              <a:rPr lang="en-AU" sz="2400" dirty="0" smtClean="0"/>
              <a:t>– How do I </a:t>
            </a:r>
            <a:r>
              <a:rPr lang="en-AU" sz="2400" dirty="0" smtClean="0"/>
              <a:t>construct a dot plot</a:t>
            </a:r>
            <a:r>
              <a:rPr lang="en-AU" sz="2400" dirty="0" smtClean="0"/>
              <a:t>?</a:t>
            </a:r>
            <a:endParaRPr lang="en-AU" sz="2400" dirty="0"/>
          </a:p>
        </p:txBody>
      </p:sp>
      <p:sp>
        <p:nvSpPr>
          <p:cNvPr id="3" name="TextBox 2"/>
          <p:cNvSpPr txBox="1"/>
          <p:nvPr/>
        </p:nvSpPr>
        <p:spPr>
          <a:xfrm>
            <a:off x="119514" y="1979548"/>
            <a:ext cx="1963486" cy="369332"/>
          </a:xfrm>
          <a:prstGeom prst="rect">
            <a:avLst/>
          </a:prstGeom>
          <a:noFill/>
        </p:spPr>
        <p:txBody>
          <a:bodyPr wrap="none" rtlCol="0">
            <a:spAutoFit/>
          </a:bodyPr>
          <a:lstStyle/>
          <a:p>
            <a:r>
              <a:rPr lang="en-AU" dirty="0" smtClean="0"/>
              <a:t>What is a </a:t>
            </a:r>
            <a:r>
              <a:rPr lang="en-AU" dirty="0" smtClean="0"/>
              <a:t>dot plot</a:t>
            </a:r>
            <a:r>
              <a:rPr lang="en-AU" dirty="0" smtClean="0"/>
              <a:t>?</a:t>
            </a:r>
            <a:endParaRPr lang="en-AU" dirty="0"/>
          </a:p>
        </p:txBody>
      </p:sp>
      <p:sp>
        <p:nvSpPr>
          <p:cNvPr id="5" name="TextBox 4"/>
          <p:cNvSpPr txBox="1"/>
          <p:nvPr/>
        </p:nvSpPr>
        <p:spPr>
          <a:xfrm>
            <a:off x="3016587" y="1991628"/>
            <a:ext cx="5875894" cy="646331"/>
          </a:xfrm>
          <a:prstGeom prst="rect">
            <a:avLst/>
          </a:prstGeom>
          <a:noFill/>
        </p:spPr>
        <p:txBody>
          <a:bodyPr wrap="square" rtlCol="0">
            <a:spAutoFit/>
          </a:bodyPr>
          <a:lstStyle/>
          <a:p>
            <a:r>
              <a:rPr lang="en-AU" dirty="0" smtClean="0"/>
              <a:t>Dot plots are similar to frequency tables. They make it easier to see and interpret data.</a:t>
            </a:r>
            <a:endParaRPr lang="en-AU" b="1" u="sng" dirty="0"/>
          </a:p>
        </p:txBody>
      </p:sp>
    </p:spTree>
    <p:extLst>
      <p:ext uri="{BB962C8B-B14F-4D97-AF65-F5344CB8AC3E}">
        <p14:creationId xmlns:p14="http://schemas.microsoft.com/office/powerpoint/2010/main" val="351415963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endParaRPr lang="en-AU" dirty="0"/>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1600118" cy="523220"/>
          </a:xfrm>
          <a:prstGeom prst="rect">
            <a:avLst/>
          </a:prstGeom>
          <a:noFill/>
        </p:spPr>
        <p:txBody>
          <a:bodyPr wrap="none" rtlCol="0">
            <a:spAutoFit/>
          </a:bodyPr>
          <a:lstStyle/>
          <a:p>
            <a:r>
              <a:rPr lang="en-AU" sz="2800" dirty="0" smtClean="0"/>
              <a:t>Dot plots</a:t>
            </a:r>
            <a:r>
              <a:rPr lang="en-AU" sz="2800" dirty="0" smtClean="0"/>
              <a:t> </a:t>
            </a: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smtClean="0"/>
              <a:t>EQ </a:t>
            </a:r>
            <a:r>
              <a:rPr lang="en-AU" sz="2400" dirty="0" smtClean="0"/>
              <a:t>– How do I </a:t>
            </a:r>
            <a:r>
              <a:rPr lang="en-AU" sz="2400" dirty="0" smtClean="0"/>
              <a:t>construct a dot plot</a:t>
            </a:r>
            <a:r>
              <a:rPr lang="en-AU" sz="2400" dirty="0" smtClean="0"/>
              <a:t>?</a:t>
            </a:r>
            <a:endParaRPr lang="en-AU" sz="2400" dirty="0"/>
          </a:p>
        </p:txBody>
      </p:sp>
      <p:sp>
        <p:nvSpPr>
          <p:cNvPr id="3" name="TextBox 2"/>
          <p:cNvSpPr txBox="1"/>
          <p:nvPr/>
        </p:nvSpPr>
        <p:spPr>
          <a:xfrm>
            <a:off x="119514" y="1979548"/>
            <a:ext cx="1963486" cy="369332"/>
          </a:xfrm>
          <a:prstGeom prst="rect">
            <a:avLst/>
          </a:prstGeom>
          <a:noFill/>
        </p:spPr>
        <p:txBody>
          <a:bodyPr wrap="none" rtlCol="0">
            <a:spAutoFit/>
          </a:bodyPr>
          <a:lstStyle/>
          <a:p>
            <a:r>
              <a:rPr lang="en-AU" dirty="0" smtClean="0"/>
              <a:t>What is a </a:t>
            </a:r>
            <a:r>
              <a:rPr lang="en-AU" dirty="0" smtClean="0"/>
              <a:t>dot plot</a:t>
            </a:r>
            <a:r>
              <a:rPr lang="en-AU" dirty="0" smtClean="0"/>
              <a:t>?</a:t>
            </a:r>
            <a:endParaRPr lang="en-AU" dirty="0"/>
          </a:p>
        </p:txBody>
      </p:sp>
      <p:sp>
        <p:nvSpPr>
          <p:cNvPr id="5" name="TextBox 4"/>
          <p:cNvSpPr txBox="1"/>
          <p:nvPr/>
        </p:nvSpPr>
        <p:spPr>
          <a:xfrm>
            <a:off x="3016587" y="1991628"/>
            <a:ext cx="5875894" cy="646331"/>
          </a:xfrm>
          <a:prstGeom prst="rect">
            <a:avLst/>
          </a:prstGeom>
          <a:noFill/>
        </p:spPr>
        <p:txBody>
          <a:bodyPr wrap="square" rtlCol="0">
            <a:spAutoFit/>
          </a:bodyPr>
          <a:lstStyle/>
          <a:p>
            <a:r>
              <a:rPr lang="en-AU" dirty="0" smtClean="0"/>
              <a:t>Dot plots are similar to frequency tables. They make it easier to see and interpret data.</a:t>
            </a:r>
            <a:endParaRPr lang="en-AU" b="1" u="sng" dirty="0"/>
          </a:p>
        </p:txBody>
      </p:sp>
      <p:pic>
        <p:nvPicPr>
          <p:cNvPr id="15" name="Picture 2" descr="http://mathbitsnotebook.com/Algebra1/StatisticsData/DotBrothers.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3928" y="2689959"/>
            <a:ext cx="3600400" cy="19386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216258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endParaRPr lang="en-AU" dirty="0"/>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1600118" cy="523220"/>
          </a:xfrm>
          <a:prstGeom prst="rect">
            <a:avLst/>
          </a:prstGeom>
          <a:noFill/>
        </p:spPr>
        <p:txBody>
          <a:bodyPr wrap="none" rtlCol="0">
            <a:spAutoFit/>
          </a:bodyPr>
          <a:lstStyle/>
          <a:p>
            <a:r>
              <a:rPr lang="en-AU" sz="2800" dirty="0" smtClean="0"/>
              <a:t>Dot plots</a:t>
            </a:r>
            <a:r>
              <a:rPr lang="en-AU" sz="2800" dirty="0" smtClean="0"/>
              <a:t> </a:t>
            </a: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smtClean="0"/>
              <a:t>EQ </a:t>
            </a:r>
            <a:r>
              <a:rPr lang="en-AU" sz="2400" dirty="0" smtClean="0"/>
              <a:t>– How do I </a:t>
            </a:r>
            <a:r>
              <a:rPr lang="en-AU" sz="2400" dirty="0" smtClean="0"/>
              <a:t>construct a dot plot</a:t>
            </a:r>
            <a:r>
              <a:rPr lang="en-AU" sz="2400" dirty="0" smtClean="0"/>
              <a:t>?</a:t>
            </a:r>
            <a:endParaRPr lang="en-AU" sz="2400" dirty="0"/>
          </a:p>
        </p:txBody>
      </p:sp>
      <p:sp>
        <p:nvSpPr>
          <p:cNvPr id="3" name="TextBox 2"/>
          <p:cNvSpPr txBox="1"/>
          <p:nvPr/>
        </p:nvSpPr>
        <p:spPr>
          <a:xfrm>
            <a:off x="119514" y="1979548"/>
            <a:ext cx="1963486" cy="369332"/>
          </a:xfrm>
          <a:prstGeom prst="rect">
            <a:avLst/>
          </a:prstGeom>
          <a:noFill/>
        </p:spPr>
        <p:txBody>
          <a:bodyPr wrap="none" rtlCol="0">
            <a:spAutoFit/>
          </a:bodyPr>
          <a:lstStyle/>
          <a:p>
            <a:r>
              <a:rPr lang="en-AU" dirty="0" smtClean="0"/>
              <a:t>What is a </a:t>
            </a:r>
            <a:r>
              <a:rPr lang="en-AU" dirty="0" smtClean="0"/>
              <a:t>dot plot</a:t>
            </a:r>
            <a:r>
              <a:rPr lang="en-AU" dirty="0" smtClean="0"/>
              <a:t>?</a:t>
            </a:r>
            <a:endParaRPr lang="en-AU" dirty="0"/>
          </a:p>
        </p:txBody>
      </p:sp>
      <p:sp>
        <p:nvSpPr>
          <p:cNvPr id="5" name="TextBox 4"/>
          <p:cNvSpPr txBox="1"/>
          <p:nvPr/>
        </p:nvSpPr>
        <p:spPr>
          <a:xfrm>
            <a:off x="3016587" y="1991628"/>
            <a:ext cx="5875894" cy="646331"/>
          </a:xfrm>
          <a:prstGeom prst="rect">
            <a:avLst/>
          </a:prstGeom>
          <a:noFill/>
        </p:spPr>
        <p:txBody>
          <a:bodyPr wrap="square" rtlCol="0">
            <a:spAutoFit/>
          </a:bodyPr>
          <a:lstStyle/>
          <a:p>
            <a:r>
              <a:rPr lang="en-AU" dirty="0" smtClean="0"/>
              <a:t>Dot plots are similar to frequency tables. They make it easier to see and interpret data.</a:t>
            </a:r>
            <a:endParaRPr lang="en-AU" b="1" u="sng" dirty="0"/>
          </a:p>
        </p:txBody>
      </p:sp>
      <p:pic>
        <p:nvPicPr>
          <p:cNvPr id="15" name="Picture 2" descr="http://mathbitsnotebook.com/Algebra1/StatisticsData/DotBrothers.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3928" y="2689959"/>
            <a:ext cx="3600400" cy="1938677"/>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p:cNvSpPr txBox="1"/>
          <p:nvPr/>
        </p:nvSpPr>
        <p:spPr>
          <a:xfrm>
            <a:off x="3016588" y="4797152"/>
            <a:ext cx="6006764" cy="646331"/>
          </a:xfrm>
          <a:prstGeom prst="rect">
            <a:avLst/>
          </a:prstGeom>
          <a:noFill/>
        </p:spPr>
        <p:txBody>
          <a:bodyPr wrap="square" rtlCol="0">
            <a:spAutoFit/>
          </a:bodyPr>
          <a:lstStyle/>
          <a:p>
            <a:r>
              <a:rPr lang="en-AU" dirty="0" smtClean="0"/>
              <a:t>Dots are stacked on top of each other in columns to represent the frequency (or count) of an occurrence.</a:t>
            </a:r>
            <a:endParaRPr lang="en-AU" dirty="0"/>
          </a:p>
        </p:txBody>
      </p:sp>
    </p:spTree>
    <p:extLst>
      <p:ext uri="{BB962C8B-B14F-4D97-AF65-F5344CB8AC3E}">
        <p14:creationId xmlns:p14="http://schemas.microsoft.com/office/powerpoint/2010/main" val="33715974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endParaRPr lang="en-AU" dirty="0"/>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1600118" cy="523220"/>
          </a:xfrm>
          <a:prstGeom prst="rect">
            <a:avLst/>
          </a:prstGeom>
          <a:noFill/>
        </p:spPr>
        <p:txBody>
          <a:bodyPr wrap="none" rtlCol="0">
            <a:spAutoFit/>
          </a:bodyPr>
          <a:lstStyle/>
          <a:p>
            <a:r>
              <a:rPr lang="en-AU" sz="2800" dirty="0" smtClean="0"/>
              <a:t>Dot plots</a:t>
            </a:r>
            <a:r>
              <a:rPr lang="en-AU" sz="2800" dirty="0" smtClean="0"/>
              <a:t> </a:t>
            </a: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smtClean="0"/>
              <a:t>EQ </a:t>
            </a:r>
            <a:r>
              <a:rPr lang="en-AU" sz="2400" dirty="0" smtClean="0"/>
              <a:t>– How do I </a:t>
            </a:r>
            <a:r>
              <a:rPr lang="en-AU" sz="2400" dirty="0" smtClean="0"/>
              <a:t>construct a dot plot</a:t>
            </a:r>
            <a:r>
              <a:rPr lang="en-AU" sz="2400" dirty="0" smtClean="0"/>
              <a:t>?</a:t>
            </a:r>
            <a:endParaRPr lang="en-AU" sz="2400" dirty="0"/>
          </a:p>
        </p:txBody>
      </p:sp>
      <p:sp>
        <p:nvSpPr>
          <p:cNvPr id="3" name="TextBox 2"/>
          <p:cNvSpPr txBox="1"/>
          <p:nvPr/>
        </p:nvSpPr>
        <p:spPr>
          <a:xfrm>
            <a:off x="119514" y="1979548"/>
            <a:ext cx="1963486" cy="369332"/>
          </a:xfrm>
          <a:prstGeom prst="rect">
            <a:avLst/>
          </a:prstGeom>
          <a:noFill/>
        </p:spPr>
        <p:txBody>
          <a:bodyPr wrap="none" rtlCol="0">
            <a:spAutoFit/>
          </a:bodyPr>
          <a:lstStyle/>
          <a:p>
            <a:r>
              <a:rPr lang="en-AU" dirty="0" smtClean="0"/>
              <a:t>What is a </a:t>
            </a:r>
            <a:r>
              <a:rPr lang="en-AU" dirty="0" smtClean="0"/>
              <a:t>dot plot</a:t>
            </a:r>
            <a:r>
              <a:rPr lang="en-AU" dirty="0" smtClean="0"/>
              <a:t>?</a:t>
            </a:r>
            <a:endParaRPr lang="en-AU" dirty="0"/>
          </a:p>
        </p:txBody>
      </p:sp>
      <p:sp>
        <p:nvSpPr>
          <p:cNvPr id="5" name="TextBox 4"/>
          <p:cNvSpPr txBox="1"/>
          <p:nvPr/>
        </p:nvSpPr>
        <p:spPr>
          <a:xfrm>
            <a:off x="3016587" y="1991628"/>
            <a:ext cx="5875894" cy="646331"/>
          </a:xfrm>
          <a:prstGeom prst="rect">
            <a:avLst/>
          </a:prstGeom>
          <a:noFill/>
        </p:spPr>
        <p:txBody>
          <a:bodyPr wrap="square" rtlCol="0">
            <a:spAutoFit/>
          </a:bodyPr>
          <a:lstStyle/>
          <a:p>
            <a:r>
              <a:rPr lang="en-AU" dirty="0" smtClean="0"/>
              <a:t>Dot plots are similar to frequency tables. They make it easier to see and interpret data.</a:t>
            </a:r>
            <a:endParaRPr lang="en-AU" b="1" u="sng" dirty="0"/>
          </a:p>
        </p:txBody>
      </p:sp>
      <p:pic>
        <p:nvPicPr>
          <p:cNvPr id="15" name="Picture 2" descr="http://mathbitsnotebook.com/Algebra1/StatisticsData/DotBrothers.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3928" y="2689959"/>
            <a:ext cx="3600400" cy="1938677"/>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p:cNvSpPr txBox="1"/>
          <p:nvPr/>
        </p:nvSpPr>
        <p:spPr>
          <a:xfrm>
            <a:off x="3016588" y="4797152"/>
            <a:ext cx="6006764" cy="646331"/>
          </a:xfrm>
          <a:prstGeom prst="rect">
            <a:avLst/>
          </a:prstGeom>
          <a:noFill/>
        </p:spPr>
        <p:txBody>
          <a:bodyPr wrap="square" rtlCol="0">
            <a:spAutoFit/>
          </a:bodyPr>
          <a:lstStyle/>
          <a:p>
            <a:r>
              <a:rPr lang="en-AU" dirty="0" smtClean="0"/>
              <a:t>Dots are stacked on top of each other in columns to represent the frequency (or count) of an occurrence.</a:t>
            </a:r>
            <a:endParaRPr lang="en-AU" dirty="0"/>
          </a:p>
        </p:txBody>
      </p:sp>
      <mc:AlternateContent xmlns:mc="http://schemas.openxmlformats.org/markup-compatibility/2006">
        <mc:Choice xmlns:a14="http://schemas.microsoft.com/office/drawing/2010/main" Requires="a14">
          <p:sp>
            <p:nvSpPr>
              <p:cNvPr id="17" name="TextBox 16"/>
              <p:cNvSpPr txBox="1"/>
              <p:nvPr/>
            </p:nvSpPr>
            <p:spPr>
              <a:xfrm>
                <a:off x="3000036" y="5489155"/>
                <a:ext cx="5832649" cy="923330"/>
              </a:xfrm>
              <a:prstGeom prst="rect">
                <a:avLst/>
              </a:prstGeom>
              <a:noFill/>
            </p:spPr>
            <p:txBody>
              <a:bodyPr wrap="square" rtlCol="0">
                <a:spAutoFit/>
              </a:bodyPr>
              <a:lstStyle/>
              <a:p>
                <a:r>
                  <a:rPr lang="en-AU" dirty="0" smtClean="0"/>
                  <a:t>The </a:t>
                </a:r>
                <a14:m>
                  <m:oMath xmlns:m="http://schemas.openxmlformats.org/officeDocument/2006/math">
                    <m:r>
                      <a:rPr lang="en-AU" i="1" dirty="0" smtClean="0">
                        <a:latin typeface="Cambria Math" panose="02040503050406030204" pitchFamily="18" charset="0"/>
                      </a:rPr>
                      <m:t>𝑥</m:t>
                    </m:r>
                  </m:oMath>
                </a14:m>
                <a:r>
                  <a:rPr lang="en-AU" dirty="0" smtClean="0"/>
                  <a:t> axis may have categories or numbers. Numbers should be consecutive, regardless of whether there is any data for that number.</a:t>
                </a:r>
                <a:endParaRPr lang="en-AU" dirty="0"/>
              </a:p>
            </p:txBody>
          </p:sp>
        </mc:Choice>
        <mc:Fallback>
          <p:sp>
            <p:nvSpPr>
              <p:cNvPr id="17" name="TextBox 16"/>
              <p:cNvSpPr txBox="1">
                <a:spLocks noRot="1" noChangeAspect="1" noMove="1" noResize="1" noEditPoints="1" noAdjustHandles="1" noChangeArrowheads="1" noChangeShapeType="1" noTextEdit="1"/>
              </p:cNvSpPr>
              <p:nvPr/>
            </p:nvSpPr>
            <p:spPr>
              <a:xfrm>
                <a:off x="3000036" y="5489155"/>
                <a:ext cx="5832649" cy="923330"/>
              </a:xfrm>
              <a:prstGeom prst="rect">
                <a:avLst/>
              </a:prstGeom>
              <a:blipFill rotWithShape="0">
                <a:blip r:embed="rId3"/>
                <a:stretch>
                  <a:fillRect l="-836" t="-3289" r="-1463" b="-9211"/>
                </a:stretch>
              </a:blipFill>
            </p:spPr>
            <p:txBody>
              <a:bodyPr/>
              <a:lstStyle/>
              <a:p>
                <a:r>
                  <a:rPr lang="en-AU">
                    <a:noFill/>
                  </a:rPr>
                  <a:t> </a:t>
                </a:r>
              </a:p>
            </p:txBody>
          </p:sp>
        </mc:Fallback>
      </mc:AlternateContent>
    </p:spTree>
    <p:extLst>
      <p:ext uri="{BB962C8B-B14F-4D97-AF65-F5344CB8AC3E}">
        <p14:creationId xmlns:p14="http://schemas.microsoft.com/office/powerpoint/2010/main" val="122438723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endParaRPr lang="en-AU" dirty="0"/>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1600118" cy="523220"/>
          </a:xfrm>
          <a:prstGeom prst="rect">
            <a:avLst/>
          </a:prstGeom>
          <a:noFill/>
        </p:spPr>
        <p:txBody>
          <a:bodyPr wrap="none" rtlCol="0">
            <a:spAutoFit/>
          </a:bodyPr>
          <a:lstStyle/>
          <a:p>
            <a:r>
              <a:rPr lang="en-AU" sz="2800" dirty="0" smtClean="0"/>
              <a:t>Dot plots</a:t>
            </a:r>
            <a:r>
              <a:rPr lang="en-AU" sz="2800" dirty="0" smtClean="0"/>
              <a:t> </a:t>
            </a: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smtClean="0"/>
              <a:t>EQ </a:t>
            </a:r>
            <a:r>
              <a:rPr lang="en-AU" sz="2400" dirty="0" smtClean="0"/>
              <a:t>– How do I </a:t>
            </a:r>
            <a:r>
              <a:rPr lang="en-AU" sz="2400" dirty="0" smtClean="0"/>
              <a:t>construct a dot plot</a:t>
            </a:r>
            <a:r>
              <a:rPr lang="en-AU" sz="2400" dirty="0" smtClean="0"/>
              <a:t>?</a:t>
            </a:r>
            <a:endParaRPr lang="en-AU" sz="2400" dirty="0"/>
          </a:p>
        </p:txBody>
      </p:sp>
      <p:sp>
        <p:nvSpPr>
          <p:cNvPr id="3" name="TextBox 2"/>
          <p:cNvSpPr txBox="1"/>
          <p:nvPr/>
        </p:nvSpPr>
        <p:spPr>
          <a:xfrm>
            <a:off x="119514" y="1979548"/>
            <a:ext cx="1963486" cy="369332"/>
          </a:xfrm>
          <a:prstGeom prst="rect">
            <a:avLst/>
          </a:prstGeom>
          <a:noFill/>
        </p:spPr>
        <p:txBody>
          <a:bodyPr wrap="none" rtlCol="0">
            <a:spAutoFit/>
          </a:bodyPr>
          <a:lstStyle/>
          <a:p>
            <a:r>
              <a:rPr lang="en-AU" dirty="0" smtClean="0"/>
              <a:t>What is a </a:t>
            </a:r>
            <a:r>
              <a:rPr lang="en-AU" dirty="0" smtClean="0"/>
              <a:t>dot plot</a:t>
            </a:r>
            <a:r>
              <a:rPr lang="en-AU" dirty="0" smtClean="0"/>
              <a:t>?</a:t>
            </a:r>
            <a:endParaRPr lang="en-AU" dirty="0"/>
          </a:p>
        </p:txBody>
      </p:sp>
      <p:sp>
        <p:nvSpPr>
          <p:cNvPr id="5" name="TextBox 4"/>
          <p:cNvSpPr txBox="1"/>
          <p:nvPr/>
        </p:nvSpPr>
        <p:spPr>
          <a:xfrm>
            <a:off x="3016587" y="1991628"/>
            <a:ext cx="5875894" cy="646331"/>
          </a:xfrm>
          <a:prstGeom prst="rect">
            <a:avLst/>
          </a:prstGeom>
          <a:noFill/>
        </p:spPr>
        <p:txBody>
          <a:bodyPr wrap="square" rtlCol="0">
            <a:spAutoFit/>
          </a:bodyPr>
          <a:lstStyle/>
          <a:p>
            <a:r>
              <a:rPr lang="en-AU" dirty="0" smtClean="0"/>
              <a:t>Dot plots are similar to frequency tables. They make it easier to see and interpret data.</a:t>
            </a:r>
            <a:endParaRPr lang="en-AU" b="1" u="sng" dirty="0"/>
          </a:p>
        </p:txBody>
      </p:sp>
      <p:pic>
        <p:nvPicPr>
          <p:cNvPr id="15" name="Picture 2" descr="http://mathbitsnotebook.com/Algebra1/StatisticsData/DotBrothers.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3928" y="2689959"/>
            <a:ext cx="3600400" cy="1938677"/>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p:cNvSpPr txBox="1"/>
          <p:nvPr/>
        </p:nvSpPr>
        <p:spPr>
          <a:xfrm>
            <a:off x="3016588" y="4797152"/>
            <a:ext cx="6006764" cy="646331"/>
          </a:xfrm>
          <a:prstGeom prst="rect">
            <a:avLst/>
          </a:prstGeom>
          <a:noFill/>
        </p:spPr>
        <p:txBody>
          <a:bodyPr wrap="square" rtlCol="0">
            <a:spAutoFit/>
          </a:bodyPr>
          <a:lstStyle/>
          <a:p>
            <a:r>
              <a:rPr lang="en-AU" dirty="0" smtClean="0"/>
              <a:t>Dots are stacked on top of each other in columns to represent the frequency (or count) of an occurrence.</a:t>
            </a:r>
            <a:endParaRPr lang="en-AU" dirty="0"/>
          </a:p>
        </p:txBody>
      </p:sp>
      <mc:AlternateContent xmlns:mc="http://schemas.openxmlformats.org/markup-compatibility/2006">
        <mc:Choice xmlns:a14="http://schemas.microsoft.com/office/drawing/2010/main" Requires="a14">
          <p:sp>
            <p:nvSpPr>
              <p:cNvPr id="17" name="TextBox 16"/>
              <p:cNvSpPr txBox="1"/>
              <p:nvPr/>
            </p:nvSpPr>
            <p:spPr>
              <a:xfrm>
                <a:off x="3000036" y="5489155"/>
                <a:ext cx="5832649" cy="923330"/>
              </a:xfrm>
              <a:prstGeom prst="rect">
                <a:avLst/>
              </a:prstGeom>
              <a:noFill/>
            </p:spPr>
            <p:txBody>
              <a:bodyPr wrap="square" rtlCol="0">
                <a:spAutoFit/>
              </a:bodyPr>
              <a:lstStyle/>
              <a:p>
                <a:r>
                  <a:rPr lang="en-AU" dirty="0" smtClean="0"/>
                  <a:t>The </a:t>
                </a:r>
                <a14:m>
                  <m:oMath xmlns:m="http://schemas.openxmlformats.org/officeDocument/2006/math">
                    <m:r>
                      <a:rPr lang="en-AU" i="1" dirty="0" smtClean="0">
                        <a:latin typeface="Cambria Math" panose="02040503050406030204" pitchFamily="18" charset="0"/>
                      </a:rPr>
                      <m:t>𝑥</m:t>
                    </m:r>
                  </m:oMath>
                </a14:m>
                <a:r>
                  <a:rPr lang="en-AU" dirty="0" smtClean="0"/>
                  <a:t> axis may have categories or numbers. Numbers should be consecutive, regardless of whether there is any data for that number.</a:t>
                </a:r>
                <a:endParaRPr lang="en-AU" dirty="0"/>
              </a:p>
            </p:txBody>
          </p:sp>
        </mc:Choice>
        <mc:Fallback>
          <p:sp>
            <p:nvSpPr>
              <p:cNvPr id="17" name="TextBox 16"/>
              <p:cNvSpPr txBox="1">
                <a:spLocks noRot="1" noChangeAspect="1" noMove="1" noResize="1" noEditPoints="1" noAdjustHandles="1" noChangeArrowheads="1" noChangeShapeType="1" noTextEdit="1"/>
              </p:cNvSpPr>
              <p:nvPr/>
            </p:nvSpPr>
            <p:spPr>
              <a:xfrm>
                <a:off x="3000036" y="5489155"/>
                <a:ext cx="5832649" cy="923330"/>
              </a:xfrm>
              <a:prstGeom prst="rect">
                <a:avLst/>
              </a:prstGeom>
              <a:blipFill rotWithShape="0">
                <a:blip r:embed="rId3"/>
                <a:stretch>
                  <a:fillRect l="-836" t="-3289" r="-1463" b="-9211"/>
                </a:stretch>
              </a:blipFill>
            </p:spPr>
            <p:txBody>
              <a:bodyPr/>
              <a:lstStyle/>
              <a:p>
                <a:r>
                  <a:rPr lang="en-AU">
                    <a:noFill/>
                  </a:rPr>
                  <a:t> </a:t>
                </a:r>
              </a:p>
            </p:txBody>
          </p:sp>
        </mc:Fallback>
      </mc:AlternateContent>
      <p:sp>
        <p:nvSpPr>
          <p:cNvPr id="18" name="TextBox 17"/>
          <p:cNvSpPr txBox="1"/>
          <p:nvPr/>
        </p:nvSpPr>
        <p:spPr>
          <a:xfrm>
            <a:off x="119514" y="4844347"/>
            <a:ext cx="2508270" cy="646331"/>
          </a:xfrm>
          <a:prstGeom prst="rect">
            <a:avLst/>
          </a:prstGeom>
          <a:noFill/>
        </p:spPr>
        <p:txBody>
          <a:bodyPr wrap="square" rtlCol="0">
            <a:spAutoFit/>
          </a:bodyPr>
          <a:lstStyle/>
          <a:p>
            <a:r>
              <a:rPr lang="en-AU" dirty="0" smtClean="0"/>
              <a:t>What do the dots tell me?</a:t>
            </a:r>
            <a:endParaRPr lang="en-AU" dirty="0"/>
          </a:p>
        </p:txBody>
      </p:sp>
    </p:spTree>
    <p:extLst>
      <p:ext uri="{BB962C8B-B14F-4D97-AF65-F5344CB8AC3E}">
        <p14:creationId xmlns:p14="http://schemas.microsoft.com/office/powerpoint/2010/main" val="60599953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1796635778"/>
              </p:ext>
            </p:extLst>
          </p:nvPr>
        </p:nvGraphicFramePr>
        <p:xfrm>
          <a:off x="1043608" y="548680"/>
          <a:ext cx="7344816" cy="2962100"/>
        </p:xfrm>
        <a:graphic>
          <a:graphicData uri="http://schemas.openxmlformats.org/drawingml/2006/table">
            <a:tbl>
              <a:tblPr/>
              <a:tblGrid>
                <a:gridCol w="1506376"/>
                <a:gridCol w="5838440"/>
              </a:tblGrid>
              <a:tr h="2962100">
                <a:tc>
                  <a:txBody>
                    <a:bodyPr/>
                    <a:lstStyle/>
                    <a:p>
                      <a:pPr algn="ctr"/>
                      <a:r>
                        <a:rPr lang="en-AU" b="0" dirty="0">
                          <a:solidFill>
                            <a:srgbClr val="000000"/>
                          </a:solidFill>
                          <a:effectLst/>
                          <a:latin typeface="Times New Roman" panose="02020603050405020304" pitchFamily="18" charset="0"/>
                        </a:rPr>
                        <a:t/>
                      </a:r>
                      <a:br>
                        <a:rPr lang="en-AU" b="0" dirty="0">
                          <a:solidFill>
                            <a:srgbClr val="000000"/>
                          </a:solidFill>
                          <a:effectLst/>
                          <a:latin typeface="Times New Roman" panose="02020603050405020304" pitchFamily="18" charset="0"/>
                        </a:rPr>
                      </a:br>
                      <a:r>
                        <a:rPr lang="en-AU" b="0" dirty="0">
                          <a:solidFill>
                            <a:srgbClr val="000000"/>
                          </a:solidFill>
                          <a:effectLst/>
                          <a:latin typeface="Times New Roman" panose="02020603050405020304" pitchFamily="18" charset="0"/>
                        </a:rPr>
                        <a:t/>
                      </a:r>
                      <a:br>
                        <a:rPr lang="en-AU" b="0" dirty="0">
                          <a:solidFill>
                            <a:srgbClr val="000000"/>
                          </a:solidFill>
                          <a:effectLst/>
                          <a:latin typeface="Times New Roman" panose="02020603050405020304" pitchFamily="18" charset="0"/>
                        </a:rPr>
                      </a:br>
                      <a:r>
                        <a:rPr lang="en-AU" b="0" dirty="0">
                          <a:solidFill>
                            <a:srgbClr val="000000"/>
                          </a:solidFill>
                          <a:effectLst/>
                          <a:latin typeface="+mn-lt"/>
                        </a:rPr>
                        <a:t>Dot plots:</a:t>
                      </a:r>
                      <a:br>
                        <a:rPr lang="en-AU" b="0" dirty="0">
                          <a:solidFill>
                            <a:srgbClr val="000000"/>
                          </a:solidFill>
                          <a:effectLst/>
                          <a:latin typeface="+mn-lt"/>
                        </a:rPr>
                      </a:br>
                      <a:r>
                        <a:rPr lang="en-AU" b="0" dirty="0">
                          <a:solidFill>
                            <a:srgbClr val="000000"/>
                          </a:solidFill>
                          <a:effectLst/>
                          <a:latin typeface="+mn-lt"/>
                        </a:rPr>
                        <a:t>Pros and Cons</a:t>
                      </a:r>
                    </a:p>
                  </a:txBody>
                  <a:tcPr>
                    <a:lnL>
                      <a:noFill/>
                    </a:lnL>
                    <a:lnR>
                      <a:noFill/>
                    </a:lnR>
                    <a:lnT>
                      <a:noFill/>
                    </a:lnT>
                    <a:lnB>
                      <a:noFill/>
                    </a:lnB>
                    <a:solidFill>
                      <a:srgbClr val="F0F0F0"/>
                    </a:solidFill>
                  </a:tcPr>
                </a:tc>
                <a:tc>
                  <a:txBody>
                    <a:bodyPr/>
                    <a:lstStyle/>
                    <a:p>
                      <a:pPr algn="just"/>
                      <a:r>
                        <a:rPr lang="en-AU" b="0" dirty="0">
                          <a:solidFill>
                            <a:srgbClr val="000000"/>
                          </a:solidFill>
                          <a:effectLst/>
                          <a:latin typeface="+mn-lt"/>
                        </a:rPr>
                        <a:t>Dot plots can be quickly prepared for small amounts of data. They have no need for a frequency axis, and they offer a visual means of comparison. In dot plots, however, you need to count to find the total number of data elements in each stack of dots, and they can be difficult to construct and interpret for data sets with lots of points.</a:t>
                      </a:r>
                    </a:p>
                  </a:txBody>
                  <a:tcPr anchor="ctr">
                    <a:lnL>
                      <a:noFill/>
                    </a:lnL>
                    <a:lnR>
                      <a:noFill/>
                    </a:lnR>
                    <a:lnT>
                      <a:noFill/>
                    </a:lnT>
                    <a:lnB>
                      <a:noFill/>
                    </a:lnB>
                    <a:solidFill>
                      <a:srgbClr val="F0F0F0"/>
                    </a:solidFill>
                  </a:tcPr>
                </a:tc>
              </a:tr>
            </a:tbl>
          </a:graphicData>
        </a:graphic>
      </p:graphicFrame>
      <p:pic>
        <p:nvPicPr>
          <p:cNvPr id="2049" name="Picture 1" descr="remind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79912" y="620688"/>
            <a:ext cx="1669963" cy="4903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931921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Task</a:t>
            </a:r>
            <a:endParaRPr lang="en-AU" dirty="0"/>
          </a:p>
        </p:txBody>
      </p:sp>
      <p:sp>
        <p:nvSpPr>
          <p:cNvPr id="3" name="Content Placeholder 2"/>
          <p:cNvSpPr>
            <a:spLocks noGrp="1"/>
          </p:cNvSpPr>
          <p:nvPr>
            <p:ph idx="1"/>
          </p:nvPr>
        </p:nvSpPr>
        <p:spPr/>
        <p:txBody>
          <a:bodyPr>
            <a:normAutofit/>
          </a:bodyPr>
          <a:lstStyle/>
          <a:p>
            <a:pPr marL="0" indent="0">
              <a:buNone/>
            </a:pPr>
            <a:r>
              <a:rPr lang="en-AU" sz="1800" dirty="0" smtClean="0"/>
              <a:t>On Monday, students in Year 8 were asked how long it took them to eat their </a:t>
            </a:r>
            <a:r>
              <a:rPr lang="en-AU" sz="1800" smtClean="0"/>
              <a:t>breakfast that </a:t>
            </a:r>
            <a:r>
              <a:rPr lang="en-AU" sz="1800" dirty="0" smtClean="0"/>
              <a:t>morning. The results are shown below:</a:t>
            </a:r>
          </a:p>
          <a:p>
            <a:pPr marL="0" indent="0">
              <a:buNone/>
            </a:pPr>
            <a:endParaRPr lang="en-AU" sz="1800" dirty="0"/>
          </a:p>
          <a:p>
            <a:pPr marL="0" indent="0">
              <a:buNone/>
            </a:pPr>
            <a:r>
              <a:rPr lang="en-AU" sz="1800" dirty="0" smtClean="0"/>
              <a:t>No. of minutes: 	0     1     2     3     4     5     6     7     8      9     10     11     12</a:t>
            </a:r>
          </a:p>
          <a:p>
            <a:pPr marL="0" indent="0">
              <a:buNone/>
            </a:pPr>
            <a:r>
              <a:rPr lang="en-AU" sz="1800" dirty="0" smtClean="0"/>
              <a:t>No. of students:	6     2     3     5     2     5     0     0     2      3      7       4       1</a:t>
            </a:r>
          </a:p>
          <a:p>
            <a:pPr marL="0" indent="0">
              <a:buNone/>
            </a:pPr>
            <a:endParaRPr lang="en-AU" sz="1800" dirty="0"/>
          </a:p>
          <a:p>
            <a:pPr>
              <a:buAutoNum type="alphaLcPeriod"/>
            </a:pPr>
            <a:r>
              <a:rPr lang="en-AU" sz="1800" dirty="0" smtClean="0"/>
              <a:t>Construct a dot plot for this data.</a:t>
            </a:r>
          </a:p>
          <a:p>
            <a:pPr>
              <a:buAutoNum type="alphaLcPeriod"/>
            </a:pPr>
            <a:r>
              <a:rPr lang="en-AU" sz="1800" dirty="0" smtClean="0"/>
              <a:t>What is the mode for this set of data?</a:t>
            </a:r>
          </a:p>
          <a:p>
            <a:pPr>
              <a:buAutoNum type="alphaLcPeriod"/>
            </a:pPr>
            <a:r>
              <a:rPr lang="en-AU" sz="1800" dirty="0" smtClean="0"/>
              <a:t>What is the median?</a:t>
            </a:r>
          </a:p>
          <a:p>
            <a:pPr>
              <a:buAutoNum type="alphaLcPeriod"/>
            </a:pPr>
            <a:r>
              <a:rPr lang="en-AU" sz="1800" dirty="0" smtClean="0"/>
              <a:t>Can you find the mean?</a:t>
            </a:r>
          </a:p>
          <a:p>
            <a:pPr>
              <a:buAutoNum type="alphaLcPeriod"/>
            </a:pPr>
            <a:r>
              <a:rPr lang="en-AU" sz="1800" dirty="0" smtClean="0"/>
              <a:t>What can you say about the number of students who took 0 minutes to eat breakfast?</a:t>
            </a:r>
            <a:endParaRPr lang="en-AU" sz="1800" dirty="0"/>
          </a:p>
        </p:txBody>
      </p:sp>
    </p:spTree>
    <p:extLst>
      <p:ext uri="{BB962C8B-B14F-4D97-AF65-F5344CB8AC3E}">
        <p14:creationId xmlns:p14="http://schemas.microsoft.com/office/powerpoint/2010/main" val="26416386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Notes Review</a:t>
            </a:r>
            <a:endParaRPr lang="en-AU" dirty="0"/>
          </a:p>
        </p:txBody>
      </p:sp>
      <p:sp>
        <p:nvSpPr>
          <p:cNvPr id="3" name="Content Placeholder 2"/>
          <p:cNvSpPr>
            <a:spLocks noGrp="1"/>
          </p:cNvSpPr>
          <p:nvPr>
            <p:ph idx="1"/>
          </p:nvPr>
        </p:nvSpPr>
        <p:spPr/>
        <p:txBody>
          <a:bodyPr>
            <a:normAutofit fontScale="92500" lnSpcReduction="20000"/>
          </a:bodyPr>
          <a:lstStyle/>
          <a:p>
            <a:r>
              <a:rPr lang="en-AU" dirty="0" smtClean="0"/>
              <a:t>24, 7 ,30</a:t>
            </a:r>
          </a:p>
          <a:p>
            <a:r>
              <a:rPr lang="en-AU" dirty="0" smtClean="0"/>
              <a:t>Date</a:t>
            </a:r>
          </a:p>
          <a:p>
            <a:r>
              <a:rPr lang="en-AU" dirty="0" smtClean="0"/>
              <a:t>Title</a:t>
            </a:r>
          </a:p>
          <a:p>
            <a:r>
              <a:rPr lang="en-AU" dirty="0" smtClean="0"/>
              <a:t>Essential question</a:t>
            </a:r>
          </a:p>
          <a:p>
            <a:r>
              <a:rPr lang="en-AU" dirty="0" smtClean="0"/>
              <a:t>Notes complete </a:t>
            </a:r>
          </a:p>
          <a:p>
            <a:r>
              <a:rPr lang="en-AU" dirty="0" smtClean="0"/>
              <a:t>Notes complete with colour and diagrams</a:t>
            </a:r>
          </a:p>
          <a:p>
            <a:r>
              <a:rPr lang="en-AU" dirty="0" smtClean="0"/>
              <a:t>Questions completed</a:t>
            </a:r>
          </a:p>
          <a:p>
            <a:r>
              <a:rPr lang="en-AU" dirty="0" smtClean="0"/>
              <a:t>Contents page </a:t>
            </a:r>
            <a:r>
              <a:rPr lang="en-AU" dirty="0" smtClean="0"/>
              <a:t>filled </a:t>
            </a:r>
            <a:r>
              <a:rPr lang="en-AU" dirty="0" smtClean="0"/>
              <a:t>in</a:t>
            </a:r>
          </a:p>
          <a:p>
            <a:r>
              <a:rPr lang="en-AU" dirty="0" smtClean="0"/>
              <a:t>Formula page filled in</a:t>
            </a:r>
          </a:p>
          <a:p>
            <a:pPr marL="0" indent="0">
              <a:buNone/>
            </a:pPr>
            <a:endParaRPr lang="en-AU" dirty="0" smtClean="0"/>
          </a:p>
          <a:p>
            <a:endParaRPr lang="en-AU" dirty="0" smtClean="0"/>
          </a:p>
        </p:txBody>
      </p:sp>
    </p:spTree>
    <p:extLst>
      <p:ext uri="{BB962C8B-B14F-4D97-AF65-F5344CB8AC3E}">
        <p14:creationId xmlns:p14="http://schemas.microsoft.com/office/powerpoint/2010/main" val="306992181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Homework</a:t>
            </a:r>
            <a:endParaRPr lang="en-AU" dirty="0"/>
          </a:p>
        </p:txBody>
      </p:sp>
      <p:sp>
        <p:nvSpPr>
          <p:cNvPr id="3" name="Content Placeholder 2"/>
          <p:cNvSpPr>
            <a:spLocks noGrp="1"/>
          </p:cNvSpPr>
          <p:nvPr>
            <p:ph idx="1"/>
          </p:nvPr>
        </p:nvSpPr>
        <p:spPr/>
        <p:txBody>
          <a:bodyPr/>
          <a:lstStyle/>
          <a:p>
            <a:r>
              <a:rPr lang="en-AU" dirty="0" smtClean="0"/>
              <a:t>Review your notes and write a summary answering the essential question. </a:t>
            </a:r>
            <a:endParaRPr lang="en-AU" dirty="0"/>
          </a:p>
        </p:txBody>
      </p:sp>
    </p:spTree>
    <p:extLst>
      <p:ext uri="{BB962C8B-B14F-4D97-AF65-F5344CB8AC3E}">
        <p14:creationId xmlns:p14="http://schemas.microsoft.com/office/powerpoint/2010/main" val="7634225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843</TotalTime>
  <Words>582</Words>
  <Application>Microsoft Office PowerPoint</Application>
  <PresentationFormat>On-screen Show (4:3)</PresentationFormat>
  <Paragraphs>130</Paragraphs>
  <Slides>16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Cambria Math</vt:lpstr>
      <vt:lpstr>Times New Roman</vt:lpstr>
      <vt:lpstr>Office Theme</vt:lpstr>
      <vt:lpstr>My Statistics Interactive Notebook</vt:lpstr>
      <vt:lpstr>Create your own front page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Task</vt:lpstr>
      <vt:lpstr>Notes Review</vt:lpstr>
      <vt:lpstr>Homework</vt:lpstr>
    </vt:vector>
  </TitlesOfParts>
  <Company>The Department of Education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Using Venn Diagrams</dc:title>
  <dc:creator>RUST Joanne</dc:creator>
  <cp:lastModifiedBy>E4038674</cp:lastModifiedBy>
  <cp:revision>67</cp:revision>
  <dcterms:created xsi:type="dcterms:W3CDTF">2014-05-14T02:58:57Z</dcterms:created>
  <dcterms:modified xsi:type="dcterms:W3CDTF">2015-03-15T09:57:38Z</dcterms:modified>
</cp:coreProperties>
</file>
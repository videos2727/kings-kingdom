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0" r:id="rId2"/>
    <p:sldId id="321" r:id="rId3"/>
    <p:sldId id="322" r:id="rId4"/>
    <p:sldId id="319" r:id="rId5"/>
    <p:sldId id="323" r:id="rId6"/>
    <p:sldId id="324" r:id="rId7"/>
    <p:sldId id="325" r:id="rId8"/>
    <p:sldId id="326" r:id="rId9"/>
    <p:sldId id="327" r:id="rId10"/>
    <p:sldId id="328" r:id="rId11"/>
    <p:sldId id="329" r:id="rId12"/>
    <p:sldId id="330" r:id="rId13"/>
    <p:sldId id="331" r:id="rId14"/>
    <p:sldId id="332" r:id="rId15"/>
    <p:sldId id="334" r:id="rId16"/>
    <p:sldId id="335" r:id="rId17"/>
    <p:sldId id="336" r:id="rId18"/>
    <p:sldId id="337" r:id="rId19"/>
    <p:sldId id="338" r:id="rId20"/>
    <p:sldId id="339" r:id="rId21"/>
    <p:sldId id="292" r:id="rId22"/>
    <p:sldId id="29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FF99CC"/>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2895" autoAdjust="0"/>
  </p:normalViewPr>
  <p:slideViewPr>
    <p:cSldViewPr>
      <p:cViewPr varScale="1">
        <p:scale>
          <a:sx n="69" d="100"/>
          <a:sy n="69" d="100"/>
        </p:scale>
        <p:origin x="141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A5757-C0A9-4EBB-842D-2F1A3C4CB57C}" type="datetimeFigureOut">
              <a:rPr lang="en-AU" smtClean="0"/>
              <a:t>16/03/2015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C0C0F6-E662-4874-8EE2-C5CD58B3917E}" type="slidenum">
              <a:rPr lang="en-AU" smtClean="0"/>
              <a:t>‹#›</a:t>
            </a:fld>
            <a:endParaRPr lang="en-AU"/>
          </a:p>
        </p:txBody>
      </p:sp>
    </p:spTree>
    <p:extLst>
      <p:ext uri="{BB962C8B-B14F-4D97-AF65-F5344CB8AC3E}">
        <p14:creationId xmlns:p14="http://schemas.microsoft.com/office/powerpoint/2010/main" val="2946164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1C0C0F6-E662-4874-8EE2-C5CD58B3917E}" type="slidenum">
              <a:rPr lang="en-AU" smtClean="0"/>
              <a:t>8</a:t>
            </a:fld>
            <a:endParaRPr lang="en-AU"/>
          </a:p>
        </p:txBody>
      </p:sp>
    </p:spTree>
    <p:extLst>
      <p:ext uri="{BB962C8B-B14F-4D97-AF65-F5344CB8AC3E}">
        <p14:creationId xmlns:p14="http://schemas.microsoft.com/office/powerpoint/2010/main" val="347330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1C0C0F6-E662-4874-8EE2-C5CD58B3917E}" type="slidenum">
              <a:rPr lang="en-AU" smtClean="0"/>
              <a:t>14</a:t>
            </a:fld>
            <a:endParaRPr lang="en-AU"/>
          </a:p>
        </p:txBody>
      </p:sp>
    </p:spTree>
    <p:extLst>
      <p:ext uri="{BB962C8B-B14F-4D97-AF65-F5344CB8AC3E}">
        <p14:creationId xmlns:p14="http://schemas.microsoft.com/office/powerpoint/2010/main" val="2885167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1C0C0F6-E662-4874-8EE2-C5CD58B3917E}" type="slidenum">
              <a:rPr lang="en-AU" smtClean="0"/>
              <a:t>18</a:t>
            </a:fld>
            <a:endParaRPr lang="en-AU"/>
          </a:p>
        </p:txBody>
      </p:sp>
    </p:spTree>
    <p:extLst>
      <p:ext uri="{BB962C8B-B14F-4D97-AF65-F5344CB8AC3E}">
        <p14:creationId xmlns:p14="http://schemas.microsoft.com/office/powerpoint/2010/main" val="2581887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16/03/2015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16/03/2015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2400" cy="1470025"/>
          </a:xfrm>
        </p:spPr>
        <p:txBody>
          <a:bodyPr/>
          <a:lstStyle/>
          <a:p>
            <a:r>
              <a:rPr lang="en-AU" dirty="0" smtClean="0"/>
              <a:t> Data</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1619672" y="4581128"/>
            <a:ext cx="6400800" cy="1752600"/>
          </a:xfrm>
        </p:spPr>
        <p:txBody>
          <a:bodyPr>
            <a:normAutofit fontScale="85000" lnSpcReduction="20000"/>
          </a:bodyPr>
          <a:lstStyle/>
          <a:p>
            <a:pPr algn="l"/>
            <a:r>
              <a:rPr lang="en-AU" dirty="0" smtClean="0"/>
              <a:t>Your Name</a:t>
            </a:r>
          </a:p>
          <a:p>
            <a:pPr algn="l"/>
            <a:r>
              <a:rPr lang="en-AU" dirty="0" smtClean="0"/>
              <a:t>Class 8.4</a:t>
            </a:r>
          </a:p>
          <a:p>
            <a:pPr algn="l"/>
            <a:r>
              <a:rPr lang="en-AU" dirty="0" smtClean="0"/>
              <a:t>Mrs Riksman</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pic>
        <p:nvPicPr>
          <p:cNvPr id="1026" name="Picture 2" descr="http://dungeonsmaster.com/wp-content/uploads/2011/02/Despicable-Me-Minions-286x3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685" y="1802681"/>
            <a:ext cx="272415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1565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489272" y="0"/>
            <a:ext cx="0" cy="685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0" y="389336"/>
            <a:ext cx="4470125" cy="15328"/>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092489"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1558245" y="33837"/>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7327" y="355445"/>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6278189" y="50782"/>
            <a:ext cx="1019450" cy="338554"/>
          </a:xfrm>
          <a:prstGeom prst="rect">
            <a:avLst/>
          </a:prstGeom>
          <a:noFill/>
        </p:spPr>
        <p:txBody>
          <a:bodyPr wrap="square" rtlCol="0">
            <a:spAutoFit/>
          </a:bodyPr>
          <a:lstStyle/>
          <a:p>
            <a:r>
              <a:rPr lang="en-AU" sz="1600" dirty="0" smtClean="0"/>
              <a:t>Glossary</a:t>
            </a:r>
            <a:endParaRPr lang="en-AU" sz="1600" dirty="0"/>
          </a:p>
        </p:txBody>
      </p:sp>
      <p:cxnSp>
        <p:nvCxnSpPr>
          <p:cNvPr id="19" name="Straight Connector 18"/>
          <p:cNvCxnSpPr/>
          <p:nvPr/>
        </p:nvCxnSpPr>
        <p:spPr>
          <a:xfrm flipV="1">
            <a:off x="-1" y="733870"/>
            <a:ext cx="4470125" cy="15328"/>
          </a:xfrm>
          <a:prstGeom prst="line">
            <a:avLst/>
          </a:prstGeom>
        </p:spPr>
        <p:style>
          <a:lnRef idx="1">
            <a:schemeClr val="accent2"/>
          </a:lnRef>
          <a:fillRef idx="0">
            <a:schemeClr val="accent2"/>
          </a:fillRef>
          <a:effectRef idx="0">
            <a:schemeClr val="accent2"/>
          </a:effectRef>
          <a:fontRef idx="minor">
            <a:schemeClr val="tx1"/>
          </a:fontRef>
        </p:style>
      </p:cxnSp>
      <p:cxnSp>
        <p:nvCxnSpPr>
          <p:cNvPr id="22" name="Straight Connector 21"/>
          <p:cNvCxnSpPr/>
          <p:nvPr/>
        </p:nvCxnSpPr>
        <p:spPr>
          <a:xfrm>
            <a:off x="-2" y="6280308"/>
            <a:ext cx="4470126" cy="32207"/>
          </a:xfrm>
          <a:prstGeom prst="line">
            <a:avLst/>
          </a:prstGeom>
        </p:spPr>
        <p:style>
          <a:lnRef idx="1">
            <a:schemeClr val="accent2"/>
          </a:lnRef>
          <a:fillRef idx="0">
            <a:schemeClr val="accent2"/>
          </a:fillRef>
          <a:effectRef idx="0">
            <a:schemeClr val="accent2"/>
          </a:effectRef>
          <a:fontRef idx="minor">
            <a:schemeClr val="tx1"/>
          </a:fontRef>
        </p:style>
      </p:cxnSp>
      <p:cxnSp>
        <p:nvCxnSpPr>
          <p:cNvPr id="24" name="Straight Connector 23"/>
          <p:cNvCxnSpPr/>
          <p:nvPr/>
        </p:nvCxnSpPr>
        <p:spPr>
          <a:xfrm>
            <a:off x="4489272" y="404664"/>
            <a:ext cx="465472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5" name="Straight Connector 24"/>
          <p:cNvCxnSpPr/>
          <p:nvPr/>
        </p:nvCxnSpPr>
        <p:spPr>
          <a:xfrm>
            <a:off x="4489272" y="733870"/>
            <a:ext cx="465472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6" name="Straight Connector 25"/>
          <p:cNvCxnSpPr/>
          <p:nvPr/>
        </p:nvCxnSpPr>
        <p:spPr>
          <a:xfrm>
            <a:off x="4470124" y="6312515"/>
            <a:ext cx="465472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7" name="Straight Connector 26"/>
          <p:cNvCxnSpPr/>
          <p:nvPr/>
        </p:nvCxnSpPr>
        <p:spPr>
          <a:xfrm>
            <a:off x="6084168" y="404664"/>
            <a:ext cx="0" cy="5907851"/>
          </a:xfrm>
          <a:prstGeom prst="line">
            <a:avLst/>
          </a:prstGeom>
        </p:spPr>
        <p:style>
          <a:lnRef idx="1">
            <a:schemeClr val="accent2"/>
          </a:lnRef>
          <a:fillRef idx="0">
            <a:schemeClr val="accent2"/>
          </a:fillRef>
          <a:effectRef idx="0">
            <a:schemeClr val="accent2"/>
          </a:effectRef>
          <a:fontRef idx="minor">
            <a:schemeClr val="tx1"/>
          </a:fontRef>
        </p:style>
      </p:cxnSp>
      <p:sp>
        <p:nvSpPr>
          <p:cNvPr id="29" name="TextBox 28"/>
          <p:cNvSpPr txBox="1"/>
          <p:nvPr/>
        </p:nvSpPr>
        <p:spPr>
          <a:xfrm>
            <a:off x="5008694" y="372391"/>
            <a:ext cx="804932" cy="338554"/>
          </a:xfrm>
          <a:prstGeom prst="rect">
            <a:avLst/>
          </a:prstGeom>
          <a:noFill/>
        </p:spPr>
        <p:txBody>
          <a:bodyPr wrap="square" rtlCol="0">
            <a:spAutoFit/>
          </a:bodyPr>
          <a:lstStyle/>
          <a:p>
            <a:r>
              <a:rPr lang="en-AU" sz="1600" dirty="0" smtClean="0"/>
              <a:t>Word</a:t>
            </a:r>
            <a:endParaRPr lang="en-AU" sz="1600" dirty="0"/>
          </a:p>
        </p:txBody>
      </p:sp>
      <p:sp>
        <p:nvSpPr>
          <p:cNvPr id="30" name="TextBox 29"/>
          <p:cNvSpPr txBox="1"/>
          <p:nvPr/>
        </p:nvSpPr>
        <p:spPr>
          <a:xfrm>
            <a:off x="7113898" y="395316"/>
            <a:ext cx="1130332" cy="338554"/>
          </a:xfrm>
          <a:prstGeom prst="rect">
            <a:avLst/>
          </a:prstGeom>
          <a:noFill/>
        </p:spPr>
        <p:txBody>
          <a:bodyPr wrap="square" rtlCol="0">
            <a:spAutoFit/>
          </a:bodyPr>
          <a:lstStyle/>
          <a:p>
            <a:r>
              <a:rPr lang="en-AU" sz="1600" dirty="0" smtClean="0"/>
              <a:t>Description</a:t>
            </a:r>
            <a:endParaRPr lang="en-AU" sz="1600" dirty="0"/>
          </a:p>
        </p:txBody>
      </p:sp>
      <p:sp>
        <p:nvSpPr>
          <p:cNvPr id="4" name="TextBox 3"/>
          <p:cNvSpPr txBox="1"/>
          <p:nvPr/>
        </p:nvSpPr>
        <p:spPr>
          <a:xfrm>
            <a:off x="0" y="749198"/>
            <a:ext cx="1092489" cy="923330"/>
          </a:xfrm>
          <a:prstGeom prst="rect">
            <a:avLst/>
          </a:prstGeom>
          <a:noFill/>
        </p:spPr>
        <p:txBody>
          <a:bodyPr wrap="square" rtlCol="0">
            <a:spAutoFit/>
          </a:bodyPr>
          <a:lstStyle/>
          <a:p>
            <a:pPr algn="ctr"/>
            <a:r>
              <a:rPr lang="en-AU" dirty="0" smtClean="0"/>
              <a:t>4-5</a:t>
            </a:r>
          </a:p>
          <a:p>
            <a:pPr algn="ctr"/>
            <a:r>
              <a:rPr lang="en-AU" dirty="0" smtClean="0"/>
              <a:t>6-7</a:t>
            </a:r>
          </a:p>
          <a:p>
            <a:pPr algn="ctr"/>
            <a:r>
              <a:rPr lang="en-AU" dirty="0" smtClean="0"/>
              <a:t>8-9</a:t>
            </a:r>
            <a:endParaRPr lang="en-AU" dirty="0"/>
          </a:p>
        </p:txBody>
      </p:sp>
      <p:sp>
        <p:nvSpPr>
          <p:cNvPr id="6" name="TextBox 5"/>
          <p:cNvSpPr txBox="1"/>
          <p:nvPr/>
        </p:nvSpPr>
        <p:spPr>
          <a:xfrm>
            <a:off x="1092489" y="749198"/>
            <a:ext cx="1051321" cy="1477328"/>
          </a:xfrm>
          <a:prstGeom prst="rect">
            <a:avLst/>
          </a:prstGeom>
          <a:noFill/>
        </p:spPr>
        <p:txBody>
          <a:bodyPr wrap="square" rtlCol="0">
            <a:spAutoFit/>
          </a:bodyPr>
          <a:lstStyle/>
          <a:p>
            <a:pPr algn="ctr"/>
            <a:r>
              <a:rPr lang="en-AU" dirty="0" smtClean="0"/>
              <a:t>4/3</a:t>
            </a:r>
          </a:p>
          <a:p>
            <a:pPr algn="ctr"/>
            <a:r>
              <a:rPr lang="en-AU" dirty="0" smtClean="0"/>
              <a:t>6/3</a:t>
            </a:r>
          </a:p>
          <a:p>
            <a:pPr algn="ctr"/>
            <a:r>
              <a:rPr lang="en-AU" dirty="0" smtClean="0"/>
              <a:t>9/3</a:t>
            </a:r>
          </a:p>
          <a:p>
            <a:pPr algn="ctr"/>
            <a:endParaRPr lang="en-AU" dirty="0"/>
          </a:p>
          <a:p>
            <a:pPr algn="ctr"/>
            <a:r>
              <a:rPr lang="en-AU" smtClean="0"/>
              <a:t>17/3</a:t>
            </a:r>
            <a:endParaRPr lang="en-AU" dirty="0"/>
          </a:p>
        </p:txBody>
      </p:sp>
      <p:sp>
        <p:nvSpPr>
          <p:cNvPr id="7" name="TextBox 6"/>
          <p:cNvSpPr txBox="1"/>
          <p:nvPr/>
        </p:nvSpPr>
        <p:spPr>
          <a:xfrm>
            <a:off x="2143810" y="710945"/>
            <a:ext cx="2326314" cy="2677656"/>
          </a:xfrm>
          <a:prstGeom prst="rect">
            <a:avLst/>
          </a:prstGeom>
          <a:noFill/>
        </p:spPr>
        <p:txBody>
          <a:bodyPr wrap="square" rtlCol="0">
            <a:spAutoFit/>
          </a:bodyPr>
          <a:lstStyle/>
          <a:p>
            <a:r>
              <a:rPr lang="en-AU" dirty="0" smtClean="0"/>
              <a:t>Measures of Centre</a:t>
            </a:r>
          </a:p>
          <a:p>
            <a:r>
              <a:rPr lang="en-AU" dirty="0" smtClean="0"/>
              <a:t>Measures of Spread</a:t>
            </a:r>
          </a:p>
          <a:p>
            <a:r>
              <a:rPr lang="en-AU" dirty="0" smtClean="0"/>
              <a:t>Interpreting graphs and tables</a:t>
            </a:r>
          </a:p>
          <a:p>
            <a:r>
              <a:rPr lang="en-AU" dirty="0"/>
              <a:t>Using frequency tables to construct a histogram</a:t>
            </a:r>
          </a:p>
          <a:p>
            <a:endParaRPr lang="en-AU" dirty="0" smtClean="0"/>
          </a:p>
          <a:p>
            <a:endParaRPr lang="en-AU" dirty="0"/>
          </a:p>
        </p:txBody>
      </p:sp>
    </p:spTree>
    <p:extLst>
      <p:ext uri="{BB962C8B-B14F-4D97-AF65-F5344CB8AC3E}">
        <p14:creationId xmlns:p14="http://schemas.microsoft.com/office/powerpoint/2010/main" val="24023517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915816" y="1916832"/>
            <a:ext cx="7431"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0278" y="474856"/>
            <a:ext cx="7439175" cy="523220"/>
          </a:xfrm>
          <a:prstGeom prst="rect">
            <a:avLst/>
          </a:prstGeom>
          <a:noFill/>
        </p:spPr>
        <p:txBody>
          <a:bodyPr wrap="square" rtlCol="0">
            <a:spAutoFit/>
          </a:bodyPr>
          <a:lstStyle/>
          <a:p>
            <a:r>
              <a:rPr lang="en-AU" sz="2800" dirty="0" smtClean="0"/>
              <a:t>Title: Measures of Centre</a:t>
            </a:r>
            <a:endParaRPr lang="en-AU" sz="2800" dirty="0"/>
          </a:p>
        </p:txBody>
      </p:sp>
      <p:sp>
        <p:nvSpPr>
          <p:cNvPr id="11" name="TextBox 10"/>
          <p:cNvSpPr txBox="1"/>
          <p:nvPr/>
        </p:nvSpPr>
        <p:spPr>
          <a:xfrm>
            <a:off x="6251551" y="512677"/>
            <a:ext cx="2496913" cy="523220"/>
          </a:xfrm>
          <a:prstGeom prst="rect">
            <a:avLst/>
          </a:prstGeom>
          <a:noFill/>
        </p:spPr>
        <p:txBody>
          <a:bodyPr wrap="square" rtlCol="0">
            <a:spAutoFit/>
          </a:bodyPr>
          <a:lstStyle/>
          <a:p>
            <a:r>
              <a:rPr lang="en-AU" sz="2800" dirty="0" smtClean="0"/>
              <a:t>Date: </a:t>
            </a:r>
            <a:r>
              <a:rPr lang="en-AU" sz="2800" dirty="0"/>
              <a:t>4</a:t>
            </a:r>
            <a:r>
              <a:rPr lang="en-AU" sz="2800" dirty="0" smtClean="0"/>
              <a:t>/3/15</a:t>
            </a:r>
            <a:endParaRPr lang="en-AU" sz="2800" dirty="0"/>
          </a:p>
        </p:txBody>
      </p:sp>
      <p:sp>
        <p:nvSpPr>
          <p:cNvPr id="12" name="TextBox 11"/>
          <p:cNvSpPr txBox="1"/>
          <p:nvPr/>
        </p:nvSpPr>
        <p:spPr>
          <a:xfrm>
            <a:off x="0" y="1063436"/>
            <a:ext cx="8739936" cy="461665"/>
          </a:xfrm>
          <a:prstGeom prst="rect">
            <a:avLst/>
          </a:prstGeom>
          <a:noFill/>
        </p:spPr>
        <p:txBody>
          <a:bodyPr wrap="square" rtlCol="0">
            <a:spAutoFit/>
          </a:bodyPr>
          <a:lstStyle/>
          <a:p>
            <a:r>
              <a:rPr lang="en-AU" sz="2400" dirty="0" smtClean="0"/>
              <a:t>EQ : Describe what is meant by mean, median and mode.</a:t>
            </a:r>
            <a:endParaRPr lang="en-AU" sz="2400" dirty="0"/>
          </a:p>
        </p:txBody>
      </p:sp>
      <p:cxnSp>
        <p:nvCxnSpPr>
          <p:cNvPr id="5" name="Straight Connector 4"/>
          <p:cNvCxnSpPr/>
          <p:nvPr/>
        </p:nvCxnSpPr>
        <p:spPr>
          <a:xfrm>
            <a:off x="6228184" y="0"/>
            <a:ext cx="0" cy="9807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431" y="1916832"/>
            <a:ext cx="2915816" cy="461665"/>
          </a:xfrm>
          <a:prstGeom prst="rect">
            <a:avLst/>
          </a:prstGeom>
          <a:noFill/>
        </p:spPr>
        <p:txBody>
          <a:bodyPr wrap="square" rtlCol="0">
            <a:spAutoFit/>
          </a:bodyPr>
          <a:lstStyle/>
          <a:p>
            <a:r>
              <a:rPr lang="en-AU" sz="2400" dirty="0" smtClean="0"/>
              <a:t>Question:</a:t>
            </a:r>
            <a:endParaRPr lang="en-AU" sz="2400" dirty="0"/>
          </a:p>
        </p:txBody>
      </p:sp>
      <p:sp>
        <p:nvSpPr>
          <p:cNvPr id="13" name="TextBox 12"/>
          <p:cNvSpPr txBox="1"/>
          <p:nvPr/>
        </p:nvSpPr>
        <p:spPr>
          <a:xfrm>
            <a:off x="2923247" y="1916832"/>
            <a:ext cx="6220752" cy="5447645"/>
          </a:xfrm>
          <a:prstGeom prst="rect">
            <a:avLst/>
          </a:prstGeom>
          <a:noFill/>
        </p:spPr>
        <p:txBody>
          <a:bodyPr wrap="square" rtlCol="0">
            <a:spAutoFit/>
          </a:bodyPr>
          <a:lstStyle/>
          <a:p>
            <a:r>
              <a:rPr lang="en-AU" sz="2400" dirty="0" smtClean="0"/>
              <a:t>Notes:</a:t>
            </a:r>
          </a:p>
          <a:p>
            <a:pPr marL="342900" indent="-342900">
              <a:buFont typeface="Arial" panose="020B0604020202020204" pitchFamily="34" charset="0"/>
              <a:buChar char="•"/>
            </a:pPr>
            <a:r>
              <a:rPr lang="en-AU" sz="2000" dirty="0" smtClean="0"/>
              <a:t>The </a:t>
            </a:r>
            <a:r>
              <a:rPr lang="en-AU" sz="2000" b="1" dirty="0" smtClean="0"/>
              <a:t>mean or average </a:t>
            </a:r>
            <a:r>
              <a:rPr lang="en-AU" sz="2000" dirty="0" smtClean="0"/>
              <a:t>of a set of numbers is calculated by first adding all of the values together and then dividing by the number of values in the data set.</a:t>
            </a:r>
          </a:p>
          <a:p>
            <a:r>
              <a:rPr lang="en-AU" sz="2000" i="1" dirty="0" smtClean="0"/>
              <a:t>	Mean = 	</a:t>
            </a:r>
            <a:r>
              <a:rPr lang="en-AU" sz="2000" i="1" u="sng" dirty="0" smtClean="0"/>
              <a:t>(sum of all the values)</a:t>
            </a:r>
          </a:p>
          <a:p>
            <a:r>
              <a:rPr lang="en-AU" sz="2000" i="1" dirty="0" smtClean="0"/>
              <a:t>		(total number of values)</a:t>
            </a:r>
          </a:p>
          <a:p>
            <a:pPr marL="342900" indent="-342900">
              <a:buFont typeface="Arial" panose="020B0604020202020204" pitchFamily="34" charset="0"/>
              <a:buChar char="•"/>
            </a:pPr>
            <a:r>
              <a:rPr lang="en-AU" sz="2000" dirty="0" smtClean="0"/>
              <a:t>The </a:t>
            </a:r>
            <a:r>
              <a:rPr lang="en-AU" sz="2000" b="1" dirty="0" smtClean="0"/>
              <a:t>median </a:t>
            </a:r>
            <a:r>
              <a:rPr lang="en-AU" sz="2000" dirty="0" smtClean="0"/>
              <a:t>is the middle value when the values are written in ascending or descending order.</a:t>
            </a:r>
          </a:p>
          <a:p>
            <a:pPr marL="342900" indent="-342900">
              <a:buFont typeface="Arial" panose="020B0604020202020204" pitchFamily="34" charset="0"/>
              <a:buChar char="•"/>
            </a:pPr>
            <a:r>
              <a:rPr lang="en-AU" sz="2000" b="1" i="1" dirty="0" smtClean="0"/>
              <a:t>Remember</a:t>
            </a:r>
            <a:r>
              <a:rPr lang="en-AU" sz="2000" dirty="0" smtClean="0"/>
              <a:t> ascending is from smallest to largest and descending is the reverse from largest to smallest.</a:t>
            </a:r>
          </a:p>
          <a:p>
            <a:pPr marL="342900" indent="-342900">
              <a:buFont typeface="Arial" panose="020B0604020202020204" pitchFamily="34" charset="0"/>
              <a:buChar char="•"/>
            </a:pPr>
            <a:r>
              <a:rPr lang="en-AU" sz="2000" dirty="0" smtClean="0"/>
              <a:t>If there are two middle values then the average of them is taken by adding them together and dividing it by two.</a:t>
            </a:r>
          </a:p>
          <a:p>
            <a:pPr marL="342900" indent="-342900">
              <a:buFont typeface="Arial" panose="020B0604020202020204" pitchFamily="34" charset="0"/>
              <a:buChar char="•"/>
            </a:pPr>
            <a:r>
              <a:rPr lang="en-AU" sz="2000" dirty="0" smtClean="0"/>
              <a:t>The most common value (that which occurs most frequently) is called the </a:t>
            </a:r>
            <a:r>
              <a:rPr lang="en-AU" sz="2000" b="1" dirty="0" smtClean="0"/>
              <a:t>mode</a:t>
            </a:r>
            <a:r>
              <a:rPr lang="en-AU" sz="2000" dirty="0" smtClean="0"/>
              <a:t>.</a:t>
            </a:r>
          </a:p>
          <a:p>
            <a:endParaRPr lang="en-AU" sz="2000" dirty="0" smtClean="0"/>
          </a:p>
          <a:p>
            <a:endParaRPr lang="en-AU" sz="2400" dirty="0" smtClean="0"/>
          </a:p>
        </p:txBody>
      </p:sp>
      <p:sp>
        <p:nvSpPr>
          <p:cNvPr id="3" name="TextBox 2"/>
          <p:cNvSpPr txBox="1"/>
          <p:nvPr/>
        </p:nvSpPr>
        <p:spPr>
          <a:xfrm>
            <a:off x="7431" y="2378497"/>
            <a:ext cx="2908385" cy="4524315"/>
          </a:xfrm>
          <a:prstGeom prst="rect">
            <a:avLst/>
          </a:prstGeom>
          <a:noFill/>
        </p:spPr>
        <p:txBody>
          <a:bodyPr wrap="square" rtlCol="0">
            <a:spAutoFit/>
          </a:bodyPr>
          <a:lstStyle/>
          <a:p>
            <a:r>
              <a:rPr lang="en-AU" dirty="0" smtClean="0"/>
              <a:t>Describe how we calculate the mean of a set of data.</a:t>
            </a:r>
          </a:p>
          <a:p>
            <a:endParaRPr lang="en-AU" dirty="0"/>
          </a:p>
          <a:p>
            <a:endParaRPr lang="en-AU" dirty="0" smtClean="0"/>
          </a:p>
          <a:p>
            <a:endParaRPr lang="en-AU" dirty="0"/>
          </a:p>
          <a:p>
            <a:endParaRPr lang="en-AU" dirty="0" smtClean="0"/>
          </a:p>
          <a:p>
            <a:r>
              <a:rPr lang="en-AU" dirty="0" smtClean="0"/>
              <a:t>How do we find the median?</a:t>
            </a:r>
          </a:p>
          <a:p>
            <a:endParaRPr lang="en-AU" dirty="0"/>
          </a:p>
          <a:p>
            <a:endParaRPr lang="en-AU" dirty="0" smtClean="0"/>
          </a:p>
          <a:p>
            <a:endParaRPr lang="en-AU" dirty="0"/>
          </a:p>
          <a:p>
            <a:r>
              <a:rPr lang="en-AU" dirty="0" smtClean="0"/>
              <a:t>What do we do if there is more than one median?</a:t>
            </a:r>
          </a:p>
          <a:p>
            <a:endParaRPr lang="en-AU" dirty="0"/>
          </a:p>
          <a:p>
            <a:r>
              <a:rPr lang="en-AU" dirty="0" smtClean="0"/>
              <a:t>The most frequent value becomes what measure of centre?</a:t>
            </a:r>
          </a:p>
        </p:txBody>
      </p:sp>
      <p:sp>
        <p:nvSpPr>
          <p:cNvPr id="14" name="TextBox 13"/>
          <p:cNvSpPr txBox="1"/>
          <p:nvPr/>
        </p:nvSpPr>
        <p:spPr>
          <a:xfrm>
            <a:off x="5364088" y="37839"/>
            <a:ext cx="864096" cy="923330"/>
          </a:xfrm>
          <a:prstGeom prst="rect">
            <a:avLst/>
          </a:prstGeom>
          <a:noFill/>
        </p:spPr>
        <p:txBody>
          <a:bodyPr wrap="square" rtlCol="0">
            <a:spAutoFit/>
          </a:bodyPr>
          <a:lstStyle/>
          <a:p>
            <a:r>
              <a:rPr lang="en-AU" dirty="0" smtClean="0"/>
              <a:t>24</a:t>
            </a:r>
          </a:p>
          <a:p>
            <a:r>
              <a:rPr lang="en-AU" dirty="0" smtClean="0"/>
              <a:t>7</a:t>
            </a:r>
          </a:p>
          <a:p>
            <a:r>
              <a:rPr lang="en-AU" dirty="0" smtClean="0"/>
              <a:t>30</a:t>
            </a:r>
          </a:p>
        </p:txBody>
      </p:sp>
    </p:spTree>
    <p:extLst>
      <p:ext uri="{BB962C8B-B14F-4D97-AF65-F5344CB8AC3E}">
        <p14:creationId xmlns:p14="http://schemas.microsoft.com/office/powerpoint/2010/main" val="17830383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8568952" cy="800219"/>
          </a:xfrm>
          <a:prstGeom prst="rect">
            <a:avLst/>
          </a:prstGeom>
          <a:noFill/>
        </p:spPr>
        <p:txBody>
          <a:bodyPr wrap="square" rtlCol="0">
            <a:spAutoFit/>
          </a:bodyPr>
          <a:lstStyle/>
          <a:p>
            <a:pPr algn="ctr"/>
            <a:endParaRPr lang="en-AU" sz="2800" dirty="0" smtClean="0"/>
          </a:p>
          <a:p>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1976943716"/>
              </p:ext>
            </p:extLst>
          </p:nvPr>
        </p:nvGraphicFramePr>
        <p:xfrm>
          <a:off x="1632012" y="916851"/>
          <a:ext cx="6096000" cy="2590800"/>
        </p:xfrm>
        <a:graphic>
          <a:graphicData uri="http://schemas.openxmlformats.org/drawingml/2006/table">
            <a:tbl>
              <a:tblPr firstRow="1" bandRow="1">
                <a:tableStyleId>{22838BEF-8BB2-4498-84A7-C5851F593DF1}</a:tableStyleId>
              </a:tblPr>
              <a:tblGrid>
                <a:gridCol w="1219200"/>
                <a:gridCol w="1219200"/>
                <a:gridCol w="1219200"/>
                <a:gridCol w="1219200"/>
                <a:gridCol w="1219200"/>
              </a:tblGrid>
              <a:tr h="370840">
                <a:tc>
                  <a:txBody>
                    <a:bodyPr/>
                    <a:lstStyle/>
                    <a:p>
                      <a:pPr algn="ctr"/>
                      <a:r>
                        <a:rPr lang="en-AU" b="0" baseline="0" dirty="0" smtClean="0"/>
                        <a:t>30</a:t>
                      </a:r>
                      <a:endParaRPr lang="en-AU" b="0" dirty="0"/>
                    </a:p>
                  </a:txBody>
                  <a:tcPr/>
                </a:tc>
                <a:tc>
                  <a:txBody>
                    <a:bodyPr/>
                    <a:lstStyle/>
                    <a:p>
                      <a:pPr algn="ctr"/>
                      <a:r>
                        <a:rPr lang="en-AU" b="0" baseline="0" dirty="0" smtClean="0"/>
                        <a:t>29</a:t>
                      </a:r>
                      <a:endParaRPr lang="en-AU" b="0" dirty="0"/>
                    </a:p>
                  </a:txBody>
                  <a:tcPr/>
                </a:tc>
                <a:tc>
                  <a:txBody>
                    <a:bodyPr/>
                    <a:lstStyle/>
                    <a:p>
                      <a:pPr algn="ctr"/>
                      <a:r>
                        <a:rPr lang="en-AU" b="0" dirty="0" smtClean="0"/>
                        <a:t>30</a:t>
                      </a:r>
                      <a:endParaRPr lang="en-AU" b="0" dirty="0"/>
                    </a:p>
                  </a:txBody>
                  <a:tcPr/>
                </a:tc>
                <a:tc>
                  <a:txBody>
                    <a:bodyPr/>
                    <a:lstStyle/>
                    <a:p>
                      <a:pPr algn="ctr"/>
                      <a:r>
                        <a:rPr lang="en-AU" b="0" dirty="0" smtClean="0"/>
                        <a:t>31</a:t>
                      </a:r>
                      <a:endParaRPr lang="en-AU" b="0" dirty="0"/>
                    </a:p>
                  </a:txBody>
                  <a:tcPr/>
                </a:tc>
                <a:tc>
                  <a:txBody>
                    <a:bodyPr/>
                    <a:lstStyle/>
                    <a:p>
                      <a:pPr algn="ctr"/>
                      <a:r>
                        <a:rPr lang="en-AU" b="0" dirty="0" smtClean="0"/>
                        <a:t>34</a:t>
                      </a:r>
                      <a:endParaRPr lang="en-AU" b="0" dirty="0"/>
                    </a:p>
                  </a:txBody>
                  <a:tcPr/>
                </a:tc>
              </a:tr>
              <a:tr h="133216">
                <a:tc>
                  <a:txBody>
                    <a:bodyPr/>
                    <a:lstStyle/>
                    <a:p>
                      <a:pPr algn="ctr"/>
                      <a:r>
                        <a:rPr lang="en-AU" dirty="0" smtClean="0"/>
                        <a:t>26</a:t>
                      </a:r>
                      <a:endParaRPr lang="en-AU" dirty="0"/>
                    </a:p>
                  </a:txBody>
                  <a:tcPr/>
                </a:tc>
                <a:tc>
                  <a:txBody>
                    <a:bodyPr/>
                    <a:lstStyle/>
                    <a:p>
                      <a:pPr algn="ctr"/>
                      <a:r>
                        <a:rPr lang="en-AU" dirty="0" smtClean="0"/>
                        <a:t>26</a:t>
                      </a:r>
                      <a:endParaRPr lang="en-AU" dirty="0"/>
                    </a:p>
                  </a:txBody>
                  <a:tcPr/>
                </a:tc>
                <a:tc>
                  <a:txBody>
                    <a:bodyPr/>
                    <a:lstStyle/>
                    <a:p>
                      <a:pPr algn="ctr"/>
                      <a:r>
                        <a:rPr lang="en-AU" dirty="0" smtClean="0"/>
                        <a:t>32</a:t>
                      </a:r>
                      <a:endParaRPr lang="en-AU" dirty="0"/>
                    </a:p>
                  </a:txBody>
                  <a:tcPr/>
                </a:tc>
                <a:tc>
                  <a:txBody>
                    <a:bodyPr/>
                    <a:lstStyle/>
                    <a:p>
                      <a:pPr algn="ctr"/>
                      <a:r>
                        <a:rPr lang="en-AU" dirty="0" smtClean="0"/>
                        <a:t>31</a:t>
                      </a:r>
                      <a:endParaRPr lang="en-AU" dirty="0"/>
                    </a:p>
                  </a:txBody>
                  <a:tcPr/>
                </a:tc>
                <a:tc>
                  <a:txBody>
                    <a:bodyPr/>
                    <a:lstStyle/>
                    <a:p>
                      <a:pPr algn="ctr"/>
                      <a:r>
                        <a:rPr lang="en-AU" dirty="0" smtClean="0"/>
                        <a:t>32</a:t>
                      </a:r>
                      <a:endParaRPr lang="en-AU" dirty="0"/>
                    </a:p>
                  </a:txBody>
                  <a:tcPr/>
                </a:tc>
              </a:tr>
              <a:tr h="370840">
                <a:tc>
                  <a:txBody>
                    <a:bodyPr/>
                    <a:lstStyle/>
                    <a:p>
                      <a:pPr algn="ctr"/>
                      <a:r>
                        <a:rPr lang="en-AU" baseline="0" dirty="0" smtClean="0"/>
                        <a:t>29</a:t>
                      </a:r>
                      <a:endParaRPr lang="en-AU" dirty="0"/>
                    </a:p>
                  </a:txBody>
                  <a:tcPr/>
                </a:tc>
                <a:tc>
                  <a:txBody>
                    <a:bodyPr/>
                    <a:lstStyle/>
                    <a:p>
                      <a:pPr algn="ctr"/>
                      <a:r>
                        <a:rPr lang="en-AU" dirty="0" smtClean="0"/>
                        <a:t>27</a:t>
                      </a:r>
                      <a:endParaRPr lang="en-AU" dirty="0"/>
                    </a:p>
                  </a:txBody>
                  <a:tcPr/>
                </a:tc>
                <a:tc>
                  <a:txBody>
                    <a:bodyPr/>
                    <a:lstStyle/>
                    <a:p>
                      <a:pPr algn="ctr"/>
                      <a:r>
                        <a:rPr lang="en-AU" dirty="0" smtClean="0"/>
                        <a:t>36</a:t>
                      </a:r>
                      <a:endParaRPr lang="en-AU" dirty="0"/>
                    </a:p>
                  </a:txBody>
                  <a:tcPr/>
                </a:tc>
                <a:tc>
                  <a:txBody>
                    <a:bodyPr/>
                    <a:lstStyle/>
                    <a:p>
                      <a:pPr algn="ctr"/>
                      <a:r>
                        <a:rPr lang="en-AU" dirty="0" smtClean="0"/>
                        <a:t>31</a:t>
                      </a:r>
                      <a:endParaRPr lang="en-AU" dirty="0"/>
                    </a:p>
                  </a:txBody>
                  <a:tcPr/>
                </a:tc>
                <a:tc>
                  <a:txBody>
                    <a:bodyPr/>
                    <a:lstStyle/>
                    <a:p>
                      <a:pPr algn="ctr"/>
                      <a:r>
                        <a:rPr lang="en-AU" dirty="0" smtClean="0"/>
                        <a:t>28</a:t>
                      </a:r>
                      <a:endParaRPr lang="en-AU" dirty="0"/>
                    </a:p>
                  </a:txBody>
                  <a:tcPr/>
                </a:tc>
              </a:tr>
              <a:tr h="370840">
                <a:tc>
                  <a:txBody>
                    <a:bodyPr/>
                    <a:lstStyle/>
                    <a:p>
                      <a:pPr algn="ctr"/>
                      <a:r>
                        <a:rPr lang="en-AU" dirty="0" smtClean="0"/>
                        <a:t>36</a:t>
                      </a:r>
                      <a:endParaRPr lang="en-AU" dirty="0"/>
                    </a:p>
                  </a:txBody>
                  <a:tcPr/>
                </a:tc>
                <a:tc>
                  <a:txBody>
                    <a:bodyPr/>
                    <a:lstStyle/>
                    <a:p>
                      <a:pPr algn="ctr"/>
                      <a:r>
                        <a:rPr lang="en-AU" dirty="0" smtClean="0"/>
                        <a:t>30</a:t>
                      </a:r>
                      <a:endParaRPr lang="en-AU" dirty="0"/>
                    </a:p>
                  </a:txBody>
                  <a:tcPr/>
                </a:tc>
                <a:tc>
                  <a:txBody>
                    <a:bodyPr/>
                    <a:lstStyle/>
                    <a:p>
                      <a:pPr algn="ctr"/>
                      <a:r>
                        <a:rPr lang="en-AU" dirty="0" smtClean="0"/>
                        <a:t>30</a:t>
                      </a:r>
                      <a:endParaRPr lang="en-AU" dirty="0"/>
                    </a:p>
                  </a:txBody>
                  <a:tcPr/>
                </a:tc>
                <a:tc>
                  <a:txBody>
                    <a:bodyPr/>
                    <a:lstStyle/>
                    <a:p>
                      <a:pPr algn="ctr"/>
                      <a:r>
                        <a:rPr lang="en-AU" dirty="0" smtClean="0"/>
                        <a:t>30</a:t>
                      </a:r>
                      <a:endParaRPr lang="en-AU" dirty="0"/>
                    </a:p>
                  </a:txBody>
                  <a:tcPr/>
                </a:tc>
                <a:tc>
                  <a:txBody>
                    <a:bodyPr/>
                    <a:lstStyle/>
                    <a:p>
                      <a:pPr algn="ctr"/>
                      <a:endParaRPr lang="en-AU"/>
                    </a:p>
                  </a:txBody>
                  <a:tcPr/>
                </a:tc>
              </a:tr>
              <a:tr h="370840">
                <a:tc>
                  <a:txBody>
                    <a:bodyPr/>
                    <a:lstStyle/>
                    <a:p>
                      <a:pPr algn="ctr"/>
                      <a:r>
                        <a:rPr lang="en-AU" dirty="0" smtClean="0"/>
                        <a:t>41</a:t>
                      </a:r>
                      <a:endParaRPr lang="en-AU" dirty="0"/>
                    </a:p>
                  </a:txBody>
                  <a:tcPr/>
                </a:tc>
                <a:tc>
                  <a:txBody>
                    <a:bodyPr/>
                    <a:lstStyle/>
                    <a:p>
                      <a:pPr algn="ctr"/>
                      <a:r>
                        <a:rPr lang="en-AU" dirty="0" smtClean="0"/>
                        <a:t>33</a:t>
                      </a:r>
                      <a:endParaRPr lang="en-AU" dirty="0"/>
                    </a:p>
                  </a:txBody>
                  <a:tcPr/>
                </a:tc>
                <a:tc>
                  <a:txBody>
                    <a:bodyPr/>
                    <a:lstStyle/>
                    <a:p>
                      <a:pPr algn="ctr"/>
                      <a:r>
                        <a:rPr lang="en-AU" dirty="0" smtClean="0"/>
                        <a:t>27</a:t>
                      </a:r>
                      <a:endParaRPr lang="en-AU" dirty="0"/>
                    </a:p>
                  </a:txBody>
                  <a:tcPr/>
                </a:tc>
                <a:tc>
                  <a:txBody>
                    <a:bodyPr/>
                    <a:lstStyle/>
                    <a:p>
                      <a:pPr algn="ctr"/>
                      <a:r>
                        <a:rPr lang="en-AU" dirty="0" smtClean="0"/>
                        <a:t>34</a:t>
                      </a:r>
                      <a:endParaRPr lang="en-AU" dirty="0"/>
                    </a:p>
                  </a:txBody>
                  <a:tcPr/>
                </a:tc>
                <a:tc>
                  <a:txBody>
                    <a:bodyPr/>
                    <a:lstStyle/>
                    <a:p>
                      <a:pPr algn="ctr"/>
                      <a:endParaRPr lang="en-AU" dirty="0"/>
                    </a:p>
                  </a:txBody>
                  <a:tcPr/>
                </a:tc>
              </a:tr>
              <a:tr h="370840">
                <a:tc>
                  <a:txBody>
                    <a:bodyPr/>
                    <a:lstStyle/>
                    <a:p>
                      <a:pPr algn="ctr"/>
                      <a:r>
                        <a:rPr lang="en-AU" dirty="0" smtClean="0"/>
                        <a:t>35</a:t>
                      </a:r>
                      <a:endParaRPr lang="en-AU" dirty="0"/>
                    </a:p>
                  </a:txBody>
                  <a:tcPr/>
                </a:tc>
                <a:tc>
                  <a:txBody>
                    <a:bodyPr/>
                    <a:lstStyle/>
                    <a:p>
                      <a:pPr algn="ctr"/>
                      <a:r>
                        <a:rPr lang="en-AU" dirty="0" smtClean="0"/>
                        <a:t>35</a:t>
                      </a:r>
                      <a:endParaRPr lang="en-AU" dirty="0"/>
                    </a:p>
                  </a:txBody>
                  <a:tcPr/>
                </a:tc>
                <a:tc>
                  <a:txBody>
                    <a:bodyPr/>
                    <a:lstStyle/>
                    <a:p>
                      <a:pPr algn="ctr"/>
                      <a:r>
                        <a:rPr lang="en-AU" dirty="0" smtClean="0"/>
                        <a:t>39</a:t>
                      </a:r>
                      <a:endParaRPr lang="en-AU" dirty="0"/>
                    </a:p>
                  </a:txBody>
                  <a:tcPr/>
                </a:tc>
                <a:tc>
                  <a:txBody>
                    <a:bodyPr/>
                    <a:lstStyle/>
                    <a:p>
                      <a:pPr algn="ctr"/>
                      <a:r>
                        <a:rPr lang="en-AU" dirty="0" smtClean="0"/>
                        <a:t>38</a:t>
                      </a:r>
                      <a:endParaRPr lang="en-AU" dirty="0"/>
                    </a:p>
                  </a:txBody>
                  <a:tcPr/>
                </a:tc>
                <a:tc>
                  <a:txBody>
                    <a:bodyPr/>
                    <a:lstStyle/>
                    <a:p>
                      <a:pPr algn="ctr"/>
                      <a:endParaRPr lang="en-AU" dirty="0"/>
                    </a:p>
                  </a:txBody>
                  <a:tcPr/>
                </a:tc>
              </a:tr>
              <a:tr h="370840">
                <a:tc>
                  <a:txBody>
                    <a:bodyPr/>
                    <a:lstStyle/>
                    <a:p>
                      <a:pPr algn="ctr"/>
                      <a:r>
                        <a:rPr lang="en-AU" dirty="0" smtClean="0"/>
                        <a:t>31</a:t>
                      </a:r>
                      <a:endParaRPr lang="en-AU" dirty="0"/>
                    </a:p>
                  </a:txBody>
                  <a:tcPr/>
                </a:tc>
                <a:tc>
                  <a:txBody>
                    <a:bodyPr/>
                    <a:lstStyle/>
                    <a:p>
                      <a:pPr algn="ctr"/>
                      <a:r>
                        <a:rPr lang="en-AU" dirty="0" smtClean="0"/>
                        <a:t>30</a:t>
                      </a:r>
                      <a:endParaRPr lang="en-AU" dirty="0"/>
                    </a:p>
                  </a:txBody>
                  <a:tcPr/>
                </a:tc>
                <a:tc>
                  <a:txBody>
                    <a:bodyPr/>
                    <a:lstStyle/>
                    <a:p>
                      <a:pPr algn="ctr"/>
                      <a:r>
                        <a:rPr lang="en-AU" dirty="0" smtClean="0"/>
                        <a:t>37</a:t>
                      </a:r>
                      <a:endParaRPr lang="en-AU" dirty="0"/>
                    </a:p>
                  </a:txBody>
                  <a:tcPr/>
                </a:tc>
                <a:tc>
                  <a:txBody>
                    <a:bodyPr/>
                    <a:lstStyle/>
                    <a:p>
                      <a:pPr algn="ctr"/>
                      <a:r>
                        <a:rPr lang="en-AU" dirty="0" smtClean="0"/>
                        <a:t>38</a:t>
                      </a:r>
                      <a:endParaRPr lang="en-AU" dirty="0"/>
                    </a:p>
                  </a:txBody>
                  <a:tcPr/>
                </a:tc>
                <a:tc>
                  <a:txBody>
                    <a:bodyPr/>
                    <a:lstStyle/>
                    <a:p>
                      <a:pPr algn="ctr"/>
                      <a:endParaRPr lang="en-AU" dirty="0"/>
                    </a:p>
                  </a:txBody>
                  <a:tcPr/>
                </a:tc>
              </a:tr>
            </a:tbl>
          </a:graphicData>
        </a:graphic>
      </p:graphicFrame>
      <p:sp>
        <p:nvSpPr>
          <p:cNvPr id="4" name="TextBox 3"/>
          <p:cNvSpPr txBox="1"/>
          <p:nvPr/>
        </p:nvSpPr>
        <p:spPr>
          <a:xfrm>
            <a:off x="755576" y="404664"/>
            <a:ext cx="7848872" cy="6801862"/>
          </a:xfrm>
          <a:prstGeom prst="rect">
            <a:avLst/>
          </a:prstGeom>
          <a:noFill/>
        </p:spPr>
        <p:txBody>
          <a:bodyPr wrap="square" rtlCol="0">
            <a:spAutoFit/>
          </a:bodyPr>
          <a:lstStyle/>
          <a:p>
            <a:pPr algn="ctr"/>
            <a:r>
              <a:rPr lang="en-AU" sz="2400" dirty="0" smtClean="0"/>
              <a:t>Activity : Maximum Monthly Temperatures for January 2015 </a:t>
            </a:r>
          </a:p>
          <a:p>
            <a:pPr algn="ctr"/>
            <a:endParaRPr lang="en-AU" sz="2400" dirty="0"/>
          </a:p>
          <a:p>
            <a:pPr algn="ctr"/>
            <a:endParaRPr lang="en-AU" sz="2400" dirty="0" smtClean="0"/>
          </a:p>
          <a:p>
            <a:pPr algn="ctr"/>
            <a:endParaRPr lang="en-AU" sz="2400" dirty="0"/>
          </a:p>
          <a:p>
            <a:pPr algn="ctr"/>
            <a:endParaRPr lang="en-AU" sz="2400" dirty="0" smtClean="0"/>
          </a:p>
          <a:p>
            <a:pPr algn="ctr"/>
            <a:endParaRPr lang="en-AU" sz="2400" dirty="0"/>
          </a:p>
          <a:p>
            <a:pPr algn="ctr"/>
            <a:endParaRPr lang="en-AU" sz="2400" dirty="0" smtClean="0"/>
          </a:p>
          <a:p>
            <a:pPr algn="ctr"/>
            <a:endParaRPr lang="en-AU" sz="2400" dirty="0"/>
          </a:p>
          <a:p>
            <a:pPr algn="ctr"/>
            <a:endParaRPr lang="en-AU" sz="2400" dirty="0" smtClean="0"/>
          </a:p>
          <a:p>
            <a:pPr marL="457200" indent="-457200">
              <a:buFont typeface="+mj-lt"/>
              <a:buAutoNum type="arabicPeriod"/>
            </a:pPr>
            <a:r>
              <a:rPr lang="en-AU" sz="2000" dirty="0" smtClean="0"/>
              <a:t>Lets work together to calculate the mean.</a:t>
            </a:r>
          </a:p>
          <a:p>
            <a:pPr marL="457200" indent="-457200">
              <a:buFont typeface="+mj-lt"/>
              <a:buAutoNum type="arabicPeriod"/>
            </a:pPr>
            <a:endParaRPr lang="en-AU" sz="2000" dirty="0"/>
          </a:p>
          <a:p>
            <a:pPr marL="457200" indent="-457200">
              <a:buFont typeface="+mj-lt"/>
              <a:buAutoNum type="arabicPeriod"/>
            </a:pPr>
            <a:endParaRPr lang="en-AU" sz="2000" dirty="0" smtClean="0"/>
          </a:p>
          <a:p>
            <a:pPr marL="457200" indent="-457200">
              <a:buFont typeface="+mj-lt"/>
              <a:buAutoNum type="arabicPeriod"/>
            </a:pPr>
            <a:endParaRPr lang="en-AU" sz="2000" dirty="0"/>
          </a:p>
          <a:p>
            <a:pPr marL="457200" indent="-457200">
              <a:buFont typeface="+mj-lt"/>
              <a:buAutoNum type="arabicPeriod"/>
            </a:pPr>
            <a:r>
              <a:rPr lang="en-AU" sz="2000" dirty="0" smtClean="0"/>
              <a:t>Now lets order the temperatures from smallest to largest to calculate the mean.</a:t>
            </a:r>
          </a:p>
          <a:p>
            <a:pPr marL="457200" indent="-457200">
              <a:buFont typeface="+mj-lt"/>
              <a:buAutoNum type="arabicPeriod"/>
            </a:pPr>
            <a:endParaRPr lang="en-AU" sz="2000" dirty="0"/>
          </a:p>
          <a:p>
            <a:pPr marL="457200" indent="-457200">
              <a:buFont typeface="+mj-lt"/>
              <a:buAutoNum type="arabicPeriod"/>
            </a:pPr>
            <a:endParaRPr lang="en-AU" sz="2000" dirty="0" smtClean="0"/>
          </a:p>
          <a:p>
            <a:pPr marL="457200" indent="-457200">
              <a:buFont typeface="+mj-lt"/>
              <a:buAutoNum type="arabicPeriod"/>
            </a:pPr>
            <a:r>
              <a:rPr lang="en-AU" sz="2000" dirty="0" smtClean="0"/>
              <a:t>Which temperature </a:t>
            </a:r>
            <a:r>
              <a:rPr lang="en-AU" sz="2000" dirty="0"/>
              <a:t>i</a:t>
            </a:r>
            <a:r>
              <a:rPr lang="en-AU" sz="2000" dirty="0" smtClean="0"/>
              <a:t>s most frequent in January?</a:t>
            </a:r>
          </a:p>
          <a:p>
            <a:pPr marL="457200" indent="-457200">
              <a:buAutoNum type="arabicPeriod"/>
            </a:pPr>
            <a:endParaRPr lang="en-AU" sz="2000" dirty="0"/>
          </a:p>
          <a:p>
            <a:pPr marL="457200" indent="-457200">
              <a:buAutoNum type="arabicPeriod"/>
            </a:pPr>
            <a:endParaRPr lang="en-AU" sz="2000" dirty="0"/>
          </a:p>
        </p:txBody>
      </p:sp>
    </p:spTree>
    <p:extLst>
      <p:ext uri="{BB962C8B-B14F-4D97-AF65-F5344CB8AC3E}">
        <p14:creationId xmlns:p14="http://schemas.microsoft.com/office/powerpoint/2010/main" val="283314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332656"/>
            <a:ext cx="8496944" cy="7109639"/>
          </a:xfrm>
          <a:prstGeom prst="rect">
            <a:avLst/>
          </a:prstGeom>
          <a:noFill/>
        </p:spPr>
        <p:txBody>
          <a:bodyPr wrap="square" rtlCol="0">
            <a:spAutoFit/>
          </a:bodyPr>
          <a:lstStyle/>
          <a:p>
            <a:r>
              <a:rPr lang="en-AU" sz="2400" u="sng" dirty="0" smtClean="0"/>
              <a:t>Activity – Shoe sizes</a:t>
            </a:r>
          </a:p>
          <a:p>
            <a:r>
              <a:rPr lang="en-AU" sz="2400" dirty="0" smtClean="0"/>
              <a:t>Have you class write their shoe size on their white boards and raise them above their heads</a:t>
            </a:r>
          </a:p>
          <a:p>
            <a:endParaRPr lang="en-AU" sz="2400" dirty="0"/>
          </a:p>
          <a:p>
            <a:endParaRPr lang="en-AU" sz="2400" dirty="0" smtClean="0"/>
          </a:p>
          <a:p>
            <a:endParaRPr lang="en-AU" sz="2400" dirty="0"/>
          </a:p>
          <a:p>
            <a:endParaRPr lang="en-AU" sz="2400" dirty="0" smtClean="0"/>
          </a:p>
          <a:p>
            <a:endParaRPr lang="en-AU" sz="2400" dirty="0"/>
          </a:p>
          <a:p>
            <a:r>
              <a:rPr lang="en-AU" sz="2400" dirty="0" smtClean="0"/>
              <a:t>Tally the number of each size.</a:t>
            </a:r>
          </a:p>
          <a:p>
            <a:r>
              <a:rPr lang="en-AU" sz="2400" u="sng" dirty="0" smtClean="0"/>
              <a:t>Calculate:</a:t>
            </a:r>
          </a:p>
          <a:p>
            <a:r>
              <a:rPr lang="en-AU" sz="2400" dirty="0" smtClean="0"/>
              <a:t>Mean -</a:t>
            </a:r>
          </a:p>
          <a:p>
            <a:endParaRPr lang="en-AU" sz="2400" dirty="0"/>
          </a:p>
          <a:p>
            <a:r>
              <a:rPr lang="en-AU" sz="2400" dirty="0" smtClean="0"/>
              <a:t>Median - </a:t>
            </a:r>
          </a:p>
          <a:p>
            <a:endParaRPr lang="en-AU" sz="2400" dirty="0"/>
          </a:p>
          <a:p>
            <a:r>
              <a:rPr lang="en-AU" sz="2400" dirty="0" smtClean="0"/>
              <a:t>Mode – </a:t>
            </a:r>
          </a:p>
          <a:p>
            <a:endParaRPr lang="en-AU" sz="2400" dirty="0" smtClean="0"/>
          </a:p>
          <a:p>
            <a:r>
              <a:rPr lang="en-AU" sz="2400" dirty="0" smtClean="0"/>
              <a:t>Complete exercise 8D page 465 Q1-18</a:t>
            </a:r>
          </a:p>
          <a:p>
            <a:endParaRPr lang="en-AU" sz="2400" dirty="0"/>
          </a:p>
          <a:p>
            <a:endParaRPr lang="en-AU" sz="2400" dirty="0"/>
          </a:p>
        </p:txBody>
      </p:sp>
      <p:graphicFrame>
        <p:nvGraphicFramePr>
          <p:cNvPr id="3" name="Table 2"/>
          <p:cNvGraphicFramePr>
            <a:graphicFrameLocks noGrp="1"/>
          </p:cNvGraphicFramePr>
          <p:nvPr>
            <p:extLst>
              <p:ext uri="{D42A27DB-BD31-4B8C-83A1-F6EECF244321}">
                <p14:modId xmlns:p14="http://schemas.microsoft.com/office/powerpoint/2010/main" val="953646440"/>
              </p:ext>
            </p:extLst>
          </p:nvPr>
        </p:nvGraphicFramePr>
        <p:xfrm>
          <a:off x="1403648" y="1772816"/>
          <a:ext cx="6096000" cy="1483360"/>
        </p:xfrm>
        <a:graphic>
          <a:graphicData uri="http://schemas.openxmlformats.org/drawingml/2006/table">
            <a:tbl>
              <a:tblPr firstRow="1" bandRow="1">
                <a:tableStyleId>{ED083AE6-46FA-4A59-8FB0-9F97EB10719F}</a:tableStyleId>
              </a:tblPr>
              <a:tblGrid>
                <a:gridCol w="2032000"/>
                <a:gridCol w="2032000"/>
                <a:gridCol w="2032000"/>
              </a:tblGrid>
              <a:tr h="370840">
                <a:tc>
                  <a:txBody>
                    <a:bodyPr/>
                    <a:lstStyle/>
                    <a:p>
                      <a:r>
                        <a:rPr lang="en-AU" b="1" dirty="0" smtClean="0"/>
                        <a:t>1</a:t>
                      </a:r>
                      <a:endParaRPr lang="en-AU" b="1" dirty="0"/>
                    </a:p>
                  </a:txBody>
                  <a:tcPr/>
                </a:tc>
                <a:tc>
                  <a:txBody>
                    <a:bodyPr/>
                    <a:lstStyle/>
                    <a:p>
                      <a:r>
                        <a:rPr lang="en-AU" b="1" dirty="0" smtClean="0"/>
                        <a:t>5</a:t>
                      </a:r>
                      <a:endParaRPr lang="en-AU" b="1" dirty="0"/>
                    </a:p>
                  </a:txBody>
                  <a:tcPr/>
                </a:tc>
                <a:tc>
                  <a:txBody>
                    <a:bodyPr/>
                    <a:lstStyle/>
                    <a:p>
                      <a:r>
                        <a:rPr lang="en-AU" b="1" dirty="0" smtClean="0"/>
                        <a:t>8</a:t>
                      </a:r>
                      <a:endParaRPr lang="en-AU" b="1" dirty="0"/>
                    </a:p>
                  </a:txBody>
                  <a:tcPr/>
                </a:tc>
              </a:tr>
              <a:tr h="370840">
                <a:tc>
                  <a:txBody>
                    <a:bodyPr/>
                    <a:lstStyle/>
                    <a:p>
                      <a:r>
                        <a:rPr lang="en-AU" b="1" dirty="0" smtClean="0"/>
                        <a:t>2</a:t>
                      </a:r>
                      <a:endParaRPr lang="en-AU" b="1" dirty="0"/>
                    </a:p>
                  </a:txBody>
                  <a:tcPr/>
                </a:tc>
                <a:tc>
                  <a:txBody>
                    <a:bodyPr/>
                    <a:lstStyle/>
                    <a:p>
                      <a:r>
                        <a:rPr lang="en-AU" b="1" dirty="0" smtClean="0"/>
                        <a:t>6</a:t>
                      </a:r>
                      <a:endParaRPr lang="en-AU" b="1" dirty="0"/>
                    </a:p>
                  </a:txBody>
                  <a:tcPr/>
                </a:tc>
                <a:tc>
                  <a:txBody>
                    <a:bodyPr/>
                    <a:lstStyle/>
                    <a:p>
                      <a:r>
                        <a:rPr lang="en-AU" b="1" dirty="0" smtClean="0"/>
                        <a:t>10</a:t>
                      </a:r>
                      <a:endParaRPr lang="en-AU" b="1" dirty="0"/>
                    </a:p>
                  </a:txBody>
                  <a:tcPr/>
                </a:tc>
              </a:tr>
              <a:tr h="370840">
                <a:tc>
                  <a:txBody>
                    <a:bodyPr/>
                    <a:lstStyle/>
                    <a:p>
                      <a:r>
                        <a:rPr lang="en-AU" b="1" dirty="0" smtClean="0"/>
                        <a:t>3</a:t>
                      </a:r>
                      <a:endParaRPr lang="en-AU" b="1" dirty="0"/>
                    </a:p>
                  </a:txBody>
                  <a:tcPr/>
                </a:tc>
                <a:tc>
                  <a:txBody>
                    <a:bodyPr/>
                    <a:lstStyle/>
                    <a:p>
                      <a:r>
                        <a:rPr lang="en-AU" b="1" dirty="0" smtClean="0"/>
                        <a:t>7</a:t>
                      </a:r>
                      <a:endParaRPr lang="en-AU" b="1" dirty="0"/>
                    </a:p>
                  </a:txBody>
                  <a:tcPr/>
                </a:tc>
                <a:tc>
                  <a:txBody>
                    <a:bodyPr/>
                    <a:lstStyle/>
                    <a:p>
                      <a:r>
                        <a:rPr lang="en-AU" b="1" dirty="0" smtClean="0"/>
                        <a:t>11</a:t>
                      </a:r>
                      <a:endParaRPr lang="en-AU" b="1" dirty="0"/>
                    </a:p>
                  </a:txBody>
                  <a:tcPr/>
                </a:tc>
              </a:tr>
              <a:tr h="370840">
                <a:tc>
                  <a:txBody>
                    <a:bodyPr/>
                    <a:lstStyle/>
                    <a:p>
                      <a:r>
                        <a:rPr lang="en-AU" b="1" dirty="0" smtClean="0"/>
                        <a:t>4</a:t>
                      </a:r>
                      <a:endParaRPr lang="en-AU" b="1" dirty="0"/>
                    </a:p>
                  </a:txBody>
                  <a:tcPr/>
                </a:tc>
                <a:tc>
                  <a:txBody>
                    <a:bodyPr/>
                    <a:lstStyle/>
                    <a:p>
                      <a:r>
                        <a:rPr lang="en-AU" b="1" dirty="0" smtClean="0"/>
                        <a:t>8</a:t>
                      </a:r>
                      <a:endParaRPr lang="en-AU" b="1" dirty="0"/>
                    </a:p>
                  </a:txBody>
                  <a:tcPr/>
                </a:tc>
                <a:tc>
                  <a:txBody>
                    <a:bodyPr/>
                    <a:lstStyle/>
                    <a:p>
                      <a:r>
                        <a:rPr lang="en-AU" b="1" dirty="0" smtClean="0"/>
                        <a:t>12</a:t>
                      </a:r>
                      <a:endParaRPr lang="en-AU" b="1" dirty="0"/>
                    </a:p>
                  </a:txBody>
                  <a:tcPr/>
                </a:tc>
              </a:tr>
            </a:tbl>
          </a:graphicData>
        </a:graphic>
      </p:graphicFrame>
    </p:spTree>
    <p:extLst>
      <p:ext uri="{BB962C8B-B14F-4D97-AF65-F5344CB8AC3E}">
        <p14:creationId xmlns:p14="http://schemas.microsoft.com/office/powerpoint/2010/main" val="15896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915816" y="1916832"/>
            <a:ext cx="7431"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0278" y="474856"/>
            <a:ext cx="7439175" cy="523220"/>
          </a:xfrm>
          <a:prstGeom prst="rect">
            <a:avLst/>
          </a:prstGeom>
          <a:noFill/>
        </p:spPr>
        <p:txBody>
          <a:bodyPr wrap="square" rtlCol="0">
            <a:spAutoFit/>
          </a:bodyPr>
          <a:lstStyle/>
          <a:p>
            <a:r>
              <a:rPr lang="en-AU" sz="2800" dirty="0" smtClean="0"/>
              <a:t>Title: Measures of Spread</a:t>
            </a:r>
            <a:endParaRPr lang="en-AU" sz="2800" dirty="0"/>
          </a:p>
        </p:txBody>
      </p:sp>
      <p:sp>
        <p:nvSpPr>
          <p:cNvPr id="11" name="TextBox 10"/>
          <p:cNvSpPr txBox="1"/>
          <p:nvPr/>
        </p:nvSpPr>
        <p:spPr>
          <a:xfrm>
            <a:off x="6251551" y="512677"/>
            <a:ext cx="2496913" cy="523220"/>
          </a:xfrm>
          <a:prstGeom prst="rect">
            <a:avLst/>
          </a:prstGeom>
          <a:noFill/>
        </p:spPr>
        <p:txBody>
          <a:bodyPr wrap="square" rtlCol="0">
            <a:spAutoFit/>
          </a:bodyPr>
          <a:lstStyle/>
          <a:p>
            <a:r>
              <a:rPr lang="en-AU" sz="2800" dirty="0" smtClean="0"/>
              <a:t>Date: 5/3/15</a:t>
            </a:r>
            <a:endParaRPr lang="en-AU" sz="2800" dirty="0"/>
          </a:p>
        </p:txBody>
      </p:sp>
      <p:sp>
        <p:nvSpPr>
          <p:cNvPr id="12" name="TextBox 11"/>
          <p:cNvSpPr txBox="1"/>
          <p:nvPr/>
        </p:nvSpPr>
        <p:spPr>
          <a:xfrm>
            <a:off x="0" y="1063436"/>
            <a:ext cx="8739936" cy="461665"/>
          </a:xfrm>
          <a:prstGeom prst="rect">
            <a:avLst/>
          </a:prstGeom>
          <a:noFill/>
        </p:spPr>
        <p:txBody>
          <a:bodyPr wrap="square" rtlCol="0">
            <a:spAutoFit/>
          </a:bodyPr>
          <a:lstStyle/>
          <a:p>
            <a:r>
              <a:rPr lang="en-AU" sz="2400" dirty="0" smtClean="0"/>
              <a:t>EQ :Explain how to calculate range and interquartile range (IQR).</a:t>
            </a:r>
            <a:endParaRPr lang="en-AU" sz="2400" dirty="0"/>
          </a:p>
        </p:txBody>
      </p:sp>
      <p:cxnSp>
        <p:nvCxnSpPr>
          <p:cNvPr id="5" name="Straight Connector 4"/>
          <p:cNvCxnSpPr/>
          <p:nvPr/>
        </p:nvCxnSpPr>
        <p:spPr>
          <a:xfrm>
            <a:off x="6228184" y="0"/>
            <a:ext cx="0" cy="9807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431" y="1916832"/>
            <a:ext cx="2915816" cy="461665"/>
          </a:xfrm>
          <a:prstGeom prst="rect">
            <a:avLst/>
          </a:prstGeom>
          <a:noFill/>
        </p:spPr>
        <p:txBody>
          <a:bodyPr wrap="square" rtlCol="0">
            <a:spAutoFit/>
          </a:bodyPr>
          <a:lstStyle/>
          <a:p>
            <a:r>
              <a:rPr lang="en-AU" sz="2400" dirty="0" smtClean="0"/>
              <a:t>Question:</a:t>
            </a:r>
            <a:endParaRPr lang="en-AU" sz="2400" dirty="0"/>
          </a:p>
        </p:txBody>
      </p:sp>
      <p:sp>
        <p:nvSpPr>
          <p:cNvPr id="13" name="TextBox 12"/>
          <p:cNvSpPr txBox="1"/>
          <p:nvPr/>
        </p:nvSpPr>
        <p:spPr>
          <a:xfrm>
            <a:off x="2923247" y="1916832"/>
            <a:ext cx="6220752" cy="6370975"/>
          </a:xfrm>
          <a:prstGeom prst="rect">
            <a:avLst/>
          </a:prstGeom>
          <a:noFill/>
        </p:spPr>
        <p:txBody>
          <a:bodyPr wrap="square" rtlCol="0">
            <a:spAutoFit/>
          </a:bodyPr>
          <a:lstStyle/>
          <a:p>
            <a:r>
              <a:rPr lang="en-AU" sz="2400" dirty="0" smtClean="0"/>
              <a:t>Notes:</a:t>
            </a:r>
          </a:p>
          <a:p>
            <a:pPr marL="342900" indent="-342900">
              <a:buFont typeface="Arial" panose="020B0604020202020204" pitchFamily="34" charset="0"/>
              <a:buChar char="•"/>
            </a:pPr>
            <a:r>
              <a:rPr lang="en-AU" sz="2000" dirty="0" smtClean="0"/>
              <a:t>The range of a set of data is calculated by subtracting the lowest number from the highest number.</a:t>
            </a:r>
          </a:p>
          <a:p>
            <a:pPr marL="342900" indent="-342900">
              <a:buFont typeface="Arial" panose="020B0604020202020204" pitchFamily="34" charset="0"/>
              <a:buChar char="•"/>
            </a:pPr>
            <a:endParaRPr lang="en-AU" sz="2000" dirty="0" smtClean="0"/>
          </a:p>
          <a:p>
            <a:r>
              <a:rPr lang="en-AU" sz="2000" i="1" dirty="0" smtClean="0"/>
              <a:t>	Range = 	highest number – lowest number</a:t>
            </a:r>
          </a:p>
          <a:p>
            <a:endParaRPr lang="en-AU" sz="2000" i="1" dirty="0"/>
          </a:p>
          <a:p>
            <a:r>
              <a:rPr lang="en-AU" sz="2000" u="sng" dirty="0" smtClean="0"/>
              <a:t>Example:</a:t>
            </a:r>
          </a:p>
          <a:p>
            <a:r>
              <a:rPr lang="en-AU" sz="2000" dirty="0" smtClean="0"/>
              <a:t>Find the range for the following set of data</a:t>
            </a:r>
          </a:p>
          <a:p>
            <a:endParaRPr lang="en-AU" sz="2000" dirty="0"/>
          </a:p>
          <a:p>
            <a:r>
              <a:rPr lang="en-AU" sz="2000" dirty="0" smtClean="0"/>
              <a:t>1,5,2,3,8,12,4 		= 12 -1 = 11</a:t>
            </a:r>
          </a:p>
          <a:p>
            <a:endParaRPr lang="en-AU" sz="2000" dirty="0"/>
          </a:p>
          <a:p>
            <a:r>
              <a:rPr lang="en-AU" sz="2000" dirty="0" smtClean="0"/>
              <a:t>What about if we have negative numbers in our data?</a:t>
            </a:r>
          </a:p>
          <a:p>
            <a:r>
              <a:rPr lang="en-AU" sz="2000" dirty="0" smtClean="0"/>
              <a:t>-6,-20,7,12, -24,19	= 19-(-24)</a:t>
            </a:r>
          </a:p>
          <a:p>
            <a:r>
              <a:rPr lang="en-AU" sz="2000" dirty="0"/>
              <a:t>	</a:t>
            </a:r>
            <a:r>
              <a:rPr lang="en-AU" sz="2000" dirty="0" smtClean="0"/>
              <a:t>		= 19 + 24</a:t>
            </a:r>
          </a:p>
          <a:p>
            <a:r>
              <a:rPr lang="en-AU" sz="2000" dirty="0"/>
              <a:t>	</a:t>
            </a:r>
            <a:r>
              <a:rPr lang="en-AU" sz="2000" dirty="0" smtClean="0"/>
              <a:t>		= 43 </a:t>
            </a:r>
          </a:p>
          <a:p>
            <a:endParaRPr lang="en-AU" sz="2000" dirty="0" smtClean="0"/>
          </a:p>
          <a:p>
            <a:pPr marL="457200" indent="-457200">
              <a:buAutoNum type="arabicParenR"/>
            </a:pPr>
            <a:endParaRPr lang="en-AU" sz="2000" dirty="0" smtClean="0"/>
          </a:p>
          <a:p>
            <a:pPr marL="457200" indent="-457200">
              <a:buAutoNum type="arabicParenR"/>
            </a:pPr>
            <a:endParaRPr lang="en-AU" sz="2000" dirty="0" smtClean="0"/>
          </a:p>
          <a:p>
            <a:endParaRPr lang="en-AU" sz="2000" dirty="0" smtClean="0"/>
          </a:p>
          <a:p>
            <a:endParaRPr lang="en-AU" sz="2400" dirty="0" smtClean="0"/>
          </a:p>
        </p:txBody>
      </p:sp>
      <p:sp>
        <p:nvSpPr>
          <p:cNvPr id="14" name="TextBox 13"/>
          <p:cNvSpPr txBox="1"/>
          <p:nvPr/>
        </p:nvSpPr>
        <p:spPr>
          <a:xfrm>
            <a:off x="5364088" y="37839"/>
            <a:ext cx="864096" cy="923330"/>
          </a:xfrm>
          <a:prstGeom prst="rect">
            <a:avLst/>
          </a:prstGeom>
          <a:noFill/>
        </p:spPr>
        <p:txBody>
          <a:bodyPr wrap="square" rtlCol="0">
            <a:spAutoFit/>
          </a:bodyPr>
          <a:lstStyle/>
          <a:p>
            <a:r>
              <a:rPr lang="en-AU" dirty="0" smtClean="0"/>
              <a:t>24</a:t>
            </a:r>
          </a:p>
          <a:p>
            <a:r>
              <a:rPr lang="en-AU" dirty="0" smtClean="0"/>
              <a:t>7</a:t>
            </a:r>
          </a:p>
          <a:p>
            <a:r>
              <a:rPr lang="en-AU" dirty="0" smtClean="0"/>
              <a:t>30</a:t>
            </a:r>
          </a:p>
        </p:txBody>
      </p:sp>
      <p:sp>
        <p:nvSpPr>
          <p:cNvPr id="7" name="Rectangle 6"/>
          <p:cNvSpPr/>
          <p:nvPr/>
        </p:nvSpPr>
        <p:spPr>
          <a:xfrm>
            <a:off x="8640452" y="6433342"/>
            <a:ext cx="395535"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p:cNvSpPr txBox="1"/>
          <p:nvPr/>
        </p:nvSpPr>
        <p:spPr>
          <a:xfrm>
            <a:off x="8594443" y="6378015"/>
            <a:ext cx="370046" cy="369332"/>
          </a:xfrm>
          <a:prstGeom prst="rect">
            <a:avLst/>
          </a:prstGeom>
          <a:noFill/>
        </p:spPr>
        <p:txBody>
          <a:bodyPr wrap="square" rtlCol="0">
            <a:spAutoFit/>
          </a:bodyPr>
          <a:lstStyle/>
          <a:p>
            <a:r>
              <a:rPr lang="en-AU" dirty="0" smtClean="0"/>
              <a:t>7</a:t>
            </a:r>
            <a:endParaRPr lang="en-AU" dirty="0"/>
          </a:p>
        </p:txBody>
      </p:sp>
      <p:sp>
        <p:nvSpPr>
          <p:cNvPr id="16" name="TextBox 15"/>
          <p:cNvSpPr txBox="1"/>
          <p:nvPr/>
        </p:nvSpPr>
        <p:spPr>
          <a:xfrm>
            <a:off x="107504" y="2378497"/>
            <a:ext cx="2664296" cy="707886"/>
          </a:xfrm>
          <a:prstGeom prst="rect">
            <a:avLst/>
          </a:prstGeom>
          <a:noFill/>
        </p:spPr>
        <p:txBody>
          <a:bodyPr wrap="square" rtlCol="0">
            <a:spAutoFit/>
          </a:bodyPr>
          <a:lstStyle/>
          <a:p>
            <a:r>
              <a:rPr lang="en-AU" sz="2000" dirty="0" smtClean="0"/>
              <a:t>How do we determine range of a set of data?</a:t>
            </a:r>
            <a:endParaRPr lang="en-AU" sz="2000" dirty="0"/>
          </a:p>
        </p:txBody>
      </p:sp>
    </p:spTree>
    <p:extLst>
      <p:ext uri="{BB962C8B-B14F-4D97-AF65-F5344CB8AC3E}">
        <p14:creationId xmlns:p14="http://schemas.microsoft.com/office/powerpoint/2010/main" val="25174193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6" name="Straight Connector 5"/>
          <p:cNvCxnSpPr/>
          <p:nvPr/>
        </p:nvCxnSpPr>
        <p:spPr>
          <a:xfrm>
            <a:off x="7431" y="26064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555776" y="260648"/>
            <a:ext cx="0" cy="6597352"/>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56427" y="260648"/>
            <a:ext cx="1666234" cy="461665"/>
          </a:xfrm>
          <a:prstGeom prst="rect">
            <a:avLst/>
          </a:prstGeom>
          <a:noFill/>
        </p:spPr>
        <p:txBody>
          <a:bodyPr wrap="square" rtlCol="0">
            <a:spAutoFit/>
          </a:bodyPr>
          <a:lstStyle/>
          <a:p>
            <a:r>
              <a:rPr lang="en-AU" sz="2400" dirty="0" smtClean="0"/>
              <a:t>Question:</a:t>
            </a:r>
            <a:endParaRPr lang="en-AU" sz="2400" dirty="0"/>
          </a:p>
        </p:txBody>
      </p:sp>
      <p:sp>
        <p:nvSpPr>
          <p:cNvPr id="15" name="Rectangle 14"/>
          <p:cNvSpPr/>
          <p:nvPr/>
        </p:nvSpPr>
        <p:spPr>
          <a:xfrm>
            <a:off x="8677934" y="6395373"/>
            <a:ext cx="404063"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8532440" y="6344512"/>
            <a:ext cx="549557" cy="369332"/>
          </a:xfrm>
          <a:prstGeom prst="rect">
            <a:avLst/>
          </a:prstGeom>
          <a:noFill/>
        </p:spPr>
        <p:txBody>
          <a:bodyPr wrap="square" rtlCol="0">
            <a:spAutoFit/>
          </a:bodyPr>
          <a:lstStyle/>
          <a:p>
            <a:r>
              <a:rPr lang="en-AU" dirty="0" smtClean="0"/>
              <a:t>7</a:t>
            </a:r>
            <a:endParaRPr lang="en-AU" dirty="0"/>
          </a:p>
        </p:txBody>
      </p:sp>
      <p:sp>
        <p:nvSpPr>
          <p:cNvPr id="3" name="TextBox 2"/>
          <p:cNvSpPr txBox="1"/>
          <p:nvPr/>
        </p:nvSpPr>
        <p:spPr>
          <a:xfrm>
            <a:off x="2555776" y="260648"/>
            <a:ext cx="6526221" cy="6894195"/>
          </a:xfrm>
          <a:prstGeom prst="rect">
            <a:avLst/>
          </a:prstGeom>
          <a:noFill/>
        </p:spPr>
        <p:txBody>
          <a:bodyPr wrap="square" rtlCol="0">
            <a:spAutoFit/>
          </a:bodyPr>
          <a:lstStyle/>
          <a:p>
            <a:r>
              <a:rPr lang="en-AU" sz="2400" dirty="0" smtClean="0"/>
              <a:t>Notes continued:</a:t>
            </a:r>
          </a:p>
          <a:p>
            <a:pPr marL="342900" indent="-342900">
              <a:buFont typeface="Arial" panose="020B0604020202020204" pitchFamily="34" charset="0"/>
              <a:buChar char="•"/>
            </a:pPr>
            <a:r>
              <a:rPr lang="en-AU" dirty="0"/>
              <a:t>The interquartile range (IQR) can be found </a:t>
            </a:r>
            <a:r>
              <a:rPr lang="en-AU" dirty="0" smtClean="0"/>
              <a:t>by</a:t>
            </a:r>
          </a:p>
          <a:p>
            <a:r>
              <a:rPr lang="en-AU" i="1" dirty="0" smtClean="0"/>
              <a:t>	IQR = upper quartile (UQ) – lower quartile (LQ)</a:t>
            </a:r>
          </a:p>
          <a:p>
            <a:endParaRPr lang="en-AU" dirty="0"/>
          </a:p>
          <a:p>
            <a:pPr marL="457200" indent="-457200">
              <a:buAutoNum type="arabicParenR"/>
            </a:pPr>
            <a:r>
              <a:rPr lang="en-AU" dirty="0"/>
              <a:t>Placing the data in order from smallest to largest (ascending).</a:t>
            </a:r>
          </a:p>
          <a:p>
            <a:pPr marL="457200" indent="-457200">
              <a:buAutoNum type="arabicParenR"/>
            </a:pPr>
            <a:r>
              <a:rPr lang="en-AU" dirty="0"/>
              <a:t>If there is an odd number of values remove the middle one.</a:t>
            </a:r>
          </a:p>
          <a:p>
            <a:pPr marL="457200" indent="-457200">
              <a:buAutoNum type="arabicParenR"/>
            </a:pPr>
            <a:r>
              <a:rPr lang="en-AU" dirty="0"/>
              <a:t>Split the data into two equally sized groups.</a:t>
            </a:r>
          </a:p>
          <a:p>
            <a:pPr marL="457200" indent="-457200">
              <a:buAutoNum type="arabicParenR"/>
            </a:pPr>
            <a:r>
              <a:rPr lang="en-AU" dirty="0"/>
              <a:t>The median of the lower half is called the </a:t>
            </a:r>
            <a:r>
              <a:rPr lang="en-AU" b="1" dirty="0"/>
              <a:t>lower quartile</a:t>
            </a:r>
            <a:r>
              <a:rPr lang="en-AU" dirty="0"/>
              <a:t>.</a:t>
            </a:r>
          </a:p>
          <a:p>
            <a:pPr marL="457200" indent="-457200">
              <a:buAutoNum type="arabicParenR"/>
            </a:pPr>
            <a:r>
              <a:rPr lang="en-AU" dirty="0"/>
              <a:t>The median of the upper half is called the </a:t>
            </a:r>
            <a:r>
              <a:rPr lang="en-AU" b="1" dirty="0"/>
              <a:t>upper </a:t>
            </a:r>
            <a:r>
              <a:rPr lang="en-AU" b="1" dirty="0" smtClean="0"/>
              <a:t>quartile.</a:t>
            </a:r>
          </a:p>
          <a:p>
            <a:pPr marL="457200" indent="-457200">
              <a:buAutoNum type="arabicParenR"/>
            </a:pPr>
            <a:r>
              <a:rPr lang="en-AU" dirty="0" smtClean="0"/>
              <a:t>Subtract the lower quartile from the upper quartile.</a:t>
            </a:r>
            <a:endParaRPr lang="en-AU" dirty="0"/>
          </a:p>
          <a:p>
            <a:endParaRPr lang="en-AU" dirty="0" smtClean="0"/>
          </a:p>
          <a:p>
            <a:r>
              <a:rPr lang="en-AU" u="sng" dirty="0" smtClean="0"/>
              <a:t>Example:</a:t>
            </a:r>
          </a:p>
          <a:p>
            <a:endParaRPr lang="en-AU" dirty="0" smtClean="0"/>
          </a:p>
          <a:p>
            <a:r>
              <a:rPr lang="en-AU" dirty="0" smtClean="0"/>
              <a:t>Find the interquartile range of the following set of data</a:t>
            </a:r>
          </a:p>
          <a:p>
            <a:r>
              <a:rPr lang="en-AU" dirty="0" smtClean="0"/>
              <a:t>1, 15, 8, 2, 13, 10, 4, 14</a:t>
            </a:r>
          </a:p>
          <a:p>
            <a:endParaRPr lang="en-AU" dirty="0" smtClean="0"/>
          </a:p>
          <a:p>
            <a:pPr marL="457200" indent="-457200">
              <a:buAutoNum type="arabicParenR"/>
            </a:pPr>
            <a:r>
              <a:rPr lang="en-AU" dirty="0" smtClean="0"/>
              <a:t>1, 2, 4, 8, 10, 13, 14, 15</a:t>
            </a:r>
          </a:p>
          <a:p>
            <a:pPr marL="457200" indent="-457200">
              <a:buAutoNum type="arabicParenR"/>
            </a:pPr>
            <a:r>
              <a:rPr lang="en-AU" dirty="0" smtClean="0"/>
              <a:t>N/A</a:t>
            </a:r>
          </a:p>
          <a:p>
            <a:pPr marL="457200" indent="-457200">
              <a:buAutoNum type="arabicParenR"/>
            </a:pPr>
            <a:r>
              <a:rPr lang="en-AU" dirty="0" smtClean="0"/>
              <a:t>1, </a:t>
            </a:r>
            <a:r>
              <a:rPr lang="en-AU" dirty="0" smtClean="0">
                <a:solidFill>
                  <a:srgbClr val="9900CC"/>
                </a:solidFill>
              </a:rPr>
              <a:t>2, 4</a:t>
            </a:r>
            <a:r>
              <a:rPr lang="en-AU" dirty="0" smtClean="0"/>
              <a:t>, 8			10, </a:t>
            </a:r>
            <a:r>
              <a:rPr lang="en-AU" dirty="0" smtClean="0">
                <a:solidFill>
                  <a:srgbClr val="9900CC"/>
                </a:solidFill>
              </a:rPr>
              <a:t>13, 14</a:t>
            </a:r>
            <a:r>
              <a:rPr lang="en-AU" dirty="0" smtClean="0"/>
              <a:t>, 15</a:t>
            </a:r>
          </a:p>
          <a:p>
            <a:pPr marL="457200" indent="-457200">
              <a:buAutoNum type="arabicParenR"/>
            </a:pPr>
            <a:r>
              <a:rPr lang="en-AU" dirty="0" smtClean="0"/>
              <a:t>2 + 4 = 6 ÷ 2= 3		LQ = 3</a:t>
            </a:r>
          </a:p>
          <a:p>
            <a:pPr marL="457200" indent="-457200">
              <a:buAutoNum type="arabicParenR"/>
            </a:pPr>
            <a:r>
              <a:rPr lang="en-AU" dirty="0" smtClean="0"/>
              <a:t>13 + 14 = 27 ÷ 2 = 13.5		UQ = 13.5</a:t>
            </a:r>
          </a:p>
          <a:p>
            <a:pPr marL="457200" indent="-457200">
              <a:buAutoNum type="arabicParenR"/>
            </a:pPr>
            <a:r>
              <a:rPr lang="en-AU" dirty="0" smtClean="0"/>
              <a:t>IQR = 13.5 – 3 = 10.5  </a:t>
            </a:r>
          </a:p>
          <a:p>
            <a:pPr marL="457200" indent="-457200">
              <a:buAutoNum type="arabicParenR"/>
            </a:pPr>
            <a:endParaRPr lang="en-AU" sz="2000" dirty="0" smtClean="0"/>
          </a:p>
          <a:p>
            <a:pPr marL="457200" indent="-457200">
              <a:buAutoNum type="arabicParenR"/>
            </a:pPr>
            <a:endParaRPr lang="en-AU" sz="2000" dirty="0"/>
          </a:p>
        </p:txBody>
      </p:sp>
      <p:sp>
        <p:nvSpPr>
          <p:cNvPr id="4" name="TextBox 3"/>
          <p:cNvSpPr txBox="1"/>
          <p:nvPr/>
        </p:nvSpPr>
        <p:spPr>
          <a:xfrm>
            <a:off x="7431" y="722313"/>
            <a:ext cx="2548345" cy="1477328"/>
          </a:xfrm>
          <a:prstGeom prst="rect">
            <a:avLst/>
          </a:prstGeom>
          <a:noFill/>
        </p:spPr>
        <p:txBody>
          <a:bodyPr wrap="square" rtlCol="0">
            <a:spAutoFit/>
          </a:bodyPr>
          <a:lstStyle/>
          <a:p>
            <a:r>
              <a:rPr lang="en-AU" dirty="0" smtClean="0"/>
              <a:t>Describe the 6 step  process we use to determine the Interquartile Range of data</a:t>
            </a:r>
            <a:endParaRPr lang="en-AU" dirty="0"/>
          </a:p>
        </p:txBody>
      </p:sp>
    </p:spTree>
    <p:extLst>
      <p:ext uri="{BB962C8B-B14F-4D97-AF65-F5344CB8AC3E}">
        <p14:creationId xmlns:p14="http://schemas.microsoft.com/office/powerpoint/2010/main" val="36048718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915816" y="1916832"/>
            <a:ext cx="7431"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0278" y="474856"/>
            <a:ext cx="7439175" cy="523220"/>
          </a:xfrm>
          <a:prstGeom prst="rect">
            <a:avLst/>
          </a:prstGeom>
          <a:noFill/>
        </p:spPr>
        <p:txBody>
          <a:bodyPr wrap="square" rtlCol="0">
            <a:spAutoFit/>
          </a:bodyPr>
          <a:lstStyle/>
          <a:p>
            <a:r>
              <a:rPr lang="en-AU" sz="2800" dirty="0" smtClean="0"/>
              <a:t>Title: Interpreting graphs and tables</a:t>
            </a:r>
            <a:endParaRPr lang="en-AU" sz="2800" dirty="0"/>
          </a:p>
        </p:txBody>
      </p:sp>
      <p:sp>
        <p:nvSpPr>
          <p:cNvPr id="11" name="TextBox 10"/>
          <p:cNvSpPr txBox="1"/>
          <p:nvPr/>
        </p:nvSpPr>
        <p:spPr>
          <a:xfrm>
            <a:off x="6251551" y="512677"/>
            <a:ext cx="2496913" cy="523220"/>
          </a:xfrm>
          <a:prstGeom prst="rect">
            <a:avLst/>
          </a:prstGeom>
          <a:noFill/>
        </p:spPr>
        <p:txBody>
          <a:bodyPr wrap="square" rtlCol="0">
            <a:spAutoFit/>
          </a:bodyPr>
          <a:lstStyle/>
          <a:p>
            <a:r>
              <a:rPr lang="en-AU" sz="2800" dirty="0" smtClean="0"/>
              <a:t>Date: 10/3/15</a:t>
            </a:r>
            <a:endParaRPr lang="en-AU" sz="2800" dirty="0"/>
          </a:p>
        </p:txBody>
      </p:sp>
      <p:sp>
        <p:nvSpPr>
          <p:cNvPr id="12" name="TextBox 11"/>
          <p:cNvSpPr txBox="1"/>
          <p:nvPr/>
        </p:nvSpPr>
        <p:spPr>
          <a:xfrm>
            <a:off x="0" y="1063436"/>
            <a:ext cx="8739936" cy="830997"/>
          </a:xfrm>
          <a:prstGeom prst="rect">
            <a:avLst/>
          </a:prstGeom>
          <a:noFill/>
        </p:spPr>
        <p:txBody>
          <a:bodyPr wrap="square" rtlCol="0">
            <a:spAutoFit/>
          </a:bodyPr>
          <a:lstStyle/>
          <a:p>
            <a:r>
              <a:rPr lang="en-AU" sz="2400" dirty="0" smtClean="0"/>
              <a:t>EQ : Describe how we can use different types of graphs to represent data.</a:t>
            </a:r>
            <a:endParaRPr lang="en-AU" sz="2400" dirty="0"/>
          </a:p>
        </p:txBody>
      </p:sp>
      <p:cxnSp>
        <p:nvCxnSpPr>
          <p:cNvPr id="5" name="Straight Connector 4"/>
          <p:cNvCxnSpPr/>
          <p:nvPr/>
        </p:nvCxnSpPr>
        <p:spPr>
          <a:xfrm>
            <a:off x="6228184" y="0"/>
            <a:ext cx="0" cy="9807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715" y="1887246"/>
            <a:ext cx="2915816" cy="461665"/>
          </a:xfrm>
          <a:prstGeom prst="rect">
            <a:avLst/>
          </a:prstGeom>
          <a:noFill/>
        </p:spPr>
        <p:txBody>
          <a:bodyPr wrap="square" rtlCol="0">
            <a:spAutoFit/>
          </a:bodyPr>
          <a:lstStyle/>
          <a:p>
            <a:r>
              <a:rPr lang="en-AU" sz="2400" dirty="0" smtClean="0"/>
              <a:t>Question:</a:t>
            </a:r>
            <a:endParaRPr lang="en-AU" sz="2400" dirty="0"/>
          </a:p>
        </p:txBody>
      </p:sp>
      <p:sp>
        <p:nvSpPr>
          <p:cNvPr id="13" name="TextBox 12"/>
          <p:cNvSpPr txBox="1"/>
          <p:nvPr/>
        </p:nvSpPr>
        <p:spPr>
          <a:xfrm>
            <a:off x="2923247" y="1916832"/>
            <a:ext cx="6220752" cy="5755422"/>
          </a:xfrm>
          <a:prstGeom prst="rect">
            <a:avLst/>
          </a:prstGeom>
          <a:noFill/>
        </p:spPr>
        <p:txBody>
          <a:bodyPr wrap="square" rtlCol="0">
            <a:spAutoFit/>
          </a:bodyPr>
          <a:lstStyle/>
          <a:p>
            <a:r>
              <a:rPr lang="en-AU" sz="2400" dirty="0" smtClean="0"/>
              <a:t>Notes:</a:t>
            </a:r>
          </a:p>
          <a:p>
            <a:endParaRPr lang="en-AU" sz="1400" dirty="0" smtClean="0"/>
          </a:p>
          <a:p>
            <a:r>
              <a:rPr lang="en-AU" sz="2400" dirty="0" smtClean="0"/>
              <a:t>Graphs and tables are the most commonly used ways to represent data that has been collected.</a:t>
            </a:r>
          </a:p>
          <a:p>
            <a:endParaRPr lang="en-AU" sz="2400" dirty="0" smtClean="0"/>
          </a:p>
          <a:p>
            <a:r>
              <a:rPr lang="en-AU" sz="2400" dirty="0" smtClean="0"/>
              <a:t>Types of graphs include:</a:t>
            </a:r>
          </a:p>
          <a:p>
            <a:pPr marL="457200" indent="-457200">
              <a:buFont typeface="+mj-lt"/>
              <a:buAutoNum type="arabicPeriod"/>
            </a:pPr>
            <a:r>
              <a:rPr lang="en-AU" sz="2400" dirty="0" smtClean="0"/>
              <a:t>Column graphs</a:t>
            </a:r>
          </a:p>
          <a:p>
            <a:pPr marL="457200" indent="-457200">
              <a:buFont typeface="+mj-lt"/>
              <a:buAutoNum type="arabicPeriod"/>
            </a:pPr>
            <a:r>
              <a:rPr lang="en-AU" sz="2400" dirty="0" smtClean="0"/>
              <a:t>Line Graphs</a:t>
            </a:r>
          </a:p>
          <a:p>
            <a:pPr marL="457200" indent="-457200">
              <a:buFont typeface="+mj-lt"/>
              <a:buAutoNum type="arabicPeriod"/>
            </a:pPr>
            <a:r>
              <a:rPr lang="en-AU" sz="2400" dirty="0" smtClean="0"/>
              <a:t>Histogram</a:t>
            </a:r>
          </a:p>
          <a:p>
            <a:pPr marL="457200" indent="-457200">
              <a:buFont typeface="+mj-lt"/>
              <a:buAutoNum type="arabicPeriod"/>
            </a:pPr>
            <a:r>
              <a:rPr lang="en-AU" sz="2400" dirty="0" smtClean="0"/>
              <a:t>Divided Bar Graphs</a:t>
            </a:r>
          </a:p>
          <a:p>
            <a:pPr marL="457200" indent="-457200">
              <a:buFont typeface="+mj-lt"/>
              <a:buAutoNum type="arabicPeriod"/>
            </a:pPr>
            <a:r>
              <a:rPr lang="en-AU" sz="2400" dirty="0"/>
              <a:t>P</a:t>
            </a:r>
            <a:r>
              <a:rPr lang="en-AU" sz="2400" dirty="0" smtClean="0"/>
              <a:t>ie Charts</a:t>
            </a:r>
          </a:p>
          <a:p>
            <a:endParaRPr lang="en-AU" sz="2000" dirty="0" smtClean="0"/>
          </a:p>
          <a:p>
            <a:pPr marL="457200" indent="-457200">
              <a:buAutoNum type="arabicParenR"/>
            </a:pPr>
            <a:endParaRPr lang="en-AU" sz="2000" dirty="0" smtClean="0"/>
          </a:p>
          <a:p>
            <a:pPr marL="457200" indent="-457200">
              <a:buAutoNum type="arabicParenR"/>
            </a:pPr>
            <a:endParaRPr lang="en-AU" sz="2000" dirty="0" smtClean="0"/>
          </a:p>
          <a:p>
            <a:endParaRPr lang="en-AU" sz="2000" dirty="0" smtClean="0"/>
          </a:p>
          <a:p>
            <a:endParaRPr lang="en-AU" sz="2400" dirty="0" smtClean="0"/>
          </a:p>
        </p:txBody>
      </p:sp>
      <p:sp>
        <p:nvSpPr>
          <p:cNvPr id="14" name="TextBox 13"/>
          <p:cNvSpPr txBox="1"/>
          <p:nvPr/>
        </p:nvSpPr>
        <p:spPr>
          <a:xfrm>
            <a:off x="5364088" y="37839"/>
            <a:ext cx="864096" cy="923330"/>
          </a:xfrm>
          <a:prstGeom prst="rect">
            <a:avLst/>
          </a:prstGeom>
          <a:noFill/>
        </p:spPr>
        <p:txBody>
          <a:bodyPr wrap="square" rtlCol="0">
            <a:spAutoFit/>
          </a:bodyPr>
          <a:lstStyle/>
          <a:p>
            <a:r>
              <a:rPr lang="en-AU" dirty="0" smtClean="0"/>
              <a:t>24</a:t>
            </a:r>
          </a:p>
          <a:p>
            <a:r>
              <a:rPr lang="en-AU" dirty="0" smtClean="0"/>
              <a:t>7</a:t>
            </a:r>
          </a:p>
          <a:p>
            <a:r>
              <a:rPr lang="en-AU" dirty="0" smtClean="0"/>
              <a:t>30</a:t>
            </a:r>
          </a:p>
        </p:txBody>
      </p:sp>
      <p:sp>
        <p:nvSpPr>
          <p:cNvPr id="7" name="Rectangle 6"/>
          <p:cNvSpPr/>
          <p:nvPr/>
        </p:nvSpPr>
        <p:spPr>
          <a:xfrm>
            <a:off x="8640452" y="6433342"/>
            <a:ext cx="395535"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p:cNvSpPr txBox="1"/>
          <p:nvPr/>
        </p:nvSpPr>
        <p:spPr>
          <a:xfrm>
            <a:off x="8594443" y="6378015"/>
            <a:ext cx="370046" cy="369332"/>
          </a:xfrm>
          <a:prstGeom prst="rect">
            <a:avLst/>
          </a:prstGeom>
          <a:noFill/>
        </p:spPr>
        <p:txBody>
          <a:bodyPr wrap="square" rtlCol="0">
            <a:spAutoFit/>
          </a:bodyPr>
          <a:lstStyle/>
          <a:p>
            <a:r>
              <a:rPr lang="en-AU" dirty="0" smtClean="0"/>
              <a:t>9</a:t>
            </a:r>
            <a:endParaRPr lang="en-AU" dirty="0"/>
          </a:p>
        </p:txBody>
      </p:sp>
      <p:sp>
        <p:nvSpPr>
          <p:cNvPr id="3" name="TextBox 2"/>
          <p:cNvSpPr txBox="1"/>
          <p:nvPr/>
        </p:nvSpPr>
        <p:spPr>
          <a:xfrm>
            <a:off x="50292" y="2363704"/>
            <a:ext cx="2915815" cy="2092881"/>
          </a:xfrm>
          <a:prstGeom prst="rect">
            <a:avLst/>
          </a:prstGeom>
          <a:noFill/>
        </p:spPr>
        <p:txBody>
          <a:bodyPr wrap="square" rtlCol="0">
            <a:spAutoFit/>
          </a:bodyPr>
          <a:lstStyle/>
          <a:p>
            <a:endParaRPr lang="en-AU" sz="1000" dirty="0" smtClean="0"/>
          </a:p>
          <a:p>
            <a:r>
              <a:rPr lang="en-AU" sz="2400" dirty="0" smtClean="0"/>
              <a:t>Why do we use graphs and tables?</a:t>
            </a:r>
          </a:p>
          <a:p>
            <a:endParaRPr lang="en-AU" sz="2400" dirty="0"/>
          </a:p>
          <a:p>
            <a:r>
              <a:rPr lang="en-AU" sz="2400" dirty="0" smtClean="0"/>
              <a:t>List 3 different types of graphs.</a:t>
            </a:r>
            <a:endParaRPr lang="en-AU" sz="2400" dirty="0"/>
          </a:p>
        </p:txBody>
      </p:sp>
    </p:spTree>
    <p:extLst>
      <p:ext uri="{BB962C8B-B14F-4D97-AF65-F5344CB8AC3E}">
        <p14:creationId xmlns:p14="http://schemas.microsoft.com/office/powerpoint/2010/main" val="22995234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6" name="Straight Connector 5"/>
          <p:cNvCxnSpPr/>
          <p:nvPr/>
        </p:nvCxnSpPr>
        <p:spPr>
          <a:xfrm>
            <a:off x="7431" y="26064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555776" y="260648"/>
            <a:ext cx="0" cy="6597352"/>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56427" y="260648"/>
            <a:ext cx="1666234" cy="461665"/>
          </a:xfrm>
          <a:prstGeom prst="rect">
            <a:avLst/>
          </a:prstGeom>
          <a:noFill/>
        </p:spPr>
        <p:txBody>
          <a:bodyPr wrap="square" rtlCol="0">
            <a:spAutoFit/>
          </a:bodyPr>
          <a:lstStyle/>
          <a:p>
            <a:r>
              <a:rPr lang="en-AU" sz="2400" dirty="0" smtClean="0"/>
              <a:t>Question:</a:t>
            </a:r>
            <a:endParaRPr lang="en-AU" sz="2400" dirty="0"/>
          </a:p>
        </p:txBody>
      </p:sp>
      <p:sp>
        <p:nvSpPr>
          <p:cNvPr id="15" name="Rectangle 14"/>
          <p:cNvSpPr/>
          <p:nvPr/>
        </p:nvSpPr>
        <p:spPr>
          <a:xfrm>
            <a:off x="8677934" y="6395373"/>
            <a:ext cx="404063"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8532440" y="6344512"/>
            <a:ext cx="549557" cy="369332"/>
          </a:xfrm>
          <a:prstGeom prst="rect">
            <a:avLst/>
          </a:prstGeom>
          <a:noFill/>
        </p:spPr>
        <p:txBody>
          <a:bodyPr wrap="square" rtlCol="0">
            <a:spAutoFit/>
          </a:bodyPr>
          <a:lstStyle/>
          <a:p>
            <a:r>
              <a:rPr lang="en-AU" dirty="0"/>
              <a:t>9</a:t>
            </a:r>
          </a:p>
        </p:txBody>
      </p:sp>
      <p:sp>
        <p:nvSpPr>
          <p:cNvPr id="3" name="TextBox 2"/>
          <p:cNvSpPr txBox="1"/>
          <p:nvPr/>
        </p:nvSpPr>
        <p:spPr>
          <a:xfrm>
            <a:off x="2555776" y="260648"/>
            <a:ext cx="6526221" cy="2923877"/>
          </a:xfrm>
          <a:prstGeom prst="rect">
            <a:avLst/>
          </a:prstGeom>
          <a:noFill/>
        </p:spPr>
        <p:txBody>
          <a:bodyPr wrap="square" rtlCol="0">
            <a:spAutoFit/>
          </a:bodyPr>
          <a:lstStyle/>
          <a:p>
            <a:r>
              <a:rPr lang="en-AU" sz="2400" dirty="0" smtClean="0"/>
              <a:t>Notes continued:</a:t>
            </a:r>
          </a:p>
          <a:p>
            <a:endParaRPr lang="en-AU" sz="2000" dirty="0" smtClean="0"/>
          </a:p>
          <a:p>
            <a:r>
              <a:rPr lang="en-AU" sz="2400" dirty="0" smtClean="0"/>
              <a:t>Graphs should include the following:</a:t>
            </a:r>
          </a:p>
          <a:p>
            <a:pPr marL="342900" indent="-342900">
              <a:buFont typeface="Arial" panose="020B0604020202020204" pitchFamily="34" charset="0"/>
              <a:buChar char="•"/>
            </a:pPr>
            <a:r>
              <a:rPr lang="en-AU" sz="2400" dirty="0" smtClean="0"/>
              <a:t>A title</a:t>
            </a:r>
          </a:p>
          <a:p>
            <a:pPr marL="342900" indent="-342900">
              <a:buFont typeface="Arial" panose="020B0604020202020204" pitchFamily="34" charset="0"/>
              <a:buChar char="•"/>
            </a:pPr>
            <a:r>
              <a:rPr lang="en-AU" sz="2400" dirty="0" smtClean="0"/>
              <a:t>Labels on each axis (x and y)</a:t>
            </a:r>
          </a:p>
          <a:p>
            <a:pPr marL="342900" indent="-342900">
              <a:buFont typeface="Arial" panose="020B0604020202020204" pitchFamily="34" charset="0"/>
              <a:buChar char="•"/>
            </a:pPr>
            <a:r>
              <a:rPr lang="en-AU" sz="2400" dirty="0" smtClean="0"/>
              <a:t>A numbered scale</a:t>
            </a:r>
          </a:p>
          <a:p>
            <a:pPr marL="342900" indent="-342900">
              <a:buFont typeface="Arial" panose="020B0604020202020204" pitchFamily="34" charset="0"/>
              <a:buChar char="•"/>
            </a:pPr>
            <a:r>
              <a:rPr lang="en-AU" sz="2400" dirty="0" smtClean="0"/>
              <a:t>Legend (if needed)</a:t>
            </a:r>
          </a:p>
          <a:p>
            <a:pPr marL="457200" indent="-457200">
              <a:buAutoNum type="arabicParenR"/>
            </a:pPr>
            <a:endParaRPr lang="en-AU" sz="2000" dirty="0"/>
          </a:p>
        </p:txBody>
      </p:sp>
      <p:sp>
        <p:nvSpPr>
          <p:cNvPr id="5" name="TextBox 4"/>
          <p:cNvSpPr txBox="1"/>
          <p:nvPr/>
        </p:nvSpPr>
        <p:spPr>
          <a:xfrm>
            <a:off x="7431" y="722313"/>
            <a:ext cx="2548345" cy="1415772"/>
          </a:xfrm>
          <a:prstGeom prst="rect">
            <a:avLst/>
          </a:prstGeom>
          <a:noFill/>
        </p:spPr>
        <p:txBody>
          <a:bodyPr wrap="square" rtlCol="0">
            <a:spAutoFit/>
          </a:bodyPr>
          <a:lstStyle/>
          <a:p>
            <a:endParaRPr lang="en-AU" sz="1400" dirty="0" smtClean="0"/>
          </a:p>
          <a:p>
            <a:r>
              <a:rPr lang="en-AU" sz="2400" dirty="0" smtClean="0"/>
              <a:t>What do you need to include when graphing?</a:t>
            </a:r>
            <a:endParaRPr lang="en-AU" sz="2400" dirty="0"/>
          </a:p>
        </p:txBody>
      </p:sp>
    </p:spTree>
    <p:extLst>
      <p:ext uri="{BB962C8B-B14F-4D97-AF65-F5344CB8AC3E}">
        <p14:creationId xmlns:p14="http://schemas.microsoft.com/office/powerpoint/2010/main" val="3520703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8568952" cy="800219"/>
          </a:xfrm>
          <a:prstGeom prst="rect">
            <a:avLst/>
          </a:prstGeom>
          <a:noFill/>
        </p:spPr>
        <p:txBody>
          <a:bodyPr wrap="square" rtlCol="0">
            <a:spAutoFit/>
          </a:bodyPr>
          <a:lstStyle/>
          <a:p>
            <a:pPr algn="ctr"/>
            <a:endParaRPr lang="en-AU" sz="2800" dirty="0" smtClean="0"/>
          </a:p>
          <a:p>
            <a:endParaRPr lang="en-AU" dirty="0"/>
          </a:p>
        </p:txBody>
      </p:sp>
      <p:sp>
        <p:nvSpPr>
          <p:cNvPr id="4" name="TextBox 3"/>
          <p:cNvSpPr txBox="1"/>
          <p:nvPr/>
        </p:nvSpPr>
        <p:spPr>
          <a:xfrm>
            <a:off x="323528" y="132020"/>
            <a:ext cx="8712968" cy="1508105"/>
          </a:xfrm>
          <a:prstGeom prst="rect">
            <a:avLst/>
          </a:prstGeom>
          <a:noFill/>
        </p:spPr>
        <p:txBody>
          <a:bodyPr wrap="square" rtlCol="0">
            <a:spAutoFit/>
          </a:bodyPr>
          <a:lstStyle/>
          <a:p>
            <a:pPr algn="ctr"/>
            <a:r>
              <a:rPr lang="en-AU" sz="2400" dirty="0" smtClean="0"/>
              <a:t>Activity :</a:t>
            </a:r>
          </a:p>
          <a:p>
            <a:r>
              <a:rPr lang="en-AU" sz="2400" dirty="0" smtClean="0"/>
              <a:t>Look at the following Graphs and make note of the features in each</a:t>
            </a:r>
          </a:p>
          <a:p>
            <a:pPr marL="457200" indent="-457200">
              <a:buFont typeface="+mj-lt"/>
              <a:buAutoNum type="arabicPeriod"/>
            </a:pPr>
            <a:r>
              <a:rPr lang="en-AU" sz="2400" u="sng" dirty="0" smtClean="0"/>
              <a:t>Line Graph</a:t>
            </a:r>
            <a:endParaRPr lang="en-AU" sz="2400" u="sng" dirty="0"/>
          </a:p>
          <a:p>
            <a:pPr marL="457200" indent="-457200">
              <a:buAutoNum type="arabicPeriod"/>
            </a:pPr>
            <a:endParaRPr lang="en-AU" sz="2000" dirty="0"/>
          </a:p>
        </p:txBody>
      </p:sp>
      <p:sp>
        <p:nvSpPr>
          <p:cNvPr id="5" name="AutoShape 2" descr="data:image/png;base64,iVBORw0KGgoAAAANSUhEUgAAAQUAAADBCAMAAADxRlW1AAABSlBMVEX////GxsbMzMwAAADJyclHR0iQkJBra2uzs7Obm5tvb3CMjIzExMR3d3d6enpaWlqqqqrIyMTf39/p6enR0dH19fXu7u7b29vk5OT4+PhbW1wAAP+mpqawsLDKysKVlZVOTk+CgoIsLC0YGBo+Pj9jY2MxMTImJieUlO3Cwso6Ojuzs9aZmeqqqt0QEBIdHR6mpuChoeSDg/i7u9Cdnee8vM+vr9lKSkSVlfd2dv+np9+BgfmJifQTE+S2ttQfH2Jra36mprBjY+iTk8woKNJ7e+BSUuRwcP9JSaLMzP8xMfHV1f92dmtXV5RjY35mZr49PY6ZmcY+Pu9vb9u2tv8WFtwSEvNZWfc3N/NBQbY/P0ocHFQAAFUxMVEuLloeHhVwcOrj4/9TU/+NjaZXV76hoZZHR89CQtogILcxMbpLS21AQFiCgt5TU2dmDgSoAAAUzklEQVR4nO1da3viSHYu+YCQkAToLmEBEiAwtA12+9I93Z5OpjuT3ZndZDYzmZ7dTbLZzGR2c5n8/685JfmCTVUJG9sYmvd5jI2PVCq9qjqXqlMlQrbYYosttthii9XC8REOQ+A77tXfoePjp+3YT1atJwZkqM0LxnDNjQ2Anxp0nq5eTwuAcrkPoBGbPuiLDzskpAy+Z3v5QTb08LMDKj3AtrNGYtsb1DKyp1yBBP/w8m8tbBsGZaEDMAmyg2yYkJwFABmgjjTgL6RuU0Dv2xtgl7hkQYHEwx9kAWx70sse+HVbAIi9MfhEBdWL8PvKoAdE1x+stFwvgHLFQgeMkkWyHkHIFAJP1/VghgXUlfhhgFZaZY9oQUsDaD1UcTkJDXLFgj0BGFYpCw5lwVZQbN1gwcOPAP87ZujUp4KRkolaMR6quEwv5H+4F9+cZgzxFQtOM61bMEFh7YIFNztKT8vwYLW4M4xKBHb6GCyoqBOASJpDfChfspCpx7AKZbUGQ4vQvqPSIzWL6FB9qFrcGaicUwnkhyruigUHoDug32Lo9rB39CkLk5wFoqAEpik9fNAF/Gc4he5k+FCVuAdUmfgPRgKRr4pyOrLbod9ktYP33pBtei3v8ji1Q3UmQCh3qDvlyqrssgr8FHDVdFaNCBtntKqLPxcW0KPZSVBHrQYP6KkshWoTP5oVlghDP4+Gfv7mBn+X8LsWCbo+S6RFGkZ9aRSprFB5oyDDZDyBfnfeVmuos1WLrM6VeUIonQxygylVLSVprEx3PhN4HaKojpOsuh6PjP5V9MOEkqtwO4/83WalArIYFbHYSMTy9FFL541tORjn6hLPUl6QQOxr37ImlUTQ645IvGO0dkRypyw8XYrFpdcawtJ3CsYvmkwVqEv4UcKge+e6rRi6JIJe3xGJkYWSUF4Wnl5Ueq0hLL10HxYUUGXNI7osz4w+bDILdVZMa9tBEISEBMHMPzeShZKC0GuwsCO7kSyUcxux+IDbRrKQwfJE0k+Fhd4dBlk2l4XplgVE6w4h46ayEIb5DwOuG2afm8HC6Ydv/oNHgp8ZCeYoi1pL0fN2DGPGv15fFsxfPu7+yKOhWvYdx7EYEs1HImwH42r9mob1ZUF6v7u7+xWPhSavlWTNwVKkq5hyrVkw23/++PEHXlsIhszRthxeJ6RxZTATU5Z2RCg1HZHYqSnC0zGmFJZeF5eetLiy9ru9w5PfcUhIYQgwmQBnHAWDyRkWvLjZHJbFmIrFw75YPlmq9C6n9FflP335zR9fvapzHraiRhQqO44ooU6gPWLN20L77GRfaqOcx4IQDh1WoG3Buh6kWT+9YOpv35y2MzmfBQsaOgDLRjhTXVFc0lCUmZGqdWPBNM9fvmmbuZzPQrVPuknMGl/wsUjdvTV/tF4smO2D8zPdvJTzWahVIigtnsWxTiyYoxfnZ23zWi5oC916154unD+xPiyY7aP9oxkOhCyQftfWu4uSsDYstEfvXr4YmTfl97IRa8xC+/Dtftu8LeezoMZxXK8vnIu7DiyYpnTy9vg2B0IWWrUkiRfPX1gDFtrHb87fzTUEqbBHuP0NYaFVMs3265MzFgfFeoGT6efF+FGtN+vrEVkf/eGb0+ODlyOTyYGQBUXudFRG9gLCVikL6bq0hRe/3/34ntcOstL5LGjDwaA7YIoS0kTPseHN5vM8SxZMCulkd3f3/YjLwf0tJbKgpLI2ozWeW0xpthGHR4eHh0d7P3z8/ZGwdC4LTixalYAseGE+b01WP77w6tW/v7r861X+16tfzhF/Q/GnV//2r//yR2HpMY8EaLKW98ywQGE/j/GFF9/94ZA++vbo4ODg7Og1xYh+vzw7aYmvzmsLcZ00gD9Bhyzs+M9l3HH0593dH8/pre8jCwfvMkJuxAkF8xFcvVBPiCVgIcYf2fdnxuNWxoLZPvsW1d9x/iVTh3NnL8FCAOwpGYpsZEGdndJZEQtme7R39N3nn78XXf7+LMC4C4Nxd+GFWythoT0a7e+dmvq7/xkJz74vCy1ZpsmO8nP2oE3paH/vmGoAc7l5yvWNrDEuOHr9Qsq14JKztevKgmkenJ2/uDIEj8WCetfFc0/JApqF1wdvZozhY7EQJ1rKEa2YBbOtvzs/lG4YxEdjIY7Hkapy5qZIpjTlWQPyRCyY7Xf7Jye3fYLHYsGja9l6Pc48ZdTHDy2wn9hrQo9o9PrkOJ9Qukvp99eOCl8zqFaaz1Mu7EGP3v2f2KKLWdDf/e+IegeHRxgfMJzDR7QRbjNtslcE+VlkfXPm3hBmg3/49vtfhPnYwmxw880P3385ap+83X/XZh4gFeSa18S55gIWbOgbfeAsjLrJQqgjnaoAP/11d/fjT6IjmppI+hcMFH75y08//8w7oCw6G0tPxHI+C8bYI16fMzd1i4WWosQaH7L2ObKAv/hHxDXB+dp/4un7PwsOGAvKxtLrhkiMcj4LMX4wZ2svWLilF7g9wiztvT57/9+fvTw5ZbfngjZrjo5/9eN//aILmvSSPUKQv7ADlUYFdthCPM3CdhBdJ0TytKPZPjg5kcxRvT06+exkNKfeL/QTVzua7cPz12ePm+8o0o4SGkteSjz1qLw4nsl84rBgjt4eUMuG9TTbp6jfJOZwOI8FDBdfvjiWzNWxcDewWdAP9w4yTzerp9lu7312OG/ueSxgO9g/ySzjGrOAYd/emWTeqGf7+OizvXmTz2IBo4Xzs4sutL4smMeHL6W5qI9S89nR8a32MM+CqZ+dXwdMK2NB4a0iXIwFdPh/9eL6Xmfr2T49xPZwc3z0Fgu0LxxKM9kmq2KhU16KhdPXR7PTQTfqieHA/lu0mzN3eYMFtI0vz25MJq2MBQctZSOS7sWC2d5/q7cFsa9J7ebRtd2cZcFsH52c3JpUXBkLNd7Ga4UsmO0XL9/dmhecq+dNu3nNginRjJvbZuT5akdHUZRrh+Gahfbpm6O5+WFGPWlGwaXdvGTBNN/QzKs5l2J1LHgV8bZZTUnXr5NCL1lAE7B/Nu8RsOt5ZTdzFmZt4616rooFbzIYO4LpKffmAEzOAnaG/VOWd8ipZ243T9ujv/0iy0J8w0kyWBkL1UqjS1LmWpkMSqrNKg0Dox3JPN07OjZZAQvWkxPKULu5/+Xf/f3x4f6RyTyXxkNlYTgkcUvPz0YWhHI+C3K9M1AEu1bpuucmF3N4QeBVMLpWTt9/UNhoxRwBxRff7e7ufvtPXwgO6QtkBaUjqqpYLtALCZqIgm0mLvdf0OROv/rb332z/1ujysGAK6lWjX/8uLv7a74cjxgKTkd0hdJqORXLY8E9WgErI57BAuI3/3B2+HbU5qYISML8hdF33//1hTDDYLn1ETX+WplMLmgLoV7S+bPWxFGvd6MgX329uzufU7q4/ipVG4KTV2kpU+wRopkZP02vhh/+GTv2l8vUc6WrSoW+Y4mUFt1Z8Tdf7379YZl6PlcWqrQdpIuuDPjq1x+EEw7ryYLredAKWwKv6RaeZb7j5dn3ZeFipyL2CuNPhoXA9y2Khber20gWEJkpLfIYNp0FZXN6RGkJGyFcbU5x4xUAz5mFZUbcugFXloEuQl4PFpZoCwQmY1G+I917wbmm4TmzsIzX1FVlUb5jNls7k7+wmSwYBXrhdhaHLrpQ6VFZoKMswrOXGHGDxBFZytn9F+ppZVgRo1sVSav9pvDs6lB4+pKlp/z9NioFlvJWjygKOArCMrVAFRekHRZcPSooPRaLBZBu7u9YUI+wiIUC96ygexZcXRVsriIuXVf5e3HkB8izO+MWPKywwP2SC1iIxeKCq3cKWOCXnkCvJx54tGZrXhR8FshdwajWAqc/aunWcOE4YpOx8CjLpsJyHMcvf+os5JayQK1s8QlAiXI8k9c4rAhN2h0md8ji2FxIxa844uTGLoqizUTFcndJrbVI5b104hR4G4T0xeKijWOLViWJHWdLvNrTL7rL4kQe14dmIQcIsWecFLmUsVhc8HoZcfThF73fQipcLdpcwEjSKk6E4Vog2uOHvpVmKmjzGKXosVAciWM0Q/QY8XRJUHqGFGDY466bymGNm4NSxF1YFNZt25vwJzTcfr3f0vmNujVudr069/xOvxl7Ze59+oYdRoIOpfSbQ4+zFuj6IDXKVpEUWEpf5r8YKlDVrloVbvhkqyCcA1QqEAvEjZj/lFpqZ6IMuO2ZDhzr4tIXgpRv1hFUOBWpxhbxdC5JVjnTKIHGUVFyTB9AaE/Yz8GIs9ezWZx+G1DXPzC4r/fsxEmdlj5d0h+SwL2Y1mfeRpjWStnmkB1217XA6sdZc2a32qQc5DtmBSwVF6bGTn7/EvM2kJwyLT3kxMSobtRmTGhjZMoXgoXPoeyRfkqbQSNmHlJF9zOr6DwLLt5exSexRjOt9cmcvEXf6UusJGsG8RwLWHGrQnQ1K73LZKFKS6dGPJpnQcHS9YGnkqSvkvoSLMTgkITu2dSNA4ZLkGDF7VhJiD9NyHg+td6YtkiUGDZpxjukNacXrPrQJbHeJC5gO5nTnqV6mXixXiN+r0bCubvwBi7efFKzSRrvBPNax4qndEtzbGiUoaXeC2xPHKIDx96Gray3DWRC37nISid3hzrd6cPi2XNlENIkkoij27QYvTUtK30eToQcEhtcWjrTuVQoT5Amy74mSi+Xe74DwwnHTmVdugJTznWscTxVbJhOOD6PVh93SQeGHL1ZbQ7qpMot3ZWB1mA64XAo18dDJGsYs8WLA2zig1XijZimlWiINHR47vPYJx5IlsxxcGneXWtIXxLKRKuatQZm6RLd3l5Vex5xeKX7MbaG6R1eD8IFfcdqwPUt3ZS+eFdgguhGgSH/AGeKTSyaV5oXUOiuarRTsCrmEw2ZaPS411bL2NtIg1v6onD00DHoIhJ2Swh1vezTmS2OZ+07xK1TEjnPSneJhgRpnJU6KKpbNEmbKW1Y/g7dpFXj7dSqlwnddk2+2zqgeZQATVCcVnkrsFOj28S7rFTZOsMCvH0jrgInfpChj6qtmvbZp6dQQQKrMS8WRTekrPMpJgnQ0iuc0heGVQtEK6pcq46uClTqPAWMndpx+L0Sg0Tb4YdxtRB9FUGUB74Nep0aYHbpClELhgIWgt6hFjiJeXK7i+3Am/JXW03VSlPlW2m1pkKrz2NJHsgqKOxO7znE0YzMbeSWHoDE7Wp3gZxGY/yV8N+tPIjoy7nZMs92dWQx4LFge2ETizbYLIRuHHajkDMk0VNIvpojmLIUlotBA9VWOpEXTtXiI6lEYy4FUeSQcMAd27Cgg95WQ+H12iSuxcRuJZxw2adxi9+qsHSCO8wCfOYL4yhCw/EmLeruLbwokIcSbUxJGk058krFR6XnTjnLUQMU1m3SSDhuhlomdpW4fYfNsoZP0iHe2GdxNETqvSjbfo6JsDdRQ+rLZfsp3BuWjg0q6mIFx8wLYWfUEiLcAc9JiOzp/EGuuo1dhV/JBNsJrxVR9yHI6lXluCEytdy9KFmqKRjYmF2qnkhJYWmfDl6EskC1OBuORZoY4ggGEi361jvB6BA+RqremEj6nnigV6eRuKcoyziNNu2LdOWMWi+zywH0H8rIU53LArgKJBbPT0j6VTIAh6fBozGWqwkoUoUugNY3kGRlybcux1WMYUE0OxG1IGh1O8w1d55Ga+iAp0cqp0nbMWoV0ohU3r1k3p5op3KRBZTjEL0tfxItFz4YKemD73IuRMuWdAdsL2C6zXh1+nZwiTPE2JDQ8UeNWmHOg9EAuYr+YKdPqp7oeQu84n7oJjUjXDqEShKq+Nl+qwZ0WiDlRRYeHQ7yqS/TYY5Bhgkds6FF11nGBd0kpUKDs6hoQIA5Uqw3sJt2qJMDyZJu8wUc9khqC5RJSlA7lZjV7GZDoBiJB4zhrwzUAhp0MJTxsKJBMBxYNBK/T429+kSldj0C0ilIc1sMsTFNOQGUPiFqt8NWmzb25T5lx09TnrPUryENWpnlJnSo29+lo0a8GFUIhT6AEl3/BQ8RP+CDUvg2TpmE6BozfUYLzwrLIivmxrlDxTJiER15JN4EtaLFd9r5wDpZCUCH7Cj3Of2OUNBZEvW6WNSlez6lgfWo0T3J49dJ0Ywj77qaD+NFZmUfBnpBg415eRBRp6VXqS1jPCu3417Er97CrzS5iVBVqX9SuNLjoRCIW1zIIQnvvtuo1LMZEg44g2uLAoPJznIlPC5K2aSxpXoFXVbuL9Onx1rRkvmVQkETJo3RwLZKBUeWlmHBLT3vxNUaPqNkGJJkyayg9YVPH5DqYYjTN5iOwicBHeo2+jJ0GO2T5QBdyn6jn1jp0sNfaw4MjZyJfreNtzcLDQyUiYweRGPxV5ttHnacKfr3WaDzELOm6wsfHOPTTrHO4Muw9LzxJqBoVd0WW2yxxRZbbLHFFltsscUtWHTZarNofDgCaND1OHj4zUnSfiUkMp0HNm5OPMHd9vhfNSyIWkrCXXR1AZAVJKpem3txKk2U60BEgu7NUbu1Y4HellEh9nAwVGz6qH0IG/gln/BMusOAGNCt0aHaydQCZ9ql0yvNXn7b4FuwA7aEPFq97LXbcc/JWGg9zPT0kyBv4kmZTPtRAl5ZpXlLAWhRN6biGqgxBApUW8hOt9zBDqSqoJOmFuVLMFPNBwuCJCX+MFLHnhvLVAKK0l2jAawLFmJiuVEMNM+CgO5BXfGyKU18pm6vQ/LUvpTmZpXoATak1V42ZqtDgCzQbDEZqhWQLJRMqgTK3HVzzxE5C1qf7EAzhZCUZZrt71chzwuiuXADleQpLE0j70CUBcPIkouI32v0vXELyelMEiOxLCppEYC08jCZO08CC+jypl6JDKgBCMm4PG4SzyBOM1P6UCclkC9ZqOWkgY5dhih5MkMN+0cLUpdoNCHI8qFDGg0CictZuPEskVnKXpkmlMIQfBLS9af0fZD51vROvm9YvqJGA/BzFujemxcrQKp0GVw2H50C7QWtLGuHasciw/OM4EWNRiObrY4aO06L5qARmtfXuEhb2cn+uNjYLIq8yM2/KZdJi1JkET/ayUugnwo9pOET7tK8549Wd7sRDj567VOfs9xiiy222GKLLdYA/w8Y9AQpQt0HmQ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412776"/>
            <a:ext cx="6264696" cy="4632515"/>
          </a:xfrm>
          <a:prstGeom prst="rect">
            <a:avLst/>
          </a:prstGeom>
        </p:spPr>
      </p:pic>
    </p:spTree>
    <p:extLst>
      <p:ext uri="{BB962C8B-B14F-4D97-AF65-F5344CB8AC3E}">
        <p14:creationId xmlns:p14="http://schemas.microsoft.com/office/powerpoint/2010/main" val="2326953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260648"/>
            <a:ext cx="8568952" cy="830997"/>
          </a:xfrm>
          <a:prstGeom prst="rect">
            <a:avLst/>
          </a:prstGeom>
          <a:noFill/>
        </p:spPr>
        <p:txBody>
          <a:bodyPr wrap="square" rtlCol="0">
            <a:spAutoFit/>
          </a:bodyPr>
          <a:lstStyle/>
          <a:p>
            <a:r>
              <a:rPr lang="en-AU" sz="2400" dirty="0" smtClean="0"/>
              <a:t>2) Bar Graph</a:t>
            </a:r>
          </a:p>
          <a:p>
            <a:endParaRPr lang="en-AU"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676146"/>
            <a:ext cx="7812360" cy="5859270"/>
          </a:xfrm>
          <a:prstGeom prst="rect">
            <a:avLst/>
          </a:prstGeom>
        </p:spPr>
      </p:pic>
    </p:spTree>
    <p:extLst>
      <p:ext uri="{BB962C8B-B14F-4D97-AF65-F5344CB8AC3E}">
        <p14:creationId xmlns:p14="http://schemas.microsoft.com/office/powerpoint/2010/main" val="156935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88640"/>
            <a:ext cx="8640960" cy="830997"/>
          </a:xfrm>
          <a:prstGeom prst="rect">
            <a:avLst/>
          </a:prstGeom>
          <a:noFill/>
        </p:spPr>
        <p:txBody>
          <a:bodyPr wrap="square" rtlCol="0">
            <a:spAutoFit/>
          </a:bodyPr>
          <a:lstStyle/>
          <a:p>
            <a:r>
              <a:rPr lang="en-AU" sz="2400" dirty="0" smtClean="0"/>
              <a:t>3) Histogram</a:t>
            </a:r>
          </a:p>
          <a:p>
            <a:endParaRPr lang="en-AU"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764704"/>
            <a:ext cx="7893824" cy="4968552"/>
          </a:xfrm>
          <a:prstGeom prst="rect">
            <a:avLst/>
          </a:prstGeom>
        </p:spPr>
      </p:pic>
    </p:spTree>
    <p:extLst>
      <p:ext uri="{BB962C8B-B14F-4D97-AF65-F5344CB8AC3E}">
        <p14:creationId xmlns:p14="http://schemas.microsoft.com/office/powerpoint/2010/main" val="402821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8712968" cy="830997"/>
          </a:xfrm>
          <a:prstGeom prst="rect">
            <a:avLst/>
          </a:prstGeom>
          <a:noFill/>
        </p:spPr>
        <p:txBody>
          <a:bodyPr wrap="square" rtlCol="0">
            <a:spAutoFit/>
          </a:bodyPr>
          <a:lstStyle/>
          <a:p>
            <a:r>
              <a:rPr lang="en-AU" sz="2400" dirty="0" smtClean="0"/>
              <a:t>4) Pie Graph</a:t>
            </a:r>
          </a:p>
          <a:p>
            <a:endParaRPr lang="en-AU"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532130"/>
            <a:ext cx="6264696" cy="5905688"/>
          </a:xfrm>
          <a:prstGeom prst="rect">
            <a:avLst/>
          </a:prstGeom>
        </p:spPr>
      </p:pic>
    </p:spTree>
    <p:extLst>
      <p:ext uri="{BB962C8B-B14F-4D97-AF65-F5344CB8AC3E}">
        <p14:creationId xmlns:p14="http://schemas.microsoft.com/office/powerpoint/2010/main" val="792936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915816" y="1916832"/>
            <a:ext cx="7431"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0278" y="474856"/>
            <a:ext cx="7439175" cy="523220"/>
          </a:xfrm>
          <a:prstGeom prst="rect">
            <a:avLst/>
          </a:prstGeom>
          <a:noFill/>
        </p:spPr>
        <p:txBody>
          <a:bodyPr wrap="square" rtlCol="0">
            <a:spAutoFit/>
          </a:bodyPr>
          <a:lstStyle/>
          <a:p>
            <a:r>
              <a:rPr lang="en-AU" sz="2800" dirty="0" smtClean="0"/>
              <a:t>Title: </a:t>
            </a:r>
            <a:r>
              <a:rPr lang="en-AU" sz="2000" dirty="0" smtClean="0"/>
              <a:t>Using frequency tables to construct a histogram</a:t>
            </a:r>
            <a:endParaRPr lang="en-AU" sz="2000" dirty="0"/>
          </a:p>
        </p:txBody>
      </p:sp>
      <p:sp>
        <p:nvSpPr>
          <p:cNvPr id="11" name="TextBox 10"/>
          <p:cNvSpPr txBox="1"/>
          <p:nvPr/>
        </p:nvSpPr>
        <p:spPr>
          <a:xfrm>
            <a:off x="6251551" y="512677"/>
            <a:ext cx="2496913" cy="523220"/>
          </a:xfrm>
          <a:prstGeom prst="rect">
            <a:avLst/>
          </a:prstGeom>
          <a:noFill/>
        </p:spPr>
        <p:txBody>
          <a:bodyPr wrap="square" rtlCol="0">
            <a:spAutoFit/>
          </a:bodyPr>
          <a:lstStyle/>
          <a:p>
            <a:r>
              <a:rPr lang="en-AU" sz="2800" dirty="0" smtClean="0"/>
              <a:t>Date: 17/3/15</a:t>
            </a:r>
            <a:endParaRPr lang="en-AU" sz="2800" dirty="0"/>
          </a:p>
        </p:txBody>
      </p:sp>
      <p:sp>
        <p:nvSpPr>
          <p:cNvPr id="12" name="TextBox 11"/>
          <p:cNvSpPr txBox="1"/>
          <p:nvPr/>
        </p:nvSpPr>
        <p:spPr>
          <a:xfrm>
            <a:off x="0" y="1063436"/>
            <a:ext cx="8739936" cy="830997"/>
          </a:xfrm>
          <a:prstGeom prst="rect">
            <a:avLst/>
          </a:prstGeom>
          <a:noFill/>
        </p:spPr>
        <p:txBody>
          <a:bodyPr wrap="square" rtlCol="0">
            <a:spAutoFit/>
          </a:bodyPr>
          <a:lstStyle/>
          <a:p>
            <a:r>
              <a:rPr lang="en-AU" sz="2400" dirty="0" smtClean="0"/>
              <a:t>EQ : Explain the process in constructing a histogram from a frequency table</a:t>
            </a:r>
            <a:endParaRPr lang="en-AU" sz="2400" dirty="0"/>
          </a:p>
        </p:txBody>
      </p:sp>
      <p:cxnSp>
        <p:nvCxnSpPr>
          <p:cNvPr id="5" name="Straight Connector 4"/>
          <p:cNvCxnSpPr/>
          <p:nvPr/>
        </p:nvCxnSpPr>
        <p:spPr>
          <a:xfrm>
            <a:off x="6228184" y="0"/>
            <a:ext cx="0" cy="9807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715" y="1887246"/>
            <a:ext cx="2915816" cy="461665"/>
          </a:xfrm>
          <a:prstGeom prst="rect">
            <a:avLst/>
          </a:prstGeom>
          <a:noFill/>
        </p:spPr>
        <p:txBody>
          <a:bodyPr wrap="square" rtlCol="0">
            <a:spAutoFit/>
          </a:bodyPr>
          <a:lstStyle/>
          <a:p>
            <a:r>
              <a:rPr lang="en-AU" sz="2400" dirty="0" smtClean="0"/>
              <a:t>Question:</a:t>
            </a:r>
            <a:endParaRPr lang="en-AU" sz="2400" dirty="0"/>
          </a:p>
        </p:txBody>
      </p:sp>
      <p:sp>
        <p:nvSpPr>
          <p:cNvPr id="13" name="TextBox 12"/>
          <p:cNvSpPr txBox="1"/>
          <p:nvPr/>
        </p:nvSpPr>
        <p:spPr>
          <a:xfrm>
            <a:off x="2923247" y="1916832"/>
            <a:ext cx="6220752" cy="3600986"/>
          </a:xfrm>
          <a:prstGeom prst="rect">
            <a:avLst/>
          </a:prstGeom>
          <a:noFill/>
        </p:spPr>
        <p:txBody>
          <a:bodyPr wrap="square" rtlCol="0">
            <a:spAutoFit/>
          </a:bodyPr>
          <a:lstStyle/>
          <a:p>
            <a:r>
              <a:rPr lang="en-AU" sz="2400" dirty="0" smtClean="0"/>
              <a:t>Notes:</a:t>
            </a:r>
          </a:p>
          <a:p>
            <a:r>
              <a:rPr lang="en-AU" sz="2000" dirty="0" smtClean="0"/>
              <a:t>To </a:t>
            </a:r>
            <a:r>
              <a:rPr lang="en-AU" sz="2000" dirty="0"/>
              <a:t>make a frequency distribution table, first divide the numbers over which the data ranges into intervals of equal length. Then count how many data points fall into each interval</a:t>
            </a:r>
            <a:r>
              <a:rPr lang="en-AU" sz="2000" dirty="0" smtClean="0"/>
              <a:t>.</a:t>
            </a:r>
          </a:p>
          <a:p>
            <a:endParaRPr lang="en-AU" sz="2000" dirty="0"/>
          </a:p>
          <a:p>
            <a:endParaRPr lang="en-AU" sz="2000" dirty="0" smtClean="0"/>
          </a:p>
          <a:p>
            <a:pPr marL="457200" indent="-457200">
              <a:buAutoNum type="arabicParenR"/>
            </a:pPr>
            <a:endParaRPr lang="en-AU" sz="2000" dirty="0" smtClean="0"/>
          </a:p>
          <a:p>
            <a:pPr marL="457200" indent="-457200">
              <a:buAutoNum type="arabicParenR"/>
            </a:pPr>
            <a:endParaRPr lang="en-AU" sz="2000" dirty="0" smtClean="0"/>
          </a:p>
          <a:p>
            <a:endParaRPr lang="en-AU" sz="2000" dirty="0" smtClean="0"/>
          </a:p>
          <a:p>
            <a:endParaRPr lang="en-AU" sz="2400" dirty="0" smtClean="0"/>
          </a:p>
        </p:txBody>
      </p:sp>
      <p:sp>
        <p:nvSpPr>
          <p:cNvPr id="14" name="TextBox 13"/>
          <p:cNvSpPr txBox="1"/>
          <p:nvPr/>
        </p:nvSpPr>
        <p:spPr>
          <a:xfrm>
            <a:off x="5724128" y="37839"/>
            <a:ext cx="504056" cy="923330"/>
          </a:xfrm>
          <a:prstGeom prst="rect">
            <a:avLst/>
          </a:prstGeom>
          <a:noFill/>
        </p:spPr>
        <p:txBody>
          <a:bodyPr wrap="square" rtlCol="0">
            <a:spAutoFit/>
          </a:bodyPr>
          <a:lstStyle/>
          <a:p>
            <a:r>
              <a:rPr lang="en-AU" dirty="0" smtClean="0"/>
              <a:t>24</a:t>
            </a:r>
          </a:p>
          <a:p>
            <a:r>
              <a:rPr lang="en-AU" dirty="0" smtClean="0"/>
              <a:t>7</a:t>
            </a:r>
          </a:p>
          <a:p>
            <a:r>
              <a:rPr lang="en-AU" dirty="0" smtClean="0"/>
              <a:t>30</a:t>
            </a:r>
          </a:p>
        </p:txBody>
      </p:sp>
      <p:sp>
        <p:nvSpPr>
          <p:cNvPr id="7" name="Rectangle 6"/>
          <p:cNvSpPr/>
          <p:nvPr/>
        </p:nvSpPr>
        <p:spPr>
          <a:xfrm>
            <a:off x="8640452" y="6433342"/>
            <a:ext cx="395535"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p:cNvSpPr txBox="1"/>
          <p:nvPr/>
        </p:nvSpPr>
        <p:spPr>
          <a:xfrm>
            <a:off x="8378200" y="6378015"/>
            <a:ext cx="586289" cy="369332"/>
          </a:xfrm>
          <a:prstGeom prst="rect">
            <a:avLst/>
          </a:prstGeom>
          <a:noFill/>
        </p:spPr>
        <p:txBody>
          <a:bodyPr wrap="square" rtlCol="0">
            <a:spAutoFit/>
          </a:bodyPr>
          <a:lstStyle/>
          <a:p>
            <a:r>
              <a:rPr lang="en-AU" dirty="0" smtClean="0"/>
              <a:t>11</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3046490186"/>
              </p:ext>
            </p:extLst>
          </p:nvPr>
        </p:nvGraphicFramePr>
        <p:xfrm>
          <a:off x="4283968" y="3645025"/>
          <a:ext cx="3744416" cy="3024333"/>
        </p:xfrm>
        <a:graphic>
          <a:graphicData uri="http://schemas.openxmlformats.org/drawingml/2006/table">
            <a:tbl>
              <a:tblPr>
                <a:tableStyleId>{5940675A-B579-460E-94D1-54222C63F5DA}</a:tableStyleId>
              </a:tblPr>
              <a:tblGrid>
                <a:gridCol w="1872208"/>
                <a:gridCol w="1872208"/>
              </a:tblGrid>
              <a:tr h="336037">
                <a:tc>
                  <a:txBody>
                    <a:bodyPr/>
                    <a:lstStyle/>
                    <a:p>
                      <a:pPr algn="ctr"/>
                      <a:r>
                        <a:rPr lang="en-AU" sz="1400" dirty="0"/>
                        <a:t>Intervals (in dollars)</a:t>
                      </a:r>
                    </a:p>
                  </a:txBody>
                  <a:tcPr anchor="ctr">
                    <a:solidFill>
                      <a:schemeClr val="tx2">
                        <a:lumMod val="20000"/>
                        <a:lumOff val="80000"/>
                      </a:schemeClr>
                    </a:solidFill>
                  </a:tcPr>
                </a:tc>
                <a:tc>
                  <a:txBody>
                    <a:bodyPr/>
                    <a:lstStyle/>
                    <a:p>
                      <a:pPr algn="ctr"/>
                      <a:r>
                        <a:rPr lang="en-AU" sz="1400" dirty="0"/>
                        <a:t>Frequency</a:t>
                      </a:r>
                    </a:p>
                  </a:txBody>
                  <a:tcPr anchor="ctr">
                    <a:solidFill>
                      <a:schemeClr val="tx2">
                        <a:lumMod val="20000"/>
                        <a:lumOff val="80000"/>
                      </a:schemeClr>
                    </a:solidFill>
                  </a:tcPr>
                </a:tc>
              </a:tr>
              <a:tr h="336037">
                <a:tc>
                  <a:txBody>
                    <a:bodyPr/>
                    <a:lstStyle/>
                    <a:p>
                      <a:pPr algn="ctr"/>
                      <a:r>
                        <a:rPr lang="en-AU" sz="1400" dirty="0"/>
                        <a:t>0.50 - 0.99</a:t>
                      </a:r>
                    </a:p>
                  </a:txBody>
                  <a:tcPr anchor="ctr"/>
                </a:tc>
                <a:tc>
                  <a:txBody>
                    <a:bodyPr/>
                    <a:lstStyle/>
                    <a:p>
                      <a:pPr algn="ctr"/>
                      <a:r>
                        <a:rPr lang="en-AU" sz="1400" dirty="0"/>
                        <a:t>4</a:t>
                      </a:r>
                    </a:p>
                  </a:txBody>
                  <a:tcPr anchor="ctr"/>
                </a:tc>
              </a:tr>
              <a:tr h="336037">
                <a:tc>
                  <a:txBody>
                    <a:bodyPr/>
                    <a:lstStyle/>
                    <a:p>
                      <a:pPr algn="ctr"/>
                      <a:r>
                        <a:rPr lang="en-AU" sz="1400" dirty="0"/>
                        <a:t>1.00 - 1.49</a:t>
                      </a:r>
                    </a:p>
                  </a:txBody>
                  <a:tcPr anchor="ctr"/>
                </a:tc>
                <a:tc>
                  <a:txBody>
                    <a:bodyPr/>
                    <a:lstStyle/>
                    <a:p>
                      <a:pPr algn="ctr"/>
                      <a:r>
                        <a:rPr lang="en-AU" sz="1400" dirty="0"/>
                        <a:t>7</a:t>
                      </a:r>
                    </a:p>
                  </a:txBody>
                  <a:tcPr anchor="ctr"/>
                </a:tc>
              </a:tr>
              <a:tr h="336037">
                <a:tc>
                  <a:txBody>
                    <a:bodyPr/>
                    <a:lstStyle/>
                    <a:p>
                      <a:pPr algn="ctr"/>
                      <a:r>
                        <a:rPr lang="en-AU" sz="1400" dirty="0"/>
                        <a:t>1.50 - 1.99</a:t>
                      </a:r>
                    </a:p>
                  </a:txBody>
                  <a:tcPr anchor="ctr"/>
                </a:tc>
                <a:tc>
                  <a:txBody>
                    <a:bodyPr/>
                    <a:lstStyle/>
                    <a:p>
                      <a:pPr algn="ctr"/>
                      <a:r>
                        <a:rPr lang="en-AU" sz="1400" dirty="0"/>
                        <a:t>3</a:t>
                      </a:r>
                    </a:p>
                  </a:txBody>
                  <a:tcPr anchor="ctr"/>
                </a:tc>
              </a:tr>
              <a:tr h="336037">
                <a:tc>
                  <a:txBody>
                    <a:bodyPr/>
                    <a:lstStyle/>
                    <a:p>
                      <a:pPr algn="ctr"/>
                      <a:r>
                        <a:rPr lang="en-AU" sz="1400" dirty="0"/>
                        <a:t>2.00 - 2.49</a:t>
                      </a:r>
                    </a:p>
                  </a:txBody>
                  <a:tcPr anchor="ctr"/>
                </a:tc>
                <a:tc>
                  <a:txBody>
                    <a:bodyPr/>
                    <a:lstStyle/>
                    <a:p>
                      <a:pPr algn="ctr"/>
                      <a:r>
                        <a:rPr lang="en-AU" sz="1400" dirty="0"/>
                        <a:t>3</a:t>
                      </a:r>
                    </a:p>
                  </a:txBody>
                  <a:tcPr anchor="ctr"/>
                </a:tc>
              </a:tr>
              <a:tr h="336037">
                <a:tc>
                  <a:txBody>
                    <a:bodyPr/>
                    <a:lstStyle/>
                    <a:p>
                      <a:pPr algn="ctr"/>
                      <a:r>
                        <a:rPr lang="en-AU" sz="1400" dirty="0"/>
                        <a:t>2.50 - 2.99</a:t>
                      </a:r>
                    </a:p>
                  </a:txBody>
                  <a:tcPr anchor="ctr"/>
                </a:tc>
                <a:tc>
                  <a:txBody>
                    <a:bodyPr/>
                    <a:lstStyle/>
                    <a:p>
                      <a:pPr algn="ctr"/>
                      <a:endParaRPr lang="en-AU" sz="1400" dirty="0"/>
                    </a:p>
                  </a:txBody>
                  <a:tcPr anchor="ctr"/>
                </a:tc>
              </a:tr>
              <a:tr h="336037">
                <a:tc>
                  <a:txBody>
                    <a:bodyPr/>
                    <a:lstStyle/>
                    <a:p>
                      <a:pPr algn="ctr"/>
                      <a:r>
                        <a:rPr lang="en-AU" sz="1400" dirty="0"/>
                        <a:t>3.00 - 3.49</a:t>
                      </a:r>
                    </a:p>
                  </a:txBody>
                  <a:tcPr anchor="ctr"/>
                </a:tc>
                <a:tc>
                  <a:txBody>
                    <a:bodyPr/>
                    <a:lstStyle/>
                    <a:p>
                      <a:pPr algn="ctr"/>
                      <a:r>
                        <a:rPr lang="en-AU" sz="1400" dirty="0"/>
                        <a:t>2</a:t>
                      </a:r>
                    </a:p>
                  </a:txBody>
                  <a:tcPr anchor="ctr"/>
                </a:tc>
              </a:tr>
              <a:tr h="336037">
                <a:tc>
                  <a:txBody>
                    <a:bodyPr/>
                    <a:lstStyle/>
                    <a:p>
                      <a:pPr algn="ctr"/>
                      <a:r>
                        <a:rPr lang="en-AU" sz="1400"/>
                        <a:t>3.50 - 3.99</a:t>
                      </a:r>
                    </a:p>
                  </a:txBody>
                  <a:tcPr anchor="ctr"/>
                </a:tc>
                <a:tc>
                  <a:txBody>
                    <a:bodyPr/>
                    <a:lstStyle/>
                    <a:p>
                      <a:pPr algn="ctr"/>
                      <a:r>
                        <a:rPr lang="en-AU" sz="1400" dirty="0"/>
                        <a:t>1</a:t>
                      </a:r>
                    </a:p>
                  </a:txBody>
                  <a:tcPr anchor="ctr"/>
                </a:tc>
              </a:tr>
              <a:tr h="336037">
                <a:tc>
                  <a:txBody>
                    <a:bodyPr/>
                    <a:lstStyle/>
                    <a:p>
                      <a:pPr algn="ctr"/>
                      <a:r>
                        <a:rPr lang="en-AU" sz="1400">
                          <a:effectLst/>
                        </a:rPr>
                        <a:t>Total</a:t>
                      </a:r>
                      <a:endParaRPr lang="en-AU" sz="1400"/>
                    </a:p>
                  </a:txBody>
                  <a:tcPr anchor="ctr"/>
                </a:tc>
                <a:tc>
                  <a:txBody>
                    <a:bodyPr/>
                    <a:lstStyle/>
                    <a:p>
                      <a:pPr algn="ctr"/>
                      <a:r>
                        <a:rPr lang="en-AU" sz="1400" dirty="0"/>
                        <a:t>20</a:t>
                      </a:r>
                    </a:p>
                  </a:txBody>
                  <a:tcPr anchor="ctr"/>
                </a:tc>
              </a:tr>
            </a:tbl>
          </a:graphicData>
        </a:graphic>
      </p:graphicFrame>
    </p:spTree>
    <p:extLst>
      <p:ext uri="{BB962C8B-B14F-4D97-AF65-F5344CB8AC3E}">
        <p14:creationId xmlns:p14="http://schemas.microsoft.com/office/powerpoint/2010/main" val="17218058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6" name="Straight Connector 5"/>
          <p:cNvCxnSpPr/>
          <p:nvPr/>
        </p:nvCxnSpPr>
        <p:spPr>
          <a:xfrm>
            <a:off x="7431" y="26064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555776" y="260648"/>
            <a:ext cx="0" cy="6597352"/>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56427" y="260648"/>
            <a:ext cx="1666234" cy="461665"/>
          </a:xfrm>
          <a:prstGeom prst="rect">
            <a:avLst/>
          </a:prstGeom>
          <a:noFill/>
        </p:spPr>
        <p:txBody>
          <a:bodyPr wrap="square" rtlCol="0">
            <a:spAutoFit/>
          </a:bodyPr>
          <a:lstStyle/>
          <a:p>
            <a:r>
              <a:rPr lang="en-AU" sz="2400" dirty="0" smtClean="0"/>
              <a:t>Question:</a:t>
            </a:r>
            <a:endParaRPr lang="en-AU" sz="2400" dirty="0"/>
          </a:p>
        </p:txBody>
      </p:sp>
      <p:sp>
        <p:nvSpPr>
          <p:cNvPr id="15" name="Rectangle 14"/>
          <p:cNvSpPr/>
          <p:nvPr/>
        </p:nvSpPr>
        <p:spPr>
          <a:xfrm>
            <a:off x="8677934" y="6395373"/>
            <a:ext cx="404063"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8532440" y="6344512"/>
            <a:ext cx="549557" cy="369332"/>
          </a:xfrm>
          <a:prstGeom prst="rect">
            <a:avLst/>
          </a:prstGeom>
          <a:noFill/>
        </p:spPr>
        <p:txBody>
          <a:bodyPr wrap="square" rtlCol="0">
            <a:spAutoFit/>
          </a:bodyPr>
          <a:lstStyle/>
          <a:p>
            <a:r>
              <a:rPr lang="en-AU" dirty="0" smtClean="0"/>
              <a:t>11</a:t>
            </a:r>
            <a:endParaRPr lang="en-AU" dirty="0"/>
          </a:p>
        </p:txBody>
      </p:sp>
      <p:sp>
        <p:nvSpPr>
          <p:cNvPr id="3" name="TextBox 2"/>
          <p:cNvSpPr txBox="1"/>
          <p:nvPr/>
        </p:nvSpPr>
        <p:spPr>
          <a:xfrm>
            <a:off x="2555776" y="260648"/>
            <a:ext cx="6526221" cy="6063198"/>
          </a:xfrm>
          <a:prstGeom prst="rect">
            <a:avLst/>
          </a:prstGeom>
          <a:noFill/>
        </p:spPr>
        <p:txBody>
          <a:bodyPr wrap="square" rtlCol="0">
            <a:spAutoFit/>
          </a:bodyPr>
          <a:lstStyle/>
          <a:p>
            <a:r>
              <a:rPr lang="en-AU" sz="2400" dirty="0" smtClean="0"/>
              <a:t>Notes continued:</a:t>
            </a:r>
          </a:p>
          <a:p>
            <a:endParaRPr lang="en-AU" sz="2400" dirty="0" smtClean="0"/>
          </a:p>
          <a:p>
            <a:r>
              <a:rPr lang="en-AU" sz="2000" b="1" dirty="0">
                <a:solidFill>
                  <a:srgbClr val="0070C0"/>
                </a:solidFill>
              </a:rPr>
              <a:t>Making a Histogram Using a Frequency Distribution Table</a:t>
            </a:r>
          </a:p>
          <a:p>
            <a:r>
              <a:rPr lang="en-AU" sz="2000" dirty="0"/>
              <a:t>A histogram is a bar graph which shows frequency distribution</a:t>
            </a:r>
            <a:r>
              <a:rPr lang="en-AU" sz="2000" dirty="0" smtClean="0"/>
              <a:t>.</a:t>
            </a:r>
          </a:p>
          <a:p>
            <a:r>
              <a:rPr lang="en-AU" sz="2000" dirty="0"/>
              <a:t/>
            </a:r>
            <a:br>
              <a:rPr lang="en-AU" sz="2000" dirty="0"/>
            </a:br>
            <a:r>
              <a:rPr lang="en-AU" sz="2000" dirty="0"/>
              <a:t>To make a histogram, follow these steps:</a:t>
            </a:r>
          </a:p>
          <a:p>
            <a:pPr marL="457200" indent="-457200">
              <a:buFont typeface="+mj-lt"/>
              <a:buAutoNum type="arabicPeriod"/>
            </a:pPr>
            <a:r>
              <a:rPr lang="en-AU" sz="2000" dirty="0"/>
              <a:t>On the vertical axis, place frequencies. Label this axis "Frequency</a:t>
            </a:r>
            <a:r>
              <a:rPr lang="en-AU" sz="2000" dirty="0" smtClean="0"/>
              <a:t>".</a:t>
            </a:r>
          </a:p>
          <a:p>
            <a:pPr marL="457200" indent="-457200">
              <a:buFont typeface="+mj-lt"/>
              <a:buAutoNum type="arabicPeriod"/>
            </a:pPr>
            <a:endParaRPr lang="en-AU" sz="2000" dirty="0"/>
          </a:p>
          <a:p>
            <a:pPr marL="457200" indent="-457200">
              <a:buFont typeface="+mj-lt"/>
              <a:buAutoNum type="arabicPeriod"/>
            </a:pPr>
            <a:r>
              <a:rPr lang="en-AU" sz="2000" dirty="0"/>
              <a:t>On the horizontal axis, place the lower value of each interval. Label this axis with the type of data shown (price of birthday cards, etc</a:t>
            </a:r>
            <a:r>
              <a:rPr lang="en-AU" sz="2000" dirty="0" smtClean="0"/>
              <a:t>.)</a:t>
            </a:r>
          </a:p>
          <a:p>
            <a:pPr marL="457200" indent="-457200">
              <a:buFont typeface="+mj-lt"/>
              <a:buAutoNum type="arabicPeriod"/>
            </a:pPr>
            <a:endParaRPr lang="en-AU" sz="2000" dirty="0"/>
          </a:p>
          <a:p>
            <a:pPr marL="457200" indent="-457200">
              <a:buFont typeface="+mj-lt"/>
              <a:buAutoNum type="arabicPeriod"/>
            </a:pPr>
            <a:r>
              <a:rPr lang="en-AU" sz="2000" dirty="0"/>
              <a:t>Draw a bar extending from the lower value of each interval to the lower value of the next interval. The height of each bar should be equal to the frequency of its corresponding interval.</a:t>
            </a:r>
          </a:p>
          <a:p>
            <a:pPr marL="457200" indent="-457200">
              <a:buFont typeface="+mj-lt"/>
              <a:buAutoNum type="arabicPeriod"/>
            </a:pPr>
            <a:endParaRPr lang="en-AU" sz="2000" dirty="0" smtClean="0"/>
          </a:p>
        </p:txBody>
      </p:sp>
      <p:sp>
        <p:nvSpPr>
          <p:cNvPr id="4" name="TextBox 3"/>
          <p:cNvSpPr txBox="1"/>
          <p:nvPr/>
        </p:nvSpPr>
        <p:spPr>
          <a:xfrm>
            <a:off x="7431" y="722313"/>
            <a:ext cx="2548345" cy="369332"/>
          </a:xfrm>
          <a:prstGeom prst="rect">
            <a:avLst/>
          </a:prstGeom>
          <a:noFill/>
        </p:spPr>
        <p:txBody>
          <a:bodyPr wrap="square" rtlCol="0">
            <a:spAutoFit/>
          </a:bodyPr>
          <a:lstStyle/>
          <a:p>
            <a:endParaRPr lang="en-AU" dirty="0"/>
          </a:p>
        </p:txBody>
      </p:sp>
    </p:spTree>
    <p:extLst>
      <p:ext uri="{BB962C8B-B14F-4D97-AF65-F5344CB8AC3E}">
        <p14:creationId xmlns:p14="http://schemas.microsoft.com/office/powerpoint/2010/main" val="12997417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img.sparknotes.com/figures/7/713c54ac092d41f3b259a7ad27e87458/histogram.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36712"/>
            <a:ext cx="8249518" cy="504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758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405453979"/>
              </p:ext>
            </p:extLst>
          </p:nvPr>
        </p:nvGraphicFramePr>
        <p:xfrm>
          <a:off x="2699792" y="3356992"/>
          <a:ext cx="3744416" cy="3262117"/>
        </p:xfrm>
        <a:graphic>
          <a:graphicData uri="http://schemas.openxmlformats.org/drawingml/2006/table">
            <a:tbl>
              <a:tblPr>
                <a:tableStyleId>{5940675A-B579-460E-94D1-54222C63F5DA}</a:tableStyleId>
              </a:tblPr>
              <a:tblGrid>
                <a:gridCol w="1872208"/>
                <a:gridCol w="1872208"/>
              </a:tblGrid>
              <a:tr h="336037">
                <a:tc>
                  <a:txBody>
                    <a:bodyPr/>
                    <a:lstStyle/>
                    <a:p>
                      <a:pPr algn="ctr"/>
                      <a:r>
                        <a:rPr lang="en-AU" sz="1400" dirty="0"/>
                        <a:t>Intervals (in </a:t>
                      </a:r>
                      <a:r>
                        <a:rPr lang="en-AU" sz="1400" dirty="0" smtClean="0"/>
                        <a:t>height)</a:t>
                      </a:r>
                      <a:endParaRPr lang="en-AU" sz="1400" dirty="0"/>
                    </a:p>
                  </a:txBody>
                  <a:tcPr anchor="ctr">
                    <a:solidFill>
                      <a:schemeClr val="tx2">
                        <a:lumMod val="20000"/>
                        <a:lumOff val="80000"/>
                      </a:schemeClr>
                    </a:solidFill>
                  </a:tcPr>
                </a:tc>
                <a:tc>
                  <a:txBody>
                    <a:bodyPr/>
                    <a:lstStyle/>
                    <a:p>
                      <a:pPr algn="ctr"/>
                      <a:r>
                        <a:rPr lang="en-AU" sz="1400" dirty="0"/>
                        <a:t>Frequency</a:t>
                      </a:r>
                    </a:p>
                  </a:txBody>
                  <a:tcPr anchor="ctr">
                    <a:solidFill>
                      <a:schemeClr val="tx2">
                        <a:lumMod val="20000"/>
                        <a:lumOff val="80000"/>
                      </a:schemeClr>
                    </a:solidFill>
                  </a:tcPr>
                </a:tc>
              </a:tr>
              <a:tr h="336037">
                <a:tc>
                  <a:txBody>
                    <a:bodyPr/>
                    <a:lstStyle/>
                    <a:p>
                      <a:pPr algn="ctr"/>
                      <a:r>
                        <a:rPr lang="en-AU" sz="1400" dirty="0" smtClean="0"/>
                        <a:t>145</a:t>
                      </a:r>
                      <a:r>
                        <a:rPr lang="en-AU" sz="1400" baseline="0" dirty="0" smtClean="0"/>
                        <a:t> - 149</a:t>
                      </a:r>
                      <a:endParaRPr lang="en-AU" sz="1400" dirty="0"/>
                    </a:p>
                  </a:txBody>
                  <a:tcPr anchor="ctr"/>
                </a:tc>
                <a:tc>
                  <a:txBody>
                    <a:bodyPr/>
                    <a:lstStyle/>
                    <a:p>
                      <a:endParaRPr lang="en-AU" dirty="0"/>
                    </a:p>
                  </a:txBody>
                  <a:tcPr anchor="ctr"/>
                </a:tc>
              </a:tr>
              <a:tr h="336037">
                <a:tc>
                  <a:txBody>
                    <a:bodyPr/>
                    <a:lstStyle/>
                    <a:p>
                      <a:pPr algn="ctr"/>
                      <a:r>
                        <a:rPr lang="en-AU" sz="1400" dirty="0" smtClean="0"/>
                        <a:t>150 </a:t>
                      </a:r>
                      <a:r>
                        <a:rPr lang="en-AU" sz="1400" baseline="0" dirty="0" smtClean="0"/>
                        <a:t>- 154</a:t>
                      </a:r>
                      <a:endParaRPr lang="en-AU" sz="1400" dirty="0"/>
                    </a:p>
                  </a:txBody>
                  <a:tcPr anchor="ctr"/>
                </a:tc>
                <a:tc>
                  <a:txBody>
                    <a:bodyPr/>
                    <a:lstStyle/>
                    <a:p>
                      <a:endParaRPr lang="en-AU"/>
                    </a:p>
                  </a:txBody>
                  <a:tcPr anchor="ctr"/>
                </a:tc>
              </a:tr>
              <a:tr h="336037">
                <a:tc>
                  <a:txBody>
                    <a:bodyPr/>
                    <a:lstStyle/>
                    <a:p>
                      <a:pPr algn="ctr"/>
                      <a:r>
                        <a:rPr lang="en-AU" sz="1400" dirty="0" smtClean="0"/>
                        <a:t>155 - 159</a:t>
                      </a:r>
                      <a:endParaRPr lang="en-AU" sz="1400" dirty="0"/>
                    </a:p>
                  </a:txBody>
                  <a:tcPr anchor="ctr"/>
                </a:tc>
                <a:tc>
                  <a:txBody>
                    <a:bodyPr/>
                    <a:lstStyle/>
                    <a:p>
                      <a:endParaRPr lang="en-AU"/>
                    </a:p>
                  </a:txBody>
                  <a:tcPr anchor="ctr"/>
                </a:tc>
              </a:tr>
              <a:tr h="336037">
                <a:tc>
                  <a:txBody>
                    <a:bodyPr/>
                    <a:lstStyle/>
                    <a:p>
                      <a:pPr algn="ctr"/>
                      <a:r>
                        <a:rPr lang="en-AU" sz="1400" dirty="0" smtClean="0"/>
                        <a:t>160</a:t>
                      </a:r>
                      <a:r>
                        <a:rPr lang="en-AU" sz="1400" baseline="0" dirty="0" smtClean="0"/>
                        <a:t> - 164</a:t>
                      </a:r>
                      <a:endParaRPr lang="en-AU" sz="1400" dirty="0"/>
                    </a:p>
                  </a:txBody>
                  <a:tcPr anchor="ctr"/>
                </a:tc>
                <a:tc>
                  <a:txBody>
                    <a:bodyPr/>
                    <a:lstStyle/>
                    <a:p>
                      <a:endParaRPr lang="en-AU"/>
                    </a:p>
                  </a:txBody>
                  <a:tcPr anchor="ctr"/>
                </a:tc>
              </a:tr>
              <a:tr h="336037">
                <a:tc>
                  <a:txBody>
                    <a:bodyPr/>
                    <a:lstStyle/>
                    <a:p>
                      <a:pPr algn="ctr"/>
                      <a:r>
                        <a:rPr lang="en-AU" sz="1400" dirty="0" smtClean="0"/>
                        <a:t>165</a:t>
                      </a:r>
                      <a:r>
                        <a:rPr lang="en-AU" sz="1400" baseline="0" dirty="0" smtClean="0"/>
                        <a:t> - 169</a:t>
                      </a:r>
                      <a:endParaRPr lang="en-AU" sz="1400" dirty="0"/>
                    </a:p>
                  </a:txBody>
                  <a:tcPr anchor="ctr"/>
                </a:tc>
                <a:tc>
                  <a:txBody>
                    <a:bodyPr/>
                    <a:lstStyle/>
                    <a:p>
                      <a:endParaRPr lang="en-AU"/>
                    </a:p>
                  </a:txBody>
                  <a:tcPr anchor="ctr"/>
                </a:tc>
              </a:tr>
              <a:tr h="336037">
                <a:tc>
                  <a:txBody>
                    <a:bodyPr/>
                    <a:lstStyle/>
                    <a:p>
                      <a:pPr algn="ctr"/>
                      <a:r>
                        <a:rPr lang="en-AU" sz="1400" dirty="0" smtClean="0"/>
                        <a:t>170</a:t>
                      </a:r>
                      <a:r>
                        <a:rPr lang="en-AU" sz="1400" baseline="0" dirty="0" smtClean="0"/>
                        <a:t> - 174</a:t>
                      </a:r>
                      <a:endParaRPr lang="en-AU" sz="1400" dirty="0"/>
                    </a:p>
                  </a:txBody>
                  <a:tcPr anchor="ctr"/>
                </a:tc>
                <a:tc>
                  <a:txBody>
                    <a:bodyPr/>
                    <a:lstStyle/>
                    <a:p>
                      <a:endParaRPr lang="en-AU"/>
                    </a:p>
                  </a:txBody>
                  <a:tcPr anchor="ctr"/>
                </a:tc>
              </a:tr>
              <a:tr h="336037">
                <a:tc>
                  <a:txBody>
                    <a:bodyPr/>
                    <a:lstStyle/>
                    <a:p>
                      <a:pPr algn="ctr"/>
                      <a:r>
                        <a:rPr lang="en-AU" sz="1400" dirty="0" smtClean="0"/>
                        <a:t>175</a:t>
                      </a:r>
                      <a:r>
                        <a:rPr lang="en-AU" sz="1400" baseline="0" dirty="0" smtClean="0"/>
                        <a:t> -180</a:t>
                      </a:r>
                      <a:endParaRPr lang="en-AU" sz="1400" dirty="0"/>
                    </a:p>
                  </a:txBody>
                  <a:tcPr anchor="ctr"/>
                </a:tc>
                <a:tc>
                  <a:txBody>
                    <a:bodyPr/>
                    <a:lstStyle/>
                    <a:p>
                      <a:endParaRPr lang="en-AU"/>
                    </a:p>
                  </a:txBody>
                  <a:tcPr anchor="ctr"/>
                </a:tc>
              </a:tr>
              <a:tr h="336037">
                <a:tc>
                  <a:txBody>
                    <a:bodyPr/>
                    <a:lstStyle/>
                    <a:p>
                      <a:pPr algn="ctr"/>
                      <a:r>
                        <a:rPr lang="en-AU" sz="1400">
                          <a:effectLst/>
                        </a:rPr>
                        <a:t>Total</a:t>
                      </a:r>
                      <a:endParaRPr lang="en-AU" sz="1400"/>
                    </a:p>
                  </a:txBody>
                  <a:tcPr anchor="ctr"/>
                </a:tc>
                <a:tc>
                  <a:txBody>
                    <a:bodyPr/>
                    <a:lstStyle/>
                    <a:p>
                      <a:endParaRPr lang="en-AU" dirty="0"/>
                    </a:p>
                  </a:txBody>
                  <a:tcPr anchor="ct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858964705"/>
              </p:ext>
            </p:extLst>
          </p:nvPr>
        </p:nvGraphicFramePr>
        <p:xfrm>
          <a:off x="611560" y="332656"/>
          <a:ext cx="7848872" cy="2790056"/>
        </p:xfrm>
        <a:graphic>
          <a:graphicData uri="http://schemas.openxmlformats.org/drawingml/2006/table">
            <a:tbl>
              <a:tblPr firstRow="1" bandRow="1">
                <a:tableStyleId>{5C22544A-7EE6-4342-B048-85BDC9FD1C3A}</a:tableStyleId>
              </a:tblPr>
              <a:tblGrid>
                <a:gridCol w="3924436"/>
                <a:gridCol w="3924436"/>
              </a:tblGrid>
              <a:tr h="504056">
                <a:tc>
                  <a:txBody>
                    <a:bodyPr/>
                    <a:lstStyle/>
                    <a:p>
                      <a:pPr algn="ctr"/>
                      <a:r>
                        <a:rPr lang="en-AU" b="0" dirty="0" smtClean="0">
                          <a:solidFill>
                            <a:schemeClr val="tx1"/>
                          </a:solidFill>
                        </a:rPr>
                        <a:t>Girls</a:t>
                      </a:r>
                      <a:r>
                        <a:rPr lang="en-AU" b="0" baseline="0" dirty="0" smtClean="0">
                          <a:solidFill>
                            <a:schemeClr val="tx1"/>
                          </a:solidFill>
                        </a:rPr>
                        <a:t> Heights to nearest cm</a:t>
                      </a:r>
                      <a:endParaRPr lang="en-AU" b="0" dirty="0">
                        <a:solidFill>
                          <a:schemeClr val="tx1"/>
                        </a:solidFill>
                      </a:endParaRPr>
                    </a:p>
                  </a:txBody>
                  <a:tcPr>
                    <a:solidFill>
                      <a:srgbClr val="CC99FF"/>
                    </a:solidFill>
                  </a:tcPr>
                </a:tc>
                <a:tc>
                  <a:txBody>
                    <a:bodyPr/>
                    <a:lstStyle/>
                    <a:p>
                      <a:pPr algn="ctr"/>
                      <a:r>
                        <a:rPr lang="en-AU" b="0" dirty="0" smtClean="0">
                          <a:solidFill>
                            <a:schemeClr val="tx1"/>
                          </a:solidFill>
                        </a:rPr>
                        <a:t>Boys Heights to nearest cm</a:t>
                      </a:r>
                      <a:endParaRPr lang="en-AU" b="0" dirty="0">
                        <a:solidFill>
                          <a:schemeClr val="tx1"/>
                        </a:solidFill>
                      </a:endParaRPr>
                    </a:p>
                  </a:txBody>
                  <a:tcPr>
                    <a:solidFill>
                      <a:schemeClr val="tx2">
                        <a:lumMod val="20000"/>
                        <a:lumOff val="80000"/>
                      </a:schemeClr>
                    </a:solidFill>
                  </a:tcPr>
                </a:tc>
              </a:tr>
              <a:tr h="1874875">
                <a:tc>
                  <a:txBody>
                    <a:bodyPr/>
                    <a:lstStyle/>
                    <a:p>
                      <a:endParaRPr lang="en-AU" dirty="0"/>
                    </a:p>
                  </a:txBody>
                  <a:tcPr>
                    <a:solidFill>
                      <a:srgbClr val="CC99FF"/>
                    </a:solidFill>
                  </a:tcPr>
                </a:tc>
                <a:tc>
                  <a:txBody>
                    <a:bodyPr/>
                    <a:lstStyle/>
                    <a:p>
                      <a:endParaRPr lang="en-AU" dirty="0" smtClean="0"/>
                    </a:p>
                    <a:p>
                      <a:endParaRPr lang="en-AU" dirty="0" smtClean="0"/>
                    </a:p>
                    <a:p>
                      <a:endParaRPr lang="en-AU" dirty="0" smtClean="0"/>
                    </a:p>
                    <a:p>
                      <a:endParaRPr lang="en-AU" dirty="0" smtClean="0"/>
                    </a:p>
                    <a:p>
                      <a:endParaRPr lang="en-AU" dirty="0" smtClean="0"/>
                    </a:p>
                    <a:p>
                      <a:endParaRPr lang="en-AU" dirty="0" smtClean="0"/>
                    </a:p>
                    <a:p>
                      <a:endParaRPr lang="en-AU" dirty="0" smtClean="0"/>
                    </a:p>
                    <a:p>
                      <a:endParaRPr lang="en-AU" dirty="0"/>
                    </a:p>
                  </a:txBody>
                  <a:tcPr>
                    <a:solidFill>
                      <a:schemeClr val="tx2">
                        <a:lumMod val="20000"/>
                        <a:lumOff val="80000"/>
                      </a:schemeClr>
                    </a:solidFill>
                  </a:tcPr>
                </a:tc>
              </a:tr>
            </a:tbl>
          </a:graphicData>
        </a:graphic>
      </p:graphicFrame>
    </p:spTree>
    <p:extLst>
      <p:ext uri="{BB962C8B-B14F-4D97-AF65-F5344CB8AC3E}">
        <p14:creationId xmlns:p14="http://schemas.microsoft.com/office/powerpoint/2010/main" val="3969388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a:ln>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915816" y="1916832"/>
            <a:ext cx="7431"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0278" y="474856"/>
            <a:ext cx="7439175" cy="523220"/>
          </a:xfrm>
          <a:prstGeom prst="rect">
            <a:avLst/>
          </a:prstGeom>
          <a:noFill/>
        </p:spPr>
        <p:txBody>
          <a:bodyPr wrap="square" rtlCol="0">
            <a:spAutoFit/>
          </a:bodyPr>
          <a:lstStyle/>
          <a:p>
            <a:r>
              <a:rPr lang="en-AU" sz="2800" dirty="0" smtClean="0"/>
              <a:t>Title</a:t>
            </a:r>
            <a:r>
              <a:rPr lang="en-AU" sz="2800" dirty="0" smtClean="0"/>
              <a:t>: Dot Plots</a:t>
            </a:r>
            <a:endParaRPr lang="en-AU" sz="2800" dirty="0"/>
          </a:p>
        </p:txBody>
      </p:sp>
      <p:sp>
        <p:nvSpPr>
          <p:cNvPr id="11" name="TextBox 10"/>
          <p:cNvSpPr txBox="1"/>
          <p:nvPr/>
        </p:nvSpPr>
        <p:spPr>
          <a:xfrm>
            <a:off x="6251551" y="512677"/>
            <a:ext cx="2496913" cy="523220"/>
          </a:xfrm>
          <a:prstGeom prst="rect">
            <a:avLst/>
          </a:prstGeom>
          <a:noFill/>
        </p:spPr>
        <p:txBody>
          <a:bodyPr wrap="square" rtlCol="0">
            <a:spAutoFit/>
          </a:bodyPr>
          <a:lstStyle/>
          <a:p>
            <a:r>
              <a:rPr lang="en-AU" sz="2800" dirty="0" smtClean="0"/>
              <a:t>Date: </a:t>
            </a:r>
            <a:r>
              <a:rPr lang="en-AU" sz="2800" dirty="0" smtClean="0"/>
              <a:t>19/3/15</a:t>
            </a:r>
            <a:endParaRPr lang="en-AU" sz="2800" dirty="0"/>
          </a:p>
        </p:txBody>
      </p:sp>
      <p:sp>
        <p:nvSpPr>
          <p:cNvPr id="12" name="TextBox 11"/>
          <p:cNvSpPr txBox="1"/>
          <p:nvPr/>
        </p:nvSpPr>
        <p:spPr>
          <a:xfrm>
            <a:off x="0" y="1063436"/>
            <a:ext cx="8739936" cy="461665"/>
          </a:xfrm>
          <a:prstGeom prst="rect">
            <a:avLst/>
          </a:prstGeom>
          <a:noFill/>
        </p:spPr>
        <p:txBody>
          <a:bodyPr wrap="square" rtlCol="0">
            <a:spAutoFit/>
          </a:bodyPr>
          <a:lstStyle/>
          <a:p>
            <a:r>
              <a:rPr lang="en-AU" sz="2400" dirty="0" smtClean="0"/>
              <a:t>EQ </a:t>
            </a:r>
            <a:r>
              <a:rPr lang="en-AU" sz="2400" dirty="0" smtClean="0"/>
              <a:t>:</a:t>
            </a:r>
            <a:endParaRPr lang="en-AU" sz="2400" dirty="0"/>
          </a:p>
        </p:txBody>
      </p:sp>
      <p:cxnSp>
        <p:nvCxnSpPr>
          <p:cNvPr id="5" name="Straight Connector 4"/>
          <p:cNvCxnSpPr/>
          <p:nvPr/>
        </p:nvCxnSpPr>
        <p:spPr>
          <a:xfrm>
            <a:off x="6228184" y="0"/>
            <a:ext cx="0" cy="98072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715" y="1887246"/>
            <a:ext cx="2915816" cy="461665"/>
          </a:xfrm>
          <a:prstGeom prst="rect">
            <a:avLst/>
          </a:prstGeom>
          <a:noFill/>
        </p:spPr>
        <p:txBody>
          <a:bodyPr wrap="square" rtlCol="0">
            <a:spAutoFit/>
          </a:bodyPr>
          <a:lstStyle/>
          <a:p>
            <a:r>
              <a:rPr lang="en-AU" sz="2400" dirty="0" smtClean="0"/>
              <a:t>Question:</a:t>
            </a:r>
            <a:endParaRPr lang="en-AU" sz="2400" dirty="0"/>
          </a:p>
        </p:txBody>
      </p:sp>
      <p:sp>
        <p:nvSpPr>
          <p:cNvPr id="13" name="TextBox 12"/>
          <p:cNvSpPr txBox="1"/>
          <p:nvPr/>
        </p:nvSpPr>
        <p:spPr>
          <a:xfrm>
            <a:off x="2923247" y="1916832"/>
            <a:ext cx="6220752" cy="2646878"/>
          </a:xfrm>
          <a:prstGeom prst="rect">
            <a:avLst/>
          </a:prstGeom>
          <a:noFill/>
        </p:spPr>
        <p:txBody>
          <a:bodyPr wrap="square" rtlCol="0">
            <a:spAutoFit/>
          </a:bodyPr>
          <a:lstStyle/>
          <a:p>
            <a:r>
              <a:rPr lang="en-AU" sz="2400" dirty="0" smtClean="0"/>
              <a:t>Notes</a:t>
            </a:r>
            <a:r>
              <a:rPr lang="en-AU" sz="2400" dirty="0" smtClean="0"/>
              <a:t>:</a:t>
            </a:r>
          </a:p>
          <a:p>
            <a:endParaRPr lang="en-AU" sz="2400" dirty="0" smtClean="0"/>
          </a:p>
          <a:p>
            <a:endParaRPr lang="en-AU" sz="1400" dirty="0" smtClean="0"/>
          </a:p>
          <a:p>
            <a:endParaRPr lang="en-AU" sz="2000" dirty="0" smtClean="0"/>
          </a:p>
          <a:p>
            <a:pPr marL="457200" indent="-457200">
              <a:buAutoNum type="arabicParenR"/>
            </a:pPr>
            <a:endParaRPr lang="en-AU" sz="2000" dirty="0" smtClean="0"/>
          </a:p>
          <a:p>
            <a:pPr marL="457200" indent="-457200">
              <a:buAutoNum type="arabicParenR"/>
            </a:pPr>
            <a:endParaRPr lang="en-AU" sz="2000" dirty="0" smtClean="0"/>
          </a:p>
          <a:p>
            <a:endParaRPr lang="en-AU" sz="2000" dirty="0" smtClean="0"/>
          </a:p>
          <a:p>
            <a:endParaRPr lang="en-AU" sz="2400" dirty="0" smtClean="0"/>
          </a:p>
        </p:txBody>
      </p:sp>
      <p:sp>
        <p:nvSpPr>
          <p:cNvPr id="14" name="TextBox 13"/>
          <p:cNvSpPr txBox="1"/>
          <p:nvPr/>
        </p:nvSpPr>
        <p:spPr>
          <a:xfrm>
            <a:off x="5364088" y="37839"/>
            <a:ext cx="864096" cy="923330"/>
          </a:xfrm>
          <a:prstGeom prst="rect">
            <a:avLst/>
          </a:prstGeom>
          <a:noFill/>
        </p:spPr>
        <p:txBody>
          <a:bodyPr wrap="square" rtlCol="0">
            <a:spAutoFit/>
          </a:bodyPr>
          <a:lstStyle/>
          <a:p>
            <a:r>
              <a:rPr lang="en-AU" dirty="0" smtClean="0"/>
              <a:t>24</a:t>
            </a:r>
          </a:p>
          <a:p>
            <a:r>
              <a:rPr lang="en-AU" dirty="0" smtClean="0"/>
              <a:t>7</a:t>
            </a:r>
          </a:p>
          <a:p>
            <a:r>
              <a:rPr lang="en-AU" dirty="0" smtClean="0"/>
              <a:t>30</a:t>
            </a:r>
          </a:p>
        </p:txBody>
      </p:sp>
      <p:sp>
        <p:nvSpPr>
          <p:cNvPr id="7" name="Rectangle 6"/>
          <p:cNvSpPr/>
          <p:nvPr/>
        </p:nvSpPr>
        <p:spPr>
          <a:xfrm>
            <a:off x="8640452" y="6433342"/>
            <a:ext cx="395535"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p:cNvSpPr txBox="1"/>
          <p:nvPr/>
        </p:nvSpPr>
        <p:spPr>
          <a:xfrm>
            <a:off x="8378200" y="6378015"/>
            <a:ext cx="586289" cy="369332"/>
          </a:xfrm>
          <a:prstGeom prst="rect">
            <a:avLst/>
          </a:prstGeom>
          <a:noFill/>
        </p:spPr>
        <p:txBody>
          <a:bodyPr wrap="square" rtlCol="0">
            <a:spAutoFit/>
          </a:bodyPr>
          <a:lstStyle/>
          <a:p>
            <a:r>
              <a:rPr lang="en-AU" dirty="0" smtClean="0"/>
              <a:t>13</a:t>
            </a:r>
            <a:endParaRPr lang="en-AU" dirty="0"/>
          </a:p>
        </p:txBody>
      </p:sp>
      <p:grpSp>
        <p:nvGrpSpPr>
          <p:cNvPr id="16" name="Group 15"/>
          <p:cNvGrpSpPr/>
          <p:nvPr/>
        </p:nvGrpSpPr>
        <p:grpSpPr>
          <a:xfrm>
            <a:off x="3000036" y="2308564"/>
            <a:ext cx="5739900" cy="4103921"/>
            <a:chOff x="3000036" y="1991628"/>
            <a:chExt cx="6023316" cy="4420857"/>
          </a:xfrm>
        </p:grpSpPr>
        <p:sp>
          <p:nvSpPr>
            <p:cNvPr id="17" name="TextBox 16"/>
            <p:cNvSpPr txBox="1"/>
            <p:nvPr/>
          </p:nvSpPr>
          <p:spPr>
            <a:xfrm>
              <a:off x="3016587" y="1991628"/>
              <a:ext cx="5875894" cy="646331"/>
            </a:xfrm>
            <a:prstGeom prst="rect">
              <a:avLst/>
            </a:prstGeom>
            <a:noFill/>
          </p:spPr>
          <p:txBody>
            <a:bodyPr wrap="square" rtlCol="0">
              <a:spAutoFit/>
            </a:bodyPr>
            <a:lstStyle/>
            <a:p>
              <a:r>
                <a:rPr lang="en-AU" dirty="0" smtClean="0"/>
                <a:t>Dot plots are similar to frequency tables. They make it easier to see and interpret data.</a:t>
              </a:r>
              <a:endParaRPr lang="en-AU" b="1" u="sng" dirty="0"/>
            </a:p>
          </p:txBody>
        </p:sp>
        <p:pic>
          <p:nvPicPr>
            <p:cNvPr id="18" name="Picture 2" descr="http://mathbitsnotebook.com/Algebra1/StatisticsData/DotBrother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2689959"/>
              <a:ext cx="3600400" cy="193867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3016588" y="4797152"/>
              <a:ext cx="6006764" cy="646331"/>
            </a:xfrm>
            <a:prstGeom prst="rect">
              <a:avLst/>
            </a:prstGeom>
            <a:noFill/>
          </p:spPr>
          <p:txBody>
            <a:bodyPr wrap="square" rtlCol="0">
              <a:spAutoFit/>
            </a:bodyPr>
            <a:lstStyle/>
            <a:p>
              <a:r>
                <a:rPr lang="en-AU" dirty="0" smtClean="0"/>
                <a:t>Dots are stacked on top of each other in columns to represent the frequency (or count) of an occurrence.</a:t>
              </a:r>
              <a:endParaRPr lang="en-AU" dirty="0"/>
            </a:p>
          </p:txBody>
        </p:sp>
        <mc:AlternateContent xmlns:mc="http://schemas.openxmlformats.org/markup-compatibility/2006" xmlns:a14="http://schemas.microsoft.com/office/drawing/2010/main">
          <mc:Choice Requires="a14">
            <p:sp>
              <p:nvSpPr>
                <p:cNvPr id="20" name="TextBox 19"/>
                <p:cNvSpPr txBox="1"/>
                <p:nvPr/>
              </p:nvSpPr>
              <p:spPr>
                <a:xfrm>
                  <a:off x="3000036" y="5489155"/>
                  <a:ext cx="5832649" cy="923330"/>
                </a:xfrm>
                <a:prstGeom prst="rect">
                  <a:avLst/>
                </a:prstGeom>
                <a:noFill/>
              </p:spPr>
              <p:txBody>
                <a:bodyPr wrap="square" rtlCol="0">
                  <a:spAutoFit/>
                </a:bodyPr>
                <a:lstStyle/>
                <a:p>
                  <a:r>
                    <a:rPr lang="en-AU" dirty="0" smtClean="0"/>
                    <a:t>The </a:t>
                  </a:r>
                  <a14:m>
                    <m:oMath xmlns:m="http://schemas.openxmlformats.org/officeDocument/2006/math">
                      <m:r>
                        <a:rPr lang="en-AU" i="1" dirty="0" smtClean="0">
                          <a:latin typeface="Cambria Math" panose="02040503050406030204" pitchFamily="18" charset="0"/>
                        </a:rPr>
                        <m:t>𝑥</m:t>
                      </m:r>
                    </m:oMath>
                  </a14:m>
                  <a:r>
                    <a:rPr lang="en-AU" dirty="0" smtClean="0"/>
                    <a:t> axis may have categories or numbers. Numbers should be consecutive, regardless of whether there is any data for that number.</a:t>
                  </a:r>
                  <a:endParaRPr lang="en-AU" dirty="0"/>
                </a:p>
              </p:txBody>
            </p:sp>
          </mc:Choice>
          <mc:Fallback xmlns="">
            <p:sp>
              <p:nvSpPr>
                <p:cNvPr id="17" name="TextBox 16"/>
                <p:cNvSpPr txBox="1">
                  <a:spLocks noRot="1" noChangeAspect="1" noMove="1" noResize="1" noEditPoints="1" noAdjustHandles="1" noChangeArrowheads="1" noChangeShapeType="1" noTextEdit="1"/>
                </p:cNvSpPr>
                <p:nvPr/>
              </p:nvSpPr>
              <p:spPr>
                <a:xfrm>
                  <a:off x="3000036" y="5489155"/>
                  <a:ext cx="5832649" cy="923330"/>
                </a:xfrm>
                <a:prstGeom prst="rect">
                  <a:avLst/>
                </a:prstGeom>
                <a:blipFill rotWithShape="0">
                  <a:blip r:embed="rId4"/>
                  <a:stretch>
                    <a:fillRect l="-836" t="-3289" r="-1463" b="-9211"/>
                  </a:stretch>
                </a:blipFill>
              </p:spPr>
              <p:txBody>
                <a:bodyPr/>
                <a:lstStyle/>
                <a:p>
                  <a:r>
                    <a:rPr lang="en-AU">
                      <a:noFill/>
                    </a:rPr>
                    <a:t> </a:t>
                  </a:r>
                </a:p>
              </p:txBody>
            </p:sp>
          </mc:Fallback>
        </mc:AlternateContent>
      </p:grpSp>
    </p:spTree>
    <p:extLst>
      <p:ext uri="{BB962C8B-B14F-4D97-AF65-F5344CB8AC3E}">
        <p14:creationId xmlns:p14="http://schemas.microsoft.com/office/powerpoint/2010/main" val="1349303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6" name="Straight Connector 5"/>
          <p:cNvCxnSpPr/>
          <p:nvPr/>
        </p:nvCxnSpPr>
        <p:spPr>
          <a:xfrm>
            <a:off x="7431" y="26064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a:off x="2555776" y="260648"/>
            <a:ext cx="0" cy="6597352"/>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56427" y="260648"/>
            <a:ext cx="1666234" cy="461665"/>
          </a:xfrm>
          <a:prstGeom prst="rect">
            <a:avLst/>
          </a:prstGeom>
          <a:noFill/>
        </p:spPr>
        <p:txBody>
          <a:bodyPr wrap="square" rtlCol="0">
            <a:spAutoFit/>
          </a:bodyPr>
          <a:lstStyle/>
          <a:p>
            <a:r>
              <a:rPr lang="en-AU" sz="2400" dirty="0" smtClean="0"/>
              <a:t>Question:</a:t>
            </a:r>
            <a:endParaRPr lang="en-AU" sz="2400" dirty="0"/>
          </a:p>
        </p:txBody>
      </p:sp>
      <p:sp>
        <p:nvSpPr>
          <p:cNvPr id="15" name="Rectangle 14"/>
          <p:cNvSpPr/>
          <p:nvPr/>
        </p:nvSpPr>
        <p:spPr>
          <a:xfrm>
            <a:off x="8677934" y="6395373"/>
            <a:ext cx="404063"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8532440" y="6344512"/>
            <a:ext cx="549557" cy="369332"/>
          </a:xfrm>
          <a:prstGeom prst="rect">
            <a:avLst/>
          </a:prstGeom>
          <a:noFill/>
        </p:spPr>
        <p:txBody>
          <a:bodyPr wrap="square" rtlCol="0">
            <a:spAutoFit/>
          </a:bodyPr>
          <a:lstStyle/>
          <a:p>
            <a:r>
              <a:rPr lang="en-AU" dirty="0" smtClean="0"/>
              <a:t>13</a:t>
            </a:r>
            <a:endParaRPr lang="en-AU" dirty="0"/>
          </a:p>
        </p:txBody>
      </p:sp>
      <p:sp>
        <p:nvSpPr>
          <p:cNvPr id="3" name="TextBox 2"/>
          <p:cNvSpPr txBox="1"/>
          <p:nvPr/>
        </p:nvSpPr>
        <p:spPr>
          <a:xfrm>
            <a:off x="2604772" y="361049"/>
            <a:ext cx="6526221" cy="4585871"/>
          </a:xfrm>
          <a:prstGeom prst="rect">
            <a:avLst/>
          </a:prstGeom>
          <a:noFill/>
        </p:spPr>
        <p:txBody>
          <a:bodyPr wrap="square" rtlCol="0">
            <a:spAutoFit/>
          </a:bodyPr>
          <a:lstStyle/>
          <a:p>
            <a:r>
              <a:rPr lang="en-AU" sz="2400" dirty="0" smtClean="0"/>
              <a:t>Notes continued:</a:t>
            </a:r>
          </a:p>
          <a:p>
            <a:pPr fontAlgn="t"/>
            <a:r>
              <a:rPr lang="en-AU" sz="2400" dirty="0"/>
              <a:t/>
            </a:r>
            <a:br>
              <a:rPr lang="en-AU" sz="2400" dirty="0"/>
            </a:br>
            <a:r>
              <a:rPr lang="en-AU" sz="2000" b="1" dirty="0" smtClean="0">
                <a:solidFill>
                  <a:srgbClr val="0070C0"/>
                </a:solidFill>
              </a:rPr>
              <a:t>Pros </a:t>
            </a:r>
          </a:p>
          <a:p>
            <a:pPr marL="342900" indent="-342900" fontAlgn="t">
              <a:buFont typeface="Arial" panose="020B0604020202020204" pitchFamily="34" charset="0"/>
              <a:buChar char="•"/>
            </a:pPr>
            <a:r>
              <a:rPr lang="en-AU" sz="2000" dirty="0" smtClean="0"/>
              <a:t>Dot </a:t>
            </a:r>
            <a:r>
              <a:rPr lang="en-AU" sz="2000" dirty="0"/>
              <a:t>plots can be quickly prepared for small amounts of data. </a:t>
            </a:r>
            <a:r>
              <a:rPr lang="en-AU" sz="2000" dirty="0" smtClean="0"/>
              <a:t>No </a:t>
            </a:r>
            <a:r>
              <a:rPr lang="en-AU" sz="2000" dirty="0"/>
              <a:t>need for a frequency </a:t>
            </a:r>
            <a:r>
              <a:rPr lang="en-AU" sz="2000" dirty="0" smtClean="0"/>
              <a:t>axis.</a:t>
            </a:r>
          </a:p>
          <a:p>
            <a:pPr marL="342900" indent="-342900" fontAlgn="ctr">
              <a:buFont typeface="Arial" panose="020B0604020202020204" pitchFamily="34" charset="0"/>
              <a:buChar char="•"/>
            </a:pPr>
            <a:r>
              <a:rPr lang="en-AU" sz="2000" dirty="0" smtClean="0"/>
              <a:t>Offers </a:t>
            </a:r>
            <a:r>
              <a:rPr lang="en-AU" sz="2000" dirty="0"/>
              <a:t>a visual means of comparison. </a:t>
            </a:r>
            <a:endParaRPr lang="en-AU" sz="2000" dirty="0" smtClean="0"/>
          </a:p>
          <a:p>
            <a:pPr fontAlgn="ctr"/>
            <a:endParaRPr lang="en-AU" sz="2000" b="1" dirty="0" smtClean="0">
              <a:solidFill>
                <a:srgbClr val="0070C0"/>
              </a:solidFill>
            </a:endParaRPr>
          </a:p>
          <a:p>
            <a:pPr fontAlgn="ctr"/>
            <a:r>
              <a:rPr lang="en-AU" sz="2000" b="1" dirty="0" smtClean="0">
                <a:solidFill>
                  <a:srgbClr val="0070C0"/>
                </a:solidFill>
              </a:rPr>
              <a:t>Cons</a:t>
            </a:r>
            <a:endParaRPr lang="en-AU" sz="2000" b="1" dirty="0">
              <a:solidFill>
                <a:srgbClr val="0070C0"/>
              </a:solidFill>
            </a:endParaRPr>
          </a:p>
          <a:p>
            <a:pPr marL="342900" indent="-342900" fontAlgn="ctr">
              <a:buFont typeface="Arial" panose="020B0604020202020204" pitchFamily="34" charset="0"/>
              <a:buChar char="•"/>
            </a:pPr>
            <a:r>
              <a:rPr lang="en-AU" sz="2000" dirty="0"/>
              <a:t>Y</a:t>
            </a:r>
            <a:r>
              <a:rPr lang="en-AU" sz="2000" dirty="0" smtClean="0"/>
              <a:t>ou </a:t>
            </a:r>
            <a:r>
              <a:rPr lang="en-AU" sz="2000" dirty="0"/>
              <a:t>need to count to find the total number of data elements in each stack of </a:t>
            </a:r>
            <a:r>
              <a:rPr lang="en-AU" sz="2000" dirty="0" smtClean="0"/>
              <a:t>dots.</a:t>
            </a:r>
          </a:p>
          <a:p>
            <a:pPr marL="342900" indent="-342900" fontAlgn="ctr">
              <a:buFont typeface="Arial" panose="020B0604020202020204" pitchFamily="34" charset="0"/>
              <a:buChar char="•"/>
            </a:pPr>
            <a:r>
              <a:rPr lang="en-AU" sz="2000" dirty="0" smtClean="0"/>
              <a:t>They </a:t>
            </a:r>
            <a:r>
              <a:rPr lang="en-AU" sz="2000" dirty="0"/>
              <a:t>can be difficult to construct and interpret for data sets with lots of points.</a:t>
            </a:r>
          </a:p>
          <a:p>
            <a:endParaRPr lang="en-AU" sz="2400" dirty="0" smtClean="0"/>
          </a:p>
          <a:p>
            <a:endParaRPr lang="en-AU" sz="2000" dirty="0" smtClean="0"/>
          </a:p>
        </p:txBody>
      </p:sp>
      <p:sp>
        <p:nvSpPr>
          <p:cNvPr id="4" name="TextBox 3"/>
          <p:cNvSpPr txBox="1"/>
          <p:nvPr/>
        </p:nvSpPr>
        <p:spPr>
          <a:xfrm>
            <a:off x="7431" y="722313"/>
            <a:ext cx="2548345" cy="369332"/>
          </a:xfrm>
          <a:prstGeom prst="rect">
            <a:avLst/>
          </a:prstGeom>
          <a:noFill/>
        </p:spPr>
        <p:txBody>
          <a:bodyPr wrap="square" rtlCol="0">
            <a:spAutoFit/>
          </a:bodyPr>
          <a:lstStyle/>
          <a:p>
            <a:endParaRPr lang="en-AU" dirty="0"/>
          </a:p>
        </p:txBody>
      </p:sp>
    </p:spTree>
    <p:extLst>
      <p:ext uri="{BB962C8B-B14F-4D97-AF65-F5344CB8AC3E}">
        <p14:creationId xmlns:p14="http://schemas.microsoft.com/office/powerpoint/2010/main" val="13336846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Task</a:t>
            </a:r>
            <a:endParaRPr lang="en-AU" dirty="0"/>
          </a:p>
        </p:txBody>
      </p:sp>
      <p:sp>
        <p:nvSpPr>
          <p:cNvPr id="3" name="Content Placeholder 2"/>
          <p:cNvSpPr>
            <a:spLocks noGrp="1"/>
          </p:cNvSpPr>
          <p:nvPr>
            <p:ph idx="1"/>
          </p:nvPr>
        </p:nvSpPr>
        <p:spPr/>
        <p:txBody>
          <a:bodyPr>
            <a:normAutofit/>
          </a:bodyPr>
          <a:lstStyle/>
          <a:p>
            <a:pPr marL="0" indent="0">
              <a:buNone/>
            </a:pPr>
            <a:r>
              <a:rPr lang="en-AU" sz="1800" dirty="0" smtClean="0"/>
              <a:t>On Monday, students in Year 8 were asked how long it took them to eat their </a:t>
            </a:r>
            <a:r>
              <a:rPr lang="en-AU" sz="1800" smtClean="0"/>
              <a:t>breakfast that </a:t>
            </a:r>
            <a:r>
              <a:rPr lang="en-AU" sz="1800" dirty="0" smtClean="0"/>
              <a:t>morning. The results are shown below:</a:t>
            </a:r>
          </a:p>
          <a:p>
            <a:pPr marL="0" indent="0">
              <a:buNone/>
            </a:pPr>
            <a:endParaRPr lang="en-AU" sz="1800" dirty="0"/>
          </a:p>
          <a:p>
            <a:pPr marL="0" indent="0">
              <a:buNone/>
            </a:pPr>
            <a:r>
              <a:rPr lang="en-AU" sz="1800" dirty="0" smtClean="0"/>
              <a:t>No. of minutes: 	0     1     2     3     4     5     6     7     8      9     10     11     12</a:t>
            </a:r>
          </a:p>
          <a:p>
            <a:pPr marL="0" indent="0">
              <a:buNone/>
            </a:pPr>
            <a:r>
              <a:rPr lang="en-AU" sz="1800" dirty="0" smtClean="0"/>
              <a:t>No. of students:	6     2     3     5     2     5     0     0     2      3      7       4       1</a:t>
            </a:r>
          </a:p>
          <a:p>
            <a:pPr marL="0" indent="0">
              <a:buNone/>
            </a:pPr>
            <a:endParaRPr lang="en-AU" sz="1800" dirty="0"/>
          </a:p>
          <a:p>
            <a:pPr>
              <a:buAutoNum type="alphaLcPeriod"/>
            </a:pPr>
            <a:r>
              <a:rPr lang="en-AU" sz="1800" dirty="0" smtClean="0"/>
              <a:t>Construct a dot plot for this data.</a:t>
            </a:r>
          </a:p>
          <a:p>
            <a:pPr>
              <a:buAutoNum type="alphaLcPeriod"/>
            </a:pPr>
            <a:r>
              <a:rPr lang="en-AU" sz="1800" dirty="0" smtClean="0"/>
              <a:t>What is the mode for this set of data?</a:t>
            </a:r>
          </a:p>
          <a:p>
            <a:pPr>
              <a:buAutoNum type="alphaLcPeriod"/>
            </a:pPr>
            <a:r>
              <a:rPr lang="en-AU" sz="1800" dirty="0" smtClean="0"/>
              <a:t>What is the median?</a:t>
            </a:r>
          </a:p>
          <a:p>
            <a:pPr>
              <a:buAutoNum type="alphaLcPeriod"/>
            </a:pPr>
            <a:r>
              <a:rPr lang="en-AU" sz="1800" dirty="0" smtClean="0"/>
              <a:t>Can you find the mean?</a:t>
            </a:r>
          </a:p>
          <a:p>
            <a:pPr>
              <a:buAutoNum type="alphaLcPeriod"/>
            </a:pPr>
            <a:r>
              <a:rPr lang="en-AU" sz="1800" dirty="0" smtClean="0"/>
              <a:t>What can you say about the number of students who took 0 minutes to eat breakfast?</a:t>
            </a:r>
            <a:endParaRPr lang="en-AU" sz="1800" dirty="0"/>
          </a:p>
        </p:txBody>
      </p:sp>
    </p:spTree>
    <p:extLst>
      <p:ext uri="{BB962C8B-B14F-4D97-AF65-F5344CB8AC3E}">
        <p14:creationId xmlns:p14="http://schemas.microsoft.com/office/powerpoint/2010/main" val="1445592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6333</TotalTime>
  <Words>852</Words>
  <Application>Microsoft Office PowerPoint</Application>
  <PresentationFormat>On-screen Show (4:3)</PresentationFormat>
  <Paragraphs>344</Paragraphs>
  <Slides>22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 Math</vt:lpstr>
      <vt:lpstr>Office Theme</vt:lpstr>
      <vt:lpstr> Data Interactive Notebook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vt:lpstr>
      <vt:lpstr>Notes Review</vt:lpstr>
      <vt:lpstr>Homework</vt:lpstr>
    </vt:vector>
  </TitlesOfParts>
  <Company>The Department of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Bianca Riksman</cp:lastModifiedBy>
  <cp:revision>132</cp:revision>
  <dcterms:created xsi:type="dcterms:W3CDTF">2014-05-14T02:58:57Z</dcterms:created>
  <dcterms:modified xsi:type="dcterms:W3CDTF">2015-03-16T13:24:52Z</dcterms:modified>
</cp:coreProperties>
</file>
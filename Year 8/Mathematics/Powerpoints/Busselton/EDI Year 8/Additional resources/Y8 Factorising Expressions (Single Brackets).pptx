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68" r:id="rId17"/>
    <p:sldId id="273" r:id="rId18"/>
    <p:sldId id="274" r:id="rId19"/>
    <p:sldId id="276" r:id="rId20"/>
    <p:sldId id="275" r:id="rId21"/>
    <p:sldId id="27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B668AC-5E3C-4455-9D69-87FE84F87D28}" type="datetimeFigureOut">
              <a:rPr lang="en-GB" smtClean="0"/>
              <a:t>28/02/2014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F4D199-8258-41D5-A5FE-68D878FBF9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3613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smtClean="0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862493D4-4479-4FC9-8193-210490FBCDBD}" type="slidenum">
              <a:rPr lang="en-GB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484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smtClean="0"/>
          </a:p>
        </p:txBody>
      </p:sp>
      <p:sp>
        <p:nvSpPr>
          <p:cNvPr id="2355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98A5BD3D-83C8-481C-8029-41BDFE064E6E}" type="slidenum">
              <a:rPr lang="en-GB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2221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28/02/2014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0925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28/02/2014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80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28/02/2014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434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28/02/2014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1909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28/02/2014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964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28/02/2014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6535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28/02/2014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0898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28/02/2014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3971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28/02/2014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422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28/02/2014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9382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28/02/2014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1205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5AA11-BE27-420A-B8E1-11A14B5A3D8B}" type="datetimeFigureOut">
              <a:rPr lang="en-GB" smtClean="0"/>
              <a:t>28/02/2014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917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692696"/>
            <a:ext cx="7772400" cy="866527"/>
          </a:xfrm>
          <a:solidFill>
            <a:schemeClr val="tx2">
              <a:lumMod val="50000"/>
            </a:schemeClr>
          </a:solidFill>
        </p:spPr>
        <p:txBody>
          <a:bodyPr/>
          <a:lstStyle/>
          <a:p>
            <a:r>
              <a:rPr lang="en-GB" b="1" u="sng" spc="300" dirty="0" smtClean="0">
                <a:solidFill>
                  <a:schemeClr val="bg1"/>
                </a:solidFill>
              </a:rPr>
              <a:t>Factorising Expressions</a:t>
            </a:r>
            <a:endParaRPr lang="en-GB" b="1" u="sng" spc="300" dirty="0">
              <a:solidFill>
                <a:schemeClr val="bg1"/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type="subTitle" idx="1"/>
          </p:nvPr>
        </p:nvSpPr>
        <p:spPr>
          <a:xfrm>
            <a:off x="611560" y="1628800"/>
            <a:ext cx="7848872" cy="1080120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GB" sz="2800" b="1" u="sng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LO</a:t>
            </a:r>
            <a:r>
              <a:rPr lang="en-GB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: To be able to factorise expressions into single brackets (Level 5c)</a:t>
            </a:r>
            <a:endParaRPr lang="en-GB" sz="28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182086" y="148246"/>
            <a:ext cx="3780928" cy="47667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1" u="sng" dirty="0" smtClean="0">
                <a:solidFill>
                  <a:schemeClr val="bg1"/>
                </a:solidFill>
              </a:rPr>
              <a:t>Date:</a:t>
            </a:r>
            <a:r>
              <a:rPr lang="en-GB" sz="2000" b="1" dirty="0" smtClean="0">
                <a:solidFill>
                  <a:schemeClr val="bg1"/>
                </a:solidFill>
              </a:rPr>
              <a:t> </a:t>
            </a:r>
            <a:r>
              <a:rPr lang="en-GB" sz="2000" dirty="0" smtClean="0">
                <a:solidFill>
                  <a:schemeClr val="bg1"/>
                </a:solidFill>
              </a:rPr>
              <a:t>Tuesday 25</a:t>
            </a:r>
            <a:r>
              <a:rPr lang="en-GB" sz="2000" baseline="30000" dirty="0" smtClean="0">
                <a:solidFill>
                  <a:schemeClr val="bg1"/>
                </a:solidFill>
              </a:rPr>
              <a:t>th</a:t>
            </a:r>
            <a:r>
              <a:rPr lang="en-GB" sz="2000" dirty="0" smtClean="0">
                <a:solidFill>
                  <a:schemeClr val="bg1"/>
                </a:solidFill>
              </a:rPr>
              <a:t> February 2014 </a:t>
            </a:r>
            <a:endParaRPr lang="en-GB" sz="2000" b="1" u="sng" dirty="0">
              <a:solidFill>
                <a:schemeClr val="bg1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83568" y="2854749"/>
            <a:ext cx="1728192" cy="7116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800" b="1" u="sng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STARTER:</a:t>
            </a:r>
          </a:p>
          <a:p>
            <a:pPr algn="l"/>
            <a:endParaRPr lang="en-GB" sz="28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96" y="2861320"/>
            <a:ext cx="5327118" cy="3804840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/>
        </p:nvSpPr>
        <p:spPr>
          <a:xfrm>
            <a:off x="179512" y="3754899"/>
            <a:ext cx="3377922" cy="19063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solidFill>
                  <a:schemeClr val="tx1"/>
                </a:solidFill>
              </a:rPr>
              <a:t>Here is a checkout queue in Sainsbury's.</a:t>
            </a:r>
            <a:br>
              <a:rPr lang="en-US" sz="2800" dirty="0" smtClean="0">
                <a:solidFill>
                  <a:schemeClr val="tx1"/>
                </a:solidFill>
              </a:rPr>
            </a:br>
            <a:r>
              <a:rPr lang="en-US" sz="2800" dirty="0" smtClean="0">
                <a:solidFill>
                  <a:schemeClr val="tx1"/>
                </a:solidFill>
              </a:rPr>
              <a:t>Which line do you join? </a:t>
            </a:r>
            <a:r>
              <a:rPr lang="en-US" sz="2800" b="1" dirty="0" smtClean="0">
                <a:solidFill>
                  <a:schemeClr val="tx1"/>
                </a:solidFill>
              </a:rPr>
              <a:t>Why?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55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57776" y="3429002"/>
            <a:ext cx="2484835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5365" name="TextBox 7"/>
          <p:cNvSpPr txBox="1">
            <a:spLocks noChangeArrowheads="1"/>
          </p:cNvSpPr>
          <p:nvPr/>
        </p:nvSpPr>
        <p:spPr bwMode="auto">
          <a:xfrm>
            <a:off x="430908" y="333374"/>
            <a:ext cx="806549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600" dirty="0">
                <a:latin typeface="+mn-lt"/>
              </a:rPr>
              <a:t>What is the highest common factor of .....</a:t>
            </a:r>
          </a:p>
        </p:txBody>
      </p:sp>
      <p:sp>
        <p:nvSpPr>
          <p:cNvPr id="15366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10 and 15</a:t>
            </a:r>
          </a:p>
        </p:txBody>
      </p:sp>
      <p:sp>
        <p:nvSpPr>
          <p:cNvPr id="15367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15368" name="TextBox 10"/>
          <p:cNvSpPr txBox="1">
            <a:spLocks noChangeArrowheads="1"/>
          </p:cNvSpPr>
          <p:nvPr/>
        </p:nvSpPr>
        <p:spPr bwMode="auto">
          <a:xfrm>
            <a:off x="4463653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15369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15370" name="TextBox 12"/>
          <p:cNvSpPr txBox="1">
            <a:spLocks noChangeArrowheads="1"/>
          </p:cNvSpPr>
          <p:nvPr/>
        </p:nvSpPr>
        <p:spPr bwMode="auto">
          <a:xfrm>
            <a:off x="4356498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723101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12545" y="33575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3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09739" y="33575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4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9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16389" name="TextBox 7"/>
          <p:cNvSpPr txBox="1">
            <a:spLocks noChangeArrowheads="1"/>
          </p:cNvSpPr>
          <p:nvPr/>
        </p:nvSpPr>
        <p:spPr bwMode="auto">
          <a:xfrm>
            <a:off x="1233982" y="334241"/>
            <a:ext cx="71649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16390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9 and 12</a:t>
            </a:r>
          </a:p>
        </p:txBody>
      </p:sp>
      <p:sp>
        <p:nvSpPr>
          <p:cNvPr id="16391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16392" name="TextBox 10"/>
          <p:cNvSpPr txBox="1">
            <a:spLocks noChangeArrowheads="1"/>
          </p:cNvSpPr>
          <p:nvPr/>
        </p:nvSpPr>
        <p:spPr bwMode="auto">
          <a:xfrm>
            <a:off x="4463653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16393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16394" name="TextBox 12"/>
          <p:cNvSpPr txBox="1">
            <a:spLocks noChangeArrowheads="1"/>
          </p:cNvSpPr>
          <p:nvPr/>
        </p:nvSpPr>
        <p:spPr bwMode="auto">
          <a:xfrm>
            <a:off x="4356498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410701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7776" y="3429002"/>
            <a:ext cx="2484835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7413" name="TextBox 7"/>
          <p:cNvSpPr txBox="1">
            <a:spLocks noChangeArrowheads="1"/>
          </p:cNvSpPr>
          <p:nvPr/>
        </p:nvSpPr>
        <p:spPr bwMode="auto">
          <a:xfrm>
            <a:off x="899592" y="333374"/>
            <a:ext cx="753345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17414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15 and 20</a:t>
            </a:r>
          </a:p>
        </p:txBody>
      </p:sp>
      <p:sp>
        <p:nvSpPr>
          <p:cNvPr id="17415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17416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17417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17418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2606194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6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57776" y="3429002"/>
            <a:ext cx="2484835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9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3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2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18437" name="TextBox 7"/>
          <p:cNvSpPr txBox="1">
            <a:spLocks noChangeArrowheads="1"/>
          </p:cNvSpPr>
          <p:nvPr/>
        </p:nvSpPr>
        <p:spPr bwMode="auto">
          <a:xfrm>
            <a:off x="1325376" y="333375"/>
            <a:ext cx="72369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18438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18 and 30</a:t>
            </a:r>
          </a:p>
        </p:txBody>
      </p:sp>
      <p:sp>
        <p:nvSpPr>
          <p:cNvPr id="18439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18440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18441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18442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236500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7776" y="3429002"/>
            <a:ext cx="2484835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9461" name="TextBox 7"/>
          <p:cNvSpPr txBox="1">
            <a:spLocks noChangeArrowheads="1"/>
          </p:cNvSpPr>
          <p:nvPr/>
        </p:nvSpPr>
        <p:spPr bwMode="auto">
          <a:xfrm>
            <a:off x="980162" y="361084"/>
            <a:ext cx="72369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19462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16 and 24</a:t>
            </a:r>
          </a:p>
        </p:txBody>
      </p:sp>
      <p:sp>
        <p:nvSpPr>
          <p:cNvPr id="19463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19464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19465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19466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2471647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12545" y="33575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12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09739" y="33575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9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4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8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20485" name="TextBox 7"/>
          <p:cNvSpPr txBox="1">
            <a:spLocks noChangeArrowheads="1"/>
          </p:cNvSpPr>
          <p:nvPr/>
        </p:nvSpPr>
        <p:spPr bwMode="auto">
          <a:xfrm>
            <a:off x="1146626" y="333375"/>
            <a:ext cx="724179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20486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12 and 36</a:t>
            </a:r>
          </a:p>
        </p:txBody>
      </p:sp>
      <p:sp>
        <p:nvSpPr>
          <p:cNvPr id="20487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20488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20489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20490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3281459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12545" y="33575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10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09739" y="33575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6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5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4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22533" name="TextBox 7"/>
          <p:cNvSpPr txBox="1">
            <a:spLocks noChangeArrowheads="1"/>
          </p:cNvSpPr>
          <p:nvPr/>
        </p:nvSpPr>
        <p:spPr bwMode="auto">
          <a:xfrm>
            <a:off x="827584" y="333374"/>
            <a:ext cx="784887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22534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20 and 30</a:t>
            </a:r>
          </a:p>
        </p:txBody>
      </p:sp>
      <p:sp>
        <p:nvSpPr>
          <p:cNvPr id="22535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22536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22537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22538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324815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7776" y="3429002"/>
            <a:ext cx="2484835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4581" name="TextBox 7"/>
          <p:cNvSpPr txBox="1">
            <a:spLocks noChangeArrowheads="1"/>
          </p:cNvSpPr>
          <p:nvPr/>
        </p:nvSpPr>
        <p:spPr bwMode="auto">
          <a:xfrm>
            <a:off x="827584" y="333375"/>
            <a:ext cx="74168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24582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28 and 70</a:t>
            </a:r>
          </a:p>
        </p:txBody>
      </p:sp>
      <p:sp>
        <p:nvSpPr>
          <p:cNvPr id="24583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24584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24585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24586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48508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709739" y="5084763"/>
                <a:ext cx="2483644" cy="143986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i="1">
                          <a:solidFill>
                            <a:schemeClr val="tx1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651" y="5084763"/>
                <a:ext cx="3311525" cy="143986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057776" y="3429002"/>
                <a:ext cx="2484835" cy="143986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GB" sz="3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3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701" y="3429001"/>
                <a:ext cx="3313113" cy="143986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05" name="TextBox 7"/>
          <p:cNvSpPr txBox="1">
            <a:spLocks noChangeArrowheads="1"/>
          </p:cNvSpPr>
          <p:nvPr/>
        </p:nvSpPr>
        <p:spPr bwMode="auto">
          <a:xfrm>
            <a:off x="971600" y="333375"/>
            <a:ext cx="74168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6" name="TextBox 8"/>
              <p:cNvSpPr txBox="1">
                <a:spLocks noChangeArrowheads="1"/>
              </p:cNvSpPr>
              <p:nvPr/>
            </p:nvSpPr>
            <p:spPr bwMode="auto">
              <a:xfrm>
                <a:off x="2250282" y="1484314"/>
                <a:ext cx="4589860" cy="1225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GB" sz="7200" i="1">
                            <a:latin typeface="Cambria Math"/>
                          </a:rPr>
                        </m:ctrlPr>
                      </m:sSupPr>
                      <m:e>
                        <m:r>
                          <a:rPr lang="en-GB" sz="7200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72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7200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7200" i="1">
                        <a:latin typeface="Cambria Math"/>
                      </a:rPr>
                      <m:t>𝑥</m:t>
                    </m:r>
                  </m:oMath>
                </a14:m>
                <a:endParaRPr lang="en-GB" sz="7200" dirty="0">
                  <a:latin typeface="+mn-lt"/>
                </a:endParaRPr>
              </a:p>
            </p:txBody>
          </p:sp>
        </mc:Choice>
        <mc:Fallback xmlns="">
          <p:sp>
            <p:nvSpPr>
              <p:cNvPr id="25606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00376" y="1484314"/>
                <a:ext cx="6119813" cy="1225272"/>
              </a:xfrm>
              <a:prstGeom prst="rect">
                <a:avLst/>
              </a:prstGeom>
              <a:blipFill rotWithShape="0">
                <a:blip r:embed="rId4"/>
                <a:stretch>
                  <a:fillRect t="-16418" b="-4079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07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25608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25609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25610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1633357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19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57776" y="3429002"/>
            <a:ext cx="2484835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38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16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18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26629" name="TextBox 7"/>
          <p:cNvSpPr txBox="1">
            <a:spLocks noChangeArrowheads="1"/>
          </p:cNvSpPr>
          <p:nvPr/>
        </p:nvSpPr>
        <p:spPr bwMode="auto">
          <a:xfrm>
            <a:off x="1043608" y="333375"/>
            <a:ext cx="748883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26630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38 and 57</a:t>
            </a:r>
          </a:p>
        </p:txBody>
      </p:sp>
      <p:sp>
        <p:nvSpPr>
          <p:cNvPr id="26631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26632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26633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26634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836244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04664"/>
            <a:ext cx="8229600" cy="6192688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sz="2800" b="1" u="sng" dirty="0" smtClean="0">
                <a:latin typeface="+mj-lt"/>
              </a:rPr>
              <a:t>Factorising Expressions</a:t>
            </a:r>
          </a:p>
          <a:p>
            <a:pPr marL="0" indent="0" algn="ctr">
              <a:buNone/>
            </a:pPr>
            <a:r>
              <a:rPr lang="en-GB" sz="2800" dirty="0" smtClean="0">
                <a:latin typeface="+mj-lt"/>
              </a:rPr>
              <a:t>Factorising is the opposite of expansion.</a:t>
            </a:r>
          </a:p>
          <a:p>
            <a:pPr marL="0" indent="0" algn="ctr">
              <a:buNone/>
            </a:pPr>
            <a:r>
              <a:rPr lang="en-GB" sz="2800" dirty="0" smtClean="0">
                <a:latin typeface="+mj-lt"/>
              </a:rPr>
              <a:t>It puts an expression back into brackets.</a:t>
            </a:r>
          </a:p>
          <a:p>
            <a:pPr marL="0" indent="0">
              <a:buNone/>
            </a:pPr>
            <a:endParaRPr lang="en-GB" sz="2800" dirty="0">
              <a:latin typeface="+mj-lt"/>
            </a:endParaRPr>
          </a:p>
          <a:p>
            <a:pPr marL="0" indent="0">
              <a:buNone/>
            </a:pPr>
            <a:endParaRPr lang="en-GB" sz="2800" dirty="0" smtClean="0">
              <a:latin typeface="+mj-lt"/>
            </a:endParaRPr>
          </a:p>
          <a:p>
            <a:pPr marL="0" indent="0">
              <a:buNone/>
            </a:pPr>
            <a:endParaRPr lang="en-GB" sz="2800" dirty="0">
              <a:latin typeface="+mj-lt"/>
            </a:endParaRPr>
          </a:p>
          <a:p>
            <a:pPr marL="0" indent="0">
              <a:buNone/>
            </a:pPr>
            <a:endParaRPr lang="en-GB" sz="2800" dirty="0" smtClean="0">
              <a:latin typeface="+mj-lt"/>
            </a:endParaRPr>
          </a:p>
          <a:p>
            <a:pPr marL="0" indent="0">
              <a:buNone/>
            </a:pPr>
            <a:endParaRPr lang="en-GB" sz="2800" dirty="0" smtClean="0">
              <a:latin typeface="+mj-lt"/>
            </a:endParaRPr>
          </a:p>
          <a:p>
            <a:pPr marL="0" indent="0">
              <a:buNone/>
            </a:pPr>
            <a:endParaRPr lang="en-GB" sz="2800" dirty="0" smtClean="0">
              <a:latin typeface="+mj-lt"/>
            </a:endParaRPr>
          </a:p>
          <a:p>
            <a:pPr marL="0" indent="0">
              <a:buNone/>
            </a:pPr>
            <a:endParaRPr lang="en-GB" sz="2800" dirty="0">
              <a:latin typeface="+mj-lt"/>
            </a:endParaRPr>
          </a:p>
          <a:p>
            <a:pPr marL="0" indent="0" algn="ctr">
              <a:buNone/>
            </a:pPr>
            <a:endParaRPr lang="en-GB" sz="2800" dirty="0" smtClean="0">
              <a:latin typeface="+mj-lt"/>
            </a:endParaRPr>
          </a:p>
          <a:p>
            <a:pPr marL="0" indent="0" algn="ctr">
              <a:buNone/>
            </a:pPr>
            <a:r>
              <a:rPr lang="en-GB" sz="2800" dirty="0" smtClean="0">
                <a:latin typeface="+mj-lt"/>
              </a:rPr>
              <a:t>We have to find the Highest Common Factor </a:t>
            </a:r>
          </a:p>
          <a:p>
            <a:pPr marL="0" indent="0" algn="ctr">
              <a:buNone/>
            </a:pPr>
            <a:r>
              <a:rPr lang="en-GB" sz="2800" dirty="0" smtClean="0">
                <a:latin typeface="+mj-lt"/>
              </a:rPr>
              <a:t>of all terms to factorise.</a:t>
            </a:r>
            <a:endParaRPr lang="en-GB" sz="2800" dirty="0"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30571" y="2118047"/>
            <a:ext cx="15103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 smtClean="0"/>
              <a:t>Expanding</a:t>
            </a:r>
            <a:endParaRPr lang="en-GB" sz="2400" b="1" dirty="0"/>
          </a:p>
        </p:txBody>
      </p:sp>
      <p:sp>
        <p:nvSpPr>
          <p:cNvPr id="5" name="Curved Down Arrow 4"/>
          <p:cNvSpPr/>
          <p:nvPr/>
        </p:nvSpPr>
        <p:spPr>
          <a:xfrm>
            <a:off x="1259632" y="2708920"/>
            <a:ext cx="1965990" cy="50405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Curved Down Arrow 8"/>
          <p:cNvSpPr/>
          <p:nvPr/>
        </p:nvSpPr>
        <p:spPr>
          <a:xfrm rot="10800000">
            <a:off x="1166748" y="4026400"/>
            <a:ext cx="2037998" cy="50405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5490" y="3361564"/>
            <a:ext cx="1717137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GB" sz="2800" b="1" dirty="0" smtClean="0"/>
              <a:t>3(</a:t>
            </a:r>
            <a:r>
              <a:rPr lang="en-GB" sz="2800" b="1" dirty="0" smtClean="0">
                <a:solidFill>
                  <a:srgbClr val="FF0000"/>
                </a:solidFill>
              </a:rPr>
              <a:t>2t</a:t>
            </a:r>
            <a:r>
              <a:rPr lang="en-GB" sz="2800" b="1" dirty="0" smtClean="0"/>
              <a:t> + </a:t>
            </a:r>
            <a:r>
              <a:rPr lang="en-GB" sz="2800" b="1" dirty="0" smtClean="0">
                <a:solidFill>
                  <a:srgbClr val="00B050"/>
                </a:solidFill>
              </a:rPr>
              <a:t>3m</a:t>
            </a:r>
            <a:r>
              <a:rPr lang="en-GB" sz="2800" b="1" dirty="0" smtClean="0"/>
              <a:t>)</a:t>
            </a:r>
            <a:endParaRPr lang="en-GB" sz="2800" b="1" dirty="0"/>
          </a:p>
        </p:txBody>
      </p:sp>
      <p:sp>
        <p:nvSpPr>
          <p:cNvPr id="11" name="Rectangle 10"/>
          <p:cNvSpPr/>
          <p:nvPr/>
        </p:nvSpPr>
        <p:spPr>
          <a:xfrm>
            <a:off x="2573842" y="3357836"/>
            <a:ext cx="1309974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GB" sz="2800" b="1" dirty="0" smtClean="0"/>
              <a:t>6t + </a:t>
            </a:r>
            <a:r>
              <a:rPr lang="en-GB" sz="2800" b="1" dirty="0" smtClean="0">
                <a:solidFill>
                  <a:srgbClr val="00B050"/>
                </a:solidFill>
              </a:rPr>
              <a:t>9m</a:t>
            </a:r>
            <a:endParaRPr lang="en-GB" sz="2800" b="1" dirty="0"/>
          </a:p>
        </p:txBody>
      </p:sp>
      <p:sp>
        <p:nvSpPr>
          <p:cNvPr id="12" name="Rectangle 11"/>
          <p:cNvSpPr/>
          <p:nvPr/>
        </p:nvSpPr>
        <p:spPr>
          <a:xfrm>
            <a:off x="1405019" y="4653136"/>
            <a:ext cx="15614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 smtClean="0"/>
              <a:t>Factorising</a:t>
            </a:r>
            <a:endParaRPr lang="en-GB" sz="2400" b="1" dirty="0"/>
          </a:p>
        </p:txBody>
      </p:sp>
      <p:sp>
        <p:nvSpPr>
          <p:cNvPr id="13" name="Rectangle 12"/>
          <p:cNvSpPr/>
          <p:nvPr/>
        </p:nvSpPr>
        <p:spPr>
          <a:xfrm>
            <a:off x="5461648" y="2118046"/>
            <a:ext cx="15103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 smtClean="0"/>
              <a:t>Expanding</a:t>
            </a:r>
            <a:endParaRPr lang="en-GB" sz="2400" b="1" dirty="0"/>
          </a:p>
        </p:txBody>
      </p:sp>
      <p:sp>
        <p:nvSpPr>
          <p:cNvPr id="14" name="Curved Down Arrow 13"/>
          <p:cNvSpPr/>
          <p:nvPr/>
        </p:nvSpPr>
        <p:spPr>
          <a:xfrm>
            <a:off x="5290709" y="2708919"/>
            <a:ext cx="1965990" cy="50405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Curved Down Arrow 14"/>
          <p:cNvSpPr/>
          <p:nvPr/>
        </p:nvSpPr>
        <p:spPr>
          <a:xfrm rot="10800000">
            <a:off x="5197825" y="4026399"/>
            <a:ext cx="2037998" cy="50405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476587" y="3361563"/>
            <a:ext cx="1662635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GB" sz="2800" b="1" dirty="0" smtClean="0"/>
              <a:t>4(</a:t>
            </a:r>
            <a:r>
              <a:rPr lang="en-GB" sz="2800" b="1" dirty="0" smtClean="0">
                <a:solidFill>
                  <a:srgbClr val="FF0000"/>
                </a:solidFill>
              </a:rPr>
              <a:t>5</a:t>
            </a:r>
            <a:r>
              <a:rPr lang="en-GB" sz="2800" b="1" dirty="0">
                <a:solidFill>
                  <a:srgbClr val="FF0000"/>
                </a:solidFill>
              </a:rPr>
              <a:t>y</a:t>
            </a:r>
            <a:r>
              <a:rPr lang="en-GB" sz="2800" b="1" dirty="0" smtClean="0"/>
              <a:t> + </a:t>
            </a:r>
            <a:r>
              <a:rPr lang="en-GB" sz="2800" b="1" dirty="0" smtClean="0">
                <a:solidFill>
                  <a:srgbClr val="00B050"/>
                </a:solidFill>
              </a:rPr>
              <a:t>2p</a:t>
            </a:r>
            <a:r>
              <a:rPr lang="en-GB" sz="2800" b="1" dirty="0" smtClean="0"/>
              <a:t>)</a:t>
            </a:r>
            <a:endParaRPr lang="en-GB" sz="2800" b="1" dirty="0"/>
          </a:p>
        </p:txBody>
      </p:sp>
      <p:sp>
        <p:nvSpPr>
          <p:cNvPr id="17" name="Rectangle 16"/>
          <p:cNvSpPr/>
          <p:nvPr/>
        </p:nvSpPr>
        <p:spPr>
          <a:xfrm>
            <a:off x="6604919" y="3357835"/>
            <a:ext cx="1438214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GB" sz="2800" b="1" dirty="0" smtClean="0"/>
              <a:t>20y + </a:t>
            </a:r>
            <a:r>
              <a:rPr lang="en-GB" sz="2800" b="1" dirty="0" smtClean="0">
                <a:solidFill>
                  <a:srgbClr val="00B050"/>
                </a:solidFill>
              </a:rPr>
              <a:t>8</a:t>
            </a:r>
            <a:r>
              <a:rPr lang="en-GB" sz="2800" b="1" dirty="0">
                <a:solidFill>
                  <a:srgbClr val="00B050"/>
                </a:solidFill>
              </a:rPr>
              <a:t>p</a:t>
            </a:r>
            <a:endParaRPr lang="en-GB" sz="2800" b="1" dirty="0"/>
          </a:p>
        </p:txBody>
      </p:sp>
      <p:sp>
        <p:nvSpPr>
          <p:cNvPr id="18" name="Rectangle 17"/>
          <p:cNvSpPr/>
          <p:nvPr/>
        </p:nvSpPr>
        <p:spPr>
          <a:xfrm>
            <a:off x="5436096" y="4653135"/>
            <a:ext cx="15614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 smtClean="0"/>
              <a:t>Factorising</a:t>
            </a:r>
            <a:endParaRPr lang="en-GB" sz="2400" b="1" dirty="0"/>
          </a:p>
        </p:txBody>
      </p:sp>
      <p:sp>
        <p:nvSpPr>
          <p:cNvPr id="8" name="Rectangle 7"/>
          <p:cNvSpPr/>
          <p:nvPr/>
        </p:nvSpPr>
        <p:spPr>
          <a:xfrm>
            <a:off x="1755955" y="4026107"/>
            <a:ext cx="973343" cy="40011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HCF = 3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787032" y="3978452"/>
            <a:ext cx="599844" cy="40011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HCF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54690" y="3978452"/>
            <a:ext cx="500458" cy="40011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GB" sz="2000" b="1" dirty="0" smtClean="0">
                <a:solidFill>
                  <a:schemeClr val="bg1"/>
                </a:solidFill>
              </a:rPr>
              <a:t>= 4</a:t>
            </a:r>
          </a:p>
        </p:txBody>
      </p:sp>
    </p:spTree>
    <p:extLst>
      <p:ext uri="{BB962C8B-B14F-4D97-AF65-F5344CB8AC3E}">
        <p14:creationId xmlns:p14="http://schemas.microsoft.com/office/powerpoint/2010/main" val="2498435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9" grpId="0" animBg="1"/>
      <p:bldP spid="7" grpId="0" animBg="1"/>
      <p:bldP spid="11" grpId="0" animBg="1"/>
      <p:bldP spid="12" grpId="0"/>
      <p:bldP spid="13" grpId="0"/>
      <p:bldP spid="14" grpId="0" animBg="1"/>
      <p:bldP spid="15" grpId="0" animBg="1"/>
      <p:bldP spid="16" grpId="0" animBg="1"/>
      <p:bldP spid="17" grpId="0" animBg="1"/>
      <p:bldP spid="18" grpId="0"/>
      <p:bldP spid="8" grpId="0" animBg="1"/>
      <p:bldP spid="20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  <a:solidFill>
            <a:schemeClr val="tx2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GB" sz="4000" b="1" u="sng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Activity 1 – Factorise the following:</a:t>
            </a:r>
            <a:endParaRPr lang="en-GB" sz="4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96752"/>
            <a:ext cx="2746648" cy="4713387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u="sng" dirty="0" smtClean="0"/>
              <a:t>Level 5b</a:t>
            </a:r>
          </a:p>
          <a:p>
            <a:pPr marL="514350" indent="-514350">
              <a:buAutoNum type="arabicParenR"/>
            </a:pPr>
            <a:r>
              <a:rPr lang="en-GB" dirty="0" smtClean="0"/>
              <a:t>2x + 6</a:t>
            </a:r>
          </a:p>
          <a:p>
            <a:pPr marL="514350" indent="-514350">
              <a:buAutoNum type="arabicParenR"/>
            </a:pPr>
            <a:r>
              <a:rPr lang="en-GB" dirty="0" smtClean="0"/>
              <a:t>4m + 12</a:t>
            </a:r>
          </a:p>
          <a:p>
            <a:pPr marL="514350" indent="-514350">
              <a:buAutoNum type="arabicParenR"/>
            </a:pPr>
            <a:r>
              <a:rPr lang="en-GB" dirty="0" smtClean="0"/>
              <a:t>16y + 10n</a:t>
            </a:r>
          </a:p>
          <a:p>
            <a:pPr marL="514350" indent="-514350">
              <a:buAutoNum type="arabicParenR"/>
            </a:pPr>
            <a:r>
              <a:rPr lang="en-GB" dirty="0" smtClean="0"/>
              <a:t>20p – 15r</a:t>
            </a:r>
          </a:p>
          <a:p>
            <a:pPr marL="514350" indent="-514350">
              <a:buAutoNum type="arabicParenR"/>
            </a:pPr>
            <a:r>
              <a:rPr lang="en-GB" dirty="0" smtClean="0"/>
              <a:t>15b – 5t</a:t>
            </a:r>
          </a:p>
          <a:p>
            <a:pPr marL="514350" indent="-514350">
              <a:buAutoNum type="arabicParenR"/>
            </a:pPr>
            <a:r>
              <a:rPr lang="en-GB" dirty="0" smtClean="0"/>
              <a:t>9 + 3x</a:t>
            </a:r>
          </a:p>
          <a:p>
            <a:pPr marL="514350" indent="-514350">
              <a:buAutoNum type="arabicParenR"/>
            </a:pPr>
            <a:r>
              <a:rPr lang="en-GB" dirty="0" smtClean="0"/>
              <a:t>12x + 16e</a:t>
            </a:r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AutoNum type="arabicParenR"/>
            </a:pPr>
            <a:endParaRPr lang="en-GB" dirty="0" smtClean="0"/>
          </a:p>
          <a:p>
            <a:pPr marL="0" indent="0">
              <a:buNone/>
            </a:pPr>
            <a:endParaRPr lang="en-GB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3275856" y="1196752"/>
                <a:ext cx="2746648" cy="471338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b="1" u="sng" dirty="0" smtClean="0"/>
                  <a:t>Level 5a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 smtClean="0"/>
                  <a:t>12x + 16e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 smtClean="0"/>
                  <a:t>15b - 5t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 smtClean="0"/>
                  <a:t>9 + 3x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 smtClean="0"/>
                  <a:t>5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0" smtClean="0">
                        <a:latin typeface="Cambria Math"/>
                      </a:rPr>
                      <m:t>−10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/>
                      </a:rPr>
                      <m:t>y</m:t>
                    </m:r>
                  </m:oMath>
                </a14:m>
                <a:endParaRPr lang="en-GB" b="0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 smtClean="0"/>
                  <a:t>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dirty="0" smtClean="0"/>
                  <a:t> + a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dirty="0" smtClean="0"/>
                  <a:t> + 3d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 smtClean="0"/>
                  <a:t>4xy + 3x</a:t>
                </a:r>
                <a:endParaRPr lang="en-GB" b="0" dirty="0" smtClean="0"/>
              </a:p>
              <a:p>
                <a:pPr marL="0" indent="0">
                  <a:buNone/>
                </a:pPr>
                <a:endParaRPr lang="en-GB" b="0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b="0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dirty="0" smtClean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b="1" u="sng" dirty="0"/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1196752"/>
                <a:ext cx="2746648" cy="4713387"/>
              </a:xfrm>
              <a:prstGeom prst="rect">
                <a:avLst/>
              </a:prstGeom>
              <a:blipFill rotWithShape="1">
                <a:blip r:embed="rId2"/>
                <a:stretch>
                  <a:fillRect l="-5765" t="-1680" b="-34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6116394" y="1196752"/>
                <a:ext cx="2848094" cy="471338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b="1" u="sng" dirty="0" smtClean="0"/>
                  <a:t>Level 6c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 smtClean="0"/>
                  <a:t>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dirty="0" smtClean="0"/>
                  <a:t> + a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dirty="0" smtClean="0"/>
                  <a:t> + 3d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 smtClean="0"/>
                  <a:t>4xy + 3x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b="0" dirty="0" smtClean="0"/>
                  <a:t>8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dirty="0" smtClean="0"/>
                  <a:t> + 4x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 smtClean="0"/>
                  <a:t>21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dirty="0" smtClean="0"/>
                  <a:t> + 14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b="0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b="0" dirty="0" smtClean="0"/>
                  <a:t>15c - 10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𝑐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b="0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𝑝𝑟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 −</m:t>
                    </m:r>
                    <m:r>
                      <a:rPr lang="en-GB" b="0" i="1" smtClean="0">
                        <a:latin typeface="Cambria Math"/>
                      </a:rPr>
                      <m:t>𝑝𝑟</m:t>
                    </m:r>
                  </m:oMath>
                </a14:m>
                <a:endParaRPr lang="en-GB" b="0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b="0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b="0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dirty="0" smtClean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dirty="0" smtClean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b="1" u="sng" dirty="0"/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394" y="1196752"/>
                <a:ext cx="2848094" cy="4713387"/>
              </a:xfrm>
              <a:prstGeom prst="rect">
                <a:avLst/>
              </a:prstGeom>
              <a:blipFill rotWithShape="1">
                <a:blip r:embed="rId3"/>
                <a:stretch>
                  <a:fillRect l="-5556" t="-16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1345909" y="5915454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 smtClean="0"/>
              <a:t>9</a:t>
            </a:r>
            <a:endParaRPr lang="en-GB" sz="6000" dirty="0"/>
          </a:p>
        </p:txBody>
      </p:sp>
      <p:sp>
        <p:nvSpPr>
          <p:cNvPr id="7" name="Oval 6"/>
          <p:cNvSpPr/>
          <p:nvPr/>
        </p:nvSpPr>
        <p:spPr>
          <a:xfrm>
            <a:off x="516365" y="5824389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indent="-457200" algn="ctr"/>
            <a:r>
              <a:rPr lang="en-GB" sz="2800" dirty="0" smtClean="0"/>
              <a:t>10</a:t>
            </a:r>
            <a:endParaRPr lang="en-GB" sz="2800" dirty="0"/>
          </a:p>
        </p:txBody>
      </p:sp>
      <p:sp>
        <p:nvSpPr>
          <p:cNvPr id="8" name="Oval 7"/>
          <p:cNvSpPr/>
          <p:nvPr/>
        </p:nvSpPr>
        <p:spPr>
          <a:xfrm>
            <a:off x="2160351" y="5843627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/>
              <a:t>8</a:t>
            </a:r>
          </a:p>
        </p:txBody>
      </p:sp>
      <p:sp>
        <p:nvSpPr>
          <p:cNvPr id="9" name="Oval 8"/>
          <p:cNvSpPr/>
          <p:nvPr/>
        </p:nvSpPr>
        <p:spPr>
          <a:xfrm>
            <a:off x="2914983" y="6101315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 smtClean="0"/>
              <a:t>7</a:t>
            </a:r>
            <a:endParaRPr lang="en-GB" sz="6000" dirty="0"/>
          </a:p>
        </p:txBody>
      </p:sp>
      <p:sp>
        <p:nvSpPr>
          <p:cNvPr id="10" name="Oval 9"/>
          <p:cNvSpPr/>
          <p:nvPr/>
        </p:nvSpPr>
        <p:spPr>
          <a:xfrm>
            <a:off x="3744527" y="5910139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 smtClean="0"/>
              <a:t>6</a:t>
            </a:r>
            <a:endParaRPr lang="en-GB" sz="6000" dirty="0"/>
          </a:p>
        </p:txBody>
      </p:sp>
      <p:sp>
        <p:nvSpPr>
          <p:cNvPr id="11" name="Oval 10"/>
          <p:cNvSpPr/>
          <p:nvPr/>
        </p:nvSpPr>
        <p:spPr>
          <a:xfrm>
            <a:off x="5386711" y="6090179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 smtClean="0"/>
              <a:t>4</a:t>
            </a:r>
            <a:endParaRPr lang="en-GB" sz="6000" dirty="0"/>
          </a:p>
        </p:txBody>
      </p:sp>
      <p:sp>
        <p:nvSpPr>
          <p:cNvPr id="12" name="Oval 11"/>
          <p:cNvSpPr/>
          <p:nvPr/>
        </p:nvSpPr>
        <p:spPr>
          <a:xfrm>
            <a:off x="4612544" y="5898679"/>
            <a:ext cx="800078" cy="742433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 smtClean="0"/>
              <a:t>5</a:t>
            </a:r>
            <a:endParaRPr lang="en-GB" sz="6000" dirty="0"/>
          </a:p>
        </p:txBody>
      </p:sp>
      <p:sp>
        <p:nvSpPr>
          <p:cNvPr id="13" name="Oval 12"/>
          <p:cNvSpPr/>
          <p:nvPr/>
        </p:nvSpPr>
        <p:spPr>
          <a:xfrm>
            <a:off x="6216255" y="5898679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 smtClean="0"/>
              <a:t>3</a:t>
            </a:r>
            <a:endParaRPr lang="en-GB" sz="6000" dirty="0"/>
          </a:p>
        </p:txBody>
      </p:sp>
      <p:sp>
        <p:nvSpPr>
          <p:cNvPr id="14" name="Oval 13"/>
          <p:cNvSpPr/>
          <p:nvPr/>
        </p:nvSpPr>
        <p:spPr>
          <a:xfrm>
            <a:off x="7128959" y="5920769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 smtClean="0"/>
              <a:t>2</a:t>
            </a:r>
            <a:endParaRPr lang="en-GB" sz="6000" dirty="0"/>
          </a:p>
        </p:txBody>
      </p:sp>
      <p:sp>
        <p:nvSpPr>
          <p:cNvPr id="15" name="Oval 14"/>
          <p:cNvSpPr/>
          <p:nvPr/>
        </p:nvSpPr>
        <p:spPr>
          <a:xfrm>
            <a:off x="7932398" y="5910139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7056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9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9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9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9000"/>
                            </p:stCondLst>
                            <p:childTnLst>
                              <p:par>
                                <p:cTn id="12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9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9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9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" dur="59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9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9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9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9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" dur="59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7000"/>
                            </p:stCondLst>
                            <p:childTnLst>
                              <p:par>
                                <p:cTn id="26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9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9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9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9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36000"/>
                            </p:stCondLst>
                            <p:childTnLst>
                              <p:par>
                                <p:cTn id="33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9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9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9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9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95000"/>
                            </p:stCondLst>
                            <p:childTnLst>
                              <p:par>
                                <p:cTn id="40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9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9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9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9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4000"/>
                            </p:stCondLst>
                            <p:childTnLst>
                              <p:par>
                                <p:cTn id="47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9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9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9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" dur="59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13000"/>
                            </p:stCondLst>
                            <p:childTnLst>
                              <p:par>
                                <p:cTn id="54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9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9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9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59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72000"/>
                            </p:stCondLst>
                            <p:childTnLst>
                              <p:par>
                                <p:cTn id="61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9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9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9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9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31000"/>
                            </p:stCondLst>
                            <p:childTnLst>
                              <p:par>
                                <p:cTn id="68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9" dur="59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9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9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2" dur="59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8" y="72450"/>
            <a:ext cx="8064896" cy="678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3929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556792"/>
            <a:ext cx="8496944" cy="4083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  <a:solidFill>
            <a:schemeClr val="tx2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GB" sz="4000" b="1" u="sng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HW – Due Monday 3</a:t>
            </a:r>
            <a:r>
              <a:rPr lang="en-GB" sz="4000" b="1" u="sng" baseline="300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rd</a:t>
            </a:r>
            <a:r>
              <a:rPr lang="en-GB" sz="4000" b="1" u="sng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March </a:t>
            </a:r>
            <a:endParaRPr lang="en-GB" sz="4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573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7677"/>
            <a:ext cx="9144000" cy="6682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828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971600" y="764704"/>
            <a:ext cx="6275040" cy="634082"/>
          </a:xfrm>
          <a:solidFill>
            <a:schemeClr val="tx2">
              <a:lumMod val="50000"/>
            </a:schemeClr>
          </a:solidFill>
        </p:spPr>
        <p:txBody>
          <a:bodyPr>
            <a:noAutofit/>
          </a:bodyPr>
          <a:lstStyle/>
          <a:p>
            <a:r>
              <a:rPr lang="en-GB" sz="4000" b="1" u="sng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Factorising Expressions</a:t>
            </a:r>
            <a:endParaRPr lang="en-GB" sz="4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860033" y="168015"/>
            <a:ext cx="4261372" cy="452673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1" u="sng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Date</a:t>
            </a:r>
            <a:r>
              <a:rPr lang="en-GB" sz="2400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: Friday 28</a:t>
            </a:r>
            <a:r>
              <a:rPr lang="en-GB" sz="2400" b="1" baseline="300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th</a:t>
            </a:r>
            <a:r>
              <a:rPr lang="en-GB" sz="2400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February 2014</a:t>
            </a:r>
            <a:endParaRPr lang="en-GB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39552" y="1484784"/>
            <a:ext cx="7848872" cy="9361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800" b="1" u="sng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LO</a:t>
            </a:r>
            <a:r>
              <a:rPr lang="en-GB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: To be able to factorise expressions with numbers and letters into single brackets (Level 5a)</a:t>
            </a:r>
            <a:endParaRPr lang="en-GB" sz="28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213" y="3501008"/>
            <a:ext cx="7253550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837213" y="2577837"/>
            <a:ext cx="7253551" cy="9231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800" b="1" u="sng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STARTER</a:t>
            </a:r>
            <a:r>
              <a:rPr lang="en-GB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: Match the expansion to the factorised form (write down both in your books)…</a:t>
            </a:r>
            <a:endParaRPr lang="en-GB" sz="2800" b="1" dirty="0" smtClean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algn="l"/>
            <a:endParaRPr lang="en-GB" sz="28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55493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43450"/>
            <a:ext cx="7253550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89" y="3429000"/>
            <a:ext cx="7264281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3756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82" y="541991"/>
            <a:ext cx="9153182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95536" y="2882"/>
            <a:ext cx="4824536" cy="539109"/>
          </a:xfrm>
          <a:solidFill>
            <a:schemeClr val="tx2">
              <a:lumMod val="50000"/>
            </a:schemeClr>
          </a:solidFill>
        </p:spPr>
        <p:txBody>
          <a:bodyPr>
            <a:noAutofit/>
          </a:bodyPr>
          <a:lstStyle/>
          <a:p>
            <a:r>
              <a:rPr lang="en-GB" sz="4000" b="1" u="sng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Activity 1</a:t>
            </a:r>
            <a:endParaRPr lang="en-GB" sz="4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82" y="5157192"/>
            <a:ext cx="9090897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79512" y="4862471"/>
            <a:ext cx="1656184" cy="30141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1" u="sng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Extension:</a:t>
            </a:r>
            <a:endParaRPr lang="en-GB" sz="2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532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67544" y="23962"/>
            <a:ext cx="4824536" cy="634082"/>
          </a:xfrm>
          <a:solidFill>
            <a:schemeClr val="tx2">
              <a:lumMod val="50000"/>
            </a:schemeClr>
          </a:solidFill>
        </p:spPr>
        <p:txBody>
          <a:bodyPr>
            <a:noAutofit/>
          </a:bodyPr>
          <a:lstStyle/>
          <a:p>
            <a:r>
              <a:rPr lang="en-GB" sz="4000" b="1" u="sng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Answers to Activity 1</a:t>
            </a:r>
            <a:endParaRPr lang="en-GB" sz="4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044"/>
            <a:ext cx="9144000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2500"/>
            <a:ext cx="9144000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6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3886189" cy="634082"/>
          </a:xfrm>
          <a:solidFill>
            <a:schemeClr val="tx2">
              <a:lumMod val="50000"/>
            </a:schemeClr>
          </a:solidFill>
        </p:spPr>
        <p:txBody>
          <a:bodyPr>
            <a:noAutofit/>
          </a:bodyPr>
          <a:lstStyle/>
          <a:p>
            <a:r>
              <a:rPr lang="en-GB" sz="4000" b="1" u="sng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Plenary</a:t>
            </a:r>
            <a:endParaRPr lang="en-GB" sz="4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08" y="1124744"/>
            <a:ext cx="8607650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1" y="3573016"/>
            <a:ext cx="8692124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4905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520</Words>
  <Application>Microsoft Office PowerPoint</Application>
  <PresentationFormat>On-screen Show (4:3)</PresentationFormat>
  <Paragraphs>184</Paragraphs>
  <Slides>21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Factorising Expressions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 1 – Factorise the following:</vt:lpstr>
      <vt:lpstr>PowerPoint Presentation</vt:lpstr>
      <vt:lpstr>HW – Due Monday 3rd March </vt:lpstr>
      <vt:lpstr>PowerPoint Presentation</vt:lpstr>
      <vt:lpstr>Factorising Expressions</vt:lpstr>
      <vt:lpstr>PowerPoint Presentation</vt:lpstr>
      <vt:lpstr>Activity 1</vt:lpstr>
      <vt:lpstr>Answers to Activity 1</vt:lpstr>
      <vt:lpstr>Plenary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Goldspink</dc:creator>
  <cp:lastModifiedBy>Ryan Goldspink</cp:lastModifiedBy>
  <cp:revision>9</cp:revision>
  <dcterms:created xsi:type="dcterms:W3CDTF">2014-02-24T16:34:55Z</dcterms:created>
  <dcterms:modified xsi:type="dcterms:W3CDTF">2014-02-28T11:12:27Z</dcterms:modified>
</cp:coreProperties>
</file>
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66" r:id="rId4"/>
    <p:sldId id="259" r:id="rId5"/>
    <p:sldId id="260" r:id="rId6"/>
    <p:sldId id="261" r:id="rId7"/>
    <p:sldId id="264" r:id="rId8"/>
    <p:sldId id="267" r:id="rId9"/>
    <p:sldId id="270" r:id="rId10"/>
    <p:sldId id="273" r:id="rId11"/>
    <p:sldId id="269" r:id="rId12"/>
    <p:sldId id="265" r:id="rId13"/>
    <p:sldId id="275" r:id="rId14"/>
    <p:sldId id="271" r:id="rId15"/>
    <p:sldId id="272" r:id="rId16"/>
    <p:sldId id="274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CF5B8E-161D-4EAB-B776-0F553E71CE90}" type="datetimeFigureOut">
              <a:rPr lang="en-GB" smtClean="0"/>
              <a:t>28/07/2021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EC0D7-7FE8-4F2C-9B50-BFF627F03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48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Ask why the features not sufficient</a:t>
            </a:r>
            <a:r>
              <a:rPr lang="en-GB" baseline="0" dirty="0"/>
              <a:t> for congruence are not sufficient.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318A44-AEFD-4C30-BB4F-F223FB2AE5D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1522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E52BA-C731-4CB0-8530-16F4372DE6A3}" type="datetimeFigureOut">
              <a:rPr lang="en-GB" smtClean="0"/>
              <a:t>28/07/2021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3CFA8-3BFB-45AC-8007-2ED47EFD92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712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E52BA-C731-4CB0-8530-16F4372DE6A3}" type="datetimeFigureOut">
              <a:rPr lang="en-GB" smtClean="0"/>
              <a:t>28/07/2021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3CFA8-3BFB-45AC-8007-2ED47EFD92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8751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E52BA-C731-4CB0-8530-16F4372DE6A3}" type="datetimeFigureOut">
              <a:rPr lang="en-GB" smtClean="0"/>
              <a:t>28/07/2021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3CFA8-3BFB-45AC-8007-2ED47EFD92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471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E52BA-C731-4CB0-8530-16F4372DE6A3}" type="datetimeFigureOut">
              <a:rPr lang="en-GB" smtClean="0"/>
              <a:t>28/07/2021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3CFA8-3BFB-45AC-8007-2ED47EFD92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712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E52BA-C731-4CB0-8530-16F4372DE6A3}" type="datetimeFigureOut">
              <a:rPr lang="en-GB" smtClean="0"/>
              <a:t>28/07/2021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3CFA8-3BFB-45AC-8007-2ED47EFD92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679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E52BA-C731-4CB0-8530-16F4372DE6A3}" type="datetimeFigureOut">
              <a:rPr lang="en-GB" smtClean="0"/>
              <a:t>28/07/2021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3CFA8-3BFB-45AC-8007-2ED47EFD92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6393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E52BA-C731-4CB0-8530-16F4372DE6A3}" type="datetimeFigureOut">
              <a:rPr lang="en-GB" smtClean="0"/>
              <a:t>28/07/2021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3CFA8-3BFB-45AC-8007-2ED47EFD92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1040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E52BA-C731-4CB0-8530-16F4372DE6A3}" type="datetimeFigureOut">
              <a:rPr lang="en-GB" smtClean="0"/>
              <a:t>28/07/2021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3CFA8-3BFB-45AC-8007-2ED47EFD92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651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E52BA-C731-4CB0-8530-16F4372DE6A3}" type="datetimeFigureOut">
              <a:rPr lang="en-GB" smtClean="0"/>
              <a:t>28/07/2021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3CFA8-3BFB-45AC-8007-2ED47EFD92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067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E52BA-C731-4CB0-8530-16F4372DE6A3}" type="datetimeFigureOut">
              <a:rPr lang="en-GB" smtClean="0"/>
              <a:t>28/07/2021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3CFA8-3BFB-45AC-8007-2ED47EFD92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7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E52BA-C731-4CB0-8530-16F4372DE6A3}" type="datetimeFigureOut">
              <a:rPr lang="en-GB" smtClean="0"/>
              <a:t>28/07/2021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3CFA8-3BFB-45AC-8007-2ED47EFD92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3960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E52BA-C731-4CB0-8530-16F4372DE6A3}" type="datetimeFigureOut">
              <a:rPr lang="en-GB" smtClean="0"/>
              <a:t>28/07/2021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3CFA8-3BFB-45AC-8007-2ED47EFD92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8253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92D050"/>
                </a:solidFill>
              </a:rPr>
              <a:t>GCSE: </a:t>
            </a:r>
            <a:r>
              <a:rPr lang="en-GB" dirty="0"/>
              <a:t>Congruent Triangles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9612" y="3156384"/>
            <a:ext cx="6984776" cy="1417712"/>
          </a:xfrm>
        </p:spPr>
        <p:txBody>
          <a:bodyPr>
            <a:normAutofit/>
          </a:bodyPr>
          <a:lstStyle/>
          <a:p>
            <a:r>
              <a:rPr lang="en-GB" sz="2800" dirty="0"/>
              <a:t>Dr J Frost (jfrost@tiffin.kingston.sch.uk)</a:t>
            </a:r>
          </a:p>
          <a:p>
            <a:r>
              <a:rPr lang="en-GB" sz="2800" b="1" dirty="0"/>
              <a:t>www.drfrostmaths.com</a:t>
            </a:r>
            <a:r>
              <a:rPr lang="en-GB" sz="2800" dirty="0"/>
              <a:t>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E:\TiffinSchoolLogoSmall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12" y="111910"/>
            <a:ext cx="1008112" cy="101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7504" y="6461720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Last modified: 31</a:t>
            </a:r>
            <a:r>
              <a:rPr lang="en-GB" baseline="30000" dirty="0"/>
              <a:t>st</a:t>
            </a:r>
            <a:r>
              <a:rPr lang="en-GB" dirty="0"/>
              <a:t> August 2015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20072" y="6138554"/>
            <a:ext cx="3672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Associated Resources: GCSEQuestions-Congruence.doc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8857" y="4676268"/>
            <a:ext cx="530741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GCSE Revision Pack Refs: 169, 170</a:t>
            </a:r>
          </a:p>
          <a:p>
            <a:r>
              <a:rPr lang="en-GB" sz="2000" dirty="0"/>
              <a:t>“Understand and use SSS, SAS, ASA and RHS conditions to prove the congruence of triangles using formal arguments.”</a:t>
            </a:r>
          </a:p>
        </p:txBody>
      </p:sp>
    </p:spTree>
    <p:extLst>
      <p:ext uri="{BB962C8B-B14F-4D97-AF65-F5344CB8AC3E}">
        <p14:creationId xmlns:p14="http://schemas.microsoft.com/office/powerpoint/2010/main" val="801815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5076056" y="692696"/>
            <a:ext cx="3888432" cy="381642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323528" y="692696"/>
            <a:ext cx="4392488" cy="381642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What is congruence?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Right Triangle 4"/>
          <p:cNvSpPr/>
          <p:nvPr/>
        </p:nvSpPr>
        <p:spPr>
          <a:xfrm>
            <a:off x="755576" y="1916832"/>
            <a:ext cx="1368152" cy="216024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ight Triangle 5"/>
          <p:cNvSpPr/>
          <p:nvPr/>
        </p:nvSpPr>
        <p:spPr>
          <a:xfrm>
            <a:off x="2411760" y="908720"/>
            <a:ext cx="1872208" cy="3168352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ight Triangle 6"/>
          <p:cNvSpPr/>
          <p:nvPr/>
        </p:nvSpPr>
        <p:spPr>
          <a:xfrm>
            <a:off x="5436096" y="1412776"/>
            <a:ext cx="1368152" cy="216024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ight Triangle 7"/>
          <p:cNvSpPr/>
          <p:nvPr/>
        </p:nvSpPr>
        <p:spPr>
          <a:xfrm rot="5400000">
            <a:off x="6768244" y="872716"/>
            <a:ext cx="1368152" cy="216024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ight Triangle 8"/>
          <p:cNvSpPr/>
          <p:nvPr/>
        </p:nvSpPr>
        <p:spPr>
          <a:xfrm rot="10800000">
            <a:off x="1331640" y="1484784"/>
            <a:ext cx="576064" cy="1152128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323528" y="4725144"/>
            <a:ext cx="4392488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These triangles are </a:t>
            </a:r>
            <a:r>
              <a:rPr lang="en-GB" sz="2400" b="1" dirty="0"/>
              <a:t>similar</a:t>
            </a:r>
            <a:r>
              <a:rPr lang="en-GB" sz="2400" dirty="0"/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6056" y="4725144"/>
            <a:ext cx="3960440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These triangles are </a:t>
            </a:r>
            <a:r>
              <a:rPr lang="en-GB" sz="2400" b="1" dirty="0"/>
              <a:t>congruent</a:t>
            </a:r>
            <a:r>
              <a:rPr lang="en-GB" sz="2400" dirty="0"/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528" y="5301208"/>
            <a:ext cx="439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They are the same </a:t>
            </a:r>
            <a:r>
              <a:rPr lang="en-GB" b="1" dirty="0"/>
              <a:t>shape</a:t>
            </a:r>
            <a:r>
              <a:rPr lang="en-GB" dirty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4048" y="5301208"/>
            <a:ext cx="4032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They are the same </a:t>
            </a:r>
            <a:r>
              <a:rPr lang="en-GB" b="1" dirty="0"/>
              <a:t>shape and size</a:t>
            </a:r>
            <a:r>
              <a:rPr lang="en-GB" dirty="0"/>
              <a:t>.</a:t>
            </a:r>
          </a:p>
          <a:p>
            <a:r>
              <a:rPr lang="en-GB" dirty="0"/>
              <a:t>(Only rotation and flips allowed)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71800" y="4797152"/>
            <a:ext cx="1872208" cy="36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79360" y="4797152"/>
            <a:ext cx="1385128" cy="36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73963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98635" y="4792092"/>
            <a:ext cx="1695356" cy="10157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Starter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6" name="Straight Connector 5"/>
          <p:cNvCxnSpPr/>
          <p:nvPr/>
        </p:nvCxnSpPr>
        <p:spPr>
          <a:xfrm flipV="1">
            <a:off x="179512" y="808137"/>
            <a:ext cx="2664296" cy="720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2267744" y="808137"/>
            <a:ext cx="576064" cy="1800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79512" y="1528217"/>
            <a:ext cx="2088232" cy="10801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452886" y="1714500"/>
            <a:ext cx="238125" cy="571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1176536" y="1962150"/>
            <a:ext cx="123825" cy="1905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1238448" y="1981200"/>
            <a:ext cx="123825" cy="1905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243212" y="1155477"/>
            <a:ext cx="53974" cy="1875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308299" y="1131553"/>
            <a:ext cx="53974" cy="1875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381323" y="1113979"/>
            <a:ext cx="53974" cy="1875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3203848" y="871550"/>
            <a:ext cx="2664296" cy="720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5292080" y="871550"/>
            <a:ext cx="576064" cy="1800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203848" y="1591630"/>
            <a:ext cx="2088232" cy="10801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477222" y="1777913"/>
            <a:ext cx="238125" cy="571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4200872" y="2025563"/>
            <a:ext cx="123825" cy="1905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>
            <a:off x="4262784" y="2044613"/>
            <a:ext cx="123825" cy="1905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4267548" y="1218890"/>
            <a:ext cx="53974" cy="1875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4332635" y="1194966"/>
            <a:ext cx="53974" cy="1875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405659" y="1177392"/>
            <a:ext cx="53974" cy="1875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012160" y="769513"/>
            <a:ext cx="30243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Suppose two triangles have the side lengths. Do the triangles have to be congruent?</a:t>
            </a:r>
          </a:p>
          <a:p>
            <a:r>
              <a:rPr lang="en-GB" sz="1600" b="1" dirty="0"/>
              <a:t>Yes, because the all the angles are determined by the sides.</a:t>
            </a:r>
          </a:p>
          <a:p>
            <a:endParaRPr lang="en-GB" sz="1600" dirty="0"/>
          </a:p>
          <a:p>
            <a:r>
              <a:rPr lang="en-GB" sz="1600" dirty="0"/>
              <a:t>Would the same be true if two quadrilaterals had the same lengths?</a:t>
            </a:r>
          </a:p>
          <a:p>
            <a:r>
              <a:rPr lang="en-GB" sz="1600" b="1" dirty="0"/>
              <a:t>No. Square and rhombus have same side lengths but are different shapes.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74938" y="1595822"/>
            <a:ext cx="2581275" cy="537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4464" y="3018470"/>
            <a:ext cx="2581275" cy="7200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5536" y="3861048"/>
            <a:ext cx="8136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pairs, determine whether comparing the following pieces of information would be sufficient to show the triangles are congruent.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179045" y="4821835"/>
            <a:ext cx="1368152" cy="597386"/>
            <a:chOff x="895450" y="4797152"/>
            <a:chExt cx="1368152" cy="597386"/>
          </a:xfrm>
        </p:grpSpPr>
        <p:cxnSp>
          <p:nvCxnSpPr>
            <p:cNvPr id="38" name="Straight Connector 37"/>
            <p:cNvCxnSpPr/>
            <p:nvPr/>
          </p:nvCxnSpPr>
          <p:spPr>
            <a:xfrm flipV="1">
              <a:off x="895450" y="4797152"/>
              <a:ext cx="936104" cy="5760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 flipV="1">
              <a:off x="1831554" y="4797152"/>
              <a:ext cx="432048" cy="5040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H="1">
              <a:off x="895450" y="5301208"/>
              <a:ext cx="1368152" cy="72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 flipV="1">
              <a:off x="1390442" y="4964008"/>
              <a:ext cx="81280" cy="1371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 flipV="1">
              <a:off x="1488232" y="5284048"/>
              <a:ext cx="5715" cy="11049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 flipV="1">
              <a:off x="1528282" y="5282158"/>
              <a:ext cx="5715" cy="11049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V="1">
              <a:off x="1981286" y="4983058"/>
              <a:ext cx="78446" cy="686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V="1">
              <a:off x="2005668" y="5009728"/>
              <a:ext cx="80734" cy="682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V="1">
              <a:off x="2026623" y="5034493"/>
              <a:ext cx="86449" cy="71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Box 47"/>
          <p:cNvSpPr txBox="1"/>
          <p:nvPr/>
        </p:nvSpPr>
        <p:spPr>
          <a:xfrm>
            <a:off x="71033" y="5455153"/>
            <a:ext cx="1789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 sides the same.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2358" y="5866352"/>
            <a:ext cx="1225674" cy="3077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ym typeface="Wingdings"/>
              </a:rPr>
              <a:t></a:t>
            </a:r>
            <a:r>
              <a:rPr lang="en-GB" sz="1400" dirty="0"/>
              <a:t>Congruent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9092" y="4821835"/>
            <a:ext cx="1695356" cy="10157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TextBox 61"/>
          <p:cNvSpPr txBox="1"/>
          <p:nvPr/>
        </p:nvSpPr>
        <p:spPr>
          <a:xfrm>
            <a:off x="1921490" y="5389646"/>
            <a:ext cx="1789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Two sides the same and angle between them.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92815" y="5896095"/>
            <a:ext cx="1225674" cy="3077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ym typeface="Wingdings"/>
              </a:rPr>
              <a:t></a:t>
            </a:r>
            <a:r>
              <a:rPr lang="en-GB" sz="1400" dirty="0"/>
              <a:t>Congruent</a:t>
            </a:r>
          </a:p>
        </p:txBody>
      </p:sp>
      <p:grpSp>
        <p:nvGrpSpPr>
          <p:cNvPr id="71" name="Group 70"/>
          <p:cNvGrpSpPr/>
          <p:nvPr/>
        </p:nvGrpSpPr>
        <p:grpSpPr>
          <a:xfrm rot="11678330">
            <a:off x="2100055" y="4878952"/>
            <a:ext cx="1368152" cy="605036"/>
            <a:chOff x="2915816" y="4293096"/>
            <a:chExt cx="1368152" cy="605036"/>
          </a:xfrm>
        </p:grpSpPr>
        <p:cxnSp>
          <p:nvCxnSpPr>
            <p:cNvPr id="64" name="Straight Connector 63"/>
            <p:cNvCxnSpPr/>
            <p:nvPr/>
          </p:nvCxnSpPr>
          <p:spPr>
            <a:xfrm flipV="1">
              <a:off x="2915816" y="4293096"/>
              <a:ext cx="936104" cy="5760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flipH="1" flipV="1">
              <a:off x="3851920" y="4293096"/>
              <a:ext cx="432048" cy="5040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flipH="1">
              <a:off x="2915816" y="4797152"/>
              <a:ext cx="1368152" cy="72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Freeform 66"/>
            <p:cNvSpPr/>
            <p:nvPr/>
          </p:nvSpPr>
          <p:spPr>
            <a:xfrm>
              <a:off x="3140120" y="4734272"/>
              <a:ext cx="50800" cy="124460"/>
            </a:xfrm>
            <a:custGeom>
              <a:avLst/>
              <a:gdLst>
                <a:gd name="connsiteX0" fmla="*/ 50800 w 50800"/>
                <a:gd name="connsiteY0" fmla="*/ 124460 h 124460"/>
                <a:gd name="connsiteX1" fmla="*/ 15240 w 50800"/>
                <a:gd name="connsiteY1" fmla="*/ 22860 h 124460"/>
                <a:gd name="connsiteX2" fmla="*/ 0 w 50800"/>
                <a:gd name="connsiteY2" fmla="*/ 0 h 124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800" h="124460">
                  <a:moveTo>
                    <a:pt x="50800" y="124460"/>
                  </a:moveTo>
                  <a:cubicBezTo>
                    <a:pt x="37253" y="84031"/>
                    <a:pt x="23707" y="43603"/>
                    <a:pt x="15240" y="22860"/>
                  </a:cubicBezTo>
                  <a:cubicBezTo>
                    <a:pt x="6773" y="2117"/>
                    <a:pt x="3386" y="1058"/>
                    <a:pt x="0" y="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68" name="Straight Connector 67"/>
            <p:cNvCxnSpPr/>
            <p:nvPr/>
          </p:nvCxnSpPr>
          <p:spPr>
            <a:xfrm flipH="1" flipV="1">
              <a:off x="3451280" y="4459600"/>
              <a:ext cx="86360" cy="1219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flipH="1" flipV="1">
              <a:off x="3555588" y="4781292"/>
              <a:ext cx="7620" cy="1168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flipH="1" flipV="1">
              <a:off x="3592716" y="4779372"/>
              <a:ext cx="7620" cy="1168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Rectangle 71"/>
          <p:cNvSpPr/>
          <p:nvPr/>
        </p:nvSpPr>
        <p:spPr>
          <a:xfrm>
            <a:off x="3793794" y="4813590"/>
            <a:ext cx="1695356" cy="10157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TextBox 72"/>
          <p:cNvSpPr txBox="1"/>
          <p:nvPr/>
        </p:nvSpPr>
        <p:spPr>
          <a:xfrm>
            <a:off x="3816609" y="5508551"/>
            <a:ext cx="1789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All angles the same.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98119" y="5887850"/>
            <a:ext cx="1359694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ym typeface="Symbol"/>
              </a:rPr>
              <a:t></a:t>
            </a:r>
            <a:r>
              <a:rPr lang="en-GB" sz="1400" dirty="0">
                <a:sym typeface="Symbol"/>
              </a:rPr>
              <a:t> </a:t>
            </a:r>
            <a:r>
              <a:rPr lang="en-GB" sz="1200" dirty="0">
                <a:sym typeface="Wingdings"/>
              </a:rPr>
              <a:t>Not necessarily </a:t>
            </a:r>
            <a:r>
              <a:rPr lang="en-GB" sz="1200" dirty="0"/>
              <a:t>Congruent </a:t>
            </a:r>
            <a:r>
              <a:rPr lang="en-GB" sz="700" dirty="0"/>
              <a:t>(but Similar)</a:t>
            </a:r>
            <a:endParaRPr lang="en-GB" sz="1200" dirty="0"/>
          </a:p>
        </p:txBody>
      </p:sp>
      <p:grpSp>
        <p:nvGrpSpPr>
          <p:cNvPr id="75" name="Group 74"/>
          <p:cNvGrpSpPr/>
          <p:nvPr/>
        </p:nvGrpSpPr>
        <p:grpSpPr>
          <a:xfrm rot="11678330">
            <a:off x="3941096" y="4899209"/>
            <a:ext cx="1368152" cy="576064"/>
            <a:chOff x="2915816" y="4293096"/>
            <a:chExt cx="1368152" cy="576064"/>
          </a:xfrm>
        </p:grpSpPr>
        <p:cxnSp>
          <p:nvCxnSpPr>
            <p:cNvPr id="76" name="Straight Connector 75"/>
            <p:cNvCxnSpPr/>
            <p:nvPr/>
          </p:nvCxnSpPr>
          <p:spPr>
            <a:xfrm flipV="1">
              <a:off x="2915816" y="4293096"/>
              <a:ext cx="936104" cy="5760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flipH="1" flipV="1">
              <a:off x="3851920" y="4293096"/>
              <a:ext cx="432048" cy="5040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 flipH="1">
              <a:off x="2915816" y="4797152"/>
              <a:ext cx="1368152" cy="72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Freeform 78"/>
            <p:cNvSpPr/>
            <p:nvPr/>
          </p:nvSpPr>
          <p:spPr>
            <a:xfrm>
              <a:off x="3140120" y="4734272"/>
              <a:ext cx="50800" cy="124460"/>
            </a:xfrm>
            <a:custGeom>
              <a:avLst/>
              <a:gdLst>
                <a:gd name="connsiteX0" fmla="*/ 50800 w 50800"/>
                <a:gd name="connsiteY0" fmla="*/ 124460 h 124460"/>
                <a:gd name="connsiteX1" fmla="*/ 15240 w 50800"/>
                <a:gd name="connsiteY1" fmla="*/ 22860 h 124460"/>
                <a:gd name="connsiteX2" fmla="*/ 0 w 50800"/>
                <a:gd name="connsiteY2" fmla="*/ 0 h 124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800" h="124460">
                  <a:moveTo>
                    <a:pt x="50800" y="124460"/>
                  </a:moveTo>
                  <a:cubicBezTo>
                    <a:pt x="37253" y="84031"/>
                    <a:pt x="23707" y="43603"/>
                    <a:pt x="15240" y="22860"/>
                  </a:cubicBezTo>
                  <a:cubicBezTo>
                    <a:pt x="6773" y="2117"/>
                    <a:pt x="3386" y="1058"/>
                    <a:pt x="0" y="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3" name="Freeform 82"/>
          <p:cNvSpPr/>
          <p:nvPr/>
        </p:nvSpPr>
        <p:spPr>
          <a:xfrm>
            <a:off x="4241800" y="5260484"/>
            <a:ext cx="234950" cy="92566"/>
          </a:xfrm>
          <a:custGeom>
            <a:avLst/>
            <a:gdLst>
              <a:gd name="connsiteX0" fmla="*/ 0 w 234950"/>
              <a:gd name="connsiteY0" fmla="*/ 3666 h 92566"/>
              <a:gd name="connsiteX1" fmla="*/ 50800 w 234950"/>
              <a:gd name="connsiteY1" fmla="*/ 3666 h 92566"/>
              <a:gd name="connsiteX2" fmla="*/ 165100 w 234950"/>
              <a:gd name="connsiteY2" fmla="*/ 41766 h 92566"/>
              <a:gd name="connsiteX3" fmla="*/ 234950 w 234950"/>
              <a:gd name="connsiteY3" fmla="*/ 92566 h 92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950" h="92566">
                <a:moveTo>
                  <a:pt x="0" y="3666"/>
                </a:moveTo>
                <a:cubicBezTo>
                  <a:pt x="11641" y="491"/>
                  <a:pt x="23283" y="-2684"/>
                  <a:pt x="50800" y="3666"/>
                </a:cubicBezTo>
                <a:cubicBezTo>
                  <a:pt x="78317" y="10016"/>
                  <a:pt x="134408" y="26949"/>
                  <a:pt x="165100" y="41766"/>
                </a:cubicBezTo>
                <a:cubicBezTo>
                  <a:pt x="195792" y="56583"/>
                  <a:pt x="215371" y="74574"/>
                  <a:pt x="234950" y="92566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Freeform 83"/>
          <p:cNvSpPr/>
          <p:nvPr/>
        </p:nvSpPr>
        <p:spPr>
          <a:xfrm>
            <a:off x="4221956" y="5217319"/>
            <a:ext cx="293201" cy="119062"/>
          </a:xfrm>
          <a:custGeom>
            <a:avLst/>
            <a:gdLst>
              <a:gd name="connsiteX0" fmla="*/ 0 w 293201"/>
              <a:gd name="connsiteY0" fmla="*/ 0 h 119062"/>
              <a:gd name="connsiteX1" fmla="*/ 100013 w 293201"/>
              <a:gd name="connsiteY1" fmla="*/ 16669 h 119062"/>
              <a:gd name="connsiteX2" fmla="*/ 183357 w 293201"/>
              <a:gd name="connsiteY2" fmla="*/ 45244 h 119062"/>
              <a:gd name="connsiteX3" fmla="*/ 242888 w 293201"/>
              <a:gd name="connsiteY3" fmla="*/ 80962 h 119062"/>
              <a:gd name="connsiteX4" fmla="*/ 285750 w 293201"/>
              <a:gd name="connsiteY4" fmla="*/ 109537 h 119062"/>
              <a:gd name="connsiteX5" fmla="*/ 292894 w 293201"/>
              <a:gd name="connsiteY5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3201" h="119062">
                <a:moveTo>
                  <a:pt x="0" y="0"/>
                </a:moveTo>
                <a:cubicBezTo>
                  <a:pt x="34727" y="4564"/>
                  <a:pt x="69454" y="9128"/>
                  <a:pt x="100013" y="16669"/>
                </a:cubicBezTo>
                <a:cubicBezTo>
                  <a:pt x="130572" y="24210"/>
                  <a:pt x="159544" y="34528"/>
                  <a:pt x="183357" y="45244"/>
                </a:cubicBezTo>
                <a:cubicBezTo>
                  <a:pt x="207170" y="55960"/>
                  <a:pt x="225823" y="70247"/>
                  <a:pt x="242888" y="80962"/>
                </a:cubicBezTo>
                <a:cubicBezTo>
                  <a:pt x="259953" y="91677"/>
                  <a:pt x="277416" y="103187"/>
                  <a:pt x="285750" y="109537"/>
                </a:cubicBezTo>
                <a:cubicBezTo>
                  <a:pt x="294084" y="115887"/>
                  <a:pt x="293489" y="117474"/>
                  <a:pt x="292894" y="119062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Freeform 84"/>
          <p:cNvSpPr/>
          <p:nvPr/>
        </p:nvSpPr>
        <p:spPr>
          <a:xfrm>
            <a:off x="4081463" y="4838700"/>
            <a:ext cx="84951" cy="104775"/>
          </a:xfrm>
          <a:custGeom>
            <a:avLst/>
            <a:gdLst>
              <a:gd name="connsiteX0" fmla="*/ 0 w 84951"/>
              <a:gd name="connsiteY0" fmla="*/ 104775 h 104775"/>
              <a:gd name="connsiteX1" fmla="*/ 73818 w 84951"/>
              <a:gd name="connsiteY1" fmla="*/ 28575 h 104775"/>
              <a:gd name="connsiteX2" fmla="*/ 83343 w 84951"/>
              <a:gd name="connsiteY2" fmla="*/ 0 h 10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951" h="104775">
                <a:moveTo>
                  <a:pt x="0" y="104775"/>
                </a:moveTo>
                <a:cubicBezTo>
                  <a:pt x="29964" y="75406"/>
                  <a:pt x="59928" y="46037"/>
                  <a:pt x="73818" y="28575"/>
                </a:cubicBezTo>
                <a:cubicBezTo>
                  <a:pt x="87708" y="11113"/>
                  <a:pt x="85525" y="5556"/>
                  <a:pt x="83343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Freeform 85"/>
          <p:cNvSpPr/>
          <p:nvPr/>
        </p:nvSpPr>
        <p:spPr>
          <a:xfrm>
            <a:off x="4100513" y="4841081"/>
            <a:ext cx="102393" cy="130969"/>
          </a:xfrm>
          <a:custGeom>
            <a:avLst/>
            <a:gdLst>
              <a:gd name="connsiteX0" fmla="*/ 0 w 102393"/>
              <a:gd name="connsiteY0" fmla="*/ 130969 h 130969"/>
              <a:gd name="connsiteX1" fmla="*/ 50006 w 102393"/>
              <a:gd name="connsiteY1" fmla="*/ 92869 h 130969"/>
              <a:gd name="connsiteX2" fmla="*/ 85725 w 102393"/>
              <a:gd name="connsiteY2" fmla="*/ 45244 h 130969"/>
              <a:gd name="connsiteX3" fmla="*/ 102393 w 102393"/>
              <a:gd name="connsiteY3" fmla="*/ 0 h 130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393" h="130969">
                <a:moveTo>
                  <a:pt x="0" y="130969"/>
                </a:moveTo>
                <a:cubicBezTo>
                  <a:pt x="17859" y="119062"/>
                  <a:pt x="35719" y="107156"/>
                  <a:pt x="50006" y="92869"/>
                </a:cubicBezTo>
                <a:cubicBezTo>
                  <a:pt x="64293" y="78582"/>
                  <a:pt x="76994" y="60722"/>
                  <a:pt x="85725" y="45244"/>
                </a:cubicBezTo>
                <a:cubicBezTo>
                  <a:pt x="94456" y="29766"/>
                  <a:pt x="98424" y="14883"/>
                  <a:pt x="102393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Freeform 86"/>
          <p:cNvSpPr/>
          <p:nvPr/>
        </p:nvSpPr>
        <p:spPr>
          <a:xfrm>
            <a:off x="4124325" y="4852988"/>
            <a:ext cx="123825" cy="157162"/>
          </a:xfrm>
          <a:custGeom>
            <a:avLst/>
            <a:gdLst>
              <a:gd name="connsiteX0" fmla="*/ 0 w 123825"/>
              <a:gd name="connsiteY0" fmla="*/ 157162 h 157162"/>
              <a:gd name="connsiteX1" fmla="*/ 45244 w 123825"/>
              <a:gd name="connsiteY1" fmla="*/ 126206 h 157162"/>
              <a:gd name="connsiteX2" fmla="*/ 83344 w 123825"/>
              <a:gd name="connsiteY2" fmla="*/ 85725 h 157162"/>
              <a:gd name="connsiteX3" fmla="*/ 111919 w 123825"/>
              <a:gd name="connsiteY3" fmla="*/ 40481 h 157162"/>
              <a:gd name="connsiteX4" fmla="*/ 123825 w 123825"/>
              <a:gd name="connsiteY4" fmla="*/ 0 h 157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825" h="157162">
                <a:moveTo>
                  <a:pt x="0" y="157162"/>
                </a:moveTo>
                <a:cubicBezTo>
                  <a:pt x="15676" y="147637"/>
                  <a:pt x="31353" y="138112"/>
                  <a:pt x="45244" y="126206"/>
                </a:cubicBezTo>
                <a:cubicBezTo>
                  <a:pt x="59135" y="114300"/>
                  <a:pt x="72232" y="100012"/>
                  <a:pt x="83344" y="85725"/>
                </a:cubicBezTo>
                <a:cubicBezTo>
                  <a:pt x="94457" y="71437"/>
                  <a:pt x="105172" y="54768"/>
                  <a:pt x="111919" y="40481"/>
                </a:cubicBezTo>
                <a:cubicBezTo>
                  <a:pt x="118666" y="26194"/>
                  <a:pt x="121245" y="13097"/>
                  <a:pt x="123825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/>
          <p:cNvSpPr/>
          <p:nvPr/>
        </p:nvSpPr>
        <p:spPr>
          <a:xfrm>
            <a:off x="5544212" y="4792092"/>
            <a:ext cx="1695356" cy="10157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TextBox 88"/>
          <p:cNvSpPr txBox="1"/>
          <p:nvPr/>
        </p:nvSpPr>
        <p:spPr>
          <a:xfrm>
            <a:off x="5566921" y="5404687"/>
            <a:ext cx="1789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Two angles the same and a side the same.</a:t>
            </a:r>
          </a:p>
        </p:txBody>
      </p:sp>
      <p:grpSp>
        <p:nvGrpSpPr>
          <p:cNvPr id="91" name="Group 90"/>
          <p:cNvGrpSpPr/>
          <p:nvPr/>
        </p:nvGrpSpPr>
        <p:grpSpPr>
          <a:xfrm rot="11678330">
            <a:off x="5691514" y="4877711"/>
            <a:ext cx="1368152" cy="576064"/>
            <a:chOff x="2915816" y="4293096"/>
            <a:chExt cx="1368152" cy="576064"/>
          </a:xfrm>
        </p:grpSpPr>
        <p:cxnSp>
          <p:nvCxnSpPr>
            <p:cNvPr id="92" name="Straight Connector 91"/>
            <p:cNvCxnSpPr/>
            <p:nvPr/>
          </p:nvCxnSpPr>
          <p:spPr>
            <a:xfrm flipV="1">
              <a:off x="2915816" y="4293096"/>
              <a:ext cx="936104" cy="5760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>
            <a:xfrm flipH="1" flipV="1">
              <a:off x="3851920" y="4293096"/>
              <a:ext cx="432048" cy="5040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 flipH="1">
              <a:off x="2915816" y="4797152"/>
              <a:ext cx="1368152" cy="72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Freeform 94"/>
            <p:cNvSpPr/>
            <p:nvPr/>
          </p:nvSpPr>
          <p:spPr>
            <a:xfrm>
              <a:off x="3140120" y="4734272"/>
              <a:ext cx="50800" cy="124460"/>
            </a:xfrm>
            <a:custGeom>
              <a:avLst/>
              <a:gdLst>
                <a:gd name="connsiteX0" fmla="*/ 50800 w 50800"/>
                <a:gd name="connsiteY0" fmla="*/ 124460 h 124460"/>
                <a:gd name="connsiteX1" fmla="*/ 15240 w 50800"/>
                <a:gd name="connsiteY1" fmla="*/ 22860 h 124460"/>
                <a:gd name="connsiteX2" fmla="*/ 0 w 50800"/>
                <a:gd name="connsiteY2" fmla="*/ 0 h 124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800" h="124460">
                  <a:moveTo>
                    <a:pt x="50800" y="124460"/>
                  </a:moveTo>
                  <a:cubicBezTo>
                    <a:pt x="37253" y="84031"/>
                    <a:pt x="23707" y="43603"/>
                    <a:pt x="15240" y="22860"/>
                  </a:cubicBezTo>
                  <a:cubicBezTo>
                    <a:pt x="6773" y="2117"/>
                    <a:pt x="3386" y="1058"/>
                    <a:pt x="0" y="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6" name="Freeform 95"/>
          <p:cNvSpPr/>
          <p:nvPr/>
        </p:nvSpPr>
        <p:spPr>
          <a:xfrm>
            <a:off x="5992218" y="5238986"/>
            <a:ext cx="234950" cy="92566"/>
          </a:xfrm>
          <a:custGeom>
            <a:avLst/>
            <a:gdLst>
              <a:gd name="connsiteX0" fmla="*/ 0 w 234950"/>
              <a:gd name="connsiteY0" fmla="*/ 3666 h 92566"/>
              <a:gd name="connsiteX1" fmla="*/ 50800 w 234950"/>
              <a:gd name="connsiteY1" fmla="*/ 3666 h 92566"/>
              <a:gd name="connsiteX2" fmla="*/ 165100 w 234950"/>
              <a:gd name="connsiteY2" fmla="*/ 41766 h 92566"/>
              <a:gd name="connsiteX3" fmla="*/ 234950 w 234950"/>
              <a:gd name="connsiteY3" fmla="*/ 92566 h 92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950" h="92566">
                <a:moveTo>
                  <a:pt x="0" y="3666"/>
                </a:moveTo>
                <a:cubicBezTo>
                  <a:pt x="11641" y="491"/>
                  <a:pt x="23283" y="-2684"/>
                  <a:pt x="50800" y="3666"/>
                </a:cubicBezTo>
                <a:cubicBezTo>
                  <a:pt x="78317" y="10016"/>
                  <a:pt x="134408" y="26949"/>
                  <a:pt x="165100" y="41766"/>
                </a:cubicBezTo>
                <a:cubicBezTo>
                  <a:pt x="195792" y="56583"/>
                  <a:pt x="215371" y="74574"/>
                  <a:pt x="234950" y="92566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Freeform 96"/>
          <p:cNvSpPr/>
          <p:nvPr/>
        </p:nvSpPr>
        <p:spPr>
          <a:xfrm>
            <a:off x="5972374" y="5195821"/>
            <a:ext cx="293201" cy="119062"/>
          </a:xfrm>
          <a:custGeom>
            <a:avLst/>
            <a:gdLst>
              <a:gd name="connsiteX0" fmla="*/ 0 w 293201"/>
              <a:gd name="connsiteY0" fmla="*/ 0 h 119062"/>
              <a:gd name="connsiteX1" fmla="*/ 100013 w 293201"/>
              <a:gd name="connsiteY1" fmla="*/ 16669 h 119062"/>
              <a:gd name="connsiteX2" fmla="*/ 183357 w 293201"/>
              <a:gd name="connsiteY2" fmla="*/ 45244 h 119062"/>
              <a:gd name="connsiteX3" fmla="*/ 242888 w 293201"/>
              <a:gd name="connsiteY3" fmla="*/ 80962 h 119062"/>
              <a:gd name="connsiteX4" fmla="*/ 285750 w 293201"/>
              <a:gd name="connsiteY4" fmla="*/ 109537 h 119062"/>
              <a:gd name="connsiteX5" fmla="*/ 292894 w 293201"/>
              <a:gd name="connsiteY5" fmla="*/ 119062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3201" h="119062">
                <a:moveTo>
                  <a:pt x="0" y="0"/>
                </a:moveTo>
                <a:cubicBezTo>
                  <a:pt x="34727" y="4564"/>
                  <a:pt x="69454" y="9128"/>
                  <a:pt x="100013" y="16669"/>
                </a:cubicBezTo>
                <a:cubicBezTo>
                  <a:pt x="130572" y="24210"/>
                  <a:pt x="159544" y="34528"/>
                  <a:pt x="183357" y="45244"/>
                </a:cubicBezTo>
                <a:cubicBezTo>
                  <a:pt x="207170" y="55960"/>
                  <a:pt x="225823" y="70247"/>
                  <a:pt x="242888" y="80962"/>
                </a:cubicBezTo>
                <a:cubicBezTo>
                  <a:pt x="259953" y="91677"/>
                  <a:pt x="277416" y="103187"/>
                  <a:pt x="285750" y="109537"/>
                </a:cubicBezTo>
                <a:cubicBezTo>
                  <a:pt x="294084" y="115887"/>
                  <a:pt x="293489" y="117474"/>
                  <a:pt x="292894" y="119062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1" name="Straight Connector 100"/>
          <p:cNvCxnSpPr/>
          <p:nvPr/>
        </p:nvCxnSpPr>
        <p:spPr>
          <a:xfrm rot="11678330" flipH="1" flipV="1">
            <a:off x="6369630" y="4856143"/>
            <a:ext cx="7620" cy="1168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5712969" y="5896095"/>
            <a:ext cx="1225674" cy="3077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ym typeface="Wingdings"/>
              </a:rPr>
              <a:t></a:t>
            </a:r>
            <a:r>
              <a:rPr lang="en-GB" sz="1400" dirty="0"/>
              <a:t>Congruent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344194" y="4798878"/>
            <a:ext cx="1695356" cy="10157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TextBox 114"/>
          <p:cNvSpPr txBox="1"/>
          <p:nvPr/>
        </p:nvSpPr>
        <p:spPr>
          <a:xfrm>
            <a:off x="7270068" y="5412676"/>
            <a:ext cx="1789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Two sides the same and angle not between them.</a:t>
            </a:r>
          </a:p>
        </p:txBody>
      </p:sp>
      <p:grpSp>
        <p:nvGrpSpPr>
          <p:cNvPr id="117" name="Group 116"/>
          <p:cNvGrpSpPr/>
          <p:nvPr/>
        </p:nvGrpSpPr>
        <p:grpSpPr>
          <a:xfrm rot="11678330">
            <a:off x="7444972" y="4930484"/>
            <a:ext cx="1368152" cy="576064"/>
            <a:chOff x="2915816" y="4293096"/>
            <a:chExt cx="1368152" cy="576064"/>
          </a:xfrm>
        </p:grpSpPr>
        <p:cxnSp>
          <p:nvCxnSpPr>
            <p:cNvPr id="118" name="Straight Connector 117"/>
            <p:cNvCxnSpPr/>
            <p:nvPr/>
          </p:nvCxnSpPr>
          <p:spPr>
            <a:xfrm flipV="1">
              <a:off x="2915816" y="4293096"/>
              <a:ext cx="936104" cy="5760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851920" y="4293096"/>
              <a:ext cx="432048" cy="5040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H="1">
              <a:off x="2915816" y="4797152"/>
              <a:ext cx="1368152" cy="72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Freeform 120"/>
            <p:cNvSpPr/>
            <p:nvPr/>
          </p:nvSpPr>
          <p:spPr>
            <a:xfrm>
              <a:off x="3140120" y="4734272"/>
              <a:ext cx="50800" cy="124460"/>
            </a:xfrm>
            <a:custGeom>
              <a:avLst/>
              <a:gdLst>
                <a:gd name="connsiteX0" fmla="*/ 50800 w 50800"/>
                <a:gd name="connsiteY0" fmla="*/ 124460 h 124460"/>
                <a:gd name="connsiteX1" fmla="*/ 15240 w 50800"/>
                <a:gd name="connsiteY1" fmla="*/ 22860 h 124460"/>
                <a:gd name="connsiteX2" fmla="*/ 0 w 50800"/>
                <a:gd name="connsiteY2" fmla="*/ 0 h 124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800" h="124460">
                  <a:moveTo>
                    <a:pt x="50800" y="124460"/>
                  </a:moveTo>
                  <a:cubicBezTo>
                    <a:pt x="37253" y="84031"/>
                    <a:pt x="23707" y="43603"/>
                    <a:pt x="15240" y="22860"/>
                  </a:cubicBezTo>
                  <a:cubicBezTo>
                    <a:pt x="6773" y="2117"/>
                    <a:pt x="3386" y="1058"/>
                    <a:pt x="0" y="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22" name="Straight Connector 121"/>
            <p:cNvCxnSpPr/>
            <p:nvPr/>
          </p:nvCxnSpPr>
          <p:spPr>
            <a:xfrm flipH="1" flipV="1">
              <a:off x="3451280" y="4459600"/>
              <a:ext cx="86360" cy="1219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rot="9921670" flipH="1">
              <a:off x="4025990" y="4528561"/>
              <a:ext cx="100658" cy="612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/>
          </p:nvCxnSpPr>
          <p:spPr>
            <a:xfrm rot="9921670" flipH="1">
              <a:off x="4011110" y="4504055"/>
              <a:ext cx="85724" cy="5476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9" name="TextBox 128"/>
          <p:cNvSpPr txBox="1"/>
          <p:nvPr/>
        </p:nvSpPr>
        <p:spPr>
          <a:xfrm>
            <a:off x="7383870" y="5942262"/>
            <a:ext cx="1359694" cy="63094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ym typeface="Symbol"/>
              </a:rPr>
              <a:t></a:t>
            </a:r>
            <a:r>
              <a:rPr lang="en-GB" sz="1400" dirty="0">
                <a:sym typeface="Symbol"/>
              </a:rPr>
              <a:t> </a:t>
            </a:r>
            <a:r>
              <a:rPr lang="en-GB" sz="1200" dirty="0">
                <a:sym typeface="Wingdings"/>
              </a:rPr>
              <a:t>Not necessarily </a:t>
            </a:r>
            <a:r>
              <a:rPr lang="en-GB" sz="1200" dirty="0"/>
              <a:t>Congruent </a:t>
            </a:r>
            <a:r>
              <a:rPr lang="en-GB" sz="700" dirty="0"/>
              <a:t>(we’ll see why)</a:t>
            </a:r>
            <a:endParaRPr lang="en-GB" sz="1200" dirty="0"/>
          </a:p>
        </p:txBody>
      </p:sp>
      <p:sp>
        <p:nvSpPr>
          <p:cNvPr id="131" name="Rectangle 130"/>
          <p:cNvSpPr/>
          <p:nvPr/>
        </p:nvSpPr>
        <p:spPr>
          <a:xfrm>
            <a:off x="1941142" y="5824485"/>
            <a:ext cx="1703306" cy="93349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773916" y="5824485"/>
            <a:ext cx="1703306" cy="93349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544212" y="5815495"/>
            <a:ext cx="1703306" cy="93349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327993" y="5815495"/>
            <a:ext cx="1703306" cy="93349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878803" y="4673401"/>
            <a:ext cx="271325" cy="23738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712892" y="4653706"/>
            <a:ext cx="271325" cy="23738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460621" y="4607484"/>
            <a:ext cx="271325" cy="23738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270068" y="4578548"/>
            <a:ext cx="271325" cy="23738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54852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"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131" grpId="0" animBg="1"/>
      <p:bldP spid="132" grpId="0" animBg="1"/>
      <p:bldP spid="133" grpId="0" animBg="1"/>
      <p:bldP spid="1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Proving congruence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23528" y="836712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GCSE papers will often ask for you to prove that two triangles are congruent. </a:t>
            </a:r>
          </a:p>
          <a:p>
            <a:r>
              <a:rPr lang="en-GB" dirty="0"/>
              <a:t>There’s 4 different ways in which we could show this:</a:t>
            </a:r>
          </a:p>
        </p:txBody>
      </p:sp>
      <p:sp>
        <p:nvSpPr>
          <p:cNvPr id="6" name="Rectangle 5"/>
          <p:cNvSpPr/>
          <p:nvPr/>
        </p:nvSpPr>
        <p:spPr>
          <a:xfrm>
            <a:off x="395536" y="1772816"/>
            <a:ext cx="504056" cy="3600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076960" y="1808480"/>
            <a:ext cx="1960880" cy="1066800"/>
            <a:chOff x="1076960" y="1808480"/>
            <a:chExt cx="1960880" cy="1066800"/>
          </a:xfrm>
        </p:grpSpPr>
        <p:sp>
          <p:nvSpPr>
            <p:cNvPr id="7" name="Freeform 6"/>
            <p:cNvSpPr/>
            <p:nvPr/>
          </p:nvSpPr>
          <p:spPr>
            <a:xfrm>
              <a:off x="1076960" y="1808480"/>
              <a:ext cx="1960880" cy="1066800"/>
            </a:xfrm>
            <a:custGeom>
              <a:avLst/>
              <a:gdLst>
                <a:gd name="connsiteX0" fmla="*/ 0 w 1960880"/>
                <a:gd name="connsiteY0" fmla="*/ 995680 h 1066800"/>
                <a:gd name="connsiteX1" fmla="*/ 670560 w 1960880"/>
                <a:gd name="connsiteY1" fmla="*/ 0 h 1066800"/>
                <a:gd name="connsiteX2" fmla="*/ 1960880 w 1960880"/>
                <a:gd name="connsiteY2" fmla="*/ 1066800 h 1066800"/>
                <a:gd name="connsiteX3" fmla="*/ 0 w 1960880"/>
                <a:gd name="connsiteY3" fmla="*/ 99568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0880" h="1066800">
                  <a:moveTo>
                    <a:pt x="0" y="995680"/>
                  </a:moveTo>
                  <a:lnTo>
                    <a:pt x="670560" y="0"/>
                  </a:lnTo>
                  <a:lnTo>
                    <a:pt x="1960880" y="1066800"/>
                  </a:lnTo>
                  <a:lnTo>
                    <a:pt x="0" y="995680"/>
                  </a:lnTo>
                  <a:close/>
                </a:path>
              </a:pathLst>
            </a:custGeom>
            <a:ln w="63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1331640" y="2204864"/>
              <a:ext cx="216024" cy="144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2157224" y="2138680"/>
              <a:ext cx="144016" cy="144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2195736" y="2179464"/>
              <a:ext cx="144016" cy="144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reeform 14"/>
            <p:cNvSpPr/>
            <p:nvPr/>
          </p:nvSpPr>
          <p:spPr>
            <a:xfrm>
              <a:off x="1544320" y="2087880"/>
              <a:ext cx="533400" cy="88053"/>
            </a:xfrm>
            <a:custGeom>
              <a:avLst/>
              <a:gdLst>
                <a:gd name="connsiteX0" fmla="*/ 0 w 533400"/>
                <a:gd name="connsiteY0" fmla="*/ 20320 h 88053"/>
                <a:gd name="connsiteX1" fmla="*/ 147320 w 533400"/>
                <a:gd name="connsiteY1" fmla="*/ 71120 h 88053"/>
                <a:gd name="connsiteX2" fmla="*/ 350520 w 533400"/>
                <a:gd name="connsiteY2" fmla="*/ 76200 h 88053"/>
                <a:gd name="connsiteX3" fmla="*/ 533400 w 533400"/>
                <a:gd name="connsiteY3" fmla="*/ 0 h 8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3400" h="88053">
                  <a:moveTo>
                    <a:pt x="0" y="20320"/>
                  </a:moveTo>
                  <a:cubicBezTo>
                    <a:pt x="44450" y="41063"/>
                    <a:pt x="88900" y="61807"/>
                    <a:pt x="147320" y="71120"/>
                  </a:cubicBezTo>
                  <a:cubicBezTo>
                    <a:pt x="205740" y="80433"/>
                    <a:pt x="286173" y="88053"/>
                    <a:pt x="350520" y="76200"/>
                  </a:cubicBezTo>
                  <a:cubicBezTo>
                    <a:pt x="414867" y="64347"/>
                    <a:pt x="474133" y="32173"/>
                    <a:pt x="533400" y="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" name="Group 16"/>
          <p:cNvGrpSpPr/>
          <p:nvPr/>
        </p:nvGrpSpPr>
        <p:grpSpPr>
          <a:xfrm rot="10531276">
            <a:off x="2666443" y="1847749"/>
            <a:ext cx="1960880" cy="1066800"/>
            <a:chOff x="1076960" y="1808480"/>
            <a:chExt cx="1960880" cy="1066800"/>
          </a:xfrm>
        </p:grpSpPr>
        <p:sp>
          <p:nvSpPr>
            <p:cNvPr id="18" name="Freeform 17"/>
            <p:cNvSpPr/>
            <p:nvPr/>
          </p:nvSpPr>
          <p:spPr>
            <a:xfrm>
              <a:off x="1076960" y="1808480"/>
              <a:ext cx="1960880" cy="1066800"/>
            </a:xfrm>
            <a:custGeom>
              <a:avLst/>
              <a:gdLst>
                <a:gd name="connsiteX0" fmla="*/ 0 w 1960880"/>
                <a:gd name="connsiteY0" fmla="*/ 995680 h 1066800"/>
                <a:gd name="connsiteX1" fmla="*/ 670560 w 1960880"/>
                <a:gd name="connsiteY1" fmla="*/ 0 h 1066800"/>
                <a:gd name="connsiteX2" fmla="*/ 1960880 w 1960880"/>
                <a:gd name="connsiteY2" fmla="*/ 1066800 h 1066800"/>
                <a:gd name="connsiteX3" fmla="*/ 0 w 1960880"/>
                <a:gd name="connsiteY3" fmla="*/ 99568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0880" h="1066800">
                  <a:moveTo>
                    <a:pt x="0" y="995680"/>
                  </a:moveTo>
                  <a:lnTo>
                    <a:pt x="670560" y="0"/>
                  </a:lnTo>
                  <a:lnTo>
                    <a:pt x="1960880" y="1066800"/>
                  </a:lnTo>
                  <a:lnTo>
                    <a:pt x="0" y="995680"/>
                  </a:lnTo>
                  <a:close/>
                </a:path>
              </a:pathLst>
            </a:custGeom>
            <a:ln w="63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1331640" y="2204864"/>
              <a:ext cx="216024" cy="144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V="1">
              <a:off x="2157224" y="2138680"/>
              <a:ext cx="144016" cy="144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2195736" y="2179464"/>
              <a:ext cx="144016" cy="144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Freeform 21"/>
            <p:cNvSpPr/>
            <p:nvPr/>
          </p:nvSpPr>
          <p:spPr>
            <a:xfrm>
              <a:off x="1544320" y="2087880"/>
              <a:ext cx="533400" cy="88053"/>
            </a:xfrm>
            <a:custGeom>
              <a:avLst/>
              <a:gdLst>
                <a:gd name="connsiteX0" fmla="*/ 0 w 533400"/>
                <a:gd name="connsiteY0" fmla="*/ 20320 h 88053"/>
                <a:gd name="connsiteX1" fmla="*/ 147320 w 533400"/>
                <a:gd name="connsiteY1" fmla="*/ 71120 h 88053"/>
                <a:gd name="connsiteX2" fmla="*/ 350520 w 533400"/>
                <a:gd name="connsiteY2" fmla="*/ 76200 h 88053"/>
                <a:gd name="connsiteX3" fmla="*/ 533400 w 533400"/>
                <a:gd name="connsiteY3" fmla="*/ 0 h 8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3400" h="88053">
                  <a:moveTo>
                    <a:pt x="0" y="20320"/>
                  </a:moveTo>
                  <a:cubicBezTo>
                    <a:pt x="44450" y="41063"/>
                    <a:pt x="88900" y="61807"/>
                    <a:pt x="147320" y="71120"/>
                  </a:cubicBezTo>
                  <a:cubicBezTo>
                    <a:pt x="205740" y="80433"/>
                    <a:pt x="286173" y="88053"/>
                    <a:pt x="350520" y="76200"/>
                  </a:cubicBezTo>
                  <a:cubicBezTo>
                    <a:pt x="414867" y="64347"/>
                    <a:pt x="474133" y="32173"/>
                    <a:pt x="533400" y="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4932040" y="1916832"/>
            <a:ext cx="3384376" cy="80021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SAS</a:t>
            </a:r>
          </a:p>
          <a:p>
            <a:r>
              <a:rPr lang="en-GB" dirty="0"/>
              <a:t>Two sides and the included angle.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5536" y="2996952"/>
            <a:ext cx="504056" cy="3600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2040" y="3140968"/>
            <a:ext cx="2088232" cy="107721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ASA</a:t>
            </a:r>
          </a:p>
          <a:p>
            <a:r>
              <a:rPr lang="en-GB" dirty="0"/>
              <a:t>Two angles and a side.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1076960" y="3032616"/>
            <a:ext cx="1960880" cy="1116464"/>
            <a:chOff x="1076960" y="3032616"/>
            <a:chExt cx="1960880" cy="1116464"/>
          </a:xfrm>
        </p:grpSpPr>
        <p:grpSp>
          <p:nvGrpSpPr>
            <p:cNvPr id="25" name="Group 24"/>
            <p:cNvGrpSpPr/>
            <p:nvPr/>
          </p:nvGrpSpPr>
          <p:grpSpPr>
            <a:xfrm>
              <a:off x="1076960" y="3032616"/>
              <a:ext cx="1960880" cy="1116464"/>
              <a:chOff x="1076960" y="1808480"/>
              <a:chExt cx="1960880" cy="1116464"/>
            </a:xfrm>
          </p:grpSpPr>
          <p:sp>
            <p:nvSpPr>
              <p:cNvPr id="26" name="Freeform 25"/>
              <p:cNvSpPr/>
              <p:nvPr/>
            </p:nvSpPr>
            <p:spPr>
              <a:xfrm>
                <a:off x="1076960" y="1808480"/>
                <a:ext cx="1960880" cy="1066800"/>
              </a:xfrm>
              <a:custGeom>
                <a:avLst/>
                <a:gdLst>
                  <a:gd name="connsiteX0" fmla="*/ 0 w 1960880"/>
                  <a:gd name="connsiteY0" fmla="*/ 995680 h 1066800"/>
                  <a:gd name="connsiteX1" fmla="*/ 670560 w 1960880"/>
                  <a:gd name="connsiteY1" fmla="*/ 0 h 1066800"/>
                  <a:gd name="connsiteX2" fmla="*/ 1960880 w 1960880"/>
                  <a:gd name="connsiteY2" fmla="*/ 1066800 h 1066800"/>
                  <a:gd name="connsiteX3" fmla="*/ 0 w 1960880"/>
                  <a:gd name="connsiteY3" fmla="*/ 995680 h 106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60880" h="1066800">
                    <a:moveTo>
                      <a:pt x="0" y="995680"/>
                    </a:moveTo>
                    <a:lnTo>
                      <a:pt x="670560" y="0"/>
                    </a:lnTo>
                    <a:lnTo>
                      <a:pt x="1960880" y="1066800"/>
                    </a:lnTo>
                    <a:lnTo>
                      <a:pt x="0" y="995680"/>
                    </a:lnTo>
                    <a:close/>
                  </a:path>
                </a:pathLst>
              </a:custGeom>
              <a:ln w="635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7" name="Straight Connector 26"/>
              <p:cNvCxnSpPr/>
              <p:nvPr/>
            </p:nvCxnSpPr>
            <p:spPr>
              <a:xfrm>
                <a:off x="1907704" y="2708920"/>
                <a:ext cx="0" cy="216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Freeform 29"/>
              <p:cNvSpPr/>
              <p:nvPr/>
            </p:nvSpPr>
            <p:spPr>
              <a:xfrm>
                <a:off x="1544320" y="2087880"/>
                <a:ext cx="533400" cy="88053"/>
              </a:xfrm>
              <a:custGeom>
                <a:avLst/>
                <a:gdLst>
                  <a:gd name="connsiteX0" fmla="*/ 0 w 533400"/>
                  <a:gd name="connsiteY0" fmla="*/ 20320 h 88053"/>
                  <a:gd name="connsiteX1" fmla="*/ 147320 w 533400"/>
                  <a:gd name="connsiteY1" fmla="*/ 71120 h 88053"/>
                  <a:gd name="connsiteX2" fmla="*/ 350520 w 533400"/>
                  <a:gd name="connsiteY2" fmla="*/ 76200 h 88053"/>
                  <a:gd name="connsiteX3" fmla="*/ 533400 w 533400"/>
                  <a:gd name="connsiteY3" fmla="*/ 0 h 880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3400" h="88053">
                    <a:moveTo>
                      <a:pt x="0" y="20320"/>
                    </a:moveTo>
                    <a:cubicBezTo>
                      <a:pt x="44450" y="41063"/>
                      <a:pt x="88900" y="61807"/>
                      <a:pt x="147320" y="71120"/>
                    </a:cubicBezTo>
                    <a:cubicBezTo>
                      <a:pt x="205740" y="80433"/>
                      <a:pt x="286173" y="88053"/>
                      <a:pt x="350520" y="76200"/>
                    </a:cubicBezTo>
                    <a:cubicBezTo>
                      <a:pt x="414867" y="64347"/>
                      <a:pt x="474133" y="32173"/>
                      <a:pt x="533400" y="0"/>
                    </a:cubicBezTo>
                  </a:path>
                </a:pathLst>
              </a:cu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39" name="Freeform 38"/>
            <p:cNvSpPr/>
            <p:nvPr/>
          </p:nvSpPr>
          <p:spPr>
            <a:xfrm>
              <a:off x="1578864" y="3261360"/>
              <a:ext cx="451104" cy="76200"/>
            </a:xfrm>
            <a:custGeom>
              <a:avLst/>
              <a:gdLst>
                <a:gd name="connsiteX0" fmla="*/ 0 w 451104"/>
                <a:gd name="connsiteY0" fmla="*/ 12192 h 76200"/>
                <a:gd name="connsiteX1" fmla="*/ 146304 w 451104"/>
                <a:gd name="connsiteY1" fmla="*/ 67056 h 76200"/>
                <a:gd name="connsiteX2" fmla="*/ 286512 w 451104"/>
                <a:gd name="connsiteY2" fmla="*/ 67056 h 76200"/>
                <a:gd name="connsiteX3" fmla="*/ 384048 w 451104"/>
                <a:gd name="connsiteY3" fmla="*/ 42672 h 76200"/>
                <a:gd name="connsiteX4" fmla="*/ 451104 w 451104"/>
                <a:gd name="connsiteY4" fmla="*/ 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04" h="76200">
                  <a:moveTo>
                    <a:pt x="0" y="12192"/>
                  </a:moveTo>
                  <a:cubicBezTo>
                    <a:pt x="49276" y="35052"/>
                    <a:pt x="98552" y="57912"/>
                    <a:pt x="146304" y="67056"/>
                  </a:cubicBezTo>
                  <a:cubicBezTo>
                    <a:pt x="194056" y="76200"/>
                    <a:pt x="246888" y="71120"/>
                    <a:pt x="286512" y="67056"/>
                  </a:cubicBezTo>
                  <a:cubicBezTo>
                    <a:pt x="326136" y="62992"/>
                    <a:pt x="356616" y="53848"/>
                    <a:pt x="384048" y="42672"/>
                  </a:cubicBezTo>
                  <a:cubicBezTo>
                    <a:pt x="411480" y="31496"/>
                    <a:pt x="431292" y="15748"/>
                    <a:pt x="451104" y="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2609088" y="3822192"/>
              <a:ext cx="97536" cy="256032"/>
            </a:xfrm>
            <a:custGeom>
              <a:avLst/>
              <a:gdLst>
                <a:gd name="connsiteX0" fmla="*/ 0 w 97536"/>
                <a:gd name="connsiteY0" fmla="*/ 256032 h 256032"/>
                <a:gd name="connsiteX1" fmla="*/ 18288 w 97536"/>
                <a:gd name="connsiteY1" fmla="*/ 140208 h 256032"/>
                <a:gd name="connsiteX2" fmla="*/ 48768 w 97536"/>
                <a:gd name="connsiteY2" fmla="*/ 60960 h 256032"/>
                <a:gd name="connsiteX3" fmla="*/ 97536 w 97536"/>
                <a:gd name="connsiteY3" fmla="*/ 0 h 256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536" h="256032">
                  <a:moveTo>
                    <a:pt x="0" y="256032"/>
                  </a:moveTo>
                  <a:cubicBezTo>
                    <a:pt x="5080" y="214376"/>
                    <a:pt x="10160" y="172720"/>
                    <a:pt x="18288" y="140208"/>
                  </a:cubicBezTo>
                  <a:cubicBezTo>
                    <a:pt x="26416" y="107696"/>
                    <a:pt x="35560" y="84328"/>
                    <a:pt x="48768" y="60960"/>
                  </a:cubicBezTo>
                  <a:cubicBezTo>
                    <a:pt x="61976" y="37592"/>
                    <a:pt x="79756" y="18796"/>
                    <a:pt x="97536" y="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2" name="Group 41"/>
          <p:cNvGrpSpPr/>
          <p:nvPr/>
        </p:nvGrpSpPr>
        <p:grpSpPr>
          <a:xfrm rot="10800000">
            <a:off x="2771800" y="3140968"/>
            <a:ext cx="1960880" cy="1116464"/>
            <a:chOff x="1076960" y="3032616"/>
            <a:chExt cx="1960880" cy="1116464"/>
          </a:xfrm>
        </p:grpSpPr>
        <p:grpSp>
          <p:nvGrpSpPr>
            <p:cNvPr id="43" name="Group 42"/>
            <p:cNvGrpSpPr/>
            <p:nvPr/>
          </p:nvGrpSpPr>
          <p:grpSpPr>
            <a:xfrm>
              <a:off x="1076960" y="3032616"/>
              <a:ext cx="1960880" cy="1116464"/>
              <a:chOff x="1076960" y="1808480"/>
              <a:chExt cx="1960880" cy="1116464"/>
            </a:xfrm>
          </p:grpSpPr>
          <p:sp>
            <p:nvSpPr>
              <p:cNvPr id="46" name="Freeform 45"/>
              <p:cNvSpPr/>
              <p:nvPr/>
            </p:nvSpPr>
            <p:spPr>
              <a:xfrm>
                <a:off x="1076960" y="1808480"/>
                <a:ext cx="1960880" cy="1066800"/>
              </a:xfrm>
              <a:custGeom>
                <a:avLst/>
                <a:gdLst>
                  <a:gd name="connsiteX0" fmla="*/ 0 w 1960880"/>
                  <a:gd name="connsiteY0" fmla="*/ 995680 h 1066800"/>
                  <a:gd name="connsiteX1" fmla="*/ 670560 w 1960880"/>
                  <a:gd name="connsiteY1" fmla="*/ 0 h 1066800"/>
                  <a:gd name="connsiteX2" fmla="*/ 1960880 w 1960880"/>
                  <a:gd name="connsiteY2" fmla="*/ 1066800 h 1066800"/>
                  <a:gd name="connsiteX3" fmla="*/ 0 w 1960880"/>
                  <a:gd name="connsiteY3" fmla="*/ 995680 h 106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60880" h="1066800">
                    <a:moveTo>
                      <a:pt x="0" y="995680"/>
                    </a:moveTo>
                    <a:lnTo>
                      <a:pt x="670560" y="0"/>
                    </a:lnTo>
                    <a:lnTo>
                      <a:pt x="1960880" y="1066800"/>
                    </a:lnTo>
                    <a:lnTo>
                      <a:pt x="0" y="995680"/>
                    </a:lnTo>
                    <a:close/>
                  </a:path>
                </a:pathLst>
              </a:custGeom>
              <a:ln w="635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47" name="Straight Connector 46"/>
              <p:cNvCxnSpPr/>
              <p:nvPr/>
            </p:nvCxnSpPr>
            <p:spPr>
              <a:xfrm>
                <a:off x="1907704" y="2708920"/>
                <a:ext cx="0" cy="216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Freeform 47"/>
              <p:cNvSpPr/>
              <p:nvPr/>
            </p:nvSpPr>
            <p:spPr>
              <a:xfrm>
                <a:off x="1544320" y="2087880"/>
                <a:ext cx="533400" cy="88053"/>
              </a:xfrm>
              <a:custGeom>
                <a:avLst/>
                <a:gdLst>
                  <a:gd name="connsiteX0" fmla="*/ 0 w 533400"/>
                  <a:gd name="connsiteY0" fmla="*/ 20320 h 88053"/>
                  <a:gd name="connsiteX1" fmla="*/ 147320 w 533400"/>
                  <a:gd name="connsiteY1" fmla="*/ 71120 h 88053"/>
                  <a:gd name="connsiteX2" fmla="*/ 350520 w 533400"/>
                  <a:gd name="connsiteY2" fmla="*/ 76200 h 88053"/>
                  <a:gd name="connsiteX3" fmla="*/ 533400 w 533400"/>
                  <a:gd name="connsiteY3" fmla="*/ 0 h 880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3400" h="88053">
                    <a:moveTo>
                      <a:pt x="0" y="20320"/>
                    </a:moveTo>
                    <a:cubicBezTo>
                      <a:pt x="44450" y="41063"/>
                      <a:pt x="88900" y="61807"/>
                      <a:pt x="147320" y="71120"/>
                    </a:cubicBezTo>
                    <a:cubicBezTo>
                      <a:pt x="205740" y="80433"/>
                      <a:pt x="286173" y="88053"/>
                      <a:pt x="350520" y="76200"/>
                    </a:cubicBezTo>
                    <a:cubicBezTo>
                      <a:pt x="414867" y="64347"/>
                      <a:pt x="474133" y="32173"/>
                      <a:pt x="533400" y="0"/>
                    </a:cubicBezTo>
                  </a:path>
                </a:pathLst>
              </a:cu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1578864" y="3261360"/>
              <a:ext cx="451104" cy="76200"/>
            </a:xfrm>
            <a:custGeom>
              <a:avLst/>
              <a:gdLst>
                <a:gd name="connsiteX0" fmla="*/ 0 w 451104"/>
                <a:gd name="connsiteY0" fmla="*/ 12192 h 76200"/>
                <a:gd name="connsiteX1" fmla="*/ 146304 w 451104"/>
                <a:gd name="connsiteY1" fmla="*/ 67056 h 76200"/>
                <a:gd name="connsiteX2" fmla="*/ 286512 w 451104"/>
                <a:gd name="connsiteY2" fmla="*/ 67056 h 76200"/>
                <a:gd name="connsiteX3" fmla="*/ 384048 w 451104"/>
                <a:gd name="connsiteY3" fmla="*/ 42672 h 76200"/>
                <a:gd name="connsiteX4" fmla="*/ 451104 w 451104"/>
                <a:gd name="connsiteY4" fmla="*/ 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04" h="76200">
                  <a:moveTo>
                    <a:pt x="0" y="12192"/>
                  </a:moveTo>
                  <a:cubicBezTo>
                    <a:pt x="49276" y="35052"/>
                    <a:pt x="98552" y="57912"/>
                    <a:pt x="146304" y="67056"/>
                  </a:cubicBezTo>
                  <a:cubicBezTo>
                    <a:pt x="194056" y="76200"/>
                    <a:pt x="246888" y="71120"/>
                    <a:pt x="286512" y="67056"/>
                  </a:cubicBezTo>
                  <a:cubicBezTo>
                    <a:pt x="326136" y="62992"/>
                    <a:pt x="356616" y="53848"/>
                    <a:pt x="384048" y="42672"/>
                  </a:cubicBezTo>
                  <a:cubicBezTo>
                    <a:pt x="411480" y="31496"/>
                    <a:pt x="431292" y="15748"/>
                    <a:pt x="451104" y="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2609088" y="3822192"/>
              <a:ext cx="97536" cy="256032"/>
            </a:xfrm>
            <a:custGeom>
              <a:avLst/>
              <a:gdLst>
                <a:gd name="connsiteX0" fmla="*/ 0 w 97536"/>
                <a:gd name="connsiteY0" fmla="*/ 256032 h 256032"/>
                <a:gd name="connsiteX1" fmla="*/ 18288 w 97536"/>
                <a:gd name="connsiteY1" fmla="*/ 140208 h 256032"/>
                <a:gd name="connsiteX2" fmla="*/ 48768 w 97536"/>
                <a:gd name="connsiteY2" fmla="*/ 60960 h 256032"/>
                <a:gd name="connsiteX3" fmla="*/ 97536 w 97536"/>
                <a:gd name="connsiteY3" fmla="*/ 0 h 256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536" h="256032">
                  <a:moveTo>
                    <a:pt x="0" y="256032"/>
                  </a:moveTo>
                  <a:cubicBezTo>
                    <a:pt x="5080" y="214376"/>
                    <a:pt x="10160" y="172720"/>
                    <a:pt x="18288" y="140208"/>
                  </a:cubicBezTo>
                  <a:cubicBezTo>
                    <a:pt x="26416" y="107696"/>
                    <a:pt x="35560" y="84328"/>
                    <a:pt x="48768" y="60960"/>
                  </a:cubicBezTo>
                  <a:cubicBezTo>
                    <a:pt x="61976" y="37592"/>
                    <a:pt x="79756" y="18796"/>
                    <a:pt x="97536" y="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9" name="Rectangle 48"/>
          <p:cNvSpPr/>
          <p:nvPr/>
        </p:nvSpPr>
        <p:spPr>
          <a:xfrm>
            <a:off x="395536" y="4437112"/>
            <a:ext cx="504056" cy="3600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1115616" y="4437112"/>
            <a:ext cx="1960880" cy="1097900"/>
            <a:chOff x="1076960" y="1808480"/>
            <a:chExt cx="1960880" cy="1097900"/>
          </a:xfrm>
        </p:grpSpPr>
        <p:sp>
          <p:nvSpPr>
            <p:cNvPr id="58" name="Freeform 57"/>
            <p:cNvSpPr/>
            <p:nvPr/>
          </p:nvSpPr>
          <p:spPr>
            <a:xfrm>
              <a:off x="1076960" y="1808480"/>
              <a:ext cx="1960880" cy="1066800"/>
            </a:xfrm>
            <a:custGeom>
              <a:avLst/>
              <a:gdLst>
                <a:gd name="connsiteX0" fmla="*/ 0 w 1960880"/>
                <a:gd name="connsiteY0" fmla="*/ 995680 h 1066800"/>
                <a:gd name="connsiteX1" fmla="*/ 670560 w 1960880"/>
                <a:gd name="connsiteY1" fmla="*/ 0 h 1066800"/>
                <a:gd name="connsiteX2" fmla="*/ 1960880 w 1960880"/>
                <a:gd name="connsiteY2" fmla="*/ 1066800 h 1066800"/>
                <a:gd name="connsiteX3" fmla="*/ 0 w 1960880"/>
                <a:gd name="connsiteY3" fmla="*/ 99568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0880" h="1066800">
                  <a:moveTo>
                    <a:pt x="0" y="995680"/>
                  </a:moveTo>
                  <a:lnTo>
                    <a:pt x="670560" y="0"/>
                  </a:lnTo>
                  <a:lnTo>
                    <a:pt x="1960880" y="1066800"/>
                  </a:lnTo>
                  <a:lnTo>
                    <a:pt x="0" y="995680"/>
                  </a:lnTo>
                  <a:close/>
                </a:path>
              </a:pathLst>
            </a:custGeom>
            <a:ln w="63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9" name="Straight Connector 58"/>
            <p:cNvCxnSpPr/>
            <p:nvPr/>
          </p:nvCxnSpPr>
          <p:spPr>
            <a:xfrm>
              <a:off x="1331640" y="2204864"/>
              <a:ext cx="216024" cy="144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V="1">
              <a:off x="2157224" y="2138680"/>
              <a:ext cx="144016" cy="144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V="1">
              <a:off x="2195736" y="2179464"/>
              <a:ext cx="144016" cy="144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1739979" y="2758326"/>
              <a:ext cx="0" cy="144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1797040" y="2762364"/>
              <a:ext cx="0" cy="144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1862951" y="2762364"/>
              <a:ext cx="0" cy="144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/>
          <p:cNvGrpSpPr/>
          <p:nvPr/>
        </p:nvGrpSpPr>
        <p:grpSpPr>
          <a:xfrm rot="10504837">
            <a:off x="2671247" y="4447158"/>
            <a:ext cx="1960880" cy="1097900"/>
            <a:chOff x="1076960" y="1808480"/>
            <a:chExt cx="1960880" cy="1097900"/>
          </a:xfrm>
        </p:grpSpPr>
        <p:sp>
          <p:nvSpPr>
            <p:cNvPr id="68" name="Freeform 67"/>
            <p:cNvSpPr/>
            <p:nvPr/>
          </p:nvSpPr>
          <p:spPr>
            <a:xfrm>
              <a:off x="1076960" y="1808480"/>
              <a:ext cx="1960880" cy="1066800"/>
            </a:xfrm>
            <a:custGeom>
              <a:avLst/>
              <a:gdLst>
                <a:gd name="connsiteX0" fmla="*/ 0 w 1960880"/>
                <a:gd name="connsiteY0" fmla="*/ 995680 h 1066800"/>
                <a:gd name="connsiteX1" fmla="*/ 670560 w 1960880"/>
                <a:gd name="connsiteY1" fmla="*/ 0 h 1066800"/>
                <a:gd name="connsiteX2" fmla="*/ 1960880 w 1960880"/>
                <a:gd name="connsiteY2" fmla="*/ 1066800 h 1066800"/>
                <a:gd name="connsiteX3" fmla="*/ 0 w 1960880"/>
                <a:gd name="connsiteY3" fmla="*/ 99568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0880" h="1066800">
                  <a:moveTo>
                    <a:pt x="0" y="995680"/>
                  </a:moveTo>
                  <a:lnTo>
                    <a:pt x="670560" y="0"/>
                  </a:lnTo>
                  <a:lnTo>
                    <a:pt x="1960880" y="1066800"/>
                  </a:lnTo>
                  <a:lnTo>
                    <a:pt x="0" y="995680"/>
                  </a:lnTo>
                  <a:close/>
                </a:path>
              </a:pathLst>
            </a:custGeom>
            <a:ln w="63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69" name="Straight Connector 68"/>
            <p:cNvCxnSpPr/>
            <p:nvPr/>
          </p:nvCxnSpPr>
          <p:spPr>
            <a:xfrm>
              <a:off x="1331640" y="2204864"/>
              <a:ext cx="216024" cy="144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flipV="1">
              <a:off x="2157224" y="2138680"/>
              <a:ext cx="144016" cy="144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flipV="1">
              <a:off x="2195736" y="2179464"/>
              <a:ext cx="144016" cy="144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1739979" y="2758326"/>
              <a:ext cx="0" cy="144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1797040" y="2762364"/>
              <a:ext cx="0" cy="144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1862951" y="2762364"/>
              <a:ext cx="0" cy="144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TextBox 74"/>
          <p:cNvSpPr txBox="1"/>
          <p:nvPr/>
        </p:nvSpPr>
        <p:spPr>
          <a:xfrm>
            <a:off x="4932040" y="4509120"/>
            <a:ext cx="3384376" cy="80021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SSS</a:t>
            </a:r>
          </a:p>
          <a:p>
            <a:r>
              <a:rPr lang="en-GB" dirty="0"/>
              <a:t>Three sides.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5536" y="5661248"/>
            <a:ext cx="504056" cy="3600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grpSp>
        <p:nvGrpSpPr>
          <p:cNvPr id="87" name="Group 86"/>
          <p:cNvGrpSpPr/>
          <p:nvPr/>
        </p:nvGrpSpPr>
        <p:grpSpPr>
          <a:xfrm rot="16200000">
            <a:off x="2663788" y="5841268"/>
            <a:ext cx="1080120" cy="720080"/>
            <a:chOff x="1331640" y="5661248"/>
            <a:chExt cx="1728192" cy="1038592"/>
          </a:xfrm>
        </p:grpSpPr>
        <p:sp>
          <p:nvSpPr>
            <p:cNvPr id="88" name="Right Triangle 87"/>
            <p:cNvSpPr/>
            <p:nvPr/>
          </p:nvSpPr>
          <p:spPr>
            <a:xfrm>
              <a:off x="1331640" y="5661248"/>
              <a:ext cx="1728192" cy="936104"/>
            </a:xfrm>
            <a:prstGeom prst="rtTriangle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1331640" y="6381328"/>
              <a:ext cx="216024" cy="216024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90" name="Straight Connector 89"/>
            <p:cNvCxnSpPr/>
            <p:nvPr/>
          </p:nvCxnSpPr>
          <p:spPr>
            <a:xfrm flipV="1">
              <a:off x="2123728" y="6021288"/>
              <a:ext cx="144016" cy="2160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>
            <a:xfrm flipV="1">
              <a:off x="1949614" y="6483816"/>
              <a:ext cx="0" cy="2160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 flipV="1">
              <a:off x="2009810" y="6481911"/>
              <a:ext cx="0" cy="2160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/>
          <p:cNvGrpSpPr/>
          <p:nvPr/>
        </p:nvGrpSpPr>
        <p:grpSpPr>
          <a:xfrm>
            <a:off x="1619672" y="5805264"/>
            <a:ext cx="1080120" cy="720080"/>
            <a:chOff x="1331640" y="5661248"/>
            <a:chExt cx="1728192" cy="1038592"/>
          </a:xfrm>
        </p:grpSpPr>
        <p:sp>
          <p:nvSpPr>
            <p:cNvPr id="94" name="Right Triangle 93"/>
            <p:cNvSpPr/>
            <p:nvPr/>
          </p:nvSpPr>
          <p:spPr>
            <a:xfrm>
              <a:off x="1331640" y="5661248"/>
              <a:ext cx="1728192" cy="936104"/>
            </a:xfrm>
            <a:prstGeom prst="rtTriangle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1331640" y="6381328"/>
              <a:ext cx="216024" cy="216024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96" name="Straight Connector 95"/>
            <p:cNvCxnSpPr/>
            <p:nvPr/>
          </p:nvCxnSpPr>
          <p:spPr>
            <a:xfrm flipV="1">
              <a:off x="2123728" y="6021288"/>
              <a:ext cx="144016" cy="2160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 flipV="1">
              <a:off x="1949614" y="6483816"/>
              <a:ext cx="0" cy="2160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V="1">
              <a:off x="2009810" y="6481911"/>
              <a:ext cx="0" cy="2160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TextBox 98"/>
          <p:cNvSpPr txBox="1"/>
          <p:nvPr/>
        </p:nvSpPr>
        <p:spPr>
          <a:xfrm>
            <a:off x="4932040" y="5733256"/>
            <a:ext cx="3384376" cy="107721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RHS</a:t>
            </a:r>
          </a:p>
          <a:p>
            <a:r>
              <a:rPr lang="en-GB" dirty="0"/>
              <a:t>Right-angle, hypotenuse and another side.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32040" y="1772816"/>
            <a:ext cx="3480439" cy="11075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932040" y="2996952"/>
            <a:ext cx="3499994" cy="12854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932040" y="4437112"/>
            <a:ext cx="3480440" cy="11102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932040" y="5661247"/>
            <a:ext cx="3480440" cy="11768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0144" y="1254821"/>
            <a:ext cx="828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Wingdings" panose="05000000000000000000" pitchFamily="2" charset="2"/>
              </a:rPr>
              <a:t>!</a:t>
            </a:r>
            <a:endParaRPr lang="en-GB" dirty="0">
              <a:latin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37845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"/>
                  </p:tgtEl>
                </p:cond>
              </p:nextCondLst>
            </p:seq>
          </p:childTnLst>
        </p:cTn>
      </p:par>
    </p:tnLst>
    <p:bldLst>
      <p:bldP spid="100" grpId="0" animBg="1"/>
      <p:bldP spid="101" grpId="0" animBg="1"/>
      <p:bldP spid="102" grpId="0" animBg="1"/>
      <p:bldP spid="10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Proving congruence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 rot="7845320">
            <a:off x="879186" y="3057921"/>
            <a:ext cx="3281171" cy="1830147"/>
            <a:chOff x="467544" y="4365104"/>
            <a:chExt cx="1368152" cy="605036"/>
          </a:xfrm>
        </p:grpSpPr>
        <p:cxnSp>
          <p:nvCxnSpPr>
            <p:cNvPr id="5" name="Straight Connector 4"/>
            <p:cNvCxnSpPr/>
            <p:nvPr/>
          </p:nvCxnSpPr>
          <p:spPr>
            <a:xfrm flipV="1">
              <a:off x="467544" y="4365104"/>
              <a:ext cx="936104" cy="5760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flipH="1" flipV="1">
              <a:off x="1403648" y="4365104"/>
              <a:ext cx="432048" cy="5040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H="1">
              <a:off x="467544" y="4869160"/>
              <a:ext cx="1368152" cy="72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/>
            <p:cNvSpPr/>
            <p:nvPr/>
          </p:nvSpPr>
          <p:spPr>
            <a:xfrm>
              <a:off x="691848" y="4806280"/>
              <a:ext cx="50800" cy="124460"/>
            </a:xfrm>
            <a:custGeom>
              <a:avLst/>
              <a:gdLst>
                <a:gd name="connsiteX0" fmla="*/ 50800 w 50800"/>
                <a:gd name="connsiteY0" fmla="*/ 124460 h 124460"/>
                <a:gd name="connsiteX1" fmla="*/ 15240 w 50800"/>
                <a:gd name="connsiteY1" fmla="*/ 22860 h 124460"/>
                <a:gd name="connsiteX2" fmla="*/ 0 w 50800"/>
                <a:gd name="connsiteY2" fmla="*/ 0 h 124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800" h="124460">
                  <a:moveTo>
                    <a:pt x="50800" y="124460"/>
                  </a:moveTo>
                  <a:cubicBezTo>
                    <a:pt x="37253" y="84031"/>
                    <a:pt x="23707" y="43603"/>
                    <a:pt x="15240" y="22860"/>
                  </a:cubicBezTo>
                  <a:cubicBezTo>
                    <a:pt x="6773" y="2117"/>
                    <a:pt x="3386" y="1058"/>
                    <a:pt x="0" y="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9" name="Straight Connector 8"/>
            <p:cNvCxnSpPr/>
            <p:nvPr/>
          </p:nvCxnSpPr>
          <p:spPr>
            <a:xfrm rot="13754680" flipH="1">
              <a:off x="1603706" y="4549908"/>
              <a:ext cx="5257" cy="1060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 flipV="1">
              <a:off x="1107316" y="4853300"/>
              <a:ext cx="7620" cy="1168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 flipV="1">
              <a:off x="1144444" y="4851380"/>
              <a:ext cx="7620" cy="1168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3491880" y="1700808"/>
            <a:ext cx="4536504" cy="2031325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Why is it not sufficient to show two sides are the same and an angle are the same if the side is not </a:t>
            </a:r>
            <a:r>
              <a:rPr lang="en-GB" b="1" dirty="0"/>
              <a:t>included</a:t>
            </a:r>
            <a:r>
              <a:rPr lang="en-GB" dirty="0"/>
              <a:t>?</a:t>
            </a:r>
          </a:p>
          <a:p>
            <a:endParaRPr lang="en-GB" dirty="0"/>
          </a:p>
          <a:p>
            <a:r>
              <a:rPr lang="en-GB" dirty="0"/>
              <a:t>Try and draw a triangle with the same side lengths and indicated angle, but that is not congruent to this one.</a:t>
            </a:r>
          </a:p>
        </p:txBody>
      </p:sp>
      <p:grpSp>
        <p:nvGrpSpPr>
          <p:cNvPr id="14" name="Group 13"/>
          <p:cNvGrpSpPr/>
          <p:nvPr/>
        </p:nvGrpSpPr>
        <p:grpSpPr>
          <a:xfrm rot="7845320">
            <a:off x="799267" y="2924277"/>
            <a:ext cx="3505539" cy="1856853"/>
            <a:chOff x="373989" y="4378572"/>
            <a:chExt cx="1461707" cy="613865"/>
          </a:xfrm>
        </p:grpSpPr>
        <p:cxnSp>
          <p:nvCxnSpPr>
            <p:cNvPr id="15" name="Straight Connector 14"/>
            <p:cNvCxnSpPr/>
            <p:nvPr/>
          </p:nvCxnSpPr>
          <p:spPr>
            <a:xfrm rot="13754680" flipH="1">
              <a:off x="809440" y="4264576"/>
              <a:ext cx="41454" cy="912356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3754680" flipV="1">
              <a:off x="1204548" y="4591132"/>
              <a:ext cx="613865" cy="188746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467544" y="4869160"/>
              <a:ext cx="1368152" cy="72008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8" name="Freeform 17"/>
            <p:cNvSpPr/>
            <p:nvPr/>
          </p:nvSpPr>
          <p:spPr>
            <a:xfrm>
              <a:off x="691848" y="4806280"/>
              <a:ext cx="50800" cy="124460"/>
            </a:xfrm>
            <a:custGeom>
              <a:avLst/>
              <a:gdLst>
                <a:gd name="connsiteX0" fmla="*/ 50800 w 50800"/>
                <a:gd name="connsiteY0" fmla="*/ 124460 h 124460"/>
                <a:gd name="connsiteX1" fmla="*/ 15240 w 50800"/>
                <a:gd name="connsiteY1" fmla="*/ 22860 h 124460"/>
                <a:gd name="connsiteX2" fmla="*/ 0 w 50800"/>
                <a:gd name="connsiteY2" fmla="*/ 0 h 124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800" h="124460">
                  <a:moveTo>
                    <a:pt x="50800" y="124460"/>
                  </a:moveTo>
                  <a:cubicBezTo>
                    <a:pt x="37253" y="84031"/>
                    <a:pt x="23707" y="43603"/>
                    <a:pt x="15240" y="22860"/>
                  </a:cubicBezTo>
                  <a:cubicBezTo>
                    <a:pt x="6773" y="2117"/>
                    <a:pt x="3386" y="1058"/>
                    <a:pt x="0" y="0"/>
                  </a:cubicBezTo>
                </a:path>
              </a:pathLst>
            </a:cu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9" name="Straight Connector 18"/>
            <p:cNvCxnSpPr/>
            <p:nvPr/>
          </p:nvCxnSpPr>
          <p:spPr>
            <a:xfrm rot="13754680">
              <a:off x="1478130" y="4637915"/>
              <a:ext cx="13143" cy="92833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 flipV="1">
              <a:off x="1107316" y="4853300"/>
              <a:ext cx="7620" cy="116840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 flipV="1">
              <a:off x="1144444" y="4851380"/>
              <a:ext cx="7620" cy="116840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8" name="Rectangle 27"/>
          <p:cNvSpPr/>
          <p:nvPr/>
        </p:nvSpPr>
        <p:spPr>
          <a:xfrm>
            <a:off x="4644008" y="4005064"/>
            <a:ext cx="2088232" cy="79208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 to Reveal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9912" y="5589240"/>
            <a:ext cx="3744416" cy="6463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In general, for “ASS”, there are always 2 possible triangles.</a:t>
            </a:r>
          </a:p>
        </p:txBody>
      </p:sp>
    </p:spTree>
    <p:extLst>
      <p:ext uri="{BB962C8B-B14F-4D97-AF65-F5344CB8AC3E}">
        <p14:creationId xmlns:p14="http://schemas.microsoft.com/office/powerpoint/2010/main" val="80731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64"/>
          <p:cNvSpPr/>
          <p:nvPr/>
        </p:nvSpPr>
        <p:spPr>
          <a:xfrm>
            <a:off x="0" y="3861048"/>
            <a:ext cx="2305878" cy="26642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6" name="Rectangle 165"/>
          <p:cNvSpPr/>
          <p:nvPr/>
        </p:nvSpPr>
        <p:spPr>
          <a:xfrm>
            <a:off x="2411760" y="3861048"/>
            <a:ext cx="2199997" cy="26642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7" name="Rectangle 166"/>
          <p:cNvSpPr/>
          <p:nvPr/>
        </p:nvSpPr>
        <p:spPr>
          <a:xfrm>
            <a:off x="4716016" y="3861048"/>
            <a:ext cx="2169813" cy="26642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8" name="Rectangle 167"/>
          <p:cNvSpPr/>
          <p:nvPr/>
        </p:nvSpPr>
        <p:spPr>
          <a:xfrm>
            <a:off x="6974188" y="3861048"/>
            <a:ext cx="2130056" cy="26642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4" name="Rectangle 163"/>
          <p:cNvSpPr/>
          <p:nvPr/>
        </p:nvSpPr>
        <p:spPr>
          <a:xfrm>
            <a:off x="6768445" y="1556792"/>
            <a:ext cx="2169910" cy="201622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3" name="Rectangle 162"/>
          <p:cNvSpPr/>
          <p:nvPr/>
        </p:nvSpPr>
        <p:spPr>
          <a:xfrm>
            <a:off x="2542205" y="1550756"/>
            <a:ext cx="2190051" cy="201622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2" name="Rectangle 161"/>
          <p:cNvSpPr/>
          <p:nvPr/>
        </p:nvSpPr>
        <p:spPr>
          <a:xfrm>
            <a:off x="93933" y="1550756"/>
            <a:ext cx="2376264" cy="201622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What type of proof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23528" y="764704"/>
            <a:ext cx="8136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 triangle, identify if showing the indicating things are equal (to another triangle) are sufficient to prove congruence, and if so, what type of proof we have.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525981" y="1838788"/>
            <a:ext cx="936104" cy="576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 flipV="1">
            <a:off x="1462085" y="1838788"/>
            <a:ext cx="432048" cy="504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525981" y="2342844"/>
            <a:ext cx="1368152" cy="720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 flipV="1">
            <a:off x="1020973" y="2005644"/>
            <a:ext cx="81280" cy="1371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 flipV="1">
            <a:off x="1118763" y="2325684"/>
            <a:ext cx="5715" cy="1104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1158813" y="2323794"/>
            <a:ext cx="5715" cy="1104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1611817" y="2024694"/>
            <a:ext cx="78446" cy="68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1636199" y="2051364"/>
            <a:ext cx="80734" cy="68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1657154" y="2076129"/>
            <a:ext cx="86449" cy="7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2974253" y="1838788"/>
            <a:ext cx="936104" cy="576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 flipV="1">
            <a:off x="3910357" y="1838788"/>
            <a:ext cx="432048" cy="504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H="1">
            <a:off x="2974253" y="2342844"/>
            <a:ext cx="1368152" cy="720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reeform 37"/>
          <p:cNvSpPr/>
          <p:nvPr/>
        </p:nvSpPr>
        <p:spPr>
          <a:xfrm>
            <a:off x="3165125" y="2298632"/>
            <a:ext cx="57150" cy="118110"/>
          </a:xfrm>
          <a:custGeom>
            <a:avLst/>
            <a:gdLst>
              <a:gd name="connsiteX0" fmla="*/ 0 w 57150"/>
              <a:gd name="connsiteY0" fmla="*/ 0 h 118110"/>
              <a:gd name="connsiteX1" fmla="*/ 34290 w 57150"/>
              <a:gd name="connsiteY1" fmla="*/ 38100 h 118110"/>
              <a:gd name="connsiteX2" fmla="*/ 57150 w 57150"/>
              <a:gd name="connsiteY2" fmla="*/ 118110 h 11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150" h="118110">
                <a:moveTo>
                  <a:pt x="0" y="0"/>
                </a:moveTo>
                <a:cubicBezTo>
                  <a:pt x="12382" y="9207"/>
                  <a:pt x="24765" y="18415"/>
                  <a:pt x="34290" y="38100"/>
                </a:cubicBezTo>
                <a:cubicBezTo>
                  <a:pt x="43815" y="57785"/>
                  <a:pt x="50482" y="87947"/>
                  <a:pt x="57150" y="11811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Freeform 38"/>
          <p:cNvSpPr/>
          <p:nvPr/>
        </p:nvSpPr>
        <p:spPr>
          <a:xfrm>
            <a:off x="3778535" y="1925252"/>
            <a:ext cx="240030" cy="43180"/>
          </a:xfrm>
          <a:custGeom>
            <a:avLst/>
            <a:gdLst>
              <a:gd name="connsiteX0" fmla="*/ 0 w 240030"/>
              <a:gd name="connsiteY0" fmla="*/ 0 h 43180"/>
              <a:gd name="connsiteX1" fmla="*/ 53340 w 240030"/>
              <a:gd name="connsiteY1" fmla="*/ 30480 h 43180"/>
              <a:gd name="connsiteX2" fmla="*/ 148590 w 240030"/>
              <a:gd name="connsiteY2" fmla="*/ 41910 h 43180"/>
              <a:gd name="connsiteX3" fmla="*/ 240030 w 240030"/>
              <a:gd name="connsiteY3" fmla="*/ 38100 h 43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" h="43180">
                <a:moveTo>
                  <a:pt x="0" y="0"/>
                </a:moveTo>
                <a:cubicBezTo>
                  <a:pt x="14287" y="11747"/>
                  <a:pt x="28575" y="23495"/>
                  <a:pt x="53340" y="30480"/>
                </a:cubicBezTo>
                <a:cubicBezTo>
                  <a:pt x="78105" y="37465"/>
                  <a:pt x="117475" y="40640"/>
                  <a:pt x="148590" y="41910"/>
                </a:cubicBezTo>
                <a:cubicBezTo>
                  <a:pt x="179705" y="43180"/>
                  <a:pt x="209867" y="40640"/>
                  <a:pt x="240030" y="381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Freeform 39"/>
          <p:cNvSpPr/>
          <p:nvPr/>
        </p:nvSpPr>
        <p:spPr>
          <a:xfrm>
            <a:off x="3751865" y="1944302"/>
            <a:ext cx="289560" cy="55245"/>
          </a:xfrm>
          <a:custGeom>
            <a:avLst/>
            <a:gdLst>
              <a:gd name="connsiteX0" fmla="*/ 0 w 289560"/>
              <a:gd name="connsiteY0" fmla="*/ 0 h 55245"/>
              <a:gd name="connsiteX1" fmla="*/ 57150 w 289560"/>
              <a:gd name="connsiteY1" fmla="*/ 38100 h 55245"/>
              <a:gd name="connsiteX2" fmla="*/ 163830 w 289560"/>
              <a:gd name="connsiteY2" fmla="*/ 53340 h 55245"/>
              <a:gd name="connsiteX3" fmla="*/ 232410 w 289560"/>
              <a:gd name="connsiteY3" fmla="*/ 49530 h 55245"/>
              <a:gd name="connsiteX4" fmla="*/ 289560 w 289560"/>
              <a:gd name="connsiteY4" fmla="*/ 41910 h 55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560" h="55245">
                <a:moveTo>
                  <a:pt x="0" y="0"/>
                </a:moveTo>
                <a:cubicBezTo>
                  <a:pt x="14922" y="14605"/>
                  <a:pt x="29845" y="29210"/>
                  <a:pt x="57150" y="38100"/>
                </a:cubicBezTo>
                <a:cubicBezTo>
                  <a:pt x="84455" y="46990"/>
                  <a:pt x="134620" y="51435"/>
                  <a:pt x="163830" y="53340"/>
                </a:cubicBezTo>
                <a:cubicBezTo>
                  <a:pt x="193040" y="55245"/>
                  <a:pt x="211455" y="51435"/>
                  <a:pt x="232410" y="49530"/>
                </a:cubicBezTo>
                <a:cubicBezTo>
                  <a:pt x="253365" y="47625"/>
                  <a:pt x="271462" y="44767"/>
                  <a:pt x="289560" y="4191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Freeform 40"/>
          <p:cNvSpPr/>
          <p:nvPr/>
        </p:nvSpPr>
        <p:spPr>
          <a:xfrm>
            <a:off x="4136040" y="2188142"/>
            <a:ext cx="73025" cy="171450"/>
          </a:xfrm>
          <a:custGeom>
            <a:avLst/>
            <a:gdLst>
              <a:gd name="connsiteX0" fmla="*/ 635 w 73025"/>
              <a:gd name="connsiteY0" fmla="*/ 171450 h 171450"/>
              <a:gd name="connsiteX1" fmla="*/ 4445 w 73025"/>
              <a:gd name="connsiteY1" fmla="*/ 110490 h 171450"/>
              <a:gd name="connsiteX2" fmla="*/ 27305 w 73025"/>
              <a:gd name="connsiteY2" fmla="*/ 49530 h 171450"/>
              <a:gd name="connsiteX3" fmla="*/ 73025 w 73025"/>
              <a:gd name="connsiteY3" fmla="*/ 0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025" h="171450">
                <a:moveTo>
                  <a:pt x="635" y="171450"/>
                </a:moveTo>
                <a:cubicBezTo>
                  <a:pt x="317" y="151130"/>
                  <a:pt x="0" y="130810"/>
                  <a:pt x="4445" y="110490"/>
                </a:cubicBezTo>
                <a:cubicBezTo>
                  <a:pt x="8890" y="90170"/>
                  <a:pt x="15875" y="67945"/>
                  <a:pt x="27305" y="49530"/>
                </a:cubicBezTo>
                <a:cubicBezTo>
                  <a:pt x="38735" y="31115"/>
                  <a:pt x="55880" y="15557"/>
                  <a:pt x="73025" y="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Freeform 41"/>
          <p:cNvSpPr/>
          <p:nvPr/>
        </p:nvSpPr>
        <p:spPr>
          <a:xfrm>
            <a:off x="4106195" y="2165282"/>
            <a:ext cx="87630" cy="198120"/>
          </a:xfrm>
          <a:custGeom>
            <a:avLst/>
            <a:gdLst>
              <a:gd name="connsiteX0" fmla="*/ 0 w 87630"/>
              <a:gd name="connsiteY0" fmla="*/ 198120 h 198120"/>
              <a:gd name="connsiteX1" fmla="*/ 19050 w 87630"/>
              <a:gd name="connsiteY1" fmla="*/ 91440 h 198120"/>
              <a:gd name="connsiteX2" fmla="*/ 60960 w 87630"/>
              <a:gd name="connsiteY2" fmla="*/ 19050 h 198120"/>
              <a:gd name="connsiteX3" fmla="*/ 87630 w 87630"/>
              <a:gd name="connsiteY3" fmla="*/ 0 h 198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630" h="198120">
                <a:moveTo>
                  <a:pt x="0" y="198120"/>
                </a:moveTo>
                <a:cubicBezTo>
                  <a:pt x="4445" y="159702"/>
                  <a:pt x="8890" y="121285"/>
                  <a:pt x="19050" y="91440"/>
                </a:cubicBezTo>
                <a:cubicBezTo>
                  <a:pt x="29210" y="61595"/>
                  <a:pt x="49530" y="34290"/>
                  <a:pt x="60960" y="19050"/>
                </a:cubicBezTo>
                <a:cubicBezTo>
                  <a:pt x="72390" y="3810"/>
                  <a:pt x="80010" y="1905"/>
                  <a:pt x="87630" y="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Freeform 42"/>
          <p:cNvSpPr/>
          <p:nvPr/>
        </p:nvSpPr>
        <p:spPr>
          <a:xfrm>
            <a:off x="4075715" y="2134167"/>
            <a:ext cx="91440" cy="221615"/>
          </a:xfrm>
          <a:custGeom>
            <a:avLst/>
            <a:gdLst>
              <a:gd name="connsiteX0" fmla="*/ 0 w 91440"/>
              <a:gd name="connsiteY0" fmla="*/ 221615 h 221615"/>
              <a:gd name="connsiteX1" fmla="*/ 19050 w 91440"/>
              <a:gd name="connsiteY1" fmla="*/ 95885 h 221615"/>
              <a:gd name="connsiteX2" fmla="*/ 76200 w 91440"/>
              <a:gd name="connsiteY2" fmla="*/ 15875 h 221615"/>
              <a:gd name="connsiteX3" fmla="*/ 91440 w 91440"/>
              <a:gd name="connsiteY3" fmla="*/ 635 h 22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" h="221615">
                <a:moveTo>
                  <a:pt x="0" y="221615"/>
                </a:moveTo>
                <a:cubicBezTo>
                  <a:pt x="3175" y="175895"/>
                  <a:pt x="6350" y="130175"/>
                  <a:pt x="19050" y="95885"/>
                </a:cubicBezTo>
                <a:cubicBezTo>
                  <a:pt x="31750" y="61595"/>
                  <a:pt x="64135" y="31750"/>
                  <a:pt x="76200" y="15875"/>
                </a:cubicBezTo>
                <a:cubicBezTo>
                  <a:pt x="88265" y="0"/>
                  <a:pt x="89852" y="317"/>
                  <a:pt x="91440" y="635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4" name="Straight Connector 43"/>
          <p:cNvCxnSpPr/>
          <p:nvPr/>
        </p:nvCxnSpPr>
        <p:spPr>
          <a:xfrm flipV="1">
            <a:off x="7237099" y="1844824"/>
            <a:ext cx="936104" cy="576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H="1" flipV="1">
            <a:off x="8173203" y="1844824"/>
            <a:ext cx="432048" cy="504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H="1">
            <a:off x="7237099" y="2348880"/>
            <a:ext cx="1368152" cy="720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7461403" y="2286000"/>
            <a:ext cx="50800" cy="124460"/>
          </a:xfrm>
          <a:custGeom>
            <a:avLst/>
            <a:gdLst>
              <a:gd name="connsiteX0" fmla="*/ 50800 w 50800"/>
              <a:gd name="connsiteY0" fmla="*/ 124460 h 124460"/>
              <a:gd name="connsiteX1" fmla="*/ 15240 w 50800"/>
              <a:gd name="connsiteY1" fmla="*/ 22860 h 124460"/>
              <a:gd name="connsiteX2" fmla="*/ 0 w 50800"/>
              <a:gd name="connsiteY2" fmla="*/ 0 h 124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800" h="124460">
                <a:moveTo>
                  <a:pt x="50800" y="124460"/>
                </a:moveTo>
                <a:cubicBezTo>
                  <a:pt x="37253" y="84031"/>
                  <a:pt x="23707" y="43603"/>
                  <a:pt x="15240" y="22860"/>
                </a:cubicBezTo>
                <a:cubicBezTo>
                  <a:pt x="6773" y="2117"/>
                  <a:pt x="3386" y="1058"/>
                  <a:pt x="0" y="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Freeform 53"/>
          <p:cNvSpPr/>
          <p:nvPr/>
        </p:nvSpPr>
        <p:spPr>
          <a:xfrm>
            <a:off x="8020203" y="1940560"/>
            <a:ext cx="256540" cy="45297"/>
          </a:xfrm>
          <a:custGeom>
            <a:avLst/>
            <a:gdLst>
              <a:gd name="connsiteX0" fmla="*/ 0 w 256540"/>
              <a:gd name="connsiteY0" fmla="*/ 0 h 45297"/>
              <a:gd name="connsiteX1" fmla="*/ 83820 w 256540"/>
              <a:gd name="connsiteY1" fmla="*/ 38100 h 45297"/>
              <a:gd name="connsiteX2" fmla="*/ 157480 w 256540"/>
              <a:gd name="connsiteY2" fmla="*/ 43180 h 45297"/>
              <a:gd name="connsiteX3" fmla="*/ 238760 w 256540"/>
              <a:gd name="connsiteY3" fmla="*/ 30480 h 45297"/>
              <a:gd name="connsiteX4" fmla="*/ 256540 w 256540"/>
              <a:gd name="connsiteY4" fmla="*/ 17780 h 45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540" h="45297">
                <a:moveTo>
                  <a:pt x="0" y="0"/>
                </a:moveTo>
                <a:cubicBezTo>
                  <a:pt x="28786" y="15451"/>
                  <a:pt x="57573" y="30903"/>
                  <a:pt x="83820" y="38100"/>
                </a:cubicBezTo>
                <a:cubicBezTo>
                  <a:pt x="110067" y="45297"/>
                  <a:pt x="131657" y="44450"/>
                  <a:pt x="157480" y="43180"/>
                </a:cubicBezTo>
                <a:cubicBezTo>
                  <a:pt x="183303" y="41910"/>
                  <a:pt x="222250" y="34713"/>
                  <a:pt x="238760" y="30480"/>
                </a:cubicBezTo>
                <a:cubicBezTo>
                  <a:pt x="255270" y="26247"/>
                  <a:pt x="255905" y="22013"/>
                  <a:pt x="256540" y="1778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Freeform 54"/>
          <p:cNvSpPr/>
          <p:nvPr/>
        </p:nvSpPr>
        <p:spPr>
          <a:xfrm>
            <a:off x="7999883" y="1960880"/>
            <a:ext cx="297180" cy="51223"/>
          </a:xfrm>
          <a:custGeom>
            <a:avLst/>
            <a:gdLst>
              <a:gd name="connsiteX0" fmla="*/ 0 w 297180"/>
              <a:gd name="connsiteY0" fmla="*/ 0 h 51223"/>
              <a:gd name="connsiteX1" fmla="*/ 50800 w 297180"/>
              <a:gd name="connsiteY1" fmla="*/ 30480 h 51223"/>
              <a:gd name="connsiteX2" fmla="*/ 129540 w 297180"/>
              <a:gd name="connsiteY2" fmla="*/ 48260 h 51223"/>
              <a:gd name="connsiteX3" fmla="*/ 190500 w 297180"/>
              <a:gd name="connsiteY3" fmla="*/ 48260 h 51223"/>
              <a:gd name="connsiteX4" fmla="*/ 236220 w 297180"/>
              <a:gd name="connsiteY4" fmla="*/ 48260 h 51223"/>
              <a:gd name="connsiteX5" fmla="*/ 297180 w 297180"/>
              <a:gd name="connsiteY5" fmla="*/ 33020 h 51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7180" h="51223">
                <a:moveTo>
                  <a:pt x="0" y="0"/>
                </a:moveTo>
                <a:cubicBezTo>
                  <a:pt x="14605" y="11218"/>
                  <a:pt x="29210" y="22437"/>
                  <a:pt x="50800" y="30480"/>
                </a:cubicBezTo>
                <a:cubicBezTo>
                  <a:pt x="72390" y="38523"/>
                  <a:pt x="106257" y="45297"/>
                  <a:pt x="129540" y="48260"/>
                </a:cubicBezTo>
                <a:cubicBezTo>
                  <a:pt x="152823" y="51223"/>
                  <a:pt x="190500" y="48260"/>
                  <a:pt x="190500" y="48260"/>
                </a:cubicBezTo>
                <a:cubicBezTo>
                  <a:pt x="208280" y="48260"/>
                  <a:pt x="218440" y="50800"/>
                  <a:pt x="236220" y="48260"/>
                </a:cubicBezTo>
                <a:cubicBezTo>
                  <a:pt x="254000" y="45720"/>
                  <a:pt x="275590" y="39370"/>
                  <a:pt x="297180" y="3302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6" name="Straight Connector 55"/>
          <p:cNvCxnSpPr/>
          <p:nvPr/>
        </p:nvCxnSpPr>
        <p:spPr>
          <a:xfrm flipV="1">
            <a:off x="8332623" y="2070100"/>
            <a:ext cx="10922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67544" y="4365104"/>
            <a:ext cx="936104" cy="576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H="1" flipV="1">
            <a:off x="1403648" y="4365104"/>
            <a:ext cx="432048" cy="504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H="1">
            <a:off x="467544" y="4869160"/>
            <a:ext cx="1368152" cy="720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691848" y="4806280"/>
            <a:ext cx="50800" cy="124460"/>
          </a:xfrm>
          <a:custGeom>
            <a:avLst/>
            <a:gdLst>
              <a:gd name="connsiteX0" fmla="*/ 50800 w 50800"/>
              <a:gd name="connsiteY0" fmla="*/ 124460 h 124460"/>
              <a:gd name="connsiteX1" fmla="*/ 15240 w 50800"/>
              <a:gd name="connsiteY1" fmla="*/ 22860 h 124460"/>
              <a:gd name="connsiteX2" fmla="*/ 0 w 50800"/>
              <a:gd name="connsiteY2" fmla="*/ 0 h 124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800" h="124460">
                <a:moveTo>
                  <a:pt x="50800" y="124460"/>
                </a:moveTo>
                <a:cubicBezTo>
                  <a:pt x="37253" y="84031"/>
                  <a:pt x="23707" y="43603"/>
                  <a:pt x="15240" y="22860"/>
                </a:cubicBezTo>
                <a:cubicBezTo>
                  <a:pt x="6773" y="2117"/>
                  <a:pt x="3386" y="1058"/>
                  <a:pt x="0" y="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5" name="Straight Connector 64"/>
          <p:cNvCxnSpPr/>
          <p:nvPr/>
        </p:nvCxnSpPr>
        <p:spPr>
          <a:xfrm flipV="1">
            <a:off x="1563068" y="4590380"/>
            <a:ext cx="10922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 flipV="1">
            <a:off x="1107316" y="4853300"/>
            <a:ext cx="7620" cy="1168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 flipH="1" flipV="1">
            <a:off x="1144444" y="4851380"/>
            <a:ext cx="7620" cy="1168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5508104" y="4077072"/>
            <a:ext cx="6480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5508104" y="4077072"/>
            <a:ext cx="0" cy="136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V="1">
            <a:off x="5508104" y="4077072"/>
            <a:ext cx="648072" cy="136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5508104" y="4293096"/>
            <a:ext cx="216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V="1">
            <a:off x="5724128" y="4077072"/>
            <a:ext cx="0" cy="216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5782280" y="4607560"/>
            <a:ext cx="208280" cy="91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5868144" y="3933056"/>
            <a:ext cx="496" cy="2427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>
            <a:off x="5940152" y="3933056"/>
            <a:ext cx="496" cy="2427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7740352" y="4077072"/>
            <a:ext cx="6480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7740352" y="4077072"/>
            <a:ext cx="0" cy="136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 flipV="1">
            <a:off x="7740352" y="4077072"/>
            <a:ext cx="648072" cy="136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7740352" y="4293096"/>
            <a:ext cx="216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flipV="1">
            <a:off x="7956376" y="4077072"/>
            <a:ext cx="0" cy="216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7741609" y="4994744"/>
            <a:ext cx="198783" cy="46383"/>
          </a:xfrm>
          <a:custGeom>
            <a:avLst/>
            <a:gdLst>
              <a:gd name="connsiteX0" fmla="*/ 0 w 198783"/>
              <a:gd name="connsiteY0" fmla="*/ 6626 h 46383"/>
              <a:gd name="connsiteX1" fmla="*/ 71562 w 198783"/>
              <a:gd name="connsiteY1" fmla="*/ 6626 h 46383"/>
              <a:gd name="connsiteX2" fmla="*/ 198783 w 198783"/>
              <a:gd name="connsiteY2" fmla="*/ 46383 h 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783" h="46383">
                <a:moveTo>
                  <a:pt x="0" y="6626"/>
                </a:moveTo>
                <a:cubicBezTo>
                  <a:pt x="19216" y="3313"/>
                  <a:pt x="38432" y="0"/>
                  <a:pt x="71562" y="6626"/>
                </a:cubicBezTo>
                <a:cubicBezTo>
                  <a:pt x="104693" y="13252"/>
                  <a:pt x="151738" y="29817"/>
                  <a:pt x="198783" y="46383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6" name="Straight Connector 105"/>
          <p:cNvCxnSpPr/>
          <p:nvPr/>
        </p:nvCxnSpPr>
        <p:spPr>
          <a:xfrm flipH="1" flipV="1">
            <a:off x="7614389" y="4675368"/>
            <a:ext cx="222636" cy="79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 flipV="1">
            <a:off x="2915816" y="4293096"/>
            <a:ext cx="936104" cy="576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flipH="1" flipV="1">
            <a:off x="3851920" y="4293096"/>
            <a:ext cx="432048" cy="504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 flipH="1">
            <a:off x="2915816" y="4797152"/>
            <a:ext cx="1368152" cy="720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Freeform 113"/>
          <p:cNvSpPr/>
          <p:nvPr/>
        </p:nvSpPr>
        <p:spPr>
          <a:xfrm>
            <a:off x="3140120" y="4734272"/>
            <a:ext cx="50800" cy="124460"/>
          </a:xfrm>
          <a:custGeom>
            <a:avLst/>
            <a:gdLst>
              <a:gd name="connsiteX0" fmla="*/ 50800 w 50800"/>
              <a:gd name="connsiteY0" fmla="*/ 124460 h 124460"/>
              <a:gd name="connsiteX1" fmla="*/ 15240 w 50800"/>
              <a:gd name="connsiteY1" fmla="*/ 22860 h 124460"/>
              <a:gd name="connsiteX2" fmla="*/ 0 w 50800"/>
              <a:gd name="connsiteY2" fmla="*/ 0 h 124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800" h="124460">
                <a:moveTo>
                  <a:pt x="50800" y="124460"/>
                </a:moveTo>
                <a:cubicBezTo>
                  <a:pt x="37253" y="84031"/>
                  <a:pt x="23707" y="43603"/>
                  <a:pt x="15240" y="22860"/>
                </a:cubicBezTo>
                <a:cubicBezTo>
                  <a:pt x="6773" y="2117"/>
                  <a:pt x="3386" y="1058"/>
                  <a:pt x="0" y="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5" name="Straight Connector 114"/>
          <p:cNvCxnSpPr/>
          <p:nvPr/>
        </p:nvCxnSpPr>
        <p:spPr>
          <a:xfrm flipH="1" flipV="1">
            <a:off x="3451280" y="4459600"/>
            <a:ext cx="86360" cy="1219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 flipH="1" flipV="1">
            <a:off x="3555588" y="4781292"/>
            <a:ext cx="7620" cy="1168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 flipH="1" flipV="1">
            <a:off x="3592716" y="4779372"/>
            <a:ext cx="7620" cy="1168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363798" y="2702884"/>
            <a:ext cx="360040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ymbol" pitchFamily="18" charset="2"/>
                <a:sym typeface="Wingdings"/>
              </a:rPr>
              <a:t></a:t>
            </a:r>
            <a:endParaRPr lang="en-GB" dirty="0">
              <a:latin typeface="Symbol" pitchFamily="18" charset="2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867854" y="2702884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SSS</a:t>
            </a:r>
            <a:endParaRPr lang="en-GB" dirty="0">
              <a:latin typeface="+mj-lt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1587934" y="2702884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SAS</a:t>
            </a:r>
            <a:endParaRPr lang="en-GB" dirty="0">
              <a:latin typeface="+mj-lt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615826" y="3134932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ASA</a:t>
            </a:r>
            <a:endParaRPr lang="en-GB" dirty="0">
              <a:latin typeface="+mj-lt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1335906" y="3134932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RHS</a:t>
            </a:r>
            <a:endParaRPr lang="en-GB" dirty="0">
              <a:latin typeface="+mj-lt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2758229" y="2702884"/>
            <a:ext cx="360040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ymbol" pitchFamily="18" charset="2"/>
                <a:sym typeface="Wingdings"/>
              </a:rPr>
              <a:t></a:t>
            </a:r>
            <a:endParaRPr lang="en-GB" dirty="0">
              <a:latin typeface="Symbol" pitchFamily="18" charset="2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3262285" y="2702884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SSS</a:t>
            </a:r>
            <a:endParaRPr lang="en-GB" dirty="0">
              <a:latin typeface="+mj-lt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3982365" y="2702884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SAS</a:t>
            </a:r>
            <a:endParaRPr lang="en-GB" dirty="0">
              <a:latin typeface="+mj-lt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3009070" y="3134932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ASA</a:t>
            </a:r>
            <a:endParaRPr lang="en-GB" dirty="0">
              <a:latin typeface="+mj-lt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3729150" y="3134932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RHS</a:t>
            </a:r>
            <a:endParaRPr lang="en-GB" dirty="0">
              <a:latin typeface="+mj-lt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6850123" y="2708920"/>
            <a:ext cx="360040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ymbol" pitchFamily="18" charset="2"/>
                <a:sym typeface="Wingdings"/>
              </a:rPr>
              <a:t></a:t>
            </a:r>
            <a:endParaRPr lang="en-GB" dirty="0">
              <a:latin typeface="Symbol" pitchFamily="18" charset="2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7354179" y="2708920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SSS</a:t>
            </a:r>
            <a:endParaRPr lang="en-GB" dirty="0">
              <a:latin typeface="+mj-lt"/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8074259" y="2708920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SAS</a:t>
            </a:r>
            <a:endParaRPr lang="en-GB" dirty="0">
              <a:latin typeface="+mj-lt"/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7030143" y="3140968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ASA</a:t>
            </a:r>
            <a:endParaRPr lang="en-GB" dirty="0">
              <a:latin typeface="+mj-lt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7750223" y="3140968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RHS</a:t>
            </a:r>
            <a:endParaRPr lang="en-GB" dirty="0">
              <a:latin typeface="+mj-lt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259659" y="5661248"/>
            <a:ext cx="360040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ymbol" pitchFamily="18" charset="2"/>
                <a:sym typeface="Wingdings"/>
              </a:rPr>
              <a:t></a:t>
            </a:r>
            <a:endParaRPr lang="en-GB" dirty="0">
              <a:latin typeface="Symbol" pitchFamily="18" charset="2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763715" y="5661248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SSS</a:t>
            </a:r>
            <a:endParaRPr lang="en-GB" dirty="0">
              <a:latin typeface="+mj-lt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1483795" y="5661248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SAS</a:t>
            </a:r>
            <a:endParaRPr lang="en-GB" dirty="0">
              <a:latin typeface="+mj-lt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483954" y="6094180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ASA</a:t>
            </a:r>
            <a:endParaRPr lang="en-GB" dirty="0">
              <a:latin typeface="+mj-lt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1204034" y="6094180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RHS</a:t>
            </a:r>
            <a:endParaRPr lang="en-GB" dirty="0">
              <a:latin typeface="+mj-lt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2555776" y="5661248"/>
            <a:ext cx="360040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ymbol" pitchFamily="18" charset="2"/>
                <a:sym typeface="Wingdings"/>
              </a:rPr>
              <a:t></a:t>
            </a:r>
            <a:endParaRPr lang="en-GB" dirty="0">
              <a:latin typeface="Symbol" pitchFamily="18" charset="2"/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3059832" y="5661248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SSS</a:t>
            </a:r>
            <a:endParaRPr lang="en-GB" dirty="0">
              <a:latin typeface="+mj-lt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3779912" y="5661248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SAS</a:t>
            </a:r>
            <a:endParaRPr lang="en-GB" dirty="0">
              <a:latin typeface="+mj-lt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2792852" y="6093296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ASA</a:t>
            </a:r>
            <a:endParaRPr lang="en-GB" dirty="0">
              <a:latin typeface="+mj-lt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3512932" y="6093296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RHS</a:t>
            </a:r>
            <a:endParaRPr lang="en-GB" dirty="0">
              <a:latin typeface="+mj-lt"/>
            </a:endParaRPr>
          </a:p>
        </p:txBody>
      </p:sp>
      <p:sp>
        <p:nvSpPr>
          <p:cNvPr id="150" name="Rectangle 149"/>
          <p:cNvSpPr/>
          <p:nvPr/>
        </p:nvSpPr>
        <p:spPr>
          <a:xfrm>
            <a:off x="4893712" y="5661248"/>
            <a:ext cx="360040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ymbol" pitchFamily="18" charset="2"/>
                <a:sym typeface="Wingdings"/>
              </a:rPr>
              <a:t></a:t>
            </a:r>
            <a:endParaRPr lang="en-GB" dirty="0">
              <a:latin typeface="Symbol" pitchFamily="18" charset="2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5397768" y="5661248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SSS</a:t>
            </a:r>
            <a:endParaRPr lang="en-GB" dirty="0">
              <a:latin typeface="+mj-lt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6117848" y="5661248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SAS</a:t>
            </a:r>
            <a:endParaRPr lang="en-GB" dirty="0">
              <a:latin typeface="+mj-lt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5109736" y="6093296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ASA</a:t>
            </a:r>
            <a:endParaRPr lang="en-GB" dirty="0">
              <a:latin typeface="+mj-lt"/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5829816" y="6093296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RHS</a:t>
            </a:r>
            <a:endParaRPr lang="en-GB" dirty="0">
              <a:latin typeface="+mj-lt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7138155" y="5661248"/>
            <a:ext cx="360040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ymbol" pitchFamily="18" charset="2"/>
                <a:sym typeface="Wingdings"/>
              </a:rPr>
              <a:t></a:t>
            </a:r>
            <a:endParaRPr lang="en-GB" dirty="0">
              <a:latin typeface="Symbol" pitchFamily="18" charset="2"/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7642211" y="5661248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SSS</a:t>
            </a:r>
            <a:endParaRPr lang="en-GB" dirty="0">
              <a:latin typeface="+mj-lt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8362291" y="5661248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SAS</a:t>
            </a:r>
            <a:endParaRPr lang="en-GB" dirty="0">
              <a:latin typeface="+mj-lt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7437019" y="6093296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ASA</a:t>
            </a:r>
            <a:endParaRPr lang="en-GB" dirty="0">
              <a:latin typeface="+mj-lt"/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8157099" y="6093296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RHS</a:t>
            </a:r>
            <a:endParaRPr lang="en-GB" dirty="0">
              <a:latin typeface="+mj-lt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7743870" y="1119829"/>
            <a:ext cx="1234007" cy="1245546"/>
            <a:chOff x="6662947" y="1119829"/>
            <a:chExt cx="1234007" cy="1245546"/>
          </a:xfrm>
        </p:grpSpPr>
        <p:sp>
          <p:nvSpPr>
            <p:cNvPr id="6" name="TextBox 5"/>
            <p:cNvSpPr txBox="1"/>
            <p:nvPr/>
          </p:nvSpPr>
          <p:spPr>
            <a:xfrm>
              <a:off x="6662947" y="1119829"/>
              <a:ext cx="1234007" cy="64633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sz="1200" dirty="0"/>
                <a:t>This angle is known from the other two.</a:t>
              </a:r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7283450" y="2168525"/>
              <a:ext cx="139700" cy="196850"/>
              <a:chOff x="7283450" y="2168525"/>
              <a:chExt cx="139700" cy="196850"/>
            </a:xfrm>
          </p:grpSpPr>
          <p:sp>
            <p:nvSpPr>
              <p:cNvPr id="7" name="Freeform 6"/>
              <p:cNvSpPr/>
              <p:nvPr/>
            </p:nvSpPr>
            <p:spPr>
              <a:xfrm>
                <a:off x="7359650" y="2238375"/>
                <a:ext cx="63500" cy="127000"/>
              </a:xfrm>
              <a:custGeom>
                <a:avLst/>
                <a:gdLst>
                  <a:gd name="connsiteX0" fmla="*/ 0 w 63500"/>
                  <a:gd name="connsiteY0" fmla="*/ 127000 h 127000"/>
                  <a:gd name="connsiteX1" fmla="*/ 15875 w 63500"/>
                  <a:gd name="connsiteY1" fmla="*/ 63500 h 127000"/>
                  <a:gd name="connsiteX2" fmla="*/ 63500 w 63500"/>
                  <a:gd name="connsiteY2" fmla="*/ 0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3500" h="127000">
                    <a:moveTo>
                      <a:pt x="0" y="127000"/>
                    </a:moveTo>
                    <a:cubicBezTo>
                      <a:pt x="2646" y="105833"/>
                      <a:pt x="5292" y="84667"/>
                      <a:pt x="15875" y="63500"/>
                    </a:cubicBezTo>
                    <a:cubicBezTo>
                      <a:pt x="26458" y="42333"/>
                      <a:pt x="44979" y="21166"/>
                      <a:pt x="63500" y="0"/>
                    </a:cubicBezTo>
                  </a:path>
                </a:pathLst>
              </a:cu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Freeform 9"/>
              <p:cNvSpPr/>
              <p:nvPr/>
            </p:nvSpPr>
            <p:spPr>
              <a:xfrm>
                <a:off x="7312025" y="2203450"/>
                <a:ext cx="82550" cy="158750"/>
              </a:xfrm>
              <a:custGeom>
                <a:avLst/>
                <a:gdLst>
                  <a:gd name="connsiteX0" fmla="*/ 0 w 82550"/>
                  <a:gd name="connsiteY0" fmla="*/ 158750 h 158750"/>
                  <a:gd name="connsiteX1" fmla="*/ 25400 w 82550"/>
                  <a:gd name="connsiteY1" fmla="*/ 82550 h 158750"/>
                  <a:gd name="connsiteX2" fmla="*/ 57150 w 82550"/>
                  <a:gd name="connsiteY2" fmla="*/ 28575 h 158750"/>
                  <a:gd name="connsiteX3" fmla="*/ 82550 w 82550"/>
                  <a:gd name="connsiteY3" fmla="*/ 0 h 158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550" h="158750">
                    <a:moveTo>
                      <a:pt x="0" y="158750"/>
                    </a:moveTo>
                    <a:cubicBezTo>
                      <a:pt x="7937" y="131498"/>
                      <a:pt x="15875" y="104246"/>
                      <a:pt x="25400" y="82550"/>
                    </a:cubicBezTo>
                    <a:cubicBezTo>
                      <a:pt x="34925" y="60854"/>
                      <a:pt x="47625" y="42333"/>
                      <a:pt x="57150" y="28575"/>
                    </a:cubicBezTo>
                    <a:cubicBezTo>
                      <a:pt x="66675" y="14817"/>
                      <a:pt x="74612" y="7408"/>
                      <a:pt x="82550" y="0"/>
                    </a:cubicBezTo>
                  </a:path>
                </a:pathLst>
              </a:cu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Freeform 10"/>
              <p:cNvSpPr/>
              <p:nvPr/>
            </p:nvSpPr>
            <p:spPr>
              <a:xfrm>
                <a:off x="7283450" y="2168525"/>
                <a:ext cx="88900" cy="196850"/>
              </a:xfrm>
              <a:custGeom>
                <a:avLst/>
                <a:gdLst>
                  <a:gd name="connsiteX0" fmla="*/ 0 w 88900"/>
                  <a:gd name="connsiteY0" fmla="*/ 196850 h 196850"/>
                  <a:gd name="connsiteX1" fmla="*/ 22225 w 88900"/>
                  <a:gd name="connsiteY1" fmla="*/ 114300 h 196850"/>
                  <a:gd name="connsiteX2" fmla="*/ 53975 w 88900"/>
                  <a:gd name="connsiteY2" fmla="*/ 50800 h 196850"/>
                  <a:gd name="connsiteX3" fmla="*/ 88900 w 88900"/>
                  <a:gd name="connsiteY3" fmla="*/ 0 h 196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900" h="196850">
                    <a:moveTo>
                      <a:pt x="0" y="196850"/>
                    </a:moveTo>
                    <a:cubicBezTo>
                      <a:pt x="6614" y="167746"/>
                      <a:pt x="13229" y="138642"/>
                      <a:pt x="22225" y="114300"/>
                    </a:cubicBezTo>
                    <a:cubicBezTo>
                      <a:pt x="31221" y="89958"/>
                      <a:pt x="42863" y="69850"/>
                      <a:pt x="53975" y="50800"/>
                    </a:cubicBezTo>
                    <a:cubicBezTo>
                      <a:pt x="65087" y="31750"/>
                      <a:pt x="76993" y="15875"/>
                      <a:pt x="88900" y="0"/>
                    </a:cubicBezTo>
                  </a:path>
                </a:pathLst>
              </a:cu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16" name="Straight Arrow Connector 15"/>
            <p:cNvCxnSpPr/>
            <p:nvPr/>
          </p:nvCxnSpPr>
          <p:spPr>
            <a:xfrm flipH="1">
              <a:off x="7504277" y="1752600"/>
              <a:ext cx="203201" cy="4064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9" name="Rectangle 108"/>
          <p:cNvSpPr/>
          <p:nvPr/>
        </p:nvSpPr>
        <p:spPr>
          <a:xfrm>
            <a:off x="4788816" y="1548719"/>
            <a:ext cx="1989299" cy="201622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0" name="Straight Connector 109"/>
          <p:cNvCxnSpPr/>
          <p:nvPr/>
        </p:nvCxnSpPr>
        <p:spPr>
          <a:xfrm flipV="1">
            <a:off x="5082227" y="1836751"/>
            <a:ext cx="936104" cy="576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/>
          <p:nvPr/>
        </p:nvCxnSpPr>
        <p:spPr>
          <a:xfrm flipH="1" flipV="1">
            <a:off x="6018331" y="1836751"/>
            <a:ext cx="432048" cy="504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 flipH="1">
            <a:off x="5082227" y="2340807"/>
            <a:ext cx="1368152" cy="720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Freeform 124"/>
          <p:cNvSpPr/>
          <p:nvPr/>
        </p:nvSpPr>
        <p:spPr>
          <a:xfrm>
            <a:off x="5306531" y="2277927"/>
            <a:ext cx="50800" cy="124460"/>
          </a:xfrm>
          <a:custGeom>
            <a:avLst/>
            <a:gdLst>
              <a:gd name="connsiteX0" fmla="*/ 50800 w 50800"/>
              <a:gd name="connsiteY0" fmla="*/ 124460 h 124460"/>
              <a:gd name="connsiteX1" fmla="*/ 15240 w 50800"/>
              <a:gd name="connsiteY1" fmla="*/ 22860 h 124460"/>
              <a:gd name="connsiteX2" fmla="*/ 0 w 50800"/>
              <a:gd name="connsiteY2" fmla="*/ 0 h 124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800" h="124460">
                <a:moveTo>
                  <a:pt x="50800" y="124460"/>
                </a:moveTo>
                <a:cubicBezTo>
                  <a:pt x="37253" y="84031"/>
                  <a:pt x="23707" y="43603"/>
                  <a:pt x="15240" y="22860"/>
                </a:cubicBezTo>
                <a:cubicBezTo>
                  <a:pt x="6773" y="2117"/>
                  <a:pt x="3386" y="1058"/>
                  <a:pt x="0" y="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9" name="Freeform 128"/>
          <p:cNvSpPr/>
          <p:nvPr/>
        </p:nvSpPr>
        <p:spPr>
          <a:xfrm>
            <a:off x="5865331" y="1932487"/>
            <a:ext cx="256540" cy="45297"/>
          </a:xfrm>
          <a:custGeom>
            <a:avLst/>
            <a:gdLst>
              <a:gd name="connsiteX0" fmla="*/ 0 w 256540"/>
              <a:gd name="connsiteY0" fmla="*/ 0 h 45297"/>
              <a:gd name="connsiteX1" fmla="*/ 83820 w 256540"/>
              <a:gd name="connsiteY1" fmla="*/ 38100 h 45297"/>
              <a:gd name="connsiteX2" fmla="*/ 157480 w 256540"/>
              <a:gd name="connsiteY2" fmla="*/ 43180 h 45297"/>
              <a:gd name="connsiteX3" fmla="*/ 238760 w 256540"/>
              <a:gd name="connsiteY3" fmla="*/ 30480 h 45297"/>
              <a:gd name="connsiteX4" fmla="*/ 256540 w 256540"/>
              <a:gd name="connsiteY4" fmla="*/ 17780 h 45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540" h="45297">
                <a:moveTo>
                  <a:pt x="0" y="0"/>
                </a:moveTo>
                <a:cubicBezTo>
                  <a:pt x="28786" y="15451"/>
                  <a:pt x="57573" y="30903"/>
                  <a:pt x="83820" y="38100"/>
                </a:cubicBezTo>
                <a:cubicBezTo>
                  <a:pt x="110067" y="45297"/>
                  <a:pt x="131657" y="44450"/>
                  <a:pt x="157480" y="43180"/>
                </a:cubicBezTo>
                <a:cubicBezTo>
                  <a:pt x="183303" y="41910"/>
                  <a:pt x="222250" y="34713"/>
                  <a:pt x="238760" y="30480"/>
                </a:cubicBezTo>
                <a:cubicBezTo>
                  <a:pt x="255270" y="26247"/>
                  <a:pt x="255905" y="22013"/>
                  <a:pt x="256540" y="1778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" name="Freeform 134"/>
          <p:cNvSpPr/>
          <p:nvPr/>
        </p:nvSpPr>
        <p:spPr>
          <a:xfrm>
            <a:off x="5845011" y="1952807"/>
            <a:ext cx="297180" cy="51223"/>
          </a:xfrm>
          <a:custGeom>
            <a:avLst/>
            <a:gdLst>
              <a:gd name="connsiteX0" fmla="*/ 0 w 297180"/>
              <a:gd name="connsiteY0" fmla="*/ 0 h 51223"/>
              <a:gd name="connsiteX1" fmla="*/ 50800 w 297180"/>
              <a:gd name="connsiteY1" fmla="*/ 30480 h 51223"/>
              <a:gd name="connsiteX2" fmla="*/ 129540 w 297180"/>
              <a:gd name="connsiteY2" fmla="*/ 48260 h 51223"/>
              <a:gd name="connsiteX3" fmla="*/ 190500 w 297180"/>
              <a:gd name="connsiteY3" fmla="*/ 48260 h 51223"/>
              <a:gd name="connsiteX4" fmla="*/ 236220 w 297180"/>
              <a:gd name="connsiteY4" fmla="*/ 48260 h 51223"/>
              <a:gd name="connsiteX5" fmla="*/ 297180 w 297180"/>
              <a:gd name="connsiteY5" fmla="*/ 33020 h 51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7180" h="51223">
                <a:moveTo>
                  <a:pt x="0" y="0"/>
                </a:moveTo>
                <a:cubicBezTo>
                  <a:pt x="14605" y="11218"/>
                  <a:pt x="29210" y="22437"/>
                  <a:pt x="50800" y="30480"/>
                </a:cubicBezTo>
                <a:cubicBezTo>
                  <a:pt x="72390" y="38523"/>
                  <a:pt x="106257" y="45297"/>
                  <a:pt x="129540" y="48260"/>
                </a:cubicBezTo>
                <a:cubicBezTo>
                  <a:pt x="152823" y="51223"/>
                  <a:pt x="190500" y="48260"/>
                  <a:pt x="190500" y="48260"/>
                </a:cubicBezTo>
                <a:cubicBezTo>
                  <a:pt x="208280" y="48260"/>
                  <a:pt x="218440" y="50800"/>
                  <a:pt x="236220" y="48260"/>
                </a:cubicBezTo>
                <a:cubicBezTo>
                  <a:pt x="254000" y="45720"/>
                  <a:pt x="275590" y="39370"/>
                  <a:pt x="297180" y="3302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1" name="Straight Connector 140"/>
          <p:cNvCxnSpPr/>
          <p:nvPr/>
        </p:nvCxnSpPr>
        <p:spPr>
          <a:xfrm flipH="1" flipV="1">
            <a:off x="5543550" y="2063751"/>
            <a:ext cx="69850" cy="1015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ectangle 146"/>
          <p:cNvSpPr/>
          <p:nvPr/>
        </p:nvSpPr>
        <p:spPr>
          <a:xfrm>
            <a:off x="4866203" y="2700847"/>
            <a:ext cx="360040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ymbol" pitchFamily="18" charset="2"/>
                <a:sym typeface="Wingdings"/>
              </a:rPr>
              <a:t></a:t>
            </a:r>
            <a:endParaRPr lang="en-GB" dirty="0">
              <a:latin typeface="Symbol" pitchFamily="18" charset="2"/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5370259" y="2700847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SSS</a:t>
            </a:r>
            <a:endParaRPr lang="en-GB" dirty="0">
              <a:latin typeface="+mj-lt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6090339" y="2700847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SAS</a:t>
            </a:r>
            <a:endParaRPr lang="en-GB" dirty="0">
              <a:latin typeface="+mj-lt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5046223" y="3132895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ASA</a:t>
            </a:r>
            <a:endParaRPr lang="en-GB" dirty="0">
              <a:latin typeface="+mj-lt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5766303" y="3132895"/>
            <a:ext cx="576064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  <a:sym typeface="Wingdings"/>
              </a:rPr>
              <a:t>RHS</a:t>
            </a:r>
            <a:endParaRPr lang="en-GB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41051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8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9F51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9F51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7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8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0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1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6"/>
                  </p:tgtEl>
                </p:cond>
              </p:nextCondLst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1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9F51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8"/>
                  </p:tgtEl>
                </p:cond>
              </p:nextCondLst>
            </p:seq>
            <p:seq concurrent="1" nextAc="seek">
              <p:cTn id="85" restart="whenNotActive" fill="hold" evtFilter="cancelBubble" nodeType="interactiveSeq">
                <p:stCondLst>
                  <p:cond evt="onClick" delay="0">
                    <p:tgtEl>
                      <p:spTgt spid="1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9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0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1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1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115" restart="whenNotActive" fill="hold" evtFilter="cancelBubble" nodeType="interactiveSeq">
                <p:stCondLst>
                  <p:cond evt="onClick" delay="0">
                    <p:tgtEl>
                      <p:spTgt spid="1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9F51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6"/>
                  </p:tgtEl>
                </p:cond>
              </p:nextCondLst>
            </p:seq>
            <p:seq concurrent="1" nextAc="seek">
              <p:cTn id="120" restart="whenNotActive" fill="hold" evtFilter="cancelBubble" nodeType="interactiveSeq">
                <p:stCondLst>
                  <p:cond evt="onClick" delay="0">
                    <p:tgtEl>
                      <p:spTgt spid="1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8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1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4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0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1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"/>
                  </p:tgtEl>
                </p:cond>
              </p:nextCondLst>
            </p:seq>
            <p:seq concurrent="1" nextAc="seek">
              <p:cTn id="150" restart="whenNotActive" fill="hold" evtFilter="cancelBubble" nodeType="interactiveSeq">
                <p:stCondLst>
                  <p:cond evt="onClick" delay="0">
                    <p:tgtEl>
                      <p:spTgt spid="1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9F51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1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6"/>
                  </p:tgtEl>
                </p:cond>
              </p:nextCondLst>
            </p:seq>
            <p:seq concurrent="1" nextAc="seek">
              <p:cTn id="160" restart="whenNotActive" fill="hold" evtFilter="cancelBubble" nodeType="interactiveSeq">
                <p:stCondLst>
                  <p:cond evt="onClick" delay="0">
                    <p:tgtEl>
                      <p:spTgt spid="1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"/>
                  </p:tgtEl>
                </p:cond>
              </p:nextCondLst>
            </p:seq>
            <p:seq concurrent="1" nextAc="seek">
              <p:cTn id="165" restart="whenNotActive" fill="hold" evtFilter="cancelBubble" nodeType="interactiveSeq">
                <p:stCondLst>
                  <p:cond evt="onClick" delay="0">
                    <p:tgtEl>
                      <p:spTgt spid="1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9F51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0"/>
                  </p:tgtEl>
                </p:cond>
              </p:nextCondLst>
            </p:seq>
            <p:seq concurrent="1" nextAc="seek">
              <p:cTn id="175" restart="whenNotActive" fill="hold" evtFilter="cancelBubble" nodeType="interactiveSeq">
                <p:stCondLst>
                  <p:cond evt="onClick" delay="0">
                    <p:tgtEl>
                      <p:spTgt spid="1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" fill="hold">
                      <p:stCondLst>
                        <p:cond delay="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9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1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185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6" fill="hold">
                      <p:stCondLst>
                        <p:cond delay="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9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190" restart="whenNotActive" fill="hold" evtFilter="cancelBubble" nodeType="interactiveSeq">
                <p:stCondLst>
                  <p:cond evt="onClick" delay="0">
                    <p:tgtEl>
                      <p:spTgt spid="1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1" fill="hold">
                      <p:stCondLst>
                        <p:cond delay="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4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"/>
                  </p:tgtEl>
                </p:cond>
              </p:nextCondLst>
            </p:seq>
            <p:seq concurrent="1" nextAc="seek">
              <p:cTn id="195" restart="whenNotActive" fill="hold" evtFilter="cancelBubble" nodeType="interactiveSeq">
                <p:stCondLst>
                  <p:cond evt="onClick" delay="0">
                    <p:tgtEl>
                      <p:spTgt spid="1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9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9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1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4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29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0"/>
                  </p:tgtEl>
                </p:cond>
              </p:nextCondLst>
            </p:seq>
          </p:childTnLst>
        </p:cTn>
      </p:par>
    </p:tnLst>
    <p:bldLst>
      <p:bldP spid="118" grpId="0" animBg="1"/>
      <p:bldP spid="119" grpId="0" animBg="1"/>
      <p:bldP spid="121" grpId="0" animBg="1"/>
      <p:bldP spid="123" grpId="0" animBg="1"/>
      <p:bldP spid="124" grpId="0" animBg="1"/>
      <p:bldP spid="126" grpId="0" animBg="1"/>
      <p:bldP spid="127" grpId="0" animBg="1"/>
      <p:bldP spid="128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60" grpId="0" animBg="1"/>
      <p:bldP spid="161" grpId="0" animBg="1"/>
      <p:bldP spid="147" grpId="0" animBg="1"/>
      <p:bldP spid="153" grpId="0" animBg="1"/>
      <p:bldP spid="159" grpId="0" animBg="1"/>
      <p:bldP spid="169" grpId="0" animBg="1"/>
      <p:bldP spid="17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Example Proof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764704"/>
            <a:ext cx="5040560" cy="3451418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55576" y="5085184"/>
            <a:ext cx="4032448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b="1" dirty="0"/>
              <a:t>Bro Tip</a:t>
            </a:r>
            <a:r>
              <a:rPr lang="en-GB" sz="1600" dirty="0"/>
              <a:t>:  Always start with 4 bullet points: three for the three letters in your proof, and one for your conclusion.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8104" y="767677"/>
            <a:ext cx="3384376" cy="175432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STEP 1: </a:t>
            </a:r>
            <a:r>
              <a:rPr lang="en-GB" dirty="0"/>
              <a:t>Choose your appropriate proof (SSS, SAS, etc.)</a:t>
            </a:r>
          </a:p>
          <a:p>
            <a:r>
              <a:rPr lang="en-GB" b="1" dirty="0"/>
              <a:t>STEP 2: </a:t>
            </a:r>
            <a:r>
              <a:rPr lang="en-GB" dirty="0"/>
              <a:t>Justify each of three things.</a:t>
            </a:r>
          </a:p>
          <a:p>
            <a:r>
              <a:rPr lang="en-GB" b="1" dirty="0"/>
              <a:t>STEP 3: </a:t>
            </a:r>
            <a:r>
              <a:rPr lang="en-GB" dirty="0"/>
              <a:t>Conclusion, stating the proof you used.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502913" y="3528051"/>
                <a:ext cx="331236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/>
                      </a:rPr>
                      <m:t>𝐴𝐷</m:t>
                    </m:r>
                    <m:r>
                      <a:rPr lang="en-GB" sz="2400" b="0" i="1" smtClean="0">
                        <a:latin typeface="Cambria Math"/>
                      </a:rPr>
                      <m:t>=</m:t>
                    </m:r>
                    <m:r>
                      <a:rPr lang="en-GB" sz="2400" b="0" i="1" smtClean="0">
                        <a:latin typeface="Cambria Math"/>
                      </a:rPr>
                      <m:t>𝐶𝐷</m:t>
                    </m:r>
                  </m:oMath>
                </a14:m>
                <a:r>
                  <a:rPr lang="en-GB" sz="2400" dirty="0"/>
                  <a:t> as given</a:t>
                </a:r>
              </a:p>
              <a:p>
                <a:pPr marL="285750" indent="-285750"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/>
                      </a:rPr>
                      <m:t>𝐴𝐵</m:t>
                    </m:r>
                    <m:r>
                      <a:rPr lang="en-GB" sz="2400" b="0" i="1" smtClean="0">
                        <a:latin typeface="Cambria Math"/>
                      </a:rPr>
                      <m:t>=</m:t>
                    </m:r>
                    <m:r>
                      <a:rPr lang="en-GB" sz="2400" b="0" i="1" smtClean="0">
                        <a:latin typeface="Cambria Math"/>
                      </a:rPr>
                      <m:t>𝐵𝐶</m:t>
                    </m:r>
                  </m:oMath>
                </a14:m>
                <a:r>
                  <a:rPr lang="en-GB" sz="2400" dirty="0"/>
                  <a:t> as given</a:t>
                </a:r>
              </a:p>
              <a:p>
                <a:pPr marL="285750" indent="-285750"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/>
                      </a:rPr>
                      <m:t>𝐵𝐷</m:t>
                    </m:r>
                  </m:oMath>
                </a14:m>
                <a:r>
                  <a:rPr lang="en-GB" sz="2400" dirty="0"/>
                  <a:t> </a:t>
                </a:r>
                <a:r>
                  <a:rPr lang="en-GB" sz="2400" b="1" u="sng" dirty="0"/>
                  <a:t>is common</a:t>
                </a:r>
                <a:r>
                  <a:rPr lang="en-GB" sz="2400" dirty="0"/>
                  <a:t>.</a:t>
                </a:r>
              </a:p>
              <a:p>
                <a:pPr marL="285750" indent="-285750"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/>
                      </a:rPr>
                      <m:t>∴</m:t>
                    </m:r>
                    <m:r>
                      <m:rPr>
                        <m:sty m:val="p"/>
                      </m:rPr>
                      <a:rPr lang="en-GB" sz="2400" b="0" i="0" smtClean="0">
                        <a:latin typeface="Cambria Math"/>
                      </a:rPr>
                      <m:t>Δ</m:t>
                    </m:r>
                    <m:r>
                      <a:rPr lang="en-GB" sz="2400" b="0" i="1" smtClean="0">
                        <a:latin typeface="Cambria Math"/>
                      </a:rPr>
                      <m:t>𝐴𝐷𝐵</m:t>
                    </m:r>
                  </m:oMath>
                </a14:m>
                <a:r>
                  <a:rPr lang="en-GB" sz="2400" dirty="0"/>
                  <a:t> is congruent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/>
                      </a:rPr>
                      <m:t>Δ</m:t>
                    </m:r>
                    <m:r>
                      <a:rPr lang="en-GB" sz="2400" b="0" i="1" smtClean="0">
                        <a:latin typeface="Cambria Math"/>
                      </a:rPr>
                      <m:t>𝐶𝐷𝐵</m:t>
                    </m:r>
                  </m:oMath>
                </a14:m>
                <a:r>
                  <a:rPr lang="en-GB" sz="2400" dirty="0"/>
                  <a:t> </a:t>
                </a:r>
                <a:r>
                  <a:rPr lang="en-GB" sz="2400" b="1" u="sng" dirty="0"/>
                  <a:t>by </a:t>
                </a:r>
                <a:r>
                  <a:rPr lang="en-GB" sz="2400" b="1" i="0" u="sng" dirty="0">
                    <a:latin typeface="+mj-lt"/>
                  </a:rPr>
                  <a:t>SSS</a:t>
                </a:r>
                <a:r>
                  <a:rPr lang="en-GB" sz="2400" dirty="0"/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913" y="3528051"/>
                <a:ext cx="3312368" cy="1938992"/>
              </a:xfrm>
              <a:prstGeom prst="rect">
                <a:avLst/>
              </a:prstGeom>
              <a:blipFill rotWithShape="1">
                <a:blip r:embed="rId3"/>
                <a:stretch>
                  <a:fillRect l="-2578" t="-2516" b="-62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5615542" y="3528051"/>
            <a:ext cx="2988332" cy="184906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2913" y="3068960"/>
            <a:ext cx="1818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Solution: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883" y="764703"/>
            <a:ext cx="1728192" cy="30777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Nov 2008 Non </a:t>
            </a:r>
            <a:r>
              <a:rPr lang="en-GB" sz="1400" dirty="0" err="1"/>
              <a:t>Calc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03455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Check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Parallelogram 4"/>
          <p:cNvSpPr/>
          <p:nvPr/>
        </p:nvSpPr>
        <p:spPr>
          <a:xfrm>
            <a:off x="674051" y="1196752"/>
            <a:ext cx="4320480" cy="2016224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1187624" y="1196752"/>
            <a:ext cx="3312368" cy="201622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993184" y="908720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184" y="908720"/>
                <a:ext cx="360040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499992" y="3140968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992" y="3140968"/>
                <a:ext cx="360040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26835" y="3150686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𝐷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35" y="3150686"/>
                <a:ext cx="360040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27584" y="908720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908720"/>
                <a:ext cx="360040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436096" y="1700808"/>
                <a:ext cx="3024336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𝐴𝐵𝐶𝐷</m:t>
                    </m:r>
                  </m:oMath>
                </a14:m>
                <a:r>
                  <a:rPr lang="en-GB" dirty="0"/>
                  <a:t> is a parallelogram. Prove that triangles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𝐴𝐵𝐶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𝐴𝐶𝐷</m:t>
                    </m:r>
                  </m:oMath>
                </a14:m>
                <a:r>
                  <a:rPr lang="en-GB" dirty="0"/>
                  <a:t> are congruent.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6" y="1700808"/>
                <a:ext cx="3024336" cy="923330"/>
              </a:xfrm>
              <a:prstGeom prst="rect">
                <a:avLst/>
              </a:prstGeom>
              <a:blipFill rotWithShape="1">
                <a:blip r:embed="rId6"/>
                <a:stretch>
                  <a:fillRect b="-171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95536" y="3717032"/>
                <a:ext cx="2376264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Using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𝑆𝑆𝑆</m:t>
                    </m:r>
                  </m:oMath>
                </a14:m>
                <a:r>
                  <a:rPr lang="en-GB" dirty="0"/>
                  <a:t>: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717032"/>
                <a:ext cx="2376264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1777" t="-4688" b="-218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95536" y="4221088"/>
                <a:ext cx="2376264" cy="2169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GB" sz="1500" b="0" i="1" smtClean="0">
                        <a:latin typeface="Cambria Math"/>
                      </a:rPr>
                      <m:t>𝐴𝐶</m:t>
                    </m:r>
                  </m:oMath>
                </a14:m>
                <a:r>
                  <a:rPr lang="en-GB" sz="1500" dirty="0"/>
                  <a:t> is common.</a:t>
                </a:r>
              </a:p>
              <a:p>
                <a:pPr marL="285750" indent="-285750"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GB" sz="1500" b="0" i="1" smtClean="0">
                        <a:latin typeface="Cambria Math"/>
                      </a:rPr>
                      <m:t>𝐴𝐷</m:t>
                    </m:r>
                    <m:r>
                      <a:rPr lang="en-GB" sz="1500" b="0" i="1" smtClean="0">
                        <a:latin typeface="Cambria Math"/>
                      </a:rPr>
                      <m:t>=</m:t>
                    </m:r>
                    <m:r>
                      <a:rPr lang="en-GB" sz="1500" b="0" i="1" smtClean="0">
                        <a:latin typeface="Cambria Math"/>
                      </a:rPr>
                      <m:t>𝐵𝐶</m:t>
                    </m:r>
                  </m:oMath>
                </a14:m>
                <a:r>
                  <a:rPr lang="en-GB" sz="1500" dirty="0"/>
                  <a:t> as opposite sides of parallelogram are equal in length.</a:t>
                </a:r>
              </a:p>
              <a:p>
                <a:pPr marL="285750" indent="-285750"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GB" sz="1500" b="0" i="1" smtClean="0">
                        <a:latin typeface="Cambria Math"/>
                      </a:rPr>
                      <m:t>𝐴𝐵</m:t>
                    </m:r>
                    <m:r>
                      <a:rPr lang="en-GB" sz="1500" b="0" i="1" smtClean="0">
                        <a:latin typeface="Cambria Math"/>
                      </a:rPr>
                      <m:t>=</m:t>
                    </m:r>
                    <m:r>
                      <a:rPr lang="en-GB" sz="1500" b="0" i="1" smtClean="0">
                        <a:latin typeface="Cambria Math"/>
                      </a:rPr>
                      <m:t>𝐷𝐶</m:t>
                    </m:r>
                  </m:oMath>
                </a14:m>
                <a:r>
                  <a:rPr lang="en-GB" sz="1500" dirty="0"/>
                  <a:t> for same reason.</a:t>
                </a:r>
              </a:p>
              <a:p>
                <a:pPr marL="285750" indent="-285750"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GB" sz="1500" b="0" i="1" smtClean="0">
                        <a:latin typeface="Cambria Math"/>
                      </a:rPr>
                      <m:t>∴</m:t>
                    </m:r>
                  </m:oMath>
                </a14:m>
                <a:r>
                  <a:rPr lang="en-GB" sz="1500" dirty="0"/>
                  <a:t> Triangles </a:t>
                </a:r>
                <a14:m>
                  <m:oMath xmlns:m="http://schemas.openxmlformats.org/officeDocument/2006/math">
                    <m:r>
                      <a:rPr lang="en-GB" sz="1500" i="1">
                        <a:latin typeface="Cambria Math"/>
                      </a:rPr>
                      <m:t>𝐴𝐵𝐶</m:t>
                    </m:r>
                  </m:oMath>
                </a14:m>
                <a:r>
                  <a:rPr lang="en-GB" sz="1500" dirty="0"/>
                  <a:t> and </a:t>
                </a:r>
                <a14:m>
                  <m:oMath xmlns:m="http://schemas.openxmlformats.org/officeDocument/2006/math">
                    <m:r>
                      <a:rPr lang="en-GB" sz="1500" i="1">
                        <a:latin typeface="Cambria Math"/>
                      </a:rPr>
                      <m:t>𝐴𝐶𝐷</m:t>
                    </m:r>
                  </m:oMath>
                </a14:m>
                <a:r>
                  <a:rPr lang="en-GB" sz="1500" dirty="0"/>
                  <a:t> are congruent by SSS.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221088"/>
                <a:ext cx="2376264" cy="2169825"/>
              </a:xfrm>
              <a:prstGeom prst="rect">
                <a:avLst/>
              </a:prstGeom>
              <a:blipFill rotWithShape="1">
                <a:blip r:embed="rId8"/>
                <a:stretch>
                  <a:fillRect l="-769" t="-562" b="-19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998562" y="3717032"/>
                <a:ext cx="2653557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Using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𝑆𝐴𝑆</m:t>
                    </m:r>
                  </m:oMath>
                </a14:m>
                <a:r>
                  <a:rPr lang="en-GB" dirty="0"/>
                  <a:t>: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8562" y="3717032"/>
                <a:ext cx="2653557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1595" t="-4688" b="-218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993270" y="4104907"/>
                <a:ext cx="2586842" cy="263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GB" sz="1500" b="0" i="1" smtClean="0">
                        <a:latin typeface="Cambria Math"/>
                      </a:rPr>
                      <m:t>𝐴𝐷</m:t>
                    </m:r>
                    <m:r>
                      <a:rPr lang="en-GB" sz="1500" b="0" i="1" smtClean="0">
                        <a:latin typeface="Cambria Math"/>
                      </a:rPr>
                      <m:t>=</m:t>
                    </m:r>
                    <m:r>
                      <a:rPr lang="en-GB" sz="1500" b="0" i="1" smtClean="0">
                        <a:latin typeface="Cambria Math"/>
                      </a:rPr>
                      <m:t>𝐵𝐶</m:t>
                    </m:r>
                  </m:oMath>
                </a14:m>
                <a:r>
                  <a:rPr lang="en-GB" sz="1500" dirty="0"/>
                  <a:t> as opposite sides of parallelogram are equal in length.</a:t>
                </a:r>
              </a:p>
              <a:p>
                <a:pPr marL="285750" indent="-285750"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GB" sz="1500" b="0" i="1" smtClean="0">
                        <a:latin typeface="Cambria Math"/>
                      </a:rPr>
                      <m:t>∠</m:t>
                    </m:r>
                    <m:r>
                      <a:rPr lang="en-GB" sz="1500" b="0" i="1" smtClean="0">
                        <a:latin typeface="Cambria Math"/>
                      </a:rPr>
                      <m:t>𝐴𝐷𝐶</m:t>
                    </m:r>
                    <m:r>
                      <a:rPr lang="en-GB" sz="1500" b="0" i="1" smtClean="0">
                        <a:latin typeface="Cambria Math"/>
                      </a:rPr>
                      <m:t>=∠</m:t>
                    </m:r>
                    <m:r>
                      <a:rPr lang="en-GB" sz="1500" b="0" i="1" smtClean="0">
                        <a:latin typeface="Cambria Math"/>
                      </a:rPr>
                      <m:t>𝐴𝐵𝐶</m:t>
                    </m:r>
                  </m:oMath>
                </a14:m>
                <a:r>
                  <a:rPr lang="en-GB" sz="1500" dirty="0"/>
                  <a:t> as opposite angles of parallelogram are equal.</a:t>
                </a:r>
              </a:p>
              <a:p>
                <a:pPr marL="285750" indent="-285750"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GB" sz="1500" b="0" i="1" smtClean="0">
                        <a:latin typeface="Cambria Math"/>
                      </a:rPr>
                      <m:t>𝐴𝐵</m:t>
                    </m:r>
                    <m:r>
                      <a:rPr lang="en-GB" sz="1500" b="0" i="1" smtClean="0">
                        <a:latin typeface="Cambria Math"/>
                      </a:rPr>
                      <m:t>=</m:t>
                    </m:r>
                    <m:r>
                      <a:rPr lang="en-GB" sz="1500" b="0" i="1" smtClean="0">
                        <a:latin typeface="Cambria Math"/>
                      </a:rPr>
                      <m:t>𝐷𝐶</m:t>
                    </m:r>
                  </m:oMath>
                </a14:m>
                <a:r>
                  <a:rPr lang="en-GB" sz="1500" dirty="0"/>
                  <a:t> as opposite sides of parallelogram are equal in length.</a:t>
                </a:r>
              </a:p>
              <a:p>
                <a:pPr marL="285750" indent="-285750"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GB" sz="1500" b="0" i="1" smtClean="0">
                        <a:latin typeface="Cambria Math"/>
                      </a:rPr>
                      <m:t>∴</m:t>
                    </m:r>
                  </m:oMath>
                </a14:m>
                <a:r>
                  <a:rPr lang="en-GB" sz="1500" dirty="0"/>
                  <a:t> Triangles </a:t>
                </a:r>
                <a14:m>
                  <m:oMath xmlns:m="http://schemas.openxmlformats.org/officeDocument/2006/math">
                    <m:r>
                      <a:rPr lang="en-GB" sz="1500" i="1">
                        <a:latin typeface="Cambria Math"/>
                      </a:rPr>
                      <m:t>𝐴𝐵𝐶</m:t>
                    </m:r>
                  </m:oMath>
                </a14:m>
                <a:r>
                  <a:rPr lang="en-GB" sz="1500" dirty="0"/>
                  <a:t> and </a:t>
                </a:r>
                <a14:m>
                  <m:oMath xmlns:m="http://schemas.openxmlformats.org/officeDocument/2006/math">
                    <m:r>
                      <a:rPr lang="en-GB" sz="1500" i="1">
                        <a:latin typeface="Cambria Math"/>
                      </a:rPr>
                      <m:t>𝐴𝐶𝐷</m:t>
                    </m:r>
                  </m:oMath>
                </a14:m>
                <a:r>
                  <a:rPr lang="en-GB" sz="1500" dirty="0"/>
                  <a:t> are congruent by SAS.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270" y="4104907"/>
                <a:ext cx="2586842" cy="2631490"/>
              </a:xfrm>
              <a:prstGeom prst="rect">
                <a:avLst/>
              </a:prstGeom>
              <a:blipFill rotWithShape="1">
                <a:blip r:embed="rId10"/>
                <a:stretch>
                  <a:fillRect l="-472" t="-463" r="-2830"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868144" y="3702582"/>
                <a:ext cx="2653557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Using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𝐴𝑆𝐴</m:t>
                    </m:r>
                  </m:oMath>
                </a14:m>
                <a:r>
                  <a:rPr lang="en-GB" dirty="0"/>
                  <a:t>: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3702582"/>
                <a:ext cx="2653557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1595" t="-4615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936207" y="4104907"/>
                <a:ext cx="2586842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GB" sz="1500" b="0" i="1" smtClean="0">
                        <a:latin typeface="Cambria Math"/>
                      </a:rPr>
                      <m:t>∠</m:t>
                    </m:r>
                    <m:r>
                      <a:rPr lang="en-GB" sz="1500" b="0" i="1" smtClean="0">
                        <a:latin typeface="Cambria Math"/>
                      </a:rPr>
                      <m:t>𝐴𝐷𝐶</m:t>
                    </m:r>
                    <m:r>
                      <a:rPr lang="en-GB" sz="1500" b="0" i="1" smtClean="0">
                        <a:latin typeface="Cambria Math"/>
                      </a:rPr>
                      <m:t>=∠</m:t>
                    </m:r>
                    <m:r>
                      <a:rPr lang="en-GB" sz="1500" b="0" i="1" smtClean="0">
                        <a:latin typeface="Cambria Math"/>
                      </a:rPr>
                      <m:t>𝐴𝐵𝐶</m:t>
                    </m:r>
                  </m:oMath>
                </a14:m>
                <a:r>
                  <a:rPr lang="en-GB" sz="1500" dirty="0"/>
                  <a:t> as opposite angles of parallelogram are equal.</a:t>
                </a:r>
              </a:p>
              <a:p>
                <a:pPr marL="285750" indent="-285750"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GB" sz="1500" b="0" i="1" smtClean="0">
                        <a:latin typeface="Cambria Math"/>
                      </a:rPr>
                      <m:t>𝐴𝐵</m:t>
                    </m:r>
                    <m:r>
                      <a:rPr lang="en-GB" sz="1500" b="0" i="1" smtClean="0">
                        <a:latin typeface="Cambria Math"/>
                      </a:rPr>
                      <m:t>=</m:t>
                    </m:r>
                    <m:r>
                      <a:rPr lang="en-GB" sz="1500" b="0" i="1" smtClean="0">
                        <a:latin typeface="Cambria Math"/>
                      </a:rPr>
                      <m:t>𝐷𝐶</m:t>
                    </m:r>
                  </m:oMath>
                </a14:m>
                <a:r>
                  <a:rPr lang="en-GB" sz="1500" dirty="0"/>
                  <a:t> as opposite sides of parallelogram are equal in length.</a:t>
                </a:r>
              </a:p>
              <a:p>
                <a:pPr marL="285750" indent="-285750"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GB" sz="1500" i="1">
                        <a:latin typeface="Cambria Math"/>
                      </a:rPr>
                      <m:t>∠</m:t>
                    </m:r>
                    <m:r>
                      <a:rPr lang="en-GB" sz="1500" b="0" i="1" smtClean="0">
                        <a:latin typeface="Cambria Math"/>
                      </a:rPr>
                      <m:t>𝐷𝐴𝐶</m:t>
                    </m:r>
                    <m:r>
                      <a:rPr lang="en-GB" sz="1500" i="1">
                        <a:latin typeface="Cambria Math"/>
                      </a:rPr>
                      <m:t>=∠</m:t>
                    </m:r>
                    <m:r>
                      <a:rPr lang="en-GB" sz="1500" i="1">
                        <a:latin typeface="Cambria Math"/>
                      </a:rPr>
                      <m:t>𝐴𝐶𝐵</m:t>
                    </m:r>
                  </m:oMath>
                </a14:m>
                <a:r>
                  <a:rPr lang="en-GB" sz="1500" dirty="0"/>
                  <a:t> as alternate angles are equal. </a:t>
                </a:r>
                <a:endParaRPr lang="en-GB" sz="1500" b="0" i="1" dirty="0">
                  <a:latin typeface="Cambria Math"/>
                </a:endParaRPr>
              </a:p>
              <a:p>
                <a:pPr marL="285750" indent="-285750"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GB" sz="1500" b="0" i="1" smtClean="0">
                        <a:latin typeface="Cambria Math"/>
                      </a:rPr>
                      <m:t>∴</m:t>
                    </m:r>
                  </m:oMath>
                </a14:m>
                <a:r>
                  <a:rPr lang="en-GB" sz="1500" dirty="0"/>
                  <a:t> Triangles </a:t>
                </a:r>
                <a14:m>
                  <m:oMath xmlns:m="http://schemas.openxmlformats.org/officeDocument/2006/math">
                    <m:r>
                      <a:rPr lang="en-GB" sz="1500" i="1">
                        <a:latin typeface="Cambria Math"/>
                      </a:rPr>
                      <m:t>𝐴𝐵𝐶</m:t>
                    </m:r>
                  </m:oMath>
                </a14:m>
                <a:r>
                  <a:rPr lang="en-GB" sz="1500" dirty="0"/>
                  <a:t> and </a:t>
                </a:r>
                <a14:m>
                  <m:oMath xmlns:m="http://schemas.openxmlformats.org/officeDocument/2006/math">
                    <m:r>
                      <a:rPr lang="en-GB" sz="1500" i="1">
                        <a:latin typeface="Cambria Math"/>
                      </a:rPr>
                      <m:t>𝐴𝐶𝐷</m:t>
                    </m:r>
                  </m:oMath>
                </a14:m>
                <a:r>
                  <a:rPr lang="en-GB" sz="1500" dirty="0"/>
                  <a:t> are congruent by ASA.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207" y="4104907"/>
                <a:ext cx="2586842" cy="2400657"/>
              </a:xfrm>
              <a:prstGeom prst="rect">
                <a:avLst/>
              </a:prstGeom>
              <a:blipFill rotWithShape="1">
                <a:blip r:embed="rId12"/>
                <a:stretch>
                  <a:fillRect l="-708" t="-508" r="-2594" b="-17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/>
          <p:cNvGrpSpPr/>
          <p:nvPr/>
        </p:nvGrpSpPr>
        <p:grpSpPr>
          <a:xfrm>
            <a:off x="3128613" y="1093386"/>
            <a:ext cx="107341" cy="192746"/>
            <a:chOff x="3128613" y="1093386"/>
            <a:chExt cx="107341" cy="192746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3131840" y="1093386"/>
              <a:ext cx="100887" cy="10734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5400000">
              <a:off x="3131840" y="1182018"/>
              <a:ext cx="100887" cy="10734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2496153" y="3112686"/>
            <a:ext cx="107341" cy="192746"/>
            <a:chOff x="3128613" y="1093386"/>
            <a:chExt cx="107341" cy="192746"/>
          </a:xfrm>
        </p:grpSpPr>
        <p:cxnSp>
          <p:nvCxnSpPr>
            <p:cNvPr id="25" name="Straight Connector 24"/>
            <p:cNvCxnSpPr/>
            <p:nvPr/>
          </p:nvCxnSpPr>
          <p:spPr>
            <a:xfrm>
              <a:off x="3131840" y="1093386"/>
              <a:ext cx="100887" cy="10734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5400000">
              <a:off x="3131840" y="1182018"/>
              <a:ext cx="100887" cy="10734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 rot="16734073">
            <a:off x="4688582" y="2100562"/>
            <a:ext cx="107341" cy="192746"/>
            <a:chOff x="3128613" y="1093386"/>
            <a:chExt cx="107341" cy="192746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3131840" y="1093386"/>
              <a:ext cx="100887" cy="10734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3131840" y="1182018"/>
              <a:ext cx="100887" cy="10734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 rot="16734073">
            <a:off x="4702844" y="2039732"/>
            <a:ext cx="107341" cy="192746"/>
            <a:chOff x="3128613" y="1093386"/>
            <a:chExt cx="107341" cy="192746"/>
          </a:xfrm>
        </p:grpSpPr>
        <p:cxnSp>
          <p:nvCxnSpPr>
            <p:cNvPr id="31" name="Straight Connector 30"/>
            <p:cNvCxnSpPr/>
            <p:nvPr/>
          </p:nvCxnSpPr>
          <p:spPr>
            <a:xfrm>
              <a:off x="3131840" y="1093386"/>
              <a:ext cx="100887" cy="10734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3131840" y="1182018"/>
              <a:ext cx="100887" cy="10734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 rot="16734073">
            <a:off x="846832" y="2214863"/>
            <a:ext cx="107341" cy="192746"/>
            <a:chOff x="3128613" y="1093386"/>
            <a:chExt cx="107341" cy="192746"/>
          </a:xfrm>
        </p:grpSpPr>
        <p:cxnSp>
          <p:nvCxnSpPr>
            <p:cNvPr id="34" name="Straight Connector 33"/>
            <p:cNvCxnSpPr/>
            <p:nvPr/>
          </p:nvCxnSpPr>
          <p:spPr>
            <a:xfrm>
              <a:off x="3131840" y="1093386"/>
              <a:ext cx="100887" cy="10734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3131840" y="1182018"/>
              <a:ext cx="100887" cy="10734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 rot="16734073">
            <a:off x="861094" y="2154033"/>
            <a:ext cx="107341" cy="192746"/>
            <a:chOff x="3128613" y="1093386"/>
            <a:chExt cx="107341" cy="192746"/>
          </a:xfrm>
        </p:grpSpPr>
        <p:cxnSp>
          <p:nvCxnSpPr>
            <p:cNvPr id="37" name="Straight Connector 36"/>
            <p:cNvCxnSpPr/>
            <p:nvPr/>
          </p:nvCxnSpPr>
          <p:spPr>
            <a:xfrm>
              <a:off x="3131840" y="1093386"/>
              <a:ext cx="100887" cy="10734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3131840" y="1182018"/>
              <a:ext cx="100887" cy="10734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9" name="Rectangle 38"/>
          <p:cNvSpPr/>
          <p:nvPr/>
        </p:nvSpPr>
        <p:spPr>
          <a:xfrm>
            <a:off x="395536" y="4104907"/>
            <a:ext cx="2376264" cy="26314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98562" y="4104907"/>
            <a:ext cx="2653557" cy="26314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61620" y="4070092"/>
            <a:ext cx="2653557" cy="26314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41100" y="2689283"/>
            <a:ext cx="2664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(If you finish quickly, try proving another way)</a:t>
            </a:r>
          </a:p>
        </p:txBody>
      </p:sp>
    </p:spTree>
    <p:extLst>
      <p:ext uri="{BB962C8B-B14F-4D97-AF65-F5344CB8AC3E}">
        <p14:creationId xmlns:p14="http://schemas.microsoft.com/office/powerpoint/2010/main" val="3814086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1" y="599127"/>
            <a:ext cx="5328592" cy="3802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0766" y="3140968"/>
            <a:ext cx="5423233" cy="3326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3720767" y="3115022"/>
            <a:ext cx="5422090" cy="335208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11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Exercises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5724128" y="116632"/>
            <a:ext cx="3240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dirty="0">
                <a:solidFill>
                  <a:schemeClr val="bg1"/>
                </a:solidFill>
              </a:rPr>
              <a:t>(if multiple parts, only do (a) for now)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5536" y="1016732"/>
            <a:ext cx="504056" cy="3600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Q1</a:t>
            </a:r>
          </a:p>
        </p:txBody>
      </p:sp>
      <p:sp>
        <p:nvSpPr>
          <p:cNvPr id="3" name="Down Arrow 2"/>
          <p:cNvSpPr/>
          <p:nvPr/>
        </p:nvSpPr>
        <p:spPr>
          <a:xfrm rot="10800000">
            <a:off x="7092280" y="470807"/>
            <a:ext cx="936104" cy="972108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b="1" dirty="0"/>
              <a:t>NOTE</a:t>
            </a:r>
          </a:p>
        </p:txBody>
      </p:sp>
    </p:spTree>
    <p:extLst>
      <p:ext uri="{BB962C8B-B14F-4D97-AF65-F5344CB8AC3E}">
        <p14:creationId xmlns:p14="http://schemas.microsoft.com/office/powerpoint/2010/main" val="4962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99126"/>
            <a:ext cx="7367688" cy="6070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076056" y="3933056"/>
                <a:ext cx="3240360" cy="9541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AB = AC (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/>
                      </a:rPr>
                      <m:t>𝐴𝐵𝐶</m:t>
                    </m:r>
                  </m:oMath>
                </a14:m>
                <a:r>
                  <a:rPr lang="en-GB" sz="1400" dirty="0"/>
                  <a:t> is equilateral triangle)</a:t>
                </a:r>
              </a:p>
              <a:p>
                <a:r>
                  <a:rPr lang="en-GB" sz="1400" dirty="0"/>
                  <a:t>AD is common.</a:t>
                </a:r>
              </a:p>
              <a:p>
                <a:r>
                  <a:rPr lang="en-GB" sz="1400" dirty="0"/>
                  <a:t>ADC = ADB = 90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/>
                      </a:rPr>
                      <m:t>°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r>
                  <a:rPr lang="en-GB" sz="1400" dirty="0"/>
                  <a:t>Therefore triangles congruent by RHS.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56" y="3933056"/>
                <a:ext cx="3240360" cy="954107"/>
              </a:xfrm>
              <a:prstGeom prst="rect">
                <a:avLst/>
              </a:prstGeom>
              <a:blipFill rotWithShape="1">
                <a:blip r:embed="rId3"/>
                <a:stretch>
                  <a:fillRect l="-187" b="-37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995936" y="5090864"/>
                <a:ext cx="3240360" cy="104285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Since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/>
                      </a:rPr>
                      <m:t>𝐴𝐷𝐶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/>
                      </a:rPr>
                      <m:t>𝐴𝐷𝐵</m:t>
                    </m:r>
                  </m:oMath>
                </a14:m>
                <a:r>
                  <a:rPr lang="en-GB" sz="1400" dirty="0"/>
                  <a:t> are congruent triangles,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/>
                      </a:rPr>
                      <m:t>𝐵𝐷</m:t>
                    </m:r>
                    <m:r>
                      <a:rPr lang="en-GB" sz="1400" b="0" i="1" smtClean="0">
                        <a:latin typeface="Cambria Math"/>
                      </a:rPr>
                      <m:t>=</m:t>
                    </m:r>
                    <m:r>
                      <a:rPr lang="en-GB" sz="1400" b="0" i="1" smtClean="0">
                        <a:latin typeface="Cambria Math"/>
                      </a:rPr>
                      <m:t>𝐷𝐶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/>
                      </a:rPr>
                      <m:t>𝐵𝐶</m:t>
                    </m:r>
                    <m:r>
                      <a:rPr lang="en-GB" sz="1400" b="0" i="1" smtClean="0">
                        <a:latin typeface="Cambria Math"/>
                      </a:rPr>
                      <m:t>=</m:t>
                    </m:r>
                    <m:r>
                      <a:rPr lang="en-GB" sz="1400" b="0" i="1" smtClean="0">
                        <a:latin typeface="Cambria Math"/>
                      </a:rPr>
                      <m:t>𝐴𝐵</m:t>
                    </m:r>
                  </m:oMath>
                </a14:m>
                <a:r>
                  <a:rPr lang="en-GB" sz="1400" dirty="0"/>
                  <a:t> as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/>
                      </a:rPr>
                      <m:t>𝐴𝐵𝐶</m:t>
                    </m:r>
                  </m:oMath>
                </a14:m>
                <a:r>
                  <a:rPr lang="en-GB" sz="1400" dirty="0"/>
                  <a:t> is equilateral.</a:t>
                </a:r>
              </a:p>
              <a:p>
                <a:r>
                  <a:rPr lang="en-GB" sz="1400" dirty="0"/>
                  <a:t>Therefore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/>
                      </a:rPr>
                      <m:t>𝐵𝐷</m:t>
                    </m:r>
                    <m:r>
                      <a:rPr lang="en-GB" sz="1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sz="1400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GB" sz="1400" b="0" i="1" smtClean="0">
                        <a:latin typeface="Cambria Math"/>
                      </a:rPr>
                      <m:t>𝐵𝐶</m:t>
                    </m:r>
                    <m:r>
                      <a:rPr lang="en-GB" sz="1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sz="1400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GB" sz="1400" b="0" i="1" smtClean="0">
                        <a:latin typeface="Cambria Math"/>
                      </a:rPr>
                      <m:t>𝐴𝐵</m:t>
                    </m:r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5090864"/>
                <a:ext cx="3240360" cy="1042850"/>
              </a:xfrm>
              <a:prstGeom prst="rect">
                <a:avLst/>
              </a:prstGeom>
              <a:blipFill rotWithShape="1">
                <a:blip r:embed="rId4"/>
                <a:stretch>
                  <a:fillRect l="-1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3995936" y="5090864"/>
            <a:ext cx="3240360" cy="10428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5536" y="836712"/>
            <a:ext cx="504056" cy="3600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6056" y="3933055"/>
            <a:ext cx="3240360" cy="95410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91167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Congruent Triangles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" y="606370"/>
            <a:ext cx="5003830" cy="280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6212" y="2780928"/>
            <a:ext cx="5046643" cy="3802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4096213" y="2775942"/>
            <a:ext cx="5046642" cy="396542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8" name="Rectangle 7"/>
          <p:cNvSpPr/>
          <p:nvPr/>
        </p:nvSpPr>
        <p:spPr>
          <a:xfrm>
            <a:off x="395536" y="1021993"/>
            <a:ext cx="504056" cy="3600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Q3</a:t>
            </a:r>
          </a:p>
        </p:txBody>
      </p:sp>
    </p:spTree>
    <p:extLst>
      <p:ext uri="{BB962C8B-B14F-4D97-AF65-F5344CB8AC3E}">
        <p14:creationId xmlns:p14="http://schemas.microsoft.com/office/powerpoint/2010/main" val="3472208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38125"/>
            <a:ext cx="6705600" cy="638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366787" y="764704"/>
            <a:ext cx="499219" cy="3600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Q4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5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Exercises</a:t>
              </a:r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483768" y="4725144"/>
            <a:ext cx="31683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i="1" dirty="0"/>
              <a:t>BC = CE </a:t>
            </a:r>
            <a:r>
              <a:rPr lang="en-GB" sz="1400" b="1" dirty="0"/>
              <a:t>equal  sides</a:t>
            </a:r>
          </a:p>
          <a:p>
            <a:r>
              <a:rPr lang="en-GB" sz="1400" b="1" i="1" dirty="0"/>
              <a:t>CF = CD </a:t>
            </a:r>
            <a:r>
              <a:rPr lang="en-GB" sz="1400" b="1" dirty="0"/>
              <a:t>equal sides</a:t>
            </a:r>
          </a:p>
          <a:p>
            <a:r>
              <a:rPr lang="en-GB" sz="1400" b="1" i="1" dirty="0"/>
              <a:t>BCF = DCE </a:t>
            </a:r>
            <a:r>
              <a:rPr lang="en-GB" sz="1400" b="1" dirty="0"/>
              <a:t>= 150</a:t>
            </a:r>
            <a:r>
              <a:rPr lang="en-GB" sz="1400" b="1" baseline="30000" dirty="0"/>
              <a:t>o</a:t>
            </a:r>
            <a:endParaRPr lang="en-GB" sz="1400" b="1" dirty="0"/>
          </a:p>
          <a:p>
            <a:r>
              <a:rPr lang="en-GB" sz="1400" b="1" i="1" dirty="0"/>
              <a:t>BFC</a:t>
            </a:r>
            <a:r>
              <a:rPr lang="en-GB" sz="1400" b="1" dirty="0"/>
              <a:t> is congruent to </a:t>
            </a:r>
            <a:r>
              <a:rPr lang="en-GB" sz="1400" b="1" i="1" dirty="0"/>
              <a:t>ECD </a:t>
            </a:r>
            <a:r>
              <a:rPr lang="en-GB" sz="1400" b="1" dirty="0"/>
              <a:t> by SAS.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5057" y="6165304"/>
            <a:ext cx="4464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So</a:t>
            </a:r>
            <a:r>
              <a:rPr lang="en-GB" sz="1400" b="1" i="1" dirty="0"/>
              <a:t> BF=ED (</a:t>
            </a:r>
            <a:r>
              <a:rPr lang="en-GB" sz="1400" b="1" dirty="0"/>
              <a:t>congruent triangles)</a:t>
            </a:r>
          </a:p>
          <a:p>
            <a:r>
              <a:rPr lang="en-GB" sz="1400" b="1" i="1" dirty="0"/>
              <a:t>BF = EG </a:t>
            </a:r>
            <a:r>
              <a:rPr lang="en-GB" sz="1400" b="1" dirty="0"/>
              <a:t>( </a:t>
            </a:r>
            <a:r>
              <a:rPr lang="en-GB" sz="1400" b="1" dirty="0" err="1"/>
              <a:t>opp</a:t>
            </a:r>
            <a:r>
              <a:rPr lang="en-GB" sz="1400" b="1" dirty="0"/>
              <a:t> sides of parallelogram)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1176" y="6270566"/>
            <a:ext cx="463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(2)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01280" y="4748392"/>
            <a:ext cx="4021630" cy="93085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5057" y="6093296"/>
            <a:ext cx="3271199" cy="6426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7187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Check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467544" y="908720"/>
            <a:ext cx="792088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What are the four types of congruent triangle proofs?</a:t>
            </a:r>
          </a:p>
          <a:p>
            <a:r>
              <a:rPr lang="en-GB" sz="2400" b="1" dirty="0"/>
              <a:t>SSS, SAS, ASA (equivalent to AAS) and RHS.</a:t>
            </a:r>
          </a:p>
          <a:p>
            <a:endParaRPr lang="en-GB" sz="2400" dirty="0"/>
          </a:p>
          <a:p>
            <a:r>
              <a:rPr lang="en-GB" sz="2400" dirty="0"/>
              <a:t>What should be the structure of our proof?</a:t>
            </a:r>
          </a:p>
          <a:p>
            <a:r>
              <a:rPr lang="en-GB" sz="2400" b="1" dirty="0"/>
              <a:t>Justification of each of the three letters, followed by conclusion in which we state which proof type we used.</a:t>
            </a:r>
          </a:p>
          <a:p>
            <a:endParaRPr lang="en-GB" sz="2400" dirty="0"/>
          </a:p>
          <a:p>
            <a:r>
              <a:rPr lang="en-GB" sz="2400" dirty="0"/>
              <a:t>What kinds of justifications can be used for sides and angles?</a:t>
            </a:r>
          </a:p>
          <a:p>
            <a:r>
              <a:rPr lang="en-GB" sz="2400" b="1" dirty="0"/>
              <a:t>Circle Theorems, ‘common’ sides, alternate/corresponding angles, properties of parallelograms,  sides/angles of regular polygon are equal.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9798" y="1340768"/>
            <a:ext cx="7982642" cy="46542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9798" y="2520783"/>
            <a:ext cx="7982642" cy="69219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8" name="Rectangle 7"/>
          <p:cNvSpPr/>
          <p:nvPr/>
        </p:nvSpPr>
        <p:spPr>
          <a:xfrm>
            <a:off x="549798" y="3933056"/>
            <a:ext cx="7982642" cy="12241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24280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Using completed proof to justify other sides/angles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24" y="836712"/>
            <a:ext cx="5003830" cy="280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08104" y="1052736"/>
                <a:ext cx="3312368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In this proof, there was no easy way to justify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𝐴𝐵</m:t>
                    </m:r>
                    <m:r>
                      <a:rPr lang="en-GB" b="0" i="1" smtClean="0">
                        <a:latin typeface="Cambria Math"/>
                      </a:rPr>
                      <m:t>=</m:t>
                    </m:r>
                    <m:r>
                      <a:rPr lang="en-GB" b="0" i="1" smtClean="0">
                        <a:latin typeface="Cambria Math"/>
                      </a:rPr>
                      <m:t>𝐶𝐷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However, once we’ve completed a congruent triangle proof, this provides a justification for other sides and angles being the same.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1052736"/>
                <a:ext cx="3312368" cy="1754326"/>
              </a:xfrm>
              <a:prstGeom prst="rect">
                <a:avLst/>
              </a:prstGeom>
              <a:blipFill rotWithShape="1">
                <a:blip r:embed="rId3"/>
                <a:stretch>
                  <a:fillRect l="-1657" t="-1742" b="-48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508104" y="2993418"/>
                <a:ext cx="3168352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We might write as justification:</a:t>
                </a:r>
              </a:p>
              <a:p>
                <a:r>
                  <a:rPr lang="en-GB" dirty="0"/>
                  <a:t>“As triangles ABD and DCA are congruent,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𝐴𝐵</m:t>
                    </m:r>
                    <m:r>
                      <a:rPr lang="en-GB" b="0" i="1" smtClean="0">
                        <a:latin typeface="Cambria Math"/>
                      </a:rPr>
                      <m:t>=</m:t>
                    </m:r>
                    <m:r>
                      <a:rPr lang="en-GB" b="0" i="1" smtClean="0">
                        <a:latin typeface="Cambria Math"/>
                      </a:rPr>
                      <m:t>𝐶𝐷</m:t>
                    </m:r>
                  </m:oMath>
                </a14:m>
                <a:r>
                  <a:rPr lang="en-GB" dirty="0"/>
                  <a:t>.”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2993418"/>
                <a:ext cx="3168352" cy="923330"/>
              </a:xfrm>
              <a:prstGeom prst="rect">
                <a:avLst/>
              </a:prstGeom>
              <a:blipFill rotWithShape="1">
                <a:blip r:embed="rId4"/>
                <a:stretch>
                  <a:fillRect b="-113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0826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99126"/>
            <a:ext cx="7367688" cy="6070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076056" y="3933056"/>
                <a:ext cx="3240360" cy="9541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AB = AC (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/>
                      </a:rPr>
                      <m:t>𝐴𝐵𝐶</m:t>
                    </m:r>
                  </m:oMath>
                </a14:m>
                <a:r>
                  <a:rPr lang="en-GB" sz="1400" dirty="0"/>
                  <a:t> is equilateral triangle)</a:t>
                </a:r>
              </a:p>
              <a:p>
                <a:r>
                  <a:rPr lang="en-GB" sz="1400" dirty="0"/>
                  <a:t>AD is common.</a:t>
                </a:r>
              </a:p>
              <a:p>
                <a:r>
                  <a:rPr lang="en-GB" sz="1400" dirty="0"/>
                  <a:t>ADC = ADB = 90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/>
                      </a:rPr>
                      <m:t>°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r>
                  <a:rPr lang="en-GB" sz="1400" dirty="0"/>
                  <a:t>Therefore triangles congruent by RHS.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56" y="3933056"/>
                <a:ext cx="3240360" cy="954107"/>
              </a:xfrm>
              <a:prstGeom prst="rect">
                <a:avLst/>
              </a:prstGeom>
              <a:blipFill rotWithShape="1">
                <a:blip r:embed="rId3"/>
                <a:stretch>
                  <a:fillRect l="-187" b="-37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995936" y="5090864"/>
                <a:ext cx="3240360" cy="104285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Since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/>
                      </a:rPr>
                      <m:t>𝐴𝐷𝐶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/>
                      </a:rPr>
                      <m:t>𝐴𝐷𝐵</m:t>
                    </m:r>
                  </m:oMath>
                </a14:m>
                <a:r>
                  <a:rPr lang="en-GB" sz="1400" dirty="0"/>
                  <a:t> are congruent triangles,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/>
                      </a:rPr>
                      <m:t>𝐵𝐷</m:t>
                    </m:r>
                    <m:r>
                      <a:rPr lang="en-GB" sz="1400" b="0" i="1" smtClean="0">
                        <a:latin typeface="Cambria Math"/>
                      </a:rPr>
                      <m:t>=</m:t>
                    </m:r>
                    <m:r>
                      <a:rPr lang="en-GB" sz="1400" b="0" i="1" smtClean="0">
                        <a:latin typeface="Cambria Math"/>
                      </a:rPr>
                      <m:t>𝐷𝐶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/>
                      </a:rPr>
                      <m:t>𝐵𝐶</m:t>
                    </m:r>
                    <m:r>
                      <a:rPr lang="en-GB" sz="1400" b="0" i="1" smtClean="0">
                        <a:latin typeface="Cambria Math"/>
                      </a:rPr>
                      <m:t>=</m:t>
                    </m:r>
                    <m:r>
                      <a:rPr lang="en-GB" sz="1400" b="0" i="1" smtClean="0">
                        <a:latin typeface="Cambria Math"/>
                      </a:rPr>
                      <m:t>𝐴𝐵</m:t>
                    </m:r>
                  </m:oMath>
                </a14:m>
                <a:r>
                  <a:rPr lang="en-GB" sz="1400" dirty="0"/>
                  <a:t> as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/>
                      </a:rPr>
                      <m:t>𝐴𝐵𝐶</m:t>
                    </m:r>
                  </m:oMath>
                </a14:m>
                <a:r>
                  <a:rPr lang="en-GB" sz="1400" dirty="0"/>
                  <a:t> is equilateral.</a:t>
                </a:r>
              </a:p>
              <a:p>
                <a:r>
                  <a:rPr lang="en-GB" sz="1400" dirty="0"/>
                  <a:t>Therefore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/>
                      </a:rPr>
                      <m:t>𝐵𝐷</m:t>
                    </m:r>
                    <m:r>
                      <a:rPr lang="en-GB" sz="1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sz="1400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GB" sz="1400" b="0" i="1" smtClean="0">
                        <a:latin typeface="Cambria Math"/>
                      </a:rPr>
                      <m:t>𝐵𝐶</m:t>
                    </m:r>
                    <m:r>
                      <a:rPr lang="en-GB" sz="1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sz="1400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GB" sz="1400" b="0" i="1" smtClean="0">
                        <a:latin typeface="Cambria Math"/>
                      </a:rPr>
                      <m:t>𝐴𝐵</m:t>
                    </m:r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5090864"/>
                <a:ext cx="3240360" cy="1042850"/>
              </a:xfrm>
              <a:prstGeom prst="rect">
                <a:avLst/>
              </a:prstGeom>
              <a:blipFill rotWithShape="1">
                <a:blip r:embed="rId4"/>
                <a:stretch>
                  <a:fillRect l="-1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3995936" y="5090864"/>
            <a:ext cx="3240360" cy="10428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5536" y="836712"/>
            <a:ext cx="504056" cy="3600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616116" y="1016732"/>
                <a:ext cx="3060340" cy="147732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earlier showed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𝐴𝐷𝐶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𝐴𝐷𝐵</m:t>
                    </m:r>
                  </m:oMath>
                </a14:m>
                <a:r>
                  <a:rPr lang="en-GB" dirty="0"/>
                  <a:t> are congruent, but couldn’t at that point use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𝐵𝐷</m:t>
                    </m:r>
                    <m:r>
                      <a:rPr lang="en-GB" b="0" i="1" smtClean="0">
                        <a:latin typeface="Cambria Math"/>
                      </a:rPr>
                      <m:t>=</m:t>
                    </m:r>
                    <m:r>
                      <a:rPr lang="en-GB" b="0" i="1" smtClean="0">
                        <a:latin typeface="Cambria Math"/>
                      </a:rPr>
                      <m:t>𝐷𝐶</m:t>
                    </m:r>
                  </m:oMath>
                </a14:m>
                <a:r>
                  <a:rPr lang="en-GB" dirty="0"/>
                  <a:t> because we couldn’t justify it.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6116" y="1016732"/>
                <a:ext cx="3060340" cy="1477328"/>
              </a:xfrm>
              <a:prstGeom prst="rect">
                <a:avLst/>
              </a:prstGeom>
              <a:blipFill rotWithShape="1">
                <a:blip r:embed="rId5"/>
                <a:stretch>
                  <a:fillRect b="-373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0139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38125"/>
            <a:ext cx="6705600" cy="638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366787" y="764704"/>
            <a:ext cx="499219" cy="3600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Q4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5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Exercises</a:t>
              </a:r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483768" y="4725144"/>
            <a:ext cx="31683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i="1" dirty="0"/>
              <a:t>BC = CE </a:t>
            </a:r>
            <a:r>
              <a:rPr lang="en-GB" sz="1400" b="1" dirty="0"/>
              <a:t>equal  sides</a:t>
            </a:r>
          </a:p>
          <a:p>
            <a:r>
              <a:rPr lang="en-GB" sz="1400" b="1" i="1" dirty="0"/>
              <a:t>CF = CD </a:t>
            </a:r>
            <a:r>
              <a:rPr lang="en-GB" sz="1400" b="1" dirty="0"/>
              <a:t>equal sides</a:t>
            </a:r>
          </a:p>
          <a:p>
            <a:r>
              <a:rPr lang="en-GB" sz="1400" b="1" i="1" dirty="0"/>
              <a:t>BCF = DCE </a:t>
            </a:r>
            <a:r>
              <a:rPr lang="en-GB" sz="1400" b="1" dirty="0"/>
              <a:t>= 150</a:t>
            </a:r>
            <a:r>
              <a:rPr lang="en-GB" sz="1400" b="1" baseline="30000" dirty="0"/>
              <a:t>o</a:t>
            </a:r>
            <a:endParaRPr lang="en-GB" sz="1400" b="1" dirty="0"/>
          </a:p>
          <a:p>
            <a:r>
              <a:rPr lang="en-GB" sz="1400" b="1" i="1" dirty="0"/>
              <a:t>BFC</a:t>
            </a:r>
            <a:r>
              <a:rPr lang="en-GB" sz="1400" b="1" dirty="0"/>
              <a:t> is congruent to </a:t>
            </a:r>
            <a:r>
              <a:rPr lang="en-GB" sz="1400" b="1" i="1" dirty="0"/>
              <a:t>ECD </a:t>
            </a:r>
            <a:r>
              <a:rPr lang="en-GB" sz="1400" b="1" dirty="0"/>
              <a:t> by SAS.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5057" y="6165304"/>
            <a:ext cx="4464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So</a:t>
            </a:r>
            <a:r>
              <a:rPr lang="en-GB" sz="1400" b="1" i="1" dirty="0"/>
              <a:t> BF=ED (</a:t>
            </a:r>
            <a:r>
              <a:rPr lang="en-GB" sz="1400" b="1" dirty="0"/>
              <a:t>congruent triangles)</a:t>
            </a:r>
          </a:p>
          <a:p>
            <a:r>
              <a:rPr lang="en-GB" sz="1400" b="1" i="1" dirty="0"/>
              <a:t>BF = EG </a:t>
            </a:r>
            <a:r>
              <a:rPr lang="en-GB" sz="1400" b="1" dirty="0"/>
              <a:t>( </a:t>
            </a:r>
            <a:r>
              <a:rPr lang="en-GB" sz="1400" b="1" dirty="0" err="1"/>
              <a:t>opp</a:t>
            </a:r>
            <a:r>
              <a:rPr lang="en-GB" sz="1400" b="1" dirty="0"/>
              <a:t> sides of parallelogram)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1176" y="6270566"/>
            <a:ext cx="463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(2)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5057" y="6093296"/>
            <a:ext cx="3271199" cy="6426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15200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1164</Words>
  <Application>Microsoft Office PowerPoint</Application>
  <PresentationFormat>On-screen Show (4:3)</PresentationFormat>
  <Paragraphs>218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Cambria Math</vt:lpstr>
      <vt:lpstr>Symbol</vt:lpstr>
      <vt:lpstr>Wingdings</vt:lpstr>
      <vt:lpstr>Office Theme</vt:lpstr>
      <vt:lpstr>GCSE: Congruent Triangles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Tiffin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GCSE: Congruent Triangles</dc:title>
  <dc:creator>J FROST</dc:creator>
  <cp:lastModifiedBy>DAVIES Rhys [Busselton Senior High School]</cp:lastModifiedBy>
  <cp:revision>22</cp:revision>
  <dcterms:created xsi:type="dcterms:W3CDTF">2014-03-18T07:47:07Z</dcterms:created>
  <dcterms:modified xsi:type="dcterms:W3CDTF">2021-07-28T12:02:39Z</dcterms:modified>
</cp:coreProperties>
</file>
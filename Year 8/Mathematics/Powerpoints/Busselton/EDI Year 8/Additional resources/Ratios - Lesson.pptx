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34"/>
  </p:notesMasterIdLst>
  <p:handoutMasterIdLst>
    <p:handoutMasterId r:id="rId35"/>
  </p:handoutMasterIdLst>
  <p:sldIdLst>
    <p:sldId id="355" r:id="rId3"/>
    <p:sldId id="362" r:id="rId4"/>
    <p:sldId id="337" r:id="rId5"/>
    <p:sldId id="350" r:id="rId6"/>
    <p:sldId id="338" r:id="rId7"/>
    <p:sldId id="339" r:id="rId8"/>
    <p:sldId id="348" r:id="rId9"/>
    <p:sldId id="340" r:id="rId10"/>
    <p:sldId id="358" r:id="rId11"/>
    <p:sldId id="364" r:id="rId12"/>
    <p:sldId id="341" r:id="rId13"/>
    <p:sldId id="342" r:id="rId14"/>
    <p:sldId id="343" r:id="rId15"/>
    <p:sldId id="363" r:id="rId16"/>
    <p:sldId id="366" r:id="rId17"/>
    <p:sldId id="365" r:id="rId18"/>
    <p:sldId id="327" r:id="rId19"/>
    <p:sldId id="328" r:id="rId20"/>
    <p:sldId id="329" r:id="rId21"/>
    <p:sldId id="330" r:id="rId22"/>
    <p:sldId id="331" r:id="rId23"/>
    <p:sldId id="332" r:id="rId24"/>
    <p:sldId id="336" r:id="rId25"/>
    <p:sldId id="359" r:id="rId26"/>
    <p:sldId id="367" r:id="rId27"/>
    <p:sldId id="318" r:id="rId28"/>
    <p:sldId id="368" r:id="rId29"/>
    <p:sldId id="351" r:id="rId30"/>
    <p:sldId id="354" r:id="rId31"/>
    <p:sldId id="352" r:id="rId32"/>
    <p:sldId id="353" r:id="rId33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6E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56" autoAdjust="0"/>
    <p:restoredTop sz="78277" autoAdjust="0"/>
  </p:normalViewPr>
  <p:slideViewPr>
    <p:cSldViewPr>
      <p:cViewPr varScale="1">
        <p:scale>
          <a:sx n="86" d="100"/>
          <a:sy n="86" d="100"/>
        </p:scale>
        <p:origin x="99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76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80" d="100"/>
          <a:sy n="80" d="100"/>
        </p:scale>
        <p:origin x="-1206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F4B0DD-A3A1-41DE-955C-C7E72FCBB3E7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954E209-2019-4149-8BDA-B63907863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16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ECEA39B-73DE-4E24-BAE1-633B5DA436B7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1AC885D-3D46-49CD-BBC9-13853C2C07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688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78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51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07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43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42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6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6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55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700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03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1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43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77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88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08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1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18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13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89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16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855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A93B1D-35C8-4D4B-AC27-A28EA951668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61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EA93B1D-35C8-4D4B-AC27-A28EA951668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309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703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247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49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b="1" u="sng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AD2769-D43E-4332-8490-A01931B09D41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12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43"/>
          <p:cNvGrpSpPr>
            <a:grpSpLocks/>
          </p:cNvGrpSpPr>
          <p:nvPr userDrawn="1"/>
        </p:nvGrpSpPr>
        <p:grpSpPr bwMode="auto">
          <a:xfrm>
            <a:off x="0" y="2268538"/>
            <a:ext cx="4191000" cy="4589462"/>
            <a:chOff x="-1" y="1600199"/>
            <a:chExt cx="4501019" cy="5257801"/>
          </a:xfrm>
        </p:grpSpPr>
        <p:sp>
          <p:nvSpPr>
            <p:cNvPr id="6" name="Freeform 7"/>
            <p:cNvSpPr>
              <a:spLocks/>
            </p:cNvSpPr>
            <p:nvPr userDrawn="1"/>
          </p:nvSpPr>
          <p:spPr bwMode="auto">
            <a:xfrm>
              <a:off x="-1" y="1600199"/>
              <a:ext cx="4127640" cy="25152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7" name="Freeform 8"/>
            <p:cNvSpPr>
              <a:spLocks/>
            </p:cNvSpPr>
            <p:nvPr userDrawn="1"/>
          </p:nvSpPr>
          <p:spPr bwMode="auto">
            <a:xfrm>
              <a:off x="-1" y="3580740"/>
              <a:ext cx="1600931" cy="3277260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8" name="Freeform 9"/>
            <p:cNvSpPr>
              <a:spLocks/>
            </p:cNvSpPr>
            <p:nvPr userDrawn="1"/>
          </p:nvSpPr>
          <p:spPr bwMode="auto">
            <a:xfrm>
              <a:off x="-1" y="2438610"/>
              <a:ext cx="2894974" cy="2153316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9" name="Freeform 10"/>
            <p:cNvSpPr>
              <a:spLocks/>
            </p:cNvSpPr>
            <p:nvPr userDrawn="1"/>
          </p:nvSpPr>
          <p:spPr bwMode="auto">
            <a:xfrm>
              <a:off x="1224140" y="3886278"/>
              <a:ext cx="3276878" cy="2971722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0" name="Freeform 11"/>
            <p:cNvSpPr>
              <a:spLocks/>
            </p:cNvSpPr>
            <p:nvPr userDrawn="1"/>
          </p:nvSpPr>
          <p:spPr bwMode="auto">
            <a:xfrm>
              <a:off x="876334" y="3993581"/>
              <a:ext cx="1720276" cy="2864419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11" name="Freeform 46"/>
          <p:cNvSpPr>
            <a:spLocks/>
          </p:cNvSpPr>
          <p:nvPr userDrawn="1"/>
        </p:nvSpPr>
        <p:spPr bwMode="auto">
          <a:xfrm>
            <a:off x="7543800" y="0"/>
            <a:ext cx="1600200" cy="2209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32" y="0"/>
              </a:cxn>
              <a:cxn ang="0">
                <a:pos x="1432" y="3492"/>
              </a:cxn>
              <a:cxn ang="0">
                <a:pos x="1419" y="3252"/>
              </a:cxn>
              <a:cxn ang="0">
                <a:pos x="1406" y="3024"/>
              </a:cxn>
              <a:cxn ang="0">
                <a:pos x="1393" y="2807"/>
              </a:cxn>
              <a:cxn ang="0">
                <a:pos x="1379" y="2601"/>
              </a:cxn>
              <a:cxn ang="0">
                <a:pos x="1364" y="2407"/>
              </a:cxn>
              <a:cxn ang="0">
                <a:pos x="1348" y="2222"/>
              </a:cxn>
              <a:cxn ang="0">
                <a:pos x="1330" y="2047"/>
              </a:cxn>
              <a:cxn ang="0">
                <a:pos x="1311" y="1881"/>
              </a:cxn>
              <a:cxn ang="0">
                <a:pos x="1291" y="1726"/>
              </a:cxn>
              <a:cxn ang="0">
                <a:pos x="1268" y="1580"/>
              </a:cxn>
              <a:cxn ang="0">
                <a:pos x="1245" y="1442"/>
              </a:cxn>
              <a:cxn ang="0">
                <a:pos x="1218" y="1313"/>
              </a:cxn>
              <a:cxn ang="0">
                <a:pos x="1190" y="1192"/>
              </a:cxn>
              <a:cxn ang="0">
                <a:pos x="1158" y="1078"/>
              </a:cxn>
              <a:cxn ang="0">
                <a:pos x="1125" y="973"/>
              </a:cxn>
              <a:cxn ang="0">
                <a:pos x="1089" y="873"/>
              </a:cxn>
              <a:cxn ang="0">
                <a:pos x="1049" y="781"/>
              </a:cxn>
              <a:cxn ang="0">
                <a:pos x="1007" y="696"/>
              </a:cxn>
              <a:cxn ang="0">
                <a:pos x="962" y="617"/>
              </a:cxn>
              <a:cxn ang="0">
                <a:pos x="913" y="544"/>
              </a:cxn>
              <a:cxn ang="0">
                <a:pos x="860" y="475"/>
              </a:cxn>
              <a:cxn ang="0">
                <a:pos x="804" y="413"/>
              </a:cxn>
              <a:cxn ang="0">
                <a:pos x="744" y="354"/>
              </a:cxn>
              <a:cxn ang="0">
                <a:pos x="680" y="301"/>
              </a:cxn>
              <a:cxn ang="0">
                <a:pos x="611" y="252"/>
              </a:cxn>
              <a:cxn ang="0">
                <a:pos x="539" y="206"/>
              </a:cxn>
              <a:cxn ang="0">
                <a:pos x="461" y="165"/>
              </a:cxn>
              <a:cxn ang="0">
                <a:pos x="379" y="128"/>
              </a:cxn>
              <a:cxn ang="0">
                <a:pos x="292" y="92"/>
              </a:cxn>
              <a:cxn ang="0">
                <a:pos x="200" y="59"/>
              </a:cxn>
              <a:cxn ang="0">
                <a:pos x="103" y="28"/>
              </a:cxn>
              <a:cxn ang="0">
                <a:pos x="0" y="0"/>
              </a:cxn>
            </a:cxnLst>
            <a:rect l="0" t="0" r="r" b="b"/>
            <a:pathLst>
              <a:path w="1432" h="3492">
                <a:moveTo>
                  <a:pt x="0" y="0"/>
                </a:moveTo>
                <a:lnTo>
                  <a:pt x="1432" y="0"/>
                </a:lnTo>
                <a:lnTo>
                  <a:pt x="1432" y="3492"/>
                </a:lnTo>
                <a:lnTo>
                  <a:pt x="1419" y="3252"/>
                </a:lnTo>
                <a:lnTo>
                  <a:pt x="1406" y="3024"/>
                </a:lnTo>
                <a:lnTo>
                  <a:pt x="1393" y="2807"/>
                </a:lnTo>
                <a:lnTo>
                  <a:pt x="1379" y="2601"/>
                </a:lnTo>
                <a:lnTo>
                  <a:pt x="1364" y="2407"/>
                </a:lnTo>
                <a:lnTo>
                  <a:pt x="1348" y="2222"/>
                </a:lnTo>
                <a:lnTo>
                  <a:pt x="1330" y="2047"/>
                </a:lnTo>
                <a:lnTo>
                  <a:pt x="1311" y="1881"/>
                </a:lnTo>
                <a:lnTo>
                  <a:pt x="1291" y="1726"/>
                </a:lnTo>
                <a:lnTo>
                  <a:pt x="1268" y="1580"/>
                </a:lnTo>
                <a:lnTo>
                  <a:pt x="1245" y="1442"/>
                </a:lnTo>
                <a:lnTo>
                  <a:pt x="1218" y="1313"/>
                </a:lnTo>
                <a:lnTo>
                  <a:pt x="1190" y="1192"/>
                </a:lnTo>
                <a:lnTo>
                  <a:pt x="1158" y="1078"/>
                </a:lnTo>
                <a:lnTo>
                  <a:pt x="1125" y="973"/>
                </a:lnTo>
                <a:lnTo>
                  <a:pt x="1089" y="873"/>
                </a:lnTo>
                <a:lnTo>
                  <a:pt x="1049" y="781"/>
                </a:lnTo>
                <a:lnTo>
                  <a:pt x="1007" y="696"/>
                </a:lnTo>
                <a:lnTo>
                  <a:pt x="962" y="617"/>
                </a:lnTo>
                <a:lnTo>
                  <a:pt x="913" y="544"/>
                </a:lnTo>
                <a:lnTo>
                  <a:pt x="860" y="475"/>
                </a:lnTo>
                <a:lnTo>
                  <a:pt x="804" y="413"/>
                </a:lnTo>
                <a:lnTo>
                  <a:pt x="744" y="354"/>
                </a:lnTo>
                <a:lnTo>
                  <a:pt x="680" y="301"/>
                </a:lnTo>
                <a:lnTo>
                  <a:pt x="611" y="252"/>
                </a:lnTo>
                <a:lnTo>
                  <a:pt x="539" y="206"/>
                </a:lnTo>
                <a:lnTo>
                  <a:pt x="461" y="165"/>
                </a:lnTo>
                <a:lnTo>
                  <a:pt x="379" y="128"/>
                </a:lnTo>
                <a:lnTo>
                  <a:pt x="292" y="92"/>
                </a:lnTo>
                <a:lnTo>
                  <a:pt x="200" y="59"/>
                </a:lnTo>
                <a:lnTo>
                  <a:pt x="103" y="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Freeform 47"/>
          <p:cNvSpPr>
            <a:spLocks/>
          </p:cNvSpPr>
          <p:nvPr userDrawn="1"/>
        </p:nvSpPr>
        <p:spPr bwMode="auto">
          <a:xfrm>
            <a:off x="3733800" y="5715000"/>
            <a:ext cx="5029200" cy="762000"/>
          </a:xfrm>
          <a:custGeom>
            <a:avLst/>
            <a:gdLst/>
            <a:ahLst/>
            <a:cxnLst>
              <a:cxn ang="0">
                <a:pos x="17264" y="180"/>
              </a:cxn>
              <a:cxn ang="0">
                <a:pos x="16706" y="689"/>
              </a:cxn>
              <a:cxn ang="0">
                <a:pos x="15959" y="1141"/>
              </a:cxn>
              <a:cxn ang="0">
                <a:pos x="15050" y="1535"/>
              </a:cxn>
              <a:cxn ang="0">
                <a:pos x="14003" y="1871"/>
              </a:cxn>
              <a:cxn ang="0">
                <a:pos x="12844" y="2151"/>
              </a:cxn>
              <a:cxn ang="0">
                <a:pos x="11599" y="2374"/>
              </a:cxn>
              <a:cxn ang="0">
                <a:pos x="10294" y="2540"/>
              </a:cxn>
              <a:cxn ang="0">
                <a:pos x="8951" y="2649"/>
              </a:cxn>
              <a:cxn ang="0">
                <a:pos x="7599" y="2704"/>
              </a:cxn>
              <a:cxn ang="0">
                <a:pos x="6264" y="2702"/>
              </a:cxn>
              <a:cxn ang="0">
                <a:pos x="4968" y="2645"/>
              </a:cxn>
              <a:cxn ang="0">
                <a:pos x="3740" y="2534"/>
              </a:cxn>
              <a:cxn ang="0">
                <a:pos x="2603" y="2367"/>
              </a:cxn>
              <a:cxn ang="0">
                <a:pos x="1584" y="2147"/>
              </a:cxn>
              <a:cxn ang="0">
                <a:pos x="708" y="1871"/>
              </a:cxn>
              <a:cxn ang="0">
                <a:pos x="0" y="1543"/>
              </a:cxn>
              <a:cxn ang="0">
                <a:pos x="341" y="1635"/>
              </a:cxn>
              <a:cxn ang="0">
                <a:pos x="1155" y="1920"/>
              </a:cxn>
              <a:cxn ang="0">
                <a:pos x="2121" y="2151"/>
              </a:cxn>
              <a:cxn ang="0">
                <a:pos x="3215" y="2331"/>
              </a:cxn>
              <a:cxn ang="0">
                <a:pos x="4413" y="2457"/>
              </a:cxn>
              <a:cxn ang="0">
                <a:pos x="5686" y="2531"/>
              </a:cxn>
              <a:cxn ang="0">
                <a:pos x="7011" y="2550"/>
              </a:cxn>
              <a:cxn ang="0">
                <a:pos x="8361" y="2515"/>
              </a:cxn>
              <a:cxn ang="0">
                <a:pos x="9712" y="2426"/>
              </a:cxn>
              <a:cxn ang="0">
                <a:pos x="11037" y="2283"/>
              </a:cxn>
              <a:cxn ang="0">
                <a:pos x="12311" y="2084"/>
              </a:cxn>
              <a:cxn ang="0">
                <a:pos x="13509" y="1831"/>
              </a:cxn>
              <a:cxn ang="0">
                <a:pos x="14604" y="1522"/>
              </a:cxn>
              <a:cxn ang="0">
                <a:pos x="15571" y="1158"/>
              </a:cxn>
              <a:cxn ang="0">
                <a:pos x="16386" y="737"/>
              </a:cxn>
              <a:cxn ang="0">
                <a:pos x="17021" y="260"/>
              </a:cxn>
            </a:cxnLst>
            <a:rect l="0" t="0" r="r" b="b"/>
            <a:pathLst>
              <a:path w="17264" h="2710">
                <a:moveTo>
                  <a:pt x="17264" y="0"/>
                </a:moveTo>
                <a:lnTo>
                  <a:pt x="17264" y="180"/>
                </a:lnTo>
                <a:lnTo>
                  <a:pt x="17010" y="442"/>
                </a:lnTo>
                <a:lnTo>
                  <a:pt x="16706" y="689"/>
                </a:lnTo>
                <a:lnTo>
                  <a:pt x="16354" y="923"/>
                </a:lnTo>
                <a:lnTo>
                  <a:pt x="15959" y="1141"/>
                </a:lnTo>
                <a:lnTo>
                  <a:pt x="15524" y="1345"/>
                </a:lnTo>
                <a:lnTo>
                  <a:pt x="15050" y="1535"/>
                </a:lnTo>
                <a:lnTo>
                  <a:pt x="14543" y="1710"/>
                </a:lnTo>
                <a:lnTo>
                  <a:pt x="14003" y="1871"/>
                </a:lnTo>
                <a:lnTo>
                  <a:pt x="13437" y="2018"/>
                </a:lnTo>
                <a:lnTo>
                  <a:pt x="12844" y="2151"/>
                </a:lnTo>
                <a:lnTo>
                  <a:pt x="12232" y="2269"/>
                </a:lnTo>
                <a:lnTo>
                  <a:pt x="11599" y="2374"/>
                </a:lnTo>
                <a:lnTo>
                  <a:pt x="10952" y="2464"/>
                </a:lnTo>
                <a:lnTo>
                  <a:pt x="10294" y="2540"/>
                </a:lnTo>
                <a:lnTo>
                  <a:pt x="9625" y="2602"/>
                </a:lnTo>
                <a:lnTo>
                  <a:pt x="8951" y="2649"/>
                </a:lnTo>
                <a:lnTo>
                  <a:pt x="8275" y="2684"/>
                </a:lnTo>
                <a:lnTo>
                  <a:pt x="7599" y="2704"/>
                </a:lnTo>
                <a:lnTo>
                  <a:pt x="6928" y="2710"/>
                </a:lnTo>
                <a:lnTo>
                  <a:pt x="6264" y="2702"/>
                </a:lnTo>
                <a:lnTo>
                  <a:pt x="5609" y="2681"/>
                </a:lnTo>
                <a:lnTo>
                  <a:pt x="4968" y="2645"/>
                </a:lnTo>
                <a:lnTo>
                  <a:pt x="4344" y="2597"/>
                </a:lnTo>
                <a:lnTo>
                  <a:pt x="3740" y="2534"/>
                </a:lnTo>
                <a:lnTo>
                  <a:pt x="3158" y="2457"/>
                </a:lnTo>
                <a:lnTo>
                  <a:pt x="2603" y="2367"/>
                </a:lnTo>
                <a:lnTo>
                  <a:pt x="2077" y="2264"/>
                </a:lnTo>
                <a:lnTo>
                  <a:pt x="1584" y="2147"/>
                </a:lnTo>
                <a:lnTo>
                  <a:pt x="1126" y="2016"/>
                </a:lnTo>
                <a:lnTo>
                  <a:pt x="708" y="1871"/>
                </a:lnTo>
                <a:lnTo>
                  <a:pt x="331" y="1714"/>
                </a:lnTo>
                <a:lnTo>
                  <a:pt x="0" y="1543"/>
                </a:lnTo>
                <a:lnTo>
                  <a:pt x="0" y="1474"/>
                </a:lnTo>
                <a:lnTo>
                  <a:pt x="341" y="1635"/>
                </a:lnTo>
                <a:lnTo>
                  <a:pt x="727" y="1784"/>
                </a:lnTo>
                <a:lnTo>
                  <a:pt x="1155" y="1920"/>
                </a:lnTo>
                <a:lnTo>
                  <a:pt x="1621" y="2042"/>
                </a:lnTo>
                <a:lnTo>
                  <a:pt x="2121" y="2151"/>
                </a:lnTo>
                <a:lnTo>
                  <a:pt x="2654" y="2249"/>
                </a:lnTo>
                <a:lnTo>
                  <a:pt x="3215" y="2331"/>
                </a:lnTo>
                <a:lnTo>
                  <a:pt x="3803" y="2401"/>
                </a:lnTo>
                <a:lnTo>
                  <a:pt x="4413" y="2457"/>
                </a:lnTo>
                <a:lnTo>
                  <a:pt x="5041" y="2500"/>
                </a:lnTo>
                <a:lnTo>
                  <a:pt x="5686" y="2531"/>
                </a:lnTo>
                <a:lnTo>
                  <a:pt x="6343" y="2547"/>
                </a:lnTo>
                <a:lnTo>
                  <a:pt x="7011" y="2550"/>
                </a:lnTo>
                <a:lnTo>
                  <a:pt x="7685" y="2539"/>
                </a:lnTo>
                <a:lnTo>
                  <a:pt x="8361" y="2515"/>
                </a:lnTo>
                <a:lnTo>
                  <a:pt x="9039" y="2478"/>
                </a:lnTo>
                <a:lnTo>
                  <a:pt x="9712" y="2426"/>
                </a:lnTo>
                <a:lnTo>
                  <a:pt x="10379" y="2361"/>
                </a:lnTo>
                <a:lnTo>
                  <a:pt x="11037" y="2283"/>
                </a:lnTo>
                <a:lnTo>
                  <a:pt x="11682" y="2190"/>
                </a:lnTo>
                <a:lnTo>
                  <a:pt x="12311" y="2084"/>
                </a:lnTo>
                <a:lnTo>
                  <a:pt x="12921" y="1964"/>
                </a:lnTo>
                <a:lnTo>
                  <a:pt x="13509" y="1831"/>
                </a:lnTo>
                <a:lnTo>
                  <a:pt x="14070" y="1683"/>
                </a:lnTo>
                <a:lnTo>
                  <a:pt x="14604" y="1522"/>
                </a:lnTo>
                <a:lnTo>
                  <a:pt x="15105" y="1347"/>
                </a:lnTo>
                <a:lnTo>
                  <a:pt x="15571" y="1158"/>
                </a:lnTo>
                <a:lnTo>
                  <a:pt x="15999" y="954"/>
                </a:lnTo>
                <a:lnTo>
                  <a:pt x="16386" y="737"/>
                </a:lnTo>
                <a:lnTo>
                  <a:pt x="16728" y="506"/>
                </a:lnTo>
                <a:lnTo>
                  <a:pt x="17021" y="260"/>
                </a:lnTo>
                <a:lnTo>
                  <a:pt x="17264" y="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116449"/>
            <a:ext cx="6858000" cy="707886"/>
          </a:xfrm>
        </p:spPr>
        <p:txBody>
          <a:bodyPr>
            <a:spAutoFit/>
          </a:bodyPr>
          <a:lstStyle>
            <a:lvl1pPr algn="r">
              <a:defRPr sz="40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1900535"/>
            <a:ext cx="6858000" cy="461665"/>
          </a:xfrm>
        </p:spPr>
        <p:txBody>
          <a:bodyPr>
            <a:spAutoFit/>
          </a:bodyPr>
          <a:lstStyle>
            <a:lvl1pPr marL="0" indent="0" algn="r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7BA0B-9252-4FBE-BEBB-F784A800E35B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3F818-B5E7-4B7E-AC3B-A3D7E4AEEC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72AFA-B383-46A1-A071-856405D474E6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90714-EC3D-426A-AD5F-B39FDE6A6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E2692-DC9A-4944-B368-D087482A9AC2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C5C7A-26D8-4D23-90F9-08B58CCD2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56A10-8223-4129-B006-6B2A541426F4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634F6-BF2D-4840-8053-EE953BCB1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CF7A1-6901-4D4A-B846-B42E09FFDA45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638E6-29A6-428A-9CAA-7452CF004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EECFA-1705-4FA1-A880-2B2304D846ED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FDB9C-AA16-4345-A8F1-B6F025C66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52947-379C-4F5B-94E6-0095A53D3B2E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945C7-00DE-43DE-A48C-707956EF5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5E991-9CB0-4CF7-8926-578E090B8061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93954-688C-4086-869C-E1B2837AC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606C3-537F-46EC-A4DC-2ACF362D9B60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8F7C8-6141-462F-B59D-68ADD7CA2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45150-EBF6-43DB-A720-017A3BEEEF25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46AF-174A-4CC9-B9E4-70E13BBE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0125F-2886-4CBB-B7DB-D98E4E08ED81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5AD3A-3ED2-4444-8278-355DAF3BAD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562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59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398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398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103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99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709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02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618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797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19/07/2022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89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97729D9-196D-4A7C-B513-BD67DBBE1DB8}" type="datetimeFigureOut">
              <a:rPr lang="en-US"/>
              <a:pPr>
                <a:defRPr/>
              </a:pPr>
              <a:t>7/19/2022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16388" name="Group 3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1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1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7543801" y="0"/>
              <a:ext cx="1600200" cy="2209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2" y="0"/>
                </a:cxn>
                <a:cxn ang="0">
                  <a:pos x="1432" y="3492"/>
                </a:cxn>
                <a:cxn ang="0">
                  <a:pos x="1419" y="3252"/>
                </a:cxn>
                <a:cxn ang="0">
                  <a:pos x="1406" y="3024"/>
                </a:cxn>
                <a:cxn ang="0">
                  <a:pos x="1393" y="2807"/>
                </a:cxn>
                <a:cxn ang="0">
                  <a:pos x="1379" y="2601"/>
                </a:cxn>
                <a:cxn ang="0">
                  <a:pos x="1364" y="2407"/>
                </a:cxn>
                <a:cxn ang="0">
                  <a:pos x="1348" y="2222"/>
                </a:cxn>
                <a:cxn ang="0">
                  <a:pos x="1330" y="2047"/>
                </a:cxn>
                <a:cxn ang="0">
                  <a:pos x="1311" y="1881"/>
                </a:cxn>
                <a:cxn ang="0">
                  <a:pos x="1291" y="1726"/>
                </a:cxn>
                <a:cxn ang="0">
                  <a:pos x="1268" y="1580"/>
                </a:cxn>
                <a:cxn ang="0">
                  <a:pos x="1245" y="1442"/>
                </a:cxn>
                <a:cxn ang="0">
                  <a:pos x="1218" y="1313"/>
                </a:cxn>
                <a:cxn ang="0">
                  <a:pos x="1190" y="1192"/>
                </a:cxn>
                <a:cxn ang="0">
                  <a:pos x="1158" y="1078"/>
                </a:cxn>
                <a:cxn ang="0">
                  <a:pos x="1125" y="973"/>
                </a:cxn>
                <a:cxn ang="0">
                  <a:pos x="1089" y="873"/>
                </a:cxn>
                <a:cxn ang="0">
                  <a:pos x="1049" y="781"/>
                </a:cxn>
                <a:cxn ang="0">
                  <a:pos x="1007" y="696"/>
                </a:cxn>
                <a:cxn ang="0">
                  <a:pos x="962" y="617"/>
                </a:cxn>
                <a:cxn ang="0">
                  <a:pos x="913" y="544"/>
                </a:cxn>
                <a:cxn ang="0">
                  <a:pos x="860" y="475"/>
                </a:cxn>
                <a:cxn ang="0">
                  <a:pos x="804" y="413"/>
                </a:cxn>
                <a:cxn ang="0">
                  <a:pos x="744" y="354"/>
                </a:cxn>
                <a:cxn ang="0">
                  <a:pos x="680" y="301"/>
                </a:cxn>
                <a:cxn ang="0">
                  <a:pos x="611" y="252"/>
                </a:cxn>
                <a:cxn ang="0">
                  <a:pos x="539" y="206"/>
                </a:cxn>
                <a:cxn ang="0">
                  <a:pos x="461" y="165"/>
                </a:cxn>
                <a:cxn ang="0">
                  <a:pos x="379" y="128"/>
                </a:cxn>
                <a:cxn ang="0">
                  <a:pos x="292" y="92"/>
                </a:cxn>
                <a:cxn ang="0">
                  <a:pos x="200" y="59"/>
                </a:cxn>
                <a:cxn ang="0">
                  <a:pos x="103" y="28"/>
                </a:cxn>
                <a:cxn ang="0">
                  <a:pos x="0" y="0"/>
                </a:cxn>
              </a:cxnLst>
              <a:rect l="0" t="0" r="r" b="b"/>
              <a:pathLst>
                <a:path w="1432" h="3492">
                  <a:moveTo>
                    <a:pt x="0" y="0"/>
                  </a:moveTo>
                  <a:lnTo>
                    <a:pt x="1432" y="0"/>
                  </a:lnTo>
                  <a:lnTo>
                    <a:pt x="1432" y="3492"/>
                  </a:lnTo>
                  <a:lnTo>
                    <a:pt x="1419" y="3252"/>
                  </a:lnTo>
                  <a:lnTo>
                    <a:pt x="1406" y="3024"/>
                  </a:lnTo>
                  <a:lnTo>
                    <a:pt x="1393" y="2807"/>
                  </a:lnTo>
                  <a:lnTo>
                    <a:pt x="1379" y="2601"/>
                  </a:lnTo>
                  <a:lnTo>
                    <a:pt x="1364" y="2407"/>
                  </a:lnTo>
                  <a:lnTo>
                    <a:pt x="1348" y="2222"/>
                  </a:lnTo>
                  <a:lnTo>
                    <a:pt x="1330" y="2047"/>
                  </a:lnTo>
                  <a:lnTo>
                    <a:pt x="1311" y="1881"/>
                  </a:lnTo>
                  <a:lnTo>
                    <a:pt x="1291" y="1726"/>
                  </a:lnTo>
                  <a:lnTo>
                    <a:pt x="1268" y="1580"/>
                  </a:lnTo>
                  <a:lnTo>
                    <a:pt x="1245" y="1442"/>
                  </a:lnTo>
                  <a:lnTo>
                    <a:pt x="1218" y="1313"/>
                  </a:lnTo>
                  <a:lnTo>
                    <a:pt x="1190" y="1192"/>
                  </a:lnTo>
                  <a:lnTo>
                    <a:pt x="1158" y="1078"/>
                  </a:lnTo>
                  <a:lnTo>
                    <a:pt x="1125" y="973"/>
                  </a:lnTo>
                  <a:lnTo>
                    <a:pt x="1089" y="873"/>
                  </a:lnTo>
                  <a:lnTo>
                    <a:pt x="1049" y="781"/>
                  </a:lnTo>
                  <a:lnTo>
                    <a:pt x="1007" y="696"/>
                  </a:lnTo>
                  <a:lnTo>
                    <a:pt x="962" y="617"/>
                  </a:lnTo>
                  <a:lnTo>
                    <a:pt x="913" y="544"/>
                  </a:lnTo>
                  <a:lnTo>
                    <a:pt x="860" y="475"/>
                  </a:lnTo>
                  <a:lnTo>
                    <a:pt x="804" y="413"/>
                  </a:lnTo>
                  <a:lnTo>
                    <a:pt x="744" y="354"/>
                  </a:lnTo>
                  <a:lnTo>
                    <a:pt x="680" y="301"/>
                  </a:lnTo>
                  <a:lnTo>
                    <a:pt x="611" y="252"/>
                  </a:lnTo>
                  <a:lnTo>
                    <a:pt x="539" y="206"/>
                  </a:lnTo>
                  <a:lnTo>
                    <a:pt x="461" y="165"/>
                  </a:lnTo>
                  <a:lnTo>
                    <a:pt x="379" y="128"/>
                  </a:lnTo>
                  <a:lnTo>
                    <a:pt x="292" y="92"/>
                  </a:lnTo>
                  <a:lnTo>
                    <a:pt x="200" y="59"/>
                  </a:lnTo>
                  <a:lnTo>
                    <a:pt x="10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3733800" y="5715000"/>
              <a:ext cx="5029201" cy="762000"/>
            </a:xfrm>
            <a:custGeom>
              <a:avLst/>
              <a:gdLst/>
              <a:ahLst/>
              <a:cxnLst>
                <a:cxn ang="0">
                  <a:pos x="17264" y="180"/>
                </a:cxn>
                <a:cxn ang="0">
                  <a:pos x="16706" y="689"/>
                </a:cxn>
                <a:cxn ang="0">
                  <a:pos x="15959" y="1141"/>
                </a:cxn>
                <a:cxn ang="0">
                  <a:pos x="15050" y="1535"/>
                </a:cxn>
                <a:cxn ang="0">
                  <a:pos x="14003" y="1871"/>
                </a:cxn>
                <a:cxn ang="0">
                  <a:pos x="12844" y="2151"/>
                </a:cxn>
                <a:cxn ang="0">
                  <a:pos x="11599" y="2374"/>
                </a:cxn>
                <a:cxn ang="0">
                  <a:pos x="10294" y="2540"/>
                </a:cxn>
                <a:cxn ang="0">
                  <a:pos x="8951" y="2649"/>
                </a:cxn>
                <a:cxn ang="0">
                  <a:pos x="7599" y="2704"/>
                </a:cxn>
                <a:cxn ang="0">
                  <a:pos x="6264" y="2702"/>
                </a:cxn>
                <a:cxn ang="0">
                  <a:pos x="4968" y="2645"/>
                </a:cxn>
                <a:cxn ang="0">
                  <a:pos x="3740" y="2534"/>
                </a:cxn>
                <a:cxn ang="0">
                  <a:pos x="2603" y="2367"/>
                </a:cxn>
                <a:cxn ang="0">
                  <a:pos x="1584" y="2147"/>
                </a:cxn>
                <a:cxn ang="0">
                  <a:pos x="708" y="1871"/>
                </a:cxn>
                <a:cxn ang="0">
                  <a:pos x="0" y="1543"/>
                </a:cxn>
                <a:cxn ang="0">
                  <a:pos x="341" y="1635"/>
                </a:cxn>
                <a:cxn ang="0">
                  <a:pos x="1155" y="1920"/>
                </a:cxn>
                <a:cxn ang="0">
                  <a:pos x="2121" y="2151"/>
                </a:cxn>
                <a:cxn ang="0">
                  <a:pos x="3215" y="2331"/>
                </a:cxn>
                <a:cxn ang="0">
                  <a:pos x="4413" y="2457"/>
                </a:cxn>
                <a:cxn ang="0">
                  <a:pos x="5686" y="2531"/>
                </a:cxn>
                <a:cxn ang="0">
                  <a:pos x="7011" y="2550"/>
                </a:cxn>
                <a:cxn ang="0">
                  <a:pos x="8361" y="2515"/>
                </a:cxn>
                <a:cxn ang="0">
                  <a:pos x="9712" y="2426"/>
                </a:cxn>
                <a:cxn ang="0">
                  <a:pos x="11037" y="2283"/>
                </a:cxn>
                <a:cxn ang="0">
                  <a:pos x="12311" y="2084"/>
                </a:cxn>
                <a:cxn ang="0">
                  <a:pos x="13509" y="1831"/>
                </a:cxn>
                <a:cxn ang="0">
                  <a:pos x="14604" y="1522"/>
                </a:cxn>
                <a:cxn ang="0">
                  <a:pos x="15571" y="1158"/>
                </a:cxn>
                <a:cxn ang="0">
                  <a:pos x="16386" y="737"/>
                </a:cxn>
                <a:cxn ang="0">
                  <a:pos x="17021" y="260"/>
                </a:cxn>
              </a:cxnLst>
              <a:rect l="0" t="0" r="r" b="b"/>
              <a:pathLst>
                <a:path w="17264" h="2710">
                  <a:moveTo>
                    <a:pt x="17264" y="0"/>
                  </a:moveTo>
                  <a:lnTo>
                    <a:pt x="17264" y="180"/>
                  </a:lnTo>
                  <a:lnTo>
                    <a:pt x="17010" y="442"/>
                  </a:lnTo>
                  <a:lnTo>
                    <a:pt x="16706" y="689"/>
                  </a:lnTo>
                  <a:lnTo>
                    <a:pt x="16354" y="923"/>
                  </a:lnTo>
                  <a:lnTo>
                    <a:pt x="15959" y="1141"/>
                  </a:lnTo>
                  <a:lnTo>
                    <a:pt x="15524" y="1345"/>
                  </a:lnTo>
                  <a:lnTo>
                    <a:pt x="15050" y="1535"/>
                  </a:lnTo>
                  <a:lnTo>
                    <a:pt x="14543" y="1710"/>
                  </a:lnTo>
                  <a:lnTo>
                    <a:pt x="14003" y="1871"/>
                  </a:lnTo>
                  <a:lnTo>
                    <a:pt x="13437" y="2018"/>
                  </a:lnTo>
                  <a:lnTo>
                    <a:pt x="12844" y="2151"/>
                  </a:lnTo>
                  <a:lnTo>
                    <a:pt x="12232" y="2269"/>
                  </a:lnTo>
                  <a:lnTo>
                    <a:pt x="11599" y="2374"/>
                  </a:lnTo>
                  <a:lnTo>
                    <a:pt x="10952" y="2464"/>
                  </a:lnTo>
                  <a:lnTo>
                    <a:pt x="10294" y="2540"/>
                  </a:lnTo>
                  <a:lnTo>
                    <a:pt x="9625" y="2602"/>
                  </a:lnTo>
                  <a:lnTo>
                    <a:pt x="8951" y="2649"/>
                  </a:lnTo>
                  <a:lnTo>
                    <a:pt x="8275" y="2684"/>
                  </a:lnTo>
                  <a:lnTo>
                    <a:pt x="7599" y="2704"/>
                  </a:lnTo>
                  <a:lnTo>
                    <a:pt x="6928" y="2710"/>
                  </a:lnTo>
                  <a:lnTo>
                    <a:pt x="6264" y="2702"/>
                  </a:lnTo>
                  <a:lnTo>
                    <a:pt x="5609" y="2681"/>
                  </a:lnTo>
                  <a:lnTo>
                    <a:pt x="4968" y="2645"/>
                  </a:lnTo>
                  <a:lnTo>
                    <a:pt x="4344" y="2597"/>
                  </a:lnTo>
                  <a:lnTo>
                    <a:pt x="3740" y="2534"/>
                  </a:lnTo>
                  <a:lnTo>
                    <a:pt x="3158" y="2457"/>
                  </a:lnTo>
                  <a:lnTo>
                    <a:pt x="2603" y="2367"/>
                  </a:lnTo>
                  <a:lnTo>
                    <a:pt x="2077" y="2264"/>
                  </a:lnTo>
                  <a:lnTo>
                    <a:pt x="1584" y="2147"/>
                  </a:lnTo>
                  <a:lnTo>
                    <a:pt x="1126" y="2016"/>
                  </a:lnTo>
                  <a:lnTo>
                    <a:pt x="708" y="1871"/>
                  </a:lnTo>
                  <a:lnTo>
                    <a:pt x="331" y="1714"/>
                  </a:lnTo>
                  <a:lnTo>
                    <a:pt x="0" y="1543"/>
                  </a:lnTo>
                  <a:lnTo>
                    <a:pt x="0" y="1474"/>
                  </a:lnTo>
                  <a:lnTo>
                    <a:pt x="341" y="1635"/>
                  </a:lnTo>
                  <a:lnTo>
                    <a:pt x="727" y="1784"/>
                  </a:lnTo>
                  <a:lnTo>
                    <a:pt x="1155" y="1920"/>
                  </a:lnTo>
                  <a:lnTo>
                    <a:pt x="1621" y="2042"/>
                  </a:lnTo>
                  <a:lnTo>
                    <a:pt x="2121" y="2151"/>
                  </a:lnTo>
                  <a:lnTo>
                    <a:pt x="2654" y="2249"/>
                  </a:lnTo>
                  <a:lnTo>
                    <a:pt x="3215" y="2331"/>
                  </a:lnTo>
                  <a:lnTo>
                    <a:pt x="3803" y="2401"/>
                  </a:lnTo>
                  <a:lnTo>
                    <a:pt x="4413" y="2457"/>
                  </a:lnTo>
                  <a:lnTo>
                    <a:pt x="5041" y="2500"/>
                  </a:lnTo>
                  <a:lnTo>
                    <a:pt x="5686" y="2531"/>
                  </a:lnTo>
                  <a:lnTo>
                    <a:pt x="6343" y="2547"/>
                  </a:lnTo>
                  <a:lnTo>
                    <a:pt x="7011" y="2550"/>
                  </a:lnTo>
                  <a:lnTo>
                    <a:pt x="7685" y="2539"/>
                  </a:lnTo>
                  <a:lnTo>
                    <a:pt x="8361" y="2515"/>
                  </a:lnTo>
                  <a:lnTo>
                    <a:pt x="9039" y="2478"/>
                  </a:lnTo>
                  <a:lnTo>
                    <a:pt x="9712" y="2426"/>
                  </a:lnTo>
                  <a:lnTo>
                    <a:pt x="10379" y="2361"/>
                  </a:lnTo>
                  <a:lnTo>
                    <a:pt x="11037" y="2283"/>
                  </a:lnTo>
                  <a:lnTo>
                    <a:pt x="11682" y="2190"/>
                  </a:lnTo>
                  <a:lnTo>
                    <a:pt x="12311" y="2084"/>
                  </a:lnTo>
                  <a:lnTo>
                    <a:pt x="12921" y="1964"/>
                  </a:lnTo>
                  <a:lnTo>
                    <a:pt x="13509" y="1831"/>
                  </a:lnTo>
                  <a:lnTo>
                    <a:pt x="14070" y="1683"/>
                  </a:lnTo>
                  <a:lnTo>
                    <a:pt x="14604" y="1522"/>
                  </a:lnTo>
                  <a:lnTo>
                    <a:pt x="15105" y="1347"/>
                  </a:lnTo>
                  <a:lnTo>
                    <a:pt x="15571" y="1158"/>
                  </a:lnTo>
                  <a:lnTo>
                    <a:pt x="15999" y="954"/>
                  </a:lnTo>
                  <a:lnTo>
                    <a:pt x="16386" y="737"/>
                  </a:lnTo>
                  <a:lnTo>
                    <a:pt x="16728" y="506"/>
                  </a:lnTo>
                  <a:lnTo>
                    <a:pt x="17021" y="260"/>
                  </a:lnTo>
                  <a:lnTo>
                    <a:pt x="1726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20D49C2-E30F-46A5-925C-3B4BB57A1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39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392" name="Group 11"/>
          <p:cNvGrpSpPr>
            <a:grpSpLocks/>
          </p:cNvGrpSpPr>
          <p:nvPr/>
        </p:nvGrpSpPr>
        <p:grpSpPr bwMode="auto">
          <a:xfrm>
            <a:off x="0" y="2854325"/>
            <a:ext cx="3581400" cy="4003675"/>
            <a:chOff x="0" y="2533588"/>
            <a:chExt cx="8022336" cy="8966516"/>
          </a:xfrm>
        </p:grpSpPr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0" y="2533588"/>
              <a:ext cx="4128517" cy="2513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0" y="4979648"/>
              <a:ext cx="3182621" cy="6520456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0" y="3372643"/>
              <a:ext cx="2894584" cy="2154524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1504189" y="5587609"/>
              <a:ext cx="6518147" cy="5912495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1155701" y="5800928"/>
              <a:ext cx="3420872" cy="5699176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768D5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AF973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AF9738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rgbClr val="AF9738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rgbClr val="AF9738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rgbClr val="AF97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BD8E8ACC-B7B8-47C1-B2D9-7774129FBD92}" type="datetimeFigureOut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19/07/2022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C38085D7-6513-4F5C-BA04-9FA080E61D80}" type="slidenum">
              <a:rPr lang="en-GB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GB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13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erfectworld.org/clipart/emotions/dizzy.p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hyperlink" Target="http://www.aperfectworld.org/clipart/emotions/unsure.png" TargetMode="Externa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Intro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075240" cy="4713387"/>
          </a:xfrm>
        </p:spPr>
        <p:txBody>
          <a:bodyPr/>
          <a:lstStyle/>
          <a:p>
            <a:pPr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Which are the 5 ratios in this sequence?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95%		8/10		2:3		£3.50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3:4:6	£2.10	10%		2/3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3/4		1:2:5:7	50p		2:5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1:4		£0.80	4/8		33%					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3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7" name="Oval 6"/>
          <p:cNvSpPr/>
          <p:nvPr/>
        </p:nvSpPr>
        <p:spPr>
          <a:xfrm>
            <a:off x="395536" y="4725144"/>
            <a:ext cx="864096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67944" y="2708920"/>
            <a:ext cx="864096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868144" y="4005064"/>
            <a:ext cx="864096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23528" y="3356992"/>
            <a:ext cx="1440160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123728" y="4005064"/>
            <a:ext cx="1800200" cy="792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6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GB" sz="7200" dirty="0">
                <a:solidFill>
                  <a:prstClr val="black"/>
                </a:solidFill>
                <a:latin typeface="Arial Black" pitchFamily="34" charset="0"/>
              </a:rPr>
              <a:t>Where are you now?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27834" y="3046894"/>
            <a:ext cx="5216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I know quite a bit about ratio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14" y="5157192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99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27834" y="5396538"/>
            <a:ext cx="45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Not sure what ratio is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27834" y="4196210"/>
            <a:ext cx="564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I’ve seen or heard of ratio before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94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4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323528" y="100226"/>
            <a:ext cx="8496944" cy="6264921"/>
            <a:chOff x="1318023" y="1042989"/>
            <a:chExt cx="6450807" cy="4762500"/>
          </a:xfrm>
        </p:grpSpPr>
        <p:sp>
          <p:nvSpPr>
            <p:cNvPr id="8" name="TextBox 3"/>
            <p:cNvSpPr txBox="1">
              <a:spLocks noChangeAspect="1"/>
            </p:cNvSpPr>
            <p:nvPr/>
          </p:nvSpPr>
          <p:spPr bwMode="auto">
            <a:xfrm>
              <a:off x="1318023" y="1538287"/>
              <a:ext cx="3225403" cy="1081088"/>
            </a:xfrm>
            <a:prstGeom prst="rect">
              <a:avLst/>
            </a:prstGeom>
            <a:solidFill>
              <a:srgbClr val="8CFA8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latin typeface="Calibri" panose="020F0502020204030204" pitchFamily="34" charset="0"/>
                </a:rPr>
                <a:t>We are learning about:</a:t>
              </a:r>
            </a:p>
            <a:p>
              <a:pPr algn="ctr" eaLnBrk="1" hangingPunct="1"/>
              <a:endParaRPr lang="en-US" i="1" dirty="0">
                <a:latin typeface="Calibri" panose="020F0502020204030204" pitchFamily="34" charset="0"/>
              </a:endParaRPr>
            </a:p>
            <a:p>
              <a:pPr algn="ctr" eaLnBrk="1" hangingPunct="1"/>
              <a:r>
                <a:rPr lang="en-US" sz="2400" i="1" dirty="0">
                  <a:latin typeface="Calibri" panose="020F0502020204030204" pitchFamily="34" charset="0"/>
                </a:rPr>
                <a:t>Ratio</a:t>
              </a:r>
              <a:endParaRPr lang="en-US" sz="2400" b="1" dirty="0">
                <a:latin typeface="Calibri" panose="020F0502020204030204" pitchFamily="34" charset="0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endParaRPr lang="en-US" sz="1500" b="1" dirty="0">
                <a:latin typeface="Calibri" panose="020F0502020204030204" pitchFamily="34" charset="0"/>
              </a:endParaRPr>
            </a:p>
            <a:p>
              <a:pPr eaLnBrk="1" hangingPunct="1"/>
              <a:endParaRPr lang="en-US" sz="1500" dirty="0">
                <a:latin typeface="Calibri" panose="020F0502020204030204" pitchFamily="34" charset="0"/>
              </a:endParaRPr>
            </a:p>
            <a:p>
              <a:pPr eaLnBrk="1" hangingPunct="1">
                <a:buFont typeface="Arial" panose="020B0604020202020204" pitchFamily="34" charset="0"/>
                <a:buChar char="•"/>
              </a:pPr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Box 4"/>
            <p:cNvSpPr txBox="1">
              <a:spLocks noChangeAspect="1"/>
            </p:cNvSpPr>
            <p:nvPr/>
          </p:nvSpPr>
          <p:spPr bwMode="auto">
            <a:xfrm>
              <a:off x="1318023" y="2720430"/>
              <a:ext cx="3225403" cy="2160985"/>
            </a:xfrm>
            <a:prstGeom prst="rect">
              <a:avLst/>
            </a:prstGeom>
            <a:solidFill>
              <a:srgbClr val="FFFF7D"/>
            </a:solidFill>
            <a:ln>
              <a:solidFill>
                <a:schemeClr val="tx1"/>
              </a:solidFill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877888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400175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922463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444750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9019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33591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8163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42735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2400" b="1" dirty="0">
                  <a:latin typeface="Calibri" pitchFamily="34" charset="0"/>
                </a:rPr>
                <a:t>We are learning to:</a:t>
              </a:r>
            </a:p>
            <a:p>
              <a:pPr algn="ctr" eaLnBrk="1" hangingPunct="1">
                <a:defRPr/>
              </a:pPr>
              <a:endParaRPr lang="en-US" sz="2400" b="1" dirty="0">
                <a:latin typeface="Calibri" pitchFamily="34" charset="0"/>
              </a:endParaRPr>
            </a:p>
            <a:p>
              <a:pPr algn="ctr" eaLnBrk="1" hangingPunct="1">
                <a:defRPr/>
              </a:pPr>
              <a:r>
                <a:rPr lang="en-US" sz="2400" dirty="0"/>
                <a:t>Use ratio notation, reduce a ratio to its simplest form and divide a quantity into two parts in a given ratio</a:t>
              </a:r>
              <a:endParaRPr lang="en-US" i="1" dirty="0">
                <a:latin typeface="Calibri" pitchFamily="34" charset="0"/>
              </a:endParaRPr>
            </a:p>
          </p:txBody>
        </p:sp>
        <p:sp>
          <p:nvSpPr>
            <p:cNvPr id="10" name="TextBox 5"/>
            <p:cNvSpPr txBox="1">
              <a:spLocks noChangeArrowheads="1"/>
            </p:cNvSpPr>
            <p:nvPr/>
          </p:nvSpPr>
          <p:spPr bwMode="auto">
            <a:xfrm>
              <a:off x="4733925" y="1538287"/>
              <a:ext cx="3024188" cy="2700338"/>
            </a:xfrm>
            <a:prstGeom prst="rect">
              <a:avLst/>
            </a:prstGeom>
            <a:solidFill>
              <a:srgbClr val="9C97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latin typeface="Calibri" panose="020F0502020204030204" pitchFamily="34" charset="0"/>
                </a:rPr>
                <a:t>Success criteria:</a:t>
              </a:r>
            </a:p>
            <a:p>
              <a:pPr algn="ctr" eaLnBrk="1" hangingPunct="1"/>
              <a:endParaRPr lang="en-US" sz="2400" b="1" i="1" dirty="0">
                <a:latin typeface="Calibri" panose="020F0502020204030204" pitchFamily="34" charset="0"/>
              </a:endParaRP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Can reduce a ratio to its simplest form (Level 5)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  <a:defRPr/>
              </a:pPr>
              <a:endParaRPr lang="en-GB" sz="2400" dirty="0"/>
            </a:p>
            <a:p>
              <a:pPr marL="285750" indent="-285750" eaLnBrk="1" hangingPunct="1">
                <a:buFont typeface="Arial" panose="020B0604020202020204" pitchFamily="34" charset="0"/>
                <a:buChar char="•"/>
                <a:defRPr/>
              </a:pPr>
              <a:r>
                <a:rPr lang="en-GB" sz="2400" dirty="0"/>
                <a:t>Able to divide a quantity into two or more parts in a given ratio (Level 6)</a:t>
              </a:r>
              <a:endParaRPr lang="en-US" sz="2400" dirty="0"/>
            </a:p>
            <a:p>
              <a:pPr algn="ctr" eaLnBrk="1" hangingPunct="1"/>
              <a:endParaRPr lang="en-US" sz="2400" i="1" dirty="0">
                <a:latin typeface="Calibri" pitchFamily="34" charset="0"/>
              </a:endParaRPr>
            </a:p>
            <a:p>
              <a:pPr eaLnBrk="1" hangingPunct="1">
                <a:defRPr/>
              </a:pPr>
              <a:endParaRPr lang="en-US" sz="2400" i="1" dirty="0">
                <a:latin typeface="Calibri" pitchFamily="34" charset="0"/>
              </a:endParaRP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 flipH="1">
              <a:off x="1318023" y="4957763"/>
              <a:ext cx="3225403" cy="847725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3399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1350" b="1">
                <a:latin typeface="Calibri" panose="020F0502020204030204" pitchFamily="34" charset="0"/>
              </a:endParaRPr>
            </a:p>
            <a:p>
              <a:pPr eaLnBrk="1" hangingPunct="1"/>
              <a:endParaRPr lang="en-US" sz="1350" b="1">
                <a:latin typeface="Calibri" panose="020F0502020204030204" pitchFamily="34" charset="0"/>
              </a:endParaRPr>
            </a:p>
          </p:txBody>
        </p:sp>
        <p:sp>
          <p:nvSpPr>
            <p:cNvPr id="12" name="TextBox 9"/>
            <p:cNvSpPr txBox="1">
              <a:spLocks noChangeAspect="1"/>
            </p:cNvSpPr>
            <p:nvPr/>
          </p:nvSpPr>
          <p:spPr bwMode="auto">
            <a:xfrm>
              <a:off x="1318024" y="1042989"/>
              <a:ext cx="6450806" cy="441722"/>
            </a:xfrm>
            <a:prstGeom prst="rect">
              <a:avLst/>
            </a:prstGeom>
            <a:solidFill>
              <a:srgbClr val="FF757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100" b="1">
                  <a:latin typeface="Calibri" panose="020F0502020204030204" pitchFamily="34" charset="0"/>
                </a:rPr>
                <a:t>Maths </a:t>
              </a:r>
              <a:fld id="{B61B0B3D-70ED-46FF-A882-F712C7F7A94C}" type="datetime1">
                <a:rPr lang="en-GB" sz="2100" b="1">
                  <a:latin typeface="Calibri" panose="020F0502020204030204" pitchFamily="34" charset="0"/>
                </a:rPr>
                <a:pPr algn="ctr" eaLnBrk="1" hangingPunct="1"/>
                <a:t>19/07/2022</a:t>
              </a:fld>
              <a:endParaRPr lang="en-US" sz="2100" b="1">
                <a:latin typeface="Calibri" panose="020F0502020204030204" pitchFamily="34" charset="0"/>
              </a:endParaRPr>
            </a:p>
          </p:txBody>
        </p:sp>
        <p:sp>
          <p:nvSpPr>
            <p:cNvPr id="13" name="TextBox 8"/>
            <p:cNvSpPr txBox="1">
              <a:spLocks noChangeArrowheads="1"/>
            </p:cNvSpPr>
            <p:nvPr/>
          </p:nvSpPr>
          <p:spPr bwMode="auto">
            <a:xfrm flipH="1">
              <a:off x="4714875" y="4346974"/>
              <a:ext cx="3053954" cy="1458515"/>
            </a:xfrm>
            <a:prstGeom prst="rect">
              <a:avLst/>
            </a:prstGeom>
            <a:solidFill>
              <a:srgbClr val="FFD13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latin typeface="Calibri" panose="020F0502020204030204" pitchFamily="34" charset="0"/>
                </a:rPr>
                <a:t>Key words/ Literacy Skills:</a:t>
              </a:r>
            </a:p>
            <a:p>
              <a:pPr algn="ctr" eaLnBrk="1" hangingPunct="1"/>
              <a:endParaRPr lang="en-US" sz="375" dirty="0">
                <a:latin typeface="Calibri" panose="020F0502020204030204" pitchFamily="34" charset="0"/>
              </a:endParaRPr>
            </a:p>
            <a:p>
              <a:pPr algn="ctr" eaLnBrk="1" hangingPunct="1"/>
              <a:endParaRPr lang="en-US" sz="2400" i="1" dirty="0">
                <a:latin typeface="Calibri" panose="020F0502020204030204" pitchFamily="34" charset="0"/>
              </a:endParaRPr>
            </a:p>
            <a:p>
              <a:pPr algn="ctr" eaLnBrk="1" hangingPunct="1"/>
              <a:r>
                <a:rPr lang="en-US" sz="2400" i="1" dirty="0">
                  <a:latin typeface="Calibri" panose="020F0502020204030204" pitchFamily="34" charset="0"/>
                </a:rPr>
                <a:t>Ratio</a:t>
              </a:r>
            </a:p>
            <a:p>
              <a:pPr algn="ctr" eaLnBrk="1" hangingPunct="1"/>
              <a:r>
                <a:rPr lang="en-US" sz="2400" i="1" dirty="0">
                  <a:latin typeface="Calibri" panose="020F0502020204030204" pitchFamily="34" charset="0"/>
                </a:rPr>
                <a:t>Highest Common Factor</a:t>
              </a:r>
            </a:p>
            <a:p>
              <a:pPr algn="ctr" eaLnBrk="1" hangingPunct="1"/>
              <a:endParaRPr lang="en-US" i="1" dirty="0">
                <a:latin typeface="Calibri" panose="020F0502020204030204" pitchFamily="34" charset="0"/>
              </a:endParaRPr>
            </a:p>
            <a:p>
              <a:pPr eaLnBrk="1" hangingPunct="1"/>
              <a:endParaRPr lang="en-US" sz="1350" b="1" dirty="0">
                <a:latin typeface="Calibri" panose="020F0502020204030204" pitchFamily="34" charset="0"/>
              </a:endParaRPr>
            </a:p>
          </p:txBody>
        </p:sp>
        <p:pic>
          <p:nvPicPr>
            <p:cNvPr id="14" name="Picture 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82" t="24831" r="47089" b="38600"/>
            <a:stretch>
              <a:fillRect/>
            </a:stretch>
          </p:blipFill>
          <p:spPr bwMode="auto">
            <a:xfrm>
              <a:off x="1439467" y="5069683"/>
              <a:ext cx="588169" cy="622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1"/>
            <p:cNvSpPr txBox="1">
              <a:spLocks noChangeArrowheads="1"/>
            </p:cNvSpPr>
            <p:nvPr/>
          </p:nvSpPr>
          <p:spPr bwMode="auto">
            <a:xfrm>
              <a:off x="1993702" y="5076231"/>
              <a:ext cx="2538413" cy="538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GB" sz="2000" dirty="0"/>
                <a:t>Real world problems – Sharing money</a:t>
              </a:r>
              <a:endParaRPr lang="en-GB" sz="2000" i="1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Intro</a:t>
            </a:r>
          </a:p>
        </p:txBody>
      </p:sp>
      <p:sp>
        <p:nvSpPr>
          <p:cNvPr id="1033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490008"/>
            <a:ext cx="78488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rgbClr val="002060"/>
                </a:solidFill>
                <a:latin typeface="+mn-lt"/>
              </a:rPr>
              <a:t>A ratio compares values. It says how much of one thing there is compared to another thing.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3661508" y="4683302"/>
            <a:ext cx="9877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GB" sz="3600" b="1">
                <a:solidFill>
                  <a:srgbClr val="002060"/>
                </a:solidFill>
                <a:latin typeface="Calibri"/>
              </a:rPr>
              <a:t>1 : 3</a:t>
            </a:r>
            <a:endParaRPr lang="en-GB" sz="3600" b="1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91880" y="3757036"/>
            <a:ext cx="12654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en-GB" sz="3600" b="1" dirty="0">
                <a:solidFill>
                  <a:srgbClr val="002060"/>
                </a:solidFill>
                <a:latin typeface="Calibri"/>
              </a:rPr>
              <a:t>1 to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07524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Ratios can be simplified by dividing each part by the highest common factor.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e.g. 		7 : 21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So		1 : 3		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644007" y="3284984"/>
            <a:ext cx="41044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AF9738"/>
                </a:solidFill>
                <a:latin typeface="+mn-lt"/>
              </a:rPr>
              <a:t>7 is the highest common factor</a:t>
            </a:r>
            <a:endParaRPr lang="en-US" sz="3600" b="1" dirty="0">
              <a:solidFill>
                <a:srgbClr val="AF9738"/>
              </a:solidFill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07524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For ratios with more than 2 parts, all parts must be divided by the same number.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e.g. 		7 : 14 : 21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So		1 : 2 : 3	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e.g.		3 : 12 : 24 : 36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So 		 1 : 4 : 8 : 12	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644007" y="2660719"/>
            <a:ext cx="41044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AF9738"/>
                </a:solidFill>
                <a:latin typeface="+mn-lt"/>
              </a:rPr>
              <a:t>7 is the highest common factor</a:t>
            </a:r>
            <a:endParaRPr lang="en-US" sz="3600" b="1" dirty="0">
              <a:solidFill>
                <a:srgbClr val="AF9738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08103" y="4653136"/>
            <a:ext cx="33123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AF9738"/>
                </a:solidFill>
                <a:latin typeface="+mn-lt"/>
              </a:rPr>
              <a:t>3 is the highest common factor</a:t>
            </a:r>
            <a:endParaRPr lang="en-US" sz="3600" b="1" dirty="0">
              <a:solidFill>
                <a:srgbClr val="AF9738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0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07524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Remember that units are important as is order.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e.g.	30mm : 4cm  We need to convert so 	both sides are in the same unit, so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		30mm : 40mm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e.g. 	2 : 5 is not the same as 5 : 2 		</a:t>
            </a:r>
          </a:p>
          <a:p>
            <a:pPr eaLnBrk="1" hangingPunct="1">
              <a:buNone/>
              <a:defRPr/>
            </a:pPr>
            <a:endParaRPr lang="en-GB" sz="3600" b="1" dirty="0">
              <a:solidFill>
                <a:srgbClr val="002060"/>
              </a:solidFill>
            </a:endParaRP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	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7020272" y="5071902"/>
            <a:ext cx="12743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AF9738"/>
                </a:solidFill>
                <a:latin typeface="+mn-lt"/>
              </a:rPr>
              <a:t>Why?</a:t>
            </a:r>
            <a:endParaRPr lang="en-US" sz="3600" b="1" dirty="0">
              <a:solidFill>
                <a:srgbClr val="AF9738"/>
              </a:solidFill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638"/>
            <a:ext cx="836327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On your own, work through the questions on the front of the </a:t>
            </a:r>
            <a:r>
              <a:rPr lang="en-GB" sz="2400" dirty="0" err="1"/>
              <a:t>handout</a:t>
            </a:r>
            <a:r>
              <a:rPr lang="en-GB" sz="2400" dirty="0"/>
              <a:t> sheet.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rgbClr val="00B050"/>
                </a:solidFill>
              </a:rPr>
              <a:t>Green</a:t>
            </a:r>
            <a:r>
              <a:rPr lang="en-GB" sz="2400" dirty="0"/>
              <a:t> questions are the easiest, please try these to start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rgbClr val="FD6E03"/>
                </a:solidFill>
              </a:rPr>
              <a:t>Orange</a:t>
            </a:r>
            <a:r>
              <a:rPr lang="en-GB" sz="2400" dirty="0"/>
              <a:t> questions are a bit trickier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rgbClr val="FF0000"/>
                </a:solidFill>
              </a:rPr>
              <a:t>Red</a:t>
            </a:r>
            <a:r>
              <a:rPr lang="en-GB" sz="2400" dirty="0"/>
              <a:t> questions are saved for when you have really mastered things  </a:t>
            </a:r>
          </a:p>
          <a:p>
            <a:endParaRPr lang="en-GB" sz="2400" dirty="0"/>
          </a:p>
          <a:p>
            <a:r>
              <a:rPr lang="en-GB" sz="2400" dirty="0">
                <a:solidFill>
                  <a:srgbClr val="0070C0"/>
                </a:solidFill>
              </a:rPr>
              <a:t>Extension – Create your own ratios for a partner to simplify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Answers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4559"/>
            <a:ext cx="867645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00B050"/>
                </a:solidFill>
                <a:latin typeface="Calibri"/>
              </a:rPr>
              <a:t>Green</a:t>
            </a:r>
            <a:r>
              <a:rPr lang="en-GB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Orange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751736"/>
              </p:ext>
            </p:extLst>
          </p:nvPr>
        </p:nvGraphicFramePr>
        <p:xfrm>
          <a:off x="539552" y="1700808"/>
          <a:ext cx="4876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4) 2 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8) 1 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12)</a:t>
                      </a:r>
                      <a:r>
                        <a:rPr lang="en-GB" baseline="0" dirty="0"/>
                        <a:t> 2 : 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1) 1 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5) 2 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9) 1</a:t>
                      </a:r>
                      <a:r>
                        <a:rPr lang="en-GB" baseline="0" dirty="0"/>
                        <a:t> : 10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13) 1 :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2) 3 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6) 1 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10) 1 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14) 2 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3) 1 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7) 1 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11) 1 :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15) 1 : 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046973"/>
              </p:ext>
            </p:extLst>
          </p:nvPr>
        </p:nvGraphicFramePr>
        <p:xfrm>
          <a:off x="481672" y="3982309"/>
          <a:ext cx="3657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4) 3 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8) 4 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1) 3 : 4</a:t>
                      </a:r>
                      <a:r>
                        <a:rPr lang="en-GB" baseline="0" dirty="0"/>
                        <a:t> : 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5) 4 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9) 10</a:t>
                      </a:r>
                      <a:r>
                        <a:rPr lang="en-GB" baseline="0" dirty="0"/>
                        <a:t> : 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2) 1 : 2 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6) 1 :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10) 7 :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3) 1 : 1</a:t>
                      </a:r>
                      <a:r>
                        <a:rPr lang="en-GB" baseline="0" dirty="0"/>
                        <a:t> : 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7) 4 :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11) 1 :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04724"/>
              </p:ext>
            </p:extLst>
          </p:nvPr>
        </p:nvGraphicFramePr>
        <p:xfrm>
          <a:off x="4644008" y="3982309"/>
          <a:ext cx="352839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1) 1 : 3</a:t>
                      </a:r>
                      <a:r>
                        <a:rPr lang="en-GB" baseline="0" dirty="0"/>
                        <a:t> : 5 : 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4) 2 : 6 : 3 :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2) 3 :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5) 5 : 2 :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3) 1 : </a:t>
                      </a:r>
                      <a:r>
                        <a:rPr lang="en-GB" baseline="0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6) 2 : 1</a:t>
                      </a:r>
                      <a:r>
                        <a:rPr lang="en-GB" baseline="0" dirty="0"/>
                        <a:t> : 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572000" y="3356992"/>
            <a:ext cx="741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FF0000"/>
                </a:solidFill>
                <a:latin typeface="Calibri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3371782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GB" sz="7200" dirty="0">
                <a:solidFill>
                  <a:prstClr val="black"/>
                </a:solidFill>
                <a:latin typeface="Arial Black" pitchFamily="34" charset="0"/>
              </a:rPr>
              <a:t>How did you 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27834" y="3046894"/>
            <a:ext cx="5216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All or almost all answers correct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14" y="5157192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99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27834" y="5396538"/>
            <a:ext cx="45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Majority of answers incorrect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27834" y="4196210"/>
            <a:ext cx="564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Most answers correct, some errors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94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72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7859216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Often we might need to divide an amount by a ratio.</a:t>
            </a:r>
          </a:p>
          <a:p>
            <a:pPr marL="6350" indent="-6350" eaLnBrk="1" hangingPunct="1">
              <a:buNone/>
              <a:defRPr/>
            </a:pPr>
            <a:endParaRPr lang="en-GB" sz="3600" dirty="0">
              <a:solidFill>
                <a:srgbClr val="002060"/>
              </a:solidFill>
            </a:endParaRPr>
          </a:p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e.g. Divide £50 into the ratio 2 : 3</a:t>
            </a:r>
          </a:p>
          <a:p>
            <a:pPr marL="6350" indent="-6350" eaLnBrk="1" hangingPunct="1">
              <a:buNone/>
              <a:defRPr/>
            </a:pPr>
            <a:endParaRPr lang="en-GB" sz="3600" dirty="0">
              <a:solidFill>
                <a:srgbClr val="002060"/>
              </a:solidFill>
            </a:endParaRPr>
          </a:p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There are some common steps to allow us to work this out</a:t>
            </a: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5148064" y="113378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6534160" y="2223766"/>
            <a:ext cx="1297816" cy="6851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6686560" y="2376166"/>
            <a:ext cx="1297816" cy="6851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6983628" y="2284001"/>
            <a:ext cx="1297816" cy="68518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7278070" y="2207800"/>
            <a:ext cx="1297816" cy="6851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367342">
            <a:off x="7622905" y="2247937"/>
            <a:ext cx="1297816" cy="6851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68680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Steps to Success</a:t>
            </a:r>
          </a:p>
          <a:p>
            <a:pPr marL="457200" indent="-457200" eaLnBrk="1" hangingPunct="1"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Add together the total number of parts of the ratio 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dirty="0">
              <a:solidFill>
                <a:srgbClr val="00206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Divide the given amount by the total number of parts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dirty="0">
              <a:solidFill>
                <a:srgbClr val="00206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Multiply the answer by each ratio amount</a:t>
            </a:r>
          </a:p>
          <a:p>
            <a:pPr marL="457200" indent="-457200" eaLnBrk="1" hangingPunct="1">
              <a:buAutoNum type="arabicPeriod"/>
              <a:defRPr/>
            </a:pPr>
            <a:endParaRPr lang="en-GB" sz="2800" dirty="0">
              <a:solidFill>
                <a:srgbClr val="002060"/>
              </a:solidFill>
            </a:endParaRPr>
          </a:p>
          <a:p>
            <a:pPr marL="457200" indent="-457200" eaLnBrk="1" hangingPunct="1"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Check that your answers add up to the same total given in the question</a:t>
            </a: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148064" y="113378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divide an amount by a given ratio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7859216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Divide £50 into the ratio 2 : 3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Add together the total number of parts of the ratio 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Divide the given amount by the total number of parts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Multiply the answer by each ratio amount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GB" sz="2800" dirty="0">
              <a:solidFill>
                <a:srgbClr val="002060"/>
              </a:solidFill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GB" sz="2800" dirty="0">
                <a:solidFill>
                  <a:srgbClr val="002060"/>
                </a:solidFill>
              </a:rPr>
              <a:t>Check that your answers add up to the same total given in the question</a:t>
            </a: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7" name="Rectangle 3"/>
          <p:cNvSpPr txBox="1">
            <a:spLocks/>
          </p:cNvSpPr>
          <p:nvPr/>
        </p:nvSpPr>
        <p:spPr bwMode="auto">
          <a:xfrm>
            <a:off x="1979712" y="2492896"/>
            <a:ext cx="245861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+ 3 = 5)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1979712" y="3429000"/>
            <a:ext cx="245861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(50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GB" sz="2800" noProof="0" dirty="0">
                <a:solidFill>
                  <a:srgbClr val="FF0000"/>
                </a:solidFill>
                <a:latin typeface="+mn-lt"/>
              </a:rPr>
              <a:t>÷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GB" sz="2800" dirty="0">
                <a:solidFill>
                  <a:srgbClr val="FF0000"/>
                </a:solidFill>
                <a:latin typeface="+mn-lt"/>
              </a:rPr>
              <a:t>5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10)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3"/>
          <p:cNvSpPr txBox="1">
            <a:spLocks/>
          </p:cNvSpPr>
          <p:nvPr/>
        </p:nvSpPr>
        <p:spPr bwMode="auto">
          <a:xfrm>
            <a:off x="971600" y="4437112"/>
            <a:ext cx="4644008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(10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x 2 = 20 and 10 x 3 = 30)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3"/>
          <p:cNvSpPr txBox="1">
            <a:spLocks/>
          </p:cNvSpPr>
          <p:nvPr/>
        </p:nvSpPr>
        <p:spPr bwMode="auto">
          <a:xfrm>
            <a:off x="5004048" y="5373216"/>
            <a:ext cx="2915816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lvl="2">
              <a:spcBef>
                <a:spcPct val="20000"/>
              </a:spcBef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(20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+ 30 = 50 </a:t>
            </a:r>
            <a:r>
              <a:rPr lang="en-GB" sz="2800" b="1" dirty="0">
                <a:solidFill>
                  <a:srgbClr val="00B050"/>
                </a:solidFill>
                <a:sym typeface="Wingdings"/>
              </a:rPr>
              <a:t></a:t>
            </a:r>
            <a:r>
              <a:rPr kumimoji="0" lang="en-GB" sz="28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64" y="113378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divide an amount by a given ratio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Ratios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148064" y="113378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</a:t>
            </a:r>
            <a:r>
              <a:rPr lang="en-GB" sz="14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17638"/>
            <a:ext cx="836327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On your own, work through the questions on the back of the </a:t>
            </a:r>
            <a:r>
              <a:rPr lang="en-GB" sz="2400" dirty="0" err="1"/>
              <a:t>handout</a:t>
            </a:r>
            <a:r>
              <a:rPr lang="en-GB" sz="2400" dirty="0"/>
              <a:t> sheet.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rgbClr val="00B050"/>
                </a:solidFill>
              </a:rPr>
              <a:t>Green</a:t>
            </a:r>
            <a:r>
              <a:rPr lang="en-GB" sz="2400" dirty="0"/>
              <a:t> questions are the easiest, please try these to start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rgbClr val="FD6E03"/>
                </a:solidFill>
              </a:rPr>
              <a:t>Orange</a:t>
            </a:r>
            <a:r>
              <a:rPr lang="en-GB" sz="2400" dirty="0"/>
              <a:t> questions are a bit trickier</a:t>
            </a:r>
          </a:p>
          <a:p>
            <a:endParaRPr lang="en-GB" sz="2400" dirty="0"/>
          </a:p>
          <a:p>
            <a:r>
              <a:rPr lang="en-GB" sz="2400" b="1" dirty="0">
                <a:solidFill>
                  <a:srgbClr val="FF0000"/>
                </a:solidFill>
              </a:rPr>
              <a:t>Red</a:t>
            </a:r>
            <a:r>
              <a:rPr lang="en-GB" sz="2400" dirty="0"/>
              <a:t> questions are saved for when you have really mastered things  </a:t>
            </a:r>
          </a:p>
          <a:p>
            <a:endParaRPr lang="en-GB" sz="2400" dirty="0"/>
          </a:p>
          <a:p>
            <a:r>
              <a:rPr lang="en-GB" sz="2400" dirty="0">
                <a:solidFill>
                  <a:srgbClr val="0070C0"/>
                </a:solidFill>
              </a:rPr>
              <a:t>Extension – Create your own values for a partner to divide by a ratio</a:t>
            </a:r>
          </a:p>
        </p:txBody>
      </p:sp>
    </p:spTree>
    <p:extLst>
      <p:ext uri="{BB962C8B-B14F-4D97-AF65-F5344CB8AC3E}">
        <p14:creationId xmlns:p14="http://schemas.microsoft.com/office/powerpoint/2010/main" val="39645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Answers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220072" y="113378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4559"/>
            <a:ext cx="867645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00B050"/>
                </a:solidFill>
                <a:latin typeface="Calibri"/>
              </a:rPr>
              <a:t>Green</a:t>
            </a:r>
            <a:r>
              <a:rPr lang="en-GB" sz="28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srgbClr val="F79646">
                  <a:lumMod val="75000"/>
                </a:srgbClr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F79646">
                    <a:lumMod val="75000"/>
                  </a:srgbClr>
                </a:solidFill>
                <a:latin typeface="Calibri"/>
              </a:rPr>
              <a:t>Orange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sz="2800" dirty="0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992812"/>
              </p:ext>
            </p:extLst>
          </p:nvPr>
        </p:nvGraphicFramePr>
        <p:xfrm>
          <a:off x="539552" y="1700808"/>
          <a:ext cx="568863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4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1) £10 : £40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2) 10 litres</a:t>
                      </a:r>
                      <a:r>
                        <a:rPr lang="en-GB" baseline="0" dirty="0"/>
                        <a:t> : 30 litres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3) £4 : £6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4) 200g : 300g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5) 30ml : 70ml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6) 10cm : 20cm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992066"/>
              </p:ext>
            </p:extLst>
          </p:nvPr>
        </p:nvGraphicFramePr>
        <p:xfrm>
          <a:off x="562746" y="3429000"/>
          <a:ext cx="566543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2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1) 28p</a:t>
                      </a:r>
                      <a:r>
                        <a:rPr lang="en-GB" baseline="0" dirty="0"/>
                        <a:t> : 14p : 7p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2) £200 : £100</a:t>
                      </a:r>
                      <a:r>
                        <a:rPr lang="en-GB" baseline="0" dirty="0"/>
                        <a:t> : £50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3) £75 : £150</a:t>
                      </a:r>
                      <a:r>
                        <a:rPr lang="en-GB" baseline="0" dirty="0"/>
                        <a:t> : £25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4) 20cm : 40cm</a:t>
                      </a:r>
                      <a:r>
                        <a:rPr lang="en-GB" baseline="0" dirty="0"/>
                        <a:t> : 60cm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5) 17g : 34g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6) 17p : 34p</a:t>
                      </a:r>
                      <a:r>
                        <a:rPr lang="en-GB" baseline="0" dirty="0"/>
                        <a:t> : 17p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528478"/>
              </p:ext>
            </p:extLst>
          </p:nvPr>
        </p:nvGraphicFramePr>
        <p:xfrm>
          <a:off x="611560" y="5100955"/>
          <a:ext cx="561662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1) 50 indie : 70 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2) 30 scientific : 6 ordinary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3) 800</a:t>
                      </a:r>
                      <a:r>
                        <a:rPr lang="en-GB" baseline="0" dirty="0"/>
                        <a:t> boys</a:t>
                      </a:r>
                      <a:r>
                        <a:rPr lang="en-GB" dirty="0"/>
                        <a:t> : 600</a:t>
                      </a:r>
                      <a:r>
                        <a:rPr lang="en-GB" baseline="0" dirty="0"/>
                        <a:t> girls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4) 100 adults : 80 children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4569175"/>
            <a:ext cx="741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FF0000"/>
                </a:solidFill>
                <a:latin typeface="Calibri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2794297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0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GB" sz="7200" dirty="0">
                <a:solidFill>
                  <a:prstClr val="black"/>
                </a:solidFill>
                <a:latin typeface="Arial Black" pitchFamily="34" charset="0"/>
              </a:rPr>
              <a:t>How did you 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27834" y="3046894"/>
            <a:ext cx="5216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All or almost all answers correct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14" y="5157192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99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27834" y="5396538"/>
            <a:ext cx="4568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Majority of answers incorrect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27834" y="4196210"/>
            <a:ext cx="5648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Most answers correct, some errors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94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35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Ratio Bingo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229600" cy="4713387"/>
          </a:xfrm>
        </p:spPr>
        <p:txBody>
          <a:bodyPr/>
          <a:lstStyle/>
          <a:p>
            <a:pPr marL="800100" lvl="1" indent="-342900" eaLnBrk="1" hangingPunct="1">
              <a:buFont typeface="Arial" charset="0"/>
              <a:buChar char="•"/>
            </a:pPr>
            <a:endParaRPr lang="en-GB" sz="3200" dirty="0"/>
          </a:p>
          <a:p>
            <a:pPr marL="1200150" lvl="2" indent="-342900" eaLnBrk="1" hangingPunct="1">
              <a:buNone/>
            </a:pPr>
            <a:endParaRPr lang="en-GB" sz="2400" dirty="0"/>
          </a:p>
          <a:p>
            <a:pPr marL="1200150" lvl="2" indent="-342900" eaLnBrk="1" hangingPunct="1"/>
            <a:endParaRPr lang="en-GB" sz="2200" dirty="0"/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004048" y="5085184"/>
            <a:ext cx="27430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eaLnBrk="1" hangingPunct="1"/>
            <a:r>
              <a:rPr lang="en-GB" sz="2800" dirty="0"/>
              <a:t>Cows to Pigs</a:t>
            </a:r>
          </a:p>
        </p:txBody>
      </p:sp>
      <p:pic>
        <p:nvPicPr>
          <p:cNvPr id="1028" name="Picture 4" descr="C:\Documents and Settings\Jimbo\Local Settings\Temporary Internet Files\Content.IE5\R82L591U\MC900091069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40768"/>
            <a:ext cx="1759730" cy="1329460"/>
          </a:xfrm>
          <a:prstGeom prst="rect">
            <a:avLst/>
          </a:prstGeom>
          <a:noFill/>
        </p:spPr>
      </p:pic>
      <p:pic>
        <p:nvPicPr>
          <p:cNvPr id="1029" name="Picture 5" descr="C:\Documents and Settings\Jimbo\Local Settings\Temporary Internet Files\Content.IE5\V863YWOD\MC90015554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36096" y="404664"/>
            <a:ext cx="3065703" cy="1656184"/>
          </a:xfrm>
          <a:prstGeom prst="rect">
            <a:avLst/>
          </a:prstGeom>
          <a:noFill/>
        </p:spPr>
      </p:pic>
      <p:pic>
        <p:nvPicPr>
          <p:cNvPr id="25" name="Picture 4" descr="C:\Documents and Settings\Jimbo\Local Settings\Temporary Internet Files\Content.IE5\R82L591U\MC900091069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4581128"/>
            <a:ext cx="1759730" cy="1329460"/>
          </a:xfrm>
          <a:prstGeom prst="rect">
            <a:avLst/>
          </a:prstGeom>
          <a:noFill/>
        </p:spPr>
      </p:pic>
      <p:pic>
        <p:nvPicPr>
          <p:cNvPr id="26" name="Picture 4" descr="C:\Documents and Settings\Jimbo\Local Settings\Temporary Internet Files\Content.IE5\R82L591U\MC900091069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3645024"/>
            <a:ext cx="1759730" cy="1329460"/>
          </a:xfrm>
          <a:prstGeom prst="rect">
            <a:avLst/>
          </a:prstGeom>
          <a:noFill/>
        </p:spPr>
      </p:pic>
      <p:pic>
        <p:nvPicPr>
          <p:cNvPr id="27" name="Picture 4" descr="C:\Documents and Settings\Jimbo\Local Settings\Temporary Internet Files\Content.IE5\R82L591U\MC900091069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941168"/>
            <a:ext cx="1759730" cy="1329460"/>
          </a:xfrm>
          <a:prstGeom prst="rect">
            <a:avLst/>
          </a:prstGeom>
          <a:noFill/>
        </p:spPr>
      </p:pic>
      <p:pic>
        <p:nvPicPr>
          <p:cNvPr id="28" name="Picture 4" descr="C:\Documents and Settings\Jimbo\Local Settings\Temporary Internet Files\Content.IE5\R82L591U\MC900091069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1340768"/>
            <a:ext cx="1759730" cy="1329460"/>
          </a:xfrm>
          <a:prstGeom prst="rect">
            <a:avLst/>
          </a:prstGeom>
          <a:noFill/>
        </p:spPr>
      </p:pic>
      <p:pic>
        <p:nvPicPr>
          <p:cNvPr id="29" name="Picture 5" descr="C:\Documents and Settings\Jimbo\Local Settings\Temporary Internet Files\Content.IE5\V863YWOD\MC90015554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3068960"/>
            <a:ext cx="3065703" cy="1656184"/>
          </a:xfrm>
          <a:prstGeom prst="rect">
            <a:avLst/>
          </a:prstGeom>
          <a:noFill/>
        </p:spPr>
      </p:pic>
      <p:pic>
        <p:nvPicPr>
          <p:cNvPr id="30" name="Picture 5" descr="C:\Documents and Settings\Jimbo\Local Settings\Temporary Internet Files\Content.IE5\V863YWOD\MC90015554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63144" y="2069232"/>
            <a:ext cx="3065703" cy="1656184"/>
          </a:xfrm>
          <a:prstGeom prst="rect">
            <a:avLst/>
          </a:prstGeom>
          <a:noFill/>
        </p:spPr>
      </p:pic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Ratio Bingo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229600" cy="4713387"/>
          </a:xfrm>
        </p:spPr>
        <p:txBody>
          <a:bodyPr/>
          <a:lstStyle/>
          <a:p>
            <a:pPr marL="800100" lvl="1" indent="-342900" eaLnBrk="1" hangingPunct="1">
              <a:buFont typeface="Arial" charset="0"/>
              <a:buChar char="•"/>
            </a:pPr>
            <a:endParaRPr lang="en-GB" sz="3200" dirty="0"/>
          </a:p>
          <a:p>
            <a:pPr marL="1200150" lvl="2" indent="-342900" eaLnBrk="1" hangingPunct="1">
              <a:buNone/>
            </a:pPr>
            <a:endParaRPr lang="en-GB" sz="2400" dirty="0"/>
          </a:p>
          <a:p>
            <a:pPr marL="1200150" lvl="2" indent="-342900" eaLnBrk="1" hangingPunct="1"/>
            <a:endParaRPr lang="en-GB" sz="2200" dirty="0"/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pic>
        <p:nvPicPr>
          <p:cNvPr id="1026" name="Picture 2" descr="C:\Documents and Settings\Jimbo\Local Settings\Temporary Internet Files\Content.IE5\BW2U4K24\MC90025083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429000"/>
            <a:ext cx="899660" cy="1502371"/>
          </a:xfrm>
          <a:prstGeom prst="rect">
            <a:avLst/>
          </a:prstGeom>
          <a:noFill/>
        </p:spPr>
      </p:pic>
      <p:pic>
        <p:nvPicPr>
          <p:cNvPr id="8" name="Picture 3" descr="C:\Documents and Settings\Jimbo\Local Settings\Temporary Internet Files\Content.IE5\AX8ROH80\MP900438641[1]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8104" y="1268760"/>
            <a:ext cx="1008112" cy="1505715"/>
          </a:xfrm>
          <a:prstGeom prst="rect">
            <a:avLst/>
          </a:prstGeom>
          <a:noFill/>
        </p:spPr>
      </p:pic>
      <p:pic>
        <p:nvPicPr>
          <p:cNvPr id="9" name="Picture 3" descr="C:\Documents and Settings\Jimbo\Local Settings\Temporary Internet Files\Content.IE5\AX8ROH80\MP900438641[1]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83868" y="3117269"/>
            <a:ext cx="1008112" cy="1505715"/>
          </a:xfrm>
          <a:prstGeom prst="rect">
            <a:avLst/>
          </a:prstGeom>
          <a:noFill/>
        </p:spPr>
      </p:pic>
      <p:pic>
        <p:nvPicPr>
          <p:cNvPr id="11" name="Picture 3" descr="C:\Documents and Settings\Jimbo\Local Settings\Temporary Internet Files\Content.IE5\AX8ROH80\MP900438641[1]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7544" y="1556792"/>
            <a:ext cx="1008112" cy="1505715"/>
          </a:xfrm>
          <a:prstGeom prst="rect">
            <a:avLst/>
          </a:prstGeom>
          <a:noFill/>
        </p:spPr>
      </p:pic>
      <p:pic>
        <p:nvPicPr>
          <p:cNvPr id="13" name="Picture 3" descr="C:\Documents and Settings\Jimbo\Local Settings\Temporary Internet Files\Content.IE5\AX8ROH80\MP900438641[1]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79712" y="3068960"/>
            <a:ext cx="1008112" cy="1505715"/>
          </a:xfrm>
          <a:prstGeom prst="rect">
            <a:avLst/>
          </a:prstGeom>
          <a:noFill/>
        </p:spPr>
      </p:pic>
      <p:pic>
        <p:nvPicPr>
          <p:cNvPr id="15" name="Picture 3" descr="C:\Documents and Settings\Jimbo\Local Settings\Temporary Internet Files\Content.IE5\AX8ROH80\MP900438641[1]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88024" y="2708920"/>
            <a:ext cx="1008112" cy="1505715"/>
          </a:xfrm>
          <a:prstGeom prst="rect">
            <a:avLst/>
          </a:prstGeom>
          <a:noFill/>
        </p:spPr>
      </p:pic>
      <p:pic>
        <p:nvPicPr>
          <p:cNvPr id="16" name="Picture 2" descr="C:\Documents and Settings\Jimbo\Local Settings\Temporary Internet Files\Content.IE5\BW2U4K24\MC90025083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4581128"/>
            <a:ext cx="899660" cy="1502371"/>
          </a:xfrm>
          <a:prstGeom prst="rect">
            <a:avLst/>
          </a:prstGeom>
          <a:noFill/>
        </p:spPr>
      </p:pic>
      <p:pic>
        <p:nvPicPr>
          <p:cNvPr id="18" name="Picture 2" descr="C:\Documents and Settings\Jimbo\Local Settings\Temporary Internet Files\Content.IE5\BW2U4K24\MC90025083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1340768"/>
            <a:ext cx="899660" cy="1502371"/>
          </a:xfrm>
          <a:prstGeom prst="rect">
            <a:avLst/>
          </a:prstGeom>
          <a:noFill/>
        </p:spPr>
      </p:pic>
      <p:pic>
        <p:nvPicPr>
          <p:cNvPr id="19" name="Picture 2" descr="C:\Documents and Settings\Jimbo\Local Settings\Temporary Internet Files\Content.IE5\BW2U4K24\MC90025083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4725144"/>
            <a:ext cx="899660" cy="1502371"/>
          </a:xfrm>
          <a:prstGeom prst="rect">
            <a:avLst/>
          </a:prstGeom>
          <a:noFill/>
        </p:spPr>
      </p:pic>
      <p:pic>
        <p:nvPicPr>
          <p:cNvPr id="20" name="Picture 2" descr="C:\Documents and Settings\Jimbo\Local Settings\Temporary Internet Files\Content.IE5\BW2U4K24\MC90025083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1412776"/>
            <a:ext cx="899660" cy="1502371"/>
          </a:xfrm>
          <a:prstGeom prst="rect">
            <a:avLst/>
          </a:prstGeom>
          <a:noFill/>
        </p:spPr>
      </p:pic>
      <p:pic>
        <p:nvPicPr>
          <p:cNvPr id="21" name="Picture 2" descr="C:\Documents and Settings\Jimbo\Local Settings\Temporary Internet Files\Content.IE5\BW2U4K24\MC900250834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484784"/>
            <a:ext cx="899660" cy="1502371"/>
          </a:xfrm>
          <a:prstGeom prst="rect">
            <a:avLst/>
          </a:prstGeom>
          <a:noFill/>
        </p:spPr>
      </p:pic>
      <p:sp>
        <p:nvSpPr>
          <p:cNvPr id="22" name="Rectangle 21"/>
          <p:cNvSpPr/>
          <p:nvPr/>
        </p:nvSpPr>
        <p:spPr>
          <a:xfrm>
            <a:off x="5004048" y="5085184"/>
            <a:ext cx="36647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eaLnBrk="1" hangingPunct="1"/>
            <a:r>
              <a:rPr lang="en-GB" sz="2800" dirty="0"/>
              <a:t>Apples to Bananas</a:t>
            </a: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Ratio Bingo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229600" cy="4713387"/>
          </a:xfrm>
        </p:spPr>
        <p:txBody>
          <a:bodyPr/>
          <a:lstStyle/>
          <a:p>
            <a:pPr marL="800100" lvl="1" indent="-342900" eaLnBrk="1" hangingPunct="1">
              <a:buFont typeface="Arial" charset="0"/>
              <a:buChar char="•"/>
            </a:pPr>
            <a:endParaRPr lang="en-GB" sz="3200" dirty="0"/>
          </a:p>
          <a:p>
            <a:pPr marL="1200150" lvl="2" indent="-342900" eaLnBrk="1" hangingPunct="1">
              <a:buNone/>
            </a:pPr>
            <a:endParaRPr lang="en-GB" sz="2400" dirty="0"/>
          </a:p>
          <a:p>
            <a:pPr marL="1200150" lvl="2" indent="-342900" eaLnBrk="1" hangingPunct="1"/>
            <a:endParaRPr lang="en-GB" sz="2200" dirty="0"/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004048" y="5085184"/>
            <a:ext cx="35269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eaLnBrk="1" hangingPunct="1"/>
            <a:r>
              <a:rPr lang="en-GB" sz="2800" dirty="0" err="1"/>
              <a:t>Bieber</a:t>
            </a:r>
            <a:r>
              <a:rPr lang="en-GB" sz="2800" dirty="0"/>
              <a:t> to </a:t>
            </a:r>
            <a:r>
              <a:rPr lang="en-GB" sz="2800" dirty="0" err="1"/>
              <a:t>Rihanna</a:t>
            </a:r>
            <a:endParaRPr lang="en-GB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412776"/>
            <a:ext cx="1323147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2924944"/>
            <a:ext cx="1323147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077072"/>
            <a:ext cx="1323147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1556792"/>
            <a:ext cx="1944216" cy="176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76256" y="2564904"/>
            <a:ext cx="1944216" cy="176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064" y="404664"/>
            <a:ext cx="1944216" cy="176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4365104"/>
            <a:ext cx="1944216" cy="176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Ratio Bingo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8229600" cy="4713387"/>
          </a:xfrm>
        </p:spPr>
        <p:txBody>
          <a:bodyPr/>
          <a:lstStyle/>
          <a:p>
            <a:pPr marL="800100" lvl="1" indent="-342900" eaLnBrk="1" hangingPunct="1">
              <a:buFont typeface="Arial" charset="0"/>
              <a:buChar char="•"/>
            </a:pPr>
            <a:endParaRPr lang="en-GB" sz="3200" dirty="0"/>
          </a:p>
          <a:p>
            <a:pPr marL="1200150" lvl="2" indent="-342900" eaLnBrk="1" hangingPunct="1">
              <a:buNone/>
            </a:pPr>
            <a:endParaRPr lang="en-GB" sz="2400" dirty="0"/>
          </a:p>
          <a:p>
            <a:pPr marL="1200150" lvl="2" indent="-342900" eaLnBrk="1" hangingPunct="1"/>
            <a:endParaRPr lang="en-GB" sz="2200" dirty="0"/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pic>
        <p:nvPicPr>
          <p:cNvPr id="3074" name="Picture 2" descr="C:\Documents and Settings\Jimbo\Local Settings\Temporary Internet Files\Content.IE5\AX8ROH80\MP900305807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0566" y="2780928"/>
            <a:ext cx="1933434" cy="1872208"/>
          </a:xfrm>
          <a:prstGeom prst="rect">
            <a:avLst/>
          </a:prstGeom>
          <a:noFill/>
        </p:spPr>
      </p:pic>
      <p:pic>
        <p:nvPicPr>
          <p:cNvPr id="16" name="Picture 2" descr="C:\Documents and Settings\Jimbo\Local Settings\Temporary Internet Files\Content.IE5\AX8ROH80\MP900305807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912" y="3645024"/>
            <a:ext cx="1933434" cy="1872208"/>
          </a:xfrm>
          <a:prstGeom prst="rect">
            <a:avLst/>
          </a:prstGeom>
          <a:noFill/>
        </p:spPr>
      </p:pic>
      <p:pic>
        <p:nvPicPr>
          <p:cNvPr id="17" name="Picture 2" descr="C:\Documents and Settings\Jimbo\Local Settings\Temporary Internet Files\Content.IE5\AX8ROH80\MP900305807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196752"/>
            <a:ext cx="1933434" cy="1872208"/>
          </a:xfrm>
          <a:prstGeom prst="rect">
            <a:avLst/>
          </a:prstGeom>
          <a:noFill/>
        </p:spPr>
      </p:pic>
      <p:pic>
        <p:nvPicPr>
          <p:cNvPr id="18" name="Picture 2" descr="C:\Documents and Settings\Jimbo\Local Settings\Temporary Internet Files\Content.IE5\AX8ROH80\MP900305807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861048"/>
            <a:ext cx="1933434" cy="1872208"/>
          </a:xfrm>
          <a:prstGeom prst="rect">
            <a:avLst/>
          </a:prstGeom>
          <a:noFill/>
        </p:spPr>
      </p:pic>
      <p:pic>
        <p:nvPicPr>
          <p:cNvPr id="3075" name="Picture 3" descr="C:\Documents and Settings\Jimbo\Local Settings\Temporary Internet Files\Content.IE5\BW2U4K24\MC900320438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2708920"/>
            <a:ext cx="1831543" cy="1469441"/>
          </a:xfrm>
          <a:prstGeom prst="rect">
            <a:avLst/>
          </a:prstGeom>
          <a:noFill/>
        </p:spPr>
      </p:pic>
      <p:pic>
        <p:nvPicPr>
          <p:cNvPr id="19" name="Picture 3" descr="C:\Documents and Settings\Jimbo\Local Settings\Temporary Internet Files\Content.IE5\BW2U4K24\MC900320438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39752" y="4941168"/>
            <a:ext cx="1831543" cy="1469441"/>
          </a:xfrm>
          <a:prstGeom prst="rect">
            <a:avLst/>
          </a:prstGeom>
          <a:noFill/>
        </p:spPr>
      </p:pic>
      <p:pic>
        <p:nvPicPr>
          <p:cNvPr id="20" name="Picture 3" descr="C:\Documents and Settings\Jimbo\Local Settings\Temporary Internet Files\Content.IE5\BW2U4K24\MC900320438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67744" y="2708920"/>
            <a:ext cx="1831543" cy="1469441"/>
          </a:xfrm>
          <a:prstGeom prst="rect">
            <a:avLst/>
          </a:prstGeom>
          <a:noFill/>
        </p:spPr>
      </p:pic>
      <p:pic>
        <p:nvPicPr>
          <p:cNvPr id="21" name="Picture 3" descr="C:\Documents and Settings\Jimbo\Local Settings\Temporary Internet Files\Content.IE5\BW2U4K24\MC900320438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216" y="980728"/>
            <a:ext cx="1831543" cy="1469441"/>
          </a:xfrm>
          <a:prstGeom prst="rect">
            <a:avLst/>
          </a:prstGeom>
          <a:noFill/>
        </p:spPr>
      </p:pic>
      <p:pic>
        <p:nvPicPr>
          <p:cNvPr id="24" name="Picture 3" descr="C:\Documents and Settings\Jimbo\Local Settings\Temporary Internet Files\Content.IE5\BW2U4K24\MC900320438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1628800"/>
            <a:ext cx="1831543" cy="1469441"/>
          </a:xfrm>
          <a:prstGeom prst="rect">
            <a:avLst/>
          </a:prstGeom>
          <a:noFill/>
        </p:spPr>
      </p:pic>
      <p:sp>
        <p:nvSpPr>
          <p:cNvPr id="22" name="Rectangle 21"/>
          <p:cNvSpPr/>
          <p:nvPr/>
        </p:nvSpPr>
        <p:spPr>
          <a:xfrm>
            <a:off x="4999203" y="5522586"/>
            <a:ext cx="34660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eaLnBrk="1" hangingPunct="1"/>
            <a:r>
              <a:rPr lang="en-GB" sz="2800" dirty="0"/>
              <a:t>Football to Rugby</a:t>
            </a: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pPr eaLnBrk="1" hangingPunct="1"/>
            <a:r>
              <a:rPr lang="en-GB" dirty="0"/>
              <a:t>Ratio Bingo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004048" y="5085184"/>
            <a:ext cx="386355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eaLnBrk="1" hangingPunct="1"/>
            <a:r>
              <a:rPr lang="en-GB" sz="2800" dirty="0"/>
              <a:t>Bike to Car</a:t>
            </a:r>
          </a:p>
          <a:p>
            <a:pPr marL="800100" lvl="1" indent="-342900" eaLnBrk="1" hangingPunct="1"/>
            <a:r>
              <a:rPr lang="en-GB" sz="2800" dirty="0"/>
              <a:t>(in its simplest form)</a:t>
            </a:r>
          </a:p>
        </p:txBody>
      </p:sp>
      <p:pic>
        <p:nvPicPr>
          <p:cNvPr id="4099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3140968"/>
            <a:ext cx="1728192" cy="995502"/>
          </a:xfrm>
          <a:prstGeom prst="rect">
            <a:avLst/>
          </a:prstGeom>
          <a:noFill/>
        </p:spPr>
      </p:pic>
      <p:pic>
        <p:nvPicPr>
          <p:cNvPr id="4100" name="Picture 4" descr="C:\Documents and Settings\Jimbo\Local Settings\Temporary Internet Files\Content.IE5\AX8ROH80\MC900440348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5977" y="1556792"/>
            <a:ext cx="2664296" cy="1572675"/>
          </a:xfrm>
          <a:prstGeom prst="rect">
            <a:avLst/>
          </a:prstGeom>
          <a:noFill/>
        </p:spPr>
      </p:pic>
      <p:pic>
        <p:nvPicPr>
          <p:cNvPr id="29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140968"/>
            <a:ext cx="1728192" cy="995502"/>
          </a:xfrm>
          <a:prstGeom prst="rect">
            <a:avLst/>
          </a:prstGeom>
          <a:noFill/>
        </p:spPr>
      </p:pic>
      <p:pic>
        <p:nvPicPr>
          <p:cNvPr id="30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844824"/>
            <a:ext cx="1728192" cy="995502"/>
          </a:xfrm>
          <a:prstGeom prst="rect">
            <a:avLst/>
          </a:prstGeom>
          <a:noFill/>
        </p:spPr>
      </p:pic>
      <p:pic>
        <p:nvPicPr>
          <p:cNvPr id="31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4149080"/>
            <a:ext cx="1728192" cy="995502"/>
          </a:xfrm>
          <a:prstGeom prst="rect">
            <a:avLst/>
          </a:prstGeom>
          <a:noFill/>
        </p:spPr>
      </p:pic>
      <p:pic>
        <p:nvPicPr>
          <p:cNvPr id="32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149080"/>
            <a:ext cx="1728192" cy="995502"/>
          </a:xfrm>
          <a:prstGeom prst="rect">
            <a:avLst/>
          </a:prstGeom>
          <a:noFill/>
        </p:spPr>
      </p:pic>
      <p:pic>
        <p:nvPicPr>
          <p:cNvPr id="33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5229200"/>
            <a:ext cx="1728192" cy="995502"/>
          </a:xfrm>
          <a:prstGeom prst="rect">
            <a:avLst/>
          </a:prstGeom>
          <a:noFill/>
        </p:spPr>
      </p:pic>
      <p:pic>
        <p:nvPicPr>
          <p:cNvPr id="34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5229200"/>
            <a:ext cx="1728192" cy="995502"/>
          </a:xfrm>
          <a:prstGeom prst="rect">
            <a:avLst/>
          </a:prstGeom>
          <a:noFill/>
        </p:spPr>
      </p:pic>
      <p:pic>
        <p:nvPicPr>
          <p:cNvPr id="35" name="Picture 3" descr="C:\Documents and Settings\Jimbo\Local Settings\Temporary Internet Files\Content.IE5\V863YWOD\MC900017205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3728" y="1772816"/>
            <a:ext cx="1728192" cy="995502"/>
          </a:xfrm>
          <a:prstGeom prst="rect">
            <a:avLst/>
          </a:prstGeom>
          <a:noFill/>
        </p:spPr>
      </p:pic>
      <p:pic>
        <p:nvPicPr>
          <p:cNvPr id="36" name="Picture 4" descr="C:\Documents and Settings\Jimbo\Local Settings\Temporary Internet Files\Content.IE5\AX8ROH80\MC900440348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3212976"/>
            <a:ext cx="2664296" cy="1572675"/>
          </a:xfrm>
          <a:prstGeom prst="rect">
            <a:avLst/>
          </a:prstGeom>
          <a:noFill/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pPr eaLnBrk="1" hangingPunct="1"/>
            <a:r>
              <a:rPr lang="en-GB" dirty="0"/>
              <a:t>Ratio Bingo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004048" y="5085184"/>
            <a:ext cx="372570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eaLnBrk="1" hangingPunct="1"/>
            <a:r>
              <a:rPr lang="en-GB" sz="2800" dirty="0"/>
              <a:t>Divide £50 into the </a:t>
            </a:r>
          </a:p>
          <a:p>
            <a:pPr marL="800100" lvl="1" indent="-342900" eaLnBrk="1" hangingPunct="1"/>
            <a:r>
              <a:rPr lang="en-GB" sz="2800" dirty="0"/>
              <a:t>ratio 2:3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1196752"/>
            <a:ext cx="29432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2996952"/>
            <a:ext cx="29432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2996952"/>
            <a:ext cx="29432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4797152"/>
            <a:ext cx="29432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124744"/>
            <a:ext cx="29432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pPr eaLnBrk="1" hangingPunct="1"/>
            <a:r>
              <a:rPr lang="en-GB" dirty="0"/>
              <a:t>Ratio Bingo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539552" y="1484784"/>
            <a:ext cx="6857968" cy="35394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 eaLnBrk="1" hangingPunct="1"/>
            <a:r>
              <a:rPr lang="en-GB" sz="2800" dirty="0"/>
              <a:t>John has 273 </a:t>
            </a:r>
            <a:r>
              <a:rPr lang="en-GB" sz="2800" dirty="0" err="1"/>
              <a:t>Facebook</a:t>
            </a:r>
            <a:r>
              <a:rPr lang="en-GB" sz="2800" dirty="0"/>
              <a:t> Friends</a:t>
            </a:r>
          </a:p>
          <a:p>
            <a:pPr marL="800100" lvl="1" indent="-342900" eaLnBrk="1" hangingPunct="1"/>
            <a:endParaRPr lang="en-GB" sz="2800" dirty="0"/>
          </a:p>
          <a:p>
            <a:pPr marL="800100" lvl="1" indent="-342900" eaLnBrk="1" hangingPunct="1"/>
            <a:r>
              <a:rPr lang="en-GB" sz="2800" dirty="0"/>
              <a:t>John’s teacher Mr Martin only has </a:t>
            </a:r>
          </a:p>
          <a:p>
            <a:pPr marL="800100" lvl="1" indent="-342900" eaLnBrk="1" hangingPunct="1"/>
            <a:r>
              <a:rPr lang="en-GB" sz="2800" dirty="0"/>
              <a:t>91 </a:t>
            </a:r>
            <a:r>
              <a:rPr lang="en-GB" sz="2800" dirty="0" err="1"/>
              <a:t>Facebook</a:t>
            </a:r>
            <a:r>
              <a:rPr lang="en-GB" sz="2800" dirty="0"/>
              <a:t> Friends</a:t>
            </a:r>
          </a:p>
          <a:p>
            <a:pPr marL="800100" lvl="1" indent="-342900" eaLnBrk="1" hangingPunct="1"/>
            <a:endParaRPr lang="en-GB" sz="2800" dirty="0"/>
          </a:p>
          <a:p>
            <a:pPr marL="800100" lvl="1" indent="-342900" eaLnBrk="1" hangingPunct="1"/>
            <a:endParaRPr lang="en-GB" sz="2800" dirty="0"/>
          </a:p>
          <a:p>
            <a:pPr marL="800100" lvl="1" indent="-342900" eaLnBrk="1" hangingPunct="1"/>
            <a:r>
              <a:rPr lang="en-GB" sz="2800" dirty="0"/>
              <a:t>In its simplest form, what is the ratio of </a:t>
            </a:r>
          </a:p>
          <a:p>
            <a:pPr marL="800100" lvl="1" indent="-342900" eaLnBrk="1" hangingPunct="1"/>
            <a:r>
              <a:rPr lang="en-GB" sz="2800" dirty="0"/>
              <a:t>Mr Martin’s friends to John’s friends?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t="17240" r="87824" b="75200"/>
          <a:stretch>
            <a:fillRect/>
          </a:stretch>
        </p:blipFill>
        <p:spPr bwMode="auto">
          <a:xfrm>
            <a:off x="7308304" y="1052736"/>
            <a:ext cx="1187624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7308304" y="1484784"/>
            <a:ext cx="1152128" cy="576064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273</a:t>
            </a:r>
          </a:p>
          <a:p>
            <a:r>
              <a:rPr lang="en-GB" sz="1400" dirty="0"/>
              <a:t>Friends</a:t>
            </a:r>
            <a:endParaRPr lang="en-US" sz="14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 t="17240" r="87824" b="75200"/>
          <a:stretch>
            <a:fillRect/>
          </a:stretch>
        </p:blipFill>
        <p:spPr bwMode="auto">
          <a:xfrm>
            <a:off x="7380312" y="2348880"/>
            <a:ext cx="1187624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7380312" y="2780928"/>
            <a:ext cx="1152128" cy="576064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91</a:t>
            </a:r>
          </a:p>
          <a:p>
            <a:r>
              <a:rPr lang="en-GB" sz="1400" dirty="0"/>
              <a:t>Friends</a:t>
            </a:r>
            <a:endParaRPr lang="en-US" sz="1400" dirty="0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323528" y="100226"/>
            <a:ext cx="8496944" cy="6264921"/>
            <a:chOff x="1318023" y="1042989"/>
            <a:chExt cx="6450807" cy="4762500"/>
          </a:xfrm>
        </p:grpSpPr>
        <p:sp>
          <p:nvSpPr>
            <p:cNvPr id="8" name="TextBox 3"/>
            <p:cNvSpPr txBox="1">
              <a:spLocks noChangeAspect="1"/>
            </p:cNvSpPr>
            <p:nvPr/>
          </p:nvSpPr>
          <p:spPr bwMode="auto">
            <a:xfrm>
              <a:off x="1318023" y="1538287"/>
              <a:ext cx="3225403" cy="1081088"/>
            </a:xfrm>
            <a:prstGeom prst="rect">
              <a:avLst/>
            </a:prstGeom>
            <a:solidFill>
              <a:srgbClr val="8CFA8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latin typeface="Calibri" panose="020F0502020204030204" pitchFamily="34" charset="0"/>
                </a:rPr>
                <a:t>We are learning about:</a:t>
              </a:r>
            </a:p>
            <a:p>
              <a:pPr algn="ctr" eaLnBrk="1" hangingPunct="1"/>
              <a:endParaRPr lang="en-US" i="1" dirty="0">
                <a:latin typeface="Calibri" panose="020F0502020204030204" pitchFamily="34" charset="0"/>
              </a:endParaRPr>
            </a:p>
            <a:p>
              <a:pPr algn="ctr" eaLnBrk="1" hangingPunct="1"/>
              <a:r>
                <a:rPr lang="en-US" sz="2400" i="1" dirty="0">
                  <a:latin typeface="Calibri" panose="020F0502020204030204" pitchFamily="34" charset="0"/>
                </a:rPr>
                <a:t>Ratio</a:t>
              </a:r>
              <a:endParaRPr lang="en-US" sz="2400" b="1" dirty="0">
                <a:latin typeface="Calibri" panose="020F0502020204030204" pitchFamily="34" charset="0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endParaRPr lang="en-US" sz="1500" b="1" dirty="0">
                <a:latin typeface="Calibri" panose="020F0502020204030204" pitchFamily="34" charset="0"/>
              </a:endParaRPr>
            </a:p>
            <a:p>
              <a:pPr eaLnBrk="1" hangingPunct="1"/>
              <a:endParaRPr lang="en-US" sz="1500" dirty="0">
                <a:latin typeface="Calibri" panose="020F0502020204030204" pitchFamily="34" charset="0"/>
              </a:endParaRPr>
            </a:p>
            <a:p>
              <a:pPr eaLnBrk="1" hangingPunct="1">
                <a:buFont typeface="Arial" panose="020B0604020202020204" pitchFamily="34" charset="0"/>
                <a:buChar char="•"/>
              </a:pPr>
              <a:endParaRPr lang="en-US" sz="1500" dirty="0">
                <a:latin typeface="Calibri" panose="020F0502020204030204" pitchFamily="34" charset="0"/>
              </a:endParaRPr>
            </a:p>
          </p:txBody>
        </p:sp>
        <p:sp>
          <p:nvSpPr>
            <p:cNvPr id="9" name="TextBox 4"/>
            <p:cNvSpPr txBox="1">
              <a:spLocks noChangeAspect="1"/>
            </p:cNvSpPr>
            <p:nvPr/>
          </p:nvSpPr>
          <p:spPr bwMode="auto">
            <a:xfrm>
              <a:off x="1318023" y="2720430"/>
              <a:ext cx="3225403" cy="2160985"/>
            </a:xfrm>
            <a:prstGeom prst="rect">
              <a:avLst/>
            </a:prstGeom>
            <a:solidFill>
              <a:srgbClr val="FFFF7D"/>
            </a:solidFill>
            <a:ln>
              <a:solidFill>
                <a:schemeClr val="tx1"/>
              </a:solidFill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877888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400175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922463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444750" indent="-3429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9019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33591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8163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4273550" indent="-3429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2400" b="1" dirty="0">
                  <a:latin typeface="Calibri" pitchFamily="34" charset="0"/>
                </a:rPr>
                <a:t>We are learning to:</a:t>
              </a:r>
            </a:p>
            <a:p>
              <a:pPr algn="ctr" eaLnBrk="1" hangingPunct="1">
                <a:defRPr/>
              </a:pPr>
              <a:endParaRPr lang="en-US" sz="2400" b="1" dirty="0">
                <a:latin typeface="Calibri" pitchFamily="34" charset="0"/>
              </a:endParaRPr>
            </a:p>
            <a:p>
              <a:pPr algn="ctr" eaLnBrk="1" hangingPunct="1">
                <a:defRPr/>
              </a:pPr>
              <a:r>
                <a:rPr lang="en-US" sz="2400" dirty="0"/>
                <a:t>Use ratio notation, reduce a ratio to its simplest form and divide a quantity into two parts in a given ratio</a:t>
              </a:r>
              <a:endParaRPr lang="en-US" i="1" dirty="0">
                <a:latin typeface="Calibri" pitchFamily="34" charset="0"/>
              </a:endParaRPr>
            </a:p>
          </p:txBody>
        </p:sp>
        <p:sp>
          <p:nvSpPr>
            <p:cNvPr id="10" name="TextBox 5"/>
            <p:cNvSpPr txBox="1">
              <a:spLocks noChangeArrowheads="1"/>
            </p:cNvSpPr>
            <p:nvPr/>
          </p:nvSpPr>
          <p:spPr bwMode="auto">
            <a:xfrm>
              <a:off x="4733925" y="1538287"/>
              <a:ext cx="3024188" cy="2700338"/>
            </a:xfrm>
            <a:prstGeom prst="rect">
              <a:avLst/>
            </a:prstGeom>
            <a:solidFill>
              <a:srgbClr val="9C97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latin typeface="Calibri" panose="020F0502020204030204" pitchFamily="34" charset="0"/>
                </a:rPr>
                <a:t>Success criteria:</a:t>
              </a:r>
            </a:p>
            <a:p>
              <a:pPr algn="ctr" eaLnBrk="1" hangingPunct="1"/>
              <a:endParaRPr lang="en-US" sz="2400" b="1" i="1" dirty="0">
                <a:latin typeface="Calibri" panose="020F0502020204030204" pitchFamily="34" charset="0"/>
              </a:endParaRP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GB" sz="2400" dirty="0"/>
                <a:t>Can reduce a ratio to its simplest form (Level 5)</a:t>
              </a:r>
            </a:p>
            <a:p>
              <a:pPr marL="285750" indent="-285750" eaLnBrk="1" hangingPunct="1">
                <a:buFont typeface="Arial" panose="020B0604020202020204" pitchFamily="34" charset="0"/>
                <a:buChar char="•"/>
                <a:defRPr/>
              </a:pPr>
              <a:endParaRPr lang="en-GB" sz="2400" dirty="0"/>
            </a:p>
            <a:p>
              <a:pPr marL="285750" indent="-285750" eaLnBrk="1" hangingPunct="1">
                <a:buFont typeface="Arial" panose="020B0604020202020204" pitchFamily="34" charset="0"/>
                <a:buChar char="•"/>
                <a:defRPr/>
              </a:pPr>
              <a:r>
                <a:rPr lang="en-GB" sz="2400" dirty="0"/>
                <a:t>Able to divide a quantity into two or more parts in a given ratio (Level 6)</a:t>
              </a:r>
              <a:endParaRPr lang="en-US" sz="2400" dirty="0"/>
            </a:p>
            <a:p>
              <a:pPr algn="ctr" eaLnBrk="1" hangingPunct="1"/>
              <a:endParaRPr lang="en-US" sz="2400" i="1" dirty="0">
                <a:latin typeface="Calibri" pitchFamily="34" charset="0"/>
              </a:endParaRPr>
            </a:p>
            <a:p>
              <a:pPr eaLnBrk="1" hangingPunct="1">
                <a:defRPr/>
              </a:pPr>
              <a:endParaRPr lang="en-US" sz="2400" i="1" dirty="0">
                <a:latin typeface="Calibri" pitchFamily="34" charset="0"/>
              </a:endParaRPr>
            </a:p>
          </p:txBody>
        </p:sp>
        <p:sp>
          <p:nvSpPr>
            <p:cNvPr id="11" name="TextBox 8"/>
            <p:cNvSpPr txBox="1">
              <a:spLocks noChangeArrowheads="1"/>
            </p:cNvSpPr>
            <p:nvPr/>
          </p:nvSpPr>
          <p:spPr bwMode="auto">
            <a:xfrm flipH="1">
              <a:off x="1318023" y="4957763"/>
              <a:ext cx="3225403" cy="847725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3399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1350" b="1">
                <a:latin typeface="Calibri" panose="020F0502020204030204" pitchFamily="34" charset="0"/>
              </a:endParaRPr>
            </a:p>
            <a:p>
              <a:pPr eaLnBrk="1" hangingPunct="1"/>
              <a:endParaRPr lang="en-US" sz="1350" b="1">
                <a:latin typeface="Calibri" panose="020F0502020204030204" pitchFamily="34" charset="0"/>
              </a:endParaRPr>
            </a:p>
          </p:txBody>
        </p:sp>
        <p:sp>
          <p:nvSpPr>
            <p:cNvPr id="12" name="TextBox 9"/>
            <p:cNvSpPr txBox="1">
              <a:spLocks noChangeAspect="1"/>
            </p:cNvSpPr>
            <p:nvPr/>
          </p:nvSpPr>
          <p:spPr bwMode="auto">
            <a:xfrm>
              <a:off x="1318024" y="1042989"/>
              <a:ext cx="6450806" cy="441722"/>
            </a:xfrm>
            <a:prstGeom prst="rect">
              <a:avLst/>
            </a:prstGeom>
            <a:solidFill>
              <a:srgbClr val="FF757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100" b="1">
                  <a:latin typeface="Calibri" panose="020F0502020204030204" pitchFamily="34" charset="0"/>
                </a:rPr>
                <a:t>Maths </a:t>
              </a:r>
              <a:fld id="{B61B0B3D-70ED-46FF-A882-F712C7F7A94C}" type="datetime1">
                <a:rPr lang="en-GB" sz="2100" b="1">
                  <a:latin typeface="Calibri" panose="020F0502020204030204" pitchFamily="34" charset="0"/>
                </a:rPr>
                <a:pPr algn="ctr" eaLnBrk="1" hangingPunct="1"/>
                <a:t>19/07/2022</a:t>
              </a:fld>
              <a:endParaRPr lang="en-US" sz="2100" b="1">
                <a:latin typeface="Calibri" panose="020F0502020204030204" pitchFamily="34" charset="0"/>
              </a:endParaRPr>
            </a:p>
          </p:txBody>
        </p:sp>
        <p:sp>
          <p:nvSpPr>
            <p:cNvPr id="13" name="TextBox 8"/>
            <p:cNvSpPr txBox="1">
              <a:spLocks noChangeArrowheads="1"/>
            </p:cNvSpPr>
            <p:nvPr/>
          </p:nvSpPr>
          <p:spPr bwMode="auto">
            <a:xfrm flipH="1">
              <a:off x="4714875" y="4346974"/>
              <a:ext cx="3053954" cy="1458515"/>
            </a:xfrm>
            <a:prstGeom prst="rect">
              <a:avLst/>
            </a:prstGeom>
            <a:solidFill>
              <a:srgbClr val="FFD13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2400" b="1" dirty="0">
                  <a:latin typeface="Calibri" panose="020F0502020204030204" pitchFamily="34" charset="0"/>
                </a:rPr>
                <a:t>Key words/ Literacy Skills:</a:t>
              </a:r>
            </a:p>
            <a:p>
              <a:pPr algn="ctr" eaLnBrk="1" hangingPunct="1"/>
              <a:endParaRPr lang="en-US" sz="375" dirty="0">
                <a:latin typeface="Calibri" panose="020F0502020204030204" pitchFamily="34" charset="0"/>
              </a:endParaRPr>
            </a:p>
            <a:p>
              <a:pPr algn="ctr" eaLnBrk="1" hangingPunct="1"/>
              <a:endParaRPr lang="en-US" sz="2400" i="1" dirty="0">
                <a:latin typeface="Calibri" panose="020F0502020204030204" pitchFamily="34" charset="0"/>
              </a:endParaRPr>
            </a:p>
            <a:p>
              <a:pPr algn="ctr" eaLnBrk="1" hangingPunct="1"/>
              <a:r>
                <a:rPr lang="en-US" sz="2400" i="1" dirty="0">
                  <a:latin typeface="Calibri" panose="020F0502020204030204" pitchFamily="34" charset="0"/>
                </a:rPr>
                <a:t>Ratio</a:t>
              </a:r>
            </a:p>
            <a:p>
              <a:pPr algn="ctr" eaLnBrk="1" hangingPunct="1"/>
              <a:r>
                <a:rPr lang="en-US" sz="2400" i="1" dirty="0">
                  <a:latin typeface="Calibri" panose="020F0502020204030204" pitchFamily="34" charset="0"/>
                </a:rPr>
                <a:t>Highest Common Factor</a:t>
              </a:r>
            </a:p>
            <a:p>
              <a:pPr algn="ctr" eaLnBrk="1" hangingPunct="1"/>
              <a:endParaRPr lang="en-US" i="1" dirty="0">
                <a:latin typeface="Calibri" panose="020F0502020204030204" pitchFamily="34" charset="0"/>
              </a:endParaRPr>
            </a:p>
            <a:p>
              <a:pPr eaLnBrk="1" hangingPunct="1"/>
              <a:endParaRPr lang="en-US" sz="1350" b="1" dirty="0">
                <a:latin typeface="Calibri" panose="020F0502020204030204" pitchFamily="34" charset="0"/>
              </a:endParaRPr>
            </a:p>
          </p:txBody>
        </p:sp>
        <p:pic>
          <p:nvPicPr>
            <p:cNvPr id="14" name="Picture 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82" t="24831" r="47089" b="38600"/>
            <a:stretch>
              <a:fillRect/>
            </a:stretch>
          </p:blipFill>
          <p:spPr bwMode="auto">
            <a:xfrm>
              <a:off x="1439467" y="5069683"/>
              <a:ext cx="588169" cy="6226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Box 1"/>
            <p:cNvSpPr txBox="1">
              <a:spLocks noChangeArrowheads="1"/>
            </p:cNvSpPr>
            <p:nvPr/>
          </p:nvSpPr>
          <p:spPr bwMode="auto">
            <a:xfrm>
              <a:off x="1993702" y="5076231"/>
              <a:ext cx="2538413" cy="538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GB" sz="2000" dirty="0"/>
                <a:t>Real world problems – Sharing money</a:t>
              </a:r>
              <a:endParaRPr lang="en-GB" sz="20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03683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0000"/>
                <a:lumOff val="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0"/>
            <a:ext cx="8208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GB" sz="7200" dirty="0">
                <a:solidFill>
                  <a:prstClr val="black"/>
                </a:solidFill>
                <a:latin typeface="Arial Black" pitchFamily="34" charset="0"/>
              </a:rPr>
              <a:t>How did it go?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334" y="2492896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27834" y="2708920"/>
            <a:ext cx="52165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I understood all or most of the lesson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14" y="5157192"/>
            <a:ext cx="1039565" cy="103956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99592" y="5119539"/>
            <a:ext cx="8437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sz="2800" dirty="0">
              <a:solidFill>
                <a:prstClr val="black"/>
              </a:solidFill>
              <a:latin typeface="Calibri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Tx/>
              <a:buAutoNum type="arabicPeriod"/>
            </a:pPr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27834" y="5229200"/>
            <a:ext cx="52165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I am a bit stuck with this and need some more practise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614" y="3952399"/>
            <a:ext cx="1062236" cy="9825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27834" y="3933056"/>
            <a:ext cx="56486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C00000"/>
                </a:solidFill>
                <a:latin typeface="Calibri"/>
              </a:rPr>
              <a:t>I understood bits of the lesson but not all of it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94" y="2756191"/>
            <a:ext cx="1006885" cy="9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77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0" descr="dizzy.png (33146 bytes)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725" y="2636838"/>
            <a:ext cx="1752600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4" name="Picture 12" descr="unsure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31975" y="2622550"/>
            <a:ext cx="2168525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loud Callout 5"/>
          <p:cNvSpPr/>
          <p:nvPr/>
        </p:nvSpPr>
        <p:spPr>
          <a:xfrm>
            <a:off x="3683000" y="547688"/>
            <a:ext cx="3076575" cy="2219325"/>
          </a:xfrm>
          <a:prstGeom prst="cloudCallout">
            <a:avLst>
              <a:gd name="adj1" fmla="val -41126"/>
              <a:gd name="adj2" fmla="val 65116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800" b="1" dirty="0">
                <a:solidFill>
                  <a:srgbClr val="C00000"/>
                </a:solidFill>
              </a:rPr>
              <a:t>Questions?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7504" y="3429000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Additional Examples Follow</a:t>
            </a:r>
          </a:p>
        </p:txBody>
      </p:sp>
    </p:spTree>
    <p:extLst>
      <p:ext uri="{BB962C8B-B14F-4D97-AF65-F5344CB8AC3E}">
        <p14:creationId xmlns:p14="http://schemas.microsoft.com/office/powerpoint/2010/main" val="22069504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447484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Some more examples: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3 : 12 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9 : 27 : 90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5 : 10 : 15 : 25	=	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12 : 36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81 : 9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42 : 28 : 14	=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4849688" y="1412776"/>
            <a:ext cx="2458616" cy="471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Answers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1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4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1 : 3 : 10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GB" sz="36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2 : 3 : 5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1 : 3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9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3 : 2 : 1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F973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Simplifying Ratios</a:t>
            </a:r>
          </a:p>
        </p:txBody>
      </p:sp>
      <p:sp>
        <p:nvSpPr>
          <p:cNvPr id="103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412776"/>
            <a:ext cx="4474840" cy="4713387"/>
          </a:xfrm>
        </p:spPr>
        <p:txBody>
          <a:bodyPr/>
          <a:lstStyle/>
          <a:p>
            <a:pPr marL="6350" indent="-6350" eaLnBrk="1" hangingPunct="1">
              <a:buNone/>
              <a:defRPr/>
            </a:pPr>
            <a:r>
              <a:rPr lang="en-GB" sz="3600" dirty="0">
                <a:solidFill>
                  <a:srgbClr val="002060"/>
                </a:solidFill>
              </a:rPr>
              <a:t>Some more examples: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36 : 12 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81 : 27 : 9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8 : 16 : 32 : 40	=	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11 : 44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6 : 18		=</a:t>
            </a:r>
          </a:p>
          <a:p>
            <a:pPr eaLnBrk="1" hangingPunct="1">
              <a:buNone/>
              <a:defRPr/>
            </a:pPr>
            <a:r>
              <a:rPr lang="en-GB" sz="3600" b="1" dirty="0">
                <a:solidFill>
                  <a:srgbClr val="002060"/>
                </a:solidFill>
              </a:rPr>
              <a:t>55 : 33 : 22	=</a:t>
            </a:r>
            <a:endParaRPr lang="en-GB" sz="3200" dirty="0">
              <a:solidFill>
                <a:srgbClr val="002060"/>
              </a:solidFill>
            </a:endParaRPr>
          </a:p>
          <a:p>
            <a:pPr marL="1200150" lvl="2" indent="-342900" eaLnBrk="1" hangingPunct="1">
              <a:buNone/>
            </a:pPr>
            <a:endParaRPr lang="en-GB" sz="2400" dirty="0">
              <a:solidFill>
                <a:srgbClr val="002060"/>
              </a:solidFill>
            </a:endParaRPr>
          </a:p>
          <a:p>
            <a:pPr marL="1200150" lvl="2" indent="-342900" eaLnBrk="1" hangingPunct="1"/>
            <a:endParaRPr lang="en-GB" sz="2200" dirty="0">
              <a:solidFill>
                <a:srgbClr val="002060"/>
              </a:solidFill>
            </a:endParaRP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4849688" y="1412776"/>
            <a:ext cx="2458616" cy="471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Answers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3 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lang="en-GB" sz="3600" b="1" dirty="0">
                <a:solidFill>
                  <a:srgbClr val="FF0000"/>
                </a:solidFill>
                <a:latin typeface="+mn-lt"/>
              </a:rPr>
              <a:t>1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9 : 3 : 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GB" sz="36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2 : 4 : 5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1 : 4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noProof="0" dirty="0">
                <a:solidFill>
                  <a:srgbClr val="FF0000"/>
                </a:solidFill>
                <a:latin typeface="+mn-lt"/>
              </a:rPr>
              <a:t>1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3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FF0000"/>
                </a:solidFill>
                <a:latin typeface="+mn-lt"/>
              </a:rPr>
              <a:t>5 : 3 : 2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F973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72" y="113378"/>
            <a:ext cx="3600400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divide an amount by a given ratio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6685384" y="1412777"/>
            <a:ext cx="24586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Answers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/>
          </p:cNvSpPr>
          <p:nvPr/>
        </p:nvSpPr>
        <p:spPr bwMode="auto">
          <a:xfrm>
            <a:off x="457200" y="1412776"/>
            <a:ext cx="6851104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 more examples: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Divide a jar of 20 sweets </a:t>
            </a:r>
            <a:r>
              <a:rPr kumimoji="0" lang="en-GB" sz="3600" b="1" i="0" u="none" strike="noStrike" kern="120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into the ratio 3:1 =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Split a packet of 22 biscuits into the ratio = 3 : 3 : 5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Divide 16 into the ratio 2 : 2 : 4 =</a:t>
            </a: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3"/>
          <p:cNvSpPr txBox="1">
            <a:spLocks/>
          </p:cNvSpPr>
          <p:nvPr/>
        </p:nvSpPr>
        <p:spPr bwMode="auto">
          <a:xfrm>
            <a:off x="6685384" y="2420889"/>
            <a:ext cx="24586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15 : 5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3"/>
          <p:cNvSpPr txBox="1">
            <a:spLocks/>
          </p:cNvSpPr>
          <p:nvPr/>
        </p:nvSpPr>
        <p:spPr bwMode="auto">
          <a:xfrm>
            <a:off x="6768244" y="4156075"/>
            <a:ext cx="24586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6 : 6 : 10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/>
          </p:cNvSpPr>
          <p:nvPr/>
        </p:nvSpPr>
        <p:spPr bwMode="auto">
          <a:xfrm>
            <a:off x="7513984" y="5445224"/>
            <a:ext cx="16300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4 : 4 : 8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64" y="113378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divide an amount by a given ratio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dirty="0"/>
              <a:t>Dividing by a ratio</a:t>
            </a:r>
          </a:p>
        </p:txBody>
      </p:sp>
      <p:sp>
        <p:nvSpPr>
          <p:cNvPr id="1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9" name="Rectangle 3"/>
          <p:cNvSpPr txBox="1">
            <a:spLocks/>
          </p:cNvSpPr>
          <p:nvPr/>
        </p:nvSpPr>
        <p:spPr bwMode="auto">
          <a:xfrm>
            <a:off x="6685384" y="1412777"/>
            <a:ext cx="24586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Answers</a:t>
            </a: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/>
          </p:cNvSpPr>
          <p:nvPr/>
        </p:nvSpPr>
        <p:spPr bwMode="auto">
          <a:xfrm>
            <a:off x="457200" y="1412776"/>
            <a:ext cx="6851104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 more examples: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4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Divide a jar of 32 sweets </a:t>
            </a:r>
            <a:r>
              <a:rPr kumimoji="0" lang="en-GB" sz="3600" b="1" i="0" u="none" strike="noStrike" kern="120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into the ratio 3:1 =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5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Split a packet of 26 biscuits into the ratio = 3 : 5 : 5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6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Divide 18 into the ratio 2 : 3 : 4 =</a:t>
            </a: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3"/>
          <p:cNvSpPr txBox="1">
            <a:spLocks/>
          </p:cNvSpPr>
          <p:nvPr/>
        </p:nvSpPr>
        <p:spPr bwMode="auto">
          <a:xfrm>
            <a:off x="4211960" y="2636912"/>
            <a:ext cx="24586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24 : 8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3"/>
          <p:cNvSpPr txBox="1">
            <a:spLocks/>
          </p:cNvSpPr>
          <p:nvPr/>
        </p:nvSpPr>
        <p:spPr bwMode="auto">
          <a:xfrm>
            <a:off x="4427984" y="4293096"/>
            <a:ext cx="24586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6 : 10 : 10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3"/>
          <p:cNvSpPr txBox="1">
            <a:spLocks/>
          </p:cNvSpPr>
          <p:nvPr/>
        </p:nvSpPr>
        <p:spPr bwMode="auto">
          <a:xfrm>
            <a:off x="7513984" y="5445224"/>
            <a:ext cx="1630016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350" marR="0" lvl="0" indent="-6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sz="3600" dirty="0">
                <a:solidFill>
                  <a:srgbClr val="FF0000"/>
                </a:solidFill>
                <a:latin typeface="+mn-lt"/>
              </a:rPr>
              <a:t>4 : 6 : 8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20015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AF9738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48064" y="113378"/>
            <a:ext cx="3672408" cy="824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1400" b="1" u="sng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Learning Objectives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To be able to simplify ratios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GB" sz="1400" b="1" dirty="0">
                <a:solidFill>
                  <a:srgbClr val="FF0000"/>
                </a:solidFill>
                <a:latin typeface="+mn-lt"/>
              </a:rPr>
              <a:t>To be able to divide an amount by a given ratio</a:t>
            </a: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0" y="6488668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b="1" dirty="0"/>
              <a:t>Ratio 				Mr Martin 			February 2014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0385378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10385378</Template>
  <TotalTime>7275</TotalTime>
  <Words>2135</Words>
  <Application>Microsoft Office PowerPoint</Application>
  <PresentationFormat>On-screen Show (4:3)</PresentationFormat>
  <Paragraphs>416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Arial Black</vt:lpstr>
      <vt:lpstr>Calibri</vt:lpstr>
      <vt:lpstr>10385378</vt:lpstr>
      <vt:lpstr>1_Office Theme</vt:lpstr>
      <vt:lpstr>Intro</vt:lpstr>
      <vt:lpstr>PowerPoint Presentation</vt:lpstr>
      <vt:lpstr>PowerPoint Presentation</vt:lpstr>
      <vt:lpstr>Intro</vt:lpstr>
      <vt:lpstr>Simplifying Ratios</vt:lpstr>
      <vt:lpstr>Simplifying Ratios</vt:lpstr>
      <vt:lpstr>Simplifying Ratios</vt:lpstr>
      <vt:lpstr>Simplifying Ratios</vt:lpstr>
      <vt:lpstr>Answers</vt:lpstr>
      <vt:lpstr>PowerPoint Presentation</vt:lpstr>
      <vt:lpstr>Dividing by a ratio</vt:lpstr>
      <vt:lpstr>Dividing by a ratio</vt:lpstr>
      <vt:lpstr>Dividing by a ratio</vt:lpstr>
      <vt:lpstr>Dividing by Ratios</vt:lpstr>
      <vt:lpstr>Answers</vt:lpstr>
      <vt:lpstr>PowerPoint Presentation</vt:lpstr>
      <vt:lpstr>Ratio Bingo</vt:lpstr>
      <vt:lpstr>Ratio Bingo</vt:lpstr>
      <vt:lpstr>Ratio Bingo</vt:lpstr>
      <vt:lpstr>Ratio Bingo</vt:lpstr>
      <vt:lpstr>Ratio Bingo</vt:lpstr>
      <vt:lpstr>Ratio Bingo</vt:lpstr>
      <vt:lpstr>Ratio Bingo</vt:lpstr>
      <vt:lpstr>PowerPoint Presentation</vt:lpstr>
      <vt:lpstr>PowerPoint Presentation</vt:lpstr>
      <vt:lpstr>PowerPoint Presentation</vt:lpstr>
      <vt:lpstr>PowerPoint Presentation</vt:lpstr>
      <vt:lpstr>Simplifying Ratios</vt:lpstr>
      <vt:lpstr>Simplifying Ratios</vt:lpstr>
      <vt:lpstr>Dividing by a ratio</vt:lpstr>
      <vt:lpstr>Dividing by a ratio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Ratios Lesson</dc:title>
  <dc:creator>James Martin</dc:creator>
  <cp:lastModifiedBy>DAVIES Rhys [Busselton Senior High School]</cp:lastModifiedBy>
  <cp:revision>328</cp:revision>
  <dcterms:created xsi:type="dcterms:W3CDTF">2010-02-25T13:36:49Z</dcterms:created>
  <dcterms:modified xsi:type="dcterms:W3CDTF">2022-07-19T12:50:54Z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TC103853781033</vt:lpwstr>
  </property>
</Properties>
</file>
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2" r:id="rId2"/>
    <p:sldId id="279" r:id="rId3"/>
    <p:sldId id="278" r:id="rId4"/>
    <p:sldId id="271" r:id="rId5"/>
    <p:sldId id="257" r:id="rId6"/>
    <p:sldId id="260" r:id="rId7"/>
    <p:sldId id="258" r:id="rId8"/>
    <p:sldId id="259" r:id="rId9"/>
    <p:sldId id="275" r:id="rId10"/>
    <p:sldId id="280" r:id="rId11"/>
    <p:sldId id="273" r:id="rId12"/>
    <p:sldId id="265" r:id="rId13"/>
    <p:sldId id="268" r:id="rId14"/>
    <p:sldId id="276" r:id="rId15"/>
    <p:sldId id="274" r:id="rId16"/>
    <p:sldId id="277" r:id="rId17"/>
    <p:sldId id="266" r:id="rId18"/>
    <p:sldId id="269" r:id="rId19"/>
    <p:sldId id="270" r:id="rId20"/>
    <p:sldId id="267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B71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5" autoAdjust="0"/>
    <p:restoredTop sz="94660"/>
  </p:normalViewPr>
  <p:slideViewPr>
    <p:cSldViewPr>
      <p:cViewPr varScale="1">
        <p:scale>
          <a:sx n="81" d="100"/>
          <a:sy n="81" d="100"/>
        </p:scale>
        <p:origin x="151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0:11:30.44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3,'110'-2,"121"4,-229-1,1-1,0 1,-1-1,1 1,-1 0,1 0,-1 0,1 0,-1 0,0 1,0-1,1 1,-1-1,0 1,-1 0,1 0,0 0,0 0,-1 0,1 0,-1 1,0-1,1 0,-1 1,0-1,-1 1,1-1,0 1,-1 0,1 3,1 10,-1 0,-1-1,0 1,-3 17,1-4,0 77,2-83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0:11:35.44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18,'93'1,"103"-3,-156-7,-34 7,0 1,0-1,0 1,0 0,1 1,-1-1,8 1,-12 1,0-1,0 1,-1 0,1-1,0 1,-1 0,1 0,0 0,-1 0,1 0,-1 1,0-1,1 0,-1 1,0-1,0 1,0-1,0 1,0-1,0 1,0 0,-1 0,1-1,0 1,-1 0,0 0,1 0,-1 0,0 2,2 17,0 1,-2 0,-4 35,2-38,1 1,0-1,2 0,0 0,5 23,-4-35,0-1,1 1,0-1,0 0,0 0,6 8,1-1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0:11:46.1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30,'6'-1,"-1"0,1 0,0 0,-1-1,9-3,19-5,26 4,1 3,68 5,-30 0,-94-3,-1 1,1 0,0 1,0-1,-1 1,1-1,0 1,-1 0,1 0,0 1,-1-1,0 1,1 0,5 4,-7-4,0 1,0 0,0 0,0 0,0 0,0 0,-1 0,0 0,1 1,-1-1,-1 0,1 1,0-1,-1 1,1-1,-1 5,-1 92,-1-75,2 0,0 0,2 1,1-1,6 25,-5-32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49C60E-196A-4227-8BC2-4531DA18B3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36CC7-E502-4385-B26C-B99E2BADC5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5DDB1BC-E34F-43FA-9BE7-2CFAE572B12B}" type="datetimeFigureOut">
              <a:rPr lang="en-GB"/>
              <a:pPr>
                <a:defRPr/>
              </a:pPr>
              <a:t>03/05/2022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BFEA45-EDB7-4895-8A0F-FF5FE5012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E0AD40-AF2C-4AF0-9CE5-EE69F3E95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E465-831A-4A9C-A91D-C593841BA7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4143C-6104-41A6-938C-5717B443A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1CAE635-671D-43CE-BA87-203D31E329F1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C13DBA9-769C-42C1-9A19-D6B3F98D98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E498F3A-B0BB-4B3B-8E54-DFE12C017D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EA2258B-65DC-4A95-933E-0C83769E5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55C85AF-DE2E-4156-AA77-37F84E38BA01}" type="slidenum">
              <a:rPr lang="en-GB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BA6EC7CB-D995-478C-94BA-AF4030A8AC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6F84AB4E-3482-484F-B55D-B88BDFEFAA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BA3CC7A-4A8F-4D26-9066-EFC7E37A9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347531-C158-4B3F-B3B2-B10727DEEDE7}" type="slidenum">
              <a:rPr lang="en-GB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E2B03D78-B690-484D-94D2-FA5B002625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1C085ED4-3D37-47A1-9B27-6FECE6328C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C1D564C8-587D-4010-9F7F-2F81C2357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997912-07E3-44C4-ADA3-73F0447372C6}" type="slidenum">
              <a:rPr lang="en-GB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09624520-5995-4E4B-BF71-8AD394522D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A6E1AAE9-1E74-46C7-879B-8DF2045E92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20F148B6-1F94-419F-ABE1-B5F9372F9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593EF26-9806-4799-93EB-3EDC26984364}" type="slidenum">
              <a:rPr lang="en-GB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AE635-671D-43CE-BA87-203D31E329F1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7842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944478D-5411-4448-BB0C-545D1152D7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2B96B12A-3EDA-406B-BF30-9C70D79DA1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D767AC3-912E-4A4B-B10E-E55094571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6960E8-5C88-424B-AC51-A46E3A9357C9}" type="slidenum">
              <a:rPr lang="en-GB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09CC467-D161-4DA4-B1CC-AA6ABB30CB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F37BD7A4-87FE-47B3-85E2-9FEDF37A52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54C17777-C346-4D05-83D5-F2DBCBB96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45B871-2681-4F71-B51F-7136405DE563}" type="slidenum">
              <a:rPr lang="en-GB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FA506377-D1C2-4D81-8B79-E104441B81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0C249C84-1828-4B3A-BCA3-EB9F857AAC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FC6BC5A4-D86E-4BDB-B882-21488A7DD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583115-5A36-466C-A6EE-8F4B3C787069}" type="slidenum">
              <a:rPr lang="en-GB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B3DB204F-D2F4-42F5-BAA6-EA6F7676D9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FBC09965-92CC-43A3-820B-E42AF396BA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F4EFBC07-D6D8-4DF7-9D05-5836F3C37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D995B1-F412-430D-8078-1A9CDC491630}" type="slidenum">
              <a:rPr lang="en-GB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DF3-5AD6-44EB-8DED-D887C698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CBC66-A292-42CA-840A-01EE6B7E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F3843-111D-4237-AA1E-84EAF1EE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337CC-405C-4031-AB8B-1886D0BBC75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910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549F-9A46-49A5-958B-EC8C8250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9952-1D14-467C-AC74-7B989A1D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D0BD7-9C14-4CAD-B446-75AE7E83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7E66A-2C71-4391-948A-6C8225AEA67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600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6468C-4685-44BA-A919-4F1C3F50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10C9-0ADE-4FA7-A0FF-A78C3201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5CD19-CABB-4769-9605-C815017C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2D55F-F88D-4BFE-9082-12F760F0404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558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64BE918-68D5-4183-B212-CF0C1F27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4A245C5-AF8B-4369-881F-AFCE1ED5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B5CB78-BBB3-4E01-9D3E-A07F031D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E93FD-AE69-4FFD-B0A8-C2802268D81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801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5A5E691-3DB0-4876-AF8B-2C46376F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76F48F-0F38-4D5B-8AB9-C0C92B0B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6A16D61-22D3-4D56-AEB5-F975BB75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3B205B-85AF-46B6-A02F-CF2B7235652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59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4A11AA8-C19F-4088-A902-7C4D5982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BD5A429-02A6-4626-8233-C13E3720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B999CB-6EB2-4CFD-97AB-3A4B14F0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82565-A90D-4B0E-81DD-C9F7AAA6A74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7605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5AEB6C3-16C5-417C-A89A-2E84A0CF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2D00D2-4A67-4945-9DAD-E505D764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67E33E-A488-420C-949C-5E6521E5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B1DF6-63EF-4C3E-AE40-A48E8F7812E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400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385BBA5-06DD-45C0-B4EE-0BD0816B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F0A1B4E-5CD6-431D-A71F-A0C047FE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D1C5D4-E527-4096-A5EC-C77380C8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3CFDEF-992A-4F1F-BD83-162FB77581E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340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616FC98-D90D-4218-83FA-6AC588EE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63CE87-E311-417D-9C70-F00B95FB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9C28FA-B373-4213-AC88-140DC2C7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DFD05-C858-4CF7-8C3E-09DD38B8D14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827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DF3EA-B983-40F3-8679-CD438775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FD19-88BC-4795-B839-D4A44A9F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76B8-EBA1-4492-97C4-CD0E79F4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D0BD5-BA0E-46BB-B1B6-7E548E859A3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740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CE284-605E-4615-92E4-5C6E1D0F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D3D1A-1820-4795-9C83-CFF3F654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E4452-8041-4374-BB6F-E7610557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A60FD-0E7B-44D4-8702-DCC5BFC8834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6712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C0053E1-E181-46F0-857A-99FC3B8AF1C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4432D19-D57F-48B5-85D2-56DDCE2A42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B9BEC-2D35-4765-90D0-8E4D2D12E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19/02/2012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77174-DF6F-479C-81FC-1E9C767E7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68799-6C6E-4350-A888-F8DD4AD5A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8EC5F65-6C04-45F2-AE4E-5E3F1FEA96A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F33F-20A7-4433-93EA-A12460E0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21E9B-9D88-40B6-A833-FB303877F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Title:</a:t>
            </a:r>
            <a:r>
              <a:rPr lang="en-AU" dirty="0"/>
              <a:t> </a:t>
            </a:r>
            <a:r>
              <a:rPr lang="en-AU" dirty="0">
                <a:solidFill>
                  <a:srgbClr val="00B0F0"/>
                </a:solidFill>
              </a:rPr>
              <a:t>Area of circles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Identify features of a circle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Substitute into formula to solve area of circles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B0F0"/>
                </a:solidFill>
              </a:rPr>
              <a:t>Review perimeter and area  shapes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B0F0"/>
                </a:solidFill>
              </a:rPr>
              <a:t>Features of circles.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B0F0"/>
                </a:solidFill>
              </a:rPr>
              <a:t>Calculating the circumference and area of circles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B0F0"/>
                </a:solidFill>
              </a:rPr>
              <a:t>Worksheet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B5349-1A92-4E7F-85A5-A9B61EFF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A8A7A-9C8C-437F-A7B6-635BEDB5506E}"/>
              </a:ext>
            </a:extLst>
          </p:cNvPr>
          <p:cNvSpPr txBox="1"/>
          <p:nvPr/>
        </p:nvSpPr>
        <p:spPr>
          <a:xfrm>
            <a:off x="6084168" y="5820241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NOTES PAGE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430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Base and height are always perpendicular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>
                <a:solidFill>
                  <a:srgbClr val="FF0000"/>
                </a:solidFill>
              </a:rPr>
              <a:t>Perpendicular</a:t>
            </a:r>
            <a:r>
              <a:rPr lang="en-GB" dirty="0"/>
              <a:t> – “at right angles to”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763688" y="4509120"/>
            <a:ext cx="22682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465766" y="3320988"/>
            <a:ext cx="0" cy="11881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65766" y="4347102"/>
            <a:ext cx="162018" cy="16201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085057" y="4239091"/>
            <a:ext cx="1998222" cy="1035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084168" y="3699030"/>
            <a:ext cx="540060" cy="1053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680000">
            <a:off x="6112718" y="4645682"/>
            <a:ext cx="162018" cy="16201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EB505-EBC5-4B52-A0F5-9428CB684627}"/>
              </a:ext>
            </a:extLst>
          </p:cNvPr>
          <p:cNvSpPr/>
          <p:nvPr/>
        </p:nvSpPr>
        <p:spPr>
          <a:xfrm>
            <a:off x="899592" y="1700808"/>
            <a:ext cx="2268247" cy="432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2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FB49-66C0-43EE-90AF-4870E14A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notes page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26977-DBA1-4FF4-B4A8-F0C4551DE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read through.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50639-5879-4AD2-A9B7-F326C7AB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3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3CC319-4067-4823-BC87-378D39E9B4D8}"/>
              </a:ext>
            </a:extLst>
          </p:cNvPr>
          <p:cNvSpPr/>
          <p:nvPr/>
        </p:nvSpPr>
        <p:spPr>
          <a:xfrm>
            <a:off x="2104621" y="3599292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89A0FAF-588F-422D-8D1B-839C21DC405B}"/>
              </a:ext>
            </a:extLst>
          </p:cNvPr>
          <p:cNvSpPr/>
          <p:nvPr/>
        </p:nvSpPr>
        <p:spPr>
          <a:xfrm>
            <a:off x="4407296" y="3294920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39E9BA3-CD25-4260-A63D-37F0EEB5BBAE}"/>
              </a:ext>
            </a:extLst>
          </p:cNvPr>
          <p:cNvSpPr/>
          <p:nvPr/>
        </p:nvSpPr>
        <p:spPr>
          <a:xfrm>
            <a:off x="6444208" y="3014717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03C69-873C-4E0F-8EDC-C1A0DDFFA573}"/>
              </a:ext>
            </a:extLst>
          </p:cNvPr>
          <p:cNvSpPr txBox="1"/>
          <p:nvPr/>
        </p:nvSpPr>
        <p:spPr>
          <a:xfrm>
            <a:off x="107504" y="4509120"/>
            <a:ext cx="1728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Rule </a:t>
            </a:r>
          </a:p>
          <a:p>
            <a:endParaRPr lang="en-US" sz="2400" b="1" dirty="0"/>
          </a:p>
          <a:p>
            <a:r>
              <a:rPr lang="en-US" sz="2400" b="1" dirty="0"/>
              <a:t>Numbers </a:t>
            </a:r>
          </a:p>
          <a:p>
            <a:endParaRPr lang="en-US" sz="2400" b="1" dirty="0"/>
          </a:p>
          <a:p>
            <a:r>
              <a:rPr lang="en-US" sz="2400" b="1" dirty="0"/>
              <a:t>Solve 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8945A-D37F-4E58-AEC0-A4761A9A90D9}"/>
              </a:ext>
            </a:extLst>
          </p:cNvPr>
          <p:cNvSpPr txBox="1"/>
          <p:nvPr/>
        </p:nvSpPr>
        <p:spPr>
          <a:xfrm>
            <a:off x="5082045" y="3445425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3cm</a:t>
            </a:r>
            <a:endParaRPr lang="en-A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0A40D4-F82C-4D44-A5A7-6D81BF3C6D68}"/>
              </a:ext>
            </a:extLst>
          </p:cNvPr>
          <p:cNvSpPr txBox="1"/>
          <p:nvPr/>
        </p:nvSpPr>
        <p:spPr>
          <a:xfrm>
            <a:off x="1267244" y="3591035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2cm</a:t>
            </a:r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D3B30-078E-4D4A-B099-6F0E011D03C0}"/>
              </a:ext>
            </a:extLst>
          </p:cNvPr>
          <p:cNvSpPr txBox="1"/>
          <p:nvPr/>
        </p:nvSpPr>
        <p:spPr>
          <a:xfrm>
            <a:off x="4797178" y="4057595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4km</a:t>
            </a: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822F0-E7E8-4736-8835-556E24CA86E1}"/>
              </a:ext>
            </a:extLst>
          </p:cNvPr>
          <p:cNvSpPr txBox="1"/>
          <p:nvPr/>
        </p:nvSpPr>
        <p:spPr>
          <a:xfrm>
            <a:off x="2464662" y="3158441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7cm</a:t>
            </a:r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BE0AE0-F534-451D-8A2F-47A794319C87}"/>
              </a:ext>
            </a:extLst>
          </p:cNvPr>
          <p:cNvCxnSpPr>
            <a:cxnSpLocks/>
          </p:cNvCxnSpPr>
          <p:nvPr/>
        </p:nvCxnSpPr>
        <p:spPr>
          <a:xfrm flipV="1">
            <a:off x="5075871" y="3294920"/>
            <a:ext cx="6174" cy="81528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903523-2099-40D3-A8CB-D3140E45DB34}"/>
              </a:ext>
            </a:extLst>
          </p:cNvPr>
          <p:cNvCxnSpPr/>
          <p:nvPr/>
        </p:nvCxnSpPr>
        <p:spPr>
          <a:xfrm flipV="1">
            <a:off x="7452320" y="3140968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D6E208-B10E-49C9-B250-8D7D8BCDDDD9}"/>
              </a:ext>
            </a:extLst>
          </p:cNvPr>
          <p:cNvSpPr txBox="1"/>
          <p:nvPr/>
        </p:nvSpPr>
        <p:spPr>
          <a:xfrm>
            <a:off x="7061330" y="4102156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20mm</a:t>
            </a:r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482B52-4CA3-45DD-8D1B-218E543BE124}"/>
              </a:ext>
            </a:extLst>
          </p:cNvPr>
          <p:cNvSpPr txBox="1"/>
          <p:nvPr/>
        </p:nvSpPr>
        <p:spPr>
          <a:xfrm>
            <a:off x="7365332" y="3595930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10mm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9A1F0B-94B0-4C5C-BF52-7D24838A3DF7}"/>
              </a:ext>
            </a:extLst>
          </p:cNvPr>
          <p:cNvSpPr txBox="1"/>
          <p:nvPr/>
        </p:nvSpPr>
        <p:spPr>
          <a:xfrm>
            <a:off x="3797968" y="3202808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3.5km</a:t>
            </a:r>
            <a:endParaRPr lang="en-AU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ADB40-44A5-447F-B0FC-2CE15D94B07B}"/>
              </a:ext>
            </a:extLst>
          </p:cNvPr>
          <p:cNvSpPr txBox="1"/>
          <p:nvPr/>
        </p:nvSpPr>
        <p:spPr>
          <a:xfrm>
            <a:off x="7785683" y="3019171"/>
            <a:ext cx="163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15mm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4629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1320F-67E7-4F3A-8909-581EA536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4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C9F41-FFDF-41B9-A28B-F205425E66A8}"/>
              </a:ext>
            </a:extLst>
          </p:cNvPr>
          <p:cNvSpPr/>
          <p:nvPr/>
        </p:nvSpPr>
        <p:spPr>
          <a:xfrm>
            <a:off x="35496" y="52115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18F85D-E18A-4E77-84A2-68F2651736B5}"/>
              </a:ext>
            </a:extLst>
          </p:cNvPr>
          <p:cNvSpPr/>
          <p:nvPr/>
        </p:nvSpPr>
        <p:spPr>
          <a:xfrm>
            <a:off x="107504" y="916211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59324A-2326-48B2-B6AA-6531CFB4F777}"/>
              </a:ext>
            </a:extLst>
          </p:cNvPr>
          <p:cNvSpPr/>
          <p:nvPr/>
        </p:nvSpPr>
        <p:spPr>
          <a:xfrm>
            <a:off x="2627784" y="268139"/>
            <a:ext cx="7920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0A892-10C3-4055-A664-18048113AC1B}"/>
              </a:ext>
            </a:extLst>
          </p:cNvPr>
          <p:cNvSpPr/>
          <p:nvPr/>
        </p:nvSpPr>
        <p:spPr>
          <a:xfrm>
            <a:off x="4283968" y="223515"/>
            <a:ext cx="180020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FDC9C-DE16-47CD-BF2F-3C9C8BD6ED0F}"/>
              </a:ext>
            </a:extLst>
          </p:cNvPr>
          <p:cNvSpPr/>
          <p:nvPr/>
        </p:nvSpPr>
        <p:spPr>
          <a:xfrm>
            <a:off x="6804248" y="1015603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1358EACE-6792-4F56-A237-8383A70E5906}"/>
              </a:ext>
            </a:extLst>
          </p:cNvPr>
          <p:cNvSpPr/>
          <p:nvPr/>
        </p:nvSpPr>
        <p:spPr>
          <a:xfrm>
            <a:off x="179512" y="2644403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A2116ECC-46B5-4C62-9267-30AECE0BF488}"/>
              </a:ext>
            </a:extLst>
          </p:cNvPr>
          <p:cNvSpPr/>
          <p:nvPr/>
        </p:nvSpPr>
        <p:spPr>
          <a:xfrm>
            <a:off x="2483768" y="2383755"/>
            <a:ext cx="1944216" cy="1152128"/>
          </a:xfrm>
          <a:prstGeom prst="parallelogram">
            <a:avLst>
              <a:gd name="adj" fmla="val 459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BA625713-34E5-4AB1-8E46-E32E78F79C96}"/>
              </a:ext>
            </a:extLst>
          </p:cNvPr>
          <p:cNvSpPr/>
          <p:nvPr/>
        </p:nvSpPr>
        <p:spPr>
          <a:xfrm>
            <a:off x="4716016" y="2599779"/>
            <a:ext cx="2376264" cy="792088"/>
          </a:xfrm>
          <a:prstGeom prst="parallelogram">
            <a:avLst>
              <a:gd name="adj" fmla="val 8971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44AC3D0-3435-4574-8616-0E509462D2A8}"/>
              </a:ext>
            </a:extLst>
          </p:cNvPr>
          <p:cNvSpPr/>
          <p:nvPr/>
        </p:nvSpPr>
        <p:spPr>
          <a:xfrm>
            <a:off x="323528" y="4084563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8F1DC51-1319-49BD-A33F-8390E5CD233B}"/>
              </a:ext>
            </a:extLst>
          </p:cNvPr>
          <p:cNvSpPr/>
          <p:nvPr/>
        </p:nvSpPr>
        <p:spPr>
          <a:xfrm>
            <a:off x="3419872" y="4084563"/>
            <a:ext cx="1296144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2DD5230-BFA7-4740-898B-8B5CE8E7D457}"/>
              </a:ext>
            </a:extLst>
          </p:cNvPr>
          <p:cNvSpPr/>
          <p:nvPr/>
        </p:nvSpPr>
        <p:spPr>
          <a:xfrm>
            <a:off x="5940152" y="4156571"/>
            <a:ext cx="1944216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66F17-911F-4284-A1B1-0933227C6BCA}"/>
              </a:ext>
            </a:extLst>
          </p:cNvPr>
          <p:cNvSpPr txBox="1"/>
          <p:nvPr/>
        </p:nvSpPr>
        <p:spPr>
          <a:xfrm>
            <a:off x="683568" y="5561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BE29E-4B9E-49EC-BD1F-EAFE889DBB9D}"/>
              </a:ext>
            </a:extLst>
          </p:cNvPr>
          <p:cNvSpPr txBox="1"/>
          <p:nvPr/>
        </p:nvSpPr>
        <p:spPr>
          <a:xfrm>
            <a:off x="1619672" y="98821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FDD7AE-C9CD-4B68-930C-2698DB49EE6C}"/>
              </a:ext>
            </a:extLst>
          </p:cNvPr>
          <p:cNvSpPr txBox="1"/>
          <p:nvPr/>
        </p:nvSpPr>
        <p:spPr>
          <a:xfrm>
            <a:off x="2627784" y="178030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F5505-2FC2-4658-B572-A88B4FB0158B}"/>
              </a:ext>
            </a:extLst>
          </p:cNvPr>
          <p:cNvSpPr txBox="1"/>
          <p:nvPr/>
        </p:nvSpPr>
        <p:spPr>
          <a:xfrm>
            <a:off x="3419872" y="77219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8cm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8431BF-9F5D-4646-AF7C-F9B0ADFAAF81}"/>
              </a:ext>
            </a:extLst>
          </p:cNvPr>
          <p:cNvSpPr txBox="1"/>
          <p:nvPr/>
        </p:nvSpPr>
        <p:spPr>
          <a:xfrm>
            <a:off x="4860032" y="180769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3E804D-779F-49BC-8355-4FAE3700E102}"/>
              </a:ext>
            </a:extLst>
          </p:cNvPr>
          <p:cNvSpPr txBox="1"/>
          <p:nvPr/>
        </p:nvSpPr>
        <p:spPr>
          <a:xfrm>
            <a:off x="6012160" y="36753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15cm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C61BB9-A89D-495F-8BCB-9EC1A7E2B6C9}"/>
              </a:ext>
            </a:extLst>
          </p:cNvPr>
          <p:cNvSpPr txBox="1"/>
          <p:nvPr/>
        </p:nvSpPr>
        <p:spPr>
          <a:xfrm>
            <a:off x="6876256" y="190050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DA7FE-084B-43D4-BE24-95698D56A263}"/>
              </a:ext>
            </a:extLst>
          </p:cNvPr>
          <p:cNvSpPr txBox="1"/>
          <p:nvPr/>
        </p:nvSpPr>
        <p:spPr>
          <a:xfrm>
            <a:off x="5436096" y="331985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30cm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C49721-E0C6-4AED-958D-63132FB00CE0}"/>
              </a:ext>
            </a:extLst>
          </p:cNvPr>
          <p:cNvSpPr txBox="1"/>
          <p:nvPr/>
        </p:nvSpPr>
        <p:spPr>
          <a:xfrm>
            <a:off x="6516216" y="295981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15cm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6B3EC6-C75E-4705-BA62-FFD80334CC07}"/>
              </a:ext>
            </a:extLst>
          </p:cNvPr>
          <p:cNvSpPr txBox="1"/>
          <p:nvPr/>
        </p:nvSpPr>
        <p:spPr>
          <a:xfrm>
            <a:off x="5436096" y="28158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11cm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65F90-6BEC-4231-8D3B-DCACD21CD6B6}"/>
              </a:ext>
            </a:extLst>
          </p:cNvPr>
          <p:cNvSpPr txBox="1"/>
          <p:nvPr/>
        </p:nvSpPr>
        <p:spPr>
          <a:xfrm>
            <a:off x="2195736" y="259977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9cm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FF5224-890F-404D-910F-FE9CCBC1E019}"/>
              </a:ext>
            </a:extLst>
          </p:cNvPr>
          <p:cNvSpPr txBox="1"/>
          <p:nvPr/>
        </p:nvSpPr>
        <p:spPr>
          <a:xfrm>
            <a:off x="2987824" y="346387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20cm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C38DD0-8D31-4F24-BB4E-F428518A0700}"/>
              </a:ext>
            </a:extLst>
          </p:cNvPr>
          <p:cNvSpPr txBox="1"/>
          <p:nvPr/>
        </p:nvSpPr>
        <p:spPr>
          <a:xfrm>
            <a:off x="3347864" y="267178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1235F7-CEFE-47C6-B1AF-A5A979F691C5}"/>
              </a:ext>
            </a:extLst>
          </p:cNvPr>
          <p:cNvSpPr txBox="1"/>
          <p:nvPr/>
        </p:nvSpPr>
        <p:spPr>
          <a:xfrm>
            <a:off x="683568" y="336448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11cm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E232AC-02E5-4C4D-84A1-48D7C44BB921}"/>
              </a:ext>
            </a:extLst>
          </p:cNvPr>
          <p:cNvSpPr txBox="1"/>
          <p:nvPr/>
        </p:nvSpPr>
        <p:spPr>
          <a:xfrm>
            <a:off x="1043608" y="29324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B6630A-DBEA-4DD2-9298-D0A2A2C61C63}"/>
              </a:ext>
            </a:extLst>
          </p:cNvPr>
          <p:cNvSpPr txBox="1"/>
          <p:nvPr/>
        </p:nvSpPr>
        <p:spPr>
          <a:xfrm>
            <a:off x="1043608" y="502066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16cm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79B1AA-B494-4559-A049-EE839FE6D7DE}"/>
              </a:ext>
            </a:extLst>
          </p:cNvPr>
          <p:cNvSpPr txBox="1"/>
          <p:nvPr/>
        </p:nvSpPr>
        <p:spPr>
          <a:xfrm>
            <a:off x="1691680" y="422857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744D3-6427-4C8D-B83D-57E54D2C3588}"/>
              </a:ext>
            </a:extLst>
          </p:cNvPr>
          <p:cNvSpPr txBox="1"/>
          <p:nvPr/>
        </p:nvSpPr>
        <p:spPr>
          <a:xfrm>
            <a:off x="1331640" y="458861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9cm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E590A6-E97A-4ED7-9E67-709D349C9EEF}"/>
              </a:ext>
            </a:extLst>
          </p:cNvPr>
          <p:cNvSpPr txBox="1"/>
          <p:nvPr/>
        </p:nvSpPr>
        <p:spPr>
          <a:xfrm>
            <a:off x="2771800" y="422857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47ECF4-769D-4C13-9C58-B0F245034661}"/>
              </a:ext>
            </a:extLst>
          </p:cNvPr>
          <p:cNvSpPr txBox="1"/>
          <p:nvPr/>
        </p:nvSpPr>
        <p:spPr>
          <a:xfrm>
            <a:off x="3563888" y="5020667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26B1F0-A5DE-4CEC-8D4E-A33BD113992E}"/>
              </a:ext>
            </a:extLst>
          </p:cNvPr>
          <p:cNvSpPr txBox="1"/>
          <p:nvPr/>
        </p:nvSpPr>
        <p:spPr>
          <a:xfrm>
            <a:off x="5364088" y="44446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18cm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14402-2B17-4A6A-96A5-FD53D26E6877}"/>
              </a:ext>
            </a:extLst>
          </p:cNvPr>
          <p:cNvSpPr txBox="1"/>
          <p:nvPr/>
        </p:nvSpPr>
        <p:spPr>
          <a:xfrm>
            <a:off x="6300192" y="509267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20cm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F472C36-AF58-4FFB-9293-51E6799CA522}"/>
              </a:ext>
            </a:extLst>
          </p:cNvPr>
          <p:cNvCxnSpPr/>
          <p:nvPr/>
        </p:nvCxnSpPr>
        <p:spPr>
          <a:xfrm flipV="1">
            <a:off x="1389793" y="4070708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98AA2B0-3F4A-4AC8-B83A-2B3794254E1D}"/>
              </a:ext>
            </a:extLst>
          </p:cNvPr>
          <p:cNvCxnSpPr/>
          <p:nvPr/>
        </p:nvCxnSpPr>
        <p:spPr>
          <a:xfrm flipV="1">
            <a:off x="1115616" y="2572395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F6D99A1-7F35-4276-A2A3-6DF36886A853}"/>
              </a:ext>
            </a:extLst>
          </p:cNvPr>
          <p:cNvCxnSpPr/>
          <p:nvPr/>
        </p:nvCxnSpPr>
        <p:spPr>
          <a:xfrm flipV="1">
            <a:off x="3347864" y="2383755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0779807-30A5-495F-ADFA-1F23178E45F3}"/>
              </a:ext>
            </a:extLst>
          </p:cNvPr>
          <p:cNvCxnSpPr/>
          <p:nvPr/>
        </p:nvCxnSpPr>
        <p:spPr>
          <a:xfrm flipV="1">
            <a:off x="6156176" y="2527771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67E4B0F-3697-4A71-AE76-DDF686915222}"/>
              </a:ext>
            </a:extLst>
          </p:cNvPr>
          <p:cNvSpPr txBox="1"/>
          <p:nvPr/>
        </p:nvSpPr>
        <p:spPr>
          <a:xfrm>
            <a:off x="323528" y="340147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9E118D-AF2C-479A-B69E-B51252DCBAC4}"/>
              </a:ext>
            </a:extLst>
          </p:cNvPr>
          <p:cNvSpPr txBox="1"/>
          <p:nvPr/>
        </p:nvSpPr>
        <p:spPr>
          <a:xfrm>
            <a:off x="2267744" y="196131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00C399-8B71-453A-A532-1B9BC6BF565F}"/>
              </a:ext>
            </a:extLst>
          </p:cNvPr>
          <p:cNvSpPr txBox="1"/>
          <p:nvPr/>
        </p:nvSpPr>
        <p:spPr>
          <a:xfrm>
            <a:off x="3851920" y="151507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A07D9C-EF0D-4148-97C3-8479AB48D417}"/>
              </a:ext>
            </a:extLst>
          </p:cNvPr>
          <p:cNvSpPr txBox="1"/>
          <p:nvPr/>
        </p:nvSpPr>
        <p:spPr>
          <a:xfrm>
            <a:off x="6444208" y="871587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D5BB3D-889D-4B41-A980-FDAF9343FA01}"/>
              </a:ext>
            </a:extLst>
          </p:cNvPr>
          <p:cNvSpPr txBox="1"/>
          <p:nvPr/>
        </p:nvSpPr>
        <p:spPr>
          <a:xfrm>
            <a:off x="179512" y="2428379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C3D839-C01A-4EE8-B6A7-23D22F115BB3}"/>
              </a:ext>
            </a:extLst>
          </p:cNvPr>
          <p:cNvSpPr txBox="1"/>
          <p:nvPr/>
        </p:nvSpPr>
        <p:spPr>
          <a:xfrm>
            <a:off x="2555776" y="2311747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6FA632-956C-4531-AD6F-F0AE8A78C4D5}"/>
              </a:ext>
            </a:extLst>
          </p:cNvPr>
          <p:cNvSpPr txBox="1"/>
          <p:nvPr/>
        </p:nvSpPr>
        <p:spPr>
          <a:xfrm>
            <a:off x="4860032" y="2455763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70B602-4FFE-4790-84C6-10B2CCFB0879}"/>
              </a:ext>
            </a:extLst>
          </p:cNvPr>
          <p:cNvSpPr txBox="1"/>
          <p:nvPr/>
        </p:nvSpPr>
        <p:spPr>
          <a:xfrm>
            <a:off x="467544" y="4084563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8EEA68-67AF-4BD4-BEEA-284C6F929B24}"/>
              </a:ext>
            </a:extLst>
          </p:cNvPr>
          <p:cNvSpPr txBox="1"/>
          <p:nvPr/>
        </p:nvSpPr>
        <p:spPr>
          <a:xfrm>
            <a:off x="2699792" y="3940547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41547C-2430-4D91-8D13-193754C5C540}"/>
              </a:ext>
            </a:extLst>
          </p:cNvPr>
          <p:cNvSpPr txBox="1"/>
          <p:nvPr/>
        </p:nvSpPr>
        <p:spPr>
          <a:xfrm>
            <a:off x="5220072" y="4084563"/>
            <a:ext cx="504056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94D127-4DB3-46EA-942C-93C0D53AC93C}"/>
              </a:ext>
            </a:extLst>
          </p:cNvPr>
          <p:cNvSpPr txBox="1"/>
          <p:nvPr/>
        </p:nvSpPr>
        <p:spPr>
          <a:xfrm>
            <a:off x="7884368" y="34876"/>
            <a:ext cx="1331640" cy="347787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56cm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196cm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330cm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6E1C68C-2D0D-480C-8E70-CB3D5CD6B558}"/>
              </a:ext>
            </a:extLst>
          </p:cNvPr>
          <p:cNvCxnSpPr>
            <a:cxnSpLocks/>
          </p:cNvCxnSpPr>
          <p:nvPr/>
        </p:nvCxnSpPr>
        <p:spPr>
          <a:xfrm>
            <a:off x="6660232" y="1470769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3E63AC-686A-4B2A-ABAF-0DC59E7697AB}"/>
              </a:ext>
            </a:extLst>
          </p:cNvPr>
          <p:cNvCxnSpPr>
            <a:cxnSpLocks/>
          </p:cNvCxnSpPr>
          <p:nvPr/>
        </p:nvCxnSpPr>
        <p:spPr>
          <a:xfrm>
            <a:off x="7524328" y="1470769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27005B6-02A6-4DEC-893F-CAC16B657E1F}"/>
              </a:ext>
            </a:extLst>
          </p:cNvPr>
          <p:cNvCxnSpPr>
            <a:cxnSpLocks/>
          </p:cNvCxnSpPr>
          <p:nvPr/>
        </p:nvCxnSpPr>
        <p:spPr>
          <a:xfrm>
            <a:off x="7228705" y="871191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DB6472-D3D2-4AAF-8281-C70B033A56F6}"/>
              </a:ext>
            </a:extLst>
          </p:cNvPr>
          <p:cNvCxnSpPr>
            <a:cxnSpLocks/>
          </p:cNvCxnSpPr>
          <p:nvPr/>
        </p:nvCxnSpPr>
        <p:spPr>
          <a:xfrm>
            <a:off x="7217839" y="1725415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079700-2501-4552-82E0-0922DE880D63}"/>
                  </a:ext>
                </a:extLst>
              </p14:cNvPr>
              <p14:cNvContentPartPr/>
              <p14:nvPr/>
            </p14:nvContentPartPr>
            <p14:xfrm>
              <a:off x="3421637" y="4957412"/>
              <a:ext cx="144360" cy="11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079700-2501-4552-82E0-0922DE880D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2997" y="4948772"/>
                <a:ext cx="1620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3602A8-1BF8-4569-9BE7-87DA28E4E50B}"/>
                  </a:ext>
                </a:extLst>
              </p14:cNvPr>
              <p14:cNvContentPartPr/>
              <p14:nvPr/>
            </p14:nvContentPartPr>
            <p14:xfrm>
              <a:off x="5947757" y="5027252"/>
              <a:ext cx="165600" cy="13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3602A8-1BF8-4569-9BE7-87DA28E4E5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9117" y="5018252"/>
                <a:ext cx="1832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5E2F14A-D5B2-4A2E-8B3D-2281FCB9E6B1}"/>
                  </a:ext>
                </a:extLst>
              </p14:cNvPr>
              <p14:cNvContentPartPr/>
              <p14:nvPr/>
            </p14:nvContentPartPr>
            <p14:xfrm>
              <a:off x="1385477" y="4966412"/>
              <a:ext cx="186840" cy="134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5E2F14A-D5B2-4A2E-8B3D-2281FCB9E6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6837" y="4957412"/>
                <a:ext cx="20448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48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D42674-F85E-446E-8328-64513CF1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5625B1E-8622-4234-B7BC-6DD9268B1033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3075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86D2D191-4858-4432-AAE4-AF79A4891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BA3D624-71E5-4FC1-9C60-A48C46637821}"/>
              </a:ext>
            </a:extLst>
          </p:cNvPr>
          <p:cNvSpPr/>
          <p:nvPr/>
        </p:nvSpPr>
        <p:spPr>
          <a:xfrm>
            <a:off x="2339975" y="908050"/>
            <a:ext cx="4679950" cy="4321175"/>
          </a:xfrm>
          <a:prstGeom prst="ellips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7FFC9F-95B9-43FA-8961-6A1A51C46948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3E519D46-8EAE-4DDA-9387-2FAF8665A645}"/>
              </a:ext>
            </a:extLst>
          </p:cNvPr>
          <p:cNvSpPr/>
          <p:nvPr/>
        </p:nvSpPr>
        <p:spPr>
          <a:xfrm rot="3236199" flipH="1">
            <a:off x="5827713" y="798513"/>
            <a:ext cx="196850" cy="267335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20A0B68-2BD7-418F-B08B-5DEAB19CBBF7}"/>
              </a:ext>
            </a:extLst>
          </p:cNvPr>
          <p:cNvSpPr txBox="1">
            <a:spLocks/>
          </p:cNvSpPr>
          <p:nvPr/>
        </p:nvSpPr>
        <p:spPr>
          <a:xfrm>
            <a:off x="7092280" y="980728"/>
            <a:ext cx="1728192" cy="57606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200" dirty="0">
                <a:ln w="28575">
                  <a:prstDash val="dash"/>
                </a:ln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CENTRE</a:t>
            </a:r>
            <a:endParaRPr lang="en-GB" sz="3200" dirty="0">
              <a:ln w="28575">
                <a:prstDash val="dash"/>
              </a:ln>
              <a:solidFill>
                <a:srgbClr val="7030A0"/>
              </a:solidFill>
              <a:latin typeface="+mn-lt"/>
              <a:cs typeface="+mn-cs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47733EE-B949-4725-854C-BCDC91A835FB}"/>
              </a:ext>
            </a:extLst>
          </p:cNvPr>
          <p:cNvSpPr txBox="1">
            <a:spLocks/>
          </p:cNvSpPr>
          <p:nvPr/>
        </p:nvSpPr>
        <p:spPr>
          <a:xfrm>
            <a:off x="467544" y="5517232"/>
            <a:ext cx="8136904" cy="108012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000" b="1" i="1" u="sng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</a:t>
            </a:r>
            <a:r>
              <a:rPr lang="en-GB" sz="2000" b="1" i="1" u="sng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centre</a:t>
            </a:r>
            <a:r>
              <a:rPr lang="en-GB" sz="2000" b="1" i="1" u="sng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 of a circle is a fixed point in the middle of the circle. 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000" b="1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distance from the centre of a circle to any point on the circumference  of the circle is always the same. </a:t>
            </a:r>
            <a:endParaRPr lang="en-GB" sz="2000" dirty="0">
              <a:solidFill>
                <a:sysClr val="windowText" lastClr="00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BE3DB8-00C3-4C77-BFAD-EE8BFE08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339D66-FC4C-4C9E-88B6-E4BB2A7F2FA2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4099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66BDCA93-6B1E-4575-8FAA-0C3834FB3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7C4C449-EA94-4388-AB3B-73826DD38270}"/>
              </a:ext>
            </a:extLst>
          </p:cNvPr>
          <p:cNvSpPr/>
          <p:nvPr/>
        </p:nvSpPr>
        <p:spPr>
          <a:xfrm>
            <a:off x="1835150" y="692150"/>
            <a:ext cx="4681538" cy="4321175"/>
          </a:xfrm>
          <a:prstGeom prst="ellipse">
            <a:avLst/>
          </a:prstGeom>
          <a:ln w="57150">
            <a:solidFill>
              <a:srgbClr val="B719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24803A-1FDD-4EA9-8AD9-2D5F53C621F3}"/>
              </a:ext>
            </a:extLst>
          </p:cNvPr>
          <p:cNvSpPr/>
          <p:nvPr/>
        </p:nvSpPr>
        <p:spPr>
          <a:xfrm>
            <a:off x="4140200" y="2636838"/>
            <a:ext cx="144463" cy="14446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61DACCBC-E5CF-4A38-B8FD-B73D1DC21592}"/>
              </a:ext>
            </a:extLst>
          </p:cNvPr>
          <p:cNvSpPr/>
          <p:nvPr/>
        </p:nvSpPr>
        <p:spPr>
          <a:xfrm rot="7631414" flipH="1">
            <a:off x="7135813" y="2903537"/>
            <a:ext cx="228600" cy="202882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D8AC001-5C8E-4DE4-BB3A-B3B88CB142C0}"/>
              </a:ext>
            </a:extLst>
          </p:cNvPr>
          <p:cNvSpPr txBox="1">
            <a:spLocks/>
          </p:cNvSpPr>
          <p:nvPr/>
        </p:nvSpPr>
        <p:spPr>
          <a:xfrm>
            <a:off x="6084168" y="4581128"/>
            <a:ext cx="2952328" cy="28803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prstTxWarp prst="textPlain">
              <a:avLst/>
            </a:prstTxWarp>
            <a:scene3d>
              <a:camera prst="obliqueTopLeft"/>
              <a:lightRig rig="threePt" dir="t"/>
            </a:scene3d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600" dirty="0">
                <a:ln w="28575">
                  <a:prstDash val="dash"/>
                </a:ln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CIRCUMFERENCE</a:t>
            </a:r>
            <a:endParaRPr lang="en-GB" sz="1600" dirty="0">
              <a:ln w="28575">
                <a:prstDash val="dash"/>
              </a:ln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3C290BE-601E-4AFB-A07E-DE0094DCF5AD}"/>
              </a:ext>
            </a:extLst>
          </p:cNvPr>
          <p:cNvSpPr txBox="1">
            <a:spLocks/>
          </p:cNvSpPr>
          <p:nvPr/>
        </p:nvSpPr>
        <p:spPr>
          <a:xfrm>
            <a:off x="395536" y="5302868"/>
            <a:ext cx="8352928" cy="1077865"/>
          </a:xfrm>
          <a:prstGeom prst="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2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circumference of a circle is the edge or perimeter of the circle.</a:t>
            </a:r>
            <a:endParaRPr lang="en-GB" sz="3200" b="1" i="1" u="sng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8863A0-3894-4551-90CA-842AA039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5C0C0E-05F8-4F94-A01E-95FB0F931676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123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975540B2-F589-4038-B9F0-2942ADBC4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0"/>
            <a:ext cx="9144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9F9C080-49AD-4A6A-94A5-368569273C6C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4720C2B-D791-4F57-A741-233865E75AC7}"/>
              </a:ext>
            </a:extLst>
          </p:cNvPr>
          <p:cNvSpPr txBox="1">
            <a:spLocks/>
          </p:cNvSpPr>
          <p:nvPr/>
        </p:nvSpPr>
        <p:spPr>
          <a:xfrm>
            <a:off x="6228184" y="404664"/>
            <a:ext cx="1512168" cy="57606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200" dirty="0">
                <a:ln w="28575">
                  <a:prstDash val="dash"/>
                </a:ln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RADIUS</a:t>
            </a:r>
            <a:endParaRPr lang="en-GB" sz="3200" dirty="0">
              <a:ln w="28575">
                <a:prstDash val="dash"/>
              </a:ln>
              <a:solidFill>
                <a:srgbClr val="7030A0"/>
              </a:solidFill>
              <a:latin typeface="+mn-lt"/>
              <a:cs typeface="+mn-cs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8BC1E8D-249E-4F14-BAE7-8C7D9F0B127A}"/>
              </a:ext>
            </a:extLst>
          </p:cNvPr>
          <p:cNvSpPr txBox="1">
            <a:spLocks/>
          </p:cNvSpPr>
          <p:nvPr/>
        </p:nvSpPr>
        <p:spPr>
          <a:xfrm>
            <a:off x="467544" y="5517232"/>
            <a:ext cx="8136904" cy="1152128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400" b="1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</a:t>
            </a:r>
            <a:r>
              <a:rPr lang="en-GB" sz="24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radius</a:t>
            </a:r>
            <a:r>
              <a:rPr lang="en-GB" sz="2400" b="1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 of a circle is a straight line that has one endpoint on the centre of the circle and the other endpoint on the circumference of the circle.</a:t>
            </a:r>
          </a:p>
        </p:txBody>
      </p:sp>
      <p:grpSp>
        <p:nvGrpSpPr>
          <p:cNvPr id="5127" name="Group 2">
            <a:extLst>
              <a:ext uri="{FF2B5EF4-FFF2-40B4-BE49-F238E27FC236}">
                <a16:creationId xmlns:a16="http://schemas.microsoft.com/office/drawing/2014/main" id="{58D53D0C-7D54-48B4-8D72-CAD416DB6CBE}"/>
              </a:ext>
            </a:extLst>
          </p:cNvPr>
          <p:cNvGrpSpPr>
            <a:grpSpLocks/>
          </p:cNvGrpSpPr>
          <p:nvPr/>
        </p:nvGrpSpPr>
        <p:grpSpPr bwMode="auto">
          <a:xfrm>
            <a:off x="2319338" y="908050"/>
            <a:ext cx="4700587" cy="4321175"/>
            <a:chOff x="2318819" y="908050"/>
            <a:chExt cx="4701106" cy="432117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1AD149-88D0-428C-9066-15DECF638A3A}"/>
                </a:ext>
              </a:extLst>
            </p:cNvPr>
            <p:cNvSpPr/>
            <p:nvPr/>
          </p:nvSpPr>
          <p:spPr>
            <a:xfrm>
              <a:off x="2339458" y="908050"/>
              <a:ext cx="4680467" cy="4321175"/>
            </a:xfrm>
            <a:prstGeom prst="ellipse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5F54E8-E700-48AC-B01F-174B4A36395F}"/>
                </a:ext>
              </a:extLst>
            </p:cNvPr>
            <p:cNvCxnSpPr/>
            <p:nvPr/>
          </p:nvCxnSpPr>
          <p:spPr>
            <a:xfrm flipH="1" flipV="1">
              <a:off x="2318819" y="3001963"/>
              <a:ext cx="2324357" cy="206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own Arrow 14">
            <a:extLst>
              <a:ext uri="{FF2B5EF4-FFF2-40B4-BE49-F238E27FC236}">
                <a16:creationId xmlns:a16="http://schemas.microsoft.com/office/drawing/2014/main" id="{16F1EB07-9626-486D-99C4-64B3CC677180}"/>
              </a:ext>
            </a:extLst>
          </p:cNvPr>
          <p:cNvSpPr/>
          <p:nvPr/>
        </p:nvSpPr>
        <p:spPr>
          <a:xfrm rot="3236199" flipH="1">
            <a:off x="4978400" y="482600"/>
            <a:ext cx="195263" cy="306546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2968E0-9B8F-4801-A45A-9065ED2A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E360847-9126-4AD5-B597-D9FA759C6FA3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6147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9B190398-CCF2-4840-9229-DC68172A8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8717220-B523-4A87-99D1-9405296DEFF8}"/>
              </a:ext>
            </a:extLst>
          </p:cNvPr>
          <p:cNvSpPr/>
          <p:nvPr/>
        </p:nvSpPr>
        <p:spPr>
          <a:xfrm>
            <a:off x="2339975" y="908050"/>
            <a:ext cx="4679950" cy="4321175"/>
          </a:xfrm>
          <a:prstGeom prst="ellips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204413-3572-46D2-8F74-F154B5DE1248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7809E3D1-41D0-4D72-ABB4-E97E5BC3819B}"/>
              </a:ext>
            </a:extLst>
          </p:cNvPr>
          <p:cNvSpPr/>
          <p:nvPr/>
        </p:nvSpPr>
        <p:spPr>
          <a:xfrm rot="19403390" flipH="1">
            <a:off x="3211513" y="604838"/>
            <a:ext cx="233362" cy="2335212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54CD884-F678-4C6D-AC2B-253CE963B975}"/>
              </a:ext>
            </a:extLst>
          </p:cNvPr>
          <p:cNvSpPr txBox="1">
            <a:spLocks/>
          </p:cNvSpPr>
          <p:nvPr/>
        </p:nvSpPr>
        <p:spPr>
          <a:xfrm>
            <a:off x="467544" y="404664"/>
            <a:ext cx="2016224" cy="57606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200" dirty="0">
                <a:ln w="28575">
                  <a:prstDash val="dash"/>
                </a:ln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DIAMETER</a:t>
            </a:r>
            <a:endParaRPr lang="en-GB" sz="3200" dirty="0">
              <a:ln w="28575">
                <a:prstDash val="dash"/>
              </a:ln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5834FC9-1653-438D-9540-9F802767D1F6}"/>
              </a:ext>
            </a:extLst>
          </p:cNvPr>
          <p:cNvSpPr txBox="1">
            <a:spLocks/>
          </p:cNvSpPr>
          <p:nvPr/>
        </p:nvSpPr>
        <p:spPr>
          <a:xfrm>
            <a:off x="467544" y="5517232"/>
            <a:ext cx="8352928" cy="1152128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000" b="1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</a:t>
            </a:r>
            <a:r>
              <a:rPr lang="en-GB" sz="20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diameter</a:t>
            </a:r>
            <a:r>
              <a:rPr lang="en-GB" sz="2000" b="1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 of a circle is a straight line that passes through the centre of the circle and has both endpoints on the circumference of the circle.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000" b="1" i="1" u="sng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The </a:t>
            </a:r>
            <a:r>
              <a:rPr lang="en-GB" sz="2000" b="1" i="1" u="sng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diameter</a:t>
            </a:r>
            <a:r>
              <a:rPr lang="en-GB" sz="2000" b="1" i="1" u="sng" dirty="0">
                <a:ln w="1905"/>
                <a:solidFill>
                  <a:sysClr val="windowText" lastClr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+mn-cs"/>
              </a:rPr>
              <a:t> of a circle is twice as long as the radius of the circle.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BB10AB-DE92-47E9-A549-C7033AB7E432}"/>
              </a:ext>
            </a:extLst>
          </p:cNvPr>
          <p:cNvCxnSpPr/>
          <p:nvPr/>
        </p:nvCxnSpPr>
        <p:spPr>
          <a:xfrm flipH="1" flipV="1">
            <a:off x="2484438" y="2276475"/>
            <a:ext cx="4464050" cy="14398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Circumference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FF0000"/>
                </a:solidFill>
              </a:rPr>
              <a:t>Circle edge/perimeter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Radius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FF0000"/>
                </a:solidFill>
              </a:rPr>
              <a:t>From center of the circle to outside edge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Diameter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FF0000"/>
                </a:solidFill>
              </a:rPr>
              <a:t>Straight line through the center, edge to edge</a:t>
            </a:r>
          </a:p>
          <a:p>
            <a:pPr>
              <a:buFontTx/>
              <a:buChar char="-"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Diameter is twice the length of its radius  </a:t>
            </a:r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261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Circumference </a:t>
            </a:r>
          </a:p>
          <a:p>
            <a:pPr>
              <a:buFontTx/>
              <a:buChar char="-"/>
            </a:pPr>
            <a:r>
              <a:rPr lang="en-US" sz="2800" dirty="0"/>
              <a:t>Circle edge/perimeter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Radius </a:t>
            </a:r>
          </a:p>
          <a:p>
            <a:pPr>
              <a:buFontTx/>
              <a:buChar char="-"/>
            </a:pPr>
            <a:r>
              <a:rPr lang="en-US" sz="2800" dirty="0"/>
              <a:t>From center of the circle to outside edge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Diameter </a:t>
            </a:r>
          </a:p>
          <a:p>
            <a:pPr>
              <a:buFontTx/>
              <a:buChar char="-"/>
            </a:pPr>
            <a:r>
              <a:rPr lang="en-US" sz="2800" dirty="0"/>
              <a:t>Straight line through the center, edge to edge</a:t>
            </a:r>
          </a:p>
          <a:p>
            <a:pPr>
              <a:buFontTx/>
              <a:buChar char="-"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Diameter is twice the length of its radius  </a:t>
            </a:r>
            <a:endParaRPr lang="en-AU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10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46BEA-2D44-4B02-9860-4FFEFF57B8E2}"/>
              </a:ext>
            </a:extLst>
          </p:cNvPr>
          <p:cNvSpPr/>
          <p:nvPr/>
        </p:nvSpPr>
        <p:spPr>
          <a:xfrm>
            <a:off x="827584" y="2204864"/>
            <a:ext cx="33123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E24F0-0B63-489F-9E06-24B79A06B6CD}"/>
              </a:ext>
            </a:extLst>
          </p:cNvPr>
          <p:cNvSpPr/>
          <p:nvPr/>
        </p:nvSpPr>
        <p:spPr>
          <a:xfrm>
            <a:off x="814514" y="3657265"/>
            <a:ext cx="598973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05F49-BC47-46A0-82EF-97B7694C1376}"/>
              </a:ext>
            </a:extLst>
          </p:cNvPr>
          <p:cNvSpPr/>
          <p:nvPr/>
        </p:nvSpPr>
        <p:spPr>
          <a:xfrm>
            <a:off x="848814" y="5277467"/>
            <a:ext cx="660350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7DC64-5620-4A49-9791-2C86529D7A1A}"/>
              </a:ext>
            </a:extLst>
          </p:cNvPr>
          <p:cNvSpPr/>
          <p:nvPr/>
        </p:nvSpPr>
        <p:spPr>
          <a:xfrm>
            <a:off x="2267744" y="6204291"/>
            <a:ext cx="417646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5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A948-CBD7-46B3-98EE-23CEE3E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on the calculator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872CD-13E2-4139-87A4-620AA2788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Add to back of notes page.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                      ⇒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872CD-13E2-4139-87A4-620AA278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EB0B4-66E9-4E47-932A-9AC1254C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11</a:t>
            </a:fld>
            <a:endParaRPr lang="en-GB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61E5B-96F6-4ECB-BD50-AD2D76349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564904"/>
            <a:ext cx="1698789" cy="957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B2FCFC-B508-45E3-8B10-F81786D15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28" y="2326260"/>
            <a:ext cx="1439744" cy="12224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A7B988-04C2-4E96-B0BF-A53CB486D399}"/>
              </a:ext>
            </a:extLst>
          </p:cNvPr>
          <p:cNvSpPr/>
          <p:nvPr/>
        </p:nvSpPr>
        <p:spPr>
          <a:xfrm>
            <a:off x="454266" y="2186335"/>
            <a:ext cx="5770984" cy="165618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5728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930749-8627-4531-8F76-2882F338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1204C0-C817-43F9-8D2F-714B01187820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1267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E7AAF618-6DC2-436C-BEF7-C03059A87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03013CA-01A9-478C-9087-BF436BEAE901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9C147F2-7DAB-4C37-8BBD-D905AC0DBF4F}"/>
              </a:ext>
            </a:extLst>
          </p:cNvPr>
          <p:cNvSpPr txBox="1">
            <a:spLocks/>
          </p:cNvSpPr>
          <p:nvPr/>
        </p:nvSpPr>
        <p:spPr>
          <a:xfrm>
            <a:off x="466974" y="722312"/>
            <a:ext cx="8352928" cy="5323791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1272" name="TextBox 1">
            <a:extLst>
              <a:ext uri="{FF2B5EF4-FFF2-40B4-BE49-F238E27FC236}">
                <a16:creationId xmlns:a16="http://schemas.microsoft.com/office/drawing/2014/main" id="{672E80DE-EC39-4A6F-B39E-69BF345C8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/>
              <a:t>Finding the circumference of a circle (the perimeter</a:t>
            </a:r>
            <a:r>
              <a:rPr lang="en-GB" altLang="en-US" sz="2400"/>
              <a:t>)</a:t>
            </a:r>
            <a:endParaRPr lang="en-GB" altLang="en-US" sz="3200"/>
          </a:p>
        </p:txBody>
      </p:sp>
      <p:sp>
        <p:nvSpPr>
          <p:cNvPr id="11273" name="Rectangle 2">
            <a:extLst>
              <a:ext uri="{FF2B5EF4-FFF2-40B4-BE49-F238E27FC236}">
                <a16:creationId xmlns:a16="http://schemas.microsoft.com/office/drawing/2014/main" id="{50D2E147-20A2-496B-9DA5-46464B6D3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070100"/>
            <a:ext cx="7345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b="1"/>
              <a:t>Find the circumference of a circle, given the diameter: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F6DF38D-DAC0-42DC-83EE-C6C14FDA6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96988"/>
            <a:ext cx="2814637" cy="561975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2400" b="1" dirty="0"/>
              <a:t>Example 1</a:t>
            </a:r>
          </a:p>
        </p:txBody>
      </p:sp>
      <p:grpSp>
        <p:nvGrpSpPr>
          <p:cNvPr id="11275" name="Group 10">
            <a:extLst>
              <a:ext uri="{FF2B5EF4-FFF2-40B4-BE49-F238E27FC236}">
                <a16:creationId xmlns:a16="http://schemas.microsoft.com/office/drawing/2014/main" id="{318C1A22-602E-432D-BA15-5FF9218F99B5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2473325"/>
            <a:ext cx="3132137" cy="3116263"/>
            <a:chOff x="755650" y="3068638"/>
            <a:chExt cx="3600450" cy="3600450"/>
          </a:xfrm>
        </p:grpSpPr>
        <p:sp>
          <p:nvSpPr>
            <p:cNvPr id="11278" name="AutoShape 4">
              <a:extLst>
                <a:ext uri="{FF2B5EF4-FFF2-40B4-BE49-F238E27FC236}">
                  <a16:creationId xmlns:a16="http://schemas.microsoft.com/office/drawing/2014/main" id="{B737B79E-00B7-405B-BB4E-5EF1560C6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1279" name="Line 8">
              <a:extLst>
                <a:ext uri="{FF2B5EF4-FFF2-40B4-BE49-F238E27FC236}">
                  <a16:creationId xmlns:a16="http://schemas.microsoft.com/office/drawing/2014/main" id="{506813E0-C2FE-4674-A0AF-DFA422448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088" y="4724400"/>
              <a:ext cx="3529012" cy="215900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280" name="Text Box 9">
              <a:extLst>
                <a:ext uri="{FF2B5EF4-FFF2-40B4-BE49-F238E27FC236}">
                  <a16:creationId xmlns:a16="http://schemas.microsoft.com/office/drawing/2014/main" id="{85FC0E93-90B2-409A-92A4-A9D9A4513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0475">
              <a:off x="2124075" y="4219575"/>
              <a:ext cx="19431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4cm</a:t>
              </a:r>
            </a:p>
          </p:txBody>
        </p:sp>
        <p:sp>
          <p:nvSpPr>
            <p:cNvPr id="11281" name="Rectangle 16">
              <a:extLst>
                <a:ext uri="{FF2B5EF4-FFF2-40B4-BE49-F238E27FC236}">
                  <a16:creationId xmlns:a16="http://schemas.microsoft.com/office/drawing/2014/main" id="{9319A39B-F28D-4EE0-8C92-C7CDAC1FA3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0007">
              <a:off x="1977872" y="4942651"/>
              <a:ext cx="115441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/>
                <a:t>diameter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A45E39A9-6A01-4360-9F45-CEA5F3B5C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50" y="2654300"/>
            <a:ext cx="3529013" cy="1252538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Circumference </a:t>
            </a:r>
          </a:p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diameter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6CA1C24A-6ACA-4C20-9935-759F860C3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067175"/>
            <a:ext cx="3757612" cy="1900238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Circumference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 = </a:t>
            </a:r>
            <a:r>
              <a:rPr lang="el-GR" altLang="en-US" sz="3200" b="1"/>
              <a:t>π</a:t>
            </a:r>
            <a:r>
              <a:rPr lang="en-GB" altLang="en-US" sz="3200" b="1"/>
              <a:t> </a:t>
            </a:r>
            <a:r>
              <a:rPr lang="en-US" altLang="en-US" sz="3200" b="1"/>
              <a:t>× 4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 b="1"/>
              <a:t> = </a:t>
            </a:r>
            <a:r>
              <a:rPr lang="en-US" altLang="en-US" sz="3200" b="1">
                <a:solidFill>
                  <a:srgbClr val="0070C0"/>
                </a:solidFill>
              </a:rPr>
              <a:t>12·6cm (1 d.p.)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5495D3-3B0A-4494-9966-6B3E8D5A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208B01-DA06-4EA1-A2E4-3786620D62B0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2291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BC9F328D-A351-413A-B5C8-8FE66B896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6E65F8B-0E69-435B-8E02-DE8DF65954AC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C50F6AC-6661-4CB9-9BC4-F6F5B7D24E53}"/>
              </a:ext>
            </a:extLst>
          </p:cNvPr>
          <p:cNvSpPr txBox="1">
            <a:spLocks/>
          </p:cNvSpPr>
          <p:nvPr/>
        </p:nvSpPr>
        <p:spPr>
          <a:xfrm>
            <a:off x="436092" y="697210"/>
            <a:ext cx="8352928" cy="561211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2296" name="TextBox 1">
            <a:extLst>
              <a:ext uri="{FF2B5EF4-FFF2-40B4-BE49-F238E27FC236}">
                <a16:creationId xmlns:a16="http://schemas.microsoft.com/office/drawing/2014/main" id="{2966DAAB-A4E0-408E-A73A-39387E440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/>
              <a:t>Finding the circumference of a circle (the perimeter</a:t>
            </a:r>
            <a:r>
              <a:rPr lang="en-GB" altLang="en-US" sz="2400"/>
              <a:t>)</a:t>
            </a:r>
            <a:endParaRPr lang="en-GB" altLang="en-US" sz="3200"/>
          </a:p>
        </p:txBody>
      </p:sp>
      <p:sp>
        <p:nvSpPr>
          <p:cNvPr id="12297" name="Rectangle 2">
            <a:extLst>
              <a:ext uri="{FF2B5EF4-FFF2-40B4-BE49-F238E27FC236}">
                <a16:creationId xmlns:a16="http://schemas.microsoft.com/office/drawing/2014/main" id="{208B2929-845F-4912-AD40-78738A34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070100"/>
            <a:ext cx="7345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b="1"/>
              <a:t>Find the circumference of a circle, given the radius: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9B600CD-C0CC-4F35-8B2F-FA60D1F66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1296988"/>
            <a:ext cx="2813050" cy="561975"/>
          </a:xfrm>
          <a:prstGeom prst="rect">
            <a:avLst/>
          </a:prstGeom>
          <a:solidFill>
            <a:schemeClr val="bg1">
              <a:lumMod val="85000"/>
            </a:schemeClr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2400" b="1" dirty="0"/>
              <a:t>Example 2</a:t>
            </a:r>
          </a:p>
        </p:txBody>
      </p:sp>
      <p:grpSp>
        <p:nvGrpSpPr>
          <p:cNvPr id="12299" name="Group 19">
            <a:extLst>
              <a:ext uri="{FF2B5EF4-FFF2-40B4-BE49-F238E27FC236}">
                <a16:creationId xmlns:a16="http://schemas.microsoft.com/office/drawing/2014/main" id="{EE08BFEB-E146-4F94-92EE-440519DE0EDF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2574925"/>
            <a:ext cx="3370262" cy="3230563"/>
            <a:chOff x="755650" y="3068638"/>
            <a:chExt cx="3889375" cy="3600450"/>
          </a:xfrm>
        </p:grpSpPr>
        <p:sp>
          <p:nvSpPr>
            <p:cNvPr id="12302" name="AutoShape 4">
              <a:extLst>
                <a:ext uri="{FF2B5EF4-FFF2-40B4-BE49-F238E27FC236}">
                  <a16:creationId xmlns:a16="http://schemas.microsoft.com/office/drawing/2014/main" id="{27008D4D-C391-4FE0-8A1A-C447D57E6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2303" name="Line 11">
              <a:extLst>
                <a:ext uri="{FF2B5EF4-FFF2-40B4-BE49-F238E27FC236}">
                  <a16:creationId xmlns:a16="http://schemas.microsoft.com/office/drawing/2014/main" id="{3CF9A9D5-201F-4E76-B700-CA8CBC7CF6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304" name="Text Box 12">
              <a:extLst>
                <a:ext uri="{FF2B5EF4-FFF2-40B4-BE49-F238E27FC236}">
                  <a16:creationId xmlns:a16="http://schemas.microsoft.com/office/drawing/2014/main" id="{EC33E05E-2F4F-4BA3-BFD9-EB2430A85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701925" y="4174821"/>
              <a:ext cx="1943100" cy="583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2cm</a:t>
              </a:r>
            </a:p>
          </p:txBody>
        </p:sp>
        <p:sp>
          <p:nvSpPr>
            <p:cNvPr id="12305" name="AutoShape 13">
              <a:extLst>
                <a:ext uri="{FF2B5EF4-FFF2-40B4-BE49-F238E27FC236}">
                  <a16:creationId xmlns:a16="http://schemas.microsoft.com/office/drawing/2014/main" id="{977BD817-9D85-4E6E-8C09-FF496AA11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2306" name="Rectangle 24">
              <a:extLst>
                <a:ext uri="{FF2B5EF4-FFF2-40B4-BE49-F238E27FC236}">
                  <a16:creationId xmlns:a16="http://schemas.microsoft.com/office/drawing/2014/main" id="{B6252ECC-2080-4680-AFC8-1AF077F55B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936161" y="4811121"/>
              <a:ext cx="9682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B48D20E0-2BFC-4E8C-91A3-3AADAC0CC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2514600"/>
            <a:ext cx="3529013" cy="1547813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Circumference </a:t>
            </a:r>
          </a:p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diameter</a:t>
            </a:r>
          </a:p>
          <a:p>
            <a:pPr>
              <a:buFontTx/>
              <a:buNone/>
              <a:defRPr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 x 2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4CF38D5B-ABF9-4631-9072-5B82A02C7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5" y="4192588"/>
            <a:ext cx="3109913" cy="1828800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400" b="1"/>
              <a:t>Circumference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2400" b="1"/>
              <a:t> = </a:t>
            </a:r>
            <a:r>
              <a:rPr lang="el-GR" altLang="en-US" sz="2400" b="1"/>
              <a:t>π</a:t>
            </a:r>
            <a:r>
              <a:rPr lang="en-GB" altLang="en-US" sz="2400" b="1"/>
              <a:t> </a:t>
            </a:r>
            <a:r>
              <a:rPr lang="en-US" altLang="en-US" sz="2400" b="1"/>
              <a:t>× (2 x 2)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b="1"/>
              <a:t> = </a:t>
            </a:r>
            <a:r>
              <a:rPr lang="el-GR" altLang="en-US" sz="2400" b="1"/>
              <a:t>π</a:t>
            </a:r>
            <a:r>
              <a:rPr lang="en-GB" altLang="en-US" sz="2400" b="1"/>
              <a:t> </a:t>
            </a:r>
            <a:r>
              <a:rPr lang="en-US" altLang="en-US" sz="2400" b="1"/>
              <a:t>× 4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b="1"/>
              <a:t> = </a:t>
            </a:r>
            <a:r>
              <a:rPr lang="en-US" altLang="en-US" sz="2400" b="1">
                <a:solidFill>
                  <a:srgbClr val="0070C0"/>
                </a:solidFill>
              </a:rPr>
              <a:t>12.6cm (1 d.p.)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04F4-808B-4EDD-8D07-0C44334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of notes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C4EDF-038B-43A2-9E62-55D812A4C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Using ANY formula: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8F6C-3335-4DCA-BF1B-AA7E7CB9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95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33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6300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1259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6300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6326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70DE6-33D4-47B2-8581-52335333ECB7}"/>
              </a:ext>
            </a:extLst>
          </p:cNvPr>
          <p:cNvSpPr txBox="1"/>
          <p:nvPr/>
        </p:nvSpPr>
        <p:spPr>
          <a:xfrm>
            <a:off x="868110" y="31248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DB443-CAEF-4D62-A486-D4DEDFCE3303}"/>
              </a:ext>
            </a:extLst>
          </p:cNvPr>
          <p:cNvSpPr txBox="1"/>
          <p:nvPr/>
        </p:nvSpPr>
        <p:spPr>
          <a:xfrm>
            <a:off x="7061448" y="340607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911050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33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6300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1259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6300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6326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FF819-E0BD-4A72-9EE0-AB7274563FD9}"/>
              </a:ext>
            </a:extLst>
          </p:cNvPr>
          <p:cNvSpPr txBox="1"/>
          <p:nvPr/>
        </p:nvSpPr>
        <p:spPr>
          <a:xfrm>
            <a:off x="868110" y="31248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17BCA-0988-4208-943F-5EF0D5609D53}"/>
              </a:ext>
            </a:extLst>
          </p:cNvPr>
          <p:cNvSpPr txBox="1"/>
          <p:nvPr/>
        </p:nvSpPr>
        <p:spPr>
          <a:xfrm>
            <a:off x="7071750" y="342900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96222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3433B7-0303-41B7-911B-AE317E29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3C4E5D-00B7-4159-AB5D-7CE798869338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3315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E7610B91-89D8-42AC-A088-1114E8ABB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7CFABA4-84E6-45B5-B39F-2F9F89CFDFDF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31C72F-DA4E-4F1C-AE3B-4534FF138FB4}"/>
              </a:ext>
            </a:extLst>
          </p:cNvPr>
          <p:cNvSpPr txBox="1">
            <a:spLocks/>
          </p:cNvSpPr>
          <p:nvPr/>
        </p:nvSpPr>
        <p:spPr>
          <a:xfrm>
            <a:off x="359125" y="223536"/>
            <a:ext cx="8352928" cy="6073488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3320" name="TextBox 6">
            <a:extLst>
              <a:ext uri="{FF2B5EF4-FFF2-40B4-BE49-F238E27FC236}">
                <a16:creationId xmlns:a16="http://schemas.microsoft.com/office/drawing/2014/main" id="{840B2BB9-3182-42EC-8A00-49F284745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22275"/>
            <a:ext cx="806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/>
              <a:t>Finding the circumference of a circle (the perimeter</a:t>
            </a:r>
            <a:r>
              <a:rPr lang="en-GB" altLang="en-US" sz="2400"/>
              <a:t>)</a:t>
            </a:r>
            <a:endParaRPr lang="en-GB" altLang="en-US" sz="320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F2B89F-7DAA-4A32-B563-0814840A6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66788"/>
            <a:ext cx="3529012" cy="1547812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Circumference </a:t>
            </a:r>
          </a:p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diameter</a:t>
            </a:r>
          </a:p>
          <a:p>
            <a:pPr>
              <a:buFontTx/>
              <a:buNone/>
              <a:defRPr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 x 2</a:t>
            </a:r>
          </a:p>
        </p:txBody>
      </p:sp>
      <p:grpSp>
        <p:nvGrpSpPr>
          <p:cNvPr id="13322" name="Group 9">
            <a:extLst>
              <a:ext uri="{FF2B5EF4-FFF2-40B4-BE49-F238E27FC236}">
                <a16:creationId xmlns:a16="http://schemas.microsoft.com/office/drawing/2014/main" id="{A20433EE-8C62-4C4C-9695-5D09F5ADD36B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2657475"/>
            <a:ext cx="1955800" cy="1995488"/>
            <a:chOff x="755650" y="3068638"/>
            <a:chExt cx="3600450" cy="3600450"/>
          </a:xfrm>
        </p:grpSpPr>
        <p:sp>
          <p:nvSpPr>
            <p:cNvPr id="13340" name="AutoShape 4">
              <a:extLst>
                <a:ext uri="{FF2B5EF4-FFF2-40B4-BE49-F238E27FC236}">
                  <a16:creationId xmlns:a16="http://schemas.microsoft.com/office/drawing/2014/main" id="{105D675E-3276-487C-A28C-3DF23E679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41" name="Line 8">
              <a:extLst>
                <a:ext uri="{FF2B5EF4-FFF2-40B4-BE49-F238E27FC236}">
                  <a16:creationId xmlns:a16="http://schemas.microsoft.com/office/drawing/2014/main" id="{082F93C0-7014-4105-9828-6066F8170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088" y="4724400"/>
              <a:ext cx="3529012" cy="215900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42" name="Text Box 9">
              <a:extLst>
                <a:ext uri="{FF2B5EF4-FFF2-40B4-BE49-F238E27FC236}">
                  <a16:creationId xmlns:a16="http://schemas.microsoft.com/office/drawing/2014/main" id="{A5EF2EC1-C9E7-4ED4-8E11-50F678A0C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0475">
              <a:off x="1620041" y="3684679"/>
              <a:ext cx="1943099" cy="943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3cm</a:t>
              </a:r>
            </a:p>
          </p:txBody>
        </p:sp>
        <p:sp>
          <p:nvSpPr>
            <p:cNvPr id="13343" name="Rectangle 15">
              <a:extLst>
                <a:ext uri="{FF2B5EF4-FFF2-40B4-BE49-F238E27FC236}">
                  <a16:creationId xmlns:a16="http://schemas.microsoft.com/office/drawing/2014/main" id="{0C4165F7-2D08-4C81-AABD-4AFCB96BC1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0007">
              <a:off x="1589689" y="5025269"/>
              <a:ext cx="1154420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/>
                <a:t>diameter</a:t>
              </a:r>
            </a:p>
          </p:txBody>
        </p:sp>
      </p:grpSp>
      <p:grpSp>
        <p:nvGrpSpPr>
          <p:cNvPr id="13323" name="Group 16">
            <a:extLst>
              <a:ext uri="{FF2B5EF4-FFF2-40B4-BE49-F238E27FC236}">
                <a16:creationId xmlns:a16="http://schemas.microsoft.com/office/drawing/2014/main" id="{4C18D5D3-64B0-4E8F-B71D-17DB5178893C}"/>
              </a:ext>
            </a:extLst>
          </p:cNvPr>
          <p:cNvGrpSpPr>
            <a:grpSpLocks/>
          </p:cNvGrpSpPr>
          <p:nvPr/>
        </p:nvGrpSpPr>
        <p:grpSpPr bwMode="auto">
          <a:xfrm>
            <a:off x="4735513" y="2706688"/>
            <a:ext cx="1954212" cy="1997075"/>
            <a:chOff x="755650" y="3068638"/>
            <a:chExt cx="3600450" cy="3600450"/>
          </a:xfrm>
        </p:grpSpPr>
        <p:sp>
          <p:nvSpPr>
            <p:cNvPr id="13336" name="AutoShape 4">
              <a:extLst>
                <a:ext uri="{FF2B5EF4-FFF2-40B4-BE49-F238E27FC236}">
                  <a16:creationId xmlns:a16="http://schemas.microsoft.com/office/drawing/2014/main" id="{0BDCBF1C-2373-4087-8BBE-AB415B0D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37" name="Line 8">
              <a:extLst>
                <a:ext uri="{FF2B5EF4-FFF2-40B4-BE49-F238E27FC236}">
                  <a16:creationId xmlns:a16="http://schemas.microsoft.com/office/drawing/2014/main" id="{C58C7FFA-2601-44AC-AE46-4C93838BB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088" y="4724400"/>
              <a:ext cx="3529012" cy="215900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38" name="Text Box 9">
              <a:extLst>
                <a:ext uri="{FF2B5EF4-FFF2-40B4-BE49-F238E27FC236}">
                  <a16:creationId xmlns:a16="http://schemas.microsoft.com/office/drawing/2014/main" id="{1DB7D140-3ECD-453E-9A1F-2B8556D25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30475">
              <a:off x="1620041" y="3684679"/>
              <a:ext cx="1943099" cy="943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6cm</a:t>
              </a:r>
            </a:p>
          </p:txBody>
        </p:sp>
        <p:sp>
          <p:nvSpPr>
            <p:cNvPr id="13339" name="Rectangle 20">
              <a:extLst>
                <a:ext uri="{FF2B5EF4-FFF2-40B4-BE49-F238E27FC236}">
                  <a16:creationId xmlns:a16="http://schemas.microsoft.com/office/drawing/2014/main" id="{55C94805-5E45-43EF-9D1D-F228358DD0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0007">
              <a:off x="1589689" y="5025269"/>
              <a:ext cx="1154420" cy="40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/>
                <a:t>diameter</a:t>
              </a:r>
            </a:p>
          </p:txBody>
        </p:sp>
      </p:grpSp>
      <p:grpSp>
        <p:nvGrpSpPr>
          <p:cNvPr id="13324" name="Group 21">
            <a:extLst>
              <a:ext uri="{FF2B5EF4-FFF2-40B4-BE49-F238E27FC236}">
                <a16:creationId xmlns:a16="http://schemas.microsoft.com/office/drawing/2014/main" id="{535713BB-319F-40CC-BBA9-C6718427C37B}"/>
              </a:ext>
            </a:extLst>
          </p:cNvPr>
          <p:cNvGrpSpPr>
            <a:grpSpLocks/>
          </p:cNvGrpSpPr>
          <p:nvPr/>
        </p:nvGrpSpPr>
        <p:grpSpPr bwMode="auto">
          <a:xfrm>
            <a:off x="2703513" y="2678113"/>
            <a:ext cx="1958975" cy="1974850"/>
            <a:chOff x="755650" y="3068638"/>
            <a:chExt cx="3598862" cy="3600450"/>
          </a:xfrm>
        </p:grpSpPr>
        <p:sp>
          <p:nvSpPr>
            <p:cNvPr id="13331" name="AutoShape 4">
              <a:extLst>
                <a:ext uri="{FF2B5EF4-FFF2-40B4-BE49-F238E27FC236}">
                  <a16:creationId xmlns:a16="http://schemas.microsoft.com/office/drawing/2014/main" id="{F82EC324-B8C1-4CFC-92AC-E6B9F4BC7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2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32" name="Line 11">
              <a:extLst>
                <a:ext uri="{FF2B5EF4-FFF2-40B4-BE49-F238E27FC236}">
                  <a16:creationId xmlns:a16="http://schemas.microsoft.com/office/drawing/2014/main" id="{EB568DFD-BD0A-4187-B2EC-0D64CF12D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33" name="Text Box 12">
              <a:extLst>
                <a:ext uri="{FF2B5EF4-FFF2-40B4-BE49-F238E27FC236}">
                  <a16:creationId xmlns:a16="http://schemas.microsoft.com/office/drawing/2014/main" id="{0A54F148-DE6C-4C06-90EC-8C4901460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62243" y="3754262"/>
              <a:ext cx="1943100" cy="84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b="1"/>
                <a:t>1.5cm</a:t>
              </a:r>
            </a:p>
          </p:txBody>
        </p:sp>
        <p:sp>
          <p:nvSpPr>
            <p:cNvPr id="13334" name="AutoShape 13">
              <a:extLst>
                <a:ext uri="{FF2B5EF4-FFF2-40B4-BE49-F238E27FC236}">
                  <a16:creationId xmlns:a16="http://schemas.microsoft.com/office/drawing/2014/main" id="{B12E216F-9864-4D89-81D6-21619D5E2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3335" name="Rectangle 26">
              <a:extLst>
                <a:ext uri="{FF2B5EF4-FFF2-40B4-BE49-F238E27FC236}">
                  <a16:creationId xmlns:a16="http://schemas.microsoft.com/office/drawing/2014/main" id="{2E479E83-0E3A-4B0B-92C0-820610C8C9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406847" y="4905612"/>
              <a:ext cx="968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grpSp>
        <p:nvGrpSpPr>
          <p:cNvPr id="13325" name="Group 28">
            <a:extLst>
              <a:ext uri="{FF2B5EF4-FFF2-40B4-BE49-F238E27FC236}">
                <a16:creationId xmlns:a16="http://schemas.microsoft.com/office/drawing/2014/main" id="{68CA8143-4C14-4966-9FA4-C8E905EABBAD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2706688"/>
            <a:ext cx="1958975" cy="1976437"/>
            <a:chOff x="755650" y="3068638"/>
            <a:chExt cx="3598862" cy="3600450"/>
          </a:xfrm>
        </p:grpSpPr>
        <p:sp>
          <p:nvSpPr>
            <p:cNvPr id="13326" name="AutoShape 4">
              <a:extLst>
                <a:ext uri="{FF2B5EF4-FFF2-40B4-BE49-F238E27FC236}">
                  <a16:creationId xmlns:a16="http://schemas.microsoft.com/office/drawing/2014/main" id="{B25345E1-9B47-4CFA-B626-F748F7751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2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3327" name="Line 11">
              <a:extLst>
                <a:ext uri="{FF2B5EF4-FFF2-40B4-BE49-F238E27FC236}">
                  <a16:creationId xmlns:a16="http://schemas.microsoft.com/office/drawing/2014/main" id="{A7132D2D-457D-44C1-8F9C-6A9150A2A5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28" name="Text Box 12">
              <a:extLst>
                <a:ext uri="{FF2B5EF4-FFF2-40B4-BE49-F238E27FC236}">
                  <a16:creationId xmlns:a16="http://schemas.microsoft.com/office/drawing/2014/main" id="{DDB7C498-729D-4E0F-B20D-6EFE15997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62243" y="3754262"/>
              <a:ext cx="1943100" cy="84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400" b="1"/>
                <a:t>3.5cm</a:t>
              </a:r>
            </a:p>
          </p:txBody>
        </p:sp>
        <p:sp>
          <p:nvSpPr>
            <p:cNvPr id="13329" name="AutoShape 13">
              <a:extLst>
                <a:ext uri="{FF2B5EF4-FFF2-40B4-BE49-F238E27FC236}">
                  <a16:creationId xmlns:a16="http://schemas.microsoft.com/office/drawing/2014/main" id="{6583E1E6-E9F1-4D55-A54D-7779FC0D8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3330" name="Rectangle 33">
              <a:extLst>
                <a:ext uri="{FF2B5EF4-FFF2-40B4-BE49-F238E27FC236}">
                  <a16:creationId xmlns:a16="http://schemas.microsoft.com/office/drawing/2014/main" id="{711B2FB9-3FCC-4E72-9825-89934F8DA9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406847" y="4905612"/>
              <a:ext cx="968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8FA554-134C-4200-9538-4EF3169357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838658"/>
                  </p:ext>
                </p:extLst>
              </p:nvPr>
            </p:nvGraphicFramePr>
            <p:xfrm>
              <a:off x="467544" y="5078753"/>
              <a:ext cx="8185996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6499">
                      <a:extLst>
                        <a:ext uri="{9D8B030D-6E8A-4147-A177-3AD203B41FA5}">
                          <a16:colId xmlns:a16="http://schemas.microsoft.com/office/drawing/2014/main" val="3703658525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2066685349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948785952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5521505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𝟒𝟐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𝟒𝟐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𝟗𝟗</m:t>
                                </m:r>
                                <m:r>
                                  <a:rPr lang="en-AU" sz="2000" b="1" i="1" smtClean="0"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A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3615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D88FA554-134C-4200-9538-4EF3169357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838658"/>
                  </p:ext>
                </p:extLst>
              </p:nvPr>
            </p:nvGraphicFramePr>
            <p:xfrm>
              <a:off x="467544" y="5078753"/>
              <a:ext cx="8185996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6499">
                      <a:extLst>
                        <a:ext uri="{9D8B030D-6E8A-4147-A177-3AD203B41FA5}">
                          <a16:colId xmlns:a16="http://schemas.microsoft.com/office/drawing/2014/main" val="3703658525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2066685349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948785952"/>
                        </a:ext>
                      </a:extLst>
                    </a:gridCol>
                    <a:gridCol w="2046499">
                      <a:extLst>
                        <a:ext uri="{9D8B030D-6E8A-4147-A177-3AD203B41FA5}">
                          <a16:colId xmlns:a16="http://schemas.microsoft.com/office/drawing/2014/main" val="15521505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" t="-1515" r="-3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8" t="-1515" r="-2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298" t="-1515" r="-10119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298" t="-1515" r="-1190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3615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1313348-F12D-4DDC-ACED-EE1B55CCFB59}"/>
              </a:ext>
            </a:extLst>
          </p:cNvPr>
          <p:cNvSpPr txBox="1"/>
          <p:nvPr/>
        </p:nvSpPr>
        <p:spPr>
          <a:xfrm>
            <a:off x="5364088" y="1124744"/>
            <a:ext cx="2126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DO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Exercise books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400A1E-5A28-4C0C-8C2A-6EFD2A2D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6B97D7-24FE-482D-88C8-6EEC2EA9079B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4339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BD5B1681-1740-467E-A256-AB06152FF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4E8F4B8-13E1-4B1E-8493-170EF6583D75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CCAA2EA-0058-48AC-AB7A-C213ED2D6D7A}"/>
              </a:ext>
            </a:extLst>
          </p:cNvPr>
          <p:cNvSpPr txBox="1">
            <a:spLocks/>
          </p:cNvSpPr>
          <p:nvPr/>
        </p:nvSpPr>
        <p:spPr>
          <a:xfrm>
            <a:off x="395536" y="717177"/>
            <a:ext cx="8352928" cy="5323791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4344" name="TextBox 1">
            <a:extLst>
              <a:ext uri="{FF2B5EF4-FFF2-40B4-BE49-F238E27FC236}">
                <a16:creationId xmlns:a16="http://schemas.microsoft.com/office/drawing/2014/main" id="{B16056D5-7CBC-498C-BA1F-BA2B3BC94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 dirty="0"/>
              <a:t>Finding the area of a circle </a:t>
            </a:r>
            <a:endParaRPr lang="en-GB" altLang="en-US" sz="3200" dirty="0"/>
          </a:p>
        </p:txBody>
      </p:sp>
      <p:grpSp>
        <p:nvGrpSpPr>
          <p:cNvPr id="14345" name="Group 19">
            <a:extLst>
              <a:ext uri="{FF2B5EF4-FFF2-40B4-BE49-F238E27FC236}">
                <a16:creationId xmlns:a16="http://schemas.microsoft.com/office/drawing/2014/main" id="{839D9DA7-8173-4B13-88C8-6DB7BF2C02A8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1922463"/>
            <a:ext cx="3371850" cy="3228975"/>
            <a:chOff x="755650" y="3068638"/>
            <a:chExt cx="3889375" cy="3600450"/>
          </a:xfrm>
        </p:grpSpPr>
        <p:sp>
          <p:nvSpPr>
            <p:cNvPr id="14348" name="AutoShape 4">
              <a:extLst>
                <a:ext uri="{FF2B5EF4-FFF2-40B4-BE49-F238E27FC236}">
                  <a16:creationId xmlns:a16="http://schemas.microsoft.com/office/drawing/2014/main" id="{67F36229-743A-415A-B058-22447E1E5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4349" name="Line 11">
              <a:extLst>
                <a:ext uri="{FF2B5EF4-FFF2-40B4-BE49-F238E27FC236}">
                  <a16:creationId xmlns:a16="http://schemas.microsoft.com/office/drawing/2014/main" id="{B88D4595-BCCA-45DE-91EA-CFDC7FD9F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350" name="Text Box 12">
              <a:extLst>
                <a:ext uri="{FF2B5EF4-FFF2-40B4-BE49-F238E27FC236}">
                  <a16:creationId xmlns:a16="http://schemas.microsoft.com/office/drawing/2014/main" id="{2941873E-E27B-4096-81A4-9A84E175A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701925" y="4174821"/>
              <a:ext cx="1943100" cy="583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4cm</a:t>
              </a:r>
            </a:p>
          </p:txBody>
        </p:sp>
        <p:sp>
          <p:nvSpPr>
            <p:cNvPr id="14351" name="AutoShape 13">
              <a:extLst>
                <a:ext uri="{FF2B5EF4-FFF2-40B4-BE49-F238E27FC236}">
                  <a16:creationId xmlns:a16="http://schemas.microsoft.com/office/drawing/2014/main" id="{5A5076DE-5C8D-4AE6-96AD-4BA94DDF5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4352" name="Rectangle 24">
              <a:extLst>
                <a:ext uri="{FF2B5EF4-FFF2-40B4-BE49-F238E27FC236}">
                  <a16:creationId xmlns:a16="http://schemas.microsoft.com/office/drawing/2014/main" id="{80B610D9-0390-468A-8A47-4916FF195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936161" y="4811121"/>
              <a:ext cx="9682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F9E7B09B-3D18-4BF2-9BC4-CFF79991D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677988"/>
            <a:ext cx="3529012" cy="1252537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Area </a:t>
            </a:r>
          </a:p>
          <a:p>
            <a:pPr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</a:t>
            </a:r>
            <a:r>
              <a:rPr lang="en-US" altLang="en-US" b="1" baseline="30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2</a:t>
            </a:r>
            <a:endParaRPr lang="en-US" altLang="en-US" b="1" dirty="0">
              <a:solidFill>
                <a:schemeClr val="tx2">
                  <a:lumMod val="75000"/>
                </a:schemeClr>
              </a:solidFill>
              <a:cs typeface="Arial" charset="0"/>
            </a:endParaRPr>
          </a:p>
          <a:p>
            <a:pPr>
              <a:buFontTx/>
              <a:buNone/>
              <a:defRPr/>
            </a:pPr>
            <a:endParaRPr lang="en-US" altLang="en-US" b="1" dirty="0">
              <a:cs typeface="Arial" charset="0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73ED611E-3E91-4775-9DCC-748ABD658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3176588"/>
            <a:ext cx="4176712" cy="2332037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Area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 = </a:t>
            </a:r>
            <a:r>
              <a:rPr lang="el-GR" altLang="en-US" sz="3200" b="1"/>
              <a:t>π</a:t>
            </a:r>
            <a:r>
              <a:rPr lang="en-GB" altLang="en-US" sz="3200" b="1"/>
              <a:t> </a:t>
            </a:r>
            <a:r>
              <a:rPr lang="en-US" altLang="en-US" sz="3200" b="1"/>
              <a:t>× 4</a:t>
            </a:r>
            <a:r>
              <a:rPr lang="en-US" altLang="en-US" sz="3200" b="1" baseline="30000"/>
              <a:t>2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 sz="3200" b="1"/>
              <a:t> = </a:t>
            </a:r>
            <a:r>
              <a:rPr lang="el-GR" altLang="en-US" sz="3200" b="1"/>
              <a:t>π</a:t>
            </a:r>
            <a:r>
              <a:rPr lang="en-GB" altLang="en-US" sz="3200" b="1"/>
              <a:t> </a:t>
            </a:r>
            <a:r>
              <a:rPr lang="en-US" altLang="en-US" sz="3200" b="1"/>
              <a:t>× 16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 b="1"/>
              <a:t> = </a:t>
            </a:r>
            <a:r>
              <a:rPr lang="en-US" altLang="en-US" sz="3200" b="1">
                <a:solidFill>
                  <a:srgbClr val="0070C0"/>
                </a:solidFill>
              </a:rPr>
              <a:t>50·2 cm</a:t>
            </a:r>
            <a:r>
              <a:rPr lang="en-US" altLang="en-US" sz="3200" b="1" baseline="30000">
                <a:solidFill>
                  <a:srgbClr val="0070C0"/>
                </a:solidFill>
              </a:rPr>
              <a:t>2</a:t>
            </a:r>
            <a:r>
              <a:rPr lang="en-US" altLang="en-US" sz="3200" b="1">
                <a:solidFill>
                  <a:srgbClr val="0070C0"/>
                </a:solidFill>
              </a:rPr>
              <a:t> (1 d.p.)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231EF9-5832-422E-B5A5-0CD0C822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BBFDF4-CB0C-4F7A-B222-2DEC1AF3D190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5363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11C8E72F-A5B2-4482-B14E-09C1BEA9A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687D3E0-84D4-467E-A5AD-091865361D59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5213948-E659-4E85-B658-2D515809A04E}"/>
              </a:ext>
            </a:extLst>
          </p:cNvPr>
          <p:cNvSpPr txBox="1">
            <a:spLocks/>
          </p:cNvSpPr>
          <p:nvPr/>
        </p:nvSpPr>
        <p:spPr>
          <a:xfrm>
            <a:off x="319774" y="710431"/>
            <a:ext cx="8352928" cy="5323791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5368" name="TextBox 1">
            <a:extLst>
              <a:ext uri="{FF2B5EF4-FFF2-40B4-BE49-F238E27FC236}">
                <a16:creationId xmlns:a16="http://schemas.microsoft.com/office/drawing/2014/main" id="{4C194E73-3174-4069-89FB-32BC563FA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836613"/>
            <a:ext cx="8064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400" b="1" u="sng" dirty="0"/>
              <a:t>Finding the area of a circle </a:t>
            </a:r>
            <a:endParaRPr lang="en-GB" altLang="en-US" sz="3200" dirty="0"/>
          </a:p>
        </p:txBody>
      </p:sp>
      <p:grpSp>
        <p:nvGrpSpPr>
          <p:cNvPr id="15369" name="Group 19">
            <a:extLst>
              <a:ext uri="{FF2B5EF4-FFF2-40B4-BE49-F238E27FC236}">
                <a16:creationId xmlns:a16="http://schemas.microsoft.com/office/drawing/2014/main" id="{7DAC3E1F-1CB9-4A34-8CEF-7BFA3925F4CE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2995613"/>
            <a:ext cx="2136775" cy="2155825"/>
            <a:chOff x="755650" y="3068638"/>
            <a:chExt cx="3598863" cy="3600450"/>
          </a:xfrm>
        </p:grpSpPr>
        <p:sp>
          <p:nvSpPr>
            <p:cNvPr id="15383" name="AutoShape 4">
              <a:extLst>
                <a:ext uri="{FF2B5EF4-FFF2-40B4-BE49-F238E27FC236}">
                  <a16:creationId xmlns:a16="http://schemas.microsoft.com/office/drawing/2014/main" id="{F97175AC-A1CA-48A5-AD89-CC7D0011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84" name="Line 11">
              <a:extLst>
                <a:ext uri="{FF2B5EF4-FFF2-40B4-BE49-F238E27FC236}">
                  <a16:creationId xmlns:a16="http://schemas.microsoft.com/office/drawing/2014/main" id="{A9415957-1072-4E14-A845-4DB9D870D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85" name="Text Box 12">
              <a:extLst>
                <a:ext uri="{FF2B5EF4-FFF2-40B4-BE49-F238E27FC236}">
                  <a16:creationId xmlns:a16="http://schemas.microsoft.com/office/drawing/2014/main" id="{BF70EAEA-590B-4731-889E-132EAD13B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93412" y="3921093"/>
              <a:ext cx="1943101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5cm</a:t>
              </a:r>
            </a:p>
          </p:txBody>
        </p:sp>
        <p:sp>
          <p:nvSpPr>
            <p:cNvPr id="15386" name="AutoShape 13">
              <a:extLst>
                <a:ext uri="{FF2B5EF4-FFF2-40B4-BE49-F238E27FC236}">
                  <a16:creationId xmlns:a16="http://schemas.microsoft.com/office/drawing/2014/main" id="{A049A125-E8FD-40F1-8B90-D7E1A165B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87" name="Rectangle 24">
              <a:extLst>
                <a:ext uri="{FF2B5EF4-FFF2-40B4-BE49-F238E27FC236}">
                  <a16:creationId xmlns:a16="http://schemas.microsoft.com/office/drawing/2014/main" id="{66D87A0D-411E-4AB3-967F-74581DD333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501109" y="5075447"/>
              <a:ext cx="968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9E74CCC9-12BF-4FAF-B577-6253A3948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1298575"/>
            <a:ext cx="3529013" cy="1252538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Area </a:t>
            </a:r>
          </a:p>
          <a:p>
            <a:pPr>
              <a:defRPr/>
            </a:pP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el-GR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π</a:t>
            </a:r>
            <a:r>
              <a:rPr lang="en-GB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× radius</a:t>
            </a:r>
            <a:r>
              <a:rPr lang="en-US" altLang="en-US" b="1" baseline="30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2</a:t>
            </a:r>
            <a:endParaRPr lang="en-US" altLang="en-US" b="1" dirty="0">
              <a:solidFill>
                <a:schemeClr val="tx2">
                  <a:lumMod val="75000"/>
                </a:schemeClr>
              </a:solidFill>
              <a:cs typeface="Arial" charset="0"/>
            </a:endParaRPr>
          </a:p>
          <a:p>
            <a:pPr>
              <a:buFontTx/>
              <a:buNone/>
              <a:defRPr/>
            </a:pPr>
            <a:endParaRPr lang="en-US" altLang="en-US" b="1" dirty="0">
              <a:cs typeface="Arial" charset="0"/>
            </a:endParaRPr>
          </a:p>
        </p:txBody>
      </p:sp>
      <p:grpSp>
        <p:nvGrpSpPr>
          <p:cNvPr id="15371" name="Group 14">
            <a:extLst>
              <a:ext uri="{FF2B5EF4-FFF2-40B4-BE49-F238E27FC236}">
                <a16:creationId xmlns:a16="http://schemas.microsoft.com/office/drawing/2014/main" id="{5B164119-40D1-4E4D-BA61-01AED5A3D5D1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2995613"/>
            <a:ext cx="2138363" cy="2155825"/>
            <a:chOff x="755650" y="3068638"/>
            <a:chExt cx="3598863" cy="3600450"/>
          </a:xfrm>
        </p:grpSpPr>
        <p:sp>
          <p:nvSpPr>
            <p:cNvPr id="15378" name="AutoShape 4">
              <a:extLst>
                <a:ext uri="{FF2B5EF4-FFF2-40B4-BE49-F238E27FC236}">
                  <a16:creationId xmlns:a16="http://schemas.microsoft.com/office/drawing/2014/main" id="{0F834CEC-F21D-4F09-A64B-37278671F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79" name="Line 11">
              <a:extLst>
                <a:ext uri="{FF2B5EF4-FFF2-40B4-BE49-F238E27FC236}">
                  <a16:creationId xmlns:a16="http://schemas.microsoft.com/office/drawing/2014/main" id="{42FC3A2C-7C7B-476B-A691-672DFEC47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80" name="Text Box 12">
              <a:extLst>
                <a:ext uri="{FF2B5EF4-FFF2-40B4-BE49-F238E27FC236}">
                  <a16:creationId xmlns:a16="http://schemas.microsoft.com/office/drawing/2014/main" id="{B42CF293-DE9D-453C-987E-F70DFA0BE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1726707" y="3929560"/>
              <a:ext cx="2409963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4.5cm</a:t>
              </a:r>
            </a:p>
          </p:txBody>
        </p:sp>
        <p:sp>
          <p:nvSpPr>
            <p:cNvPr id="15381" name="AutoShape 13">
              <a:extLst>
                <a:ext uri="{FF2B5EF4-FFF2-40B4-BE49-F238E27FC236}">
                  <a16:creationId xmlns:a16="http://schemas.microsoft.com/office/drawing/2014/main" id="{654DAF80-4769-41CA-8744-11BAF44BB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82" name="Rectangle 27">
              <a:extLst>
                <a:ext uri="{FF2B5EF4-FFF2-40B4-BE49-F238E27FC236}">
                  <a16:creationId xmlns:a16="http://schemas.microsoft.com/office/drawing/2014/main" id="{D3D99CCB-383E-4DAE-8DA2-72C2D9BB7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501109" y="5075447"/>
              <a:ext cx="968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p:grpSp>
        <p:nvGrpSpPr>
          <p:cNvPr id="15372" name="Group 28">
            <a:extLst>
              <a:ext uri="{FF2B5EF4-FFF2-40B4-BE49-F238E27FC236}">
                <a16:creationId xmlns:a16="http://schemas.microsoft.com/office/drawing/2014/main" id="{8B29BB75-8FA7-48CA-9B1D-5CEA71C4442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2973388"/>
            <a:ext cx="2136775" cy="2155825"/>
            <a:chOff x="755650" y="3068638"/>
            <a:chExt cx="3598863" cy="3600450"/>
          </a:xfrm>
        </p:grpSpPr>
        <p:sp>
          <p:nvSpPr>
            <p:cNvPr id="15373" name="AutoShape 4">
              <a:extLst>
                <a:ext uri="{FF2B5EF4-FFF2-40B4-BE49-F238E27FC236}">
                  <a16:creationId xmlns:a16="http://schemas.microsoft.com/office/drawing/2014/main" id="{DDDDE84C-4107-44E2-814B-9C34EF343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068638"/>
              <a:ext cx="3598863" cy="36004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76" y="10800"/>
                  </a:moveTo>
                  <a:cubicBezTo>
                    <a:pt x="376" y="16557"/>
                    <a:pt x="5043" y="21224"/>
                    <a:pt x="10800" y="21224"/>
                  </a:cubicBezTo>
                  <a:cubicBezTo>
                    <a:pt x="16557" y="21224"/>
                    <a:pt x="21224" y="16557"/>
                    <a:pt x="21224" y="10800"/>
                  </a:cubicBezTo>
                  <a:cubicBezTo>
                    <a:pt x="21224" y="5043"/>
                    <a:pt x="16557" y="376"/>
                    <a:pt x="10800" y="376"/>
                  </a:cubicBezTo>
                  <a:cubicBezTo>
                    <a:pt x="5043" y="376"/>
                    <a:pt x="376" y="5043"/>
                    <a:pt x="376" y="1080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74" name="Line 11">
              <a:extLst>
                <a:ext uri="{FF2B5EF4-FFF2-40B4-BE49-F238E27FC236}">
                  <a16:creationId xmlns:a16="http://schemas.microsoft.com/office/drawing/2014/main" id="{11931851-F9BF-4E1D-BBD9-CC004C65C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5875" y="4725988"/>
              <a:ext cx="1728788" cy="71437"/>
            </a:xfrm>
            <a:prstGeom prst="line">
              <a:avLst/>
            </a:prstGeom>
            <a:noFill/>
            <a:ln w="730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5" name="Text Box 12">
              <a:extLst>
                <a:ext uri="{FF2B5EF4-FFF2-40B4-BE49-F238E27FC236}">
                  <a16:creationId xmlns:a16="http://schemas.microsoft.com/office/drawing/2014/main" id="{F2EF5742-3997-403D-8DED-89E3DAA8E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25715">
              <a:off x="2193412" y="3921093"/>
              <a:ext cx="1943101" cy="873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800" b="1"/>
                <a:t>12cm</a:t>
              </a:r>
            </a:p>
          </p:txBody>
        </p:sp>
        <p:sp>
          <p:nvSpPr>
            <p:cNvPr id="15376" name="AutoShape 13">
              <a:extLst>
                <a:ext uri="{FF2B5EF4-FFF2-40B4-BE49-F238E27FC236}">
                  <a16:creationId xmlns:a16="http://schemas.microsoft.com/office/drawing/2014/main" id="{C6D33B85-2A26-43D9-A88D-BE362B93B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4725988"/>
              <a:ext cx="142875" cy="142875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77" name="Rectangle 33">
              <a:extLst>
                <a:ext uri="{FF2B5EF4-FFF2-40B4-BE49-F238E27FC236}">
                  <a16:creationId xmlns:a16="http://schemas.microsoft.com/office/drawing/2014/main" id="{12064343-9A47-4C1C-B0F3-D453130712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68319">
              <a:off x="2501109" y="5075447"/>
              <a:ext cx="9682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/>
                <a:t>radius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5A17488-6AD7-492A-A202-D144DA002E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733267"/>
                  </p:ext>
                </p:extLst>
              </p:nvPr>
            </p:nvGraphicFramePr>
            <p:xfrm>
              <a:off x="611560" y="5545677"/>
              <a:ext cx="7776864" cy="55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2288">
                      <a:extLst>
                        <a:ext uri="{9D8B030D-6E8A-4147-A177-3AD203B41FA5}">
                          <a16:colId xmlns:a16="http://schemas.microsoft.com/office/drawing/2014/main" val="2290796796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1771317723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2300529776"/>
                        </a:ext>
                      </a:extLst>
                    </a:gridCol>
                  </a:tblGrid>
                  <a:tr h="5599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𝟕𝟖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𝟓𝟒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𝟔𝟑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𝟔𝟐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𝟒𝟓𝟐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𝟑𝟗</m:t>
                                </m:r>
                                <m:sSup>
                                  <m:sSupPr>
                                    <m:ctrlP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𝒄𝒎</m:t>
                                    </m:r>
                                  </m:e>
                                  <m:sup>
                                    <m:r>
                                      <a:rPr lang="en-AU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745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5A17488-6AD7-492A-A202-D144DA002E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733267"/>
                  </p:ext>
                </p:extLst>
              </p:nvPr>
            </p:nvGraphicFramePr>
            <p:xfrm>
              <a:off x="611560" y="5545677"/>
              <a:ext cx="7776864" cy="5599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2288">
                      <a:extLst>
                        <a:ext uri="{9D8B030D-6E8A-4147-A177-3AD203B41FA5}">
                          <a16:colId xmlns:a16="http://schemas.microsoft.com/office/drawing/2014/main" val="2290796796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1771317723"/>
                        </a:ext>
                      </a:extLst>
                    </a:gridCol>
                    <a:gridCol w="2592288">
                      <a:extLst>
                        <a:ext uri="{9D8B030D-6E8A-4147-A177-3AD203B41FA5}">
                          <a16:colId xmlns:a16="http://schemas.microsoft.com/office/drawing/2014/main" val="2300529776"/>
                        </a:ext>
                      </a:extLst>
                    </a:gridCol>
                  </a:tblGrid>
                  <a:tr h="559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" t="-1075" r="-200704" b="-4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71" t="-1075" r="-101176" b="-4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75" r="-939" b="-4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74585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A8EA21-0B40-48A3-ACCF-36C64181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50" y="6492875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F8FFC2-692B-4F5E-8819-6D5300A9395E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6387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3D6F2875-9743-40FA-8200-C70F68CA6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D81C9B6-EF7A-49D4-8619-3AB8E97DBDD3}"/>
              </a:ext>
            </a:extLst>
          </p:cNvPr>
          <p:cNvSpPr/>
          <p:nvPr/>
        </p:nvSpPr>
        <p:spPr>
          <a:xfrm>
            <a:off x="4643438" y="2924175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2DEC276-7AFC-4CA5-B1CD-6A8A2783C8B8}"/>
              </a:ext>
            </a:extLst>
          </p:cNvPr>
          <p:cNvSpPr txBox="1">
            <a:spLocks/>
          </p:cNvSpPr>
          <p:nvPr/>
        </p:nvSpPr>
        <p:spPr>
          <a:xfrm>
            <a:off x="466974" y="235832"/>
            <a:ext cx="8352928" cy="348120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GB" sz="2800" b="1" i="1" u="sng" dirty="0">
              <a:ln w="1905"/>
              <a:solidFill>
                <a:sysClr val="windowText" lastClr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n-lt"/>
              <a:cs typeface="+mn-cs"/>
            </a:endParaRPr>
          </a:p>
        </p:txBody>
      </p:sp>
      <p:sp>
        <p:nvSpPr>
          <p:cNvPr id="16392" name="TextBox 1">
            <a:extLst>
              <a:ext uri="{FF2B5EF4-FFF2-40B4-BE49-F238E27FC236}">
                <a16:creationId xmlns:a16="http://schemas.microsoft.com/office/drawing/2014/main" id="{9C75A115-E574-45DE-A57B-DB91617F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0350"/>
            <a:ext cx="80645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200" b="1" u="sng" dirty="0"/>
              <a:t>Success Criteria:</a:t>
            </a:r>
          </a:p>
          <a:p>
            <a:pPr eaLnBrk="1" hangingPunct="1"/>
            <a:r>
              <a:rPr lang="en-GB" altLang="en-US" sz="3200" dirty="0"/>
              <a:t>Identify the diameter and radius</a:t>
            </a:r>
          </a:p>
          <a:p>
            <a:pPr eaLnBrk="1" hangingPunct="1"/>
            <a:r>
              <a:rPr lang="en-GB" altLang="en-US" sz="3200" dirty="0"/>
              <a:t>Choose the </a:t>
            </a:r>
            <a:r>
              <a:rPr lang="en-GB" altLang="en-US" sz="3200"/>
              <a:t>correct formula</a:t>
            </a:r>
            <a:endParaRPr lang="en-GB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644</Words>
  <Application>Microsoft Office PowerPoint</Application>
  <PresentationFormat>On-screen Show (4:3)</PresentationFormat>
  <Paragraphs>217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</vt:lpstr>
      <vt:lpstr>Office Theme</vt:lpstr>
      <vt:lpstr>Lesson objective </vt:lpstr>
      <vt:lpstr>Base and height are always perpendicular to each other</vt:lpstr>
      <vt:lpstr>New notes page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features </vt:lpstr>
      <vt:lpstr>Key features </vt:lpstr>
      <vt:lpstr>Pi on the calculator  </vt:lpstr>
      <vt:lpstr>PowerPoint Presentation</vt:lpstr>
      <vt:lpstr>PowerPoint Presentation</vt:lpstr>
      <vt:lpstr>Back of notes </vt:lpstr>
      <vt:lpstr>I do </vt:lpstr>
      <vt:lpstr>we do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Kirsty Barnett</dc:creator>
  <cp:lastModifiedBy>DAVIES Rhys [Busselton Senior High School]</cp:lastModifiedBy>
  <cp:revision>45</cp:revision>
  <dcterms:created xsi:type="dcterms:W3CDTF">2012-02-19T12:09:27Z</dcterms:created>
  <dcterms:modified xsi:type="dcterms:W3CDTF">2022-05-03T00:18:59Z</dcterms:modified>
</cp:coreProperties>
</file>
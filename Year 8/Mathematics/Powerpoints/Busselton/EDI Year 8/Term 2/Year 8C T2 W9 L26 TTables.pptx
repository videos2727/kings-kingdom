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13" r:id="rId2"/>
    <p:sldId id="320" r:id="rId3"/>
    <p:sldId id="329" r:id="rId4"/>
    <p:sldId id="330" r:id="rId5"/>
    <p:sldId id="322" r:id="rId6"/>
    <p:sldId id="314" r:id="rId7"/>
    <p:sldId id="323" r:id="rId8"/>
    <p:sldId id="324" r:id="rId9"/>
    <p:sldId id="325" r:id="rId10"/>
    <p:sldId id="311" r:id="rId11"/>
    <p:sldId id="309" r:id="rId12"/>
    <p:sldId id="33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3033C-6C18-4DCA-AB0A-3EFC3F7F12C7}" type="datetimeFigureOut">
              <a:rPr lang="en-AU" smtClean="0"/>
              <a:t>22/06/2022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0EFCE-020D-4124-9866-3B2DF08480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4162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ymr.co.uk/planning-your-visit/line-guide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5374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466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If desired, you could show details of each stop at </a:t>
            </a:r>
            <a:r>
              <a:rPr lang="en-GB" sz="1200" u="sng" dirty="0">
                <a:solidFill>
                  <a:srgbClr val="0000FF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http://www.nymr.co.uk/planning-your-visit/line-guide/</a:t>
            </a:r>
            <a:r>
              <a:rPr lang="en-GB" sz="1200" u="sng" dirty="0">
                <a:solidFill>
                  <a:srgbClr val="0000FF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3978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Agree what time the family will arrive and what time they need to depart. 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4905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Some children may feel confident in jumping from 11:100 to 17:30 in one jump.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30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Practice Sheet on this slide is suitable for most children.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Differentiated PRACTICE WORKSHEETS are available on Hamilton’s website in this unit’s PROCEDURAL FLUENCY box.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WT/ARE/GD: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 a fictional timetable, including calculating elapsed times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(Sheet 1).</a:t>
            </a:r>
            <a:endParaRPr lang="en-GB" dirty="0">
              <a:solidFill>
                <a:srgbClr val="25374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748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5374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508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926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Observe and support children making jottings on an empty number line.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Children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can now go on to do differentiated GROUP ACTIVITIES. You can find Hamilton’s group activities in this unit’s TEACHING AND GROUP ACTIVITIES download.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WT/ARE/GD: 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‘counting on’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 number line as a strategy for adding a time duration to a start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2598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Practice Sheet on this slide is suitable for most children.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Differentiated PRACTICE WORKSHEETS are available on Hamilton’s website in this unit’s PROCEDURAL FLUENCY box.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WT/ARE/GD: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 start times and an elapsed time, find journey end times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(Sheet 1).</a:t>
            </a:r>
            <a:endParaRPr lang="en-GB" dirty="0">
              <a:solidFill>
                <a:srgbClr val="25374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9023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You can now use the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Mastery: Reasoning and Problem-Solving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 to assess children’s success across this unit.  Go to the next slide.</a:t>
            </a:r>
            <a:endParaRPr lang="en-GB" b="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5374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506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46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08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13BC91-F6D0-4DC8-B0B8-6E7E7FAB6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655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1000">
              <a:schemeClr val="bg1">
                <a:lumMod val="95000"/>
              </a:schemeClr>
            </a:gs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Year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EE811-478C-4958-8104-2A70B5A19611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386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709488" y="6367376"/>
            <a:ext cx="719921" cy="365125"/>
          </a:xfrm>
        </p:spPr>
        <p:txBody>
          <a:bodyPr/>
          <a:lstStyle/>
          <a:p>
            <a:pPr defTabSz="457200"/>
            <a:fld id="{BA0EE811-478C-4958-8104-2A70B5A19611}" type="slidenum">
              <a:rPr lang="en-GB">
                <a:solidFill>
                  <a:srgbClr val="EA7600"/>
                </a:solidFill>
                <a:latin typeface="Calibri" panose="020F0502020204030204"/>
              </a:rPr>
              <a:pPr defTabSz="457200"/>
              <a:t>1</a:t>
            </a:fld>
            <a:endParaRPr lang="en-GB" dirty="0">
              <a:solidFill>
                <a:srgbClr val="EA7600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9677ED-5C54-4353-B94F-C526DD00205C}"/>
              </a:ext>
            </a:extLst>
          </p:cNvPr>
          <p:cNvSpPr txBox="1"/>
          <p:nvPr/>
        </p:nvSpPr>
        <p:spPr>
          <a:xfrm>
            <a:off x="1264327" y="1681188"/>
            <a:ext cx="9690815" cy="3064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spcAft>
                <a:spcPts val="450"/>
              </a:spcAft>
              <a:buClr>
                <a:srgbClr val="ED7D31"/>
              </a:buClr>
            </a:pPr>
            <a:r>
              <a:rPr lang="en-US" sz="3200" b="1" dirty="0">
                <a:solidFill>
                  <a:srgbClr val="00B0F0"/>
                </a:solidFill>
                <a:latin typeface="Calibri" panose="020F0502020204030204"/>
              </a:rPr>
              <a:t>Aim:</a:t>
            </a:r>
            <a:endParaRPr lang="en-GB" sz="2800" b="1" dirty="0">
              <a:solidFill>
                <a:srgbClr val="00B0F0"/>
              </a:solidFill>
              <a:latin typeface="Calibri" panose="020F0502020204030204"/>
            </a:endParaRPr>
          </a:p>
          <a:p>
            <a:pPr marL="342900" indent="-342900" defTabSz="457200">
              <a:spcAft>
                <a:spcPts val="1000"/>
              </a:spcAft>
              <a:buClr>
                <a:srgbClr val="EA7600"/>
              </a:buClr>
              <a:buSzPct val="120000"/>
              <a:buFont typeface="Wingdings" panose="05000000000000000000" pitchFamily="2" charset="2"/>
              <a:buChar char="q"/>
            </a:pPr>
            <a:r>
              <a:rPr lang="en-GB" sz="2800" b="1" dirty="0">
                <a:solidFill>
                  <a:srgbClr val="00B0F0"/>
                </a:solidFill>
                <a:latin typeface="Calibri" panose="020F0502020204030204"/>
              </a:rPr>
              <a:t> Read timetables using the 24-hour clock.                                             </a:t>
            </a:r>
          </a:p>
          <a:p>
            <a:pPr marL="342900" indent="-342900" defTabSz="457200">
              <a:spcAft>
                <a:spcPts val="1000"/>
              </a:spcAft>
              <a:buClr>
                <a:srgbClr val="EA7600"/>
              </a:buClr>
              <a:buSzPct val="120000"/>
              <a:buFont typeface="Wingdings" panose="05000000000000000000" pitchFamily="2" charset="2"/>
              <a:buChar char="q"/>
            </a:pPr>
            <a:r>
              <a:rPr lang="en-GB" sz="2800" b="1" dirty="0">
                <a:solidFill>
                  <a:srgbClr val="00B0F0"/>
                </a:solidFill>
                <a:latin typeface="Calibri" panose="020F0502020204030204"/>
              </a:rPr>
              <a:t> Calculate time intervals.</a:t>
            </a:r>
          </a:p>
          <a:p>
            <a:pPr marL="342900" indent="-342900" defTabSz="457200">
              <a:spcAft>
                <a:spcPts val="1000"/>
              </a:spcAft>
              <a:buClr>
                <a:srgbClr val="EA7600"/>
              </a:buClr>
              <a:buSzPct val="120000"/>
              <a:buFont typeface="Wingdings" panose="05000000000000000000" pitchFamily="2" charset="2"/>
              <a:buChar char="q"/>
            </a:pPr>
            <a:r>
              <a:rPr lang="en-GB" sz="2800" b="1" dirty="0">
                <a:solidFill>
                  <a:srgbClr val="00B0F0"/>
                </a:solidFill>
                <a:latin typeface="Calibri" panose="020F0502020204030204"/>
              </a:rPr>
              <a:t> Given a time delay, count on to find new train departure and arrival times.</a:t>
            </a:r>
          </a:p>
          <a:p>
            <a:pPr defTabSz="457200">
              <a:spcAft>
                <a:spcPts val="1000"/>
              </a:spcAft>
              <a:buClr>
                <a:srgbClr val="EA7600"/>
              </a:buClr>
              <a:buSzPct val="120000"/>
            </a:pPr>
            <a:endParaRPr lang="en-GB" sz="2000" b="1" dirty="0">
              <a:solidFill>
                <a:srgbClr val="5B9BD5">
                  <a:lumMod val="75000"/>
                </a:srgbClr>
              </a:solidFill>
              <a:latin typeface="Calibri" panose="020F050202020403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4F3FED-3247-4F55-BF8A-D1D9E087C650}"/>
              </a:ext>
            </a:extLst>
          </p:cNvPr>
          <p:cNvSpPr txBox="1"/>
          <p:nvPr/>
        </p:nvSpPr>
        <p:spPr>
          <a:xfrm>
            <a:off x="1264327" y="930526"/>
            <a:ext cx="8938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GB" sz="2800" b="1" dirty="0">
                <a:solidFill>
                  <a:srgbClr val="253746"/>
                </a:solidFill>
                <a:latin typeface="Calibri" panose="020F0502020204030204"/>
              </a:rPr>
              <a:t>Title: </a:t>
            </a:r>
            <a:r>
              <a:rPr lang="en-GB" sz="2800" b="1" dirty="0">
                <a:solidFill>
                  <a:srgbClr val="00B0F0"/>
                </a:solidFill>
                <a:latin typeface="Calibri" panose="020F0502020204030204"/>
              </a:rPr>
              <a:t>Reading timetables</a:t>
            </a:r>
            <a:endParaRPr lang="en-GB" sz="2400" b="1" dirty="0">
              <a:solidFill>
                <a:srgbClr val="00B0F0"/>
              </a:solidFill>
              <a:latin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71B70B-D598-4481-B2AD-04DE2389E2EE}"/>
              </a:ext>
            </a:extLst>
          </p:cNvPr>
          <p:cNvSpPr txBox="1"/>
          <p:nvPr/>
        </p:nvSpPr>
        <p:spPr>
          <a:xfrm>
            <a:off x="1745321" y="209671"/>
            <a:ext cx="1566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23/06/2022</a:t>
            </a:r>
          </a:p>
        </p:txBody>
      </p:sp>
    </p:spTree>
    <p:extLst>
      <p:ext uri="{BB962C8B-B14F-4D97-AF65-F5344CB8AC3E}">
        <p14:creationId xmlns:p14="http://schemas.microsoft.com/office/powerpoint/2010/main" val="3674629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709488" y="6367376"/>
            <a:ext cx="719921" cy="365125"/>
          </a:xfrm>
        </p:spPr>
        <p:txBody>
          <a:bodyPr/>
          <a:lstStyle/>
          <a:p>
            <a:pPr defTabSz="457200"/>
            <a:fld id="{BA0EE811-478C-4958-8104-2A70B5A19611}" type="slidenum">
              <a:rPr lang="en-GB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457200"/>
              <a:t>2</a:t>
            </a:fld>
            <a:endParaRPr lang="en-GB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9677ED-5C54-4353-B94F-C526DD00205C}"/>
              </a:ext>
            </a:extLst>
          </p:cNvPr>
          <p:cNvSpPr txBox="1"/>
          <p:nvPr/>
        </p:nvSpPr>
        <p:spPr>
          <a:xfrm>
            <a:off x="1640681" y="138645"/>
            <a:ext cx="8871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253746"/>
                </a:solidFill>
                <a:latin typeface="Calibri" panose="020F0502020204030204"/>
              </a:rPr>
              <a:t>Day 3: </a:t>
            </a:r>
            <a:r>
              <a:rPr lang="en-GB" sz="2000" b="1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rPr>
              <a:t>Read timetables using the 24-hour clock; Calculate time intervals.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B846DD9-05F8-4C63-BD81-F3239B7EC6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3200" y="1468855"/>
            <a:ext cx="6705601" cy="4263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7C9DC0C8-08E3-4701-8B01-759649616F4F}"/>
              </a:ext>
            </a:extLst>
          </p:cNvPr>
          <p:cNvSpPr/>
          <p:nvPr/>
        </p:nvSpPr>
        <p:spPr>
          <a:xfrm>
            <a:off x="1572127" y="548122"/>
            <a:ext cx="2422358" cy="1216511"/>
          </a:xfrm>
          <a:prstGeom prst="wedgeRoundRectCallout">
            <a:avLst>
              <a:gd name="adj1" fmla="val 37395"/>
              <a:gd name="adj2" fmla="val 71609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r>
              <a:rPr lang="en-GB" sz="1500" b="1" dirty="0">
                <a:solidFill>
                  <a:srgbClr val="253746"/>
                </a:solidFill>
                <a:latin typeface="Calibri" panose="020F0502020204030204"/>
              </a:rPr>
              <a:t>North Yorkshire Steam Railway runs steam trains from Pickering across the moors to Whitby on the coast.</a:t>
            </a:r>
            <a:endParaRPr lang="en-GB" sz="1500" b="1" i="1" dirty="0">
              <a:solidFill>
                <a:srgbClr val="253746"/>
              </a:solidFill>
              <a:latin typeface="Calibri" panose="020F0502020204030204"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D7027F6E-69E2-4EF1-BBDF-A866FDB7DD28}"/>
              </a:ext>
            </a:extLst>
          </p:cNvPr>
          <p:cNvSpPr/>
          <p:nvPr/>
        </p:nvSpPr>
        <p:spPr>
          <a:xfrm>
            <a:off x="6797842" y="538756"/>
            <a:ext cx="3628006" cy="920733"/>
          </a:xfrm>
          <a:prstGeom prst="wedgeRoundRectCallout">
            <a:avLst>
              <a:gd name="adj1" fmla="val 7769"/>
              <a:gd name="adj2" fmla="val 85548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r>
              <a:rPr lang="en-GB" sz="1500" b="1" dirty="0">
                <a:solidFill>
                  <a:srgbClr val="253746"/>
                </a:solidFill>
                <a:latin typeface="Calibri" panose="020F0502020204030204"/>
              </a:rPr>
              <a:t>Hikers can get off on the moors to go walking, or holiday-makers can get the train to the seaside at Whitby.</a:t>
            </a:r>
            <a:endParaRPr lang="en-GB" sz="1500" b="1" i="1" dirty="0">
              <a:solidFill>
                <a:srgbClr val="253746"/>
              </a:solidFill>
              <a:latin typeface="Calibri" panose="020F050202020403020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4415A19-5D7D-42A6-B0D3-D360E0A8E3FC}"/>
              </a:ext>
            </a:extLst>
          </p:cNvPr>
          <p:cNvGrpSpPr/>
          <p:nvPr/>
        </p:nvGrpSpPr>
        <p:grpSpPr>
          <a:xfrm>
            <a:off x="4188645" y="5637733"/>
            <a:ext cx="3775274" cy="700313"/>
            <a:chOff x="2480022" y="2767946"/>
            <a:chExt cx="3775274" cy="700313"/>
          </a:xfrm>
        </p:grpSpPr>
        <p:sp>
          <p:nvSpPr>
            <p:cNvPr id="11" name="Speech Bubble: Rectangle with Corners Rounded 10">
              <a:extLst>
                <a:ext uri="{FF2B5EF4-FFF2-40B4-BE49-F238E27FC236}">
                  <a16:creationId xmlns:a16="http://schemas.microsoft.com/office/drawing/2014/main" id="{87C78E4C-AA77-4FA1-A2AC-99685349D0AB}"/>
                </a:ext>
              </a:extLst>
            </p:cNvPr>
            <p:cNvSpPr/>
            <p:nvPr/>
          </p:nvSpPr>
          <p:spPr>
            <a:xfrm>
              <a:off x="2480022" y="2910101"/>
              <a:ext cx="3352814" cy="558158"/>
            </a:xfrm>
            <a:prstGeom prst="wedgeRoundRectCallout">
              <a:avLst>
                <a:gd name="adj1" fmla="val -33385"/>
                <a:gd name="adj2" fmla="val 101724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GB" sz="1500" b="1" dirty="0">
                  <a:solidFill>
                    <a:srgbClr val="253746"/>
                  </a:solidFill>
                  <a:latin typeface="Calibri" panose="020F0502020204030204"/>
                </a:rPr>
                <a:t>Write ringed times as 12-hour times.</a:t>
              </a:r>
              <a:endParaRPr lang="en-GB" sz="1500" b="1" i="1" dirty="0">
                <a:solidFill>
                  <a:srgbClr val="253746"/>
                </a:solidFill>
                <a:latin typeface="Calibri" panose="020F0502020204030204"/>
              </a:endParaRPr>
            </a:p>
          </p:txBody>
        </p:sp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6558CCCD-6C57-4DFC-B263-BDB5D566D6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1907" y="2767946"/>
              <a:ext cx="623389" cy="623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629FD607-5D9C-46C7-AA85-899D0B1ACEC4}"/>
              </a:ext>
            </a:extLst>
          </p:cNvPr>
          <p:cNvSpPr/>
          <p:nvPr/>
        </p:nvSpPr>
        <p:spPr>
          <a:xfrm>
            <a:off x="5614738" y="3272590"/>
            <a:ext cx="513347" cy="204007"/>
          </a:xfrm>
          <a:prstGeom prst="ellipse">
            <a:avLst/>
          </a:prstGeom>
          <a:noFill/>
          <a:ln w="38100">
            <a:solidFill>
              <a:srgbClr val="2537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EFF800-C1ED-4D20-B0F3-AE17DAAAB88E}"/>
              </a:ext>
            </a:extLst>
          </p:cNvPr>
          <p:cNvSpPr/>
          <p:nvPr/>
        </p:nvSpPr>
        <p:spPr>
          <a:xfrm>
            <a:off x="6843226" y="4503627"/>
            <a:ext cx="513347" cy="204007"/>
          </a:xfrm>
          <a:prstGeom prst="ellipse">
            <a:avLst/>
          </a:prstGeom>
          <a:noFill/>
          <a:ln w="38100">
            <a:solidFill>
              <a:srgbClr val="2537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094A26-F5A7-4851-8E12-18839C5C6B47}"/>
              </a:ext>
            </a:extLst>
          </p:cNvPr>
          <p:cNvSpPr/>
          <p:nvPr/>
        </p:nvSpPr>
        <p:spPr>
          <a:xfrm>
            <a:off x="8120073" y="3068583"/>
            <a:ext cx="513347" cy="204007"/>
          </a:xfrm>
          <a:prstGeom prst="ellipse">
            <a:avLst/>
          </a:prstGeom>
          <a:noFill/>
          <a:ln w="38100">
            <a:solidFill>
              <a:srgbClr val="2537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C4F7E69-F75A-4591-ABDD-C516F4C36735}"/>
              </a:ext>
            </a:extLst>
          </p:cNvPr>
          <p:cNvSpPr/>
          <p:nvPr/>
        </p:nvSpPr>
        <p:spPr>
          <a:xfrm>
            <a:off x="6867543" y="2354375"/>
            <a:ext cx="513347" cy="204007"/>
          </a:xfrm>
          <a:prstGeom prst="ellipse">
            <a:avLst/>
          </a:prstGeom>
          <a:noFill/>
          <a:ln w="38100">
            <a:solidFill>
              <a:srgbClr val="2537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0F45CAF-FA44-4522-A337-A0A4BBFCF6ED}"/>
              </a:ext>
            </a:extLst>
          </p:cNvPr>
          <p:cNvSpPr/>
          <p:nvPr/>
        </p:nvSpPr>
        <p:spPr>
          <a:xfrm>
            <a:off x="8120073" y="4707634"/>
            <a:ext cx="513347" cy="204007"/>
          </a:xfrm>
          <a:prstGeom prst="ellipse">
            <a:avLst/>
          </a:prstGeom>
          <a:noFill/>
          <a:ln w="38100">
            <a:solidFill>
              <a:srgbClr val="2537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D6D5028-5710-441B-9B1A-DAFE2092E644}"/>
              </a:ext>
            </a:extLst>
          </p:cNvPr>
          <p:cNvSpPr/>
          <p:nvPr/>
        </p:nvSpPr>
        <p:spPr>
          <a:xfrm>
            <a:off x="8745472" y="5185140"/>
            <a:ext cx="513347" cy="204007"/>
          </a:xfrm>
          <a:prstGeom prst="ellipse">
            <a:avLst/>
          </a:prstGeom>
          <a:noFill/>
          <a:ln w="38100">
            <a:solidFill>
              <a:srgbClr val="2537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44DC9E1-9471-0AD9-1BDA-64F71F7183DB}"/>
              </a:ext>
            </a:extLst>
          </p:cNvPr>
          <p:cNvSpPr/>
          <p:nvPr/>
        </p:nvSpPr>
        <p:spPr>
          <a:xfrm>
            <a:off x="4857750" y="5876925"/>
            <a:ext cx="623389" cy="38419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19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709488" y="6367376"/>
            <a:ext cx="719921" cy="365125"/>
          </a:xfrm>
        </p:spPr>
        <p:txBody>
          <a:bodyPr/>
          <a:lstStyle/>
          <a:p>
            <a:pPr algn="ctr" defTabSz="457200">
              <a:defRPr/>
            </a:pPr>
            <a:fld id="{BA0EE811-478C-4958-8104-2A70B5A19611}" type="slidenum">
              <a:rPr lang="en-GB">
                <a:solidFill>
                  <a:srgbClr val="EA7600"/>
                </a:solidFill>
                <a:latin typeface="Calibri" panose="020F0502020204030204"/>
              </a:rPr>
              <a:pPr algn="ctr" defTabSz="457200">
                <a:defRPr/>
              </a:pPr>
              <a:t>3</a:t>
            </a:fld>
            <a:endParaRPr lang="en-GB" dirty="0">
              <a:solidFill>
                <a:srgbClr val="EA7600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9677ED-5C54-4353-B94F-C526DD00205C}"/>
              </a:ext>
            </a:extLst>
          </p:cNvPr>
          <p:cNvSpPr txBox="1"/>
          <p:nvPr/>
        </p:nvSpPr>
        <p:spPr>
          <a:xfrm>
            <a:off x="1640681" y="138645"/>
            <a:ext cx="8871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buClr>
                <a:srgbClr val="EA7600"/>
              </a:buClr>
              <a:buSzPct val="120000"/>
              <a:defRPr/>
            </a:pPr>
            <a:r>
              <a:rPr lang="en-GB" sz="2000" b="1" dirty="0">
                <a:solidFill>
                  <a:srgbClr val="253746"/>
                </a:solidFill>
                <a:latin typeface="Calibri" panose="020F0502020204030204"/>
              </a:rPr>
              <a:t>Day 3: </a:t>
            </a:r>
            <a:r>
              <a:rPr lang="en-GB" sz="2000" b="1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rPr>
              <a:t>Read timetables using the 24-hour clock; Calculate time intervals.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B846DD9-05F8-4C63-BD81-F3239B7EC6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3200" y="1468855"/>
            <a:ext cx="6705601" cy="4263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10A0D311-F595-4E7A-8836-9A80BB63090A}"/>
              </a:ext>
            </a:extLst>
          </p:cNvPr>
          <p:cNvSpPr/>
          <p:nvPr/>
        </p:nvSpPr>
        <p:spPr>
          <a:xfrm>
            <a:off x="1892969" y="538755"/>
            <a:ext cx="5092695" cy="948898"/>
          </a:xfrm>
          <a:prstGeom prst="wedgeRoundRectCallout">
            <a:avLst>
              <a:gd name="adj1" fmla="val -39002"/>
              <a:gd name="adj2" fmla="val 75945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>
              <a:defRPr/>
            </a:pPr>
            <a:r>
              <a:rPr lang="en-GB" sz="1500" b="1" dirty="0">
                <a:solidFill>
                  <a:srgbClr val="253746"/>
                </a:solidFill>
                <a:latin typeface="Calibri" panose="020F0502020204030204"/>
              </a:rPr>
              <a:t>A family want to catch the first train from Pickering to Whitby, and catch the last train back so they can have a full day at the seaside. </a:t>
            </a:r>
          </a:p>
          <a:p>
            <a:pPr algn="ctr" defTabSz="457200">
              <a:defRPr/>
            </a:pPr>
            <a:r>
              <a:rPr lang="en-GB" sz="1500" b="1" dirty="0">
                <a:solidFill>
                  <a:srgbClr val="253746"/>
                </a:solidFill>
                <a:latin typeface="Calibri" panose="020F0502020204030204"/>
              </a:rPr>
              <a:t>We’re going to find out how long they can spend in Whitby.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9D50DE8-A79B-4D22-8C6C-A019553BA75F}"/>
              </a:ext>
            </a:extLst>
          </p:cNvPr>
          <p:cNvSpPr/>
          <p:nvPr/>
        </p:nvSpPr>
        <p:spPr>
          <a:xfrm>
            <a:off x="4363454" y="3540053"/>
            <a:ext cx="513347" cy="204007"/>
          </a:xfrm>
          <a:prstGeom prst="ellipse">
            <a:avLst/>
          </a:prstGeom>
          <a:noFill/>
          <a:ln w="38100">
            <a:solidFill>
              <a:srgbClr val="2537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6D2DFBE-1FAD-4966-9B77-4771DC1606AB}"/>
              </a:ext>
            </a:extLst>
          </p:cNvPr>
          <p:cNvSpPr/>
          <p:nvPr/>
        </p:nvSpPr>
        <p:spPr>
          <a:xfrm>
            <a:off x="8757462" y="3994485"/>
            <a:ext cx="513347" cy="204007"/>
          </a:xfrm>
          <a:prstGeom prst="ellipse">
            <a:avLst/>
          </a:prstGeom>
          <a:noFill/>
          <a:ln w="38100">
            <a:solidFill>
              <a:srgbClr val="2537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3AAAA1B-F49D-48F2-86EB-66A1F5EC689F}"/>
              </a:ext>
            </a:extLst>
          </p:cNvPr>
          <p:cNvGrpSpPr/>
          <p:nvPr/>
        </p:nvGrpSpPr>
        <p:grpSpPr>
          <a:xfrm>
            <a:off x="7594173" y="761454"/>
            <a:ext cx="2309200" cy="637440"/>
            <a:chOff x="1447898" y="1074204"/>
            <a:chExt cx="3078934" cy="721769"/>
          </a:xfrm>
        </p:grpSpPr>
        <p:sp>
          <p:nvSpPr>
            <p:cNvPr id="25" name="Speech Bubble: Rectangle with Corners Rounded 24">
              <a:extLst>
                <a:ext uri="{FF2B5EF4-FFF2-40B4-BE49-F238E27FC236}">
                  <a16:creationId xmlns:a16="http://schemas.microsoft.com/office/drawing/2014/main" id="{BF16784A-3034-426D-8809-9B578E5BAF83}"/>
                </a:ext>
              </a:extLst>
            </p:cNvPr>
            <p:cNvSpPr/>
            <p:nvPr/>
          </p:nvSpPr>
          <p:spPr>
            <a:xfrm>
              <a:off x="1447898" y="1074204"/>
              <a:ext cx="2924974" cy="721769"/>
            </a:xfrm>
            <a:prstGeom prst="wedgeRoundRectCallout">
              <a:avLst>
                <a:gd name="adj1" fmla="val -75961"/>
                <a:gd name="adj2" fmla="val 55658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GB" sz="1500" b="1" dirty="0">
                  <a:solidFill>
                    <a:srgbClr val="253746"/>
                  </a:solidFill>
                  <a:latin typeface="Calibri" panose="020F0502020204030204"/>
                </a:rPr>
                <a:t>What should we mark on the time-line?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FC8DA34-0D1C-400C-9E06-6E829A616B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18911" y="1175155"/>
              <a:ext cx="307921" cy="5198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038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709488" y="6367376"/>
            <a:ext cx="719921" cy="365125"/>
          </a:xfrm>
        </p:spPr>
        <p:txBody>
          <a:bodyPr/>
          <a:lstStyle/>
          <a:p>
            <a:pPr algn="ctr" defTabSz="457200">
              <a:defRPr/>
            </a:pPr>
            <a:fld id="{BA0EE811-478C-4958-8104-2A70B5A19611}" type="slidenum">
              <a:rPr lang="en-GB">
                <a:solidFill>
                  <a:srgbClr val="EA7600"/>
                </a:solidFill>
                <a:latin typeface="Calibri" panose="020F0502020204030204"/>
              </a:rPr>
              <a:pPr algn="ctr" defTabSz="457200">
                <a:defRPr/>
              </a:pPr>
              <a:t>4</a:t>
            </a:fld>
            <a:endParaRPr lang="en-GB" dirty="0">
              <a:solidFill>
                <a:srgbClr val="EA7600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B16E1-D891-44E5-A404-AB5847C927CB}"/>
              </a:ext>
            </a:extLst>
          </p:cNvPr>
          <p:cNvSpPr txBox="1"/>
          <p:nvPr/>
        </p:nvSpPr>
        <p:spPr>
          <a:xfrm>
            <a:off x="1640681" y="138645"/>
            <a:ext cx="8871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buClr>
                <a:srgbClr val="EA7600"/>
              </a:buClr>
              <a:buSzPct val="120000"/>
              <a:defRPr/>
            </a:pPr>
            <a:r>
              <a:rPr lang="en-GB" sz="2000" b="1" dirty="0">
                <a:solidFill>
                  <a:srgbClr val="253746"/>
                </a:solidFill>
                <a:latin typeface="Calibri" panose="020F0502020204030204"/>
              </a:rPr>
              <a:t>Day 3: </a:t>
            </a:r>
            <a:r>
              <a:rPr lang="en-GB" sz="2000" b="1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rPr>
              <a:t>Read timetables using the 24-hour clock; Calculate time intervals.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75227FF0-96AC-4ABE-BB13-B171DE08EBEB}"/>
              </a:ext>
            </a:extLst>
          </p:cNvPr>
          <p:cNvSpPr/>
          <p:nvPr/>
        </p:nvSpPr>
        <p:spPr>
          <a:xfrm>
            <a:off x="4572000" y="914644"/>
            <a:ext cx="3048001" cy="1875841"/>
          </a:xfrm>
          <a:prstGeom prst="foldedCorner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n-GB" b="1" dirty="0">
                <a:solidFill>
                  <a:srgbClr val="253746"/>
                </a:solidFill>
                <a:latin typeface="Calibri" panose="020F0502020204030204"/>
              </a:rPr>
              <a:t>Arrive in Whitby at 10:35.</a:t>
            </a:r>
          </a:p>
          <a:p>
            <a:pPr defTabSz="457200"/>
            <a:r>
              <a:rPr lang="en-GB" b="1" dirty="0">
                <a:solidFill>
                  <a:srgbClr val="253746"/>
                </a:solidFill>
                <a:latin typeface="Calibri" panose="020F0502020204030204"/>
              </a:rPr>
              <a:t>Leave Whitby at 17:30.</a:t>
            </a:r>
          </a:p>
          <a:p>
            <a:pPr defTabSz="457200"/>
            <a:endParaRPr lang="en-GB" b="1" dirty="0">
              <a:solidFill>
                <a:srgbClr val="253746"/>
              </a:solidFill>
              <a:latin typeface="Calibri" panose="020F0502020204030204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8998D67-0519-4E05-A222-891861A70715}"/>
              </a:ext>
            </a:extLst>
          </p:cNvPr>
          <p:cNvSpPr/>
          <p:nvPr/>
        </p:nvSpPr>
        <p:spPr>
          <a:xfrm>
            <a:off x="7940567" y="3917284"/>
            <a:ext cx="1340068" cy="504517"/>
          </a:xfrm>
          <a:custGeom>
            <a:avLst/>
            <a:gdLst>
              <a:gd name="connsiteX0" fmla="*/ 0 w 961696"/>
              <a:gd name="connsiteY0" fmla="*/ 504517 h 504517"/>
              <a:gd name="connsiteX1" fmla="*/ 536027 w 961696"/>
              <a:gd name="connsiteY1" fmla="*/ 20 h 504517"/>
              <a:gd name="connsiteX2" fmla="*/ 961696 w 961696"/>
              <a:gd name="connsiteY2" fmla="*/ 488751 h 504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1696" h="504517">
                <a:moveTo>
                  <a:pt x="0" y="504517"/>
                </a:moveTo>
                <a:cubicBezTo>
                  <a:pt x="187872" y="253582"/>
                  <a:pt x="375744" y="2648"/>
                  <a:pt x="536027" y="20"/>
                </a:cubicBezTo>
                <a:cubicBezTo>
                  <a:pt x="696310" y="-2608"/>
                  <a:pt x="829003" y="243071"/>
                  <a:pt x="961696" y="488751"/>
                </a:cubicBezTo>
              </a:path>
            </a:pathLst>
          </a:custGeom>
          <a:noFill/>
          <a:ln w="28575" cap="flat" cmpd="sng" algn="ctr">
            <a:solidFill>
              <a:srgbClr val="25374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A3AB84-DE59-4756-8BC8-A351B8B52A10}"/>
              </a:ext>
            </a:extLst>
          </p:cNvPr>
          <p:cNvCxnSpPr/>
          <p:nvPr/>
        </p:nvCxnSpPr>
        <p:spPr>
          <a:xfrm>
            <a:off x="2501460" y="4420120"/>
            <a:ext cx="7126014" cy="0"/>
          </a:xfrm>
          <a:prstGeom prst="line">
            <a:avLst/>
          </a:prstGeom>
          <a:noFill/>
          <a:ln w="28575" cap="flat" cmpd="sng" algn="ctr">
            <a:solidFill>
              <a:srgbClr val="253746"/>
            </a:solidFill>
            <a:prstDash val="solid"/>
            <a:miter lim="800000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A090B1-EBF3-4ACA-B9C9-4CF2CD97B246}"/>
              </a:ext>
            </a:extLst>
          </p:cNvPr>
          <p:cNvSpPr txBox="1"/>
          <p:nvPr/>
        </p:nvSpPr>
        <p:spPr>
          <a:xfrm>
            <a:off x="2312277" y="4524527"/>
            <a:ext cx="1087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000" b="1" kern="0" dirty="0">
                <a:solidFill>
                  <a:srgbClr val="253746"/>
                </a:solidFill>
                <a:latin typeface="Calibri" panose="020F0502020204030204"/>
              </a:rPr>
              <a:t>10:35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70BDD6-6933-41E0-BAC3-D65E71467ECD}"/>
              </a:ext>
            </a:extLst>
          </p:cNvPr>
          <p:cNvSpPr txBox="1"/>
          <p:nvPr/>
        </p:nvSpPr>
        <p:spPr>
          <a:xfrm>
            <a:off x="8791904" y="4546215"/>
            <a:ext cx="1087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000" b="1" kern="0" dirty="0">
                <a:solidFill>
                  <a:srgbClr val="253746"/>
                </a:solidFill>
                <a:latin typeface="Calibri" panose="020F0502020204030204"/>
              </a:rPr>
              <a:t>17:30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E0431C-71D2-424C-B119-9DA497EED701}"/>
              </a:ext>
            </a:extLst>
          </p:cNvPr>
          <p:cNvCxnSpPr>
            <a:cxnSpLocks/>
          </p:cNvCxnSpPr>
          <p:nvPr/>
        </p:nvCxnSpPr>
        <p:spPr>
          <a:xfrm>
            <a:off x="2785242" y="4422074"/>
            <a:ext cx="0" cy="141850"/>
          </a:xfrm>
          <a:prstGeom prst="line">
            <a:avLst/>
          </a:prstGeom>
          <a:noFill/>
          <a:ln w="28575" cap="flat" cmpd="sng" algn="ctr">
            <a:solidFill>
              <a:srgbClr val="253746"/>
            </a:solidFill>
            <a:prstDash val="solid"/>
            <a:miter lim="800000"/>
          </a:ln>
          <a:effectLst/>
        </p:spPr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D11C97-77D7-4DBC-AD40-CD6BCD7A1DFA}"/>
              </a:ext>
            </a:extLst>
          </p:cNvPr>
          <p:cNvGrpSpPr/>
          <p:nvPr/>
        </p:nvGrpSpPr>
        <p:grpSpPr>
          <a:xfrm>
            <a:off x="2737945" y="3938315"/>
            <a:ext cx="2037345" cy="1008011"/>
            <a:chOff x="1213944" y="2398278"/>
            <a:chExt cx="2598110" cy="100801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800AC1B-3296-49E8-82D0-C6FCED3C4548}"/>
                </a:ext>
              </a:extLst>
            </p:cNvPr>
            <p:cNvSpPr/>
            <p:nvPr/>
          </p:nvSpPr>
          <p:spPr>
            <a:xfrm>
              <a:off x="1213944" y="2398278"/>
              <a:ext cx="1882963" cy="504517"/>
            </a:xfrm>
            <a:custGeom>
              <a:avLst/>
              <a:gdLst>
                <a:gd name="connsiteX0" fmla="*/ 0 w 961696"/>
                <a:gd name="connsiteY0" fmla="*/ 504517 h 504517"/>
                <a:gd name="connsiteX1" fmla="*/ 536027 w 961696"/>
                <a:gd name="connsiteY1" fmla="*/ 20 h 504517"/>
                <a:gd name="connsiteX2" fmla="*/ 961696 w 961696"/>
                <a:gd name="connsiteY2" fmla="*/ 488751 h 504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1696" h="504517">
                  <a:moveTo>
                    <a:pt x="0" y="504517"/>
                  </a:moveTo>
                  <a:cubicBezTo>
                    <a:pt x="187872" y="253582"/>
                    <a:pt x="375744" y="2648"/>
                    <a:pt x="536027" y="20"/>
                  </a:cubicBezTo>
                  <a:cubicBezTo>
                    <a:pt x="696310" y="-2608"/>
                    <a:pt x="829003" y="243071"/>
                    <a:pt x="961696" y="488751"/>
                  </a:cubicBezTo>
                </a:path>
              </a:pathLst>
            </a:custGeom>
            <a:noFill/>
            <a:ln w="28575" cap="flat" cmpd="sng" algn="ctr">
              <a:solidFill>
                <a:srgbClr val="25374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E1741B1-74A7-4577-A8A8-BB220C0CE9DF}"/>
                </a:ext>
              </a:extLst>
            </p:cNvPr>
            <p:cNvSpPr txBox="1"/>
            <p:nvPr/>
          </p:nvSpPr>
          <p:spPr>
            <a:xfrm>
              <a:off x="2724233" y="3006179"/>
              <a:ext cx="1087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2000" b="1" kern="0" dirty="0">
                  <a:solidFill>
                    <a:srgbClr val="253746"/>
                  </a:solidFill>
                  <a:latin typeface="Calibri" panose="020F0502020204030204"/>
                </a:rPr>
                <a:t>11:00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58287B7-DF46-4825-ACD7-2C0C99D71C09}"/>
                </a:ext>
              </a:extLst>
            </p:cNvPr>
            <p:cNvCxnSpPr>
              <a:cxnSpLocks/>
            </p:cNvCxnSpPr>
            <p:nvPr/>
          </p:nvCxnSpPr>
          <p:spPr>
            <a:xfrm>
              <a:off x="3084785" y="2874824"/>
              <a:ext cx="0" cy="141850"/>
            </a:xfrm>
            <a:prstGeom prst="line">
              <a:avLst/>
            </a:prstGeom>
            <a:noFill/>
            <a:ln w="28575" cap="flat" cmpd="sng" algn="ctr">
              <a:solidFill>
                <a:srgbClr val="253746"/>
              </a:solidFill>
              <a:prstDash val="solid"/>
              <a:miter lim="800000"/>
            </a:ln>
            <a:effectLst/>
          </p:spPr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9344981-A3B5-49FD-A800-11F5454BB7C7}"/>
              </a:ext>
            </a:extLst>
          </p:cNvPr>
          <p:cNvGrpSpPr/>
          <p:nvPr/>
        </p:nvGrpSpPr>
        <p:grpSpPr>
          <a:xfrm>
            <a:off x="4120050" y="3796465"/>
            <a:ext cx="4799361" cy="1149861"/>
            <a:chOff x="3096908" y="2256428"/>
            <a:chExt cx="4131582" cy="1149861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8C6DB5C-A70B-4C61-8EA1-97A8D1F794FC}"/>
                </a:ext>
              </a:extLst>
            </p:cNvPr>
            <p:cNvSpPr/>
            <p:nvPr/>
          </p:nvSpPr>
          <p:spPr>
            <a:xfrm>
              <a:off x="3096908" y="2256428"/>
              <a:ext cx="3319658" cy="630612"/>
            </a:xfrm>
            <a:custGeom>
              <a:avLst/>
              <a:gdLst>
                <a:gd name="connsiteX0" fmla="*/ 0 w 961696"/>
                <a:gd name="connsiteY0" fmla="*/ 504517 h 504517"/>
                <a:gd name="connsiteX1" fmla="*/ 536027 w 961696"/>
                <a:gd name="connsiteY1" fmla="*/ 20 h 504517"/>
                <a:gd name="connsiteX2" fmla="*/ 961696 w 961696"/>
                <a:gd name="connsiteY2" fmla="*/ 488751 h 504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1696" h="504517">
                  <a:moveTo>
                    <a:pt x="0" y="504517"/>
                  </a:moveTo>
                  <a:cubicBezTo>
                    <a:pt x="187872" y="253582"/>
                    <a:pt x="375744" y="2648"/>
                    <a:pt x="536027" y="20"/>
                  </a:cubicBezTo>
                  <a:cubicBezTo>
                    <a:pt x="696310" y="-2608"/>
                    <a:pt x="829003" y="243071"/>
                    <a:pt x="961696" y="488751"/>
                  </a:cubicBezTo>
                </a:path>
              </a:pathLst>
            </a:custGeom>
            <a:noFill/>
            <a:ln w="28575" cap="flat" cmpd="sng" algn="ctr">
              <a:solidFill>
                <a:srgbClr val="25374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74DBB55-731C-4319-836D-4E841DC54778}"/>
                </a:ext>
              </a:extLst>
            </p:cNvPr>
            <p:cNvSpPr txBox="1"/>
            <p:nvPr/>
          </p:nvSpPr>
          <p:spPr>
            <a:xfrm>
              <a:off x="6140669" y="3006179"/>
              <a:ext cx="1087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2000" b="1" kern="0" dirty="0">
                  <a:solidFill>
                    <a:srgbClr val="253746"/>
                  </a:solidFill>
                  <a:latin typeface="Calibri" panose="020F0502020204030204"/>
                </a:rPr>
                <a:t>17:00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DA41480-2D0F-4D14-A80E-60F03A05D26F}"/>
                </a:ext>
              </a:extLst>
            </p:cNvPr>
            <p:cNvCxnSpPr>
              <a:cxnSpLocks/>
            </p:cNvCxnSpPr>
            <p:nvPr/>
          </p:nvCxnSpPr>
          <p:spPr>
            <a:xfrm>
              <a:off x="6411314" y="2874828"/>
              <a:ext cx="0" cy="141850"/>
            </a:xfrm>
            <a:prstGeom prst="line">
              <a:avLst/>
            </a:prstGeom>
            <a:noFill/>
            <a:ln w="28575" cap="flat" cmpd="sng" algn="ctr">
              <a:solidFill>
                <a:srgbClr val="253746"/>
              </a:solidFill>
              <a:prstDash val="solid"/>
              <a:miter lim="800000"/>
            </a:ln>
            <a:effectLst/>
          </p:spPr>
        </p:cxn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96929CD-AF6D-4D01-BFCC-0207D9071EA3}"/>
              </a:ext>
            </a:extLst>
          </p:cNvPr>
          <p:cNvCxnSpPr>
            <a:cxnSpLocks/>
          </p:cNvCxnSpPr>
          <p:nvPr/>
        </p:nvCxnSpPr>
        <p:spPr>
          <a:xfrm>
            <a:off x="9275374" y="4414860"/>
            <a:ext cx="0" cy="141850"/>
          </a:xfrm>
          <a:prstGeom prst="line">
            <a:avLst/>
          </a:prstGeom>
          <a:noFill/>
          <a:ln w="28575" cap="flat" cmpd="sng" algn="ctr">
            <a:solidFill>
              <a:srgbClr val="253746"/>
            </a:solidFill>
            <a:prstDash val="solid"/>
            <a:miter lim="800000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8212BBA-22B9-46D3-AD39-3B9705AA6F80}"/>
              </a:ext>
            </a:extLst>
          </p:cNvPr>
          <p:cNvSpPr txBox="1"/>
          <p:nvPr/>
        </p:nvSpPr>
        <p:spPr>
          <a:xfrm>
            <a:off x="3160413" y="3535574"/>
            <a:ext cx="1087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000" b="1" kern="0" dirty="0">
                <a:solidFill>
                  <a:srgbClr val="C00000"/>
                </a:solidFill>
                <a:latin typeface="Calibri" panose="020F0502020204030204"/>
              </a:rPr>
              <a:t>25 mins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87A13E-DAD1-4851-9ADF-BCB9F797C563}"/>
              </a:ext>
            </a:extLst>
          </p:cNvPr>
          <p:cNvSpPr txBox="1"/>
          <p:nvPr/>
        </p:nvSpPr>
        <p:spPr>
          <a:xfrm>
            <a:off x="5885498" y="3388477"/>
            <a:ext cx="1087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000" b="1" kern="0" dirty="0">
                <a:solidFill>
                  <a:srgbClr val="C00000"/>
                </a:solidFill>
                <a:latin typeface="Calibri" panose="020F0502020204030204"/>
              </a:rPr>
              <a:t>6 hours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2A5313-8636-4E13-A99B-BB50A6B68C04}"/>
              </a:ext>
            </a:extLst>
          </p:cNvPr>
          <p:cNvSpPr txBox="1"/>
          <p:nvPr/>
        </p:nvSpPr>
        <p:spPr>
          <a:xfrm>
            <a:off x="8156022" y="3514543"/>
            <a:ext cx="1087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000" b="1" kern="0" dirty="0">
                <a:solidFill>
                  <a:srgbClr val="C00000"/>
                </a:solidFill>
                <a:latin typeface="Calibri" panose="020F0502020204030204"/>
              </a:rPr>
              <a:t>30 mins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8C2DAD-C09E-430B-9932-7D9198177F43}"/>
              </a:ext>
            </a:extLst>
          </p:cNvPr>
          <p:cNvSpPr txBox="1"/>
          <p:nvPr/>
        </p:nvSpPr>
        <p:spPr>
          <a:xfrm>
            <a:off x="3385946" y="5300526"/>
            <a:ext cx="6241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000" b="1" kern="0" dirty="0">
                <a:solidFill>
                  <a:srgbClr val="C00000"/>
                </a:solidFill>
                <a:latin typeface="Calibri" panose="020F0502020204030204"/>
              </a:rPr>
              <a:t>6 hours + 25 mins + 30 mins = 6 hours 55 mins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B8910-09D0-45AF-A19F-3C3D71B2DA5A}"/>
              </a:ext>
            </a:extLst>
          </p:cNvPr>
          <p:cNvSpPr txBox="1"/>
          <p:nvPr/>
        </p:nvSpPr>
        <p:spPr>
          <a:xfrm>
            <a:off x="4571999" y="1963664"/>
            <a:ext cx="2791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b="1" dirty="0">
                <a:solidFill>
                  <a:srgbClr val="C00000"/>
                </a:solidFill>
                <a:latin typeface="Calibri" panose="020F0502020204030204"/>
              </a:rPr>
              <a:t>They can stay in Whitby for 6 hours 55 minutes.</a:t>
            </a:r>
          </a:p>
        </p:txBody>
      </p:sp>
    </p:spTree>
    <p:extLst>
      <p:ext uri="{BB962C8B-B14F-4D97-AF65-F5344CB8AC3E}">
        <p14:creationId xmlns:p14="http://schemas.microsoft.com/office/powerpoint/2010/main" val="138202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1" grpId="0"/>
      <p:bldP spid="22" grpId="0"/>
      <p:bldP spid="23" grpId="0"/>
      <p:bldP spid="24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709488" y="6367376"/>
            <a:ext cx="719921" cy="365125"/>
          </a:xfrm>
        </p:spPr>
        <p:txBody>
          <a:bodyPr/>
          <a:lstStyle/>
          <a:p>
            <a:pPr defTabSz="457200"/>
            <a:fld id="{BA0EE811-478C-4958-8104-2A70B5A19611}" type="slidenum">
              <a:rPr lang="en-GB">
                <a:solidFill>
                  <a:srgbClr val="EA7600"/>
                </a:solidFill>
                <a:latin typeface="Calibri" panose="020F0502020204030204"/>
              </a:rPr>
              <a:pPr defTabSz="457200"/>
              <a:t>5</a:t>
            </a:fld>
            <a:endParaRPr lang="en-GB" dirty="0">
              <a:solidFill>
                <a:srgbClr val="EA7600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31883E-2465-4612-BECD-AA5F2DE3002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6" t="6740" r="11258" b="19853"/>
          <a:stretch/>
        </p:blipFill>
        <p:spPr>
          <a:xfrm>
            <a:off x="3870071" y="96771"/>
            <a:ext cx="4584241" cy="60126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CE60D6-8D76-42BB-96F1-EE35DADC35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0" t="80586" r="10080" b="8425"/>
          <a:stretch/>
        </p:blipFill>
        <p:spPr>
          <a:xfrm>
            <a:off x="1989220" y="4527472"/>
            <a:ext cx="7892642" cy="1542220"/>
          </a:xfrm>
          <a:prstGeom prst="rect">
            <a:avLst/>
          </a:prstGeom>
          <a:ln>
            <a:solidFill>
              <a:srgbClr val="FFC000"/>
            </a:solidFill>
          </a:ln>
        </p:spPr>
      </p:pic>
      <p:grpSp>
        <p:nvGrpSpPr>
          <p:cNvPr id="11" name="Group 10"/>
          <p:cNvGrpSpPr/>
          <p:nvPr/>
        </p:nvGrpSpPr>
        <p:grpSpPr>
          <a:xfrm>
            <a:off x="8750021" y="4713582"/>
            <a:ext cx="1713640" cy="1139460"/>
            <a:chOff x="1834709" y="4015907"/>
            <a:chExt cx="1606379" cy="935174"/>
          </a:xfrm>
        </p:grpSpPr>
        <p:sp>
          <p:nvSpPr>
            <p:cNvPr id="14" name="Rounded Rectangle 13"/>
            <p:cNvSpPr/>
            <p:nvPr/>
          </p:nvSpPr>
          <p:spPr>
            <a:xfrm>
              <a:off x="1834709" y="4015907"/>
              <a:ext cx="1606379" cy="495328"/>
            </a:xfrm>
            <a:prstGeom prst="roundRect">
              <a:avLst>
                <a:gd name="adj" fmla="val 42473"/>
              </a:avLst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2400" b="1" dirty="0">
                  <a:solidFill>
                    <a:prstClr val="black"/>
                  </a:solidFill>
                  <a:latin typeface="Calibri" panose="020F0502020204030204"/>
                </a:rPr>
                <a:t>Challenge</a:t>
              </a:r>
              <a:endParaRPr lang="en-GB" sz="2400" b="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15" name="Picture 2" descr="Related image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44755">
              <a:off x="2170831" y="4345600"/>
              <a:ext cx="388517" cy="6054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5912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709488" y="6367376"/>
            <a:ext cx="719921" cy="365125"/>
          </a:xfrm>
        </p:spPr>
        <p:txBody>
          <a:bodyPr/>
          <a:lstStyle/>
          <a:p>
            <a:pPr defTabSz="457200"/>
            <a:fld id="{BA0EE811-478C-4958-8104-2A70B5A19611}" type="slidenum">
              <a:rPr lang="en-GB">
                <a:solidFill>
                  <a:srgbClr val="EA7600"/>
                </a:solidFill>
                <a:latin typeface="Calibri" panose="020F0502020204030204"/>
              </a:rPr>
              <a:pPr defTabSz="457200"/>
              <a:t>6</a:t>
            </a:fld>
            <a:endParaRPr lang="en-GB" dirty="0">
              <a:solidFill>
                <a:srgbClr val="EA7600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9677ED-5C54-4353-B94F-C526DD00205C}"/>
              </a:ext>
            </a:extLst>
          </p:cNvPr>
          <p:cNvSpPr txBox="1"/>
          <p:nvPr/>
        </p:nvSpPr>
        <p:spPr>
          <a:xfrm>
            <a:off x="2004195" y="1743331"/>
            <a:ext cx="8130503" cy="1141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spcAft>
                <a:spcPts val="450"/>
              </a:spcAft>
              <a:buClr>
                <a:srgbClr val="ED7D31"/>
              </a:buClr>
            </a:pPr>
            <a:r>
              <a:rPr lang="en-US" sz="2400" b="1" dirty="0">
                <a:solidFill>
                  <a:srgbClr val="253746"/>
                </a:solidFill>
                <a:latin typeface="Calibri" panose="020F0502020204030204"/>
              </a:rPr>
              <a:t>Objectives</a:t>
            </a:r>
            <a:endParaRPr lang="en-GB" sz="2400" b="1" dirty="0">
              <a:solidFill>
                <a:srgbClr val="253746"/>
              </a:solidFill>
              <a:latin typeface="Calibri" panose="020F0502020204030204"/>
            </a:endParaRPr>
          </a:p>
          <a:p>
            <a:pPr defTabSz="457200"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253746"/>
                </a:solidFill>
                <a:latin typeface="Calibri" panose="020F0502020204030204"/>
              </a:rPr>
              <a:t>Objective 4</a:t>
            </a:r>
          </a:p>
          <a:p>
            <a:pPr defTabSz="457200">
              <a:spcAft>
                <a:spcPts val="1000"/>
              </a:spcAft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rPr>
              <a:t>Given a time delay, count on to find new train departure and arrival times.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4F3FED-3247-4F55-BF8A-D1D9E087C650}"/>
              </a:ext>
            </a:extLst>
          </p:cNvPr>
          <p:cNvSpPr txBox="1"/>
          <p:nvPr/>
        </p:nvSpPr>
        <p:spPr>
          <a:xfrm>
            <a:off x="1640681" y="16610"/>
            <a:ext cx="893810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GB" sz="2800" b="1" dirty="0">
                <a:solidFill>
                  <a:srgbClr val="253746"/>
                </a:solidFill>
                <a:latin typeface="Calibri" panose="020F0502020204030204"/>
              </a:rPr>
              <a:t>Measures and Data</a:t>
            </a:r>
          </a:p>
          <a:p>
            <a:pPr algn="ctr" defTabSz="457200"/>
            <a:r>
              <a:rPr lang="en-GB" sz="2400" b="1" dirty="0">
                <a:solidFill>
                  <a:srgbClr val="253746"/>
                </a:solidFill>
                <a:latin typeface="Calibri" panose="020F0502020204030204"/>
              </a:rPr>
              <a:t>Read timetables using 24-hour clock</a:t>
            </a:r>
          </a:p>
          <a:p>
            <a:pPr algn="ctr" defTabSz="457200"/>
            <a:r>
              <a:rPr lang="en-GB" sz="2400" b="1" dirty="0">
                <a:solidFill>
                  <a:srgbClr val="253746"/>
                </a:solidFill>
                <a:latin typeface="Calibri" panose="020F0502020204030204"/>
              </a:rPr>
              <a:t>Calculate time intervals</a:t>
            </a:r>
          </a:p>
        </p:txBody>
      </p:sp>
    </p:spTree>
    <p:extLst>
      <p:ext uri="{BB962C8B-B14F-4D97-AF65-F5344CB8AC3E}">
        <p14:creationId xmlns:p14="http://schemas.microsoft.com/office/powerpoint/2010/main" val="901249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709488" y="6367376"/>
            <a:ext cx="719921" cy="365125"/>
          </a:xfrm>
        </p:spPr>
        <p:txBody>
          <a:bodyPr/>
          <a:lstStyle/>
          <a:p>
            <a:pPr defTabSz="457200"/>
            <a:fld id="{BA0EE811-478C-4958-8104-2A70B5A19611}" type="slidenum">
              <a:rPr lang="en-GB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457200"/>
              <a:t>7</a:t>
            </a:fld>
            <a:endParaRPr lang="en-GB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9677ED-5C54-4353-B94F-C526DD00205C}"/>
              </a:ext>
            </a:extLst>
          </p:cNvPr>
          <p:cNvSpPr txBox="1"/>
          <p:nvPr/>
        </p:nvSpPr>
        <p:spPr>
          <a:xfrm>
            <a:off x="1640681" y="138645"/>
            <a:ext cx="8871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253746"/>
                </a:solidFill>
                <a:latin typeface="Calibri" panose="020F0502020204030204"/>
              </a:rPr>
              <a:t>Day 4: </a:t>
            </a:r>
            <a:r>
              <a:rPr lang="en-GB" sz="2000" b="1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rPr>
              <a:t>Given a time delay, count on to find new train departure and arrival times.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E36D73-7415-47F2-8654-8F3EE219A02D}"/>
              </a:ext>
            </a:extLst>
          </p:cNvPr>
          <p:cNvSpPr/>
          <p:nvPr/>
        </p:nvSpPr>
        <p:spPr>
          <a:xfrm>
            <a:off x="2257926" y="946030"/>
            <a:ext cx="4171482" cy="14773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defTabSz="457200"/>
            <a:r>
              <a:rPr lang="en-GB" b="1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The 14:48 to Birmingham New Street is running approximately 37 minutes late as a result of sheep on the line near Worcester.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AB0B4B-C784-419F-B5F5-E1F0396CDBBB}"/>
              </a:ext>
            </a:extLst>
          </p:cNvPr>
          <p:cNvGrpSpPr/>
          <p:nvPr/>
        </p:nvGrpSpPr>
        <p:grpSpPr>
          <a:xfrm>
            <a:off x="6829926" y="947689"/>
            <a:ext cx="2534976" cy="637440"/>
            <a:chOff x="1167141" y="1074204"/>
            <a:chExt cx="3379968" cy="721769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CC66D7AE-3D62-466E-B223-5031501E0FAF}"/>
                </a:ext>
              </a:extLst>
            </p:cNvPr>
            <p:cNvSpPr/>
            <p:nvPr/>
          </p:nvSpPr>
          <p:spPr>
            <a:xfrm>
              <a:off x="1167141" y="1074204"/>
              <a:ext cx="3205731" cy="721769"/>
            </a:xfrm>
            <a:prstGeom prst="wedgeRoundRectCallout">
              <a:avLst>
                <a:gd name="adj1" fmla="val -75961"/>
                <a:gd name="adj2" fmla="val 55658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GB" sz="1600" b="1" dirty="0">
                  <a:solidFill>
                    <a:srgbClr val="253746"/>
                  </a:solidFill>
                  <a:latin typeface="Calibri" panose="020F0502020204030204"/>
                </a:rPr>
                <a:t>How will we calculate the new departure time?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96B248A-E556-4A3E-BC38-26D36392A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39188" y="1074204"/>
              <a:ext cx="307921" cy="519867"/>
            </a:xfrm>
            <a:prstGeom prst="rect">
              <a:avLst/>
            </a:prstGeom>
          </p:spPr>
        </p:pic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6F1242-3AB3-4BCE-83B9-E2623F720A64}"/>
              </a:ext>
            </a:extLst>
          </p:cNvPr>
          <p:cNvCxnSpPr>
            <a:cxnSpLocks/>
          </p:cNvCxnSpPr>
          <p:nvPr/>
        </p:nvCxnSpPr>
        <p:spPr>
          <a:xfrm flipV="1">
            <a:off x="2886469" y="4414860"/>
            <a:ext cx="6193361" cy="5260"/>
          </a:xfrm>
          <a:prstGeom prst="line">
            <a:avLst/>
          </a:prstGeom>
          <a:noFill/>
          <a:ln w="28575" cap="flat" cmpd="sng" algn="ctr">
            <a:solidFill>
              <a:srgbClr val="253746"/>
            </a:solidFill>
            <a:prstDash val="solid"/>
            <a:miter lim="800000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8FC6887-EA98-4759-830D-170CA973E6C5}"/>
              </a:ext>
            </a:extLst>
          </p:cNvPr>
          <p:cNvSpPr txBox="1"/>
          <p:nvPr/>
        </p:nvSpPr>
        <p:spPr>
          <a:xfrm>
            <a:off x="2697285" y="4524527"/>
            <a:ext cx="1087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000" b="1" kern="0" dirty="0">
                <a:solidFill>
                  <a:srgbClr val="253746"/>
                </a:solidFill>
                <a:latin typeface="Calibri" panose="020F0502020204030204"/>
              </a:rPr>
              <a:t>14:48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6B26C41-6C7F-4FC5-9BA1-B7AB288FBDF4}"/>
              </a:ext>
            </a:extLst>
          </p:cNvPr>
          <p:cNvCxnSpPr>
            <a:cxnSpLocks/>
          </p:cNvCxnSpPr>
          <p:nvPr/>
        </p:nvCxnSpPr>
        <p:spPr>
          <a:xfrm>
            <a:off x="3170250" y="4422074"/>
            <a:ext cx="0" cy="141850"/>
          </a:xfrm>
          <a:prstGeom prst="line">
            <a:avLst/>
          </a:prstGeom>
          <a:noFill/>
          <a:ln w="28575" cap="flat" cmpd="sng" algn="ctr">
            <a:solidFill>
              <a:srgbClr val="253746"/>
            </a:solidFill>
            <a:prstDash val="solid"/>
            <a:miter lim="800000"/>
          </a:ln>
          <a:effectLst/>
        </p:spPr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E6BBE6-B968-4C2B-A83F-88454E0740BF}"/>
              </a:ext>
            </a:extLst>
          </p:cNvPr>
          <p:cNvGrpSpPr/>
          <p:nvPr/>
        </p:nvGrpSpPr>
        <p:grpSpPr>
          <a:xfrm>
            <a:off x="3122952" y="3938315"/>
            <a:ext cx="2971542" cy="1008011"/>
            <a:chOff x="1213944" y="2398278"/>
            <a:chExt cx="2598110" cy="1008011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B80A0B-85B4-47EA-AB50-BA257A8C5A97}"/>
                </a:ext>
              </a:extLst>
            </p:cNvPr>
            <p:cNvSpPr/>
            <p:nvPr/>
          </p:nvSpPr>
          <p:spPr>
            <a:xfrm>
              <a:off x="1213944" y="2398278"/>
              <a:ext cx="1882963" cy="504517"/>
            </a:xfrm>
            <a:custGeom>
              <a:avLst/>
              <a:gdLst>
                <a:gd name="connsiteX0" fmla="*/ 0 w 961696"/>
                <a:gd name="connsiteY0" fmla="*/ 504517 h 504517"/>
                <a:gd name="connsiteX1" fmla="*/ 536027 w 961696"/>
                <a:gd name="connsiteY1" fmla="*/ 20 h 504517"/>
                <a:gd name="connsiteX2" fmla="*/ 961696 w 961696"/>
                <a:gd name="connsiteY2" fmla="*/ 488751 h 504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1696" h="504517">
                  <a:moveTo>
                    <a:pt x="0" y="504517"/>
                  </a:moveTo>
                  <a:cubicBezTo>
                    <a:pt x="187872" y="253582"/>
                    <a:pt x="375744" y="2648"/>
                    <a:pt x="536027" y="20"/>
                  </a:cubicBezTo>
                  <a:cubicBezTo>
                    <a:pt x="696310" y="-2608"/>
                    <a:pt x="829003" y="243071"/>
                    <a:pt x="961696" y="488751"/>
                  </a:cubicBezTo>
                </a:path>
              </a:pathLst>
            </a:custGeom>
            <a:noFill/>
            <a:ln w="28575" cap="flat" cmpd="sng" algn="ctr">
              <a:solidFill>
                <a:srgbClr val="25374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E681B8F-143A-469B-A0CB-E153CE6BD363}"/>
                </a:ext>
              </a:extLst>
            </p:cNvPr>
            <p:cNvSpPr txBox="1"/>
            <p:nvPr/>
          </p:nvSpPr>
          <p:spPr>
            <a:xfrm>
              <a:off x="2724233" y="3006179"/>
              <a:ext cx="1087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2000" b="1" kern="0" dirty="0">
                  <a:solidFill>
                    <a:srgbClr val="253746"/>
                  </a:solidFill>
                  <a:latin typeface="Calibri" panose="020F0502020204030204"/>
                </a:rPr>
                <a:t>15:00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508E8CB-7B75-4B36-9750-98992AAECAF0}"/>
                </a:ext>
              </a:extLst>
            </p:cNvPr>
            <p:cNvCxnSpPr>
              <a:cxnSpLocks/>
            </p:cNvCxnSpPr>
            <p:nvPr/>
          </p:nvCxnSpPr>
          <p:spPr>
            <a:xfrm>
              <a:off x="3084785" y="2874824"/>
              <a:ext cx="0" cy="141850"/>
            </a:xfrm>
            <a:prstGeom prst="line">
              <a:avLst/>
            </a:prstGeom>
            <a:noFill/>
            <a:ln w="28575" cap="flat" cmpd="sng" algn="ctr">
              <a:solidFill>
                <a:srgbClr val="253746"/>
              </a:solidFill>
              <a:prstDash val="solid"/>
              <a:miter lim="800000"/>
            </a:ln>
            <a:effectLst/>
          </p:spPr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0C9F59-8850-4ACE-B5ED-387ACF70B14E}"/>
              </a:ext>
            </a:extLst>
          </p:cNvPr>
          <p:cNvGrpSpPr/>
          <p:nvPr/>
        </p:nvGrpSpPr>
        <p:grpSpPr>
          <a:xfrm>
            <a:off x="5252153" y="3796465"/>
            <a:ext cx="4052266" cy="1149861"/>
            <a:chOff x="3096908" y="2256428"/>
            <a:chExt cx="4131582" cy="1149861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8D80C90-4A30-40D4-90FB-6E6DB54A561A}"/>
                </a:ext>
              </a:extLst>
            </p:cNvPr>
            <p:cNvSpPr/>
            <p:nvPr/>
          </p:nvSpPr>
          <p:spPr>
            <a:xfrm>
              <a:off x="3096908" y="2256428"/>
              <a:ext cx="3319658" cy="630612"/>
            </a:xfrm>
            <a:custGeom>
              <a:avLst/>
              <a:gdLst>
                <a:gd name="connsiteX0" fmla="*/ 0 w 961696"/>
                <a:gd name="connsiteY0" fmla="*/ 504517 h 504517"/>
                <a:gd name="connsiteX1" fmla="*/ 536027 w 961696"/>
                <a:gd name="connsiteY1" fmla="*/ 20 h 504517"/>
                <a:gd name="connsiteX2" fmla="*/ 961696 w 961696"/>
                <a:gd name="connsiteY2" fmla="*/ 488751 h 504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1696" h="504517">
                  <a:moveTo>
                    <a:pt x="0" y="504517"/>
                  </a:moveTo>
                  <a:cubicBezTo>
                    <a:pt x="187872" y="253582"/>
                    <a:pt x="375744" y="2648"/>
                    <a:pt x="536027" y="20"/>
                  </a:cubicBezTo>
                  <a:cubicBezTo>
                    <a:pt x="696310" y="-2608"/>
                    <a:pt x="829003" y="243071"/>
                    <a:pt x="961696" y="488751"/>
                  </a:cubicBezTo>
                </a:path>
              </a:pathLst>
            </a:custGeom>
            <a:noFill/>
            <a:ln w="28575" cap="flat" cmpd="sng" algn="ctr">
              <a:solidFill>
                <a:srgbClr val="25374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13BC78F-5260-4015-9FCD-556A59946540}"/>
                </a:ext>
              </a:extLst>
            </p:cNvPr>
            <p:cNvSpPr txBox="1"/>
            <p:nvPr/>
          </p:nvSpPr>
          <p:spPr>
            <a:xfrm>
              <a:off x="6140669" y="3006179"/>
              <a:ext cx="1087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2000" b="1" kern="0" dirty="0">
                  <a:solidFill>
                    <a:srgbClr val="C00000"/>
                  </a:solidFill>
                  <a:latin typeface="Calibri" panose="020F0502020204030204"/>
                </a:rPr>
                <a:t>15:25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8B05F-0636-4498-87CE-6CA941C49384}"/>
                </a:ext>
              </a:extLst>
            </p:cNvPr>
            <p:cNvCxnSpPr>
              <a:cxnSpLocks/>
            </p:cNvCxnSpPr>
            <p:nvPr/>
          </p:nvCxnSpPr>
          <p:spPr>
            <a:xfrm>
              <a:off x="6411314" y="2874828"/>
              <a:ext cx="0" cy="141850"/>
            </a:xfrm>
            <a:prstGeom prst="line">
              <a:avLst/>
            </a:prstGeom>
            <a:noFill/>
            <a:ln w="28575" cap="flat" cmpd="sng" algn="ctr">
              <a:solidFill>
                <a:srgbClr val="253746"/>
              </a:solidFill>
              <a:prstDash val="solid"/>
              <a:miter lim="800000"/>
            </a:ln>
            <a:effectLst/>
          </p:spPr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D709BF6-FF53-4614-8F83-EB000B7DED9C}"/>
              </a:ext>
            </a:extLst>
          </p:cNvPr>
          <p:cNvSpPr txBox="1"/>
          <p:nvPr/>
        </p:nvSpPr>
        <p:spPr>
          <a:xfrm>
            <a:off x="3785106" y="3517868"/>
            <a:ext cx="1087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000" b="1" kern="0" dirty="0">
                <a:solidFill>
                  <a:srgbClr val="253746"/>
                </a:solidFill>
                <a:latin typeface="Calibri" panose="020F0502020204030204"/>
              </a:rPr>
              <a:t>12 mins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9FD706-8CB7-4BC4-A44C-666C3C667841}"/>
              </a:ext>
            </a:extLst>
          </p:cNvPr>
          <p:cNvSpPr txBox="1"/>
          <p:nvPr/>
        </p:nvSpPr>
        <p:spPr>
          <a:xfrm>
            <a:off x="6270506" y="3388477"/>
            <a:ext cx="1087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000" b="1" kern="0" dirty="0">
                <a:solidFill>
                  <a:srgbClr val="253746"/>
                </a:solidFill>
                <a:latin typeface="Calibri" panose="020F0502020204030204"/>
              </a:rPr>
              <a:t>25 mins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201E703-6DF0-4A70-96A2-F7E55CB369DC}"/>
              </a:ext>
            </a:extLst>
          </p:cNvPr>
          <p:cNvGrpSpPr/>
          <p:nvPr/>
        </p:nvGrpSpPr>
        <p:grpSpPr>
          <a:xfrm>
            <a:off x="2598495" y="2723034"/>
            <a:ext cx="2130180" cy="637440"/>
            <a:chOff x="1706869" y="1074204"/>
            <a:chExt cx="2840240" cy="721769"/>
          </a:xfrm>
        </p:grpSpPr>
        <p:sp>
          <p:nvSpPr>
            <p:cNvPr id="30" name="Speech Bubble: Rectangle with Corners Rounded 29">
              <a:extLst>
                <a:ext uri="{FF2B5EF4-FFF2-40B4-BE49-F238E27FC236}">
                  <a16:creationId xmlns:a16="http://schemas.microsoft.com/office/drawing/2014/main" id="{C95A668D-E2C9-4039-BD17-51D41C56EF75}"/>
                </a:ext>
              </a:extLst>
            </p:cNvPr>
            <p:cNvSpPr/>
            <p:nvPr/>
          </p:nvSpPr>
          <p:spPr>
            <a:xfrm>
              <a:off x="1706869" y="1074204"/>
              <a:ext cx="2666003" cy="721769"/>
            </a:xfrm>
            <a:prstGeom prst="wedgeRoundRectCallout">
              <a:avLst>
                <a:gd name="adj1" fmla="val 34757"/>
                <a:gd name="adj2" fmla="val 78308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GB" sz="1600" b="1" dirty="0">
                  <a:solidFill>
                    <a:srgbClr val="253746"/>
                  </a:solidFill>
                  <a:latin typeface="Calibri" panose="020F0502020204030204"/>
                </a:rPr>
                <a:t>How many minutes to the next hour?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3A6C5E1-443B-4D7F-92F4-FC1C185A63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39188" y="1074204"/>
              <a:ext cx="307921" cy="519867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8F6AABC-25EB-4560-A891-F37409E79ED7}"/>
              </a:ext>
            </a:extLst>
          </p:cNvPr>
          <p:cNvGrpSpPr/>
          <p:nvPr/>
        </p:nvGrpSpPr>
        <p:grpSpPr>
          <a:xfrm>
            <a:off x="6891717" y="2620818"/>
            <a:ext cx="2130180" cy="637440"/>
            <a:chOff x="1706869" y="1074204"/>
            <a:chExt cx="2840240" cy="721769"/>
          </a:xfrm>
        </p:grpSpPr>
        <p:sp>
          <p:nvSpPr>
            <p:cNvPr id="33" name="Speech Bubble: Rectangle with Corners Rounded 32">
              <a:extLst>
                <a:ext uri="{FF2B5EF4-FFF2-40B4-BE49-F238E27FC236}">
                  <a16:creationId xmlns:a16="http://schemas.microsoft.com/office/drawing/2014/main" id="{8C24922A-E94B-4AF1-8287-DE042C8D0C36}"/>
                </a:ext>
              </a:extLst>
            </p:cNvPr>
            <p:cNvSpPr/>
            <p:nvPr/>
          </p:nvSpPr>
          <p:spPr>
            <a:xfrm>
              <a:off x="1706869" y="1074204"/>
              <a:ext cx="2666003" cy="721769"/>
            </a:xfrm>
            <a:prstGeom prst="wedgeRoundRectCallout">
              <a:avLst>
                <a:gd name="adj1" fmla="val -47078"/>
                <a:gd name="adj2" fmla="val 80825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GB" sz="1600" b="1" dirty="0">
                  <a:solidFill>
                    <a:srgbClr val="253746"/>
                  </a:solidFill>
                  <a:latin typeface="Calibri" panose="020F0502020204030204"/>
                </a:rPr>
                <a:t>How many minutes do we need to add?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868AB676-899B-467C-BEE4-6176499821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39188" y="1074204"/>
              <a:ext cx="307921" cy="519867"/>
            </a:xfrm>
            <a:prstGeom prst="rect">
              <a:avLst/>
            </a:prstGeom>
          </p:spPr>
        </p:pic>
      </p:grpSp>
      <p:sp>
        <p:nvSpPr>
          <p:cNvPr id="35" name="Speech Bubble: Rectangle with Corners Rounded 34">
            <a:extLst>
              <a:ext uri="{FF2B5EF4-FFF2-40B4-BE49-F238E27FC236}">
                <a16:creationId xmlns:a16="http://schemas.microsoft.com/office/drawing/2014/main" id="{C4F4E7B9-AB17-4F1B-AF80-9380EC76C7FC}"/>
              </a:ext>
            </a:extLst>
          </p:cNvPr>
          <p:cNvSpPr/>
          <p:nvPr/>
        </p:nvSpPr>
        <p:spPr>
          <a:xfrm>
            <a:off x="6094495" y="5169445"/>
            <a:ext cx="2175513" cy="918544"/>
          </a:xfrm>
          <a:prstGeom prst="wedgeRoundRectCallout">
            <a:avLst>
              <a:gd name="adj1" fmla="val 54814"/>
              <a:gd name="adj2" fmla="val -79652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>
              <a:defRPr/>
            </a:pPr>
            <a:r>
              <a:rPr lang="en-GB" sz="1600" b="1" dirty="0">
                <a:solidFill>
                  <a:srgbClr val="253746"/>
                </a:solidFill>
                <a:latin typeface="Calibri" panose="020F0502020204030204"/>
              </a:rPr>
              <a:t>So this is the time that the train is now expected to depart.</a:t>
            </a:r>
          </a:p>
        </p:txBody>
      </p:sp>
    </p:spTree>
    <p:extLst>
      <p:ext uri="{BB962C8B-B14F-4D97-AF65-F5344CB8AC3E}">
        <p14:creationId xmlns:p14="http://schemas.microsoft.com/office/powerpoint/2010/main" val="280215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5" grpId="0"/>
      <p:bldP spid="26" grpId="0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709488" y="6367376"/>
            <a:ext cx="719921" cy="365125"/>
          </a:xfrm>
        </p:spPr>
        <p:txBody>
          <a:bodyPr/>
          <a:lstStyle/>
          <a:p>
            <a:pPr defTabSz="457200"/>
            <a:fld id="{BA0EE811-478C-4958-8104-2A70B5A19611}" type="slidenum">
              <a:rPr lang="en-GB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457200"/>
              <a:t>8</a:t>
            </a:fld>
            <a:endParaRPr lang="en-GB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0884E2-91C5-4672-B1A3-7B7960664177}"/>
              </a:ext>
            </a:extLst>
          </p:cNvPr>
          <p:cNvSpPr txBox="1"/>
          <p:nvPr/>
        </p:nvSpPr>
        <p:spPr>
          <a:xfrm>
            <a:off x="1640681" y="138645"/>
            <a:ext cx="8871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253746"/>
                </a:solidFill>
                <a:latin typeface="Calibri" panose="020F0502020204030204"/>
              </a:rPr>
              <a:t>Day 4: </a:t>
            </a:r>
            <a:r>
              <a:rPr lang="en-GB" sz="2000" b="1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rPr>
              <a:t>Given a time delay, count on to find new train departure and arrival times.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34B3D0-2152-4C93-B2DD-838336C8058E}"/>
              </a:ext>
            </a:extLst>
          </p:cNvPr>
          <p:cNvSpPr/>
          <p:nvPr/>
        </p:nvSpPr>
        <p:spPr>
          <a:xfrm>
            <a:off x="2257926" y="1058324"/>
            <a:ext cx="4171482" cy="14773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defTabSz="457200"/>
            <a:r>
              <a:rPr lang="en-GB" b="1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The train to Gloucester, due to depart at 18:52, is running approximately 45 minutes late as a result of signalling problems.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E50485-3377-414F-BA8D-9E2AADB3E471}"/>
              </a:ext>
            </a:extLst>
          </p:cNvPr>
          <p:cNvGrpSpPr/>
          <p:nvPr/>
        </p:nvGrpSpPr>
        <p:grpSpPr>
          <a:xfrm>
            <a:off x="7186864" y="1552359"/>
            <a:ext cx="2990585" cy="700313"/>
            <a:chOff x="3264711" y="2767946"/>
            <a:chExt cx="2990585" cy="700313"/>
          </a:xfrm>
        </p:grpSpPr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E63B19C6-B3E1-408D-AEA2-9AD7FF5EECA0}"/>
                </a:ext>
              </a:extLst>
            </p:cNvPr>
            <p:cNvSpPr/>
            <p:nvPr/>
          </p:nvSpPr>
          <p:spPr>
            <a:xfrm>
              <a:off x="3264711" y="2767946"/>
              <a:ext cx="2568124" cy="700313"/>
            </a:xfrm>
            <a:prstGeom prst="wedgeRoundRectCallout">
              <a:avLst>
                <a:gd name="adj1" fmla="val -78600"/>
                <a:gd name="adj2" fmla="val -2634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GB" sz="1600" b="1" dirty="0">
                  <a:solidFill>
                    <a:srgbClr val="253746"/>
                  </a:solidFill>
                  <a:latin typeface="Calibri" panose="020F0502020204030204"/>
                </a:rPr>
                <a:t>Calculate the new departure time.</a:t>
              </a:r>
              <a:endParaRPr lang="en-GB" sz="1600" b="1" i="1" dirty="0">
                <a:solidFill>
                  <a:srgbClr val="253746"/>
                </a:solidFill>
                <a:latin typeface="Calibri" panose="020F0502020204030204"/>
              </a:endParaRPr>
            </a:p>
          </p:txBody>
        </p:sp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E8717276-B36D-4204-99D3-1B4938052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1907" y="2767946"/>
              <a:ext cx="623389" cy="623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709C0E2-A70A-4735-97CA-643BEF337820}"/>
              </a:ext>
            </a:extLst>
          </p:cNvPr>
          <p:cNvSpPr/>
          <p:nvPr/>
        </p:nvSpPr>
        <p:spPr>
          <a:xfrm>
            <a:off x="2257926" y="3808273"/>
            <a:ext cx="4171482" cy="14773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defTabSz="457200"/>
            <a:r>
              <a:rPr lang="en-GB" b="1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The 13:53 to Penzance is running approximately 1 hour and 15 minutes late as a result of stormy weather conditions causing flooding.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C753A6-D170-4977-AB03-9BEEDF4808EB}"/>
              </a:ext>
            </a:extLst>
          </p:cNvPr>
          <p:cNvGrpSpPr/>
          <p:nvPr/>
        </p:nvGrpSpPr>
        <p:grpSpPr>
          <a:xfrm>
            <a:off x="7186864" y="4302308"/>
            <a:ext cx="2990585" cy="700313"/>
            <a:chOff x="3264711" y="2767946"/>
            <a:chExt cx="2990585" cy="700313"/>
          </a:xfrm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56B29389-8E0A-41D6-9F4B-E2B109D70E99}"/>
                </a:ext>
              </a:extLst>
            </p:cNvPr>
            <p:cNvSpPr/>
            <p:nvPr/>
          </p:nvSpPr>
          <p:spPr>
            <a:xfrm>
              <a:off x="3264711" y="2767946"/>
              <a:ext cx="2568124" cy="700313"/>
            </a:xfrm>
            <a:prstGeom prst="wedgeRoundRectCallout">
              <a:avLst>
                <a:gd name="adj1" fmla="val -78600"/>
                <a:gd name="adj2" fmla="val -2634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GB" sz="1600" b="1" dirty="0">
                  <a:solidFill>
                    <a:srgbClr val="253746"/>
                  </a:solidFill>
                  <a:latin typeface="Calibri" panose="020F0502020204030204"/>
                </a:rPr>
                <a:t>Calculate the new departure time.</a:t>
              </a:r>
              <a:endParaRPr lang="en-GB" sz="1600" b="1" i="1" dirty="0">
                <a:solidFill>
                  <a:srgbClr val="253746"/>
                </a:solidFill>
                <a:latin typeface="Calibri" panose="020F0502020204030204"/>
              </a:endParaRPr>
            </a:p>
          </p:txBody>
        </p: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1FB34CF-5CDB-43CC-8D6B-7720C26DC7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1907" y="2767946"/>
              <a:ext cx="623389" cy="623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1407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709488" y="6367376"/>
            <a:ext cx="719921" cy="365125"/>
          </a:xfrm>
        </p:spPr>
        <p:txBody>
          <a:bodyPr/>
          <a:lstStyle/>
          <a:p>
            <a:pPr defTabSz="457200"/>
            <a:fld id="{BA0EE811-478C-4958-8104-2A70B5A19611}" type="slidenum">
              <a:rPr lang="en-GB">
                <a:solidFill>
                  <a:srgbClr val="EA7600"/>
                </a:solidFill>
                <a:latin typeface="Calibri" panose="020F0502020204030204"/>
              </a:rPr>
              <a:pPr defTabSz="457200"/>
              <a:t>9</a:t>
            </a:fld>
            <a:endParaRPr lang="en-GB" dirty="0">
              <a:solidFill>
                <a:srgbClr val="EA7600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760634-7579-4442-9553-DA36E056B4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6" t="9867" r="13846" b="11683"/>
          <a:stretch/>
        </p:blipFill>
        <p:spPr>
          <a:xfrm>
            <a:off x="2334070" y="215932"/>
            <a:ext cx="7523860" cy="57811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7819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709488" y="6367376"/>
            <a:ext cx="719921" cy="365125"/>
          </a:xfrm>
        </p:spPr>
        <p:txBody>
          <a:bodyPr/>
          <a:lstStyle/>
          <a:p>
            <a:pPr defTabSz="457200"/>
            <a:fld id="{BA0EE811-478C-4958-8104-2A70B5A19611}" type="slidenum">
              <a:rPr lang="en-GB">
                <a:solidFill>
                  <a:srgbClr val="EA7600"/>
                </a:solidFill>
                <a:latin typeface="Calibri" panose="020F0502020204030204"/>
              </a:rPr>
              <a:pPr defTabSz="457200"/>
              <a:t>10</a:t>
            </a:fld>
            <a:endParaRPr lang="en-GB" dirty="0">
              <a:solidFill>
                <a:srgbClr val="EA7600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9677ED-5C54-4353-B94F-C526DD00205C}"/>
              </a:ext>
            </a:extLst>
          </p:cNvPr>
          <p:cNvSpPr txBox="1"/>
          <p:nvPr/>
        </p:nvSpPr>
        <p:spPr>
          <a:xfrm>
            <a:off x="2004195" y="1904104"/>
            <a:ext cx="8130503" cy="368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spcAft>
                <a:spcPts val="450"/>
              </a:spcAft>
              <a:buClr>
                <a:srgbClr val="ED7D31"/>
              </a:buClr>
            </a:pPr>
            <a:r>
              <a:rPr lang="en-US" sz="2400" b="1" dirty="0">
                <a:solidFill>
                  <a:srgbClr val="253746"/>
                </a:solidFill>
                <a:latin typeface="Calibri" panose="020F0502020204030204"/>
              </a:rPr>
              <a:t>Objectives</a:t>
            </a:r>
            <a:endParaRPr lang="en-GB" sz="2400" b="1" dirty="0">
              <a:solidFill>
                <a:srgbClr val="253746"/>
              </a:solidFill>
              <a:latin typeface="Calibri" panose="020F0502020204030204"/>
            </a:endParaRPr>
          </a:p>
          <a:p>
            <a:pPr defTabSz="457200"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253746"/>
                </a:solidFill>
                <a:latin typeface="Calibri" panose="020F0502020204030204"/>
              </a:rPr>
              <a:t>Day 1</a:t>
            </a:r>
          </a:p>
          <a:p>
            <a:pPr defTabSz="457200">
              <a:spcAft>
                <a:spcPts val="1000"/>
              </a:spcAft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rPr>
              <a:t>Calculate time intervals using the 24-hour clock</a:t>
            </a:r>
          </a:p>
          <a:p>
            <a:pPr defTabSz="457200"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253746"/>
                </a:solidFill>
                <a:latin typeface="Calibri" panose="020F0502020204030204"/>
              </a:rPr>
              <a:t>Day 2</a:t>
            </a:r>
          </a:p>
          <a:p>
            <a:pPr defTabSz="457200">
              <a:spcAft>
                <a:spcPts val="1000"/>
              </a:spcAft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rPr>
              <a:t>Read timetables and calculate time intervals using the 24-hour clock</a:t>
            </a:r>
          </a:p>
          <a:p>
            <a:pPr defTabSz="457200"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253746"/>
                </a:solidFill>
                <a:latin typeface="Calibri" panose="020F0502020204030204"/>
              </a:rPr>
              <a:t>Day 3</a:t>
            </a:r>
          </a:p>
          <a:p>
            <a:pPr defTabSz="457200">
              <a:spcAft>
                <a:spcPts val="1000"/>
              </a:spcAft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rPr>
              <a:t>Read timetables using the 24-hour clock.                                                  Calculate time intervals.</a:t>
            </a:r>
          </a:p>
          <a:p>
            <a:pPr defTabSz="457200"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253746"/>
                </a:solidFill>
                <a:latin typeface="Calibri" panose="020F0502020204030204"/>
              </a:rPr>
              <a:t>Day 4</a:t>
            </a:r>
          </a:p>
          <a:p>
            <a:pPr defTabSz="457200">
              <a:spcAft>
                <a:spcPts val="1000"/>
              </a:spcAft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5B9BD5">
                    <a:lumMod val="75000"/>
                  </a:srgbClr>
                </a:solidFill>
                <a:latin typeface="Calibri" panose="020F0502020204030204"/>
              </a:rPr>
              <a:t>Given a time delay, count on to find new train departure and arrival times.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4F3FED-3247-4F55-BF8A-D1D9E087C650}"/>
              </a:ext>
            </a:extLst>
          </p:cNvPr>
          <p:cNvSpPr txBox="1"/>
          <p:nvPr/>
        </p:nvSpPr>
        <p:spPr>
          <a:xfrm>
            <a:off x="1640681" y="16610"/>
            <a:ext cx="893810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GB" sz="2800" b="1" dirty="0">
                <a:solidFill>
                  <a:srgbClr val="253746"/>
                </a:solidFill>
                <a:latin typeface="Calibri" panose="020F0502020204030204"/>
              </a:rPr>
              <a:t>Measures and Data</a:t>
            </a:r>
          </a:p>
          <a:p>
            <a:pPr algn="ctr" defTabSz="457200"/>
            <a:r>
              <a:rPr lang="en-GB" sz="2400" b="1" dirty="0">
                <a:solidFill>
                  <a:srgbClr val="253746"/>
                </a:solidFill>
                <a:latin typeface="Calibri" panose="020F0502020204030204"/>
              </a:rPr>
              <a:t>Read timetables using 24-hour clock</a:t>
            </a:r>
          </a:p>
          <a:p>
            <a:pPr algn="ctr" defTabSz="457200"/>
            <a:r>
              <a:rPr lang="en-GB" sz="2400" b="1" dirty="0">
                <a:solidFill>
                  <a:srgbClr val="253746"/>
                </a:solidFill>
                <a:latin typeface="Calibri" panose="020F0502020204030204"/>
              </a:rPr>
              <a:t>Calculate time intervals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82F35A-7B23-48B0-ABE7-03A8E361EBA0}"/>
              </a:ext>
            </a:extLst>
          </p:cNvPr>
          <p:cNvGrpSpPr/>
          <p:nvPr/>
        </p:nvGrpSpPr>
        <p:grpSpPr>
          <a:xfrm>
            <a:off x="2899434" y="1034924"/>
            <a:ext cx="6344904" cy="1009650"/>
            <a:chOff x="943742" y="1418496"/>
            <a:chExt cx="6344904" cy="100965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DE9DC36-D220-415D-B76C-73A34FF017B6}"/>
                </a:ext>
              </a:extLst>
            </p:cNvPr>
            <p:cNvSpPr txBox="1"/>
            <p:nvPr/>
          </p:nvSpPr>
          <p:spPr>
            <a:xfrm>
              <a:off x="1802246" y="1729083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GB" sz="2400" b="1" dirty="0">
                  <a:solidFill>
                    <a:srgbClr val="253746"/>
                  </a:solidFill>
                  <a:latin typeface="Calibri" panose="020F0502020204030204"/>
                </a:rPr>
                <a:t>Well Done!  You’ve completed this unit.</a:t>
              </a:r>
            </a:p>
          </p:txBody>
        </p:sp>
        <p:pic>
          <p:nvPicPr>
            <p:cNvPr id="8" name="Picture 3" descr="N:\Documents\Website\Wagtail Website\User Manuel for HT\Smiley-face.png">
              <a:extLst>
                <a:ext uri="{FF2B5EF4-FFF2-40B4-BE49-F238E27FC236}">
                  <a16:creationId xmlns:a16="http://schemas.microsoft.com/office/drawing/2014/main" id="{4ACD7905-29D9-4629-8EC2-0277E00E0E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3742" y="1418496"/>
              <a:ext cx="1019175" cy="1009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89613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709488" y="6367376"/>
            <a:ext cx="719921" cy="365125"/>
          </a:xfrm>
        </p:spPr>
        <p:txBody>
          <a:bodyPr/>
          <a:lstStyle/>
          <a:p>
            <a:pPr defTabSz="457200"/>
            <a:fld id="{BA0EE811-478C-4958-8104-2A70B5A19611}" type="slidenum">
              <a:rPr lang="en-GB">
                <a:solidFill>
                  <a:srgbClr val="EA7600"/>
                </a:solidFill>
                <a:latin typeface="Calibri" panose="020F0502020204030204"/>
              </a:rPr>
              <a:pPr defTabSz="457200"/>
              <a:t>11</a:t>
            </a:fld>
            <a:endParaRPr lang="en-GB" dirty="0">
              <a:solidFill>
                <a:srgbClr val="EA7600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C486FE-0542-4482-AD40-87B16F714A61}"/>
              </a:ext>
            </a:extLst>
          </p:cNvPr>
          <p:cNvSpPr/>
          <p:nvPr/>
        </p:nvSpPr>
        <p:spPr>
          <a:xfrm>
            <a:off x="2855887" y="125500"/>
            <a:ext cx="6480618" cy="60146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66675" algn="ctr" defTabSz="457200">
              <a:spcAft>
                <a:spcPts val="600"/>
              </a:spcAft>
            </a:pPr>
            <a:r>
              <a:rPr lang="en-GB" sz="2000" b="1" dirty="0">
                <a:solidFill>
                  <a:prstClr val="black"/>
                </a:solidFill>
                <a:latin typeface="Calibri" panose="020F0502020204030204"/>
              </a:rPr>
              <a:t>Problem solving and reasoning questions</a:t>
            </a:r>
          </a:p>
          <a:p>
            <a:pPr marL="66675" defTabSz="457200">
              <a:spcAft>
                <a:spcPts val="600"/>
              </a:spcAft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True or false?</a:t>
            </a:r>
          </a:p>
          <a:p>
            <a:pPr marL="66675" defTabSz="4572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•	13:40 is twenty to two in the afternoon. </a:t>
            </a:r>
          </a:p>
          <a:p>
            <a:pPr marL="66675" defTabSz="4572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•	Midnight is 00:00 </a:t>
            </a:r>
          </a:p>
          <a:p>
            <a:pPr marL="66675" defTabSz="4572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•	Midday is 12:00 on 24 hour clock</a:t>
            </a:r>
          </a:p>
          <a:p>
            <a:pPr marL="66675" defTabSz="4572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•	19:15 is quarter past 7 in the morning.</a:t>
            </a:r>
          </a:p>
          <a:p>
            <a:pPr marL="66675" defTabSz="457200">
              <a:spcAft>
                <a:spcPts val="600"/>
              </a:spcAft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•	1 hour after 15:00 is six o’clock pm.   </a:t>
            </a:r>
          </a:p>
          <a:p>
            <a:pPr marL="66675" defTabSz="457200">
              <a:spcAft>
                <a:spcPts val="600"/>
              </a:spcAft>
            </a:pPr>
            <a:endParaRPr lang="en-GB" dirty="0">
              <a:solidFill>
                <a:prstClr val="black"/>
              </a:solidFill>
              <a:latin typeface="Calibri" panose="020F0502020204030204"/>
            </a:endParaRPr>
          </a:p>
          <a:p>
            <a:pPr marL="66675" defTabSz="457200">
              <a:spcAft>
                <a:spcPts val="600"/>
              </a:spcAft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Calculate how long it is between…</a:t>
            </a:r>
          </a:p>
          <a:p>
            <a:pPr marL="66675" defTabSz="4572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•	13:40 and five to 5 in the afternoon</a:t>
            </a:r>
          </a:p>
          <a:p>
            <a:pPr marL="66675" defTabSz="4572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•	Quarter to midday and 17:23</a:t>
            </a:r>
          </a:p>
          <a:p>
            <a:pPr marL="66675" defTabSz="457200">
              <a:spcAft>
                <a:spcPts val="600"/>
              </a:spcAft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•	Five past midnight and ten to midday</a:t>
            </a:r>
          </a:p>
          <a:p>
            <a:pPr marL="66675" defTabSz="457200">
              <a:spcAft>
                <a:spcPts val="600"/>
              </a:spcAft>
            </a:pPr>
            <a:endParaRPr lang="en-GB" dirty="0">
              <a:solidFill>
                <a:prstClr val="black"/>
              </a:solidFill>
              <a:latin typeface="Calibri" panose="020F0502020204030204"/>
            </a:endParaRPr>
          </a:p>
          <a:p>
            <a:pPr marL="66675" defTabSz="457200">
              <a:spcAft>
                <a:spcPts val="600"/>
              </a:spcAft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If each bus is 40 minutes late, write its new arrival time.</a:t>
            </a:r>
          </a:p>
          <a:p>
            <a:pPr marL="66675" defTabSz="4572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GB" dirty="0" err="1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) No. 31 bus due at 12:55</a:t>
            </a:r>
          </a:p>
          <a:p>
            <a:pPr marL="66675" defTabSz="4572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(ii)  No. 22 bus due at 13:04 </a:t>
            </a:r>
          </a:p>
          <a:p>
            <a:pPr marL="66675" defTabSz="457200">
              <a:spcAft>
                <a:spcPts val="600"/>
              </a:spcAft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(iii)  No. 15 bus due at 14:44 </a:t>
            </a:r>
          </a:p>
          <a:p>
            <a:pPr marL="66675" defTabSz="457200">
              <a:spcAft>
                <a:spcPts val="600"/>
              </a:spcAft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The number 4A bus arrived 27 minutes late at 00:14. What time was it due?</a:t>
            </a:r>
          </a:p>
          <a:p>
            <a:pPr marL="66675" algn="ctr" defTabSz="457200">
              <a:spcAft>
                <a:spcPts val="600"/>
              </a:spcAft>
            </a:pPr>
            <a:r>
              <a:rPr lang="en-GB" sz="16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8938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709488" y="6367376"/>
            <a:ext cx="719921" cy="365125"/>
          </a:xfrm>
        </p:spPr>
        <p:txBody>
          <a:bodyPr/>
          <a:lstStyle/>
          <a:p>
            <a:pPr defTabSz="457200"/>
            <a:fld id="{BA0EE811-478C-4958-8104-2A70B5A19611}" type="slidenum">
              <a:rPr lang="en-GB">
                <a:solidFill>
                  <a:srgbClr val="EA7600"/>
                </a:solidFill>
                <a:latin typeface="Calibri" panose="020F0502020204030204"/>
              </a:rPr>
              <a:pPr defTabSz="457200"/>
              <a:t>12</a:t>
            </a:fld>
            <a:endParaRPr lang="en-GB" dirty="0">
              <a:solidFill>
                <a:srgbClr val="EA7600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C486FE-0542-4482-AD40-87B16F714A61}"/>
              </a:ext>
            </a:extLst>
          </p:cNvPr>
          <p:cNvSpPr/>
          <p:nvPr/>
        </p:nvSpPr>
        <p:spPr>
          <a:xfrm>
            <a:off x="2855691" y="345633"/>
            <a:ext cx="6480618" cy="542863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66675" algn="ctr" defTabSz="457200"/>
            <a:r>
              <a:rPr lang="en-GB" b="1" dirty="0">
                <a:solidFill>
                  <a:prstClr val="black"/>
                </a:solidFill>
                <a:latin typeface="Calibri" panose="020F0502020204030204"/>
              </a:rPr>
              <a:t>Problem solving and reasoning: Answers</a:t>
            </a:r>
          </a:p>
          <a:p>
            <a:pPr marL="66675" defTabSz="4572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True or false?</a:t>
            </a:r>
          </a:p>
          <a:p>
            <a:pPr marL="66675" defTabSz="4572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•	13:40 is twenty to two in the afternoon.   </a:t>
            </a:r>
            <a:r>
              <a:rPr lang="en-GB" sz="1500" dirty="0">
                <a:solidFill>
                  <a:srgbClr val="00B050"/>
                </a:solidFill>
                <a:latin typeface="Calibri" panose="020F0502020204030204"/>
              </a:rPr>
              <a:t>True</a:t>
            </a:r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66675" defTabSz="4572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•	Midnight is 00:00   </a:t>
            </a:r>
            <a:r>
              <a:rPr lang="en-GB" sz="1500" dirty="0">
                <a:solidFill>
                  <a:srgbClr val="00B050"/>
                </a:solidFill>
                <a:latin typeface="Calibri" panose="020F0502020204030204"/>
              </a:rPr>
              <a:t>True</a:t>
            </a:r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66675" defTabSz="4572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•	Midday is 12:00 on 24 hour clock   </a:t>
            </a:r>
            <a:r>
              <a:rPr lang="en-GB" sz="1500" dirty="0">
                <a:solidFill>
                  <a:srgbClr val="00B050"/>
                </a:solidFill>
                <a:latin typeface="Calibri" panose="020F0502020204030204"/>
              </a:rPr>
              <a:t>True</a:t>
            </a:r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66675" defTabSz="4572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•	19:15 is quarter past 7 in the morning. </a:t>
            </a:r>
            <a:r>
              <a:rPr lang="en-GB" sz="1400" dirty="0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 - it is in the evening</a:t>
            </a:r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66675" defTabSz="4572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•	1 hour after 15:00 is six o’clock pm. </a:t>
            </a:r>
            <a:r>
              <a:rPr lang="en-GB" sz="1400" dirty="0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 - it is four o’clock pm</a:t>
            </a:r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66675" defTabSz="457200"/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66675" defTabSz="4572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Calculate how long it is between…</a:t>
            </a:r>
          </a:p>
          <a:p>
            <a:pPr marL="66675" defTabSz="4572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•	13:40 and five to 5 in the afternoon   </a:t>
            </a:r>
            <a:r>
              <a:rPr lang="en-GB" sz="1400" dirty="0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3 hours 15 minutes</a:t>
            </a:r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66675" defTabSz="4572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•	Quarter to midday and 17:23   </a:t>
            </a:r>
            <a:r>
              <a:rPr lang="en-GB" sz="1400" dirty="0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5 hours and 38 minutes</a:t>
            </a:r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4572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•	Five past midnight and ten to midday   </a:t>
            </a:r>
            <a:r>
              <a:rPr lang="en-GB" sz="1400" dirty="0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11 hours and 45 minutes.</a:t>
            </a:r>
            <a:r>
              <a:rPr lang="en-GB" sz="1400" dirty="0">
                <a:solidFill>
                  <a:prstClr val="white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endParaRPr lang="en-GB" sz="1100" dirty="0">
              <a:solidFill>
                <a:prstClr val="white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defTabSz="457200"/>
            <a:r>
              <a:rPr lang="en-GB" sz="1400" dirty="0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An ENL jotting can help with these calculations, which are probably best-solved by </a:t>
            </a:r>
            <a:r>
              <a:rPr lang="en-GB" sz="1400" b="1" dirty="0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counting up</a:t>
            </a:r>
            <a:r>
              <a:rPr lang="en-GB" sz="1400" dirty="0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from the earlier to the later time.</a:t>
            </a:r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66675" defTabSz="457200"/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66675" defTabSz="4572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If each bus is 40 minutes late, write its new arrival time.</a:t>
            </a:r>
          </a:p>
          <a:p>
            <a:pPr marL="66675" defTabSz="4572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GB" sz="1500" dirty="0" err="1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) No. 31 bus due at 12:55	  </a:t>
            </a:r>
            <a:r>
              <a:rPr lang="en-GB" sz="1400" dirty="0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13:35</a:t>
            </a:r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66675" defTabSz="4572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(ii)  No. 22 bus due at 13:04	  </a:t>
            </a:r>
            <a:r>
              <a:rPr lang="en-GB" sz="1400" dirty="0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13:44</a:t>
            </a:r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466725" indent="-400050" defTabSz="457200">
              <a:buFontTx/>
              <a:buAutoNum type="romanLcParenBoth" startAt="3"/>
            </a:pPr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No. 15 bus due at 14:44	  </a:t>
            </a:r>
            <a:r>
              <a:rPr lang="en-GB" sz="1400" dirty="0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15:24</a:t>
            </a:r>
          </a:p>
          <a:p>
            <a:pPr marL="66675" defTabSz="457200"/>
            <a:r>
              <a:rPr lang="en-GB" sz="1400" dirty="0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Answers of 12:95 and 14:84 for (</a:t>
            </a:r>
            <a:r>
              <a:rPr lang="en-GB" sz="1400" dirty="0" err="1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GB" sz="1400" dirty="0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and (iii) respectively suggest child had added the minutes but forgotten that there are only 60mins in an hour.</a:t>
            </a:r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66675" defTabSz="4572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The number 4A bus arrived 27 minutes late at 00:14. What time was it due?</a:t>
            </a:r>
          </a:p>
          <a:p>
            <a:pPr marL="66675" defTabSz="457200"/>
            <a:r>
              <a:rPr lang="en-GB" sz="1400" dirty="0">
                <a:solidFill>
                  <a:srgbClr val="00B05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23:47</a:t>
            </a:r>
            <a:endParaRPr lang="en-GB" sz="1600" b="1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754647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A7600"/>
      </a:hlink>
      <a:folHlink>
        <a:srgbClr val="EA760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1154</Words>
  <Application>Microsoft Office PowerPoint</Application>
  <PresentationFormat>Widescreen</PresentationFormat>
  <Paragraphs>139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Lucida Sans Typewriter</vt:lpstr>
      <vt:lpstr>Symbol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DAVIES Rhys [Busselton Senior High School]</dc:creator>
  <cp:lastModifiedBy>DAVIES Rhys [Busselton Senior High School]</cp:lastModifiedBy>
  <cp:revision>5</cp:revision>
  <dcterms:created xsi:type="dcterms:W3CDTF">2022-06-20T08:20:38Z</dcterms:created>
  <dcterms:modified xsi:type="dcterms:W3CDTF">2022-06-22T05:19:08Z</dcterms:modified>
</cp:coreProperties>
</file>
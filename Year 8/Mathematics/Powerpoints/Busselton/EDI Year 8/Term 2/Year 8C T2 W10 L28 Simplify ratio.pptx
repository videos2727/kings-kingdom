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4233B-5299-C126-0FD3-E6F2033A96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C85EE2-6C6C-1315-3471-A7BBCCD2C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29267-5808-E69F-B2E8-E51424277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F935-4586-4D4B-9312-C336C599C39C}" type="datetimeFigureOut">
              <a:rPr lang="en-AU" smtClean="0"/>
              <a:t>28/06/2022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29985-C68D-4F10-D548-4DEE8B7A4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B5BAA-1965-8023-95CF-29322DF0B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692B-AEAB-4D37-8ECE-7BF23CAB9C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8047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D54F0-DFA9-42C3-5B62-C17B11619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C08C3-D401-D6C5-7D28-A8DE582D7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9D5F9-E997-F28F-1E25-97549F176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F935-4586-4D4B-9312-C336C599C39C}" type="datetimeFigureOut">
              <a:rPr lang="en-AU" smtClean="0"/>
              <a:t>28/06/2022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D20A1-CF3A-0685-3E92-87687570F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C344C-2CD0-6DAD-4621-3024E211C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692B-AEAB-4D37-8ECE-7BF23CAB9C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6387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6C562-4469-553C-5E7E-EAF61B3C3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19677-8973-7C45-618C-63FF808E3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53087-9830-40CA-A31B-BFC179936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F935-4586-4D4B-9312-C336C599C39C}" type="datetimeFigureOut">
              <a:rPr lang="en-AU" smtClean="0"/>
              <a:t>28/06/2022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21F9B-5F99-6BEA-0A14-45BBFC50E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C6A3F-C071-E530-B452-86B58EEE7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692B-AEAB-4D37-8ECE-7BF23CAB9C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6943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01315-2D31-8C13-CE6F-79CB0C561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81CC8-7C54-BF70-A4E7-F6DFB04DDA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064-B4AC-9F89-8C39-3896FF1544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49675D-573D-8B53-64FF-3ABCC199E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F935-4586-4D4B-9312-C336C599C39C}" type="datetimeFigureOut">
              <a:rPr lang="en-AU" smtClean="0"/>
              <a:t>28/06/2022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C19B5B-2E92-02A6-58C2-09213707D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026B5C-F653-A04F-3BA2-4020EA55D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692B-AEAB-4D37-8ECE-7BF23CAB9C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947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EC77C-46BD-361E-0631-43744A837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62D43-9AA8-21C6-7D2E-498D7979E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B61D3C-3EF2-1B55-651D-AA7192400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89676F-E712-EE30-637C-64112FB07C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9BB828-08A9-48D2-8EBE-2005D5C935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A87157-37D7-67D2-BD96-37FE7689B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F935-4586-4D4B-9312-C336C599C39C}" type="datetimeFigureOut">
              <a:rPr lang="en-AU" smtClean="0"/>
              <a:t>28/06/2022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981DD4-2EC8-E15D-AB49-9860FB73F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A89BC0-3114-A1DB-E9FC-AB38EFBFA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692B-AEAB-4D37-8ECE-7BF23CAB9C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8853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1BF97-D783-3B25-3B9B-49623B342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17E899-71F6-1B9C-F329-C437BFC19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F935-4586-4D4B-9312-C336C599C39C}" type="datetimeFigureOut">
              <a:rPr lang="en-AU" smtClean="0"/>
              <a:t>28/06/2022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FB87EE-584D-5D72-FE87-5ADE0782C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E7E7F3-FABF-6DC4-E74D-BA27516FD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692B-AEAB-4D37-8ECE-7BF23CAB9C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3135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F491CC-5817-CB05-ADED-727822CE5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F935-4586-4D4B-9312-C336C599C39C}" type="datetimeFigureOut">
              <a:rPr lang="en-AU" smtClean="0"/>
              <a:t>28/06/2022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AE8808-D966-FC87-EC27-2F461452C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28AB4-E73A-039E-4040-A34A65921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692B-AEAB-4D37-8ECE-7BF23CAB9C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5594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81717-39F7-651E-C9C4-154D091CD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9A723-8FD3-5973-6252-52EE87141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67013E-2615-64A4-598E-83E8E620C8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0DC761-BA51-E417-2E72-F06B42928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F935-4586-4D4B-9312-C336C599C39C}" type="datetimeFigureOut">
              <a:rPr lang="en-AU" smtClean="0"/>
              <a:t>28/06/2022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F677E3-779D-273E-E456-23D2A705B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0621A-C8CA-DE99-55F7-C54A7D929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692B-AEAB-4D37-8ECE-7BF23CAB9C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3459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71721-9676-497F-F666-93DA724FF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4012B1-FC8A-ACAE-919D-788E6E1AF5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FE256E-FB04-781B-E022-9987283D9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97313-6FBC-0355-8EEA-7EA829B65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F935-4586-4D4B-9312-C336C599C39C}" type="datetimeFigureOut">
              <a:rPr lang="en-AU" smtClean="0"/>
              <a:t>28/06/2022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A2D7B3-EE03-41C0-7C59-760409A6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13564-4386-2B78-7034-2561114F1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692B-AEAB-4D37-8ECE-7BF23CAB9C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2916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6F14-E323-BAB5-773E-F6B2F15F6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516E11-F05B-1E2C-DACA-3D0AAF2C77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A5C1E-BC29-C4EF-BC55-F1F6D9E30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F935-4586-4D4B-9312-C336C599C39C}" type="datetimeFigureOut">
              <a:rPr lang="en-AU" smtClean="0"/>
              <a:t>28/06/2022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0FB6C-F84D-7F7B-8A3D-73267F3C4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FCAB3-8BED-751B-D74C-006C9F1EA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692B-AEAB-4D37-8ECE-7BF23CAB9C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689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23C55D-7825-61BD-BD8F-1F91D42617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007F66-D26B-63DB-812F-17430A198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0BEE6-71A5-0DDD-A8C9-2A01FBB5E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F935-4586-4D4B-9312-C336C599C39C}" type="datetimeFigureOut">
              <a:rPr lang="en-AU" smtClean="0"/>
              <a:t>28/06/2022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09946-D0EE-45ED-33C6-CFFFE63E9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38925-81C2-3A12-AC18-6C2387E0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692B-AEAB-4D37-8ECE-7BF23CAB9C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4051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28/06/2022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6848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4"/>
            <a:ext cx="12192000" cy="6194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9"/>
            <a:ext cx="121920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28/06/2022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54243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28/06/2022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96501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28/06/2022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11220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28/06/2022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8515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28/06/2022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86842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28/06/2022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38756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28/06/2022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06413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28/06/2022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73748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28/06/2022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74018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28/06/2022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2489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B293AF-4EF7-2E2C-962A-2120AD33F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6A77A5-9100-D7CD-53C6-493CED7D9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E3447-5850-8F4F-7A15-E5A5F1715C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F7F935-4586-4D4B-9312-C336C599C39C}" type="datetimeFigureOut">
              <a:rPr lang="en-AU" smtClean="0"/>
              <a:t>28/06/2022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943F7-A9E4-3AAB-FB9D-E9E2D470A8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71C82-BD42-7A01-4BCD-3D8E9642F5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7A692B-AEAB-4D37-8ECE-7BF23CAB9C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297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933B1-4D7D-443F-8C1F-9DEEE3E2CC90}" type="datetimeFigureOut">
              <a:rPr lang="en-AU" smtClean="0"/>
              <a:t>28/06/2022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3984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D5668AB-45C9-33E7-80A4-E62B3B18A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F3E9B78-E080-D42B-CB41-08D93ADBB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Ratios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Be able to simplify ratios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Review: time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Identify column headings 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Simplifying ratios </a:t>
            </a:r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874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73DE2CFE-42F2-48F0-8706-5264E012B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288521" y="381403"/>
            <a:ext cx="2200313" cy="3342508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499CDF-8F87-4B15-A528-83A19A923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952" y="1204108"/>
            <a:ext cx="2669406" cy="1781175"/>
          </a:xfrm>
        </p:spPr>
        <p:txBody>
          <a:bodyPr>
            <a:normAutofit/>
          </a:bodyPr>
          <a:lstStyle/>
          <a:p>
            <a:r>
              <a:rPr lang="en-AU" sz="3200">
                <a:solidFill>
                  <a:srgbClr val="FFFFFF"/>
                </a:solidFill>
              </a:rPr>
              <a:t>Daily review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D6472-9354-42EB-9D74-B5079BA56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951" y="3355130"/>
            <a:ext cx="3947949" cy="350287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AU" sz="3400" dirty="0"/>
              <a:t>Think, pair, share </a:t>
            </a:r>
          </a:p>
          <a:p>
            <a:pPr marL="0" indent="0">
              <a:buNone/>
            </a:pPr>
            <a:endParaRPr lang="en-AU" sz="3400" dirty="0"/>
          </a:p>
          <a:p>
            <a:pPr marL="514350" indent="-514350">
              <a:buAutoNum type="arabicPeriod"/>
            </a:pPr>
            <a:r>
              <a:rPr lang="en-AU" sz="3400" dirty="0"/>
              <a:t>What time is it 48mins after 2:35pm? </a:t>
            </a:r>
          </a:p>
          <a:p>
            <a:pPr marL="514350" indent="-514350">
              <a:buAutoNum type="arabicPeriod"/>
            </a:pPr>
            <a:endParaRPr lang="en-AU" sz="3400" dirty="0"/>
          </a:p>
          <a:p>
            <a:pPr marL="514350" indent="-514350">
              <a:buAutoNum type="arabicPeriod"/>
            </a:pPr>
            <a:r>
              <a:rPr lang="en-AU" sz="3400" dirty="0"/>
              <a:t>Mr. Davies is in Perth and has to get to midland station before 8am. What is the LATEST bus he can catch?</a:t>
            </a:r>
            <a:endParaRPr lang="en-AU" sz="1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5C4105-7824-4A50-8811-88F721492D85}"/>
              </a:ext>
            </a:extLst>
          </p:cNvPr>
          <p:cNvGraphicFramePr>
            <a:graphicFrameLocks noGrp="1"/>
          </p:cNvGraphicFramePr>
          <p:nvPr/>
        </p:nvGraphicFramePr>
        <p:xfrm>
          <a:off x="5071677" y="2337929"/>
          <a:ext cx="6903727" cy="1887660"/>
        </p:xfrm>
        <a:graphic>
          <a:graphicData uri="http://schemas.openxmlformats.org/drawingml/2006/table">
            <a:tbl>
              <a:tblPr firstRow="1" firstCol="1" bandRow="1"/>
              <a:tblGrid>
                <a:gridCol w="1324999">
                  <a:extLst>
                    <a:ext uri="{9D8B030D-6E8A-4147-A177-3AD203B41FA5}">
                      <a16:colId xmlns:a16="http://schemas.microsoft.com/office/drawing/2014/main" val="1989720798"/>
                    </a:ext>
                  </a:extLst>
                </a:gridCol>
                <a:gridCol w="929788">
                  <a:extLst>
                    <a:ext uri="{9D8B030D-6E8A-4147-A177-3AD203B41FA5}">
                      <a16:colId xmlns:a16="http://schemas.microsoft.com/office/drawing/2014/main" val="1028066814"/>
                    </a:ext>
                  </a:extLst>
                </a:gridCol>
                <a:gridCol w="929788">
                  <a:extLst>
                    <a:ext uri="{9D8B030D-6E8A-4147-A177-3AD203B41FA5}">
                      <a16:colId xmlns:a16="http://schemas.microsoft.com/office/drawing/2014/main" val="188391577"/>
                    </a:ext>
                  </a:extLst>
                </a:gridCol>
                <a:gridCol w="929788">
                  <a:extLst>
                    <a:ext uri="{9D8B030D-6E8A-4147-A177-3AD203B41FA5}">
                      <a16:colId xmlns:a16="http://schemas.microsoft.com/office/drawing/2014/main" val="3809977449"/>
                    </a:ext>
                  </a:extLst>
                </a:gridCol>
                <a:gridCol w="929788">
                  <a:extLst>
                    <a:ext uri="{9D8B030D-6E8A-4147-A177-3AD203B41FA5}">
                      <a16:colId xmlns:a16="http://schemas.microsoft.com/office/drawing/2014/main" val="957265347"/>
                    </a:ext>
                  </a:extLst>
                </a:gridCol>
                <a:gridCol w="929788">
                  <a:extLst>
                    <a:ext uri="{9D8B030D-6E8A-4147-A177-3AD203B41FA5}">
                      <a16:colId xmlns:a16="http://schemas.microsoft.com/office/drawing/2014/main" val="701486105"/>
                    </a:ext>
                  </a:extLst>
                </a:gridCol>
                <a:gridCol w="929788">
                  <a:extLst>
                    <a:ext uri="{9D8B030D-6E8A-4147-A177-3AD203B41FA5}">
                      <a16:colId xmlns:a16="http://schemas.microsoft.com/office/drawing/2014/main" val="3115592035"/>
                    </a:ext>
                  </a:extLst>
                </a:gridCol>
              </a:tblGrid>
              <a:tr h="377532">
                <a:tc>
                  <a:txBody>
                    <a:bodyPr/>
                    <a:lstStyle/>
                    <a:p>
                      <a:pPr algn="l" fontAlgn="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Perth</a:t>
                      </a:r>
                      <a:endParaRPr lang="en-AU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323" marR="112323" marT="156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07:11</a:t>
                      </a:r>
                      <a:endParaRPr lang="en-AU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323" marR="112323" marT="156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07:20</a:t>
                      </a:r>
                      <a:endParaRPr lang="en-AU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323" marR="112323" marT="156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07:27</a:t>
                      </a:r>
                      <a:endParaRPr lang="en-AU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323" marR="112323" marT="156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07:35</a:t>
                      </a:r>
                      <a:endParaRPr lang="en-AU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323" marR="112323" marT="156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07:43</a:t>
                      </a:r>
                      <a:endParaRPr lang="en-AU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323" marR="112323" marT="156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07:55</a:t>
                      </a:r>
                      <a:endParaRPr lang="en-AU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323" marR="112323" marT="156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8204405"/>
                  </a:ext>
                </a:extLst>
              </a:tr>
              <a:tr h="377532">
                <a:tc>
                  <a:txBody>
                    <a:bodyPr/>
                    <a:lstStyle/>
                    <a:p>
                      <a:pPr algn="l" fontAlgn="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Maylands</a:t>
                      </a:r>
                      <a:endParaRPr lang="en-AU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323" marR="112323" marT="156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</a:t>
                      </a:r>
                      <a:endParaRPr lang="en-AU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323" marR="112323" marT="156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07:28</a:t>
                      </a:r>
                      <a:endParaRPr lang="en-AU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323" marR="112323" marT="156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07:33</a:t>
                      </a:r>
                      <a:endParaRPr lang="en-AU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323" marR="112323" marT="156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07:43</a:t>
                      </a:r>
                      <a:endParaRPr lang="en-AU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323" marR="112323" marT="156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07:49</a:t>
                      </a:r>
                      <a:endParaRPr lang="en-AU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323" marR="112323" marT="156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08:03</a:t>
                      </a:r>
                      <a:endParaRPr lang="en-AU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323" marR="112323" marT="156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3219284"/>
                  </a:ext>
                </a:extLst>
              </a:tr>
              <a:tr h="377532">
                <a:tc>
                  <a:txBody>
                    <a:bodyPr/>
                    <a:lstStyle/>
                    <a:p>
                      <a:pPr algn="l" fontAlgn="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Ashfield</a:t>
                      </a:r>
                      <a:endParaRPr lang="en-AU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323" marR="112323" marT="156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</a:t>
                      </a:r>
                      <a:endParaRPr lang="en-AU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323" marR="112323" marT="156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</a:t>
                      </a:r>
                      <a:endParaRPr lang="en-AU" sz="2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323" marR="112323" marT="156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07:38</a:t>
                      </a:r>
                      <a:endParaRPr lang="en-AU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323" marR="112323" marT="156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</a:t>
                      </a:r>
                      <a:endParaRPr lang="en-AU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323" marR="112323" marT="156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07:54</a:t>
                      </a:r>
                      <a:endParaRPr lang="en-AU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323" marR="112323" marT="156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</a:t>
                      </a:r>
                      <a:endParaRPr lang="en-AU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323" marR="112323" marT="156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7613245"/>
                  </a:ext>
                </a:extLst>
              </a:tr>
              <a:tr h="377532">
                <a:tc>
                  <a:txBody>
                    <a:bodyPr/>
                    <a:lstStyle/>
                    <a:p>
                      <a:pPr algn="l" fontAlgn="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Success Hill</a:t>
                      </a:r>
                      <a:endParaRPr lang="en-AU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323" marR="112323" marT="156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07:25</a:t>
                      </a:r>
                      <a:endParaRPr lang="en-AU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323" marR="112323" marT="156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</a:t>
                      </a:r>
                      <a:endParaRPr lang="en-AU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323" marR="112323" marT="156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07:41</a:t>
                      </a:r>
                      <a:endParaRPr lang="en-AU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323" marR="112323" marT="156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</a:t>
                      </a:r>
                      <a:endParaRPr lang="en-AU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323" marR="112323" marT="156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07:57</a:t>
                      </a:r>
                      <a:endParaRPr lang="en-AU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323" marR="112323" marT="156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</a:t>
                      </a:r>
                      <a:endParaRPr lang="en-AU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323" marR="112323" marT="156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2509886"/>
                  </a:ext>
                </a:extLst>
              </a:tr>
              <a:tr h="377532">
                <a:tc>
                  <a:txBody>
                    <a:bodyPr/>
                    <a:lstStyle/>
                    <a:p>
                      <a:pPr algn="l" fontAlgn="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Midland</a:t>
                      </a:r>
                      <a:endParaRPr lang="en-AU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323" marR="112323" marT="156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07:32</a:t>
                      </a:r>
                      <a:endParaRPr lang="en-AU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323" marR="112323" marT="156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07:41</a:t>
                      </a:r>
                      <a:endParaRPr lang="en-AU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323" marR="112323" marT="156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07:48</a:t>
                      </a:r>
                      <a:endParaRPr lang="en-AU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323" marR="112323" marT="156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07:56</a:t>
                      </a:r>
                      <a:endParaRPr lang="en-AU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323" marR="112323" marT="156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08:05</a:t>
                      </a:r>
                      <a:endParaRPr lang="en-AU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323" marR="112323" marT="156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08:16</a:t>
                      </a:r>
                      <a:endParaRPr lang="en-AU" sz="2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323" marR="112323" marT="156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1017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9702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153" y="0"/>
            <a:ext cx="9252520" cy="619474"/>
          </a:xfrm>
        </p:spPr>
        <p:txBody>
          <a:bodyPr>
            <a:noAutofit/>
          </a:bodyPr>
          <a:lstStyle/>
          <a:p>
            <a:r>
              <a:rPr lang="en-AU" sz="2800" b="1" dirty="0"/>
              <a:t>Ratios compare the size of different things against each other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2308" y="669101"/>
            <a:ext cx="5770984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/>
              <a:t>Cordial	:	Water</a:t>
            </a:r>
          </a:p>
          <a:p>
            <a:pPr marL="0" indent="0">
              <a:buNone/>
            </a:pPr>
            <a:r>
              <a:rPr lang="en-AU" dirty="0"/>
              <a:t>    1		:	   4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Red 		:	Green</a:t>
            </a:r>
          </a:p>
          <a:p>
            <a:pPr marL="0" indent="0">
              <a:buNone/>
            </a:pPr>
            <a:r>
              <a:rPr lang="en-AU" dirty="0"/>
              <a:t>  5		:	   3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Green	:	Yellow</a:t>
            </a:r>
          </a:p>
          <a:p>
            <a:pPr marL="0" indent="0">
              <a:buNone/>
            </a:pPr>
            <a:r>
              <a:rPr lang="en-AU" dirty="0"/>
              <a:t>    3		:	    7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27" t="20156" r="19688" b="2435"/>
          <a:stretch/>
        </p:blipFill>
        <p:spPr bwMode="auto">
          <a:xfrm rot="5400000">
            <a:off x="8350487" y="614570"/>
            <a:ext cx="2411284" cy="2223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3726" y="2947214"/>
            <a:ext cx="2590800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ounded Rectangular Callout 4"/>
          <p:cNvSpPr/>
          <p:nvPr/>
        </p:nvSpPr>
        <p:spPr>
          <a:xfrm>
            <a:off x="5705079" y="1137414"/>
            <a:ext cx="2341239" cy="1142522"/>
          </a:xfrm>
          <a:prstGeom prst="wedgeRoundRectCallout">
            <a:avLst>
              <a:gd name="adj1" fmla="val -60269"/>
              <a:gd name="adj2" fmla="val -4352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prstClr val="white"/>
                </a:solidFill>
                <a:latin typeface="Calibri"/>
              </a:rPr>
              <a:t>Say</a:t>
            </a:r>
          </a:p>
          <a:p>
            <a:pPr algn="ctr"/>
            <a:r>
              <a:rPr lang="en-AU" dirty="0">
                <a:solidFill>
                  <a:prstClr val="white"/>
                </a:solidFill>
                <a:latin typeface="Calibri"/>
              </a:rPr>
              <a:t>“Cordial to water”</a:t>
            </a:r>
          </a:p>
          <a:p>
            <a:pPr algn="ctr"/>
            <a:r>
              <a:rPr lang="en-AU" dirty="0">
                <a:solidFill>
                  <a:prstClr val="white"/>
                </a:solidFill>
                <a:latin typeface="Calibri"/>
              </a:rPr>
              <a:t>“One to four”</a:t>
            </a:r>
          </a:p>
        </p:txBody>
      </p:sp>
      <p:sp>
        <p:nvSpPr>
          <p:cNvPr id="8" name="Rounded Rectangular Callout 7"/>
          <p:cNvSpPr/>
          <p:nvPr/>
        </p:nvSpPr>
        <p:spPr>
          <a:xfrm>
            <a:off x="5864094" y="2734508"/>
            <a:ext cx="2341239" cy="1080120"/>
          </a:xfrm>
          <a:prstGeom prst="wedgeRoundRectCallout">
            <a:avLst>
              <a:gd name="adj1" fmla="val -60269"/>
              <a:gd name="adj2" fmla="val -4352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prstClr val="white"/>
                </a:solidFill>
                <a:latin typeface="Calibri"/>
              </a:rPr>
              <a:t>Say</a:t>
            </a:r>
          </a:p>
          <a:p>
            <a:pPr algn="ctr"/>
            <a:r>
              <a:rPr lang="en-AU" dirty="0">
                <a:solidFill>
                  <a:prstClr val="white"/>
                </a:solidFill>
                <a:latin typeface="Calibri"/>
              </a:rPr>
              <a:t>“Red to green”</a:t>
            </a:r>
          </a:p>
          <a:p>
            <a:pPr algn="ctr"/>
            <a:r>
              <a:rPr lang="en-AU" dirty="0">
                <a:solidFill>
                  <a:prstClr val="white"/>
                </a:solidFill>
                <a:latin typeface="Calibri"/>
              </a:rPr>
              <a:t>“Five to three”</a:t>
            </a:r>
          </a:p>
        </p:txBody>
      </p:sp>
      <p:sp>
        <p:nvSpPr>
          <p:cNvPr id="9" name="Rounded Rectangular Callout 8"/>
          <p:cNvSpPr/>
          <p:nvPr/>
        </p:nvSpPr>
        <p:spPr>
          <a:xfrm>
            <a:off x="5890731" y="4246676"/>
            <a:ext cx="2341239" cy="864096"/>
          </a:xfrm>
          <a:prstGeom prst="wedgeRoundRectCallout">
            <a:avLst>
              <a:gd name="adj1" fmla="val -60269"/>
              <a:gd name="adj2" fmla="val -4352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prstClr val="white"/>
                </a:solidFill>
                <a:latin typeface="Calibri"/>
              </a:rPr>
              <a:t>Say</a:t>
            </a:r>
          </a:p>
          <a:p>
            <a:pPr algn="ctr"/>
            <a:r>
              <a:rPr lang="en-AU" dirty="0">
                <a:solidFill>
                  <a:prstClr val="white"/>
                </a:solidFill>
                <a:latin typeface="Calibri"/>
              </a:rPr>
              <a:t>“Green to yellow”</a:t>
            </a:r>
          </a:p>
          <a:p>
            <a:pPr algn="ctr"/>
            <a:r>
              <a:rPr lang="en-AU" dirty="0">
                <a:solidFill>
                  <a:prstClr val="white"/>
                </a:solidFill>
                <a:latin typeface="Calibri"/>
              </a:rPr>
              <a:t>“Three to seven”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9777" y="5213097"/>
            <a:ext cx="348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rgbClr val="FF0000"/>
                </a:solidFill>
                <a:latin typeface="Calibri"/>
              </a:rPr>
              <a:t>Always write column headings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9778" y="5901810"/>
            <a:ext cx="1485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rgbClr val="FF0000"/>
                </a:solidFill>
                <a:latin typeface="Calibri"/>
              </a:rPr>
              <a:t>Every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9778" y="6226728"/>
            <a:ext cx="1593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rgbClr val="FF0000"/>
                </a:solidFill>
                <a:latin typeface="Calibri"/>
              </a:rPr>
              <a:t>No excuses!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9778" y="5567901"/>
            <a:ext cx="297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rgbClr val="FF0000"/>
                </a:solidFill>
                <a:latin typeface="Calibri"/>
              </a:rPr>
              <a:t>Always line up the colons</a:t>
            </a:r>
          </a:p>
        </p:txBody>
      </p:sp>
    </p:spTree>
    <p:extLst>
      <p:ext uri="{BB962C8B-B14F-4D97-AF65-F5344CB8AC3E}">
        <p14:creationId xmlns:p14="http://schemas.microsoft.com/office/powerpoint/2010/main" val="2986929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8" grpId="0" animBg="1"/>
      <p:bldP spid="9" grpId="0" animBg="1"/>
      <p:bldP spid="6" grpId="0"/>
      <p:bldP spid="14" grpId="0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302"/>
            <a:ext cx="9144000" cy="720080"/>
          </a:xfrm>
        </p:spPr>
        <p:txBody>
          <a:bodyPr>
            <a:norm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Simplify ratios by dividing both numbers by the same 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1111" y="665515"/>
            <a:ext cx="5987008" cy="3952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dirty="0"/>
              <a:t>Grey 		:	White</a:t>
            </a:r>
          </a:p>
          <a:p>
            <a:pPr marL="0" indent="0">
              <a:buNone/>
            </a:pPr>
            <a:r>
              <a:rPr lang="en-AU" sz="2000" dirty="0"/>
              <a:t>   8		:	    4</a:t>
            </a:r>
          </a:p>
          <a:p>
            <a:pPr marL="0" indent="0">
              <a:buNone/>
            </a:pPr>
            <a:endParaRPr lang="en-AU" sz="1200" dirty="0"/>
          </a:p>
          <a:p>
            <a:pPr marL="0" indent="0">
              <a:buNone/>
            </a:pPr>
            <a:r>
              <a:rPr lang="en-AU" sz="2000" dirty="0"/>
              <a:t>   4		:	    2</a:t>
            </a:r>
          </a:p>
          <a:p>
            <a:pPr marL="0" indent="0">
              <a:buNone/>
            </a:pPr>
            <a:endParaRPr lang="en-AU" sz="1200" dirty="0"/>
          </a:p>
          <a:p>
            <a:pPr marL="0" indent="0">
              <a:buNone/>
            </a:pPr>
            <a:r>
              <a:rPr lang="en-AU" sz="2000" dirty="0"/>
              <a:t>   2		:	    1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8564163" y="168887"/>
            <a:ext cx="1338064" cy="2525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5"/>
          <p:cNvGrpSpPr/>
          <p:nvPr/>
        </p:nvGrpSpPr>
        <p:grpSpPr>
          <a:xfrm>
            <a:off x="1736504" y="1223871"/>
            <a:ext cx="809429" cy="583956"/>
            <a:chOff x="938473" y="3645024"/>
            <a:chExt cx="809429" cy="1008112"/>
          </a:xfrm>
        </p:grpSpPr>
        <p:sp>
          <p:nvSpPr>
            <p:cNvPr id="7" name="Curved Right Arrow 6"/>
            <p:cNvSpPr/>
            <p:nvPr/>
          </p:nvSpPr>
          <p:spPr>
            <a:xfrm>
              <a:off x="1459870" y="3645024"/>
              <a:ext cx="288032" cy="1008112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38473" y="3964414"/>
              <a:ext cx="417102" cy="6375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>
                  <a:solidFill>
                    <a:srgbClr val="FF0000"/>
                  </a:solidFill>
                  <a:latin typeface="Calibri"/>
                </a:rPr>
                <a:t>÷2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725303" y="1223871"/>
            <a:ext cx="705134" cy="583956"/>
            <a:chOff x="4355976" y="3645024"/>
            <a:chExt cx="705134" cy="1008112"/>
          </a:xfrm>
        </p:grpSpPr>
        <p:sp>
          <p:nvSpPr>
            <p:cNvPr id="10" name="TextBox 9"/>
            <p:cNvSpPr txBox="1"/>
            <p:nvPr/>
          </p:nvSpPr>
          <p:spPr>
            <a:xfrm>
              <a:off x="4644008" y="3932149"/>
              <a:ext cx="417102" cy="6375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>
                  <a:solidFill>
                    <a:srgbClr val="FF0000"/>
                  </a:solidFill>
                  <a:latin typeface="Calibri"/>
                </a:rPr>
                <a:t>÷2</a:t>
              </a:r>
            </a:p>
          </p:txBody>
        </p:sp>
        <p:sp>
          <p:nvSpPr>
            <p:cNvPr id="11" name="Curved Left Arrow 10"/>
            <p:cNvSpPr/>
            <p:nvPr/>
          </p:nvSpPr>
          <p:spPr>
            <a:xfrm>
              <a:off x="4355976" y="3645024"/>
              <a:ext cx="288032" cy="1008112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765327" y="1870918"/>
            <a:ext cx="705134" cy="583956"/>
            <a:chOff x="4355976" y="3645024"/>
            <a:chExt cx="705134" cy="1008112"/>
          </a:xfrm>
        </p:grpSpPr>
        <p:sp>
          <p:nvSpPr>
            <p:cNvPr id="14" name="TextBox 13"/>
            <p:cNvSpPr txBox="1"/>
            <p:nvPr/>
          </p:nvSpPr>
          <p:spPr>
            <a:xfrm>
              <a:off x="4644008" y="3932149"/>
              <a:ext cx="417102" cy="6375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>
                  <a:solidFill>
                    <a:srgbClr val="FF0000"/>
                  </a:solidFill>
                  <a:latin typeface="Calibri"/>
                </a:rPr>
                <a:t>÷2</a:t>
              </a:r>
            </a:p>
          </p:txBody>
        </p:sp>
        <p:sp>
          <p:nvSpPr>
            <p:cNvPr id="15" name="Curved Left Arrow 14"/>
            <p:cNvSpPr/>
            <p:nvPr/>
          </p:nvSpPr>
          <p:spPr>
            <a:xfrm>
              <a:off x="4355976" y="3645024"/>
              <a:ext cx="288032" cy="1008112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720505" y="1870918"/>
            <a:ext cx="809429" cy="583956"/>
            <a:chOff x="938473" y="3645024"/>
            <a:chExt cx="809429" cy="1008112"/>
          </a:xfrm>
        </p:grpSpPr>
        <p:sp>
          <p:nvSpPr>
            <p:cNvPr id="17" name="Curved Right Arrow 16"/>
            <p:cNvSpPr/>
            <p:nvPr/>
          </p:nvSpPr>
          <p:spPr>
            <a:xfrm>
              <a:off x="1459870" y="3645024"/>
              <a:ext cx="288032" cy="1008112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38473" y="3964414"/>
              <a:ext cx="417102" cy="6375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>
                  <a:solidFill>
                    <a:srgbClr val="FF0000"/>
                  </a:solidFill>
                  <a:latin typeface="Calibri"/>
                </a:rPr>
                <a:t>÷2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777140" y="1223872"/>
            <a:ext cx="805493" cy="1220023"/>
            <a:chOff x="4355976" y="3645024"/>
            <a:chExt cx="597355" cy="1008112"/>
          </a:xfrm>
        </p:grpSpPr>
        <p:sp>
          <p:nvSpPr>
            <p:cNvPr id="20" name="TextBox 19"/>
            <p:cNvSpPr txBox="1"/>
            <p:nvPr/>
          </p:nvSpPr>
          <p:spPr>
            <a:xfrm>
              <a:off x="4644008" y="3932148"/>
              <a:ext cx="309323" cy="3051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>
                  <a:solidFill>
                    <a:srgbClr val="FF0000"/>
                  </a:solidFill>
                  <a:latin typeface="Calibri"/>
                </a:rPr>
                <a:t>÷4</a:t>
              </a:r>
            </a:p>
          </p:txBody>
        </p:sp>
        <p:sp>
          <p:nvSpPr>
            <p:cNvPr id="21" name="Curved Left Arrow 20"/>
            <p:cNvSpPr/>
            <p:nvPr/>
          </p:nvSpPr>
          <p:spPr>
            <a:xfrm>
              <a:off x="4355976" y="3645024"/>
              <a:ext cx="288032" cy="1008112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438473" y="1156622"/>
            <a:ext cx="1091461" cy="1298252"/>
            <a:chOff x="938473" y="3645024"/>
            <a:chExt cx="809429" cy="1008112"/>
          </a:xfrm>
        </p:grpSpPr>
        <p:sp>
          <p:nvSpPr>
            <p:cNvPr id="23" name="Curved Right Arrow 22"/>
            <p:cNvSpPr/>
            <p:nvPr/>
          </p:nvSpPr>
          <p:spPr>
            <a:xfrm>
              <a:off x="1459870" y="3645024"/>
              <a:ext cx="288032" cy="1008112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38473" y="3964414"/>
              <a:ext cx="309323" cy="2867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>
                  <a:solidFill>
                    <a:srgbClr val="FF0000"/>
                  </a:solidFill>
                  <a:latin typeface="Calibri"/>
                </a:rPr>
                <a:t>÷4</a:t>
              </a:r>
            </a:p>
          </p:txBody>
        </p:sp>
      </p:grpSp>
      <p:sp>
        <p:nvSpPr>
          <p:cNvPr id="47" name="Rounded Rectangle 46"/>
          <p:cNvSpPr/>
          <p:nvPr/>
        </p:nvSpPr>
        <p:spPr>
          <a:xfrm>
            <a:off x="7784909" y="5533538"/>
            <a:ext cx="2883092" cy="27227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b="1" dirty="0" err="1">
                <a:solidFill>
                  <a:prstClr val="black"/>
                </a:solidFill>
                <a:latin typeface="Calibri"/>
              </a:rPr>
              <a:t>Yr</a:t>
            </a:r>
            <a:r>
              <a:rPr lang="en-AU" b="1" dirty="0">
                <a:solidFill>
                  <a:prstClr val="black"/>
                </a:solidFill>
                <a:latin typeface="Calibri"/>
              </a:rPr>
              <a:t> 8 Page 341 Ex 6B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84908" y="5808206"/>
            <a:ext cx="915134" cy="104001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1600" b="1" dirty="0">
                <a:solidFill>
                  <a:prstClr val="black"/>
                </a:solidFill>
                <a:latin typeface="Calibri"/>
              </a:rPr>
              <a:t>Q 3-6,9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733228" y="5822385"/>
            <a:ext cx="944124" cy="104001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b="1" dirty="0">
                <a:solidFill>
                  <a:prstClr val="white"/>
                </a:solidFill>
                <a:latin typeface="Calibri"/>
              </a:rPr>
              <a:t>Q 6e-h, 9d-i, 11-14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59929" y="5822385"/>
            <a:ext cx="933052" cy="104001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b="1" dirty="0">
                <a:solidFill>
                  <a:prstClr val="white"/>
                </a:solidFill>
                <a:latin typeface="Calibri"/>
              </a:rPr>
              <a:t>Q 5a-h, 6a-d, 9,11</a:t>
            </a:r>
          </a:p>
        </p:txBody>
      </p:sp>
      <p:sp>
        <p:nvSpPr>
          <p:cNvPr id="51" name="Content Placeholder 2"/>
          <p:cNvSpPr txBox="1">
            <a:spLocks/>
          </p:cNvSpPr>
          <p:nvPr/>
        </p:nvSpPr>
        <p:spPr>
          <a:xfrm>
            <a:off x="1506835" y="2678716"/>
            <a:ext cx="9144000" cy="1339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>
                <a:solidFill>
                  <a:srgbClr val="FF0000"/>
                </a:solidFill>
                <a:latin typeface="Calibri"/>
              </a:rPr>
              <a:t>Convert to the same units before simplifying</a:t>
            </a:r>
          </a:p>
        </p:txBody>
      </p:sp>
      <p:pic>
        <p:nvPicPr>
          <p:cNvPr id="81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013"/>
          <a:stretch/>
        </p:blipFill>
        <p:spPr bwMode="auto">
          <a:xfrm>
            <a:off x="1524000" y="3504611"/>
            <a:ext cx="6948264" cy="43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81"/>
          <p:cNvSpPr txBox="1"/>
          <p:nvPr/>
        </p:nvSpPr>
        <p:spPr>
          <a:xfrm>
            <a:off x="1912641" y="4224691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$1 : $3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20372" y="3942185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30c : 600c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37091" y="4439541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3c : 60c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091" y="4923503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1c : 20c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223374" y="4000112"/>
            <a:ext cx="106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10h : 24h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04774" y="4617691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5h : 12h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93402" y="3919416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400g : 1000g</a:t>
            </a:r>
          </a:p>
        </p:txBody>
      </p:sp>
      <p:sp>
        <p:nvSpPr>
          <p:cNvPr id="89" name="Curved Right Arrow 88"/>
          <p:cNvSpPr/>
          <p:nvPr/>
        </p:nvSpPr>
        <p:spPr>
          <a:xfrm>
            <a:off x="1651469" y="3740465"/>
            <a:ext cx="288032" cy="688722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1641944" y="3885218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  <a:latin typeface="Calibri"/>
              </a:rPr>
              <a:t>÷4</a:t>
            </a:r>
          </a:p>
        </p:txBody>
      </p:sp>
      <p:sp>
        <p:nvSpPr>
          <p:cNvPr id="91" name="Curved Left Arrow 90"/>
          <p:cNvSpPr/>
          <p:nvPr/>
        </p:nvSpPr>
        <p:spPr>
          <a:xfrm>
            <a:off x="2920752" y="3733489"/>
            <a:ext cx="288032" cy="68872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791682" y="3893184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  <a:latin typeface="Calibri"/>
              </a:rPr>
              <a:t>÷4</a:t>
            </a:r>
          </a:p>
        </p:txBody>
      </p:sp>
      <p:sp>
        <p:nvSpPr>
          <p:cNvPr id="93" name="Curved Right Arrow 92"/>
          <p:cNvSpPr/>
          <p:nvPr/>
        </p:nvSpPr>
        <p:spPr>
          <a:xfrm>
            <a:off x="6940957" y="4146484"/>
            <a:ext cx="288032" cy="688722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6909028" y="4272461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  <a:latin typeface="Calibri"/>
              </a:rPr>
              <a:t>÷2</a:t>
            </a:r>
          </a:p>
        </p:txBody>
      </p:sp>
      <p:sp>
        <p:nvSpPr>
          <p:cNvPr id="95" name="Curved Right Arrow 94"/>
          <p:cNvSpPr/>
          <p:nvPr/>
        </p:nvSpPr>
        <p:spPr>
          <a:xfrm>
            <a:off x="4566759" y="4136881"/>
            <a:ext cx="322883" cy="54141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4081646" y="4137054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  <a:latin typeface="Calibri"/>
              </a:rPr>
              <a:t>÷10</a:t>
            </a:r>
          </a:p>
        </p:txBody>
      </p:sp>
      <p:sp>
        <p:nvSpPr>
          <p:cNvPr id="97" name="Curved Right Arrow 96"/>
          <p:cNvSpPr/>
          <p:nvPr/>
        </p:nvSpPr>
        <p:spPr>
          <a:xfrm>
            <a:off x="4592433" y="4668388"/>
            <a:ext cx="322883" cy="54141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4185218" y="4643501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  <a:latin typeface="Calibri"/>
              </a:rPr>
              <a:t>÷3</a:t>
            </a:r>
          </a:p>
        </p:txBody>
      </p:sp>
      <p:sp>
        <p:nvSpPr>
          <p:cNvPr id="99" name="Curved Right Arrow 98"/>
          <p:cNvSpPr/>
          <p:nvPr/>
        </p:nvSpPr>
        <p:spPr>
          <a:xfrm>
            <a:off x="8886720" y="4112766"/>
            <a:ext cx="288032" cy="688722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8877195" y="4257519"/>
            <a:ext cx="651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  <a:latin typeface="Calibri"/>
              </a:rPr>
              <a:t>÷200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332504" y="4555288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2g : 5g</a:t>
            </a:r>
          </a:p>
        </p:txBody>
      </p:sp>
      <p:sp>
        <p:nvSpPr>
          <p:cNvPr id="102" name="Curved Left Arrow 101"/>
          <p:cNvSpPr/>
          <p:nvPr/>
        </p:nvSpPr>
        <p:spPr>
          <a:xfrm>
            <a:off x="5871706" y="4156528"/>
            <a:ext cx="315414" cy="51024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3" name="Curved Left Arrow 102"/>
          <p:cNvSpPr/>
          <p:nvPr/>
        </p:nvSpPr>
        <p:spPr>
          <a:xfrm>
            <a:off x="5849823" y="4643501"/>
            <a:ext cx="315414" cy="51024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4" name="Curved Left Arrow 103"/>
          <p:cNvSpPr/>
          <p:nvPr/>
        </p:nvSpPr>
        <p:spPr>
          <a:xfrm>
            <a:off x="8221490" y="4132042"/>
            <a:ext cx="288032" cy="68872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5" name="Curved Left Arrow 104"/>
          <p:cNvSpPr/>
          <p:nvPr/>
        </p:nvSpPr>
        <p:spPr>
          <a:xfrm>
            <a:off x="10352318" y="4114419"/>
            <a:ext cx="288032" cy="68872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6093929" y="4175614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  <a:latin typeface="Calibri"/>
              </a:rPr>
              <a:t>÷10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096000" y="4726608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  <a:latin typeface="Calibri"/>
              </a:rPr>
              <a:t>÷3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110087" y="4274572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  <a:latin typeface="Calibri"/>
              </a:rPr>
              <a:t>÷2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989210" y="4264343"/>
            <a:ext cx="651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  <a:latin typeface="Calibri"/>
              </a:rPr>
              <a:t>÷200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978107" y="3211029"/>
            <a:ext cx="7152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solidFill>
                  <a:prstClr val="black"/>
                </a:solidFill>
                <a:latin typeface="Calibri"/>
              </a:rPr>
              <a:t>A    :   B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666932" y="3178543"/>
            <a:ext cx="12870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solidFill>
                  <a:prstClr val="black"/>
                </a:solidFill>
                <a:latin typeface="Calibri"/>
              </a:rPr>
              <a:t>Yours    :   Mine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732916" y="3178543"/>
            <a:ext cx="16492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solidFill>
                  <a:prstClr val="black"/>
                </a:solidFill>
                <a:latin typeface="Calibri"/>
              </a:rPr>
              <a:t>Cook time    :  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046445" y="3225126"/>
            <a:ext cx="13676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solidFill>
                  <a:prstClr val="black"/>
                </a:solidFill>
                <a:latin typeface="Calibri"/>
              </a:rPr>
              <a:t>Beans   :   Mince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635958" y="5913659"/>
            <a:ext cx="4127094" cy="369332"/>
          </a:xfrm>
          <a:prstGeom prst="rect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prstClr val="black"/>
                </a:solidFill>
                <a:latin typeface="Calibri"/>
              </a:rPr>
              <a:t>Stop when you get to a whole number!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635958" y="6389358"/>
            <a:ext cx="4127094" cy="369332"/>
          </a:xfrm>
          <a:prstGeom prst="rect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prstClr val="black"/>
                </a:solidFill>
                <a:latin typeface="Calibri"/>
              </a:rPr>
              <a:t>0.25 : 1 is </a:t>
            </a:r>
            <a:r>
              <a:rPr lang="en-AU" b="1" dirty="0">
                <a:solidFill>
                  <a:prstClr val="black"/>
                </a:solidFill>
                <a:latin typeface="Calibri"/>
              </a:rPr>
              <a:t>not</a:t>
            </a:r>
            <a:r>
              <a:rPr lang="en-AU" dirty="0">
                <a:solidFill>
                  <a:prstClr val="black"/>
                </a:solidFill>
                <a:latin typeface="Calibri"/>
              </a:rPr>
              <a:t> simpler than 1 : 4</a:t>
            </a:r>
          </a:p>
        </p:txBody>
      </p:sp>
      <p:pic>
        <p:nvPicPr>
          <p:cNvPr id="11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17" t="1333" r="-33" b="-1333"/>
          <a:stretch/>
        </p:blipFill>
        <p:spPr bwMode="auto">
          <a:xfrm>
            <a:off x="8463425" y="3504555"/>
            <a:ext cx="1903423" cy="43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7" name="TextBox 116"/>
          <p:cNvSpPr txBox="1"/>
          <p:nvPr/>
        </p:nvSpPr>
        <p:spPr>
          <a:xfrm>
            <a:off x="1531837" y="5189152"/>
            <a:ext cx="348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rgbClr val="FF0000"/>
                </a:solidFill>
                <a:latin typeface="Calibri"/>
              </a:rPr>
              <a:t>Always write column headings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531838" y="5543956"/>
            <a:ext cx="297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rgbClr val="FF0000"/>
                </a:solidFill>
                <a:latin typeface="Calibri"/>
              </a:rPr>
              <a:t>Always line up the colons</a:t>
            </a:r>
          </a:p>
        </p:txBody>
      </p:sp>
    </p:spTree>
    <p:extLst>
      <p:ext uri="{BB962C8B-B14F-4D97-AF65-F5344CB8AC3E}">
        <p14:creationId xmlns:p14="http://schemas.microsoft.com/office/powerpoint/2010/main" val="3729958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  <p:bldP spid="47" grpId="0" animBg="1"/>
      <p:bldP spid="48" grpId="0" animBg="1"/>
      <p:bldP spid="49" grpId="0" animBg="1"/>
      <p:bldP spid="50" grpId="0" animBg="1"/>
      <p:bldP spid="51" grpId="0" build="p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 animBg="1"/>
      <p:bldP spid="90" grpId="0"/>
      <p:bldP spid="91" grpId="0" animBg="1"/>
      <p:bldP spid="92" grpId="0"/>
      <p:bldP spid="93" grpId="0" animBg="1"/>
      <p:bldP spid="94" grpId="0"/>
      <p:bldP spid="95" grpId="0" animBg="1"/>
      <p:bldP spid="96" grpId="0"/>
      <p:bldP spid="97" grpId="0" animBg="1"/>
      <p:bldP spid="98" grpId="0"/>
      <p:bldP spid="99" grpId="0" animBg="1"/>
      <p:bldP spid="100" grpId="0"/>
      <p:bldP spid="101" grpId="0"/>
      <p:bldP spid="102" grpId="0" animBg="1"/>
      <p:bldP spid="103" grpId="0" animBg="1"/>
      <p:bldP spid="104" grpId="0" animBg="1"/>
      <p:bldP spid="105" grpId="0" animBg="1"/>
      <p:bldP spid="106" grpId="0"/>
      <p:bldP spid="107" grpId="0"/>
      <p:bldP spid="108" grpId="0"/>
      <p:bldP spid="109" grpId="0"/>
      <p:bldP spid="110" grpId="0"/>
      <p:bldP spid="111" grpId="0"/>
      <p:bldP spid="112" grpId="0"/>
      <p:bldP spid="113" grpId="0"/>
      <p:bldP spid="114" grpId="0" animBg="1"/>
      <p:bldP spid="1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8C66-8D7E-5A4C-6452-5EDA1F9014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A335A-D524-3D76-E10E-EE1660ADDF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“who invented fire?”</a:t>
            </a:r>
          </a:p>
          <a:p>
            <a:pPr marL="0" indent="0">
              <a:buNone/>
            </a:pPr>
            <a:r>
              <a:rPr lang="en-US" dirty="0"/>
              <a:t>“When a baker wants to sleep. What sign does she put up?”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92113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5195E-B5CF-7751-A431-22F6B9AF7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Reflection – fist to 5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1E16A-F833-C37F-05B0-4B12DC72A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Be able to simplify ratios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13435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1106</TotalTime>
  <Words>397</Words>
  <Application>Microsoft Office PowerPoint</Application>
  <PresentationFormat>Widescreen</PresentationFormat>
  <Paragraphs>122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1_Office Theme</vt:lpstr>
      <vt:lpstr>Lesson objective </vt:lpstr>
      <vt:lpstr>Daily review </vt:lpstr>
      <vt:lpstr>Ratios compare the size of different things against each other</vt:lpstr>
      <vt:lpstr>Simplify ratios by dividing both numbers by the same thing</vt:lpstr>
      <vt:lpstr>Individual practice </vt:lpstr>
      <vt:lpstr>Reflection – fist to 5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6</cp:revision>
  <dcterms:created xsi:type="dcterms:W3CDTF">2022-06-28T09:31:10Z</dcterms:created>
  <dcterms:modified xsi:type="dcterms:W3CDTF">2022-06-29T03:57:26Z</dcterms:modified>
</cp:coreProperties>
</file>
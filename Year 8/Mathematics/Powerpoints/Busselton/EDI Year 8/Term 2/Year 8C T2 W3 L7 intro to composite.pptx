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  <p:sldMasterId id="2147483838" r:id="rId2"/>
  </p:sldMasterIdLst>
  <p:notesMasterIdLst>
    <p:notesMasterId r:id="rId13"/>
  </p:notesMasterIdLst>
  <p:handoutMasterIdLst>
    <p:handoutMasterId r:id="rId14"/>
  </p:handoutMasterIdLst>
  <p:sldIdLst>
    <p:sldId id="271" r:id="rId3"/>
    <p:sldId id="268" r:id="rId4"/>
    <p:sldId id="269" r:id="rId5"/>
    <p:sldId id="270" r:id="rId6"/>
    <p:sldId id="260" r:id="rId7"/>
    <p:sldId id="272" r:id="rId8"/>
    <p:sldId id="261" r:id="rId9"/>
    <p:sldId id="263" r:id="rId10"/>
    <p:sldId id="265" r:id="rId11"/>
    <p:sldId id="273" r:id="rId12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2B07F8-BB08-483C-8F7D-0356161710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9FA94-FD33-4D49-B5F2-D45076DA24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036D4-C26E-4F8C-8A65-2F2D928A6D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535AF-4CAA-4B22-804E-2C8B62B954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BC249-5B9E-425E-9052-4BC29BAACB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2895489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DF984-7BDB-48B1-A002-5EE9A1406D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9314627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70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33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207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4232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48706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6034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47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3810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698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49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7579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CE3D-A33C-4C90-B5FD-DE814FCE3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60686-6814-4080-A8EF-08028DD8F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00B25-7F51-4C4B-B2EB-E89B017D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9FFBA-9CF8-4EAD-BD91-A5A9FB57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36C29-E5C1-4463-BF6D-123BE1889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6794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F7CCB-5044-44BC-894E-C96355516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51E79-3FD0-4A78-998C-F84DA14D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9BFB7-5302-46A0-BC29-BCD29160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8E8E7-E8E0-4CE5-9C6F-3247E233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E0FCB-DD83-451B-8E51-703E05B9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4414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8C31-B2FB-4469-8972-783C277D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9CA82-8327-4D5D-A7B4-FF6E938B0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7560-1469-4586-AAE6-4041F5D8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F26E3-0BE0-4F9D-9F72-1FFD5BA55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DBAE8-FC7B-4745-9E55-A1F790BE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206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8EFA-4F14-4B81-A1CD-CC49A07F2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197B0-A5C6-436F-9712-CE2CFFA8A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F92F2-6483-42A8-B9C8-AAD450E1D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2195D-447F-4305-AF00-D586FC66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3B5D8-1C3B-4299-87C1-F4445F9D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A3CA3-F8F4-4973-9885-3D82EF22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0917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2B6A-D595-4499-B914-D3CA193D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C299F-249C-43DB-9AAF-4D67A49C2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5ECE1-B09A-4834-A755-EF87765BA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F4FF94-7A7F-45FA-BC71-9C9E5D8E5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EAD90-0F64-4A11-B55E-7810DD248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199BD-AFB1-43BA-BA44-B81D9D6E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F55860-1D15-4538-AD9D-188D2251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67FD09-618F-44A1-925E-5CBE04D3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604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D83E8-EF03-42FE-957D-965D7A46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081909-E373-4063-AB94-76EF5071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C81343-2B95-4235-9E17-6797DE84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7CCF9-3E74-4E75-B722-8E5D298F2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8447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BBA280-CDCE-429C-9616-01171FF1A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24682C-E2B9-49C0-AC44-9091B05A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72F6B-4DB8-468E-90C5-4A3F11C7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787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A969A-05D2-4391-8AB1-32EE1AB31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512B1-B875-44D6-8F17-602CCE0DC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3412E-D72E-4E41-A784-FD686C0B9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9187F-D3B6-46C7-A0CB-9A19A1E6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E28B2-88CE-4C80-B979-8D822EEF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AE371-FA0F-47ED-BB38-CABD9AFD8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20310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7982C-3537-4B9F-B3DE-63C31A715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D62BD-6ED7-4043-B91D-D6C50DD237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D7C84-45C5-4D87-80AB-CE552DEEB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2CB62-9E45-410F-8E35-92165E19D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47A99-904D-43AA-BF39-74D52519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D29C9-57E5-448E-B7F5-1F157860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67987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2D2A-C98F-4596-AF88-2E9FE3D3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BB9CB-83AF-498E-BED2-9CFFE6CCD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CC3AA-BBD3-4FE6-BBB0-4AB95ABC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5FF44-50BD-4B75-84D2-23F2089B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56A9F-4770-4E7A-893F-E7E917C0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6787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8730-2A4E-4ADF-837F-F560D1B20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5F6A30-7750-4C07-A860-1924BFD7E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9C5EB-8366-4F67-B215-F51753E9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EED5B-288D-4A1A-A97F-F0824031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A4D40-C976-467D-89D8-EE2C7CB0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799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044E5D8-3B20-4FF6-97CD-9581DF9E77D2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FC0F0816-B23A-4F15-A308-8B823738D8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405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D6F22A-8146-4091-8A9E-B07B639B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3F0A5-257F-40C5-8AE3-B7F44ACB8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7B4EA-68A4-439A-9341-0F35F86A4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83193-6F1E-4BD7-A201-A2C8993484A3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8AAC6-4A94-45C6-929F-84A6C375B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026B9-5AC2-4879-8EF1-DEBA8780D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923F1-4700-4AC1-A0C7-0320F34CC5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001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1A213-F8EC-4681-9A0B-95C50712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764A62C-3A0A-4B70-ADBF-EB0FFB1827B2}"/>
              </a:ext>
            </a:extLst>
          </p:cNvPr>
          <p:cNvSpPr txBox="1">
            <a:spLocks/>
          </p:cNvSpPr>
          <p:nvPr/>
        </p:nvSpPr>
        <p:spPr>
          <a:xfrm>
            <a:off x="869673" y="2492896"/>
            <a:ext cx="6575895" cy="1388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37160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2012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1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3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5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7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/>
              <a:t>Aim: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2800" dirty="0"/>
              <a:t>To calculate the perimeter and area of composite shapes.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C7DD7B-740A-44F2-BA6A-77BC4578B9C3}"/>
              </a:ext>
            </a:extLst>
          </p:cNvPr>
          <p:cNvSpPr txBox="1">
            <a:spLocks/>
          </p:cNvSpPr>
          <p:nvPr/>
        </p:nvSpPr>
        <p:spPr>
          <a:xfrm>
            <a:off x="869673" y="4005064"/>
            <a:ext cx="7404653" cy="1822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Corbel" pitchFamily="34" charset="0"/>
              <a:buNone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AU" sz="2400" dirty="0"/>
              <a:t>PLAN:</a:t>
            </a:r>
          </a:p>
          <a:p>
            <a:pPr algn="just"/>
            <a:r>
              <a:rPr lang="en-AU" sz="2400" dirty="0"/>
              <a:t>1. Daily review area of sectors</a:t>
            </a:r>
          </a:p>
          <a:p>
            <a:pPr algn="just"/>
            <a:r>
              <a:rPr lang="en-AU" sz="2400" dirty="0"/>
              <a:t>2. Demonstration of calculating composite shape area</a:t>
            </a:r>
          </a:p>
          <a:p>
            <a:pPr algn="just"/>
            <a:r>
              <a:rPr lang="en-AU" sz="2400" dirty="0"/>
              <a:t>3. Worksheet</a:t>
            </a:r>
          </a:p>
          <a:p>
            <a:pPr algn="just"/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1CA5C4-9741-4CCA-B69B-D57BDD2169EC}"/>
              </a:ext>
            </a:extLst>
          </p:cNvPr>
          <p:cNvSpPr txBox="1">
            <a:spLocks/>
          </p:cNvSpPr>
          <p:nvPr/>
        </p:nvSpPr>
        <p:spPr>
          <a:xfrm>
            <a:off x="1022073" y="4157464"/>
            <a:ext cx="7404653" cy="1822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Corbel" pitchFamily="34" charset="0"/>
              <a:buNone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AU" sz="2400" dirty="0">
                <a:solidFill>
                  <a:srgbClr val="00B0F0"/>
                </a:solidFill>
              </a:rPr>
              <a:t>PLAN:</a:t>
            </a:r>
          </a:p>
          <a:p>
            <a:pPr algn="just"/>
            <a:r>
              <a:rPr lang="en-AU" sz="2400" dirty="0">
                <a:solidFill>
                  <a:srgbClr val="00B0F0"/>
                </a:solidFill>
              </a:rPr>
              <a:t>1. Daily review area of circles </a:t>
            </a:r>
          </a:p>
          <a:p>
            <a:pPr algn="just"/>
            <a:r>
              <a:rPr lang="en-AU" sz="2400" dirty="0">
                <a:solidFill>
                  <a:srgbClr val="00B0F0"/>
                </a:solidFill>
              </a:rPr>
              <a:t>2. Demonstration of calculating composite shape area</a:t>
            </a:r>
          </a:p>
          <a:p>
            <a:pPr algn="just"/>
            <a:r>
              <a:rPr lang="en-AU" sz="2400" dirty="0">
                <a:solidFill>
                  <a:srgbClr val="00B0F0"/>
                </a:solidFill>
              </a:rPr>
              <a:t>3. Worksheet</a:t>
            </a:r>
          </a:p>
          <a:p>
            <a:pPr algn="just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403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C27AB0-2226-473D-99EE-53860CA2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73" y="162754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230EB-D8C1-42FE-84BC-C2A3814B07B1}"/>
              </a:ext>
            </a:extLst>
          </p:cNvPr>
          <p:cNvSpPr txBox="1"/>
          <p:nvPr/>
        </p:nvSpPr>
        <p:spPr>
          <a:xfrm>
            <a:off x="626898" y="1021337"/>
            <a:ext cx="7829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en-AU" sz="2100">
                <a:solidFill>
                  <a:prstClr val="black"/>
                </a:solidFill>
                <a:latin typeface="Calibri" panose="020F0502020204030204"/>
              </a:rPr>
              <a:t>. </a:t>
            </a:r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Calculate the area of this sector.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C9EE96-84D3-42D3-9473-B1B721A15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17" y="1413281"/>
            <a:ext cx="1806600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1B5EBF-E002-4673-AA5E-9F2A3E873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97" y="2214073"/>
            <a:ext cx="2877887" cy="287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2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C27AB0-2226-473D-99EE-53860CA2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73" y="162754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230EB-D8C1-42FE-84BC-C2A3814B07B1}"/>
              </a:ext>
            </a:extLst>
          </p:cNvPr>
          <p:cNvSpPr txBox="1"/>
          <p:nvPr/>
        </p:nvSpPr>
        <p:spPr>
          <a:xfrm>
            <a:off x="626898" y="1021337"/>
            <a:ext cx="7829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2. Calculate the area of this semi circle.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C9EE96-84D3-42D3-9473-B1B721A15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17" y="1413281"/>
            <a:ext cx="1806600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Partial Circle 2">
            <a:extLst>
              <a:ext uri="{FF2B5EF4-FFF2-40B4-BE49-F238E27FC236}">
                <a16:creationId xmlns:a16="http://schemas.microsoft.com/office/drawing/2014/main" id="{9994B269-9C12-4560-B606-22DF8042CBE5}"/>
              </a:ext>
            </a:extLst>
          </p:cNvPr>
          <p:cNvSpPr/>
          <p:nvPr/>
        </p:nvSpPr>
        <p:spPr>
          <a:xfrm>
            <a:off x="624655" y="1455807"/>
            <a:ext cx="3528392" cy="3384376"/>
          </a:xfrm>
          <a:prstGeom prst="pie">
            <a:avLst>
              <a:gd name="adj1" fmla="val 0"/>
              <a:gd name="adj2" fmla="val 107991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F90B9-ACFD-4FA8-AD36-50A747FC0A17}"/>
              </a:ext>
            </a:extLst>
          </p:cNvPr>
          <p:cNvSpPr txBox="1"/>
          <p:nvPr/>
        </p:nvSpPr>
        <p:spPr>
          <a:xfrm>
            <a:off x="2051720" y="268633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16cm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802459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C27AB0-2226-473D-99EE-53860CA2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73" y="162754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230EB-D8C1-42FE-84BC-C2A3814B07B1}"/>
              </a:ext>
            </a:extLst>
          </p:cNvPr>
          <p:cNvSpPr txBox="1"/>
          <p:nvPr/>
        </p:nvSpPr>
        <p:spPr>
          <a:xfrm>
            <a:off x="626898" y="1021337"/>
            <a:ext cx="7829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3. Calculate the area of this sector.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C9EE96-84D3-42D3-9473-B1B721A15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17" y="1413281"/>
            <a:ext cx="1806600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Partial Circle 6">
            <a:extLst>
              <a:ext uri="{FF2B5EF4-FFF2-40B4-BE49-F238E27FC236}">
                <a16:creationId xmlns:a16="http://schemas.microsoft.com/office/drawing/2014/main" id="{318E1314-B535-4A4B-A8CB-04F95872C9DB}"/>
              </a:ext>
            </a:extLst>
          </p:cNvPr>
          <p:cNvSpPr/>
          <p:nvPr/>
        </p:nvSpPr>
        <p:spPr>
          <a:xfrm>
            <a:off x="431788" y="1766040"/>
            <a:ext cx="3384376" cy="3127743"/>
          </a:xfrm>
          <a:prstGeom prst="pie">
            <a:avLst>
              <a:gd name="adj1" fmla="val 0"/>
              <a:gd name="adj2" fmla="val 54201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397BC-0B98-4BC1-BCB9-06992CC0A8FB}"/>
              </a:ext>
            </a:extLst>
          </p:cNvPr>
          <p:cNvSpPr txBox="1"/>
          <p:nvPr/>
        </p:nvSpPr>
        <p:spPr>
          <a:xfrm>
            <a:off x="2411760" y="28682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10cm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091967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2719" y="215643"/>
            <a:ext cx="7406640" cy="2160241"/>
          </a:xfrm>
        </p:spPr>
        <p:txBody>
          <a:bodyPr>
            <a:normAutofit/>
          </a:bodyPr>
          <a:lstStyle/>
          <a:p>
            <a:r>
              <a:rPr lang="en-AU" sz="2400" b="1" u="sng" dirty="0">
                <a:solidFill>
                  <a:srgbClr val="FF0000"/>
                </a:solidFill>
              </a:rPr>
              <a:t>Composite shapes </a:t>
            </a:r>
            <a:r>
              <a:rPr lang="en-AU" sz="2400" b="1" dirty="0">
                <a:solidFill>
                  <a:srgbClr val="FF0000"/>
                </a:solidFill>
              </a:rPr>
              <a:t>are shapes made up form other geometric shapes.</a:t>
            </a:r>
            <a:br>
              <a:rPr lang="en-AU" sz="2400" b="1" dirty="0">
                <a:solidFill>
                  <a:srgbClr val="FF0000"/>
                </a:solidFill>
              </a:rPr>
            </a:br>
            <a:br>
              <a:rPr lang="en-AU" sz="2400" dirty="0"/>
            </a:br>
            <a:r>
              <a:rPr lang="en-AU" sz="2400" b="1" u="sng" dirty="0">
                <a:solidFill>
                  <a:schemeClr val="tx1"/>
                </a:solidFill>
              </a:rPr>
              <a:t>Perimeter</a:t>
            </a:r>
            <a:r>
              <a:rPr lang="en-AU" sz="2400" dirty="0">
                <a:solidFill>
                  <a:schemeClr val="tx1"/>
                </a:solidFill>
              </a:rPr>
              <a:t>: is still add up the </a:t>
            </a:r>
            <a:r>
              <a:rPr lang="en-AU" sz="2400" u="sng" dirty="0">
                <a:solidFill>
                  <a:schemeClr val="tx1"/>
                </a:solidFill>
              </a:rPr>
              <a:t>exterior sides</a:t>
            </a:r>
            <a:r>
              <a:rPr lang="en-AU" sz="2400" dirty="0">
                <a:solidFill>
                  <a:schemeClr val="tx1"/>
                </a:solidFill>
              </a:rPr>
              <a:t>.</a:t>
            </a:r>
            <a:br>
              <a:rPr lang="en-AU" sz="2400" dirty="0">
                <a:solidFill>
                  <a:schemeClr val="tx1"/>
                </a:solidFill>
              </a:rPr>
            </a:br>
            <a:r>
              <a:rPr lang="en-AU" sz="2400" dirty="0">
                <a:solidFill>
                  <a:schemeClr val="tx1"/>
                </a:solidFill>
              </a:rPr>
              <a:t>Area: is add (or sometimes subtract) the area of the shapes a </a:t>
            </a:r>
            <a:r>
              <a:rPr lang="en-AU" sz="2400" b="1" u="sng" dirty="0">
                <a:solidFill>
                  <a:schemeClr val="tx1"/>
                </a:solidFill>
              </a:rPr>
              <a:t>composite shape </a:t>
            </a:r>
            <a:r>
              <a:rPr lang="en-AU" sz="2400" dirty="0">
                <a:solidFill>
                  <a:schemeClr val="tx1"/>
                </a:solidFill>
              </a:rPr>
              <a:t>is made of. 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441" y="2564904"/>
            <a:ext cx="2520280" cy="28353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636912"/>
            <a:ext cx="3496793" cy="21602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581" y="4797152"/>
            <a:ext cx="3186760" cy="19442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5921" y="4797152"/>
            <a:ext cx="17811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4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8D91-019C-409E-8340-7C2D2E53F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composite area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1B70A-5AD9-451D-8463-70830ED39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1490" indent="-457200">
              <a:buAutoNum type="arabicPeriod"/>
            </a:pPr>
            <a:r>
              <a:rPr lang="en-US" sz="3600" dirty="0"/>
              <a:t>Identify and label each shape </a:t>
            </a:r>
          </a:p>
          <a:p>
            <a:pPr marL="491490" indent="-457200">
              <a:buAutoNum type="arabicPeriod"/>
            </a:pPr>
            <a:r>
              <a:rPr lang="en-US" sz="3600" dirty="0"/>
              <a:t>Calculate area of each shape </a:t>
            </a:r>
            <a:r>
              <a:rPr lang="en-US" sz="3600" u="sng" dirty="0"/>
              <a:t>(4d.p)</a:t>
            </a:r>
          </a:p>
          <a:p>
            <a:pPr marL="491490" indent="-457200">
              <a:buAutoNum type="arabicPeriod"/>
            </a:pPr>
            <a:r>
              <a:rPr lang="en-US" sz="3600" dirty="0"/>
              <a:t>Add or subtract area for answer </a:t>
            </a:r>
            <a:r>
              <a:rPr lang="en-US" sz="3600" u="sng" dirty="0"/>
              <a:t>(2 </a:t>
            </a:r>
            <a:r>
              <a:rPr lang="en-US" sz="3600" u="sng" dirty="0" err="1"/>
              <a:t>d.p</a:t>
            </a:r>
            <a:r>
              <a:rPr lang="en-US" sz="3600" u="sng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696107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C27AB0-2226-473D-99EE-53860CA2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73" y="162754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8690A99-1712-4BC9-AD26-AE17C8F4F9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372" y="1766040"/>
          <a:ext cx="3239668" cy="3782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FX Draw" r:id="rId3" imgW="956912" imgH="1121381" progId="FXDraw.Graphic">
                  <p:embed/>
                </p:oleObj>
              </mc:Choice>
              <mc:Fallback>
                <p:oleObj name="FX Draw" r:id="rId3" imgW="956912" imgH="1121381" progId="FXDraw.Graphic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8690A99-1712-4BC9-AD26-AE17C8F4F9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72" y="1766040"/>
                        <a:ext cx="3239668" cy="37829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F230EB-D8C1-42FE-84BC-C2A3814B07B1}"/>
              </a:ext>
            </a:extLst>
          </p:cNvPr>
          <p:cNvSpPr txBox="1"/>
          <p:nvPr/>
        </p:nvSpPr>
        <p:spPr>
          <a:xfrm>
            <a:off x="709" y="1350542"/>
            <a:ext cx="7829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1. Calculate the area of this composite shape.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DBE76-34E6-4069-B3B1-05B4D3CFF9D2}"/>
              </a:ext>
            </a:extLst>
          </p:cNvPr>
          <p:cNvSpPr txBox="1"/>
          <p:nvPr/>
        </p:nvSpPr>
        <p:spPr>
          <a:xfrm>
            <a:off x="4860032" y="150213"/>
            <a:ext cx="4896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1490" indent="-457200">
              <a:buAutoNum type="arabicPeriod"/>
            </a:pPr>
            <a:r>
              <a:rPr lang="en-US" sz="1800" dirty="0"/>
              <a:t>Identify and label each shape </a:t>
            </a:r>
          </a:p>
          <a:p>
            <a:pPr marL="491490" indent="-457200">
              <a:buAutoNum type="arabicPeriod"/>
            </a:pPr>
            <a:r>
              <a:rPr lang="en-US" sz="1800" dirty="0"/>
              <a:t>Calculate area of each shape (4d.p)</a:t>
            </a:r>
          </a:p>
          <a:p>
            <a:pPr marL="491490" indent="-457200">
              <a:buAutoNum type="arabicPeriod"/>
            </a:pPr>
            <a:r>
              <a:rPr lang="en-US" sz="1800" dirty="0"/>
              <a:t>Add or subtract area for answer (2 </a:t>
            </a:r>
            <a:r>
              <a:rPr lang="en-US" sz="1800" dirty="0" err="1"/>
              <a:t>d.p</a:t>
            </a:r>
            <a:r>
              <a:rPr lang="en-US" sz="1800" dirty="0"/>
              <a:t>)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5020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C27AB0-2226-473D-99EE-53860CA2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73" y="162754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230EB-D8C1-42FE-84BC-C2A3814B07B1}"/>
              </a:ext>
            </a:extLst>
          </p:cNvPr>
          <p:cNvSpPr txBox="1"/>
          <p:nvPr/>
        </p:nvSpPr>
        <p:spPr>
          <a:xfrm>
            <a:off x="570448" y="2007154"/>
            <a:ext cx="7829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2. Calculate the area of this composite shape.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C9EE96-84D3-42D3-9473-B1B721A15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17" y="1413281"/>
            <a:ext cx="1806600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571241E-72DC-4A02-AB10-D20437C864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987231"/>
              </p:ext>
            </p:extLst>
          </p:nvPr>
        </p:nvGraphicFramePr>
        <p:xfrm>
          <a:off x="467017" y="2636912"/>
          <a:ext cx="1990083" cy="400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FX Draw" r:id="rId3" imgW="969102" imgH="1941416" progId="FXDraw.Graphic">
                  <p:embed/>
                </p:oleObj>
              </mc:Choice>
              <mc:Fallback>
                <p:oleObj name="FX Draw" r:id="rId3" imgW="969102" imgH="1941416" progId="FXDraw.Graphic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F571241E-72DC-4A02-AB10-D20437C864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17" y="2636912"/>
                        <a:ext cx="1990083" cy="4001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8F7690-A475-40FB-ADD4-CF1AA8CE5936}"/>
              </a:ext>
            </a:extLst>
          </p:cNvPr>
          <p:cNvSpPr txBox="1"/>
          <p:nvPr/>
        </p:nvSpPr>
        <p:spPr>
          <a:xfrm>
            <a:off x="4788024" y="351451"/>
            <a:ext cx="4896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1490" indent="-457200">
              <a:buAutoNum type="arabicPeriod"/>
            </a:pPr>
            <a:r>
              <a:rPr lang="en-US" sz="1800" dirty="0"/>
              <a:t>Identify and label each shape </a:t>
            </a:r>
          </a:p>
          <a:p>
            <a:pPr marL="491490" indent="-457200">
              <a:buAutoNum type="arabicPeriod"/>
            </a:pPr>
            <a:r>
              <a:rPr lang="en-US" sz="1800" dirty="0"/>
              <a:t>Calculate area of each shape (4 </a:t>
            </a:r>
            <a:r>
              <a:rPr lang="en-US" sz="1800" dirty="0" err="1"/>
              <a:t>d.p</a:t>
            </a:r>
            <a:r>
              <a:rPr lang="en-US" sz="1800" dirty="0"/>
              <a:t>)</a:t>
            </a:r>
          </a:p>
          <a:p>
            <a:pPr marL="491490" indent="-457200">
              <a:buAutoNum type="arabicPeriod"/>
            </a:pPr>
            <a:r>
              <a:rPr lang="en-US" sz="1800" dirty="0"/>
              <a:t>Add or subtract area for answer (2 </a:t>
            </a:r>
            <a:r>
              <a:rPr lang="en-US" sz="1800" dirty="0" err="1"/>
              <a:t>d.p</a:t>
            </a:r>
            <a:r>
              <a:rPr lang="en-US" sz="1800" dirty="0"/>
              <a:t>)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8887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C27AB0-2226-473D-99EE-53860CA2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73" y="162754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230EB-D8C1-42FE-84BC-C2A3814B07B1}"/>
              </a:ext>
            </a:extLst>
          </p:cNvPr>
          <p:cNvSpPr txBox="1"/>
          <p:nvPr/>
        </p:nvSpPr>
        <p:spPr>
          <a:xfrm>
            <a:off x="294928" y="1627541"/>
            <a:ext cx="7829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3. Calculate the area of this composite shape (the shaded part).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C9EE96-84D3-42D3-9473-B1B721A15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17" y="1413281"/>
            <a:ext cx="1806600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A2EDEA-375F-472D-B52F-750FAAF3F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048077"/>
            <a:ext cx="3642857" cy="2421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84B4A8-126B-4C20-ABB0-4EB93D14CB23}"/>
              </a:ext>
            </a:extLst>
          </p:cNvPr>
          <p:cNvSpPr txBox="1"/>
          <p:nvPr/>
        </p:nvSpPr>
        <p:spPr>
          <a:xfrm>
            <a:off x="4860032" y="150213"/>
            <a:ext cx="4896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1490" indent="-457200">
              <a:buAutoNum type="arabicPeriod"/>
            </a:pPr>
            <a:r>
              <a:rPr lang="en-US" sz="1800" dirty="0"/>
              <a:t>Identify and label each shape </a:t>
            </a:r>
          </a:p>
          <a:p>
            <a:pPr marL="491490" indent="-457200">
              <a:buAutoNum type="arabicPeriod"/>
            </a:pPr>
            <a:r>
              <a:rPr lang="en-US" sz="1800" dirty="0"/>
              <a:t>Calculate area of each shape (4d.p)</a:t>
            </a:r>
          </a:p>
          <a:p>
            <a:pPr marL="491490" indent="-457200">
              <a:buAutoNum type="arabicPeriod"/>
            </a:pPr>
            <a:r>
              <a:rPr lang="en-US" sz="1800" dirty="0"/>
              <a:t>Add or subtract area for answer (2 </a:t>
            </a:r>
            <a:r>
              <a:rPr lang="en-US" sz="1800" dirty="0" err="1"/>
              <a:t>d.p</a:t>
            </a:r>
            <a:r>
              <a:rPr lang="en-US" sz="1800" dirty="0"/>
              <a:t>)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4529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BED28-9122-44A8-A1E7-90BCED5E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task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4CDB0-7DF9-4B2C-8721-F09C29692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/>
              <a:t>Complete questions a – f</a:t>
            </a:r>
          </a:p>
          <a:p>
            <a:pPr marL="0" indent="0" algn="ctr">
              <a:buNone/>
            </a:pPr>
            <a:r>
              <a:rPr lang="en-US" sz="2800" b="1" dirty="0"/>
              <a:t>(Unit 5 EXCEL 93-94)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275031207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1502</TotalTime>
  <Words>290</Words>
  <Application>Microsoft Office PowerPoint</Application>
  <PresentationFormat>On-screen Show (4:3)</PresentationFormat>
  <Paragraphs>36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Corbel</vt:lpstr>
      <vt:lpstr>Wingdings</vt:lpstr>
      <vt:lpstr>Basis</vt:lpstr>
      <vt:lpstr>Office Theme</vt:lpstr>
      <vt:lpstr>FX Draw</vt:lpstr>
      <vt:lpstr>Lesson objective </vt:lpstr>
      <vt:lpstr>PowerPoint Presentation</vt:lpstr>
      <vt:lpstr>PowerPoint Presentation</vt:lpstr>
      <vt:lpstr>PowerPoint Presentation</vt:lpstr>
      <vt:lpstr>Composite shapes are shapes made up form other geometric shapes.  Perimeter: is still add up the exterior sides. Area: is add (or sometimes subtract) the area of the shapes a composite shape is made of.  </vt:lpstr>
      <vt:lpstr>Steps for composite area </vt:lpstr>
      <vt:lpstr>PowerPoint Presentation</vt:lpstr>
      <vt:lpstr>PowerPoint Presentation</vt:lpstr>
      <vt:lpstr>PowerPoint Presentation</vt:lpstr>
      <vt:lpstr>Individual task practice </vt:lpstr>
    </vt:vector>
  </TitlesOfParts>
  <Company>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Aim</dc:title>
  <dc:creator>PAVLINOVICH Leith</dc:creator>
  <cp:lastModifiedBy>DAVIES Rhys [Busselton Senior High School]</cp:lastModifiedBy>
  <cp:revision>21</cp:revision>
  <cp:lastPrinted>2022-02-02T06:34:17Z</cp:lastPrinted>
  <dcterms:created xsi:type="dcterms:W3CDTF">2018-02-08T04:17:08Z</dcterms:created>
  <dcterms:modified xsi:type="dcterms:W3CDTF">2022-05-10T00:19:21Z</dcterms:modified>
</cp:coreProperties>
</file>
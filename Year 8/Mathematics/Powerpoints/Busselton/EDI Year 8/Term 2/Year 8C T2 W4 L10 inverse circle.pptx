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334" r:id="rId4"/>
    <p:sldId id="257" r:id="rId5"/>
    <p:sldId id="333" r:id="rId6"/>
    <p:sldId id="328" r:id="rId7"/>
    <p:sldId id="326" r:id="rId8"/>
    <p:sldId id="280" r:id="rId9"/>
    <p:sldId id="329" r:id="rId10"/>
    <p:sldId id="258" r:id="rId11"/>
    <p:sldId id="259" r:id="rId12"/>
    <p:sldId id="332" r:id="rId13"/>
    <p:sldId id="330" r:id="rId14"/>
    <p:sldId id="33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7T00:44:37.909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 1,'50'2,"0"3,57 13,-58-9,0-2,67 2,-92-10,-3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7T00:44:39.623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 0,'4'0,"6"0,5 0,4 0,8 0,7 0,2 0,0 0,1 0,3 0,-1 0,-3 5,-3 0,-4 0,-1 0,-3-2,0-1,-5-1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7T00:44:41.154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 0,'0'4,"0"10,0 11,0 6,0 1,0-1,0 0,0-3,0 0,0-2,0-1,0-1,0 1,0-1,0 1,0-1,0 0,0-4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7T00:44:42.270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 1,'0'4,"0"6,0 5,0 8,0 5,0 6,0 1,0 0,0-3,0-3,0-1,0-2,0-1,0 0,0-5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7T00:44:43.749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1,'0'4,"0"6,0 5,0 9,0 4,0 6,0 1,0-1,0-2,0-3,0-1,0-2,0-1,0 0,0-1,0-4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7T00:44:44.870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0,'0'513,"0"-487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53992-F1EA-4666-9858-6BA2F17F92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DAE850-9326-4129-AEA8-7E9E443595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80608-1688-46D0-A469-A8EE91137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412E7-9951-453F-8C95-8DE2D6E4571E}" type="datetimeFigureOut">
              <a:rPr lang="en-AU" smtClean="0"/>
              <a:t>17/05/2022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C9F02-D07B-47C9-8EC5-17CE83675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2C0465-8954-4A12-AF97-26A26DF76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8E23A-6ED6-4CDC-930E-F9C9E0B533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9402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12A62-ECED-404A-BA5F-A9CEFD466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D7F95-387E-448E-8A94-BDC09134F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A4E2B-42F8-4AEC-8849-6273F5C67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412E7-9951-453F-8C95-8DE2D6E4571E}" type="datetimeFigureOut">
              <a:rPr lang="en-AU" smtClean="0"/>
              <a:t>17/05/2022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140A7-E8B8-46EE-82CD-565F1FF1E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37CFA-9531-47A7-8E03-B952DBC7B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8E23A-6ED6-4CDC-930E-F9C9E0B533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4278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913A5-4CFC-45E7-B26B-CB65C95EB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9F73DD-FC2A-4232-AA08-6731EC4F1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73D53-E8D8-4E81-829C-CCCFA3C95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412E7-9951-453F-8C95-8DE2D6E4571E}" type="datetimeFigureOut">
              <a:rPr lang="en-AU" smtClean="0"/>
              <a:t>17/05/2022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43482-9D21-410B-B77D-64F469ABD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AB900-F15A-4EF6-82A6-F1A942CF2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8E23A-6ED6-4CDC-930E-F9C9E0B533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7656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0A312-E83C-44F0-82F4-541B013F4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0D07A-7FDA-4727-9EA1-7461696C76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E87F37-4944-469E-B0AC-69F11883D9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8F3467-55F9-43D0-AA63-E3D90D653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412E7-9951-453F-8C95-8DE2D6E4571E}" type="datetimeFigureOut">
              <a:rPr lang="en-AU" smtClean="0"/>
              <a:t>17/05/2022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755EC5-8BDA-445F-A7EC-68EB26BD2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3BF2B4-CBC3-4FFE-8C32-205F2647A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8E23A-6ED6-4CDC-930E-F9C9E0B533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2593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770AB-E250-4D83-B685-B40956473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2B736-995B-4C27-B404-2BB4CA8AB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66A36C-0BBC-4EC4-A19E-1BBFD8098B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68F414-F5F3-405E-ACFE-0018F18265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F14493-3033-44A5-BDBA-821BF0A1C1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F77650-EBAE-40DF-A22A-B17EEB4FD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412E7-9951-453F-8C95-8DE2D6E4571E}" type="datetimeFigureOut">
              <a:rPr lang="en-AU" smtClean="0"/>
              <a:t>17/05/2022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3250FB-2C25-46AD-B80D-9F92F9772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C8E2E9-B54A-40FD-A535-0ACF9D271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8E23A-6ED6-4CDC-930E-F9C9E0B533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0850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EFD4E-3829-476F-89B7-CCFD95F86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A6699A-6D99-4EFA-B134-EC53FE27F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412E7-9951-453F-8C95-8DE2D6E4571E}" type="datetimeFigureOut">
              <a:rPr lang="en-AU" smtClean="0"/>
              <a:t>17/05/2022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CCA3B9-37F7-4CAA-8531-753815CA8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181DF1-C5F1-4BE5-8B61-40739A801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8E23A-6ED6-4CDC-930E-F9C9E0B533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3503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1F3362-7E0A-4058-B61E-D60376145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412E7-9951-453F-8C95-8DE2D6E4571E}" type="datetimeFigureOut">
              <a:rPr lang="en-AU" smtClean="0"/>
              <a:t>17/05/2022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18280B-B5BF-4363-928D-83D4F08E9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AFB03-A998-4B38-A20A-95E57811A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8E23A-6ED6-4CDC-930E-F9C9E0B533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9826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C30BE-F045-42C7-9B47-232B69089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E399F-6FC4-4B8E-922D-0270DCBD6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A3624E-20B8-4972-9E42-F0A3314445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A1F306-07B8-4B13-BBF0-6A72A3B47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412E7-9951-453F-8C95-8DE2D6E4571E}" type="datetimeFigureOut">
              <a:rPr lang="en-AU" smtClean="0"/>
              <a:t>17/05/2022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8D9C36-851D-4491-A688-C7F5852D3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3135D3-D5FA-4641-8A8D-46765912A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8E23A-6ED6-4CDC-930E-F9C9E0B533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7306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1F743-9D8A-443F-9EA8-557EEADCE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68D219-C98B-4E43-89BC-71F968DC2E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D23A8B-0BB4-47A8-BDC2-3AAD10EA8D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E628A2-1CD9-4281-9310-6EB1538BA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412E7-9951-453F-8C95-8DE2D6E4571E}" type="datetimeFigureOut">
              <a:rPr lang="en-AU" smtClean="0"/>
              <a:t>17/05/2022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EEC967-BE1B-4401-ACBB-3D3799B06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659B7-D443-4541-BF1E-99A6DE8C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8E23A-6ED6-4CDC-930E-F9C9E0B533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725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423A7-0865-41D0-B9A8-88B86FCDB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F5F56D-32D9-4E8B-B78E-043F07C217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5689D-0340-4C1E-A806-3E4BD3E1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412E7-9951-453F-8C95-8DE2D6E4571E}" type="datetimeFigureOut">
              <a:rPr lang="en-AU" smtClean="0"/>
              <a:t>17/05/2022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A3167-001B-478D-BD70-E7B5FEE39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532EA-3FD8-41FA-823F-6B9BA464E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8E23A-6ED6-4CDC-930E-F9C9E0B533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3835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EFBC92-F192-4270-8876-92D6CB068E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25FB50-9053-4F8D-AD3F-4573DA043D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72C51-DF4E-4A4B-B36D-F30753DB3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412E7-9951-453F-8C95-8DE2D6E4571E}" type="datetimeFigureOut">
              <a:rPr lang="en-AU" smtClean="0"/>
              <a:t>17/05/2022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F414A-01D7-436F-8C5D-C37BA0DF8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08F78-CF8A-4FE4-B0D9-2034D0690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8E23A-6ED6-4CDC-930E-F9C9E0B533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28589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55C03-B4A6-4F45-B65A-8C30769D83C7}" type="datetimeFigureOut">
              <a:rPr lang="en-AU" smtClean="0"/>
              <a:t>17/05/2022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A07FB-AF85-4152-8507-AE98A953AE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91856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0"/>
            <a:ext cx="12191999" cy="7647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4" y="764705"/>
            <a:ext cx="12190696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55C03-B4A6-4F45-B65A-8C30769D83C7}" type="datetimeFigureOut">
              <a:rPr lang="en-AU" smtClean="0"/>
              <a:t>17/05/2022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A07FB-AF85-4152-8507-AE98A953AE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10057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55C03-B4A6-4F45-B65A-8C30769D83C7}" type="datetimeFigureOut">
              <a:rPr lang="en-AU" smtClean="0"/>
              <a:t>17/05/2022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A07FB-AF85-4152-8507-AE98A953AE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50303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55C03-B4A6-4F45-B65A-8C30769D83C7}" type="datetimeFigureOut">
              <a:rPr lang="en-AU" smtClean="0"/>
              <a:t>17/05/2022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A07FB-AF85-4152-8507-AE98A953AE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44838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55C03-B4A6-4F45-B65A-8C30769D83C7}" type="datetimeFigureOut">
              <a:rPr lang="en-AU" smtClean="0"/>
              <a:t>17/05/2022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A07FB-AF85-4152-8507-AE98A953AE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99561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55C03-B4A6-4F45-B65A-8C30769D83C7}" type="datetimeFigureOut">
              <a:rPr lang="en-AU" smtClean="0"/>
              <a:t>17/05/2022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A07FB-AF85-4152-8507-AE98A953AE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62975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55C03-B4A6-4F45-B65A-8C30769D83C7}" type="datetimeFigureOut">
              <a:rPr lang="en-AU" smtClean="0"/>
              <a:t>17/05/2022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A07FB-AF85-4152-8507-AE98A953AE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86140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55C03-B4A6-4F45-B65A-8C30769D83C7}" type="datetimeFigureOut">
              <a:rPr lang="en-AU" smtClean="0"/>
              <a:t>17/05/2022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A07FB-AF85-4152-8507-AE98A953AE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71373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55C03-B4A6-4F45-B65A-8C30769D83C7}" type="datetimeFigureOut">
              <a:rPr lang="en-AU" smtClean="0"/>
              <a:t>17/05/2022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A07FB-AF85-4152-8507-AE98A953AE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32632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55C03-B4A6-4F45-B65A-8C30769D83C7}" type="datetimeFigureOut">
              <a:rPr lang="en-AU" smtClean="0"/>
              <a:t>17/05/2022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A07FB-AF85-4152-8507-AE98A953AE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55652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55C03-B4A6-4F45-B65A-8C30769D83C7}" type="datetimeFigureOut">
              <a:rPr lang="en-AU" smtClean="0"/>
              <a:t>17/05/2022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A07FB-AF85-4152-8507-AE98A953AE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1288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2E69EB-560B-4785-BF27-C4F5D241B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B0F04E-63E2-4A4F-B360-7BA43E5EA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1D133-367E-4CA7-840F-B425EA7CB9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412E7-9951-453F-8C95-8DE2D6E4571E}" type="datetimeFigureOut">
              <a:rPr lang="en-AU" smtClean="0"/>
              <a:t>17/05/2022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10BC9-F53C-438A-866E-9E8BE5B4B5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1E1E9-9769-438C-98EF-ECBEBF7015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E8E23A-6ED6-4CDC-930E-F9C9E0B533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7775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55C03-B4A6-4F45-B65A-8C30769D83C7}" type="datetimeFigureOut">
              <a:rPr lang="en-AU" smtClean="0"/>
              <a:t>17/05/2022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A07FB-AF85-4152-8507-AE98A953AE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9870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0.png"/><Relationship Id="rId4" Type="http://schemas.openxmlformats.org/officeDocument/2006/relationships/image" Target="../media/image5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DE9333F-57E5-4C60-BA29-8DF46FD63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DB5B8D-07D2-41A2-B179-285F75C99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Inverse operations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Be able to: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Calculate the radius or diameter of a circle given its circumference or area. 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Review area of composite shapes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Review key features of a circle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Inverse operations </a:t>
            </a:r>
            <a:endParaRPr lang="en-AU" dirty="0">
              <a:solidFill>
                <a:srgbClr val="00B0F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FBD940-615C-4C98-B026-B1C3DC1A2703}"/>
              </a:ext>
            </a:extLst>
          </p:cNvPr>
          <p:cNvSpPr txBox="1"/>
          <p:nvPr/>
        </p:nvSpPr>
        <p:spPr>
          <a:xfrm>
            <a:off x="6640497" y="1690688"/>
            <a:ext cx="45276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Need whiteboards and calculators 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13072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0D68C-68B8-4585-9E04-66D0557D4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Perimeter Vs. Area </a:t>
            </a:r>
            <a:endParaRPr lang="en-AU" dirty="0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C948A01A-D128-43A0-AD9C-9D22FA4EA837}"/>
              </a:ext>
            </a:extLst>
          </p:cNvPr>
          <p:cNvSpPr/>
          <p:nvPr/>
        </p:nvSpPr>
        <p:spPr>
          <a:xfrm>
            <a:off x="1420427" y="2894120"/>
            <a:ext cx="3959441" cy="2121763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65C68C25-8F1F-4509-849D-64A6781BA358}"/>
              </a:ext>
            </a:extLst>
          </p:cNvPr>
          <p:cNvSpPr/>
          <p:nvPr/>
        </p:nvSpPr>
        <p:spPr>
          <a:xfrm>
            <a:off x="7670307" y="2759183"/>
            <a:ext cx="3101266" cy="238098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BF4E6C-BDFB-4EDA-B69A-4A0E9E6C2E60}"/>
              </a:ext>
            </a:extLst>
          </p:cNvPr>
          <p:cNvSpPr txBox="1"/>
          <p:nvPr/>
        </p:nvSpPr>
        <p:spPr>
          <a:xfrm>
            <a:off x="2904848" y="5015883"/>
            <a:ext cx="1349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12m</a:t>
            </a:r>
            <a:endParaRPr lang="en-AU" sz="2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E0D660-8F47-418A-85AD-22678B78D7D5}"/>
              </a:ext>
            </a:extLst>
          </p:cNvPr>
          <p:cNvSpPr txBox="1"/>
          <p:nvPr/>
        </p:nvSpPr>
        <p:spPr>
          <a:xfrm>
            <a:off x="10096870" y="3478074"/>
            <a:ext cx="1349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6m</a:t>
            </a:r>
            <a:endParaRPr lang="en-AU" sz="28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094E75-1270-45CD-A06D-E01656125312}"/>
              </a:ext>
            </a:extLst>
          </p:cNvPr>
          <p:cNvSpPr txBox="1"/>
          <p:nvPr/>
        </p:nvSpPr>
        <p:spPr>
          <a:xfrm>
            <a:off x="8888027" y="5116539"/>
            <a:ext cx="1349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10m</a:t>
            </a:r>
            <a:endParaRPr lang="en-AU" sz="28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BE3C25-7DEE-40B7-BBB8-F45013FA9214}"/>
              </a:ext>
            </a:extLst>
          </p:cNvPr>
          <p:cNvSpPr txBox="1"/>
          <p:nvPr/>
        </p:nvSpPr>
        <p:spPr>
          <a:xfrm>
            <a:off x="838200" y="3593483"/>
            <a:ext cx="1349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10m</a:t>
            </a:r>
            <a:endParaRPr lang="en-AU" sz="28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7B137E-874F-4E61-B3AD-D7F15AF16107}"/>
              </a:ext>
            </a:extLst>
          </p:cNvPr>
          <p:cNvSpPr txBox="1"/>
          <p:nvPr/>
        </p:nvSpPr>
        <p:spPr>
          <a:xfrm>
            <a:off x="7822707" y="3599498"/>
            <a:ext cx="1349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6m</a:t>
            </a:r>
            <a:endParaRPr lang="en-AU" sz="2800" b="1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36C11CA-8C8D-4026-9010-817655ACB085}"/>
                  </a:ext>
                </a:extLst>
              </p14:cNvPr>
              <p14:cNvContentPartPr/>
              <p14:nvPr/>
            </p14:nvContentPartPr>
            <p14:xfrm>
              <a:off x="1615233" y="3888028"/>
              <a:ext cx="168120" cy="183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36C11CA-8C8D-4026-9010-817655ACB08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79593" y="3852388"/>
                <a:ext cx="23976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8494728-DAF5-4A1A-A070-2C3365BF1135}"/>
                  </a:ext>
                </a:extLst>
              </p14:cNvPr>
              <p14:cNvContentPartPr/>
              <p14:nvPr/>
            </p14:nvContentPartPr>
            <p14:xfrm>
              <a:off x="5015433" y="4030228"/>
              <a:ext cx="177840" cy="93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8494728-DAF5-4A1A-A070-2C3365BF113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79793" y="3994228"/>
                <a:ext cx="249480" cy="81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07873F13-3E04-4E85-A485-8D50352AE0B3}"/>
              </a:ext>
            </a:extLst>
          </p:cNvPr>
          <p:cNvGrpSpPr/>
          <p:nvPr/>
        </p:nvGrpSpPr>
        <p:grpSpPr>
          <a:xfrm>
            <a:off x="2751753" y="4899988"/>
            <a:ext cx="106920" cy="168120"/>
            <a:chOff x="2751753" y="4899988"/>
            <a:chExt cx="106920" cy="16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698D210-83BC-4741-A695-C85125C9D440}"/>
                    </a:ext>
                  </a:extLst>
                </p14:cNvPr>
                <p14:cNvContentPartPr/>
                <p14:nvPr/>
              </p14:nvContentPartPr>
              <p14:xfrm>
                <a:off x="2751753" y="4908988"/>
                <a:ext cx="360" cy="1591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698D210-83BC-4741-A695-C85125C9D44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716113" y="4872988"/>
                  <a:ext cx="720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2B59F2B-DDBF-4A17-B64C-88CC3C3E7858}"/>
                    </a:ext>
                  </a:extLst>
                </p14:cNvPr>
                <p14:cNvContentPartPr/>
                <p14:nvPr/>
              </p14:nvContentPartPr>
              <p14:xfrm>
                <a:off x="2858313" y="4899988"/>
                <a:ext cx="360" cy="1332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2B59F2B-DDBF-4A17-B64C-88CC3C3E785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822673" y="4864348"/>
                  <a:ext cx="72000" cy="20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C8C88B8-6DFB-4A0E-81AE-C619F031A3D0}"/>
              </a:ext>
            </a:extLst>
          </p:cNvPr>
          <p:cNvGrpSpPr/>
          <p:nvPr/>
        </p:nvGrpSpPr>
        <p:grpSpPr>
          <a:xfrm>
            <a:off x="3080433" y="2769508"/>
            <a:ext cx="79920" cy="194040"/>
            <a:chOff x="3080433" y="2769508"/>
            <a:chExt cx="79920" cy="19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763C58E-04E4-4FE3-9097-277C8E4E2825}"/>
                    </a:ext>
                  </a:extLst>
                </p14:cNvPr>
                <p14:cNvContentPartPr/>
                <p14:nvPr/>
              </p14:nvContentPartPr>
              <p14:xfrm>
                <a:off x="3080433" y="2778148"/>
                <a:ext cx="360" cy="1418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763C58E-04E4-4FE3-9097-277C8E4E282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044433" y="2742508"/>
                  <a:ext cx="720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F28387E-BC48-4DDD-9F2B-8C1B48BF995C}"/>
                    </a:ext>
                  </a:extLst>
                </p14:cNvPr>
                <p14:cNvContentPartPr/>
                <p14:nvPr/>
              </p14:nvContentPartPr>
              <p14:xfrm>
                <a:off x="3159993" y="2769508"/>
                <a:ext cx="360" cy="1940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F28387E-BC48-4DDD-9F2B-8C1B48BF995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123993" y="2733508"/>
                  <a:ext cx="72000" cy="265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98137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01A71-6245-4DB3-82E6-0371BCA71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DRNS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26BD1-4EB0-424C-9F04-AC523425C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Calculate the area: </a:t>
            </a:r>
            <a:endParaRPr lang="en-AU" dirty="0"/>
          </a:p>
        </p:txBody>
      </p:sp>
      <p:sp>
        <p:nvSpPr>
          <p:cNvPr id="4" name="Flowchart: Manual Operation 3">
            <a:extLst>
              <a:ext uri="{FF2B5EF4-FFF2-40B4-BE49-F238E27FC236}">
                <a16:creationId xmlns:a16="http://schemas.microsoft.com/office/drawing/2014/main" id="{5CC396EC-6A30-4EEA-9B60-78ED81D67693}"/>
              </a:ext>
            </a:extLst>
          </p:cNvPr>
          <p:cNvSpPr/>
          <p:nvPr/>
        </p:nvSpPr>
        <p:spPr>
          <a:xfrm rot="10800000">
            <a:off x="958789" y="3109404"/>
            <a:ext cx="3672396" cy="1586883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AAA89A-B868-4E31-96EC-8C034526EBFC}"/>
              </a:ext>
            </a:extLst>
          </p:cNvPr>
          <p:cNvSpPr txBox="1"/>
          <p:nvPr/>
        </p:nvSpPr>
        <p:spPr>
          <a:xfrm>
            <a:off x="5584054" y="2317072"/>
            <a:ext cx="229635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D</a:t>
            </a:r>
          </a:p>
          <a:p>
            <a:endParaRPr lang="en-US" sz="3200" b="1" dirty="0"/>
          </a:p>
          <a:p>
            <a:r>
              <a:rPr lang="en-US" sz="3200" b="1" dirty="0"/>
              <a:t>R</a:t>
            </a:r>
          </a:p>
          <a:p>
            <a:endParaRPr lang="en-US" sz="3200" b="1" dirty="0"/>
          </a:p>
          <a:p>
            <a:r>
              <a:rPr lang="en-US" sz="3200" b="1" dirty="0"/>
              <a:t>N</a:t>
            </a:r>
          </a:p>
          <a:p>
            <a:endParaRPr lang="en-US" sz="3200" b="1" dirty="0"/>
          </a:p>
          <a:p>
            <a:r>
              <a:rPr lang="en-US" sz="3200" b="1" dirty="0"/>
              <a:t>S</a:t>
            </a:r>
            <a:endParaRPr lang="en-AU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A74210-1E11-47D7-B3DF-A6F1BE42319E}"/>
              </a:ext>
            </a:extLst>
          </p:cNvPr>
          <p:cNvSpPr txBox="1"/>
          <p:nvPr/>
        </p:nvSpPr>
        <p:spPr>
          <a:xfrm>
            <a:off x="2465402" y="4831224"/>
            <a:ext cx="1349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10m</a:t>
            </a:r>
            <a:endParaRPr lang="en-AU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D12A7C-63DF-4CFB-81A8-D3A624E0DE63}"/>
              </a:ext>
            </a:extLst>
          </p:cNvPr>
          <p:cNvSpPr txBox="1"/>
          <p:nvPr/>
        </p:nvSpPr>
        <p:spPr>
          <a:xfrm>
            <a:off x="2536424" y="2630676"/>
            <a:ext cx="1349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5m</a:t>
            </a:r>
            <a:endParaRPr lang="en-AU" sz="2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006771-5377-49E4-8FE3-712D08CA5695}"/>
              </a:ext>
            </a:extLst>
          </p:cNvPr>
          <p:cNvSpPr txBox="1"/>
          <p:nvPr/>
        </p:nvSpPr>
        <p:spPr>
          <a:xfrm>
            <a:off x="163497" y="2630676"/>
            <a:ext cx="1349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6m</a:t>
            </a:r>
            <a:endParaRPr lang="en-AU" sz="2800" b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4E26033-67D5-4C8F-9A8E-5D7325066503}"/>
              </a:ext>
            </a:extLst>
          </p:cNvPr>
          <p:cNvCxnSpPr/>
          <p:nvPr/>
        </p:nvCxnSpPr>
        <p:spPr>
          <a:xfrm flipV="1">
            <a:off x="479394" y="3153896"/>
            <a:ext cx="0" cy="154239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6338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01A71-6245-4DB3-82E6-0371BCA71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DRNS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26BD1-4EB0-424C-9F04-AC523425C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225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Calculate the area: 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AAA89A-B868-4E31-96EC-8C034526EBFC}"/>
              </a:ext>
            </a:extLst>
          </p:cNvPr>
          <p:cNvSpPr txBox="1"/>
          <p:nvPr/>
        </p:nvSpPr>
        <p:spPr>
          <a:xfrm>
            <a:off x="5584054" y="2317072"/>
            <a:ext cx="229635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D</a:t>
            </a:r>
          </a:p>
          <a:p>
            <a:endParaRPr lang="en-US" sz="3200" b="1" dirty="0"/>
          </a:p>
          <a:p>
            <a:r>
              <a:rPr lang="en-US" sz="3200" b="1" dirty="0"/>
              <a:t>R</a:t>
            </a:r>
          </a:p>
          <a:p>
            <a:endParaRPr lang="en-US" sz="3200" b="1" dirty="0"/>
          </a:p>
          <a:p>
            <a:r>
              <a:rPr lang="en-US" sz="3200" b="1" dirty="0"/>
              <a:t>N</a:t>
            </a:r>
          </a:p>
          <a:p>
            <a:endParaRPr lang="en-US" sz="3200" b="1" dirty="0"/>
          </a:p>
          <a:p>
            <a:r>
              <a:rPr lang="en-US" sz="3200" b="1" dirty="0"/>
              <a:t>S</a:t>
            </a:r>
            <a:endParaRPr lang="en-AU" sz="3200" b="1" dirty="0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7FCB5520-09FA-48AD-9AB1-9E73FEC0E440}"/>
              </a:ext>
            </a:extLst>
          </p:cNvPr>
          <p:cNvSpPr/>
          <p:nvPr/>
        </p:nvSpPr>
        <p:spPr>
          <a:xfrm>
            <a:off x="976544" y="3551068"/>
            <a:ext cx="3693110" cy="1597981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69B472-25E4-4D83-A5BB-AE5AA1484464}"/>
              </a:ext>
            </a:extLst>
          </p:cNvPr>
          <p:cNvSpPr txBox="1"/>
          <p:nvPr/>
        </p:nvSpPr>
        <p:spPr>
          <a:xfrm>
            <a:off x="2305604" y="5283986"/>
            <a:ext cx="1349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22mm</a:t>
            </a:r>
            <a:endParaRPr lang="en-AU" sz="2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84EADA-4474-49F9-A013-0B8820C0BC41}"/>
              </a:ext>
            </a:extLst>
          </p:cNvPr>
          <p:cNvSpPr txBox="1"/>
          <p:nvPr/>
        </p:nvSpPr>
        <p:spPr>
          <a:xfrm>
            <a:off x="232669" y="3027848"/>
            <a:ext cx="1349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11mm</a:t>
            </a:r>
            <a:endParaRPr lang="en-AU" sz="2800" b="1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EDA90EC-F720-4A94-BE4C-8D4E35F72CE4}"/>
              </a:ext>
            </a:extLst>
          </p:cNvPr>
          <p:cNvCxnSpPr/>
          <p:nvPr/>
        </p:nvCxnSpPr>
        <p:spPr>
          <a:xfrm flipV="1">
            <a:off x="548566" y="3551068"/>
            <a:ext cx="0" cy="154239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9988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FC733-B59B-4B00-8646-5EF88FE69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/>
          <a:lstStyle/>
          <a:p>
            <a:pPr algn="ctr"/>
            <a:r>
              <a:rPr lang="en-US" dirty="0"/>
              <a:t>Composite shapes 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1A8715-9BFF-4F41-8AD8-95E5BC6D5071}"/>
              </a:ext>
            </a:extLst>
          </p:cNvPr>
          <p:cNvSpPr txBox="1"/>
          <p:nvPr/>
        </p:nvSpPr>
        <p:spPr>
          <a:xfrm>
            <a:off x="7603232" y="427741"/>
            <a:ext cx="48965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91490" indent="-457200">
              <a:buAutoNum type="arabicPeriod"/>
            </a:pPr>
            <a:r>
              <a:rPr lang="en-US" sz="1800" b="1" dirty="0">
                <a:solidFill>
                  <a:srgbClr val="00B0F0"/>
                </a:solidFill>
              </a:rPr>
              <a:t>Identify and label each shape </a:t>
            </a:r>
          </a:p>
          <a:p>
            <a:pPr marL="491490" indent="-457200">
              <a:buAutoNum type="arabicPeriod"/>
            </a:pPr>
            <a:r>
              <a:rPr lang="en-US" sz="1800" b="1" dirty="0">
                <a:solidFill>
                  <a:srgbClr val="00B0F0"/>
                </a:solidFill>
              </a:rPr>
              <a:t>Calculate area of each shape (4d.p)</a:t>
            </a:r>
          </a:p>
          <a:p>
            <a:pPr marL="491490" indent="-457200">
              <a:buAutoNum type="arabicPeriod"/>
            </a:pPr>
            <a:r>
              <a:rPr lang="en-US" sz="1800" b="1" dirty="0">
                <a:solidFill>
                  <a:srgbClr val="00B0F0"/>
                </a:solidFill>
              </a:rPr>
              <a:t>Add or subtract area for answer (2 </a:t>
            </a:r>
            <a:r>
              <a:rPr lang="en-US" sz="1800" b="1" dirty="0" err="1">
                <a:solidFill>
                  <a:srgbClr val="00B0F0"/>
                </a:solidFill>
              </a:rPr>
              <a:t>d.p</a:t>
            </a:r>
            <a:r>
              <a:rPr lang="en-US" sz="1800" b="1" dirty="0">
                <a:solidFill>
                  <a:srgbClr val="00B0F0"/>
                </a:solidFill>
              </a:rPr>
              <a:t>) </a:t>
            </a:r>
          </a:p>
          <a:p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525F04-E743-4E32-A7D6-BE79D0B57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6" y="1430890"/>
            <a:ext cx="4838700" cy="52527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6D17D3-FFFA-4F26-996F-C78B515E45DA}"/>
              </a:ext>
            </a:extLst>
          </p:cNvPr>
          <p:cNvSpPr txBox="1"/>
          <p:nvPr/>
        </p:nvSpPr>
        <p:spPr>
          <a:xfrm>
            <a:off x="5178609" y="2756453"/>
            <a:ext cx="229635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D</a:t>
            </a:r>
          </a:p>
          <a:p>
            <a:endParaRPr lang="en-US" sz="3200" b="1" dirty="0"/>
          </a:p>
          <a:p>
            <a:r>
              <a:rPr lang="en-US" sz="3200" b="1" dirty="0"/>
              <a:t>R</a:t>
            </a:r>
          </a:p>
          <a:p>
            <a:endParaRPr lang="en-US" sz="3200" b="1" dirty="0"/>
          </a:p>
          <a:p>
            <a:r>
              <a:rPr lang="en-US" sz="3200" b="1" dirty="0"/>
              <a:t>N</a:t>
            </a:r>
          </a:p>
          <a:p>
            <a:endParaRPr lang="en-US" sz="3200" b="1" dirty="0"/>
          </a:p>
          <a:p>
            <a:r>
              <a:rPr lang="en-US" sz="3200" b="1" dirty="0"/>
              <a:t>S</a:t>
            </a:r>
            <a:endParaRPr lang="en-AU" sz="3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94D25C-1798-42AB-8734-2A46C8DE8DC7}"/>
              </a:ext>
            </a:extLst>
          </p:cNvPr>
          <p:cNvSpPr txBox="1"/>
          <p:nvPr/>
        </p:nvSpPr>
        <p:spPr>
          <a:xfrm>
            <a:off x="6326789" y="2087884"/>
            <a:ext cx="2009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Shape A</a:t>
            </a:r>
            <a:endParaRPr lang="en-A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069572-F2EF-4979-A8E7-A3D493041F5C}"/>
              </a:ext>
            </a:extLst>
          </p:cNvPr>
          <p:cNvSpPr txBox="1"/>
          <p:nvPr/>
        </p:nvSpPr>
        <p:spPr>
          <a:xfrm>
            <a:off x="9101415" y="2087884"/>
            <a:ext cx="2009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Shape B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986493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3200" dirty="0"/>
              <a:t>Whiteboards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764704"/>
            <a:ext cx="9144000" cy="4861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5F6E245-80F8-4E89-9BEC-F29535829C75}"/>
              </a:ext>
            </a:extLst>
          </p:cNvPr>
          <p:cNvSpPr/>
          <p:nvPr/>
        </p:nvSpPr>
        <p:spPr>
          <a:xfrm>
            <a:off x="4897511" y="821413"/>
            <a:ext cx="2787588" cy="25745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6ED769-DA4A-41CD-AEE8-2AED92EAB176}"/>
              </a:ext>
            </a:extLst>
          </p:cNvPr>
          <p:cNvSpPr txBox="1"/>
          <p:nvPr/>
        </p:nvSpPr>
        <p:spPr>
          <a:xfrm>
            <a:off x="4467682" y="1641110"/>
            <a:ext cx="229635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D</a:t>
            </a:r>
          </a:p>
          <a:p>
            <a:endParaRPr lang="en-US" sz="3200" b="1" dirty="0"/>
          </a:p>
          <a:p>
            <a:r>
              <a:rPr lang="en-US" sz="3200" b="1" dirty="0"/>
              <a:t>R</a:t>
            </a:r>
          </a:p>
          <a:p>
            <a:endParaRPr lang="en-US" sz="3200" b="1" dirty="0"/>
          </a:p>
          <a:p>
            <a:r>
              <a:rPr lang="en-US" sz="3200" b="1" dirty="0"/>
              <a:t>N</a:t>
            </a:r>
          </a:p>
          <a:p>
            <a:endParaRPr lang="en-US" sz="3200" b="1" dirty="0"/>
          </a:p>
          <a:p>
            <a:r>
              <a:rPr lang="en-US" sz="3200" b="1" dirty="0"/>
              <a:t>S</a:t>
            </a:r>
            <a:endParaRPr lang="en-AU" sz="3200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C9B04E-DFE1-4613-A9BF-4BDD684E9F06}"/>
              </a:ext>
            </a:extLst>
          </p:cNvPr>
          <p:cNvSpPr/>
          <p:nvPr/>
        </p:nvSpPr>
        <p:spPr>
          <a:xfrm>
            <a:off x="7782755" y="836300"/>
            <a:ext cx="2787588" cy="25745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BF6AFE-2B92-4306-9EB1-954660100512}"/>
              </a:ext>
            </a:extLst>
          </p:cNvPr>
          <p:cNvSpPr/>
          <p:nvPr/>
        </p:nvSpPr>
        <p:spPr>
          <a:xfrm>
            <a:off x="1524000" y="3051546"/>
            <a:ext cx="2787588" cy="25745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61782E-8E76-429D-B28E-9BFBAC3F069C}"/>
              </a:ext>
            </a:extLst>
          </p:cNvPr>
          <p:cNvSpPr/>
          <p:nvPr/>
        </p:nvSpPr>
        <p:spPr>
          <a:xfrm>
            <a:off x="4799854" y="2985081"/>
            <a:ext cx="2787588" cy="25745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0FBECB-C8E2-4402-98E2-D50047453498}"/>
              </a:ext>
            </a:extLst>
          </p:cNvPr>
          <p:cNvSpPr/>
          <p:nvPr/>
        </p:nvSpPr>
        <p:spPr>
          <a:xfrm>
            <a:off x="7880412" y="2888266"/>
            <a:ext cx="2787588" cy="25745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DED65F-FA99-4B07-A826-C21F1F660711}"/>
              </a:ext>
            </a:extLst>
          </p:cNvPr>
          <p:cNvSpPr txBox="1"/>
          <p:nvPr/>
        </p:nvSpPr>
        <p:spPr>
          <a:xfrm>
            <a:off x="5341943" y="1133599"/>
            <a:ext cx="2009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Shape A</a:t>
            </a:r>
            <a:endParaRPr lang="en-AU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B74F83-540C-45E3-B192-61F5FE90680A}"/>
              </a:ext>
            </a:extLst>
          </p:cNvPr>
          <p:cNvSpPr txBox="1"/>
          <p:nvPr/>
        </p:nvSpPr>
        <p:spPr>
          <a:xfrm>
            <a:off x="8116569" y="1133599"/>
            <a:ext cx="2009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Shape B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394381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/>
      <p:bldP spid="11" grpId="0" animBg="1"/>
      <p:bldP spid="12" grpId="0" animBg="1"/>
      <p:bldP spid="13" grpId="0" animBg="1"/>
      <p:bldP spid="14" grpId="0" animBg="1"/>
      <p:bldP spid="15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18AFB-2687-4CEC-8B70-FB58C163E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20DE0-78B0-4476-877B-5942DF707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Circumference </a:t>
            </a:r>
          </a:p>
          <a:p>
            <a:pPr>
              <a:buFontTx/>
              <a:buChar char="-"/>
            </a:pPr>
            <a:r>
              <a:rPr lang="en-US" dirty="0"/>
              <a:t>Circle edge/perimeter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Radius </a:t>
            </a:r>
          </a:p>
          <a:p>
            <a:pPr>
              <a:buFontTx/>
              <a:buChar char="-"/>
            </a:pPr>
            <a:r>
              <a:rPr lang="en-US" dirty="0"/>
              <a:t>From center of the circle to outside edge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Diameter </a:t>
            </a:r>
          </a:p>
          <a:p>
            <a:pPr>
              <a:buFontTx/>
              <a:buChar char="-"/>
            </a:pPr>
            <a:r>
              <a:rPr lang="en-US" dirty="0"/>
              <a:t>Straight line through the center, edge to edge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/>
              <a:t>Diameter is twice the length of its radius  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E5395-0C76-4FC5-8B55-AC9C6C766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7E66A-2C71-4391-948A-6C8225AEA678}" type="slidenum">
              <a:rPr lang="en-GB" altLang="en-US" smtClean="0"/>
              <a:pPr/>
              <a:t>7</a:t>
            </a:fld>
            <a:endParaRPr lang="en-GB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946BEA-2D44-4B02-9860-4FFEFF57B8E2}"/>
              </a:ext>
            </a:extLst>
          </p:cNvPr>
          <p:cNvSpPr/>
          <p:nvPr/>
        </p:nvSpPr>
        <p:spPr>
          <a:xfrm>
            <a:off x="1934333" y="2178231"/>
            <a:ext cx="3312368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AE24F0-0B63-489F-9E06-24B79A06B6CD}"/>
              </a:ext>
            </a:extLst>
          </p:cNvPr>
          <p:cNvSpPr/>
          <p:nvPr/>
        </p:nvSpPr>
        <p:spPr>
          <a:xfrm>
            <a:off x="1934333" y="3406374"/>
            <a:ext cx="5989734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705F49-BC47-46A0-82EF-97B7694C1376}"/>
              </a:ext>
            </a:extLst>
          </p:cNvPr>
          <p:cNvSpPr/>
          <p:nvPr/>
        </p:nvSpPr>
        <p:spPr>
          <a:xfrm>
            <a:off x="2794247" y="4541989"/>
            <a:ext cx="4405543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37DC64-5620-4A49-9791-2C86529D7A1A}"/>
              </a:ext>
            </a:extLst>
          </p:cNvPr>
          <p:cNvSpPr/>
          <p:nvPr/>
        </p:nvSpPr>
        <p:spPr>
          <a:xfrm>
            <a:off x="2486727" y="5414775"/>
            <a:ext cx="4176464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05742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245930-F3FE-46B9-BD48-D515A82715A0}"/>
              </a:ext>
            </a:extLst>
          </p:cNvPr>
          <p:cNvSpPr txBox="1"/>
          <p:nvPr/>
        </p:nvSpPr>
        <p:spPr>
          <a:xfrm>
            <a:off x="1323917" y="493664"/>
            <a:ext cx="10187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Aim: Practicing calculating area and circumference of a circle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98F14F-459C-4FF4-BB05-085706C661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3034"/>
          <a:stretch/>
        </p:blipFill>
        <p:spPr>
          <a:xfrm>
            <a:off x="268365" y="1536612"/>
            <a:ext cx="4000705" cy="3871252"/>
          </a:xfrm>
          <a:prstGeom prst="rect">
            <a:avLst/>
          </a:prstGeom>
        </p:spPr>
      </p:pic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673903DA-FADD-425D-BD80-87119C510E51}"/>
              </a:ext>
            </a:extLst>
          </p:cNvPr>
          <p:cNvGraphicFramePr>
            <a:graphicFrameLocks noGrp="1"/>
          </p:cNvGraphicFramePr>
          <p:nvPr/>
        </p:nvGraphicFramePr>
        <p:xfrm>
          <a:off x="4196140" y="1481531"/>
          <a:ext cx="7315202" cy="25099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1">
                  <a:extLst>
                    <a:ext uri="{9D8B030D-6E8A-4147-A177-3AD203B41FA5}">
                      <a16:colId xmlns:a16="http://schemas.microsoft.com/office/drawing/2014/main" val="4021360316"/>
                    </a:ext>
                  </a:extLst>
                </a:gridCol>
                <a:gridCol w="3657601">
                  <a:extLst>
                    <a:ext uri="{9D8B030D-6E8A-4147-A177-3AD203B41FA5}">
                      <a16:colId xmlns:a16="http://schemas.microsoft.com/office/drawing/2014/main" val="2591231441"/>
                    </a:ext>
                  </a:extLst>
                </a:gridCol>
              </a:tblGrid>
              <a:tr h="457479">
                <a:tc>
                  <a:txBody>
                    <a:bodyPr/>
                    <a:lstStyle/>
                    <a:p>
                      <a:pPr algn="ctr"/>
                      <a:r>
                        <a:rPr lang="en-AU" sz="2800" b="1" dirty="0"/>
                        <a:t>Circumference: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1" dirty="0"/>
                        <a:t>Area: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567349"/>
                  </a:ext>
                </a:extLst>
              </a:tr>
              <a:tr h="1991781">
                <a:tc>
                  <a:txBody>
                    <a:bodyPr/>
                    <a:lstStyle/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75227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D4FBE1-E945-4E2E-8490-526771482BD3}"/>
                  </a:ext>
                </a:extLst>
              </p:cNvPr>
              <p:cNvSpPr txBox="1"/>
              <p:nvPr/>
            </p:nvSpPr>
            <p:spPr>
              <a:xfrm>
                <a:off x="4515902" y="2251568"/>
                <a:ext cx="2563554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AU" sz="28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𝟐𝟏</m:t>
                      </m:r>
                    </m:oMath>
                  </m:oMathPara>
                </a14:m>
                <a:endParaRPr lang="en-AU" sz="28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𝟏𝟑𝟏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𝟗𝟓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𝒄𝒎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𝒅𝒑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D4FBE1-E945-4E2E-8490-526771482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5902" y="2251568"/>
                <a:ext cx="2563554" cy="1384995"/>
              </a:xfrm>
              <a:prstGeom prst="rect">
                <a:avLst/>
              </a:prstGeom>
              <a:blipFill>
                <a:blip r:embed="rId4"/>
                <a:stretch>
                  <a:fillRect r="-2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8384101-B770-4BDF-A185-652CA8115F39}"/>
                  </a:ext>
                </a:extLst>
              </p:cNvPr>
              <p:cNvSpPr txBox="1"/>
              <p:nvPr/>
            </p:nvSpPr>
            <p:spPr>
              <a:xfrm>
                <a:off x="7922932" y="2287981"/>
                <a:ext cx="2300025" cy="1421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8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𝟐𝟏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8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𝟏𝟑𝟖𝟓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𝟒𝟒</m:t>
                      </m:r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𝒄𝒎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𝒅𝒑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8384101-B770-4BDF-A185-652CA8115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2932" y="2287981"/>
                <a:ext cx="2300025" cy="1421864"/>
              </a:xfrm>
              <a:prstGeom prst="rect">
                <a:avLst/>
              </a:prstGeom>
              <a:blipFill>
                <a:blip r:embed="rId5"/>
                <a:stretch>
                  <a:fillRect r="-5437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B03B8FF-F4D9-4796-8B77-3DC3FC4D0298}"/>
              </a:ext>
            </a:extLst>
          </p:cNvPr>
          <p:cNvSpPr txBox="1"/>
          <p:nvPr/>
        </p:nvSpPr>
        <p:spPr>
          <a:xfrm>
            <a:off x="268365" y="131409"/>
            <a:ext cx="11786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 DO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610610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9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673903DA-FADD-425D-BD80-87119C510E51}"/>
              </a:ext>
            </a:extLst>
          </p:cNvPr>
          <p:cNvGraphicFramePr>
            <a:graphicFrameLocks noGrp="1"/>
          </p:cNvGraphicFramePr>
          <p:nvPr/>
        </p:nvGraphicFramePr>
        <p:xfrm>
          <a:off x="4196140" y="1481531"/>
          <a:ext cx="7315202" cy="25099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1">
                  <a:extLst>
                    <a:ext uri="{9D8B030D-6E8A-4147-A177-3AD203B41FA5}">
                      <a16:colId xmlns:a16="http://schemas.microsoft.com/office/drawing/2014/main" val="4021360316"/>
                    </a:ext>
                  </a:extLst>
                </a:gridCol>
                <a:gridCol w="3657601">
                  <a:extLst>
                    <a:ext uri="{9D8B030D-6E8A-4147-A177-3AD203B41FA5}">
                      <a16:colId xmlns:a16="http://schemas.microsoft.com/office/drawing/2014/main" val="2591231441"/>
                    </a:ext>
                  </a:extLst>
                </a:gridCol>
              </a:tblGrid>
              <a:tr h="457479">
                <a:tc>
                  <a:txBody>
                    <a:bodyPr/>
                    <a:lstStyle/>
                    <a:p>
                      <a:pPr algn="ctr"/>
                      <a:r>
                        <a:rPr lang="en-AU" sz="2800" b="1" dirty="0"/>
                        <a:t>Circumference: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1" dirty="0"/>
                        <a:t>Area: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567349"/>
                  </a:ext>
                </a:extLst>
              </a:tr>
              <a:tr h="1991781">
                <a:tc>
                  <a:txBody>
                    <a:bodyPr/>
                    <a:lstStyle/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75227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D4FBE1-E945-4E2E-8490-526771482BD3}"/>
                  </a:ext>
                </a:extLst>
              </p:cNvPr>
              <p:cNvSpPr txBox="1"/>
              <p:nvPr/>
            </p:nvSpPr>
            <p:spPr>
              <a:xfrm>
                <a:off x="4515902" y="2251568"/>
                <a:ext cx="2300025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𝑫</m:t>
                      </m:r>
                    </m:oMath>
                  </m:oMathPara>
                </a14:m>
                <a:endParaRPr lang="en-AU" sz="28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28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𝟏𝟓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𝟕𝟏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𝒄𝒎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𝒅𝒑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D4FBE1-E945-4E2E-8490-526771482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5902" y="2251568"/>
                <a:ext cx="2300025" cy="1384995"/>
              </a:xfrm>
              <a:prstGeom prst="rect">
                <a:avLst/>
              </a:prstGeom>
              <a:blipFill>
                <a:blip r:embed="rId2"/>
                <a:stretch>
                  <a:fillRect r="-2838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8384101-B770-4BDF-A185-652CA8115F39}"/>
                  </a:ext>
                </a:extLst>
              </p:cNvPr>
              <p:cNvSpPr txBox="1"/>
              <p:nvPr/>
            </p:nvSpPr>
            <p:spPr>
              <a:xfrm>
                <a:off x="7922932" y="2287981"/>
                <a:ext cx="2300025" cy="14142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8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  <m:r>
                            <a:rPr lang="en-AU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AU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𝟓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8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𝟏𝟗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𝟔𝟑</m:t>
                      </m:r>
                      <m:sSup>
                        <m:sSupPr>
                          <m:ctrlPr>
                            <a:rPr lang="en-AU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𝒄𝒎</m:t>
                          </m:r>
                        </m:e>
                        <m:sup>
                          <m:r>
                            <a:rPr lang="en-AU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𝒅𝒑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8384101-B770-4BDF-A185-652CA8115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2932" y="2287981"/>
                <a:ext cx="2300025" cy="1414233"/>
              </a:xfrm>
              <a:prstGeom prst="rect">
                <a:avLst/>
              </a:prstGeom>
              <a:blipFill>
                <a:blip r:embed="rId3"/>
                <a:stretch>
                  <a:fillRect r="-3580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E10ABD8-2D73-4CEE-93D4-D24FE2FBF1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47" y="2165958"/>
            <a:ext cx="3783792" cy="36510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0F9F98E-0D79-4ACC-8619-3F4960488C6F}"/>
              </a:ext>
            </a:extLst>
          </p:cNvPr>
          <p:cNvSpPr txBox="1"/>
          <p:nvPr/>
        </p:nvSpPr>
        <p:spPr>
          <a:xfrm>
            <a:off x="268365" y="131409"/>
            <a:ext cx="11786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WE DO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135869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9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673903DA-FADD-425D-BD80-87119C510E51}"/>
              </a:ext>
            </a:extLst>
          </p:cNvPr>
          <p:cNvGraphicFramePr>
            <a:graphicFrameLocks noGrp="1"/>
          </p:cNvGraphicFramePr>
          <p:nvPr/>
        </p:nvGraphicFramePr>
        <p:xfrm>
          <a:off x="4196140" y="1481531"/>
          <a:ext cx="7315202" cy="25099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1">
                  <a:extLst>
                    <a:ext uri="{9D8B030D-6E8A-4147-A177-3AD203B41FA5}">
                      <a16:colId xmlns:a16="http://schemas.microsoft.com/office/drawing/2014/main" val="4021360316"/>
                    </a:ext>
                  </a:extLst>
                </a:gridCol>
                <a:gridCol w="3657601">
                  <a:extLst>
                    <a:ext uri="{9D8B030D-6E8A-4147-A177-3AD203B41FA5}">
                      <a16:colId xmlns:a16="http://schemas.microsoft.com/office/drawing/2014/main" val="2591231441"/>
                    </a:ext>
                  </a:extLst>
                </a:gridCol>
              </a:tblGrid>
              <a:tr h="457479">
                <a:tc>
                  <a:txBody>
                    <a:bodyPr/>
                    <a:lstStyle/>
                    <a:p>
                      <a:pPr algn="ctr"/>
                      <a:r>
                        <a:rPr lang="en-AU" sz="2800" b="1" dirty="0"/>
                        <a:t>Circumference: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1" dirty="0"/>
                        <a:t>Area: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567349"/>
                  </a:ext>
                </a:extLst>
              </a:tr>
              <a:tr h="1991781">
                <a:tc>
                  <a:txBody>
                    <a:bodyPr/>
                    <a:lstStyle/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75227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D4FBE1-E945-4E2E-8490-526771482BD3}"/>
                  </a:ext>
                </a:extLst>
              </p:cNvPr>
              <p:cNvSpPr txBox="1"/>
              <p:nvPr/>
            </p:nvSpPr>
            <p:spPr>
              <a:xfrm>
                <a:off x="4269069" y="2251568"/>
                <a:ext cx="3017555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AU" sz="28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𝟏𝟓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AU" sz="28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𝟗𝟗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𝟐𝟕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𝒄𝒎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𝒅𝒑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D4FBE1-E945-4E2E-8490-526771482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9069" y="2251568"/>
                <a:ext cx="3017555" cy="13849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8384101-B770-4BDF-A185-652CA8115F39}"/>
                  </a:ext>
                </a:extLst>
              </p:cNvPr>
              <p:cNvSpPr txBox="1"/>
              <p:nvPr/>
            </p:nvSpPr>
            <p:spPr>
              <a:xfrm>
                <a:off x="7922932" y="2287981"/>
                <a:ext cx="2300025" cy="14142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8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𝟏𝟓</m:t>
                          </m:r>
                          <m:r>
                            <a:rPr lang="en-AU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AU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𝟖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8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𝟕𝟖𝟒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𝟐𝟕</m:t>
                      </m:r>
                      <m:sSup>
                        <m:sSupPr>
                          <m:ctrlPr>
                            <a:rPr lang="en-AU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𝒄𝒎</m:t>
                          </m:r>
                        </m:e>
                        <m:sup>
                          <m:r>
                            <a:rPr lang="en-AU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𝒅𝒑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8384101-B770-4BDF-A185-652CA8115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2932" y="2287981"/>
                <a:ext cx="2300025" cy="1414233"/>
              </a:xfrm>
              <a:prstGeom prst="rect">
                <a:avLst/>
              </a:prstGeom>
              <a:blipFill>
                <a:blip r:embed="rId3"/>
                <a:stretch>
                  <a:fillRect r="-4509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Radius of a Circle Formula &amp; Example | How to Find the Radius of a Circle -  Video &amp; Lesson Transcript | Study.com">
            <a:extLst>
              <a:ext uri="{FF2B5EF4-FFF2-40B4-BE49-F238E27FC236}">
                <a16:creationId xmlns:a16="http://schemas.microsoft.com/office/drawing/2014/main" id="{B6BF66BA-BF0F-481D-943A-287C371B0B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481"/>
          <a:stretch/>
        </p:blipFill>
        <p:spPr bwMode="auto">
          <a:xfrm>
            <a:off x="251070" y="2054061"/>
            <a:ext cx="3785189" cy="3709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7099AF3-BAC0-4E90-AD03-8FBB2BDC86E6}"/>
              </a:ext>
            </a:extLst>
          </p:cNvPr>
          <p:cNvSpPr txBox="1"/>
          <p:nvPr/>
        </p:nvSpPr>
        <p:spPr>
          <a:xfrm>
            <a:off x="145222" y="90572"/>
            <a:ext cx="11786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YOU DO</a:t>
            </a:r>
            <a:endParaRPr lang="en-AU" sz="2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E53D4F-B02B-4392-B56F-E64E108C9A19}"/>
              </a:ext>
            </a:extLst>
          </p:cNvPr>
          <p:cNvSpPr txBox="1"/>
          <p:nvPr/>
        </p:nvSpPr>
        <p:spPr>
          <a:xfrm>
            <a:off x="6933460" y="390617"/>
            <a:ext cx="35066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highlight>
                  <a:srgbClr val="FFFF00"/>
                </a:highlight>
              </a:rPr>
              <a:t>Whiteboards</a:t>
            </a:r>
            <a:r>
              <a:rPr lang="en-US" dirty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70492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9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D22441-8AD6-486E-98A7-86070A974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Converting length and area Revision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6C6B935-F17A-45A1-A3D4-0BBEFBBF998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Convert to meters </a:t>
            </a:r>
          </a:p>
          <a:p>
            <a:pPr marL="0" indent="0" algn="ctr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100cm </a:t>
            </a:r>
          </a:p>
          <a:p>
            <a:pPr marL="514350" indent="-514350">
              <a:buAutoNum type="alphaLcParenR"/>
            </a:pPr>
            <a:r>
              <a:rPr lang="en-US" dirty="0"/>
              <a:t>500cm</a:t>
            </a:r>
          </a:p>
          <a:p>
            <a:pPr marL="514350" indent="-514350">
              <a:buAutoNum type="alphaLcParenR"/>
            </a:pPr>
            <a:r>
              <a:rPr lang="en-US" dirty="0"/>
              <a:t>1.2km </a:t>
            </a:r>
          </a:p>
          <a:p>
            <a:pPr marL="514350" indent="-514350">
              <a:buAutoNum type="alphaLcParenR"/>
            </a:pPr>
            <a:r>
              <a:rPr lang="en-US" dirty="0"/>
              <a:t>3000mm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159E562-BCE3-4D25-9A9F-EACF57B98AC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:r>
                  <a:rPr lang="en-US" dirty="0"/>
                  <a:t>Convert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  <a:p>
                <a:pPr marL="0" indent="0" algn="ctr">
                  <a:buNone/>
                </a:pPr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10 000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9000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1 000 000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159E562-BCE3-4D25-9A9F-EACF57B98A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0081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DB77C-AB18-453F-801A-AF22E693B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Inverse problems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3A66D-1215-4871-BCB0-CE0CDEEA6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reversal of an operation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is the opposite of addition?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is the opposite of multiplication?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500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912EE7A-5BCF-4E64-B121-5C5C305DD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Inverse operation </a:t>
            </a:r>
            <a:r>
              <a:rPr lang="en-US"/>
              <a:t>task sheet </a:t>
            </a:r>
            <a:endParaRPr lang="en-AU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8E7F7B8-71CF-4A60-A6CB-C6A565223D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6869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340</Words>
  <Application>Microsoft Office PowerPoint</Application>
  <PresentationFormat>Widescreen</PresentationFormat>
  <Paragraphs>136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Wingdings</vt:lpstr>
      <vt:lpstr>Office Theme</vt:lpstr>
      <vt:lpstr>1_Office Theme</vt:lpstr>
      <vt:lpstr>Lesson objective </vt:lpstr>
      <vt:lpstr>Perimeter Vs. Area </vt:lpstr>
      <vt:lpstr>DRNS </vt:lpstr>
      <vt:lpstr>DRNS </vt:lpstr>
      <vt:lpstr>Composite shapes </vt:lpstr>
      <vt:lpstr>Whiteboards</vt:lpstr>
      <vt:lpstr>Key features </vt:lpstr>
      <vt:lpstr>PowerPoint Presentation</vt:lpstr>
      <vt:lpstr>PowerPoint Presentation</vt:lpstr>
      <vt:lpstr>PowerPoint Presentation</vt:lpstr>
      <vt:lpstr>Converting length and area Revision </vt:lpstr>
      <vt:lpstr>Inverse problems </vt:lpstr>
      <vt:lpstr>Inverse operation task sheet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12</cp:revision>
  <dcterms:created xsi:type="dcterms:W3CDTF">2022-05-16T08:13:26Z</dcterms:created>
  <dcterms:modified xsi:type="dcterms:W3CDTF">2022-05-17T02:20:06Z</dcterms:modified>
</cp:coreProperties>
</file>
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3" r:id="rId2"/>
    <p:sldId id="304" r:id="rId3"/>
    <p:sldId id="309" r:id="rId4"/>
    <p:sldId id="312" r:id="rId5"/>
    <p:sldId id="313" r:id="rId6"/>
    <p:sldId id="311" r:id="rId7"/>
    <p:sldId id="303" r:id="rId8"/>
    <p:sldId id="305" r:id="rId9"/>
    <p:sldId id="29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3D5A5-F162-4EF2-A418-1DCDC97974C9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FDD4F-B171-49D7-907C-E147E2B7BB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77B09-D6A7-4EAC-A5D0-717D82F0B45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76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07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822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95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11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00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72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60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517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17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3271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805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316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291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31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78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11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5359" y="404310"/>
            <a:ext cx="14941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26/04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3" y="2134344"/>
            <a:ext cx="82049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</a:rPr>
              <a:t>Aim: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B0F0"/>
                </a:solidFill>
              </a:rPr>
              <a:t> be able to describe like terms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B0F0"/>
                </a:solidFill>
              </a:rPr>
              <a:t> Expand and simply expression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8195" y="3821538"/>
            <a:ext cx="854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Refresh terminology 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Refresh double signs 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Collect like terms 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Expand brackets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128E2-5B51-4C52-91D9-6A0CBAC6A1BA}"/>
              </a:ext>
            </a:extLst>
          </p:cNvPr>
          <p:cNvSpPr txBox="1"/>
          <p:nvPr/>
        </p:nvSpPr>
        <p:spPr>
          <a:xfrm>
            <a:off x="2518194" y="1370481"/>
            <a:ext cx="8204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Review of Expressions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710B4-EB37-4D5B-A861-1653200C32BC}"/>
              </a:ext>
            </a:extLst>
          </p:cNvPr>
          <p:cNvSpPr txBox="1"/>
          <p:nvPr/>
        </p:nvSpPr>
        <p:spPr>
          <a:xfrm>
            <a:off x="8824404" y="5353235"/>
            <a:ext cx="177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EF38-65FD-41B2-A2D7-BF6C880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word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3924-65FD-44BC-846A-E0873071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Pronumeral 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Tx/>
              <a:buChar char="-"/>
            </a:pPr>
            <a:r>
              <a:rPr lang="en-AU" sz="2800" b="1" dirty="0"/>
              <a:t>A letter or symbol used in place of a number</a:t>
            </a:r>
          </a:p>
          <a:p>
            <a:pPr>
              <a:buFontTx/>
              <a:buChar char="-"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Pronumerals represent </a:t>
            </a:r>
            <a:r>
              <a:rPr lang="en-AU" sz="2800" b="1" i="1" dirty="0"/>
              <a:t>numbers, so they MUST follow the same rules as numbers.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757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NON-examples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3g + 3h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3999345" y="2384686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6082594" y="4483902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2AD53C-721F-4ED6-B031-86534E09193C}"/>
              </a:ext>
            </a:extLst>
          </p:cNvPr>
          <p:cNvSpPr/>
          <p:nvPr/>
        </p:nvSpPr>
        <p:spPr>
          <a:xfrm>
            <a:off x="1267142" y="2386116"/>
            <a:ext cx="872743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3AD1-5036-4C16-B899-2FE5537D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terms (I do)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EE6E-21A8-47C9-AF17-E574CD377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AU" sz="4000" dirty="0"/>
              <a:t>4y + 5y = 		 </a:t>
            </a:r>
          </a:p>
          <a:p>
            <a:pPr marL="514350" indent="-514350">
              <a:buAutoNum type="alphaLcParenR"/>
            </a:pPr>
            <a:r>
              <a:rPr lang="en-AU" sz="4000" dirty="0"/>
              <a:t>8c + 4c – 3c = 	 </a:t>
            </a:r>
          </a:p>
          <a:p>
            <a:pPr marL="514350" indent="-514350">
              <a:buAutoNum type="alphaLcParenR"/>
            </a:pPr>
            <a:r>
              <a:rPr lang="en-AU" sz="4000" dirty="0"/>
              <a:t>7t + 4r + 2t – 2r =	  </a:t>
            </a:r>
          </a:p>
          <a:p>
            <a:pPr marL="514350" indent="-514350">
              <a:buAutoNum type="alphaLcParenR"/>
            </a:pPr>
            <a:r>
              <a:rPr lang="en-AU" sz="4000" dirty="0"/>
              <a:t>8h + 4d + 9 + 2h=</a:t>
            </a:r>
          </a:p>
        </p:txBody>
      </p:sp>
    </p:spTree>
    <p:extLst>
      <p:ext uri="{BB962C8B-B14F-4D97-AF65-F5344CB8AC3E}">
        <p14:creationId xmlns:p14="http://schemas.microsoft.com/office/powerpoint/2010/main" val="79288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520E-9E05-4282-9AB8-CD8D2CA0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4D7E4-E8DF-444D-845E-139CA8E1D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Simplify by collecting like terms </a:t>
            </a:r>
          </a:p>
          <a:p>
            <a:pPr marL="514350" indent="-514350">
              <a:buAutoNum type="alphaLcParenR"/>
            </a:pPr>
            <a:r>
              <a:rPr lang="en-AU" sz="3200" dirty="0"/>
              <a:t>4d + d + 2d </a:t>
            </a:r>
          </a:p>
          <a:p>
            <a:pPr marL="514350" indent="-514350">
              <a:buAutoNum type="alphaLcParenR"/>
            </a:pPr>
            <a:r>
              <a:rPr lang="en-AU" sz="3200" dirty="0"/>
              <a:t>5f + 2f – 5c </a:t>
            </a:r>
          </a:p>
          <a:p>
            <a:pPr marL="514350" indent="-514350">
              <a:buAutoNum type="alphaLcParenR"/>
            </a:pPr>
            <a:r>
              <a:rPr lang="en-AU" sz="3200" dirty="0"/>
              <a:t>10f + 3f – 5f + 2d + 4d </a:t>
            </a:r>
          </a:p>
          <a:p>
            <a:pPr marL="514350" indent="-514350">
              <a:buAutoNum type="alphaLcParenR"/>
            </a:pPr>
            <a:r>
              <a:rPr lang="en-AU" sz="3200" dirty="0"/>
              <a:t>4f + 8d – 4f – 8d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11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47A0-5391-4747-8F9E-34B3084D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signs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C75D1-1A74-40F4-96C7-09F9F7DA8623}"/>
              </a:ext>
            </a:extLst>
          </p:cNvPr>
          <p:cNvSpPr txBox="1"/>
          <p:nvPr/>
        </p:nvSpPr>
        <p:spPr>
          <a:xfrm>
            <a:off x="2525875" y="2290620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Adding a negative number is the same as subtracting.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Subtracting a negative number is the same as adding.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4537A-AE9B-4AC7-9511-2B0F84B4345E}"/>
              </a:ext>
            </a:extLst>
          </p:cNvPr>
          <p:cNvSpPr txBox="1"/>
          <p:nvPr/>
        </p:nvSpPr>
        <p:spPr>
          <a:xfrm>
            <a:off x="2498443" y="4055053"/>
            <a:ext cx="617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 – (-3) can be written as 7 + 3</a:t>
            </a:r>
          </a:p>
          <a:p>
            <a:endParaRPr lang="en-AU" sz="2400" dirty="0"/>
          </a:p>
          <a:p>
            <a:r>
              <a:rPr lang="en-AU" sz="2400" dirty="0"/>
              <a:t>12 + (-4) can be written as 12 – 4 </a:t>
            </a:r>
          </a:p>
          <a:p>
            <a:endParaRPr lang="en-AU" sz="2400" dirty="0"/>
          </a:p>
          <a:p>
            <a:r>
              <a:rPr lang="en-AU" sz="2400" dirty="0"/>
              <a:t>-3 + (-2) can be written as -3 – 2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853840-2AAA-4998-8B8E-36F85226EF32}"/>
              </a:ext>
            </a:extLst>
          </p:cNvPr>
          <p:cNvSpPr/>
          <p:nvPr/>
        </p:nvSpPr>
        <p:spPr>
          <a:xfrm>
            <a:off x="8884769" y="2861051"/>
            <a:ext cx="1738713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3492FE-7F79-42C1-8EEC-74F899444227}"/>
              </a:ext>
            </a:extLst>
          </p:cNvPr>
          <p:cNvSpPr/>
          <p:nvPr/>
        </p:nvSpPr>
        <p:spPr>
          <a:xfrm>
            <a:off x="9450136" y="3222858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CCBCD2-BC6B-47F3-865F-D9BB02597C85}"/>
              </a:ext>
            </a:extLst>
          </p:cNvPr>
          <p:cNvSpPr/>
          <p:nvPr/>
        </p:nvSpPr>
        <p:spPr>
          <a:xfrm>
            <a:off x="6409607" y="5605522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5C738A-FB08-47C2-A95C-D0AD8F7952D4}"/>
              </a:ext>
            </a:extLst>
          </p:cNvPr>
          <p:cNvSpPr/>
          <p:nvPr/>
        </p:nvSpPr>
        <p:spPr>
          <a:xfrm>
            <a:off x="6323887" y="4133309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DFC1DD-FA2A-41E2-9F4E-DD22E95569C7}"/>
              </a:ext>
            </a:extLst>
          </p:cNvPr>
          <p:cNvSpPr/>
          <p:nvPr/>
        </p:nvSpPr>
        <p:spPr>
          <a:xfrm>
            <a:off x="6526496" y="4878193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411" y="185351"/>
            <a:ext cx="425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 – Directed number.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18555" y="712249"/>
                <a:ext cx="1007344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Rewrite the following expressions, </a:t>
                </a:r>
                <a:r>
                  <a:rPr kumimoji="0" lang="en-AU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only simplifying the double signs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 – (-2)	= 3 + 2</a:t>
                </a: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– (-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	=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(-4)	= 5 – 4 </a:t>
                </a: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(-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	=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–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-4 – (-5) 	= -4 + 5</a:t>
                </a: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– (-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	= 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-6 + (-2)	= -6 – 2 </a:t>
                </a:r>
              </a:p>
              <a:p>
                <a:pPr marL="630238" marR="0" lvl="0" indent="-630238" algn="l" defTabSz="6937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(-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	= -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–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8969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555" y="712249"/>
                <a:ext cx="10073445" cy="4770537"/>
              </a:xfrm>
              <a:prstGeom prst="rect">
                <a:avLst/>
              </a:prstGeom>
              <a:blipFill>
                <a:blip r:embed="rId2"/>
                <a:stretch>
                  <a:fillRect l="-969" t="-1023" r="-2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4519981" y="1504249"/>
            <a:ext cx="1339320" cy="323166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86687" y="2017164"/>
            <a:ext cx="1339320" cy="3373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19981" y="2426676"/>
            <a:ext cx="1023793" cy="300522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A94A9AE-5623-4A03-BA67-0567765D2934}"/>
              </a:ext>
            </a:extLst>
          </p:cNvPr>
          <p:cNvSpPr/>
          <p:nvPr/>
        </p:nvSpPr>
        <p:spPr>
          <a:xfrm>
            <a:off x="4529762" y="3797297"/>
            <a:ext cx="226140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000F62F-0494-4F7D-AD00-C9D83D2A951F}"/>
              </a:ext>
            </a:extLst>
          </p:cNvPr>
          <p:cNvSpPr/>
          <p:nvPr/>
        </p:nvSpPr>
        <p:spPr>
          <a:xfrm>
            <a:off x="4529762" y="4209658"/>
            <a:ext cx="226140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43E2F1-2DD6-4B6F-8A2B-CF19869708F4}"/>
              </a:ext>
            </a:extLst>
          </p:cNvPr>
          <p:cNvSpPr/>
          <p:nvPr/>
        </p:nvSpPr>
        <p:spPr>
          <a:xfrm>
            <a:off x="4529762" y="3297298"/>
            <a:ext cx="2261405" cy="359314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9763" y="2873749"/>
            <a:ext cx="2414705" cy="353448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C1E84C6-4688-4D22-92C8-FB8C92C88312}"/>
              </a:ext>
            </a:extLst>
          </p:cNvPr>
          <p:cNvSpPr/>
          <p:nvPr/>
        </p:nvSpPr>
        <p:spPr>
          <a:xfrm>
            <a:off x="4519981" y="4658722"/>
            <a:ext cx="235561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19135" y="248828"/>
            <a:ext cx="657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Same signs add – different signs subtract</a:t>
            </a:r>
          </a:p>
        </p:txBody>
      </p:sp>
    </p:spTree>
    <p:extLst>
      <p:ext uri="{BB962C8B-B14F-4D97-AF65-F5344CB8AC3E}">
        <p14:creationId xmlns:p14="http://schemas.microsoft.com/office/powerpoint/2010/main" val="313752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3005" y="815546"/>
            <a:ext cx="881036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Whiteboards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4(2x + 4)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2(4f – 2)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3(2 – 3e)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10(2s +3)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x(x + 3)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4(2d + 4r – 3)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69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59267" y="606009"/>
                <a:ext cx="9227127" cy="503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 Distributive Property of Multiplication over Addition.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 term outside the brackets multiplies to EVERY term inside the brackets.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Expand the following 													    1.	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d>
                      <m:d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AU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			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= 12 + 3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𝑥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4</m:t>
                    </m:r>
                    <m:d>
                      <m:dPr>
                        <m:ctrlP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+2</m:t>
                        </m:r>
                      </m:e>
                    </m: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			= 4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+ 8	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d>
                      <m:dPr>
                        <m:ctrlP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AU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+10</m:t>
                        </m:r>
                      </m:e>
                    </m: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		= 2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+ 20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3(6−2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	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		= 18 – 6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2(2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+ 4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+ 5)	= 4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+ 8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+10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(3 – 4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+ 5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)2	= 6 – 8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+ 10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	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-3(2 – 5h + 3p)	= -6 + 15h – 9p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267" y="606009"/>
                <a:ext cx="9227127" cy="5031057"/>
              </a:xfrm>
              <a:prstGeom prst="rect">
                <a:avLst/>
              </a:prstGeom>
              <a:blipFill>
                <a:blip r:embed="rId3"/>
                <a:stretch>
                  <a:fillRect l="-1058" t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5633023" y="3746124"/>
            <a:ext cx="187692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33023" y="3290117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3023" y="2821104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33023" y="2365097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5871" y="4272867"/>
            <a:ext cx="1659348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33022" y="1921016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5870" y="4725051"/>
            <a:ext cx="1897803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9" grpId="0" animBg="1"/>
      <p:bldP spid="12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76" y="1425535"/>
            <a:ext cx="2537490" cy="429089"/>
          </a:xfr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vert="horz" lIns="36000" tIns="72000" rIns="36000" bIns="36000" rtlCol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chemeClr val="bg1"/>
                </a:solidFill>
              </a:rPr>
              <a:t>BRONZE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2386" y="1854623"/>
            <a:ext cx="2520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3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+ 4 )</a:t>
            </a:r>
          </a:p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5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+ 2 )</a:t>
            </a:r>
          </a:p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− 6 )</a:t>
            </a:r>
          </a:p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+ 8 )</a:t>
            </a:r>
          </a:p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+ 3 )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579438" indent="-579438"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− 5 )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9493" y="1854623"/>
            <a:ext cx="26642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5 ( 2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+ 1 )</a:t>
            </a:r>
          </a:p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3 ( 4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− 4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( 4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+ 3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579438" indent="-579438"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− 3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8168" y="1854623"/>
            <a:ext cx="3059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− 3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+ 3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579438" indent="-579438">
              <a:buClr>
                <a:schemeClr val="accent4">
                  <a:lumMod val="75000"/>
                </a:schemeClr>
              </a:buClr>
              <a:buSzPct val="80000"/>
              <a:buFont typeface="+mj-lt"/>
              <a:buAutoNum type="arabicPeriod" startAt="13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5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( 2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− 7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776299" y="1425535"/>
            <a:ext cx="2537490" cy="42908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vert="horz" lIns="36000" tIns="72000" rIns="36000" bIns="3600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chemeClr val="bg1"/>
                </a:solidFill>
              </a:rPr>
              <a:t>SILVER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725323" y="1425535"/>
            <a:ext cx="2537490" cy="42908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vert="horz" lIns="36000" tIns="72000" rIns="36000" bIns="3600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chemeClr val="bg1"/>
                </a:solidFill>
              </a:rPr>
              <a:t>GOLD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758310" y="275109"/>
            <a:ext cx="9631740" cy="6876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latin typeface="+mn-lt"/>
              </a:rPr>
              <a:t>Expanding brackets practice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F8AC29-1285-4F86-85F9-36492F8BF5B5}"/>
                  </a:ext>
                </a:extLst>
              </p:cNvPr>
              <p:cNvSpPr txBox="1"/>
              <p:nvPr/>
            </p:nvSpPr>
            <p:spPr>
              <a:xfrm>
                <a:off x="2429524" y="4046529"/>
                <a:ext cx="2157273" cy="182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3x + 12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5y + 10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2x – 12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F8AC29-1285-4F86-85F9-36492F8BF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524" y="4046529"/>
                <a:ext cx="2157273" cy="1821140"/>
              </a:xfrm>
              <a:prstGeom prst="rect">
                <a:avLst/>
              </a:prstGeom>
              <a:blipFill>
                <a:blip r:embed="rId2"/>
                <a:stretch>
                  <a:fillRect l="-2550" t="-20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8FDA83-6F17-456A-8366-C5DA0A86E7B3}"/>
                  </a:ext>
                </a:extLst>
              </p:cNvPr>
              <p:cNvSpPr txBox="1"/>
              <p:nvPr/>
            </p:nvSpPr>
            <p:spPr>
              <a:xfrm>
                <a:off x="5450896" y="4092808"/>
                <a:ext cx="2157273" cy="182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10x + 5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12y + 3z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2p – 8q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𝒎𝒏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8FDA83-6F17-456A-8366-C5DA0A86E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896" y="4092808"/>
                <a:ext cx="2157273" cy="1821140"/>
              </a:xfrm>
              <a:prstGeom prst="rect">
                <a:avLst/>
              </a:prstGeom>
              <a:blipFill>
                <a:blip r:embed="rId3"/>
                <a:stretch>
                  <a:fillRect l="-2260" t="-16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DDB971-9AD9-407B-9A91-FA633313FE01}"/>
                  </a:ext>
                </a:extLst>
              </p:cNvPr>
              <p:cNvSpPr txBox="1"/>
              <p:nvPr/>
            </p:nvSpPr>
            <p:spPr>
              <a:xfrm>
                <a:off x="8013578" y="4114908"/>
                <a:ext cx="2157273" cy="1852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𝒎𝒏</m:t>
                      </m:r>
                    </m:oMath>
                  </m:oMathPara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DDB971-9AD9-407B-9A91-FA633313F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578" y="4114908"/>
                <a:ext cx="2157273" cy="1852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68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728</Words>
  <Application>Microsoft Office PowerPoint</Application>
  <PresentationFormat>Widescreen</PresentationFormat>
  <Paragraphs>129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Times New Roman</vt:lpstr>
      <vt:lpstr>Wingdings</vt:lpstr>
      <vt:lpstr>Wingdings 3</vt:lpstr>
      <vt:lpstr>Wisp</vt:lpstr>
      <vt:lpstr>PowerPoint Presentation</vt:lpstr>
      <vt:lpstr>The word is </vt:lpstr>
      <vt:lpstr>Terminology</vt:lpstr>
      <vt:lpstr>Like terms (I do) </vt:lpstr>
      <vt:lpstr>Whiteboards </vt:lpstr>
      <vt:lpstr>Double signs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11</cp:revision>
  <dcterms:created xsi:type="dcterms:W3CDTF">2022-04-25T02:43:44Z</dcterms:created>
  <dcterms:modified xsi:type="dcterms:W3CDTF">2022-04-26T03:35:22Z</dcterms:modified>
</cp:coreProperties>
</file>
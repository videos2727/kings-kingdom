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08" r:id="rId3"/>
    <p:sldId id="309" r:id="rId4"/>
    <p:sldId id="310" r:id="rId5"/>
    <p:sldId id="311" r:id="rId6"/>
    <p:sldId id="315" r:id="rId7"/>
    <p:sldId id="313" r:id="rId8"/>
    <p:sldId id="312" r:id="rId9"/>
    <p:sldId id="314" r:id="rId10"/>
    <p:sldId id="316" r:id="rId11"/>
    <p:sldId id="317" r:id="rId12"/>
    <p:sldId id="318" r:id="rId13"/>
    <p:sldId id="319" r:id="rId14"/>
    <p:sldId id="32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0E54E-EAA6-405F-886F-853E8F766A4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0D4B61-CA91-4D1B-B9A5-644AD58E22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4D000-7887-4094-B58F-7A477118B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B79E-5834-4441-9417-693BD0467D2E}" type="datetimeFigureOut">
              <a:rPr lang="en-AU" smtClean="0"/>
              <a:t>2/06/2022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C9104-3949-4000-AA79-DF12B399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7C661-2A30-4B2F-9D33-74483CE9D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2D96-59F0-454E-ABF6-E6C37AA319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9268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61E0D-51BE-4212-BFAA-5D6CDC91F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D8B9E-32C5-45B7-9F40-54E7F6503F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1170C3-E6EE-41C3-8346-C64EED1CB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B79E-5834-4441-9417-693BD0467D2E}" type="datetimeFigureOut">
              <a:rPr lang="en-AU" smtClean="0"/>
              <a:t>2/06/2022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6678D5-EC50-4CF6-B6F5-78123ACB7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7AE81-C1BA-4544-868F-D0B00EACC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2D96-59F0-454E-ABF6-E6C37AA319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8191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87B1C-87AC-4653-8485-C1F8DE4C4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6655F-0582-4CF4-BA9E-21336FE2BB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117070-7709-4EA6-9CC6-851176D0C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B79E-5834-4441-9417-693BD0467D2E}" type="datetimeFigureOut">
              <a:rPr lang="en-AU" smtClean="0"/>
              <a:t>2/06/2022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C40CF-2EE5-4DC8-A346-7EFC2DA1E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08CE13-C182-47F1-83A8-39424E5B4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2D96-59F0-454E-ABF6-E6C37AA319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8293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E48FA-377D-4146-B748-A88131788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E22790-E8E8-428E-BE63-D4CD5564D2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65B2C0-1602-4665-A2C4-2256708B2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309AA-65B0-4AC3-9544-6CEC3079D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B79E-5834-4441-9417-693BD0467D2E}" type="datetimeFigureOut">
              <a:rPr lang="en-AU" smtClean="0"/>
              <a:t>2/06/2022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C09099-BB53-4565-B0AB-9BA4CD45C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A8A10E-E695-4FCA-85BD-882FB4FD5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2D96-59F0-454E-ABF6-E6C37AA319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6506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7A16D-EB93-46C4-9DB4-8EF8B8311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F2B77-39DC-421F-AF99-807476DFFF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02B947-E839-45F0-9F51-B46F48904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053E46-0268-495A-AED3-812252512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CC5C818-AF98-4BE2-9FD0-C71C230A1F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DE7D3D-D075-45E0-A1D6-009D78BEE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B79E-5834-4441-9417-693BD0467D2E}" type="datetimeFigureOut">
              <a:rPr lang="en-AU" smtClean="0"/>
              <a:t>2/06/2022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6F9AFE-7C16-4789-8933-CDBC8BBB7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59DAA5-35C2-40EF-9EBC-401CE4BFC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2D96-59F0-454E-ABF6-E6C37AA319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24613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583B4-CE44-4FCF-AA0E-47B251EDA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3716E1-9878-4373-9A47-BA3E96435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B79E-5834-4441-9417-693BD0467D2E}" type="datetimeFigureOut">
              <a:rPr lang="en-AU" smtClean="0"/>
              <a:t>2/06/2022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9B9846-23A3-42A8-B171-CB9399077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5930D5E-61FF-45B1-B992-D75D361B6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2D96-59F0-454E-ABF6-E6C37AA319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93991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4EFEFA8-976F-4683-AECB-76EF5EFBF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B79E-5834-4441-9417-693BD0467D2E}" type="datetimeFigureOut">
              <a:rPr lang="en-AU" smtClean="0"/>
              <a:t>2/06/2022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74BCDA-453A-46E9-94EE-56107B9A3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44AF90-F2AB-4C5B-AC6A-A3E9543DD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2D96-59F0-454E-ABF6-E6C37AA319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6648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30D28-2931-4DE3-A6E6-345028C08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FB126-486E-4F51-BD4C-40D6D39FC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7BB3A4-978B-4253-ACB1-6CB225FE3B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1D872-1EF6-4D1E-AB13-CF5A6FC52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B79E-5834-4441-9417-693BD0467D2E}" type="datetimeFigureOut">
              <a:rPr lang="en-AU" smtClean="0"/>
              <a:t>2/06/2022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299CC-E22D-4BF9-BDE5-4F3A189E9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C35C41-1150-4B3F-9946-0AC68CE74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2D96-59F0-454E-ABF6-E6C37AA319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253979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D44EB-B37E-4BEF-B407-F4CFD374B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0B2799-355E-4BCC-9B24-D92CD09602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A3C52D-7F77-4592-934A-AFD249C04F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DF06A0-2BA6-43F4-99AE-3EE414CD5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B79E-5834-4441-9417-693BD0467D2E}" type="datetimeFigureOut">
              <a:rPr lang="en-AU" smtClean="0"/>
              <a:t>2/06/2022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93BC5-E7C4-4922-B310-7A2C1C01D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3C71E-8030-478B-966C-04323EA2B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2D96-59F0-454E-ABF6-E6C37AA319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3813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D3F9F-2831-4202-B162-242C48E421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FA8E1B-910F-46F1-AAD8-903B69F0AA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9500A0-11CF-4E3A-9EF2-3BFA7167A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B79E-5834-4441-9417-693BD0467D2E}" type="datetimeFigureOut">
              <a:rPr lang="en-AU" smtClean="0"/>
              <a:t>2/06/2022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06709-9E80-4F9A-8FE4-42FEDADDE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6FCBCC-73F6-438A-A570-8FBFA3AF6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2D96-59F0-454E-ABF6-E6C37AA319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946834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1C261A7-CC55-4BD2-9581-B45BD5573C0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358A0-CA9E-4DC7-89F4-EDE7334411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DC59CF-B0DC-429C-AFF2-31BA2E70F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2AB79E-5834-4441-9417-693BD0467D2E}" type="datetimeFigureOut">
              <a:rPr lang="en-AU" smtClean="0"/>
              <a:t>2/06/2022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2003B3-6614-4A1F-A05F-B9D745870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AB125-9BC5-4645-8756-E27F955D7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E42D96-59F0-454E-ABF6-E6C37AA319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7571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C85F70-44DB-4296-B8AA-2642A6075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3000D-5BDB-47AD-8984-DE41C91CC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3D291-9918-4413-828A-A730C8B63B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AB79E-5834-4441-9417-693BD0467D2E}" type="datetimeFigureOut">
              <a:rPr lang="en-AU" smtClean="0"/>
              <a:t>2/06/2022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90519-5A88-4542-B5A3-A4718EF917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75D48-68B1-431D-AC9C-B261B18E33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E42D96-59F0-454E-ABF6-E6C37AA319B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40671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D8019D-BD7B-40DF-970A-CD8CDE3A2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31E747-E2DF-4188-ACBF-5AE1616B3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7060"/>
            <a:ext cx="10515600" cy="5184559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/>
              <a:t>Title: </a:t>
            </a:r>
            <a:r>
              <a:rPr lang="en-US" sz="3600" b="1" dirty="0">
                <a:solidFill>
                  <a:srgbClr val="00B0F0"/>
                </a:solidFill>
              </a:rPr>
              <a:t>Complimentary events </a:t>
            </a:r>
          </a:p>
          <a:p>
            <a:pPr marL="0" indent="0">
              <a:buNone/>
            </a:pPr>
            <a:endParaRPr lang="en-AU" sz="36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AU" sz="3600" b="1" dirty="0">
                <a:solidFill>
                  <a:srgbClr val="00B0F0"/>
                </a:solidFill>
              </a:rPr>
              <a:t>Aim: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sz="3600" b="1" dirty="0">
                <a:solidFill>
                  <a:srgbClr val="00B0F0"/>
                </a:solidFill>
              </a:rPr>
              <a:t> Be able to state the compliment of an event</a:t>
            </a:r>
          </a:p>
          <a:p>
            <a:pPr marL="0" indent="0">
              <a:buNone/>
            </a:pPr>
            <a:r>
              <a:rPr lang="en-AU" sz="3600" b="1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sz="3600" b="1" dirty="0">
                <a:solidFill>
                  <a:srgbClr val="00B0F0"/>
                </a:solidFill>
              </a:rPr>
              <a:t>Review like terms </a:t>
            </a:r>
          </a:p>
          <a:p>
            <a:pPr>
              <a:buFontTx/>
              <a:buChar char="-"/>
            </a:pPr>
            <a:r>
              <a:rPr lang="en-AU" sz="3600" b="1" dirty="0">
                <a:solidFill>
                  <a:srgbClr val="00B0F0"/>
                </a:solidFill>
              </a:rPr>
              <a:t>Review basic probability </a:t>
            </a:r>
          </a:p>
          <a:p>
            <a:pPr>
              <a:buFontTx/>
              <a:buChar char="-"/>
            </a:pPr>
            <a:r>
              <a:rPr lang="en-AU" sz="3600" b="1" dirty="0">
                <a:solidFill>
                  <a:srgbClr val="00B0F0"/>
                </a:solidFill>
              </a:rPr>
              <a:t>Complimentary events </a:t>
            </a:r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729492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0EF38-65FD-41B2-A2D7-BF6C8801C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The word is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393924-65FD-44BC-846A-E08730715A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AU" sz="2800" b="1" dirty="0">
                <a:solidFill>
                  <a:srgbClr val="FF0000"/>
                </a:solidFill>
              </a:rPr>
              <a:t>Pronumeral </a:t>
            </a:r>
          </a:p>
          <a:p>
            <a:pPr marL="0" indent="0">
              <a:buNone/>
            </a:pPr>
            <a:endParaRPr lang="en-AU" sz="2800" dirty="0"/>
          </a:p>
          <a:p>
            <a:pPr>
              <a:buFontTx/>
              <a:buChar char="-"/>
            </a:pPr>
            <a:r>
              <a:rPr lang="en-AU" sz="2800" b="1" dirty="0"/>
              <a:t>A letter or symbol used in place of a number</a:t>
            </a:r>
          </a:p>
          <a:p>
            <a:pPr>
              <a:buFontTx/>
              <a:buChar char="-"/>
            </a:pPr>
            <a:endParaRPr lang="en-AU" sz="2800" b="1" dirty="0"/>
          </a:p>
          <a:p>
            <a:pPr marL="0" indent="0">
              <a:buNone/>
            </a:pPr>
            <a:r>
              <a:rPr lang="en-AU" sz="2800" b="1" dirty="0"/>
              <a:t>Pronumerals represent </a:t>
            </a:r>
            <a:r>
              <a:rPr lang="en-AU" sz="2800" b="1" i="1" dirty="0"/>
              <a:t>numbers, so they MUST follow the same rules as numbers. </a:t>
            </a:r>
            <a:endParaRPr lang="en-AU" sz="2400" b="1" dirty="0"/>
          </a:p>
        </p:txBody>
      </p:sp>
      <p:sp>
        <p:nvSpPr>
          <p:cNvPr id="4" name="Rounded Rectangle 8">
            <a:extLst>
              <a:ext uri="{FF2B5EF4-FFF2-40B4-BE49-F238E27FC236}">
                <a16:creationId xmlns:a16="http://schemas.microsoft.com/office/drawing/2014/main" id="{06A88535-329F-47B3-9831-FBD68AE6474A}"/>
              </a:ext>
            </a:extLst>
          </p:cNvPr>
          <p:cNvSpPr/>
          <p:nvPr/>
        </p:nvSpPr>
        <p:spPr>
          <a:xfrm>
            <a:off x="1144670" y="2920641"/>
            <a:ext cx="7774734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E88478CB-AD41-40EB-AF3F-F79B03B93EAF}"/>
              </a:ext>
            </a:extLst>
          </p:cNvPr>
          <p:cNvSpPr/>
          <p:nvPr/>
        </p:nvSpPr>
        <p:spPr>
          <a:xfrm>
            <a:off x="5127723" y="1825625"/>
            <a:ext cx="2224727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5755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D3CE7-2DA6-4BC3-BEC1-230FA65945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681037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Terminology</a:t>
            </a:r>
            <a:endParaRPr lang="en-AU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2400" b="1" u="sng" dirty="0"/>
                  <a:t>Like terms</a:t>
                </a:r>
              </a:p>
              <a:p>
                <a:pPr>
                  <a:buFontTx/>
                  <a:buChar char="-"/>
                </a:pPr>
                <a:r>
                  <a:rPr lang="en-US" sz="2400" b="1" dirty="0">
                    <a:solidFill>
                      <a:srgbClr val="FF0000"/>
                    </a:solidFill>
                  </a:rPr>
                  <a:t>Same pronumeral AND same power (can be collected) </a:t>
                </a:r>
                <a:endParaRPr lang="en-US" sz="2400" b="1" dirty="0"/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𝒉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𝟕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AU" sz="2400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US" sz="2400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𝒈</m:t>
                          </m:r>
                        </m:e>
                        <m:sup>
                          <m:r>
                            <a:rPr lang="en-US" sz="2400" b="1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12AB3C7-E55F-4777-BD95-A0793FD7F5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7249357" cy="4351338"/>
              </a:xfrm>
              <a:blipFill>
                <a:blip r:embed="rId2"/>
                <a:stretch>
                  <a:fillRect l="-1346" t="-1961" r="-193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C0C697-8E5F-4135-B5C1-803A5A0A795E}"/>
                  </a:ext>
                </a:extLst>
              </p:cNvPr>
              <p:cNvSpPr txBox="1"/>
              <p:nvPr/>
            </p:nvSpPr>
            <p:spPr>
              <a:xfrm>
                <a:off x="8522563" y="2929631"/>
                <a:ext cx="3329126" cy="31085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NON-examples 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3g + 3h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entury Gothic" panose="020B0502020202020204"/>
                    <a:ea typeface="+mn-ea"/>
                    <a:cs typeface="+mn-cs"/>
                  </a:rPr>
                  <a:t>5 + h 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0" lang="en-AU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sSupPr>
                        <m:e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𝑑</m:t>
                          </m:r>
                        </m:e>
                        <m:sup>
                          <m:r>
                            <a:rPr kumimoji="0" lang="en-US" sz="28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2</m:t>
                          </m:r>
                        </m:sup>
                      </m:sSup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+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𝑑</m:t>
                      </m:r>
                      <m:r>
                        <a:rPr kumimoji="0" lang="en-US" sz="28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 </m:t>
                      </m:r>
                    </m:oMath>
                  </m:oMathPara>
                </a14:m>
                <a:endParaRPr kumimoji="0" lang="en-AU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3C0C697-8E5F-4135-B5C1-803A5A0A79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2563" y="2929631"/>
                <a:ext cx="3329126" cy="3108543"/>
              </a:xfrm>
              <a:prstGeom prst="rect">
                <a:avLst/>
              </a:prstGeom>
              <a:blipFill>
                <a:blip r:embed="rId3"/>
                <a:stretch>
                  <a:fillRect l="-3663" t="-19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8">
            <a:extLst>
              <a:ext uri="{FF2B5EF4-FFF2-40B4-BE49-F238E27FC236}">
                <a16:creationId xmlns:a16="http://schemas.microsoft.com/office/drawing/2014/main" id="{EEE52823-E617-4037-B1DD-B8211D0CEB9F}"/>
              </a:ext>
            </a:extLst>
          </p:cNvPr>
          <p:cNvSpPr/>
          <p:nvPr/>
        </p:nvSpPr>
        <p:spPr>
          <a:xfrm>
            <a:off x="4121132" y="2299430"/>
            <a:ext cx="1591558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6" name="Rounded Rectangle 8">
            <a:extLst>
              <a:ext uri="{FF2B5EF4-FFF2-40B4-BE49-F238E27FC236}">
                <a16:creationId xmlns:a16="http://schemas.microsoft.com/office/drawing/2014/main" id="{7B8D0513-569B-42F1-80CA-205DBB9E10E7}"/>
              </a:ext>
            </a:extLst>
          </p:cNvPr>
          <p:cNvSpPr/>
          <p:nvPr/>
        </p:nvSpPr>
        <p:spPr>
          <a:xfrm>
            <a:off x="5029199" y="3080891"/>
            <a:ext cx="68349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A2686CD2-3A45-471A-88EB-EEC7FEE2681D}"/>
              </a:ext>
            </a:extLst>
          </p:cNvPr>
          <p:cNvSpPr/>
          <p:nvPr/>
        </p:nvSpPr>
        <p:spPr>
          <a:xfrm>
            <a:off x="6096000" y="3898900"/>
            <a:ext cx="116795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8" name="Rounded Rectangle 8">
            <a:extLst>
              <a:ext uri="{FF2B5EF4-FFF2-40B4-BE49-F238E27FC236}">
                <a16:creationId xmlns:a16="http://schemas.microsoft.com/office/drawing/2014/main" id="{E2FA0BD9-B859-4086-B858-B5C855D55D22}"/>
              </a:ext>
            </a:extLst>
          </p:cNvPr>
          <p:cNvSpPr/>
          <p:nvPr/>
        </p:nvSpPr>
        <p:spPr>
          <a:xfrm>
            <a:off x="5029199" y="4638495"/>
            <a:ext cx="683491" cy="381983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32AD53C-721F-4ED6-B031-86534E09193C}"/>
              </a:ext>
            </a:extLst>
          </p:cNvPr>
          <p:cNvSpPr/>
          <p:nvPr/>
        </p:nvSpPr>
        <p:spPr>
          <a:xfrm>
            <a:off x="1915212" y="2299430"/>
            <a:ext cx="1502691" cy="341090"/>
          </a:xfrm>
          <a:prstGeom prst="roundRect">
            <a:avLst/>
          </a:prstGeom>
          <a:solidFill>
            <a:srgbClr val="ECF1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7607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34830-D948-4732-AA56-0F2824CB7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do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9B6D6-3343-47F6-A14F-DB40C33543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000" dirty="0"/>
              <a:t>a) k + k + k = 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b) 2d + 3d + 2d = </a:t>
            </a:r>
          </a:p>
          <a:p>
            <a:pPr marL="0" indent="0">
              <a:buNone/>
            </a:pPr>
            <a:endParaRPr lang="en-US" sz="4000" dirty="0"/>
          </a:p>
          <a:p>
            <a:pPr marL="0" indent="0">
              <a:buNone/>
            </a:pPr>
            <a:r>
              <a:rPr lang="en-US" sz="4000" dirty="0"/>
              <a:t>c) 4m + 2n +2m + 5n = 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20475638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B7073B-4418-4287-9B72-5681DC467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You do (whiteboards)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7835F4-5756-4EFC-850A-1B13641C3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742950" indent="-742950">
              <a:buAutoNum type="alphaLcParenR"/>
            </a:pPr>
            <a:r>
              <a:rPr lang="en-US" sz="4000" dirty="0"/>
              <a:t>e + e + e + e = </a:t>
            </a:r>
          </a:p>
          <a:p>
            <a:pPr marL="742950" indent="-742950">
              <a:buAutoNum type="alphaLcParenR"/>
            </a:pPr>
            <a:endParaRPr lang="en-US" sz="4000" dirty="0"/>
          </a:p>
          <a:p>
            <a:pPr marL="742950" indent="-742950">
              <a:buAutoNum type="alphaLcParenR"/>
            </a:pPr>
            <a:r>
              <a:rPr lang="en-US" sz="4000" dirty="0"/>
              <a:t>4f + 2f + 3f = </a:t>
            </a:r>
          </a:p>
          <a:p>
            <a:pPr marL="742950" indent="-742950">
              <a:buAutoNum type="alphaLcParenR"/>
            </a:pPr>
            <a:endParaRPr lang="en-US" sz="4000" dirty="0"/>
          </a:p>
          <a:p>
            <a:pPr marL="742950" indent="-742950">
              <a:buAutoNum type="alphaLcParenR"/>
            </a:pPr>
            <a:r>
              <a:rPr lang="en-US" sz="4000" dirty="0"/>
              <a:t>7t + 4r + 2t + 11r = </a:t>
            </a:r>
          </a:p>
          <a:p>
            <a:pPr marL="742950" indent="-742950">
              <a:buAutoNum type="alphaLcParenR"/>
            </a:pPr>
            <a:endParaRPr lang="en-US" sz="4000" dirty="0"/>
          </a:p>
          <a:p>
            <a:pPr marL="742950" indent="-742950">
              <a:buAutoNum type="alphaLcParenR"/>
            </a:pPr>
            <a:r>
              <a:rPr lang="en-US" sz="4000" dirty="0"/>
              <a:t>10h + 5g – 2h + 3g = 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714849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D905E-03EE-44E4-9C6F-B25C7577D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/>
              <a:t>Practice 1 – simplify in exercise book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1D866-D306-44C6-938D-08CB5C2BB8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21566" y="2133600"/>
            <a:ext cx="4509172" cy="3777622"/>
          </a:xfrm>
        </p:spPr>
        <p:txBody>
          <a:bodyPr>
            <a:normAutofit/>
          </a:bodyPr>
          <a:lstStyle/>
          <a:p>
            <a:pPr>
              <a:buAutoNum type="arabicPeriod"/>
            </a:pPr>
            <a:r>
              <a:rPr lang="en-AU" sz="2400" b="1" dirty="0"/>
              <a:t>10e + 3e </a:t>
            </a:r>
          </a:p>
          <a:p>
            <a:pPr>
              <a:buAutoNum type="arabicPeriod"/>
            </a:pPr>
            <a:r>
              <a:rPr lang="en-AU" sz="2400" b="1" dirty="0"/>
              <a:t>3d + 5d </a:t>
            </a:r>
          </a:p>
          <a:p>
            <a:pPr>
              <a:buAutoNum type="arabicPeriod"/>
            </a:pPr>
            <a:r>
              <a:rPr lang="en-AU" sz="2400" b="1" dirty="0"/>
              <a:t>19x – 5x </a:t>
            </a:r>
          </a:p>
          <a:p>
            <a:pPr>
              <a:buAutoNum type="arabicPeriod"/>
            </a:pPr>
            <a:r>
              <a:rPr lang="en-AU" sz="2400" b="1" dirty="0"/>
              <a:t>10w + 3e + 2w + 5e </a:t>
            </a:r>
          </a:p>
          <a:p>
            <a:pPr>
              <a:buAutoNum type="arabicPeriod"/>
            </a:pPr>
            <a:r>
              <a:rPr lang="en-AU" sz="2400" b="1" dirty="0"/>
              <a:t>2d + 3d – 7d </a:t>
            </a:r>
          </a:p>
          <a:p>
            <a:pPr>
              <a:buAutoNum type="arabicPeriod"/>
            </a:pPr>
            <a:r>
              <a:rPr lang="en-AU" sz="2400" b="1" dirty="0"/>
              <a:t>2z + 3x + 6y + 4z – 2x + 4y</a:t>
            </a:r>
          </a:p>
          <a:p>
            <a:pPr>
              <a:buAutoNum type="arabicPeriod"/>
            </a:pPr>
            <a:r>
              <a:rPr lang="en-AU" sz="2400" b="1" dirty="0"/>
              <a:t>3x – (-2x) + 5y </a:t>
            </a:r>
          </a:p>
          <a:p>
            <a:pPr>
              <a:buAutoNum type="arabicPeriod"/>
            </a:pPr>
            <a:r>
              <a:rPr lang="en-AU" sz="2400" b="1" dirty="0"/>
              <a:t>-4f + (-2f) + 8f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1425BA-B362-43E6-B43A-977F332E8903}"/>
              </a:ext>
            </a:extLst>
          </p:cNvPr>
          <p:cNvSpPr txBox="1"/>
          <p:nvPr/>
        </p:nvSpPr>
        <p:spPr>
          <a:xfrm>
            <a:off x="8198860" y="1998346"/>
            <a:ext cx="2807855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Answers 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13e 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8d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14x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12w + 8e 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-2d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6z + x + 10y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5x + 5y</a:t>
            </a:r>
          </a:p>
          <a:p>
            <a:pPr marL="342900" indent="-342900">
              <a:buAutoNum type="arabicPeriod"/>
            </a:pPr>
            <a:r>
              <a:rPr lang="en-AU" sz="2800" b="1" dirty="0">
                <a:solidFill>
                  <a:srgbClr val="FF0000"/>
                </a:solidFill>
              </a:rPr>
              <a:t>2f </a:t>
            </a:r>
          </a:p>
        </p:txBody>
      </p:sp>
    </p:spTree>
    <p:extLst>
      <p:ext uri="{BB962C8B-B14F-4D97-AF65-F5344CB8AC3E}">
        <p14:creationId xmlns:p14="http://schemas.microsoft.com/office/powerpoint/2010/main" val="17176339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CE840-6A4E-4CA4-A485-99B6C0BDA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Sample space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DDD7FC-5247-4D21-B8BC-A5FAEE42C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</a:rPr>
              <a:t>Sample space:</a:t>
            </a:r>
          </a:p>
          <a:p>
            <a:pPr>
              <a:buFontTx/>
              <a:buChar char="-"/>
            </a:pPr>
            <a:r>
              <a:rPr lang="en-US" sz="3600" b="1" dirty="0">
                <a:solidFill>
                  <a:srgbClr val="FF0000"/>
                </a:solidFill>
              </a:rPr>
              <a:t>A LIST of ALL possible outcomes. </a:t>
            </a:r>
          </a:p>
          <a:p>
            <a:pPr>
              <a:buFontTx/>
              <a:buChar char="-"/>
            </a:pPr>
            <a:endParaRPr lang="en-US" sz="3600" b="1" dirty="0">
              <a:solidFill>
                <a:srgbClr val="FF0000"/>
              </a:solidFill>
            </a:endParaRPr>
          </a:p>
          <a:p>
            <a:pPr marL="742950" indent="-742950">
              <a:buAutoNum type="alphaLcParenR"/>
            </a:pPr>
            <a:r>
              <a:rPr lang="en-US" sz="3600" b="1" dirty="0"/>
              <a:t>Flipping a coin </a:t>
            </a:r>
          </a:p>
          <a:p>
            <a:pPr marL="742950" indent="-742950">
              <a:buAutoNum type="alphaLcParenR"/>
            </a:pPr>
            <a:r>
              <a:rPr lang="en-US" sz="3600" b="1" dirty="0"/>
              <a:t>Rolling a normal die </a:t>
            </a:r>
          </a:p>
          <a:p>
            <a:pPr marL="742950" indent="-742950">
              <a:buAutoNum type="alphaLcParenR"/>
            </a:pPr>
            <a:r>
              <a:rPr lang="en-US" sz="3600" b="1" dirty="0"/>
              <a:t>Days of the week</a:t>
            </a:r>
          </a:p>
        </p:txBody>
      </p:sp>
    </p:spTree>
    <p:extLst>
      <p:ext uri="{BB962C8B-B14F-4D97-AF65-F5344CB8AC3E}">
        <p14:creationId xmlns:p14="http://schemas.microsoft.com/office/powerpoint/2010/main" val="200752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4CC5D-DCCC-4F70-8500-8FBC32687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Basic probability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B18A7C-3603-4A95-9853-636060334F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𝑒𝑣𝑒𝑛𝑡</m:t>
                          </m:r>
                        </m:e>
                      </m:d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𝑓𝑎𝑣𝑜𝑢𝑟𝑎𝑏𝑙𝑒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𝑜𝑢𝑡𝑐𝑜𝑚𝑒𝑠</m:t>
                          </m:r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#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US" sz="3600" b="0" dirty="0"/>
              </a:p>
              <a:p>
                <a:pPr marL="0" indent="0">
                  <a:buNone/>
                </a:pPr>
                <a:endParaRPr lang="en-AU" sz="3600" dirty="0"/>
              </a:p>
              <a:p>
                <a:pPr marL="742950" indent="-742950">
                  <a:buAutoNum type="alphaLcParenR"/>
                </a:pPr>
                <a:r>
                  <a:rPr lang="en-AU" sz="3600" dirty="0"/>
                  <a:t>Rolling a die and getting a 5</a:t>
                </a:r>
              </a:p>
              <a:p>
                <a:pPr marL="742950" indent="-742950">
                  <a:buAutoNum type="alphaLcParenR"/>
                </a:pPr>
                <a:r>
                  <a:rPr lang="en-AU" sz="3600" dirty="0"/>
                  <a:t>Not getting a 5 </a:t>
                </a:r>
              </a:p>
              <a:p>
                <a:pPr marL="742950" indent="-742950">
                  <a:buAutoNum type="alphaLcParenR"/>
                </a:pPr>
                <a:endParaRPr lang="en-AU" sz="3600" dirty="0"/>
              </a:p>
              <a:p>
                <a:pPr marL="742950" indent="-742950">
                  <a:buAutoNum type="alphaLcParenR"/>
                </a:pPr>
                <a:endParaRPr lang="en-AU" sz="36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AB18A7C-3603-4A95-9853-636060334F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2635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EAA27-9382-4280-8ACD-1C804837C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Probability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8076F3-D966-4F83-B882-84D4DABABC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𝑒𝑣𝑒𝑛𝑡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#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𝑓𝑎𝑣𝑜𝑢𝑟𝑎𝑏𝑙𝑒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𝑜𝑢𝑡𝑐𝑜𝑚𝑒𝑠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#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𝑜𝑢𝑡𝑐𝑜𝑚𝑒𝑠</m:t>
                          </m:r>
                        </m:den>
                      </m:f>
                    </m:oMath>
                  </m:oMathPara>
                </a14:m>
                <a:endParaRPr lang="en-US" sz="2800" b="0" dirty="0"/>
              </a:p>
              <a:p>
                <a:pPr marL="0" indent="0">
                  <a:buNone/>
                </a:pPr>
                <a:endParaRPr lang="en-AU" dirty="0"/>
              </a:p>
              <a:p>
                <a:pPr marL="514350" indent="-514350">
                  <a:buAutoNum type="arabicPeriod"/>
                </a:pPr>
                <a:r>
                  <a:rPr lang="en-AU" dirty="0"/>
                  <a:t>A bag contains 5 red marbles, 6 blue marbles and 9 yellow marbles.</a:t>
                </a:r>
              </a:p>
              <a:p>
                <a:pPr>
                  <a:buFontTx/>
                  <a:buChar char="-"/>
                </a:pPr>
                <a:r>
                  <a:rPr lang="en-AU" dirty="0"/>
                  <a:t>What is the probability of pulling out a red? </a:t>
                </a:r>
              </a:p>
              <a:p>
                <a:pPr>
                  <a:buFontTx/>
                  <a:buChar char="-"/>
                </a:pPr>
                <a:r>
                  <a:rPr lang="en-AU" dirty="0"/>
                  <a:t>P(blue)?</a:t>
                </a:r>
              </a:p>
              <a:p>
                <a:pPr>
                  <a:buFontTx/>
                  <a:buChar char="-"/>
                </a:pPr>
                <a:r>
                  <a:rPr lang="en-AU" dirty="0"/>
                  <a:t>P(not blue)?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38076F3-D966-4F83-B882-84D4DABABC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r="-5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1156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7F036-8B2A-487A-8939-F59C36AC3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Complimentary events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A983D-2D70-4F9A-83D8-56716B3E5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i="1" u="sng" dirty="0">
                <a:solidFill>
                  <a:srgbClr val="FF0000"/>
                </a:solidFill>
              </a:rPr>
              <a:t>Complimentary event </a:t>
            </a:r>
          </a:p>
          <a:p>
            <a:pPr>
              <a:buFontTx/>
              <a:buChar char="-"/>
            </a:pPr>
            <a:r>
              <a:rPr lang="en-US" sz="3600" dirty="0">
                <a:solidFill>
                  <a:srgbClr val="FF0000"/>
                </a:solidFill>
              </a:rPr>
              <a:t>The opposite of something happening </a:t>
            </a:r>
          </a:p>
          <a:p>
            <a:pPr marL="0" indent="0">
              <a:buNone/>
            </a:pPr>
            <a:endParaRPr lang="en-AU" sz="3600" dirty="0"/>
          </a:p>
          <a:p>
            <a:pPr marL="0" indent="0">
              <a:buNone/>
            </a:pPr>
            <a:r>
              <a:rPr lang="en-AU" sz="3600" dirty="0"/>
              <a:t>What is the opposite? </a:t>
            </a:r>
          </a:p>
          <a:p>
            <a:pPr marL="742950" indent="-742950">
              <a:buAutoNum type="alphaLcParenR"/>
            </a:pPr>
            <a:r>
              <a:rPr lang="en-AU" sz="3600" dirty="0"/>
              <a:t>Rolling a 4? </a:t>
            </a:r>
          </a:p>
          <a:p>
            <a:pPr marL="742950" indent="-742950">
              <a:buAutoNum type="alphaLcParenR"/>
            </a:pPr>
            <a:r>
              <a:rPr lang="en-AU" sz="3600" dirty="0"/>
              <a:t>Getting a tails?</a:t>
            </a:r>
          </a:p>
          <a:p>
            <a:pPr marL="742950" indent="-742950">
              <a:buAutoNum type="alphaLcParenR"/>
            </a:pPr>
            <a:r>
              <a:rPr lang="en-AU" sz="3600" dirty="0"/>
              <a:t>Person owning a dog?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887852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4A0A4-3E44-4936-888D-42F1C8DEC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State the (opposite) complimentary event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5A800-5BA4-42F8-BC18-8B47D30AC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lphaLcParenR"/>
            </a:pPr>
            <a:r>
              <a:rPr lang="en-US" dirty="0"/>
              <a:t>Rolling a 5 </a:t>
            </a:r>
          </a:p>
          <a:p>
            <a:pPr marL="514350" indent="-514350">
              <a:buAutoNum type="alphaLcParenR"/>
            </a:pPr>
            <a:r>
              <a:rPr lang="en-US" dirty="0"/>
              <a:t>Rolling a 6</a:t>
            </a:r>
          </a:p>
          <a:p>
            <a:pPr marL="514350" indent="-514350">
              <a:buAutoNum type="alphaLcParenR"/>
            </a:pPr>
            <a:r>
              <a:rPr lang="en-US" dirty="0"/>
              <a:t>Getting a heads </a:t>
            </a:r>
          </a:p>
          <a:p>
            <a:pPr marL="514350" indent="-514350">
              <a:buAutoNum type="alphaLcParenR"/>
            </a:pPr>
            <a:r>
              <a:rPr lang="en-US" dirty="0"/>
              <a:t>Getting a blue marble </a:t>
            </a:r>
          </a:p>
          <a:p>
            <a:pPr marL="514350" indent="-514350">
              <a:buAutoNum type="alphaLcParenR"/>
            </a:pPr>
            <a:r>
              <a:rPr lang="en-US" dirty="0"/>
              <a:t>Getting a red marble </a:t>
            </a:r>
          </a:p>
          <a:p>
            <a:pPr marL="514350" indent="-514350">
              <a:buAutoNum type="alphaLcParenR"/>
            </a:pPr>
            <a:r>
              <a:rPr lang="en-US" dirty="0"/>
              <a:t>Playing soccer </a:t>
            </a:r>
          </a:p>
          <a:p>
            <a:pPr marL="514350" indent="-514350">
              <a:buAutoNum type="alphaLcParenR"/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CF9A23-BFBB-4F51-873C-8AB7E6B9CCDB}"/>
                  </a:ext>
                </a:extLst>
              </p:cNvPr>
              <p:cNvSpPr txBox="1"/>
              <p:nvPr/>
            </p:nvSpPr>
            <p:spPr>
              <a:xfrm>
                <a:off x="5655076" y="2263806"/>
                <a:ext cx="6045693" cy="20136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b="1" dirty="0"/>
                  <a:t>If the probability of getting a pie at lunch was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𝟓</m:t>
                        </m:r>
                      </m:num>
                      <m:den>
                        <m:r>
                          <a:rPr lang="en-US" sz="2800" b="1" i="1" smtClean="0">
                            <a:latin typeface="Cambria Math" panose="02040503050406030204" pitchFamily="18" charset="0"/>
                          </a:rPr>
                          <m:t>𝟏𝟓</m:t>
                        </m:r>
                      </m:den>
                    </m:f>
                  </m:oMath>
                </a14:m>
                <a:r>
                  <a:rPr lang="en-US" sz="2800" b="1" dirty="0"/>
                  <a:t>, what is the complementary event of this happening? 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BCF9A23-BFBB-4F51-873C-8AB7E6B9CC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5076" y="2263806"/>
                <a:ext cx="6045693" cy="2013693"/>
              </a:xfrm>
              <a:prstGeom prst="rect">
                <a:avLst/>
              </a:prstGeom>
              <a:blipFill>
                <a:blip r:embed="rId2"/>
                <a:stretch>
                  <a:fillRect l="-2119" t="-2719" b="-755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61662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1D215-F236-4C74-ABE4-AD3D0E141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Assigning probability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65D24-40EB-4B3D-ABA2-2C65517E6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a bag there are 3 red marbles, 3 blue marbles and 4 yellow marbles.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Complimentary events add up to 1 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is the P(red)?</a:t>
            </a:r>
          </a:p>
          <a:p>
            <a:pPr marL="0" indent="0">
              <a:buNone/>
            </a:pPr>
            <a:r>
              <a:rPr lang="en-US" dirty="0"/>
              <a:t> What is the complimentary of this event? </a:t>
            </a:r>
          </a:p>
        </p:txBody>
      </p:sp>
    </p:spTree>
    <p:extLst>
      <p:ext uri="{BB962C8B-B14F-4D97-AF65-F5344CB8AC3E}">
        <p14:creationId xmlns:p14="http://schemas.microsoft.com/office/powerpoint/2010/main" val="26767243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BA2B3-887D-4D4A-A862-1DBCB2B0F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Exercise books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4FBCB-E75F-4296-AD45-428783DE82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/>
              <a:t>Create some sort of event (rolling dice, coin flip, Dockers winning the flag)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Write down the probability </a:t>
            </a:r>
          </a:p>
          <a:p>
            <a:pPr marL="514350" indent="-514350">
              <a:buAutoNum type="arabicPeriod"/>
            </a:pPr>
            <a:r>
              <a:rPr lang="en-US" dirty="0"/>
              <a:t>State the complimentary event </a:t>
            </a:r>
          </a:p>
          <a:p>
            <a:pPr marL="514350" indent="-514350">
              <a:buAutoNum type="arabicPeriod"/>
            </a:pPr>
            <a:r>
              <a:rPr lang="en-US" dirty="0"/>
              <a:t>Write down the probability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454637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E94F5-8C46-4485-B7FF-96534EDCA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E2B38F-4938-49EC-A273-71BCCEDC05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puzzle sheets formative assessment </a:t>
            </a:r>
          </a:p>
          <a:p>
            <a:r>
              <a:rPr lang="en-US" dirty="0"/>
              <a:t>“what is Long and Yellow and never rings” 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42442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1468</TotalTime>
  <Words>485</Words>
  <Application>Microsoft Office PowerPoint</Application>
  <PresentationFormat>Widescreen</PresentationFormat>
  <Paragraphs>114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Cambria Math</vt:lpstr>
      <vt:lpstr>Century Gothic</vt:lpstr>
      <vt:lpstr>Wingdings</vt:lpstr>
      <vt:lpstr>Office Theme</vt:lpstr>
      <vt:lpstr>Lesson objective </vt:lpstr>
      <vt:lpstr>The word is </vt:lpstr>
      <vt:lpstr>Terminology</vt:lpstr>
      <vt:lpstr>We do </vt:lpstr>
      <vt:lpstr>You do (whiteboards)</vt:lpstr>
      <vt:lpstr>Practice 1 – simplify in exercise book</vt:lpstr>
      <vt:lpstr>Sample space </vt:lpstr>
      <vt:lpstr>Basic probability</vt:lpstr>
      <vt:lpstr>Probability </vt:lpstr>
      <vt:lpstr>Complimentary events </vt:lpstr>
      <vt:lpstr>State the (opposite) complimentary event </vt:lpstr>
      <vt:lpstr>Assigning probability </vt:lpstr>
      <vt:lpstr>Exercise books </vt:lpstr>
      <vt:lpstr>Individual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12</cp:revision>
  <dcterms:created xsi:type="dcterms:W3CDTF">2022-05-30T08:01:31Z</dcterms:created>
  <dcterms:modified xsi:type="dcterms:W3CDTF">2022-06-02T23:51:23Z</dcterms:modified>
</cp:coreProperties>
</file>
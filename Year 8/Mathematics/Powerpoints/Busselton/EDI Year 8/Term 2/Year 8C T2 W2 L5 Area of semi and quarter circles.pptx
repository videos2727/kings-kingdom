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325" r:id="rId6"/>
    <p:sldId id="277" r:id="rId7"/>
    <p:sldId id="313" r:id="rId8"/>
    <p:sldId id="311" r:id="rId9"/>
    <p:sldId id="314" r:id="rId10"/>
    <p:sldId id="3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ES Rhys [Busselton Senior High School]" initials="DR[SHS" lastIdx="2" clrIdx="0">
    <p:extLst>
      <p:ext uri="{19B8F6BF-5375-455C-9EA6-DF929625EA0E}">
        <p15:presenceInfo xmlns:p15="http://schemas.microsoft.com/office/powerpoint/2012/main" userId="S::rhys.davies@education.wa.edu.au::901f7e41-9ce1-4a6e-9371-69f5fc7f4f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4T20:42:12.959" idx="1">
    <p:pos x="2331" y="181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4T20:42:12.959" idx="2">
    <p:pos x="2331" y="181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6144-1060-4BED-96DC-51AAD8BB4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8CF04-DB9A-484F-B8AF-5FC87ACC4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6939C-BBB4-45AD-8E24-EEEF1AC1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AAA6D-6038-4C6D-8388-04036BA46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6FBF1-171F-4648-8E00-52FBA0E3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1955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93C9-E9C9-4DB5-8B5E-9D6FE9DD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8506-808F-47C0-825A-65D0F76AD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DB1C0-D47A-4CDD-853D-DA0572502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50F01-5721-4050-9D3E-61B5088B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7D87E-5BEF-4038-A41B-60210343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85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AFA8-807C-4A2C-B1F4-80BFB5DD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2D443-0EAB-41C3-B4E3-925C0546E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8036-4D9F-4B22-9645-C6E6E27A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31271-E463-4662-9FDB-6F397402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81E0-FBC3-46B6-AAD8-F53C2B3E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73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CD7D-21D7-49C7-857F-22E67ED3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94C6D-B200-4256-8C81-DC790AC06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55358-3AC3-4C4F-ACCE-D86EE7769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23229-F22B-4919-8F5A-47AF117BF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BB16F-940D-42B4-AEE4-2E70BA59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01F4A-0CE3-4464-B013-F88AD4EF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5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4A43-F754-4AD7-A3CA-712C644C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6124-60DD-4A65-A060-21E5408D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748B3-19D0-468F-A0A2-BA3031646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BD763-2205-4045-A9AC-89D4DB931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8DF67-8230-4845-8F58-E0475040C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A9468-78BA-4C6F-B693-C13BA561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8C497B-ACFF-4167-A568-7DD53255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CBA56-0275-4502-80D1-CD80F04E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14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9327-0BAC-4768-B387-3CF2B340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0A557-294E-496A-BFE9-1F949D25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BDD36-AABB-4896-A292-431381B9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71AF0-89F0-4458-B1B3-315E1390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17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29A6A-264E-4AF6-8505-566716F6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F63FF-3A39-4C87-B840-EFFC1FC4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FCE52-5AEB-4B6D-85F6-529EEFFB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32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CEBDC-3B0C-4582-985F-B1733136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4A3A3-5FEF-4A61-898B-987D84B4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CF949-F295-4302-ABAE-6C614CA41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7253F-7E80-4BEC-99FE-9262DC61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BE7F7-A1AD-486C-88A5-052936996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AFA8B-9553-4315-A2A9-0BCC7C8C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918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485E-AA15-4230-AE22-00F50E62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041AD-76CB-4E4B-BF53-14A57E6E1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4F33A-9901-45F3-A29E-0A4A31672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5F771-23A4-401E-B687-C3C87282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DCF2A-3EFD-43E7-ABE8-F9ABB8DD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E4547-7FB1-46AD-A63A-A761F0874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869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BA44-D988-46F4-9887-184B7551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A0DC4-4848-47AF-85DB-8DE7EA8A0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1E027-D24A-427D-90BF-27FF180E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060C4-9DF8-443F-A569-7CCEC2BC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5762-4CA4-497F-921A-2A206E47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02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44695-E668-4BBB-943C-D144A0498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2766D-183C-4418-BB76-07EECEBC5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6FB39-D1A9-46F3-ACAE-80B2D0B6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AE63B-2BBD-4B99-B7E3-153AD2BE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4CB81-35BB-424C-B19F-ABAE8128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6302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DE50FF-E03B-446B-931D-7CC2FCC0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B26BD-B174-4B6E-B30D-06CDA653D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81415-7D2D-495F-BC0D-D9AFFABB4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19026-8389-4095-BFD0-8F59F69EA68A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E64A4-119A-4543-96A5-F3E0FC7C5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BBC47-D4BF-4E79-8BC7-D6DEECDBD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71B6E-6AA1-47A3-8E1D-5391EF8EAC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47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EFA4D-AA5A-470E-98FF-0DC8F993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1467F-8D75-48E2-B9DC-A12F9C49A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Full Circle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Calculate circumference and area of semi, quarter and three-quarter circles.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Calculate area of a trapezium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Area and perimeter of basic shapes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Adjusting formula </a:t>
            </a:r>
          </a:p>
        </p:txBody>
      </p:sp>
    </p:spTree>
    <p:extLst>
      <p:ext uri="{BB962C8B-B14F-4D97-AF65-F5344CB8AC3E}">
        <p14:creationId xmlns:p14="http://schemas.microsoft.com/office/powerpoint/2010/main" val="202554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9QIIR89B\MP900439432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"/>
            <a:ext cx="9144000" cy="6871607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1487488" y="17240"/>
            <a:ext cx="8496944" cy="6669360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9496" y="881336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79776" y="233264"/>
            <a:ext cx="7920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35960" y="188640"/>
            <a:ext cx="180020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56240" y="980728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1631504" y="2609528"/>
            <a:ext cx="1728192" cy="792088"/>
          </a:xfrm>
          <a:prstGeom prst="parallelogram">
            <a:avLst>
              <a:gd name="adj" fmla="val 582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Parallelogram 7"/>
          <p:cNvSpPr/>
          <p:nvPr/>
        </p:nvSpPr>
        <p:spPr>
          <a:xfrm>
            <a:off x="3935760" y="2348880"/>
            <a:ext cx="1944216" cy="1152128"/>
          </a:xfrm>
          <a:prstGeom prst="parallelogram">
            <a:avLst>
              <a:gd name="adj" fmla="val 459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Parallelogram 8"/>
          <p:cNvSpPr/>
          <p:nvPr/>
        </p:nvSpPr>
        <p:spPr>
          <a:xfrm>
            <a:off x="6168008" y="2564904"/>
            <a:ext cx="2376264" cy="792088"/>
          </a:xfrm>
          <a:prstGeom prst="parallelogram">
            <a:avLst>
              <a:gd name="adj" fmla="val 8971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1775520" y="4049688"/>
            <a:ext cx="2088232" cy="1008112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4871864" y="4049688"/>
            <a:ext cx="1296144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7392144" y="4121696"/>
            <a:ext cx="1944216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5560" y="5212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20cm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664" y="9533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9776" y="174543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11.5cm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1864" y="7373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2024" y="177281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13cm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4152" y="33265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17cm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248" y="186562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17cm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8088" y="32849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32cm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8208" y="29249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8088" y="278092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19cm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7728" y="25649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9816" y="34290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25cm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9856" y="26369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21cm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5560" y="33296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95600" y="289756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5600" y="49857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19cm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3672" y="41937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3632" y="45537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3792" y="41937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16cm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5880" y="49857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16cm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6080" y="440972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21cm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2184" y="50578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24cm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2841785" y="4035833"/>
            <a:ext cx="0" cy="100811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2567608" y="2537520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4799856" y="2348880"/>
            <a:ext cx="0" cy="115212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7608168" y="2492896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775520" y="3052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19736" y="161256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912" y="11663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96200" y="83671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31504" y="2393504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07768" y="22768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12024" y="242088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19536" y="404968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51784" y="39056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2064" y="4049688"/>
            <a:ext cx="504056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6359" y="1"/>
            <a:ext cx="1512167" cy="3477875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prstClr val="black"/>
                </a:solidFill>
                <a:latin typeface="Calibri"/>
              </a:rPr>
              <a:t>Answers: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220cm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115cm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221cm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289cm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48cm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525cm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608cm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104.5cm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256cm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504cm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1FA2DF-0F07-4765-A3BB-946AA67D23EC}"/>
              </a:ext>
            </a:extLst>
          </p:cNvPr>
          <p:cNvCxnSpPr>
            <a:cxnSpLocks/>
          </p:cNvCxnSpPr>
          <p:nvPr/>
        </p:nvCxnSpPr>
        <p:spPr>
          <a:xfrm>
            <a:off x="8112224" y="1435894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C61D728-3C4D-4F82-8DDA-340250CE6381}"/>
              </a:ext>
            </a:extLst>
          </p:cNvPr>
          <p:cNvCxnSpPr>
            <a:cxnSpLocks/>
          </p:cNvCxnSpPr>
          <p:nvPr/>
        </p:nvCxnSpPr>
        <p:spPr>
          <a:xfrm>
            <a:off x="8976320" y="1435894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72D6DDE-81BB-45CF-8A6D-F8EB4F54AD47}"/>
              </a:ext>
            </a:extLst>
          </p:cNvPr>
          <p:cNvCxnSpPr>
            <a:cxnSpLocks/>
          </p:cNvCxnSpPr>
          <p:nvPr/>
        </p:nvCxnSpPr>
        <p:spPr>
          <a:xfrm>
            <a:off x="8680697" y="836316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732254A-1B8A-4597-BEF1-4621EADAEC0B}"/>
              </a:ext>
            </a:extLst>
          </p:cNvPr>
          <p:cNvCxnSpPr>
            <a:cxnSpLocks/>
          </p:cNvCxnSpPr>
          <p:nvPr/>
        </p:nvCxnSpPr>
        <p:spPr>
          <a:xfrm>
            <a:off x="8669831" y="1690540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uiExpand="1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421D-D926-46AF-88F1-0DE28165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Circles refresh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C33D17-22E3-4F2C-AD18-ED68C3F1EF7C}"/>
              </a:ext>
            </a:extLst>
          </p:cNvPr>
          <p:cNvSpPr/>
          <p:nvPr/>
        </p:nvSpPr>
        <p:spPr>
          <a:xfrm>
            <a:off x="833761" y="2885243"/>
            <a:ext cx="2867488" cy="293850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92A93F-A1DC-47BF-B9C5-62A47EABD7C3}"/>
              </a:ext>
            </a:extLst>
          </p:cNvPr>
          <p:cNvSpPr/>
          <p:nvPr/>
        </p:nvSpPr>
        <p:spPr>
          <a:xfrm>
            <a:off x="9003436" y="2885243"/>
            <a:ext cx="2867488" cy="293850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A353FB-3683-4673-AE16-D9CA0215EB79}"/>
              </a:ext>
            </a:extLst>
          </p:cNvPr>
          <p:cNvCxnSpPr>
            <a:cxnSpLocks/>
            <a:endCxn id="4" idx="6"/>
          </p:cNvCxnSpPr>
          <p:nvPr/>
        </p:nvCxnSpPr>
        <p:spPr>
          <a:xfrm>
            <a:off x="2267505" y="4287915"/>
            <a:ext cx="1433744" cy="6658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A4589A-E7E0-4C61-88B3-69D8A84E7ED0}"/>
              </a:ext>
            </a:extLst>
          </p:cNvPr>
          <p:cNvCxnSpPr>
            <a:stCxn id="5" idx="2"/>
            <a:endCxn id="5" idx="6"/>
          </p:cNvCxnSpPr>
          <p:nvPr/>
        </p:nvCxnSpPr>
        <p:spPr>
          <a:xfrm>
            <a:off x="9003436" y="4354498"/>
            <a:ext cx="28674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E9023B4-F5ED-45EA-A3D9-B37EDC110053}"/>
              </a:ext>
            </a:extLst>
          </p:cNvPr>
          <p:cNvSpPr txBox="1"/>
          <p:nvPr/>
        </p:nvSpPr>
        <p:spPr>
          <a:xfrm>
            <a:off x="2574524" y="3817398"/>
            <a:ext cx="994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8cm</a:t>
            </a:r>
            <a:endParaRPr lang="en-A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84DB1-F262-4FF1-B550-22D3D659FB0A}"/>
              </a:ext>
            </a:extLst>
          </p:cNvPr>
          <p:cNvSpPr txBox="1"/>
          <p:nvPr/>
        </p:nvSpPr>
        <p:spPr>
          <a:xfrm>
            <a:off x="10193044" y="3921096"/>
            <a:ext cx="994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21cm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8F77E-D9E9-4135-A4EE-BAA0FC4BD8D8}"/>
              </a:ext>
            </a:extLst>
          </p:cNvPr>
          <p:cNvSpPr txBox="1"/>
          <p:nvPr/>
        </p:nvSpPr>
        <p:spPr>
          <a:xfrm>
            <a:off x="3808520" y="2078242"/>
            <a:ext cx="6462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Find the area and circumference.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960477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421D-D926-46AF-88F1-0DE28165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Circles refresh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C33D17-22E3-4F2C-AD18-ED68C3F1EF7C}"/>
              </a:ext>
            </a:extLst>
          </p:cNvPr>
          <p:cNvSpPr/>
          <p:nvPr/>
        </p:nvSpPr>
        <p:spPr>
          <a:xfrm>
            <a:off x="833761" y="2885243"/>
            <a:ext cx="2867488" cy="293850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92A93F-A1DC-47BF-B9C5-62A47EABD7C3}"/>
              </a:ext>
            </a:extLst>
          </p:cNvPr>
          <p:cNvSpPr/>
          <p:nvPr/>
        </p:nvSpPr>
        <p:spPr>
          <a:xfrm>
            <a:off x="9003436" y="2885243"/>
            <a:ext cx="2867488" cy="293850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A353FB-3683-4673-AE16-D9CA0215EB79}"/>
              </a:ext>
            </a:extLst>
          </p:cNvPr>
          <p:cNvCxnSpPr>
            <a:cxnSpLocks/>
            <a:endCxn id="4" idx="6"/>
          </p:cNvCxnSpPr>
          <p:nvPr/>
        </p:nvCxnSpPr>
        <p:spPr>
          <a:xfrm>
            <a:off x="2267505" y="4287915"/>
            <a:ext cx="1433744" cy="6658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A4589A-E7E0-4C61-88B3-69D8A84E7ED0}"/>
              </a:ext>
            </a:extLst>
          </p:cNvPr>
          <p:cNvCxnSpPr>
            <a:stCxn id="5" idx="2"/>
            <a:endCxn id="5" idx="6"/>
          </p:cNvCxnSpPr>
          <p:nvPr/>
        </p:nvCxnSpPr>
        <p:spPr>
          <a:xfrm>
            <a:off x="9003436" y="4354498"/>
            <a:ext cx="28674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E9023B4-F5ED-45EA-A3D9-B37EDC110053}"/>
              </a:ext>
            </a:extLst>
          </p:cNvPr>
          <p:cNvSpPr txBox="1"/>
          <p:nvPr/>
        </p:nvSpPr>
        <p:spPr>
          <a:xfrm>
            <a:off x="2574524" y="3817398"/>
            <a:ext cx="994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11cm</a:t>
            </a:r>
            <a:endParaRPr lang="en-A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84DB1-F262-4FF1-B550-22D3D659FB0A}"/>
              </a:ext>
            </a:extLst>
          </p:cNvPr>
          <p:cNvSpPr txBox="1"/>
          <p:nvPr/>
        </p:nvSpPr>
        <p:spPr>
          <a:xfrm>
            <a:off x="10193044" y="3921096"/>
            <a:ext cx="994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15cm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8F77E-D9E9-4135-A4EE-BAA0FC4BD8D8}"/>
              </a:ext>
            </a:extLst>
          </p:cNvPr>
          <p:cNvSpPr txBox="1"/>
          <p:nvPr/>
        </p:nvSpPr>
        <p:spPr>
          <a:xfrm>
            <a:off x="3808520" y="2078242"/>
            <a:ext cx="6462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Find the area and circumference.</a:t>
            </a:r>
          </a:p>
          <a:p>
            <a:pPr algn="ctr"/>
            <a:r>
              <a:rPr lang="en-US" sz="2800" b="1" dirty="0"/>
              <a:t>Exercise books!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56959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e 11"/>
          <p:cNvSpPr/>
          <p:nvPr/>
        </p:nvSpPr>
        <p:spPr>
          <a:xfrm>
            <a:off x="2693492" y="4920111"/>
            <a:ext cx="851394" cy="793810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87" y="1357193"/>
            <a:ext cx="1081775" cy="10857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176" y="3314867"/>
            <a:ext cx="1612393" cy="8265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505042" y="2563847"/>
                <a:ext cx="1249316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42" y="2563847"/>
                <a:ext cx="1249316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616581" y="5933497"/>
                <a:ext cx="1249316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581" y="5933497"/>
                <a:ext cx="1249316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568629" y="4211854"/>
                <a:ext cx="1249316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i="1">
                          <a:latin typeface="Cambria Math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629" y="4211854"/>
                <a:ext cx="1249316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 txBox="1">
            <a:spLocks/>
          </p:cNvSpPr>
          <p:nvPr/>
        </p:nvSpPr>
        <p:spPr>
          <a:xfrm>
            <a:off x="1524000" y="3258"/>
            <a:ext cx="7633252" cy="1143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00B0F0"/>
                </a:solidFill>
                <a:latin typeface="+mn-lt"/>
              </a:rPr>
              <a:t>Circumference </a:t>
            </a:r>
            <a:r>
              <a:rPr lang="mr-IN" b="1" dirty="0">
                <a:solidFill>
                  <a:srgbClr val="00B0F0"/>
                </a:solidFill>
                <a:latin typeface="+mn-lt"/>
              </a:rPr>
              <a:t>–</a:t>
            </a:r>
            <a:r>
              <a:rPr lang="en-GB" b="1" dirty="0">
                <a:solidFill>
                  <a:srgbClr val="00B0F0"/>
                </a:solidFill>
                <a:latin typeface="+mn-lt"/>
              </a:rPr>
              <a:t> part of a circle</a:t>
            </a:r>
          </a:p>
        </p:txBody>
      </p:sp>
      <p:sp>
        <p:nvSpPr>
          <p:cNvPr id="20" name="Title 38"/>
          <p:cNvSpPr txBox="1">
            <a:spLocks/>
          </p:cNvSpPr>
          <p:nvPr/>
        </p:nvSpPr>
        <p:spPr>
          <a:xfrm>
            <a:off x="1868136" y="1006950"/>
            <a:ext cx="2373875" cy="3925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+mn-lt"/>
              </a:rPr>
              <a:t>The </a:t>
            </a:r>
            <a:r>
              <a:rPr lang="en-GB" sz="2400" u="sng" dirty="0">
                <a:latin typeface="+mn-lt"/>
              </a:rPr>
              <a:t>curved</a:t>
            </a:r>
            <a:r>
              <a:rPr lang="en-GB" sz="2400" dirty="0">
                <a:latin typeface="+mn-lt"/>
              </a:rPr>
              <a:t> part:</a:t>
            </a:r>
          </a:p>
        </p:txBody>
      </p:sp>
      <p:sp>
        <p:nvSpPr>
          <p:cNvPr id="21" name="Title 38"/>
          <p:cNvSpPr txBox="1">
            <a:spLocks/>
          </p:cNvSpPr>
          <p:nvPr/>
        </p:nvSpPr>
        <p:spPr>
          <a:xfrm>
            <a:off x="4888062" y="990306"/>
            <a:ext cx="2373875" cy="3925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+mn-lt"/>
              </a:rPr>
              <a:t>The </a:t>
            </a:r>
            <a:r>
              <a:rPr lang="en-GB" sz="2400" u="sng" dirty="0">
                <a:latin typeface="+mn-lt"/>
              </a:rPr>
              <a:t>perimeter</a:t>
            </a:r>
            <a:r>
              <a:rPr lang="en-GB" sz="2400" dirty="0">
                <a:latin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010349" y="1594601"/>
                <a:ext cx="1424685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>
                              <a:solidFill>
                                <a:srgbClr val="00B0F0"/>
                              </a:solidFill>
                              <a:latin typeface="Cambria Math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000" b="1" i="1">
                              <a:solidFill>
                                <a:srgbClr val="00B0F0"/>
                              </a:solidFill>
                              <a:latin typeface="Cambria Math" charset="0"/>
                            </a:rPr>
                            <m:t>𝟒</m:t>
                          </m:r>
                        </m:den>
                      </m:f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charset="0"/>
                        </a:rPr>
                        <m:t>𝒓</m:t>
                      </m:r>
                    </m:oMath>
                  </m:oMathPara>
                </a14:m>
                <a:endParaRPr lang="en-US" sz="20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349" y="1594601"/>
                <a:ext cx="1424685" cy="6685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252552" y="1741974"/>
                <a:ext cx="8996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+ </m:t>
                      </m:r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𝒓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552" y="1741974"/>
                <a:ext cx="89960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90B0973-808A-4674-8459-D0878557ACAA}"/>
                  </a:ext>
                </a:extLst>
              </p:cNvPr>
              <p:cNvSpPr/>
              <p:nvPr/>
            </p:nvSpPr>
            <p:spPr>
              <a:xfrm>
                <a:off x="5010349" y="3167491"/>
                <a:ext cx="1325299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sz="20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90B0973-808A-4674-8459-D0878557A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349" y="3167491"/>
                <a:ext cx="1325299" cy="6685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83CF35-77CF-4165-AB60-9D774A3455DA}"/>
                  </a:ext>
                </a:extLst>
              </p:cNvPr>
              <p:cNvSpPr/>
              <p:nvPr/>
            </p:nvSpPr>
            <p:spPr>
              <a:xfrm>
                <a:off x="6252552" y="3314864"/>
                <a:ext cx="7809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+ </m:t>
                      </m:r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83CF35-77CF-4165-AB60-9D774A3455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552" y="3314864"/>
                <a:ext cx="780983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2B7EF1D-DCC2-4ADE-9058-BE224F476BAD}"/>
                  </a:ext>
                </a:extLst>
              </p:cNvPr>
              <p:cNvSpPr/>
              <p:nvPr/>
            </p:nvSpPr>
            <p:spPr>
              <a:xfrm>
                <a:off x="5010348" y="5045405"/>
                <a:ext cx="1424684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000" b="1" i="1">
                              <a:solidFill>
                                <a:srgbClr val="00B0F0"/>
                              </a:solidFill>
                              <a:latin typeface="Cambria Math" charset="0"/>
                            </a:rPr>
                            <m:t>𝟒</m:t>
                          </m:r>
                        </m:den>
                      </m:f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GB" sz="2000" b="1" i="1">
                          <a:solidFill>
                            <a:srgbClr val="00B0F0"/>
                          </a:solidFill>
                          <a:latin typeface="Cambria Math" charset="0"/>
                        </a:rPr>
                        <m:t>𝒓</m:t>
                      </m:r>
                    </m:oMath>
                  </m:oMathPara>
                </a14:m>
                <a:endParaRPr lang="en-US" sz="20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2B7EF1D-DCC2-4ADE-9058-BE224F476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348" y="5045405"/>
                <a:ext cx="1424684" cy="6685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63113B8-B6E9-47DE-9047-00059905D5C8}"/>
                  </a:ext>
                </a:extLst>
              </p:cNvPr>
              <p:cNvSpPr/>
              <p:nvPr/>
            </p:nvSpPr>
            <p:spPr>
              <a:xfrm>
                <a:off x="6252551" y="5192778"/>
                <a:ext cx="8996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+ </m:t>
                      </m:r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00B0F0"/>
                          </a:solidFill>
                          <a:latin typeface="Cambria Math" charset="0"/>
                        </a:rPr>
                        <m:t>𝒓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63113B8-B6E9-47DE-9047-00059905D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551" y="5192778"/>
                <a:ext cx="89960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DDF0BF8-0787-4F1F-8914-1B981B97A98F}"/>
              </a:ext>
            </a:extLst>
          </p:cNvPr>
          <p:cNvSpPr/>
          <p:nvPr/>
        </p:nvSpPr>
        <p:spPr>
          <a:xfrm>
            <a:off x="1935332" y="1006950"/>
            <a:ext cx="2373875" cy="573120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5D850EF-FFFA-4178-832F-75BCC8978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140" y="1117887"/>
            <a:ext cx="1081775" cy="108575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61399D-CBE7-492B-85BD-E94D34289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055" y="3191284"/>
            <a:ext cx="1612393" cy="826589"/>
          </a:xfrm>
          <a:prstGeom prst="rect">
            <a:avLst/>
          </a:prstGeom>
        </p:spPr>
      </p:pic>
      <p:sp>
        <p:nvSpPr>
          <p:cNvPr id="28" name="Pie 11">
            <a:extLst>
              <a:ext uri="{FF2B5EF4-FFF2-40B4-BE49-F238E27FC236}">
                <a16:creationId xmlns:a16="http://schemas.microsoft.com/office/drawing/2014/main" id="{04AB40DF-2DB1-4880-A4B0-EDD2139B81AF}"/>
              </a:ext>
            </a:extLst>
          </p:cNvPr>
          <p:cNvSpPr/>
          <p:nvPr/>
        </p:nvSpPr>
        <p:spPr>
          <a:xfrm>
            <a:off x="8647114" y="5192778"/>
            <a:ext cx="851394" cy="793810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46433-DE2B-4803-B597-228257E93D8A}"/>
              </a:ext>
            </a:extLst>
          </p:cNvPr>
          <p:cNvSpPr txBox="1"/>
          <p:nvPr/>
        </p:nvSpPr>
        <p:spPr>
          <a:xfrm>
            <a:off x="9498508" y="1476097"/>
            <a:ext cx="52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5m</a:t>
            </a:r>
            <a:endParaRPr lang="en-A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B755ED-1519-40A6-AE92-17D136110893}"/>
              </a:ext>
            </a:extLst>
          </p:cNvPr>
          <p:cNvSpPr txBox="1"/>
          <p:nvPr/>
        </p:nvSpPr>
        <p:spPr>
          <a:xfrm>
            <a:off x="8971329" y="2869315"/>
            <a:ext cx="715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12m</a:t>
            </a:r>
            <a:endParaRPr lang="en-A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FB9C66-8461-4B96-82C8-603BA80C869F}"/>
              </a:ext>
            </a:extLst>
          </p:cNvPr>
          <p:cNvSpPr txBox="1"/>
          <p:nvPr/>
        </p:nvSpPr>
        <p:spPr>
          <a:xfrm>
            <a:off x="9058736" y="5298602"/>
            <a:ext cx="52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608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/>
      <p:bldP spid="15" grpId="0"/>
      <p:bldP spid="17" grpId="0"/>
      <p:bldP spid="20" grpId="0"/>
      <p:bldP spid="21" grpId="0"/>
      <p:bldP spid="22" grpId="0"/>
      <p:bldP spid="23" grpId="0"/>
      <p:bldP spid="16" grpId="0"/>
      <p:bldP spid="19" grpId="0"/>
      <p:bldP spid="24" grpId="0"/>
      <p:bldP spid="25" grpId="0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0C4D-E7BC-4171-AF3C-52628520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 activity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AE37B-F0FF-46E6-9F31-15B590753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332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8752"/>
            <a:ext cx="8229600" cy="1143000"/>
          </a:xfrm>
        </p:spPr>
        <p:txBody>
          <a:bodyPr>
            <a:noAutofit/>
          </a:bodyPr>
          <a:lstStyle/>
          <a:p>
            <a:r>
              <a:rPr lang="en-GB" b="1">
                <a:latin typeface="+mn-lt"/>
              </a:rPr>
              <a:t>Area </a:t>
            </a:r>
            <a:r>
              <a:rPr lang="en-GB" b="1" dirty="0">
                <a:latin typeface="+mn-lt"/>
              </a:rPr>
              <a:t>of </a:t>
            </a:r>
            <a:r>
              <a:rPr lang="en-GB" b="1">
                <a:latin typeface="+mn-lt"/>
              </a:rPr>
              <a:t>a trapezium</a:t>
            </a:r>
            <a:endParaRPr lang="en-GB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24000" y="1337359"/>
                <a:ext cx="9144000" cy="2999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A trapezium is a quadrilateral with only one pair of parallel sides.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The area of a trapezium is found by using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Where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/>
                  <a:t> represent the lengths of the two parallel sides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400" dirty="0"/>
                  <a:t> represents the perpendicular height between them.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337359"/>
                <a:ext cx="9144000" cy="2999796"/>
              </a:xfrm>
              <a:prstGeom prst="rect">
                <a:avLst/>
              </a:prstGeom>
              <a:blipFill>
                <a:blip r:embed="rId2"/>
                <a:stretch>
                  <a:fillRect l="-1000" t="-1626" b="-36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/>
          <p:cNvGrpSpPr/>
          <p:nvPr/>
        </p:nvGrpSpPr>
        <p:grpSpPr>
          <a:xfrm>
            <a:off x="1770143" y="4278530"/>
            <a:ext cx="2299981" cy="1371600"/>
            <a:chOff x="72740" y="4911466"/>
            <a:chExt cx="2299981" cy="1371600"/>
          </a:xfrm>
        </p:grpSpPr>
        <p:grpSp>
          <p:nvGrpSpPr>
            <p:cNvPr id="38" name="Group 37"/>
            <p:cNvGrpSpPr/>
            <p:nvPr/>
          </p:nvGrpSpPr>
          <p:grpSpPr>
            <a:xfrm>
              <a:off x="438261" y="5368666"/>
              <a:ext cx="1934460" cy="914400"/>
              <a:chOff x="438261" y="5368666"/>
              <a:chExt cx="1934460" cy="91440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612000" y="5368666"/>
                <a:ext cx="1760721" cy="914400"/>
                <a:chOff x="612000" y="5368666"/>
                <a:chExt cx="1760721" cy="914400"/>
              </a:xfrm>
            </p:grpSpPr>
            <p:sp>
              <p:nvSpPr>
                <p:cNvPr id="6" name="Trapezoid 5"/>
                <p:cNvSpPr/>
                <p:nvPr/>
              </p:nvSpPr>
              <p:spPr>
                <a:xfrm>
                  <a:off x="612000" y="5368666"/>
                  <a:ext cx="1760721" cy="908760"/>
                </a:xfrm>
                <a:prstGeom prst="trapezoid">
                  <a:avLst>
                    <a:gd name="adj" fmla="val 46875"/>
                  </a:avLst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0" name="Straight Arrow Connector 9"/>
                <p:cNvCxnSpPr/>
                <p:nvPr/>
              </p:nvCxnSpPr>
              <p:spPr>
                <a:xfrm>
                  <a:off x="1022800" y="53813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/>
                <p:cNvCxnSpPr/>
                <p:nvPr/>
              </p:nvCxnSpPr>
              <p:spPr>
                <a:xfrm>
                  <a:off x="1060900" y="62830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Straight Arrow Connector 19"/>
              <p:cNvCxnSpPr/>
              <p:nvPr/>
            </p:nvCxnSpPr>
            <p:spPr>
              <a:xfrm>
                <a:off x="438261" y="5368666"/>
                <a:ext cx="0" cy="90876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arrow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1419185" y="4911466"/>
                  <a:ext cx="2479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185" y="4911466"/>
                  <a:ext cx="247952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634" r="-146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1419185" y="5875178"/>
                  <a:ext cx="2423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185" y="5875178"/>
                  <a:ext cx="242374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0000" r="-275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72740" y="5626782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40" y="5626782"/>
                  <a:ext cx="24570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9268" r="-26829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/>
          <p:cNvGrpSpPr/>
          <p:nvPr/>
        </p:nvGrpSpPr>
        <p:grpSpPr>
          <a:xfrm>
            <a:off x="4740241" y="5158440"/>
            <a:ext cx="2296021" cy="1366706"/>
            <a:chOff x="2992300" y="4306760"/>
            <a:chExt cx="2296021" cy="1366706"/>
          </a:xfrm>
        </p:grpSpPr>
        <p:grpSp>
          <p:nvGrpSpPr>
            <p:cNvPr id="42" name="Group 41"/>
            <p:cNvGrpSpPr/>
            <p:nvPr/>
          </p:nvGrpSpPr>
          <p:grpSpPr>
            <a:xfrm>
              <a:off x="2992300" y="4746366"/>
              <a:ext cx="1900421" cy="927100"/>
              <a:chOff x="2992300" y="4746366"/>
              <a:chExt cx="1900421" cy="927100"/>
            </a:xfrm>
          </p:grpSpPr>
          <p:sp>
            <p:nvSpPr>
              <p:cNvPr id="24" name="Trapezoid 23"/>
              <p:cNvSpPr/>
              <p:nvPr/>
            </p:nvSpPr>
            <p:spPr>
              <a:xfrm rot="10800000">
                <a:off x="2992300" y="4757696"/>
                <a:ext cx="1760721" cy="908760"/>
              </a:xfrm>
              <a:custGeom>
                <a:avLst/>
                <a:gdLst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790700 w 2362200"/>
                  <a:gd name="connsiteY2" fmla="*/ 0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193800 w 2362200"/>
                  <a:gd name="connsiteY2" fmla="*/ 12700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193800 w 2362200"/>
                  <a:gd name="connsiteY2" fmla="*/ 5556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2200" h="1219200">
                    <a:moveTo>
                      <a:pt x="0" y="1219200"/>
                    </a:moveTo>
                    <a:lnTo>
                      <a:pt x="571500" y="0"/>
                    </a:lnTo>
                    <a:lnTo>
                      <a:pt x="1193800" y="5556"/>
                    </a:lnTo>
                    <a:lnTo>
                      <a:pt x="23622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 rot="10800000">
                <a:off x="3852660" y="4759066"/>
                <a:ext cx="52036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24" idx="1"/>
              </p:cNvCxnSpPr>
              <p:nvPr/>
            </p:nvCxnSpPr>
            <p:spPr>
              <a:xfrm rot="10800000" flipV="1">
                <a:off x="3992360" y="5666456"/>
                <a:ext cx="334680" cy="701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rot="10800000">
                <a:off x="4892721" y="4746366"/>
                <a:ext cx="0" cy="90876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arrow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3833720" y="4306760"/>
                  <a:ext cx="2479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3720" y="4306760"/>
                  <a:ext cx="24795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3957696" y="5280798"/>
                  <a:ext cx="2423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7696" y="5280798"/>
                  <a:ext cx="24237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000" r="-275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042613" y="4999334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2613" y="4999334"/>
                  <a:ext cx="24570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0000" r="-30000" b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7369053" y="4235118"/>
            <a:ext cx="2891134" cy="1458428"/>
            <a:chOff x="5484184" y="4497872"/>
            <a:chExt cx="2891134" cy="1458428"/>
          </a:xfrm>
        </p:grpSpPr>
        <p:grpSp>
          <p:nvGrpSpPr>
            <p:cNvPr id="26" name="Group 25"/>
            <p:cNvGrpSpPr/>
            <p:nvPr/>
          </p:nvGrpSpPr>
          <p:grpSpPr>
            <a:xfrm>
              <a:off x="5803900" y="4939079"/>
              <a:ext cx="2571418" cy="1017221"/>
              <a:chOff x="5803900" y="4939079"/>
              <a:chExt cx="2571418" cy="1017221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6012000" y="4939079"/>
                <a:ext cx="2363318" cy="1001087"/>
                <a:chOff x="6012000" y="4939079"/>
                <a:chExt cx="2363318" cy="1001087"/>
              </a:xfrm>
            </p:grpSpPr>
            <p:sp>
              <p:nvSpPr>
                <p:cNvPr id="5" name="Trapezoid 4"/>
                <p:cNvSpPr/>
                <p:nvPr/>
              </p:nvSpPr>
              <p:spPr>
                <a:xfrm>
                  <a:off x="6012000" y="4939079"/>
                  <a:ext cx="2363318" cy="990303"/>
                </a:xfrm>
                <a:custGeom>
                  <a:avLst/>
                  <a:gdLst>
                    <a:gd name="connsiteX0" fmla="*/ 0 w 2893200"/>
                    <a:gd name="connsiteY0" fmla="*/ 1328600 h 1328600"/>
                    <a:gd name="connsiteX1" fmla="*/ 332150 w 2893200"/>
                    <a:gd name="connsiteY1" fmla="*/ 0 h 1328600"/>
                    <a:gd name="connsiteX2" fmla="*/ 2561050 w 2893200"/>
                    <a:gd name="connsiteY2" fmla="*/ 0 h 1328600"/>
                    <a:gd name="connsiteX3" fmla="*/ 2893200 w 2893200"/>
                    <a:gd name="connsiteY3" fmla="*/ 1328600 h 1328600"/>
                    <a:gd name="connsiteX4" fmla="*/ 0 w 2893200"/>
                    <a:gd name="connsiteY4" fmla="*/ 1328600 h 1328600"/>
                    <a:gd name="connsiteX0" fmla="*/ 0 w 2893200"/>
                    <a:gd name="connsiteY0" fmla="*/ 1328600 h 1328600"/>
                    <a:gd name="connsiteX1" fmla="*/ 1475150 w 2893200"/>
                    <a:gd name="connsiteY1" fmla="*/ 0 h 1328600"/>
                    <a:gd name="connsiteX2" fmla="*/ 2561050 w 2893200"/>
                    <a:gd name="connsiteY2" fmla="*/ 0 h 1328600"/>
                    <a:gd name="connsiteX3" fmla="*/ 2893200 w 2893200"/>
                    <a:gd name="connsiteY3" fmla="*/ 1328600 h 1328600"/>
                    <a:gd name="connsiteX4" fmla="*/ 0 w 2893200"/>
                    <a:gd name="connsiteY4" fmla="*/ 1328600 h 1328600"/>
                    <a:gd name="connsiteX0" fmla="*/ 0 w 3170650"/>
                    <a:gd name="connsiteY0" fmla="*/ 1328600 h 1328600"/>
                    <a:gd name="connsiteX1" fmla="*/ 1475150 w 3170650"/>
                    <a:gd name="connsiteY1" fmla="*/ 0 h 1328600"/>
                    <a:gd name="connsiteX2" fmla="*/ 3170650 w 3170650"/>
                    <a:gd name="connsiteY2" fmla="*/ 0 h 1328600"/>
                    <a:gd name="connsiteX3" fmla="*/ 2893200 w 3170650"/>
                    <a:gd name="connsiteY3" fmla="*/ 1328600 h 1328600"/>
                    <a:gd name="connsiteX4" fmla="*/ 0 w 3170650"/>
                    <a:gd name="connsiteY4" fmla="*/ 1328600 h 13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0650" h="1328600">
                      <a:moveTo>
                        <a:pt x="0" y="1328600"/>
                      </a:moveTo>
                      <a:lnTo>
                        <a:pt x="1475150" y="0"/>
                      </a:lnTo>
                      <a:lnTo>
                        <a:pt x="3170650" y="0"/>
                      </a:lnTo>
                      <a:lnTo>
                        <a:pt x="2893200" y="1328600"/>
                      </a:lnTo>
                      <a:lnTo>
                        <a:pt x="0" y="1328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6915600" y="59401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/>
                <p:cNvCxnSpPr/>
                <p:nvPr/>
              </p:nvCxnSpPr>
              <p:spPr>
                <a:xfrm>
                  <a:off x="7245800" y="49495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Straight Arrow Connector 39"/>
              <p:cNvCxnSpPr/>
              <p:nvPr/>
            </p:nvCxnSpPr>
            <p:spPr>
              <a:xfrm flipH="1">
                <a:off x="5803900" y="4939079"/>
                <a:ext cx="12237" cy="101722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arrow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7526205" y="4497872"/>
                  <a:ext cx="2479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6205" y="4497872"/>
                  <a:ext cx="247952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314774" y="5506677"/>
                  <a:ext cx="2423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4774" y="5506677"/>
                  <a:ext cx="24237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0000" r="-275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5484184" y="5263110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4184" y="5263110"/>
                  <a:ext cx="245708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0000" r="-300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92CB71-8C24-4AF3-B5AB-60A0E1AF20B6}"/>
              </a:ext>
            </a:extLst>
          </p:cNvPr>
          <p:cNvSpPr txBox="1"/>
          <p:nvPr/>
        </p:nvSpPr>
        <p:spPr>
          <a:xfrm>
            <a:off x="7972148" y="2432482"/>
            <a:ext cx="3142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This is on our notes page!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39633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6608"/>
            <a:ext cx="8229600" cy="1143000"/>
          </a:xfrm>
        </p:spPr>
        <p:txBody>
          <a:bodyPr>
            <a:noAutofit/>
          </a:bodyPr>
          <a:lstStyle/>
          <a:p>
            <a:r>
              <a:rPr lang="en-GB" b="1">
                <a:latin typeface="+mn-lt"/>
              </a:rPr>
              <a:t>Area </a:t>
            </a:r>
            <a:r>
              <a:rPr lang="en-GB" b="1" dirty="0">
                <a:latin typeface="+mn-lt"/>
              </a:rPr>
              <a:t>of </a:t>
            </a:r>
            <a:r>
              <a:rPr lang="en-GB" b="1">
                <a:latin typeface="+mn-lt"/>
              </a:rPr>
              <a:t>a trapezium - example</a:t>
            </a:r>
            <a:endParaRPr lang="en-GB" b="1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76000" y="1269000"/>
            <a:ext cx="86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Find the area of the trapezium below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56000" y="1816930"/>
            <a:ext cx="554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Identify perpendicular heights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524000" y="1792220"/>
            <a:ext cx="2596836" cy="2842604"/>
            <a:chOff x="-162274" y="1771875"/>
            <a:chExt cx="2596836" cy="2842604"/>
          </a:xfrm>
        </p:grpSpPr>
        <p:grpSp>
          <p:nvGrpSpPr>
            <p:cNvPr id="10" name="Group 9"/>
            <p:cNvGrpSpPr/>
            <p:nvPr/>
          </p:nvGrpSpPr>
          <p:grpSpPr>
            <a:xfrm>
              <a:off x="383825" y="1870214"/>
              <a:ext cx="1384406" cy="2400745"/>
              <a:chOff x="383825" y="1870214"/>
              <a:chExt cx="1384406" cy="2400745"/>
            </a:xfrm>
          </p:grpSpPr>
          <p:sp>
            <p:nvSpPr>
              <p:cNvPr id="4" name="Freeform: Shape 3"/>
              <p:cNvSpPr/>
              <p:nvPr/>
            </p:nvSpPr>
            <p:spPr>
              <a:xfrm rot="15809541">
                <a:off x="-161377" y="2415416"/>
                <a:ext cx="2400745" cy="1310342"/>
              </a:xfrm>
              <a:custGeom>
                <a:avLst/>
                <a:gdLst>
                  <a:gd name="connsiteX0" fmla="*/ 2809461 w 2809461"/>
                  <a:gd name="connsiteY0" fmla="*/ 0 h 1855305"/>
                  <a:gd name="connsiteX1" fmla="*/ 1086678 w 2809461"/>
                  <a:gd name="connsiteY1" fmla="*/ 1842052 h 1855305"/>
                  <a:gd name="connsiteX2" fmla="*/ 357809 w 2809461"/>
                  <a:gd name="connsiteY2" fmla="*/ 1855305 h 1855305"/>
                  <a:gd name="connsiteX3" fmla="*/ 0 w 2809461"/>
                  <a:gd name="connsiteY3" fmla="*/ 39757 h 1855305"/>
                  <a:gd name="connsiteX4" fmla="*/ 2809461 w 2809461"/>
                  <a:gd name="connsiteY4" fmla="*/ 0 h 1855305"/>
                  <a:gd name="connsiteX0" fmla="*/ 2809461 w 2809461"/>
                  <a:gd name="connsiteY0" fmla="*/ 0 h 1842052"/>
                  <a:gd name="connsiteX1" fmla="*/ 1086678 w 2809461"/>
                  <a:gd name="connsiteY1" fmla="*/ 1842052 h 1842052"/>
                  <a:gd name="connsiteX2" fmla="*/ 367334 w 2809461"/>
                  <a:gd name="connsiteY2" fmla="*/ 1836255 h 1842052"/>
                  <a:gd name="connsiteX3" fmla="*/ 0 w 2809461"/>
                  <a:gd name="connsiteY3" fmla="*/ 39757 h 1842052"/>
                  <a:gd name="connsiteX4" fmla="*/ 2809461 w 2809461"/>
                  <a:gd name="connsiteY4" fmla="*/ 0 h 1842052"/>
                  <a:gd name="connsiteX0" fmla="*/ 2804698 w 2804698"/>
                  <a:gd name="connsiteY0" fmla="*/ 0 h 1842052"/>
                  <a:gd name="connsiteX1" fmla="*/ 1081915 w 2804698"/>
                  <a:gd name="connsiteY1" fmla="*/ 1842052 h 1842052"/>
                  <a:gd name="connsiteX2" fmla="*/ 362571 w 2804698"/>
                  <a:gd name="connsiteY2" fmla="*/ 1836255 h 1842052"/>
                  <a:gd name="connsiteX3" fmla="*/ 0 w 2804698"/>
                  <a:gd name="connsiteY3" fmla="*/ 34994 h 1842052"/>
                  <a:gd name="connsiteX4" fmla="*/ 2804698 w 2804698"/>
                  <a:gd name="connsiteY4" fmla="*/ 0 h 1842052"/>
                  <a:gd name="connsiteX0" fmla="*/ 2785648 w 2785648"/>
                  <a:gd name="connsiteY0" fmla="*/ 0 h 1837289"/>
                  <a:gd name="connsiteX1" fmla="*/ 1081915 w 2785648"/>
                  <a:gd name="connsiteY1" fmla="*/ 1837289 h 1837289"/>
                  <a:gd name="connsiteX2" fmla="*/ 362571 w 2785648"/>
                  <a:gd name="connsiteY2" fmla="*/ 1831492 h 1837289"/>
                  <a:gd name="connsiteX3" fmla="*/ 0 w 2785648"/>
                  <a:gd name="connsiteY3" fmla="*/ 30231 h 1837289"/>
                  <a:gd name="connsiteX4" fmla="*/ 2785648 w 2785648"/>
                  <a:gd name="connsiteY4" fmla="*/ 0 h 1837289"/>
                  <a:gd name="connsiteX0" fmla="*/ 2795173 w 2795173"/>
                  <a:gd name="connsiteY0" fmla="*/ 0 h 1837289"/>
                  <a:gd name="connsiteX1" fmla="*/ 1091440 w 2795173"/>
                  <a:gd name="connsiteY1" fmla="*/ 1837289 h 1837289"/>
                  <a:gd name="connsiteX2" fmla="*/ 372096 w 2795173"/>
                  <a:gd name="connsiteY2" fmla="*/ 1831492 h 1837289"/>
                  <a:gd name="connsiteX3" fmla="*/ 0 w 2795173"/>
                  <a:gd name="connsiteY3" fmla="*/ 30231 h 1837289"/>
                  <a:gd name="connsiteX4" fmla="*/ 2795173 w 2795173"/>
                  <a:gd name="connsiteY4" fmla="*/ 0 h 1837289"/>
                  <a:gd name="connsiteX0" fmla="*/ 2776123 w 2776123"/>
                  <a:gd name="connsiteY0" fmla="*/ 0 h 1837289"/>
                  <a:gd name="connsiteX1" fmla="*/ 1072390 w 2776123"/>
                  <a:gd name="connsiteY1" fmla="*/ 1837289 h 1837289"/>
                  <a:gd name="connsiteX2" fmla="*/ 353046 w 2776123"/>
                  <a:gd name="connsiteY2" fmla="*/ 1831492 h 1837289"/>
                  <a:gd name="connsiteX3" fmla="*/ 0 w 2776123"/>
                  <a:gd name="connsiteY3" fmla="*/ 30231 h 1837289"/>
                  <a:gd name="connsiteX4" fmla="*/ 2776123 w 2776123"/>
                  <a:gd name="connsiteY4" fmla="*/ 0 h 183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6123" h="1837289">
                    <a:moveTo>
                      <a:pt x="2776123" y="0"/>
                    </a:moveTo>
                    <a:lnTo>
                      <a:pt x="1072390" y="1837289"/>
                    </a:lnTo>
                    <a:lnTo>
                      <a:pt x="353046" y="1831492"/>
                    </a:lnTo>
                    <a:lnTo>
                      <a:pt x="0" y="30231"/>
                    </a:lnTo>
                    <a:lnTo>
                      <a:pt x="2776123" y="0"/>
                    </a:ln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 flipH="1" flipV="1">
                <a:off x="1730410" y="3416162"/>
                <a:ext cx="37821" cy="3556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 flipH="1" flipV="1">
                <a:off x="393204" y="3054313"/>
                <a:ext cx="37821" cy="3556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/>
            <p:cNvCxnSpPr/>
            <p:nvPr/>
          </p:nvCxnSpPr>
          <p:spPr>
            <a:xfrm>
              <a:off x="366301" y="1771875"/>
              <a:ext cx="1468883" cy="131535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593138" y="4067074"/>
              <a:ext cx="1241768" cy="44893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457928" y="3448872"/>
              <a:ext cx="1272482" cy="22911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-162274" y="3132951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2274" y="3132951"/>
                  <a:ext cx="48487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0000" r="-10000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1949686" y="3336030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9686" y="3336030"/>
                  <a:ext cx="48487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0000" r="-62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1038995" y="2042806"/>
                  <a:ext cx="6131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995" y="2042806"/>
                  <a:ext cx="61311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7921" r="-8911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1136203" y="4337480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6203" y="4337480"/>
                  <a:ext cx="48487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0000" r="-62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838279" y="3219139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79" y="3219139"/>
                  <a:ext cx="48487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0000" r="-6250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/>
          <p:cNvGrpSpPr/>
          <p:nvPr/>
        </p:nvGrpSpPr>
        <p:grpSpPr>
          <a:xfrm>
            <a:off x="1938275" y="1972549"/>
            <a:ext cx="1535280" cy="2382833"/>
            <a:chOff x="414275" y="1972548"/>
            <a:chExt cx="1535280" cy="2382833"/>
          </a:xfrm>
        </p:grpSpPr>
        <p:cxnSp>
          <p:nvCxnSpPr>
            <p:cNvPr id="75" name="Straight Arrow Connector 74"/>
            <p:cNvCxnSpPr/>
            <p:nvPr/>
          </p:nvCxnSpPr>
          <p:spPr>
            <a:xfrm flipV="1">
              <a:off x="633000" y="3467100"/>
              <a:ext cx="1272482" cy="229116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4" idx="3"/>
              <a:endCxn id="4" idx="0"/>
            </p:cNvCxnSpPr>
            <p:nvPr/>
          </p:nvCxnSpPr>
          <p:spPr>
            <a:xfrm flipH="1" flipV="1">
              <a:off x="414275" y="1972548"/>
              <a:ext cx="293512" cy="2382833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4" idx="2"/>
              <a:endCxn id="4" idx="1"/>
            </p:cNvCxnSpPr>
            <p:nvPr/>
          </p:nvCxnSpPr>
          <p:spPr>
            <a:xfrm flipH="1" flipV="1">
              <a:off x="1883158" y="3287906"/>
              <a:ext cx="66397" cy="618538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656000" y="2366060"/>
                <a:ext cx="5544600" cy="2567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rgbClr val="0070C0"/>
                    </a:solidFill>
                  </a:rPr>
                  <a:t>Substitute in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8+2</m:t>
                          </m:r>
                        </m:e>
                      </m:d>
                      <m:r>
                        <a:rPr lang="en-GB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×7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10×7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=35</m:t>
                      </m:r>
                      <m:r>
                        <a:rPr lang="en-GB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00" y="2366060"/>
                <a:ext cx="5544600" cy="2567369"/>
              </a:xfrm>
              <a:prstGeom prst="rect">
                <a:avLst/>
              </a:prstGeom>
              <a:blipFill>
                <a:blip r:embed="rId7"/>
                <a:stretch>
                  <a:fillRect l="-2310" t="-21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966551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66975" y="1345200"/>
            <a:ext cx="86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Find the area of the trapezium below.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00552" y="1832319"/>
            <a:ext cx="554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Identify perpendicular heights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744894" y="2078541"/>
            <a:ext cx="3476306" cy="1964361"/>
            <a:chOff x="2112960" y="3031858"/>
            <a:chExt cx="3476306" cy="1964361"/>
          </a:xfrm>
        </p:grpSpPr>
        <p:sp>
          <p:nvSpPr>
            <p:cNvPr id="4" name="Freeform: Shape 3"/>
            <p:cNvSpPr/>
            <p:nvPr/>
          </p:nvSpPr>
          <p:spPr>
            <a:xfrm rot="10800000">
              <a:off x="2345611" y="3365955"/>
              <a:ext cx="2647721" cy="1310342"/>
            </a:xfrm>
            <a:custGeom>
              <a:avLst/>
              <a:gdLst>
                <a:gd name="connsiteX0" fmla="*/ 2809461 w 2809461"/>
                <a:gd name="connsiteY0" fmla="*/ 0 h 1855305"/>
                <a:gd name="connsiteX1" fmla="*/ 1086678 w 2809461"/>
                <a:gd name="connsiteY1" fmla="*/ 1842052 h 1855305"/>
                <a:gd name="connsiteX2" fmla="*/ 357809 w 2809461"/>
                <a:gd name="connsiteY2" fmla="*/ 1855305 h 1855305"/>
                <a:gd name="connsiteX3" fmla="*/ 0 w 2809461"/>
                <a:gd name="connsiteY3" fmla="*/ 39757 h 1855305"/>
                <a:gd name="connsiteX4" fmla="*/ 2809461 w 2809461"/>
                <a:gd name="connsiteY4" fmla="*/ 0 h 1855305"/>
                <a:gd name="connsiteX0" fmla="*/ 2809461 w 2809461"/>
                <a:gd name="connsiteY0" fmla="*/ 0 h 1842052"/>
                <a:gd name="connsiteX1" fmla="*/ 1086678 w 2809461"/>
                <a:gd name="connsiteY1" fmla="*/ 1842052 h 1842052"/>
                <a:gd name="connsiteX2" fmla="*/ 367334 w 2809461"/>
                <a:gd name="connsiteY2" fmla="*/ 1836255 h 1842052"/>
                <a:gd name="connsiteX3" fmla="*/ 0 w 2809461"/>
                <a:gd name="connsiteY3" fmla="*/ 39757 h 1842052"/>
                <a:gd name="connsiteX4" fmla="*/ 2809461 w 2809461"/>
                <a:gd name="connsiteY4" fmla="*/ 0 h 1842052"/>
                <a:gd name="connsiteX0" fmla="*/ 2804698 w 2804698"/>
                <a:gd name="connsiteY0" fmla="*/ 0 h 1842052"/>
                <a:gd name="connsiteX1" fmla="*/ 1081915 w 2804698"/>
                <a:gd name="connsiteY1" fmla="*/ 1842052 h 1842052"/>
                <a:gd name="connsiteX2" fmla="*/ 362571 w 2804698"/>
                <a:gd name="connsiteY2" fmla="*/ 1836255 h 1842052"/>
                <a:gd name="connsiteX3" fmla="*/ 0 w 2804698"/>
                <a:gd name="connsiteY3" fmla="*/ 34994 h 1842052"/>
                <a:gd name="connsiteX4" fmla="*/ 2804698 w 2804698"/>
                <a:gd name="connsiteY4" fmla="*/ 0 h 1842052"/>
                <a:gd name="connsiteX0" fmla="*/ 2785648 w 2785648"/>
                <a:gd name="connsiteY0" fmla="*/ 0 h 1837289"/>
                <a:gd name="connsiteX1" fmla="*/ 1081915 w 2785648"/>
                <a:gd name="connsiteY1" fmla="*/ 1837289 h 1837289"/>
                <a:gd name="connsiteX2" fmla="*/ 362571 w 2785648"/>
                <a:gd name="connsiteY2" fmla="*/ 1831492 h 1837289"/>
                <a:gd name="connsiteX3" fmla="*/ 0 w 2785648"/>
                <a:gd name="connsiteY3" fmla="*/ 30231 h 1837289"/>
                <a:gd name="connsiteX4" fmla="*/ 2785648 w 2785648"/>
                <a:gd name="connsiteY4" fmla="*/ 0 h 1837289"/>
                <a:gd name="connsiteX0" fmla="*/ 2795173 w 2795173"/>
                <a:gd name="connsiteY0" fmla="*/ 0 h 1837289"/>
                <a:gd name="connsiteX1" fmla="*/ 1091440 w 2795173"/>
                <a:gd name="connsiteY1" fmla="*/ 1837289 h 1837289"/>
                <a:gd name="connsiteX2" fmla="*/ 372096 w 2795173"/>
                <a:gd name="connsiteY2" fmla="*/ 1831492 h 1837289"/>
                <a:gd name="connsiteX3" fmla="*/ 0 w 2795173"/>
                <a:gd name="connsiteY3" fmla="*/ 30231 h 1837289"/>
                <a:gd name="connsiteX4" fmla="*/ 2795173 w 2795173"/>
                <a:gd name="connsiteY4" fmla="*/ 0 h 1837289"/>
                <a:gd name="connsiteX0" fmla="*/ 2776123 w 2776123"/>
                <a:gd name="connsiteY0" fmla="*/ 0 h 1837289"/>
                <a:gd name="connsiteX1" fmla="*/ 1072390 w 2776123"/>
                <a:gd name="connsiteY1" fmla="*/ 1837289 h 1837289"/>
                <a:gd name="connsiteX2" fmla="*/ 353046 w 2776123"/>
                <a:gd name="connsiteY2" fmla="*/ 1831492 h 1837289"/>
                <a:gd name="connsiteX3" fmla="*/ 0 w 2776123"/>
                <a:gd name="connsiteY3" fmla="*/ 30231 h 1837289"/>
                <a:gd name="connsiteX4" fmla="*/ 2776123 w 2776123"/>
                <a:gd name="connsiteY4" fmla="*/ 0 h 1837289"/>
                <a:gd name="connsiteX0" fmla="*/ 3061716 w 3061716"/>
                <a:gd name="connsiteY0" fmla="*/ 0 h 1837289"/>
                <a:gd name="connsiteX1" fmla="*/ 1357983 w 3061716"/>
                <a:gd name="connsiteY1" fmla="*/ 1837289 h 1837289"/>
                <a:gd name="connsiteX2" fmla="*/ 0 w 3061716"/>
                <a:gd name="connsiteY2" fmla="*/ 1829484 h 1837289"/>
                <a:gd name="connsiteX3" fmla="*/ 285593 w 3061716"/>
                <a:gd name="connsiteY3" fmla="*/ 30231 h 1837289"/>
                <a:gd name="connsiteX4" fmla="*/ 3061716 w 3061716"/>
                <a:gd name="connsiteY4" fmla="*/ 0 h 183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1716" h="1837289">
                  <a:moveTo>
                    <a:pt x="3061716" y="0"/>
                  </a:moveTo>
                  <a:lnTo>
                    <a:pt x="1357983" y="1837289"/>
                  </a:lnTo>
                  <a:lnTo>
                    <a:pt x="0" y="1829484"/>
                  </a:lnTo>
                  <a:lnTo>
                    <a:pt x="285593" y="30231"/>
                  </a:lnTo>
                  <a:lnTo>
                    <a:pt x="3061716" y="0"/>
                  </a:ln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3631991" y="4654736"/>
              <a:ext cx="882001" cy="107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 flipV="1">
              <a:off x="4403188" y="3365955"/>
              <a:ext cx="517906" cy="191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2112960" y="3289755"/>
              <a:ext cx="1473360" cy="131034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4923104" y="3377984"/>
              <a:ext cx="246976" cy="129831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4162425" y="3351780"/>
              <a:ext cx="8113" cy="131547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104390" y="3882626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4390" y="3882626"/>
                  <a:ext cx="48487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1392" r="-11392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4195232" y="3031858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5232" y="3031858"/>
                  <a:ext cx="4848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1392" r="-7595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2299939" y="3680136"/>
                  <a:ext cx="6131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9939" y="3680136"/>
                  <a:ext cx="61311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9000" r="-9000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3362912" y="4719220"/>
                  <a:ext cx="6131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2912" y="4719220"/>
                  <a:ext cx="61311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921" r="-49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3556092" y="3882626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092" y="3882626"/>
                  <a:ext cx="48487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1250" r="-62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1977243" y="2399483"/>
            <a:ext cx="2647721" cy="1323497"/>
            <a:chOff x="2345611" y="3352800"/>
            <a:chExt cx="2647721" cy="1323497"/>
          </a:xfrm>
        </p:grpSpPr>
        <p:cxnSp>
          <p:nvCxnSpPr>
            <p:cNvPr id="76" name="Straight Arrow Connector 75"/>
            <p:cNvCxnSpPr>
              <a:stCxn id="4" idx="3"/>
              <a:endCxn id="4" idx="0"/>
            </p:cNvCxnSpPr>
            <p:nvPr/>
          </p:nvCxnSpPr>
          <p:spPr>
            <a:xfrm flipH="1">
              <a:off x="2345611" y="4654736"/>
              <a:ext cx="2400745" cy="21561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4" idx="2"/>
              <a:endCxn id="4" idx="1"/>
            </p:cNvCxnSpPr>
            <p:nvPr/>
          </p:nvCxnSpPr>
          <p:spPr>
            <a:xfrm flipH="1" flipV="1">
              <a:off x="3818971" y="3365955"/>
              <a:ext cx="1174361" cy="5566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4162425" y="3352800"/>
              <a:ext cx="8113" cy="1315470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524000" y="-6608"/>
            <a:ext cx="8229600" cy="1143000"/>
          </a:xfrm>
        </p:spPr>
        <p:txBody>
          <a:bodyPr>
            <a:noAutofit/>
          </a:bodyPr>
          <a:lstStyle/>
          <a:p>
            <a:r>
              <a:rPr lang="en-GB" b="1" dirty="0">
                <a:latin typeface="+mn-lt"/>
              </a:rPr>
              <a:t>Area of a trapezium - practice</a:t>
            </a:r>
          </a:p>
        </p:txBody>
      </p:sp>
    </p:spTree>
    <p:extLst>
      <p:ext uri="{BB962C8B-B14F-4D97-AF65-F5344CB8AC3E}">
        <p14:creationId xmlns:p14="http://schemas.microsoft.com/office/powerpoint/2010/main" val="3918358489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949"/>
            <a:ext cx="8229600" cy="1143000"/>
          </a:xfrm>
        </p:spPr>
        <p:txBody>
          <a:bodyPr>
            <a:noAutofit/>
          </a:bodyPr>
          <a:lstStyle/>
          <a:p>
            <a:r>
              <a:rPr lang="en-GB" b="1" dirty="0">
                <a:latin typeface="+mn-lt"/>
              </a:rPr>
              <a:t>Area of a trapezium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865024" y="2027920"/>
            <a:ext cx="1760721" cy="914400"/>
            <a:chOff x="612000" y="5368666"/>
            <a:chExt cx="1760721" cy="914400"/>
          </a:xfrm>
        </p:grpSpPr>
        <p:sp>
          <p:nvSpPr>
            <p:cNvPr id="6" name="Trapezoid 5"/>
            <p:cNvSpPr/>
            <p:nvPr/>
          </p:nvSpPr>
          <p:spPr>
            <a:xfrm>
              <a:off x="612000" y="5368666"/>
              <a:ext cx="1760721" cy="908760"/>
            </a:xfrm>
            <a:prstGeom prst="trapezoid">
              <a:avLst>
                <a:gd name="adj" fmla="val 46875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022800" y="5381366"/>
              <a:ext cx="52036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1060900" y="6283066"/>
              <a:ext cx="52036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7428324" y="965501"/>
            <a:ext cx="1760721" cy="1366706"/>
            <a:chOff x="2992300" y="4306760"/>
            <a:chExt cx="1760721" cy="1366706"/>
          </a:xfrm>
        </p:grpSpPr>
        <p:grpSp>
          <p:nvGrpSpPr>
            <p:cNvPr id="42" name="Group 41"/>
            <p:cNvGrpSpPr/>
            <p:nvPr/>
          </p:nvGrpSpPr>
          <p:grpSpPr>
            <a:xfrm>
              <a:off x="2992300" y="4757696"/>
              <a:ext cx="1760721" cy="915770"/>
              <a:chOff x="2992300" y="4757696"/>
              <a:chExt cx="1760721" cy="915770"/>
            </a:xfrm>
          </p:grpSpPr>
          <p:sp>
            <p:nvSpPr>
              <p:cNvPr id="24" name="Trapezoid 23"/>
              <p:cNvSpPr/>
              <p:nvPr/>
            </p:nvSpPr>
            <p:spPr>
              <a:xfrm rot="10800000">
                <a:off x="2992300" y="4757696"/>
                <a:ext cx="1760721" cy="908760"/>
              </a:xfrm>
              <a:custGeom>
                <a:avLst/>
                <a:gdLst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790700 w 2362200"/>
                  <a:gd name="connsiteY2" fmla="*/ 0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193800 w 2362200"/>
                  <a:gd name="connsiteY2" fmla="*/ 12700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193800 w 2362200"/>
                  <a:gd name="connsiteY2" fmla="*/ 5556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2200" h="1219200">
                    <a:moveTo>
                      <a:pt x="0" y="1219200"/>
                    </a:moveTo>
                    <a:lnTo>
                      <a:pt x="571500" y="0"/>
                    </a:lnTo>
                    <a:lnTo>
                      <a:pt x="1193800" y="5556"/>
                    </a:lnTo>
                    <a:lnTo>
                      <a:pt x="23622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 rot="10800000">
                <a:off x="3852660" y="4759066"/>
                <a:ext cx="52036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24" idx="1"/>
              </p:cNvCxnSpPr>
              <p:nvPr/>
            </p:nvCxnSpPr>
            <p:spPr>
              <a:xfrm rot="10800000" flipV="1">
                <a:off x="3992360" y="5666456"/>
                <a:ext cx="334680" cy="701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/>
            <p:cNvSpPr txBox="1"/>
            <p:nvPr/>
          </p:nvSpPr>
          <p:spPr>
            <a:xfrm>
              <a:off x="3833720" y="4306760"/>
              <a:ext cx="6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GB" sz="2400" dirty="0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9033600" y="1946495"/>
            <a:ext cx="1440000" cy="1031518"/>
            <a:chOff x="6012000" y="4497872"/>
            <a:chExt cx="2363318" cy="1442294"/>
          </a:xfrm>
        </p:grpSpPr>
        <p:grpSp>
          <p:nvGrpSpPr>
            <p:cNvPr id="15" name="Group 14"/>
            <p:cNvGrpSpPr/>
            <p:nvPr/>
          </p:nvGrpSpPr>
          <p:grpSpPr>
            <a:xfrm>
              <a:off x="6012000" y="4939079"/>
              <a:ext cx="2363318" cy="1001087"/>
              <a:chOff x="6012000" y="4939079"/>
              <a:chExt cx="2363318" cy="1001087"/>
            </a:xfrm>
          </p:grpSpPr>
          <p:sp>
            <p:nvSpPr>
              <p:cNvPr id="5" name="Trapezoid 4"/>
              <p:cNvSpPr/>
              <p:nvPr/>
            </p:nvSpPr>
            <p:spPr>
              <a:xfrm>
                <a:off x="6012000" y="4939079"/>
                <a:ext cx="2363318" cy="990303"/>
              </a:xfrm>
              <a:custGeom>
                <a:avLst/>
                <a:gdLst>
                  <a:gd name="connsiteX0" fmla="*/ 0 w 2893200"/>
                  <a:gd name="connsiteY0" fmla="*/ 1328600 h 1328600"/>
                  <a:gd name="connsiteX1" fmla="*/ 332150 w 2893200"/>
                  <a:gd name="connsiteY1" fmla="*/ 0 h 1328600"/>
                  <a:gd name="connsiteX2" fmla="*/ 2561050 w 2893200"/>
                  <a:gd name="connsiteY2" fmla="*/ 0 h 1328600"/>
                  <a:gd name="connsiteX3" fmla="*/ 2893200 w 2893200"/>
                  <a:gd name="connsiteY3" fmla="*/ 1328600 h 1328600"/>
                  <a:gd name="connsiteX4" fmla="*/ 0 w 2893200"/>
                  <a:gd name="connsiteY4" fmla="*/ 1328600 h 1328600"/>
                  <a:gd name="connsiteX0" fmla="*/ 0 w 2893200"/>
                  <a:gd name="connsiteY0" fmla="*/ 1328600 h 1328600"/>
                  <a:gd name="connsiteX1" fmla="*/ 1475150 w 2893200"/>
                  <a:gd name="connsiteY1" fmla="*/ 0 h 1328600"/>
                  <a:gd name="connsiteX2" fmla="*/ 2561050 w 2893200"/>
                  <a:gd name="connsiteY2" fmla="*/ 0 h 1328600"/>
                  <a:gd name="connsiteX3" fmla="*/ 2893200 w 2893200"/>
                  <a:gd name="connsiteY3" fmla="*/ 1328600 h 1328600"/>
                  <a:gd name="connsiteX4" fmla="*/ 0 w 2893200"/>
                  <a:gd name="connsiteY4" fmla="*/ 1328600 h 1328600"/>
                  <a:gd name="connsiteX0" fmla="*/ 0 w 3170650"/>
                  <a:gd name="connsiteY0" fmla="*/ 1328600 h 1328600"/>
                  <a:gd name="connsiteX1" fmla="*/ 1475150 w 3170650"/>
                  <a:gd name="connsiteY1" fmla="*/ 0 h 1328600"/>
                  <a:gd name="connsiteX2" fmla="*/ 3170650 w 3170650"/>
                  <a:gd name="connsiteY2" fmla="*/ 0 h 1328600"/>
                  <a:gd name="connsiteX3" fmla="*/ 2893200 w 3170650"/>
                  <a:gd name="connsiteY3" fmla="*/ 1328600 h 1328600"/>
                  <a:gd name="connsiteX4" fmla="*/ 0 w 3170650"/>
                  <a:gd name="connsiteY4" fmla="*/ 1328600 h 13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0650" h="1328600">
                    <a:moveTo>
                      <a:pt x="0" y="1328600"/>
                    </a:moveTo>
                    <a:lnTo>
                      <a:pt x="1475150" y="0"/>
                    </a:lnTo>
                    <a:lnTo>
                      <a:pt x="3170650" y="0"/>
                    </a:lnTo>
                    <a:lnTo>
                      <a:pt x="2893200" y="1328600"/>
                    </a:lnTo>
                    <a:lnTo>
                      <a:pt x="0" y="1328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>
                <a:off x="6915600" y="5940166"/>
                <a:ext cx="52036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>
                <a:off x="7245800" y="4949566"/>
                <a:ext cx="52036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>
            <a:xfrm>
              <a:off x="7526206" y="4497872"/>
              <a:ext cx="107" cy="516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GB" sz="2400" dirty="0"/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2136000" y="1342489"/>
            <a:ext cx="3502800" cy="137164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1" y="3548334"/>
            <a:ext cx="2003067" cy="2296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051" y="3789000"/>
            <a:ext cx="2636333" cy="135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86720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295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Lesson objective</vt:lpstr>
      <vt:lpstr>PowerPoint Presentation</vt:lpstr>
      <vt:lpstr>Circles refresh </vt:lpstr>
      <vt:lpstr>Circles refresh </vt:lpstr>
      <vt:lpstr>PowerPoint Presentation</vt:lpstr>
      <vt:lpstr>Practice activity </vt:lpstr>
      <vt:lpstr>Area of a trapezium</vt:lpstr>
      <vt:lpstr>Area of a trapezium - example</vt:lpstr>
      <vt:lpstr>Area of a trapezium - practice</vt:lpstr>
      <vt:lpstr>Area of a trapezium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9</cp:revision>
  <dcterms:created xsi:type="dcterms:W3CDTF">2022-05-04T12:29:55Z</dcterms:created>
  <dcterms:modified xsi:type="dcterms:W3CDTF">2022-05-05T03:13:21Z</dcterms:modified>
</cp:coreProperties>
</file>
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5" r:id="rId3"/>
    <p:sldId id="257" r:id="rId4"/>
    <p:sldId id="356" r:id="rId5"/>
    <p:sldId id="3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7B32E-6F69-4A64-9F85-37D7E7A50B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C8D94B-F406-4F35-B7A3-ED729CF4E5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5AB258-61F5-46CA-8F92-07773D181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DE49DF-7174-4FEF-9CEB-0320C0E2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E12D8-5D1D-4FDE-99AC-7AF3471AF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79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804EA-47DA-4FB9-BB5C-0C8081901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85387-25E4-42CA-B6ED-13E212F6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F7AE8C-35A2-4913-B430-D6432AFB4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FFA86E-72CF-4E71-BE41-6A82E54CB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4052C4-3792-4632-BF8C-CA0D3D20F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384551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3E982-BF06-4838-8E4B-9817E121EC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13809C-BBD6-4CDC-9BBD-B0465A3958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F3802A-734D-4C60-A941-B2CA5A6FEA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E6D2C-DC45-4B32-B432-2A2FD1F6E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0FA8E-731A-4EF9-973D-E9750E192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56989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B4B32-A5EC-4215-99A8-80B3C97DB4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AF4C0D-36AE-4B59-B67B-564EE0843E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35CB01-DA20-4EA2-B8D6-9FB96C5089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A2B1E-43DB-46CF-832A-ADEEE151A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826595-CF80-46BA-BE1A-11588473E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A3798D-1543-4BB1-AD73-EE5C20AA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6969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DBE2-D152-4707-A067-CC1046DA8D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FF3F0F-E591-4F0C-A00C-B81DE0C38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7FFF62-464B-4F8F-80A5-46762A3D29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12F78E-287A-49B3-9CBF-4A0E5DDD75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DC42EE-BF52-4F32-804A-2AE9F5873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16630-9D4A-40E8-8FC1-9EBA9F7A5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632EE0-B49E-406C-96FF-83066410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8BA1D4-3C57-493F-81F1-4A8EF8E03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3715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873FD-7646-4956-983D-3D191A8A2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6A98A-E5A5-462E-A83B-CC7B31103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796383-4BA5-488E-9BE0-A7369622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F2F522-7941-49FE-BF84-CAF40EF7A0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7828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7C0809-A4FC-458B-846D-436A885DA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E29BC8-2336-4D42-A851-E2E3407FA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3D579-8E7F-402A-BCA1-D943A39A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6850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C5ABF-D280-4702-9A08-3F7CBC7EA4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CFE72-BEF9-4434-913F-42FD7E066B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3DA96C-100B-487F-B098-1D7BC0E20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5D9733-EFF2-443D-A235-9DED651E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1928E-2A3A-4A9B-BE4C-6956D47A0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124D5F-A404-42B0-AC1D-0E37792AB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942843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6BB957-4E0D-4F6E-BDA5-42863A7BF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E1B5D1-8ED9-48E2-B713-CB557E525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ECD4EA-B521-4D82-887F-75C08814A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C4CCB-3E5A-4D65-9AA6-C07E0FAD5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5CE76A-1C9B-4819-A185-0D6C456D3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0756D7-A551-43B4-A693-26344558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4622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EE1C2-7092-42F0-944A-6969CF065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2A1439-162B-44FA-9EE2-F12D9F5679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54E4F-87FA-4D4C-BADA-DDA607197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02978-30A8-4E38-B754-874726F68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4C047A-A021-4BAA-8138-0679300AA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638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A1F332-39CA-4433-9D9F-00AE99511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09B592-1D97-4AA7-A344-CE6C1D4EE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28429E-0419-434C-95CE-D0AD32EAE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09122A-A3C0-4676-8E89-87AF627D6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D587CD-D8AC-4F74-8113-BF65427DD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3023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B001D9-E615-456F-9A4D-CA08D9D92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7BF24-29E8-486D-A9AA-CA61B6D7ED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F7BCD1-E760-4A77-B31C-482E2678D5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56290-8807-4BC9-A7CA-08941BCBF65E}" type="datetimeFigureOut">
              <a:rPr lang="en-AU" smtClean="0"/>
              <a:t>12/06/2022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39F8F-5715-4D38-807D-6773AFF6BA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0D44ED-145D-4437-AF71-D0C663782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BA08B6-D2AB-4B0D-81E3-ADF38579D98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85375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94F433-5E86-4B28-93CA-9E52C682D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6FC203-2D4A-4EFB-852B-4A70A055F1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Probability applications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 Use probability to inform choices </a:t>
            </a: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Review </a:t>
            </a:r>
          </a:p>
          <a:p>
            <a:pPr lvl="1"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Two-way tables and Venn diagrams </a:t>
            </a:r>
          </a:p>
          <a:p>
            <a:pPr>
              <a:buFontTx/>
              <a:buChar char="-"/>
            </a:pPr>
            <a:r>
              <a:rPr lang="en-US" dirty="0">
                <a:solidFill>
                  <a:srgbClr val="00B0F0"/>
                </a:solidFill>
              </a:rPr>
              <a:t>Using probability </a:t>
            </a:r>
            <a:r>
              <a:rPr lang="en-US" dirty="0"/>
              <a:t>(Game?)</a:t>
            </a:r>
            <a:endParaRPr lang="en-A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4151C-A680-42EF-9331-2707D86AB398}"/>
              </a:ext>
            </a:extLst>
          </p:cNvPr>
          <p:cNvSpPr txBox="1"/>
          <p:nvPr/>
        </p:nvSpPr>
        <p:spPr>
          <a:xfrm>
            <a:off x="8309499" y="1278384"/>
            <a:ext cx="25390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 and whiteboards. 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61611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613A7-DF20-46A2-98A3-148ED2E87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BF9BE6-9BFA-431C-923F-3F57E4A80F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87" y="1690688"/>
            <a:ext cx="6563574" cy="310067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6007144-1B2B-4F37-B6DA-D9BAB55C8B25}"/>
              </a:ext>
            </a:extLst>
          </p:cNvPr>
          <p:cNvSpPr txBox="1"/>
          <p:nvPr/>
        </p:nvSpPr>
        <p:spPr>
          <a:xfrm>
            <a:off x="6915705" y="1837678"/>
            <a:ext cx="500700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Girls and boys from a school were surveyed.</a:t>
            </a:r>
          </a:p>
          <a:p>
            <a:endParaRPr lang="en-US" sz="2800" dirty="0"/>
          </a:p>
          <a:p>
            <a:pPr marL="514350" indent="-514350">
              <a:buAutoNum type="alphaLcParenR"/>
            </a:pPr>
            <a:r>
              <a:rPr lang="en-US" sz="2800" dirty="0"/>
              <a:t>How many in total? </a:t>
            </a:r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Selecting students at random</a:t>
            </a:r>
          </a:p>
          <a:p>
            <a:endParaRPr lang="en-AU" sz="2800" dirty="0"/>
          </a:p>
          <a:p>
            <a:r>
              <a:rPr lang="en-AU" sz="2800" dirty="0"/>
              <a:t>b) P(year 9)</a:t>
            </a:r>
          </a:p>
          <a:p>
            <a:r>
              <a:rPr lang="en-AU" sz="2800" dirty="0"/>
              <a:t>c) P(Year 8 and girl) </a:t>
            </a:r>
          </a:p>
          <a:p>
            <a:r>
              <a:rPr lang="en-AU" sz="2800" dirty="0"/>
              <a:t>d) P(year 9 or 8)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90897B5-63D0-4306-91A5-D252BEE4308A}"/>
              </a:ext>
            </a:extLst>
          </p:cNvPr>
          <p:cNvSpPr/>
          <p:nvPr/>
        </p:nvSpPr>
        <p:spPr>
          <a:xfrm>
            <a:off x="4429957" y="3790765"/>
            <a:ext cx="488272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80CB46-4AE1-4721-9801-B5384628090B}"/>
              </a:ext>
            </a:extLst>
          </p:cNvPr>
          <p:cNvSpPr/>
          <p:nvPr/>
        </p:nvSpPr>
        <p:spPr>
          <a:xfrm>
            <a:off x="3233838" y="3135297"/>
            <a:ext cx="488272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405F99B-A258-457B-B32D-3CD1D9AC7F18}"/>
              </a:ext>
            </a:extLst>
          </p:cNvPr>
          <p:cNvSpPr/>
          <p:nvPr/>
        </p:nvSpPr>
        <p:spPr>
          <a:xfrm>
            <a:off x="1919056" y="3117542"/>
            <a:ext cx="488272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11A3291-CDBA-4695-90B9-233A0D0A44C5}"/>
              </a:ext>
            </a:extLst>
          </p:cNvPr>
          <p:cNvSpPr/>
          <p:nvPr/>
        </p:nvSpPr>
        <p:spPr>
          <a:xfrm>
            <a:off x="4429957" y="2358986"/>
            <a:ext cx="488272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4AFC4A-29F8-4833-A5EE-FB96A346F60C}"/>
              </a:ext>
            </a:extLst>
          </p:cNvPr>
          <p:cNvSpPr/>
          <p:nvPr/>
        </p:nvSpPr>
        <p:spPr>
          <a:xfrm>
            <a:off x="5700943" y="2358986"/>
            <a:ext cx="488272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885EA6-A9CA-4C7E-A96B-2C02F54AC21E}"/>
              </a:ext>
            </a:extLst>
          </p:cNvPr>
          <p:cNvSpPr/>
          <p:nvPr/>
        </p:nvSpPr>
        <p:spPr>
          <a:xfrm>
            <a:off x="5667944" y="3126420"/>
            <a:ext cx="488272" cy="38174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52665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A5875-0D2F-44F9-BE88-FC522C090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423734" cy="1325563"/>
          </a:xfrm>
        </p:spPr>
        <p:txBody>
          <a:bodyPr/>
          <a:lstStyle/>
          <a:p>
            <a:pPr algn="ctr"/>
            <a:r>
              <a:rPr lang="en-US" dirty="0"/>
              <a:t>Review: whiteboards </a:t>
            </a:r>
            <a:endParaRPr lang="en-AU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AB28853-0472-42E4-BB4E-D6AD2BF9BD37}"/>
              </a:ext>
            </a:extLst>
          </p:cNvPr>
          <p:cNvSpPr/>
          <p:nvPr/>
        </p:nvSpPr>
        <p:spPr>
          <a:xfrm>
            <a:off x="494897" y="2627105"/>
            <a:ext cx="3531654" cy="330819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EB571E-577F-4BF5-AB08-70311F2A80FD}"/>
              </a:ext>
            </a:extLst>
          </p:cNvPr>
          <p:cNvSpPr/>
          <p:nvPr/>
        </p:nvSpPr>
        <p:spPr>
          <a:xfrm>
            <a:off x="3079854" y="2627105"/>
            <a:ext cx="3531654" cy="3308193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67800C-FCEF-4F1D-A77C-3836E01D46B9}"/>
              </a:ext>
            </a:extLst>
          </p:cNvPr>
          <p:cNvSpPr/>
          <p:nvPr/>
        </p:nvSpPr>
        <p:spPr>
          <a:xfrm>
            <a:off x="159798" y="2321404"/>
            <a:ext cx="7733507" cy="3919597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42BFA6-1378-4A6B-8D52-9BC8FB61E09F}"/>
              </a:ext>
            </a:extLst>
          </p:cNvPr>
          <p:cNvSpPr txBox="1"/>
          <p:nvPr/>
        </p:nvSpPr>
        <p:spPr>
          <a:xfrm>
            <a:off x="1858274" y="2776901"/>
            <a:ext cx="8049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C</a:t>
            </a:r>
            <a:r>
              <a:rPr lang="en-AU" sz="2800" dirty="0"/>
              <a:t>ats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8445DB-5208-450E-91C7-BA9AA266EC0A}"/>
              </a:ext>
            </a:extLst>
          </p:cNvPr>
          <p:cNvSpPr txBox="1"/>
          <p:nvPr/>
        </p:nvSpPr>
        <p:spPr>
          <a:xfrm>
            <a:off x="4485513" y="2776901"/>
            <a:ext cx="9044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D</a:t>
            </a:r>
            <a:r>
              <a:rPr lang="en-AU" sz="2800" dirty="0" err="1"/>
              <a:t>ogs</a:t>
            </a:r>
            <a:endParaRPr lang="en-AU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38DC2A-FAE3-436B-8FC4-C007B4AC98DF}"/>
              </a:ext>
            </a:extLst>
          </p:cNvPr>
          <p:cNvSpPr txBox="1"/>
          <p:nvPr/>
        </p:nvSpPr>
        <p:spPr>
          <a:xfrm>
            <a:off x="1782106" y="4094489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AU" sz="2800" dirty="0"/>
              <a:t>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B8B394-CF8E-4B6C-84C1-96687B7310AD}"/>
              </a:ext>
            </a:extLst>
          </p:cNvPr>
          <p:cNvSpPr txBox="1"/>
          <p:nvPr/>
        </p:nvSpPr>
        <p:spPr>
          <a:xfrm>
            <a:off x="3277524" y="4071430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AU" sz="2800" dirty="0"/>
              <a:t>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8FCF26-8120-4F51-8CEF-73784E2F5C79}"/>
              </a:ext>
            </a:extLst>
          </p:cNvPr>
          <p:cNvSpPr txBox="1"/>
          <p:nvPr/>
        </p:nvSpPr>
        <p:spPr>
          <a:xfrm>
            <a:off x="4927203" y="4068316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4</a:t>
            </a:r>
            <a:r>
              <a:rPr lang="en-AU" sz="2800" dirty="0"/>
              <a:t>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4EE40D-8360-44F5-8AE5-D245C7BA678D}"/>
              </a:ext>
            </a:extLst>
          </p:cNvPr>
          <p:cNvSpPr txBox="1"/>
          <p:nvPr/>
        </p:nvSpPr>
        <p:spPr>
          <a:xfrm>
            <a:off x="6567379" y="5428117"/>
            <a:ext cx="550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  <a:r>
              <a:rPr lang="en-AU" sz="2800" dirty="0"/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FD3F69-3EA7-4FAA-9722-10652D57D3F0}"/>
              </a:ext>
            </a:extLst>
          </p:cNvPr>
          <p:cNvSpPr txBox="1"/>
          <p:nvPr/>
        </p:nvSpPr>
        <p:spPr>
          <a:xfrm>
            <a:off x="905478" y="1754091"/>
            <a:ext cx="1388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U = 100 </a:t>
            </a:r>
            <a:endParaRPr lang="en-AU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CCD9B02-F218-4813-A24A-6F4AC10BA382}"/>
              </a:ext>
            </a:extLst>
          </p:cNvPr>
          <p:cNvSpPr txBox="1"/>
          <p:nvPr/>
        </p:nvSpPr>
        <p:spPr>
          <a:xfrm>
            <a:off x="8018182" y="1408909"/>
            <a:ext cx="386675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100 people were surveyed about their pets. </a:t>
            </a:r>
          </a:p>
          <a:p>
            <a:r>
              <a:rPr lang="en-US" sz="2800" b="1" dirty="0"/>
              <a:t>45 owned cats </a:t>
            </a:r>
          </a:p>
          <a:p>
            <a:r>
              <a:rPr lang="en-US" sz="2800" b="1" dirty="0"/>
              <a:t>65 owned dogs</a:t>
            </a:r>
          </a:p>
          <a:p>
            <a:r>
              <a:rPr lang="en-US" sz="2800" b="1" dirty="0"/>
              <a:t>25 people owned both</a:t>
            </a:r>
          </a:p>
          <a:p>
            <a:endParaRPr lang="en-US" sz="2800" b="1" dirty="0"/>
          </a:p>
          <a:p>
            <a:r>
              <a:rPr lang="en-US" sz="2800" b="1" dirty="0"/>
              <a:t>P(owned a cat) </a:t>
            </a:r>
          </a:p>
          <a:p>
            <a:r>
              <a:rPr lang="en-US" sz="2800" b="1" dirty="0"/>
              <a:t>P(dog OR cat) </a:t>
            </a:r>
          </a:p>
          <a:p>
            <a:r>
              <a:rPr lang="en-US" sz="2800" b="1" dirty="0"/>
              <a:t>P(dog AND cat) </a:t>
            </a:r>
          </a:p>
          <a:p>
            <a:r>
              <a:rPr lang="en-US" sz="2800" b="1" dirty="0"/>
              <a:t>P(didn’t own a cat)  </a:t>
            </a:r>
            <a:endParaRPr lang="en-AU" sz="2800" b="1" dirty="0"/>
          </a:p>
        </p:txBody>
      </p:sp>
    </p:spTree>
    <p:extLst>
      <p:ext uri="{BB962C8B-B14F-4D97-AF65-F5344CB8AC3E}">
        <p14:creationId xmlns:p14="http://schemas.microsoft.com/office/powerpoint/2010/main" val="603952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B8130-7D86-4937-A8AE-3CB8E7764F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E0D35-9BEB-4041-AD4F-9A841801C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Page 374 – Questions 2 – 4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Page 381 – Questions 1 and 2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58203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66743-124D-44A0-A325-97DC9A4F18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/>
              <a:t>Crayfish game </a:t>
            </a:r>
            <a:endParaRPr lang="en-AU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7CCCDB77-2F03-4C69-862F-0A05D47AA8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1491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155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Wingdings</vt:lpstr>
      <vt:lpstr>Office Theme</vt:lpstr>
      <vt:lpstr>Lesson objective </vt:lpstr>
      <vt:lpstr>Whiteboards </vt:lpstr>
      <vt:lpstr>Review: whiteboards </vt:lpstr>
      <vt:lpstr>Individual practice </vt:lpstr>
      <vt:lpstr>Crayfish game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</cp:revision>
  <dcterms:created xsi:type="dcterms:W3CDTF">2022-06-12T13:38:37Z</dcterms:created>
  <dcterms:modified xsi:type="dcterms:W3CDTF">2022-06-12T13:46:58Z</dcterms:modified>
</cp:coreProperties>
</file>
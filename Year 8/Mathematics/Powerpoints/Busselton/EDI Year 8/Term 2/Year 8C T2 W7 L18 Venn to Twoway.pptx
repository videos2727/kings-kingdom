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313" r:id="rId3"/>
    <p:sldId id="314" r:id="rId4"/>
    <p:sldId id="315" r:id="rId5"/>
    <p:sldId id="316" r:id="rId6"/>
    <p:sldId id="318" r:id="rId7"/>
    <p:sldId id="353" r:id="rId8"/>
    <p:sldId id="317" r:id="rId9"/>
    <p:sldId id="319" r:id="rId10"/>
    <p:sldId id="333" r:id="rId11"/>
    <p:sldId id="334" r:id="rId12"/>
    <p:sldId id="331" r:id="rId13"/>
    <p:sldId id="332" r:id="rId14"/>
    <p:sldId id="320" r:id="rId15"/>
    <p:sldId id="354" r:id="rId16"/>
    <p:sldId id="355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6" d="100"/>
          <a:sy n="86" d="100"/>
        </p:scale>
        <p:origin x="562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B65120-4CC0-40EC-8562-392BC324208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8E038AA-947F-4491-9C36-143DF7FD924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8928B6-1432-4CAE-841F-FD9564BA40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31AAF3-3DA9-4D80-A73B-D88711740A23}" type="datetimeFigureOut">
              <a:rPr lang="en-AU" smtClean="0"/>
              <a:t>14/06/2022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7376B8-C196-4219-AF5F-28E85E025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EDE73B-D51B-4F2A-A153-F897D43A89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E93BC9-3ECE-40F8-AA05-9337BDA4B10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445946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C45782-99E6-4B71-A62F-ADA278A0AA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E14C3C-4E8F-4FF6-A6A8-00C9E52487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DB2C43-4406-47A9-BEDD-45B388862A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31AAF3-3DA9-4D80-A73B-D88711740A23}" type="datetimeFigureOut">
              <a:rPr lang="en-AU" smtClean="0"/>
              <a:t>14/06/2022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3B36C9-F3FB-40A7-A936-16BBC1945F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1378AD-5E57-4368-BB1D-DE348DD14E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E93BC9-3ECE-40F8-AA05-9337BDA4B10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621964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754491-B2C9-48D4-BABD-C6D50EFD2A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0504F82-4CBF-48F9-8E51-2B56225878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0F2DD1-4B39-422C-8329-52B6E50E99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31AAF3-3DA9-4D80-A73B-D88711740A23}" type="datetimeFigureOut">
              <a:rPr lang="en-AU" smtClean="0"/>
              <a:t>14/06/2022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B2AC44-ADD3-4D3C-96F5-676825D5A9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030236-3A2A-4316-B748-CE258F2719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E93BC9-3ECE-40F8-AA05-9337BDA4B10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281194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C00D93-8774-4FA2-8856-116261E47A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9F4111-8CFA-4488-8DB7-9F46066F404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F1DA446-14BA-4798-BDF1-A3E62EA302D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ADF3A14-E435-425E-BE95-B3E2F9BE14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31AAF3-3DA9-4D80-A73B-D88711740A23}" type="datetimeFigureOut">
              <a:rPr lang="en-AU" smtClean="0"/>
              <a:t>14/06/2022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0223C25-F850-4706-BE42-0EDEA98A71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9F71CF-5F3C-4547-AB64-9ED7A0054B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E93BC9-3ECE-40F8-AA05-9337BDA4B10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412302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AA9A82-2D12-410E-8DB3-67CF9F4692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7931F30-E3CE-4842-BBCE-41CD38F98A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6315FD2-07BF-4E55-A82E-9A3DC70E7ED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A8373E5-3BC1-4734-94E3-E35B71890AE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68F0361-2BC3-4E7B-9E60-8223A1118C9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914D3D3-BC09-48B2-A67A-9AB65B1C26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31AAF3-3DA9-4D80-A73B-D88711740A23}" type="datetimeFigureOut">
              <a:rPr lang="en-AU" smtClean="0"/>
              <a:t>14/06/2022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9ECA8AC-2205-4A46-AE94-B7AB698216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526E19C-380E-4491-87FC-7CC0138AA9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E93BC9-3ECE-40F8-AA05-9337BDA4B10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009646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83B037-A3A2-4830-8934-90D9C17498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F8FEA21-FAC4-439A-8A74-7C0136D553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31AAF3-3DA9-4D80-A73B-D88711740A23}" type="datetimeFigureOut">
              <a:rPr lang="en-AU" smtClean="0"/>
              <a:t>14/06/2022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14D53C-A9C9-4376-992D-C1D56DE72E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A70A876-B2AA-4B50-9D2C-6CFB0B84C9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E93BC9-3ECE-40F8-AA05-9337BDA4B10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92030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EDABF53-99F9-48FE-87A3-9A4551DC7B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31AAF3-3DA9-4D80-A73B-D88711740A23}" type="datetimeFigureOut">
              <a:rPr lang="en-AU" smtClean="0"/>
              <a:t>14/06/2022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8919CA0-550C-4D00-9AF0-3D3A9A5A32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25E823-2CCF-4945-AB51-0D44046416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E93BC9-3ECE-40F8-AA05-9337BDA4B10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148429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F747BF-CBC7-446D-AAD6-14894EB140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890F3C-F3C8-48E4-AAC6-761A1F22EE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0591ABE-B47A-42AA-89E9-401EBBE901D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279F51C-FD8C-400D-B3B9-699CACCF7F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31AAF3-3DA9-4D80-A73B-D88711740A23}" type="datetimeFigureOut">
              <a:rPr lang="en-AU" smtClean="0"/>
              <a:t>14/06/2022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93578E5-B0D1-4F87-80AD-7D0C0E3489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8DA774D-DDC0-4BEE-8F08-6A6B32E490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E93BC9-3ECE-40F8-AA05-9337BDA4B10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546080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BC2BE0-3238-489F-8003-BB84AF1FD9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F5E6D53-326D-4C90-B02E-E7B5A0F9C1F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1899A95-247D-4B3B-BA84-5F17A2DBA5D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E07A9AC-82F9-47D1-90DA-09760AFDC2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31AAF3-3DA9-4D80-A73B-D88711740A23}" type="datetimeFigureOut">
              <a:rPr lang="en-AU" smtClean="0"/>
              <a:t>14/06/2022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716FEF1-2A8C-4070-9079-B0E8AF1A21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D648C1-8A79-48D6-B76F-BA53A51EF8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E93BC9-3ECE-40F8-AA05-9337BDA4B10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967498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A6C8C1-AB71-45CC-A926-F71030C0DC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DA5F7BA-9868-4340-982F-E4CE9AD91FB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9E258C-FE53-43B7-A873-07B8C3C2BF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31AAF3-3DA9-4D80-A73B-D88711740A23}" type="datetimeFigureOut">
              <a:rPr lang="en-AU" smtClean="0"/>
              <a:t>14/06/2022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9BBFFB-69EE-465C-AFE3-A113AFC212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3C8A9D-289B-4F22-9629-73F303E8CC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E93BC9-3ECE-40F8-AA05-9337BDA4B10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731686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B768A53-3FD6-41F7-B025-F878F0D290C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376951-F362-4411-B457-A81961D7BC7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B59B79-CE56-41C1-A822-2162595111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31AAF3-3DA9-4D80-A73B-D88711740A23}" type="datetimeFigureOut">
              <a:rPr lang="en-AU" smtClean="0"/>
              <a:t>14/06/2022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D1260C-4F52-497A-9510-92297EAD3D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EBF0AA-8067-4D36-874A-B6E87F4F7A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E93BC9-3ECE-40F8-AA05-9337BDA4B10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3860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0B242B2-1A33-4014-A532-90D96D5737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EFBD375-1E0C-4910-8F7B-7EB3A58E7C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E1DF5A-5D90-40BE-9AF7-C3B25AEA48A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231AAF3-3DA9-4D80-A73B-D88711740A23}" type="datetimeFigureOut">
              <a:rPr lang="en-AU" smtClean="0"/>
              <a:t>14/06/2022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E4DC32-EC9B-4C36-8D93-EAFE320660A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4D48D5-634D-4EE0-8580-F02F2CD901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1E93BC9-3ECE-40F8-AA05-9337BDA4B10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741274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6E4178A-AACD-4840-BD25-6C68FAAA9A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Lesson objective </a:t>
            </a:r>
            <a:endParaRPr lang="en-AU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841DB4B5-0FE9-4146-8079-0F4E419EA6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6725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Title: </a:t>
            </a:r>
            <a:r>
              <a:rPr lang="en-US" sz="3200" b="1" dirty="0">
                <a:solidFill>
                  <a:srgbClr val="00B0F0"/>
                </a:solidFill>
              </a:rPr>
              <a:t>Transferring data </a:t>
            </a:r>
          </a:p>
          <a:p>
            <a:pPr marL="0" indent="0">
              <a:buNone/>
            </a:pPr>
            <a:endParaRPr lang="en-US" sz="3200" b="1" dirty="0">
              <a:solidFill>
                <a:srgbClr val="00B0F0"/>
              </a:solidFill>
            </a:endParaRPr>
          </a:p>
          <a:p>
            <a:pPr marL="0" indent="0">
              <a:buNone/>
            </a:pPr>
            <a:r>
              <a:rPr lang="en-US" sz="3200" b="1" dirty="0">
                <a:solidFill>
                  <a:srgbClr val="00B0F0"/>
                </a:solidFill>
              </a:rPr>
              <a:t>Aim: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3200" b="1">
                <a:solidFill>
                  <a:srgbClr val="00B0F0"/>
                </a:solidFill>
              </a:rPr>
              <a:t> Transfer </a:t>
            </a:r>
            <a:r>
              <a:rPr lang="en-US" sz="3200" b="1" dirty="0">
                <a:solidFill>
                  <a:srgbClr val="00B0F0"/>
                </a:solidFill>
              </a:rPr>
              <a:t>data between two-way tables and Venn diagrams </a:t>
            </a:r>
          </a:p>
          <a:p>
            <a:pPr marL="0" indent="0">
              <a:buNone/>
            </a:pPr>
            <a:r>
              <a:rPr lang="en-US" sz="3200" b="1" dirty="0">
                <a:solidFill>
                  <a:srgbClr val="00B0F0"/>
                </a:solidFill>
              </a:rPr>
              <a:t>Plan: </a:t>
            </a:r>
          </a:p>
          <a:p>
            <a:pPr>
              <a:buFontTx/>
              <a:buChar char="-"/>
            </a:pPr>
            <a:r>
              <a:rPr lang="en-US" sz="3200" b="1" dirty="0">
                <a:solidFill>
                  <a:srgbClr val="00B0F0"/>
                </a:solidFill>
              </a:rPr>
              <a:t>Review basic probability </a:t>
            </a:r>
          </a:p>
          <a:p>
            <a:pPr>
              <a:buFontTx/>
              <a:buChar char="-"/>
            </a:pPr>
            <a:r>
              <a:rPr lang="en-US" sz="3200" b="1" dirty="0">
                <a:solidFill>
                  <a:srgbClr val="00B0F0"/>
                </a:solidFill>
              </a:rPr>
              <a:t>Probability from diagrams </a:t>
            </a:r>
          </a:p>
          <a:p>
            <a:pPr>
              <a:buFontTx/>
              <a:buChar char="-"/>
            </a:pPr>
            <a:r>
              <a:rPr lang="en-US" sz="3200" b="1" dirty="0">
                <a:solidFill>
                  <a:srgbClr val="00B0F0"/>
                </a:solidFill>
              </a:rPr>
              <a:t>Converting Venn into two-way tables </a:t>
            </a:r>
            <a:endParaRPr lang="en-AU" sz="3200" b="1" dirty="0">
              <a:solidFill>
                <a:srgbClr val="00B0F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DADA618-1FE2-4C8E-9528-88A66C8787E1}"/>
              </a:ext>
            </a:extLst>
          </p:cNvPr>
          <p:cNvSpPr txBox="1"/>
          <p:nvPr/>
        </p:nvSpPr>
        <p:spPr>
          <a:xfrm>
            <a:off x="8318377" y="958788"/>
            <a:ext cx="269881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highlight>
                  <a:srgbClr val="FFFF00"/>
                </a:highlight>
              </a:rPr>
              <a:t>Need whiteboards and calculators. </a:t>
            </a:r>
            <a:endParaRPr lang="en-AU" sz="2400" b="1" dirty="0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41495821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5CE840-6A4E-4CA4-A485-99B6C0BDA7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Sample space 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DDD7FC-5247-4D21-B8BC-A5FAEE42CE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3600" b="1" dirty="0">
                <a:solidFill>
                  <a:srgbClr val="00B0F0"/>
                </a:solidFill>
              </a:rPr>
              <a:t>Sample space:</a:t>
            </a:r>
          </a:p>
          <a:p>
            <a:pPr>
              <a:buFontTx/>
              <a:buChar char="-"/>
            </a:pPr>
            <a:r>
              <a:rPr lang="en-US" sz="3600" b="1" dirty="0">
                <a:solidFill>
                  <a:srgbClr val="00B0F0"/>
                </a:solidFill>
              </a:rPr>
              <a:t>A LIST of ALL possible outcomes. </a:t>
            </a:r>
          </a:p>
          <a:p>
            <a:pPr>
              <a:buFontTx/>
              <a:buChar char="-"/>
            </a:pPr>
            <a:endParaRPr lang="en-US" sz="3600" b="1" dirty="0">
              <a:solidFill>
                <a:srgbClr val="FF0000"/>
              </a:solidFill>
            </a:endParaRPr>
          </a:p>
          <a:p>
            <a:pPr marL="742950" indent="-742950">
              <a:buAutoNum type="alphaLcParenR"/>
            </a:pPr>
            <a:r>
              <a:rPr lang="en-US" sz="3600" b="1" dirty="0"/>
              <a:t>Flipping a coin </a:t>
            </a:r>
          </a:p>
          <a:p>
            <a:pPr marL="742950" indent="-742950">
              <a:buAutoNum type="alphaLcParenR"/>
            </a:pPr>
            <a:r>
              <a:rPr lang="en-US" sz="3600" b="1" dirty="0"/>
              <a:t>Rolling a normal die </a:t>
            </a:r>
          </a:p>
          <a:p>
            <a:pPr marL="742950" indent="-742950">
              <a:buAutoNum type="alphaLcParenR"/>
            </a:pPr>
            <a:r>
              <a:rPr lang="en-US" sz="3600" b="1" dirty="0"/>
              <a:t>Days of the week</a:t>
            </a:r>
          </a:p>
        </p:txBody>
      </p:sp>
    </p:spTree>
    <p:extLst>
      <p:ext uri="{BB962C8B-B14F-4D97-AF65-F5344CB8AC3E}">
        <p14:creationId xmlns:p14="http://schemas.microsoft.com/office/powerpoint/2010/main" val="20075250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7EAA27-9382-4280-8ACD-1C804837CF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Probability 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38076F3-D966-4F83-B882-84D4DABABC9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19100" y="1816747"/>
                <a:ext cx="11353800" cy="4351338"/>
              </a:xfrm>
            </p:spPr>
            <p:txBody>
              <a:bodyPr/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1" i="1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𝑷</m:t>
                      </m:r>
                      <m:d>
                        <m:dPr>
                          <m:ctrlPr>
                            <a:rPr lang="en-US" sz="2800" b="1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1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𝒆𝒗𝒆𝒏𝒕</m:t>
                          </m:r>
                        </m:e>
                      </m:d>
                      <m:r>
                        <a:rPr lang="en-US" sz="2800" b="1" i="1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800" b="1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b="1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# </m:t>
                          </m:r>
                          <m:r>
                            <a:rPr lang="en-US" sz="2800" b="1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𝒐𝒇</m:t>
                          </m:r>
                          <m:r>
                            <a:rPr lang="en-US" sz="2800" b="1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800" b="1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𝒇𝒂𝒗𝒐𝒖𝒓𝒂𝒃𝒍𝒆</m:t>
                          </m:r>
                          <m:r>
                            <a:rPr lang="en-US" sz="2800" b="1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800" b="1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𝒐𝒖𝒕𝒄𝒐𝒎𝒆𝒔</m:t>
                          </m:r>
                          <m:r>
                            <a:rPr lang="en-US" sz="2800" b="1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 (</m:t>
                          </m:r>
                          <m:r>
                            <a:rPr lang="en-US" sz="2800" b="1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𝒘𝒉𝒂𝒕</m:t>
                          </m:r>
                          <m:r>
                            <a:rPr lang="en-US" sz="2800" b="1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800" b="1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𝒘𝒆</m:t>
                          </m:r>
                          <m:r>
                            <a:rPr lang="en-US" sz="2800" b="1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800" b="1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𝒘𝒂𝒏𝒕</m:t>
                          </m:r>
                          <m:r>
                            <a:rPr lang="en-US" sz="2800" b="1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sz="2800" b="1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𝑻𝒐𝒕𝒂𝒍</m:t>
                          </m:r>
                          <m:r>
                            <a:rPr lang="en-US" sz="2800" b="1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 # </m:t>
                          </m:r>
                          <m:r>
                            <a:rPr lang="en-US" sz="2800" b="1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𝒐𝒇</m:t>
                          </m:r>
                          <m:r>
                            <a:rPr lang="en-US" sz="2800" b="1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800" b="1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𝒐𝒖𝒕𝒄𝒐𝒎𝒆𝒔</m:t>
                          </m:r>
                          <m:r>
                            <a:rPr lang="en-US" sz="2800" b="1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 (</m:t>
                          </m:r>
                          <m:r>
                            <a:rPr lang="en-US" sz="2800" b="1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𝒆𝒗𝒆𝒓𝒕𝒉𝒊𝒏𝒈</m:t>
                          </m:r>
                          <m:r>
                            <a:rPr lang="en-US" sz="2800" b="1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800" b="1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𝒕𝒉𝒂𝒕</m:t>
                          </m:r>
                          <m:r>
                            <a:rPr lang="en-US" sz="2800" b="1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800" b="1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𝒄𝒂𝒏</m:t>
                          </m:r>
                          <m:r>
                            <a:rPr lang="en-US" sz="2800" b="1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800" b="1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𝒉𝒂𝒑𝒑𝒆𝒏</m:t>
                          </m:r>
                          <m:r>
                            <a:rPr lang="en-US" sz="2800" b="1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</m:oMath>
                  </m:oMathPara>
                </a14:m>
                <a:endParaRPr lang="en-US" sz="2800" b="1" dirty="0">
                  <a:solidFill>
                    <a:srgbClr val="00B0F0"/>
                  </a:solidFill>
                </a:endParaRPr>
              </a:p>
              <a:p>
                <a:pPr marL="0" indent="0">
                  <a:buNone/>
                </a:pPr>
                <a:endParaRPr lang="en-AU" dirty="0"/>
              </a:p>
              <a:p>
                <a:pPr marL="514350" indent="-514350">
                  <a:buAutoNum type="arabicPeriod"/>
                </a:pPr>
                <a:r>
                  <a:rPr lang="en-AU" dirty="0"/>
                  <a:t>A bag contains 5 red marbles, 6 blue marbles and 9 yellow marbles.</a:t>
                </a:r>
              </a:p>
              <a:p>
                <a:pPr>
                  <a:buFontTx/>
                  <a:buChar char="-"/>
                </a:pPr>
                <a:r>
                  <a:rPr lang="en-AU" dirty="0"/>
                  <a:t>What is the probability of pulling out a red? </a:t>
                </a:r>
              </a:p>
              <a:p>
                <a:pPr>
                  <a:buFontTx/>
                  <a:buChar char="-"/>
                </a:pPr>
                <a:r>
                  <a:rPr lang="en-AU" dirty="0"/>
                  <a:t>P(blue)?</a:t>
                </a:r>
              </a:p>
              <a:p>
                <a:pPr>
                  <a:buFontTx/>
                  <a:buChar char="-"/>
                </a:pPr>
                <a:r>
                  <a:rPr lang="en-AU" dirty="0"/>
                  <a:t>P(not blue)? 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38076F3-D966-4F83-B882-84D4DABABC9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19100" y="1816747"/>
                <a:ext cx="11353800" cy="4351338"/>
              </a:xfrm>
              <a:blipFill>
                <a:blip r:embed="rId2"/>
                <a:stretch>
                  <a:fillRect l="-1128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511561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6157CF-6997-470E-B1EB-81A32DB697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Basic probability 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0F3261-43F8-4C35-BC0B-39CBBF5204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Each letter from the word CHANCE in written on a card and shuffled.</a:t>
            </a:r>
          </a:p>
          <a:p>
            <a:pPr marL="0" indent="0">
              <a:buNone/>
            </a:pPr>
            <a:r>
              <a:rPr lang="en-AU" dirty="0"/>
              <a:t>If we draw one out at random….</a:t>
            </a:r>
          </a:p>
          <a:p>
            <a:pPr marL="0" indent="0">
              <a:buNone/>
            </a:pPr>
            <a:endParaRPr lang="en-AU" dirty="0"/>
          </a:p>
          <a:p>
            <a:pPr marL="514350" indent="-514350">
              <a:buAutoNum type="alphaLcParenR"/>
            </a:pPr>
            <a:r>
              <a:rPr lang="en-AU" dirty="0"/>
              <a:t>What is the sample space? How many outcomes? </a:t>
            </a:r>
          </a:p>
          <a:p>
            <a:pPr marL="514350" indent="-514350">
              <a:buAutoNum type="alphaLcParenR"/>
            </a:pPr>
            <a:r>
              <a:rPr lang="en-AU" dirty="0"/>
              <a:t>Probability of getting the letter C? </a:t>
            </a:r>
          </a:p>
          <a:p>
            <a:pPr marL="514350" indent="-514350">
              <a:buAutoNum type="alphaLcParenR"/>
            </a:pPr>
            <a:r>
              <a:rPr lang="en-AU" dirty="0"/>
              <a:t>P(H)?</a:t>
            </a:r>
          </a:p>
          <a:p>
            <a:pPr marL="514350" indent="-514350">
              <a:buAutoNum type="alphaLcParenR"/>
            </a:pPr>
            <a:r>
              <a:rPr lang="en-AU" dirty="0"/>
              <a:t>P(vowel)?</a:t>
            </a:r>
          </a:p>
          <a:p>
            <a:pPr marL="514350" indent="-514350">
              <a:buAutoNum type="alphaLcParenR"/>
            </a:pPr>
            <a:r>
              <a:rPr lang="en-AU" dirty="0"/>
              <a:t>P(not a vowel)?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31155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55237C-A1F6-447B-94CF-0E5C5000EA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Whiteboards 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42B72E-E1B1-4ACC-9586-6AF3BD57F4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sz="3600" dirty="0"/>
              <a:t>In a bag there are 2 red marbles, 3 green and 1 yellow. </a:t>
            </a:r>
          </a:p>
          <a:p>
            <a:pPr marL="0" indent="0">
              <a:buNone/>
            </a:pPr>
            <a:r>
              <a:rPr lang="en-AU" sz="3600" dirty="0"/>
              <a:t>If we pick one at random, what is the:</a:t>
            </a:r>
          </a:p>
          <a:p>
            <a:pPr marL="0" indent="0">
              <a:buNone/>
            </a:pPr>
            <a:endParaRPr lang="en-AU" sz="3600" dirty="0"/>
          </a:p>
          <a:p>
            <a:pPr marL="742950" indent="-742950">
              <a:buAutoNum type="alphaLcParenR"/>
            </a:pPr>
            <a:r>
              <a:rPr lang="en-AU" sz="3600" dirty="0"/>
              <a:t>Sample space </a:t>
            </a:r>
            <a:endParaRPr lang="en-US" sz="3600" dirty="0"/>
          </a:p>
          <a:p>
            <a:pPr marL="742950" indent="-742950">
              <a:buAutoNum type="alphaLcParenR"/>
            </a:pPr>
            <a:r>
              <a:rPr lang="en-US" sz="3600" dirty="0"/>
              <a:t>How many outcomes in total?</a:t>
            </a:r>
          </a:p>
          <a:p>
            <a:pPr marL="742950" indent="-742950">
              <a:buAutoNum type="alphaLcParenR"/>
            </a:pPr>
            <a:r>
              <a:rPr lang="en-US" sz="3600" dirty="0"/>
              <a:t>P(green)?</a:t>
            </a:r>
          </a:p>
          <a:p>
            <a:pPr marL="742950" indent="-742950">
              <a:buAutoNum type="alphaLcParenR"/>
            </a:pPr>
            <a:r>
              <a:rPr lang="en-US" sz="3600" dirty="0"/>
              <a:t>P(not green)?</a:t>
            </a:r>
          </a:p>
          <a:p>
            <a:pPr marL="742950" indent="-742950">
              <a:buAutoNum type="alphaLcParenR"/>
            </a:pPr>
            <a:r>
              <a:rPr lang="en-US" sz="3600" dirty="0"/>
              <a:t>P(red or yellow)? </a:t>
            </a:r>
            <a:endParaRPr lang="en-AU" sz="3600" dirty="0"/>
          </a:p>
        </p:txBody>
      </p:sp>
    </p:spTree>
    <p:extLst>
      <p:ext uri="{BB962C8B-B14F-4D97-AF65-F5344CB8AC3E}">
        <p14:creationId xmlns:p14="http://schemas.microsoft.com/office/powerpoint/2010/main" val="1424416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93F04C-B5C3-482C-B443-A2B043BC9D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AND or </a:t>
            </a:r>
            <a:r>
              <a:rPr lang="en-US" dirty="0" err="1"/>
              <a:t>OR</a:t>
            </a:r>
            <a:r>
              <a:rPr lang="en-US" dirty="0"/>
              <a:t> 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549DC9-1197-411E-A515-DB20546F42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In probability we use And, and OR for conditions .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AU" b="1" dirty="0">
                <a:solidFill>
                  <a:srgbClr val="00B0F0"/>
                </a:solidFill>
              </a:rPr>
              <a:t>AND</a:t>
            </a:r>
          </a:p>
          <a:p>
            <a:pPr>
              <a:buFontTx/>
              <a:buChar char="-"/>
            </a:pPr>
            <a:r>
              <a:rPr lang="en-AU" b="1" dirty="0">
                <a:solidFill>
                  <a:srgbClr val="00B0F0"/>
                </a:solidFill>
              </a:rPr>
              <a:t>Means the favourable outcome MUST have BOTH </a:t>
            </a:r>
          </a:p>
          <a:p>
            <a:pPr>
              <a:buFontTx/>
              <a:buChar char="-"/>
            </a:pPr>
            <a:endParaRPr lang="en-AU" dirty="0"/>
          </a:p>
          <a:p>
            <a:pPr marL="0" indent="0">
              <a:buNone/>
            </a:pPr>
            <a:r>
              <a:rPr lang="en-AU" b="1" dirty="0">
                <a:solidFill>
                  <a:srgbClr val="00B0F0"/>
                </a:solidFill>
              </a:rPr>
              <a:t>OR</a:t>
            </a:r>
          </a:p>
          <a:p>
            <a:pPr>
              <a:buFontTx/>
              <a:buChar char="-"/>
            </a:pPr>
            <a:r>
              <a:rPr lang="en-AU" b="1" dirty="0">
                <a:solidFill>
                  <a:srgbClr val="00B0F0"/>
                </a:solidFill>
              </a:rPr>
              <a:t>Means it can have 1 or the other, or BOTH </a:t>
            </a:r>
          </a:p>
          <a:p>
            <a:pPr>
              <a:buFontTx/>
              <a:buChar char="-"/>
            </a:pPr>
            <a:r>
              <a:rPr lang="en-AU" dirty="0">
                <a:solidFill>
                  <a:srgbClr val="00B0F0"/>
                </a:solidFill>
              </a:rPr>
              <a:t>Unless it says “but not both” </a:t>
            </a:r>
          </a:p>
        </p:txBody>
      </p:sp>
    </p:spTree>
    <p:extLst>
      <p:ext uri="{BB962C8B-B14F-4D97-AF65-F5344CB8AC3E}">
        <p14:creationId xmlns:p14="http://schemas.microsoft.com/office/powerpoint/2010/main" val="17767114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E87440-E55B-4312-9906-4733154C9F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Example </a:t>
            </a:r>
            <a:endParaRPr lang="en-AU" dirty="0"/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CF546EF2-745B-40A3-A319-24B654507E2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56892670"/>
              </p:ext>
            </p:extLst>
          </p:nvPr>
        </p:nvGraphicFramePr>
        <p:xfrm>
          <a:off x="838200" y="2518083"/>
          <a:ext cx="10515596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2228">
                  <a:extLst>
                    <a:ext uri="{9D8B030D-6E8A-4147-A177-3AD203B41FA5}">
                      <a16:colId xmlns:a16="http://schemas.microsoft.com/office/drawing/2014/main" val="3259129236"/>
                    </a:ext>
                  </a:extLst>
                </a:gridCol>
                <a:gridCol w="1502228">
                  <a:extLst>
                    <a:ext uri="{9D8B030D-6E8A-4147-A177-3AD203B41FA5}">
                      <a16:colId xmlns:a16="http://schemas.microsoft.com/office/drawing/2014/main" val="3790192117"/>
                    </a:ext>
                  </a:extLst>
                </a:gridCol>
                <a:gridCol w="1502228">
                  <a:extLst>
                    <a:ext uri="{9D8B030D-6E8A-4147-A177-3AD203B41FA5}">
                      <a16:colId xmlns:a16="http://schemas.microsoft.com/office/drawing/2014/main" val="482558724"/>
                    </a:ext>
                  </a:extLst>
                </a:gridCol>
                <a:gridCol w="1502228">
                  <a:extLst>
                    <a:ext uri="{9D8B030D-6E8A-4147-A177-3AD203B41FA5}">
                      <a16:colId xmlns:a16="http://schemas.microsoft.com/office/drawing/2014/main" val="1289313518"/>
                    </a:ext>
                  </a:extLst>
                </a:gridCol>
                <a:gridCol w="1502228">
                  <a:extLst>
                    <a:ext uri="{9D8B030D-6E8A-4147-A177-3AD203B41FA5}">
                      <a16:colId xmlns:a16="http://schemas.microsoft.com/office/drawing/2014/main" val="284802687"/>
                    </a:ext>
                  </a:extLst>
                </a:gridCol>
                <a:gridCol w="1502228">
                  <a:extLst>
                    <a:ext uri="{9D8B030D-6E8A-4147-A177-3AD203B41FA5}">
                      <a16:colId xmlns:a16="http://schemas.microsoft.com/office/drawing/2014/main" val="1569670679"/>
                    </a:ext>
                  </a:extLst>
                </a:gridCol>
                <a:gridCol w="1502228">
                  <a:extLst>
                    <a:ext uri="{9D8B030D-6E8A-4147-A177-3AD203B41FA5}">
                      <a16:colId xmlns:a16="http://schemas.microsoft.com/office/drawing/2014/main" val="174054969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en-AU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/>
                        <a:t>1</a:t>
                      </a:r>
                      <a:endParaRPr lang="en-AU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/>
                        <a:t>2</a:t>
                      </a:r>
                      <a:endParaRPr lang="en-AU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/>
                        <a:t>3</a:t>
                      </a:r>
                      <a:endParaRPr lang="en-AU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/>
                        <a:t>4</a:t>
                      </a:r>
                      <a:endParaRPr lang="en-AU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/>
                        <a:t>5</a:t>
                      </a:r>
                      <a:endParaRPr lang="en-AU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/>
                        <a:t>6</a:t>
                      </a:r>
                      <a:endParaRPr lang="en-AU" sz="24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767291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/>
                        <a:t>HEADS</a:t>
                      </a:r>
                      <a:endParaRPr lang="en-AU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/>
                        <a:t>H1</a:t>
                      </a:r>
                      <a:endParaRPr lang="en-AU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/>
                        <a:t>H2</a:t>
                      </a:r>
                      <a:endParaRPr lang="en-AU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/>
                        <a:t>H3</a:t>
                      </a:r>
                      <a:endParaRPr lang="en-AU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/>
                        <a:t>H4</a:t>
                      </a:r>
                      <a:endParaRPr lang="en-AU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/>
                        <a:t>H5</a:t>
                      </a:r>
                      <a:endParaRPr lang="en-AU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/>
                        <a:t>H6</a:t>
                      </a:r>
                      <a:endParaRPr lang="en-AU" sz="24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210071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/>
                        <a:t>TAILS</a:t>
                      </a:r>
                      <a:endParaRPr lang="en-AU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/>
                        <a:t>T1</a:t>
                      </a:r>
                      <a:endParaRPr lang="en-AU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/>
                        <a:t>T2</a:t>
                      </a:r>
                      <a:endParaRPr lang="en-AU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/>
                        <a:t>T3</a:t>
                      </a:r>
                      <a:endParaRPr lang="en-AU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/>
                        <a:t>T4</a:t>
                      </a:r>
                      <a:endParaRPr lang="en-AU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/>
                        <a:t>T5</a:t>
                      </a:r>
                      <a:endParaRPr lang="en-AU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/>
                        <a:t>T6</a:t>
                      </a:r>
                      <a:endParaRPr lang="en-AU" sz="24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56928036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62F19649-70E4-4821-AC3F-2CB9519B3BCF}"/>
              </a:ext>
            </a:extLst>
          </p:cNvPr>
          <p:cNvSpPr txBox="1"/>
          <p:nvPr/>
        </p:nvSpPr>
        <p:spPr>
          <a:xfrm>
            <a:off x="3124940" y="1690688"/>
            <a:ext cx="806980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A coin is flipped, and a normal die is rolled.</a:t>
            </a:r>
            <a:endParaRPr lang="en-AU" sz="2800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5AEB0AE-CE84-4C6E-A5FA-65BF55F90694}"/>
              </a:ext>
            </a:extLst>
          </p:cNvPr>
          <p:cNvSpPr txBox="1"/>
          <p:nvPr/>
        </p:nvSpPr>
        <p:spPr>
          <a:xfrm>
            <a:off x="1376039" y="4350058"/>
            <a:ext cx="7537142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P(Heads and a 3) = </a:t>
            </a:r>
          </a:p>
          <a:p>
            <a:endParaRPr lang="en-US" sz="2400" b="1" dirty="0"/>
          </a:p>
          <a:p>
            <a:r>
              <a:rPr lang="en-US" sz="2400" b="1" dirty="0"/>
              <a:t>P(Head OR a 3) = </a:t>
            </a:r>
          </a:p>
          <a:p>
            <a:endParaRPr lang="en-US" sz="2400" b="1" dirty="0"/>
          </a:p>
          <a:p>
            <a:r>
              <a:rPr lang="en-US" sz="2400" b="1" dirty="0"/>
              <a:t>P(tails or even number) = </a:t>
            </a:r>
            <a:endParaRPr lang="en-AU" sz="2400" b="1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3D50259-674A-4EEB-A7D8-C919A2E79FA6}"/>
              </a:ext>
            </a:extLst>
          </p:cNvPr>
          <p:cNvSpPr/>
          <p:nvPr/>
        </p:nvSpPr>
        <p:spPr>
          <a:xfrm>
            <a:off x="310718" y="1606858"/>
            <a:ext cx="11691892" cy="5113538"/>
          </a:xfrm>
          <a:prstGeom prst="rect">
            <a:avLst/>
          </a:prstGeom>
          <a:noFill/>
          <a:ln w="5715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667628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3156E-844E-4552-85E2-921D77F075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Whiteboards </a:t>
            </a:r>
            <a:endParaRPr lang="en-AU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DFBB54A3-B657-43E6-A975-85328E7CDDE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42806" y="1690688"/>
            <a:ext cx="5543643" cy="320441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9E302E4-FD7E-4005-8283-6B5D578CDC32}"/>
              </a:ext>
            </a:extLst>
          </p:cNvPr>
          <p:cNvSpPr txBox="1"/>
          <p:nvPr/>
        </p:nvSpPr>
        <p:spPr>
          <a:xfrm>
            <a:off x="6315075" y="1819275"/>
            <a:ext cx="5638800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Students were asked if they had brown hair or wore glasses. </a:t>
            </a:r>
          </a:p>
          <a:p>
            <a:endParaRPr lang="en-US" sz="2800" dirty="0"/>
          </a:p>
          <a:p>
            <a:pPr marL="514350" indent="-514350">
              <a:buAutoNum type="alphaLcParenR"/>
            </a:pPr>
            <a:r>
              <a:rPr lang="en-US" sz="2800" dirty="0"/>
              <a:t>How many students were asked? </a:t>
            </a:r>
            <a:endParaRPr lang="en-AU" sz="2800" dirty="0"/>
          </a:p>
          <a:p>
            <a:endParaRPr lang="en-AU" sz="2800" dirty="0"/>
          </a:p>
          <a:p>
            <a:r>
              <a:rPr lang="en-AU" sz="2800" dirty="0"/>
              <a:t>If selected at random…</a:t>
            </a:r>
          </a:p>
          <a:p>
            <a:r>
              <a:rPr lang="en-AU" sz="2800" dirty="0"/>
              <a:t>b) P(B hair and Glasses)</a:t>
            </a:r>
          </a:p>
          <a:p>
            <a:r>
              <a:rPr lang="en-AU" sz="2800" dirty="0"/>
              <a:t>c) P(Only glasses) </a:t>
            </a:r>
          </a:p>
          <a:p>
            <a:r>
              <a:rPr lang="en-AU" sz="2800" dirty="0"/>
              <a:t>d) P(brown hair or glasses) </a:t>
            </a:r>
          </a:p>
          <a:p>
            <a:r>
              <a:rPr lang="en-AU" sz="2800" dirty="0"/>
              <a:t>e) P(not brown hair) </a:t>
            </a:r>
          </a:p>
          <a:p>
            <a:r>
              <a:rPr lang="en-AU" sz="2800" dirty="0"/>
              <a:t>f) P(didn’t have either) 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25043982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9613A7-DF20-46A2-98A3-148ED2E878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Whiteboards </a:t>
            </a:r>
            <a:endParaRPr lang="en-AU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8BF9BE6-9BFA-431C-923F-3F57E4A80FC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6187" y="1690688"/>
            <a:ext cx="6563574" cy="3100673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6007144-1B2B-4F37-B6DA-D9BAB55C8B25}"/>
              </a:ext>
            </a:extLst>
          </p:cNvPr>
          <p:cNvSpPr txBox="1"/>
          <p:nvPr/>
        </p:nvSpPr>
        <p:spPr>
          <a:xfrm>
            <a:off x="6915705" y="1837678"/>
            <a:ext cx="5007006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Girls and boys from a school were surveyed.</a:t>
            </a:r>
          </a:p>
          <a:p>
            <a:endParaRPr lang="en-US" sz="2800" dirty="0"/>
          </a:p>
          <a:p>
            <a:pPr marL="514350" indent="-514350">
              <a:buAutoNum type="alphaLcParenR"/>
            </a:pPr>
            <a:r>
              <a:rPr lang="en-US" sz="2800" dirty="0"/>
              <a:t>How many in total? </a:t>
            </a:r>
            <a:endParaRPr lang="en-AU" sz="2800" dirty="0"/>
          </a:p>
          <a:p>
            <a:endParaRPr lang="en-AU" sz="2800" dirty="0"/>
          </a:p>
          <a:p>
            <a:r>
              <a:rPr lang="en-AU" sz="2800" dirty="0"/>
              <a:t>Selecting students at random</a:t>
            </a:r>
          </a:p>
          <a:p>
            <a:endParaRPr lang="en-AU" sz="2800" dirty="0"/>
          </a:p>
          <a:p>
            <a:r>
              <a:rPr lang="en-AU" sz="2800" dirty="0"/>
              <a:t>b) P(year 8) </a:t>
            </a:r>
          </a:p>
          <a:p>
            <a:r>
              <a:rPr lang="en-AU" sz="2800" dirty="0"/>
              <a:t>c) P(year 8 AND girl) </a:t>
            </a:r>
          </a:p>
          <a:p>
            <a:r>
              <a:rPr lang="en-AU" sz="2800" dirty="0"/>
              <a:t>d) </a:t>
            </a:r>
            <a:r>
              <a:rPr lang="en-AU" sz="2800"/>
              <a:t>P(boy </a:t>
            </a:r>
            <a:r>
              <a:rPr lang="en-AU" sz="2800" dirty="0"/>
              <a:t>OR year 7 girl) </a:t>
            </a:r>
          </a:p>
          <a:p>
            <a:endParaRPr lang="en-AU" sz="2800" dirty="0"/>
          </a:p>
        </p:txBody>
      </p:sp>
    </p:spTree>
    <p:extLst>
      <p:ext uri="{BB962C8B-B14F-4D97-AF65-F5344CB8AC3E}">
        <p14:creationId xmlns:p14="http://schemas.microsoft.com/office/powerpoint/2010/main" val="165468279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GB" b="1" dirty="0">
                <a:solidFill>
                  <a:schemeClr val="accent6"/>
                </a:solidFill>
              </a:rPr>
              <a:t>How to Create a Two Way Table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6149" y="1690688"/>
            <a:ext cx="8784976" cy="4752528"/>
          </a:xfrm>
        </p:spPr>
        <p:txBody>
          <a:bodyPr>
            <a:normAutofit/>
          </a:bodyPr>
          <a:lstStyle/>
          <a:p>
            <a:r>
              <a:rPr lang="en-GB" b="1" dirty="0">
                <a:solidFill>
                  <a:schemeClr val="accent1"/>
                </a:solidFill>
              </a:rPr>
              <a:t>Read</a:t>
            </a:r>
            <a:r>
              <a:rPr lang="en-GB" dirty="0"/>
              <a:t> through all of the information first.</a:t>
            </a:r>
          </a:p>
          <a:p>
            <a:endParaRPr lang="en-GB" dirty="0"/>
          </a:p>
          <a:p>
            <a:r>
              <a:rPr lang="en-GB" dirty="0"/>
              <a:t>Pick out the different </a:t>
            </a:r>
            <a:r>
              <a:rPr lang="en-GB" b="1" dirty="0">
                <a:solidFill>
                  <a:schemeClr val="accent1"/>
                </a:solidFill>
              </a:rPr>
              <a:t>categories</a:t>
            </a:r>
            <a:r>
              <a:rPr lang="en-GB" dirty="0"/>
              <a:t> – men or women, boys or girls, types of colours, types of food etc.</a:t>
            </a:r>
          </a:p>
          <a:p>
            <a:endParaRPr lang="en-GB" dirty="0"/>
          </a:p>
          <a:p>
            <a:r>
              <a:rPr lang="en-GB" dirty="0"/>
              <a:t>Set out your </a:t>
            </a:r>
            <a:r>
              <a:rPr lang="en-GB" b="1" dirty="0">
                <a:solidFill>
                  <a:schemeClr val="accent1"/>
                </a:solidFill>
              </a:rPr>
              <a:t>table</a:t>
            </a:r>
            <a:r>
              <a:rPr lang="en-GB" dirty="0"/>
              <a:t>.</a:t>
            </a:r>
          </a:p>
          <a:p>
            <a:endParaRPr lang="en-GB" dirty="0"/>
          </a:p>
          <a:p>
            <a:r>
              <a:rPr lang="en-GB" b="1" dirty="0">
                <a:solidFill>
                  <a:schemeClr val="accent1"/>
                </a:solidFill>
              </a:rPr>
              <a:t>Fill in </a:t>
            </a:r>
            <a:r>
              <a:rPr lang="en-GB" dirty="0"/>
              <a:t>what you know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D5137B7-4B56-48BE-B67A-FBCC448788D3}"/>
              </a:ext>
            </a:extLst>
          </p:cNvPr>
          <p:cNvSpPr txBox="1"/>
          <p:nvPr/>
        </p:nvSpPr>
        <p:spPr>
          <a:xfrm>
            <a:off x="7119891" y="4003829"/>
            <a:ext cx="4233909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00B0F0"/>
                </a:solidFill>
              </a:rPr>
              <a:t>Creating 2 way-tables</a:t>
            </a:r>
          </a:p>
          <a:p>
            <a:pPr marL="457200" indent="-457200">
              <a:buAutoNum type="arabicPeriod"/>
            </a:pPr>
            <a:r>
              <a:rPr lang="en-US" sz="2800" b="1" dirty="0">
                <a:solidFill>
                  <a:srgbClr val="00B0F0"/>
                </a:solidFill>
              </a:rPr>
              <a:t>Read info </a:t>
            </a:r>
          </a:p>
          <a:p>
            <a:pPr marL="457200" indent="-457200">
              <a:buAutoNum type="arabicPeriod"/>
            </a:pPr>
            <a:r>
              <a:rPr lang="en-US" sz="2800" b="1" dirty="0">
                <a:solidFill>
                  <a:srgbClr val="00B0F0"/>
                </a:solidFill>
              </a:rPr>
              <a:t>Pick categories </a:t>
            </a:r>
          </a:p>
          <a:p>
            <a:pPr marL="457200" indent="-457200">
              <a:buAutoNum type="arabicPeriod"/>
            </a:pPr>
            <a:r>
              <a:rPr lang="en-US" sz="2800" b="1" dirty="0">
                <a:solidFill>
                  <a:srgbClr val="00B0F0"/>
                </a:solidFill>
              </a:rPr>
              <a:t>Set table </a:t>
            </a:r>
          </a:p>
          <a:p>
            <a:pPr marL="457200" indent="-457200">
              <a:buAutoNum type="arabicPeriod"/>
            </a:pPr>
            <a:r>
              <a:rPr lang="en-US" sz="2800" b="1" dirty="0">
                <a:solidFill>
                  <a:srgbClr val="00B0F0"/>
                </a:solidFill>
              </a:rPr>
              <a:t>Fill in what we know</a:t>
            </a:r>
            <a:endParaRPr lang="en-AU" sz="2800" b="1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1934753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>
                <a:solidFill>
                  <a:schemeClr val="accent6"/>
                </a:solidFill>
              </a:rPr>
              <a:t>Create a two way table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47944" y="1469936"/>
            <a:ext cx="8784976" cy="532859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sz="2000" dirty="0"/>
              <a:t>90 people were asked whether they preferred Soaps, Drama or Crime shows.</a:t>
            </a:r>
          </a:p>
          <a:p>
            <a:pPr marL="0" indent="0">
              <a:buNone/>
            </a:pPr>
            <a:r>
              <a:rPr lang="en-GB" sz="2000" dirty="0"/>
              <a:t>12 men said they liked Dramas</a:t>
            </a:r>
          </a:p>
          <a:p>
            <a:pPr marL="0" indent="0">
              <a:buNone/>
            </a:pPr>
            <a:r>
              <a:rPr lang="en-GB" sz="2000" dirty="0"/>
              <a:t>33 people in total said they liked Soaps, and 27 of these were women.</a:t>
            </a:r>
          </a:p>
          <a:p>
            <a:pPr marL="0" indent="0">
              <a:buNone/>
            </a:pPr>
            <a:r>
              <a:rPr lang="en-GB" sz="2000" dirty="0"/>
              <a:t>25 people in total liked Dramas best.</a:t>
            </a:r>
          </a:p>
          <a:p>
            <a:pPr marL="0" indent="0">
              <a:buNone/>
            </a:pPr>
            <a:r>
              <a:rPr lang="en-GB" sz="2000" dirty="0"/>
              <a:t>Only 10 women liked Crime shows.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62350CE-5755-4BF8-8F63-96F42823D637}"/>
              </a:ext>
            </a:extLst>
          </p:cNvPr>
          <p:cNvSpPr txBox="1"/>
          <p:nvPr/>
        </p:nvSpPr>
        <p:spPr>
          <a:xfrm>
            <a:off x="8442663" y="59472"/>
            <a:ext cx="4233909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00B0F0"/>
                </a:solidFill>
              </a:rPr>
              <a:t>Creating 2 way-tables</a:t>
            </a:r>
          </a:p>
          <a:p>
            <a:pPr marL="457200" indent="-457200">
              <a:buAutoNum type="arabicPeriod"/>
            </a:pPr>
            <a:r>
              <a:rPr lang="en-US" sz="2000" b="1" dirty="0">
                <a:solidFill>
                  <a:srgbClr val="00B0F0"/>
                </a:solidFill>
              </a:rPr>
              <a:t>Read info </a:t>
            </a:r>
          </a:p>
          <a:p>
            <a:pPr marL="457200" indent="-457200">
              <a:buAutoNum type="arabicPeriod"/>
            </a:pPr>
            <a:r>
              <a:rPr lang="en-US" sz="2000" b="1" dirty="0">
                <a:solidFill>
                  <a:srgbClr val="00B0F0"/>
                </a:solidFill>
              </a:rPr>
              <a:t>Pick categories </a:t>
            </a:r>
          </a:p>
          <a:p>
            <a:pPr marL="457200" indent="-457200">
              <a:buAutoNum type="arabicPeriod"/>
            </a:pPr>
            <a:r>
              <a:rPr lang="en-US" sz="2000" b="1" dirty="0">
                <a:solidFill>
                  <a:srgbClr val="00B0F0"/>
                </a:solidFill>
              </a:rPr>
              <a:t>Set table </a:t>
            </a:r>
          </a:p>
          <a:p>
            <a:pPr marL="457200" indent="-457200">
              <a:buAutoNum type="arabicPeriod"/>
            </a:pPr>
            <a:r>
              <a:rPr lang="en-US" sz="2000" b="1" dirty="0">
                <a:solidFill>
                  <a:srgbClr val="00B0F0"/>
                </a:solidFill>
              </a:rPr>
              <a:t>Fill in what we know</a:t>
            </a:r>
            <a:endParaRPr lang="en-AU" sz="2000" b="1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0203236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1991544" y="188640"/>
            <a:ext cx="8229600" cy="1143000"/>
          </a:xfrm>
        </p:spPr>
        <p:txBody>
          <a:bodyPr>
            <a:normAutofit/>
          </a:bodyPr>
          <a:lstStyle/>
          <a:p>
            <a:r>
              <a:rPr lang="en-GB" dirty="0">
                <a:solidFill>
                  <a:schemeClr val="accent6"/>
                </a:solidFill>
              </a:rPr>
              <a:t>Create your own two way tables</a:t>
            </a:r>
            <a:br>
              <a:rPr lang="en-GB" dirty="0">
                <a:solidFill>
                  <a:schemeClr val="accent6"/>
                </a:solidFill>
              </a:rPr>
            </a:br>
            <a:r>
              <a:rPr lang="en-GB" sz="2200" dirty="0">
                <a:solidFill>
                  <a:schemeClr val="accent6"/>
                </a:solidFill>
              </a:rPr>
              <a:t>6A – Problem solving with two way tables</a:t>
            </a:r>
            <a:endParaRPr lang="en-GB" dirty="0">
              <a:solidFill>
                <a:schemeClr val="accent6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52761" y="1412777"/>
            <a:ext cx="11549849" cy="56630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b="1" dirty="0"/>
              <a:t>A number of men and women were asked which types of crisps they liked best. </a:t>
            </a:r>
          </a:p>
          <a:p>
            <a:r>
              <a:rPr lang="en-GB" sz="2800" b="1" dirty="0"/>
              <a:t>A total of twelve people said Plain, of which seven were men.  </a:t>
            </a:r>
          </a:p>
          <a:p>
            <a:endParaRPr lang="en-GB" sz="2800" b="1" dirty="0"/>
          </a:p>
          <a:p>
            <a:r>
              <a:rPr lang="en-GB" sz="2800" b="1" dirty="0"/>
              <a:t>Six women said Salt and Vinegar.  </a:t>
            </a:r>
          </a:p>
          <a:p>
            <a:endParaRPr lang="en-GB" sz="2800" b="1" dirty="0"/>
          </a:p>
          <a:p>
            <a:r>
              <a:rPr lang="en-GB" sz="2800" b="1" dirty="0"/>
              <a:t>Fourteen men and twelve women liked Cheese and Onion.  </a:t>
            </a:r>
          </a:p>
          <a:p>
            <a:endParaRPr lang="en-GB" sz="2800" b="1" dirty="0"/>
          </a:p>
          <a:p>
            <a:r>
              <a:rPr lang="en-GB" sz="2800" b="1" dirty="0"/>
              <a:t>There were 28 men in total.</a:t>
            </a:r>
          </a:p>
          <a:p>
            <a:endParaRPr lang="en-GB" sz="2800" b="1" dirty="0"/>
          </a:p>
          <a:p>
            <a:r>
              <a:rPr lang="en-GB" sz="2800" b="1" dirty="0"/>
              <a:t>Q: How many people liked Salt and Vinegar best?</a:t>
            </a:r>
          </a:p>
          <a:p>
            <a:endParaRPr lang="en-GB" dirty="0"/>
          </a:p>
          <a:p>
            <a:endParaRPr lang="en-GB" dirty="0"/>
          </a:p>
          <a:p>
            <a:endParaRPr lang="en-GB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Answers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063552" y="1556792"/>
          <a:ext cx="4392488" cy="1368152"/>
        </p:xfrm>
        <a:graphic>
          <a:graphicData uri="http://schemas.openxmlformats.org/drawingml/2006/table">
            <a:tbl>
              <a:tblPr firstRow="1" firstCol="1" bandRow="1"/>
              <a:tblGrid>
                <a:gridCol w="9522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030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5929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9062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2997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42038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GB" sz="1800" b="1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GB" sz="18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GB" sz="1800" b="1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P</a:t>
                      </a:r>
                      <a:endParaRPr lang="en-GB" sz="18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GB" sz="1800" b="1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S + V</a:t>
                      </a:r>
                      <a:endParaRPr lang="en-GB" sz="18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GB" sz="1800" b="1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C + O</a:t>
                      </a:r>
                      <a:endParaRPr lang="en-GB" sz="18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GB" sz="1800" b="1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TOTAL</a:t>
                      </a:r>
                      <a:endParaRPr lang="en-GB" sz="18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2038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GB" sz="1800" b="1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Men</a:t>
                      </a:r>
                      <a:endParaRPr lang="en-GB" sz="18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GB" sz="180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GB" sz="180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GB" sz="180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14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GB" sz="180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28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2038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GB" sz="1800" b="1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Women</a:t>
                      </a:r>
                      <a:endParaRPr lang="en-GB" sz="18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GB" sz="180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GB" sz="180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GB" sz="180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12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GB" sz="180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23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2038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GB" sz="1800" b="1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TOTAL</a:t>
                      </a:r>
                      <a:endParaRPr lang="en-GB" sz="18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GB" sz="180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12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GB" sz="180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13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GB" sz="180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26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GB" sz="18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51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600056" y="1484785"/>
            <a:ext cx="39604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arenR"/>
            </a:pPr>
            <a:r>
              <a:rPr lang="en-GB" dirty="0"/>
              <a:t>13 people</a:t>
            </a:r>
          </a:p>
          <a:p>
            <a:endParaRPr lang="en-GB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B0AF1B-E005-4B36-BDF0-A811A4FAEB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Venn to two-way tables  </a:t>
            </a:r>
            <a:endParaRPr lang="en-AU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78F3CF22-A90D-4D44-806D-FAF4F53D89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274" y="1690688"/>
            <a:ext cx="5543643" cy="3204418"/>
          </a:xfrm>
          <a:prstGeom prst="rect">
            <a:avLst/>
          </a:prstGeom>
        </p:spPr>
      </p:pic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86F756EC-CB5D-445F-B03B-221ABD0200B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45640442"/>
              </p:ext>
            </p:extLst>
          </p:nvPr>
        </p:nvGraphicFramePr>
        <p:xfrm>
          <a:off x="5921406" y="1998051"/>
          <a:ext cx="6129540" cy="32262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32385">
                  <a:extLst>
                    <a:ext uri="{9D8B030D-6E8A-4147-A177-3AD203B41FA5}">
                      <a16:colId xmlns:a16="http://schemas.microsoft.com/office/drawing/2014/main" val="4292989450"/>
                    </a:ext>
                  </a:extLst>
                </a:gridCol>
                <a:gridCol w="1532385">
                  <a:extLst>
                    <a:ext uri="{9D8B030D-6E8A-4147-A177-3AD203B41FA5}">
                      <a16:colId xmlns:a16="http://schemas.microsoft.com/office/drawing/2014/main" val="2781604689"/>
                    </a:ext>
                  </a:extLst>
                </a:gridCol>
                <a:gridCol w="1532385">
                  <a:extLst>
                    <a:ext uri="{9D8B030D-6E8A-4147-A177-3AD203B41FA5}">
                      <a16:colId xmlns:a16="http://schemas.microsoft.com/office/drawing/2014/main" val="1519266032"/>
                    </a:ext>
                  </a:extLst>
                </a:gridCol>
                <a:gridCol w="1532385">
                  <a:extLst>
                    <a:ext uri="{9D8B030D-6E8A-4147-A177-3AD203B41FA5}">
                      <a16:colId xmlns:a16="http://schemas.microsoft.com/office/drawing/2014/main" val="1621773734"/>
                    </a:ext>
                  </a:extLst>
                </a:gridCol>
              </a:tblGrid>
              <a:tr h="801105">
                <a:tc>
                  <a:txBody>
                    <a:bodyPr/>
                    <a:lstStyle/>
                    <a:p>
                      <a:pPr algn="ctr"/>
                      <a:endParaRPr lang="en-AU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/>
                        <a:t>Glasses</a:t>
                      </a:r>
                      <a:endParaRPr lang="en-AU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AU" sz="2400" b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/>
                        <a:t>Total </a:t>
                      </a:r>
                      <a:endParaRPr lang="en-AU" sz="24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56688199"/>
                  </a:ext>
                </a:extLst>
              </a:tr>
              <a:tr h="801105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/>
                        <a:t>Brown hair</a:t>
                      </a:r>
                      <a:endParaRPr lang="en-AU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AU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AU" sz="2400" b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AU" sz="2400" b="1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17862584"/>
                  </a:ext>
                </a:extLst>
              </a:tr>
              <a:tr h="801105">
                <a:tc>
                  <a:txBody>
                    <a:bodyPr/>
                    <a:lstStyle/>
                    <a:p>
                      <a:pPr algn="ctr"/>
                      <a:endParaRPr lang="en-AU" sz="2400" b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AU" sz="2400" b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AU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AU" sz="2400" b="1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90518065"/>
                  </a:ext>
                </a:extLst>
              </a:tr>
              <a:tr h="801105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/>
                        <a:t>Total</a:t>
                      </a:r>
                      <a:endParaRPr lang="en-AU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AU" sz="2400" b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AU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AU" sz="24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2268057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674853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FAEB30-B7C1-4C9F-8E48-3C882CF56C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Whiteboards </a:t>
            </a:r>
            <a:endParaRPr lang="en-AU" dirty="0"/>
          </a:p>
        </p:txBody>
      </p:sp>
      <p:pic>
        <p:nvPicPr>
          <p:cNvPr id="1026" name="Picture 2" descr="How to Create Blank Venn Diagrams">
            <a:extLst>
              <a:ext uri="{FF2B5EF4-FFF2-40B4-BE49-F238E27FC236}">
                <a16:creationId xmlns:a16="http://schemas.microsoft.com/office/drawing/2014/main" id="{38357C0A-AD10-4D6A-A959-9625F33B3E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5788" y="1690688"/>
            <a:ext cx="5633062" cy="3086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0F12143-B4F5-4564-8CC4-B7C0BAE2F133}"/>
              </a:ext>
            </a:extLst>
          </p:cNvPr>
          <p:cNvSpPr txBox="1"/>
          <p:nvPr/>
        </p:nvSpPr>
        <p:spPr>
          <a:xfrm>
            <a:off x="1828800" y="1781175"/>
            <a:ext cx="177165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Football</a:t>
            </a:r>
            <a:endParaRPr lang="en-AU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C3AC09E-E811-4CED-9CAA-024971BD4937}"/>
              </a:ext>
            </a:extLst>
          </p:cNvPr>
          <p:cNvSpPr txBox="1"/>
          <p:nvPr/>
        </p:nvSpPr>
        <p:spPr>
          <a:xfrm>
            <a:off x="4076700" y="1781175"/>
            <a:ext cx="177165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Soccer</a:t>
            </a:r>
            <a:r>
              <a:rPr lang="en-US" dirty="0"/>
              <a:t> </a:t>
            </a:r>
            <a:endParaRPr lang="en-AU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BCBC093-A81E-403E-A36A-93DDC6783803}"/>
              </a:ext>
            </a:extLst>
          </p:cNvPr>
          <p:cNvSpPr txBox="1"/>
          <p:nvPr/>
        </p:nvSpPr>
        <p:spPr>
          <a:xfrm>
            <a:off x="1724025" y="2798545"/>
            <a:ext cx="17716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/>
              <a:t>15</a:t>
            </a:r>
            <a:r>
              <a:rPr lang="en-US" dirty="0"/>
              <a:t> </a:t>
            </a:r>
            <a:endParaRPr lang="en-AU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30B30D0-97CE-42D5-A3B2-648F62FE7001}"/>
              </a:ext>
            </a:extLst>
          </p:cNvPr>
          <p:cNvSpPr txBox="1"/>
          <p:nvPr/>
        </p:nvSpPr>
        <p:spPr>
          <a:xfrm>
            <a:off x="3190875" y="2782669"/>
            <a:ext cx="17716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/>
              <a:t>5</a:t>
            </a:r>
            <a:r>
              <a:rPr lang="en-US" dirty="0"/>
              <a:t> </a:t>
            </a:r>
            <a:endParaRPr lang="en-AU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5255A45-A98E-4D26-AC1A-39BB7107DA30}"/>
              </a:ext>
            </a:extLst>
          </p:cNvPr>
          <p:cNvSpPr txBox="1"/>
          <p:nvPr/>
        </p:nvSpPr>
        <p:spPr>
          <a:xfrm>
            <a:off x="4324350" y="2798545"/>
            <a:ext cx="17716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/>
              <a:t>10</a:t>
            </a:r>
            <a:r>
              <a:rPr lang="en-US" dirty="0"/>
              <a:t> </a:t>
            </a:r>
            <a:endParaRPr lang="en-AU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7FCC585-7FC8-4A55-9349-753D61617B19}"/>
              </a:ext>
            </a:extLst>
          </p:cNvPr>
          <p:cNvSpPr txBox="1"/>
          <p:nvPr/>
        </p:nvSpPr>
        <p:spPr>
          <a:xfrm>
            <a:off x="1419225" y="4731841"/>
            <a:ext cx="17716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/>
              <a:t>5</a:t>
            </a:r>
            <a:r>
              <a:rPr lang="en-US" dirty="0"/>
              <a:t> </a:t>
            </a:r>
            <a:endParaRPr lang="en-AU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8FF7764-4880-432A-AD81-6406C911C7DC}"/>
              </a:ext>
            </a:extLst>
          </p:cNvPr>
          <p:cNvSpPr/>
          <p:nvPr/>
        </p:nvSpPr>
        <p:spPr>
          <a:xfrm>
            <a:off x="585788" y="1600200"/>
            <a:ext cx="5510212" cy="365760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graphicFrame>
        <p:nvGraphicFramePr>
          <p:cNvPr id="11" name="Table 11">
            <a:extLst>
              <a:ext uri="{FF2B5EF4-FFF2-40B4-BE49-F238E27FC236}">
                <a16:creationId xmlns:a16="http://schemas.microsoft.com/office/drawing/2014/main" id="{99E5F7C1-A4F6-4FC0-9369-4A8B2295BB6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7744261"/>
              </p:ext>
            </p:extLst>
          </p:nvPr>
        </p:nvGraphicFramePr>
        <p:xfrm>
          <a:off x="6429375" y="2135146"/>
          <a:ext cx="5633064" cy="35112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08266">
                  <a:extLst>
                    <a:ext uri="{9D8B030D-6E8A-4147-A177-3AD203B41FA5}">
                      <a16:colId xmlns:a16="http://schemas.microsoft.com/office/drawing/2014/main" val="1765463113"/>
                    </a:ext>
                  </a:extLst>
                </a:gridCol>
                <a:gridCol w="1408266">
                  <a:extLst>
                    <a:ext uri="{9D8B030D-6E8A-4147-A177-3AD203B41FA5}">
                      <a16:colId xmlns:a16="http://schemas.microsoft.com/office/drawing/2014/main" val="2988284897"/>
                    </a:ext>
                  </a:extLst>
                </a:gridCol>
                <a:gridCol w="1408266">
                  <a:extLst>
                    <a:ext uri="{9D8B030D-6E8A-4147-A177-3AD203B41FA5}">
                      <a16:colId xmlns:a16="http://schemas.microsoft.com/office/drawing/2014/main" val="1662111142"/>
                    </a:ext>
                  </a:extLst>
                </a:gridCol>
                <a:gridCol w="1408266">
                  <a:extLst>
                    <a:ext uri="{9D8B030D-6E8A-4147-A177-3AD203B41FA5}">
                      <a16:colId xmlns:a16="http://schemas.microsoft.com/office/drawing/2014/main" val="81530972"/>
                    </a:ext>
                  </a:extLst>
                </a:gridCol>
              </a:tblGrid>
              <a:tr h="810756">
                <a:tc>
                  <a:txBody>
                    <a:bodyPr/>
                    <a:lstStyle/>
                    <a:p>
                      <a:pPr algn="ctr"/>
                      <a:endParaRPr lang="en-AU" sz="28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Football</a:t>
                      </a:r>
                      <a:endParaRPr lang="en-AU" sz="28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Not football</a:t>
                      </a:r>
                      <a:endParaRPr lang="en-AU" sz="28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Total </a:t>
                      </a:r>
                      <a:endParaRPr lang="en-AU" sz="28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68164243"/>
                  </a:ext>
                </a:extLst>
              </a:tr>
              <a:tr h="810756"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Soccer</a:t>
                      </a:r>
                      <a:endParaRPr lang="en-AU" sz="28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AU" sz="28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AU" sz="2800" b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AU" sz="2800" b="1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40367085"/>
                  </a:ext>
                </a:extLst>
              </a:tr>
              <a:tr h="810756"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Not soccer</a:t>
                      </a:r>
                      <a:endParaRPr lang="en-AU" sz="28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AU" sz="2800" b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AU" sz="28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AU" sz="28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9957136"/>
                  </a:ext>
                </a:extLst>
              </a:tr>
              <a:tr h="810756"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Total </a:t>
                      </a:r>
                      <a:endParaRPr lang="en-AU" sz="28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AU" sz="2800" b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AU" sz="2800" b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AU" sz="28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8254883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7610623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BDC942-DD5E-4885-BFDF-80D83E58FD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Whiteboards </a:t>
            </a:r>
            <a:endParaRPr lang="en-AU" dirty="0"/>
          </a:p>
        </p:txBody>
      </p:sp>
      <p:pic>
        <p:nvPicPr>
          <p:cNvPr id="4" name="Picture 2" descr="How to Create Blank Venn Diagrams">
            <a:extLst>
              <a:ext uri="{FF2B5EF4-FFF2-40B4-BE49-F238E27FC236}">
                <a16:creationId xmlns:a16="http://schemas.microsoft.com/office/drawing/2014/main" id="{CA9308CE-EB96-4930-AF7D-4747A8CFA0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2267737"/>
            <a:ext cx="5633062" cy="3086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D34F7987-D562-468E-B30B-B65A2B853C87}"/>
              </a:ext>
            </a:extLst>
          </p:cNvPr>
          <p:cNvSpPr/>
          <p:nvPr/>
        </p:nvSpPr>
        <p:spPr>
          <a:xfrm>
            <a:off x="838200" y="2177249"/>
            <a:ext cx="5510212" cy="365760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AE1CFEB-01E7-4458-B73A-F8F61250F09A}"/>
              </a:ext>
            </a:extLst>
          </p:cNvPr>
          <p:cNvSpPr txBox="1"/>
          <p:nvPr/>
        </p:nvSpPr>
        <p:spPr>
          <a:xfrm>
            <a:off x="2059619" y="2331591"/>
            <a:ext cx="177165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Surfing</a:t>
            </a:r>
            <a:endParaRPr lang="en-AU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E39FE52-A62B-489E-BB61-065CD3E16D1C}"/>
              </a:ext>
            </a:extLst>
          </p:cNvPr>
          <p:cNvSpPr txBox="1"/>
          <p:nvPr/>
        </p:nvSpPr>
        <p:spPr>
          <a:xfrm>
            <a:off x="4395372" y="2331591"/>
            <a:ext cx="177165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Skate</a:t>
            </a:r>
            <a:endParaRPr lang="en-AU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B00AF1C-ACB0-4721-916C-72E85D0AF649}"/>
              </a:ext>
            </a:extLst>
          </p:cNvPr>
          <p:cNvSpPr txBox="1"/>
          <p:nvPr/>
        </p:nvSpPr>
        <p:spPr>
          <a:xfrm>
            <a:off x="2059619" y="3284336"/>
            <a:ext cx="17716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/>
              <a:t>21</a:t>
            </a:r>
            <a:r>
              <a:rPr lang="en-US" dirty="0"/>
              <a:t> </a:t>
            </a:r>
            <a:endParaRPr lang="en-AU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591AD9A-4DFC-4D10-8FF3-733C8BCDFFE4}"/>
              </a:ext>
            </a:extLst>
          </p:cNvPr>
          <p:cNvSpPr txBox="1"/>
          <p:nvPr/>
        </p:nvSpPr>
        <p:spPr>
          <a:xfrm>
            <a:off x="3479030" y="3275056"/>
            <a:ext cx="17716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/>
              <a:t>9</a:t>
            </a:r>
            <a:r>
              <a:rPr lang="en-US" dirty="0"/>
              <a:t> </a:t>
            </a:r>
            <a:endParaRPr lang="en-AU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97EFCF0-A90D-4473-A9D6-4B3C7C30B67B}"/>
              </a:ext>
            </a:extLst>
          </p:cNvPr>
          <p:cNvSpPr txBox="1"/>
          <p:nvPr/>
        </p:nvSpPr>
        <p:spPr>
          <a:xfrm>
            <a:off x="4699612" y="3272232"/>
            <a:ext cx="17716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/>
              <a:t>15</a:t>
            </a:r>
            <a:r>
              <a:rPr lang="en-US" dirty="0"/>
              <a:t> </a:t>
            </a:r>
            <a:endParaRPr lang="en-AU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42533B9-78E8-4C9F-AA9B-6F353E3B2565}"/>
              </a:ext>
            </a:extLst>
          </p:cNvPr>
          <p:cNvSpPr txBox="1"/>
          <p:nvPr/>
        </p:nvSpPr>
        <p:spPr>
          <a:xfrm>
            <a:off x="5727854" y="5117310"/>
            <a:ext cx="17716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/>
              <a:t>6</a:t>
            </a:r>
            <a:r>
              <a:rPr lang="en-US" dirty="0"/>
              <a:t> </a:t>
            </a:r>
            <a:endParaRPr lang="en-AU" dirty="0"/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2BFFF25E-F695-449D-A073-83078FDD24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34883598"/>
              </p:ext>
            </p:extLst>
          </p:nvPr>
        </p:nvGraphicFramePr>
        <p:xfrm>
          <a:off x="6429375" y="2135146"/>
          <a:ext cx="5633064" cy="32430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08266">
                  <a:extLst>
                    <a:ext uri="{9D8B030D-6E8A-4147-A177-3AD203B41FA5}">
                      <a16:colId xmlns:a16="http://schemas.microsoft.com/office/drawing/2014/main" val="1765463113"/>
                    </a:ext>
                  </a:extLst>
                </a:gridCol>
                <a:gridCol w="1408266">
                  <a:extLst>
                    <a:ext uri="{9D8B030D-6E8A-4147-A177-3AD203B41FA5}">
                      <a16:colId xmlns:a16="http://schemas.microsoft.com/office/drawing/2014/main" val="2988284897"/>
                    </a:ext>
                  </a:extLst>
                </a:gridCol>
                <a:gridCol w="1408266">
                  <a:extLst>
                    <a:ext uri="{9D8B030D-6E8A-4147-A177-3AD203B41FA5}">
                      <a16:colId xmlns:a16="http://schemas.microsoft.com/office/drawing/2014/main" val="1662111142"/>
                    </a:ext>
                  </a:extLst>
                </a:gridCol>
                <a:gridCol w="1408266">
                  <a:extLst>
                    <a:ext uri="{9D8B030D-6E8A-4147-A177-3AD203B41FA5}">
                      <a16:colId xmlns:a16="http://schemas.microsoft.com/office/drawing/2014/main" val="81530972"/>
                    </a:ext>
                  </a:extLst>
                </a:gridCol>
              </a:tblGrid>
              <a:tr h="810756">
                <a:tc>
                  <a:txBody>
                    <a:bodyPr/>
                    <a:lstStyle/>
                    <a:p>
                      <a:pPr algn="ctr"/>
                      <a:endParaRPr lang="en-AU" sz="28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Surfing</a:t>
                      </a:r>
                      <a:endParaRPr lang="en-AU" sz="28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AU" sz="28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AU" sz="28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68164243"/>
                  </a:ext>
                </a:extLst>
              </a:tr>
              <a:tr h="810756"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Skate</a:t>
                      </a:r>
                      <a:endParaRPr lang="en-AU" sz="28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AU" sz="28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AU" sz="2800" b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AU" sz="2800" b="1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40367085"/>
                  </a:ext>
                </a:extLst>
              </a:tr>
              <a:tr h="810756">
                <a:tc>
                  <a:txBody>
                    <a:bodyPr/>
                    <a:lstStyle/>
                    <a:p>
                      <a:pPr algn="ctr"/>
                      <a:endParaRPr lang="en-AU" sz="28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AU" sz="2800" b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AU" sz="28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AU" sz="28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9957136"/>
                  </a:ext>
                </a:extLst>
              </a:tr>
              <a:tr h="810756">
                <a:tc>
                  <a:txBody>
                    <a:bodyPr/>
                    <a:lstStyle/>
                    <a:p>
                      <a:pPr algn="ctr"/>
                      <a:endParaRPr lang="en-AU" sz="28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AU" sz="2800" b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AU" sz="2800" b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AU" sz="28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8254883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808630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114</TotalTime>
  <Words>683</Words>
  <Application>Microsoft Office PowerPoint</Application>
  <PresentationFormat>Widescreen</PresentationFormat>
  <Paragraphs>184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2" baseType="lpstr">
      <vt:lpstr>Arial</vt:lpstr>
      <vt:lpstr>Calibri</vt:lpstr>
      <vt:lpstr>Calibri Light</vt:lpstr>
      <vt:lpstr>Cambria Math</vt:lpstr>
      <vt:lpstr>Wingdings</vt:lpstr>
      <vt:lpstr>Office Theme</vt:lpstr>
      <vt:lpstr>Lesson objective </vt:lpstr>
      <vt:lpstr>Sample space </vt:lpstr>
      <vt:lpstr>Probability </vt:lpstr>
      <vt:lpstr>Basic probability </vt:lpstr>
      <vt:lpstr>Whiteboards </vt:lpstr>
      <vt:lpstr>AND or OR </vt:lpstr>
      <vt:lpstr>Example </vt:lpstr>
      <vt:lpstr>Whiteboards </vt:lpstr>
      <vt:lpstr>Whiteboards </vt:lpstr>
      <vt:lpstr>How to Create a Two Way Table</vt:lpstr>
      <vt:lpstr>Create a two way table</vt:lpstr>
      <vt:lpstr>Create your own two way tables 6A – Problem solving with two way tables</vt:lpstr>
      <vt:lpstr>Answers</vt:lpstr>
      <vt:lpstr>Venn to two-way tables  </vt:lpstr>
      <vt:lpstr>Whiteboards </vt:lpstr>
      <vt:lpstr>Whiteboards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Lesson objective</dc:title>
  <dc:creator>DAVIES Rhys [Busselton Senior High School]</dc:creator>
  <cp:lastModifiedBy>DAVIES Rhys [Busselton Senior High School]</cp:lastModifiedBy>
  <cp:revision>14</cp:revision>
  <dcterms:created xsi:type="dcterms:W3CDTF">2022-06-06T04:30:42Z</dcterms:created>
  <dcterms:modified xsi:type="dcterms:W3CDTF">2022-06-14T14:01:22Z</dcterms:modified>
</cp:coreProperties>
</file>
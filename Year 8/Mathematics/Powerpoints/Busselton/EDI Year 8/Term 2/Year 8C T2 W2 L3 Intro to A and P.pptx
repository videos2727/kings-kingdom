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sldIdLst>
    <p:sldId id="262" r:id="rId6"/>
    <p:sldId id="258" r:id="rId7"/>
    <p:sldId id="269" r:id="rId8"/>
    <p:sldId id="270" r:id="rId9"/>
    <p:sldId id="281" r:id="rId10"/>
    <p:sldId id="267" r:id="rId11"/>
    <p:sldId id="261" r:id="rId12"/>
    <p:sldId id="273" r:id="rId13"/>
    <p:sldId id="279" r:id="rId14"/>
    <p:sldId id="280" r:id="rId15"/>
    <p:sldId id="282" r:id="rId16"/>
    <p:sldId id="260" r:id="rId17"/>
    <p:sldId id="285" r:id="rId18"/>
    <p:sldId id="266" r:id="rId19"/>
    <p:sldId id="283" r:id="rId20"/>
    <p:sldId id="268" r:id="rId21"/>
    <p:sldId id="284" r:id="rId22"/>
    <p:sldId id="256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02T02:43:06.2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24,'96'2,"104"-4,-139-9,-47 7,1 1,-1 0,1 1,-1 1,26 1,-36 1,-1-1,1 1,-1 0,0 0,1 0,-1 0,0 1,0-1,0 1,0 0,0 0,0 0,-1 0,1 1,-1-1,1 1,-1-1,0 1,0 0,0 0,0 0,-1 0,1 0,-1 1,0-1,0 0,0 0,0 1,0 3,3 24,-1 0,-1 1,-2-1,-4 33,1 18,1-3,4 117,2-176,1-4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0388-E30D-424C-9C3D-AB6391554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1BD10-5299-4BF5-98BD-6F077264D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AFF9D-6BD8-4801-A953-6205C229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98CEA-806C-4AB1-A21E-4CC368ED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2B67-9156-4B9B-B634-CB3190E7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27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B657-037E-454B-B0D2-F04447A9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3459-7660-47EC-9574-08885AAB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A702A-8988-4DC5-8B41-6E2BD74F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4D8FF-01DA-4FAF-9E6B-61E5E756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F74A-CA05-432C-8A7F-9DA3E010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6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AB7D1-23E2-49EB-855A-22FD1F9C7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53246-44AF-4E69-848B-D7AAE9EEA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8133-291A-4924-93DA-DA644D5C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9B3B-7E02-4066-8C9E-6EF793BB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03521-19E0-4ACB-A431-CBFDBB49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7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7C5A-A1CA-40AC-9250-E8AB85F5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7C92-A2D7-4335-80AD-0FDD994A0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94FA2-0A94-4C63-8AE3-A5A09B7D9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F70CE-39EC-4873-B798-ED0AD633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62227-BEBF-4BBB-9C3B-68595FFC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AB2E4-8CFC-47AB-98A4-BF063AD0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6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B1CC-6371-4861-A6BE-4F6E2A9C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8A534-333C-4ABD-9CFB-F5F18506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08E4F-3C31-4BFE-A547-FEBEEA14B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D0FEB-AEFA-415F-BB3A-E1173D3DC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C6F4E-C092-4CFC-B410-78CEA6D12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0717D-0F19-458F-B671-2FA483DD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E743C-82A3-4AFE-ADF7-23CBCD9F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003BF0-8ACD-40C4-A071-14E20920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53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1DD6-96FA-451B-848C-9B029D20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50842-C9F6-40B9-AF92-3867B890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88353-94B9-4FE5-890E-DCF3621C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C9F7F-543D-4205-9DFF-3792D53C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07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8D3F5-EC57-43E9-BD7B-25C60F25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45791-0447-4241-A358-75CCA2E8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23E6-5192-491A-9CD4-15FCCEB5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4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754E-14A4-4BAF-951C-822CB5987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9245-1DDF-46D0-8922-78CC97FAE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83B50-7850-4BDC-B1AE-69435565B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F6E88-F5C7-4959-BF50-71496594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DF68A-B76F-4FDE-8E4E-630680B8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9A642-683F-4892-861E-F0BF7D9C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107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37F7-53E8-4FFA-8018-312EFC55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A52C08-3B56-4369-9390-CD808DDB2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F28CB-2E9A-4019-B261-FA4A95128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CB158-0EAE-4E2D-9C82-E7FC3C09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748CD-9048-4D94-A078-25385717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EB213-D1AD-4CBD-9316-86CFD0B5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968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B0301-89E6-4AB1-B4ED-E0805538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E70D2-8BAA-43DF-9F20-2622DEF22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A9C9-3FD1-4321-9872-DB33F1987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08CCB-1683-4845-A91D-30598753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5AC14-E5BB-4E30-B1FA-5C319FD0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06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3DF5A8-E64A-469D-8D16-BFF9A7BBA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88251-E2BE-413D-BA22-ED0816A24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CCAC-E1EC-46E3-84E7-DF68B8AD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CEA5E-BC86-4F09-A6F1-BD0B7515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B7351-F2BC-4709-ADA8-BCAD9750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1642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297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3895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44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10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73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3782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530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277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467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49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157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633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6363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4098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06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70803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3537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723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272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1229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3828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3028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9899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825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4261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2835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6410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841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592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3296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6397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750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B2D8-EDDD-495C-AAB1-8423B57D2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FA3A1-9A3B-4454-A78E-E7032D3B7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A9E6-2441-47B8-AC26-0403B749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31BE6-0A52-4681-BA9D-2936440C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D272-A961-4DFB-B9B3-0180FFF4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0666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6DE2-B331-4EB5-8C1B-4149263D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043E-0C69-444D-9593-593DEA9C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1F9C-AB05-40C4-B61A-A64EA621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B36FF-4AF5-4637-A0DB-7182A7C3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ABD89-9E11-411B-B755-DB542721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9249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77DD-C87B-45BB-81FD-F8125AB3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FC4B6-C685-4869-BF4B-5F3062DBD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22677-9AD5-4244-9AAC-B2EFC500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C67EE-D603-43BE-9279-0638364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C0C13-D61D-4E44-BCB3-A77F775B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9936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7400-3901-42C8-B774-7409F5B9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65C6-0BE5-4D8E-A909-A81D685DB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57E30-BAA3-4B33-9B2F-C83714ADB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696B7-D25C-4F83-A4CB-9A8351FA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CB2F6-BDAC-44CD-A262-26AEF303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B7D2E-9452-4D45-88B0-1237420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66316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2839-1C34-4A0B-86E9-3E0562D5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222DF-093B-43A3-ABB0-A0D39757A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64F2D-D157-4645-A04E-7B3D7D36F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24F34-24A2-4482-910C-A8DBACFF4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38607-9AEA-4614-A71C-3C6C0A4BE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07444-F204-44D4-A0F0-7CD4622D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A3D93-32E8-49BB-8C16-5E92B669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F1C35-263F-48F3-B808-74C9E880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9996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525F-393A-439F-A6AD-21E9FC95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D8D84-12FE-49FC-BDEF-B70CB9D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FBB52-5296-4967-A6B7-B19C3D4C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ED712-23D6-47EF-A4A0-141D5D31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94843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70462-5B74-456D-B90C-E6DF9D40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982DD-1D12-46E2-B80C-2DAC23AD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2229-DE37-4572-B0BC-8FC11A66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80400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AC52-4F21-488C-B292-F21F7DDB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DAC96-1206-4A4D-A488-90D48EF17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D7618-8FC4-4973-B86D-8C16A0E3C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AAD53-4859-4264-866B-5DB5CD7B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754A2-1751-4F98-A75C-D18ED9F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24D0-573B-4B27-86DA-75587ED4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4994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382-B0CF-43E7-A0E2-F1CA5C64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98246-EE1E-4749-BE02-F31BEB6D6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1F528-1F9F-4C6D-AB84-B453C04A3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9680F-4667-4349-9A6F-C8EAC09D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AB311-DB6E-4756-9B34-0D852759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D8486-E26C-4E2A-B0EB-AF4F5CB3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5262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0911-4DA0-4DCE-9ED5-0890FB32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C4B78-4363-4C4E-ACE8-D1EA45CB7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1F8B5-60D3-491A-9EDF-CEFAD62E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586A5-B737-4652-A408-F7AC677B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34D42-FA07-443F-9DF9-E883A8B8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86406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ADCE3-85E6-4A4B-BDF2-EE0B3738D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6642C-3099-4C01-8F75-BED18746D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BBA6B-168F-436F-9D0E-E1A82286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42691-A772-4565-81D7-3B76E9FC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BAB1-F532-427F-BFBF-28F29FBA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452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A38AA-8328-42B5-BE69-68370DEB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8F475-5497-4BBF-A748-FB4908E57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CD03D-C230-45A1-9337-F8FB049D7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7FC3E-8FAE-4104-AE60-DCC96648AB11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8243-A837-4C44-AD3D-46410AC80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70330-F8AE-4764-B827-0031B322E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E99E-F08E-4CD8-BB59-7988D8F617B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0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E87C6-93E2-40DB-B9FF-42C846A24D2B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AEFA9-261D-47B3-8F1C-617655FE86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36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0853-795F-4073-A39E-93864F215CA1}" type="datetimeFigureOut">
              <a:rPr lang="en-GB" smtClean="0"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1F315-AE69-4F24-9588-F74D11FEE1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02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AD2FC-50B4-43B1-9CB7-F33A63B396A3}" type="datetimeFigureOut">
              <a:rPr lang="en-GB" smtClean="0"/>
              <a:pPr/>
              <a:t>02/05/2022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274B4-CAEB-466E-960C-6530044A04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8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AF243-4DFD-4B3C-8C00-98641960C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F1F9D-A833-462D-8396-730D8440B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ACC5-C47D-4E64-91D7-39831D11F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9357B-DDD2-472B-8D60-7C1F9F614F7C}" type="datetimeFigureOut">
              <a:rPr lang="en-AU" smtClean="0"/>
              <a:t>2/05/2022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7ADD-14C0-4E69-86FE-8ED8C2E3F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4E8A5-A3BB-4012-AFEA-9979EE7B6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39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247968" y="789689"/>
            <a:ext cx="1033205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600" b="1" u="sng" dirty="0"/>
          </a:p>
          <a:p>
            <a:r>
              <a:rPr lang="en-AU" sz="3600" dirty="0"/>
              <a:t>Title: </a:t>
            </a:r>
            <a:r>
              <a:rPr lang="en-AU" sz="3600" b="1" u="sng" dirty="0">
                <a:solidFill>
                  <a:srgbClr val="00B0F0"/>
                </a:solidFill>
              </a:rPr>
              <a:t>Intro to measurement </a:t>
            </a:r>
            <a:endParaRPr lang="en-AU" sz="3600" dirty="0">
              <a:solidFill>
                <a:srgbClr val="00B0F0"/>
              </a:solidFill>
            </a:endParaRPr>
          </a:p>
          <a:p>
            <a:endParaRPr lang="en-AU" sz="3600" b="1" u="sng" dirty="0">
              <a:solidFill>
                <a:srgbClr val="00B0F0"/>
              </a:solidFill>
            </a:endParaRPr>
          </a:p>
          <a:p>
            <a:r>
              <a:rPr lang="en-AU" sz="3600" b="1" u="sng" dirty="0">
                <a:solidFill>
                  <a:srgbClr val="00B0F0"/>
                </a:solidFill>
              </a:rPr>
              <a:t>Aim:</a:t>
            </a:r>
            <a:r>
              <a:rPr lang="en-AU" sz="2800" dirty="0">
                <a:solidFill>
                  <a:srgbClr val="00B0F0"/>
                </a:solidFill>
              </a:rPr>
              <a:t>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800" dirty="0">
                <a:solidFill>
                  <a:srgbClr val="00B0F0"/>
                </a:solidFill>
              </a:rPr>
              <a:t>TBAT calculate the perimeter and area of common geometric shapes.</a:t>
            </a:r>
          </a:p>
          <a:p>
            <a:r>
              <a:rPr lang="en-AU" sz="3600" b="1" u="sng" dirty="0">
                <a:solidFill>
                  <a:srgbClr val="00B0F0"/>
                </a:solidFill>
              </a:rPr>
              <a:t>Plan: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Review conversions of distance and area.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Review calculating the areas of common shapes.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>
                <a:solidFill>
                  <a:srgbClr val="00B0F0"/>
                </a:solidFill>
              </a:rPr>
              <a:t>Individual practice on worksheet</a:t>
            </a:r>
          </a:p>
          <a:p>
            <a:pPr marL="514350" indent="-514350" algn="ctr">
              <a:buFont typeface="+mj-lt"/>
              <a:buAutoNum type="arabicPeriod"/>
            </a:pP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400050" y="228600"/>
            <a:ext cx="248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02/05/2022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7FFB2-F22C-4D7F-BDA3-15AEDC0852FF}"/>
              </a:ext>
            </a:extLst>
          </p:cNvPr>
          <p:cNvSpPr txBox="1"/>
          <p:nvPr/>
        </p:nvSpPr>
        <p:spPr>
          <a:xfrm>
            <a:off x="8697982" y="532661"/>
            <a:ext cx="224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</a:t>
            </a:r>
            <a:r>
              <a:rPr lang="en-US" sz="2400" b="1">
                <a:highlight>
                  <a:srgbClr val="FFFF00"/>
                </a:highlight>
              </a:rPr>
              <a:t>and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9281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52737"/>
            <a:ext cx="8229600" cy="4525963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Perimeter – the distance around the </a:t>
            </a:r>
            <a:r>
              <a:rPr lang="en-GB" u="sng" dirty="0">
                <a:solidFill>
                  <a:srgbClr val="FF0000"/>
                </a:solidFill>
              </a:rPr>
              <a:t>outside</a:t>
            </a:r>
            <a:r>
              <a:rPr lang="en-GB" dirty="0">
                <a:solidFill>
                  <a:srgbClr val="FF0000"/>
                </a:solidFill>
              </a:rPr>
              <a:t> of a shape.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Area – the amount of space taken up by a 2D shape.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2FF757-B87F-437F-B9A5-D488F0272D14}"/>
              </a:ext>
            </a:extLst>
          </p:cNvPr>
          <p:cNvSpPr txBox="1">
            <a:spLocks/>
          </p:cNvSpPr>
          <p:nvPr/>
        </p:nvSpPr>
        <p:spPr>
          <a:xfrm>
            <a:off x="1981200" y="180800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prstClr val="black"/>
                </a:solidFill>
                <a:latin typeface="Calibri"/>
              </a:rPr>
              <a:t>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95A3-A112-43C6-876E-A9BD029F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3693310"/>
            <a:ext cx="4752528" cy="287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4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F450C3-366A-4EC4-940D-DC24A712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436" y="562450"/>
            <a:ext cx="8029128" cy="59441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0E1F3B-A357-4F6D-AB62-47190E75FFCA}"/>
              </a:ext>
            </a:extLst>
          </p:cNvPr>
          <p:cNvSpPr/>
          <p:nvPr/>
        </p:nvSpPr>
        <p:spPr>
          <a:xfrm>
            <a:off x="6872068" y="5240215"/>
            <a:ext cx="2996418" cy="1266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4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a square that is 1cm by 1cm. It has an area of 1cm</a:t>
            </a:r>
            <a:r>
              <a:rPr lang="en-GB" baseline="30000" dirty="0"/>
              <a:t>2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What is it’s area in mm</a:t>
            </a:r>
            <a:r>
              <a:rPr lang="en-GB" baseline="30000" dirty="0"/>
              <a:t>2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1cm</a:t>
            </a:r>
            <a:r>
              <a:rPr lang="en-GB" baseline="30000" dirty="0">
                <a:solidFill>
                  <a:srgbClr val="FF0000"/>
                </a:solidFill>
              </a:rPr>
              <a:t>2</a:t>
            </a:r>
            <a:r>
              <a:rPr lang="en-GB" dirty="0">
                <a:solidFill>
                  <a:srgbClr val="FF0000"/>
                </a:solidFill>
              </a:rPr>
              <a:t> = 100mm</a:t>
            </a:r>
            <a:r>
              <a:rPr lang="en-GB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20136" y="3356992"/>
            <a:ext cx="2304256" cy="21602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4232" y="2987660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17318" y="429309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176" y="4140370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A = 1cm</a:t>
            </a:r>
            <a:r>
              <a:rPr lang="en-GB" sz="3200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224" y="2996952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10mm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4392" y="429309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10mm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0216" y="3573016"/>
            <a:ext cx="19442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solidFill>
                  <a:prstClr val="black"/>
                </a:solidFill>
                <a:latin typeface="Calibri"/>
              </a:rPr>
              <a:t>?</a:t>
            </a:r>
            <a:endParaRPr lang="en-GB" sz="96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92144" y="4149081"/>
            <a:ext cx="2304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prstClr val="black"/>
                </a:solidFill>
                <a:latin typeface="Calibri"/>
              </a:rPr>
              <a:t>A = 100mm</a:t>
            </a:r>
            <a:r>
              <a:rPr lang="en-GB" sz="3200" baseline="30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426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5" grpId="1"/>
      <p:bldP spid="6" grpId="0"/>
      <p:bldP spid="6" grpId="1"/>
      <p:bldP spid="7" grpId="0"/>
      <p:bldP spid="7" grpId="1"/>
      <p:bldP spid="8" grpId="0"/>
      <p:bldP spid="9" grpId="0"/>
      <p:bldP spid="10" grpId="0"/>
      <p:bldP spid="10" grpId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5F7F-CE7F-415E-A098-A749D219F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Whiteboards ready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49223F5-5048-4644-8E25-FA5728D96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06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C2891D-136C-4435-8A33-D59E6ED6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67" y="1804804"/>
            <a:ext cx="4623343" cy="3913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F858B-9747-41A1-9F82-16FF02857955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𝟏𝟓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F858B-9747-41A1-9F82-16FF02857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51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104B92-A2FB-4C7A-A603-8DEEA142B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19" y="1838084"/>
            <a:ext cx="4934735" cy="3098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27F32F-5F62-44A7-ADAA-2063471DEF02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827F32F-5F62-44A7-ADAA-2063471DE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17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Triangles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45506" y="1728789"/>
                <a:ext cx="10972800" cy="4525963"/>
              </a:xfrm>
            </p:spPr>
            <p:txBody>
              <a:bodyPr/>
              <a:lstStyle/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b="1" dirty="0">
                    <a:solidFill>
                      <a:srgbClr val="00B0F0"/>
                    </a:solidFill>
                  </a:rPr>
                  <a:t>Area of a triangle = ½ x base x height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00B0F0"/>
                    </a:solidFill>
                  </a:rPr>
                  <a:t>			       =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</m:oMath>
                </a14:m>
                <a:endParaRPr lang="en-GB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5506" y="1728789"/>
                <a:ext cx="10972800" cy="4525963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367808" y="1484784"/>
            <a:ext cx="3024336" cy="17281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367808" y="1484784"/>
            <a:ext cx="3024336" cy="17281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>
            <a:off x="4367808" y="1484784"/>
            <a:ext cx="3024336" cy="1728192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7888" y="321297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672" y="216421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5746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Base and height are always perpendicular to each 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>
                <a:solidFill>
                  <a:srgbClr val="FF0000"/>
                </a:solidFill>
              </a:rPr>
              <a:t>Perpendicular</a:t>
            </a:r>
            <a:r>
              <a:rPr lang="en-GB" dirty="0"/>
              <a:t> – “at right angles to”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51584" y="4869160"/>
            <a:ext cx="30243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287688" y="3284984"/>
            <a:ext cx="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87688" y="4653136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780076" y="4509121"/>
            <a:ext cx="2664296" cy="13812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112224" y="3789040"/>
            <a:ext cx="720080" cy="14041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 rot="1680000">
            <a:off x="8150290" y="5051242"/>
            <a:ext cx="216024" cy="21602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28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of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Area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h𝑒𝑖𝑔h𝑡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𝑏𝑎𝑠𝑒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h𝑒𝑖𝑔h𝑡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bh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Triangle 9"/>
          <p:cNvSpPr/>
          <p:nvPr/>
        </p:nvSpPr>
        <p:spPr>
          <a:xfrm>
            <a:off x="2351584" y="3068960"/>
            <a:ext cx="3168352" cy="2664296"/>
          </a:xfrm>
          <a:prstGeom prst="rt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51584" y="5517232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6096000" y="3068960"/>
            <a:ext cx="1872208" cy="2016224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184232" y="3501008"/>
            <a:ext cx="1440160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9624392" y="3501008"/>
            <a:ext cx="576064" cy="15841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184232" y="3501008"/>
            <a:ext cx="2016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032104" y="4869160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5" name="Straight Arrow Connector 14"/>
          <p:cNvCxnSpPr>
            <a:stCxn id="13" idx="0"/>
            <a:endCxn id="13" idx="3"/>
          </p:cNvCxnSpPr>
          <p:nvPr/>
        </p:nvCxnSpPr>
        <p:spPr>
          <a:xfrm>
            <a:off x="7032104" y="3068960"/>
            <a:ext cx="0" cy="20162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379679" y="3501008"/>
            <a:ext cx="216024" cy="2160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624392" y="3501008"/>
            <a:ext cx="0" cy="158417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24000" y="429309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4200" y="573325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584" y="516378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4840" y="3131676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2304" y="3995772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6608" y="4067780"/>
            <a:ext cx="1043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27484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3986-6DC7-478C-AE19-AFFCACE65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Whiteboards ready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30D8EF-E943-498D-9892-77B8E8055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024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26E720-99F5-41BA-9612-4BDDEC15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53" y="2269263"/>
            <a:ext cx="5227542" cy="23194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4DCADA-911E-49E2-94C6-AC0562A3DF47}"/>
              </a:ext>
            </a:extLst>
          </p:cNvPr>
          <p:cNvSpPr/>
          <p:nvPr/>
        </p:nvSpPr>
        <p:spPr>
          <a:xfrm rot="1544130">
            <a:off x="2165387" y="2389781"/>
            <a:ext cx="330979" cy="387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357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US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𝟔𝟑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𝟏𝟕𝟔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3572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59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3058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US" sz="3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𝟕𝟐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𝟐𝟏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69FE6E-E282-44E0-B432-90B12FAF8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30581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8AF031A-0B2A-4C7F-9ADA-8C66F8BC401E}"/>
              </a:ext>
            </a:extLst>
          </p:cNvPr>
          <p:cNvSpPr/>
          <p:nvPr/>
        </p:nvSpPr>
        <p:spPr>
          <a:xfrm>
            <a:off x="1710435" y="1161232"/>
            <a:ext cx="4619344" cy="3875741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D1AB26-4D4D-4F9B-94FC-B503D15037D7}"/>
              </a:ext>
            </a:extLst>
          </p:cNvPr>
          <p:cNvSpPr txBox="1"/>
          <p:nvPr/>
        </p:nvSpPr>
        <p:spPr>
          <a:xfrm>
            <a:off x="462873" y="3281300"/>
            <a:ext cx="1710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prstClr val="black"/>
                </a:solidFill>
                <a:latin typeface="Calibri"/>
              </a:rPr>
              <a:t>18cm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2BCF6-14EC-4B7C-BD40-98CE53885CC2}"/>
              </a:ext>
            </a:extLst>
          </p:cNvPr>
          <p:cNvSpPr txBox="1"/>
          <p:nvPr/>
        </p:nvSpPr>
        <p:spPr>
          <a:xfrm>
            <a:off x="3021872" y="5111993"/>
            <a:ext cx="1710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prstClr val="black"/>
                </a:solidFill>
                <a:latin typeface="Calibri"/>
              </a:rPr>
              <a:t>24cm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908692-B792-4644-B3D7-CBCFAC42785C}"/>
              </a:ext>
            </a:extLst>
          </p:cNvPr>
          <p:cNvSpPr txBox="1"/>
          <p:nvPr/>
        </p:nvSpPr>
        <p:spPr>
          <a:xfrm>
            <a:off x="3892247" y="2514327"/>
            <a:ext cx="1710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prstClr val="black"/>
                </a:solidFill>
                <a:latin typeface="Calibri"/>
              </a:rPr>
              <a:t>30cm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F5DDB0-5DC1-451D-AE41-3F8A351602A3}"/>
                  </a:ext>
                </a:extLst>
              </p14:cNvPr>
              <p14:cNvContentPartPr/>
              <p14:nvPr/>
            </p14:nvContentPartPr>
            <p14:xfrm>
              <a:off x="1704205" y="4793788"/>
              <a:ext cx="198720" cy="235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F5DDB0-5DC1-451D-AE41-3F8A351602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6565" y="4775788"/>
                <a:ext cx="234360" cy="27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388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D314-2954-4448-9A2D-8BD4FEDE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 of parallelograms  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00983D30-57F4-42D6-BA8A-2560A4B70CE2}"/>
              </a:ext>
            </a:extLst>
          </p:cNvPr>
          <p:cNvSpPr/>
          <p:nvPr/>
        </p:nvSpPr>
        <p:spPr>
          <a:xfrm>
            <a:off x="3870664" y="3719744"/>
            <a:ext cx="3746377" cy="18859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E9F4827-BC91-4D5F-B1F4-43E6C91CB8CC}"/>
              </a:ext>
            </a:extLst>
          </p:cNvPr>
          <p:cNvSpPr/>
          <p:nvPr/>
        </p:nvSpPr>
        <p:spPr>
          <a:xfrm flipH="1">
            <a:off x="3870664" y="3715879"/>
            <a:ext cx="470516" cy="188595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28C521A6-BD6F-48E9-859B-C15E86A728E4}"/>
              </a:ext>
            </a:extLst>
          </p:cNvPr>
          <p:cNvSpPr/>
          <p:nvPr/>
        </p:nvSpPr>
        <p:spPr>
          <a:xfrm flipH="1">
            <a:off x="3870664" y="3723609"/>
            <a:ext cx="470516" cy="1885950"/>
          </a:xfrm>
          <a:prstGeom prst="rtTriangl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FE50D-0D8F-4316-ACCB-4886317B4B5A}"/>
              </a:ext>
            </a:extLst>
          </p:cNvPr>
          <p:cNvSpPr txBox="1"/>
          <p:nvPr/>
        </p:nvSpPr>
        <p:spPr>
          <a:xfrm>
            <a:off x="5211192" y="5609559"/>
            <a:ext cx="15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63FA1-5132-41ED-BC07-E0A3C64D287F}"/>
              </a:ext>
            </a:extLst>
          </p:cNvPr>
          <p:cNvSpPr txBox="1"/>
          <p:nvPr/>
        </p:nvSpPr>
        <p:spPr>
          <a:xfrm>
            <a:off x="2805343" y="4289522"/>
            <a:ext cx="15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8cm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3E2747-12D6-4C78-9505-042037454A89}"/>
              </a:ext>
            </a:extLst>
          </p:cNvPr>
          <p:cNvCxnSpPr/>
          <p:nvPr/>
        </p:nvCxnSpPr>
        <p:spPr>
          <a:xfrm flipV="1">
            <a:off x="3573261" y="3723609"/>
            <a:ext cx="0" cy="187822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796596-6EE7-4AFC-A7CE-0C4A5C5D037B}"/>
              </a:ext>
            </a:extLst>
          </p:cNvPr>
          <p:cNvSpPr txBox="1"/>
          <p:nvPr/>
        </p:nvSpPr>
        <p:spPr>
          <a:xfrm>
            <a:off x="4030462" y="1690688"/>
            <a:ext cx="345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= base x height </a:t>
            </a:r>
          </a:p>
        </p:txBody>
      </p:sp>
    </p:spTree>
    <p:extLst>
      <p:ext uri="{BB962C8B-B14F-4D97-AF65-F5344CB8AC3E}">
        <p14:creationId xmlns:p14="http://schemas.microsoft.com/office/powerpoint/2010/main" val="142455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0.26979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03AB-FF60-46F6-8F9D-F193931A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E83AE-B5F2-4017-99EB-2387418EE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 ×4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E83AE-B5F2-4017-99EB-2387418EE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526C27E0-DCA6-4306-94C1-0A15F636494F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758AEFB-9E1F-422D-B625-CF96ED06072B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38353-0892-4FFF-BD03-D87248B36FF7}"/>
              </a:ext>
            </a:extLst>
          </p:cNvPr>
          <p:cNvSpPr txBox="1"/>
          <p:nvPr/>
        </p:nvSpPr>
        <p:spPr>
          <a:xfrm>
            <a:off x="2139518" y="3420122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520E14-17C4-49FD-B804-5328AE5D3E06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F01916-6056-47C1-B993-6D8A710E1B15}"/>
              </a:ext>
            </a:extLst>
          </p:cNvPr>
          <p:cNvSpPr txBox="1"/>
          <p:nvPr/>
        </p:nvSpPr>
        <p:spPr>
          <a:xfrm>
            <a:off x="4012707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FE18741-EBDF-4CD7-A5CF-1D070BCD76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1703" y="4118183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𝑏h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=7,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=5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=7×5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35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𝑐𝑚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FE18741-EBDF-4CD7-A5CF-1D070BCD7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03" y="4118183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A6F254-18EE-4962-93BC-E947BB71B40B}"/>
              </a:ext>
            </a:extLst>
          </p:cNvPr>
          <p:cNvCxnSpPr>
            <a:cxnSpLocks/>
          </p:cNvCxnSpPr>
          <p:nvPr/>
        </p:nvCxnSpPr>
        <p:spPr>
          <a:xfrm flipV="1">
            <a:off x="11755515" y="2021574"/>
            <a:ext cx="0" cy="209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14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BB8D-42CC-4033-9E51-34A58DA8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097E021-5F43-47AA-AE70-57B5C296A0C8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AD23376-414A-4386-BD3F-3D30F273A9B3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779DB7-2519-43A1-A4DC-C502473F7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779DB7-2519-43A1-A4DC-C502473F7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E90E31-D6DF-4387-9903-E81C1317E3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=11,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h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=6 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E90E31-D6DF-4387-9903-E81C1317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8B60B7C-2741-4D37-98FB-6B37AE116A48}"/>
              </a:ext>
            </a:extLst>
          </p:cNvPr>
          <p:cNvSpPr txBox="1"/>
          <p:nvPr/>
        </p:nvSpPr>
        <p:spPr>
          <a:xfrm>
            <a:off x="4012707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E1C02-6F2A-4F05-8170-E9263328FFBD}"/>
              </a:ext>
            </a:extLst>
          </p:cNvPr>
          <p:cNvSpPr txBox="1"/>
          <p:nvPr/>
        </p:nvSpPr>
        <p:spPr>
          <a:xfrm>
            <a:off x="2076635" y="3369076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D013F-CFC6-4BB1-AF86-889C10F0DAA4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797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EC08-B1BA-4C04-A7E6-B6A1F819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</a:t>
            </a:r>
            <a:endParaRPr lang="en-AU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FB09C1A-8DC3-4B32-AAEB-8F577CDABBDF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B2EBD104-8DA3-4CD5-B25F-26F3682FDF27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C4E5B08-2B29-44B2-9473-0090A94B4B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01294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×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h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C4E5B08-2B29-44B2-9473-0090A94B4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3307672" cy="2491581"/>
              </a:xfrm>
              <a:prstGeom prst="rect">
                <a:avLst/>
              </a:prstGeo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B403DE-B6D9-4776-95FD-94EBC25B6680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0B9979-3A2D-4FEC-B64D-C7FC6E2564E1}"/>
              </a:ext>
            </a:extLst>
          </p:cNvPr>
          <p:cNvCxnSpPr>
            <a:cxnSpLocks/>
          </p:cNvCxnSpPr>
          <p:nvPr/>
        </p:nvCxnSpPr>
        <p:spPr>
          <a:xfrm flipV="1">
            <a:off x="11755515" y="2021574"/>
            <a:ext cx="0" cy="209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EAF89A-FD7E-4802-BE8D-3F21AD949E32}"/>
              </a:ext>
            </a:extLst>
          </p:cNvPr>
          <p:cNvSpPr txBox="1"/>
          <p:nvPr/>
        </p:nvSpPr>
        <p:spPr>
          <a:xfrm>
            <a:off x="2076635" y="3369076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7780C-19D2-47A2-9238-43A6CC8DD1B1}"/>
              </a:ext>
            </a:extLst>
          </p:cNvPr>
          <p:cNvSpPr txBox="1"/>
          <p:nvPr/>
        </p:nvSpPr>
        <p:spPr>
          <a:xfrm>
            <a:off x="4047478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3cm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CCD8B08-5E5A-45C7-8BE8-4657014E7B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=12, 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h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=5 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CCD8B08-5E5A-45C7-8BE8-4657014E7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0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E76001-C47A-4441-BA4B-A7D22D89D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44" y="1206066"/>
            <a:ext cx="5613501" cy="3702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B92BCA-DEB6-4D7A-94CE-3952A554E81F}"/>
              </a:ext>
            </a:extLst>
          </p:cNvPr>
          <p:cNvSpPr txBox="1"/>
          <p:nvPr/>
        </p:nvSpPr>
        <p:spPr>
          <a:xfrm>
            <a:off x="1318307" y="297320"/>
            <a:ext cx="9963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What is the perimeter and area of this shape?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4E44D-31B0-4C6A-8B30-105D967C873C}"/>
                  </a:ext>
                </a:extLst>
              </p:cNvPr>
              <p:cNvSpPr txBox="1"/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𝒎𝒎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3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𝟐𝟒</m:t>
                      </m:r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𝒎𝒎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3200" b="1" dirty="0">
                  <a:ea typeface="Cambria Math" panose="02040503050406030204" pitchFamily="18" charset="0"/>
                </a:endParaRPr>
              </a:p>
              <a:p>
                <a:endParaRPr lang="en-AU" sz="32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D4E44D-31B0-4C6A-8B30-105D967C8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96" y="1161232"/>
                <a:ext cx="5396643" cy="4173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65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9QIIR89B\MP90043943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"/>
            <a:ext cx="9144000" cy="6871607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487488" y="17240"/>
            <a:ext cx="8496944" cy="6669360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496" y="881336"/>
            <a:ext cx="158417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79776" y="233264"/>
            <a:ext cx="792088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5960" y="188640"/>
            <a:ext cx="1800200" cy="1584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6240" y="980728"/>
            <a:ext cx="86409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1631504" y="2609528"/>
            <a:ext cx="1728192" cy="792088"/>
          </a:xfrm>
          <a:prstGeom prst="parallelogram">
            <a:avLst>
              <a:gd name="adj" fmla="val 5823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Parallelogram 7"/>
          <p:cNvSpPr/>
          <p:nvPr/>
        </p:nvSpPr>
        <p:spPr>
          <a:xfrm>
            <a:off x="3935760" y="2348880"/>
            <a:ext cx="1944216" cy="1152128"/>
          </a:xfrm>
          <a:prstGeom prst="parallelogram">
            <a:avLst>
              <a:gd name="adj" fmla="val 459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Parallelogram 8"/>
          <p:cNvSpPr/>
          <p:nvPr/>
        </p:nvSpPr>
        <p:spPr>
          <a:xfrm>
            <a:off x="6168008" y="2564904"/>
            <a:ext cx="2376264" cy="792088"/>
          </a:xfrm>
          <a:prstGeom prst="parallelogram">
            <a:avLst>
              <a:gd name="adj" fmla="val 8971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1775520" y="4049688"/>
            <a:ext cx="2088232" cy="1008112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4871864" y="4049688"/>
            <a:ext cx="1296144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7392144" y="4121696"/>
            <a:ext cx="1944216" cy="1008112"/>
          </a:xfrm>
          <a:prstGeom prst="triangle">
            <a:avLst>
              <a:gd name="adj" fmla="val 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5560" y="52129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1664" y="9533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9776" y="174543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1864" y="73732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2024" y="177281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4152" y="33265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248" y="186562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8088" y="32849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30cm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8208" y="29249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15cm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8088" y="27809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7728" y="25649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9816" y="34290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20cm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9856" y="26369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5560" y="332960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11cm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5600" y="289756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60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16cm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367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14cm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3632" y="455374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3792" y="41937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5880" y="498579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12cm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6080" y="440972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18cm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2184" y="505780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20cm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2841785" y="4035833"/>
            <a:ext cx="0" cy="100811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2567608" y="2537520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4799856" y="2348880"/>
            <a:ext cx="0" cy="115212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7608168" y="2492896"/>
            <a:ext cx="0" cy="86409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75520" y="3052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19736" y="161256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03912" y="11663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96200" y="83671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31504" y="2393504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7768" y="22768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12024" y="24208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19536" y="4049688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1784" y="3905672"/>
            <a:ext cx="288032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2064" y="4049688"/>
            <a:ext cx="504056" cy="369332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6360" y="1"/>
            <a:ext cx="1331640" cy="3477875"/>
          </a:xfrm>
          <a:prstGeom prst="rect">
            <a:avLst/>
          </a:prstGeom>
          <a:solidFill>
            <a:schemeClr val="bg1"/>
          </a:solidFill>
          <a:ln w="762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prstClr val="black"/>
                </a:solidFill>
                <a:latin typeface="Calibri"/>
              </a:rPr>
              <a:t>Answers: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56cm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180cm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196cm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132cm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240cm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330cm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72cm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72cm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  <a:p>
            <a:pPr marL="342900" indent="-342900">
              <a:buFontTx/>
              <a:buAutoNum type="arabicParenR"/>
            </a:pPr>
            <a:r>
              <a:rPr lang="en-GB" sz="2000" b="1" dirty="0">
                <a:solidFill>
                  <a:prstClr val="black"/>
                </a:solidFill>
                <a:latin typeface="Calibri"/>
              </a:rPr>
              <a:t>180cm</a:t>
            </a:r>
            <a:r>
              <a:rPr lang="en-GB" sz="2000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GB" sz="2000" b="1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1FA2DF-0F07-4765-A3BB-946AA67D23EC}"/>
              </a:ext>
            </a:extLst>
          </p:cNvPr>
          <p:cNvCxnSpPr>
            <a:cxnSpLocks/>
          </p:cNvCxnSpPr>
          <p:nvPr/>
        </p:nvCxnSpPr>
        <p:spPr>
          <a:xfrm>
            <a:off x="8112224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C61D728-3C4D-4F82-8DDA-340250CE6381}"/>
              </a:ext>
            </a:extLst>
          </p:cNvPr>
          <p:cNvCxnSpPr>
            <a:cxnSpLocks/>
          </p:cNvCxnSpPr>
          <p:nvPr/>
        </p:nvCxnSpPr>
        <p:spPr>
          <a:xfrm>
            <a:off x="8976320" y="1435894"/>
            <a:ext cx="28168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72D6DDE-81BB-45CF-8A6D-F8EB4F54AD47}"/>
              </a:ext>
            </a:extLst>
          </p:cNvPr>
          <p:cNvCxnSpPr>
            <a:cxnSpLocks/>
          </p:cNvCxnSpPr>
          <p:nvPr/>
        </p:nvCxnSpPr>
        <p:spPr>
          <a:xfrm>
            <a:off x="8680697" y="836316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732254A-1B8A-4597-BEF1-4621EADAEC0B}"/>
              </a:ext>
            </a:extLst>
          </p:cNvPr>
          <p:cNvCxnSpPr>
            <a:cxnSpLocks/>
          </p:cNvCxnSpPr>
          <p:nvPr/>
        </p:nvCxnSpPr>
        <p:spPr>
          <a:xfrm>
            <a:off x="8669831" y="1690540"/>
            <a:ext cx="0" cy="264606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uiExpand="1" build="allAtOnce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505</Words>
  <Application>Microsoft Office PowerPoint</Application>
  <PresentationFormat>Widescreen</PresentationFormat>
  <Paragraphs>177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2_Office Theme</vt:lpstr>
      <vt:lpstr>3_Office Theme</vt:lpstr>
      <vt:lpstr>4_Office Theme</vt:lpstr>
      <vt:lpstr>PowerPoint Presentation</vt:lpstr>
      <vt:lpstr>Perimeter</vt:lpstr>
      <vt:lpstr>PowerPoint Presentation</vt:lpstr>
      <vt:lpstr>Area</vt:lpstr>
      <vt:lpstr>Whiteboards ready </vt:lpstr>
      <vt:lpstr>PowerPoint Presentation</vt:lpstr>
      <vt:lpstr>PowerPoint Presentation</vt:lpstr>
      <vt:lpstr>Area of Triangles</vt:lpstr>
      <vt:lpstr>Base and height are always perpendicular to each other</vt:lpstr>
      <vt:lpstr>Area of Triangles</vt:lpstr>
      <vt:lpstr>Whiteboards ready </vt:lpstr>
      <vt:lpstr>PowerPoint Presentation</vt:lpstr>
      <vt:lpstr>PowerPoint Presentation</vt:lpstr>
      <vt:lpstr>Area of parallelograms  </vt:lpstr>
      <vt:lpstr>I do </vt:lpstr>
      <vt:lpstr>We do </vt:lpstr>
      <vt:lpstr>You do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Denham Gale</dc:creator>
  <cp:lastModifiedBy>DAVIES Rhys [Busselton Senior High School]</cp:lastModifiedBy>
  <cp:revision>15</cp:revision>
  <dcterms:created xsi:type="dcterms:W3CDTF">2020-03-20T00:14:26Z</dcterms:created>
  <dcterms:modified xsi:type="dcterms:W3CDTF">2022-05-02T02:46:40Z</dcterms:modified>
</cp:coreProperties>
</file>
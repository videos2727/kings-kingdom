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64" r:id="rId6"/>
    <p:sldId id="267" r:id="rId7"/>
    <p:sldId id="260" r:id="rId8"/>
    <p:sldId id="261" r:id="rId9"/>
    <p:sldId id="262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C21C2-233B-4C14-8180-C7A2766701E2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9EDA3-B80B-4BD0-9EFE-0C354A4B11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458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to copy Venn diagram when finished and use to create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51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BACE-F295-4B8C-B347-61D9A4AB1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A95CC-3B50-4CBE-A851-951D0D80F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8F0E-C61C-4A93-8BA8-6F4A10E6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3CE27-D9F6-46A6-BB2F-ADB0CD5B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79ABA-F430-4702-8F76-177D295B7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83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160D-7A0E-491C-9F16-7A82CCEA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E436-6F79-407F-871E-AE5E20837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10CA-DA22-4391-815E-F68E7251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C8899-4CC0-4631-ACF2-03A38434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ACBB-AD3D-4C50-9875-F935BD62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483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34B1-EC26-4B10-965C-FCE90BAE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84EB7-A4B3-4C05-BB2C-CB8703BDC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90937-217B-419E-96B6-4B030EC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38E13-9846-436C-88E9-6F70E3BE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3A21-BCF7-4E47-97DF-E0C360D9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93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3193-5304-4EFC-8006-615EF14C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4CC3A-3D33-4264-9941-762DD0F90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36682-AC56-4B42-B9EA-AB0597798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E1BFE-9D9B-4994-AA9D-8519C21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C6584-A0E0-49D3-9136-E69E62E8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B5107-3528-4414-A499-85CC4B9B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3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82A9-CA38-4C82-8D70-0E6FA61B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0DB3-A88A-4C35-A5B5-E9748CED2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627DA-D3AC-431B-AB01-9010964AF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DB70F-EFC1-45DD-A23E-ED05FE29C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32A3D-1089-41EF-A18C-0736E611A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9FF06-0E4A-46FD-94A8-7EC7A28BF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1E5A2-3597-4930-A8E4-43E8346E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4C3C9-7BE9-4E39-B58E-5A232C3C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82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34D3-0BB5-4251-B881-F1E62324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63008-56D3-47EB-AF2A-994C26B5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791A0-4E53-4FE4-A63C-8572E3BE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78E24-F8E7-4AE4-817B-F01AF82B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31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6B954-F88A-40CF-B802-8F297EB6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633AA-3231-4C4A-B416-4CCE4F72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848CA-FBB9-420D-B009-AF7B1E5C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64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1905-597D-459A-967B-B9C350FC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8F87-CA27-4CD1-9AC2-A77B74513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3F06-F922-4B1F-804B-EA5BA3A8C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9837A-82CF-49D7-9A84-0435E721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C2329-2793-41B7-800E-8DC29BA3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E2D52-336C-4104-94C1-BEB16B14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78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747F-D60D-475D-AD30-292D5AA9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91CD5-0D03-4C9F-9E80-69115A6E2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E1E33-3E8C-4B9B-AA29-4A2CBC256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52984-29AF-4E38-8BAC-63B79966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B53B3-D69C-4C36-BE58-AE7DDBF8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E8881-8B2D-4E31-8304-7A8B186F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14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0388-89DD-463E-8C6B-3AA93F81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2D8D4-881F-4BEC-A351-1AA372CFB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C911E-3902-43BA-A068-6A026D73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8E687-C781-4B71-B2E8-34986058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2BB33-82C9-4303-B799-23599EC6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40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61945-ECDD-4C60-8F1D-DEDF16F9B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48E07-FE51-4751-A669-A8697C0C9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F3D6-07D1-49C5-8D8B-0BF15FEB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E470C-C720-4250-A78E-7432B6DE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02ACF-F60D-47EA-B449-66B5E737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234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999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436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396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76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320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775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395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883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908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4978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5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B9875-71C6-4152-974D-075CC21B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9EE29-7A56-428A-92C3-CAB88F6C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55BB4-719B-42F7-B414-4423C4FE6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47D1E-F7E5-43FE-AF94-C20407A794D9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49B86-E07D-41AB-B1B1-A11634325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AD7B-1E86-431C-B60D-EBB3881D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AE20C-B5C3-4658-97AF-B9F2CBE5D0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25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696D-153B-499B-83CF-BF50C5FB0E07}" type="datetimeFigureOut">
              <a:rPr lang="en-GB" smtClean="0"/>
              <a:t>13/06/2022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BADFB-49B5-4233-83FF-0CEB2E43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73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9F79F6-0671-42C0-930E-B9A14BDE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E850E7-69D8-4462-882A-0B614AECE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Representing events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Create and interpret Venn diagrams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Venn diagrams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27214-7B32-41B8-AE7D-B464353D2802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5597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C644-A837-4A23-BD62-3034E688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52DA-9A6D-416A-9604-77BF7EE6D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Think, pair and share (40 seconds)</a:t>
            </a:r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the difference between theoretical and experimental probability?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sample space?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the compliment of an event?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DD6CD-8E01-456E-90A2-9C4DFC1B7226}"/>
                  </a:ext>
                </a:extLst>
              </p:cNvPr>
              <p:cNvSpPr txBox="1"/>
              <p:nvPr/>
            </p:nvSpPr>
            <p:spPr>
              <a:xfrm>
                <a:off x="6014301" y="4001294"/>
                <a:ext cx="5445722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𝒆𝒗𝒆𝒏𝒕</m:t>
                          </m:r>
                        </m:e>
                      </m:d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𝑵𝒖𝒎𝒃𝒆𝒓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……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𝒏𝒖𝒎𝒃𝒆𝒓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 ………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DD6CD-8E01-456E-90A2-9C4DFC1B7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4001294"/>
                <a:ext cx="5445722" cy="8592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96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2B7C-33A6-45FB-BB57-CE33D26B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Terminology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95EC8-282E-4FCC-8F22-C8A02AFE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And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384739-9B66-4E58-803D-446E105686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In probability “and” describes features that must be satisfied.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blue eyes </a:t>
            </a:r>
            <a:r>
              <a:rPr lang="en-AU" b="1" u="sng" dirty="0"/>
              <a:t>and</a:t>
            </a:r>
            <a:r>
              <a:rPr lang="en-AU" dirty="0"/>
              <a:t> blonde hair.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u="sng" dirty="0"/>
              <a:t>Universal set</a:t>
            </a:r>
            <a:r>
              <a:rPr lang="en-AU" dirty="0"/>
              <a:t>: total number of </a:t>
            </a:r>
            <a:r>
              <a:rPr lang="en-AU"/>
              <a:t>something being </a:t>
            </a:r>
            <a:r>
              <a:rPr lang="en-AU" dirty="0"/>
              <a:t>represented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E05AD8-5AB3-4C6E-A497-61E0825EA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Or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CB389F-D41C-4844-956B-EDFFD39A01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dirty="0"/>
              <a:t>In probability “or” can be inclusive or exclusive.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blonde hair </a:t>
            </a:r>
            <a:r>
              <a:rPr lang="en-AU" b="1" u="sng" dirty="0"/>
              <a:t>or</a:t>
            </a:r>
            <a:r>
              <a:rPr lang="en-AU" dirty="0"/>
              <a:t> blue eyes. (inclusive of both)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blue eyes or blonde hair </a:t>
            </a:r>
            <a:r>
              <a:rPr lang="en-AU" b="1" u="sng" dirty="0"/>
              <a:t>but not</a:t>
            </a:r>
            <a:r>
              <a:rPr lang="en-AU" dirty="0"/>
              <a:t> both (Exclusive)  </a:t>
            </a:r>
          </a:p>
        </p:txBody>
      </p:sp>
    </p:spTree>
    <p:extLst>
      <p:ext uri="{BB962C8B-B14F-4D97-AF65-F5344CB8AC3E}">
        <p14:creationId xmlns:p14="http://schemas.microsoft.com/office/powerpoint/2010/main" val="26320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107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Blue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Brown hair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61798" y="324433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________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A3C03-726E-4E42-8F6B-A827B7435E6E}"/>
              </a:ext>
            </a:extLst>
          </p:cNvPr>
          <p:cNvSpPr txBox="1"/>
          <p:nvPr/>
        </p:nvSpPr>
        <p:spPr>
          <a:xfrm>
            <a:off x="3606290" y="3497344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E32C0-AFAD-49E9-9F48-F6358F963E07}"/>
              </a:ext>
            </a:extLst>
          </p:cNvPr>
          <p:cNvSpPr txBox="1"/>
          <p:nvPr/>
        </p:nvSpPr>
        <p:spPr>
          <a:xfrm>
            <a:off x="5868846" y="4078821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1F4F47-0123-4103-A71F-C8D3B321403B}"/>
              </a:ext>
            </a:extLst>
          </p:cNvPr>
          <p:cNvSpPr txBox="1"/>
          <p:nvPr/>
        </p:nvSpPr>
        <p:spPr>
          <a:xfrm>
            <a:off x="7910727" y="3429000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51D56-185D-44BC-B041-37106B5BC36E}"/>
              </a:ext>
            </a:extLst>
          </p:cNvPr>
          <p:cNvSpPr txBox="1"/>
          <p:nvPr/>
        </p:nvSpPr>
        <p:spPr>
          <a:xfrm>
            <a:off x="731750" y="6030452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7B0E5-EC30-4151-935E-45C3BC80AF3E}"/>
              </a:ext>
            </a:extLst>
          </p:cNvPr>
          <p:cNvSpPr txBox="1"/>
          <p:nvPr/>
        </p:nvSpPr>
        <p:spPr>
          <a:xfrm>
            <a:off x="914697" y="851256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8ED0CA-C595-4E2C-8004-6BCACE49879B}"/>
              </a:ext>
            </a:extLst>
          </p:cNvPr>
          <p:cNvSpPr txBox="1"/>
          <p:nvPr/>
        </p:nvSpPr>
        <p:spPr>
          <a:xfrm>
            <a:off x="7910727" y="113122"/>
            <a:ext cx="3891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Draw a mini version into notes</a:t>
            </a:r>
          </a:p>
          <a:p>
            <a:r>
              <a:rPr lang="en-US" dirty="0">
                <a:highlight>
                  <a:srgbClr val="FFFF00"/>
                </a:highlight>
              </a:rPr>
              <a:t>WITH space underneath. 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87EBA-107D-4032-A274-32D3DC26FEC4}"/>
              </a:ext>
            </a:extLst>
          </p:cNvPr>
          <p:cNvSpPr txBox="1"/>
          <p:nvPr/>
        </p:nvSpPr>
        <p:spPr>
          <a:xfrm>
            <a:off x="213267" y="1616780"/>
            <a:ext cx="2605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people had blue eyes</a:t>
            </a:r>
          </a:p>
          <a:p>
            <a:r>
              <a:rPr lang="en-US" dirty="0"/>
              <a:t>27 people had brown hair</a:t>
            </a:r>
          </a:p>
          <a:p>
            <a:r>
              <a:rPr lang="en-US" dirty="0"/>
              <a:t>12 had both</a:t>
            </a:r>
          </a:p>
          <a:p>
            <a:r>
              <a:rPr lang="en-US" dirty="0"/>
              <a:t>5 had neither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228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DC3-1E48-4083-BA7F-3A659BCE7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2271057" cy="1325563"/>
          </a:xfrm>
        </p:spPr>
        <p:txBody>
          <a:bodyPr/>
          <a:lstStyle/>
          <a:p>
            <a:pPr algn="ctr"/>
            <a:r>
              <a:rPr lang="en-AU" dirty="0"/>
              <a:t>Notes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49C53-A005-4A3D-9AF5-5A646CC81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B2E31-E381-4E8A-825C-74C789B93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and B)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 not both)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P(A’) – complimentary event (the opposite of something)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F625F-2323-4A1A-95E5-D168FA45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Example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and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8+12+15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>
                    <a:solidFill>
                      <a:srgbClr val="00B0F0"/>
                    </a:solidFill>
                  </a:rPr>
                  <a:t>P(</a:t>
                </a:r>
                <a:r>
                  <a:rPr lang="en-AU" dirty="0">
                    <a:solidFill>
                      <a:srgbClr val="00B0F0"/>
                    </a:solidFill>
                  </a:rPr>
                  <a:t>B eyes or B hair but not both)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40 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8+12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P(not 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15+5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2"/>
                <a:stretch>
                  <a:fillRect l="-1294" t="-18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AD69C9-E7F6-4A17-BF77-48DBE2B8E981}"/>
              </a:ext>
            </a:extLst>
          </p:cNvPr>
          <p:cNvSpPr txBox="1"/>
          <p:nvPr/>
        </p:nvSpPr>
        <p:spPr>
          <a:xfrm>
            <a:off x="3930977" y="807542"/>
            <a:ext cx="6917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F0"/>
                </a:solidFill>
              </a:rPr>
              <a:t>Universal set = total number represented in diagram </a:t>
            </a:r>
          </a:p>
        </p:txBody>
      </p:sp>
    </p:spTree>
    <p:extLst>
      <p:ext uri="{BB962C8B-B14F-4D97-AF65-F5344CB8AC3E}">
        <p14:creationId xmlns:p14="http://schemas.microsoft.com/office/powerpoint/2010/main" val="4271854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3539"/>
          </a:xfrm>
        </p:spPr>
        <p:txBody>
          <a:bodyPr>
            <a:normAutofit/>
          </a:bodyPr>
          <a:lstStyle/>
          <a:p>
            <a:r>
              <a:rPr lang="en-GB" dirty="0"/>
              <a:t>The Venn diagram below shows two events D and F.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Find:	a)  P(D and F)	b)  P(D’)		c)  P(D and F’)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d)  P(D or F)		e)  P(D’ or F)		f) Universal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5713" y="2442949"/>
            <a:ext cx="4148920" cy="2306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67200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306705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2097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8749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34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8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3078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8307" y="4175794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87DF7-A8A0-4F94-ABD9-550D759D9168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52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Venn diagram below shows what some people had for breakfast.</a:t>
            </a:r>
          </a:p>
          <a:p>
            <a:pPr marL="0" indent="0">
              <a:buNone/>
            </a:pPr>
            <a:r>
              <a:rPr lang="en-GB" dirty="0"/>
              <a:t>   C is the event that they had cereal</a:t>
            </a:r>
          </a:p>
          <a:p>
            <a:pPr marL="0" indent="0">
              <a:buNone/>
            </a:pPr>
            <a:r>
              <a:rPr lang="en-GB" dirty="0"/>
              <a:t>   O is the event that they had OJ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560860" y="2456597"/>
            <a:ext cx="4271749" cy="2374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352430" y="2688609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42462" y="2688608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4336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832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543" y="3521121"/>
            <a:ext cx="53089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P(C’)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P(C and O’)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P(C’ or O’)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6137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6813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4762" y="3274620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4520" y="4353634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178B9-EC1D-49EB-A5C7-BE02A9CF9D24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72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Conditional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‘Given that…’ questions in Venn diagrams narrow down the number of possible outcomes to just this part of the Venn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74507" y="3125337"/>
            <a:ext cx="4271749" cy="2374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366077" y="3357349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56109" y="3357348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67983" y="335734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2479" y="335734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OJ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9784" y="393055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0460" y="393055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8409" y="3943360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8167" y="5022374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560" y="2743032"/>
            <a:ext cx="55136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 that a person had cereal, what is the probability they didn’t have OJ?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16560" y="4560709"/>
                <a:ext cx="5513695" cy="2124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You are only selecting from those who had cereal, so it’s now out of only 54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Of these 54, 19 didn’t have OJ, so the answer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19</m:t>
                        </m:r>
                      </m:num>
                      <m:den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54</m:t>
                        </m:r>
                      </m:den>
                    </m:f>
                  </m:oMath>
                </a14:m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60" y="4560709"/>
                <a:ext cx="5513695" cy="2124684"/>
              </a:xfrm>
              <a:prstGeom prst="rect">
                <a:avLst/>
              </a:prstGeom>
              <a:blipFill>
                <a:blip r:embed="rId3"/>
                <a:stretch>
                  <a:fillRect l="-1436" t="-2292" b="-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257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73C3-03D8-4FCA-B50D-7EE1F80E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214B1-80D4-47EF-B3FF-954239B96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Structured </a:t>
            </a:r>
            <a:r>
              <a:rPr lang="en-US" dirty="0"/>
              <a:t>V</a:t>
            </a:r>
            <a:r>
              <a:rPr lang="en-US"/>
              <a:t>enn </a:t>
            </a:r>
            <a:r>
              <a:rPr lang="en-US" dirty="0"/>
              <a:t>diagram questions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9854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530</Words>
  <Application>Microsoft Office PowerPoint</Application>
  <PresentationFormat>Widescreen</PresentationFormat>
  <Paragraphs>124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Daily review </vt:lpstr>
      <vt:lpstr>Terminology </vt:lpstr>
      <vt:lpstr>Venn diagram </vt:lpstr>
      <vt:lpstr>Notes </vt:lpstr>
      <vt:lpstr>Venn Diagrams – An Example</vt:lpstr>
      <vt:lpstr>Venn Diagrams</vt:lpstr>
      <vt:lpstr>Venn Diagrams – Conditional Probability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33</cp:revision>
  <dcterms:created xsi:type="dcterms:W3CDTF">2021-05-25T04:49:01Z</dcterms:created>
  <dcterms:modified xsi:type="dcterms:W3CDTF">2022-06-13T08:38:14Z</dcterms:modified>
</cp:coreProperties>
</file>
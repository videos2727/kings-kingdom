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309" r:id="rId4"/>
    <p:sldId id="314" r:id="rId5"/>
    <p:sldId id="315" r:id="rId6"/>
    <p:sldId id="316" r:id="rId7"/>
    <p:sldId id="358" r:id="rId8"/>
    <p:sldId id="363" r:id="rId9"/>
    <p:sldId id="359" r:id="rId10"/>
    <p:sldId id="317" r:id="rId11"/>
    <p:sldId id="360" r:id="rId12"/>
    <p:sldId id="362" r:id="rId13"/>
    <p:sldId id="318" r:id="rId14"/>
    <p:sldId id="355" r:id="rId15"/>
    <p:sldId id="259" r:id="rId16"/>
    <p:sldId id="258" r:id="rId17"/>
    <p:sldId id="3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D9B8-95AB-313D-C05A-DD66858B4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07D0C-B0D5-268D-17D8-DB7B8620A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62821-96F2-2A13-E818-F1828900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5D24-D3A7-ECD9-0139-DFC18315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AB20A-C079-B55D-BA92-C602E4F6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847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F3E9-0BFE-73DE-7815-128C1255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9D99F-AE83-2B26-320F-706785A2E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A9484-DDD9-CF81-A310-5D534B64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353E3-84BC-4489-7851-DD0F1BE4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47653-2B76-80B3-A22E-69E4A02C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292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1990-7674-420F-5CFD-101F3C79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B1377-2FFD-6FBC-FBD2-EBF539A83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5B8DF-D746-CEE8-4675-E3C3AA09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CF747-901E-256D-A690-90EB62D9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B7E99-B2B5-1CC2-208A-AADF87BD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1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FEC8D-663F-0118-44B2-DCD65C71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91D6-5E88-DEDE-650C-7A48EACA9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CAF0B-B7AB-781A-27E2-B9161F07D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95718-E5CA-25C9-CC67-4A096B4B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46656-95B2-A4AD-E1B4-FD72FB3E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53864-8B56-301F-2F78-693BD909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5067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9785-AA36-A726-13EE-E424FBBE8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8B189-2E6F-534F-094C-D51661E30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4140B-DB9E-4A22-B6EB-E11426969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2D52A-E2F8-C98D-1E08-638C703A9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F5A18E-01EB-3260-A724-231D38DEC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B4F73-0F53-910E-B4A2-68731C82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B4585-BC21-3308-695F-4481A7907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B02FCE-0F5A-23F9-469E-16A52CC8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305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0C59-D8E8-3E6C-AE38-747E4FC6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66CE6-278C-D4E2-9C11-DC41656F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09BB4-8657-D0B0-A62B-80733024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8D30E-8090-C907-B0D9-C9F6910F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891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6A792-3EF4-8548-0193-689273ACA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D14652-606E-6FEC-DD8D-D46BF5CCB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1C42E-5096-B32C-F551-1EF7BC3C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971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6F0EE-9067-194D-C601-90CE215D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88A32-728C-71E6-F75B-9985E61E5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06D74-11D3-2CDB-1757-FA071F37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4C1A-0838-E66F-5D43-28FEFBF83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C068F-02F5-2A79-1EAD-7872A310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E6E0B-86FD-36EF-F118-50F441864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024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A49D-FE35-CAFB-0818-5A845550F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1BD80-469C-6AE4-1C9E-364531686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CAE6C-696B-FE29-A34D-C5F5165A2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32B7A-CB38-0C4B-7BBF-EDAE4AC3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BCF9B-30B6-4642-5F09-4964C58D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6015C-0E79-1E93-15E9-009C2CC33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7015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15BB9-4261-810D-4699-F5B6D3B3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E7014-1C01-F797-9816-89C884C91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D4738-7C71-7A34-95F0-13DB35A5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C5B6B-E6DB-8926-29D4-41E3967D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BB82B-D330-78AA-74E3-81465F25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14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036A6-1B46-5C1F-93EC-24289B635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C38D1-8FC1-D200-2C10-F5797EB5B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ED371-49FE-AA11-2DBC-F1E21FF8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DDEF8-5D4C-5A49-D591-B9BBDD6B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8CE24-2A39-7E3D-8F66-7B0A40B7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449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656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30426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0937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499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8669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9800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777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33176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4525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203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3039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1336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20603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5836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08853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2212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91A8B1-82C7-C7C0-032C-21AE76083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A9EBA-E0B2-9F72-8B93-D3A6E70D4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A36D4-A778-2D6B-FF47-3A537850A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9543A-7DA2-4C1F-B9AD-4F7F2032D205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B2C6E-61F0-08C0-1535-93AFDF7C4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B1B4E-351F-3C5B-39B4-071992C6B6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845DF4-D528-46ED-BD9E-EF24160ED4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31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15/06/2022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6183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1.png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EE94-6398-4E44-9756-D65D45FC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9DCC8-326C-4712-AFB7-2BF83D132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Topic review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Assign probability using Venn diagrams and two-way tables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simplifying expressions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Using “AND” “OR”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Assigning probability  </a:t>
            </a:r>
            <a:endParaRPr lang="en-AU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22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8103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𝒆𝒇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120" r="-3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NON-examples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3g + 3h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5 + 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3"/>
                <a:stretch>
                  <a:fillRect l="-3663" t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EE52823-E617-4037-B1DD-B8211D0CEB9F}"/>
              </a:ext>
            </a:extLst>
          </p:cNvPr>
          <p:cNvSpPr/>
          <p:nvPr/>
        </p:nvSpPr>
        <p:spPr>
          <a:xfrm>
            <a:off x="3999345" y="2384686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B8D0513-569B-42F1-80CA-205DBB9E10E7}"/>
              </a:ext>
            </a:extLst>
          </p:cNvPr>
          <p:cNvSpPr/>
          <p:nvPr/>
        </p:nvSpPr>
        <p:spPr>
          <a:xfrm>
            <a:off x="5029199" y="3660204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2686CD2-3A45-471A-88EB-EEC7FEE2681D}"/>
              </a:ext>
            </a:extLst>
          </p:cNvPr>
          <p:cNvSpPr/>
          <p:nvPr/>
        </p:nvSpPr>
        <p:spPr>
          <a:xfrm>
            <a:off x="4928049" y="4499411"/>
            <a:ext cx="1383974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E2FA0BD9-B859-4086-B858-B5C855D55D22}"/>
              </a:ext>
            </a:extLst>
          </p:cNvPr>
          <p:cNvSpPr/>
          <p:nvPr/>
        </p:nvSpPr>
        <p:spPr>
          <a:xfrm>
            <a:off x="5029199" y="5338618"/>
            <a:ext cx="683491" cy="381983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2AD53C-721F-4ED6-B031-86534E09193C}"/>
              </a:ext>
            </a:extLst>
          </p:cNvPr>
          <p:cNvSpPr/>
          <p:nvPr/>
        </p:nvSpPr>
        <p:spPr>
          <a:xfrm>
            <a:off x="1267142" y="2386116"/>
            <a:ext cx="872743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0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905E-03EE-44E4-9C6F-B25C7577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Practice 1 – simplify in exercise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1D866-D306-44C6-938D-08CB5C2BB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566" y="2133600"/>
            <a:ext cx="4509172" cy="3777622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AU" sz="2400" b="1" dirty="0"/>
              <a:t>10e + 3e </a:t>
            </a:r>
          </a:p>
          <a:p>
            <a:pPr>
              <a:buAutoNum type="arabicPeriod"/>
            </a:pPr>
            <a:r>
              <a:rPr lang="en-AU" sz="2400" b="1" dirty="0"/>
              <a:t>3d + 5d </a:t>
            </a:r>
          </a:p>
          <a:p>
            <a:pPr>
              <a:buAutoNum type="arabicPeriod"/>
            </a:pPr>
            <a:r>
              <a:rPr lang="en-AU" sz="2400" b="1" dirty="0"/>
              <a:t>19x – 5x </a:t>
            </a:r>
          </a:p>
          <a:p>
            <a:pPr>
              <a:buAutoNum type="arabicPeriod"/>
            </a:pPr>
            <a:r>
              <a:rPr lang="en-AU" sz="2400" b="1" dirty="0"/>
              <a:t>10w + 3e + 2w + 5e </a:t>
            </a:r>
          </a:p>
          <a:p>
            <a:pPr>
              <a:buAutoNum type="arabicPeriod"/>
            </a:pPr>
            <a:r>
              <a:rPr lang="en-AU" sz="2400" b="1" dirty="0"/>
              <a:t>2d + 3d – 7d </a:t>
            </a:r>
          </a:p>
          <a:p>
            <a:pPr>
              <a:buAutoNum type="arabicPeriod"/>
            </a:pPr>
            <a:r>
              <a:rPr lang="en-AU" sz="2400" b="1" dirty="0"/>
              <a:t>2z + 3x + 6y + 4z – 2x + 4y</a:t>
            </a:r>
          </a:p>
          <a:p>
            <a:pPr>
              <a:buAutoNum type="arabicPeriod"/>
            </a:pPr>
            <a:r>
              <a:rPr lang="en-AU" sz="2400" b="1" dirty="0"/>
              <a:t>3x + 2x + 5y </a:t>
            </a:r>
          </a:p>
          <a:p>
            <a:pPr>
              <a:buAutoNum type="arabicPeriod"/>
            </a:pPr>
            <a:r>
              <a:rPr lang="en-AU" sz="2400" b="1" dirty="0"/>
              <a:t>-4f -2f + 8f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425BA-B362-43E6-B43A-977F332E8903}"/>
              </a:ext>
            </a:extLst>
          </p:cNvPr>
          <p:cNvSpPr txBox="1"/>
          <p:nvPr/>
        </p:nvSpPr>
        <p:spPr>
          <a:xfrm>
            <a:off x="8198860" y="1998346"/>
            <a:ext cx="280785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Answers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13e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8d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14x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12w + 8e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-2d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6z + x + 10y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5x + 5y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2f </a:t>
            </a:r>
          </a:p>
        </p:txBody>
      </p:sp>
    </p:spTree>
    <p:extLst>
      <p:ext uri="{BB962C8B-B14F-4D97-AF65-F5344CB8AC3E}">
        <p14:creationId xmlns:p14="http://schemas.microsoft.com/office/powerpoint/2010/main" val="171763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EAA27-9382-4280-8ACD-1C804837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Probability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076F3-D966-4F83-B882-84D4DABABC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𝑓𝑎𝑣𝑜𝑢𝑟𝑎𝑏𝑙𝑒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#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A bag contains 5 red marbles, 6 blue marbles and 9 yellow marbles.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What is the probability of pulling out a red? 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P(blue)?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P(not blue)?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076F3-D966-4F83-B882-84D4DABABC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15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F036-8B2A-487A-8939-F59C36AC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Complimentary events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A983D-2D70-4F9A-83D8-56716B3E5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1" u="sng" dirty="0">
                <a:solidFill>
                  <a:srgbClr val="FF0000"/>
                </a:solidFill>
              </a:rPr>
              <a:t>Complimentary event </a:t>
            </a:r>
          </a:p>
          <a:p>
            <a:pPr>
              <a:buFontTx/>
              <a:buChar char="-"/>
            </a:pPr>
            <a:r>
              <a:rPr lang="en-US" sz="3600" dirty="0">
                <a:solidFill>
                  <a:srgbClr val="FF0000"/>
                </a:solidFill>
              </a:rPr>
              <a:t>The opposite of something happening 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What is the opposite of ….</a:t>
            </a:r>
          </a:p>
          <a:p>
            <a:pPr marL="742950" indent="-742950">
              <a:buAutoNum type="alphaLcParenR"/>
            </a:pPr>
            <a:r>
              <a:rPr lang="en-AU" sz="3600" dirty="0"/>
              <a:t>Rolling a 4? </a:t>
            </a:r>
          </a:p>
          <a:p>
            <a:pPr marL="742950" indent="-742950">
              <a:buAutoNum type="alphaLcParenR"/>
            </a:pPr>
            <a:r>
              <a:rPr lang="en-AU" sz="3600" dirty="0"/>
              <a:t>Getting a tails?</a:t>
            </a:r>
          </a:p>
          <a:p>
            <a:pPr marL="742950" indent="-742950">
              <a:buAutoNum type="alphaLcParenR"/>
            </a:pPr>
            <a:r>
              <a:rPr lang="en-AU" sz="3600" dirty="0"/>
              <a:t>Person owning a dog?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8785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2B7C-33A6-45FB-BB57-CE33D26B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Terminology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95EC8-282E-4FCC-8F22-C8A02AFEA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And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384739-9B66-4E58-803D-446E105686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</a:t>
            </a:r>
            <a:r>
              <a:rPr lang="en-AU" b="1" dirty="0" err="1">
                <a:solidFill>
                  <a:srgbClr val="FF0000"/>
                </a:solidFill>
              </a:rPr>
              <a:t>eans</a:t>
            </a:r>
            <a:r>
              <a:rPr lang="en-AU" b="1" dirty="0">
                <a:solidFill>
                  <a:srgbClr val="FF0000"/>
                </a:solidFill>
              </a:rPr>
              <a:t> favourable outcomes MUST be both.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E05AD8-5AB3-4C6E-A497-61E0825EA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Or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CB389F-D41C-4844-956B-EDFFD39A01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b="1" dirty="0">
                <a:solidFill>
                  <a:srgbClr val="FF0000"/>
                </a:solidFill>
              </a:rPr>
              <a:t>Means it can be one or the other or both.</a:t>
            </a:r>
          </a:p>
          <a:p>
            <a:pPr marL="0" indent="0" algn="ctr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a person who has blue eyes or blonde hair </a:t>
            </a:r>
            <a:r>
              <a:rPr lang="en-AU" b="1" u="sng" dirty="0"/>
              <a:t>but not</a:t>
            </a:r>
            <a:r>
              <a:rPr lang="en-AU" dirty="0"/>
              <a:t> both (Exclusive)  </a:t>
            </a:r>
          </a:p>
        </p:txBody>
      </p:sp>
    </p:spTree>
    <p:extLst>
      <p:ext uri="{BB962C8B-B14F-4D97-AF65-F5344CB8AC3E}">
        <p14:creationId xmlns:p14="http://schemas.microsoft.com/office/powerpoint/2010/main" val="263200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306165A-A9D3-47F7-954E-FF4C10CE8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7888" y="1825625"/>
            <a:ext cx="387496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Students were asked which streaming service they liked.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U = </a:t>
            </a:r>
          </a:p>
          <a:p>
            <a:pPr marL="514350" indent="-514350">
              <a:buAutoNum type="alphaLcParenR"/>
            </a:pPr>
            <a:r>
              <a:rPr lang="en-US" dirty="0"/>
              <a:t>P(liked Netflix) = </a:t>
            </a:r>
          </a:p>
          <a:p>
            <a:pPr marL="514350" indent="-514350">
              <a:buAutoNum type="alphaLcParenR"/>
            </a:pPr>
            <a:r>
              <a:rPr lang="en-US" dirty="0"/>
              <a:t>P(only Disney+) =</a:t>
            </a:r>
          </a:p>
          <a:p>
            <a:pPr marL="514350" indent="-514350">
              <a:buAutoNum type="alphaLcParenR"/>
            </a:pPr>
            <a:r>
              <a:rPr lang="en-US" dirty="0"/>
              <a:t>P(</a:t>
            </a:r>
            <a:r>
              <a:rPr lang="en-US"/>
              <a:t>liked both) = </a:t>
            </a:r>
            <a:endParaRPr lang="en-AU" dirty="0"/>
          </a:p>
        </p:txBody>
      </p:sp>
      <p:pic>
        <p:nvPicPr>
          <p:cNvPr id="9" name="Picture 2" descr="How to Create Blank Venn Diagrams">
            <a:extLst>
              <a:ext uri="{FF2B5EF4-FFF2-40B4-BE49-F238E27FC236}">
                <a16:creationId xmlns:a16="http://schemas.microsoft.com/office/drawing/2014/main" id="{17C28C3C-5F7A-4F70-9434-A88361E60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87" y="1600200"/>
            <a:ext cx="7013736" cy="384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7AC93F-A965-474C-A1C1-EF14CFE82880}"/>
              </a:ext>
            </a:extLst>
          </p:cNvPr>
          <p:cNvSpPr/>
          <p:nvPr/>
        </p:nvSpPr>
        <p:spPr>
          <a:xfrm>
            <a:off x="301487" y="1262270"/>
            <a:ext cx="7550449" cy="45024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E1973-5A2F-4859-AB1B-E4520161192D}"/>
              </a:ext>
            </a:extLst>
          </p:cNvPr>
          <p:cNvSpPr txBox="1"/>
          <p:nvPr/>
        </p:nvSpPr>
        <p:spPr>
          <a:xfrm>
            <a:off x="3439504" y="2872408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Sally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34BAFE-C92D-4440-8E3F-D5F94045B7BF}"/>
              </a:ext>
            </a:extLst>
          </p:cNvPr>
          <p:cNvSpPr txBox="1"/>
          <p:nvPr/>
        </p:nvSpPr>
        <p:spPr>
          <a:xfrm>
            <a:off x="2047460" y="3801239"/>
            <a:ext cx="693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Tom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25583-5C28-4EB0-B7AE-55A0D8BAA2C5}"/>
              </a:ext>
            </a:extLst>
          </p:cNvPr>
          <p:cNvSpPr txBox="1"/>
          <p:nvPr/>
        </p:nvSpPr>
        <p:spPr>
          <a:xfrm>
            <a:off x="3409848" y="3272518"/>
            <a:ext cx="797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Suzie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855D29-4030-476F-99D7-C4A9DFE8F6B6}"/>
              </a:ext>
            </a:extLst>
          </p:cNvPr>
          <p:cNvSpPr txBox="1"/>
          <p:nvPr/>
        </p:nvSpPr>
        <p:spPr>
          <a:xfrm>
            <a:off x="5456081" y="3801239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Tim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BC251F-8945-4E46-8290-625D94D002A2}"/>
              </a:ext>
            </a:extLst>
          </p:cNvPr>
          <p:cNvSpPr txBox="1"/>
          <p:nvPr/>
        </p:nvSpPr>
        <p:spPr>
          <a:xfrm>
            <a:off x="5307496" y="2672353"/>
            <a:ext cx="699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Sam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8DBB15-FC84-4797-9307-835B99C74A65}"/>
              </a:ext>
            </a:extLst>
          </p:cNvPr>
          <p:cNvSpPr txBox="1"/>
          <p:nvPr/>
        </p:nvSpPr>
        <p:spPr>
          <a:xfrm>
            <a:off x="1422881" y="2743200"/>
            <a:ext cx="8863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Henry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0682F4-1959-4284-8D93-AE8A34C238D6}"/>
              </a:ext>
            </a:extLst>
          </p:cNvPr>
          <p:cNvSpPr txBox="1"/>
          <p:nvPr/>
        </p:nvSpPr>
        <p:spPr>
          <a:xfrm>
            <a:off x="1033670" y="3401129"/>
            <a:ext cx="571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Jay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67F920-61E5-467E-8D76-4D5D726FCD46}"/>
              </a:ext>
            </a:extLst>
          </p:cNvPr>
          <p:cNvSpPr txBox="1"/>
          <p:nvPr/>
        </p:nvSpPr>
        <p:spPr>
          <a:xfrm>
            <a:off x="3479418" y="3697998"/>
            <a:ext cx="657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Rob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1FD234-BB4A-4CAF-866E-1F810E3F8C53}"/>
              </a:ext>
            </a:extLst>
          </p:cNvPr>
          <p:cNvSpPr txBox="1"/>
          <p:nvPr/>
        </p:nvSpPr>
        <p:spPr>
          <a:xfrm>
            <a:off x="4562400" y="4327382"/>
            <a:ext cx="9599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Hayley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E5BA1B-9687-4655-999C-84C090058BCF}"/>
              </a:ext>
            </a:extLst>
          </p:cNvPr>
          <p:cNvSpPr txBox="1"/>
          <p:nvPr/>
        </p:nvSpPr>
        <p:spPr>
          <a:xfrm>
            <a:off x="2309214" y="2261468"/>
            <a:ext cx="746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Greg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F5E9FD-348B-4140-9B15-2684A2D5EA67}"/>
              </a:ext>
            </a:extLst>
          </p:cNvPr>
          <p:cNvSpPr txBox="1"/>
          <p:nvPr/>
        </p:nvSpPr>
        <p:spPr>
          <a:xfrm>
            <a:off x="2146852" y="1685161"/>
            <a:ext cx="9523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Netflix</a:t>
            </a:r>
            <a:r>
              <a:rPr lang="en-US" sz="2000" dirty="0"/>
              <a:t> </a:t>
            </a:r>
            <a:endParaRPr lang="en-AU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405A56-5AA8-49DC-93FE-48FDA4FA4216}"/>
              </a:ext>
            </a:extLst>
          </p:cNvPr>
          <p:cNvSpPr txBox="1"/>
          <p:nvPr/>
        </p:nvSpPr>
        <p:spPr>
          <a:xfrm>
            <a:off x="4823663" y="1736167"/>
            <a:ext cx="1084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Disney+</a:t>
            </a:r>
            <a:r>
              <a:rPr lang="en-US" sz="2000" dirty="0"/>
              <a:t>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238551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 –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3539"/>
          </a:xfrm>
        </p:spPr>
        <p:txBody>
          <a:bodyPr>
            <a:normAutofit/>
          </a:bodyPr>
          <a:lstStyle/>
          <a:p>
            <a:r>
              <a:rPr lang="en-GB" dirty="0"/>
              <a:t>The Venn diagram below shows two events D and F.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Find:	a)  P(D and F)	b)  P(Not D)		c)  P(D only)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	d)  P(D or F)		e)  P(Not D or F)		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5713" y="2442949"/>
            <a:ext cx="4148920" cy="2306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67200" y="2681785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5306705" y="2681785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42097" y="2681785"/>
            <a:ext cx="491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8749" y="2681785"/>
            <a:ext cx="491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3416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816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3078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8307" y="4175794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87DF7-A8A0-4F94-ABD9-550D759D9168}"/>
              </a:ext>
            </a:extLst>
          </p:cNvPr>
          <p:cNvSpPr txBox="1"/>
          <p:nvPr/>
        </p:nvSpPr>
        <p:spPr>
          <a:xfrm>
            <a:off x="9021452" y="584462"/>
            <a:ext cx="214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We do</a:t>
            </a:r>
            <a:r>
              <a:rPr lang="en-US" sz="2400" dirty="0"/>
              <a:t> </a:t>
            </a:r>
            <a:endParaRPr lang="en-A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E7EC1-BD02-423E-AE26-3CC1CFC1EA76}"/>
              </a:ext>
            </a:extLst>
          </p:cNvPr>
          <p:cNvSpPr txBox="1"/>
          <p:nvPr/>
        </p:nvSpPr>
        <p:spPr>
          <a:xfrm>
            <a:off x="3719016" y="2155119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 =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052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156E-844E-4552-85E2-921D77F0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BB54A3-B657-43E6-A975-85328E7CDD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806" y="1690688"/>
            <a:ext cx="5543643" cy="3204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E302E4-FD7E-4005-8283-6B5D578CDC32}"/>
              </a:ext>
            </a:extLst>
          </p:cNvPr>
          <p:cNvSpPr txBox="1"/>
          <p:nvPr/>
        </p:nvSpPr>
        <p:spPr>
          <a:xfrm>
            <a:off x="6315075" y="1819275"/>
            <a:ext cx="5638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Students were asked if they had brown hair or wore glasses. </a:t>
            </a:r>
          </a:p>
          <a:p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How many students were asked? 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If selected at random…</a:t>
            </a:r>
          </a:p>
          <a:p>
            <a:r>
              <a:rPr lang="en-AU" sz="2800" dirty="0"/>
              <a:t>b) P(B hair and Glasses)</a:t>
            </a:r>
          </a:p>
          <a:p>
            <a:r>
              <a:rPr lang="en-AU" sz="2800" dirty="0"/>
              <a:t>c) P(Only glasses) </a:t>
            </a:r>
          </a:p>
          <a:p>
            <a:r>
              <a:rPr lang="en-AU" sz="2800" dirty="0"/>
              <a:t>d) P(brown hair or glasses) </a:t>
            </a:r>
          </a:p>
          <a:p>
            <a:r>
              <a:rPr lang="en-AU" sz="2800" dirty="0"/>
              <a:t>e) P(not brown hair) </a:t>
            </a:r>
          </a:p>
          <a:p>
            <a:r>
              <a:rPr lang="en-AU" sz="2800" dirty="0"/>
              <a:t>f) P(didn’t have either)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439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F5312-397E-4DFD-9135-59E8B9611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98AB6-CED9-46E4-A2D3-2A15B5D209C1}"/>
              </a:ext>
            </a:extLst>
          </p:cNvPr>
          <p:cNvSpPr txBox="1"/>
          <p:nvPr/>
        </p:nvSpPr>
        <p:spPr>
          <a:xfrm>
            <a:off x="6553200" y="1428658"/>
            <a:ext cx="5638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Students were asked which hobby they like.</a:t>
            </a:r>
          </a:p>
          <a:p>
            <a:pPr marL="514350" indent="-514350">
              <a:buAutoNum type="alphaLcParenR"/>
            </a:pPr>
            <a:r>
              <a:rPr lang="en-US" sz="2800" dirty="0"/>
              <a:t>How many students were asked? 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If selected at random…</a:t>
            </a:r>
          </a:p>
          <a:p>
            <a:r>
              <a:rPr lang="en-AU" sz="2800" dirty="0"/>
              <a:t>b) P(surf and skate)</a:t>
            </a:r>
          </a:p>
          <a:p>
            <a:r>
              <a:rPr lang="en-AU" sz="2800" dirty="0"/>
              <a:t>c) P(Only skate) </a:t>
            </a:r>
          </a:p>
          <a:p>
            <a:r>
              <a:rPr lang="en-AU" sz="2800" dirty="0"/>
              <a:t>d) P(surf or skate) </a:t>
            </a:r>
          </a:p>
          <a:p>
            <a:r>
              <a:rPr lang="en-AU" sz="2800" dirty="0"/>
              <a:t>e) P(not surf) </a:t>
            </a:r>
          </a:p>
          <a:p>
            <a:r>
              <a:rPr lang="en-AU" sz="2800" dirty="0"/>
              <a:t>f) P(didn’t like either) </a:t>
            </a:r>
            <a:endParaRPr lang="en-US" sz="28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265281B-4DA1-4442-8745-6123B1D0F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46" y="1806354"/>
            <a:ext cx="6019800" cy="4076700"/>
          </a:xfrm>
        </p:spPr>
      </p:pic>
    </p:spTree>
    <p:extLst>
      <p:ext uri="{BB962C8B-B14F-4D97-AF65-F5344CB8AC3E}">
        <p14:creationId xmlns:p14="http://schemas.microsoft.com/office/powerpoint/2010/main" val="3705039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1624A-6C12-4B2B-8851-269D19AD1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08402-4C64-4CE0-9D4A-2D2A37D18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300 people were asked if they have visited Bali or Fiji.</a:t>
            </a:r>
          </a:p>
          <a:p>
            <a:pPr marL="0" indent="0">
              <a:buNone/>
            </a:pPr>
            <a:r>
              <a:rPr lang="en-AU" dirty="0"/>
              <a:t>181 people have been to Fiji </a:t>
            </a:r>
          </a:p>
          <a:p>
            <a:pPr marL="0" indent="0">
              <a:buNone/>
            </a:pPr>
            <a:r>
              <a:rPr lang="en-AU" dirty="0"/>
              <a:t>163 people have been to Bali </a:t>
            </a:r>
          </a:p>
          <a:p>
            <a:pPr marL="0" indent="0">
              <a:buNone/>
            </a:pPr>
            <a:r>
              <a:rPr lang="en-AU" dirty="0"/>
              <a:t>54 people have been to both.</a:t>
            </a:r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Draw a Venn diagram</a:t>
            </a:r>
          </a:p>
          <a:p>
            <a:pPr marL="514350" indent="-514350">
              <a:buAutoNum type="alphaLcParenR"/>
            </a:pPr>
            <a:r>
              <a:rPr lang="en-AU" dirty="0"/>
              <a:t>How many people haven’t been to either? </a:t>
            </a:r>
          </a:p>
        </p:txBody>
      </p:sp>
    </p:spTree>
    <p:extLst>
      <p:ext uri="{BB962C8B-B14F-4D97-AF65-F5344CB8AC3E}">
        <p14:creationId xmlns:p14="http://schemas.microsoft.com/office/powerpoint/2010/main" val="2298616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88C9-2B90-4C59-A666-33B750CA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Two-way tables </a:t>
            </a:r>
            <a:endParaRPr lang="en-AU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612E793-CA2A-4160-AF9F-3838AE682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169750"/>
              </p:ext>
            </p:extLst>
          </p:nvPr>
        </p:nvGraphicFramePr>
        <p:xfrm>
          <a:off x="74350" y="1690688"/>
          <a:ext cx="7196092" cy="2689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9023">
                  <a:extLst>
                    <a:ext uri="{9D8B030D-6E8A-4147-A177-3AD203B41FA5}">
                      <a16:colId xmlns:a16="http://schemas.microsoft.com/office/drawing/2014/main" val="3044692917"/>
                    </a:ext>
                  </a:extLst>
                </a:gridCol>
                <a:gridCol w="1799023">
                  <a:extLst>
                    <a:ext uri="{9D8B030D-6E8A-4147-A177-3AD203B41FA5}">
                      <a16:colId xmlns:a16="http://schemas.microsoft.com/office/drawing/2014/main" val="4205637150"/>
                    </a:ext>
                  </a:extLst>
                </a:gridCol>
                <a:gridCol w="1799023">
                  <a:extLst>
                    <a:ext uri="{9D8B030D-6E8A-4147-A177-3AD203B41FA5}">
                      <a16:colId xmlns:a16="http://schemas.microsoft.com/office/drawing/2014/main" val="724268012"/>
                    </a:ext>
                  </a:extLst>
                </a:gridCol>
                <a:gridCol w="1799023">
                  <a:extLst>
                    <a:ext uri="{9D8B030D-6E8A-4147-A177-3AD203B41FA5}">
                      <a16:colId xmlns:a16="http://schemas.microsoft.com/office/drawing/2014/main" val="4085324830"/>
                    </a:ext>
                  </a:extLst>
                </a:gridCol>
              </a:tblGrid>
              <a:tr h="622231">
                <a:tc>
                  <a:txBody>
                    <a:bodyPr/>
                    <a:lstStyle/>
                    <a:p>
                      <a:pPr algn="ctr"/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Soccer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Not soccer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 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57394"/>
                  </a:ext>
                </a:extLst>
              </a:tr>
              <a:tr h="62223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Volleyball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21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18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39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056021"/>
                  </a:ext>
                </a:extLst>
              </a:tr>
              <a:tr h="62223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Not volleyball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12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9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21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585812"/>
                  </a:ext>
                </a:extLst>
              </a:tr>
              <a:tr h="622231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Total 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33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27</a:t>
                      </a:r>
                      <a:endParaRPr lang="en-A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60</a:t>
                      </a:r>
                      <a:endParaRPr lang="en-AU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7159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AC06FC6-12FA-436B-B8BF-D395D1FA01DA}"/>
              </a:ext>
            </a:extLst>
          </p:cNvPr>
          <p:cNvSpPr txBox="1"/>
          <p:nvPr/>
        </p:nvSpPr>
        <p:spPr>
          <a:xfrm>
            <a:off x="7430610" y="1690688"/>
            <a:ext cx="47613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Several students were asked what sports they play. </a:t>
            </a:r>
          </a:p>
          <a:p>
            <a:endParaRPr lang="en-US" sz="2400" b="1" dirty="0"/>
          </a:p>
          <a:p>
            <a:pPr marL="342900" indent="-342900">
              <a:buAutoNum type="alphaLcParenR"/>
            </a:pPr>
            <a:r>
              <a:rPr lang="en-US" sz="2400" b="1" dirty="0"/>
              <a:t>P(Playing soccer and volleyball)</a:t>
            </a:r>
          </a:p>
          <a:p>
            <a:pPr marL="342900" indent="-342900">
              <a:buAutoNum type="alphaLcParenR"/>
            </a:pPr>
            <a:endParaRPr lang="en-US" sz="2400" b="1" dirty="0"/>
          </a:p>
          <a:p>
            <a:pPr marL="342900" indent="-342900">
              <a:buAutoNum type="alphaLcParenR"/>
            </a:pPr>
            <a:r>
              <a:rPr lang="en-US" sz="2400" b="1" dirty="0"/>
              <a:t>P(Playing soccer or volleyball)</a:t>
            </a:r>
          </a:p>
          <a:p>
            <a:pPr marL="342900" indent="-342900">
              <a:buAutoNum type="alphaLcParenR"/>
            </a:pPr>
            <a:endParaRPr lang="en-US" sz="2400" b="1" dirty="0"/>
          </a:p>
          <a:p>
            <a:pPr marL="342900" indent="-342900">
              <a:buAutoNum type="alphaLcParenR"/>
            </a:pPr>
            <a:r>
              <a:rPr lang="en-US" sz="2400" b="1" dirty="0"/>
              <a:t>P(Playing only soccer)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359170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C942-DD5E-4885-BFDF-80D83E58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4" name="Picture 2" descr="How to Create Blank Venn Diagrams">
            <a:extLst>
              <a:ext uri="{FF2B5EF4-FFF2-40B4-BE49-F238E27FC236}">
                <a16:creationId xmlns:a16="http://schemas.microsoft.com/office/drawing/2014/main" id="{CA9308CE-EB96-4930-AF7D-4747A8CF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67737"/>
            <a:ext cx="5633062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4F7987-D562-468E-B30B-B65A2B853C87}"/>
              </a:ext>
            </a:extLst>
          </p:cNvPr>
          <p:cNvSpPr/>
          <p:nvPr/>
        </p:nvSpPr>
        <p:spPr>
          <a:xfrm>
            <a:off x="838200" y="2177249"/>
            <a:ext cx="5510212" cy="36576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1CFEB-01E7-4458-B73A-F8F61250F09A}"/>
              </a:ext>
            </a:extLst>
          </p:cNvPr>
          <p:cNvSpPr txBox="1"/>
          <p:nvPr/>
        </p:nvSpPr>
        <p:spPr>
          <a:xfrm>
            <a:off x="2059619" y="2331591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Surfing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9FE52-A62B-489E-BB61-065CD3E16D1C}"/>
              </a:ext>
            </a:extLst>
          </p:cNvPr>
          <p:cNvSpPr txBox="1"/>
          <p:nvPr/>
        </p:nvSpPr>
        <p:spPr>
          <a:xfrm>
            <a:off x="4395372" y="2331591"/>
            <a:ext cx="1771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Skate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0AF1C-ACB0-4721-916C-72E85D0AF649}"/>
              </a:ext>
            </a:extLst>
          </p:cNvPr>
          <p:cNvSpPr txBox="1"/>
          <p:nvPr/>
        </p:nvSpPr>
        <p:spPr>
          <a:xfrm>
            <a:off x="2059619" y="3284336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21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1AD9A-4DFC-4D10-8FF3-733C8BCDFFE4}"/>
              </a:ext>
            </a:extLst>
          </p:cNvPr>
          <p:cNvSpPr txBox="1"/>
          <p:nvPr/>
        </p:nvSpPr>
        <p:spPr>
          <a:xfrm>
            <a:off x="3479030" y="3275056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9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EFCF0-A90D-4473-A9D6-4B3C7C30B67B}"/>
              </a:ext>
            </a:extLst>
          </p:cNvPr>
          <p:cNvSpPr txBox="1"/>
          <p:nvPr/>
        </p:nvSpPr>
        <p:spPr>
          <a:xfrm>
            <a:off x="4699612" y="3272232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15</a:t>
            </a:r>
            <a:r>
              <a:rPr lang="en-US" dirty="0"/>
              <a:t> 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2533B9-78E8-4C9F-AA9B-6F353E3B2565}"/>
              </a:ext>
            </a:extLst>
          </p:cNvPr>
          <p:cNvSpPr txBox="1"/>
          <p:nvPr/>
        </p:nvSpPr>
        <p:spPr>
          <a:xfrm>
            <a:off x="5727854" y="5117310"/>
            <a:ext cx="1771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6</a:t>
            </a:r>
            <a:r>
              <a:rPr lang="en-US" dirty="0"/>
              <a:t> </a:t>
            </a:r>
            <a:endParaRPr lang="en-AU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FFF25E-F695-449D-A073-83078FDD2437}"/>
              </a:ext>
            </a:extLst>
          </p:cNvPr>
          <p:cNvGraphicFramePr>
            <a:graphicFrameLocks noGrp="1"/>
          </p:cNvGraphicFramePr>
          <p:nvPr/>
        </p:nvGraphicFramePr>
        <p:xfrm>
          <a:off x="6429375" y="2135146"/>
          <a:ext cx="5633064" cy="3243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266">
                  <a:extLst>
                    <a:ext uri="{9D8B030D-6E8A-4147-A177-3AD203B41FA5}">
                      <a16:colId xmlns:a16="http://schemas.microsoft.com/office/drawing/2014/main" val="1765463113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2988284897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1662111142"/>
                    </a:ext>
                  </a:extLst>
                </a:gridCol>
                <a:gridCol w="1408266">
                  <a:extLst>
                    <a:ext uri="{9D8B030D-6E8A-4147-A177-3AD203B41FA5}">
                      <a16:colId xmlns:a16="http://schemas.microsoft.com/office/drawing/2014/main" val="81530972"/>
                    </a:ext>
                  </a:extLst>
                </a:gridCol>
              </a:tblGrid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Surfing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164243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Skate</a:t>
                      </a:r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367085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957136"/>
                  </a:ext>
                </a:extLst>
              </a:tr>
              <a:tr h="810756"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548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863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6E26F2-28CF-0786-CE2D-E0EFF9D0B227}"/>
                  </a:ext>
                </a:extLst>
              </p:cNvPr>
              <p:cNvSpPr txBox="1"/>
              <p:nvPr/>
            </p:nvSpPr>
            <p:spPr>
              <a:xfrm>
                <a:off x="392689" y="3889414"/>
                <a:ext cx="10198646" cy="2226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AU" sz="2400" baseline="-250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6E26F2-28CF-0786-CE2D-E0EFF9D0B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89" y="3889414"/>
                <a:ext cx="10198646" cy="2226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>
            <a:extLst>
              <a:ext uri="{FF2B5EF4-FFF2-40B4-BE49-F238E27FC236}">
                <a16:creationId xmlns:a16="http://schemas.microsoft.com/office/drawing/2014/main" id="{567E9969-1FC2-D399-B5BA-4C8AFBCA3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574" y="2019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1AE88E8-99B3-FE3B-2EDE-70F94B0DA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778923"/>
              </p:ext>
            </p:extLst>
          </p:nvPr>
        </p:nvGraphicFramePr>
        <p:xfrm>
          <a:off x="302930" y="201954"/>
          <a:ext cx="5553075" cy="355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FX Draw" r:id="rId4" imgW="5552138" imgH="3553267" progId="FXDraw.Graphic">
                  <p:embed/>
                </p:oleObj>
              </mc:Choice>
              <mc:Fallback>
                <p:oleObj name="FX Draw" r:id="rId4" imgW="5552138" imgH="3553267" progId="FXDraw.Graphi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1AE88E8-99B3-FE3B-2EDE-70F94B0DAF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930" y="201954"/>
                        <a:ext cx="5553075" cy="355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961668-1D42-B7C0-A38A-FD24CAF2E53A}"/>
              </a:ext>
            </a:extLst>
          </p:cNvPr>
          <p:cNvSpPr txBox="1"/>
          <p:nvPr/>
        </p:nvSpPr>
        <p:spPr>
          <a:xfrm>
            <a:off x="5956983" y="1914758"/>
            <a:ext cx="51304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 what the following probabilities would represent in context to the Venn diagram using appropriate mathematical language.</a:t>
            </a:r>
            <a:endParaRPr lang="en-A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537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567E9969-1FC2-D399-B5BA-4C8AFBCA3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574" y="2019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1AE88E8-99B3-FE3B-2EDE-70F94B0DA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444585"/>
              </p:ext>
            </p:extLst>
          </p:nvPr>
        </p:nvGraphicFramePr>
        <p:xfrm>
          <a:off x="348248" y="252442"/>
          <a:ext cx="5551487" cy="355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FX Draw" r:id="rId3" imgW="5552280" imgH="3553200" progId="FXDraw.Graphic">
                  <p:embed/>
                </p:oleObj>
              </mc:Choice>
              <mc:Fallback>
                <p:oleObj name="FX Draw" r:id="rId3" imgW="5552280" imgH="3553200" progId="FXDraw.Graphic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1AE88E8-99B3-FE3B-2EDE-70F94B0DAF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48" y="252442"/>
                        <a:ext cx="5551487" cy="355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D7318A-98EF-A534-A0E0-0B5C7239B013}"/>
                  </a:ext>
                </a:extLst>
              </p:cNvPr>
              <p:cNvSpPr txBox="1"/>
              <p:nvPr/>
            </p:nvSpPr>
            <p:spPr>
              <a:xfrm>
                <a:off x="403908" y="3754779"/>
                <a:ext cx="10198646" cy="2226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baseline="-250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D7318A-98EF-A534-A0E0-0B5C7239B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08" y="3754779"/>
                <a:ext cx="10198646" cy="22265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2D65FC6-867C-7C1E-221C-57968A65E45E}"/>
              </a:ext>
            </a:extLst>
          </p:cNvPr>
          <p:cNvSpPr txBox="1"/>
          <p:nvPr/>
        </p:nvSpPr>
        <p:spPr>
          <a:xfrm>
            <a:off x="5956983" y="1914758"/>
            <a:ext cx="51304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Describe what the following probabilities would represent in context to the Venn diagram using appropriate mathematical language.</a:t>
            </a:r>
            <a:endParaRPr lang="en-A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2276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9E5DE7-41B2-45A6-AE22-27397B79B8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6671EA2-8D61-4F50-B5D1-65E50410BC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36177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656</Words>
  <Application>Microsoft Office PowerPoint</Application>
  <PresentationFormat>Widescreen</PresentationFormat>
  <Paragraphs>173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FX Draw</vt:lpstr>
      <vt:lpstr>Lesson objective </vt:lpstr>
      <vt:lpstr>Terminology</vt:lpstr>
      <vt:lpstr>Practice 1 – simplify in exercise book</vt:lpstr>
      <vt:lpstr>Probability </vt:lpstr>
      <vt:lpstr>Complimentary events </vt:lpstr>
      <vt:lpstr>Terminology </vt:lpstr>
      <vt:lpstr>PowerPoint Presentation</vt:lpstr>
      <vt:lpstr>Venn Diagrams – An Example</vt:lpstr>
      <vt:lpstr>Whiteboards </vt:lpstr>
      <vt:lpstr>Whiteboards </vt:lpstr>
      <vt:lpstr>Whiteboards </vt:lpstr>
      <vt:lpstr>Two-way tables </vt:lpstr>
      <vt:lpstr>Whiteboards </vt:lpstr>
      <vt:lpstr>PowerPoint Presentation</vt:lpstr>
      <vt:lpstr>PowerPoint Presentation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GALE Denham [Busselton Senior High School]</dc:creator>
  <cp:lastModifiedBy>DAVIES Rhys [Busselton Senior High School]</cp:lastModifiedBy>
  <cp:revision>9</cp:revision>
  <dcterms:created xsi:type="dcterms:W3CDTF">2022-06-14T00:11:56Z</dcterms:created>
  <dcterms:modified xsi:type="dcterms:W3CDTF">2022-06-14T23:59:08Z</dcterms:modified>
</cp:coreProperties>
</file>
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0" r:id="rId4"/>
    <p:sldId id="354" r:id="rId5"/>
    <p:sldId id="355" r:id="rId6"/>
    <p:sldId id="263" r:id="rId7"/>
    <p:sldId id="258" r:id="rId8"/>
    <p:sldId id="260" r:id="rId9"/>
    <p:sldId id="259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6977-4075-44DF-9F15-65CB7C8E8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8210A-09FF-41B1-82F4-B530CB7F5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1D110-40C9-4381-83DD-ECD41721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7EB34-4E42-43EF-9A00-FEC0EC76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5D3FF-2E0C-4930-842B-60744EF5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76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E3DF-A40D-45BE-A204-02A1A5A3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13461-4F9D-4C95-AEB1-2EF206D7E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019CD-628A-4270-B3CE-4937FA5F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CA83C-03A3-45B7-B141-0FCD276D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97138-CAE8-46D1-A84A-3C80960F1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72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F2FDB-3EC0-4EF4-912F-39BAF1B7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4EF6B-5BC4-421C-8E8D-D94002137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F0D7D-1A6B-4788-B549-D2F1AC75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296CA-85D7-4BAC-BBA5-FB870AD0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4278B-10C1-49E2-8201-6ECE7866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67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A399-E8E9-4393-A3B8-7FCA7DD6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6C240-72E9-4C8E-9E7C-3D3CA26317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FEC9D-65DE-4F6A-BF10-4E2CFAE6E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A31E0-D327-4914-9C59-95E4B7D3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9D3B4-088D-4FD8-8D34-BBAD2663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1B680-AF2B-4837-8160-18A0354D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4248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36CD-64A1-4AB6-98C9-735BD447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96895-B9D8-499B-9F9D-A5B6069DC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DE2EA-C600-46A5-8D39-0F14105BE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8FCD22-CCCD-4C92-ABA2-84F108F20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6468D-8F29-4764-BFE9-53CF48359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D45D09-EBC5-45A6-85AF-3D645DA1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17B833-6EBF-4508-A1A5-B985D853E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A1E52-ECFA-4C82-B211-5F9E0161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161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053B-7A61-4A64-9B67-C20E0EEB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83F19E-0FA6-4749-B096-61C473EE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92D55-24F8-478D-A120-1E00BB14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52949-1A5A-42C8-9A2F-F66C8895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15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DC6D1E-A75C-4F52-94E8-5276C573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C31A3-05C8-4048-8971-C22463A75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F0E66-2F3C-41F2-B2D5-0B32801B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8336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3867-6D49-4F0C-9138-9D9025533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3C5ED-EFBE-4CB6-9A82-3F645A845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1A1D-4BB1-4FA8-9CAE-104CD1621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1EB60-5414-4093-AC48-862DC4D3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14557-6802-4003-A48B-CF6F72A7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E0637-4B06-4916-8FD4-35CD2707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965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47F7-6C5E-4C06-A8B4-0FE04971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4E1C71-458C-4DE4-A1A0-B92BC9BA3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47BBC-F99C-4E5A-BBC6-DF231ABE7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044F6-755F-4F00-B669-74310B10B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DA4CE-FC1D-43A3-AEAE-00C16360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4200A-3C7E-4C0C-902E-C3C375FE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31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E0D3-5DE2-4EDF-91D8-9C3D79C9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84D5F-5A4B-483D-B953-7644F46A6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2610C-6057-4E23-A413-C44F7BA3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F6FF1-0A83-4EB1-9C64-4BD1B0A3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10325-CD41-4BC8-90F4-0DFC138F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64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5C6E1E-1762-4CFD-9354-821CAEB12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3A21F-B40C-4E23-B1C0-9D81A1984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C3A06-1085-4286-B885-DD9A2E43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0279-4212-4E61-B6AC-0E62FE893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9A62C-8A7A-451D-B34A-2D99DC67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156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F041D5-43A9-4E5A-8FE0-B153C3C5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037D8-9BF7-4AE4-960D-B8C986030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E8056-8CAA-49E7-941C-BCEB83F31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05A72-2729-4377-BC5A-BD7F446E022C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1ED8B-0C27-4537-A846-09B68F023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C001B-9C89-48E0-82A9-2A4F53418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D258C-D95A-462B-B421-57EAF84787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27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575FAA-4CD4-4153-891C-29A3A7F8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2A815B-D0EE-4479-B17E-9DE83CBF3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Experimental probability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Assign experimental probability base on experiments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Determine expected outcomes from probability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Theoretical probability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Expected outcomes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DAFEC4-B858-4250-831B-7BC87D98E960}"/>
              </a:ext>
            </a:extLst>
          </p:cNvPr>
          <p:cNvSpPr txBox="1"/>
          <p:nvPr/>
        </p:nvSpPr>
        <p:spPr>
          <a:xfrm>
            <a:off x="8771138" y="1207363"/>
            <a:ext cx="3018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966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4BC5-F0E2-4997-A963-AE6891C49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Daily review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BD942-92C3-4260-A5B2-9C30908BCF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/>
                  <a:t>From the word ALPHABET, the probability of selecting an A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/>
                  <a:t>, what is the probability of not getting an A?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Rolling an 8 sided die</a:t>
                </a:r>
              </a:p>
              <a:p>
                <a:pPr marL="514350" indent="-514350">
                  <a:buAutoNum type="alphaLcParenR"/>
                </a:pPr>
                <a:r>
                  <a:rPr lang="en-AU" dirty="0"/>
                  <a:t>What is the sample space?</a:t>
                </a:r>
              </a:p>
              <a:p>
                <a:pPr marL="514350" indent="-514350">
                  <a:buAutoNum type="alphaLcParenR"/>
                </a:pPr>
                <a:r>
                  <a:rPr lang="en-AU" dirty="0"/>
                  <a:t>P(odd or 8) = 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BD942-92C3-4260-A5B2-9C30908BCF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" r="-4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427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0AF1B-E005-4B36-BDF0-A811A4FA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Venn to two-way tables 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F3CF22-A90D-4D44-806D-FAF4F53D8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74" y="1690688"/>
            <a:ext cx="5543643" cy="3204418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6F756EC-CB5D-445F-B03B-221ABD0200B9}"/>
              </a:ext>
            </a:extLst>
          </p:cNvPr>
          <p:cNvGraphicFramePr>
            <a:graphicFrameLocks noGrp="1"/>
          </p:cNvGraphicFramePr>
          <p:nvPr/>
        </p:nvGraphicFramePr>
        <p:xfrm>
          <a:off x="5921406" y="1998051"/>
          <a:ext cx="6129540" cy="3226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385">
                  <a:extLst>
                    <a:ext uri="{9D8B030D-6E8A-4147-A177-3AD203B41FA5}">
                      <a16:colId xmlns:a16="http://schemas.microsoft.com/office/drawing/2014/main" val="4292989450"/>
                    </a:ext>
                  </a:extLst>
                </a:gridCol>
                <a:gridCol w="1532385">
                  <a:extLst>
                    <a:ext uri="{9D8B030D-6E8A-4147-A177-3AD203B41FA5}">
                      <a16:colId xmlns:a16="http://schemas.microsoft.com/office/drawing/2014/main" val="2781604689"/>
                    </a:ext>
                  </a:extLst>
                </a:gridCol>
                <a:gridCol w="1532385">
                  <a:extLst>
                    <a:ext uri="{9D8B030D-6E8A-4147-A177-3AD203B41FA5}">
                      <a16:colId xmlns:a16="http://schemas.microsoft.com/office/drawing/2014/main" val="1519266032"/>
                    </a:ext>
                  </a:extLst>
                </a:gridCol>
                <a:gridCol w="1532385">
                  <a:extLst>
                    <a:ext uri="{9D8B030D-6E8A-4147-A177-3AD203B41FA5}">
                      <a16:colId xmlns:a16="http://schemas.microsoft.com/office/drawing/2014/main" val="1621773734"/>
                    </a:ext>
                  </a:extLst>
                </a:gridCol>
              </a:tblGrid>
              <a:tr h="801105"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Glasses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 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688199"/>
                  </a:ext>
                </a:extLst>
              </a:tr>
              <a:tr h="8011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Brown hair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62584"/>
                  </a:ext>
                </a:extLst>
              </a:tr>
              <a:tr h="801105"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518065"/>
                  </a:ext>
                </a:extLst>
              </a:tr>
              <a:tr h="8011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68057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F43A07-1660-4FE9-A023-0DE4C5EB86BD}"/>
              </a:ext>
            </a:extLst>
          </p:cNvPr>
          <p:cNvSpPr txBox="1"/>
          <p:nvPr/>
        </p:nvSpPr>
        <p:spPr>
          <a:xfrm>
            <a:off x="692458" y="1020932"/>
            <a:ext cx="131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 =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6748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EB30-B7C1-4C9F-8E48-3C882CF5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1026" name="Picture 2" descr="How to Create Blank Venn Diagrams">
            <a:extLst>
              <a:ext uri="{FF2B5EF4-FFF2-40B4-BE49-F238E27FC236}">
                <a16:creationId xmlns:a16="http://schemas.microsoft.com/office/drawing/2014/main" id="{38357C0A-AD10-4D6A-A959-9625F33B3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690688"/>
            <a:ext cx="5633062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F12143-B4F5-4564-8CC4-B7C0BAE2F133}"/>
              </a:ext>
            </a:extLst>
          </p:cNvPr>
          <p:cNvSpPr txBox="1"/>
          <p:nvPr/>
        </p:nvSpPr>
        <p:spPr>
          <a:xfrm>
            <a:off x="1828800" y="1781175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Football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AC09E-E811-4CED-9CAA-024971BD4937}"/>
              </a:ext>
            </a:extLst>
          </p:cNvPr>
          <p:cNvSpPr txBox="1"/>
          <p:nvPr/>
        </p:nvSpPr>
        <p:spPr>
          <a:xfrm>
            <a:off x="4076700" y="1781175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Soccer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BC093-A81E-403E-A36A-93DDC6783803}"/>
              </a:ext>
            </a:extLst>
          </p:cNvPr>
          <p:cNvSpPr txBox="1"/>
          <p:nvPr/>
        </p:nvSpPr>
        <p:spPr>
          <a:xfrm>
            <a:off x="1724025" y="2798545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B30D0-97CE-42D5-A3B2-648F62FE7001}"/>
              </a:ext>
            </a:extLst>
          </p:cNvPr>
          <p:cNvSpPr txBox="1"/>
          <p:nvPr/>
        </p:nvSpPr>
        <p:spPr>
          <a:xfrm>
            <a:off x="3190875" y="2782669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55A45-A98E-4D26-AC1A-39BB7107DA30}"/>
              </a:ext>
            </a:extLst>
          </p:cNvPr>
          <p:cNvSpPr txBox="1"/>
          <p:nvPr/>
        </p:nvSpPr>
        <p:spPr>
          <a:xfrm>
            <a:off x="4324350" y="2798545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FCC585-7FC8-4A55-9349-753D61617B19}"/>
              </a:ext>
            </a:extLst>
          </p:cNvPr>
          <p:cNvSpPr txBox="1"/>
          <p:nvPr/>
        </p:nvSpPr>
        <p:spPr>
          <a:xfrm>
            <a:off x="1419225" y="4731841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FF7764-4880-432A-AD81-6406C911C7DC}"/>
              </a:ext>
            </a:extLst>
          </p:cNvPr>
          <p:cNvSpPr/>
          <p:nvPr/>
        </p:nvSpPr>
        <p:spPr>
          <a:xfrm>
            <a:off x="585788" y="1600200"/>
            <a:ext cx="5510212" cy="36576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99E5F7C1-A4F6-4FC0-9369-4A8B2295BB69}"/>
              </a:ext>
            </a:extLst>
          </p:cNvPr>
          <p:cNvGraphicFramePr>
            <a:graphicFrameLocks noGrp="1"/>
          </p:cNvGraphicFramePr>
          <p:nvPr/>
        </p:nvGraphicFramePr>
        <p:xfrm>
          <a:off x="6429375" y="2135146"/>
          <a:ext cx="5633064" cy="3511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266">
                  <a:extLst>
                    <a:ext uri="{9D8B030D-6E8A-4147-A177-3AD203B41FA5}">
                      <a16:colId xmlns:a16="http://schemas.microsoft.com/office/drawing/2014/main" val="1765463113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2988284897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1662111142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81530972"/>
                    </a:ext>
                  </a:extLst>
                </a:gridCol>
              </a:tblGrid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Football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Not football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Total </a:t>
                      </a:r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164243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Soccer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367085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Not soccer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57136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Total 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54883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D21A41A-2429-475F-AA4E-0AB775EEA2CE}"/>
              </a:ext>
            </a:extLst>
          </p:cNvPr>
          <p:cNvSpPr txBox="1"/>
          <p:nvPr/>
        </p:nvSpPr>
        <p:spPr>
          <a:xfrm>
            <a:off x="692458" y="1020932"/>
            <a:ext cx="131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 =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27610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C942-DD5E-4885-BFDF-80D83E58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4" name="Picture 2" descr="How to Create Blank Venn Diagrams">
            <a:extLst>
              <a:ext uri="{FF2B5EF4-FFF2-40B4-BE49-F238E27FC236}">
                <a16:creationId xmlns:a16="http://schemas.microsoft.com/office/drawing/2014/main" id="{CA9308CE-EB96-4930-AF7D-4747A8CF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7737"/>
            <a:ext cx="5633062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4F7987-D562-468E-B30B-B65A2B853C87}"/>
              </a:ext>
            </a:extLst>
          </p:cNvPr>
          <p:cNvSpPr/>
          <p:nvPr/>
        </p:nvSpPr>
        <p:spPr>
          <a:xfrm>
            <a:off x="838200" y="2177249"/>
            <a:ext cx="5510212" cy="36576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1CFEB-01E7-4458-B73A-F8F61250F09A}"/>
              </a:ext>
            </a:extLst>
          </p:cNvPr>
          <p:cNvSpPr txBox="1"/>
          <p:nvPr/>
        </p:nvSpPr>
        <p:spPr>
          <a:xfrm>
            <a:off x="2059619" y="2331591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Surfing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9FE52-A62B-489E-BB61-065CD3E16D1C}"/>
              </a:ext>
            </a:extLst>
          </p:cNvPr>
          <p:cNvSpPr txBox="1"/>
          <p:nvPr/>
        </p:nvSpPr>
        <p:spPr>
          <a:xfrm>
            <a:off x="4395372" y="2331591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Skate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0AF1C-ACB0-4721-916C-72E85D0AF649}"/>
              </a:ext>
            </a:extLst>
          </p:cNvPr>
          <p:cNvSpPr txBox="1"/>
          <p:nvPr/>
        </p:nvSpPr>
        <p:spPr>
          <a:xfrm>
            <a:off x="2059619" y="3284336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21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1AD9A-4DFC-4D10-8FF3-733C8BCDFFE4}"/>
              </a:ext>
            </a:extLst>
          </p:cNvPr>
          <p:cNvSpPr txBox="1"/>
          <p:nvPr/>
        </p:nvSpPr>
        <p:spPr>
          <a:xfrm>
            <a:off x="3479030" y="3275056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9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EFCF0-A90D-4473-A9D6-4B3C7C30B67B}"/>
              </a:ext>
            </a:extLst>
          </p:cNvPr>
          <p:cNvSpPr txBox="1"/>
          <p:nvPr/>
        </p:nvSpPr>
        <p:spPr>
          <a:xfrm>
            <a:off x="4699612" y="3272232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2533B9-78E8-4C9F-AA9B-6F353E3B2565}"/>
              </a:ext>
            </a:extLst>
          </p:cNvPr>
          <p:cNvSpPr txBox="1"/>
          <p:nvPr/>
        </p:nvSpPr>
        <p:spPr>
          <a:xfrm>
            <a:off x="5727854" y="5117310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6</a:t>
            </a:r>
            <a:r>
              <a:rPr lang="en-US" dirty="0"/>
              <a:t> </a:t>
            </a:r>
            <a:endParaRPr lang="en-AU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FFF25E-F695-449D-A073-83078FDD2437}"/>
              </a:ext>
            </a:extLst>
          </p:cNvPr>
          <p:cNvGraphicFramePr>
            <a:graphicFrameLocks noGrp="1"/>
          </p:cNvGraphicFramePr>
          <p:nvPr/>
        </p:nvGraphicFramePr>
        <p:xfrm>
          <a:off x="6429375" y="2135146"/>
          <a:ext cx="5633064" cy="3243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266">
                  <a:extLst>
                    <a:ext uri="{9D8B030D-6E8A-4147-A177-3AD203B41FA5}">
                      <a16:colId xmlns:a16="http://schemas.microsoft.com/office/drawing/2014/main" val="1765463113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2988284897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1662111142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81530972"/>
                    </a:ext>
                  </a:extLst>
                </a:gridCol>
              </a:tblGrid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Surfing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164243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Skate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367085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57136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54883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55D420A-7C3D-4161-95C4-F547539996A8}"/>
              </a:ext>
            </a:extLst>
          </p:cNvPr>
          <p:cNvSpPr txBox="1"/>
          <p:nvPr/>
        </p:nvSpPr>
        <p:spPr>
          <a:xfrm>
            <a:off x="914399" y="1679484"/>
            <a:ext cx="131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 =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80863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4CF4-8E57-46CE-B794-37F432C7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Theoretical and experimental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A6CF-B9BD-4ADF-8D5A-A58F7A624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B0F0"/>
                </a:solidFill>
              </a:rPr>
              <a:t>Theoretical </a:t>
            </a:r>
          </a:p>
          <a:p>
            <a:pPr>
              <a:buFontTx/>
              <a:buChar char="-"/>
            </a:pPr>
            <a:r>
              <a:rPr lang="en-US" sz="3600" dirty="0">
                <a:solidFill>
                  <a:srgbClr val="00B0F0"/>
                </a:solidFill>
              </a:rPr>
              <a:t>What we </a:t>
            </a:r>
            <a:r>
              <a:rPr lang="en-US" sz="3600" i="1" dirty="0">
                <a:solidFill>
                  <a:srgbClr val="00B0F0"/>
                </a:solidFill>
              </a:rPr>
              <a:t>think</a:t>
            </a:r>
            <a:r>
              <a:rPr lang="en-US" sz="3600" dirty="0">
                <a:solidFill>
                  <a:srgbClr val="00B0F0"/>
                </a:solidFill>
              </a:rPr>
              <a:t> should happen</a:t>
            </a:r>
          </a:p>
          <a:p>
            <a:pPr>
              <a:buFontTx/>
              <a:buChar char="-"/>
            </a:pPr>
            <a:endParaRPr lang="en-US" sz="3600" dirty="0">
              <a:solidFill>
                <a:srgbClr val="00B0F0"/>
              </a:solidFill>
            </a:endParaRPr>
          </a:p>
          <a:p>
            <a:pPr>
              <a:buFontTx/>
              <a:buChar char="-"/>
            </a:pPr>
            <a:r>
              <a:rPr lang="en-US" sz="3600" dirty="0">
                <a:solidFill>
                  <a:srgbClr val="00B0F0"/>
                </a:solidFill>
              </a:rPr>
              <a:t>Experimental </a:t>
            </a:r>
          </a:p>
          <a:p>
            <a:pPr>
              <a:buFontTx/>
              <a:buChar char="-"/>
            </a:pPr>
            <a:r>
              <a:rPr lang="en-US" sz="3600" dirty="0">
                <a:solidFill>
                  <a:srgbClr val="00B0F0"/>
                </a:solidFill>
              </a:rPr>
              <a:t>What </a:t>
            </a:r>
            <a:r>
              <a:rPr lang="en-US" sz="3600" i="1" dirty="0">
                <a:solidFill>
                  <a:srgbClr val="00B0F0"/>
                </a:solidFill>
              </a:rPr>
              <a:t>actually </a:t>
            </a:r>
            <a:r>
              <a:rPr lang="en-US" sz="3600" dirty="0">
                <a:solidFill>
                  <a:srgbClr val="00B0F0"/>
                </a:solidFill>
              </a:rPr>
              <a:t>happens in an experiment </a:t>
            </a:r>
            <a:endParaRPr lang="en-AU" sz="3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44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F28F-C377-46FD-9C19-55113B393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difference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DA203-BA57-40B9-A690-56F17F214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Theoretical probability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B99DE21-755F-4C5F-9516-1118BDD71F6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𝑓𝑎𝑣𝑜𝑢𝑟𝑎𝑏𝑙𝑒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# 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b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E.g. 6 sided die</a:t>
                </a:r>
              </a:p>
              <a:p>
                <a:pPr marL="0" indent="0">
                  <a:buNone/>
                </a:pPr>
                <a:r>
                  <a:rPr lang="en-AU" dirty="0"/>
                  <a:t>P(5) = 1/6 </a:t>
                </a:r>
              </a:p>
              <a:p>
                <a:pPr marL="0" indent="0">
                  <a:buNone/>
                </a:pPr>
                <a:r>
                  <a:rPr lang="en-AU" dirty="0"/>
                  <a:t>P( 3 or 4) = 2/6 </a:t>
                </a:r>
              </a:p>
              <a:p>
                <a:pPr marL="0" indent="0">
                  <a:buNone/>
                </a:pPr>
                <a:r>
                  <a:rPr lang="en-AU" dirty="0"/>
                  <a:t>P(not 5) = 5/6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B99DE21-755F-4C5F-9516-1118BDD71F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3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4EAF84-E0F0-4FA6-B999-C340EB3E9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Experimental probability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B047084-0A00-42E0-904B-6CE6971DA129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𝑡𝑖𝑚𝑒𝑠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𝑜𝑐𝑐𝑢𝑟𝑒𝑑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𝑡𝑟𝑖𝑎𝑙𝑠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𝑒𝑥𝑝𝑒𝑟𝑖𝑒𝑚𝑛𝑡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A coin is tossed 50 times and the results are in the table.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Experimental probability of head =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50 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B047084-0A00-42E0-904B-6CE6971DA1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2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3F919E0-9047-4094-AA49-822A33DBA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355358"/>
              </p:ext>
            </p:extLst>
          </p:nvPr>
        </p:nvGraphicFramePr>
        <p:xfrm>
          <a:off x="6930375" y="4435157"/>
          <a:ext cx="366683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279">
                  <a:extLst>
                    <a:ext uri="{9D8B030D-6E8A-4147-A177-3AD203B41FA5}">
                      <a16:colId xmlns:a16="http://schemas.microsoft.com/office/drawing/2014/main" val="3956746085"/>
                    </a:ext>
                  </a:extLst>
                </a:gridCol>
                <a:gridCol w="1222279">
                  <a:extLst>
                    <a:ext uri="{9D8B030D-6E8A-4147-A177-3AD203B41FA5}">
                      <a16:colId xmlns:a16="http://schemas.microsoft.com/office/drawing/2014/main" val="976837173"/>
                    </a:ext>
                  </a:extLst>
                </a:gridCol>
                <a:gridCol w="1222279">
                  <a:extLst>
                    <a:ext uri="{9D8B030D-6E8A-4147-A177-3AD203B41FA5}">
                      <a16:colId xmlns:a16="http://schemas.microsoft.com/office/drawing/2014/main" val="2809251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Heads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019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Frequency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262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6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E24C2DD-AA91-4BC2-A76A-F152BB02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Quick notes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3E42DF2-A96C-4F05-8723-52D4735DC2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0629"/>
                <a:ext cx="10515600" cy="4916334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Experimental probability is define as:</a:t>
                </a: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𝑡𝑖𝑚𝑒𝑠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𝑜𝑐𝑐𝑢𝑟𝑠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#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𝑡𝑟𝑖𝑎𝑙𝑠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𝑒𝑥𝑝𝑒𝑟𝑖𝑚𝑒𝑛𝑡</m:t>
                          </m:r>
                          <m:r>
                            <a:rPr lang="en-AU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highlight>
                      <a:srgbClr val="FFFF00"/>
                    </a:highlight>
                  </a:rPr>
                  <a:t>It is sometimes referred to as “actual probability” </a:t>
                </a:r>
              </a:p>
              <a:p>
                <a:pPr marL="0" indent="0">
                  <a:buNone/>
                </a:pPr>
                <a:endParaRPr lang="en-AU" b="1" i="1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b="1" i="1" dirty="0">
                    <a:solidFill>
                      <a:srgbClr val="00B0F0"/>
                    </a:solidFill>
                  </a:rPr>
                  <a:t>Expected number of occurrences </a:t>
                </a:r>
                <a:r>
                  <a:rPr lang="en-AU" dirty="0">
                    <a:solidFill>
                      <a:srgbClr val="00B0F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𝑝𝑟𝑜𝑏𝑎𝑏𝑖𝑙𝑖𝑡𝑦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𝑡𝑟𝑖𝑎𝑙𝑠</m:t>
                    </m:r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3E42DF2-A96C-4F05-8723-52D4735DC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0629"/>
                <a:ext cx="10515600" cy="4916334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349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0AE5C4-6CF1-47E4-82B0-4566F610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Example for notes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146C38-D21B-4221-AFE4-64503A3E30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/>
                  <a:t>Using the experimental probability, calculate the expected number of heads you would get if you tossed this coin 700 times.</a:t>
                </a: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P(H) = 27/50 </a:t>
                </a: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Expected outcomes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700=</m:t>
                    </m:r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146C38-D21B-4221-AFE4-64503A3E3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551A548A-1AEB-4D88-A893-F5D698D6A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173886"/>
              </p:ext>
            </p:extLst>
          </p:nvPr>
        </p:nvGraphicFramePr>
        <p:xfrm>
          <a:off x="3513248" y="1690688"/>
          <a:ext cx="51655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76">
                  <a:extLst>
                    <a:ext uri="{9D8B030D-6E8A-4147-A177-3AD203B41FA5}">
                      <a16:colId xmlns:a16="http://schemas.microsoft.com/office/drawing/2014/main" val="3956746085"/>
                    </a:ext>
                  </a:extLst>
                </a:gridCol>
                <a:gridCol w="1291376">
                  <a:extLst>
                    <a:ext uri="{9D8B030D-6E8A-4147-A177-3AD203B41FA5}">
                      <a16:colId xmlns:a16="http://schemas.microsoft.com/office/drawing/2014/main" val="976837173"/>
                    </a:ext>
                  </a:extLst>
                </a:gridCol>
                <a:gridCol w="1291376">
                  <a:extLst>
                    <a:ext uri="{9D8B030D-6E8A-4147-A177-3AD203B41FA5}">
                      <a16:colId xmlns:a16="http://schemas.microsoft.com/office/drawing/2014/main" val="2809251539"/>
                    </a:ext>
                  </a:extLst>
                </a:gridCol>
                <a:gridCol w="1291376">
                  <a:extLst>
                    <a:ext uri="{9D8B030D-6E8A-4147-A177-3AD203B41FA5}">
                      <a16:colId xmlns:a16="http://schemas.microsoft.com/office/drawing/2014/main" val="4183592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rgbClr val="00B0F0"/>
                          </a:solidFill>
                        </a:rPr>
                        <a:t>Outcome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rgbClr val="00B0F0"/>
                          </a:solidFill>
                        </a:rPr>
                        <a:t>Heads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rgbClr val="00B0F0"/>
                          </a:solidFill>
                        </a:rPr>
                        <a:t>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Total </a:t>
                      </a:r>
                      <a:endParaRPr lang="en-AU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019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rgbClr val="00B0F0"/>
                          </a:solidFill>
                        </a:rPr>
                        <a:t>Frequency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rgbClr val="00B0F0"/>
                          </a:solidFill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rgbClr val="00B0F0"/>
                          </a:solidFill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50</a:t>
                      </a:r>
                      <a:endParaRPr lang="en-AU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262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67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FC17-DD2C-4D90-94B2-5638FE54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We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6F923-F9B2-4C2C-B158-48E8A636F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5017"/>
            <a:ext cx="10515600" cy="48719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dirty="0"/>
              <a:t>A 6 sided die was rolled 100 times and the results are recorded below.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is the experimental probability of a 5?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Using the experimental probability, calculate the number of 5s you would expect to get after 750 rolls.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Using the actual probability, calculate how many 5s you would expect after 750 rolls.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5F7A936-C610-44ED-9C7E-BFD6A970C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174661"/>
              </p:ext>
            </p:extLst>
          </p:nvPr>
        </p:nvGraphicFramePr>
        <p:xfrm>
          <a:off x="1898835" y="2687320"/>
          <a:ext cx="93580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56">
                  <a:extLst>
                    <a:ext uri="{9D8B030D-6E8A-4147-A177-3AD203B41FA5}">
                      <a16:colId xmlns:a16="http://schemas.microsoft.com/office/drawing/2014/main" val="3825555671"/>
                    </a:ext>
                  </a:extLst>
                </a:gridCol>
                <a:gridCol w="1169756">
                  <a:extLst>
                    <a:ext uri="{9D8B030D-6E8A-4147-A177-3AD203B41FA5}">
                      <a16:colId xmlns:a16="http://schemas.microsoft.com/office/drawing/2014/main" val="859411743"/>
                    </a:ext>
                  </a:extLst>
                </a:gridCol>
                <a:gridCol w="1169756">
                  <a:extLst>
                    <a:ext uri="{9D8B030D-6E8A-4147-A177-3AD203B41FA5}">
                      <a16:colId xmlns:a16="http://schemas.microsoft.com/office/drawing/2014/main" val="3752611462"/>
                    </a:ext>
                  </a:extLst>
                </a:gridCol>
                <a:gridCol w="1169756">
                  <a:extLst>
                    <a:ext uri="{9D8B030D-6E8A-4147-A177-3AD203B41FA5}">
                      <a16:colId xmlns:a16="http://schemas.microsoft.com/office/drawing/2014/main" val="3061472035"/>
                    </a:ext>
                  </a:extLst>
                </a:gridCol>
                <a:gridCol w="1169756">
                  <a:extLst>
                    <a:ext uri="{9D8B030D-6E8A-4147-A177-3AD203B41FA5}">
                      <a16:colId xmlns:a16="http://schemas.microsoft.com/office/drawing/2014/main" val="1956763548"/>
                    </a:ext>
                  </a:extLst>
                </a:gridCol>
                <a:gridCol w="1169756">
                  <a:extLst>
                    <a:ext uri="{9D8B030D-6E8A-4147-A177-3AD203B41FA5}">
                      <a16:colId xmlns:a16="http://schemas.microsoft.com/office/drawing/2014/main" val="3500461005"/>
                    </a:ext>
                  </a:extLst>
                </a:gridCol>
                <a:gridCol w="1169756">
                  <a:extLst>
                    <a:ext uri="{9D8B030D-6E8A-4147-A177-3AD203B41FA5}">
                      <a16:colId xmlns:a16="http://schemas.microsoft.com/office/drawing/2014/main" val="2046984915"/>
                    </a:ext>
                  </a:extLst>
                </a:gridCol>
                <a:gridCol w="1169756">
                  <a:extLst>
                    <a:ext uri="{9D8B030D-6E8A-4147-A177-3AD203B41FA5}">
                      <a16:colId xmlns:a16="http://schemas.microsoft.com/office/drawing/2014/main" val="1544908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Outcome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23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Frequency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362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2143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F29C-44BF-4891-BFE6-FCAF0B3B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Individual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9FA80-F319-4375-BB8B-0AEF5EB9E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Page 392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Questions 5 – 9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i="1" u="sng" dirty="0"/>
              <a:t>Skip question 10</a:t>
            </a:r>
          </a:p>
          <a:p>
            <a:pPr marL="0" indent="0">
              <a:buNone/>
            </a:pPr>
            <a:endParaRPr lang="en-AU" b="1" i="1" u="sng" dirty="0"/>
          </a:p>
          <a:p>
            <a:pPr marL="0" indent="0">
              <a:buNone/>
            </a:pPr>
            <a:r>
              <a:rPr lang="en-AU" dirty="0"/>
              <a:t>Continue 11 – 13 </a:t>
            </a:r>
          </a:p>
        </p:txBody>
      </p:sp>
    </p:spTree>
    <p:extLst>
      <p:ext uri="{BB962C8B-B14F-4D97-AF65-F5344CB8AC3E}">
        <p14:creationId xmlns:p14="http://schemas.microsoft.com/office/powerpoint/2010/main" val="1261011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363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Venn to two-way tables  </vt:lpstr>
      <vt:lpstr>Whiteboards </vt:lpstr>
      <vt:lpstr>Whiteboards </vt:lpstr>
      <vt:lpstr>Theoretical and experimental </vt:lpstr>
      <vt:lpstr>The difference </vt:lpstr>
      <vt:lpstr>Quick notes </vt:lpstr>
      <vt:lpstr>Example for notes  </vt:lpstr>
      <vt:lpstr>We do</vt:lpstr>
      <vt:lpstr>Individual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18</cp:revision>
  <dcterms:created xsi:type="dcterms:W3CDTF">2021-06-01T11:55:30Z</dcterms:created>
  <dcterms:modified xsi:type="dcterms:W3CDTF">2022-06-08T00:25:11Z</dcterms:modified>
</cp:coreProperties>
</file>
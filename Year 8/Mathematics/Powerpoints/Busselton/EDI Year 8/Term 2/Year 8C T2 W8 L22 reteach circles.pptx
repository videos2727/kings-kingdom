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74" r:id="rId5"/>
    <p:sldId id="277" r:id="rId6"/>
    <p:sldId id="25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358" r:id="rId17"/>
    <p:sldId id="264" r:id="rId18"/>
    <p:sldId id="267" r:id="rId19"/>
    <p:sldId id="260" r:id="rId20"/>
    <p:sldId id="261" r:id="rId21"/>
    <p:sldId id="333" r:id="rId22"/>
    <p:sldId id="269" r:id="rId23"/>
    <p:sldId id="35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7C697-121B-4C50-8AE7-87F870AB61BD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ADF3D-7D6F-439B-84E0-6E6E247285D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0322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>
            <a:extLst>
              <a:ext uri="{FF2B5EF4-FFF2-40B4-BE49-F238E27FC236}">
                <a16:creationId xmlns:a16="http://schemas.microsoft.com/office/drawing/2014/main" id="{BA6EC7CB-D995-478C-94BA-AF4030A8AC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>
            <a:extLst>
              <a:ext uri="{FF2B5EF4-FFF2-40B4-BE49-F238E27FC236}">
                <a16:creationId xmlns:a16="http://schemas.microsoft.com/office/drawing/2014/main" id="{6F84AB4E-3482-484F-B55D-B88BDFEFAA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0BA3CC7A-4A8F-4D26-9066-EFC7E37A9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347531-C158-4B3F-B3B2-B10727DEEDE7}" type="slidenum">
              <a:rPr lang="en-GB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GB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AE635-671D-43CE-BA87-203D31E329F1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7842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AE635-671D-43CE-BA87-203D31E329F1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131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to copy Venn diagram when finished and use to create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51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4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EF54-42A0-4479-908F-FE5DF2D161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7A042-648A-4F5C-B64D-92D353F4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EEE70-FD8E-4D32-A734-65A17C838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2C60A-9DD1-467B-B95D-DC4E8C5E2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424DB-B920-44AA-A673-5D48D860F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33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DBB47-5ED9-40F9-96E3-A75550D36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A12F-080A-4012-9414-B7A8E8CCD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4A582-A4C5-4980-B2B7-5CAFF7B4C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C1CC8-6112-4610-B8E4-933815B8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ECC87-0BDE-4AB4-8AB8-AE6E4E3C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618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8BB02-5C23-4BD3-BA5F-51C9FE585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A69908-CAD0-41A8-9459-B1872CBCA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8D9B6-2638-4C4F-BF6C-B4B718A4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A76E5-F0C1-4331-BFBB-D93EC615B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E6699-354F-4481-9F52-8CE9E51FC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99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A35E5-BF0E-43F6-869C-F6671D60D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15F77-E0CF-44B8-967E-4E32E72F1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2E5837-176A-4F95-BB67-1450747D1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90D44-006F-4BDD-8EAD-4F1A6044B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ED44C-BD14-4C40-A608-B901EEF2A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034D5-6699-4E8F-841A-692E3847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4669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3F58-5497-49FB-A269-0C9860A5C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A7966-5586-4367-B140-E9D3532E0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31D7F-E63C-4AB9-82C3-1052528CED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D962E-1CF5-46AB-B04A-1B9FDEAF2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C2ECCC-3F7C-4B1B-B4C4-BA1E7850B4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095771-2A24-46B0-810A-9539F766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E62DE-91E6-48DA-9ACB-69AE3EB8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012AF7-1BB1-47A6-86A1-C532534A0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274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783BD-4903-4C22-B621-32D527552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4B8B00-B715-4FF1-981F-6885F1D3B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371BF-DCD4-4EB8-BA83-580F27100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143628-82A6-4263-935E-80BE5318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573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F149FA-7C59-4C68-BD21-1ADF1912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E7DB93-77E3-4F4A-98CD-636FD011E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5D750-D84C-44C0-AD81-E1F77A0E5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50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57DE-69E5-41D0-80B8-2032AA707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6AAE5-2E5B-4E55-8EB5-2E6B70709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BFB75-0942-4BD9-AF06-F519777DE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122461-C285-480F-BDF9-78BB8427A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B7675-142D-4B6C-B9DB-1DF9E99C4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B79BD0-5770-4C45-915C-4B4E0A511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5808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107F-FB2B-48EB-9D19-C38115221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D4722B-E521-448D-B18F-44C821C391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9C91BF-4975-4EDF-8414-4270BC5B1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604E7-9D02-47AB-BC14-793AFDA1A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7116-E810-4C4A-8A2F-BFC0A470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043022-48B2-43AA-8D75-708872CD1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583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CF43-C639-40A8-A9C6-947494E55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53F58-3AA8-4D84-84A2-592E2C580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A9E0-0230-4524-B9B3-969A1822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CACD-F26B-45BA-B771-D8B0C6AC9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AEFA6-7CFC-4B36-9B57-F92F813A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65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7B49D-618E-4D6C-B53D-49FA68668A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337A29-DAF1-4455-BD0A-DF3E995A2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51EB5-A673-49A9-A218-B1F0D8AE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B3C7E-5D5B-44B8-A3D5-3BD457A8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560EE-11D0-4C49-894E-CE5F8D97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9227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20BFE8-BD6C-4923-B594-68B3705BC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3C755F-6C46-4672-8F0A-AE4225519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C7ECA-72A9-4204-81D8-E17DB9D76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5BA74-3E50-480B-B5B7-30ED6E736016}" type="datetimeFigureOut">
              <a:rPr lang="en-AU" smtClean="0"/>
              <a:t>13/06/2022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863ED-4795-464B-B1A4-2EF14FAD01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C745E-856F-442E-9A3F-DB3D6C9E0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8B316-98D6-4512-AA1B-F0A5C22DE16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782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C82F9F-BC62-452E-8981-11E3D0551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F378EF-E0F5-4782-B6D9-8D115A08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sz="3000" b="1" dirty="0">
                <a:solidFill>
                  <a:srgbClr val="00B0F0"/>
                </a:solidFill>
              </a:rPr>
              <a:t>Probability review </a:t>
            </a:r>
          </a:p>
          <a:p>
            <a:pPr marL="0" indent="0">
              <a:buNone/>
            </a:pPr>
            <a:endParaRPr lang="en-US" sz="3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3000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000" b="1" dirty="0">
                <a:solidFill>
                  <a:srgbClr val="00B0F0"/>
                </a:solidFill>
              </a:rPr>
              <a:t> Calculate circumference and area of circles </a:t>
            </a:r>
            <a:endParaRPr lang="en-AU" sz="3000" b="1" dirty="0">
              <a:solidFill>
                <a:srgbClr val="00B0F0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AU" sz="3000" b="1" dirty="0">
                <a:solidFill>
                  <a:srgbClr val="00B0F0"/>
                </a:solidFill>
              </a:rPr>
              <a:t> Determine probability from represented data</a:t>
            </a:r>
          </a:p>
          <a:p>
            <a:pPr marL="0" indent="0">
              <a:buNone/>
            </a:pPr>
            <a:r>
              <a:rPr lang="en-AU" sz="3000" b="1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AU" sz="3000" b="1" dirty="0">
                <a:solidFill>
                  <a:srgbClr val="00B0F0"/>
                </a:solidFill>
              </a:rPr>
              <a:t>Review circumference and area </a:t>
            </a:r>
          </a:p>
          <a:p>
            <a:pPr>
              <a:buFontTx/>
              <a:buChar char="-"/>
            </a:pPr>
            <a:r>
              <a:rPr lang="en-AU" sz="3000" b="1" dirty="0">
                <a:solidFill>
                  <a:srgbClr val="00B0F0"/>
                </a:solidFill>
              </a:rPr>
              <a:t>Venn diagrams extended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7FBED-D34D-4252-B8A4-B76CB36E296C}"/>
              </a:ext>
            </a:extLst>
          </p:cNvPr>
          <p:cNvSpPr txBox="1"/>
          <p:nvPr/>
        </p:nvSpPr>
        <p:spPr>
          <a:xfrm>
            <a:off x="8087557" y="1429305"/>
            <a:ext cx="34001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highlight>
                  <a:srgbClr val="FFFF00"/>
                </a:highlight>
              </a:rPr>
              <a:t>Need whiteboards and calculators.</a:t>
            </a:r>
            <a:endParaRPr lang="en-AU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09450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88863A0-3894-4551-90CA-842AA039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9550" y="6492876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5C0C0E-05F8-4F94-A01E-95FB0F931676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5123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975540B2-F589-4038-B9F0-2942ADBC4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0"/>
            <a:ext cx="9144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9F9C080-49AD-4A6A-94A5-368569273C6C}"/>
              </a:ext>
            </a:extLst>
          </p:cNvPr>
          <p:cNvSpPr/>
          <p:nvPr/>
        </p:nvSpPr>
        <p:spPr>
          <a:xfrm>
            <a:off x="6167438" y="2924176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4720C2B-D791-4F57-A741-233865E75AC7}"/>
              </a:ext>
            </a:extLst>
          </p:cNvPr>
          <p:cNvSpPr txBox="1">
            <a:spLocks/>
          </p:cNvSpPr>
          <p:nvPr/>
        </p:nvSpPr>
        <p:spPr>
          <a:xfrm>
            <a:off x="7752184" y="404664"/>
            <a:ext cx="1512168" cy="57606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0" scaled="1"/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cene3d>
              <a:camera prst="obliqueTopLeft"/>
              <a:lightRig rig="threePt" dir="t"/>
            </a:scene3d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GB" sz="3200" dirty="0">
                <a:ln w="28575">
                  <a:prstDash val="dash"/>
                </a:ln>
                <a:solidFill>
                  <a:srgbClr val="7030A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RADIUS</a:t>
            </a:r>
            <a:endParaRPr lang="en-GB" sz="3200" dirty="0">
              <a:ln w="28575">
                <a:prstDash val="dash"/>
              </a:ln>
              <a:solidFill>
                <a:srgbClr val="7030A0"/>
              </a:solidFill>
            </a:endParaRPr>
          </a:p>
        </p:txBody>
      </p:sp>
      <p:grpSp>
        <p:nvGrpSpPr>
          <p:cNvPr id="5127" name="Group 2">
            <a:extLst>
              <a:ext uri="{FF2B5EF4-FFF2-40B4-BE49-F238E27FC236}">
                <a16:creationId xmlns:a16="http://schemas.microsoft.com/office/drawing/2014/main" id="{58D53D0C-7D54-48B4-8D72-CAD416DB6CBE}"/>
              </a:ext>
            </a:extLst>
          </p:cNvPr>
          <p:cNvGrpSpPr>
            <a:grpSpLocks/>
          </p:cNvGrpSpPr>
          <p:nvPr/>
        </p:nvGrpSpPr>
        <p:grpSpPr bwMode="auto">
          <a:xfrm>
            <a:off x="3843339" y="908051"/>
            <a:ext cx="4700587" cy="4321175"/>
            <a:chOff x="2318819" y="908050"/>
            <a:chExt cx="4701106" cy="4321175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41AD149-88D0-428C-9066-15DECF638A3A}"/>
                </a:ext>
              </a:extLst>
            </p:cNvPr>
            <p:cNvSpPr/>
            <p:nvPr/>
          </p:nvSpPr>
          <p:spPr>
            <a:xfrm>
              <a:off x="2339458" y="908050"/>
              <a:ext cx="4680467" cy="4321175"/>
            </a:xfrm>
            <a:prstGeom prst="ellipse">
              <a:avLst/>
            </a:prstGeom>
            <a:ln w="571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05F54E8-E700-48AC-B01F-174B4A36395F}"/>
                </a:ext>
              </a:extLst>
            </p:cNvPr>
            <p:cNvCxnSpPr/>
            <p:nvPr/>
          </p:nvCxnSpPr>
          <p:spPr>
            <a:xfrm flipH="1" flipV="1">
              <a:off x="2318819" y="3001963"/>
              <a:ext cx="2324357" cy="2063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own Arrow 14">
            <a:extLst>
              <a:ext uri="{FF2B5EF4-FFF2-40B4-BE49-F238E27FC236}">
                <a16:creationId xmlns:a16="http://schemas.microsoft.com/office/drawing/2014/main" id="{16F1EB07-9626-486D-99C4-64B3CC677180}"/>
              </a:ext>
            </a:extLst>
          </p:cNvPr>
          <p:cNvSpPr/>
          <p:nvPr/>
        </p:nvSpPr>
        <p:spPr>
          <a:xfrm rot="3236199" flipH="1">
            <a:off x="6502401" y="482601"/>
            <a:ext cx="195263" cy="306546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2968E0-9B8F-4801-A45A-9065ED2A0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69550" y="6492876"/>
            <a:ext cx="29845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E360847-9126-4AD5-B597-D9FA759C6FA3}" type="slidenum">
              <a:rPr lang="en-GB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en-GB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6147" name="Picture 4" descr="http://images2.layoutsparks.com/1/211488/welcome-green-circles-layout.jpg">
            <a:extLst>
              <a:ext uri="{FF2B5EF4-FFF2-40B4-BE49-F238E27FC236}">
                <a16:creationId xmlns:a16="http://schemas.microsoft.com/office/drawing/2014/main" id="{9B190398-CCF2-4840-9229-DC68172A8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8717220-B523-4A87-99D1-9405296DEFF8}"/>
              </a:ext>
            </a:extLst>
          </p:cNvPr>
          <p:cNvSpPr/>
          <p:nvPr/>
        </p:nvSpPr>
        <p:spPr>
          <a:xfrm>
            <a:off x="3863975" y="908051"/>
            <a:ext cx="4679950" cy="4321175"/>
          </a:xfrm>
          <a:prstGeom prst="ellips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204413-3572-46D2-8F74-F154B5DE1248}"/>
              </a:ext>
            </a:extLst>
          </p:cNvPr>
          <p:cNvSpPr/>
          <p:nvPr/>
        </p:nvSpPr>
        <p:spPr>
          <a:xfrm>
            <a:off x="6167438" y="2924176"/>
            <a:ext cx="144462" cy="14446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5" name="Down Arrow 14">
            <a:extLst>
              <a:ext uri="{FF2B5EF4-FFF2-40B4-BE49-F238E27FC236}">
                <a16:creationId xmlns:a16="http://schemas.microsoft.com/office/drawing/2014/main" id="{7809E3D1-41D0-4D72-ABB4-E97E5BC3819B}"/>
              </a:ext>
            </a:extLst>
          </p:cNvPr>
          <p:cNvSpPr/>
          <p:nvPr/>
        </p:nvSpPr>
        <p:spPr>
          <a:xfrm rot="19403390" flipH="1">
            <a:off x="4735513" y="604838"/>
            <a:ext cx="233362" cy="2335212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54CD884-F678-4C6D-AC2B-253CE963B975}"/>
              </a:ext>
            </a:extLst>
          </p:cNvPr>
          <p:cNvSpPr txBox="1">
            <a:spLocks/>
          </p:cNvSpPr>
          <p:nvPr/>
        </p:nvSpPr>
        <p:spPr>
          <a:xfrm>
            <a:off x="1991544" y="404664"/>
            <a:ext cx="2016224" cy="576064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scene3d>
              <a:camera prst="obliqueTopLeft"/>
              <a:lightRig rig="threePt" dir="t"/>
            </a:scene3d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GB" sz="3200" dirty="0">
                <a:ln w="28575">
                  <a:prstDash val="dash"/>
                </a:ln>
                <a:solidFill>
                  <a:srgbClr val="00206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DIAMETER</a:t>
            </a:r>
            <a:endParaRPr lang="en-GB" sz="3200" dirty="0">
              <a:ln w="28575">
                <a:prstDash val="dash"/>
              </a:ln>
              <a:solidFill>
                <a:srgbClr val="00206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BB10AB-DE92-47E9-A549-C7033AB7E432}"/>
              </a:ext>
            </a:extLst>
          </p:cNvPr>
          <p:cNvCxnSpPr/>
          <p:nvPr/>
        </p:nvCxnSpPr>
        <p:spPr>
          <a:xfrm flipH="1" flipV="1">
            <a:off x="4008438" y="2276476"/>
            <a:ext cx="4464050" cy="143986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Circumference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657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7824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2783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7824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7850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70DE6-33D4-47B2-8581-52335333ECB7}"/>
              </a:ext>
            </a:extLst>
          </p:cNvPr>
          <p:cNvSpPr txBox="1"/>
          <p:nvPr/>
        </p:nvSpPr>
        <p:spPr>
          <a:xfrm>
            <a:off x="2392110" y="312488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DB443-CAEF-4D62-A486-D4DEDFCE3303}"/>
              </a:ext>
            </a:extLst>
          </p:cNvPr>
          <p:cNvSpPr txBox="1"/>
          <p:nvPr/>
        </p:nvSpPr>
        <p:spPr>
          <a:xfrm>
            <a:off x="8585448" y="34060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911050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Circumference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852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657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7824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2783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7824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7850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FF819-E0BD-4A72-9EE0-AB7274563FD9}"/>
              </a:ext>
            </a:extLst>
          </p:cNvPr>
          <p:cNvSpPr txBox="1"/>
          <p:nvPr/>
        </p:nvSpPr>
        <p:spPr>
          <a:xfrm>
            <a:off x="2392110" y="312488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17BCA-0988-4208-943F-5EF0D5609D53}"/>
              </a:ext>
            </a:extLst>
          </p:cNvPr>
          <p:cNvSpPr txBox="1"/>
          <p:nvPr/>
        </p:nvSpPr>
        <p:spPr>
          <a:xfrm>
            <a:off x="8595750" y="342900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49622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circumference.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8E82976B-A073-441E-8634-C17818BA8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135" y="3509529"/>
            <a:ext cx="25224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dirty="0"/>
              <a:t>3cm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9A0BB9B-C88F-4144-9576-1F414670F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154" y="3204318"/>
            <a:ext cx="1498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/>
              <a:t>diameter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197" y="4167686"/>
            <a:ext cx="4491118" cy="15278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362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circumference.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197" y="4167686"/>
            <a:ext cx="2218434" cy="31452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802B818B-38DC-4119-B738-78B9EDFB56EC}"/>
              </a:ext>
            </a:extLst>
          </p:cNvPr>
          <p:cNvSpPr txBox="1">
            <a:spLocks noChangeArrowheads="1"/>
          </p:cNvSpPr>
          <p:nvPr/>
        </p:nvSpPr>
        <p:spPr bwMode="auto">
          <a:xfrm rot="21369525">
            <a:off x="1458298" y="3527784"/>
            <a:ext cx="1054654" cy="523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3385164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circumference.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197" y="4167686"/>
            <a:ext cx="4491118" cy="15278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8E4F90A5-8535-4248-B0FF-E96412083763}"/>
              </a:ext>
            </a:extLst>
          </p:cNvPr>
          <p:cNvSpPr txBox="1">
            <a:spLocks noChangeArrowheads="1"/>
          </p:cNvSpPr>
          <p:nvPr/>
        </p:nvSpPr>
        <p:spPr bwMode="auto">
          <a:xfrm rot="21474285">
            <a:off x="2491234" y="3623814"/>
            <a:ext cx="1057691" cy="46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dirty="0"/>
              <a:t>3.5cm</a:t>
            </a:r>
          </a:p>
        </p:txBody>
      </p:sp>
    </p:spTree>
    <p:extLst>
      <p:ext uri="{BB962C8B-B14F-4D97-AF65-F5344CB8AC3E}">
        <p14:creationId xmlns:p14="http://schemas.microsoft.com/office/powerpoint/2010/main" val="350958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circumference.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853" y="4181382"/>
            <a:ext cx="2361461" cy="1581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8624D3A6-7F0F-45B3-B5A5-ED6FB2632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857" y="3520448"/>
            <a:ext cx="10576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dirty="0"/>
              <a:t>12cm</a:t>
            </a:r>
          </a:p>
        </p:txBody>
      </p:sp>
    </p:spTree>
    <p:extLst>
      <p:ext uri="{BB962C8B-B14F-4D97-AF65-F5344CB8AC3E}">
        <p14:creationId xmlns:p14="http://schemas.microsoft.com/office/powerpoint/2010/main" val="3828861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Area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657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7824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2783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7824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7850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470DE6-33D4-47B2-8581-52335333ECB7}"/>
              </a:ext>
            </a:extLst>
          </p:cNvPr>
          <p:cNvSpPr txBox="1"/>
          <p:nvPr/>
        </p:nvSpPr>
        <p:spPr>
          <a:xfrm>
            <a:off x="2392110" y="312488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5cm</a:t>
            </a:r>
            <a:endParaRPr lang="en-AU" sz="24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ADB443-CAEF-4D62-A486-D4DEDFCE3303}"/>
              </a:ext>
            </a:extLst>
          </p:cNvPr>
          <p:cNvSpPr txBox="1"/>
          <p:nvPr/>
        </p:nvSpPr>
        <p:spPr>
          <a:xfrm>
            <a:off x="8585448" y="3406079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6cm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1866241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0756B-B287-4E66-B936-35AD0BA89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Area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𝑟𝑎𝑑𝑖𝑢𝑠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61B3BA-FF46-4AE6-ACB3-588D183077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9AF50F5-CDA3-4770-83CF-94E81C1213BE}"/>
              </a:ext>
            </a:extLst>
          </p:cNvPr>
          <p:cNvSpPr/>
          <p:nvPr/>
        </p:nvSpPr>
        <p:spPr>
          <a:xfrm>
            <a:off x="1657984" y="2819065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2024B5-F3C2-4BB4-A4ED-60B85B6E9B4A}"/>
              </a:ext>
            </a:extLst>
          </p:cNvPr>
          <p:cNvSpPr/>
          <p:nvPr/>
        </p:nvSpPr>
        <p:spPr>
          <a:xfrm>
            <a:off x="7824192" y="2780928"/>
            <a:ext cx="2160240" cy="2088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4FF6FC-A950-45FF-BD0D-73F99D852435}"/>
              </a:ext>
            </a:extLst>
          </p:cNvPr>
          <p:cNvCxnSpPr>
            <a:stCxn id="5" idx="7"/>
          </p:cNvCxnSpPr>
          <p:nvPr/>
        </p:nvCxnSpPr>
        <p:spPr>
          <a:xfrm flipH="1">
            <a:off x="2783632" y="3124879"/>
            <a:ext cx="718232" cy="738302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58E4D2A-C2A8-47E1-A68F-62DBAA2A7A84}"/>
              </a:ext>
            </a:extLst>
          </p:cNvPr>
          <p:cNvCxnSpPr>
            <a:stCxn id="6" idx="2"/>
            <a:endCxn id="6" idx="6"/>
          </p:cNvCxnSpPr>
          <p:nvPr/>
        </p:nvCxnSpPr>
        <p:spPr>
          <a:xfrm>
            <a:off x="7824192" y="3825044"/>
            <a:ext cx="216024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AEF4BC-3FDC-425F-9057-8F5AC21E7A17}"/>
              </a:ext>
            </a:extLst>
          </p:cNvPr>
          <p:cNvSpPr txBox="1"/>
          <p:nvPr/>
        </p:nvSpPr>
        <p:spPr>
          <a:xfrm>
            <a:off x="7850464" y="274638"/>
            <a:ext cx="22777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Write the rule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Substitute numbers 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00B0F0"/>
                </a:solidFill>
              </a:rPr>
              <a:t>Solve </a:t>
            </a:r>
            <a:endParaRPr lang="en-AU" b="1" dirty="0">
              <a:solidFill>
                <a:srgbClr val="00B0F0"/>
              </a:solidFill>
            </a:endParaRPr>
          </a:p>
          <a:p>
            <a:endParaRPr lang="en-A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5FF819-E0BD-4A72-9EE0-AB7274563FD9}"/>
              </a:ext>
            </a:extLst>
          </p:cNvPr>
          <p:cNvSpPr txBox="1"/>
          <p:nvPr/>
        </p:nvSpPr>
        <p:spPr>
          <a:xfrm>
            <a:off x="2392110" y="3124880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7cm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17BCA-0988-4208-943F-5EF0D5609D53}"/>
              </a:ext>
            </a:extLst>
          </p:cNvPr>
          <p:cNvSpPr txBox="1"/>
          <p:nvPr/>
        </p:nvSpPr>
        <p:spPr>
          <a:xfrm>
            <a:off x="8595750" y="3429001"/>
            <a:ext cx="1008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8cm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869574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Area.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8E82976B-A073-441E-8634-C17818BA8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4135" y="3509529"/>
            <a:ext cx="252249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dirty="0"/>
              <a:t>3cm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C9A0BB9B-C88F-4144-9576-1F414670F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9154" y="3204318"/>
            <a:ext cx="149864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dirty="0"/>
              <a:t>diameter</a:t>
            </a:r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197" y="4167686"/>
            <a:ext cx="4491118" cy="15278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8454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Area.</a:t>
            </a:r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197" y="4167686"/>
            <a:ext cx="2218434" cy="31452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802B818B-38DC-4119-B738-78B9EDFB56EC}"/>
              </a:ext>
            </a:extLst>
          </p:cNvPr>
          <p:cNvSpPr txBox="1">
            <a:spLocks noChangeArrowheads="1"/>
          </p:cNvSpPr>
          <p:nvPr/>
        </p:nvSpPr>
        <p:spPr bwMode="auto">
          <a:xfrm rot="21369525">
            <a:off x="1458298" y="3527784"/>
            <a:ext cx="1054654" cy="523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800" b="1" dirty="0"/>
              <a:t>6cm</a:t>
            </a:r>
          </a:p>
        </p:txBody>
      </p:sp>
    </p:spTree>
    <p:extLst>
      <p:ext uri="{BB962C8B-B14F-4D97-AF65-F5344CB8AC3E}">
        <p14:creationId xmlns:p14="http://schemas.microsoft.com/office/powerpoint/2010/main" val="548150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Area.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1197" y="4167686"/>
            <a:ext cx="4491118" cy="15278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8E4F90A5-8535-4248-B0FF-E96412083763}"/>
              </a:ext>
            </a:extLst>
          </p:cNvPr>
          <p:cNvSpPr txBox="1">
            <a:spLocks noChangeArrowheads="1"/>
          </p:cNvSpPr>
          <p:nvPr/>
        </p:nvSpPr>
        <p:spPr bwMode="auto">
          <a:xfrm rot="21474285">
            <a:off x="2491234" y="3623814"/>
            <a:ext cx="1057691" cy="4617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dirty="0"/>
              <a:t>3.5cm</a:t>
            </a:r>
          </a:p>
        </p:txBody>
      </p:sp>
    </p:spTree>
    <p:extLst>
      <p:ext uri="{BB962C8B-B14F-4D97-AF65-F5344CB8AC3E}">
        <p14:creationId xmlns:p14="http://schemas.microsoft.com/office/powerpoint/2010/main" val="1973972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28AE-C081-4005-9B2C-9330AA9E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F95D2-E068-4F9D-A382-1F1020259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3162" y="1825625"/>
            <a:ext cx="597063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Area.</a:t>
            </a:r>
            <a:endParaRPr lang="en-AU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D1174B0-630B-43B7-AEF0-B0D44D9D0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47" y="2253741"/>
            <a:ext cx="4671966" cy="4058159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376" y="10800"/>
                </a:moveTo>
                <a:cubicBezTo>
                  <a:pt x="376" y="16557"/>
                  <a:pt x="5043" y="21224"/>
                  <a:pt x="10800" y="21224"/>
                </a:cubicBezTo>
                <a:cubicBezTo>
                  <a:pt x="16557" y="21224"/>
                  <a:pt x="21224" y="16557"/>
                  <a:pt x="21224" y="10800"/>
                </a:cubicBezTo>
                <a:cubicBezTo>
                  <a:pt x="21224" y="5043"/>
                  <a:pt x="16557" y="376"/>
                  <a:pt x="10800" y="376"/>
                </a:cubicBezTo>
                <a:cubicBezTo>
                  <a:pt x="5043" y="376"/>
                  <a:pt x="376" y="5043"/>
                  <a:pt x="376" y="10800"/>
                </a:cubicBezTo>
                <a:close/>
              </a:path>
            </a:pathLst>
          </a:custGeom>
          <a:solidFill>
            <a:srgbClr val="00000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7" name="Line 8">
            <a:extLst>
              <a:ext uri="{FF2B5EF4-FFF2-40B4-BE49-F238E27FC236}">
                <a16:creationId xmlns:a16="http://schemas.microsoft.com/office/drawing/2014/main" id="{36AB70A2-CEE2-48A0-AC6E-1FA4B8E1A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0853" y="4181382"/>
            <a:ext cx="2361461" cy="1581"/>
          </a:xfrm>
          <a:prstGeom prst="line">
            <a:avLst/>
          </a:prstGeom>
          <a:noFill/>
          <a:ln w="730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8" name="Text Box 12">
            <a:extLst>
              <a:ext uri="{FF2B5EF4-FFF2-40B4-BE49-F238E27FC236}">
                <a16:creationId xmlns:a16="http://schemas.microsoft.com/office/drawing/2014/main" id="{8624D3A6-7F0F-45B3-B5A5-ED6FB2632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6857" y="3520448"/>
            <a:ext cx="105769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dirty="0"/>
              <a:t>12cm</a:t>
            </a:r>
          </a:p>
        </p:txBody>
      </p:sp>
    </p:spTree>
    <p:extLst>
      <p:ext uri="{BB962C8B-B14F-4D97-AF65-F5344CB8AC3E}">
        <p14:creationId xmlns:p14="http://schemas.microsoft.com/office/powerpoint/2010/main" val="1682015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A2B7C-33A6-45FB-BB57-CE33D26B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Terminology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895EC8-282E-4FCC-8F22-C8A02AFEA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/>
              <a:t>And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384739-9B66-4E58-803D-446E105686D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/>
              <a:t>In probability “and” describes features that must be satisfied.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blue eyes </a:t>
            </a:r>
            <a:r>
              <a:rPr lang="en-AU" b="1" u="sng" dirty="0"/>
              <a:t>and</a:t>
            </a:r>
            <a:r>
              <a:rPr lang="en-AU" dirty="0"/>
              <a:t> blonde hair.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u="sng" dirty="0"/>
              <a:t>Universal set</a:t>
            </a:r>
            <a:r>
              <a:rPr lang="en-AU" dirty="0"/>
              <a:t>: total number of </a:t>
            </a:r>
            <a:r>
              <a:rPr lang="en-AU"/>
              <a:t>something being </a:t>
            </a:r>
            <a:r>
              <a:rPr lang="en-AU" dirty="0"/>
              <a:t>represented 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E05AD8-5AB3-4C6E-A497-61E0825EA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/>
              <a:t>Or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ECB389F-D41C-4844-956B-EDFFD39A017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AU" dirty="0"/>
              <a:t>In probability “or” can be inclusive or exclusive. </a:t>
            </a:r>
          </a:p>
          <a:p>
            <a:pPr marL="0" indent="0" algn="ctr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blonde hair </a:t>
            </a:r>
            <a:r>
              <a:rPr lang="en-AU" b="1" u="sng" dirty="0"/>
              <a:t>or</a:t>
            </a:r>
            <a:r>
              <a:rPr lang="en-AU" dirty="0"/>
              <a:t> blue eyes. (inclusive of both)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E.g. a person who has blue eyes or blonde hair </a:t>
            </a:r>
            <a:r>
              <a:rPr lang="en-AU" b="1" u="sng" dirty="0"/>
              <a:t>but not</a:t>
            </a:r>
            <a:r>
              <a:rPr lang="en-AU" dirty="0"/>
              <a:t> both (Exclusive)  </a:t>
            </a:r>
          </a:p>
        </p:txBody>
      </p:sp>
    </p:spTree>
    <p:extLst>
      <p:ext uri="{BB962C8B-B14F-4D97-AF65-F5344CB8AC3E}">
        <p14:creationId xmlns:p14="http://schemas.microsoft.com/office/powerpoint/2010/main" val="263200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55182B0-557B-476E-8CC7-E9E6EDC0A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" y="123825"/>
            <a:ext cx="7008154" cy="34395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0" name="Content Placeholder 5">
                <a:extLst>
                  <a:ext uri="{FF2B5EF4-FFF2-40B4-BE49-F238E27FC236}">
                    <a16:creationId xmlns:a16="http://schemas.microsoft.com/office/drawing/2014/main" id="{86490122-0562-4DF7-8DF7-807E439FB0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131979" y="1411550"/>
                <a:ext cx="5324240" cy="5051394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and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or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or B hair but not both) =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40 </m:t>
                        </m:r>
                      </m:den>
                    </m:f>
                    <m:r>
                      <a:rPr lang="en-AU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P(not 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</m:t>
                        </m:r>
                      </m:num>
                      <m:den>
                        <m:r>
                          <a:rPr lang="en-AU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20" name="Content Placeholder 5">
                <a:extLst>
                  <a:ext uri="{FF2B5EF4-FFF2-40B4-BE49-F238E27FC236}">
                    <a16:creationId xmlns:a16="http://schemas.microsoft.com/office/drawing/2014/main" id="{86490122-0562-4DF7-8DF7-807E439FB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1979" y="1411550"/>
                <a:ext cx="5324240" cy="5051394"/>
              </a:xfrm>
              <a:prstGeom prst="rect">
                <a:avLst/>
              </a:prstGeom>
              <a:blipFill>
                <a:blip r:embed="rId4"/>
                <a:stretch>
                  <a:fillRect l="-2062" t="-24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7DB0D466-7550-4103-9728-BDC502D15D5B}"/>
              </a:ext>
            </a:extLst>
          </p:cNvPr>
          <p:cNvSpPr txBox="1"/>
          <p:nvPr/>
        </p:nvSpPr>
        <p:spPr>
          <a:xfrm>
            <a:off x="1012054" y="3773010"/>
            <a:ext cx="5324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highlight>
                  <a:srgbClr val="FFFF00"/>
                </a:highlight>
              </a:rPr>
              <a:t>Sketch Venn diagram onto NOTES page. </a:t>
            </a:r>
            <a:endParaRPr lang="en-AU" sz="3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752284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ABDC3-1E48-4083-BA7F-3A659BCE7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2271057" cy="1325563"/>
          </a:xfrm>
        </p:spPr>
        <p:txBody>
          <a:bodyPr/>
          <a:lstStyle/>
          <a:p>
            <a:pPr algn="ctr"/>
            <a:r>
              <a:rPr lang="en-AU" dirty="0"/>
              <a:t>Notes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49C53-A005-4A3D-9AF5-5A646CC81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Notation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B2E31-E381-4E8A-825C-74C789B93E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and B)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or B)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or B not both)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P(A)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P(A’) – complimentary event (the opposite of something)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F625F-2323-4A1A-95E5-D168FA453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Example</a:t>
            </a:r>
            <a:r>
              <a:rPr lang="en-AU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8307FA4-8AB8-4122-A17B-B6F502BA751D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and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or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8+12+15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or B hair but not both)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8+15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40 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8+12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P(not 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15+5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8307FA4-8AB8-4122-A17B-B6F502BA7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blipFill>
                <a:blip r:embed="rId2"/>
                <a:stretch>
                  <a:fillRect l="-1294" t="-182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EAD69C9-E7F6-4A17-BF77-48DBE2B8E981}"/>
              </a:ext>
            </a:extLst>
          </p:cNvPr>
          <p:cNvSpPr txBox="1"/>
          <p:nvPr/>
        </p:nvSpPr>
        <p:spPr>
          <a:xfrm>
            <a:off x="3930977" y="807542"/>
            <a:ext cx="6917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0B0F0"/>
                </a:solidFill>
              </a:rPr>
              <a:t>Universal set = total number represented in diagram </a:t>
            </a:r>
          </a:p>
        </p:txBody>
      </p:sp>
    </p:spTree>
    <p:extLst>
      <p:ext uri="{BB962C8B-B14F-4D97-AF65-F5344CB8AC3E}">
        <p14:creationId xmlns:p14="http://schemas.microsoft.com/office/powerpoint/2010/main" val="4271854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3539"/>
          </a:xfrm>
        </p:spPr>
        <p:txBody>
          <a:bodyPr>
            <a:normAutofit/>
          </a:bodyPr>
          <a:lstStyle/>
          <a:p>
            <a:r>
              <a:rPr lang="en-GB" dirty="0"/>
              <a:t>The Venn diagram below shows two events D and F.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Find:	a)  P(D and F)	b)  P(Not D)		c)  P(D only)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d)  P(D or F)		e)  P(Not D or F)		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5713" y="2442949"/>
            <a:ext cx="4148920" cy="2306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67200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306705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2097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8749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34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8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3078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8307" y="4175794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87DF7-A8A0-4F94-ABD9-550D759D9168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We do</a:t>
            </a:r>
            <a:r>
              <a:rPr lang="en-US" sz="2400" dirty="0"/>
              <a:t> </a:t>
            </a:r>
            <a:endParaRPr lang="en-A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8E7EC1-BD02-423E-AE26-3CC1CFC1EA76}"/>
              </a:ext>
            </a:extLst>
          </p:cNvPr>
          <p:cNvSpPr txBox="1"/>
          <p:nvPr/>
        </p:nvSpPr>
        <p:spPr>
          <a:xfrm>
            <a:off x="3719016" y="2155119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525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Venn diagram below shows what some people had for breakfast.</a:t>
            </a:r>
          </a:p>
          <a:p>
            <a:pPr marL="0" indent="0">
              <a:buNone/>
            </a:pPr>
            <a:r>
              <a:rPr lang="en-GB" dirty="0"/>
              <a:t>   C is the event that they had cereal</a:t>
            </a:r>
          </a:p>
          <a:p>
            <a:pPr marL="0" indent="0">
              <a:buNone/>
            </a:pPr>
            <a:r>
              <a:rPr lang="en-GB" dirty="0"/>
              <a:t>   O is the event that they had OJ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560860" y="2456597"/>
            <a:ext cx="4271749" cy="2374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352430" y="2688609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42462" y="2688608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54336" y="268860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8832" y="268860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543" y="3521121"/>
            <a:ext cx="530897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200" b="1" dirty="0">
                <a:solidFill>
                  <a:prstClr val="black"/>
                </a:solidFill>
                <a:latin typeface="Calibri" panose="020F0502020204030204"/>
              </a:rPr>
              <a:t>Selecting a person at random: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P(had Cereal </a:t>
            </a:r>
            <a:r>
              <a:rPr lang="en-GB" sz="3200" b="1" dirty="0">
                <a:solidFill>
                  <a:prstClr val="black"/>
                </a:solidFill>
                <a:latin typeface="Calibri" panose="020F0502020204030204"/>
              </a:rPr>
              <a:t>AND OJ)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P(C or OJ)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P(only OJ)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lang="en-GB" sz="3200" b="1" dirty="0">
                <a:solidFill>
                  <a:prstClr val="black"/>
                </a:solidFill>
                <a:latin typeface="Calibri" panose="020F0502020204030204"/>
              </a:rPr>
              <a:t>P(not OJ) 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P(C or OJ but NOT both)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6137" y="326181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6813" y="326181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4762" y="3274620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4520" y="4353634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178B9-EC1D-49EB-A5C7-BE02A9CF9D24}"/>
              </a:ext>
            </a:extLst>
          </p:cNvPr>
          <p:cNvSpPr txBox="1"/>
          <p:nvPr/>
        </p:nvSpPr>
        <p:spPr>
          <a:xfrm>
            <a:off x="9021452" y="584462"/>
            <a:ext cx="2149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You do: whiteboards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7286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339A-576E-49D5-8968-7287185B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97" y="305018"/>
            <a:ext cx="2872666" cy="1019792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Language of probability!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CCB30C9-2228-473B-8870-63E01959C7F6}"/>
              </a:ext>
            </a:extLst>
          </p:cNvPr>
          <p:cNvSpPr/>
          <p:nvPr/>
        </p:nvSpPr>
        <p:spPr>
          <a:xfrm>
            <a:off x="2872666" y="1262666"/>
            <a:ext cx="3799643" cy="354219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088B14C-4E54-4723-8CE2-9D817C02AB84}"/>
              </a:ext>
            </a:extLst>
          </p:cNvPr>
          <p:cNvSpPr/>
          <p:nvPr/>
        </p:nvSpPr>
        <p:spPr>
          <a:xfrm>
            <a:off x="5745332" y="1200524"/>
            <a:ext cx="3799643" cy="354219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311E56A-60FC-43E2-9C08-EBD6A1E5F1D1}"/>
              </a:ext>
            </a:extLst>
          </p:cNvPr>
          <p:cNvSpPr/>
          <p:nvPr/>
        </p:nvSpPr>
        <p:spPr>
          <a:xfrm>
            <a:off x="4428478" y="3315810"/>
            <a:ext cx="3799643" cy="354219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07894-5BCC-4A7E-A8DB-27C097CBE702}"/>
              </a:ext>
            </a:extLst>
          </p:cNvPr>
          <p:cNvSpPr txBox="1"/>
          <p:nvPr/>
        </p:nvSpPr>
        <p:spPr>
          <a:xfrm>
            <a:off x="3735786" y="1457619"/>
            <a:ext cx="1886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Owes a cat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956F1C-AD70-4DE2-8420-FB6F24180F1E}"/>
              </a:ext>
            </a:extLst>
          </p:cNvPr>
          <p:cNvSpPr txBox="1"/>
          <p:nvPr/>
        </p:nvSpPr>
        <p:spPr>
          <a:xfrm>
            <a:off x="6672309" y="1473337"/>
            <a:ext cx="2203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Owns a horse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DBFB66-2679-440A-9125-7C2CC6040610}"/>
              </a:ext>
            </a:extLst>
          </p:cNvPr>
          <p:cNvSpPr txBox="1"/>
          <p:nvPr/>
        </p:nvSpPr>
        <p:spPr>
          <a:xfrm>
            <a:off x="5338701" y="6069926"/>
            <a:ext cx="1979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Owns a cow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614401-A225-42DB-BFBF-FE12ED6FE490}"/>
              </a:ext>
            </a:extLst>
          </p:cNvPr>
          <p:cNvSpPr txBox="1"/>
          <p:nvPr/>
        </p:nvSpPr>
        <p:spPr>
          <a:xfrm>
            <a:off x="4189520" y="2313766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AF4CEC-8496-41CF-A87B-B7179A78E3EF}"/>
              </a:ext>
            </a:extLst>
          </p:cNvPr>
          <p:cNvSpPr txBox="1"/>
          <p:nvPr/>
        </p:nvSpPr>
        <p:spPr>
          <a:xfrm>
            <a:off x="5982682" y="2386715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21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47EBA2-2735-41C2-9AE9-D61C762ED978}"/>
              </a:ext>
            </a:extLst>
          </p:cNvPr>
          <p:cNvSpPr txBox="1"/>
          <p:nvPr/>
        </p:nvSpPr>
        <p:spPr>
          <a:xfrm>
            <a:off x="8044417" y="2288151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9CAA5B-6BD9-47D0-B390-B7A24263C504}"/>
              </a:ext>
            </a:extLst>
          </p:cNvPr>
          <p:cNvSpPr txBox="1"/>
          <p:nvPr/>
        </p:nvSpPr>
        <p:spPr>
          <a:xfrm>
            <a:off x="6074053" y="334436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DF2CB-4E33-4EE1-BC94-EEC25F319D8A}"/>
              </a:ext>
            </a:extLst>
          </p:cNvPr>
          <p:cNvSpPr txBox="1"/>
          <p:nvPr/>
        </p:nvSpPr>
        <p:spPr>
          <a:xfrm>
            <a:off x="5228189" y="386758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FC917A-BB34-4315-8C70-4D342D2D6699}"/>
              </a:ext>
            </a:extLst>
          </p:cNvPr>
          <p:cNvSpPr txBox="1"/>
          <p:nvPr/>
        </p:nvSpPr>
        <p:spPr>
          <a:xfrm>
            <a:off x="6873035" y="3788091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81EF6B-FA37-4DD5-AF81-1DA06B07004A}"/>
              </a:ext>
            </a:extLst>
          </p:cNvPr>
          <p:cNvSpPr txBox="1"/>
          <p:nvPr/>
        </p:nvSpPr>
        <p:spPr>
          <a:xfrm>
            <a:off x="6122158" y="5114198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2C2886-1D9E-4DE1-BD62-9692CA6B521C}"/>
              </a:ext>
            </a:extLst>
          </p:cNvPr>
          <p:cNvSpPr txBox="1"/>
          <p:nvPr/>
        </p:nvSpPr>
        <p:spPr>
          <a:xfrm>
            <a:off x="8982512" y="5106697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20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5416ED-065A-4374-83FD-8ADF325A39B6}"/>
              </a:ext>
            </a:extLst>
          </p:cNvPr>
          <p:cNvSpPr txBox="1"/>
          <p:nvPr/>
        </p:nvSpPr>
        <p:spPr>
          <a:xfrm>
            <a:off x="5673312" y="425085"/>
            <a:ext cx="1309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/>
              <a:t>U = 100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250A36-6931-457C-9E0C-6EC2D7B7FA23}"/>
              </a:ext>
            </a:extLst>
          </p:cNvPr>
          <p:cNvSpPr txBox="1"/>
          <p:nvPr/>
        </p:nvSpPr>
        <p:spPr>
          <a:xfrm>
            <a:off x="167462" y="1585048"/>
            <a:ext cx="23626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A person selected at random, find the probability that they:</a:t>
            </a:r>
          </a:p>
          <a:p>
            <a:endParaRPr lang="en-AU" b="1" dirty="0"/>
          </a:p>
          <a:p>
            <a:r>
              <a:rPr lang="en-AU" b="1" dirty="0"/>
              <a:t>P(owned 1 animal) </a:t>
            </a:r>
          </a:p>
          <a:p>
            <a:r>
              <a:rPr lang="en-AU" b="1" dirty="0"/>
              <a:t>P(owned at least 2) </a:t>
            </a:r>
          </a:p>
          <a:p>
            <a:r>
              <a:rPr lang="en-AU" b="1" dirty="0"/>
              <a:t>P(owned cat or horse) </a:t>
            </a:r>
          </a:p>
          <a:p>
            <a:r>
              <a:rPr lang="en-AU" b="1" dirty="0"/>
              <a:t>P(owned cow or cat but not both) </a:t>
            </a:r>
          </a:p>
          <a:p>
            <a:r>
              <a:rPr lang="en-AU" b="1" dirty="0"/>
              <a:t>P(did not have these animals) 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270697-EBF6-4B8C-BB16-DFC532FA92C3}"/>
              </a:ext>
            </a:extLst>
          </p:cNvPr>
          <p:cNvSpPr txBox="1"/>
          <p:nvPr/>
        </p:nvSpPr>
        <p:spPr>
          <a:xfrm>
            <a:off x="1659864" y="4390803"/>
            <a:ext cx="1740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35/100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45/100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66/100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58/100</a:t>
            </a:r>
          </a:p>
          <a:p>
            <a:endParaRPr lang="en-AU" dirty="0">
              <a:solidFill>
                <a:srgbClr val="FF0000"/>
              </a:solidFill>
            </a:endParaRPr>
          </a:p>
          <a:p>
            <a:r>
              <a:rPr lang="en-AU" dirty="0">
                <a:solidFill>
                  <a:srgbClr val="FF0000"/>
                </a:solidFill>
              </a:rPr>
              <a:t>20/100</a:t>
            </a:r>
          </a:p>
        </p:txBody>
      </p:sp>
    </p:spTree>
    <p:extLst>
      <p:ext uri="{BB962C8B-B14F-4D97-AF65-F5344CB8AC3E}">
        <p14:creationId xmlns:p14="http://schemas.microsoft.com/office/powerpoint/2010/main" val="1969674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uiExpand="1" build="p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27613"/>
            <a:ext cx="10515600" cy="1325563"/>
          </a:xfrm>
        </p:spPr>
        <p:txBody>
          <a:bodyPr/>
          <a:lstStyle/>
          <a:p>
            <a:r>
              <a:rPr lang="en-GB" u="sng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63" y="692284"/>
            <a:ext cx="11775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dirty="0"/>
              <a:t>A vet surveys 100 of her clients. She finds that:</a:t>
            </a:r>
          </a:p>
          <a:p>
            <a:pPr marL="0" indent="0">
              <a:buNone/>
            </a:pPr>
            <a:r>
              <a:rPr lang="en-GB" sz="2200" dirty="0"/>
              <a:t>25 own dogs		     15 own cats and dogs		     11 own dogs and tropical fish	</a:t>
            </a:r>
          </a:p>
          <a:p>
            <a:pPr marL="0" indent="0">
              <a:buNone/>
            </a:pPr>
            <a:r>
              <a:rPr lang="en-GB" sz="2200" dirty="0"/>
              <a:t>53 own cats		       10 own cats and tropical fish	      7 own dogs, cats and tropical fish</a:t>
            </a:r>
          </a:p>
          <a:p>
            <a:pPr marL="0" indent="0">
              <a:buNone/>
            </a:pPr>
            <a:r>
              <a:rPr lang="en-GB" sz="2200" dirty="0"/>
              <a:t>40 own tropical fish</a:t>
            </a:r>
          </a:p>
          <a:p>
            <a:pPr marL="0" indent="0">
              <a:buNone/>
            </a:pPr>
            <a:r>
              <a:rPr lang="en-GB" sz="2200" dirty="0"/>
              <a:t>A client is chosen at random, find the probability that the client:</a:t>
            </a:r>
          </a:p>
          <a:p>
            <a:pPr marL="0" indent="0">
              <a:buNone/>
            </a:pPr>
            <a:r>
              <a:rPr lang="en-GB" sz="2200" dirty="0"/>
              <a:t>a) Owns dogs only.</a:t>
            </a:r>
          </a:p>
          <a:p>
            <a:pPr marL="0" indent="0">
              <a:buNone/>
            </a:pPr>
            <a:r>
              <a:rPr lang="en-GB" sz="2200" dirty="0"/>
              <a:t>b) Does not own tropical fish.</a:t>
            </a:r>
          </a:p>
          <a:p>
            <a:pPr marL="0" indent="0">
              <a:buNone/>
            </a:pPr>
            <a:r>
              <a:rPr lang="en-GB" sz="2200" dirty="0"/>
              <a:t>c) Does not own dogs, cats or</a:t>
            </a:r>
            <a:br>
              <a:rPr lang="en-GB" sz="2200" dirty="0"/>
            </a:br>
            <a:r>
              <a:rPr lang="en-GB" sz="2200" dirty="0"/>
              <a:t>    tropical fish.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62345" y="2440695"/>
            <a:ext cx="4172755" cy="33097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8290509" y="2862049"/>
            <a:ext cx="2055723" cy="1737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/>
          <p:cNvSpPr/>
          <p:nvPr/>
        </p:nvSpPr>
        <p:spPr>
          <a:xfrm>
            <a:off x="9457557" y="2830725"/>
            <a:ext cx="2055723" cy="1737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498952" y="2332366"/>
                <a:ext cx="23006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𝜉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952" y="2332366"/>
                <a:ext cx="230063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4737" r="-42105" b="-35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8317110" y="2738012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38333" y="273801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8876628" y="3659412"/>
            <a:ext cx="2055723" cy="1737608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0624253" y="5055675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17564" t="10815" r="20540" b="11665"/>
          <a:stretch/>
        </p:blipFill>
        <p:spPr>
          <a:xfrm>
            <a:off x="9688959" y="43960"/>
            <a:ext cx="841624" cy="105407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157" y="43961"/>
            <a:ext cx="864287" cy="97897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3911" y="51190"/>
            <a:ext cx="1404143" cy="81392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827739" y="1569575"/>
            <a:ext cx="3968708" cy="360608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9740822" y="3730853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>
                <a:solidFill>
                  <a:srgbClr val="FF00FF"/>
                </a:solidFill>
              </a:rPr>
              <a:t>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4066" y="1157537"/>
            <a:ext cx="3451538" cy="346931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F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166056" y="1105135"/>
            <a:ext cx="2552163" cy="360608"/>
          </a:xfrm>
          <a:prstGeom prst="rect">
            <a:avLst/>
          </a:prstGeom>
          <a:noFill/>
          <a:ln w="28575">
            <a:solidFill>
              <a:srgbClr val="FFC81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306905" y="1531616"/>
            <a:ext cx="3355453" cy="360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1348" y="1125034"/>
            <a:ext cx="1541542" cy="360608"/>
          </a:xfrm>
          <a:prstGeom prst="rect">
            <a:avLst/>
          </a:prstGeom>
          <a:noFill/>
          <a:ln w="28575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/>
          <p:cNvSpPr/>
          <p:nvPr/>
        </p:nvSpPr>
        <p:spPr>
          <a:xfrm>
            <a:off x="91964" y="1550073"/>
            <a:ext cx="1541542" cy="360608"/>
          </a:xfrm>
          <a:prstGeom prst="rect">
            <a:avLst/>
          </a:prstGeom>
          <a:noFill/>
          <a:ln w="28575">
            <a:solidFill>
              <a:srgbClr val="90469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158169" y="1971758"/>
            <a:ext cx="2275937" cy="36060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14772" y="729986"/>
            <a:ext cx="124264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00B0F0"/>
                </a:solidFill>
              </a:rPr>
              <a:t>11 – 7 =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7177" y="395399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B0F0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2233" y="1885014"/>
            <a:ext cx="124264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FF0000"/>
                </a:solidFill>
              </a:rPr>
              <a:t>10 – 7 =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12897" y="395189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54659" y="1080307"/>
            <a:ext cx="124264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FFC819"/>
                </a:solidFill>
              </a:rPr>
              <a:t>15 – 7 =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2400" y="467637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B050"/>
                </a:solidFill>
              </a:rPr>
              <a:t>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7998" y="310734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FFC819"/>
                </a:solidFill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30663" y="1095750"/>
            <a:ext cx="1654620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000099"/>
                </a:solidFill>
              </a:rPr>
              <a:t>25-(8+7+4)=6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6069" y="1979593"/>
            <a:ext cx="190468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00B050"/>
                </a:solidFill>
              </a:rPr>
              <a:t>40–(4+7+3)= 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8652" y="3297431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000099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63809" y="1514465"/>
            <a:ext cx="179087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100" b="1" dirty="0">
                <a:solidFill>
                  <a:srgbClr val="904692"/>
                </a:solidFill>
              </a:rPr>
              <a:t>53-(8+7+3)=35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03569" y="322539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rgbClr val="904692"/>
                </a:solidFill>
              </a:rPr>
              <a:t>35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3050" y="3035982"/>
            <a:ext cx="347152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>
                <a:solidFill>
                  <a:srgbClr val="99CC00"/>
                </a:solidFill>
              </a:rPr>
              <a:t>Don’t forget to complete </a:t>
            </a:r>
            <a:br>
              <a:rPr lang="en-GB" sz="2500" dirty="0">
                <a:solidFill>
                  <a:srgbClr val="99CC00"/>
                </a:solidFill>
              </a:rPr>
            </a:br>
            <a:r>
              <a:rPr lang="en-GB" sz="2500" dirty="0">
                <a:solidFill>
                  <a:srgbClr val="99CC00"/>
                </a:solidFill>
              </a:rPr>
              <a:t>the full set:</a:t>
            </a:r>
          </a:p>
          <a:p>
            <a:r>
              <a:rPr lang="en-GB" sz="2500" dirty="0">
                <a:solidFill>
                  <a:srgbClr val="99CC00"/>
                </a:solidFill>
              </a:rPr>
              <a:t>6+8+35+4+7+3+26 = 89</a:t>
            </a:r>
          </a:p>
          <a:p>
            <a:r>
              <a:rPr lang="en-GB" sz="2500" dirty="0">
                <a:solidFill>
                  <a:srgbClr val="99CC00"/>
                </a:solidFill>
              </a:rPr>
              <a:t>100 – 89 = 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5695" y="4925129"/>
            <a:ext cx="50847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500" dirty="0">
                <a:solidFill>
                  <a:srgbClr val="99CC0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02770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  <p:bldP spid="14" grpId="0"/>
      <p:bldP spid="18" grpId="0" animBg="1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D041-ACD3-4492-9637-FEC3454D6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Whiteboards: have a go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0182B-B628-419C-AA7C-533498C48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3795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70 people were asked where they had travelled this year. </a:t>
            </a:r>
          </a:p>
          <a:p>
            <a:pPr marL="0" indent="0">
              <a:buNone/>
            </a:pPr>
            <a:r>
              <a:rPr lang="en-US" dirty="0"/>
              <a:t>18 people said they went to Busselton and Bali </a:t>
            </a:r>
          </a:p>
          <a:p>
            <a:pPr marL="0" indent="0">
              <a:buNone/>
            </a:pPr>
            <a:r>
              <a:rPr lang="en-US" dirty="0"/>
              <a:t>19 people said they wen to Perth and Busselton </a:t>
            </a:r>
          </a:p>
          <a:p>
            <a:pPr marL="0" indent="0">
              <a:buNone/>
            </a:pPr>
            <a:r>
              <a:rPr lang="en-US" dirty="0"/>
              <a:t>11 people said they had been to Busselton, Perth and Bali.</a:t>
            </a:r>
          </a:p>
          <a:p>
            <a:pPr marL="0" indent="0">
              <a:buNone/>
            </a:pPr>
            <a:r>
              <a:rPr lang="en-US" dirty="0"/>
              <a:t>20 people went to Perth and </a:t>
            </a:r>
            <a:r>
              <a:rPr lang="en-US" dirty="0" err="1"/>
              <a:t>bali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 total of 37 people have been to Bali. </a:t>
            </a:r>
          </a:p>
          <a:p>
            <a:pPr marL="0" indent="0">
              <a:buNone/>
            </a:pPr>
            <a:r>
              <a:rPr lang="en-US" dirty="0"/>
              <a:t>13 people only went to Perth</a:t>
            </a:r>
          </a:p>
          <a:p>
            <a:pPr marL="0" indent="0">
              <a:buNone/>
            </a:pPr>
            <a:r>
              <a:rPr lang="en-US" dirty="0"/>
              <a:t>Everyone had been to at least 1 place.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D68A24-ABFE-4B7E-86C0-195657FE021A}"/>
              </a:ext>
            </a:extLst>
          </p:cNvPr>
          <p:cNvSpPr/>
          <p:nvPr/>
        </p:nvSpPr>
        <p:spPr>
          <a:xfrm>
            <a:off x="7808649" y="4475861"/>
            <a:ext cx="1603899" cy="1339147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3FAD749-F8BE-48E2-AEF1-475AE471B907}"/>
              </a:ext>
            </a:extLst>
          </p:cNvPr>
          <p:cNvSpPr/>
          <p:nvPr/>
        </p:nvSpPr>
        <p:spPr>
          <a:xfrm>
            <a:off x="8871751" y="4475861"/>
            <a:ext cx="1603899" cy="1339147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16739AE-3B19-4B9C-A3A6-6B176B52764D}"/>
              </a:ext>
            </a:extLst>
          </p:cNvPr>
          <p:cNvSpPr/>
          <p:nvPr/>
        </p:nvSpPr>
        <p:spPr>
          <a:xfrm>
            <a:off x="8340200" y="5230205"/>
            <a:ext cx="1603899" cy="1339147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89D55-706F-4A69-8406-A79B18265BA9}"/>
              </a:ext>
            </a:extLst>
          </p:cNvPr>
          <p:cNvSpPr txBox="1"/>
          <p:nvPr/>
        </p:nvSpPr>
        <p:spPr>
          <a:xfrm>
            <a:off x="8291565" y="4475861"/>
            <a:ext cx="611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Buss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D8F5FD-C69F-4EAF-88AB-202295313EE8}"/>
              </a:ext>
            </a:extLst>
          </p:cNvPr>
          <p:cNvSpPr txBox="1"/>
          <p:nvPr/>
        </p:nvSpPr>
        <p:spPr>
          <a:xfrm>
            <a:off x="9465090" y="4543057"/>
            <a:ext cx="5261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Bali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A121E-4E8E-4345-BF5D-B03CC46BBD5F}"/>
              </a:ext>
            </a:extLst>
          </p:cNvPr>
          <p:cNvSpPr txBox="1"/>
          <p:nvPr/>
        </p:nvSpPr>
        <p:spPr>
          <a:xfrm>
            <a:off x="8871751" y="6217525"/>
            <a:ext cx="69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Perth</a:t>
            </a:r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0C50F5-7DFD-4318-A5F2-355CD0B757C6}"/>
              </a:ext>
            </a:extLst>
          </p:cNvPr>
          <p:cNvSpPr/>
          <p:nvPr/>
        </p:nvSpPr>
        <p:spPr>
          <a:xfrm>
            <a:off x="7137647" y="4181383"/>
            <a:ext cx="4216153" cy="25123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4450B-D6E7-4CD1-BC75-F81B21A1BBE2}"/>
              </a:ext>
            </a:extLst>
          </p:cNvPr>
          <p:cNvSpPr txBox="1"/>
          <p:nvPr/>
        </p:nvSpPr>
        <p:spPr>
          <a:xfrm>
            <a:off x="7503116" y="3848512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 = 70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64868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905</Words>
  <Application>Microsoft Office PowerPoint</Application>
  <PresentationFormat>Widescreen</PresentationFormat>
  <Paragraphs>227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PowerPoint Presentation</vt:lpstr>
      <vt:lpstr>PowerPoint Presentation</vt:lpstr>
      <vt:lpstr>I do </vt:lpstr>
      <vt:lpstr>we do </vt:lpstr>
      <vt:lpstr>Whiteboards </vt:lpstr>
      <vt:lpstr>Whiteboards </vt:lpstr>
      <vt:lpstr>Whiteboards </vt:lpstr>
      <vt:lpstr>Whiteboards </vt:lpstr>
      <vt:lpstr>I do </vt:lpstr>
      <vt:lpstr>we do </vt:lpstr>
      <vt:lpstr>Whiteboards </vt:lpstr>
      <vt:lpstr>Whiteboards </vt:lpstr>
      <vt:lpstr>Whiteboards </vt:lpstr>
      <vt:lpstr>Whiteboards </vt:lpstr>
      <vt:lpstr>Terminology </vt:lpstr>
      <vt:lpstr>PowerPoint Presentation</vt:lpstr>
      <vt:lpstr>Notes </vt:lpstr>
      <vt:lpstr>Venn Diagrams – An Example</vt:lpstr>
      <vt:lpstr>Venn Diagrams</vt:lpstr>
      <vt:lpstr>Language of probability!</vt:lpstr>
      <vt:lpstr>Example</vt:lpstr>
      <vt:lpstr>Whiteboards: have a go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10</cp:revision>
  <dcterms:created xsi:type="dcterms:W3CDTF">2022-06-13T02:14:03Z</dcterms:created>
  <dcterms:modified xsi:type="dcterms:W3CDTF">2022-06-13T08:44:40Z</dcterms:modified>
</cp:coreProperties>
</file>
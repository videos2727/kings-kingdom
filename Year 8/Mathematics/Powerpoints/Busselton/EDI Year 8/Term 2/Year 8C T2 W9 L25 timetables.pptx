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handoutMasterIdLst>
    <p:handoutMasterId r:id="rId14"/>
  </p:handoutMasterIdLst>
  <p:sldIdLst>
    <p:sldId id="315" r:id="rId2"/>
    <p:sldId id="334" r:id="rId3"/>
    <p:sldId id="332" r:id="rId4"/>
    <p:sldId id="310" r:id="rId5"/>
    <p:sldId id="316" r:id="rId6"/>
    <p:sldId id="307" r:id="rId7"/>
    <p:sldId id="312" r:id="rId8"/>
    <p:sldId id="317" r:id="rId9"/>
    <p:sldId id="328" r:id="rId10"/>
    <p:sldId id="318" r:id="rId11"/>
    <p:sldId id="31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746"/>
    <a:srgbClr val="EA7600"/>
    <a:srgbClr val="9AF67A"/>
    <a:srgbClr val="85F45E"/>
    <a:srgbClr val="E7B8F6"/>
    <a:srgbClr val="F4D2FE"/>
    <a:srgbClr val="F7B635"/>
    <a:srgbClr val="E2AAF4"/>
    <a:srgbClr val="F1C6FE"/>
    <a:srgbClr val="F9B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88029" autoAdjust="0"/>
  </p:normalViewPr>
  <p:slideViewPr>
    <p:cSldViewPr snapToGrid="0">
      <p:cViewPr varScale="1">
        <p:scale>
          <a:sx n="75" d="100"/>
          <a:sy n="75" d="100"/>
        </p:scale>
        <p:origin x="187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844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3DE30-A7BD-4FAF-BD70-A5A57B8B8A99}" type="datetimeFigureOut">
              <a:rPr lang="en-GB" smtClean="0"/>
              <a:t>20/06/2022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258B1-1DD7-475B-A54B-CBC3FF4B63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CC001-2C7A-4C2A-8B06-705CA02DC7C6}" type="datetimeFigureOut">
              <a:rPr lang="en-GB" smtClean="0"/>
              <a:t>20/06/2022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73E03-7F6C-40B1-9C82-92C880440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70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01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129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170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necessary, revise this strategy, particularly how the whole hour can be used when counting up, i.e. 15 minutes from 10:45 to 11, then 35 minutes to 11:35, so the total length of the Science lesson is 15 + 35 minutes = 50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>
                <a:solidFill>
                  <a:prstClr val="black"/>
                </a:solidFill>
              </a:rPr>
              <a:pPr/>
              <a:t>4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630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Children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can now go on to do differentiated GROUP ACTIVITIES. You can find Hamilton’s group activities in this unit’s TEACHING AND GROUP ACTIVITIES download.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WT:  Calculate time intervals on the class timetable.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ARE/GD:  Calculate time intervals on the class timetable, then compare with lesson durations in a younger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>
                <a:solidFill>
                  <a:prstClr val="black"/>
                </a:solidFill>
              </a:rPr>
              <a:pPr/>
              <a:t>5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23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Practice Sheet on this slide is suitable for most children.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Differentiated PRACTICE WORKSHEETS are available on Hamilton’s website in this unit’s PROCEDURAL FLUENCY box.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WT/ARE/GD: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 elapsed times. Create a schedule for DIY tasks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(Sheet 1).</a:t>
            </a:r>
            <a:endParaRPr lang="en-GB" dirty="0">
              <a:solidFill>
                <a:srgbClr val="2537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097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5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>
                <a:solidFill>
                  <a:prstClr val="black"/>
                </a:solidFill>
              </a:rPr>
              <a:pPr/>
              <a:t>8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56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73E03-7F6C-40B1-9C82-92C8804404E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422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Today’s GROUP ACTIVITY is a whole class activity.  You can find more details in the unit’s TEACHING AND GROUP ACTIVITIES download.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WT/ARE:  As above.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GD:  Four trains travel all the way from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Diagon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Alley to Hogsmeade. What are the quickest and the slowest times for this journey?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384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Practice Sheet on this slide is suitable for most children.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Differentiated PRACTICE WORKSHEETS are available on Hamilton’s website in this unit’s PROCEDURAL FLUENCY box.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WT/ARE/GD: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 a fictional timetable, including reading times and calculating durations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(Sheet 1).</a:t>
            </a:r>
            <a:endParaRPr lang="en-GB" dirty="0">
              <a:solidFill>
                <a:srgbClr val="2537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73E03-7F6C-40B1-9C82-92C8804404E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954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13BC91-F6D0-4DC8-B0B8-6E7E7FAB6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45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1000">
              <a:schemeClr val="bg1">
                <a:lumMod val="95000"/>
              </a:schemeClr>
            </a:gs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>
                <a:solidFill>
                  <a:prstClr val="black">
                    <a:tint val="75000"/>
                  </a:prstClr>
                </a:solidFill>
              </a:rPr>
              <a:t>Year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EE811-478C-4958-8104-2A70B5A19611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8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6E7435-766E-44DA-9E64-580F9F209CE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943602" y="6367376"/>
            <a:ext cx="3086100" cy="365125"/>
          </a:xfrm>
        </p:spPr>
        <p:txBody>
          <a:bodyPr/>
          <a:lstStyle/>
          <a:p>
            <a:pPr algn="r"/>
            <a:r>
              <a:rPr lang="en-GB"/>
              <a:t>Year 5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>
                <a:solidFill>
                  <a:srgbClr val="EA7600"/>
                </a:solidFill>
              </a:rPr>
              <a:pPr/>
              <a:t>1</a:t>
            </a:fld>
            <a:endParaRPr lang="en-GB" dirty="0">
              <a:solidFill>
                <a:srgbClr val="EA76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14298" y="1248486"/>
            <a:ext cx="8938109" cy="530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50"/>
              </a:spcAft>
              <a:buClr>
                <a:schemeClr val="accent2"/>
              </a:buClr>
            </a:pPr>
            <a:r>
              <a:rPr lang="en-US" sz="3200" b="1" dirty="0">
                <a:solidFill>
                  <a:srgbClr val="00B0F0"/>
                </a:solidFill>
              </a:rPr>
              <a:t>Objectives</a:t>
            </a:r>
            <a:endParaRPr lang="en-GB" sz="3200" b="1" dirty="0">
              <a:solidFill>
                <a:srgbClr val="00B0F0"/>
              </a:solidFill>
            </a:endParaRPr>
          </a:p>
          <a:p>
            <a:pPr marL="342900" indent="-342900">
              <a:spcAft>
                <a:spcPts val="1000"/>
              </a:spcAft>
              <a:buClr>
                <a:srgbClr val="EA7600"/>
              </a:buClr>
              <a:buSzPct val="120000"/>
              <a:buFont typeface="Wingdings" panose="05000000000000000000" pitchFamily="2" charset="2"/>
              <a:buChar char="q"/>
            </a:pPr>
            <a:r>
              <a:rPr lang="en-GB" sz="2800" b="1" dirty="0">
                <a:solidFill>
                  <a:srgbClr val="00B0F0"/>
                </a:solidFill>
              </a:rPr>
              <a:t>Calculate time intervals using the 24-hour clock.</a:t>
            </a:r>
          </a:p>
          <a:p>
            <a:pPr marL="342900" indent="-342900">
              <a:spcAft>
                <a:spcPts val="1000"/>
              </a:spcAft>
              <a:buClr>
                <a:srgbClr val="EA7600"/>
              </a:buClr>
              <a:buSzPct val="120000"/>
              <a:buFont typeface="Wingdings" panose="05000000000000000000" pitchFamily="2" charset="2"/>
              <a:buChar char="q"/>
            </a:pPr>
            <a:r>
              <a:rPr lang="en-GB" sz="2800" b="1" dirty="0">
                <a:solidFill>
                  <a:srgbClr val="00B0F0"/>
                </a:solidFill>
              </a:rPr>
              <a:t>Read timetables and calculate time intervals using the 24-hour clock.</a:t>
            </a:r>
          </a:p>
          <a:p>
            <a:pPr>
              <a:spcAft>
                <a:spcPts val="1000"/>
              </a:spcAft>
              <a:buClr>
                <a:srgbClr val="EA7600"/>
              </a:buClr>
              <a:buSzPct val="120000"/>
            </a:pPr>
            <a:endParaRPr lang="en-GB" sz="2800" b="1" dirty="0">
              <a:solidFill>
                <a:srgbClr val="00B0F0"/>
              </a:solidFill>
            </a:endParaRPr>
          </a:p>
          <a:p>
            <a:pPr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800" b="1" dirty="0">
                <a:solidFill>
                  <a:srgbClr val="00B0F0"/>
                </a:solidFill>
              </a:rPr>
              <a:t>Plan</a:t>
            </a:r>
          </a:p>
          <a:p>
            <a:pPr marL="457200" indent="-457200">
              <a:spcAft>
                <a:spcPts val="1000"/>
              </a:spcAft>
              <a:buClr>
                <a:srgbClr val="EA7600"/>
              </a:buClr>
              <a:buSzPct val="120000"/>
              <a:buFont typeface="+mj-lt"/>
              <a:buAutoNum type="arabicPeriod"/>
            </a:pPr>
            <a:r>
              <a:rPr lang="en-GB" sz="2800" b="1" dirty="0">
                <a:solidFill>
                  <a:srgbClr val="00B0F0"/>
                </a:solidFill>
              </a:rPr>
              <a:t>Review time </a:t>
            </a:r>
          </a:p>
          <a:p>
            <a:pPr marL="457200" indent="-457200">
              <a:spcAft>
                <a:spcPts val="1000"/>
              </a:spcAft>
              <a:buClr>
                <a:srgbClr val="EA7600"/>
              </a:buClr>
              <a:buSzPct val="120000"/>
              <a:buFont typeface="+mj-lt"/>
              <a:buAutoNum type="arabicPeriod"/>
            </a:pPr>
            <a:r>
              <a:rPr lang="en-GB" sz="2800" b="1" dirty="0">
                <a:solidFill>
                  <a:srgbClr val="00B0F0"/>
                </a:solidFill>
              </a:rPr>
              <a:t>24-hour clock</a:t>
            </a:r>
          </a:p>
          <a:p>
            <a:pPr marL="457200" indent="-457200">
              <a:spcAft>
                <a:spcPts val="1000"/>
              </a:spcAft>
              <a:buClr>
                <a:srgbClr val="EA7600"/>
              </a:buClr>
              <a:buSzPct val="120000"/>
              <a:buFont typeface="+mj-lt"/>
              <a:buAutoNum type="arabicPeriod"/>
            </a:pPr>
            <a:r>
              <a:rPr lang="en-GB" sz="2800" b="1" dirty="0">
                <a:solidFill>
                  <a:srgbClr val="00B0F0"/>
                </a:solidFill>
              </a:rPr>
              <a:t>Timetables with 24-hour clock</a:t>
            </a:r>
          </a:p>
          <a:p>
            <a:pPr marL="342900" indent="-342900">
              <a:spcAft>
                <a:spcPts val="1000"/>
              </a:spcAft>
              <a:buClr>
                <a:srgbClr val="EA7600"/>
              </a:buClr>
              <a:buSzPct val="120000"/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116680" y="16610"/>
            <a:ext cx="89381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253746"/>
                </a:solidFill>
              </a:rPr>
              <a:t>Title: </a:t>
            </a:r>
            <a:r>
              <a:rPr lang="en-GB" sz="3200" b="1" dirty="0">
                <a:solidFill>
                  <a:srgbClr val="00B0F0"/>
                </a:solidFill>
              </a:rPr>
              <a:t>time intervals</a:t>
            </a:r>
            <a:endParaRPr lang="en-GB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21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>
                <a:solidFill>
                  <a:srgbClr val="EA7600"/>
                </a:solidFill>
              </a:rPr>
              <a:pPr/>
              <a:t>2</a:t>
            </a:fld>
            <a:endParaRPr lang="en-GB" dirty="0">
              <a:solidFill>
                <a:srgbClr val="EA76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0" y="214633"/>
            <a:ext cx="89381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253746"/>
                </a:solidFill>
              </a:rPr>
              <a:t>Why is time calculated with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365 days a year</a:t>
            </a:r>
          </a:p>
          <a:p>
            <a:pPr algn="ctr"/>
            <a:endParaRPr lang="en-GB" sz="2400" b="1" dirty="0">
              <a:solidFill>
                <a:srgbClr val="253746"/>
              </a:solidFill>
            </a:endParaRP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12 months a year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24 hours in a day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12 and 24-hour time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60 minutes in an hour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60 seconds in a minute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92025-C7D7-4DDB-9B58-56711C382282}"/>
              </a:ext>
            </a:extLst>
          </p:cNvPr>
          <p:cNvSpPr txBox="1"/>
          <p:nvPr/>
        </p:nvSpPr>
        <p:spPr>
          <a:xfrm>
            <a:off x="57149" y="4342604"/>
            <a:ext cx="90297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Following the tradition set by the Babylonians, these divisions were expressed using the sexagesimal system, a form of counting based on units of 60. Using this, the length of a second became a sixtieth of a sixtieth of an hour, leading to its definition as 1/3600th of an hour.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1034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>
                <a:solidFill>
                  <a:srgbClr val="EA7600"/>
                </a:solidFill>
              </a:rPr>
              <a:pPr/>
              <a:t>3</a:t>
            </a:fld>
            <a:endParaRPr lang="en-GB" dirty="0">
              <a:solidFill>
                <a:srgbClr val="EA76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480194" y="1743331"/>
            <a:ext cx="8130503" cy="114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  <a:buClr>
                <a:schemeClr val="accent2"/>
              </a:buClr>
            </a:pPr>
            <a:r>
              <a:rPr lang="en-US" sz="2400" b="1" dirty="0">
                <a:solidFill>
                  <a:srgbClr val="253746"/>
                </a:solidFill>
              </a:rPr>
              <a:t>Objectives</a:t>
            </a:r>
            <a:endParaRPr lang="en-GB" sz="2400" b="1" dirty="0">
              <a:solidFill>
                <a:srgbClr val="253746"/>
              </a:solidFill>
            </a:endParaRPr>
          </a:p>
          <a:p>
            <a:pPr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</a:rPr>
              <a:t>Objective 1</a:t>
            </a:r>
          </a:p>
          <a:p>
            <a:pPr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Calculate time intervals using the 24-hour clock.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116680" y="16610"/>
            <a:ext cx="89381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253746"/>
                </a:solidFill>
              </a:rPr>
              <a:t>Measures and Data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Read timetables using 24-hour clock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Calculate time intervals</a:t>
            </a:r>
          </a:p>
        </p:txBody>
      </p:sp>
    </p:spTree>
    <p:extLst>
      <p:ext uri="{BB962C8B-B14F-4D97-AF65-F5344CB8AC3E}">
        <p14:creationId xmlns:p14="http://schemas.microsoft.com/office/powerpoint/2010/main" val="336548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16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</a:rPr>
              <a:t>Day 1: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</a:rPr>
              <a:t>Calculate time intervals using the 24-hour clock.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25EB80-D1C6-4011-B621-845F0A328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484" y="812132"/>
            <a:ext cx="2447925" cy="144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E99BBE-B385-4900-94BA-CD0FD24A91B9}"/>
              </a:ext>
            </a:extLst>
          </p:cNvPr>
          <p:cNvSpPr txBox="1"/>
          <p:nvPr/>
        </p:nvSpPr>
        <p:spPr>
          <a:xfrm>
            <a:off x="3768393" y="1267326"/>
            <a:ext cx="36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92276-0E7F-47CE-A15C-35D884CD145D}"/>
              </a:ext>
            </a:extLst>
          </p:cNvPr>
          <p:cNvSpPr txBox="1"/>
          <p:nvPr/>
        </p:nvSpPr>
        <p:spPr>
          <a:xfrm>
            <a:off x="4160436" y="1274422"/>
            <a:ext cx="36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BE27E-7E0F-45EE-A0C2-B07F7926A854}"/>
              </a:ext>
            </a:extLst>
          </p:cNvPr>
          <p:cNvSpPr txBox="1"/>
          <p:nvPr/>
        </p:nvSpPr>
        <p:spPr>
          <a:xfrm>
            <a:off x="4598556" y="1274422"/>
            <a:ext cx="36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186DB-A16C-47C7-8BDB-467F19C643CD}"/>
              </a:ext>
            </a:extLst>
          </p:cNvPr>
          <p:cNvSpPr txBox="1"/>
          <p:nvPr/>
        </p:nvSpPr>
        <p:spPr>
          <a:xfrm>
            <a:off x="5024986" y="1274422"/>
            <a:ext cx="36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</a:rPr>
              <a:t>0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22053E-BBA7-4DB3-A52F-616FF04429E6}"/>
              </a:ext>
            </a:extLst>
          </p:cNvPr>
          <p:cNvGrpSpPr/>
          <p:nvPr/>
        </p:nvGrpSpPr>
        <p:grpSpPr>
          <a:xfrm>
            <a:off x="200551" y="860260"/>
            <a:ext cx="2863491" cy="1120361"/>
            <a:chOff x="1080645" y="527396"/>
            <a:chExt cx="3656825" cy="1268577"/>
          </a:xfrm>
        </p:grpSpPr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AC2E7862-D543-4D3E-86C7-B72F4A0188AC}"/>
                </a:ext>
              </a:extLst>
            </p:cNvPr>
            <p:cNvSpPr/>
            <p:nvPr/>
          </p:nvSpPr>
          <p:spPr>
            <a:xfrm>
              <a:off x="1167140" y="527396"/>
              <a:ext cx="3570330" cy="1268577"/>
            </a:xfrm>
            <a:prstGeom prst="wedgeRoundRectCallout">
              <a:avLst>
                <a:gd name="adj1" fmla="val 68881"/>
                <a:gd name="adj2" fmla="val 35612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This is a 24-hour digital clock. What would this time look like on a 12-hour digital clock?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E30F8D7-42FA-43B5-AB2B-3C4B71CBA1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0645" y="901750"/>
              <a:ext cx="307921" cy="51986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71A8D2-6806-40F1-B3E0-111E8A3AC8B6}"/>
              </a:ext>
            </a:extLst>
          </p:cNvPr>
          <p:cNvGrpSpPr/>
          <p:nvPr/>
        </p:nvGrpSpPr>
        <p:grpSpPr>
          <a:xfrm>
            <a:off x="5891482" y="854246"/>
            <a:ext cx="2917833" cy="1120361"/>
            <a:chOff x="1167140" y="527396"/>
            <a:chExt cx="3726223" cy="1268577"/>
          </a:xfrm>
        </p:grpSpPr>
        <p:sp>
          <p:nvSpPr>
            <p:cNvPr id="18" name="Speech Bubble: Rectangle with Corners Rounded 17">
              <a:extLst>
                <a:ext uri="{FF2B5EF4-FFF2-40B4-BE49-F238E27FC236}">
                  <a16:creationId xmlns:a16="http://schemas.microsoft.com/office/drawing/2014/main" id="{1E33645C-5422-4C24-A0CA-08EA7F5E4332}"/>
                </a:ext>
              </a:extLst>
            </p:cNvPr>
            <p:cNvSpPr/>
            <p:nvPr/>
          </p:nvSpPr>
          <p:spPr>
            <a:xfrm>
              <a:off x="1167140" y="527396"/>
              <a:ext cx="3570330" cy="1268577"/>
            </a:xfrm>
            <a:prstGeom prst="wedgeRoundRectCallout">
              <a:avLst>
                <a:gd name="adj1" fmla="val -65388"/>
                <a:gd name="adj2" fmla="val 3704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When is it useful to use a</a:t>
              </a:r>
            </a:p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24-hour digital clock rather than a 12-hour digital clock?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7E07F93-97D0-4490-BD1E-D60197DEF5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585442" y="795131"/>
              <a:ext cx="307921" cy="519866"/>
            </a:xfrm>
            <a:prstGeom prst="rect">
              <a:avLst/>
            </a:prstGeom>
          </p:spPr>
        </p:pic>
      </p:grp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C0673096-A42A-4FAB-A47A-E3781A04BDAE}"/>
              </a:ext>
            </a:extLst>
          </p:cNvPr>
          <p:cNvSpPr/>
          <p:nvPr/>
        </p:nvSpPr>
        <p:spPr>
          <a:xfrm>
            <a:off x="2778818" y="2181328"/>
            <a:ext cx="1174059" cy="400110"/>
          </a:xfrm>
          <a:prstGeom prst="wedgeRoundRectCallout">
            <a:avLst>
              <a:gd name="adj1" fmla="val 68881"/>
              <a:gd name="adj2" fmla="val -15331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1600" b="1" dirty="0">
                <a:solidFill>
                  <a:srgbClr val="253746"/>
                </a:solidFill>
              </a:rPr>
              <a:t>Hours</a:t>
            </a:r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42F5CBC-1A8A-485C-A3B5-087DBB65B81A}"/>
              </a:ext>
            </a:extLst>
          </p:cNvPr>
          <p:cNvSpPr/>
          <p:nvPr/>
        </p:nvSpPr>
        <p:spPr>
          <a:xfrm flipH="1">
            <a:off x="5138016" y="2202583"/>
            <a:ext cx="1174059" cy="400110"/>
          </a:xfrm>
          <a:prstGeom prst="wedgeRoundRectCallout">
            <a:avLst>
              <a:gd name="adj1" fmla="val 68881"/>
              <a:gd name="adj2" fmla="val -15331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1600" b="1" dirty="0">
                <a:solidFill>
                  <a:srgbClr val="253746"/>
                </a:solidFill>
              </a:rPr>
              <a:t>Minutes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C89383-0AE2-4A49-95BB-D370BA15C589}"/>
              </a:ext>
            </a:extLst>
          </p:cNvPr>
          <p:cNvGrpSpPr/>
          <p:nvPr/>
        </p:nvGrpSpPr>
        <p:grpSpPr>
          <a:xfrm>
            <a:off x="787483" y="2680929"/>
            <a:ext cx="3837498" cy="1403370"/>
            <a:chOff x="2417798" y="2556892"/>
            <a:chExt cx="3837498" cy="1403370"/>
          </a:xfrm>
        </p:grpSpPr>
        <p:sp>
          <p:nvSpPr>
            <p:cNvPr id="23" name="Speech Bubble: Rectangle with Corners Rounded 22">
              <a:extLst>
                <a:ext uri="{FF2B5EF4-FFF2-40B4-BE49-F238E27FC236}">
                  <a16:creationId xmlns:a16="http://schemas.microsoft.com/office/drawing/2014/main" id="{51CE59AB-3034-4A55-9C97-F3CA91A8E45C}"/>
                </a:ext>
              </a:extLst>
            </p:cNvPr>
            <p:cNvSpPr/>
            <p:nvPr/>
          </p:nvSpPr>
          <p:spPr>
            <a:xfrm>
              <a:off x="2417798" y="2556892"/>
              <a:ext cx="3415037" cy="1403370"/>
            </a:xfrm>
            <a:prstGeom prst="wedgeRoundRectCallout">
              <a:avLst>
                <a:gd name="adj1" fmla="val -49180"/>
                <a:gd name="adj2" fmla="val 73883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A school science </a:t>
              </a:r>
              <a:r>
                <a:rPr lang="en-GB" sz="1500" b="1" dirty="0">
                  <a:solidFill>
                    <a:srgbClr val="C00000"/>
                  </a:solidFill>
                </a:rPr>
                <a:t>lesson starts at 10:45 </a:t>
              </a:r>
              <a:r>
                <a:rPr lang="en-GB" sz="1500" b="1" dirty="0">
                  <a:solidFill>
                    <a:srgbClr val="253746"/>
                  </a:solidFill>
                </a:rPr>
                <a:t>and </a:t>
              </a:r>
              <a:r>
                <a:rPr lang="en-GB" sz="1500" b="1" dirty="0">
                  <a:solidFill>
                    <a:srgbClr val="C00000"/>
                  </a:solidFill>
                </a:rPr>
                <a:t>ends at 11:35</a:t>
              </a:r>
              <a:r>
                <a:rPr lang="en-GB" sz="1500" b="1" dirty="0">
                  <a:solidFill>
                    <a:srgbClr val="253746"/>
                  </a:solidFill>
                </a:rPr>
                <a:t>.</a:t>
              </a:r>
            </a:p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How long does it last?</a:t>
              </a:r>
            </a:p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Sketch a time number line to represent this on your whiteboard. </a:t>
              </a:r>
            </a:p>
          </p:txBody>
        </p: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3CE2AA30-A446-4B65-BF76-4B67DCB73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DCBE365A-5D88-4007-A234-9C7AB0D63A1E}"/>
              </a:ext>
            </a:extLst>
          </p:cNvPr>
          <p:cNvSpPr/>
          <p:nvPr/>
        </p:nvSpPr>
        <p:spPr>
          <a:xfrm>
            <a:off x="4624981" y="2642438"/>
            <a:ext cx="3610566" cy="1370101"/>
          </a:xfrm>
          <a:prstGeom prst="cloudCallout">
            <a:avLst>
              <a:gd name="adj1" fmla="val -64035"/>
              <a:gd name="adj2" fmla="val 49446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253746"/>
                </a:solidFill>
              </a:rPr>
              <a:t>How many minutes until 11 o’clock? Remember that we are counting up to 60, not 100…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21C5F2B-4CBE-47E1-AE89-A816E53CC841}"/>
              </a:ext>
            </a:extLst>
          </p:cNvPr>
          <p:cNvGrpSpPr/>
          <p:nvPr/>
        </p:nvGrpSpPr>
        <p:grpSpPr>
          <a:xfrm>
            <a:off x="1213151" y="4662930"/>
            <a:ext cx="2598110" cy="1008011"/>
            <a:chOff x="1213944" y="2398278"/>
            <a:chExt cx="2598110" cy="1008011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4C17C92-2F23-4D67-980C-AABB2A37F5A1}"/>
                </a:ext>
              </a:extLst>
            </p:cNvPr>
            <p:cNvSpPr/>
            <p:nvPr/>
          </p:nvSpPr>
          <p:spPr>
            <a:xfrm>
              <a:off x="1213944" y="2398278"/>
              <a:ext cx="1882963" cy="504517"/>
            </a:xfrm>
            <a:custGeom>
              <a:avLst/>
              <a:gdLst>
                <a:gd name="connsiteX0" fmla="*/ 0 w 961696"/>
                <a:gd name="connsiteY0" fmla="*/ 504517 h 504517"/>
                <a:gd name="connsiteX1" fmla="*/ 536027 w 961696"/>
                <a:gd name="connsiteY1" fmla="*/ 20 h 504517"/>
                <a:gd name="connsiteX2" fmla="*/ 961696 w 961696"/>
                <a:gd name="connsiteY2" fmla="*/ 488751 h 504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1696" h="504517">
                  <a:moveTo>
                    <a:pt x="0" y="504517"/>
                  </a:moveTo>
                  <a:cubicBezTo>
                    <a:pt x="187872" y="253582"/>
                    <a:pt x="375744" y="2648"/>
                    <a:pt x="536027" y="20"/>
                  </a:cubicBezTo>
                  <a:cubicBezTo>
                    <a:pt x="696310" y="-2608"/>
                    <a:pt x="829003" y="243071"/>
                    <a:pt x="961696" y="488751"/>
                  </a:cubicBezTo>
                </a:path>
              </a:pathLst>
            </a:cu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2106A0-363B-41B3-99FF-8B5027E5A47C}"/>
                </a:ext>
              </a:extLst>
            </p:cNvPr>
            <p:cNvSpPr txBox="1"/>
            <p:nvPr/>
          </p:nvSpPr>
          <p:spPr>
            <a:xfrm>
              <a:off x="2724233" y="3006179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53746"/>
                  </a:solidFill>
                  <a:effectLst/>
                  <a:uLnTx/>
                  <a:uFillTx/>
                </a:rPr>
                <a:t>11:00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BAF1DDF-CB23-403A-942B-9DA86FB329AC}"/>
                </a:ext>
              </a:extLst>
            </p:cNvPr>
            <p:cNvCxnSpPr>
              <a:cxnSpLocks/>
            </p:cNvCxnSpPr>
            <p:nvPr/>
          </p:nvCxnSpPr>
          <p:spPr>
            <a:xfrm>
              <a:off x="3084785" y="2874824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E2E1CFF-5B8B-48BA-8EE3-204785F4B6D4}"/>
              </a:ext>
            </a:extLst>
          </p:cNvPr>
          <p:cNvSpPr/>
          <p:nvPr/>
        </p:nvSpPr>
        <p:spPr>
          <a:xfrm>
            <a:off x="3096114" y="4521080"/>
            <a:ext cx="4642343" cy="630612"/>
          </a:xfrm>
          <a:custGeom>
            <a:avLst/>
            <a:gdLst>
              <a:gd name="connsiteX0" fmla="*/ 0 w 961696"/>
              <a:gd name="connsiteY0" fmla="*/ 504517 h 504517"/>
              <a:gd name="connsiteX1" fmla="*/ 536027 w 961696"/>
              <a:gd name="connsiteY1" fmla="*/ 20 h 504517"/>
              <a:gd name="connsiteX2" fmla="*/ 961696 w 961696"/>
              <a:gd name="connsiteY2" fmla="*/ 488751 h 50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1696" h="504517">
                <a:moveTo>
                  <a:pt x="0" y="504517"/>
                </a:moveTo>
                <a:cubicBezTo>
                  <a:pt x="187872" y="253582"/>
                  <a:pt x="375744" y="2648"/>
                  <a:pt x="536027" y="20"/>
                </a:cubicBezTo>
                <a:cubicBezTo>
                  <a:pt x="696310" y="-2608"/>
                  <a:pt x="829003" y="243071"/>
                  <a:pt x="961696" y="488751"/>
                </a:cubicBezTo>
              </a:path>
            </a:pathLst>
          </a:custGeom>
          <a:noFill/>
          <a:ln w="28575" cap="flat" cmpd="sng" algn="ctr">
            <a:solidFill>
              <a:srgbClr val="25374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78B24A-8C87-44EC-B8B1-79A834BE6ECA}"/>
              </a:ext>
            </a:extLst>
          </p:cNvPr>
          <p:cNvGrpSpPr/>
          <p:nvPr/>
        </p:nvGrpSpPr>
        <p:grpSpPr>
          <a:xfrm>
            <a:off x="787483" y="5139476"/>
            <a:ext cx="7567448" cy="531465"/>
            <a:chOff x="787483" y="5139476"/>
            <a:chExt cx="7567448" cy="531465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235A713-1781-46C0-BF0B-C9A5C05CC3F5}"/>
                </a:ext>
              </a:extLst>
            </p:cNvPr>
            <p:cNvCxnSpPr/>
            <p:nvPr/>
          </p:nvCxnSpPr>
          <p:spPr>
            <a:xfrm>
              <a:off x="976667" y="5144736"/>
              <a:ext cx="7126014" cy="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40CEC5-DF59-40E1-88FE-9CC21455864B}"/>
                </a:ext>
              </a:extLst>
            </p:cNvPr>
            <p:cNvSpPr txBox="1"/>
            <p:nvPr/>
          </p:nvSpPr>
          <p:spPr>
            <a:xfrm>
              <a:off x="787483" y="5249143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53746"/>
                  </a:solidFill>
                  <a:effectLst/>
                  <a:uLnTx/>
                  <a:uFillTx/>
                </a:rPr>
                <a:t>10:45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063001-5115-4325-B1BE-E9A60A3A6869}"/>
                </a:ext>
              </a:extLst>
            </p:cNvPr>
            <p:cNvSpPr txBox="1"/>
            <p:nvPr/>
          </p:nvSpPr>
          <p:spPr>
            <a:xfrm>
              <a:off x="7267110" y="5270831"/>
              <a:ext cx="10878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53746"/>
                  </a:solidFill>
                  <a:effectLst/>
                  <a:uLnTx/>
                  <a:uFillTx/>
                </a:rPr>
                <a:t>11:35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E75FFDF-5EFB-424A-9697-154F3DACE837}"/>
                </a:ext>
              </a:extLst>
            </p:cNvPr>
            <p:cNvCxnSpPr>
              <a:cxnSpLocks/>
            </p:cNvCxnSpPr>
            <p:nvPr/>
          </p:nvCxnSpPr>
          <p:spPr>
            <a:xfrm>
              <a:off x="1260449" y="5146690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F603D22-2F81-46AB-B895-7084E1D09584}"/>
                </a:ext>
              </a:extLst>
            </p:cNvPr>
            <p:cNvCxnSpPr>
              <a:cxnSpLocks/>
            </p:cNvCxnSpPr>
            <p:nvPr/>
          </p:nvCxnSpPr>
          <p:spPr>
            <a:xfrm>
              <a:off x="7750581" y="5139476"/>
              <a:ext cx="0" cy="141850"/>
            </a:xfrm>
            <a:prstGeom prst="line">
              <a:avLst/>
            </a:prstGeom>
            <a:noFill/>
            <a:ln w="28575" cap="flat" cmpd="sng" algn="ctr">
              <a:solidFill>
                <a:srgbClr val="253746"/>
              </a:solidFill>
              <a:prstDash val="solid"/>
              <a:miter lim="800000"/>
            </a:ln>
            <a:effectLst/>
          </p:spPr>
        </p:cxn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813FA40-4A9C-4810-8386-593AF37F09EE}"/>
              </a:ext>
            </a:extLst>
          </p:cNvPr>
          <p:cNvSpPr txBox="1"/>
          <p:nvPr/>
        </p:nvSpPr>
        <p:spPr>
          <a:xfrm>
            <a:off x="1635619" y="4260190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15 mins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89B700-4AFC-46CF-8F10-66B49BE1305A}"/>
              </a:ext>
            </a:extLst>
          </p:cNvPr>
          <p:cNvSpPr txBox="1"/>
          <p:nvPr/>
        </p:nvSpPr>
        <p:spPr>
          <a:xfrm>
            <a:off x="5181134" y="4120970"/>
            <a:ext cx="1087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35 mins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06F12F-D4A4-4459-BC5D-128D70F12BE3}"/>
              </a:ext>
            </a:extLst>
          </p:cNvPr>
          <p:cNvSpPr txBox="1"/>
          <p:nvPr/>
        </p:nvSpPr>
        <p:spPr>
          <a:xfrm>
            <a:off x="3064042" y="5751061"/>
            <a:ext cx="3547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15 mins + 35 mins = 50 mins</a:t>
            </a:r>
          </a:p>
        </p:txBody>
      </p:sp>
    </p:spTree>
    <p:extLst>
      <p:ext uri="{BB962C8B-B14F-4D97-AF65-F5344CB8AC3E}">
        <p14:creationId xmlns:p14="http://schemas.microsoft.com/office/powerpoint/2010/main" val="206697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  <p:bldP spid="39" grpId="0"/>
      <p:bldP spid="40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16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</a:rPr>
              <a:t>Day 1: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</a:rPr>
              <a:t>Calculate time intervals using the 24-hour clock.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20B31D1-2A70-4ED0-958E-B5D8A9BE58AC}"/>
              </a:ext>
            </a:extLst>
          </p:cNvPr>
          <p:cNvGrpSpPr/>
          <p:nvPr/>
        </p:nvGrpSpPr>
        <p:grpSpPr>
          <a:xfrm>
            <a:off x="762000" y="812187"/>
            <a:ext cx="3810000" cy="1812226"/>
            <a:chOff x="2445296" y="2148036"/>
            <a:chExt cx="3810000" cy="1812226"/>
          </a:xfrm>
        </p:grpSpPr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64571CD3-7424-40F0-A913-FC5C001C6297}"/>
                </a:ext>
              </a:extLst>
            </p:cNvPr>
            <p:cNvSpPr/>
            <p:nvPr/>
          </p:nvSpPr>
          <p:spPr>
            <a:xfrm>
              <a:off x="2445296" y="2148036"/>
              <a:ext cx="3387539" cy="1812226"/>
            </a:xfrm>
            <a:prstGeom prst="wedgeRoundRectCallout">
              <a:avLst>
                <a:gd name="adj1" fmla="val -49180"/>
                <a:gd name="adj2" fmla="val 73883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A P.E. lesson </a:t>
              </a:r>
              <a:r>
                <a:rPr lang="en-GB" sz="1600" b="1" dirty="0">
                  <a:solidFill>
                    <a:srgbClr val="C00000"/>
                  </a:solidFill>
                </a:rPr>
                <a:t>starts at 13:30 </a:t>
              </a:r>
              <a:r>
                <a:rPr lang="en-GB" sz="1600" b="1" dirty="0">
                  <a:solidFill>
                    <a:srgbClr val="253746"/>
                  </a:solidFill>
                </a:rPr>
                <a:t>and </a:t>
              </a:r>
              <a:r>
                <a:rPr lang="en-GB" sz="1600" b="1" dirty="0">
                  <a:solidFill>
                    <a:srgbClr val="C00000"/>
                  </a:solidFill>
                </a:rPr>
                <a:t>ends at 14:45</a:t>
              </a:r>
              <a:r>
                <a:rPr lang="en-GB" sz="1600" b="1" dirty="0">
                  <a:solidFill>
                    <a:srgbClr val="253746"/>
                  </a:solidFill>
                </a:rPr>
                <a:t>.</a:t>
              </a:r>
            </a:p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How long does it last?</a:t>
              </a:r>
            </a:p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Sketch a time number line to represent this on your whiteboard. </a:t>
              </a:r>
            </a:p>
          </p:txBody>
        </p: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3750B0A6-FEFA-483B-A96F-7C4DBAE933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5A2998F-8FC3-4461-9A2E-B9D38A7EF6C8}"/>
              </a:ext>
            </a:extLst>
          </p:cNvPr>
          <p:cNvGrpSpPr/>
          <p:nvPr/>
        </p:nvGrpSpPr>
        <p:grpSpPr>
          <a:xfrm>
            <a:off x="4915711" y="877372"/>
            <a:ext cx="2557590" cy="1178113"/>
            <a:chOff x="817088" y="4300219"/>
            <a:chExt cx="3410120" cy="1333970"/>
          </a:xfrm>
        </p:grpSpPr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DEE09F9F-9AEF-4F91-B75F-7933D7EB1772}"/>
                </a:ext>
              </a:extLst>
            </p:cNvPr>
            <p:cNvSpPr/>
            <p:nvPr/>
          </p:nvSpPr>
          <p:spPr>
            <a:xfrm>
              <a:off x="817088" y="4609824"/>
              <a:ext cx="3410120" cy="1024365"/>
            </a:xfrm>
            <a:prstGeom prst="wedgeRoundRectCallout">
              <a:avLst>
                <a:gd name="adj1" fmla="val 74281"/>
                <a:gd name="adj2" fmla="val -39579"/>
                <a:gd name="adj3" fmla="val 16667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53746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Compare your timeline with your partner's.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C7612E-5D79-40B6-8476-C2EBD0665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6053" y="4300219"/>
              <a:ext cx="952189" cy="5379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681214-7D44-42AB-97EB-09D0A5F7FC18}"/>
              </a:ext>
            </a:extLst>
          </p:cNvPr>
          <p:cNvGrpSpPr/>
          <p:nvPr/>
        </p:nvGrpSpPr>
        <p:grpSpPr>
          <a:xfrm>
            <a:off x="1360570" y="3429000"/>
            <a:ext cx="3810000" cy="1812226"/>
            <a:chOff x="2445296" y="2556892"/>
            <a:chExt cx="3810000" cy="1812226"/>
          </a:xfrm>
        </p:grpSpPr>
        <p:sp>
          <p:nvSpPr>
            <p:cNvPr id="14" name="Speech Bubble: Rectangle with Corners Rounded 13">
              <a:extLst>
                <a:ext uri="{FF2B5EF4-FFF2-40B4-BE49-F238E27FC236}">
                  <a16:creationId xmlns:a16="http://schemas.microsoft.com/office/drawing/2014/main" id="{342E02CF-D7F0-4C52-B819-9BC3DA542026}"/>
                </a:ext>
              </a:extLst>
            </p:cNvPr>
            <p:cNvSpPr/>
            <p:nvPr/>
          </p:nvSpPr>
          <p:spPr>
            <a:xfrm>
              <a:off x="2445296" y="2556892"/>
              <a:ext cx="3387539" cy="1812226"/>
            </a:xfrm>
            <a:prstGeom prst="wedgeRoundRectCallout">
              <a:avLst>
                <a:gd name="adj1" fmla="val -49180"/>
                <a:gd name="adj2" fmla="val 73883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A singing lesson </a:t>
              </a:r>
              <a:r>
                <a:rPr lang="en-GB" sz="1600" b="1" dirty="0">
                  <a:solidFill>
                    <a:srgbClr val="C00000"/>
                  </a:solidFill>
                </a:rPr>
                <a:t>starts at 11:50 </a:t>
              </a:r>
              <a:r>
                <a:rPr lang="en-GB" sz="1600" b="1" dirty="0">
                  <a:solidFill>
                    <a:srgbClr val="253746"/>
                  </a:solidFill>
                </a:rPr>
                <a:t>and </a:t>
              </a:r>
              <a:r>
                <a:rPr lang="en-GB" sz="1600" b="1" dirty="0">
                  <a:solidFill>
                    <a:srgbClr val="C00000"/>
                  </a:solidFill>
                </a:rPr>
                <a:t>ends at 12:35</a:t>
              </a:r>
              <a:r>
                <a:rPr lang="en-GB" sz="1600" b="1" dirty="0">
                  <a:solidFill>
                    <a:srgbClr val="253746"/>
                  </a:solidFill>
                </a:rPr>
                <a:t>.</a:t>
              </a:r>
            </a:p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How long does it last?</a:t>
              </a:r>
            </a:p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Sketch a time number line to represent this on your whiteboard. </a:t>
              </a:r>
            </a:p>
          </p:txBody>
        </p: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3A61AD51-47D2-4595-A16E-986507996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C112FC-30D0-4FE1-9D6C-8408A25F749E}"/>
              </a:ext>
            </a:extLst>
          </p:cNvPr>
          <p:cNvGrpSpPr/>
          <p:nvPr/>
        </p:nvGrpSpPr>
        <p:grpSpPr>
          <a:xfrm>
            <a:off x="4978842" y="3935188"/>
            <a:ext cx="2557590" cy="1178113"/>
            <a:chOff x="817088" y="4300219"/>
            <a:chExt cx="3410120" cy="1333970"/>
          </a:xfrm>
        </p:grpSpPr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1D85F0BC-EDBC-4276-9373-7D9964F2AB5E}"/>
                </a:ext>
              </a:extLst>
            </p:cNvPr>
            <p:cNvSpPr/>
            <p:nvPr/>
          </p:nvSpPr>
          <p:spPr>
            <a:xfrm>
              <a:off x="817088" y="4609824"/>
              <a:ext cx="3410120" cy="1024365"/>
            </a:xfrm>
            <a:prstGeom prst="wedgeRoundRectCallout">
              <a:avLst>
                <a:gd name="adj1" fmla="val 51771"/>
                <a:gd name="adj2" fmla="val 100802"/>
                <a:gd name="adj3" fmla="val 16667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253746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Compare your timeline with your partner's.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C85367C-BCEA-4075-9568-E63F76443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6053" y="4300219"/>
              <a:ext cx="952189" cy="5379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96041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>
                <a:solidFill>
                  <a:srgbClr val="EA7600"/>
                </a:solidFill>
              </a:rPr>
              <a:pPr/>
              <a:t>6</a:t>
            </a:fld>
            <a:endParaRPr lang="en-GB" dirty="0">
              <a:solidFill>
                <a:srgbClr val="EA7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E7D0A-0A97-4483-9C75-88AAB0B812D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2522" y="125499"/>
            <a:ext cx="4696135" cy="5993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21D349-BA84-48FD-AA44-ACDE029B4BD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156" y="4528317"/>
            <a:ext cx="8140865" cy="1577591"/>
          </a:xfrm>
          <a:prstGeom prst="rect">
            <a:avLst/>
          </a:prstGeom>
          <a:ln>
            <a:solidFill>
              <a:srgbClr val="FFC000"/>
            </a:solidFill>
          </a:ln>
        </p:spPr>
      </p:pic>
      <p:grpSp>
        <p:nvGrpSpPr>
          <p:cNvPr id="11" name="Group 10"/>
          <p:cNvGrpSpPr/>
          <p:nvPr/>
        </p:nvGrpSpPr>
        <p:grpSpPr>
          <a:xfrm>
            <a:off x="7226021" y="4713582"/>
            <a:ext cx="1713640" cy="1139460"/>
            <a:chOff x="1834709" y="4015907"/>
            <a:chExt cx="1606379" cy="935174"/>
          </a:xfrm>
        </p:grpSpPr>
        <p:sp>
          <p:nvSpPr>
            <p:cNvPr id="14" name="Rounded Rectangle 13"/>
            <p:cNvSpPr/>
            <p:nvPr/>
          </p:nvSpPr>
          <p:spPr>
            <a:xfrm>
              <a:off x="1834709" y="4015907"/>
              <a:ext cx="1606379" cy="495328"/>
            </a:xfrm>
            <a:prstGeom prst="roundRect">
              <a:avLst>
                <a:gd name="adj" fmla="val 42473"/>
              </a:avLst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Challenge</a:t>
              </a:r>
              <a:endParaRPr lang="en-GB" sz="2400" b="1" dirty="0">
                <a:solidFill>
                  <a:schemeClr val="tx1"/>
                </a:solidFill>
              </a:endParaRPr>
            </a:p>
          </p:txBody>
        </p:sp>
        <p:pic>
          <p:nvPicPr>
            <p:cNvPr id="15" name="Picture 2" descr="Related image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44755">
              <a:off x="2170831" y="4345600"/>
              <a:ext cx="388517" cy="605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4863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>
                <a:solidFill>
                  <a:srgbClr val="EA7600"/>
                </a:solidFill>
              </a:rPr>
              <a:pPr/>
              <a:t>7</a:t>
            </a:fld>
            <a:endParaRPr lang="en-GB" dirty="0">
              <a:solidFill>
                <a:srgbClr val="EA76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480194" y="1743331"/>
            <a:ext cx="8130503" cy="114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450"/>
              </a:spcAft>
              <a:buClr>
                <a:schemeClr val="accent2"/>
              </a:buClr>
            </a:pPr>
            <a:r>
              <a:rPr lang="en-US" sz="2400" b="1" dirty="0">
                <a:solidFill>
                  <a:srgbClr val="253746"/>
                </a:solidFill>
              </a:rPr>
              <a:t>Objectives</a:t>
            </a:r>
            <a:endParaRPr lang="en-GB" sz="2400" b="1" dirty="0">
              <a:solidFill>
                <a:srgbClr val="253746"/>
              </a:solidFill>
            </a:endParaRPr>
          </a:p>
          <a:p>
            <a:pPr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</a:rPr>
              <a:t>Objective 2</a:t>
            </a:r>
          </a:p>
          <a:p>
            <a:pPr>
              <a:spcAft>
                <a:spcPts val="1000"/>
              </a:spcAft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</a:rPr>
              <a:t>Read timetables and calculate time intervals using the 24-hour clock.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F3FED-3247-4F55-BF8A-D1D9E087C650}"/>
              </a:ext>
            </a:extLst>
          </p:cNvPr>
          <p:cNvSpPr txBox="1"/>
          <p:nvPr/>
        </p:nvSpPr>
        <p:spPr>
          <a:xfrm>
            <a:off x="116680" y="16610"/>
            <a:ext cx="89381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253746"/>
                </a:solidFill>
              </a:rPr>
              <a:t>Measures and Data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Read timetables using 24-hour clock</a:t>
            </a:r>
          </a:p>
          <a:p>
            <a:pPr algn="ctr"/>
            <a:r>
              <a:rPr lang="en-GB" sz="2400" b="1" dirty="0">
                <a:solidFill>
                  <a:srgbClr val="253746"/>
                </a:solidFill>
              </a:rPr>
              <a:t>Calculate time intervals</a:t>
            </a:r>
          </a:p>
        </p:txBody>
      </p:sp>
    </p:spTree>
    <p:extLst>
      <p:ext uri="{BB962C8B-B14F-4D97-AF65-F5344CB8AC3E}">
        <p14:creationId xmlns:p14="http://schemas.microsoft.com/office/powerpoint/2010/main" val="212093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16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</a:rPr>
              <a:t>Day 2: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</a:rPr>
              <a:t>Read timetables and calculate time intervals using the 24-hour clock.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2F35024-E799-41B6-8D1B-4039F9E42B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700" y="1951055"/>
            <a:ext cx="6288506" cy="4088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CF5FFC7-DD73-45AB-9DD5-12184DF78DD8}"/>
              </a:ext>
            </a:extLst>
          </p:cNvPr>
          <p:cNvGrpSpPr/>
          <p:nvPr/>
        </p:nvGrpSpPr>
        <p:grpSpPr>
          <a:xfrm>
            <a:off x="116681" y="601030"/>
            <a:ext cx="3252161" cy="1188228"/>
            <a:chOff x="1081584" y="650316"/>
            <a:chExt cx="4336213" cy="1345423"/>
          </a:xfrm>
        </p:grpSpPr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6415F524-2262-45E2-8FF2-584A150962CE}"/>
                </a:ext>
              </a:extLst>
            </p:cNvPr>
            <p:cNvSpPr/>
            <p:nvPr/>
          </p:nvSpPr>
          <p:spPr>
            <a:xfrm>
              <a:off x="1167140" y="650316"/>
              <a:ext cx="4250657" cy="1334424"/>
            </a:xfrm>
            <a:prstGeom prst="wedgeRoundRectCallout">
              <a:avLst>
                <a:gd name="adj1" fmla="val -5217"/>
                <a:gd name="adj2" fmla="val 7694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400" b="1" dirty="0">
                  <a:solidFill>
                    <a:srgbClr val="253746"/>
                  </a:solidFill>
                </a:rPr>
                <a:t>What time does the 08:45 reach Ottery St Catchpole? Write both the 24-hour and 12-hour times on your whiteboard.</a:t>
              </a:r>
              <a:endPara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A1BAE53-6F0D-4F0F-80C1-33C612CAD6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1584" y="1475874"/>
              <a:ext cx="307921" cy="519865"/>
            </a:xfrm>
            <a:prstGeom prst="rect">
              <a:avLst/>
            </a:prstGeom>
          </p:spPr>
        </p:pic>
      </p:grp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7C781E83-0DFB-4DA3-948D-26DDD03BDB6F}"/>
              </a:ext>
            </a:extLst>
          </p:cNvPr>
          <p:cNvSpPr/>
          <p:nvPr/>
        </p:nvSpPr>
        <p:spPr>
          <a:xfrm>
            <a:off x="3995743" y="633164"/>
            <a:ext cx="4330109" cy="1045614"/>
          </a:xfrm>
          <a:prstGeom prst="wedgeRoundRectCallout">
            <a:avLst>
              <a:gd name="adj1" fmla="val 2702"/>
              <a:gd name="adj2" fmla="val 8345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GB" sz="1400" b="1" dirty="0">
                <a:solidFill>
                  <a:srgbClr val="253746"/>
                </a:solidFill>
              </a:rPr>
              <a:t>I am going to show a time in 12-hour format.</a:t>
            </a:r>
          </a:p>
          <a:p>
            <a:pPr lvl="0" algn="ctr">
              <a:defRPr/>
            </a:pPr>
            <a:r>
              <a:rPr lang="en-GB" sz="1400" b="1" dirty="0">
                <a:solidFill>
                  <a:srgbClr val="253746"/>
                </a:solidFill>
              </a:rPr>
              <a:t>Convert it to 24-hour format, search for it on the timetable and write the corresponding </a:t>
            </a:r>
            <a:r>
              <a:rPr lang="en-GB" sz="1400" b="1" u="sng" dirty="0">
                <a:solidFill>
                  <a:srgbClr val="253746"/>
                </a:solidFill>
              </a:rPr>
              <a:t>place name </a:t>
            </a:r>
            <a:r>
              <a:rPr lang="en-GB" sz="1400" b="1" dirty="0">
                <a:solidFill>
                  <a:srgbClr val="253746"/>
                </a:solidFill>
              </a:rPr>
              <a:t>on your whiteboard.</a:t>
            </a:r>
            <a:endParaRPr kumimoji="0" lang="en-GB" sz="1400" b="1" i="1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66A206AD-D4C9-4F59-9325-2811005A0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265" y="1239486"/>
            <a:ext cx="511688" cy="51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4E4F7CA-96F8-4783-AA55-7F279B961470}"/>
              </a:ext>
            </a:extLst>
          </p:cNvPr>
          <p:cNvGrpSpPr/>
          <p:nvPr/>
        </p:nvGrpSpPr>
        <p:grpSpPr>
          <a:xfrm>
            <a:off x="7128977" y="1951055"/>
            <a:ext cx="1900725" cy="700313"/>
            <a:chOff x="4354571" y="2767946"/>
            <a:chExt cx="1900725" cy="700313"/>
          </a:xfrm>
        </p:grpSpPr>
        <p:sp>
          <p:nvSpPr>
            <p:cNvPr id="20" name="Speech Bubble: Rectangle with Corners Rounded 19">
              <a:extLst>
                <a:ext uri="{FF2B5EF4-FFF2-40B4-BE49-F238E27FC236}">
                  <a16:creationId xmlns:a16="http://schemas.microsoft.com/office/drawing/2014/main" id="{428898F8-B394-4B4D-8DAA-99FBC3A5E048}"/>
                </a:ext>
              </a:extLst>
            </p:cNvPr>
            <p:cNvSpPr/>
            <p:nvPr/>
          </p:nvSpPr>
          <p:spPr>
            <a:xfrm>
              <a:off x="4354571" y="2844871"/>
              <a:ext cx="1478264" cy="623388"/>
            </a:xfrm>
            <a:prstGeom prst="wedgeRoundRectCallout">
              <a:avLst>
                <a:gd name="adj1" fmla="val -55419"/>
                <a:gd name="adj2" fmla="val 8938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Five to midnight.</a:t>
              </a:r>
              <a:endPara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191168B8-E307-430E-921A-B183DE9944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57417E-8EFA-4449-8CDB-894CC274CB47}"/>
              </a:ext>
            </a:extLst>
          </p:cNvPr>
          <p:cNvGrpSpPr/>
          <p:nvPr/>
        </p:nvGrpSpPr>
        <p:grpSpPr>
          <a:xfrm>
            <a:off x="7062218" y="2972607"/>
            <a:ext cx="1900725" cy="700313"/>
            <a:chOff x="4354571" y="2767946"/>
            <a:chExt cx="1900725" cy="700313"/>
          </a:xfrm>
        </p:grpSpPr>
        <p:sp>
          <p:nvSpPr>
            <p:cNvPr id="23" name="Speech Bubble: Rectangle with Corners Rounded 22">
              <a:extLst>
                <a:ext uri="{FF2B5EF4-FFF2-40B4-BE49-F238E27FC236}">
                  <a16:creationId xmlns:a16="http://schemas.microsoft.com/office/drawing/2014/main" id="{66EEF3E2-6FE4-40F0-8CD4-B5E01CDEE0E9}"/>
                </a:ext>
              </a:extLst>
            </p:cNvPr>
            <p:cNvSpPr/>
            <p:nvPr/>
          </p:nvSpPr>
          <p:spPr>
            <a:xfrm>
              <a:off x="4354571" y="2767946"/>
              <a:ext cx="1478264" cy="700313"/>
            </a:xfrm>
            <a:prstGeom prst="wedgeRoundRectCallout">
              <a:avLst>
                <a:gd name="adj1" fmla="val -55419"/>
                <a:gd name="adj2" fmla="val 8938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2 minutes past 9 in the morning.</a:t>
              </a:r>
              <a:endPara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8620B7BE-5771-4481-B259-9175EBE5F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844BDF-5888-48A4-99D5-C91501B89233}"/>
              </a:ext>
            </a:extLst>
          </p:cNvPr>
          <p:cNvGrpSpPr/>
          <p:nvPr/>
        </p:nvGrpSpPr>
        <p:grpSpPr>
          <a:xfrm>
            <a:off x="7375489" y="3765375"/>
            <a:ext cx="1919309" cy="803210"/>
            <a:chOff x="4354571" y="2665049"/>
            <a:chExt cx="1919309" cy="803210"/>
          </a:xfrm>
        </p:grpSpPr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FC35C83D-4A80-47DE-875E-214D8216B181}"/>
                </a:ext>
              </a:extLst>
            </p:cNvPr>
            <p:cNvSpPr/>
            <p:nvPr/>
          </p:nvSpPr>
          <p:spPr>
            <a:xfrm>
              <a:off x="4354571" y="2844871"/>
              <a:ext cx="1478264" cy="623388"/>
            </a:xfrm>
            <a:prstGeom prst="wedgeRoundRectCallout">
              <a:avLst>
                <a:gd name="adj1" fmla="val -55419"/>
                <a:gd name="adj2" fmla="val 8938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20 past 5 in the afternoon.</a:t>
              </a:r>
              <a:endPara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6D583069-1428-40D8-A390-0A72FAA961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0491" y="2665049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E908C1-0230-43BC-8439-57F8E4453761}"/>
              </a:ext>
            </a:extLst>
          </p:cNvPr>
          <p:cNvGrpSpPr/>
          <p:nvPr/>
        </p:nvGrpSpPr>
        <p:grpSpPr>
          <a:xfrm>
            <a:off x="7062218" y="4951220"/>
            <a:ext cx="1900725" cy="700313"/>
            <a:chOff x="4354571" y="2767946"/>
            <a:chExt cx="1900725" cy="700313"/>
          </a:xfrm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D247DD10-4956-467C-A744-F0FED988D687}"/>
                </a:ext>
              </a:extLst>
            </p:cNvPr>
            <p:cNvSpPr/>
            <p:nvPr/>
          </p:nvSpPr>
          <p:spPr>
            <a:xfrm>
              <a:off x="4354571" y="2767946"/>
              <a:ext cx="1478264" cy="700313"/>
            </a:xfrm>
            <a:prstGeom prst="wedgeRoundRectCallout">
              <a:avLst>
                <a:gd name="adj1" fmla="val -55419"/>
                <a:gd name="adj2" fmla="val 8938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600" b="1" dirty="0">
                  <a:solidFill>
                    <a:srgbClr val="253746"/>
                  </a:solidFill>
                </a:rPr>
                <a:t>10 to 7 in the evening.</a:t>
              </a:r>
              <a:endParaRPr kumimoji="0" lang="en-GB" sz="16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0" name="Picture 2">
              <a:extLst>
                <a:ext uri="{FF2B5EF4-FFF2-40B4-BE49-F238E27FC236}">
                  <a16:creationId xmlns:a16="http://schemas.microsoft.com/office/drawing/2014/main" id="{B4C27E6D-AA6D-4A73-9F57-643944961F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7924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0EE811-478C-4958-8104-2A70B5A1961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EA76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EA76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77ED-5C54-4353-B94F-C526DD00205C}"/>
              </a:ext>
            </a:extLst>
          </p:cNvPr>
          <p:cNvSpPr txBox="1"/>
          <p:nvPr/>
        </p:nvSpPr>
        <p:spPr>
          <a:xfrm>
            <a:off x="116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7600"/>
              </a:buClr>
              <a:buSzPct val="120000"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Day 2: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Read timetables and calculate time intervals using the 24-hour clock.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32F35024-E799-41B6-8D1B-4039F9E42B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0700" y="1951055"/>
            <a:ext cx="6288506" cy="4088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7C781E83-0DFB-4DA3-948D-26DDD03BDB6F}"/>
              </a:ext>
            </a:extLst>
          </p:cNvPr>
          <p:cNvSpPr/>
          <p:nvPr/>
        </p:nvSpPr>
        <p:spPr>
          <a:xfrm>
            <a:off x="4001621" y="685856"/>
            <a:ext cx="2854235" cy="805435"/>
          </a:xfrm>
          <a:prstGeom prst="wedgeRoundRectCallout">
            <a:avLst>
              <a:gd name="adj1" fmla="val -37996"/>
              <a:gd name="adj2" fmla="val 8407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am going to ask you to calculate</a:t>
            </a:r>
            <a:r>
              <a:rPr kumimoji="0" lang="en-GB" sz="1400" b="1" i="0" u="none" strike="noStrike" kern="1200" cap="none" spc="0" normalizeH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time intervals.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</a:t>
            </a: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time-lines to help. </a:t>
            </a:r>
            <a:endParaRPr kumimoji="0" lang="en-GB" sz="1400" b="1" i="1" u="none" strike="noStrike" kern="1200" cap="none" spc="0" normalizeH="0" baseline="0" noProof="0" dirty="0">
              <a:ln>
                <a:noFill/>
              </a:ln>
              <a:solidFill>
                <a:srgbClr val="2537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4E4F7CA-96F8-4783-AA55-7F279B961470}"/>
              </a:ext>
            </a:extLst>
          </p:cNvPr>
          <p:cNvGrpSpPr/>
          <p:nvPr/>
        </p:nvGrpSpPr>
        <p:grpSpPr>
          <a:xfrm>
            <a:off x="724925" y="684197"/>
            <a:ext cx="3276696" cy="957061"/>
            <a:chOff x="2978600" y="2511197"/>
            <a:chExt cx="3276696" cy="957061"/>
          </a:xfrm>
        </p:grpSpPr>
        <p:sp>
          <p:nvSpPr>
            <p:cNvPr id="20" name="Speech Bubble: Rectangle with Corners Rounded 19">
              <a:extLst>
                <a:ext uri="{FF2B5EF4-FFF2-40B4-BE49-F238E27FC236}">
                  <a16:creationId xmlns:a16="http://schemas.microsoft.com/office/drawing/2014/main" id="{428898F8-B394-4B4D-8DAA-99FBC3A5E048}"/>
                </a:ext>
              </a:extLst>
            </p:cNvPr>
            <p:cNvSpPr/>
            <p:nvPr/>
          </p:nvSpPr>
          <p:spPr>
            <a:xfrm>
              <a:off x="2978600" y="2511197"/>
              <a:ext cx="2854235" cy="957061"/>
            </a:xfrm>
            <a:prstGeom prst="wedgeRoundRectCallout">
              <a:avLst>
                <a:gd name="adj1" fmla="val -3149"/>
                <a:gd name="adj2" fmla="val 116203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400" b="1" dirty="0">
                  <a:solidFill>
                    <a:srgbClr val="253746"/>
                  </a:solidFill>
                </a:rPr>
                <a:t>How long does the 08:45 from </a:t>
              </a:r>
              <a:r>
                <a:rPr lang="en-GB" sz="1400" b="1" dirty="0" err="1">
                  <a:solidFill>
                    <a:srgbClr val="253746"/>
                  </a:solidFill>
                </a:rPr>
                <a:t>Diagon</a:t>
              </a:r>
              <a:r>
                <a:rPr lang="en-GB" sz="1400" b="1" dirty="0">
                  <a:solidFill>
                    <a:srgbClr val="253746"/>
                  </a:solidFill>
                </a:rPr>
                <a:t> Alley take to reach Ottery St Catchpole?</a:t>
              </a:r>
              <a:endParaRPr kumimoji="0" lang="en-GB" sz="14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191168B8-E307-430E-921A-B183DE9944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110DF6-EA83-461B-B44D-2AE4A7CE9166}"/>
              </a:ext>
            </a:extLst>
          </p:cNvPr>
          <p:cNvGrpSpPr/>
          <p:nvPr/>
        </p:nvGrpSpPr>
        <p:grpSpPr>
          <a:xfrm>
            <a:off x="6325693" y="1878012"/>
            <a:ext cx="2810215" cy="957061"/>
            <a:chOff x="3445081" y="2511197"/>
            <a:chExt cx="2810215" cy="957061"/>
          </a:xfrm>
        </p:grpSpPr>
        <p:sp>
          <p:nvSpPr>
            <p:cNvPr id="32" name="Speech Bubble: Rectangle with Corners Rounded 31">
              <a:extLst>
                <a:ext uri="{FF2B5EF4-FFF2-40B4-BE49-F238E27FC236}">
                  <a16:creationId xmlns:a16="http://schemas.microsoft.com/office/drawing/2014/main" id="{8CB4844B-D9C1-4C76-A4BB-E8AC7A9B9168}"/>
                </a:ext>
              </a:extLst>
            </p:cNvPr>
            <p:cNvSpPr/>
            <p:nvPr/>
          </p:nvSpPr>
          <p:spPr>
            <a:xfrm>
              <a:off x="3445081" y="2511197"/>
              <a:ext cx="2387754" cy="957061"/>
            </a:xfrm>
            <a:prstGeom prst="wedgeRoundRectCallout">
              <a:avLst>
                <a:gd name="adj1" fmla="val -55419"/>
                <a:gd name="adj2" fmla="val 89384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How long does the 19:52 from Kings Cross take to reach Hogsmeade?</a:t>
              </a:r>
              <a:endParaRPr kumimoji="0" lang="en-GB" sz="15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377A2D76-E04F-49A7-8F04-53E2E24FF9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5424311-87DF-47F5-8B02-D355EC643337}"/>
              </a:ext>
            </a:extLst>
          </p:cNvPr>
          <p:cNvGrpSpPr/>
          <p:nvPr/>
        </p:nvGrpSpPr>
        <p:grpSpPr>
          <a:xfrm>
            <a:off x="6759206" y="3674369"/>
            <a:ext cx="2566577" cy="957061"/>
            <a:chOff x="3688719" y="2511197"/>
            <a:chExt cx="2566577" cy="957061"/>
          </a:xfrm>
        </p:grpSpPr>
        <p:sp>
          <p:nvSpPr>
            <p:cNvPr id="35" name="Speech Bubble: Rectangle with Corners Rounded 34">
              <a:extLst>
                <a:ext uri="{FF2B5EF4-FFF2-40B4-BE49-F238E27FC236}">
                  <a16:creationId xmlns:a16="http://schemas.microsoft.com/office/drawing/2014/main" id="{91631CFD-83D6-4E4C-AF28-9184F5B55444}"/>
                </a:ext>
              </a:extLst>
            </p:cNvPr>
            <p:cNvSpPr/>
            <p:nvPr/>
          </p:nvSpPr>
          <p:spPr>
            <a:xfrm>
              <a:off x="3688719" y="2511197"/>
              <a:ext cx="2144115" cy="957061"/>
            </a:xfrm>
            <a:prstGeom prst="wedgeRoundRectCallout">
              <a:avLst>
                <a:gd name="adj1" fmla="val -71131"/>
                <a:gd name="adj2" fmla="val -32977"/>
                <a:gd name="adj3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/>
              </a:solidFill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GB" sz="1500" b="1" dirty="0">
                  <a:solidFill>
                    <a:srgbClr val="253746"/>
                  </a:solidFill>
                </a:rPr>
                <a:t>Which is the fastest train between Kings Cross and Hogwarts?</a:t>
              </a:r>
              <a:endParaRPr kumimoji="0" lang="en-GB" sz="1500" b="1" i="1" u="none" strike="noStrike" kern="1200" cap="none" spc="0" normalizeH="0" baseline="0" noProof="0" dirty="0">
                <a:ln>
                  <a:noFill/>
                </a:ln>
                <a:solidFill>
                  <a:srgbClr val="253746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04225F74-99EB-46CA-A1AB-7E9FEC0F0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1907" y="2767946"/>
              <a:ext cx="623389" cy="623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1069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C7C50-F13F-4C56-94F9-48AB7FDB898A}"/>
              </a:ext>
            </a:extLst>
          </p:cNvPr>
          <p:cNvSpPr txBox="1"/>
          <p:nvPr/>
        </p:nvSpPr>
        <p:spPr>
          <a:xfrm>
            <a:off x="116681" y="138645"/>
            <a:ext cx="8871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EA7600"/>
              </a:buClr>
              <a:buSzPct val="120000"/>
            </a:pPr>
            <a:r>
              <a:rPr lang="en-GB" sz="2000" b="1" dirty="0">
                <a:solidFill>
                  <a:srgbClr val="253746"/>
                </a:solidFill>
              </a:rPr>
              <a:t>Day 2: </a:t>
            </a:r>
            <a:r>
              <a:rPr lang="en-GB" sz="2000" b="1" dirty="0">
                <a:solidFill>
                  <a:srgbClr val="5B9BD5">
                    <a:lumMod val="75000"/>
                  </a:srgbClr>
                </a:solidFill>
              </a:rPr>
              <a:t>Read timetables and calculate time intervals using the 24-hour clock.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ED61E65-8901-469A-A41C-C107ECC9BF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63123" y="892427"/>
            <a:ext cx="5817753" cy="37827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FA51BF-CED7-4D00-97B4-3AED48B15C09}"/>
              </a:ext>
            </a:extLst>
          </p:cNvPr>
          <p:cNvSpPr/>
          <p:nvPr/>
        </p:nvSpPr>
        <p:spPr>
          <a:xfrm>
            <a:off x="590233" y="4707248"/>
            <a:ext cx="81687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253746"/>
                </a:solidFill>
              </a:rPr>
              <a:t>For each route, find how long the train takes between </a:t>
            </a:r>
            <a:r>
              <a:rPr lang="en-GB" sz="2000" b="1" dirty="0" err="1">
                <a:solidFill>
                  <a:srgbClr val="253746"/>
                </a:solidFill>
              </a:rPr>
              <a:t>Diagon</a:t>
            </a:r>
            <a:r>
              <a:rPr lang="en-GB" sz="2000" b="1" dirty="0">
                <a:solidFill>
                  <a:srgbClr val="253746"/>
                </a:solidFill>
              </a:rPr>
              <a:t> Alley and Kings Cross. What do you notice?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253746"/>
                </a:solidFill>
              </a:rPr>
              <a:t>Investigate journey times between other pairs of stations. In each case, find the quickest </a:t>
            </a:r>
            <a:r>
              <a:rPr lang="en-GB" sz="2000" b="1" u="sng" dirty="0">
                <a:solidFill>
                  <a:srgbClr val="253746"/>
                </a:solidFill>
              </a:rPr>
              <a:t>and</a:t>
            </a:r>
            <a:r>
              <a:rPr lang="en-GB" sz="2000" b="1" dirty="0">
                <a:solidFill>
                  <a:srgbClr val="253746"/>
                </a:solidFill>
              </a:rPr>
              <a:t> the slowest journey times.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3D0532-DDC0-40FB-A2D5-CEF2D2E77DAA}"/>
              </a:ext>
            </a:extLst>
          </p:cNvPr>
          <p:cNvSpPr/>
          <p:nvPr/>
        </p:nvSpPr>
        <p:spPr>
          <a:xfrm>
            <a:off x="326812" y="1135089"/>
            <a:ext cx="963725" cy="10156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GB" sz="2000" b="1" dirty="0">
                <a:solidFill>
                  <a:srgbClr val="253746"/>
                </a:solidFill>
              </a:rPr>
              <a:t>Whole</a:t>
            </a:r>
          </a:p>
          <a:p>
            <a:pPr algn="ctr"/>
            <a:r>
              <a:rPr lang="en-GB" sz="2000" b="1" dirty="0">
                <a:solidFill>
                  <a:srgbClr val="253746"/>
                </a:solidFill>
              </a:rPr>
              <a:t>Class</a:t>
            </a:r>
          </a:p>
          <a:p>
            <a:pPr algn="ctr"/>
            <a:r>
              <a:rPr lang="en-GB" sz="2000" b="1" dirty="0">
                <a:solidFill>
                  <a:srgbClr val="253746"/>
                </a:solidFill>
              </a:rPr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60500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EC2F06-FA07-421C-9E8C-C3D9827F8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85487" y="6367375"/>
            <a:ext cx="719921" cy="365125"/>
          </a:xfrm>
        </p:spPr>
        <p:txBody>
          <a:bodyPr/>
          <a:lstStyle/>
          <a:p>
            <a:fld id="{BA0EE811-478C-4958-8104-2A70B5A19611}" type="slidenum">
              <a:rPr lang="en-GB" smtClean="0">
                <a:solidFill>
                  <a:srgbClr val="EA7600"/>
                </a:solidFill>
              </a:rPr>
              <a:pPr/>
              <a:t>11</a:t>
            </a:fld>
            <a:endParaRPr lang="en-GB" dirty="0">
              <a:solidFill>
                <a:srgbClr val="EA7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B57C5-4CE5-46E5-81F4-8B677AAFFB5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1810" y="60288"/>
            <a:ext cx="4360380" cy="6066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174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EA7600"/>
      </a:hlink>
      <a:folHlink>
        <a:srgbClr val="EA760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</TotalTime>
  <Words>881</Words>
  <Application>Microsoft Office PowerPoint</Application>
  <PresentationFormat>On-screen Show (4:3)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 PC</dc:creator>
  <cp:lastModifiedBy>DAVIES Rhys [Busselton Senior High School]</cp:lastModifiedBy>
  <cp:revision>192</cp:revision>
  <dcterms:created xsi:type="dcterms:W3CDTF">2018-09-13T11:08:58Z</dcterms:created>
  <dcterms:modified xsi:type="dcterms:W3CDTF">2022-06-20T08:21:32Z</dcterms:modified>
</cp:coreProperties>
</file>
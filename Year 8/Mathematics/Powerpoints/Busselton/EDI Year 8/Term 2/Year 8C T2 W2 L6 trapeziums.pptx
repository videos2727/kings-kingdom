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25" r:id="rId4"/>
    <p:sldId id="276" r:id="rId5"/>
    <p:sldId id="258" r:id="rId6"/>
    <p:sldId id="274" r:id="rId7"/>
    <p:sldId id="279" r:id="rId8"/>
    <p:sldId id="280" r:id="rId9"/>
    <p:sldId id="313" r:id="rId10"/>
    <p:sldId id="311" r:id="rId11"/>
    <p:sldId id="314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ES Rhys [Busselton Senior High School]" initials="DR[SHS" lastIdx="1" clrIdx="0">
    <p:extLst>
      <p:ext uri="{19B8F6BF-5375-455C-9EA6-DF929625EA0E}">
        <p15:presenceInfo xmlns:p15="http://schemas.microsoft.com/office/powerpoint/2012/main" userId="S::rhys.davies@education.wa.edu.au::901f7e41-9ce1-4a6e-9371-69f5fc7f4f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5-04T20:42:12.959" idx="1">
    <p:pos x="2331" y="181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BCE6-C3F0-4883-858B-824EB4B82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0F797-F097-4DEE-B522-348D2966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2EA3-CAAE-4BC3-B918-AB507A8D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8BE1F-1084-4575-92DF-8D9B37E3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AD32D-EB39-45B1-B088-0A5273BB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56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A87B0-43BA-4A36-83C1-ED9911F7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C009E-C914-4FF5-950E-CEC7AB553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1C082-0A85-4C1A-B3BE-CBE561C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5D694-521F-46B9-B2C0-9B6242DA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2CB4-B545-4C9A-A324-6EB32E4E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99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346B-4843-41D6-A313-9394807C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B7776-08F3-4F92-9B73-AE5EEE0B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88A1-A4CB-4E35-AEC4-AE5B3EA6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2A667-6BB3-4A65-A67E-1F009D92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77A49-E6E1-4384-9CF0-17940079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46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3E55-7EC1-4414-85A8-7BDC420F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9CA4E-4D29-4C67-90C3-E6E1D6366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56415-714F-4491-93D1-F84138860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C0E72-7D72-4963-AA98-4219CF0B6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AD928-36D3-4A62-B39A-982FD99F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78609-6CF2-4090-91A3-05F72CD1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661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9871-AD20-44D5-AA40-5E7AB3A4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C87A3-F9A9-47AF-8121-2760678B0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F3769-4401-4471-ACCC-1CC785BC3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27C7C-36E3-4ACB-82AA-24A185F4E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C95C3-C933-4E51-945D-3FD74B1D8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CA880-88B1-4998-A1D2-B7A785D2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6383E-54CC-425B-9BD7-FB922ABA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59E9E-41AC-41EE-8638-94A89B33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25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E33E-9C9D-453A-B29E-CD46550A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CB2CB-7A71-4D0B-9450-2BE7081E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E846B-91B4-4AAE-BEC8-4441B40D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5D0CC-C56E-44BE-9BAD-D3ACCD3D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058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515932-8F3E-42BE-9522-25E90706E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A6093-460A-4678-B76B-829E4D37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5A7CF-C6E3-4D7C-8D8A-8073DA00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8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9461-C302-4F09-8069-DE43132B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B50D3-1A98-4500-A5BE-EE326775B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F54D1-C377-4D52-9827-7FAAA5F8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4AFB8-D7EF-46DF-8B00-656D8F10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C7BD5-39FD-438B-925F-196BBF72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F219-8766-46C5-8A40-9FDA1D69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301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8EEB-9F50-4D72-93CC-D98FAC57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A21F0-E09A-405E-B1C7-23C540512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4AC51-B485-4830-9AFC-C013B8009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E53E5-2EF4-4DB4-8234-DA86286E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A88E4-DE09-418B-B791-BC64A370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96440-1ED4-498F-9E1E-5359A548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47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37D7-1059-4C63-A726-FCD244C7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68BD6-6978-4C16-8895-20F9911B8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01A84-B880-458E-93F0-7B5810AE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7B7D0-B45B-44D7-A7F6-29C0BB98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6167-580F-4F03-9ADC-0F99E459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25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3E660-28ED-4AA8-8A48-53FC382D96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A5D02-89D6-4F21-BFDA-2E8190475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5AB80-27EE-49E7-BF21-635E274E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AFF0-0B74-4E84-8565-F0181FE1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BE19-A215-4254-9BA7-B237015F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5800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473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095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8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721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1472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010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450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514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487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46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7099CB-6BFC-4A6A-BDDC-DBC496C3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F1F35-0A57-4CF2-925E-CFBE9C816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8BF2-811F-4989-B530-172A69F0D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8E170-4EDD-4DA7-B858-1A9553A3949C}" type="datetimeFigureOut">
              <a:rPr lang="en-AU" smtClean="0"/>
              <a:t>9/05/2022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AAEF-3EF6-4790-B0B8-D5B0BD69D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BBD38-3DFF-4C56-A086-07333C64F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C2DB0-FC49-431B-B04D-981122C020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29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E87C6-93E2-40DB-B9FF-42C846A24D2B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35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5F6D41-CDCE-4A11-9E45-F31EE085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FB6690-88C7-48BA-8979-87371828F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Trapeziums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Identify perpendicular heights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Calculate the area of trapeziums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perimeter and area of common shapes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Perpendicular heights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Trapeziums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400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Circumference </a:t>
            </a:r>
          </a:p>
          <a:p>
            <a:pPr>
              <a:buFontTx/>
              <a:buChar char="-"/>
            </a:pPr>
            <a:r>
              <a:rPr lang="en-US" dirty="0"/>
              <a:t>Circle edge/perimeter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Radius </a:t>
            </a:r>
          </a:p>
          <a:p>
            <a:pPr>
              <a:buFontTx/>
              <a:buChar char="-"/>
            </a:pPr>
            <a:r>
              <a:rPr lang="en-US" dirty="0"/>
              <a:t>From center of the circle to outside edge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</a:t>
            </a:r>
          </a:p>
          <a:p>
            <a:pPr>
              <a:buFontTx/>
              <a:buChar char="-"/>
            </a:pPr>
            <a:r>
              <a:rPr lang="en-US" dirty="0"/>
              <a:t>Straight line through the center, edge to edge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is twice the length of its radius 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2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46BEA-2D44-4B02-9860-4FFEFF57B8E2}"/>
              </a:ext>
            </a:extLst>
          </p:cNvPr>
          <p:cNvSpPr/>
          <p:nvPr/>
        </p:nvSpPr>
        <p:spPr>
          <a:xfrm>
            <a:off x="1934333" y="2178231"/>
            <a:ext cx="33123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E24F0-0B63-489F-9E06-24B79A06B6CD}"/>
              </a:ext>
            </a:extLst>
          </p:cNvPr>
          <p:cNvSpPr/>
          <p:nvPr/>
        </p:nvSpPr>
        <p:spPr>
          <a:xfrm>
            <a:off x="1934333" y="3406374"/>
            <a:ext cx="598973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05F49-BC47-46A0-82EF-97B7694C1376}"/>
              </a:ext>
            </a:extLst>
          </p:cNvPr>
          <p:cNvSpPr/>
          <p:nvPr/>
        </p:nvSpPr>
        <p:spPr>
          <a:xfrm>
            <a:off x="2794247" y="4541989"/>
            <a:ext cx="440554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7DC64-5620-4A49-9791-2C86529D7A1A}"/>
              </a:ext>
            </a:extLst>
          </p:cNvPr>
          <p:cNvSpPr/>
          <p:nvPr/>
        </p:nvSpPr>
        <p:spPr>
          <a:xfrm>
            <a:off x="2486727" y="5414775"/>
            <a:ext cx="417646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5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421D-D926-46AF-88F1-0DE28165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Circles refresh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C33D17-22E3-4F2C-AD18-ED68C3F1EF7C}"/>
              </a:ext>
            </a:extLst>
          </p:cNvPr>
          <p:cNvSpPr/>
          <p:nvPr/>
        </p:nvSpPr>
        <p:spPr>
          <a:xfrm>
            <a:off x="833761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92A93F-A1DC-47BF-B9C5-62A47EABD7C3}"/>
              </a:ext>
            </a:extLst>
          </p:cNvPr>
          <p:cNvSpPr/>
          <p:nvPr/>
        </p:nvSpPr>
        <p:spPr>
          <a:xfrm>
            <a:off x="9003436" y="2885243"/>
            <a:ext cx="2867488" cy="293850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A353FB-3683-4673-AE16-D9CA0215EB79}"/>
              </a:ext>
            </a:extLst>
          </p:cNvPr>
          <p:cNvCxnSpPr>
            <a:cxnSpLocks/>
            <a:endCxn id="4" idx="6"/>
          </p:cNvCxnSpPr>
          <p:nvPr/>
        </p:nvCxnSpPr>
        <p:spPr>
          <a:xfrm>
            <a:off x="2267505" y="4287915"/>
            <a:ext cx="1433744" cy="6658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A4589A-E7E0-4C61-88B3-69D8A84E7ED0}"/>
              </a:ext>
            </a:extLst>
          </p:cNvPr>
          <p:cNvCxnSpPr>
            <a:stCxn id="5" idx="2"/>
            <a:endCxn id="5" idx="6"/>
          </p:cNvCxnSpPr>
          <p:nvPr/>
        </p:nvCxnSpPr>
        <p:spPr>
          <a:xfrm>
            <a:off x="9003436" y="4354498"/>
            <a:ext cx="28674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E9023B4-F5ED-45EA-A3D9-B37EDC110053}"/>
              </a:ext>
            </a:extLst>
          </p:cNvPr>
          <p:cNvSpPr txBox="1"/>
          <p:nvPr/>
        </p:nvSpPr>
        <p:spPr>
          <a:xfrm>
            <a:off x="2574524" y="3817398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22cm</a:t>
            </a:r>
            <a:endParaRPr lang="en-AU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84DB1-F262-4FF1-B550-22D3D659FB0A}"/>
              </a:ext>
            </a:extLst>
          </p:cNvPr>
          <p:cNvSpPr txBox="1"/>
          <p:nvPr/>
        </p:nvSpPr>
        <p:spPr>
          <a:xfrm>
            <a:off x="10193044" y="3921096"/>
            <a:ext cx="994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18cm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8F77E-D9E9-4135-A4EE-BAA0FC4BD8D8}"/>
              </a:ext>
            </a:extLst>
          </p:cNvPr>
          <p:cNvSpPr txBox="1"/>
          <p:nvPr/>
        </p:nvSpPr>
        <p:spPr>
          <a:xfrm>
            <a:off x="3808520" y="2078242"/>
            <a:ext cx="64629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Find the area and circumference.</a:t>
            </a:r>
          </a:p>
          <a:p>
            <a:pPr algn="ctr"/>
            <a:r>
              <a:rPr lang="en-US" sz="2800" b="1" dirty="0"/>
              <a:t>Exercise books!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156959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52737"/>
            <a:ext cx="8229600" cy="4525963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Perimeter – the distance around the </a:t>
            </a:r>
            <a:r>
              <a:rPr lang="en-GB" u="sng" dirty="0">
                <a:solidFill>
                  <a:srgbClr val="FF0000"/>
                </a:solidFill>
              </a:rPr>
              <a:t>outside</a:t>
            </a:r>
            <a:r>
              <a:rPr lang="en-GB" dirty="0">
                <a:solidFill>
                  <a:srgbClr val="FF0000"/>
                </a:solidFill>
              </a:rPr>
              <a:t> of a shape.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Area – the amount of space taken up by a 2D shape.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2FF757-B87F-437F-B9A5-D488F0272D14}"/>
              </a:ext>
            </a:extLst>
          </p:cNvPr>
          <p:cNvSpPr txBox="1">
            <a:spLocks/>
          </p:cNvSpPr>
          <p:nvPr/>
        </p:nvSpPr>
        <p:spPr>
          <a:xfrm>
            <a:off x="1981200" y="180800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95A3-A112-43C6-876E-A9BD029F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3693310"/>
            <a:ext cx="4752528" cy="28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41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3943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"/>
            <a:ext cx="9144000" cy="6871607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487488" y="17240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496" y="881336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1631504" y="2609528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1775520" y="4049688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5560" y="521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664" y="953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5560" y="33296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5600" y="289756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60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367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3632" y="45537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10cm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2841785" y="4035833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2567608" y="2537520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75520" y="3052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31504" y="2393504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19536" y="40496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6827" y="1"/>
            <a:ext cx="3761173" cy="1323439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prstClr val="black"/>
                </a:solidFill>
                <a:latin typeface="Calibri"/>
              </a:rPr>
              <a:t>Answers: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132cm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="1" dirty="0">
                <a:solidFill>
                  <a:prstClr val="black"/>
                </a:solidFill>
                <a:latin typeface="Calibri"/>
              </a:rPr>
              <a:t> and 46cm</a:t>
            </a:r>
            <a:endParaRPr lang="en-GB" sz="2000" b="1" baseline="30000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150cm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="1" dirty="0">
                <a:solidFill>
                  <a:prstClr val="black"/>
                </a:solidFill>
                <a:latin typeface="Calibri"/>
              </a:rPr>
              <a:t> and 46cm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160cm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sz="2000" b="1" dirty="0">
                <a:solidFill>
                  <a:prstClr val="black"/>
                </a:solidFill>
                <a:latin typeface="Calibri"/>
              </a:rPr>
              <a:t> and 44cm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471D99-3E46-4BE3-AAAD-0B19FF797E45}"/>
              </a:ext>
            </a:extLst>
          </p:cNvPr>
          <p:cNvSpPr txBox="1"/>
          <p:nvPr/>
        </p:nvSpPr>
        <p:spPr>
          <a:xfrm>
            <a:off x="4927106" y="1890944"/>
            <a:ext cx="3935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 the area and perimeter of these shapes. </a:t>
            </a:r>
            <a:endParaRPr lang="en-AU" sz="2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9F1EB2-25B2-4D6F-915A-4CCDC39F9DA6}"/>
              </a:ext>
            </a:extLst>
          </p:cNvPr>
          <p:cNvSpPr txBox="1"/>
          <p:nvPr/>
        </p:nvSpPr>
        <p:spPr>
          <a:xfrm>
            <a:off x="3143672" y="28622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Base and height are always perpendicular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>
                <a:solidFill>
                  <a:srgbClr val="FF0000"/>
                </a:solidFill>
              </a:rPr>
              <a:t>Perpendicular</a:t>
            </a:r>
            <a:r>
              <a:rPr lang="en-GB" dirty="0"/>
              <a:t> – “at right angles to”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51584" y="4869160"/>
            <a:ext cx="3024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287688" y="3284984"/>
            <a:ext cx="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87688" y="4653136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780076" y="4509121"/>
            <a:ext cx="2664296" cy="13812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112224" y="3789040"/>
            <a:ext cx="720080" cy="14041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680000">
            <a:off x="8150290" y="5051242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9A05B6-A522-407F-9879-04B89940C9AF}"/>
              </a:ext>
            </a:extLst>
          </p:cNvPr>
          <p:cNvSpPr/>
          <p:nvPr/>
        </p:nvSpPr>
        <p:spPr>
          <a:xfrm>
            <a:off x="1367161" y="2627790"/>
            <a:ext cx="9223899" cy="407485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71208-4AF1-43D6-B06D-106116D8B2C5}"/>
              </a:ext>
            </a:extLst>
          </p:cNvPr>
          <p:cNvSpPr txBox="1"/>
          <p:nvPr/>
        </p:nvSpPr>
        <p:spPr>
          <a:xfrm>
            <a:off x="2610035" y="5521911"/>
            <a:ext cx="4261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Height and base MUST be Perpendicular!</a:t>
            </a:r>
            <a:endParaRPr lang="en-A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Area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h𝑒𝑖𝑔h𝑡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bh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Triangle 9"/>
          <p:cNvSpPr/>
          <p:nvPr/>
        </p:nvSpPr>
        <p:spPr>
          <a:xfrm>
            <a:off x="2351584" y="3068960"/>
            <a:ext cx="3168352" cy="2664296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51584" y="5517232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6096000" y="3068960"/>
            <a:ext cx="1872208" cy="201622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184232" y="3501008"/>
            <a:ext cx="144016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9624392" y="3501008"/>
            <a:ext cx="576064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184232" y="3501008"/>
            <a:ext cx="2016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32104" y="4869160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>
            <a:stCxn id="13" idx="0"/>
            <a:endCxn id="13" idx="3"/>
          </p:cNvCxnSpPr>
          <p:nvPr/>
        </p:nvCxnSpPr>
        <p:spPr>
          <a:xfrm>
            <a:off x="7032104" y="3068960"/>
            <a:ext cx="0" cy="20162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379679" y="3501008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624392" y="3501008"/>
            <a:ext cx="0" cy="158417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24000" y="429309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4200" y="573325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584" y="516378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840" y="313167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2304" y="3995772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6608" y="4067780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2748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8752"/>
            <a:ext cx="8229600" cy="1143000"/>
          </a:xfrm>
        </p:spPr>
        <p:txBody>
          <a:bodyPr>
            <a:noAutofit/>
          </a:bodyPr>
          <a:lstStyle/>
          <a:p>
            <a:r>
              <a:rPr lang="en-GB" b="1">
                <a:latin typeface="+mn-lt"/>
              </a:rPr>
              <a:t>Area </a:t>
            </a:r>
            <a:r>
              <a:rPr lang="en-GB" b="1" dirty="0">
                <a:latin typeface="+mn-lt"/>
              </a:rPr>
              <a:t>of </a:t>
            </a:r>
            <a:r>
              <a:rPr lang="en-GB" b="1">
                <a:latin typeface="+mn-lt"/>
              </a:rPr>
              <a:t>a trapezium</a:t>
            </a:r>
            <a:endParaRPr lang="en-GB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24000" y="1337359"/>
                <a:ext cx="9144000" cy="2999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A trapezium is a quadrilateral with only one pair of parallel sides.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The area of a trapezium is found by using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/>
                  <a:t> represent the lengths of the two parallel sides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400" dirty="0"/>
                  <a:t> represents the perpendicular height between them.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337359"/>
                <a:ext cx="9144000" cy="2999796"/>
              </a:xfrm>
              <a:prstGeom prst="rect">
                <a:avLst/>
              </a:prstGeom>
              <a:blipFill>
                <a:blip r:embed="rId2"/>
                <a:stretch>
                  <a:fillRect l="-1000" t="-1626" b="-36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/>
          <p:cNvGrpSpPr/>
          <p:nvPr/>
        </p:nvGrpSpPr>
        <p:grpSpPr>
          <a:xfrm>
            <a:off x="1770143" y="4278530"/>
            <a:ext cx="2299981" cy="1371600"/>
            <a:chOff x="72740" y="4911466"/>
            <a:chExt cx="2299981" cy="1371600"/>
          </a:xfrm>
        </p:grpSpPr>
        <p:grpSp>
          <p:nvGrpSpPr>
            <p:cNvPr id="38" name="Group 37"/>
            <p:cNvGrpSpPr/>
            <p:nvPr/>
          </p:nvGrpSpPr>
          <p:grpSpPr>
            <a:xfrm>
              <a:off x="438261" y="5368666"/>
              <a:ext cx="1934460" cy="914400"/>
              <a:chOff x="438261" y="5368666"/>
              <a:chExt cx="1934460" cy="91440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612000" y="5368666"/>
                <a:ext cx="1760721" cy="914400"/>
                <a:chOff x="612000" y="5368666"/>
                <a:chExt cx="1760721" cy="914400"/>
              </a:xfrm>
            </p:grpSpPr>
            <p:sp>
              <p:nvSpPr>
                <p:cNvPr id="6" name="Trapezoid 5"/>
                <p:cNvSpPr/>
                <p:nvPr/>
              </p:nvSpPr>
              <p:spPr>
                <a:xfrm>
                  <a:off x="612000" y="5368666"/>
                  <a:ext cx="1760721" cy="908760"/>
                </a:xfrm>
                <a:prstGeom prst="trapezoid">
                  <a:avLst>
                    <a:gd name="adj" fmla="val 46875"/>
                  </a:avLst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0" name="Straight Arrow Connector 9"/>
                <p:cNvCxnSpPr/>
                <p:nvPr/>
              </p:nvCxnSpPr>
              <p:spPr>
                <a:xfrm>
                  <a:off x="1022800" y="53813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/>
                <p:cNvCxnSpPr/>
                <p:nvPr/>
              </p:nvCxnSpPr>
              <p:spPr>
                <a:xfrm>
                  <a:off x="1060900" y="62830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Straight Arrow Connector 19"/>
              <p:cNvCxnSpPr/>
              <p:nvPr/>
            </p:nvCxnSpPr>
            <p:spPr>
              <a:xfrm>
                <a:off x="438261" y="5368666"/>
                <a:ext cx="0" cy="9087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1419185" y="4911466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185" y="4911466"/>
                  <a:ext cx="24795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634" r="-146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19185" y="5875178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9185" y="5875178"/>
                  <a:ext cx="242374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72740" y="5626782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0" y="5626782"/>
                  <a:ext cx="24570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9268" r="-26829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/>
          <p:cNvGrpSpPr/>
          <p:nvPr/>
        </p:nvGrpSpPr>
        <p:grpSpPr>
          <a:xfrm>
            <a:off x="4740241" y="5158440"/>
            <a:ext cx="2296021" cy="1366706"/>
            <a:chOff x="2992300" y="4306760"/>
            <a:chExt cx="2296021" cy="1366706"/>
          </a:xfrm>
        </p:grpSpPr>
        <p:grpSp>
          <p:nvGrpSpPr>
            <p:cNvPr id="42" name="Group 41"/>
            <p:cNvGrpSpPr/>
            <p:nvPr/>
          </p:nvGrpSpPr>
          <p:grpSpPr>
            <a:xfrm>
              <a:off x="2992300" y="4746366"/>
              <a:ext cx="1900421" cy="927100"/>
              <a:chOff x="2992300" y="4746366"/>
              <a:chExt cx="1900421" cy="927100"/>
            </a:xfrm>
          </p:grpSpPr>
          <p:sp>
            <p:nvSpPr>
              <p:cNvPr id="24" name="Trapezoid 23"/>
              <p:cNvSpPr/>
              <p:nvPr/>
            </p:nvSpPr>
            <p:spPr>
              <a:xfrm rot="10800000">
                <a:off x="2992300" y="4757696"/>
                <a:ext cx="1760721" cy="908760"/>
              </a:xfrm>
              <a:custGeom>
                <a:avLst/>
                <a:gdLst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790700 w 2362200"/>
                  <a:gd name="connsiteY2" fmla="*/ 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12700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  <a:gd name="connsiteX0" fmla="*/ 0 w 2362200"/>
                  <a:gd name="connsiteY0" fmla="*/ 1219200 h 1219200"/>
                  <a:gd name="connsiteX1" fmla="*/ 571500 w 2362200"/>
                  <a:gd name="connsiteY1" fmla="*/ 0 h 1219200"/>
                  <a:gd name="connsiteX2" fmla="*/ 1193800 w 2362200"/>
                  <a:gd name="connsiteY2" fmla="*/ 5556 h 1219200"/>
                  <a:gd name="connsiteX3" fmla="*/ 2362200 w 2362200"/>
                  <a:gd name="connsiteY3" fmla="*/ 1219200 h 1219200"/>
                  <a:gd name="connsiteX4" fmla="*/ 0 w 2362200"/>
                  <a:gd name="connsiteY4" fmla="*/ 1219200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2200" h="1219200">
                    <a:moveTo>
                      <a:pt x="0" y="1219200"/>
                    </a:moveTo>
                    <a:lnTo>
                      <a:pt x="571500" y="0"/>
                    </a:lnTo>
                    <a:lnTo>
                      <a:pt x="1193800" y="5556"/>
                    </a:lnTo>
                    <a:lnTo>
                      <a:pt x="2362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" name="Straight Arrow Connector 30"/>
              <p:cNvCxnSpPr/>
              <p:nvPr/>
            </p:nvCxnSpPr>
            <p:spPr>
              <a:xfrm rot="10800000">
                <a:off x="3852660" y="4759066"/>
                <a:ext cx="5203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4" idx="1"/>
              </p:cNvCxnSpPr>
              <p:nvPr/>
            </p:nvCxnSpPr>
            <p:spPr>
              <a:xfrm rot="10800000" flipV="1">
                <a:off x="3992360" y="5666456"/>
                <a:ext cx="334680" cy="701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rot="10800000">
                <a:off x="4892721" y="4746366"/>
                <a:ext cx="0" cy="90876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3833720" y="4306760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3720" y="4306760"/>
                  <a:ext cx="24795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3957696" y="5280798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696" y="5280798"/>
                  <a:ext cx="24237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042613" y="4999334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2613" y="4999334"/>
                  <a:ext cx="24570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0000" r="-30000" b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7369053" y="4235118"/>
            <a:ext cx="2891134" cy="1458428"/>
            <a:chOff x="5484184" y="4497872"/>
            <a:chExt cx="2891134" cy="1458428"/>
          </a:xfrm>
        </p:grpSpPr>
        <p:grpSp>
          <p:nvGrpSpPr>
            <p:cNvPr id="26" name="Group 25"/>
            <p:cNvGrpSpPr/>
            <p:nvPr/>
          </p:nvGrpSpPr>
          <p:grpSpPr>
            <a:xfrm>
              <a:off x="5803900" y="4939079"/>
              <a:ext cx="2571418" cy="1017221"/>
              <a:chOff x="5803900" y="4939079"/>
              <a:chExt cx="2571418" cy="1017221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6012000" y="4939079"/>
                <a:ext cx="2363318" cy="1001087"/>
                <a:chOff x="6012000" y="4939079"/>
                <a:chExt cx="2363318" cy="1001087"/>
              </a:xfrm>
            </p:grpSpPr>
            <p:sp>
              <p:nvSpPr>
                <p:cNvPr id="5" name="Trapezoid 4"/>
                <p:cNvSpPr/>
                <p:nvPr/>
              </p:nvSpPr>
              <p:spPr>
                <a:xfrm>
                  <a:off x="6012000" y="4939079"/>
                  <a:ext cx="2363318" cy="990303"/>
                </a:xfrm>
                <a:custGeom>
                  <a:avLst/>
                  <a:gdLst>
                    <a:gd name="connsiteX0" fmla="*/ 0 w 2893200"/>
                    <a:gd name="connsiteY0" fmla="*/ 1328600 h 1328600"/>
                    <a:gd name="connsiteX1" fmla="*/ 332150 w 2893200"/>
                    <a:gd name="connsiteY1" fmla="*/ 0 h 1328600"/>
                    <a:gd name="connsiteX2" fmla="*/ 2561050 w 2893200"/>
                    <a:gd name="connsiteY2" fmla="*/ 0 h 1328600"/>
                    <a:gd name="connsiteX3" fmla="*/ 2893200 w 2893200"/>
                    <a:gd name="connsiteY3" fmla="*/ 1328600 h 1328600"/>
                    <a:gd name="connsiteX4" fmla="*/ 0 w 2893200"/>
                    <a:gd name="connsiteY4" fmla="*/ 1328600 h 1328600"/>
                    <a:gd name="connsiteX0" fmla="*/ 0 w 2893200"/>
                    <a:gd name="connsiteY0" fmla="*/ 1328600 h 1328600"/>
                    <a:gd name="connsiteX1" fmla="*/ 1475150 w 2893200"/>
                    <a:gd name="connsiteY1" fmla="*/ 0 h 1328600"/>
                    <a:gd name="connsiteX2" fmla="*/ 2561050 w 2893200"/>
                    <a:gd name="connsiteY2" fmla="*/ 0 h 1328600"/>
                    <a:gd name="connsiteX3" fmla="*/ 2893200 w 2893200"/>
                    <a:gd name="connsiteY3" fmla="*/ 1328600 h 1328600"/>
                    <a:gd name="connsiteX4" fmla="*/ 0 w 2893200"/>
                    <a:gd name="connsiteY4" fmla="*/ 1328600 h 1328600"/>
                    <a:gd name="connsiteX0" fmla="*/ 0 w 3170650"/>
                    <a:gd name="connsiteY0" fmla="*/ 1328600 h 1328600"/>
                    <a:gd name="connsiteX1" fmla="*/ 1475150 w 3170650"/>
                    <a:gd name="connsiteY1" fmla="*/ 0 h 1328600"/>
                    <a:gd name="connsiteX2" fmla="*/ 3170650 w 3170650"/>
                    <a:gd name="connsiteY2" fmla="*/ 0 h 1328600"/>
                    <a:gd name="connsiteX3" fmla="*/ 2893200 w 3170650"/>
                    <a:gd name="connsiteY3" fmla="*/ 1328600 h 1328600"/>
                    <a:gd name="connsiteX4" fmla="*/ 0 w 3170650"/>
                    <a:gd name="connsiteY4" fmla="*/ 1328600 h 13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0650" h="1328600">
                      <a:moveTo>
                        <a:pt x="0" y="1328600"/>
                      </a:moveTo>
                      <a:lnTo>
                        <a:pt x="1475150" y="0"/>
                      </a:lnTo>
                      <a:lnTo>
                        <a:pt x="3170650" y="0"/>
                      </a:lnTo>
                      <a:lnTo>
                        <a:pt x="2893200" y="1328600"/>
                      </a:lnTo>
                      <a:lnTo>
                        <a:pt x="0" y="1328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6915600" y="59401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/>
                <p:cNvCxnSpPr/>
                <p:nvPr/>
              </p:nvCxnSpPr>
              <p:spPr>
                <a:xfrm>
                  <a:off x="7245800" y="4949566"/>
                  <a:ext cx="520361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arrow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Straight Arrow Connector 39"/>
              <p:cNvCxnSpPr/>
              <p:nvPr/>
            </p:nvCxnSpPr>
            <p:spPr>
              <a:xfrm flipH="1">
                <a:off x="5803900" y="4939079"/>
                <a:ext cx="12237" cy="101722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headEnd type="arrow" w="lg" len="lg"/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526205" y="4497872"/>
                  <a:ext cx="24795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6205" y="4497872"/>
                  <a:ext cx="247952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314774" y="5506677"/>
                  <a:ext cx="2423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4774" y="5506677"/>
                  <a:ext cx="24237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0000" r="-275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5484184" y="5263110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4184" y="5263110"/>
                  <a:ext cx="245708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30000" r="-30000" b="-65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92CB71-8C24-4AF3-B5AB-60A0E1AF20B6}"/>
              </a:ext>
            </a:extLst>
          </p:cNvPr>
          <p:cNvSpPr txBox="1"/>
          <p:nvPr/>
        </p:nvSpPr>
        <p:spPr>
          <a:xfrm>
            <a:off x="7972148" y="2432482"/>
            <a:ext cx="3142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This is on our notes page!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9633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6608"/>
            <a:ext cx="8229600" cy="1143000"/>
          </a:xfrm>
        </p:spPr>
        <p:txBody>
          <a:bodyPr>
            <a:noAutofit/>
          </a:bodyPr>
          <a:lstStyle/>
          <a:p>
            <a:r>
              <a:rPr lang="en-GB" b="1">
                <a:latin typeface="+mn-lt"/>
              </a:rPr>
              <a:t>Area </a:t>
            </a:r>
            <a:r>
              <a:rPr lang="en-GB" b="1" dirty="0">
                <a:latin typeface="+mn-lt"/>
              </a:rPr>
              <a:t>of </a:t>
            </a:r>
            <a:r>
              <a:rPr lang="en-GB" b="1">
                <a:latin typeface="+mn-lt"/>
              </a:rPr>
              <a:t>a trapezium - example</a:t>
            </a:r>
            <a:endParaRPr lang="en-GB" b="1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76000" y="1269000"/>
            <a:ext cx="86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Find the area of the trapezium below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56000" y="1816930"/>
            <a:ext cx="55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Identify perpendicular heights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524000" y="1792220"/>
            <a:ext cx="2596836" cy="2842604"/>
            <a:chOff x="-162274" y="1771875"/>
            <a:chExt cx="2596836" cy="2842604"/>
          </a:xfrm>
        </p:grpSpPr>
        <p:grpSp>
          <p:nvGrpSpPr>
            <p:cNvPr id="10" name="Group 9"/>
            <p:cNvGrpSpPr/>
            <p:nvPr/>
          </p:nvGrpSpPr>
          <p:grpSpPr>
            <a:xfrm>
              <a:off x="383825" y="1870214"/>
              <a:ext cx="1384406" cy="2400745"/>
              <a:chOff x="383825" y="1870214"/>
              <a:chExt cx="1384406" cy="2400745"/>
            </a:xfrm>
          </p:grpSpPr>
          <p:sp>
            <p:nvSpPr>
              <p:cNvPr id="4" name="Freeform: Shape 3"/>
              <p:cNvSpPr/>
              <p:nvPr/>
            </p:nvSpPr>
            <p:spPr>
              <a:xfrm rot="15809541">
                <a:off x="-161377" y="2415416"/>
                <a:ext cx="2400745" cy="1310342"/>
              </a:xfrm>
              <a:custGeom>
                <a:avLst/>
                <a:gdLst>
                  <a:gd name="connsiteX0" fmla="*/ 2809461 w 2809461"/>
                  <a:gd name="connsiteY0" fmla="*/ 0 h 1855305"/>
                  <a:gd name="connsiteX1" fmla="*/ 1086678 w 2809461"/>
                  <a:gd name="connsiteY1" fmla="*/ 1842052 h 1855305"/>
                  <a:gd name="connsiteX2" fmla="*/ 357809 w 2809461"/>
                  <a:gd name="connsiteY2" fmla="*/ 1855305 h 1855305"/>
                  <a:gd name="connsiteX3" fmla="*/ 0 w 2809461"/>
                  <a:gd name="connsiteY3" fmla="*/ 39757 h 1855305"/>
                  <a:gd name="connsiteX4" fmla="*/ 2809461 w 2809461"/>
                  <a:gd name="connsiteY4" fmla="*/ 0 h 1855305"/>
                  <a:gd name="connsiteX0" fmla="*/ 2809461 w 2809461"/>
                  <a:gd name="connsiteY0" fmla="*/ 0 h 1842052"/>
                  <a:gd name="connsiteX1" fmla="*/ 1086678 w 2809461"/>
                  <a:gd name="connsiteY1" fmla="*/ 1842052 h 1842052"/>
                  <a:gd name="connsiteX2" fmla="*/ 367334 w 2809461"/>
                  <a:gd name="connsiteY2" fmla="*/ 1836255 h 1842052"/>
                  <a:gd name="connsiteX3" fmla="*/ 0 w 2809461"/>
                  <a:gd name="connsiteY3" fmla="*/ 39757 h 1842052"/>
                  <a:gd name="connsiteX4" fmla="*/ 2809461 w 2809461"/>
                  <a:gd name="connsiteY4" fmla="*/ 0 h 1842052"/>
                  <a:gd name="connsiteX0" fmla="*/ 2804698 w 2804698"/>
                  <a:gd name="connsiteY0" fmla="*/ 0 h 1842052"/>
                  <a:gd name="connsiteX1" fmla="*/ 1081915 w 2804698"/>
                  <a:gd name="connsiteY1" fmla="*/ 1842052 h 1842052"/>
                  <a:gd name="connsiteX2" fmla="*/ 362571 w 2804698"/>
                  <a:gd name="connsiteY2" fmla="*/ 1836255 h 1842052"/>
                  <a:gd name="connsiteX3" fmla="*/ 0 w 2804698"/>
                  <a:gd name="connsiteY3" fmla="*/ 34994 h 1842052"/>
                  <a:gd name="connsiteX4" fmla="*/ 2804698 w 2804698"/>
                  <a:gd name="connsiteY4" fmla="*/ 0 h 1842052"/>
                  <a:gd name="connsiteX0" fmla="*/ 2785648 w 2785648"/>
                  <a:gd name="connsiteY0" fmla="*/ 0 h 1837289"/>
                  <a:gd name="connsiteX1" fmla="*/ 1081915 w 2785648"/>
                  <a:gd name="connsiteY1" fmla="*/ 1837289 h 1837289"/>
                  <a:gd name="connsiteX2" fmla="*/ 362571 w 2785648"/>
                  <a:gd name="connsiteY2" fmla="*/ 1831492 h 1837289"/>
                  <a:gd name="connsiteX3" fmla="*/ 0 w 2785648"/>
                  <a:gd name="connsiteY3" fmla="*/ 30231 h 1837289"/>
                  <a:gd name="connsiteX4" fmla="*/ 2785648 w 2785648"/>
                  <a:gd name="connsiteY4" fmla="*/ 0 h 1837289"/>
                  <a:gd name="connsiteX0" fmla="*/ 2795173 w 2795173"/>
                  <a:gd name="connsiteY0" fmla="*/ 0 h 1837289"/>
                  <a:gd name="connsiteX1" fmla="*/ 1091440 w 2795173"/>
                  <a:gd name="connsiteY1" fmla="*/ 1837289 h 1837289"/>
                  <a:gd name="connsiteX2" fmla="*/ 372096 w 2795173"/>
                  <a:gd name="connsiteY2" fmla="*/ 1831492 h 1837289"/>
                  <a:gd name="connsiteX3" fmla="*/ 0 w 2795173"/>
                  <a:gd name="connsiteY3" fmla="*/ 30231 h 1837289"/>
                  <a:gd name="connsiteX4" fmla="*/ 2795173 w 2795173"/>
                  <a:gd name="connsiteY4" fmla="*/ 0 h 1837289"/>
                  <a:gd name="connsiteX0" fmla="*/ 2776123 w 2776123"/>
                  <a:gd name="connsiteY0" fmla="*/ 0 h 1837289"/>
                  <a:gd name="connsiteX1" fmla="*/ 1072390 w 2776123"/>
                  <a:gd name="connsiteY1" fmla="*/ 1837289 h 1837289"/>
                  <a:gd name="connsiteX2" fmla="*/ 353046 w 2776123"/>
                  <a:gd name="connsiteY2" fmla="*/ 1831492 h 1837289"/>
                  <a:gd name="connsiteX3" fmla="*/ 0 w 2776123"/>
                  <a:gd name="connsiteY3" fmla="*/ 30231 h 1837289"/>
                  <a:gd name="connsiteX4" fmla="*/ 2776123 w 2776123"/>
                  <a:gd name="connsiteY4" fmla="*/ 0 h 1837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6123" h="1837289">
                    <a:moveTo>
                      <a:pt x="2776123" y="0"/>
                    </a:moveTo>
                    <a:lnTo>
                      <a:pt x="1072390" y="1837289"/>
                    </a:lnTo>
                    <a:lnTo>
                      <a:pt x="353046" y="1831492"/>
                    </a:lnTo>
                    <a:lnTo>
                      <a:pt x="0" y="30231"/>
                    </a:lnTo>
                    <a:lnTo>
                      <a:pt x="2776123" y="0"/>
                    </a:ln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 flipH="1" flipV="1">
                <a:off x="1730410" y="3416162"/>
                <a:ext cx="37821" cy="3556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 flipH="1" flipV="1">
                <a:off x="393204" y="3054313"/>
                <a:ext cx="37821" cy="3556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/>
            <p:nvPr/>
          </p:nvCxnSpPr>
          <p:spPr>
            <a:xfrm>
              <a:off x="366301" y="1771875"/>
              <a:ext cx="1468883" cy="1315358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593138" y="4067074"/>
              <a:ext cx="1241768" cy="44893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457928" y="3448872"/>
              <a:ext cx="1272482" cy="22911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-162274" y="3132951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2274" y="3132951"/>
                  <a:ext cx="48487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0000" r="-1000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1949686" y="3336030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9686" y="3336030"/>
                  <a:ext cx="4848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00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1038995" y="2042806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995" y="2042806"/>
                  <a:ext cx="61311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921" r="-8911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1136203" y="4337480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6203" y="4337480"/>
                  <a:ext cx="48487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000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838279" y="3219139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79" y="3219139"/>
                  <a:ext cx="48487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0000" r="-625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1938275" y="1972549"/>
            <a:ext cx="1535280" cy="2382833"/>
            <a:chOff x="414275" y="1972548"/>
            <a:chExt cx="1535280" cy="2382833"/>
          </a:xfrm>
        </p:grpSpPr>
        <p:cxnSp>
          <p:nvCxnSpPr>
            <p:cNvPr id="75" name="Straight Arrow Connector 74"/>
            <p:cNvCxnSpPr/>
            <p:nvPr/>
          </p:nvCxnSpPr>
          <p:spPr>
            <a:xfrm flipV="1">
              <a:off x="633000" y="3467100"/>
              <a:ext cx="1272482" cy="229116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4" idx="3"/>
              <a:endCxn id="4" idx="0"/>
            </p:cNvCxnSpPr>
            <p:nvPr/>
          </p:nvCxnSpPr>
          <p:spPr>
            <a:xfrm flipH="1" flipV="1">
              <a:off x="414275" y="1972548"/>
              <a:ext cx="293512" cy="2382833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4" idx="2"/>
              <a:endCxn id="4" idx="1"/>
            </p:cNvCxnSpPr>
            <p:nvPr/>
          </p:nvCxnSpPr>
          <p:spPr>
            <a:xfrm flipH="1" flipV="1">
              <a:off x="1883158" y="3287906"/>
              <a:ext cx="66397" cy="618538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4656000" y="2366060"/>
            <a:ext cx="554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Substitute in</a:t>
            </a:r>
          </a:p>
          <a:p>
            <a:pPr/>
            <a:endParaRPr lang="en-GB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96655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566975" y="1345200"/>
            <a:ext cx="86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Find the area of the trapezium below.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00552" y="1832319"/>
            <a:ext cx="55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Identify perpendicular heights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744894" y="2078541"/>
            <a:ext cx="3476306" cy="1964361"/>
            <a:chOff x="2112960" y="3031858"/>
            <a:chExt cx="3476306" cy="1964361"/>
          </a:xfrm>
        </p:grpSpPr>
        <p:sp>
          <p:nvSpPr>
            <p:cNvPr id="4" name="Freeform: Shape 3"/>
            <p:cNvSpPr/>
            <p:nvPr/>
          </p:nvSpPr>
          <p:spPr>
            <a:xfrm rot="10800000">
              <a:off x="2345611" y="3365955"/>
              <a:ext cx="2647721" cy="1310342"/>
            </a:xfrm>
            <a:custGeom>
              <a:avLst/>
              <a:gdLst>
                <a:gd name="connsiteX0" fmla="*/ 2809461 w 2809461"/>
                <a:gd name="connsiteY0" fmla="*/ 0 h 1855305"/>
                <a:gd name="connsiteX1" fmla="*/ 1086678 w 2809461"/>
                <a:gd name="connsiteY1" fmla="*/ 1842052 h 1855305"/>
                <a:gd name="connsiteX2" fmla="*/ 357809 w 2809461"/>
                <a:gd name="connsiteY2" fmla="*/ 1855305 h 1855305"/>
                <a:gd name="connsiteX3" fmla="*/ 0 w 2809461"/>
                <a:gd name="connsiteY3" fmla="*/ 39757 h 1855305"/>
                <a:gd name="connsiteX4" fmla="*/ 2809461 w 2809461"/>
                <a:gd name="connsiteY4" fmla="*/ 0 h 1855305"/>
                <a:gd name="connsiteX0" fmla="*/ 2809461 w 2809461"/>
                <a:gd name="connsiteY0" fmla="*/ 0 h 1842052"/>
                <a:gd name="connsiteX1" fmla="*/ 1086678 w 2809461"/>
                <a:gd name="connsiteY1" fmla="*/ 1842052 h 1842052"/>
                <a:gd name="connsiteX2" fmla="*/ 367334 w 2809461"/>
                <a:gd name="connsiteY2" fmla="*/ 1836255 h 1842052"/>
                <a:gd name="connsiteX3" fmla="*/ 0 w 2809461"/>
                <a:gd name="connsiteY3" fmla="*/ 39757 h 1842052"/>
                <a:gd name="connsiteX4" fmla="*/ 2809461 w 2809461"/>
                <a:gd name="connsiteY4" fmla="*/ 0 h 1842052"/>
                <a:gd name="connsiteX0" fmla="*/ 2804698 w 2804698"/>
                <a:gd name="connsiteY0" fmla="*/ 0 h 1842052"/>
                <a:gd name="connsiteX1" fmla="*/ 1081915 w 2804698"/>
                <a:gd name="connsiteY1" fmla="*/ 1842052 h 1842052"/>
                <a:gd name="connsiteX2" fmla="*/ 362571 w 2804698"/>
                <a:gd name="connsiteY2" fmla="*/ 1836255 h 1842052"/>
                <a:gd name="connsiteX3" fmla="*/ 0 w 2804698"/>
                <a:gd name="connsiteY3" fmla="*/ 34994 h 1842052"/>
                <a:gd name="connsiteX4" fmla="*/ 2804698 w 2804698"/>
                <a:gd name="connsiteY4" fmla="*/ 0 h 1842052"/>
                <a:gd name="connsiteX0" fmla="*/ 2785648 w 2785648"/>
                <a:gd name="connsiteY0" fmla="*/ 0 h 1837289"/>
                <a:gd name="connsiteX1" fmla="*/ 1081915 w 2785648"/>
                <a:gd name="connsiteY1" fmla="*/ 1837289 h 1837289"/>
                <a:gd name="connsiteX2" fmla="*/ 362571 w 2785648"/>
                <a:gd name="connsiteY2" fmla="*/ 1831492 h 1837289"/>
                <a:gd name="connsiteX3" fmla="*/ 0 w 2785648"/>
                <a:gd name="connsiteY3" fmla="*/ 30231 h 1837289"/>
                <a:gd name="connsiteX4" fmla="*/ 2785648 w 2785648"/>
                <a:gd name="connsiteY4" fmla="*/ 0 h 1837289"/>
                <a:gd name="connsiteX0" fmla="*/ 2795173 w 2795173"/>
                <a:gd name="connsiteY0" fmla="*/ 0 h 1837289"/>
                <a:gd name="connsiteX1" fmla="*/ 1091440 w 2795173"/>
                <a:gd name="connsiteY1" fmla="*/ 1837289 h 1837289"/>
                <a:gd name="connsiteX2" fmla="*/ 372096 w 2795173"/>
                <a:gd name="connsiteY2" fmla="*/ 1831492 h 1837289"/>
                <a:gd name="connsiteX3" fmla="*/ 0 w 2795173"/>
                <a:gd name="connsiteY3" fmla="*/ 30231 h 1837289"/>
                <a:gd name="connsiteX4" fmla="*/ 2795173 w 2795173"/>
                <a:gd name="connsiteY4" fmla="*/ 0 h 1837289"/>
                <a:gd name="connsiteX0" fmla="*/ 2776123 w 2776123"/>
                <a:gd name="connsiteY0" fmla="*/ 0 h 1837289"/>
                <a:gd name="connsiteX1" fmla="*/ 1072390 w 2776123"/>
                <a:gd name="connsiteY1" fmla="*/ 1837289 h 1837289"/>
                <a:gd name="connsiteX2" fmla="*/ 353046 w 2776123"/>
                <a:gd name="connsiteY2" fmla="*/ 1831492 h 1837289"/>
                <a:gd name="connsiteX3" fmla="*/ 0 w 2776123"/>
                <a:gd name="connsiteY3" fmla="*/ 30231 h 1837289"/>
                <a:gd name="connsiteX4" fmla="*/ 2776123 w 2776123"/>
                <a:gd name="connsiteY4" fmla="*/ 0 h 1837289"/>
                <a:gd name="connsiteX0" fmla="*/ 3061716 w 3061716"/>
                <a:gd name="connsiteY0" fmla="*/ 0 h 1837289"/>
                <a:gd name="connsiteX1" fmla="*/ 1357983 w 3061716"/>
                <a:gd name="connsiteY1" fmla="*/ 1837289 h 1837289"/>
                <a:gd name="connsiteX2" fmla="*/ 0 w 3061716"/>
                <a:gd name="connsiteY2" fmla="*/ 1829484 h 1837289"/>
                <a:gd name="connsiteX3" fmla="*/ 285593 w 3061716"/>
                <a:gd name="connsiteY3" fmla="*/ 30231 h 1837289"/>
                <a:gd name="connsiteX4" fmla="*/ 3061716 w 3061716"/>
                <a:gd name="connsiteY4" fmla="*/ 0 h 1837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1716" h="1837289">
                  <a:moveTo>
                    <a:pt x="3061716" y="0"/>
                  </a:moveTo>
                  <a:lnTo>
                    <a:pt x="1357983" y="1837289"/>
                  </a:lnTo>
                  <a:lnTo>
                    <a:pt x="0" y="1829484"/>
                  </a:lnTo>
                  <a:lnTo>
                    <a:pt x="285593" y="30231"/>
                  </a:lnTo>
                  <a:lnTo>
                    <a:pt x="3061716" y="0"/>
                  </a:lnTo>
                  <a:close/>
                </a:path>
              </a:pathLst>
            </a:custGeom>
            <a:solidFill>
              <a:schemeClr val="bg1"/>
            </a:solidFill>
            <a:ln w="38100" cap="flat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3631991" y="4654736"/>
              <a:ext cx="882001" cy="107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 flipV="1">
              <a:off x="4403188" y="3365955"/>
              <a:ext cx="517906" cy="191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112960" y="3289755"/>
              <a:ext cx="1473360" cy="131034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4923104" y="3377984"/>
              <a:ext cx="246976" cy="129831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4162425" y="3351780"/>
              <a:ext cx="8113" cy="131547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104390" y="3882626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4390" y="3882626"/>
                  <a:ext cx="4848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1392" r="-11392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4195232" y="3031858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5232" y="3031858"/>
                  <a:ext cx="4848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1392" r="-7595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299939" y="3680136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9939" y="3680136"/>
                  <a:ext cx="61311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9000" r="-9000" b="-65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3362912" y="4719220"/>
                  <a:ext cx="61311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2912" y="4719220"/>
                  <a:ext cx="61311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921" r="-49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3556092" y="3882626"/>
                  <a:ext cx="4848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092" y="3882626"/>
                  <a:ext cx="484876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1250" r="-6250"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1977243" y="2399483"/>
            <a:ext cx="2647721" cy="1323497"/>
            <a:chOff x="2345611" y="3352800"/>
            <a:chExt cx="2647721" cy="1323497"/>
          </a:xfrm>
        </p:grpSpPr>
        <p:cxnSp>
          <p:nvCxnSpPr>
            <p:cNvPr id="76" name="Straight Arrow Connector 75"/>
            <p:cNvCxnSpPr>
              <a:stCxn id="4" idx="3"/>
              <a:endCxn id="4" idx="0"/>
            </p:cNvCxnSpPr>
            <p:nvPr/>
          </p:nvCxnSpPr>
          <p:spPr>
            <a:xfrm flipH="1">
              <a:off x="2345611" y="4654736"/>
              <a:ext cx="2400745" cy="21561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stCxn id="4" idx="2"/>
              <a:endCxn id="4" idx="1"/>
            </p:cNvCxnSpPr>
            <p:nvPr/>
          </p:nvCxnSpPr>
          <p:spPr>
            <a:xfrm flipH="1" flipV="1">
              <a:off x="3818971" y="3365955"/>
              <a:ext cx="1174361" cy="5566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4162425" y="3352800"/>
              <a:ext cx="8113" cy="1315470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524000" y="-6608"/>
            <a:ext cx="8229600" cy="1143000"/>
          </a:xfrm>
        </p:spPr>
        <p:txBody>
          <a:bodyPr>
            <a:noAutofit/>
          </a:bodyPr>
          <a:lstStyle/>
          <a:p>
            <a:r>
              <a:rPr lang="en-GB" b="1" dirty="0">
                <a:latin typeface="+mn-lt"/>
              </a:rPr>
              <a:t>Area of a trapezium - practice</a:t>
            </a:r>
          </a:p>
        </p:txBody>
      </p:sp>
    </p:spTree>
    <p:extLst>
      <p:ext uri="{BB962C8B-B14F-4D97-AF65-F5344CB8AC3E}">
        <p14:creationId xmlns:p14="http://schemas.microsoft.com/office/powerpoint/2010/main" val="3918358489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5B93-96C8-4729-8B83-C280F983C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task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70BD-0AEE-4A31-8B1E-E59A324F4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Area of trapeziums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082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315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Key features </vt:lpstr>
      <vt:lpstr>Circles refresh </vt:lpstr>
      <vt:lpstr>Perimeter</vt:lpstr>
      <vt:lpstr>PowerPoint Presentation</vt:lpstr>
      <vt:lpstr>Base and height are always perpendicular to each other</vt:lpstr>
      <vt:lpstr>Area of Triangles</vt:lpstr>
      <vt:lpstr>Area of a trapezium</vt:lpstr>
      <vt:lpstr>Area of a trapezium - example</vt:lpstr>
      <vt:lpstr>Area of a trapezium - practice</vt:lpstr>
      <vt:lpstr>Practice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dcterms:created xsi:type="dcterms:W3CDTF">2022-05-08T12:34:12Z</dcterms:created>
  <dcterms:modified xsi:type="dcterms:W3CDTF">2022-05-09T05:47:11Z</dcterms:modified>
</cp:coreProperties>
</file>
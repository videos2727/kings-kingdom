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322" r:id="rId4"/>
    <p:sldId id="317" r:id="rId5"/>
    <p:sldId id="320" r:id="rId6"/>
    <p:sldId id="321" r:id="rId7"/>
    <p:sldId id="261" r:id="rId8"/>
    <p:sldId id="270" r:id="rId9"/>
    <p:sldId id="257" r:id="rId10"/>
    <p:sldId id="318" r:id="rId11"/>
    <p:sldId id="258" r:id="rId12"/>
    <p:sldId id="319" r:id="rId13"/>
    <p:sldId id="32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0919B-C4FF-4E6A-8519-03F9600AD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1D6B6D-DF56-48D6-8215-E91B867C7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80FB0-BB1F-4F7B-9622-9C1CF215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437A-0F56-402D-B48E-00795860567F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778C9-DFBB-43FD-B545-0482AAA4C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41960-9CAA-4ECE-8969-6948C2FCF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915E-921F-46B1-8B57-706EA213EE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7605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87CAB-E627-45C8-906F-C6068A20F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CAF4C-BE88-4171-AA9D-2287D0AA1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1F04B-BED6-4A66-A120-181D60776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437A-0F56-402D-B48E-00795860567F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13A9A-7139-4C79-9890-5C04FC81F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2A9AE-9876-4035-AA91-80391B0C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915E-921F-46B1-8B57-706EA213EE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465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F374B-8ED4-401A-9B7E-9006FC52D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865B4-9A5A-4398-BBF7-1EFF8DAA8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4CFD1-1418-446F-AEE3-275E5601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437A-0F56-402D-B48E-00795860567F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2677C-58C1-435A-B8D7-74EB24B0B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FD8EC-9BDB-4616-A73A-769977628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915E-921F-46B1-8B57-706EA213EE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265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F821F-CD0F-4C8B-B39D-36550C7EB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4C083-4CBA-4A58-ACEE-3C45149972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98282-9243-40D2-9042-394BD1DCA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25215-329A-41C4-B7CB-0AC2A76A4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437A-0F56-402D-B48E-00795860567F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4C9BB-E274-49DE-A6FB-27C5668F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D63D5-9509-400A-A0D9-6D1D05CC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915E-921F-46B1-8B57-706EA213EE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5994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1C077-1A05-4B77-B29D-32FD31B47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9A64F-B616-433E-89AD-9D9844DA7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2DD93-2FC8-4166-AA05-78A538EB5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FA4C9B-8B17-402A-A150-7FDA61847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09B02-D215-42E9-83E6-F96C8C7E6C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AEE149-7B34-459A-98E1-4C7D80611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437A-0F56-402D-B48E-00795860567F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9886FC-61D7-42C1-9C6C-D381B77D6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987D3A-3570-4309-8D51-B3979EB0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915E-921F-46B1-8B57-706EA213EE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948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59372-57E6-4F41-88F1-7B4E39C8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B2778-6F0A-4059-8BD1-E1998CDA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437A-0F56-402D-B48E-00795860567F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D943B-D0E2-4536-BFEF-E4A11F7F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3E9C52-5357-4C11-ACDE-3A988992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915E-921F-46B1-8B57-706EA213EE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4569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44CC7-D65C-4E5A-8DF0-C7B4998E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437A-0F56-402D-B48E-00795860567F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54BC8-4CF0-4F9B-B845-7C1C77A68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C5A5C-13E8-4722-84A2-6EA943FD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915E-921F-46B1-8B57-706EA213EE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571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65044-6083-47A2-87EA-4CB5DE83E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62EFE-16B7-431F-9B95-151070DA2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D9D1B-E693-48F8-92EC-53A1C065F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8AC31-CCCF-46E9-83C6-25A4E7045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437A-0F56-402D-B48E-00795860567F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E7D1C-A9AB-41B3-956A-1D310AE4E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0F3A6-85E2-4B55-AEA1-149929D44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915E-921F-46B1-8B57-706EA213EE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2545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EE91-63FE-400C-813D-527A9EFA9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A82B75-AA26-4851-9BFF-9D83EC98E5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06D65-4999-4E0F-A190-22F9CF6FB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036C8-4501-4D9D-B92D-26B53CF5F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437A-0F56-402D-B48E-00795860567F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8A4F2-0D30-4079-ADE5-725BAD2E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CE144-2BEA-48A9-BA6B-79B4B4D4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915E-921F-46B1-8B57-706EA213EE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601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F8E7E-19FC-4799-8021-885EEDC3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3C12B-9F16-486F-8F8C-4FDB43D63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2432B-8A74-4C6C-B505-DA64D5E7B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437A-0F56-402D-B48E-00795860567F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B5BA4-A183-4402-BFAA-A198A22AA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4D308-6EC3-47FD-BDFB-FE32AF54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915E-921F-46B1-8B57-706EA213EE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5455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1B0EF3-7043-4F67-941B-DDD3932B0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DADE34-4AF9-4DD2-980E-8D08B1688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AB390-1963-4103-8DD7-47813E3D0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437A-0F56-402D-B48E-00795860567F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162FA-74AF-45B1-8EE1-95CF3B56B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8E5F6-9566-4BDD-9A46-AD0F1439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915E-921F-46B1-8B57-706EA213EE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198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FAD8F7-3973-4775-9FCA-46DE9055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3198E-EEAB-4B9C-B686-4C68B7B8C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3B855-9AF5-48E3-BB24-0FE80A487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437A-0F56-402D-B48E-00795860567F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985ED-AD16-4703-8643-16ECB627A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F9ED9-2BE4-42C9-BC0E-EE2FC1776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9915E-921F-46B1-8B57-706EA213EE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557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CF77D3-EE52-4984-95AF-81150382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2ACD23-7FEB-42D4-8D37-545D1410F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007"/>
            <a:ext cx="10515600" cy="49569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sz="3500" dirty="0">
                <a:solidFill>
                  <a:srgbClr val="00B0F0"/>
                </a:solidFill>
              </a:rPr>
              <a:t>Perimeter and area </a:t>
            </a:r>
          </a:p>
          <a:p>
            <a:pPr marL="0" indent="0">
              <a:buNone/>
            </a:pPr>
            <a:endParaRPr lang="en-US" sz="35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3500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3500" dirty="0">
                <a:solidFill>
                  <a:srgbClr val="00B0F0"/>
                </a:solidFill>
              </a:rPr>
              <a:t> TBAT calculate the perimeter and area of a composite shape.</a:t>
            </a:r>
          </a:p>
          <a:p>
            <a:pPr marL="0" indent="0">
              <a:buNone/>
            </a:pPr>
            <a:r>
              <a:rPr lang="en-AU" sz="3500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sz="3500" dirty="0">
                <a:solidFill>
                  <a:srgbClr val="00B0F0"/>
                </a:solidFill>
              </a:rPr>
              <a:t>Unit conversions </a:t>
            </a:r>
          </a:p>
          <a:p>
            <a:pPr>
              <a:buFontTx/>
              <a:buChar char="-"/>
            </a:pPr>
            <a:r>
              <a:rPr lang="en-AU" sz="3500" dirty="0">
                <a:solidFill>
                  <a:srgbClr val="00B0F0"/>
                </a:solidFill>
              </a:rPr>
              <a:t>Review perimeter and area </a:t>
            </a:r>
          </a:p>
          <a:p>
            <a:pPr>
              <a:buFontTx/>
              <a:buChar char="-"/>
            </a:pPr>
            <a:r>
              <a:rPr lang="en-AU" sz="3500" dirty="0">
                <a:solidFill>
                  <a:srgbClr val="00B0F0"/>
                </a:solidFill>
              </a:rPr>
              <a:t>Area and Perimeter of composite shapes</a:t>
            </a:r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07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F450C3-366A-4EC4-940D-DC24A7126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49" y="562450"/>
            <a:ext cx="8029128" cy="59441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0E1F3B-A357-4F6D-AB62-47190E75FFCA}"/>
              </a:ext>
            </a:extLst>
          </p:cNvPr>
          <p:cNvSpPr/>
          <p:nvPr/>
        </p:nvSpPr>
        <p:spPr>
          <a:xfrm>
            <a:off x="5069901" y="5240215"/>
            <a:ext cx="2996418" cy="1266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256875-B8E7-4129-8F71-8A9446D51FA3}"/>
              </a:ext>
            </a:extLst>
          </p:cNvPr>
          <p:cNvSpPr txBox="1"/>
          <p:nvPr/>
        </p:nvSpPr>
        <p:spPr>
          <a:xfrm>
            <a:off x="8291745" y="2281561"/>
            <a:ext cx="375525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45cm  = ______mm</a:t>
            </a:r>
          </a:p>
          <a:p>
            <a:endParaRPr lang="en-US" sz="2800" dirty="0"/>
          </a:p>
          <a:p>
            <a:r>
              <a:rPr lang="en-US" sz="2800" dirty="0"/>
              <a:t>20 000m = ______km</a:t>
            </a:r>
          </a:p>
          <a:p>
            <a:endParaRPr lang="en-US" sz="2800" dirty="0"/>
          </a:p>
          <a:p>
            <a:r>
              <a:rPr lang="en-US" sz="2800" dirty="0"/>
              <a:t>2m = ______mm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19724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Convert these to metres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87314" y="1390936"/>
            <a:ext cx="2144653" cy="4609815"/>
          </a:xfrm>
          <a:prstGeom prst="roundRect">
            <a:avLst/>
          </a:prstGeom>
          <a:ln w="762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AU" sz="7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96601" y="1390936"/>
            <a:ext cx="1998803" cy="4609814"/>
          </a:xfrm>
          <a:prstGeom prst="roundRect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AU" sz="7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82963" y="1390937"/>
            <a:ext cx="1998803" cy="4576347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AU" sz="7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85857" y="889569"/>
            <a:ext cx="487634" cy="248209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pPr defTabSz="457200"/>
            <a:r>
              <a:rPr lang="en-AU" sz="1013" dirty="0">
                <a:solidFill>
                  <a:srgbClr val="FFFF00"/>
                </a:solidFill>
                <a:latin typeface="Calibri"/>
              </a:rPr>
              <a:t>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261" y="1789411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7030A0"/>
                </a:solidFill>
                <a:latin typeface="Calibri"/>
              </a:rPr>
              <a:t>= 73m</a:t>
            </a:r>
            <a:endParaRPr lang="en-AU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00515" y="179647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/>
              </a:rPr>
              <a:t>300cm</a:t>
            </a:r>
            <a:endParaRPr lang="en-AU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27745" y="174468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7030A0"/>
                </a:solidFill>
                <a:latin typeface="Calibri"/>
              </a:rPr>
              <a:t>= 3m</a:t>
            </a:r>
            <a:endParaRPr lang="en-AU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10275" y="248494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/>
              </a:rPr>
              <a:t>700cm</a:t>
            </a:r>
            <a:endParaRPr lang="en-AU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99940" y="2509741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7030A0"/>
                </a:solidFill>
                <a:latin typeface="Calibri"/>
              </a:rPr>
              <a:t>= 7m</a:t>
            </a:r>
            <a:endParaRPr lang="en-AU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8116" y="343010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/>
              </a:rPr>
              <a:t>800cm</a:t>
            </a:r>
            <a:endParaRPr lang="en-AU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85346" y="3378312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7030A0"/>
                </a:solidFill>
                <a:latin typeface="Calibri"/>
              </a:rPr>
              <a:t>= 8m</a:t>
            </a:r>
            <a:endParaRPr lang="en-AU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22892" y="4349795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7030A0"/>
                </a:solidFill>
                <a:latin typeface="Calibri"/>
              </a:rPr>
              <a:t>= 2.5m</a:t>
            </a:r>
            <a:endParaRPr lang="en-AU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51127" y="1744688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/>
              </a:rPr>
              <a:t>0.6km</a:t>
            </a:r>
            <a:endParaRPr lang="en-AU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29171" y="1744688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7030A0"/>
                </a:solidFill>
                <a:latin typeface="Calibri"/>
              </a:rPr>
              <a:t>= 600m</a:t>
            </a:r>
            <a:endParaRPr lang="en-AU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04443" y="2487012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/>
              </a:rPr>
              <a:t>0.33km</a:t>
            </a:r>
            <a:endParaRPr lang="en-AU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86776" y="2488648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7030A0"/>
                </a:solidFill>
                <a:latin typeface="Calibri"/>
              </a:rPr>
              <a:t>= 330m</a:t>
            </a:r>
            <a:endParaRPr lang="en-AU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01026" y="337836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/>
              </a:rPr>
              <a:t>153cm</a:t>
            </a:r>
            <a:endParaRPr lang="en-AU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33490" y="3416737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7030A0"/>
                </a:solidFill>
                <a:latin typeface="Calibri"/>
              </a:rPr>
              <a:t>= 1.53m</a:t>
            </a:r>
            <a:endParaRPr lang="en-AU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40739" y="5275701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7030A0"/>
                </a:solidFill>
                <a:latin typeface="Calibri"/>
              </a:rPr>
              <a:t>= 1.8m</a:t>
            </a:r>
            <a:endParaRPr lang="en-AU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19064" y="4341281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7030A0"/>
                </a:solidFill>
                <a:latin typeface="Calibri"/>
              </a:rPr>
              <a:t>= 1m</a:t>
            </a:r>
            <a:endParaRPr lang="en-AU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19348" y="5226872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7030A0"/>
                </a:solidFill>
                <a:latin typeface="Calibri"/>
              </a:rPr>
              <a:t>= 2.2m</a:t>
            </a:r>
            <a:endParaRPr lang="en-AU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36204" y="1818146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/>
              </a:rPr>
              <a:t>0.073km</a:t>
            </a:r>
            <a:endParaRPr lang="en-AU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36094" y="250974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/>
              </a:rPr>
              <a:t>654cm</a:t>
            </a:r>
            <a:endParaRPr lang="en-AU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48170" y="252024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7030A0"/>
                </a:solidFill>
                <a:latin typeface="Calibri"/>
              </a:rPr>
              <a:t>= 6.54m</a:t>
            </a:r>
            <a:endParaRPr lang="en-AU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60364" y="338368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7030A0"/>
                </a:solidFill>
                <a:latin typeface="Calibri"/>
              </a:rPr>
              <a:t>= 3.25m</a:t>
            </a:r>
            <a:endParaRPr lang="en-AU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30908" y="4377944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7030A0"/>
                </a:solidFill>
                <a:latin typeface="Calibri"/>
              </a:rPr>
              <a:t>= 2040m</a:t>
            </a:r>
            <a:endParaRPr lang="en-AU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989612" y="5261873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/>
              </a:rPr>
              <a:t>180cm</a:t>
            </a:r>
            <a:endParaRPr lang="en-AU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958116" y="434979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/>
              </a:rPr>
              <a:t>250cm</a:t>
            </a:r>
            <a:endParaRPr lang="en-AU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199435" y="4339645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/>
              </a:rPr>
              <a:t>1000mm</a:t>
            </a:r>
            <a:endParaRPr lang="en-AU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235313" y="5267562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/>
              </a:rPr>
              <a:t>2200mm</a:t>
            </a:r>
            <a:endParaRPr lang="en-AU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432464" y="335643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/>
              </a:rPr>
              <a:t>3250mm</a:t>
            </a:r>
            <a:endParaRPr lang="en-AU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525651" y="4394974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/>
              </a:rPr>
              <a:t>2.04km</a:t>
            </a:r>
            <a:endParaRPr lang="en-AU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64847" y="5172431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/>
              </a:rPr>
              <a:t>50300mm</a:t>
            </a:r>
            <a:endParaRPr lang="en-AU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75505" y="5414820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7030A0"/>
                </a:solidFill>
                <a:latin typeface="Calibri"/>
              </a:rPr>
              <a:t>= 50.3m</a:t>
            </a:r>
            <a:endParaRPr lang="en-AU" baseline="30000" dirty="0">
              <a:solidFill>
                <a:srgbClr val="7030A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1181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6" grpId="0"/>
      <p:bldP spid="28" grpId="0"/>
      <p:bldP spid="30" grpId="0"/>
      <p:bldP spid="31" grpId="0"/>
      <p:bldP spid="32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en-GB" b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284984"/>
            <a:ext cx="8229600" cy="72008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The rectangle has a perimeter of: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9888" y="1236902"/>
            <a:ext cx="580008" cy="593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6884144" y="1236902"/>
            <a:ext cx="580008" cy="593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6308080" y="1236902"/>
            <a:ext cx="580008" cy="593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5735960" y="1236902"/>
            <a:ext cx="580008" cy="593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5159896" y="1236902"/>
            <a:ext cx="580008" cy="593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4575944" y="1830834"/>
            <a:ext cx="580008" cy="593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6880200" y="1830834"/>
            <a:ext cx="580008" cy="593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6304136" y="1830834"/>
            <a:ext cx="580008" cy="593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5732016" y="1830834"/>
            <a:ext cx="580008" cy="593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5155952" y="1830834"/>
            <a:ext cx="580008" cy="593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4575944" y="2406898"/>
            <a:ext cx="580008" cy="593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6880200" y="2406898"/>
            <a:ext cx="580008" cy="593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6304136" y="2406898"/>
            <a:ext cx="580008" cy="593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5732016" y="2406898"/>
            <a:ext cx="580008" cy="593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5155952" y="2406898"/>
            <a:ext cx="580008" cy="593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1991544" y="4653136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/>
              <a:t>The rectangle has a area of: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49588" y="3933057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1744" y="3933057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5732" y="3933057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7860" y="3933057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0016" y="3933057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004" y="3933057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1796" y="3933057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2076" y="3933057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0148" y="3933057"/>
            <a:ext cx="1290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16cm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3792" y="5868562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5948" y="5868562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19936" y="5868562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8008" y="5868562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=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6080" y="5868562"/>
            <a:ext cx="1290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15cm²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4579888" y="3140968"/>
            <a:ext cx="288032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565832" y="1061763"/>
            <a:ext cx="289437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V="1">
            <a:off x="7612608" y="1236902"/>
            <a:ext cx="0" cy="176392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4439816" y="1236902"/>
            <a:ext cx="0" cy="176392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572619" y="1231815"/>
            <a:ext cx="580008" cy="59393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Rectangle 53"/>
          <p:cNvSpPr/>
          <p:nvPr/>
        </p:nvSpPr>
        <p:spPr>
          <a:xfrm>
            <a:off x="6876875" y="1231815"/>
            <a:ext cx="580008" cy="59393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/>
          <p:cNvSpPr/>
          <p:nvPr/>
        </p:nvSpPr>
        <p:spPr>
          <a:xfrm>
            <a:off x="6300811" y="1231815"/>
            <a:ext cx="580008" cy="59393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ectangle 55"/>
          <p:cNvSpPr/>
          <p:nvPr/>
        </p:nvSpPr>
        <p:spPr>
          <a:xfrm>
            <a:off x="5728691" y="1231815"/>
            <a:ext cx="580008" cy="59393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/>
          <p:cNvSpPr/>
          <p:nvPr/>
        </p:nvSpPr>
        <p:spPr>
          <a:xfrm>
            <a:off x="5152627" y="1231815"/>
            <a:ext cx="580008" cy="59393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 57"/>
          <p:cNvSpPr/>
          <p:nvPr/>
        </p:nvSpPr>
        <p:spPr>
          <a:xfrm>
            <a:off x="4579888" y="1826956"/>
            <a:ext cx="580008" cy="59393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/>
          <p:cNvSpPr/>
          <p:nvPr/>
        </p:nvSpPr>
        <p:spPr>
          <a:xfrm>
            <a:off x="6884144" y="1826956"/>
            <a:ext cx="580008" cy="59393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/>
          <p:cNvSpPr/>
          <p:nvPr/>
        </p:nvSpPr>
        <p:spPr>
          <a:xfrm>
            <a:off x="6308080" y="1826956"/>
            <a:ext cx="580008" cy="59393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/>
          <p:cNvSpPr/>
          <p:nvPr/>
        </p:nvSpPr>
        <p:spPr>
          <a:xfrm>
            <a:off x="5735960" y="1826956"/>
            <a:ext cx="580008" cy="59393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/>
          <p:cNvSpPr/>
          <p:nvPr/>
        </p:nvSpPr>
        <p:spPr>
          <a:xfrm>
            <a:off x="5159896" y="1826956"/>
            <a:ext cx="580008" cy="59393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/>
          <p:cNvSpPr/>
          <p:nvPr/>
        </p:nvSpPr>
        <p:spPr>
          <a:xfrm>
            <a:off x="4579888" y="2420888"/>
            <a:ext cx="580008" cy="59393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/>
          <p:cNvSpPr/>
          <p:nvPr/>
        </p:nvSpPr>
        <p:spPr>
          <a:xfrm>
            <a:off x="6884144" y="2420888"/>
            <a:ext cx="580008" cy="59393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/>
          <p:cNvSpPr/>
          <p:nvPr/>
        </p:nvSpPr>
        <p:spPr>
          <a:xfrm>
            <a:off x="6308080" y="2420888"/>
            <a:ext cx="580008" cy="59393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/>
          <p:cNvSpPr/>
          <p:nvPr/>
        </p:nvSpPr>
        <p:spPr>
          <a:xfrm>
            <a:off x="5735960" y="2420888"/>
            <a:ext cx="580008" cy="59393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/>
          <p:cNvSpPr/>
          <p:nvPr/>
        </p:nvSpPr>
        <p:spPr>
          <a:xfrm>
            <a:off x="5159896" y="2420888"/>
            <a:ext cx="580008" cy="59393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TextBox 67"/>
          <p:cNvSpPr txBox="1"/>
          <p:nvPr/>
        </p:nvSpPr>
        <p:spPr>
          <a:xfrm>
            <a:off x="4877780" y="5157193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19936" y="5157193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3924" y="5157193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21996" y="5157193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=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70068" y="5157193"/>
            <a:ext cx="1290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15cm²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75720" y="5157193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17876" y="5157193"/>
            <a:ext cx="6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72264" y="5741968"/>
            <a:ext cx="21602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Take note of the units!</a:t>
            </a:r>
          </a:p>
        </p:txBody>
      </p:sp>
      <p:cxnSp>
        <p:nvCxnSpPr>
          <p:cNvPr id="77" name="Straight Arrow Connector 76"/>
          <p:cNvCxnSpPr>
            <a:stCxn id="75" idx="0"/>
            <a:endCxn id="36" idx="2"/>
          </p:cNvCxnSpPr>
          <p:nvPr/>
        </p:nvCxnSpPr>
        <p:spPr>
          <a:xfrm flipH="1" flipV="1">
            <a:off x="8835262" y="4517831"/>
            <a:ext cx="717122" cy="1224136"/>
          </a:xfrm>
          <a:prstGeom prst="straightConnector1">
            <a:avLst/>
          </a:prstGeom>
          <a:ln w="381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endCxn id="41" idx="3"/>
          </p:cNvCxnSpPr>
          <p:nvPr/>
        </p:nvCxnSpPr>
        <p:spPr>
          <a:xfrm flipH="1" flipV="1">
            <a:off x="8106308" y="6160949"/>
            <a:ext cx="653988" cy="58072"/>
          </a:xfrm>
          <a:prstGeom prst="straightConnector1">
            <a:avLst/>
          </a:prstGeom>
          <a:ln w="381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EFB2A8B-1F07-4593-BA1B-2947E972B794}"/>
              </a:ext>
            </a:extLst>
          </p:cNvPr>
          <p:cNvSpPr txBox="1"/>
          <p:nvPr/>
        </p:nvSpPr>
        <p:spPr>
          <a:xfrm>
            <a:off x="7783243" y="2033944"/>
            <a:ext cx="809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3cm</a:t>
            </a:r>
            <a:endParaRPr lang="en-AU" sz="28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250A72-C32B-4B8C-9798-59EE835D0A25}"/>
              </a:ext>
            </a:extLst>
          </p:cNvPr>
          <p:cNvSpPr txBox="1"/>
          <p:nvPr/>
        </p:nvSpPr>
        <p:spPr>
          <a:xfrm>
            <a:off x="5708814" y="639677"/>
            <a:ext cx="809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5cm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94305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500"/>
                            </p:stCondLst>
                            <p:childTnLst>
                              <p:par>
                                <p:cTn id="1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C5B0-2080-44DA-B0BB-115BE8C65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Perimeter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4ECEA-0D0E-40AD-842A-1FAF4B977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Perimeter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FF0000"/>
                </a:solidFill>
              </a:rPr>
              <a:t>The boundary that forms a 2D shape.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FF0000"/>
                </a:solidFill>
              </a:rPr>
              <a:t>It is calculated by adding </a:t>
            </a:r>
            <a:r>
              <a:rPr lang="en-AU" b="1" i="1" u="sng" dirty="0">
                <a:solidFill>
                  <a:srgbClr val="FF0000"/>
                </a:solidFill>
              </a:rPr>
              <a:t>ALL</a:t>
            </a:r>
            <a:r>
              <a:rPr lang="en-AU" dirty="0">
                <a:solidFill>
                  <a:srgbClr val="FF0000"/>
                </a:solidFill>
              </a:rPr>
              <a:t> the </a:t>
            </a:r>
            <a:r>
              <a:rPr lang="en-AU" u="sng" dirty="0">
                <a:solidFill>
                  <a:srgbClr val="FF0000"/>
                </a:solidFill>
              </a:rPr>
              <a:t>sides. </a:t>
            </a: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Area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FF0000"/>
                </a:solidFill>
              </a:rPr>
              <a:t>The space </a:t>
            </a:r>
            <a:r>
              <a:rPr lang="en-AU" b="1" i="1" u="sng" dirty="0">
                <a:solidFill>
                  <a:srgbClr val="FF0000"/>
                </a:solidFill>
              </a:rPr>
              <a:t>inside</a:t>
            </a:r>
            <a:r>
              <a:rPr lang="en-AU" dirty="0">
                <a:solidFill>
                  <a:srgbClr val="FF0000"/>
                </a:solidFill>
              </a:rPr>
              <a:t> a shape.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FF0000"/>
                </a:solidFill>
              </a:rPr>
              <a:t>Each shape has a </a:t>
            </a:r>
            <a:r>
              <a:rPr lang="en-AU" u="sng" dirty="0">
                <a:solidFill>
                  <a:srgbClr val="FF0000"/>
                </a:solidFill>
              </a:rPr>
              <a:t>specific formula </a:t>
            </a:r>
            <a:r>
              <a:rPr lang="en-AU" dirty="0">
                <a:solidFill>
                  <a:srgbClr val="FF0000"/>
                </a:solidFill>
              </a:rPr>
              <a:t>used to calculate.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04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C5B0-2080-44DA-B0BB-115BE8C65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Perimeter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4ECEA-0D0E-40AD-842A-1FAF4B977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Perimeter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FF0000"/>
                </a:solidFill>
              </a:rPr>
              <a:t>The boundary that forms a 2D shape.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FF0000"/>
                </a:solidFill>
              </a:rPr>
              <a:t>It is calculated by adding </a:t>
            </a:r>
            <a:r>
              <a:rPr lang="en-AU" b="1" i="1" u="sng" dirty="0">
                <a:solidFill>
                  <a:srgbClr val="FF0000"/>
                </a:solidFill>
              </a:rPr>
              <a:t>ALL</a:t>
            </a:r>
            <a:r>
              <a:rPr lang="en-AU" dirty="0">
                <a:solidFill>
                  <a:srgbClr val="FF0000"/>
                </a:solidFill>
              </a:rPr>
              <a:t> the </a:t>
            </a:r>
            <a:r>
              <a:rPr lang="en-AU" u="sng" dirty="0">
                <a:solidFill>
                  <a:srgbClr val="FF0000"/>
                </a:solidFill>
              </a:rPr>
              <a:t>sides. </a:t>
            </a: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Area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FF0000"/>
                </a:solidFill>
              </a:rPr>
              <a:t>The space </a:t>
            </a:r>
            <a:r>
              <a:rPr lang="en-AU" b="1" i="1" u="sng" dirty="0">
                <a:solidFill>
                  <a:srgbClr val="FF0000"/>
                </a:solidFill>
              </a:rPr>
              <a:t>inside</a:t>
            </a:r>
            <a:r>
              <a:rPr lang="en-AU" dirty="0">
                <a:solidFill>
                  <a:srgbClr val="FF0000"/>
                </a:solidFill>
              </a:rPr>
              <a:t> a shape.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FF0000"/>
                </a:solidFill>
              </a:rPr>
              <a:t>Each shape has a specific formula used to calculate.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FD762-5C7D-4F7F-B176-EBC167A366D6}"/>
              </a:ext>
            </a:extLst>
          </p:cNvPr>
          <p:cNvSpPr/>
          <p:nvPr/>
        </p:nvSpPr>
        <p:spPr>
          <a:xfrm>
            <a:off x="1731146" y="2388093"/>
            <a:ext cx="1438182" cy="355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E8AFBD-8A96-470A-909F-D43A296B0D38}"/>
              </a:ext>
            </a:extLst>
          </p:cNvPr>
          <p:cNvSpPr/>
          <p:nvPr/>
        </p:nvSpPr>
        <p:spPr>
          <a:xfrm>
            <a:off x="3703469" y="2913356"/>
            <a:ext cx="1614255" cy="353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4E874D-9B3F-47A0-B3B9-252C2B626F21}"/>
              </a:ext>
            </a:extLst>
          </p:cNvPr>
          <p:cNvSpPr/>
          <p:nvPr/>
        </p:nvSpPr>
        <p:spPr>
          <a:xfrm>
            <a:off x="2655903" y="4972975"/>
            <a:ext cx="904043" cy="355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65E9CD-7A7F-4166-8030-B21FDBCA865F}"/>
              </a:ext>
            </a:extLst>
          </p:cNvPr>
          <p:cNvSpPr/>
          <p:nvPr/>
        </p:nvSpPr>
        <p:spPr>
          <a:xfrm>
            <a:off x="3703469" y="5461246"/>
            <a:ext cx="2262325" cy="355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6154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CC27AB0-2226-473D-99EE-53860CA2C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373" y="162754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8690A99-1712-4BC9-AD26-AE17C8F4F9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9372" y="1766040"/>
          <a:ext cx="3239668" cy="3782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FX Draw" r:id="rId3" imgW="956912" imgH="1121381" progId="FXDraw.Graphic">
                  <p:embed/>
                </p:oleObj>
              </mc:Choice>
              <mc:Fallback>
                <p:oleObj name="FX Draw" r:id="rId3" imgW="956912" imgH="1121381" progId="FXDraw.Graphic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8690A99-1712-4BC9-AD26-AE17C8F4F9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372" y="1766040"/>
                        <a:ext cx="3239668" cy="37829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F230EB-D8C1-42FE-84BC-C2A3814B07B1}"/>
              </a:ext>
            </a:extLst>
          </p:cNvPr>
          <p:cNvSpPr txBox="1"/>
          <p:nvPr/>
        </p:nvSpPr>
        <p:spPr>
          <a:xfrm>
            <a:off x="1524709" y="1350542"/>
            <a:ext cx="78299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2100" dirty="0">
                <a:solidFill>
                  <a:prstClr val="black"/>
                </a:solidFill>
                <a:latin typeface="Calibri" panose="020F0502020204030204"/>
              </a:rPr>
              <a:t>4. Calculate the perimeter of this composite shape.</a:t>
            </a:r>
          </a:p>
        </p:txBody>
      </p:sp>
    </p:spTree>
    <p:extLst>
      <p:ext uri="{BB962C8B-B14F-4D97-AF65-F5344CB8AC3E}">
        <p14:creationId xmlns:p14="http://schemas.microsoft.com/office/powerpoint/2010/main" val="1750205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CC27AB0-2226-473D-99EE-53860CA2C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373" y="162754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F230EB-D8C1-42FE-84BC-C2A3814B07B1}"/>
              </a:ext>
            </a:extLst>
          </p:cNvPr>
          <p:cNvSpPr txBox="1"/>
          <p:nvPr/>
        </p:nvSpPr>
        <p:spPr>
          <a:xfrm>
            <a:off x="2150898" y="1021337"/>
            <a:ext cx="78299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2100" dirty="0">
                <a:solidFill>
                  <a:prstClr val="black"/>
                </a:solidFill>
                <a:latin typeface="Calibri" panose="020F0502020204030204"/>
              </a:rPr>
              <a:t>3. Calculate the perimeter of this sector.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C9EE96-84D3-42D3-9473-B1B721A15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1017" y="1413282"/>
            <a:ext cx="1806600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Partial Circle 6">
            <a:extLst>
              <a:ext uri="{FF2B5EF4-FFF2-40B4-BE49-F238E27FC236}">
                <a16:creationId xmlns:a16="http://schemas.microsoft.com/office/drawing/2014/main" id="{318E1314-B535-4A4B-A8CB-04F95872C9DB}"/>
              </a:ext>
            </a:extLst>
          </p:cNvPr>
          <p:cNvSpPr/>
          <p:nvPr/>
        </p:nvSpPr>
        <p:spPr>
          <a:xfrm>
            <a:off x="1955788" y="1766041"/>
            <a:ext cx="3384376" cy="3127743"/>
          </a:xfrm>
          <a:prstGeom prst="pie">
            <a:avLst>
              <a:gd name="adj1" fmla="val 0"/>
              <a:gd name="adj2" fmla="val 54201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8397BC-0B98-4BC1-BCB9-06992CC0A8FB}"/>
              </a:ext>
            </a:extLst>
          </p:cNvPr>
          <p:cNvSpPr txBox="1"/>
          <p:nvPr/>
        </p:nvSpPr>
        <p:spPr>
          <a:xfrm>
            <a:off x="3935760" y="286824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10cm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091967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63F9AC-0BAE-04D5-FA80-1A85E8ADFB10}"/>
              </a:ext>
            </a:extLst>
          </p:cNvPr>
          <p:cNvSpPr txBox="1"/>
          <p:nvPr/>
        </p:nvSpPr>
        <p:spPr>
          <a:xfrm>
            <a:off x="392686" y="0"/>
            <a:ext cx="11561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Aim: TBAT calculate the perimeter and area of a composite shape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C8FB1-19A5-77D6-CB55-696F404B2A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969"/>
          <a:stretch/>
        </p:blipFill>
        <p:spPr>
          <a:xfrm>
            <a:off x="650738" y="568318"/>
            <a:ext cx="5771253" cy="103983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8E00C87-03F4-D6E7-360C-A650AFA3B0B3}"/>
              </a:ext>
            </a:extLst>
          </p:cNvPr>
          <p:cNvSpPr/>
          <p:nvPr/>
        </p:nvSpPr>
        <p:spPr>
          <a:xfrm>
            <a:off x="7988378" y="2300025"/>
            <a:ext cx="330979" cy="1290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0573A7-C66B-0B8C-26A0-4F968C249CF2}"/>
                  </a:ext>
                </a:extLst>
              </p:cNvPr>
              <p:cNvSpPr txBox="1"/>
              <p:nvPr/>
            </p:nvSpPr>
            <p:spPr>
              <a:xfrm>
                <a:off x="392685" y="1916630"/>
                <a:ext cx="4532733" cy="2950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𝒕𝒐𝒕𝒂𝒍</m:t>
                          </m:r>
                        </m:sub>
                      </m:sSub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𝒂𝒓𝒄</m:t>
                      </m:r>
                    </m:oMath>
                  </m:oMathPara>
                </a14:m>
                <a:endParaRPr lang="en-AU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𝟑𝟔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𝟑𝟔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𝟓𝟏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𝟕𝟎𝟕𝟗</m:t>
                      </m:r>
                    </m:oMath>
                  </m:oMathPara>
                </a14:m>
                <a:endParaRPr lang="en-AU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𝟓𝟏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𝟕𝟏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𝒄𝒎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b="1" dirty="0"/>
              </a:p>
              <a:p>
                <a:endParaRPr lang="en-AU" sz="24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0573A7-C66B-0B8C-26A0-4F968C249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85" y="1916630"/>
                <a:ext cx="4532733" cy="29501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19D8CFC-07A9-9F43-1804-61E40F8851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41" t="37019" r="56648" b="8893"/>
          <a:stretch/>
        </p:blipFill>
        <p:spPr>
          <a:xfrm>
            <a:off x="6653242" y="504883"/>
            <a:ext cx="4588829" cy="36922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004331-DFA9-6C8A-8FFB-F0084AD2EDCE}"/>
                  </a:ext>
                </a:extLst>
              </p:cNvPr>
              <p:cNvSpPr txBox="1"/>
              <p:nvPr/>
            </p:nvSpPr>
            <p:spPr>
              <a:xfrm>
                <a:off x="4863709" y="3842830"/>
                <a:ext cx="27544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𝒕𝒐𝒕𝒂𝒍</m:t>
                          </m:r>
                        </m:sub>
                      </m:sSub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004331-DFA9-6C8A-8FFB-F0084AD2E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709" y="3842830"/>
                <a:ext cx="2754421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C06292C-A385-8216-63DE-6598388D2753}"/>
              </a:ext>
            </a:extLst>
          </p:cNvPr>
          <p:cNvSpPr txBox="1"/>
          <p:nvPr/>
        </p:nvSpPr>
        <p:spPr>
          <a:xfrm>
            <a:off x="8277282" y="1214525"/>
            <a:ext cx="409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278604-C5B8-05F2-835E-82B18B629D0E}"/>
              </a:ext>
            </a:extLst>
          </p:cNvPr>
          <p:cNvSpPr txBox="1"/>
          <p:nvPr/>
        </p:nvSpPr>
        <p:spPr>
          <a:xfrm>
            <a:off x="8986925" y="2597548"/>
            <a:ext cx="409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8351F9-3B93-31B7-0B94-B026F670340E}"/>
              </a:ext>
            </a:extLst>
          </p:cNvPr>
          <p:cNvCxnSpPr>
            <a:cxnSpLocks/>
          </p:cNvCxnSpPr>
          <p:nvPr/>
        </p:nvCxnSpPr>
        <p:spPr>
          <a:xfrm>
            <a:off x="7393737" y="1921248"/>
            <a:ext cx="2176609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D9B153-B667-9E1E-426B-B52AB4A86B77}"/>
                  </a:ext>
                </a:extLst>
              </p:cNvPr>
              <p:cNvSpPr txBox="1"/>
              <p:nvPr/>
            </p:nvSpPr>
            <p:spPr>
              <a:xfrm>
                <a:off x="5522861" y="4311294"/>
                <a:ext cx="2754421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D9B153-B667-9E1E-426B-B52AB4A86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861" y="4311294"/>
                <a:ext cx="2754421" cy="470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CEEE5D-0934-6A5D-3D8A-28083173E885}"/>
                  </a:ext>
                </a:extLst>
              </p:cNvPr>
              <p:cNvSpPr txBox="1"/>
              <p:nvPr/>
            </p:nvSpPr>
            <p:spPr>
              <a:xfrm>
                <a:off x="7049668" y="4329447"/>
                <a:ext cx="27544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AU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AU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CEEE5D-0934-6A5D-3D8A-28083173E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668" y="4329447"/>
                <a:ext cx="2754421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65D4D68-73DB-673A-67C4-05776A6FE44B}"/>
                  </a:ext>
                </a:extLst>
              </p:cNvPr>
              <p:cNvSpPr txBox="1"/>
              <p:nvPr/>
            </p:nvSpPr>
            <p:spPr>
              <a:xfrm>
                <a:off x="5390099" y="4706557"/>
                <a:ext cx="2754421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65D4D68-73DB-673A-67C4-05776A6FE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099" y="4706557"/>
                <a:ext cx="2754421" cy="47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9390AF-1DDD-8404-C60E-3589CCE976A6}"/>
                  </a:ext>
                </a:extLst>
              </p:cNvPr>
              <p:cNvSpPr txBox="1"/>
              <p:nvPr/>
            </p:nvSpPr>
            <p:spPr>
              <a:xfrm>
                <a:off x="6983287" y="4684887"/>
                <a:ext cx="27544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AU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AU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9390AF-1DDD-8404-C60E-3589CCE97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287" y="4684887"/>
                <a:ext cx="2754421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515C4C-AB76-B70A-3696-D4D78F4AB9AA}"/>
                  </a:ext>
                </a:extLst>
              </p:cNvPr>
              <p:cNvSpPr txBox="1"/>
              <p:nvPr/>
            </p:nvSpPr>
            <p:spPr>
              <a:xfrm>
                <a:off x="5456480" y="5119257"/>
                <a:ext cx="27544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𝟏𝟓𝟏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𝟐𝟔𝟗𝟗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515C4C-AB76-B70A-3696-D4D78F4AB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480" y="5119257"/>
                <a:ext cx="2754421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1698A16-FABC-ACDE-1A3C-1F1C62F0E2EC}"/>
                  </a:ext>
                </a:extLst>
              </p:cNvPr>
              <p:cNvSpPr txBox="1"/>
              <p:nvPr/>
            </p:nvSpPr>
            <p:spPr>
              <a:xfrm>
                <a:off x="5852439" y="5531997"/>
                <a:ext cx="3082596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𝟏𝟓𝟏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𝟐𝟕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𝒅𝒑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1698A16-FABC-ACDE-1A3C-1F1C62F0E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439" y="5531997"/>
                <a:ext cx="3082596" cy="470000"/>
              </a:xfrm>
              <a:prstGeom prst="rect">
                <a:avLst/>
              </a:prstGeom>
              <a:blipFill>
                <a:blip r:embed="rId10"/>
                <a:stretch>
                  <a:fillRect r="-198" b="-179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AA4410AF-37FB-C5FB-A801-AA7611A5DEAA}"/>
              </a:ext>
            </a:extLst>
          </p:cNvPr>
          <p:cNvSpPr txBox="1"/>
          <p:nvPr/>
        </p:nvSpPr>
        <p:spPr>
          <a:xfrm>
            <a:off x="7988378" y="1551100"/>
            <a:ext cx="877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10cm</a:t>
            </a:r>
          </a:p>
        </p:txBody>
      </p:sp>
    </p:spTree>
    <p:extLst>
      <p:ext uri="{BB962C8B-B14F-4D97-AF65-F5344CB8AC3E}">
        <p14:creationId xmlns:p14="http://schemas.microsoft.com/office/powerpoint/2010/main" val="40816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1" grpId="0"/>
      <p:bldP spid="12" grpId="0"/>
      <p:bldP spid="19" grpId="0"/>
      <p:bldP spid="20" grpId="0"/>
      <p:bldP spid="22" grpId="0"/>
      <p:bldP spid="23" grpId="0"/>
      <p:bldP spid="24" grpId="0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63F9AC-0BAE-04D5-FA80-1A85E8ADFB10}"/>
              </a:ext>
            </a:extLst>
          </p:cNvPr>
          <p:cNvSpPr txBox="1"/>
          <p:nvPr/>
        </p:nvSpPr>
        <p:spPr>
          <a:xfrm>
            <a:off x="392686" y="0"/>
            <a:ext cx="11561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Aim: TBAT calculate the perimeter and area of a composite shape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C8FB1-19A5-77D6-CB55-696F404B2A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969"/>
          <a:stretch/>
        </p:blipFill>
        <p:spPr>
          <a:xfrm>
            <a:off x="650738" y="568318"/>
            <a:ext cx="5771253" cy="103983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8E00C87-03F4-D6E7-360C-A650AFA3B0B3}"/>
              </a:ext>
            </a:extLst>
          </p:cNvPr>
          <p:cNvSpPr/>
          <p:nvPr/>
        </p:nvSpPr>
        <p:spPr>
          <a:xfrm>
            <a:off x="7988378" y="2300025"/>
            <a:ext cx="330979" cy="1290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9D8CFC-07A9-9F43-1804-61E40F8851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41" t="37019" r="56648" b="8893"/>
          <a:stretch/>
        </p:blipFill>
        <p:spPr>
          <a:xfrm>
            <a:off x="6653242" y="504883"/>
            <a:ext cx="4588829" cy="36922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06292C-A385-8216-63DE-6598388D2753}"/>
              </a:ext>
            </a:extLst>
          </p:cNvPr>
          <p:cNvSpPr txBox="1"/>
          <p:nvPr/>
        </p:nvSpPr>
        <p:spPr>
          <a:xfrm>
            <a:off x="8277282" y="1214525"/>
            <a:ext cx="409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278604-C5B8-05F2-835E-82B18B629D0E}"/>
              </a:ext>
            </a:extLst>
          </p:cNvPr>
          <p:cNvSpPr txBox="1"/>
          <p:nvPr/>
        </p:nvSpPr>
        <p:spPr>
          <a:xfrm>
            <a:off x="8986925" y="2597548"/>
            <a:ext cx="409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8351F9-3B93-31B7-0B94-B026F670340E}"/>
              </a:ext>
            </a:extLst>
          </p:cNvPr>
          <p:cNvCxnSpPr>
            <a:cxnSpLocks/>
          </p:cNvCxnSpPr>
          <p:nvPr/>
        </p:nvCxnSpPr>
        <p:spPr>
          <a:xfrm>
            <a:off x="7393737" y="1921248"/>
            <a:ext cx="2176609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52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D626B2D-03BE-FB5C-AA90-B622CE848E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299" t="35099" r="5833"/>
          <a:stretch/>
        </p:blipFill>
        <p:spPr>
          <a:xfrm>
            <a:off x="7337640" y="342588"/>
            <a:ext cx="4117603" cy="35903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63F9AC-0BAE-04D5-FA80-1A85E8ADFB10}"/>
              </a:ext>
            </a:extLst>
          </p:cNvPr>
          <p:cNvSpPr txBox="1"/>
          <p:nvPr/>
        </p:nvSpPr>
        <p:spPr>
          <a:xfrm>
            <a:off x="392686" y="0"/>
            <a:ext cx="11561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Aim: TBAT calculate the perimeter and area of a composite shape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C8FB1-19A5-77D6-CB55-696F404B2A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969"/>
          <a:stretch/>
        </p:blipFill>
        <p:spPr>
          <a:xfrm>
            <a:off x="650738" y="568318"/>
            <a:ext cx="5771253" cy="103983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8E00C87-03F4-D6E7-360C-A650AFA3B0B3}"/>
              </a:ext>
            </a:extLst>
          </p:cNvPr>
          <p:cNvSpPr/>
          <p:nvPr/>
        </p:nvSpPr>
        <p:spPr>
          <a:xfrm>
            <a:off x="7988378" y="2300025"/>
            <a:ext cx="330979" cy="1290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0573A7-C66B-0B8C-26A0-4F968C249CF2}"/>
                  </a:ext>
                </a:extLst>
              </p:cNvPr>
              <p:cNvSpPr txBox="1"/>
              <p:nvPr/>
            </p:nvSpPr>
            <p:spPr>
              <a:xfrm>
                <a:off x="392685" y="1916630"/>
                <a:ext cx="5295668" cy="2950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𝒕𝒐𝒕𝒂𝒍</m:t>
                          </m:r>
                        </m:sub>
                      </m:sSub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𝒂𝒓𝒄</m:t>
                      </m:r>
                    </m:oMath>
                  </m:oMathPara>
                </a14:m>
                <a:endParaRPr lang="en-AU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0" smtClean="0">
                          <a:latin typeface="Cambria Math" panose="02040503050406030204" pitchFamily="18" charset="0"/>
                        </a:rPr>
                        <m:t>𝟐𝟔</m:t>
                      </m:r>
                      <m:r>
                        <a:rPr lang="en-AU" sz="24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400" b="1" i="0" smtClean="0">
                          <a:latin typeface="Cambria Math" panose="02040503050406030204" pitchFamily="18" charset="0"/>
                        </a:rPr>
                        <m:t>𝟐𝟖𝟑𝟏</m:t>
                      </m:r>
                    </m:oMath>
                  </m:oMathPara>
                </a14:m>
                <a:endParaRPr lang="en-AU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𝟐𝟔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𝟐𝟖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𝒄𝒎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b="1" dirty="0"/>
              </a:p>
              <a:p>
                <a:endParaRPr lang="en-AU" sz="24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0573A7-C66B-0B8C-26A0-4F968C249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85" y="1916630"/>
                <a:ext cx="5295668" cy="29501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004331-DFA9-6C8A-8FFB-F0084AD2EDCE}"/>
                  </a:ext>
                </a:extLst>
              </p:cNvPr>
              <p:cNvSpPr txBox="1"/>
              <p:nvPr/>
            </p:nvSpPr>
            <p:spPr>
              <a:xfrm>
                <a:off x="5166638" y="3640902"/>
                <a:ext cx="27544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𝒕𝒐𝒕𝒂𝒍</m:t>
                          </m:r>
                        </m:sub>
                      </m:sSub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004331-DFA9-6C8A-8FFB-F0084AD2E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638" y="3640902"/>
                <a:ext cx="2754421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C06292C-A385-8216-63DE-6598388D2753}"/>
              </a:ext>
            </a:extLst>
          </p:cNvPr>
          <p:cNvSpPr txBox="1"/>
          <p:nvPr/>
        </p:nvSpPr>
        <p:spPr>
          <a:xfrm>
            <a:off x="8277282" y="1214525"/>
            <a:ext cx="409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278604-C5B8-05F2-835E-82B18B629D0E}"/>
              </a:ext>
            </a:extLst>
          </p:cNvPr>
          <p:cNvSpPr txBox="1"/>
          <p:nvPr/>
        </p:nvSpPr>
        <p:spPr>
          <a:xfrm>
            <a:off x="8986925" y="2597548"/>
            <a:ext cx="409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8351F9-3B93-31B7-0B94-B026F670340E}"/>
              </a:ext>
            </a:extLst>
          </p:cNvPr>
          <p:cNvCxnSpPr>
            <a:cxnSpLocks/>
          </p:cNvCxnSpPr>
          <p:nvPr/>
        </p:nvCxnSpPr>
        <p:spPr>
          <a:xfrm>
            <a:off x="7550811" y="2079314"/>
            <a:ext cx="155953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D9B153-B667-9E1E-426B-B52AB4A86B77}"/>
                  </a:ext>
                </a:extLst>
              </p:cNvPr>
              <p:cNvSpPr txBox="1"/>
              <p:nvPr/>
            </p:nvSpPr>
            <p:spPr>
              <a:xfrm>
                <a:off x="5796342" y="4035925"/>
                <a:ext cx="275442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D9B153-B667-9E1E-426B-B52AB4A86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342" y="4035925"/>
                <a:ext cx="2754421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CEEE5D-0934-6A5D-3D8A-28083173E885}"/>
                  </a:ext>
                </a:extLst>
              </p:cNvPr>
              <p:cNvSpPr txBox="1"/>
              <p:nvPr/>
            </p:nvSpPr>
            <p:spPr>
              <a:xfrm>
                <a:off x="7514811" y="4025091"/>
                <a:ext cx="275442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AU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num>
                        <m:den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AU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lang="en-AU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CEEE5D-0934-6A5D-3D8A-28083173E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811" y="4025091"/>
                <a:ext cx="2754421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65D4D68-73DB-673A-67C4-05776A6FE44B}"/>
                  </a:ext>
                </a:extLst>
              </p:cNvPr>
              <p:cNvSpPr txBox="1"/>
              <p:nvPr/>
            </p:nvSpPr>
            <p:spPr>
              <a:xfrm>
                <a:off x="5837010" y="4805823"/>
                <a:ext cx="275442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65D4D68-73DB-673A-67C4-05776A6FE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010" y="4805823"/>
                <a:ext cx="2754421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9390AF-1DDD-8404-C60E-3589CCE976A6}"/>
                  </a:ext>
                </a:extLst>
              </p:cNvPr>
              <p:cNvSpPr txBox="1"/>
              <p:nvPr/>
            </p:nvSpPr>
            <p:spPr>
              <a:xfrm>
                <a:off x="7474143" y="4790581"/>
                <a:ext cx="2754421" cy="7824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AU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9390AF-1DDD-8404-C60E-3589CCE97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143" y="4790581"/>
                <a:ext cx="2754421" cy="7824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515C4C-AB76-B70A-3696-D4D78F4AB9AA}"/>
                  </a:ext>
                </a:extLst>
              </p:cNvPr>
              <p:cNvSpPr txBox="1"/>
              <p:nvPr/>
            </p:nvSpPr>
            <p:spPr>
              <a:xfrm>
                <a:off x="5796342" y="5516792"/>
                <a:ext cx="27544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𝟐𝟓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𝟓𝟔𝟔𝟑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515C4C-AB76-B70A-3696-D4D78F4AB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342" y="5516792"/>
                <a:ext cx="2754421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1698A16-FABC-ACDE-1A3C-1F1C62F0E2EC}"/>
                  </a:ext>
                </a:extLst>
              </p:cNvPr>
              <p:cNvSpPr txBox="1"/>
              <p:nvPr/>
            </p:nvSpPr>
            <p:spPr>
              <a:xfrm>
                <a:off x="6173601" y="5881058"/>
                <a:ext cx="3082596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𝟐𝟓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𝒅𝒑</m:t>
                      </m:r>
                      <m:r>
                        <a:rPr lang="en-A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1698A16-FABC-ACDE-1A3C-1F1C62F0E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601" y="5881058"/>
                <a:ext cx="3082596" cy="470000"/>
              </a:xfrm>
              <a:prstGeom prst="rect">
                <a:avLst/>
              </a:prstGeom>
              <a:blipFill>
                <a:blip r:embed="rId10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AA4410AF-37FB-C5FB-A801-AA7611A5DEAA}"/>
              </a:ext>
            </a:extLst>
          </p:cNvPr>
          <p:cNvSpPr txBox="1"/>
          <p:nvPr/>
        </p:nvSpPr>
        <p:spPr>
          <a:xfrm>
            <a:off x="7974352" y="1697607"/>
            <a:ext cx="877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4cm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55E117-E92D-4F9C-F46A-AA64FC98A3E8}"/>
              </a:ext>
            </a:extLst>
          </p:cNvPr>
          <p:cNvSpPr/>
          <p:nvPr/>
        </p:nvSpPr>
        <p:spPr>
          <a:xfrm>
            <a:off x="10198645" y="1676190"/>
            <a:ext cx="790984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8C309D-0336-2646-A559-21CC34AEF068}"/>
              </a:ext>
            </a:extLst>
          </p:cNvPr>
          <p:cNvSpPr txBox="1"/>
          <p:nvPr/>
        </p:nvSpPr>
        <p:spPr>
          <a:xfrm>
            <a:off x="10025990" y="1669837"/>
            <a:ext cx="877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5cm</a:t>
            </a:r>
          </a:p>
        </p:txBody>
      </p:sp>
    </p:spTree>
    <p:extLst>
      <p:ext uri="{BB962C8B-B14F-4D97-AF65-F5344CB8AC3E}">
        <p14:creationId xmlns:p14="http://schemas.microsoft.com/office/powerpoint/2010/main" val="98080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1" grpId="0"/>
      <p:bldP spid="12" grpId="0"/>
      <p:bldP spid="19" grpId="0"/>
      <p:bldP spid="20" grpId="0"/>
      <p:bldP spid="22" grpId="0"/>
      <p:bldP spid="23" grpId="0" animBg="1"/>
      <p:bldP spid="24" grpId="0"/>
      <p:bldP spid="25" grpId="0"/>
      <p:bldP spid="26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D626B2D-03BE-FB5C-AA90-B622CE848E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299" t="35099" r="5833"/>
          <a:stretch/>
        </p:blipFill>
        <p:spPr>
          <a:xfrm>
            <a:off x="7337640" y="342588"/>
            <a:ext cx="4117603" cy="35903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63F9AC-0BAE-04D5-FA80-1A85E8ADFB10}"/>
              </a:ext>
            </a:extLst>
          </p:cNvPr>
          <p:cNvSpPr txBox="1"/>
          <p:nvPr/>
        </p:nvSpPr>
        <p:spPr>
          <a:xfrm>
            <a:off x="392686" y="0"/>
            <a:ext cx="11561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Aim: TBAT calculate the perimeter and area of a composite shape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C8FB1-19A5-77D6-CB55-696F404B2A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969"/>
          <a:stretch/>
        </p:blipFill>
        <p:spPr>
          <a:xfrm>
            <a:off x="650738" y="568318"/>
            <a:ext cx="5771253" cy="103983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8E00C87-03F4-D6E7-360C-A650AFA3B0B3}"/>
              </a:ext>
            </a:extLst>
          </p:cNvPr>
          <p:cNvSpPr/>
          <p:nvPr/>
        </p:nvSpPr>
        <p:spPr>
          <a:xfrm>
            <a:off x="7988378" y="2300025"/>
            <a:ext cx="330979" cy="1290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06292C-A385-8216-63DE-6598388D2753}"/>
              </a:ext>
            </a:extLst>
          </p:cNvPr>
          <p:cNvSpPr txBox="1"/>
          <p:nvPr/>
        </p:nvSpPr>
        <p:spPr>
          <a:xfrm>
            <a:off x="8277282" y="1214525"/>
            <a:ext cx="409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278604-C5B8-05F2-835E-82B18B629D0E}"/>
              </a:ext>
            </a:extLst>
          </p:cNvPr>
          <p:cNvSpPr txBox="1"/>
          <p:nvPr/>
        </p:nvSpPr>
        <p:spPr>
          <a:xfrm>
            <a:off x="8986925" y="2597548"/>
            <a:ext cx="409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8351F9-3B93-31B7-0B94-B026F670340E}"/>
              </a:ext>
            </a:extLst>
          </p:cNvPr>
          <p:cNvCxnSpPr>
            <a:cxnSpLocks/>
          </p:cNvCxnSpPr>
          <p:nvPr/>
        </p:nvCxnSpPr>
        <p:spPr>
          <a:xfrm>
            <a:off x="7550811" y="2079314"/>
            <a:ext cx="155953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155E117-E92D-4F9C-F46A-AA64FC98A3E8}"/>
              </a:ext>
            </a:extLst>
          </p:cNvPr>
          <p:cNvSpPr/>
          <p:nvPr/>
        </p:nvSpPr>
        <p:spPr>
          <a:xfrm>
            <a:off x="10198645" y="1676190"/>
            <a:ext cx="790984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810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CCF5-DC8A-40FB-8174-B592A909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27DF3-D107-40F1-A13E-067C6B07F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Continue activity sheet </a:t>
            </a:r>
          </a:p>
          <a:p>
            <a:pPr algn="ctr"/>
            <a:r>
              <a:rPr lang="en-US" dirty="0"/>
              <a:t>Area – compound shapes (Lesson 6-7 PDF 2)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82263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452</Words>
  <Application>Microsoft Office PowerPoint</Application>
  <PresentationFormat>Widescreen</PresentationFormat>
  <Paragraphs>137</Paragraphs>
  <Slides>13</Slides>
  <Notes>0</Notes>
  <HiddenSlides>2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Wingdings</vt:lpstr>
      <vt:lpstr>Office Theme</vt:lpstr>
      <vt:lpstr>FX Draw</vt:lpstr>
      <vt:lpstr>Lesson objective </vt:lpstr>
      <vt:lpstr>PowerPoint Presentation</vt:lpstr>
      <vt:lpstr>Convert these to metres</vt:lpstr>
      <vt:lpstr>Example</vt:lpstr>
      <vt:lpstr>Perimeter </vt:lpstr>
      <vt:lpstr>Perimeter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8</cp:revision>
  <cp:lastPrinted>2022-05-10T23:55:11Z</cp:lastPrinted>
  <dcterms:created xsi:type="dcterms:W3CDTF">2022-05-10T12:28:38Z</dcterms:created>
  <dcterms:modified xsi:type="dcterms:W3CDTF">2022-05-11T00:32:02Z</dcterms:modified>
</cp:coreProperties>
</file>
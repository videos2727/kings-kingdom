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330" r:id="rId6"/>
    <p:sldId id="264" r:id="rId7"/>
    <p:sldId id="267" r:id="rId8"/>
    <p:sldId id="260" r:id="rId9"/>
    <p:sldId id="261" r:id="rId10"/>
    <p:sldId id="262" r:id="rId11"/>
    <p:sldId id="331" r:id="rId12"/>
    <p:sldId id="33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D2B46D-16A0-42E6-80CD-AF8BD23F4A09}" type="datetimeFigureOut">
              <a:rPr lang="en-AU" smtClean="0"/>
              <a:t>30/05/2022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9225C1-26A0-487B-B1BF-AA3E1C312BC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4919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Students to copy Venn diagram when finished and use to create notes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9EDA3-B80B-4BD0-9EFE-0C354A4B11B4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9058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Students to copy Venn diagram when finished and use to create notes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9EDA3-B80B-4BD0-9EFE-0C354A4B11B4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5510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89EDA3-B80B-4BD0-9EFE-0C354A4B11B4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47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B1643-E713-46BF-82CE-250B5F66B8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081C12-B507-45AA-A634-3CF3C669B6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3FB1F-75EB-4628-AB50-360C19E6C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71DC2-6335-4A0C-879A-40BFD8CD773A}" type="datetimeFigureOut">
              <a:rPr lang="en-AU" smtClean="0"/>
              <a:t>30/05/2022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941EED-C819-4251-BD76-D5DE9DCA9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467DD-2A47-4960-B4A7-A1DF8F20C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D2AAD-388F-450C-A655-6FE80DF181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3827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C1B2F-F10A-4D51-88E1-E728FC2A3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0F41C-965E-4CBF-8C60-06C451DC4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F851E-D94C-466C-8CCC-B99F39C60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71DC2-6335-4A0C-879A-40BFD8CD773A}" type="datetimeFigureOut">
              <a:rPr lang="en-AU" smtClean="0"/>
              <a:t>30/05/2022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2BD74-BF66-4354-83B1-5674A599A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96C77-CDFA-4BE1-A0A9-8845CBB1C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D2AAD-388F-450C-A655-6FE80DF181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2022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8F38A-CE00-47AA-9799-19498E46B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690269-90F7-49E6-83A6-B7C865F4D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B7ED8-61FC-4F4B-A922-3978CEE87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71DC2-6335-4A0C-879A-40BFD8CD773A}" type="datetimeFigureOut">
              <a:rPr lang="en-AU" smtClean="0"/>
              <a:t>30/05/2022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3709D-7679-4468-884C-A92816D90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DD9651-575F-4428-AECD-EE8F06489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D2AAD-388F-450C-A655-6FE80DF181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3834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A92DF-A3E4-4019-B1CA-50A4D4007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C0DEA-883B-439C-A3F7-39629D335C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ADDD59-370D-4DA9-A48E-F8203EC264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F11D3E-843A-4D53-BE1F-A31B1BE09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71DC2-6335-4A0C-879A-40BFD8CD773A}" type="datetimeFigureOut">
              <a:rPr lang="en-AU" smtClean="0"/>
              <a:t>30/05/2022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717-5017-4247-B627-B8A361D16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86802C-4F7A-48C4-B43B-2AB2D933A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D2AAD-388F-450C-A655-6FE80DF181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9776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3078E-DFF3-4D98-B3C2-AA2949956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EA047-65FB-4AC2-A489-965057881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ABC116-19D0-4A67-B545-9033E177D3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E6707D-B04F-42B5-94A5-ACCBB05730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1C8B22-1EB2-4DF1-9CA0-242A288C93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B3F542-B595-4FC5-9FED-B639DFC88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71DC2-6335-4A0C-879A-40BFD8CD773A}" type="datetimeFigureOut">
              <a:rPr lang="en-AU" smtClean="0"/>
              <a:t>30/05/2022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57560-83B0-499B-84E0-8716AFCC6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6C4A7C-D97D-4CB2-BDAE-7ED3AAB74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D2AAD-388F-450C-A655-6FE80DF181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9872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B609E-8328-4C67-8EE2-4750109EA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CAE440-8403-4372-AF38-3CB695D7D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71DC2-6335-4A0C-879A-40BFD8CD773A}" type="datetimeFigureOut">
              <a:rPr lang="en-AU" smtClean="0"/>
              <a:t>30/05/2022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931597-3E19-4004-87B8-783FAD014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93243A-8747-40B5-8236-DBD4BBD7E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D2AAD-388F-450C-A655-6FE80DF181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87912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C2A2AE-E7BC-4858-8E4B-C11B083B2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71DC2-6335-4A0C-879A-40BFD8CD773A}" type="datetimeFigureOut">
              <a:rPr lang="en-AU" smtClean="0"/>
              <a:t>30/05/2022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08197F-0F43-4C34-A4EC-2BEC23BF7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AC9EE-0D92-4F8E-976C-8552E9843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D2AAD-388F-450C-A655-6FE80DF181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6345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2C30B-D0D2-4EA6-9439-537405FDE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E5556-B940-4ABC-81E4-046F0A80D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93BA60-B898-4771-96B2-943C465B92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AF9D36-3025-4E82-8A93-029DCF241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71DC2-6335-4A0C-879A-40BFD8CD773A}" type="datetimeFigureOut">
              <a:rPr lang="en-AU" smtClean="0"/>
              <a:t>30/05/2022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4F10A-C982-4457-B392-D6B5F79DF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28D14-95CC-4E8C-A310-60ABAF4B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D2AAD-388F-450C-A655-6FE80DF181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58334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99492-C18A-4051-AAD2-B78A695E6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EE23CD-48B8-4712-86AE-B301634EF1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295E3A-9797-405B-AD68-22BBA32FE8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E849E5-6164-45D8-8994-7846B8C66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71DC2-6335-4A0C-879A-40BFD8CD773A}" type="datetimeFigureOut">
              <a:rPr lang="en-AU" smtClean="0"/>
              <a:t>30/05/2022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A03186-2290-403B-AC5F-12840EEA2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22982-F7E4-46B1-A5A7-B1FDC240F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D2AAD-388F-450C-A655-6FE80DF181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864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66677-0657-41A0-B3A9-7F19EC955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04E7EF-995F-4B25-824B-A6EEF9A80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1D5EE-C2AC-4B16-9523-237A2D848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71DC2-6335-4A0C-879A-40BFD8CD773A}" type="datetimeFigureOut">
              <a:rPr lang="en-AU" smtClean="0"/>
              <a:t>30/05/2022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89804-E568-41B2-A99F-BE450B33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C6BF4-2E5D-4B74-84FD-15FB038F4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D2AAD-388F-450C-A655-6FE80DF181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8229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5BC4ED-C5F6-4FA6-B7DF-97A8C5CCAD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3731A7-E6AF-49F0-85CC-F3DE361C00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ADF757-1958-44EA-A887-6AA483AA1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71DC2-6335-4A0C-879A-40BFD8CD773A}" type="datetimeFigureOut">
              <a:rPr lang="en-AU" smtClean="0"/>
              <a:t>30/05/2022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1CEE0-8C6C-4121-B830-159DDB920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C9EE3C-DBB1-45DD-8ACA-F598EEB57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D2AAD-388F-450C-A655-6FE80DF181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0023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39DBCC-B8B1-4762-8E0D-93EA60CC7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0068F1-A940-497E-B71F-E58BBB186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EFC4C-6B86-41CD-9ED1-216A723B9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71DC2-6335-4A0C-879A-40BFD8CD773A}" type="datetimeFigureOut">
              <a:rPr lang="en-AU" smtClean="0"/>
              <a:t>30/05/2022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5E70E-2815-41AB-80D6-0D4D0D30DC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B9528-3C70-4C07-99C5-764CFE442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D2AAD-388F-450C-A655-6FE80DF181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6955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A84C2D5-608C-4272-AD2A-9AD54311B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13E108-D8C6-4171-8CC6-5D112187F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represented data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Aim – TBAT:</a:t>
            </a:r>
          </a:p>
          <a:p>
            <a:pPr>
              <a:buFontTx/>
              <a:buChar char="-"/>
            </a:pPr>
            <a:r>
              <a:rPr lang="en-US" dirty="0"/>
              <a:t>Complete and assign probability from Venn Diagrams</a:t>
            </a:r>
          </a:p>
          <a:p>
            <a:pPr marL="0" indent="0">
              <a:buNone/>
            </a:pPr>
            <a:r>
              <a:rPr lang="en-US" dirty="0"/>
              <a:t>Plan:</a:t>
            </a:r>
          </a:p>
          <a:p>
            <a:pPr>
              <a:buFontTx/>
              <a:buChar char="-"/>
            </a:pPr>
            <a:r>
              <a:rPr lang="en-US" dirty="0"/>
              <a:t>Venn diagrams</a:t>
            </a:r>
          </a:p>
          <a:p>
            <a:pPr>
              <a:buFontTx/>
              <a:buChar char="-"/>
            </a:pPr>
            <a:r>
              <a:rPr lang="en-US" dirty="0"/>
              <a:t>Notes  </a:t>
            </a:r>
          </a:p>
        </p:txBody>
      </p:sp>
    </p:spTree>
    <p:extLst>
      <p:ext uri="{BB962C8B-B14F-4D97-AF65-F5344CB8AC3E}">
        <p14:creationId xmlns:p14="http://schemas.microsoft.com/office/powerpoint/2010/main" val="1877422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CDE77-6301-4505-8435-01A53CE93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77" y="75460"/>
            <a:ext cx="3133817" cy="1325563"/>
          </a:xfrm>
        </p:spPr>
        <p:txBody>
          <a:bodyPr/>
          <a:lstStyle/>
          <a:p>
            <a:pPr algn="ctr"/>
            <a:r>
              <a:rPr lang="en-US" dirty="0"/>
              <a:t>Review Venn diagrams </a:t>
            </a:r>
            <a:endParaRPr lang="en-AU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37EF23-8834-4552-B70A-CECDE1A5514E}"/>
              </a:ext>
            </a:extLst>
          </p:cNvPr>
          <p:cNvSpPr/>
          <p:nvPr/>
        </p:nvSpPr>
        <p:spPr>
          <a:xfrm>
            <a:off x="1364202" y="1919347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30C31EB-5FCB-4172-9188-9083028D23C6}"/>
              </a:ext>
            </a:extLst>
          </p:cNvPr>
          <p:cNvSpPr/>
          <p:nvPr/>
        </p:nvSpPr>
        <p:spPr>
          <a:xfrm>
            <a:off x="5378388" y="1825625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41822D-CDFF-4D05-8D4E-E679490FA1DE}"/>
              </a:ext>
            </a:extLst>
          </p:cNvPr>
          <p:cNvSpPr/>
          <p:nvPr/>
        </p:nvSpPr>
        <p:spPr>
          <a:xfrm>
            <a:off x="213064" y="1518082"/>
            <a:ext cx="11780668" cy="52644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C3C04E-8CAC-454B-8895-B80C7454D24F}"/>
              </a:ext>
            </a:extLst>
          </p:cNvPr>
          <p:cNvSpPr txBox="1"/>
          <p:nvPr/>
        </p:nvSpPr>
        <p:spPr>
          <a:xfrm>
            <a:off x="3222593" y="70954"/>
            <a:ext cx="17932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I do 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Draw on whiteboards 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8B36D5-6C21-4D79-B7FB-7596EBB5DEC3}"/>
              </a:ext>
            </a:extLst>
          </p:cNvPr>
          <p:cNvSpPr txBox="1"/>
          <p:nvPr/>
        </p:nvSpPr>
        <p:spPr>
          <a:xfrm>
            <a:off x="5601810" y="40754"/>
            <a:ext cx="61788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40 people where asked if they had a cat or dog </a:t>
            </a:r>
          </a:p>
          <a:p>
            <a:r>
              <a:rPr lang="en-US" b="1" dirty="0"/>
              <a:t>17 said they had a dog</a:t>
            </a:r>
          </a:p>
          <a:p>
            <a:r>
              <a:rPr lang="en-US" b="1" dirty="0"/>
              <a:t>15 said they had a cat </a:t>
            </a:r>
          </a:p>
          <a:p>
            <a:r>
              <a:rPr lang="en-US" b="1" dirty="0"/>
              <a:t>12 said they had both</a:t>
            </a:r>
            <a:endParaRPr lang="en-AU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AA1F38-D2BD-4D2B-AAFA-81C777EAB0F5}"/>
              </a:ext>
            </a:extLst>
          </p:cNvPr>
          <p:cNvSpPr txBox="1"/>
          <p:nvPr/>
        </p:nvSpPr>
        <p:spPr>
          <a:xfrm>
            <a:off x="3752294" y="2006354"/>
            <a:ext cx="781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Dog</a:t>
            </a:r>
            <a:endParaRPr lang="en-AU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680990-E552-4948-B3CC-3475DE91E572}"/>
              </a:ext>
            </a:extLst>
          </p:cNvPr>
          <p:cNvSpPr txBox="1"/>
          <p:nvPr/>
        </p:nvSpPr>
        <p:spPr>
          <a:xfrm>
            <a:off x="7895208" y="1954764"/>
            <a:ext cx="8581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Cat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660185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CDE77-6301-4505-8435-01A53CE93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77" y="75460"/>
            <a:ext cx="3133817" cy="1325563"/>
          </a:xfrm>
        </p:spPr>
        <p:txBody>
          <a:bodyPr/>
          <a:lstStyle/>
          <a:p>
            <a:pPr algn="ctr"/>
            <a:r>
              <a:rPr lang="en-US" dirty="0"/>
              <a:t>Review Venn diagrams </a:t>
            </a:r>
            <a:endParaRPr lang="en-AU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37EF23-8834-4552-B70A-CECDE1A5514E}"/>
              </a:ext>
            </a:extLst>
          </p:cNvPr>
          <p:cNvSpPr/>
          <p:nvPr/>
        </p:nvSpPr>
        <p:spPr>
          <a:xfrm>
            <a:off x="1364202" y="1919347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30C31EB-5FCB-4172-9188-9083028D23C6}"/>
              </a:ext>
            </a:extLst>
          </p:cNvPr>
          <p:cNvSpPr/>
          <p:nvPr/>
        </p:nvSpPr>
        <p:spPr>
          <a:xfrm>
            <a:off x="5378388" y="1825625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41822D-CDFF-4D05-8D4E-E679490FA1DE}"/>
              </a:ext>
            </a:extLst>
          </p:cNvPr>
          <p:cNvSpPr/>
          <p:nvPr/>
        </p:nvSpPr>
        <p:spPr>
          <a:xfrm>
            <a:off x="213064" y="1518082"/>
            <a:ext cx="11780668" cy="52644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C3C04E-8CAC-454B-8895-B80C7454D24F}"/>
              </a:ext>
            </a:extLst>
          </p:cNvPr>
          <p:cNvSpPr txBox="1"/>
          <p:nvPr/>
        </p:nvSpPr>
        <p:spPr>
          <a:xfrm>
            <a:off x="3222593" y="70954"/>
            <a:ext cx="17932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We do </a:t>
            </a:r>
          </a:p>
          <a:p>
            <a:r>
              <a:rPr lang="en-US" sz="2400" b="1" dirty="0">
                <a:highlight>
                  <a:srgbClr val="FFFF00"/>
                </a:highlight>
              </a:rPr>
              <a:t>Draw on whiteboards 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8B36D5-6C21-4D79-B7FB-7596EBB5DEC3}"/>
              </a:ext>
            </a:extLst>
          </p:cNvPr>
          <p:cNvSpPr txBox="1"/>
          <p:nvPr/>
        </p:nvSpPr>
        <p:spPr>
          <a:xfrm>
            <a:off x="5601810" y="40754"/>
            <a:ext cx="61788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40 people were asked if they watch AFL on TV or in person </a:t>
            </a:r>
          </a:p>
          <a:p>
            <a:r>
              <a:rPr lang="en-US" b="1" dirty="0"/>
              <a:t>17 said TV</a:t>
            </a:r>
          </a:p>
          <a:p>
            <a:r>
              <a:rPr lang="en-US" b="1" dirty="0"/>
              <a:t>19 said in person </a:t>
            </a:r>
          </a:p>
          <a:p>
            <a:r>
              <a:rPr lang="en-US" b="1" dirty="0"/>
              <a:t>10 said both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A0DDE7-8EB6-4599-B513-44E4D6C68E91}"/>
              </a:ext>
            </a:extLst>
          </p:cNvPr>
          <p:cNvSpPr txBox="1"/>
          <p:nvPr/>
        </p:nvSpPr>
        <p:spPr>
          <a:xfrm>
            <a:off x="3752294" y="2006354"/>
            <a:ext cx="781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TV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5CC8A1-A49C-4549-B759-44DDEC5C2AE2}"/>
              </a:ext>
            </a:extLst>
          </p:cNvPr>
          <p:cNvSpPr txBox="1"/>
          <p:nvPr/>
        </p:nvSpPr>
        <p:spPr>
          <a:xfrm>
            <a:off x="7315200" y="1919347"/>
            <a:ext cx="16512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 person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767050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CDE77-6301-4505-8435-01A53CE93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77" y="75460"/>
            <a:ext cx="3133817" cy="1325563"/>
          </a:xfrm>
        </p:spPr>
        <p:txBody>
          <a:bodyPr/>
          <a:lstStyle/>
          <a:p>
            <a:pPr algn="ctr"/>
            <a:r>
              <a:rPr lang="en-US" dirty="0"/>
              <a:t>Review Venn diagrams </a:t>
            </a:r>
            <a:endParaRPr lang="en-AU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37EF23-8834-4552-B70A-CECDE1A5514E}"/>
              </a:ext>
            </a:extLst>
          </p:cNvPr>
          <p:cNvSpPr/>
          <p:nvPr/>
        </p:nvSpPr>
        <p:spPr>
          <a:xfrm>
            <a:off x="1364202" y="1919347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30C31EB-5FCB-4172-9188-9083028D23C6}"/>
              </a:ext>
            </a:extLst>
          </p:cNvPr>
          <p:cNvSpPr/>
          <p:nvPr/>
        </p:nvSpPr>
        <p:spPr>
          <a:xfrm>
            <a:off x="5378388" y="1825625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41822D-CDFF-4D05-8D4E-E679490FA1DE}"/>
              </a:ext>
            </a:extLst>
          </p:cNvPr>
          <p:cNvSpPr/>
          <p:nvPr/>
        </p:nvSpPr>
        <p:spPr>
          <a:xfrm>
            <a:off x="213064" y="1518082"/>
            <a:ext cx="11780668" cy="526445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C3C04E-8CAC-454B-8895-B80C7454D24F}"/>
              </a:ext>
            </a:extLst>
          </p:cNvPr>
          <p:cNvSpPr txBox="1"/>
          <p:nvPr/>
        </p:nvSpPr>
        <p:spPr>
          <a:xfrm>
            <a:off x="3222593" y="70954"/>
            <a:ext cx="17932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You do 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8B36D5-6C21-4D79-B7FB-7596EBB5DEC3}"/>
              </a:ext>
            </a:extLst>
          </p:cNvPr>
          <p:cNvSpPr txBox="1"/>
          <p:nvPr/>
        </p:nvSpPr>
        <p:spPr>
          <a:xfrm>
            <a:off x="5601810" y="40754"/>
            <a:ext cx="61788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20 people were asked if they liked </a:t>
            </a:r>
            <a:r>
              <a:rPr lang="en-US" b="1" dirty="0" err="1"/>
              <a:t>Redbull</a:t>
            </a:r>
            <a:r>
              <a:rPr lang="en-US" b="1" dirty="0"/>
              <a:t> or V</a:t>
            </a:r>
          </a:p>
          <a:p>
            <a:r>
              <a:rPr lang="en-US" b="1" dirty="0"/>
              <a:t>14 said </a:t>
            </a:r>
            <a:r>
              <a:rPr lang="en-US" b="1" dirty="0" err="1"/>
              <a:t>Redbull</a:t>
            </a:r>
            <a:r>
              <a:rPr lang="en-US" b="1" dirty="0"/>
              <a:t> </a:t>
            </a:r>
          </a:p>
          <a:p>
            <a:r>
              <a:rPr lang="en-US" b="1" dirty="0"/>
              <a:t>8 said V </a:t>
            </a:r>
          </a:p>
          <a:p>
            <a:r>
              <a:rPr lang="en-US" b="1" dirty="0"/>
              <a:t>5 said both</a:t>
            </a:r>
            <a:endParaRPr lang="en-AU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0D1BB9-7F3C-46F8-B387-B6D7B56D7574}"/>
              </a:ext>
            </a:extLst>
          </p:cNvPr>
          <p:cNvSpPr txBox="1"/>
          <p:nvPr/>
        </p:nvSpPr>
        <p:spPr>
          <a:xfrm>
            <a:off x="3296575" y="2006354"/>
            <a:ext cx="1236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Redbull</a:t>
            </a:r>
            <a:endParaRPr lang="en-AU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33AAB4-01E9-4AE8-8AD3-DB73A61107C5}"/>
              </a:ext>
            </a:extLst>
          </p:cNvPr>
          <p:cNvSpPr txBox="1"/>
          <p:nvPr/>
        </p:nvSpPr>
        <p:spPr>
          <a:xfrm>
            <a:off x="7895208" y="1919347"/>
            <a:ext cx="7812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2649263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F5767-7501-43FB-A85A-F5F6C3C87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2339"/>
          </a:xfrm>
        </p:spPr>
        <p:txBody>
          <a:bodyPr/>
          <a:lstStyle/>
          <a:p>
            <a:pPr algn="ctr"/>
            <a:r>
              <a:rPr lang="en-AU" dirty="0"/>
              <a:t>Venn diagram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977ED5F-9AD9-48BF-A714-6170761F63F9}"/>
              </a:ext>
            </a:extLst>
          </p:cNvPr>
          <p:cNvSpPr/>
          <p:nvPr/>
        </p:nvSpPr>
        <p:spPr>
          <a:xfrm>
            <a:off x="1452979" y="2263805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D7F8159-4B82-4300-A724-C6522FD8D51C}"/>
              </a:ext>
            </a:extLst>
          </p:cNvPr>
          <p:cNvSpPr/>
          <p:nvPr/>
        </p:nvSpPr>
        <p:spPr>
          <a:xfrm>
            <a:off x="5467165" y="2170083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20AFB-52DE-4EDC-9F76-3F6A795B0570}"/>
              </a:ext>
            </a:extLst>
          </p:cNvPr>
          <p:cNvSpPr txBox="1"/>
          <p:nvPr/>
        </p:nvSpPr>
        <p:spPr>
          <a:xfrm>
            <a:off x="3606291" y="2352583"/>
            <a:ext cx="1073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Blue eyes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C8DF30-556E-4F67-A90C-EFE8CE4DD23C}"/>
              </a:ext>
            </a:extLst>
          </p:cNvPr>
          <p:cNvSpPr txBox="1"/>
          <p:nvPr/>
        </p:nvSpPr>
        <p:spPr>
          <a:xfrm>
            <a:off x="7766696" y="2263805"/>
            <a:ext cx="1212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solidFill>
                  <a:prstClr val="black"/>
                </a:solidFill>
                <a:latin typeface="Calibri" panose="020F0502020204030204"/>
              </a:rPr>
              <a:t>Brown hair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A1E5BE-4500-4A0E-9432-3D16A339512F}"/>
              </a:ext>
            </a:extLst>
          </p:cNvPr>
          <p:cNvSpPr txBox="1"/>
          <p:nvPr/>
        </p:nvSpPr>
        <p:spPr>
          <a:xfrm>
            <a:off x="5761798" y="3244334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solidFill>
                  <a:prstClr val="black"/>
                </a:solidFill>
                <a:latin typeface="Calibri" panose="020F0502020204030204"/>
              </a:rPr>
              <a:t>Both</a:t>
            </a: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D8EFA5-E445-4FE1-AB5D-86B9CA08EC9E}"/>
              </a:ext>
            </a:extLst>
          </p:cNvPr>
          <p:cNvSpPr/>
          <p:nvPr/>
        </p:nvSpPr>
        <p:spPr>
          <a:xfrm>
            <a:off x="213064" y="1518082"/>
            <a:ext cx="11780668" cy="526445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9CAEE4-694A-480B-A11D-C06C466A6B43}"/>
              </a:ext>
            </a:extLst>
          </p:cNvPr>
          <p:cNvSpPr txBox="1"/>
          <p:nvPr/>
        </p:nvSpPr>
        <p:spPr>
          <a:xfrm>
            <a:off x="284843" y="1060373"/>
            <a:ext cx="1529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 = ________ </a:t>
            </a:r>
          </a:p>
        </p:txBody>
      </p:sp>
    </p:spTree>
    <p:extLst>
      <p:ext uri="{BB962C8B-B14F-4D97-AF65-F5344CB8AC3E}">
        <p14:creationId xmlns:p14="http://schemas.microsoft.com/office/powerpoint/2010/main" val="4080562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F5767-7501-43FB-A85A-F5F6C3C87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2339"/>
          </a:xfrm>
        </p:spPr>
        <p:txBody>
          <a:bodyPr/>
          <a:lstStyle/>
          <a:p>
            <a:pPr algn="ctr"/>
            <a:r>
              <a:rPr lang="en-AU" dirty="0"/>
              <a:t>Venn diagram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977ED5F-9AD9-48BF-A714-6170761F63F9}"/>
              </a:ext>
            </a:extLst>
          </p:cNvPr>
          <p:cNvSpPr/>
          <p:nvPr/>
        </p:nvSpPr>
        <p:spPr>
          <a:xfrm>
            <a:off x="1452979" y="2263805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D7F8159-4B82-4300-A724-C6522FD8D51C}"/>
              </a:ext>
            </a:extLst>
          </p:cNvPr>
          <p:cNvSpPr/>
          <p:nvPr/>
        </p:nvSpPr>
        <p:spPr>
          <a:xfrm>
            <a:off x="5467165" y="2170083"/>
            <a:ext cx="5379868" cy="4443274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420AFB-52DE-4EDC-9F76-3F6A795B0570}"/>
              </a:ext>
            </a:extLst>
          </p:cNvPr>
          <p:cNvSpPr txBox="1"/>
          <p:nvPr/>
        </p:nvSpPr>
        <p:spPr>
          <a:xfrm>
            <a:off x="3606291" y="2352583"/>
            <a:ext cx="1073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Blue eyes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C8DF30-556E-4F67-A90C-EFE8CE4DD23C}"/>
              </a:ext>
            </a:extLst>
          </p:cNvPr>
          <p:cNvSpPr txBox="1"/>
          <p:nvPr/>
        </p:nvSpPr>
        <p:spPr>
          <a:xfrm>
            <a:off x="7766696" y="2263805"/>
            <a:ext cx="1212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solidFill>
                  <a:prstClr val="black"/>
                </a:solidFill>
                <a:latin typeface="Calibri" panose="020F0502020204030204"/>
              </a:rPr>
              <a:t>Brown hair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A1E5BE-4500-4A0E-9432-3D16A339512F}"/>
              </a:ext>
            </a:extLst>
          </p:cNvPr>
          <p:cNvSpPr txBox="1"/>
          <p:nvPr/>
        </p:nvSpPr>
        <p:spPr>
          <a:xfrm>
            <a:off x="5761798" y="3244334"/>
            <a:ext cx="683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solidFill>
                  <a:prstClr val="black"/>
                </a:solidFill>
                <a:latin typeface="Calibri" panose="020F0502020204030204"/>
              </a:rPr>
              <a:t>Both</a:t>
            </a: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D8EFA5-E445-4FE1-AB5D-86B9CA08EC9E}"/>
              </a:ext>
            </a:extLst>
          </p:cNvPr>
          <p:cNvSpPr/>
          <p:nvPr/>
        </p:nvSpPr>
        <p:spPr>
          <a:xfrm>
            <a:off x="213064" y="1518082"/>
            <a:ext cx="11780668" cy="5264458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9CAEE4-694A-480B-A11D-C06C466A6B43}"/>
              </a:ext>
            </a:extLst>
          </p:cNvPr>
          <p:cNvSpPr txBox="1"/>
          <p:nvPr/>
        </p:nvSpPr>
        <p:spPr>
          <a:xfrm>
            <a:off x="284843" y="1060373"/>
            <a:ext cx="1529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 = ________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FA3C03-726E-4E42-8F6B-A827B7435E6E}"/>
              </a:ext>
            </a:extLst>
          </p:cNvPr>
          <p:cNvSpPr txBox="1"/>
          <p:nvPr/>
        </p:nvSpPr>
        <p:spPr>
          <a:xfrm>
            <a:off x="3606290" y="3497344"/>
            <a:ext cx="635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2E32C0-AFAD-49E9-9F48-F6358F963E07}"/>
              </a:ext>
            </a:extLst>
          </p:cNvPr>
          <p:cNvSpPr txBox="1"/>
          <p:nvPr/>
        </p:nvSpPr>
        <p:spPr>
          <a:xfrm>
            <a:off x="5868846" y="4078821"/>
            <a:ext cx="635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12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1F4F47-0123-4103-A71F-C8D3B321403B}"/>
              </a:ext>
            </a:extLst>
          </p:cNvPr>
          <p:cNvSpPr txBox="1"/>
          <p:nvPr/>
        </p:nvSpPr>
        <p:spPr>
          <a:xfrm>
            <a:off x="7910727" y="3429000"/>
            <a:ext cx="635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15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651D56-185D-44BC-B041-37106B5BC36E}"/>
              </a:ext>
            </a:extLst>
          </p:cNvPr>
          <p:cNvSpPr txBox="1"/>
          <p:nvPr/>
        </p:nvSpPr>
        <p:spPr>
          <a:xfrm>
            <a:off x="731750" y="6030452"/>
            <a:ext cx="635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B7B0E5-EC30-4151-935E-45C3BC80AF3E}"/>
              </a:ext>
            </a:extLst>
          </p:cNvPr>
          <p:cNvSpPr txBox="1"/>
          <p:nvPr/>
        </p:nvSpPr>
        <p:spPr>
          <a:xfrm>
            <a:off x="914697" y="851256"/>
            <a:ext cx="6357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3752284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849C53-A005-4A3D-9AF5-5A646CC81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1325562"/>
          </a:xfrm>
        </p:spPr>
        <p:txBody>
          <a:bodyPr>
            <a:normAutofit lnSpcReduction="10000"/>
          </a:bodyPr>
          <a:lstStyle/>
          <a:p>
            <a:pPr algn="ctr"/>
            <a:r>
              <a:rPr lang="en-AU" dirty="0">
                <a:solidFill>
                  <a:srgbClr val="00B0F0"/>
                </a:solidFill>
              </a:rPr>
              <a:t>Notation </a:t>
            </a:r>
          </a:p>
          <a:p>
            <a:pPr algn="ctr"/>
            <a:r>
              <a:rPr lang="en-AU" dirty="0">
                <a:solidFill>
                  <a:srgbClr val="00B0F0"/>
                </a:solidFill>
              </a:rPr>
              <a:t>Let A: person with Blue eyes</a:t>
            </a:r>
          </a:p>
          <a:p>
            <a:pPr algn="ctr"/>
            <a:r>
              <a:rPr lang="en-AU" dirty="0">
                <a:solidFill>
                  <a:srgbClr val="00B0F0"/>
                </a:solidFill>
              </a:rPr>
              <a:t>Let B: person with brown hair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B2E31-E381-4E8A-825C-74C789B93E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3026053"/>
            <a:ext cx="5157787" cy="368458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P(A and B) 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P(A or B)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P(A or B not both)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P(A) </a:t>
            </a: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P(A’) – complimentary event (the opposite of something)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0F625F-2323-4A1A-95E5-D168FA4538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pPr algn="ctr"/>
            <a:r>
              <a:rPr lang="en-AU" dirty="0">
                <a:solidFill>
                  <a:srgbClr val="00B0F0"/>
                </a:solidFill>
              </a:rPr>
              <a:t>Example</a:t>
            </a:r>
            <a:r>
              <a:rPr lang="en-AU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8307FA4-8AB8-4122-A17B-B6F502BA751D}"/>
                  </a:ext>
                </a:extLst>
              </p:cNvPr>
              <p:cNvSpPr>
                <a:spLocks noGrp="1"/>
              </p:cNvSpPr>
              <p:nvPr>
                <p:ph sz="quarter" idx="4"/>
              </p:nvPr>
            </p:nvSpPr>
            <p:spPr>
              <a:xfrm>
                <a:off x="6172200" y="2824671"/>
                <a:ext cx="5183188" cy="3684588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P(B eyes and B hair)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       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P(B eyes or B hair)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                 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en-AU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         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r>
                  <a:rPr lang="en-AU" dirty="0">
                    <a:solidFill>
                      <a:srgbClr val="00B0F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(B eyes or B hair but not both)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             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40 </m:t>
                        </m:r>
                      </m:den>
                    </m:f>
                    <m:r>
                      <a:rPr lang="en-AU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  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P(blue eyes)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              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en-AU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          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endParaRPr lang="en-AU" dirty="0">
                  <a:solidFill>
                    <a:srgbClr val="00B0F0"/>
                  </a:solidFill>
                </a:endParaRPr>
              </a:p>
              <a:p>
                <a:pPr marL="0" indent="0">
                  <a:buNone/>
                </a:pPr>
                <a:r>
                  <a:rPr lang="en-AU" dirty="0">
                    <a:solidFill>
                      <a:srgbClr val="00B0F0"/>
                    </a:solidFill>
                  </a:rPr>
                  <a:t>P(not blue eyes)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           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a:rPr lang="en-AU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            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endParaRPr lang="en-AU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C8307FA4-8AB8-4122-A17B-B6F502BA7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"/>
              </p:nvPr>
            </p:nvSpPr>
            <p:spPr>
              <a:xfrm>
                <a:off x="6172200" y="2824671"/>
                <a:ext cx="5183188" cy="3684588"/>
              </a:xfrm>
              <a:blipFill>
                <a:blip r:embed="rId2"/>
                <a:stretch>
                  <a:fillRect l="-1529" t="-34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EAD69C9-E7F6-4A17-BF77-48DBE2B8E981}"/>
              </a:ext>
            </a:extLst>
          </p:cNvPr>
          <p:cNvSpPr txBox="1"/>
          <p:nvPr/>
        </p:nvSpPr>
        <p:spPr>
          <a:xfrm>
            <a:off x="2637297" y="718766"/>
            <a:ext cx="69174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>
                <a:solidFill>
                  <a:srgbClr val="00B0F0"/>
                </a:solidFill>
              </a:rPr>
              <a:t>Universal set = total number represented in diagram </a:t>
            </a:r>
          </a:p>
        </p:txBody>
      </p:sp>
    </p:spTree>
    <p:extLst>
      <p:ext uri="{BB962C8B-B14F-4D97-AF65-F5344CB8AC3E}">
        <p14:creationId xmlns:p14="http://schemas.microsoft.com/office/powerpoint/2010/main" val="4271854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Venn Diagrams – An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3539"/>
          </a:xfrm>
        </p:spPr>
        <p:txBody>
          <a:bodyPr>
            <a:normAutofit/>
          </a:bodyPr>
          <a:lstStyle/>
          <a:p>
            <a:r>
              <a:rPr lang="en-GB" dirty="0"/>
              <a:t>The Venn diagram below shows two events D and F.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Find:	a)  P(D and F)	b)  P(D’)		c)  P(D and F’)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		d)  P(D or F)		e)  P(D’ or F)		f) Universal 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575713" y="2442949"/>
            <a:ext cx="4148920" cy="23064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4267200" y="2681785"/>
            <a:ext cx="1828800" cy="1828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5306705" y="2681785"/>
            <a:ext cx="1828800" cy="1828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142097" y="2681785"/>
            <a:ext cx="491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38749" y="2681785"/>
            <a:ext cx="4913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3416" y="3316406"/>
            <a:ext cx="54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47816" y="3316406"/>
            <a:ext cx="54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3078" y="3316406"/>
            <a:ext cx="54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8307" y="4175794"/>
            <a:ext cx="54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E87DF7-A8A0-4F94-ABD9-550D759D9168}"/>
              </a:ext>
            </a:extLst>
          </p:cNvPr>
          <p:cNvSpPr txBox="1"/>
          <p:nvPr/>
        </p:nvSpPr>
        <p:spPr>
          <a:xfrm>
            <a:off x="9021452" y="584462"/>
            <a:ext cx="2149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Whiteboards</a:t>
            </a:r>
            <a:r>
              <a:rPr lang="en-US" sz="2400" dirty="0"/>
              <a:t> </a:t>
            </a:r>
            <a:endParaRPr lang="en-AU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0525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Venn Diagrams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Venn diagram below shows what some people had for breakfast.</a:t>
            </a:r>
          </a:p>
          <a:p>
            <a:pPr marL="0" indent="0">
              <a:buNone/>
            </a:pPr>
            <a:r>
              <a:rPr lang="en-GB" dirty="0"/>
              <a:t>   C is the event that they had cereal</a:t>
            </a:r>
          </a:p>
          <a:p>
            <a:pPr marL="0" indent="0">
              <a:buNone/>
            </a:pPr>
            <a:r>
              <a:rPr lang="en-GB" dirty="0"/>
              <a:t>   O is the event that they had OJ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7560860" y="2456597"/>
            <a:ext cx="4271749" cy="23747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8352430" y="2688609"/>
            <a:ext cx="1665027" cy="16650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9342462" y="2688608"/>
            <a:ext cx="1665027" cy="16650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54336" y="2688608"/>
            <a:ext cx="504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48832" y="2688608"/>
            <a:ext cx="504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0543" y="3521121"/>
            <a:ext cx="530897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Find: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P(did not have Cereal)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P(</a:t>
            </a:r>
            <a:r>
              <a:rPr lang="en-GB" sz="2800" dirty="0">
                <a:solidFill>
                  <a:prstClr val="black"/>
                </a:solidFill>
                <a:latin typeface="Calibri" panose="020F0502020204030204"/>
              </a:rPr>
              <a:t>Had Cereal but not OJ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arenR"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</a:t>
            </a:r>
            <a:r>
              <a:rPr lang="en-GB" sz="2800" dirty="0">
                <a:solidFill>
                  <a:prstClr val="black"/>
                </a:solidFill>
                <a:latin typeface="Calibri" panose="020F0502020204030204"/>
              </a:rPr>
              <a:t>(Did not have cereal or OJ</a:t>
            </a: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6137" y="3261815"/>
            <a:ext cx="49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66813" y="3261815"/>
            <a:ext cx="49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94762" y="3274620"/>
            <a:ext cx="49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64520" y="4353634"/>
            <a:ext cx="49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8178B9-EC1D-49EB-A5C7-BE02A9CF9D24}"/>
              </a:ext>
            </a:extLst>
          </p:cNvPr>
          <p:cNvSpPr txBox="1"/>
          <p:nvPr/>
        </p:nvSpPr>
        <p:spPr>
          <a:xfrm>
            <a:off x="9021452" y="584462"/>
            <a:ext cx="2149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highlight>
                  <a:srgbClr val="FFFF00"/>
                </a:highlight>
              </a:rPr>
              <a:t>Whiteboards</a:t>
            </a:r>
            <a:r>
              <a:rPr lang="en-US" sz="2400" dirty="0"/>
              <a:t> </a:t>
            </a:r>
            <a:endParaRPr lang="en-AU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8728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Venn Diagrams – Conditional 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‘Given that…’ questions in Venn diagrams narrow down the number of possible outcomes to just this part of the Venn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7574507" y="3125337"/>
            <a:ext cx="4271749" cy="23747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/>
          <p:cNvSpPr/>
          <p:nvPr/>
        </p:nvSpPr>
        <p:spPr>
          <a:xfrm>
            <a:off x="8366077" y="3357349"/>
            <a:ext cx="1665027" cy="16650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9356109" y="3357348"/>
            <a:ext cx="1665027" cy="1665027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67983" y="3357348"/>
            <a:ext cx="504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62479" y="3357348"/>
            <a:ext cx="5049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dirty="0">
                <a:solidFill>
                  <a:prstClr val="black"/>
                </a:solidFill>
                <a:latin typeface="Calibri" panose="020F0502020204030204"/>
              </a:rPr>
              <a:t>OJ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39784" y="3930555"/>
            <a:ext cx="49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0460" y="3930555"/>
            <a:ext cx="49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8409" y="3943360"/>
            <a:ext cx="49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78167" y="5022374"/>
            <a:ext cx="491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6560" y="2743032"/>
            <a:ext cx="55136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Given that a person had cereal, what is the probability they didn’t have OJ?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116560" y="4560709"/>
                <a:ext cx="5513695" cy="21246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You are only selecting from those who had cereal, so it’s now out of only 54</a:t>
                </a: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kumimoji="0" lang="en-GB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GB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Of these 54, 19 didn’t have OJ, so the answer is 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GB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GB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19</m:t>
                        </m:r>
                      </m:num>
                      <m:den>
                        <m:r>
                          <a:rPr kumimoji="0" lang="en-GB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54</m:t>
                        </m:r>
                      </m:den>
                    </m:f>
                  </m:oMath>
                </a14:m>
                <a:endParaRPr kumimoji="0" lang="en-GB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560" y="4560709"/>
                <a:ext cx="5513695" cy="2124684"/>
              </a:xfrm>
              <a:prstGeom prst="rect">
                <a:avLst/>
              </a:prstGeom>
              <a:blipFill>
                <a:blip r:embed="rId3"/>
                <a:stretch>
                  <a:fillRect l="-1436" t="-2292" b="-57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225749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7967F-3190-48B4-9527-8F02C4CF6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4A34D-FD2F-4B00-859A-E7D3909BF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45 people were asked about the types of pets they have.</a:t>
            </a:r>
          </a:p>
          <a:p>
            <a:pPr marL="0" indent="0">
              <a:buNone/>
            </a:pPr>
            <a:r>
              <a:rPr lang="en-US" b="1" dirty="0"/>
              <a:t>25 said they had a dog.</a:t>
            </a:r>
          </a:p>
          <a:p>
            <a:pPr marL="0" indent="0">
              <a:buNone/>
            </a:pPr>
            <a:r>
              <a:rPr lang="en-US" b="1" dirty="0"/>
              <a:t>21 said they had a cat.</a:t>
            </a:r>
          </a:p>
          <a:p>
            <a:pPr marL="0" indent="0">
              <a:buNone/>
            </a:pPr>
            <a:r>
              <a:rPr lang="en-US" b="1" dirty="0"/>
              <a:t>15 said they had both. </a:t>
            </a:r>
          </a:p>
          <a:p>
            <a:pPr marL="0" indent="0">
              <a:buNone/>
            </a:pPr>
            <a:endParaRPr lang="en-US" b="1" dirty="0"/>
          </a:p>
          <a:p>
            <a:pPr marL="514350" indent="-514350">
              <a:buAutoNum type="arabicPeriod"/>
            </a:pPr>
            <a:r>
              <a:rPr lang="en-US" b="1" dirty="0"/>
              <a:t>Draw a Venn diagram </a:t>
            </a:r>
          </a:p>
          <a:p>
            <a:pPr marL="514350" indent="-514350">
              <a:buAutoNum type="arabicPeriod"/>
            </a:pPr>
            <a:r>
              <a:rPr lang="en-US" b="1" dirty="0"/>
              <a:t>What is the probability of selecting someone with just a cat? </a:t>
            </a:r>
          </a:p>
          <a:p>
            <a:pPr marL="514350" indent="-514350">
              <a:buAutoNum type="arabicPeriod"/>
            </a:pPr>
            <a:r>
              <a:rPr lang="en-US" b="1" dirty="0"/>
              <a:t>P(some one who has a cat and a dog) </a:t>
            </a:r>
          </a:p>
          <a:p>
            <a:pPr marL="514350" indent="-514350">
              <a:buAutoNum type="arabicPeriod"/>
            </a:pPr>
            <a:r>
              <a:rPr lang="en-US" b="1" dirty="0"/>
              <a:t>P(someone who does not have a dog) </a:t>
            </a:r>
          </a:p>
          <a:p>
            <a:pPr marL="514350" indent="-514350">
              <a:buAutoNum type="arabicPeriod"/>
            </a:pPr>
            <a:r>
              <a:rPr lang="en-US" b="1" dirty="0"/>
              <a:t>Given this person has a dog, P(they have a cat too) </a:t>
            </a:r>
            <a:endParaRPr lang="en-AU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53F5FE-8DC8-43B1-A4B7-CDA3D8BDFA17}"/>
                  </a:ext>
                </a:extLst>
              </p:cNvPr>
              <p:cNvSpPr txBox="1"/>
              <p:nvPr/>
            </p:nvSpPr>
            <p:spPr>
              <a:xfrm>
                <a:off x="10119804" y="4395659"/>
                <a:ext cx="2467992" cy="26945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𝟒𝟓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𝟏𝟓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𝟒𝟓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𝟐𝟎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𝟒𝟓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𝟏𝟓</m:t>
                          </m:r>
                        </m:num>
                        <m:den>
                          <m:r>
                            <a:rPr lang="en-US" sz="20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𝟐𝟓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E53F5FE-8DC8-43B1-A4B7-CDA3D8BDF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9804" y="4395659"/>
                <a:ext cx="2467992" cy="26945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8472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00395-CA44-4184-9DB5-E15ED10A2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67FD4-8898-4257-B721-D4B18FFB7E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100 people were asked if they eat KFC or Maccas.</a:t>
            </a:r>
          </a:p>
          <a:p>
            <a:pPr marL="0" indent="0">
              <a:buNone/>
            </a:pPr>
            <a:r>
              <a:rPr lang="en-US" dirty="0"/>
              <a:t>45 people said they eat KFC</a:t>
            </a:r>
          </a:p>
          <a:p>
            <a:pPr marL="0" indent="0">
              <a:buNone/>
            </a:pPr>
            <a:r>
              <a:rPr lang="en-US" dirty="0"/>
              <a:t>50 people said they eat Maccas</a:t>
            </a:r>
          </a:p>
          <a:p>
            <a:pPr marL="0" indent="0">
              <a:buNone/>
            </a:pPr>
            <a:r>
              <a:rPr lang="en-US" dirty="0"/>
              <a:t>27 people said they eat both.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a Venn diagram.</a:t>
            </a:r>
          </a:p>
          <a:p>
            <a:pPr>
              <a:buFontTx/>
              <a:buChar char="-"/>
            </a:pPr>
            <a:r>
              <a:rPr lang="en-US" dirty="0"/>
              <a:t>P(someone who only eats KFC)</a:t>
            </a:r>
          </a:p>
          <a:p>
            <a:pPr>
              <a:buFontTx/>
              <a:buChar char="-"/>
            </a:pPr>
            <a:r>
              <a:rPr lang="en-US" dirty="0"/>
              <a:t>P(Eats neither)</a:t>
            </a:r>
          </a:p>
          <a:p>
            <a:pPr>
              <a:buFontTx/>
              <a:buChar char="-"/>
            </a:pPr>
            <a:r>
              <a:rPr lang="en-AU" dirty="0"/>
              <a:t>P(Doesn’t eat KFC) </a:t>
            </a:r>
          </a:p>
          <a:p>
            <a:pPr>
              <a:buFontTx/>
              <a:buChar char="-"/>
            </a:pPr>
            <a:r>
              <a:rPr lang="en-AU" dirty="0"/>
              <a:t>Given they eat Maccas, P(they eat KFC too)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026D1F-A22B-42F8-9343-E70C07F6C481}"/>
                  </a:ext>
                </a:extLst>
              </p:cNvPr>
              <p:cNvSpPr txBox="1"/>
              <p:nvPr/>
            </p:nvSpPr>
            <p:spPr>
              <a:xfrm>
                <a:off x="8663866" y="3408710"/>
                <a:ext cx="2467992" cy="3287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endParaRPr lang="en-AU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endParaRPr lang="en-AU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55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b="0" dirty="0">
                  <a:solidFill>
                    <a:srgbClr val="FF0000"/>
                  </a:solidFill>
                </a:endParaRPr>
              </a:p>
              <a:p>
                <a:endParaRPr lang="en-AU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27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US" b="0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6026D1F-A22B-42F8-9343-E70C07F6C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866" y="3408710"/>
                <a:ext cx="2467992" cy="32875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7432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1"/>
  <p:tag name="TIME" val="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675</Words>
  <Application>Microsoft Office PowerPoint</Application>
  <PresentationFormat>Widescreen</PresentationFormat>
  <Paragraphs>159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Lesson objective </vt:lpstr>
      <vt:lpstr>Review Venn diagrams </vt:lpstr>
      <vt:lpstr>Review Venn diagrams </vt:lpstr>
      <vt:lpstr>Review Venn diagrams </vt:lpstr>
      <vt:lpstr>Venn diagram </vt:lpstr>
      <vt:lpstr>Venn diagram </vt:lpstr>
      <vt:lpstr>PowerPoint Presentation</vt:lpstr>
      <vt:lpstr>Venn Diagrams – An Example</vt:lpstr>
      <vt:lpstr>Venn Diagrams</vt:lpstr>
      <vt:lpstr>Venn Diagrams – Conditional Probability</vt:lpstr>
      <vt:lpstr>Whiteboards </vt:lpstr>
      <vt:lpstr>Whiteboards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2</cp:revision>
  <dcterms:created xsi:type="dcterms:W3CDTF">2022-05-30T02:46:48Z</dcterms:created>
  <dcterms:modified xsi:type="dcterms:W3CDTF">2022-05-30T03:13:13Z</dcterms:modified>
</cp:coreProperties>
</file>
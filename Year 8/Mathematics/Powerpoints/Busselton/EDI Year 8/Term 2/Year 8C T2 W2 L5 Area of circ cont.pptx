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5" r:id="rId3"/>
    <p:sldId id="280" r:id="rId4"/>
    <p:sldId id="274" r:id="rId5"/>
    <p:sldId id="277" r:id="rId6"/>
    <p:sldId id="266" r:id="rId7"/>
    <p:sldId id="269" r:id="rId8"/>
    <p:sldId id="270" r:id="rId9"/>
    <p:sldId id="257" r:id="rId10"/>
    <p:sldId id="258" r:id="rId11"/>
    <p:sldId id="259" r:id="rId12"/>
    <p:sldId id="28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BAE107-8A17-4DE7-9DE8-4C6C251C72F9}" type="datetimeFigureOut">
              <a:rPr lang="en-AU" smtClean="0"/>
              <a:t>4/05/2022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5A708B-0A5B-4A8E-BF41-1A63556CD8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818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CAE635-671D-43CE-BA87-203D31E329F1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47842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6944478D-5411-4448-BB0C-545D1152D7F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2B96B12A-3EDA-406B-BF30-9C70D79DA15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4D767AC3-912E-4A4B-B10E-E55094571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96960E8-5C88-424B-AC51-A46E3A9357C9}" type="slidenum">
              <a:rPr lang="en-GB" altLang="en-US">
                <a:latin typeface="Calibri" panose="020F0502020204030204" pitchFamily="34" charset="0"/>
              </a:rPr>
              <a:pPr eaLnBrk="1" hangingPunct="1"/>
              <a:t>6</a:t>
            </a:fld>
            <a:endParaRPr lang="en-GB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509CC467-D161-4DA4-B1CC-AA6ABB30CB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F37BD7A4-87FE-47B3-85E2-9FEDF37A52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54C17777-C346-4D05-83D5-F2DBCBB968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045B871-2681-4F71-B51F-7136405DE563}" type="slidenum">
              <a:rPr lang="en-GB" altLang="en-US">
                <a:latin typeface="Calibri" panose="020F0502020204030204" pitchFamily="34" charset="0"/>
              </a:rPr>
              <a:pPr eaLnBrk="1" hangingPunct="1"/>
              <a:t>7</a:t>
            </a:fld>
            <a:endParaRPr lang="en-GB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FA506377-D1C2-4D81-8B79-E104441B817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0C249C84-1828-4B3A-BCA3-EB9F857AAC5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FC6BC5A4-D86E-4BDB-B882-21488A7DD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E583115-5A36-466C-A6EE-8F4B3C787069}" type="slidenum">
              <a:rPr lang="en-GB" altLang="en-US">
                <a:latin typeface="Calibri" panose="020F0502020204030204" pitchFamily="34" charset="0"/>
              </a:rPr>
              <a:pPr eaLnBrk="1" hangingPunct="1"/>
              <a:t>8</a:t>
            </a:fld>
            <a:endParaRPr lang="en-GB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AFF8E-70AA-4FF1-B739-A75FDDEC0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55D410-ABAE-4EB2-ACDC-FF3CE1FC0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672E0-1790-4424-9619-BDAD79A72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70B52-B27F-4C33-8139-BC93D12B710A}" type="datetimeFigureOut">
              <a:rPr lang="en-AU" smtClean="0"/>
              <a:t>4/05/2022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6CE30-89F7-435B-ABA5-63D260F3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4A43C-DF02-4DC3-910C-4042DE2A7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3754-35EF-4099-9A4E-5B3351E0AD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41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81A90-C156-49F9-9028-DE083A115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2E048-681F-4BCA-958B-8B3FFDADA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89BD3-4038-4DA6-8CEC-217D3FE9E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70B52-B27F-4C33-8139-BC93D12B710A}" type="datetimeFigureOut">
              <a:rPr lang="en-AU" smtClean="0"/>
              <a:t>4/05/2022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D3797-FDE1-480C-9DB4-DB223FC97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D15EC-6E1A-4876-BE31-7F3546728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3754-35EF-4099-9A4E-5B3351E0AD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315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DD747-97BA-483A-BE0C-3727E4776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D7FE1-1836-41FB-8810-74F5CD045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09DCC-D4D2-4B02-AEF9-3E46E765A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70B52-B27F-4C33-8139-BC93D12B710A}" type="datetimeFigureOut">
              <a:rPr lang="en-AU" smtClean="0"/>
              <a:t>4/05/2022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89AD7-559B-411B-910C-9FD1A220B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BD22E-6061-4038-A0BD-7CFE454DF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3754-35EF-4099-9A4E-5B3351E0AD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6599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9E410-32AF-4791-8261-73B63B9A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67295-C963-4A29-962D-C764C81733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F279BE-66A6-4042-8010-01D1718C4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32702-7B01-4B18-B4C6-1D61FDB79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70B52-B27F-4C33-8139-BC93D12B710A}" type="datetimeFigureOut">
              <a:rPr lang="en-AU" smtClean="0"/>
              <a:t>4/05/2022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9E174-1B92-4B8C-B4C4-AC51BCCA1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A54EA-C81C-4BCF-BF5A-64D03EBF1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3754-35EF-4099-9A4E-5B3351E0AD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3365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BF93F-D810-4D6F-BE0E-00B4484F5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71955-CB53-43AD-BF84-9EFD021DC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AE4A7-5368-4D73-A442-8FA14F87F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4BA4E2-6C5E-4F47-8E70-2CEEDC64E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88FA48-B8D5-4166-84D0-EDA2F85D6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1A726B-39A6-4246-9FA8-16C5EFB76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70B52-B27F-4C33-8139-BC93D12B710A}" type="datetimeFigureOut">
              <a:rPr lang="en-AU" smtClean="0"/>
              <a:t>4/05/2022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D6F453-507E-47A8-8D13-B0B86FAC2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A1B361-BABF-4A2A-800F-C67455E55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3754-35EF-4099-9A4E-5B3351E0AD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0316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21A4-197A-4A0C-AB3E-D1385CB7A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20DB0-C519-42BF-8648-21A37A529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70B52-B27F-4C33-8139-BC93D12B710A}" type="datetimeFigureOut">
              <a:rPr lang="en-AU" smtClean="0"/>
              <a:t>4/05/2022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B3E50E-75D8-42F5-9D2B-2EE98A0C0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F810B-C538-4CCB-A510-6315E2490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3754-35EF-4099-9A4E-5B3351E0AD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47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70221A-5E91-46DF-B1D3-1B96867C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70B52-B27F-4C33-8139-BC93D12B710A}" type="datetimeFigureOut">
              <a:rPr lang="en-AU" smtClean="0"/>
              <a:t>4/05/2022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67E12D-455D-4F07-8E4C-A5DC5EA32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B142F-9886-4467-AA56-7040BF8FB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3754-35EF-4099-9A4E-5B3351E0AD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3085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8DE0F-8251-4B73-9910-822125092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0C9B1-76EB-4F9C-8FA1-9015E6AB5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3C679-F303-41B8-884E-665A9A4AFD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516F4-4087-4243-A887-2B22B077C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70B52-B27F-4C33-8139-BC93D12B710A}" type="datetimeFigureOut">
              <a:rPr lang="en-AU" smtClean="0"/>
              <a:t>4/05/2022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79D67-13D9-4715-B028-89FCF6BE7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4009F-36E2-4C48-B35E-1DA38F15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3754-35EF-4099-9A4E-5B3351E0AD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9079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01EBC-E548-4592-93C0-3B7AB07BD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E826E1-494B-4508-A8F7-783E935037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A5874-4A0F-4CA5-BBB0-441F2E9A0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1F8A1D-3111-464E-AE57-C5EAB1CA2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70B52-B27F-4C33-8139-BC93D12B710A}" type="datetimeFigureOut">
              <a:rPr lang="en-AU" smtClean="0"/>
              <a:t>4/05/2022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AC512-17F6-463B-AE41-1097AF3E2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9FB1C-B853-4B16-AA32-C3A76530F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3754-35EF-4099-9A4E-5B3351E0AD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4564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E881B-0F9E-44F8-85B7-A2B55211B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BFF2D4-83A9-4CD5-A84D-1E95682B5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4CBF0-BB05-4CB8-B2F9-5E412F35B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70B52-B27F-4C33-8139-BC93D12B710A}" type="datetimeFigureOut">
              <a:rPr lang="en-AU" smtClean="0"/>
              <a:t>4/05/2022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778A6-B188-4A30-913E-143A00DC6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B788B-5070-48A8-95EE-67165E7AC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3754-35EF-4099-9A4E-5B3351E0AD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8278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1EDA00-FED6-4D7C-8170-5987C1E040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E1505F-E707-44EC-AF43-444789ED0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7CC78-98F7-49B3-ACF3-CC01F9D9E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70B52-B27F-4C33-8139-BC93D12B710A}" type="datetimeFigureOut">
              <a:rPr lang="en-AU" smtClean="0"/>
              <a:t>4/05/2022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3057B-662A-4D41-ABF8-3AD06EB10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6E3C-8530-434F-A5F1-1CC8FFCFD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3754-35EF-4099-9A4E-5B3351E0AD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9871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81ACD0-080F-4961-916B-EB1AD9A0C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962CB-1322-45F4-98DF-CD699AA29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4875D-D42F-4C3F-BDF1-0823C4112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70B52-B27F-4C33-8139-BC93D12B710A}" type="datetimeFigureOut">
              <a:rPr lang="en-AU" smtClean="0"/>
              <a:t>4/05/2022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79961-57D8-4B04-AB5B-3DCD8528A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E0B5B-F77D-4ACF-815F-6C196F850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53754-35EF-4099-9A4E-5B3351E0AD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047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042961-B31B-4089-A3B9-4BAFD381A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377391-BD86-494E-9A50-4FDFE7968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Circumference and Area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2800" dirty="0">
                <a:solidFill>
                  <a:srgbClr val="00B0F0"/>
                </a:solidFill>
              </a:rPr>
              <a:t> Practicing calculating area and circumference of a circle</a:t>
            </a:r>
            <a:endParaRPr lang="en-US" sz="28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key features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Calculating circumference and area</a:t>
            </a:r>
            <a:endParaRPr lang="en-A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851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18AFB-2687-4CEC-8B70-FB58C163E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20DE0-78B0-4476-877B-5942DF707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Circumference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Circle edge/perimeter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Radius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From center of the circle to outside edge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Diameter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Straight line through the center, edge to edge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Diameter is twice the length of its radius  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E5395-0C76-4FC5-8B55-AC9C6C766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7E66A-2C71-4391-948A-6C8225AEA678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92618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18AFB-2687-4CEC-8B70-FB58C163E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20DE0-78B0-4476-877B-5942DF707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Circumference </a:t>
            </a:r>
          </a:p>
          <a:p>
            <a:pPr>
              <a:buFontTx/>
              <a:buChar char="-"/>
            </a:pPr>
            <a:r>
              <a:rPr lang="en-US" dirty="0"/>
              <a:t>Circle edge/perimeter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Radius </a:t>
            </a:r>
          </a:p>
          <a:p>
            <a:pPr>
              <a:buFontTx/>
              <a:buChar char="-"/>
            </a:pPr>
            <a:r>
              <a:rPr lang="en-US" dirty="0"/>
              <a:t>From center of the circle to outside edge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Diameter </a:t>
            </a:r>
          </a:p>
          <a:p>
            <a:pPr>
              <a:buFontTx/>
              <a:buChar char="-"/>
            </a:pPr>
            <a:r>
              <a:rPr lang="en-US" dirty="0"/>
              <a:t>Straight line through the center, edge to edge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Diameter is twice the length of its radius  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E5395-0C76-4FC5-8B55-AC9C6C766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7E66A-2C71-4391-948A-6C8225AEA678}" type="slidenum">
              <a:rPr lang="en-GB" altLang="en-US" smtClean="0"/>
              <a:pPr/>
              <a:t>3</a:t>
            </a:fld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946BEA-2D44-4B02-9860-4FFEFF57B8E2}"/>
              </a:ext>
            </a:extLst>
          </p:cNvPr>
          <p:cNvSpPr/>
          <p:nvPr/>
        </p:nvSpPr>
        <p:spPr>
          <a:xfrm>
            <a:off x="1934333" y="2178231"/>
            <a:ext cx="331236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AE24F0-0B63-489F-9E06-24B79A06B6CD}"/>
              </a:ext>
            </a:extLst>
          </p:cNvPr>
          <p:cNvSpPr/>
          <p:nvPr/>
        </p:nvSpPr>
        <p:spPr>
          <a:xfrm>
            <a:off x="1934333" y="3406374"/>
            <a:ext cx="598973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705F49-BC47-46A0-82EF-97B7694C1376}"/>
              </a:ext>
            </a:extLst>
          </p:cNvPr>
          <p:cNvSpPr/>
          <p:nvPr/>
        </p:nvSpPr>
        <p:spPr>
          <a:xfrm>
            <a:off x="2794247" y="4541989"/>
            <a:ext cx="4405543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37DC64-5620-4A49-9791-2C86529D7A1A}"/>
              </a:ext>
            </a:extLst>
          </p:cNvPr>
          <p:cNvSpPr/>
          <p:nvPr/>
        </p:nvSpPr>
        <p:spPr>
          <a:xfrm>
            <a:off x="2486727" y="5414775"/>
            <a:ext cx="417646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574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756B-B287-4E66-B936-35AD0BA89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do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61B3BA-FF46-4AE6-ACB3-588D183077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Circumference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61B3BA-FF46-4AE6-ACB3-588D183077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9AF50F5-CDA3-4770-83CF-94E81C1213BE}"/>
              </a:ext>
            </a:extLst>
          </p:cNvPr>
          <p:cNvSpPr/>
          <p:nvPr/>
        </p:nvSpPr>
        <p:spPr>
          <a:xfrm>
            <a:off x="1657984" y="2819065"/>
            <a:ext cx="2160240" cy="2088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02024B5-F3C2-4BB4-A4ED-60B85B6E9B4A}"/>
              </a:ext>
            </a:extLst>
          </p:cNvPr>
          <p:cNvSpPr/>
          <p:nvPr/>
        </p:nvSpPr>
        <p:spPr>
          <a:xfrm>
            <a:off x="7824192" y="2780928"/>
            <a:ext cx="2160240" cy="2088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4FF6FC-A950-45FF-BD0D-73F99D852435}"/>
              </a:ext>
            </a:extLst>
          </p:cNvPr>
          <p:cNvCxnSpPr>
            <a:stCxn id="5" idx="7"/>
          </p:cNvCxnSpPr>
          <p:nvPr/>
        </p:nvCxnSpPr>
        <p:spPr>
          <a:xfrm flipH="1">
            <a:off x="2783632" y="3124879"/>
            <a:ext cx="718232" cy="73830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8E4D2A-C2A8-47E1-A68F-62DBAA2A7A84}"/>
              </a:ext>
            </a:extLst>
          </p:cNvPr>
          <p:cNvCxnSpPr>
            <a:stCxn id="6" idx="2"/>
            <a:endCxn id="6" idx="6"/>
          </p:cNvCxnSpPr>
          <p:nvPr/>
        </p:nvCxnSpPr>
        <p:spPr>
          <a:xfrm>
            <a:off x="7824192" y="3825044"/>
            <a:ext cx="216024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AEF4BC-3FDC-425F-9057-8F5AC21E7A17}"/>
              </a:ext>
            </a:extLst>
          </p:cNvPr>
          <p:cNvSpPr txBox="1"/>
          <p:nvPr/>
        </p:nvSpPr>
        <p:spPr>
          <a:xfrm>
            <a:off x="7850464" y="274638"/>
            <a:ext cx="22777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Write the rule 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Substitute numbers 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Solve </a:t>
            </a:r>
            <a:endParaRPr lang="en-AU" b="1" dirty="0">
              <a:solidFill>
                <a:srgbClr val="00B0F0"/>
              </a:solidFill>
            </a:endParaRPr>
          </a:p>
          <a:p>
            <a:endParaRPr lang="en-A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470DE6-33D4-47B2-8581-52335333ECB7}"/>
              </a:ext>
            </a:extLst>
          </p:cNvPr>
          <p:cNvSpPr txBox="1"/>
          <p:nvPr/>
        </p:nvSpPr>
        <p:spPr>
          <a:xfrm>
            <a:off x="2392110" y="3124880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5cm</a:t>
            </a:r>
            <a:endParaRPr lang="en-AU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ADB443-CAEF-4D62-A486-D4DEDFCE3303}"/>
              </a:ext>
            </a:extLst>
          </p:cNvPr>
          <p:cNvSpPr txBox="1"/>
          <p:nvPr/>
        </p:nvSpPr>
        <p:spPr>
          <a:xfrm>
            <a:off x="8585448" y="3406079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6cm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911050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756B-B287-4E66-B936-35AD0BA89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do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61B3BA-FF46-4AE6-ACB3-588D183077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Circumference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61B3BA-FF46-4AE6-ACB3-588D183077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9AF50F5-CDA3-4770-83CF-94E81C1213BE}"/>
              </a:ext>
            </a:extLst>
          </p:cNvPr>
          <p:cNvSpPr/>
          <p:nvPr/>
        </p:nvSpPr>
        <p:spPr>
          <a:xfrm>
            <a:off x="1657984" y="2819065"/>
            <a:ext cx="2160240" cy="2088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02024B5-F3C2-4BB4-A4ED-60B85B6E9B4A}"/>
              </a:ext>
            </a:extLst>
          </p:cNvPr>
          <p:cNvSpPr/>
          <p:nvPr/>
        </p:nvSpPr>
        <p:spPr>
          <a:xfrm>
            <a:off x="7824192" y="2780928"/>
            <a:ext cx="2160240" cy="2088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4FF6FC-A950-45FF-BD0D-73F99D852435}"/>
              </a:ext>
            </a:extLst>
          </p:cNvPr>
          <p:cNvCxnSpPr>
            <a:stCxn id="5" idx="7"/>
          </p:cNvCxnSpPr>
          <p:nvPr/>
        </p:nvCxnSpPr>
        <p:spPr>
          <a:xfrm flipH="1">
            <a:off x="2783632" y="3124879"/>
            <a:ext cx="718232" cy="73830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8E4D2A-C2A8-47E1-A68F-62DBAA2A7A84}"/>
              </a:ext>
            </a:extLst>
          </p:cNvPr>
          <p:cNvCxnSpPr>
            <a:stCxn id="6" idx="2"/>
            <a:endCxn id="6" idx="6"/>
          </p:cNvCxnSpPr>
          <p:nvPr/>
        </p:nvCxnSpPr>
        <p:spPr>
          <a:xfrm>
            <a:off x="7824192" y="3825044"/>
            <a:ext cx="216024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AEF4BC-3FDC-425F-9057-8F5AC21E7A17}"/>
              </a:ext>
            </a:extLst>
          </p:cNvPr>
          <p:cNvSpPr txBox="1"/>
          <p:nvPr/>
        </p:nvSpPr>
        <p:spPr>
          <a:xfrm>
            <a:off x="7850464" y="274638"/>
            <a:ext cx="22777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Write the rule 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Substitute numbers 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Solve </a:t>
            </a:r>
            <a:endParaRPr lang="en-AU" b="1" dirty="0">
              <a:solidFill>
                <a:srgbClr val="00B0F0"/>
              </a:solidFill>
            </a:endParaRPr>
          </a:p>
          <a:p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5FF819-E0BD-4A72-9EE0-AB7274563FD9}"/>
              </a:ext>
            </a:extLst>
          </p:cNvPr>
          <p:cNvSpPr txBox="1"/>
          <p:nvPr/>
        </p:nvSpPr>
        <p:spPr>
          <a:xfrm>
            <a:off x="2392110" y="3124880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7cm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E17BCA-0988-4208-943F-5EF0D5609D53}"/>
              </a:ext>
            </a:extLst>
          </p:cNvPr>
          <p:cNvSpPr txBox="1"/>
          <p:nvPr/>
        </p:nvSpPr>
        <p:spPr>
          <a:xfrm>
            <a:off x="8595750" y="3429001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8cm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496222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3433B7-0303-41B7-911B-AE317E292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69550" y="6492876"/>
            <a:ext cx="29845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73C4E5D-00B7-4159-AB5D-7CE798869338}" type="slidenum">
              <a:rPr lang="en-GB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6</a:t>
            </a:fld>
            <a:endParaRPr lang="en-GB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3315" name="Picture 4" descr="http://images2.layoutsparks.com/1/211488/welcome-green-circles-layout.jpg">
            <a:extLst>
              <a:ext uri="{FF2B5EF4-FFF2-40B4-BE49-F238E27FC236}">
                <a16:creationId xmlns:a16="http://schemas.microsoft.com/office/drawing/2014/main" id="{E7610B91-89D8-42AC-A088-1114E8ABB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B7CFABA4-84E6-45B5-B39F-2F9F89CFDFDF}"/>
              </a:ext>
            </a:extLst>
          </p:cNvPr>
          <p:cNvSpPr/>
          <p:nvPr/>
        </p:nvSpPr>
        <p:spPr>
          <a:xfrm>
            <a:off x="6167438" y="2924176"/>
            <a:ext cx="144462" cy="14446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431C72F-DA4E-4F1C-AE3B-4534FF138FB4}"/>
              </a:ext>
            </a:extLst>
          </p:cNvPr>
          <p:cNvSpPr txBox="1">
            <a:spLocks/>
          </p:cNvSpPr>
          <p:nvPr/>
        </p:nvSpPr>
        <p:spPr>
          <a:xfrm>
            <a:off x="1883125" y="223536"/>
            <a:ext cx="8352928" cy="6073488"/>
          </a:xfrm>
          <a:prstGeom prst="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16200000" scaled="1"/>
            <a:tileRect/>
          </a:gra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GB" sz="2800" b="1" i="1" u="sng" dirty="0">
              <a:ln w="1905"/>
              <a:solidFill>
                <a:sysClr val="windowText" lastClr="00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13320" name="TextBox 6">
            <a:extLst>
              <a:ext uri="{FF2B5EF4-FFF2-40B4-BE49-F238E27FC236}">
                <a16:creationId xmlns:a16="http://schemas.microsoft.com/office/drawing/2014/main" id="{840B2BB9-3182-42EC-8A00-49F284745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5" y="422276"/>
            <a:ext cx="8066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400" b="1" u="sng"/>
              <a:t>Finding the circumference of a circle (the perimeter</a:t>
            </a:r>
            <a:r>
              <a:rPr lang="en-GB" altLang="en-US" sz="2400"/>
              <a:t>)</a:t>
            </a:r>
            <a:endParaRPr lang="en-GB" altLang="en-US" sz="320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2F2B89F-7DAA-4A32-B563-0814840A6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966788"/>
            <a:ext cx="3529012" cy="1547812"/>
          </a:xfrm>
          <a:prstGeom prst="rect">
            <a:avLst/>
          </a:prstGeom>
          <a:solidFill>
            <a:schemeClr val="bg1"/>
          </a:solidFill>
          <a:ln w="50800"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fontScale="92500" lnSpcReduction="10000"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</a:rPr>
              <a:t>Circumference </a:t>
            </a:r>
          </a:p>
          <a:p>
            <a:pPr>
              <a:buFontTx/>
              <a:buNone/>
              <a:defRPr/>
            </a:pP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</a:rPr>
              <a:t>= </a:t>
            </a:r>
            <a:r>
              <a:rPr lang="el-GR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π</a:t>
            </a: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 </a:t>
            </a: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× diameter</a:t>
            </a:r>
          </a:p>
          <a:p>
            <a:pPr>
              <a:buFontTx/>
              <a:buNone/>
              <a:defRPr/>
            </a:pP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= </a:t>
            </a:r>
            <a:r>
              <a:rPr lang="el-GR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π</a:t>
            </a: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 </a:t>
            </a: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× radius x 2</a:t>
            </a:r>
          </a:p>
        </p:txBody>
      </p:sp>
      <p:grpSp>
        <p:nvGrpSpPr>
          <p:cNvPr id="13322" name="Group 9">
            <a:extLst>
              <a:ext uri="{FF2B5EF4-FFF2-40B4-BE49-F238E27FC236}">
                <a16:creationId xmlns:a16="http://schemas.microsoft.com/office/drawing/2014/main" id="{A20433EE-8C62-4C4C-9695-5D09F5ADD36B}"/>
              </a:ext>
            </a:extLst>
          </p:cNvPr>
          <p:cNvGrpSpPr>
            <a:grpSpLocks/>
          </p:cNvGrpSpPr>
          <p:nvPr/>
        </p:nvGrpSpPr>
        <p:grpSpPr bwMode="auto">
          <a:xfrm>
            <a:off x="2143125" y="2657475"/>
            <a:ext cx="1955800" cy="1995488"/>
            <a:chOff x="755650" y="3068638"/>
            <a:chExt cx="3600450" cy="3600450"/>
          </a:xfrm>
        </p:grpSpPr>
        <p:sp>
          <p:nvSpPr>
            <p:cNvPr id="13340" name="AutoShape 4">
              <a:extLst>
                <a:ext uri="{FF2B5EF4-FFF2-40B4-BE49-F238E27FC236}">
                  <a16:creationId xmlns:a16="http://schemas.microsoft.com/office/drawing/2014/main" id="{105D675E-3276-487C-A28C-3DF23E679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650" y="3068638"/>
              <a:ext cx="3598863" cy="360045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76" y="10800"/>
                  </a:moveTo>
                  <a:cubicBezTo>
                    <a:pt x="376" y="16557"/>
                    <a:pt x="5043" y="21224"/>
                    <a:pt x="10800" y="21224"/>
                  </a:cubicBezTo>
                  <a:cubicBezTo>
                    <a:pt x="16557" y="21224"/>
                    <a:pt x="21224" y="16557"/>
                    <a:pt x="21224" y="10800"/>
                  </a:cubicBezTo>
                  <a:cubicBezTo>
                    <a:pt x="21224" y="5043"/>
                    <a:pt x="16557" y="376"/>
                    <a:pt x="10800" y="376"/>
                  </a:cubicBezTo>
                  <a:cubicBezTo>
                    <a:pt x="5043" y="376"/>
                    <a:pt x="376" y="5043"/>
                    <a:pt x="376" y="1080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3341" name="Line 8">
              <a:extLst>
                <a:ext uri="{FF2B5EF4-FFF2-40B4-BE49-F238E27FC236}">
                  <a16:creationId xmlns:a16="http://schemas.microsoft.com/office/drawing/2014/main" id="{082F93C0-7014-4105-9828-6066F81708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7088" y="4724400"/>
              <a:ext cx="3529012" cy="215900"/>
            </a:xfrm>
            <a:prstGeom prst="line">
              <a:avLst/>
            </a:prstGeom>
            <a:noFill/>
            <a:ln w="730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342" name="Text Box 9">
              <a:extLst>
                <a:ext uri="{FF2B5EF4-FFF2-40B4-BE49-F238E27FC236}">
                  <a16:creationId xmlns:a16="http://schemas.microsoft.com/office/drawing/2014/main" id="{A5EF2EC1-C9E7-4ED4-8E11-50F678A0C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30475">
              <a:off x="1620041" y="3684679"/>
              <a:ext cx="1943099" cy="9434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800" b="1"/>
                <a:t>3cm</a:t>
              </a:r>
            </a:p>
          </p:txBody>
        </p:sp>
        <p:sp>
          <p:nvSpPr>
            <p:cNvPr id="13343" name="Rectangle 15">
              <a:extLst>
                <a:ext uri="{FF2B5EF4-FFF2-40B4-BE49-F238E27FC236}">
                  <a16:creationId xmlns:a16="http://schemas.microsoft.com/office/drawing/2014/main" id="{0C4165F7-2D08-4C81-AABD-4AFCB96BC11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399993">
              <a:off x="1014244" y="4864367"/>
              <a:ext cx="2305308" cy="7219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/>
                <a:t>diameter</a:t>
              </a:r>
            </a:p>
          </p:txBody>
        </p:sp>
      </p:grpSp>
      <p:grpSp>
        <p:nvGrpSpPr>
          <p:cNvPr id="13323" name="Group 16">
            <a:extLst>
              <a:ext uri="{FF2B5EF4-FFF2-40B4-BE49-F238E27FC236}">
                <a16:creationId xmlns:a16="http://schemas.microsoft.com/office/drawing/2014/main" id="{4C18D5D3-64B0-4E8F-B71D-17DB5178893C}"/>
              </a:ext>
            </a:extLst>
          </p:cNvPr>
          <p:cNvGrpSpPr>
            <a:grpSpLocks/>
          </p:cNvGrpSpPr>
          <p:nvPr/>
        </p:nvGrpSpPr>
        <p:grpSpPr bwMode="auto">
          <a:xfrm>
            <a:off x="6259513" y="2706689"/>
            <a:ext cx="1954212" cy="1997075"/>
            <a:chOff x="755650" y="3068638"/>
            <a:chExt cx="3600450" cy="3600450"/>
          </a:xfrm>
        </p:grpSpPr>
        <p:sp>
          <p:nvSpPr>
            <p:cNvPr id="13336" name="AutoShape 4">
              <a:extLst>
                <a:ext uri="{FF2B5EF4-FFF2-40B4-BE49-F238E27FC236}">
                  <a16:creationId xmlns:a16="http://schemas.microsoft.com/office/drawing/2014/main" id="{0BDCBF1C-2373-4087-8BBE-AB415B0D3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650" y="3068638"/>
              <a:ext cx="3598863" cy="360045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76" y="10800"/>
                  </a:moveTo>
                  <a:cubicBezTo>
                    <a:pt x="376" y="16557"/>
                    <a:pt x="5043" y="21224"/>
                    <a:pt x="10800" y="21224"/>
                  </a:cubicBezTo>
                  <a:cubicBezTo>
                    <a:pt x="16557" y="21224"/>
                    <a:pt x="21224" y="16557"/>
                    <a:pt x="21224" y="10800"/>
                  </a:cubicBezTo>
                  <a:cubicBezTo>
                    <a:pt x="21224" y="5043"/>
                    <a:pt x="16557" y="376"/>
                    <a:pt x="10800" y="376"/>
                  </a:cubicBezTo>
                  <a:cubicBezTo>
                    <a:pt x="5043" y="376"/>
                    <a:pt x="376" y="5043"/>
                    <a:pt x="376" y="1080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3337" name="Line 8">
              <a:extLst>
                <a:ext uri="{FF2B5EF4-FFF2-40B4-BE49-F238E27FC236}">
                  <a16:creationId xmlns:a16="http://schemas.microsoft.com/office/drawing/2014/main" id="{C58C7FFA-2601-44AC-AE46-4C93838BB4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7088" y="4724400"/>
              <a:ext cx="3529012" cy="215900"/>
            </a:xfrm>
            <a:prstGeom prst="line">
              <a:avLst/>
            </a:prstGeom>
            <a:noFill/>
            <a:ln w="730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338" name="Text Box 9">
              <a:extLst>
                <a:ext uri="{FF2B5EF4-FFF2-40B4-BE49-F238E27FC236}">
                  <a16:creationId xmlns:a16="http://schemas.microsoft.com/office/drawing/2014/main" id="{1DB7D140-3ECD-453E-9A1F-2B8556D25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30475">
              <a:off x="1620041" y="3684679"/>
              <a:ext cx="1943099" cy="9434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800" b="1"/>
                <a:t>6cm</a:t>
              </a:r>
            </a:p>
          </p:txBody>
        </p:sp>
        <p:sp>
          <p:nvSpPr>
            <p:cNvPr id="13339" name="Rectangle 20">
              <a:extLst>
                <a:ext uri="{FF2B5EF4-FFF2-40B4-BE49-F238E27FC236}">
                  <a16:creationId xmlns:a16="http://schemas.microsoft.com/office/drawing/2014/main" id="{55C94805-5E45-43EF-9D1D-F228358DD0A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399993">
              <a:off x="1013308" y="4864654"/>
              <a:ext cx="2307181" cy="721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/>
                <a:t>diameter</a:t>
              </a:r>
            </a:p>
          </p:txBody>
        </p:sp>
      </p:grpSp>
      <p:grpSp>
        <p:nvGrpSpPr>
          <p:cNvPr id="13324" name="Group 21">
            <a:extLst>
              <a:ext uri="{FF2B5EF4-FFF2-40B4-BE49-F238E27FC236}">
                <a16:creationId xmlns:a16="http://schemas.microsoft.com/office/drawing/2014/main" id="{535713BB-319F-40CC-BBA9-C6718427C37B}"/>
              </a:ext>
            </a:extLst>
          </p:cNvPr>
          <p:cNvGrpSpPr>
            <a:grpSpLocks/>
          </p:cNvGrpSpPr>
          <p:nvPr/>
        </p:nvGrpSpPr>
        <p:grpSpPr bwMode="auto">
          <a:xfrm>
            <a:off x="4227514" y="2678113"/>
            <a:ext cx="1958975" cy="1974850"/>
            <a:chOff x="755650" y="3068638"/>
            <a:chExt cx="3598862" cy="3600450"/>
          </a:xfrm>
        </p:grpSpPr>
        <p:sp>
          <p:nvSpPr>
            <p:cNvPr id="13331" name="AutoShape 4">
              <a:extLst>
                <a:ext uri="{FF2B5EF4-FFF2-40B4-BE49-F238E27FC236}">
                  <a16:creationId xmlns:a16="http://schemas.microsoft.com/office/drawing/2014/main" id="{F82EC324-B8C1-4CFC-92AC-E6B9F4BC7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650" y="3068638"/>
              <a:ext cx="3598862" cy="360045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76" y="10800"/>
                  </a:moveTo>
                  <a:cubicBezTo>
                    <a:pt x="376" y="16557"/>
                    <a:pt x="5043" y="21224"/>
                    <a:pt x="10800" y="21224"/>
                  </a:cubicBezTo>
                  <a:cubicBezTo>
                    <a:pt x="16557" y="21224"/>
                    <a:pt x="21224" y="16557"/>
                    <a:pt x="21224" y="10800"/>
                  </a:cubicBezTo>
                  <a:cubicBezTo>
                    <a:pt x="21224" y="5043"/>
                    <a:pt x="16557" y="376"/>
                    <a:pt x="10800" y="376"/>
                  </a:cubicBezTo>
                  <a:cubicBezTo>
                    <a:pt x="5043" y="376"/>
                    <a:pt x="376" y="5043"/>
                    <a:pt x="376" y="1080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3332" name="Line 11">
              <a:extLst>
                <a:ext uri="{FF2B5EF4-FFF2-40B4-BE49-F238E27FC236}">
                  <a16:creationId xmlns:a16="http://schemas.microsoft.com/office/drawing/2014/main" id="{EB568DFD-BD0A-4187-B2EC-0D64CF12DE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55875" y="4725988"/>
              <a:ext cx="1728788" cy="71437"/>
            </a:xfrm>
            <a:prstGeom prst="line">
              <a:avLst/>
            </a:prstGeom>
            <a:noFill/>
            <a:ln w="730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333" name="Text Box 12">
              <a:extLst>
                <a:ext uri="{FF2B5EF4-FFF2-40B4-BE49-F238E27FC236}">
                  <a16:creationId xmlns:a16="http://schemas.microsoft.com/office/drawing/2014/main" id="{0A54F148-DE6C-4C06-90EC-8C4901460C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25715">
              <a:off x="2162243" y="3754262"/>
              <a:ext cx="1943100" cy="841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400" b="1"/>
                <a:t>1.5cm</a:t>
              </a:r>
            </a:p>
          </p:txBody>
        </p:sp>
        <p:sp>
          <p:nvSpPr>
            <p:cNvPr id="13334" name="AutoShape 13">
              <a:extLst>
                <a:ext uri="{FF2B5EF4-FFF2-40B4-BE49-F238E27FC236}">
                  <a16:creationId xmlns:a16="http://schemas.microsoft.com/office/drawing/2014/main" id="{B12E216F-9864-4D89-81D6-21619D5E2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438" y="4725988"/>
              <a:ext cx="142875" cy="142875"/>
            </a:xfrm>
            <a:prstGeom prst="flowChartConnector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3335" name="Rectangle 26">
              <a:extLst>
                <a:ext uri="{FF2B5EF4-FFF2-40B4-BE49-F238E27FC236}">
                  <a16:creationId xmlns:a16="http://schemas.microsoft.com/office/drawing/2014/main" id="{2E479E83-0E3A-4B0B-92C0-820610C8C9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331681">
              <a:off x="1873196" y="4715603"/>
              <a:ext cx="2035516" cy="841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1"/>
                <a:t>radius</a:t>
              </a:r>
            </a:p>
          </p:txBody>
        </p:sp>
      </p:grpSp>
      <p:grpSp>
        <p:nvGrpSpPr>
          <p:cNvPr id="13325" name="Group 28">
            <a:extLst>
              <a:ext uri="{FF2B5EF4-FFF2-40B4-BE49-F238E27FC236}">
                <a16:creationId xmlns:a16="http://schemas.microsoft.com/office/drawing/2014/main" id="{68CA8143-4C14-4966-9FA4-C8E905EABBAD}"/>
              </a:ext>
            </a:extLst>
          </p:cNvPr>
          <p:cNvGrpSpPr>
            <a:grpSpLocks/>
          </p:cNvGrpSpPr>
          <p:nvPr/>
        </p:nvGrpSpPr>
        <p:grpSpPr bwMode="auto">
          <a:xfrm>
            <a:off x="8256589" y="2706689"/>
            <a:ext cx="1958975" cy="1976437"/>
            <a:chOff x="755650" y="3068638"/>
            <a:chExt cx="3598862" cy="3600450"/>
          </a:xfrm>
        </p:grpSpPr>
        <p:sp>
          <p:nvSpPr>
            <p:cNvPr id="13326" name="AutoShape 4">
              <a:extLst>
                <a:ext uri="{FF2B5EF4-FFF2-40B4-BE49-F238E27FC236}">
                  <a16:creationId xmlns:a16="http://schemas.microsoft.com/office/drawing/2014/main" id="{B25345E1-9B47-4CFA-B626-F748F7751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650" y="3068638"/>
              <a:ext cx="3598862" cy="360045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76" y="10800"/>
                  </a:moveTo>
                  <a:cubicBezTo>
                    <a:pt x="376" y="16557"/>
                    <a:pt x="5043" y="21224"/>
                    <a:pt x="10800" y="21224"/>
                  </a:cubicBezTo>
                  <a:cubicBezTo>
                    <a:pt x="16557" y="21224"/>
                    <a:pt x="21224" y="16557"/>
                    <a:pt x="21224" y="10800"/>
                  </a:cubicBezTo>
                  <a:cubicBezTo>
                    <a:pt x="21224" y="5043"/>
                    <a:pt x="16557" y="376"/>
                    <a:pt x="10800" y="376"/>
                  </a:cubicBezTo>
                  <a:cubicBezTo>
                    <a:pt x="5043" y="376"/>
                    <a:pt x="376" y="5043"/>
                    <a:pt x="376" y="1080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3327" name="Line 11">
              <a:extLst>
                <a:ext uri="{FF2B5EF4-FFF2-40B4-BE49-F238E27FC236}">
                  <a16:creationId xmlns:a16="http://schemas.microsoft.com/office/drawing/2014/main" id="{A7132D2D-457D-44C1-8F9C-6A9150A2A5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55875" y="4725988"/>
              <a:ext cx="1728788" cy="71437"/>
            </a:xfrm>
            <a:prstGeom prst="line">
              <a:avLst/>
            </a:prstGeom>
            <a:noFill/>
            <a:ln w="730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328" name="Text Box 12">
              <a:extLst>
                <a:ext uri="{FF2B5EF4-FFF2-40B4-BE49-F238E27FC236}">
                  <a16:creationId xmlns:a16="http://schemas.microsoft.com/office/drawing/2014/main" id="{DDB7C498-729D-4E0F-B20D-6EFE159979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25715">
              <a:off x="2162243" y="3754262"/>
              <a:ext cx="1943100" cy="841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400" b="1"/>
                <a:t>3.5cm</a:t>
              </a:r>
            </a:p>
          </p:txBody>
        </p:sp>
        <p:sp>
          <p:nvSpPr>
            <p:cNvPr id="13329" name="AutoShape 13">
              <a:extLst>
                <a:ext uri="{FF2B5EF4-FFF2-40B4-BE49-F238E27FC236}">
                  <a16:creationId xmlns:a16="http://schemas.microsoft.com/office/drawing/2014/main" id="{6583E1E6-E9F1-4D55-A54D-7779FC0D8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438" y="4725988"/>
              <a:ext cx="142875" cy="142875"/>
            </a:xfrm>
            <a:prstGeom prst="flowChartConnector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3330" name="Rectangle 33">
              <a:extLst>
                <a:ext uri="{FF2B5EF4-FFF2-40B4-BE49-F238E27FC236}">
                  <a16:creationId xmlns:a16="http://schemas.microsoft.com/office/drawing/2014/main" id="{711B2FB9-3FCC-4E72-9825-89934F8DA99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331681">
              <a:off x="1873196" y="4715941"/>
              <a:ext cx="2035516" cy="841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1"/>
                <a:t>radius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D88FA554-134C-4200-9538-4EF31693571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91544" y="5078753"/>
              <a:ext cx="8185996" cy="39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46499">
                      <a:extLst>
                        <a:ext uri="{9D8B030D-6E8A-4147-A177-3AD203B41FA5}">
                          <a16:colId xmlns:a16="http://schemas.microsoft.com/office/drawing/2014/main" val="3703658525"/>
                        </a:ext>
                      </a:extLst>
                    </a:gridCol>
                    <a:gridCol w="2046499">
                      <a:extLst>
                        <a:ext uri="{9D8B030D-6E8A-4147-A177-3AD203B41FA5}">
                          <a16:colId xmlns:a16="http://schemas.microsoft.com/office/drawing/2014/main" val="2066685349"/>
                        </a:ext>
                      </a:extLst>
                    </a:gridCol>
                    <a:gridCol w="2046499">
                      <a:extLst>
                        <a:ext uri="{9D8B030D-6E8A-4147-A177-3AD203B41FA5}">
                          <a16:colId xmlns:a16="http://schemas.microsoft.com/office/drawing/2014/main" val="1948785952"/>
                        </a:ext>
                      </a:extLst>
                    </a:gridCol>
                    <a:gridCol w="2046499">
                      <a:extLst>
                        <a:ext uri="{9D8B030D-6E8A-4147-A177-3AD203B41FA5}">
                          <a16:colId xmlns:a16="http://schemas.microsoft.com/office/drawing/2014/main" val="15521505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𝟒𝟐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𝒄𝒎</m:t>
                                </m:r>
                              </m:oMath>
                            </m:oMathPara>
                          </a14:m>
                          <a:endParaRPr lang="en-AU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𝟒𝟐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𝒄𝒎</m:t>
                                </m:r>
                              </m:oMath>
                            </m:oMathPara>
                          </a14:m>
                          <a:endParaRPr lang="en-AU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𝟏𝟖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𝟖𝟓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𝒄𝒎</m:t>
                                </m:r>
                              </m:oMath>
                            </m:oMathPara>
                          </a14:m>
                          <a:endParaRPr lang="en-AU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𝟐𝟏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𝟗𝟗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𝒄𝒎</m:t>
                                </m:r>
                              </m:oMath>
                            </m:oMathPara>
                          </a14:m>
                          <a:endParaRPr lang="en-AU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36155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D88FA554-134C-4200-9538-4EF31693571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91544" y="5078753"/>
              <a:ext cx="8185996" cy="39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46499">
                      <a:extLst>
                        <a:ext uri="{9D8B030D-6E8A-4147-A177-3AD203B41FA5}">
                          <a16:colId xmlns:a16="http://schemas.microsoft.com/office/drawing/2014/main" val="3703658525"/>
                        </a:ext>
                      </a:extLst>
                    </a:gridCol>
                    <a:gridCol w="2046499">
                      <a:extLst>
                        <a:ext uri="{9D8B030D-6E8A-4147-A177-3AD203B41FA5}">
                          <a16:colId xmlns:a16="http://schemas.microsoft.com/office/drawing/2014/main" val="2066685349"/>
                        </a:ext>
                      </a:extLst>
                    </a:gridCol>
                    <a:gridCol w="2046499">
                      <a:extLst>
                        <a:ext uri="{9D8B030D-6E8A-4147-A177-3AD203B41FA5}">
                          <a16:colId xmlns:a16="http://schemas.microsoft.com/office/drawing/2014/main" val="1948785952"/>
                        </a:ext>
                      </a:extLst>
                    </a:gridCol>
                    <a:gridCol w="2046499">
                      <a:extLst>
                        <a:ext uri="{9D8B030D-6E8A-4147-A177-3AD203B41FA5}">
                          <a16:colId xmlns:a16="http://schemas.microsoft.com/office/drawing/2014/main" val="155215056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8" t="-1515" r="-301190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8" t="-1515" r="-201190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298" t="-1515" r="-101190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298" t="-1515" r="-1190" b="-6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36155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121A7024-A2D8-42FC-BEAC-3D5D64D2CD7E}"/>
              </a:ext>
            </a:extLst>
          </p:cNvPr>
          <p:cNvSpPr txBox="1"/>
          <p:nvPr/>
        </p:nvSpPr>
        <p:spPr>
          <a:xfrm>
            <a:off x="6512446" y="1228131"/>
            <a:ext cx="24946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Draw and complete in your exercise books.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6400A1E-5A28-4C0C-8C2A-6EFD2A2D1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69550" y="6492876"/>
            <a:ext cx="29845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46B97D7-24FE-482D-88C8-6EEC2EA9079B}" type="slidenum">
              <a:rPr lang="en-GB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7</a:t>
            </a:fld>
            <a:endParaRPr lang="en-GB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4339" name="Picture 4" descr="http://images2.layoutsparks.com/1/211488/welcome-green-circles-layout.jpg">
            <a:extLst>
              <a:ext uri="{FF2B5EF4-FFF2-40B4-BE49-F238E27FC236}">
                <a16:creationId xmlns:a16="http://schemas.microsoft.com/office/drawing/2014/main" id="{BD5B1681-1740-467E-A256-AB06152FF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24E8F4B8-13E1-4B1E-8493-170EF6583D75}"/>
              </a:ext>
            </a:extLst>
          </p:cNvPr>
          <p:cNvSpPr/>
          <p:nvPr/>
        </p:nvSpPr>
        <p:spPr>
          <a:xfrm>
            <a:off x="6167438" y="2924176"/>
            <a:ext cx="144462" cy="14446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CCAA2EA-0058-48AC-AB7A-C213ED2D6D7A}"/>
              </a:ext>
            </a:extLst>
          </p:cNvPr>
          <p:cNvSpPr txBox="1">
            <a:spLocks/>
          </p:cNvSpPr>
          <p:nvPr/>
        </p:nvSpPr>
        <p:spPr>
          <a:xfrm>
            <a:off x="1919536" y="717178"/>
            <a:ext cx="8352928" cy="5323791"/>
          </a:xfrm>
          <a:prstGeom prst="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16200000" scaled="1"/>
            <a:tileRect/>
          </a:gra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GB" sz="2800" b="1" i="1" u="sng" dirty="0">
              <a:ln w="1905"/>
              <a:solidFill>
                <a:sysClr val="windowText" lastClr="00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14344" name="TextBox 1">
            <a:extLst>
              <a:ext uri="{FF2B5EF4-FFF2-40B4-BE49-F238E27FC236}">
                <a16:creationId xmlns:a16="http://schemas.microsoft.com/office/drawing/2014/main" id="{B16056D5-7CBC-498C-BA1F-BA2B3BC94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2325" y="836613"/>
            <a:ext cx="8064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400" b="1" u="sng" dirty="0"/>
              <a:t>Finding the area of a circle </a:t>
            </a:r>
            <a:endParaRPr lang="en-GB" altLang="en-US" sz="3200" dirty="0"/>
          </a:p>
        </p:txBody>
      </p:sp>
      <p:grpSp>
        <p:nvGrpSpPr>
          <p:cNvPr id="14345" name="Group 19">
            <a:extLst>
              <a:ext uri="{FF2B5EF4-FFF2-40B4-BE49-F238E27FC236}">
                <a16:creationId xmlns:a16="http://schemas.microsoft.com/office/drawing/2014/main" id="{839D9DA7-8173-4B13-88C8-6DB7BF2C02A8}"/>
              </a:ext>
            </a:extLst>
          </p:cNvPr>
          <p:cNvGrpSpPr>
            <a:grpSpLocks/>
          </p:cNvGrpSpPr>
          <p:nvPr/>
        </p:nvGrpSpPr>
        <p:grpSpPr bwMode="auto">
          <a:xfrm>
            <a:off x="2212975" y="1922464"/>
            <a:ext cx="3371850" cy="3228975"/>
            <a:chOff x="755650" y="3068638"/>
            <a:chExt cx="3889375" cy="3600450"/>
          </a:xfrm>
        </p:grpSpPr>
        <p:sp>
          <p:nvSpPr>
            <p:cNvPr id="14348" name="AutoShape 4">
              <a:extLst>
                <a:ext uri="{FF2B5EF4-FFF2-40B4-BE49-F238E27FC236}">
                  <a16:creationId xmlns:a16="http://schemas.microsoft.com/office/drawing/2014/main" id="{67F36229-743A-415A-B058-22447E1E57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650" y="3068638"/>
              <a:ext cx="3598863" cy="360045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76" y="10800"/>
                  </a:moveTo>
                  <a:cubicBezTo>
                    <a:pt x="376" y="16557"/>
                    <a:pt x="5043" y="21224"/>
                    <a:pt x="10800" y="21224"/>
                  </a:cubicBezTo>
                  <a:cubicBezTo>
                    <a:pt x="16557" y="21224"/>
                    <a:pt x="21224" y="16557"/>
                    <a:pt x="21224" y="10800"/>
                  </a:cubicBezTo>
                  <a:cubicBezTo>
                    <a:pt x="21224" y="5043"/>
                    <a:pt x="16557" y="376"/>
                    <a:pt x="10800" y="376"/>
                  </a:cubicBezTo>
                  <a:cubicBezTo>
                    <a:pt x="5043" y="376"/>
                    <a:pt x="376" y="5043"/>
                    <a:pt x="376" y="1080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4349" name="Line 11">
              <a:extLst>
                <a:ext uri="{FF2B5EF4-FFF2-40B4-BE49-F238E27FC236}">
                  <a16:creationId xmlns:a16="http://schemas.microsoft.com/office/drawing/2014/main" id="{B88D4595-BCCA-45DE-91EA-CFDC7FD9F0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55875" y="4725988"/>
              <a:ext cx="1728788" cy="71437"/>
            </a:xfrm>
            <a:prstGeom prst="line">
              <a:avLst/>
            </a:prstGeom>
            <a:noFill/>
            <a:ln w="730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350" name="Text Box 12">
              <a:extLst>
                <a:ext uri="{FF2B5EF4-FFF2-40B4-BE49-F238E27FC236}">
                  <a16:creationId xmlns:a16="http://schemas.microsoft.com/office/drawing/2014/main" id="{2941873E-E27B-4096-81A4-9A84E175A8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25715">
              <a:off x="2701925" y="4174821"/>
              <a:ext cx="1943100" cy="583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800" b="1"/>
                <a:t>4cm</a:t>
              </a:r>
            </a:p>
          </p:txBody>
        </p:sp>
        <p:sp>
          <p:nvSpPr>
            <p:cNvPr id="14351" name="AutoShape 13">
              <a:extLst>
                <a:ext uri="{FF2B5EF4-FFF2-40B4-BE49-F238E27FC236}">
                  <a16:creationId xmlns:a16="http://schemas.microsoft.com/office/drawing/2014/main" id="{5A5076DE-5C8D-4AE6-96AD-4BA94DDF5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438" y="4725988"/>
              <a:ext cx="142875" cy="142875"/>
            </a:xfrm>
            <a:prstGeom prst="flowChartConnector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4352" name="Rectangle 24">
              <a:extLst>
                <a:ext uri="{FF2B5EF4-FFF2-40B4-BE49-F238E27FC236}">
                  <a16:creationId xmlns:a16="http://schemas.microsoft.com/office/drawing/2014/main" id="{80B610D9-0390-468A-8A47-4916FF195FE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331681">
              <a:off x="2781241" y="4784565"/>
              <a:ext cx="1278056" cy="514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1"/>
                <a:t>radius</a:t>
              </a:r>
            </a:p>
          </p:txBody>
        </p:sp>
      </p:grpSp>
      <p:sp>
        <p:nvSpPr>
          <p:cNvPr id="26" name="Rectangle 3">
            <a:extLst>
              <a:ext uri="{FF2B5EF4-FFF2-40B4-BE49-F238E27FC236}">
                <a16:creationId xmlns:a16="http://schemas.microsoft.com/office/drawing/2014/main" id="{F9E7B09B-3D18-4BF2-9BC4-CFF79991D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538" y="1677989"/>
            <a:ext cx="3529012" cy="1252537"/>
          </a:xfrm>
          <a:prstGeom prst="rect">
            <a:avLst/>
          </a:prstGeom>
          <a:solidFill>
            <a:schemeClr val="bg1"/>
          </a:solidFill>
          <a:ln w="508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</a:rPr>
              <a:t>Area </a:t>
            </a:r>
          </a:p>
          <a:p>
            <a:pPr>
              <a:defRPr/>
            </a:pP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</a:rPr>
              <a:t>= </a:t>
            </a:r>
            <a:r>
              <a:rPr lang="el-GR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π</a:t>
            </a: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 </a:t>
            </a: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× radius</a:t>
            </a:r>
            <a:r>
              <a:rPr lang="en-US" altLang="en-US" b="1" baseline="30000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2</a:t>
            </a:r>
            <a:endParaRPr lang="en-US" altLang="en-US" b="1" dirty="0">
              <a:solidFill>
                <a:schemeClr val="tx2">
                  <a:lumMod val="75000"/>
                </a:schemeClr>
              </a:solidFill>
              <a:cs typeface="Arial" charset="0"/>
            </a:endParaRPr>
          </a:p>
          <a:p>
            <a:pPr>
              <a:buFontTx/>
              <a:buNone/>
              <a:defRPr/>
            </a:pPr>
            <a:endParaRPr lang="en-US" altLang="en-US" b="1" dirty="0">
              <a:cs typeface="Arial" charset="0"/>
            </a:endParaRP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73ED611E-3E91-4775-9DCC-748ABD658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688" y="3176589"/>
            <a:ext cx="4176712" cy="2332037"/>
          </a:xfrm>
          <a:prstGeom prst="rect">
            <a:avLst/>
          </a:prstGeom>
          <a:solidFill>
            <a:schemeClr val="bg1"/>
          </a:solidFill>
          <a:ln w="508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sz="3200" b="1"/>
              <a:t>Area</a:t>
            </a:r>
          </a:p>
          <a:p>
            <a:pPr eaLnBrk="1" hangingPunct="1">
              <a:spcBef>
                <a:spcPct val="20000"/>
              </a:spcBef>
            </a:pPr>
            <a:r>
              <a:rPr lang="en-GB" altLang="en-US" sz="3200" b="1"/>
              <a:t> = </a:t>
            </a:r>
            <a:r>
              <a:rPr lang="el-GR" altLang="en-US" sz="3200" b="1"/>
              <a:t>π</a:t>
            </a:r>
            <a:r>
              <a:rPr lang="en-GB" altLang="en-US" sz="3200" b="1"/>
              <a:t> </a:t>
            </a:r>
            <a:r>
              <a:rPr lang="en-US" altLang="en-US" sz="3200" b="1"/>
              <a:t>× 4</a:t>
            </a:r>
            <a:r>
              <a:rPr lang="en-US" altLang="en-US" sz="3200" b="1" baseline="30000"/>
              <a:t>2</a:t>
            </a:r>
          </a:p>
          <a:p>
            <a:pPr eaLnBrk="1" hangingPunct="1">
              <a:spcBef>
                <a:spcPct val="20000"/>
              </a:spcBef>
            </a:pPr>
            <a:r>
              <a:rPr lang="en-GB" altLang="en-US" sz="3200" b="1"/>
              <a:t> = </a:t>
            </a:r>
            <a:r>
              <a:rPr lang="el-GR" altLang="en-US" sz="3200" b="1"/>
              <a:t>π</a:t>
            </a:r>
            <a:r>
              <a:rPr lang="en-GB" altLang="en-US" sz="3200" b="1"/>
              <a:t> </a:t>
            </a:r>
            <a:r>
              <a:rPr lang="en-US" altLang="en-US" sz="3200" b="1"/>
              <a:t>× 16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 b="1"/>
              <a:t> = </a:t>
            </a:r>
            <a:r>
              <a:rPr lang="en-US" altLang="en-US" sz="3200" b="1">
                <a:solidFill>
                  <a:srgbClr val="0070C0"/>
                </a:solidFill>
              </a:rPr>
              <a:t>50·2 cm</a:t>
            </a:r>
            <a:r>
              <a:rPr lang="en-US" altLang="en-US" sz="3200" b="1" baseline="30000">
                <a:solidFill>
                  <a:srgbClr val="0070C0"/>
                </a:solidFill>
              </a:rPr>
              <a:t>2</a:t>
            </a:r>
            <a:r>
              <a:rPr lang="en-US" altLang="en-US" sz="3200" b="1">
                <a:solidFill>
                  <a:srgbClr val="0070C0"/>
                </a:solidFill>
              </a:rPr>
              <a:t> (1 d.p.)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9231EF9-5832-422E-B5A5-0CD0C822A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69550" y="6492876"/>
            <a:ext cx="29845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2BBFDF4-CB0C-4F7A-B222-2DEC1AF3D190}" type="slidenum">
              <a:rPr lang="en-GB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8</a:t>
            </a:fld>
            <a:endParaRPr lang="en-GB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5363" name="Picture 4" descr="http://images2.layoutsparks.com/1/211488/welcome-green-circles-layout.jpg">
            <a:extLst>
              <a:ext uri="{FF2B5EF4-FFF2-40B4-BE49-F238E27FC236}">
                <a16:creationId xmlns:a16="http://schemas.microsoft.com/office/drawing/2014/main" id="{11C8E72F-A5B2-4482-B14E-09C1BEA9A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E687D3E0-84D4-467E-A5AD-091865361D59}"/>
              </a:ext>
            </a:extLst>
          </p:cNvPr>
          <p:cNvSpPr/>
          <p:nvPr/>
        </p:nvSpPr>
        <p:spPr>
          <a:xfrm>
            <a:off x="6167438" y="2924176"/>
            <a:ext cx="144462" cy="14446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5213948-E659-4E85-B658-2D515809A04E}"/>
              </a:ext>
            </a:extLst>
          </p:cNvPr>
          <p:cNvSpPr txBox="1">
            <a:spLocks/>
          </p:cNvSpPr>
          <p:nvPr/>
        </p:nvSpPr>
        <p:spPr>
          <a:xfrm>
            <a:off x="1843774" y="710432"/>
            <a:ext cx="8352928" cy="5323791"/>
          </a:xfrm>
          <a:prstGeom prst="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16200000" scaled="1"/>
            <a:tileRect/>
          </a:gra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GB" sz="2800" b="1" i="1" u="sng" dirty="0">
              <a:ln w="1905"/>
              <a:solidFill>
                <a:sysClr val="windowText" lastClr="00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15368" name="TextBox 1">
            <a:extLst>
              <a:ext uri="{FF2B5EF4-FFF2-40B4-BE49-F238E27FC236}">
                <a16:creationId xmlns:a16="http://schemas.microsoft.com/office/drawing/2014/main" id="{4C194E73-3174-4069-89FB-32BC563FA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2325" y="836613"/>
            <a:ext cx="8064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400" b="1" u="sng" dirty="0"/>
              <a:t>Finding the area of a circle </a:t>
            </a:r>
            <a:endParaRPr lang="en-GB" altLang="en-US" sz="3200" dirty="0"/>
          </a:p>
        </p:txBody>
      </p:sp>
      <p:grpSp>
        <p:nvGrpSpPr>
          <p:cNvPr id="15369" name="Group 19">
            <a:extLst>
              <a:ext uri="{FF2B5EF4-FFF2-40B4-BE49-F238E27FC236}">
                <a16:creationId xmlns:a16="http://schemas.microsoft.com/office/drawing/2014/main" id="{7DAC3E1F-1CB9-4A34-8CEF-7BFA3925F4CE}"/>
              </a:ext>
            </a:extLst>
          </p:cNvPr>
          <p:cNvGrpSpPr>
            <a:grpSpLocks/>
          </p:cNvGrpSpPr>
          <p:nvPr/>
        </p:nvGrpSpPr>
        <p:grpSpPr bwMode="auto">
          <a:xfrm>
            <a:off x="2212976" y="2995614"/>
            <a:ext cx="2136775" cy="2155825"/>
            <a:chOff x="755650" y="3068638"/>
            <a:chExt cx="3598863" cy="3600450"/>
          </a:xfrm>
        </p:grpSpPr>
        <p:sp>
          <p:nvSpPr>
            <p:cNvPr id="15383" name="AutoShape 4">
              <a:extLst>
                <a:ext uri="{FF2B5EF4-FFF2-40B4-BE49-F238E27FC236}">
                  <a16:creationId xmlns:a16="http://schemas.microsoft.com/office/drawing/2014/main" id="{F97175AC-A1CA-48A5-AD89-CC7D0011E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650" y="3068638"/>
              <a:ext cx="3598863" cy="360045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76" y="10800"/>
                  </a:moveTo>
                  <a:cubicBezTo>
                    <a:pt x="376" y="16557"/>
                    <a:pt x="5043" y="21224"/>
                    <a:pt x="10800" y="21224"/>
                  </a:cubicBezTo>
                  <a:cubicBezTo>
                    <a:pt x="16557" y="21224"/>
                    <a:pt x="21224" y="16557"/>
                    <a:pt x="21224" y="10800"/>
                  </a:cubicBezTo>
                  <a:cubicBezTo>
                    <a:pt x="21224" y="5043"/>
                    <a:pt x="16557" y="376"/>
                    <a:pt x="10800" y="376"/>
                  </a:cubicBezTo>
                  <a:cubicBezTo>
                    <a:pt x="5043" y="376"/>
                    <a:pt x="376" y="5043"/>
                    <a:pt x="376" y="1080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5384" name="Line 11">
              <a:extLst>
                <a:ext uri="{FF2B5EF4-FFF2-40B4-BE49-F238E27FC236}">
                  <a16:creationId xmlns:a16="http://schemas.microsoft.com/office/drawing/2014/main" id="{A9415957-1072-4E14-A845-4DB9D870DE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55875" y="4725988"/>
              <a:ext cx="1728788" cy="71437"/>
            </a:xfrm>
            <a:prstGeom prst="line">
              <a:avLst/>
            </a:prstGeom>
            <a:noFill/>
            <a:ln w="730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385" name="Text Box 12">
              <a:extLst>
                <a:ext uri="{FF2B5EF4-FFF2-40B4-BE49-F238E27FC236}">
                  <a16:creationId xmlns:a16="http://schemas.microsoft.com/office/drawing/2014/main" id="{BF70EAEA-590B-4731-889E-132EAD13BA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25715">
              <a:off x="2193412" y="3921093"/>
              <a:ext cx="1943101" cy="873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800" b="1"/>
                <a:t>5cm</a:t>
              </a:r>
            </a:p>
          </p:txBody>
        </p:sp>
        <p:sp>
          <p:nvSpPr>
            <p:cNvPr id="15386" name="AutoShape 13">
              <a:extLst>
                <a:ext uri="{FF2B5EF4-FFF2-40B4-BE49-F238E27FC236}">
                  <a16:creationId xmlns:a16="http://schemas.microsoft.com/office/drawing/2014/main" id="{A049A125-E8FD-40F1-8B90-D7E1A165B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438" y="4725988"/>
              <a:ext cx="142875" cy="142875"/>
            </a:xfrm>
            <a:prstGeom prst="flowChartConnector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5387" name="Rectangle 24">
              <a:extLst>
                <a:ext uri="{FF2B5EF4-FFF2-40B4-BE49-F238E27FC236}">
                  <a16:creationId xmlns:a16="http://schemas.microsoft.com/office/drawing/2014/main" id="{66D87A0D-411E-4AB3-967F-74581DD3333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331681">
              <a:off x="2052145" y="4920766"/>
              <a:ext cx="1866142" cy="771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1"/>
                <a:t>radius</a:t>
              </a:r>
            </a:p>
          </p:txBody>
        </p:sp>
      </p:grpSp>
      <p:sp>
        <p:nvSpPr>
          <p:cNvPr id="26" name="Rectangle 3">
            <a:extLst>
              <a:ext uri="{FF2B5EF4-FFF2-40B4-BE49-F238E27FC236}">
                <a16:creationId xmlns:a16="http://schemas.microsoft.com/office/drawing/2014/main" id="{9E74CCC9-12BF-4FAF-B577-6253A3948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0101" y="1298575"/>
            <a:ext cx="3529013" cy="1252538"/>
          </a:xfrm>
          <a:prstGeom prst="rect">
            <a:avLst/>
          </a:prstGeom>
          <a:solidFill>
            <a:schemeClr val="bg1"/>
          </a:solidFill>
          <a:ln w="508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</a:rPr>
              <a:t>Area </a:t>
            </a:r>
          </a:p>
          <a:p>
            <a:pPr>
              <a:defRPr/>
            </a:pP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</a:rPr>
              <a:t>= </a:t>
            </a:r>
            <a:r>
              <a:rPr lang="el-GR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π</a:t>
            </a: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 </a:t>
            </a: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× radius</a:t>
            </a:r>
            <a:r>
              <a:rPr lang="en-US" altLang="en-US" b="1" baseline="30000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2</a:t>
            </a:r>
            <a:endParaRPr lang="en-US" altLang="en-US" b="1" dirty="0">
              <a:solidFill>
                <a:schemeClr val="tx2">
                  <a:lumMod val="75000"/>
                </a:schemeClr>
              </a:solidFill>
              <a:cs typeface="Arial" charset="0"/>
            </a:endParaRPr>
          </a:p>
          <a:p>
            <a:pPr>
              <a:buFontTx/>
              <a:buNone/>
              <a:defRPr/>
            </a:pPr>
            <a:endParaRPr lang="en-US" altLang="en-US" b="1" dirty="0">
              <a:cs typeface="Arial" charset="0"/>
            </a:endParaRPr>
          </a:p>
        </p:txBody>
      </p:sp>
      <p:grpSp>
        <p:nvGrpSpPr>
          <p:cNvPr id="15371" name="Group 14">
            <a:extLst>
              <a:ext uri="{FF2B5EF4-FFF2-40B4-BE49-F238E27FC236}">
                <a16:creationId xmlns:a16="http://schemas.microsoft.com/office/drawing/2014/main" id="{5B164119-40D1-4E4D-BA61-01AED5A3D5D1}"/>
              </a:ext>
            </a:extLst>
          </p:cNvPr>
          <p:cNvGrpSpPr>
            <a:grpSpLocks/>
          </p:cNvGrpSpPr>
          <p:nvPr/>
        </p:nvGrpSpPr>
        <p:grpSpPr bwMode="auto">
          <a:xfrm>
            <a:off x="4727576" y="2995614"/>
            <a:ext cx="2138363" cy="2155825"/>
            <a:chOff x="755650" y="3068638"/>
            <a:chExt cx="3598863" cy="3600450"/>
          </a:xfrm>
        </p:grpSpPr>
        <p:sp>
          <p:nvSpPr>
            <p:cNvPr id="15378" name="AutoShape 4">
              <a:extLst>
                <a:ext uri="{FF2B5EF4-FFF2-40B4-BE49-F238E27FC236}">
                  <a16:creationId xmlns:a16="http://schemas.microsoft.com/office/drawing/2014/main" id="{0F834CEC-F21D-4F09-A64B-37278671F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650" y="3068638"/>
              <a:ext cx="3598863" cy="360045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76" y="10800"/>
                  </a:moveTo>
                  <a:cubicBezTo>
                    <a:pt x="376" y="16557"/>
                    <a:pt x="5043" y="21224"/>
                    <a:pt x="10800" y="21224"/>
                  </a:cubicBezTo>
                  <a:cubicBezTo>
                    <a:pt x="16557" y="21224"/>
                    <a:pt x="21224" y="16557"/>
                    <a:pt x="21224" y="10800"/>
                  </a:cubicBezTo>
                  <a:cubicBezTo>
                    <a:pt x="21224" y="5043"/>
                    <a:pt x="16557" y="376"/>
                    <a:pt x="10800" y="376"/>
                  </a:cubicBezTo>
                  <a:cubicBezTo>
                    <a:pt x="5043" y="376"/>
                    <a:pt x="376" y="5043"/>
                    <a:pt x="376" y="1080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5379" name="Line 11">
              <a:extLst>
                <a:ext uri="{FF2B5EF4-FFF2-40B4-BE49-F238E27FC236}">
                  <a16:creationId xmlns:a16="http://schemas.microsoft.com/office/drawing/2014/main" id="{42FC3A2C-7C7B-476B-A691-672DFEC470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55875" y="4725988"/>
              <a:ext cx="1728788" cy="71437"/>
            </a:xfrm>
            <a:prstGeom prst="line">
              <a:avLst/>
            </a:prstGeom>
            <a:noFill/>
            <a:ln w="730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380" name="Text Box 12">
              <a:extLst>
                <a:ext uri="{FF2B5EF4-FFF2-40B4-BE49-F238E27FC236}">
                  <a16:creationId xmlns:a16="http://schemas.microsoft.com/office/drawing/2014/main" id="{B42CF293-DE9D-453C-987E-F70DFA0BE7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25715">
              <a:off x="1726707" y="3929560"/>
              <a:ext cx="2409963" cy="873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800" b="1"/>
                <a:t>4.5cm</a:t>
              </a:r>
            </a:p>
          </p:txBody>
        </p:sp>
        <p:sp>
          <p:nvSpPr>
            <p:cNvPr id="15381" name="AutoShape 13">
              <a:extLst>
                <a:ext uri="{FF2B5EF4-FFF2-40B4-BE49-F238E27FC236}">
                  <a16:creationId xmlns:a16="http://schemas.microsoft.com/office/drawing/2014/main" id="{654DAF80-4769-41CA-8744-11BAF44BB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438" y="4725988"/>
              <a:ext cx="142875" cy="142875"/>
            </a:xfrm>
            <a:prstGeom prst="flowChartConnector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5382" name="Rectangle 27">
              <a:extLst>
                <a:ext uri="{FF2B5EF4-FFF2-40B4-BE49-F238E27FC236}">
                  <a16:creationId xmlns:a16="http://schemas.microsoft.com/office/drawing/2014/main" id="{D3D99CCB-383E-4DAE-8DA2-72C2D9BB76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331681">
              <a:off x="2052837" y="4920766"/>
              <a:ext cx="1864756" cy="771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1"/>
                <a:t>radius</a:t>
              </a:r>
            </a:p>
          </p:txBody>
        </p:sp>
      </p:grpSp>
      <p:grpSp>
        <p:nvGrpSpPr>
          <p:cNvPr id="15372" name="Group 28">
            <a:extLst>
              <a:ext uri="{FF2B5EF4-FFF2-40B4-BE49-F238E27FC236}">
                <a16:creationId xmlns:a16="http://schemas.microsoft.com/office/drawing/2014/main" id="{8B29BB75-8FA7-48CA-9B1D-5CEA71C4442D}"/>
              </a:ext>
            </a:extLst>
          </p:cNvPr>
          <p:cNvGrpSpPr>
            <a:grpSpLocks/>
          </p:cNvGrpSpPr>
          <p:nvPr/>
        </p:nvGrpSpPr>
        <p:grpSpPr bwMode="auto">
          <a:xfrm>
            <a:off x="7464426" y="2973389"/>
            <a:ext cx="2136775" cy="2155825"/>
            <a:chOff x="755650" y="3068638"/>
            <a:chExt cx="3598863" cy="3600450"/>
          </a:xfrm>
        </p:grpSpPr>
        <p:sp>
          <p:nvSpPr>
            <p:cNvPr id="15373" name="AutoShape 4">
              <a:extLst>
                <a:ext uri="{FF2B5EF4-FFF2-40B4-BE49-F238E27FC236}">
                  <a16:creationId xmlns:a16="http://schemas.microsoft.com/office/drawing/2014/main" id="{DDDDE84C-4107-44E2-814B-9C34EF343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650" y="3068638"/>
              <a:ext cx="3598863" cy="360045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76" y="10800"/>
                  </a:moveTo>
                  <a:cubicBezTo>
                    <a:pt x="376" y="16557"/>
                    <a:pt x="5043" y="21224"/>
                    <a:pt x="10800" y="21224"/>
                  </a:cubicBezTo>
                  <a:cubicBezTo>
                    <a:pt x="16557" y="21224"/>
                    <a:pt x="21224" y="16557"/>
                    <a:pt x="21224" y="10800"/>
                  </a:cubicBezTo>
                  <a:cubicBezTo>
                    <a:pt x="21224" y="5043"/>
                    <a:pt x="16557" y="376"/>
                    <a:pt x="10800" y="376"/>
                  </a:cubicBezTo>
                  <a:cubicBezTo>
                    <a:pt x="5043" y="376"/>
                    <a:pt x="376" y="5043"/>
                    <a:pt x="376" y="1080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5374" name="Line 11">
              <a:extLst>
                <a:ext uri="{FF2B5EF4-FFF2-40B4-BE49-F238E27FC236}">
                  <a16:creationId xmlns:a16="http://schemas.microsoft.com/office/drawing/2014/main" id="{11931851-F9BF-4E1D-BBD9-CC004C65C3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55875" y="4725988"/>
              <a:ext cx="1728788" cy="71437"/>
            </a:xfrm>
            <a:prstGeom prst="line">
              <a:avLst/>
            </a:prstGeom>
            <a:noFill/>
            <a:ln w="730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375" name="Text Box 12">
              <a:extLst>
                <a:ext uri="{FF2B5EF4-FFF2-40B4-BE49-F238E27FC236}">
                  <a16:creationId xmlns:a16="http://schemas.microsoft.com/office/drawing/2014/main" id="{F2EF5742-3997-403D-8DED-89E3DAA8E7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25715">
              <a:off x="2193412" y="3921093"/>
              <a:ext cx="1943101" cy="873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800" b="1"/>
                <a:t>12cm</a:t>
              </a:r>
            </a:p>
          </p:txBody>
        </p:sp>
        <p:sp>
          <p:nvSpPr>
            <p:cNvPr id="15376" name="AutoShape 13">
              <a:extLst>
                <a:ext uri="{FF2B5EF4-FFF2-40B4-BE49-F238E27FC236}">
                  <a16:creationId xmlns:a16="http://schemas.microsoft.com/office/drawing/2014/main" id="{C6D33B85-2A26-43D9-A88D-BE362B93B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438" y="4725988"/>
              <a:ext cx="142875" cy="142875"/>
            </a:xfrm>
            <a:prstGeom prst="flowChartConnector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5377" name="Rectangle 33">
              <a:extLst>
                <a:ext uri="{FF2B5EF4-FFF2-40B4-BE49-F238E27FC236}">
                  <a16:creationId xmlns:a16="http://schemas.microsoft.com/office/drawing/2014/main" id="{12064343-9A47-4C1C-B0F3-D4531307129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331681">
              <a:off x="2052145" y="4920766"/>
              <a:ext cx="1866142" cy="771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1"/>
                <a:t>radius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5A17488-6AD7-492A-A202-D144DA002E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35560" y="5545677"/>
              <a:ext cx="7776864" cy="5599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92288">
                      <a:extLst>
                        <a:ext uri="{9D8B030D-6E8A-4147-A177-3AD203B41FA5}">
                          <a16:colId xmlns:a16="http://schemas.microsoft.com/office/drawing/2014/main" val="2290796796"/>
                        </a:ext>
                      </a:extLst>
                    </a:gridCol>
                    <a:gridCol w="2592288">
                      <a:extLst>
                        <a:ext uri="{9D8B030D-6E8A-4147-A177-3AD203B41FA5}">
                          <a16:colId xmlns:a16="http://schemas.microsoft.com/office/drawing/2014/main" val="1771317723"/>
                        </a:ext>
                      </a:extLst>
                    </a:gridCol>
                    <a:gridCol w="2592288">
                      <a:extLst>
                        <a:ext uri="{9D8B030D-6E8A-4147-A177-3AD203B41FA5}">
                          <a16:colId xmlns:a16="http://schemas.microsoft.com/office/drawing/2014/main" val="2300529776"/>
                        </a:ext>
                      </a:extLst>
                    </a:gridCol>
                  </a:tblGrid>
                  <a:tr h="5599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𝟕𝟖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𝟓𝟒</m:t>
                                </m:r>
                                <m:sSup>
                                  <m:sSupPr>
                                    <m:ctrlP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  <m:t>𝒄𝒎</m:t>
                                    </m:r>
                                  </m:e>
                                  <m:sup>
                                    <m: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𝟔𝟑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𝟔𝟐</m:t>
                                </m:r>
                                <m:sSup>
                                  <m:sSupPr>
                                    <m:ctrlP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  <m:t>𝒄𝒎</m:t>
                                    </m:r>
                                  </m:e>
                                  <m:sup>
                                    <m: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𝟒𝟓𝟐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𝟑𝟗</m:t>
                                </m:r>
                                <m:sSup>
                                  <m:sSupPr>
                                    <m:ctrlP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  <m:t>𝒄𝒎</m:t>
                                    </m:r>
                                  </m:e>
                                  <m:sup>
                                    <m: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4745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5A17488-6AD7-492A-A202-D144DA002E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35560" y="5545677"/>
              <a:ext cx="7776864" cy="5599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92288">
                      <a:extLst>
                        <a:ext uri="{9D8B030D-6E8A-4147-A177-3AD203B41FA5}">
                          <a16:colId xmlns:a16="http://schemas.microsoft.com/office/drawing/2014/main" val="2290796796"/>
                        </a:ext>
                      </a:extLst>
                    </a:gridCol>
                    <a:gridCol w="2592288">
                      <a:extLst>
                        <a:ext uri="{9D8B030D-6E8A-4147-A177-3AD203B41FA5}">
                          <a16:colId xmlns:a16="http://schemas.microsoft.com/office/drawing/2014/main" val="1771317723"/>
                        </a:ext>
                      </a:extLst>
                    </a:gridCol>
                    <a:gridCol w="2592288">
                      <a:extLst>
                        <a:ext uri="{9D8B030D-6E8A-4147-A177-3AD203B41FA5}">
                          <a16:colId xmlns:a16="http://schemas.microsoft.com/office/drawing/2014/main" val="2300529776"/>
                        </a:ext>
                      </a:extLst>
                    </a:gridCol>
                  </a:tblGrid>
                  <a:tr h="5599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35" t="-1075" r="-200704" b="-43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471" t="-1075" r="-101176" b="-43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075" r="-939" b="-43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47458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AF95581-2746-4434-8806-18961C6C2556}"/>
              </a:ext>
            </a:extLst>
          </p:cNvPr>
          <p:cNvSpPr txBox="1"/>
          <p:nvPr/>
        </p:nvSpPr>
        <p:spPr>
          <a:xfrm>
            <a:off x="6409678" y="1544715"/>
            <a:ext cx="24946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Draw and complete in your exercise books.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45930-F3FE-46B9-BD48-D515A82715A0}"/>
              </a:ext>
            </a:extLst>
          </p:cNvPr>
          <p:cNvSpPr txBox="1"/>
          <p:nvPr/>
        </p:nvSpPr>
        <p:spPr>
          <a:xfrm>
            <a:off x="1323917" y="493664"/>
            <a:ext cx="10187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Aim: Practicing calculating area and circumference of a circle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67A611-5DFD-4989-BB87-C5E70708B596}"/>
                  </a:ext>
                </a:extLst>
              </p:cNvPr>
              <p:cNvSpPr txBox="1"/>
              <p:nvPr/>
            </p:nvSpPr>
            <p:spPr>
              <a:xfrm>
                <a:off x="5178795" y="4797922"/>
                <a:ext cx="4972167" cy="1945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000" b="1" u="sng" dirty="0"/>
                  <a:t>Circumference</a:t>
                </a:r>
                <a:r>
                  <a:rPr lang="en-AU" sz="2000" b="1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en-AU" sz="2000" b="1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𝒐𝒓</m:t>
                      </m:r>
                    </m:oMath>
                  </m:oMathPara>
                </a14:m>
                <a:endParaRPr lang="en-AU" sz="2000" b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AU" sz="2000" b="1" dirty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sz="2000" b="1" u="sng" dirty="0"/>
                  <a:t>Area</a:t>
                </a:r>
                <a:r>
                  <a:rPr lang="en-AU" sz="2000" b="1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AU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67A611-5DFD-4989-BB87-C5E70708B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795" y="4797922"/>
                <a:ext cx="4972167" cy="1945982"/>
              </a:xfrm>
              <a:prstGeom prst="rect">
                <a:avLst/>
              </a:prstGeom>
              <a:blipFill>
                <a:blip r:embed="rId2"/>
                <a:stretch>
                  <a:fillRect t="-15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E998F14F-459C-4FF4-BB05-085706C661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034"/>
          <a:stretch/>
        </p:blipFill>
        <p:spPr>
          <a:xfrm>
            <a:off x="268365" y="1536612"/>
            <a:ext cx="4000705" cy="3871252"/>
          </a:xfrm>
          <a:prstGeom prst="rect">
            <a:avLst/>
          </a:prstGeom>
        </p:spPr>
      </p:pic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673903DA-FADD-425D-BD80-87119C510E51}"/>
              </a:ext>
            </a:extLst>
          </p:cNvPr>
          <p:cNvGraphicFramePr>
            <a:graphicFrameLocks noGrp="1"/>
          </p:cNvGraphicFramePr>
          <p:nvPr/>
        </p:nvGraphicFramePr>
        <p:xfrm>
          <a:off x="4196140" y="1481531"/>
          <a:ext cx="7315202" cy="25099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1">
                  <a:extLst>
                    <a:ext uri="{9D8B030D-6E8A-4147-A177-3AD203B41FA5}">
                      <a16:colId xmlns:a16="http://schemas.microsoft.com/office/drawing/2014/main" val="4021360316"/>
                    </a:ext>
                  </a:extLst>
                </a:gridCol>
                <a:gridCol w="3657601">
                  <a:extLst>
                    <a:ext uri="{9D8B030D-6E8A-4147-A177-3AD203B41FA5}">
                      <a16:colId xmlns:a16="http://schemas.microsoft.com/office/drawing/2014/main" val="2591231441"/>
                    </a:ext>
                  </a:extLst>
                </a:gridCol>
              </a:tblGrid>
              <a:tr h="457479">
                <a:tc>
                  <a:txBody>
                    <a:bodyPr/>
                    <a:lstStyle/>
                    <a:p>
                      <a:pPr algn="ctr"/>
                      <a:r>
                        <a:rPr lang="en-AU" sz="2800" b="1" dirty="0"/>
                        <a:t>Circumference: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1" dirty="0"/>
                        <a:t>Area: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567349"/>
                  </a:ext>
                </a:extLst>
              </a:tr>
              <a:tr h="1991781">
                <a:tc>
                  <a:txBody>
                    <a:bodyPr/>
                    <a:lstStyle/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75227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D4FBE1-E945-4E2E-8490-526771482BD3}"/>
                  </a:ext>
                </a:extLst>
              </p:cNvPr>
              <p:cNvSpPr txBox="1"/>
              <p:nvPr/>
            </p:nvSpPr>
            <p:spPr>
              <a:xfrm>
                <a:off x="4515902" y="2251568"/>
                <a:ext cx="2563554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𝟏𝟑𝟏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𝟗𝟓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𝒄𝒎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D4FBE1-E945-4E2E-8490-526771482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902" y="2251568"/>
                <a:ext cx="2563554" cy="1384995"/>
              </a:xfrm>
              <a:prstGeom prst="rect">
                <a:avLst/>
              </a:prstGeom>
              <a:blipFill>
                <a:blip r:embed="rId4"/>
                <a:stretch>
                  <a:fillRect r="-2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384101-B770-4BDF-A185-652CA8115F39}"/>
                  </a:ext>
                </a:extLst>
              </p:cNvPr>
              <p:cNvSpPr txBox="1"/>
              <p:nvPr/>
            </p:nvSpPr>
            <p:spPr>
              <a:xfrm>
                <a:off x="7922932" y="2287981"/>
                <a:ext cx="2300025" cy="1421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𝟐𝟏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𝟏𝟑𝟖𝟓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𝟒𝟒</m:t>
                      </m:r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𝒄𝒎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384101-B770-4BDF-A185-652CA8115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2932" y="2287981"/>
                <a:ext cx="2300025" cy="1421864"/>
              </a:xfrm>
              <a:prstGeom prst="rect">
                <a:avLst/>
              </a:prstGeom>
              <a:blipFill>
                <a:blip r:embed="rId5"/>
                <a:stretch>
                  <a:fillRect r="-543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B03B8FF-F4D9-4796-8B77-3DC3FC4D0298}"/>
              </a:ext>
            </a:extLst>
          </p:cNvPr>
          <p:cNvSpPr txBox="1"/>
          <p:nvPr/>
        </p:nvSpPr>
        <p:spPr>
          <a:xfrm>
            <a:off x="268365" y="131409"/>
            <a:ext cx="1178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 DO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610610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45930-F3FE-46B9-BD48-D515A82715A0}"/>
              </a:ext>
            </a:extLst>
          </p:cNvPr>
          <p:cNvSpPr txBox="1"/>
          <p:nvPr/>
        </p:nvSpPr>
        <p:spPr>
          <a:xfrm>
            <a:off x="1323917" y="493664"/>
            <a:ext cx="10187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Aim: Practicing calculating area and circumference of a circle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67A611-5DFD-4989-BB87-C5E70708B596}"/>
                  </a:ext>
                </a:extLst>
              </p:cNvPr>
              <p:cNvSpPr txBox="1"/>
              <p:nvPr/>
            </p:nvSpPr>
            <p:spPr>
              <a:xfrm>
                <a:off x="5367657" y="4586420"/>
                <a:ext cx="4972167" cy="1945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000" b="1" u="sng" dirty="0"/>
                  <a:t>Circumference</a:t>
                </a:r>
                <a:r>
                  <a:rPr lang="en-AU" sz="2000" b="1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en-AU" sz="2000" b="1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𝒐𝒓</m:t>
                      </m:r>
                    </m:oMath>
                  </m:oMathPara>
                </a14:m>
                <a:endParaRPr lang="en-AU" sz="2000" b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AU" sz="2000" b="1" dirty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sz="2000" b="1" u="sng" dirty="0"/>
                  <a:t>Area</a:t>
                </a:r>
                <a:r>
                  <a:rPr lang="en-AU" sz="2000" b="1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AU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67A611-5DFD-4989-BB87-C5E70708B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657" y="4586420"/>
                <a:ext cx="4972167" cy="1945982"/>
              </a:xfrm>
              <a:prstGeom prst="rect">
                <a:avLst/>
              </a:prstGeom>
              <a:blipFill>
                <a:blip r:embed="rId2"/>
                <a:stretch>
                  <a:fillRect t="-15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673903DA-FADD-425D-BD80-87119C510E51}"/>
              </a:ext>
            </a:extLst>
          </p:cNvPr>
          <p:cNvGraphicFramePr>
            <a:graphicFrameLocks noGrp="1"/>
          </p:cNvGraphicFramePr>
          <p:nvPr/>
        </p:nvGraphicFramePr>
        <p:xfrm>
          <a:off x="4196140" y="1481531"/>
          <a:ext cx="7315202" cy="25099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1">
                  <a:extLst>
                    <a:ext uri="{9D8B030D-6E8A-4147-A177-3AD203B41FA5}">
                      <a16:colId xmlns:a16="http://schemas.microsoft.com/office/drawing/2014/main" val="4021360316"/>
                    </a:ext>
                  </a:extLst>
                </a:gridCol>
                <a:gridCol w="3657601">
                  <a:extLst>
                    <a:ext uri="{9D8B030D-6E8A-4147-A177-3AD203B41FA5}">
                      <a16:colId xmlns:a16="http://schemas.microsoft.com/office/drawing/2014/main" val="2591231441"/>
                    </a:ext>
                  </a:extLst>
                </a:gridCol>
              </a:tblGrid>
              <a:tr h="457479">
                <a:tc>
                  <a:txBody>
                    <a:bodyPr/>
                    <a:lstStyle/>
                    <a:p>
                      <a:pPr algn="ctr"/>
                      <a:r>
                        <a:rPr lang="en-AU" sz="2800" b="1" dirty="0"/>
                        <a:t>Circumference: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1" dirty="0"/>
                        <a:t>Area: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567349"/>
                  </a:ext>
                </a:extLst>
              </a:tr>
              <a:tr h="1991781">
                <a:tc>
                  <a:txBody>
                    <a:bodyPr/>
                    <a:lstStyle/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75227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D4FBE1-E945-4E2E-8490-526771482BD3}"/>
                  </a:ext>
                </a:extLst>
              </p:cNvPr>
              <p:cNvSpPr txBox="1"/>
              <p:nvPr/>
            </p:nvSpPr>
            <p:spPr>
              <a:xfrm>
                <a:off x="4515902" y="2251568"/>
                <a:ext cx="2300025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𝟕𝟏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𝒄𝒎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D4FBE1-E945-4E2E-8490-526771482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902" y="2251568"/>
                <a:ext cx="2300025" cy="1384995"/>
              </a:xfrm>
              <a:prstGeom prst="rect">
                <a:avLst/>
              </a:prstGeom>
              <a:blipFill>
                <a:blip r:embed="rId3"/>
                <a:stretch>
                  <a:fillRect r="-283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384101-B770-4BDF-A185-652CA8115F39}"/>
                  </a:ext>
                </a:extLst>
              </p:cNvPr>
              <p:cNvSpPr txBox="1"/>
              <p:nvPr/>
            </p:nvSpPr>
            <p:spPr>
              <a:xfrm>
                <a:off x="7922932" y="2287981"/>
                <a:ext cx="2300025" cy="1414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𝟏𝟗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𝟔𝟑</m:t>
                      </m:r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𝒄𝒎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384101-B770-4BDF-A185-652CA8115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2932" y="2287981"/>
                <a:ext cx="2300025" cy="1414233"/>
              </a:xfrm>
              <a:prstGeom prst="rect">
                <a:avLst/>
              </a:prstGeom>
              <a:blipFill>
                <a:blip r:embed="rId4"/>
                <a:stretch>
                  <a:fillRect r="-358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E10ABD8-2D73-4CEE-93D4-D24FE2FBF1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47" y="2165958"/>
            <a:ext cx="3783792" cy="36510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F9F98E-0D79-4ACC-8619-3F4960488C6F}"/>
              </a:ext>
            </a:extLst>
          </p:cNvPr>
          <p:cNvSpPr txBox="1"/>
          <p:nvPr/>
        </p:nvSpPr>
        <p:spPr>
          <a:xfrm>
            <a:off x="268365" y="131409"/>
            <a:ext cx="1178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WE DO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13586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45930-F3FE-46B9-BD48-D515A82715A0}"/>
              </a:ext>
            </a:extLst>
          </p:cNvPr>
          <p:cNvSpPr txBox="1"/>
          <p:nvPr/>
        </p:nvSpPr>
        <p:spPr>
          <a:xfrm>
            <a:off x="1323917" y="493664"/>
            <a:ext cx="10187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Aim: Practicing calculating area and circumference of a circle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67A611-5DFD-4989-BB87-C5E70708B596}"/>
                  </a:ext>
                </a:extLst>
              </p:cNvPr>
              <p:cNvSpPr txBox="1"/>
              <p:nvPr/>
            </p:nvSpPr>
            <p:spPr>
              <a:xfrm>
                <a:off x="5367657" y="4636908"/>
                <a:ext cx="4972167" cy="1945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000" b="1" u="sng" dirty="0"/>
                  <a:t>Circumference</a:t>
                </a:r>
                <a:r>
                  <a:rPr lang="en-AU" sz="2000" b="1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en-AU" sz="2000" b="1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𝒐𝒓</m:t>
                      </m:r>
                    </m:oMath>
                  </m:oMathPara>
                </a14:m>
                <a:endParaRPr lang="en-AU" sz="2000" b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AU" sz="2000" b="1" dirty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sz="2000" b="1" u="sng" dirty="0"/>
                  <a:t>Area</a:t>
                </a:r>
                <a:r>
                  <a:rPr lang="en-AU" sz="2000" b="1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AU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67A611-5DFD-4989-BB87-C5E70708B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657" y="4636908"/>
                <a:ext cx="4972167" cy="1945982"/>
              </a:xfrm>
              <a:prstGeom prst="rect">
                <a:avLst/>
              </a:prstGeom>
              <a:blipFill>
                <a:blip r:embed="rId2"/>
                <a:stretch>
                  <a:fillRect t="-18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673903DA-FADD-425D-BD80-87119C510E51}"/>
              </a:ext>
            </a:extLst>
          </p:cNvPr>
          <p:cNvGraphicFramePr>
            <a:graphicFrameLocks noGrp="1"/>
          </p:cNvGraphicFramePr>
          <p:nvPr/>
        </p:nvGraphicFramePr>
        <p:xfrm>
          <a:off x="4196140" y="1481531"/>
          <a:ext cx="7315202" cy="25099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1">
                  <a:extLst>
                    <a:ext uri="{9D8B030D-6E8A-4147-A177-3AD203B41FA5}">
                      <a16:colId xmlns:a16="http://schemas.microsoft.com/office/drawing/2014/main" val="4021360316"/>
                    </a:ext>
                  </a:extLst>
                </a:gridCol>
                <a:gridCol w="3657601">
                  <a:extLst>
                    <a:ext uri="{9D8B030D-6E8A-4147-A177-3AD203B41FA5}">
                      <a16:colId xmlns:a16="http://schemas.microsoft.com/office/drawing/2014/main" val="2591231441"/>
                    </a:ext>
                  </a:extLst>
                </a:gridCol>
              </a:tblGrid>
              <a:tr h="457479">
                <a:tc>
                  <a:txBody>
                    <a:bodyPr/>
                    <a:lstStyle/>
                    <a:p>
                      <a:pPr algn="ctr"/>
                      <a:r>
                        <a:rPr lang="en-AU" sz="2800" b="1" dirty="0"/>
                        <a:t>Circumference: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1" dirty="0"/>
                        <a:t>Area: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567349"/>
                  </a:ext>
                </a:extLst>
              </a:tr>
              <a:tr h="1991781">
                <a:tc>
                  <a:txBody>
                    <a:bodyPr/>
                    <a:lstStyle/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75227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D4FBE1-E945-4E2E-8490-526771482BD3}"/>
                  </a:ext>
                </a:extLst>
              </p:cNvPr>
              <p:cNvSpPr txBox="1"/>
              <p:nvPr/>
            </p:nvSpPr>
            <p:spPr>
              <a:xfrm>
                <a:off x="4269069" y="2251568"/>
                <a:ext cx="3017555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𝟗𝟗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𝟐𝟕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𝒄𝒎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D4FBE1-E945-4E2E-8490-526771482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9069" y="2251568"/>
                <a:ext cx="3017555" cy="13849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384101-B770-4BDF-A185-652CA8115F39}"/>
                  </a:ext>
                </a:extLst>
              </p:cNvPr>
              <p:cNvSpPr txBox="1"/>
              <p:nvPr/>
            </p:nvSpPr>
            <p:spPr>
              <a:xfrm>
                <a:off x="7922932" y="2287981"/>
                <a:ext cx="2300025" cy="1414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𝟏𝟓</m:t>
                          </m:r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𝟖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𝟕𝟖𝟒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𝟐𝟕</m:t>
                      </m:r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𝒄𝒎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384101-B770-4BDF-A185-652CA8115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2932" y="2287981"/>
                <a:ext cx="2300025" cy="1414233"/>
              </a:xfrm>
              <a:prstGeom prst="rect">
                <a:avLst/>
              </a:prstGeom>
              <a:blipFill>
                <a:blip r:embed="rId4"/>
                <a:stretch>
                  <a:fillRect r="-450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Radius of a Circle Formula &amp; Example | How to Find the Radius of a Circle -  Video &amp; Lesson Transcript | Study.com">
            <a:extLst>
              <a:ext uri="{FF2B5EF4-FFF2-40B4-BE49-F238E27FC236}">
                <a16:creationId xmlns:a16="http://schemas.microsoft.com/office/drawing/2014/main" id="{B6BF66BA-BF0F-481D-943A-287C371B0B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81"/>
          <a:stretch/>
        </p:blipFill>
        <p:spPr bwMode="auto">
          <a:xfrm>
            <a:off x="251070" y="2054061"/>
            <a:ext cx="3785189" cy="370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099AF3-BAC0-4E90-AD03-8FBB2BDC86E6}"/>
              </a:ext>
            </a:extLst>
          </p:cNvPr>
          <p:cNvSpPr txBox="1"/>
          <p:nvPr/>
        </p:nvSpPr>
        <p:spPr>
          <a:xfrm>
            <a:off x="145222" y="90572"/>
            <a:ext cx="11786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YOU DO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470492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F01EC8-0343-4FA1-B2B7-279A14463306}"/>
              </a:ext>
            </a:extLst>
          </p:cNvPr>
          <p:cNvSpPr txBox="1"/>
          <p:nvPr/>
        </p:nvSpPr>
        <p:spPr>
          <a:xfrm>
            <a:off x="696435" y="2834758"/>
            <a:ext cx="11029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FF0000"/>
                </a:solidFill>
              </a:rPr>
              <a:t>Worksheet! Complete all circles on the worksheet by the end of class.</a:t>
            </a:r>
          </a:p>
        </p:txBody>
      </p:sp>
    </p:spTree>
    <p:extLst>
      <p:ext uri="{BB962C8B-B14F-4D97-AF65-F5344CB8AC3E}">
        <p14:creationId xmlns:p14="http://schemas.microsoft.com/office/powerpoint/2010/main" val="298752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507</Words>
  <Application>Microsoft Office PowerPoint</Application>
  <PresentationFormat>Widescreen</PresentationFormat>
  <Paragraphs>153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Key features </vt:lpstr>
      <vt:lpstr>Key features </vt:lpstr>
      <vt:lpstr>I do </vt:lpstr>
      <vt:lpstr>we do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4</cp:revision>
  <dcterms:created xsi:type="dcterms:W3CDTF">2022-05-03T08:09:18Z</dcterms:created>
  <dcterms:modified xsi:type="dcterms:W3CDTF">2022-05-04T00:34:29Z</dcterms:modified>
</cp:coreProperties>
</file>
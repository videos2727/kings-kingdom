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56" r:id="rId5"/>
    <p:sldId id="358" r:id="rId6"/>
    <p:sldId id="260" r:id="rId7"/>
    <p:sldId id="355" r:id="rId8"/>
    <p:sldId id="272" r:id="rId9"/>
    <p:sldId id="262" r:id="rId10"/>
    <p:sldId id="331" r:id="rId11"/>
    <p:sldId id="332" r:id="rId12"/>
    <p:sldId id="259" r:id="rId13"/>
    <p:sldId id="269" r:id="rId14"/>
    <p:sldId id="3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957C-8F2F-4BF3-9B8B-00215C016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A9B14-84DC-4897-8BAE-6F13FB069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C9F52-A5FD-4B06-AF07-4B2D608B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F5A47-C15B-45CB-882B-DB2FD343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482AC-9655-4F79-8D38-6390E03F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D957-C36B-44C5-872A-8D483240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E690-86CC-4E8B-9EF0-2D2E6693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3C04-19F7-4035-86F9-BA4831B6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6DD18-E63A-4567-B635-493A65E3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E4327-5017-48B2-AB97-C0F907A4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478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D0E6B-3D2C-4246-B537-EDBE7F779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DE0F-CB86-425A-9872-F52FA7FD1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4FE3-7D03-4194-B575-56096631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896C6-A8FA-44FC-9847-F173D030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38D72-0E56-429B-A1C4-2EF9408E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67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799D-A069-41A5-867D-600159A6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6C06-818C-4A1B-86EA-75DA5790F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994C6-8914-45C0-BD69-80B0393AF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FE66D-F02C-4876-8BBE-E1DF98C6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AEA6F-09F7-4A89-8959-1D825FEF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8C2A9-BBA4-4E35-B5CA-583E2D45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873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F419-6750-4092-975E-DA1761CA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072E7-6286-4903-8B69-BE991D678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CC9DF-EB08-4BDB-8C70-F6015E250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4FA11-97F7-46FC-81A2-C431F712D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6C39F-D00A-470C-BFDC-295815E879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8C1C0B-3D54-4E5A-8CE2-7D773930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92627-A791-4F30-8794-ABECCA47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11DFD-6421-439E-9B8E-83B8279B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31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A042-2CA4-470C-94B3-437AD02AE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96791-C5CE-42B3-8676-B1A12B21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2CD2-BCE9-4712-8D35-6B148F87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D52A7-FDCF-4597-8DB9-C8C75D48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241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081FD-F90B-44AC-8B04-D9B52BC1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8BB12-CD57-4D26-B082-BE8DA699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DD546-B8E0-46E5-B89A-8E8DDE89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596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478C6-27D3-41F0-98A7-99B380F2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A6940-E37D-41C2-98EE-E4219BB6B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5A39E-F639-486C-8380-64A5FD21E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99B3A-8036-4619-A773-4AAF755E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0C845-BB1B-44D4-B60C-DB287A9D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A0DFB-C855-4AF6-AFBB-7C664960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98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2581-5F0B-4882-ACEF-63AB263E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10EC53-B833-4538-8AF0-66F214981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5CE3B-0DAD-4BC9-99AC-AECA91BEA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39C69-8DA1-4B38-BF50-9CE8B941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824A9-89A0-46E4-B9F4-A09E8D7B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38B96-2B0C-4121-9C98-EAF96EC7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19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DF4F-E489-4E88-A17D-6D9A7D5D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4B5B8-6C87-4A8F-B7D0-8D459882D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6564-3A0D-4B99-A631-E00CC09E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DE866-EC19-410F-9090-9F63DD94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AE09B-7EF0-4C2D-868D-44A1DDA2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167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40306F-1164-49C5-BCD0-146B6E8A7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A5F13-84A9-45A5-ABFF-905CB8DE2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0C82A-9C8D-4B1A-B7F9-3FB7D7D4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DA04-6B3C-4A58-87A3-4F4EE525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FB4CF-134C-47DA-941C-B153AC5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2779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20CC2-98F2-493D-842D-80376BA8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726A6-0251-413F-8F41-0735C18D6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08D31-22D0-48F7-8E47-D3C987FEB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A75E6-E9C8-44CF-A912-B8EA6CF1143D}" type="datetimeFigureOut">
              <a:rPr lang="en-AU" smtClean="0"/>
              <a:t>8/06/2022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FE3BA-303A-4924-987E-A1A722CF4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3EA5F-8865-4714-BEB9-BB5C71C64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1EB41-C5D4-4EA7-86AB-2B214D0DB7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479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4E6836-0E59-4E5E-90E4-25310B3B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B3372C-0560-44F9-A745-E19550CE8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Represented data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Assign probability using Venn diagrams and two-way tables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Describe and state complimentary events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expected outcomes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Complimentary events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Two-way tables and Venn Diagrams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62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96F7-28AD-484A-932E-111827C1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Expected outcomes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1CD6-B48F-4C71-A59D-02857DF6E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bag contains yellow, red and blue marbles. 1 marble was taken out and the </a:t>
            </a:r>
            <a:r>
              <a:rPr lang="en-US" dirty="0" err="1"/>
              <a:t>colour</a:t>
            </a:r>
            <a:r>
              <a:rPr lang="en-US" dirty="0"/>
              <a:t> recorded and then replaced. This happened 100 times and the results are in the table below.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What is the experimental probability of each </a:t>
            </a:r>
            <a:r>
              <a:rPr lang="en-US" dirty="0" err="1"/>
              <a:t>colour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/>
              <a:t>If we did 350 trials, how many blue would we expect? </a:t>
            </a:r>
          </a:p>
          <a:p>
            <a:pPr marL="0" indent="0">
              <a:buNone/>
            </a:pP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63AC894-05BE-4FFE-A653-B28AD4199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789982"/>
              </p:ext>
            </p:extLst>
          </p:nvPr>
        </p:nvGraphicFramePr>
        <p:xfrm>
          <a:off x="2032000" y="3223168"/>
          <a:ext cx="812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7622751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672481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951288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803075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56961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RED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YELLOW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BLUE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8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Frequency 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25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100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03141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044952-E95A-4819-AA8D-07B60C24F256}"/>
                  </a:ext>
                </a:extLst>
              </p:cNvPr>
              <p:cNvSpPr txBox="1"/>
              <p:nvPr/>
            </p:nvSpPr>
            <p:spPr>
              <a:xfrm>
                <a:off x="408373" y="221942"/>
                <a:ext cx="78478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i="1" dirty="0">
                    <a:solidFill>
                      <a:srgbClr val="00B0F0"/>
                    </a:solidFill>
                  </a:rPr>
                  <a:t>Expected number of occurrences </a:t>
                </a:r>
                <a:r>
                  <a:rPr lang="en-AU" dirty="0">
                    <a:solidFill>
                      <a:srgbClr val="00B0F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𝑝𝑟𝑜𝑏𝑎𝑏𝑖𝑙𝑖𝑡𝑦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𝑡𝑟𝑖𝑎𝑙𝑠</m:t>
                    </m:r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044952-E95A-4819-AA8D-07B60C24F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73" y="221942"/>
                <a:ext cx="7847860" cy="646331"/>
              </a:xfrm>
              <a:prstGeom prst="rect">
                <a:avLst/>
              </a:prstGeom>
              <a:blipFill>
                <a:blip r:embed="rId2"/>
                <a:stretch>
                  <a:fillRect l="-699" t="-47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50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39B2-8CA0-41C3-881F-FA18148E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5C4B9-6666-4401-8113-87255A592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Sally counted the cars that drove past the school during the day. She counted 200 cars and the results are below.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What is the experimental probability that the next car will be yellow?</a:t>
            </a:r>
          </a:p>
          <a:p>
            <a:pPr marL="514350" indent="-514350">
              <a:buAutoNum type="arabicPeriod"/>
            </a:pPr>
            <a:r>
              <a:rPr lang="en-AU" dirty="0"/>
              <a:t>If Sally counted 800 cars, how many would she expect to be black?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260E2F8-A52D-403F-B563-78C1D92C1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313248"/>
              </p:ext>
            </p:extLst>
          </p:nvPr>
        </p:nvGraphicFramePr>
        <p:xfrm>
          <a:off x="1376039" y="3223168"/>
          <a:ext cx="936594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91">
                  <a:extLst>
                    <a:ext uri="{9D8B030D-6E8A-4147-A177-3AD203B41FA5}">
                      <a16:colId xmlns:a16="http://schemas.microsoft.com/office/drawing/2014/main" val="2762275161"/>
                    </a:ext>
                  </a:extLst>
                </a:gridCol>
                <a:gridCol w="1560991">
                  <a:extLst>
                    <a:ext uri="{9D8B030D-6E8A-4147-A177-3AD203B41FA5}">
                      <a16:colId xmlns:a16="http://schemas.microsoft.com/office/drawing/2014/main" val="2767248148"/>
                    </a:ext>
                  </a:extLst>
                </a:gridCol>
                <a:gridCol w="1560991">
                  <a:extLst>
                    <a:ext uri="{9D8B030D-6E8A-4147-A177-3AD203B41FA5}">
                      <a16:colId xmlns:a16="http://schemas.microsoft.com/office/drawing/2014/main" val="3595128858"/>
                    </a:ext>
                  </a:extLst>
                </a:gridCol>
                <a:gridCol w="1560991">
                  <a:extLst>
                    <a:ext uri="{9D8B030D-6E8A-4147-A177-3AD203B41FA5}">
                      <a16:colId xmlns:a16="http://schemas.microsoft.com/office/drawing/2014/main" val="980307572"/>
                    </a:ext>
                  </a:extLst>
                </a:gridCol>
                <a:gridCol w="1560991">
                  <a:extLst>
                    <a:ext uri="{9D8B030D-6E8A-4147-A177-3AD203B41FA5}">
                      <a16:colId xmlns:a16="http://schemas.microsoft.com/office/drawing/2014/main" val="2326753700"/>
                    </a:ext>
                  </a:extLst>
                </a:gridCol>
                <a:gridCol w="1560991">
                  <a:extLst>
                    <a:ext uri="{9D8B030D-6E8A-4147-A177-3AD203B41FA5}">
                      <a16:colId xmlns:a16="http://schemas.microsoft.com/office/drawing/2014/main" val="3656961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RED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WHITE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YELLOW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BLACK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8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Frequency 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50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60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48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200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031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327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2E97-F689-416A-BE3B-F642122D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Complimentary events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C1A6E-0DD1-44BA-84C1-E5045AAB8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Are </a:t>
                </a:r>
                <a:r>
                  <a:rPr lang="en-US" i="1" dirty="0"/>
                  <a:t>Mutually exclusive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This means that one event will occur OR the other will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E.g., normal die: </a:t>
                </a:r>
              </a:p>
              <a:p>
                <a:pPr marL="0" indent="0">
                  <a:buNone/>
                </a:pPr>
                <a:r>
                  <a:rPr lang="en-US" dirty="0"/>
                  <a:t>P(4)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P(not 4)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C1A6E-0DD1-44BA-84C1-E5045AAB8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553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C830-531A-4C60-865B-6DB2F6FA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the complimentary events?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2DF4C-1BFC-4253-8AD6-8C8C073A2D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What is the opposite probability?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Deck of cards, pulling an Ace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52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CHANCE letters, getting an N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Rolling 8-sided die, getting a 7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US" dirty="0"/>
              </a:p>
              <a:p>
                <a:pPr marL="514350" indent="-514350">
                  <a:buAutoNum type="alphaLcParenR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2DF4C-1BFC-4253-8AD6-8C8C073A2D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26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7FC5B-48B5-4EF7-A8AC-C8190601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 grade questions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7C99AF-6091-49D7-B0DB-A9F2465719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45531" y="1690688"/>
            <a:ext cx="4305300" cy="24384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3CADF-165F-42ED-BE4B-18E0D3EFD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88728"/>
            <a:ext cx="5181600" cy="526412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dirty="0"/>
              <a:t>Rolling a 12 sided die and getting a 7, what is the complimentary event?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P(popcorn or choc) </a:t>
            </a:r>
          </a:p>
          <a:p>
            <a:pPr marL="0" indent="0">
              <a:buNone/>
            </a:pPr>
            <a:r>
              <a:rPr lang="en-AU" dirty="0"/>
              <a:t>P(popcorn or choc but not both) </a:t>
            </a:r>
          </a:p>
          <a:p>
            <a:pPr marL="0" indent="0">
              <a:buNone/>
            </a:pPr>
            <a:r>
              <a:rPr lang="en-AU" dirty="0"/>
              <a:t>P(had neither)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EA835-025E-4D6A-9B6A-C39EBE147361}"/>
              </a:ext>
            </a:extLst>
          </p:cNvPr>
          <p:cNvSpPr txBox="1"/>
          <p:nvPr/>
        </p:nvSpPr>
        <p:spPr>
          <a:xfrm>
            <a:off x="838200" y="4129088"/>
            <a:ext cx="409353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Owns a Dog or Cat or both</a:t>
            </a:r>
          </a:p>
          <a:p>
            <a:endParaRPr lang="en-AU" sz="2800" dirty="0"/>
          </a:p>
          <a:p>
            <a:r>
              <a:rPr lang="en-AU" sz="2800" dirty="0"/>
              <a:t>P(only dog)</a:t>
            </a:r>
          </a:p>
          <a:p>
            <a:r>
              <a:rPr lang="en-AU" sz="2800" dirty="0"/>
              <a:t>P(Cat or dog) </a:t>
            </a:r>
          </a:p>
          <a:p>
            <a:r>
              <a:rPr lang="en-AU" sz="2800" dirty="0"/>
              <a:t>P(not dog) </a:t>
            </a:r>
          </a:p>
          <a:p>
            <a:endParaRPr lang="en-AU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EF2DD10F-8D92-4909-8DD6-0C43ABCD6DBC}"/>
              </a:ext>
            </a:extLst>
          </p:cNvPr>
          <p:cNvGraphicFramePr>
            <a:graphicFrameLocks noGrp="1"/>
          </p:cNvGraphicFramePr>
          <p:nvPr/>
        </p:nvGraphicFramePr>
        <p:xfrm>
          <a:off x="5982810" y="2620066"/>
          <a:ext cx="5560380" cy="2325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095">
                  <a:extLst>
                    <a:ext uri="{9D8B030D-6E8A-4147-A177-3AD203B41FA5}">
                      <a16:colId xmlns:a16="http://schemas.microsoft.com/office/drawing/2014/main" val="3426757013"/>
                    </a:ext>
                  </a:extLst>
                </a:gridCol>
                <a:gridCol w="1390095">
                  <a:extLst>
                    <a:ext uri="{9D8B030D-6E8A-4147-A177-3AD203B41FA5}">
                      <a16:colId xmlns:a16="http://schemas.microsoft.com/office/drawing/2014/main" val="38904014"/>
                    </a:ext>
                  </a:extLst>
                </a:gridCol>
                <a:gridCol w="1390095">
                  <a:extLst>
                    <a:ext uri="{9D8B030D-6E8A-4147-A177-3AD203B41FA5}">
                      <a16:colId xmlns:a16="http://schemas.microsoft.com/office/drawing/2014/main" val="2047903208"/>
                    </a:ext>
                  </a:extLst>
                </a:gridCol>
                <a:gridCol w="1390095">
                  <a:extLst>
                    <a:ext uri="{9D8B030D-6E8A-4147-A177-3AD203B41FA5}">
                      <a16:colId xmlns:a16="http://schemas.microsoft.com/office/drawing/2014/main" val="3975534000"/>
                    </a:ext>
                  </a:extLst>
                </a:gridCol>
              </a:tblGrid>
              <a:tr h="561781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Chocolate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Not choc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Total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840524"/>
                  </a:ext>
                </a:extLst>
              </a:tr>
              <a:tr h="561781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Popcorn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016800"/>
                  </a:ext>
                </a:extLst>
              </a:tr>
              <a:tr h="561781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Not pop corn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11521"/>
                  </a:ext>
                </a:extLst>
              </a:tr>
              <a:tr h="561781"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228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830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C942-DD5E-4885-BFDF-80D83E58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 into exercise book </a:t>
            </a:r>
            <a:endParaRPr lang="en-AU" dirty="0"/>
          </a:p>
        </p:txBody>
      </p:sp>
      <p:pic>
        <p:nvPicPr>
          <p:cNvPr id="4" name="Picture 2" descr="How to Create Blank Venn Diagrams">
            <a:extLst>
              <a:ext uri="{FF2B5EF4-FFF2-40B4-BE49-F238E27FC236}">
                <a16:creationId xmlns:a16="http://schemas.microsoft.com/office/drawing/2014/main" id="{CA9308CE-EB96-4930-AF7D-4747A8CF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7737"/>
            <a:ext cx="5633062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4F7987-D562-468E-B30B-B65A2B853C87}"/>
              </a:ext>
            </a:extLst>
          </p:cNvPr>
          <p:cNvSpPr/>
          <p:nvPr/>
        </p:nvSpPr>
        <p:spPr>
          <a:xfrm>
            <a:off x="838200" y="2177249"/>
            <a:ext cx="5510212" cy="3657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1CFEB-01E7-4458-B73A-F8F61250F09A}"/>
              </a:ext>
            </a:extLst>
          </p:cNvPr>
          <p:cNvSpPr txBox="1"/>
          <p:nvPr/>
        </p:nvSpPr>
        <p:spPr>
          <a:xfrm>
            <a:off x="2059619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Surfing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9FE52-A62B-489E-BB61-065CD3E16D1C}"/>
              </a:ext>
            </a:extLst>
          </p:cNvPr>
          <p:cNvSpPr txBox="1"/>
          <p:nvPr/>
        </p:nvSpPr>
        <p:spPr>
          <a:xfrm>
            <a:off x="4395372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Skate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0AF1C-ACB0-4721-916C-72E85D0AF649}"/>
              </a:ext>
            </a:extLst>
          </p:cNvPr>
          <p:cNvSpPr txBox="1"/>
          <p:nvPr/>
        </p:nvSpPr>
        <p:spPr>
          <a:xfrm>
            <a:off x="2059619" y="328433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21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1AD9A-4DFC-4D10-8FF3-733C8BCDFFE4}"/>
              </a:ext>
            </a:extLst>
          </p:cNvPr>
          <p:cNvSpPr txBox="1"/>
          <p:nvPr/>
        </p:nvSpPr>
        <p:spPr>
          <a:xfrm>
            <a:off x="3479030" y="327505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9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EFCF0-A90D-4473-A9D6-4B3C7C30B67B}"/>
              </a:ext>
            </a:extLst>
          </p:cNvPr>
          <p:cNvSpPr txBox="1"/>
          <p:nvPr/>
        </p:nvSpPr>
        <p:spPr>
          <a:xfrm>
            <a:off x="4699612" y="3272232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2533B9-78E8-4C9F-AA9B-6F353E3B2565}"/>
              </a:ext>
            </a:extLst>
          </p:cNvPr>
          <p:cNvSpPr txBox="1"/>
          <p:nvPr/>
        </p:nvSpPr>
        <p:spPr>
          <a:xfrm>
            <a:off x="5727854" y="5117310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6</a:t>
            </a:r>
            <a:r>
              <a:rPr lang="en-US" dirty="0"/>
              <a:t> </a:t>
            </a:r>
            <a:endParaRPr lang="en-AU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FFF25E-F695-449D-A073-83078FDD2437}"/>
              </a:ext>
            </a:extLst>
          </p:cNvPr>
          <p:cNvGraphicFramePr>
            <a:graphicFrameLocks noGrp="1"/>
          </p:cNvGraphicFramePr>
          <p:nvPr/>
        </p:nvGraphicFramePr>
        <p:xfrm>
          <a:off x="6429375" y="2135146"/>
          <a:ext cx="5633064" cy="3243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266">
                  <a:extLst>
                    <a:ext uri="{9D8B030D-6E8A-4147-A177-3AD203B41FA5}">
                      <a16:colId xmlns:a16="http://schemas.microsoft.com/office/drawing/2014/main" val="1765463113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2988284897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1662111142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81530972"/>
                    </a:ext>
                  </a:extLst>
                </a:gridCol>
              </a:tblGrid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Surfing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64243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Skate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67085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57136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54883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55D420A-7C3D-4161-95C4-F547539996A8}"/>
              </a:ext>
            </a:extLst>
          </p:cNvPr>
          <p:cNvSpPr txBox="1"/>
          <p:nvPr/>
        </p:nvSpPr>
        <p:spPr>
          <a:xfrm>
            <a:off x="914399" y="1679484"/>
            <a:ext cx="131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 =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8086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EB5651-64B6-4343-A812-D53C183F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Two-way tables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B37A77B-8B48-4471-80E9-A8259D1FED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216743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565374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5580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51660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Own car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Don’t own car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Total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54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Own home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394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Don’t own home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323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8557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29BF9B5-9B8D-41BA-AA5C-9D72DA9EE1CD}"/>
              </a:ext>
            </a:extLst>
          </p:cNvPr>
          <p:cNvSpPr txBox="1"/>
          <p:nvPr/>
        </p:nvSpPr>
        <p:spPr>
          <a:xfrm>
            <a:off x="603682" y="3549016"/>
            <a:ext cx="518456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Convert into a Venn Diagram</a:t>
            </a:r>
          </a:p>
          <a:p>
            <a:r>
              <a:rPr lang="en-AU" sz="2400" b="1" dirty="0"/>
              <a:t>THEN,</a:t>
            </a:r>
          </a:p>
          <a:p>
            <a:endParaRPr lang="en-AU" sz="2400" b="1" dirty="0"/>
          </a:p>
          <a:p>
            <a:r>
              <a:rPr lang="en-AU" sz="2400" b="1" dirty="0"/>
              <a:t>Find the probability of:</a:t>
            </a:r>
          </a:p>
          <a:p>
            <a:pPr marL="342900" indent="-342900">
              <a:buAutoNum type="alphaLcParenR"/>
            </a:pPr>
            <a:r>
              <a:rPr lang="en-AU" sz="2400" b="1" dirty="0"/>
              <a:t>What is the probability that a person who owns a car also owns a house?</a:t>
            </a:r>
          </a:p>
          <a:p>
            <a:pPr marL="342900" indent="-342900">
              <a:buAutoNum type="alphaLcParenR"/>
            </a:pPr>
            <a:r>
              <a:rPr lang="en-AU" sz="2400" b="1" dirty="0"/>
              <a:t>P(owns neither)</a:t>
            </a:r>
          </a:p>
          <a:p>
            <a:pPr marL="342900" indent="-342900">
              <a:buAutoNum type="alphaLcParenR"/>
            </a:pPr>
            <a:r>
              <a:rPr lang="en-AU" sz="2400" b="1" dirty="0"/>
              <a:t>P(own only their car)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138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138" t="15450" r="43528" b="56625"/>
          <a:stretch/>
        </p:blipFill>
        <p:spPr>
          <a:xfrm>
            <a:off x="190499" y="266700"/>
            <a:ext cx="7753351" cy="38847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1FA138-2788-4F3B-975D-718DD90AF083}"/>
              </a:ext>
            </a:extLst>
          </p:cNvPr>
          <p:cNvSpPr txBox="1"/>
          <p:nvPr/>
        </p:nvSpPr>
        <p:spPr>
          <a:xfrm>
            <a:off x="363985" y="3932808"/>
            <a:ext cx="362323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highlight>
                  <a:srgbClr val="FFFF00"/>
                </a:highlight>
              </a:rPr>
              <a:t>Create a two-way table </a:t>
            </a:r>
          </a:p>
          <a:p>
            <a:endParaRPr lang="en-AU" sz="2800" dirty="0">
              <a:highlight>
                <a:srgbClr val="FFFF00"/>
              </a:highlight>
            </a:endParaRPr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05D11-0D02-4993-88B9-955F00E84299}"/>
              </a:ext>
            </a:extLst>
          </p:cNvPr>
          <p:cNvSpPr txBox="1"/>
          <p:nvPr/>
        </p:nvSpPr>
        <p:spPr>
          <a:xfrm>
            <a:off x="7767592" y="204557"/>
            <a:ext cx="42339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Creating 2 way-tables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Read info 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Pick categories 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Set table 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rgbClr val="00B0F0"/>
                </a:solidFill>
              </a:rPr>
              <a:t>Fill in what we know</a:t>
            </a:r>
            <a:endParaRPr lang="en-AU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505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967F-3190-48B4-9527-8F02C4CF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4A34D-FD2F-4B00-859A-E7D3909BF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45 people were asked about the types of pets they have.</a:t>
            </a:r>
          </a:p>
          <a:p>
            <a:pPr marL="0" indent="0">
              <a:buNone/>
            </a:pPr>
            <a:r>
              <a:rPr lang="en-US" b="1" dirty="0"/>
              <a:t>25 said they had a dog.</a:t>
            </a:r>
          </a:p>
          <a:p>
            <a:pPr marL="0" indent="0">
              <a:buNone/>
            </a:pPr>
            <a:r>
              <a:rPr lang="en-US" b="1" dirty="0"/>
              <a:t>21 said they had a cat.</a:t>
            </a:r>
          </a:p>
          <a:p>
            <a:pPr marL="0" indent="0">
              <a:buNone/>
            </a:pPr>
            <a:r>
              <a:rPr lang="en-US" b="1" dirty="0"/>
              <a:t>15 said they had both. 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AutoNum type="arabicPeriod"/>
            </a:pPr>
            <a:r>
              <a:rPr lang="en-US" b="1" dirty="0"/>
              <a:t>Draw a Venn diagram </a:t>
            </a:r>
          </a:p>
          <a:p>
            <a:pPr marL="514350" indent="-514350">
              <a:buAutoNum type="arabicPeriod"/>
            </a:pPr>
            <a:r>
              <a:rPr lang="en-US" b="1" dirty="0"/>
              <a:t>What is the probability of selecting someone with just a cat? </a:t>
            </a:r>
          </a:p>
          <a:p>
            <a:pPr marL="514350" indent="-514350">
              <a:buAutoNum type="arabicPeriod"/>
            </a:pPr>
            <a:r>
              <a:rPr lang="en-US" b="1" dirty="0"/>
              <a:t>P(some one who has a cat and a dog) </a:t>
            </a:r>
          </a:p>
          <a:p>
            <a:pPr marL="514350" indent="-514350">
              <a:buAutoNum type="arabicPeriod"/>
            </a:pPr>
            <a:r>
              <a:rPr lang="en-US" b="1" dirty="0"/>
              <a:t>P(someone who does not have a dog) </a:t>
            </a:r>
          </a:p>
          <a:p>
            <a:pPr marL="514350" indent="-514350">
              <a:buAutoNum type="arabicPeriod"/>
            </a:pPr>
            <a:r>
              <a:rPr lang="en-US" b="1" dirty="0"/>
              <a:t>Given this person has a dog, P(they have a cat too) </a:t>
            </a:r>
            <a:endParaRPr lang="en-A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53F5FE-8DC8-43B1-A4B7-CDA3D8BDFA17}"/>
                  </a:ext>
                </a:extLst>
              </p:cNvPr>
              <p:cNvSpPr txBox="1"/>
              <p:nvPr/>
            </p:nvSpPr>
            <p:spPr>
              <a:xfrm>
                <a:off x="10119804" y="4395659"/>
                <a:ext cx="2467992" cy="2694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53F5FE-8DC8-43B1-A4B7-CDA3D8BDF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804" y="4395659"/>
                <a:ext cx="2467992" cy="2694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47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0395-CA44-4184-9DB5-E15ED10A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7FD4-8898-4257-B721-D4B18FFB7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100 people were asked if they eat KFC or Maccas.</a:t>
            </a:r>
          </a:p>
          <a:p>
            <a:pPr marL="0" indent="0">
              <a:buNone/>
            </a:pPr>
            <a:r>
              <a:rPr lang="en-US" dirty="0"/>
              <a:t>45 people said they eat KFC</a:t>
            </a:r>
          </a:p>
          <a:p>
            <a:pPr marL="0" indent="0">
              <a:buNone/>
            </a:pPr>
            <a:r>
              <a:rPr lang="en-US" dirty="0"/>
              <a:t>50 people said they eat Maccas</a:t>
            </a:r>
          </a:p>
          <a:p>
            <a:pPr marL="0" indent="0">
              <a:buNone/>
            </a:pPr>
            <a:r>
              <a:rPr lang="en-US" dirty="0"/>
              <a:t>27 people said they eat both.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Venn diagram.</a:t>
            </a:r>
          </a:p>
          <a:p>
            <a:pPr>
              <a:buFontTx/>
              <a:buChar char="-"/>
            </a:pPr>
            <a:r>
              <a:rPr lang="en-US" dirty="0"/>
              <a:t>P(someone who only eats KFC)</a:t>
            </a:r>
          </a:p>
          <a:p>
            <a:pPr>
              <a:buFontTx/>
              <a:buChar char="-"/>
            </a:pPr>
            <a:r>
              <a:rPr lang="en-US" dirty="0"/>
              <a:t>P(Eats neither)</a:t>
            </a:r>
          </a:p>
          <a:p>
            <a:pPr>
              <a:buFontTx/>
              <a:buChar char="-"/>
            </a:pPr>
            <a:r>
              <a:rPr lang="en-AU" dirty="0"/>
              <a:t>P(Doesn’t eat KFC) </a:t>
            </a:r>
          </a:p>
          <a:p>
            <a:pPr>
              <a:buFontTx/>
              <a:buChar char="-"/>
            </a:pPr>
            <a:r>
              <a:rPr lang="en-AU" dirty="0"/>
              <a:t>Given they eat Maccas, P(they eat KFC too)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026D1F-A22B-42F8-9343-E70C07F6C481}"/>
                  </a:ext>
                </a:extLst>
              </p:cNvPr>
              <p:cNvSpPr txBox="1"/>
              <p:nvPr/>
            </p:nvSpPr>
            <p:spPr>
              <a:xfrm>
                <a:off x="8663866" y="3408710"/>
                <a:ext cx="2467992" cy="3287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026D1F-A22B-42F8-9343-E70C07F6C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66" y="3408710"/>
                <a:ext cx="2467992" cy="32875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43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339A-576E-49D5-8968-7287185B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7" y="305018"/>
            <a:ext cx="2872666" cy="1019792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Language of probability!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CB30C9-2228-473B-8870-63E01959C7F6}"/>
              </a:ext>
            </a:extLst>
          </p:cNvPr>
          <p:cNvSpPr/>
          <p:nvPr/>
        </p:nvSpPr>
        <p:spPr>
          <a:xfrm>
            <a:off x="2872666" y="1262666"/>
            <a:ext cx="3799643" cy="354219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88B14C-4E54-4723-8CE2-9D817C02AB84}"/>
              </a:ext>
            </a:extLst>
          </p:cNvPr>
          <p:cNvSpPr/>
          <p:nvPr/>
        </p:nvSpPr>
        <p:spPr>
          <a:xfrm>
            <a:off x="5745332" y="1200524"/>
            <a:ext cx="3799643" cy="354219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11E56A-60FC-43E2-9C08-EBD6A1E5F1D1}"/>
              </a:ext>
            </a:extLst>
          </p:cNvPr>
          <p:cNvSpPr/>
          <p:nvPr/>
        </p:nvSpPr>
        <p:spPr>
          <a:xfrm>
            <a:off x="4428478" y="3315810"/>
            <a:ext cx="3799643" cy="354219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307894-5BCC-4A7E-A8DB-27C097CBE702}"/>
              </a:ext>
            </a:extLst>
          </p:cNvPr>
          <p:cNvSpPr txBox="1"/>
          <p:nvPr/>
        </p:nvSpPr>
        <p:spPr>
          <a:xfrm>
            <a:off x="3735786" y="1457619"/>
            <a:ext cx="1886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Owes a cat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56F1C-AD70-4DE2-8420-FB6F24180F1E}"/>
              </a:ext>
            </a:extLst>
          </p:cNvPr>
          <p:cNvSpPr txBox="1"/>
          <p:nvPr/>
        </p:nvSpPr>
        <p:spPr>
          <a:xfrm>
            <a:off x="6672309" y="1473337"/>
            <a:ext cx="2203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Owns a horse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BFB66-2679-440A-9125-7C2CC6040610}"/>
              </a:ext>
            </a:extLst>
          </p:cNvPr>
          <p:cNvSpPr txBox="1"/>
          <p:nvPr/>
        </p:nvSpPr>
        <p:spPr>
          <a:xfrm>
            <a:off x="5338701" y="6069926"/>
            <a:ext cx="1979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Owns a cow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614401-A225-42DB-BFBF-FE12ED6FE490}"/>
              </a:ext>
            </a:extLst>
          </p:cNvPr>
          <p:cNvSpPr txBox="1"/>
          <p:nvPr/>
        </p:nvSpPr>
        <p:spPr>
          <a:xfrm>
            <a:off x="4189520" y="2313766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AF4CEC-8496-41CF-A87B-B7179A78E3EF}"/>
              </a:ext>
            </a:extLst>
          </p:cNvPr>
          <p:cNvSpPr txBox="1"/>
          <p:nvPr/>
        </p:nvSpPr>
        <p:spPr>
          <a:xfrm>
            <a:off x="5982682" y="238671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47EBA2-2735-41C2-9AE9-D61C762ED978}"/>
              </a:ext>
            </a:extLst>
          </p:cNvPr>
          <p:cNvSpPr txBox="1"/>
          <p:nvPr/>
        </p:nvSpPr>
        <p:spPr>
          <a:xfrm>
            <a:off x="8044417" y="228815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9CAA5B-6BD9-47D0-B390-B7A24263C504}"/>
              </a:ext>
            </a:extLst>
          </p:cNvPr>
          <p:cNvSpPr txBox="1"/>
          <p:nvPr/>
        </p:nvSpPr>
        <p:spPr>
          <a:xfrm>
            <a:off x="6074053" y="334436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DF2CB-4E33-4EE1-BC94-EEC25F319D8A}"/>
              </a:ext>
            </a:extLst>
          </p:cNvPr>
          <p:cNvSpPr txBox="1"/>
          <p:nvPr/>
        </p:nvSpPr>
        <p:spPr>
          <a:xfrm>
            <a:off x="5228189" y="38675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FC917A-BB34-4315-8C70-4D342D2D6699}"/>
              </a:ext>
            </a:extLst>
          </p:cNvPr>
          <p:cNvSpPr txBox="1"/>
          <p:nvPr/>
        </p:nvSpPr>
        <p:spPr>
          <a:xfrm>
            <a:off x="6873035" y="3788091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81EF6B-FA37-4DD5-AF81-1DA06B07004A}"/>
              </a:ext>
            </a:extLst>
          </p:cNvPr>
          <p:cNvSpPr txBox="1"/>
          <p:nvPr/>
        </p:nvSpPr>
        <p:spPr>
          <a:xfrm>
            <a:off x="6122158" y="5114198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14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2C2886-1D9E-4DE1-BD62-9692CA6B521C}"/>
              </a:ext>
            </a:extLst>
          </p:cNvPr>
          <p:cNvSpPr txBox="1"/>
          <p:nvPr/>
        </p:nvSpPr>
        <p:spPr>
          <a:xfrm>
            <a:off x="8982512" y="5106697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5416ED-065A-4374-83FD-8ADF325A39B6}"/>
              </a:ext>
            </a:extLst>
          </p:cNvPr>
          <p:cNvSpPr txBox="1"/>
          <p:nvPr/>
        </p:nvSpPr>
        <p:spPr>
          <a:xfrm>
            <a:off x="5673312" y="425085"/>
            <a:ext cx="1309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U = 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250A36-6931-457C-9E0C-6EC2D7B7FA23}"/>
              </a:ext>
            </a:extLst>
          </p:cNvPr>
          <p:cNvSpPr txBox="1"/>
          <p:nvPr/>
        </p:nvSpPr>
        <p:spPr>
          <a:xfrm>
            <a:off x="167462" y="1585048"/>
            <a:ext cx="23626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 person selected at random, find the probability that they:</a:t>
            </a:r>
          </a:p>
          <a:p>
            <a:endParaRPr lang="en-AU" b="1" dirty="0"/>
          </a:p>
          <a:p>
            <a:r>
              <a:rPr lang="en-AU" b="1" dirty="0"/>
              <a:t>P(owned 1 animal) </a:t>
            </a:r>
          </a:p>
          <a:p>
            <a:r>
              <a:rPr lang="en-AU" b="1" dirty="0"/>
              <a:t>P(owned at least 2) </a:t>
            </a:r>
          </a:p>
          <a:p>
            <a:r>
              <a:rPr lang="en-AU" b="1" dirty="0"/>
              <a:t>P(owned cat or horse) </a:t>
            </a:r>
          </a:p>
          <a:p>
            <a:r>
              <a:rPr lang="en-AU" b="1" dirty="0"/>
              <a:t>P(owned cow or cat but not both) </a:t>
            </a:r>
          </a:p>
          <a:p>
            <a:r>
              <a:rPr lang="en-AU" b="1" dirty="0"/>
              <a:t>P(did not have these animals)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270697-EBF6-4B8C-BB16-DFC532FA92C3}"/>
              </a:ext>
            </a:extLst>
          </p:cNvPr>
          <p:cNvSpPr txBox="1"/>
          <p:nvPr/>
        </p:nvSpPr>
        <p:spPr>
          <a:xfrm>
            <a:off x="1659864" y="4390803"/>
            <a:ext cx="1740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35/100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45/100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66/100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58/100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20/100</a:t>
            </a:r>
          </a:p>
        </p:txBody>
      </p:sp>
    </p:spTree>
    <p:extLst>
      <p:ext uri="{BB962C8B-B14F-4D97-AF65-F5344CB8AC3E}">
        <p14:creationId xmlns:p14="http://schemas.microsoft.com/office/powerpoint/2010/main" val="196967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27613"/>
            <a:ext cx="10515600" cy="1325563"/>
          </a:xfrm>
        </p:spPr>
        <p:txBody>
          <a:bodyPr/>
          <a:lstStyle/>
          <a:p>
            <a:r>
              <a:rPr lang="en-GB" u="sng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63" y="692284"/>
            <a:ext cx="11775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A vet surveys 100 of her clients. She finds that:</a:t>
            </a:r>
          </a:p>
          <a:p>
            <a:pPr marL="0" indent="0">
              <a:buNone/>
            </a:pPr>
            <a:r>
              <a:rPr lang="en-GB" sz="2200" dirty="0"/>
              <a:t>25 own dogs		     15 own cats and dogs		     11 own dogs and tropical fish	</a:t>
            </a:r>
          </a:p>
          <a:p>
            <a:pPr marL="0" indent="0">
              <a:buNone/>
            </a:pPr>
            <a:r>
              <a:rPr lang="en-GB" sz="2200" dirty="0"/>
              <a:t>53 own cats		       10 own cats and tropical fish	      7 own dogs, cats and tropical fish</a:t>
            </a:r>
          </a:p>
          <a:p>
            <a:pPr marL="0" indent="0">
              <a:buNone/>
            </a:pPr>
            <a:r>
              <a:rPr lang="en-GB" sz="2200" dirty="0"/>
              <a:t>40 own tropical fish</a:t>
            </a:r>
          </a:p>
          <a:p>
            <a:pPr marL="0" indent="0">
              <a:buNone/>
            </a:pPr>
            <a:r>
              <a:rPr lang="en-GB" sz="2200" dirty="0"/>
              <a:t>A client is chosen at random, find the probability that the client:</a:t>
            </a:r>
          </a:p>
          <a:p>
            <a:pPr marL="0" indent="0">
              <a:buNone/>
            </a:pPr>
            <a:r>
              <a:rPr lang="en-GB" sz="2200" dirty="0"/>
              <a:t>a) Owns dogs only.</a:t>
            </a:r>
          </a:p>
          <a:p>
            <a:pPr marL="0" indent="0">
              <a:buNone/>
            </a:pPr>
            <a:r>
              <a:rPr lang="en-GB" sz="2200" dirty="0"/>
              <a:t>b) Does not own tropical fish.</a:t>
            </a:r>
          </a:p>
          <a:p>
            <a:pPr marL="0" indent="0">
              <a:buNone/>
            </a:pPr>
            <a:r>
              <a:rPr lang="en-GB" sz="2200" dirty="0"/>
              <a:t>c) Does not own dogs, cats or</a:t>
            </a:r>
            <a:br>
              <a:rPr lang="en-GB" sz="2200" dirty="0"/>
            </a:br>
            <a:r>
              <a:rPr lang="en-GB" sz="2200" dirty="0"/>
              <a:t>    tropical fish.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62345" y="2440695"/>
            <a:ext cx="4172755" cy="33097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290509" y="2862049"/>
            <a:ext cx="2055723" cy="1737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9457557" y="2830725"/>
            <a:ext cx="2055723" cy="1737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98952" y="2332366"/>
                <a:ext cx="2300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952" y="2332366"/>
                <a:ext cx="23006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4737" r="-42105" b="-3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8317110" y="273801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38333" y="27380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8876628" y="3659412"/>
            <a:ext cx="2055723" cy="1737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0624253" y="505567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17564" t="10815" r="20540" b="11665"/>
          <a:stretch/>
        </p:blipFill>
        <p:spPr>
          <a:xfrm>
            <a:off x="9688959" y="43960"/>
            <a:ext cx="841624" cy="10540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157" y="43961"/>
            <a:ext cx="864287" cy="97897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3911" y="51190"/>
            <a:ext cx="1404143" cy="81392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827739" y="1569575"/>
            <a:ext cx="3968708" cy="360608"/>
          </a:xfrm>
          <a:prstGeom prst="rect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9740822" y="37308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solidFill>
                  <a:srgbClr val="FF00FF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4066" y="1157537"/>
            <a:ext cx="3451538" cy="3469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F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66056" y="1105135"/>
            <a:ext cx="2552163" cy="360608"/>
          </a:xfrm>
          <a:prstGeom prst="rect">
            <a:avLst/>
          </a:prstGeom>
          <a:noFill/>
          <a:ln w="28575">
            <a:solidFill>
              <a:srgbClr val="FFC8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06905" y="1531616"/>
            <a:ext cx="3355453" cy="360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1348" y="1125034"/>
            <a:ext cx="1541542" cy="360608"/>
          </a:xfrm>
          <a:prstGeom prst="rect">
            <a:avLst/>
          </a:prstGeom>
          <a:noFill/>
          <a:ln w="28575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91964" y="1550073"/>
            <a:ext cx="1541542" cy="360608"/>
          </a:xfrm>
          <a:prstGeom prst="rect">
            <a:avLst/>
          </a:prstGeom>
          <a:noFill/>
          <a:ln w="28575">
            <a:solidFill>
              <a:srgbClr val="9046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158169" y="1971758"/>
            <a:ext cx="2275937" cy="3606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14772" y="729986"/>
            <a:ext cx="124264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00B0F0"/>
                </a:solidFill>
              </a:rPr>
              <a:t>11 – 7 =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177" y="3953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2233" y="1885014"/>
            <a:ext cx="124264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FF0000"/>
                </a:solidFill>
              </a:rPr>
              <a:t>10 – 7 =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2897" y="395189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4659" y="1080307"/>
            <a:ext cx="124264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FFC819"/>
                </a:solidFill>
              </a:rPr>
              <a:t>15 – 7 =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2400" y="467637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B050"/>
                </a:solidFill>
              </a:rPr>
              <a:t>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7998" y="310734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C819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0663" y="1095750"/>
            <a:ext cx="165462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000099"/>
                </a:solidFill>
              </a:rPr>
              <a:t>25-(8+7+4)=6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26069" y="1979593"/>
            <a:ext cx="19046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00B050"/>
                </a:solidFill>
              </a:rPr>
              <a:t>40–(4+7+3)= 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8652" y="329743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3809" y="1514465"/>
            <a:ext cx="17908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904692"/>
                </a:solidFill>
              </a:rPr>
              <a:t>53-(8+7+3)=35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03569" y="322539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904692"/>
                </a:solidFill>
              </a:rPr>
              <a:t>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3050" y="3035982"/>
            <a:ext cx="347152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>
                <a:solidFill>
                  <a:srgbClr val="99CC00"/>
                </a:solidFill>
              </a:rPr>
              <a:t>Don’t forget to complete </a:t>
            </a:r>
            <a:br>
              <a:rPr lang="en-GB" sz="2500" dirty="0">
                <a:solidFill>
                  <a:srgbClr val="99CC00"/>
                </a:solidFill>
              </a:rPr>
            </a:br>
            <a:r>
              <a:rPr lang="en-GB" sz="2500" dirty="0">
                <a:solidFill>
                  <a:srgbClr val="99CC00"/>
                </a:solidFill>
              </a:rPr>
              <a:t>the full set:</a:t>
            </a:r>
          </a:p>
          <a:p>
            <a:r>
              <a:rPr lang="en-GB" sz="2500" dirty="0">
                <a:solidFill>
                  <a:srgbClr val="99CC00"/>
                </a:solidFill>
              </a:rPr>
              <a:t>6+8+35+4+7+3+26 = 89</a:t>
            </a:r>
          </a:p>
          <a:p>
            <a:r>
              <a:rPr lang="en-GB" sz="2500" dirty="0">
                <a:solidFill>
                  <a:srgbClr val="99CC00"/>
                </a:solidFill>
              </a:rPr>
              <a:t>100 – 89 =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695" y="4925129"/>
            <a:ext cx="5084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>
                <a:solidFill>
                  <a:srgbClr val="99CC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0277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/>
      <p:bldP spid="18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D041-ACD3-4492-9637-FEC3454D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have a go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182B-B628-419C-AA7C-533498C4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3795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70 people were asked where they had travelled this year. </a:t>
            </a:r>
          </a:p>
          <a:p>
            <a:pPr marL="0" indent="0">
              <a:buNone/>
            </a:pPr>
            <a:r>
              <a:rPr lang="en-US" dirty="0"/>
              <a:t>18 people said they went to Busselton and Bali </a:t>
            </a:r>
          </a:p>
          <a:p>
            <a:pPr marL="0" indent="0">
              <a:buNone/>
            </a:pPr>
            <a:r>
              <a:rPr lang="en-US" dirty="0"/>
              <a:t>19 people said they wen to Perth and Busselton </a:t>
            </a:r>
          </a:p>
          <a:p>
            <a:pPr marL="0" indent="0">
              <a:buNone/>
            </a:pPr>
            <a:r>
              <a:rPr lang="en-US" dirty="0"/>
              <a:t>11 people said they had been to Busselton, Perth and Bali.</a:t>
            </a:r>
          </a:p>
          <a:p>
            <a:pPr marL="0" indent="0">
              <a:buNone/>
            </a:pPr>
            <a:r>
              <a:rPr lang="en-US" dirty="0"/>
              <a:t>20 people went to Perth and </a:t>
            </a:r>
            <a:r>
              <a:rPr lang="en-US" dirty="0" err="1"/>
              <a:t>bali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 total of 37 people have been to Bali. </a:t>
            </a:r>
          </a:p>
          <a:p>
            <a:pPr marL="0" indent="0">
              <a:buNone/>
            </a:pPr>
            <a:r>
              <a:rPr lang="en-US" dirty="0"/>
              <a:t>13 people only went to Perth</a:t>
            </a:r>
          </a:p>
          <a:p>
            <a:pPr marL="0" indent="0">
              <a:buNone/>
            </a:pPr>
            <a:r>
              <a:rPr lang="en-US" dirty="0"/>
              <a:t>Everyone had been to at least 1 place.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D68A24-ABFE-4B7E-86C0-195657FE021A}"/>
              </a:ext>
            </a:extLst>
          </p:cNvPr>
          <p:cNvSpPr/>
          <p:nvPr/>
        </p:nvSpPr>
        <p:spPr>
          <a:xfrm>
            <a:off x="7808649" y="4475861"/>
            <a:ext cx="1603899" cy="1339147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FAD749-F8BE-48E2-AEF1-475AE471B907}"/>
              </a:ext>
            </a:extLst>
          </p:cNvPr>
          <p:cNvSpPr/>
          <p:nvPr/>
        </p:nvSpPr>
        <p:spPr>
          <a:xfrm>
            <a:off x="8871751" y="4475861"/>
            <a:ext cx="1603899" cy="1339147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6739AE-3B19-4B9C-A3A6-6B176B52764D}"/>
              </a:ext>
            </a:extLst>
          </p:cNvPr>
          <p:cNvSpPr/>
          <p:nvPr/>
        </p:nvSpPr>
        <p:spPr>
          <a:xfrm>
            <a:off x="8340200" y="5230205"/>
            <a:ext cx="1603899" cy="1339147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89D55-706F-4A69-8406-A79B18265BA9}"/>
              </a:ext>
            </a:extLst>
          </p:cNvPr>
          <p:cNvSpPr txBox="1"/>
          <p:nvPr/>
        </p:nvSpPr>
        <p:spPr>
          <a:xfrm>
            <a:off x="8291565" y="4475861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Buss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8F5FD-C69F-4EAF-88AB-202295313EE8}"/>
              </a:ext>
            </a:extLst>
          </p:cNvPr>
          <p:cNvSpPr txBox="1"/>
          <p:nvPr/>
        </p:nvSpPr>
        <p:spPr>
          <a:xfrm>
            <a:off x="9465090" y="4543057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Bali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A121E-4E8E-4345-BF5D-B03CC46BBD5F}"/>
              </a:ext>
            </a:extLst>
          </p:cNvPr>
          <p:cNvSpPr txBox="1"/>
          <p:nvPr/>
        </p:nvSpPr>
        <p:spPr>
          <a:xfrm>
            <a:off x="8871751" y="6217525"/>
            <a:ext cx="693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Perth</a:t>
            </a:r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0C50F5-7DFD-4318-A5F2-355CD0B757C6}"/>
              </a:ext>
            </a:extLst>
          </p:cNvPr>
          <p:cNvSpPr/>
          <p:nvPr/>
        </p:nvSpPr>
        <p:spPr>
          <a:xfrm>
            <a:off x="7137647" y="4181383"/>
            <a:ext cx="4216153" cy="25123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4450B-D6E7-4CD1-BC75-F81B21A1BBE2}"/>
              </a:ext>
            </a:extLst>
          </p:cNvPr>
          <p:cNvSpPr txBox="1"/>
          <p:nvPr/>
        </p:nvSpPr>
        <p:spPr>
          <a:xfrm>
            <a:off x="7503116" y="384851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 = 70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6486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911</Words>
  <Application>Microsoft Office PowerPoint</Application>
  <PresentationFormat>Widescreen</PresentationFormat>
  <Paragraphs>238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Expected outcomes </vt:lpstr>
      <vt:lpstr>Whiteboards </vt:lpstr>
      <vt:lpstr>Complimentary events </vt:lpstr>
      <vt:lpstr>What are the complimentary events? </vt:lpstr>
      <vt:lpstr>C grade questions </vt:lpstr>
      <vt:lpstr>Sketch into exercise book </vt:lpstr>
      <vt:lpstr>Two-way tables</vt:lpstr>
      <vt:lpstr>PowerPoint Presentation</vt:lpstr>
      <vt:lpstr>Whiteboards </vt:lpstr>
      <vt:lpstr>Whiteboards  </vt:lpstr>
      <vt:lpstr>Language of probability!</vt:lpstr>
      <vt:lpstr>Example</vt:lpstr>
      <vt:lpstr>Whiteboards: have a go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8</cp:revision>
  <dcterms:created xsi:type="dcterms:W3CDTF">2022-06-08T13:41:12Z</dcterms:created>
  <dcterms:modified xsi:type="dcterms:W3CDTF">2022-06-08T14:21:19Z</dcterms:modified>
</cp:coreProperties>
</file>
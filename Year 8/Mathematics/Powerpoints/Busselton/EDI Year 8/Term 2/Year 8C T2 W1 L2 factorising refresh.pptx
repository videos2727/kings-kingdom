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3"/>
  </p:notesMasterIdLst>
  <p:sldIdLst>
    <p:sldId id="278" r:id="rId3"/>
    <p:sldId id="279" r:id="rId4"/>
    <p:sldId id="280" r:id="rId5"/>
    <p:sldId id="281" r:id="rId6"/>
    <p:sldId id="282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7" r:id="rId17"/>
    <p:sldId id="322" r:id="rId18"/>
    <p:sldId id="323" r:id="rId19"/>
    <p:sldId id="283" r:id="rId20"/>
    <p:sldId id="269" r:id="rId21"/>
    <p:sldId id="277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B668AC-5E3C-4455-9D69-87FE84F87D28}" type="datetimeFigureOut">
              <a:rPr lang="en-GB" smtClean="0"/>
              <a:t>26/04/2022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F4D199-8258-41D5-A5FE-68D878FBF9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3613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862493D4-4479-4FC9-8193-210490FBCDBD}" type="slidenum">
              <a:rPr lang="en-GB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484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/>
          </a:p>
        </p:txBody>
      </p:sp>
      <p:sp>
        <p:nvSpPr>
          <p:cNvPr id="2355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98A5BD3D-83C8-481C-8029-41BDFE064E6E}" type="slidenum">
              <a:rPr lang="en-GB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2221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26/04/2022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0925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26/04/2022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80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26/04/2022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1434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26/04/2022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1909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26/04/2022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5964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26/04/2022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6535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26/04/2022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0898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26/04/2022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3971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26/04/2022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8422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26/04/2022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9382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AA11-BE27-420A-B8E1-11A14B5A3D8B}" type="datetimeFigureOut">
              <a:rPr lang="en-GB" smtClean="0"/>
              <a:t>26/04/2022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1205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2514601"/>
            <a:ext cx="6686549" cy="2262781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4777380"/>
            <a:ext cx="668654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1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4529541"/>
            <a:ext cx="584825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17017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624110"/>
            <a:ext cx="6683765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2133600"/>
            <a:ext cx="668655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72854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2058750"/>
            <a:ext cx="6686549" cy="14688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530129"/>
            <a:ext cx="6686549" cy="8604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1781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244140"/>
            <a:ext cx="584825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61611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2133600"/>
            <a:ext cx="3235398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2126222"/>
            <a:ext cx="3235398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787783"/>
            <a:ext cx="584825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93078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972703"/>
            <a:ext cx="2994549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2548966"/>
            <a:ext cx="3257170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969475"/>
            <a:ext cx="2999251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2545738"/>
            <a:ext cx="3254006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787783"/>
            <a:ext cx="584825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1355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758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09944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46088"/>
            <a:ext cx="2628899" cy="976312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446089"/>
            <a:ext cx="38862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598613"/>
            <a:ext cx="2628899" cy="4262436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66754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800600"/>
            <a:ext cx="6686550" cy="566738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634965"/>
            <a:ext cx="668655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5367338"/>
            <a:ext cx="6686550" cy="493712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491172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4983088"/>
            <a:ext cx="584825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21838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609600"/>
            <a:ext cx="6686549" cy="311704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4354046"/>
            <a:ext cx="668654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1781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244140"/>
            <a:ext cx="584825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72229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609600"/>
            <a:ext cx="6295445" cy="28956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3505200"/>
            <a:ext cx="5652416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4354046"/>
            <a:ext cx="668654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1781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244140"/>
            <a:ext cx="584825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1850739" y="648005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905306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675572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2438401"/>
            <a:ext cx="6686550" cy="2724845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5181600"/>
            <a:ext cx="668655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491172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4983088"/>
            <a:ext cx="584825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73720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609600"/>
            <a:ext cx="6295445" cy="28956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4343400"/>
            <a:ext cx="668655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5181600"/>
            <a:ext cx="668655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491172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4983088"/>
            <a:ext cx="584825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1850739" y="648005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905306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87604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627407"/>
            <a:ext cx="6686549" cy="2880020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4343400"/>
            <a:ext cx="668655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5181600"/>
            <a:ext cx="668655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491172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4983088"/>
            <a:ext cx="584825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35001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72458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627406"/>
            <a:ext cx="16557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627406"/>
            <a:ext cx="485775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7877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5AA11-BE27-420A-B8E1-11A14B5A3D8B}" type="datetimeFigureOut">
              <a:rPr lang="en-GB" smtClean="0"/>
              <a:t>26/04/2022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7C070-7912-49D4-982C-6C77600E8F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917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138637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786"/>
            <a:ext cx="1767506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624110"/>
            <a:ext cx="6683765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2133600"/>
            <a:ext cx="668655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6130437"/>
            <a:ext cx="859712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26/04/2022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6135809"/>
            <a:ext cx="571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787783"/>
            <a:ext cx="584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9104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31E3D-7F15-4AFE-91C3-50E5C6FBD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66B35-907B-43BC-B704-96A7FA95D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b="1" dirty="0">
                <a:solidFill>
                  <a:srgbClr val="00B0F0"/>
                </a:solidFill>
              </a:rPr>
              <a:t>factorizing expressions </a:t>
            </a:r>
          </a:p>
          <a:p>
            <a:pPr marL="0" indent="0">
              <a:buNone/>
            </a:pPr>
            <a:endParaRPr lang="en-US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b="1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B0F0"/>
                </a:solidFill>
              </a:rPr>
              <a:t>To be able to factorize expressions into single brackets.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Review like terms 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HCF 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Single brackets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443ADC-8FA4-4CF0-8121-1859C28261FE}"/>
              </a:ext>
            </a:extLst>
          </p:cNvPr>
          <p:cNvSpPr txBox="1"/>
          <p:nvPr/>
        </p:nvSpPr>
        <p:spPr>
          <a:xfrm>
            <a:off x="7539844" y="18125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27/04/2022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5691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4420D-71F8-4493-9AE0-6FD5279CB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 terms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3A4EC-6C24-486E-A127-1733A8F10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Terms with the same pronumeral/s to the same power. </a:t>
            </a:r>
          </a:p>
          <a:p>
            <a:pPr marL="514350" indent="-514350">
              <a:buAutoNum type="alphaLcParenR"/>
            </a:pPr>
            <a:r>
              <a:rPr lang="en-AU" dirty="0"/>
              <a:t>3t + 5t = 		 </a:t>
            </a:r>
          </a:p>
          <a:p>
            <a:pPr marL="514350" indent="-514350">
              <a:buAutoNum type="alphaLcParenR"/>
            </a:pPr>
            <a:r>
              <a:rPr lang="en-AU" dirty="0"/>
              <a:t>7c + 6c – 2c = 	 </a:t>
            </a:r>
          </a:p>
          <a:p>
            <a:pPr marL="514350" indent="-514350">
              <a:buAutoNum type="alphaLcParenR"/>
            </a:pPr>
            <a:r>
              <a:rPr lang="en-AU" dirty="0"/>
              <a:t>10t + 2r + 4t – 3r =	  </a:t>
            </a:r>
          </a:p>
          <a:p>
            <a:pPr marL="514350" indent="-514350">
              <a:buAutoNum type="alphaLcParenR"/>
            </a:pPr>
            <a:r>
              <a:rPr lang="en-AU" dirty="0"/>
              <a:t>8h + 4d + 4 + 2h= 	 </a:t>
            </a:r>
          </a:p>
          <a:p>
            <a:pPr marL="0" indent="0">
              <a:buNone/>
            </a:pPr>
            <a:r>
              <a:rPr lang="en-AU" dirty="0"/>
              <a:t>When addition or subtraction is involved, we can only simply terms if they </a:t>
            </a:r>
            <a:r>
              <a:rPr lang="en-AU" b="1" u="sng" dirty="0"/>
              <a:t>ARE</a:t>
            </a:r>
            <a:r>
              <a:rPr lang="en-AU" dirty="0"/>
              <a:t> like terms.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57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7A8D2-12F5-4AC8-B249-0FA29902E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books</a:t>
            </a:r>
            <a:endParaRPr lang="en-AU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1E523A3-3CA2-477D-B4A7-BCB6297DE03E}"/>
              </a:ext>
            </a:extLst>
          </p:cNvPr>
          <p:cNvSpPr/>
          <p:nvPr/>
        </p:nvSpPr>
        <p:spPr>
          <a:xfrm>
            <a:off x="611560" y="1844824"/>
            <a:ext cx="3553428" cy="4889272"/>
          </a:xfrm>
          <a:prstGeom prst="round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4E7D3D7-BF16-429E-8826-007DB5472822}"/>
              </a:ext>
            </a:extLst>
          </p:cNvPr>
          <p:cNvSpPr/>
          <p:nvPr/>
        </p:nvSpPr>
        <p:spPr>
          <a:xfrm>
            <a:off x="5128061" y="1844825"/>
            <a:ext cx="3553428" cy="4867940"/>
          </a:xfrm>
          <a:prstGeom prst="roundRect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69528A-2A89-4779-A2C6-C3071E5AF31E}"/>
              </a:ext>
            </a:extLst>
          </p:cNvPr>
          <p:cNvSpPr txBox="1"/>
          <p:nvPr/>
        </p:nvSpPr>
        <p:spPr>
          <a:xfrm>
            <a:off x="912110" y="2276872"/>
            <a:ext cx="295232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LcParenR"/>
            </a:pPr>
            <a:r>
              <a:rPr lang="en-US" sz="3200" b="1" dirty="0"/>
              <a:t>4h + 2h</a:t>
            </a:r>
          </a:p>
          <a:p>
            <a:pPr marL="457200" indent="-457200">
              <a:buAutoNum type="alphaLcParenR"/>
            </a:pPr>
            <a:endParaRPr lang="en-US" sz="3200" b="1" dirty="0"/>
          </a:p>
          <a:p>
            <a:pPr marL="457200" indent="-457200">
              <a:buAutoNum type="alphaLcParenR"/>
            </a:pPr>
            <a:r>
              <a:rPr lang="en-US" sz="3200" b="1" dirty="0"/>
              <a:t>2(x + 3) </a:t>
            </a:r>
          </a:p>
          <a:p>
            <a:pPr marL="457200" indent="-457200">
              <a:buAutoNum type="alphaLcParenR"/>
            </a:pPr>
            <a:endParaRPr lang="en-US" sz="3200" b="1" dirty="0"/>
          </a:p>
          <a:p>
            <a:pPr marL="457200" indent="-457200">
              <a:buAutoNum type="alphaLcParenR"/>
            </a:pPr>
            <a:r>
              <a:rPr lang="en-US" sz="3200" b="1" dirty="0"/>
              <a:t>5d + 3d – 2d </a:t>
            </a:r>
          </a:p>
          <a:p>
            <a:pPr marL="457200" indent="-457200">
              <a:buAutoNum type="alphaLcParenR"/>
            </a:pPr>
            <a:endParaRPr lang="en-US" sz="3200" b="1" dirty="0"/>
          </a:p>
          <a:p>
            <a:pPr marL="457200" indent="-457200">
              <a:buAutoNum type="alphaLcParenR"/>
            </a:pPr>
            <a:r>
              <a:rPr lang="en-US" sz="3200" b="1" dirty="0"/>
              <a:t>3(4r – 2)  </a:t>
            </a:r>
            <a:endParaRPr lang="en-AU" sz="3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9E7D0A-F430-4D50-9FF0-8C53135AB2BD}"/>
              </a:ext>
            </a:extLst>
          </p:cNvPr>
          <p:cNvSpPr txBox="1"/>
          <p:nvPr/>
        </p:nvSpPr>
        <p:spPr>
          <a:xfrm>
            <a:off x="2394058" y="1258813"/>
            <a:ext cx="482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Simplify the following expressions</a:t>
            </a:r>
            <a:endParaRPr lang="en-AU" sz="2400" b="1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81EA83-5C10-4F52-8B46-F2DAFB504AB3}"/>
              </a:ext>
            </a:extLst>
          </p:cNvPr>
          <p:cNvSpPr txBox="1"/>
          <p:nvPr/>
        </p:nvSpPr>
        <p:spPr>
          <a:xfrm>
            <a:off x="5160930" y="2282913"/>
            <a:ext cx="337420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LcParenR"/>
            </a:pPr>
            <a:r>
              <a:rPr lang="en-US" sz="3200" b="1" dirty="0"/>
              <a:t>4f + 3d + 3f + 5d</a:t>
            </a:r>
          </a:p>
          <a:p>
            <a:pPr marL="457200" indent="-457200">
              <a:buAutoNum type="alphaLcParenR"/>
            </a:pPr>
            <a:endParaRPr lang="en-US" sz="3200" b="1" dirty="0"/>
          </a:p>
          <a:p>
            <a:pPr marL="457200" indent="-457200">
              <a:buAutoNum type="alphaLcParenR"/>
            </a:pPr>
            <a:r>
              <a:rPr lang="en-US" sz="3200" b="1" dirty="0"/>
              <a:t>2(2v – 3d + 2) </a:t>
            </a:r>
          </a:p>
          <a:p>
            <a:pPr marL="457200" indent="-457200">
              <a:buAutoNum type="alphaLcParenR"/>
            </a:pPr>
            <a:endParaRPr lang="en-US" sz="3200" b="1" dirty="0"/>
          </a:p>
          <a:p>
            <a:pPr marL="457200" indent="-457200">
              <a:buAutoNum type="alphaLcParenR"/>
            </a:pPr>
            <a:r>
              <a:rPr lang="en-US" sz="3200" b="1" dirty="0"/>
              <a:t>8j – 3f – 2f – 7j </a:t>
            </a:r>
          </a:p>
          <a:p>
            <a:pPr marL="457200" indent="-457200">
              <a:buAutoNum type="alphaLcParenR"/>
            </a:pPr>
            <a:endParaRPr lang="en-US" sz="3200" b="1" dirty="0"/>
          </a:p>
          <a:p>
            <a:pPr marL="457200" indent="-457200">
              <a:buAutoNum type="alphaLcParenR"/>
            </a:pPr>
            <a:r>
              <a:rPr lang="en-US" sz="3200" b="1" dirty="0"/>
              <a:t>3h + (-4f) – (-3h) </a:t>
            </a:r>
            <a:endParaRPr lang="en-AU" sz="3200" b="1" dirty="0"/>
          </a:p>
        </p:txBody>
      </p:sp>
    </p:spTree>
    <p:extLst>
      <p:ext uri="{BB962C8B-B14F-4D97-AF65-F5344CB8AC3E}">
        <p14:creationId xmlns:p14="http://schemas.microsoft.com/office/powerpoint/2010/main" val="982747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73022-66A0-4029-B997-24941B421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Answers </a:t>
            </a:r>
            <a:endParaRPr lang="en-AU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A8AF777-D987-46F6-9220-21783D3E2226}"/>
              </a:ext>
            </a:extLst>
          </p:cNvPr>
          <p:cNvSpPr/>
          <p:nvPr/>
        </p:nvSpPr>
        <p:spPr>
          <a:xfrm>
            <a:off x="611560" y="1844824"/>
            <a:ext cx="3553428" cy="4889272"/>
          </a:xfrm>
          <a:prstGeom prst="round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B347BB31-5C29-4C2C-8284-C390BC3D5F1D}"/>
              </a:ext>
            </a:extLst>
          </p:cNvPr>
          <p:cNvSpPr/>
          <p:nvPr/>
        </p:nvSpPr>
        <p:spPr>
          <a:xfrm>
            <a:off x="5128061" y="1844825"/>
            <a:ext cx="3553428" cy="4867940"/>
          </a:xfrm>
          <a:prstGeom prst="roundRect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1D88A0-2053-46E4-BE77-228F5B3A180E}"/>
              </a:ext>
            </a:extLst>
          </p:cNvPr>
          <p:cNvSpPr txBox="1"/>
          <p:nvPr/>
        </p:nvSpPr>
        <p:spPr>
          <a:xfrm>
            <a:off x="912110" y="2276872"/>
            <a:ext cx="295232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LcParenR"/>
            </a:pPr>
            <a:r>
              <a:rPr lang="en-US" sz="3200" b="1" dirty="0">
                <a:solidFill>
                  <a:srgbClr val="FF0000"/>
                </a:solidFill>
              </a:rPr>
              <a:t>6h</a:t>
            </a:r>
          </a:p>
          <a:p>
            <a:pPr marL="457200" indent="-457200">
              <a:buAutoNum type="alphaLcParenR"/>
            </a:pPr>
            <a:endParaRPr lang="en-US" sz="3200" b="1" dirty="0">
              <a:solidFill>
                <a:srgbClr val="FF0000"/>
              </a:solidFill>
            </a:endParaRPr>
          </a:p>
          <a:p>
            <a:pPr marL="457200" indent="-457200">
              <a:buAutoNum type="alphaLcParenR"/>
            </a:pPr>
            <a:r>
              <a:rPr lang="en-US" sz="3200" b="1" dirty="0">
                <a:solidFill>
                  <a:srgbClr val="FF0000"/>
                </a:solidFill>
              </a:rPr>
              <a:t>2x + 6 </a:t>
            </a:r>
          </a:p>
          <a:p>
            <a:pPr marL="457200" indent="-457200">
              <a:buAutoNum type="alphaLcParenR"/>
            </a:pPr>
            <a:endParaRPr lang="en-US" sz="3200" b="1" dirty="0">
              <a:solidFill>
                <a:srgbClr val="FF0000"/>
              </a:solidFill>
            </a:endParaRPr>
          </a:p>
          <a:p>
            <a:pPr marL="457200" indent="-457200">
              <a:buAutoNum type="alphaLcParenR"/>
            </a:pPr>
            <a:r>
              <a:rPr lang="en-US" sz="3200" b="1" dirty="0">
                <a:solidFill>
                  <a:srgbClr val="FF0000"/>
                </a:solidFill>
              </a:rPr>
              <a:t>6d </a:t>
            </a:r>
          </a:p>
          <a:p>
            <a:pPr marL="457200" indent="-457200">
              <a:buAutoNum type="alphaLcParenR"/>
            </a:pPr>
            <a:endParaRPr lang="en-US" sz="3200" b="1" dirty="0">
              <a:solidFill>
                <a:srgbClr val="FF0000"/>
              </a:solidFill>
            </a:endParaRPr>
          </a:p>
          <a:p>
            <a:pPr marL="457200" indent="-457200">
              <a:buAutoNum type="alphaLcParenR"/>
            </a:pPr>
            <a:r>
              <a:rPr lang="en-US" sz="3200" b="1" dirty="0">
                <a:solidFill>
                  <a:srgbClr val="FF0000"/>
                </a:solidFill>
              </a:rPr>
              <a:t>12r – 6   </a:t>
            </a:r>
            <a:endParaRPr lang="en-AU" sz="32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7883BF-6992-453F-AC11-DF98E15E7084}"/>
              </a:ext>
            </a:extLst>
          </p:cNvPr>
          <p:cNvSpPr txBox="1"/>
          <p:nvPr/>
        </p:nvSpPr>
        <p:spPr>
          <a:xfrm>
            <a:off x="5160930" y="2282913"/>
            <a:ext cx="337420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LcParenR"/>
            </a:pPr>
            <a:r>
              <a:rPr lang="en-US" sz="3200" b="1" dirty="0">
                <a:solidFill>
                  <a:srgbClr val="FF0000"/>
                </a:solidFill>
              </a:rPr>
              <a:t>7f + 8d</a:t>
            </a:r>
          </a:p>
          <a:p>
            <a:pPr marL="457200" indent="-457200">
              <a:buAutoNum type="alphaLcParenR"/>
            </a:pPr>
            <a:endParaRPr lang="en-US" sz="3200" b="1" dirty="0">
              <a:solidFill>
                <a:srgbClr val="FF0000"/>
              </a:solidFill>
            </a:endParaRPr>
          </a:p>
          <a:p>
            <a:pPr marL="457200" indent="-457200">
              <a:buAutoNum type="alphaLcParenR"/>
            </a:pPr>
            <a:r>
              <a:rPr lang="en-US" sz="3200" b="1" dirty="0">
                <a:solidFill>
                  <a:srgbClr val="FF0000"/>
                </a:solidFill>
              </a:rPr>
              <a:t>4v – 6d + 4 </a:t>
            </a:r>
          </a:p>
          <a:p>
            <a:pPr marL="457200" indent="-457200">
              <a:buAutoNum type="alphaLcParenR"/>
            </a:pPr>
            <a:endParaRPr lang="en-US" sz="3200" b="1" dirty="0">
              <a:solidFill>
                <a:srgbClr val="FF0000"/>
              </a:solidFill>
            </a:endParaRPr>
          </a:p>
          <a:p>
            <a:pPr marL="457200" indent="-457200">
              <a:buAutoNum type="alphaLcParenR"/>
            </a:pPr>
            <a:r>
              <a:rPr lang="en-US" sz="3200" b="1" dirty="0">
                <a:solidFill>
                  <a:srgbClr val="FF0000"/>
                </a:solidFill>
              </a:rPr>
              <a:t>J – 5f  </a:t>
            </a:r>
          </a:p>
          <a:p>
            <a:pPr marL="457200" indent="-457200">
              <a:buAutoNum type="alphaLcParenR"/>
            </a:pPr>
            <a:endParaRPr lang="en-US" sz="3200" b="1" dirty="0">
              <a:solidFill>
                <a:srgbClr val="FF0000"/>
              </a:solidFill>
            </a:endParaRPr>
          </a:p>
          <a:p>
            <a:pPr marL="457200" indent="-457200">
              <a:buAutoNum type="alphaLcParenR"/>
            </a:pPr>
            <a:r>
              <a:rPr lang="en-US" sz="3200" b="1" dirty="0">
                <a:solidFill>
                  <a:srgbClr val="FF0000"/>
                </a:solidFill>
              </a:rPr>
              <a:t>6h – 4f  </a:t>
            </a:r>
            <a:endParaRPr lang="en-AU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509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9E81-0DC7-431B-A2E0-027627274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55D54-844C-41B3-8623-81AA11346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Factors are numbers that multiply to make another number.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Common factors are when 2 numbers share a common multiple.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e.g., 10 and 20 share the factors: 1, 2, 5 and 10 </a:t>
            </a:r>
          </a:p>
          <a:p>
            <a:pPr marL="0" indent="0">
              <a:buNone/>
            </a:pPr>
            <a:r>
              <a:rPr lang="en-US" dirty="0"/>
              <a:t>The HIGHEST common factor is 10.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87870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1709739" y="3429002"/>
            <a:ext cx="2483644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57776" y="3429002"/>
            <a:ext cx="2484835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5365" name="TextBox 7"/>
          <p:cNvSpPr txBox="1">
            <a:spLocks noChangeArrowheads="1"/>
          </p:cNvSpPr>
          <p:nvPr/>
        </p:nvSpPr>
        <p:spPr bwMode="auto">
          <a:xfrm>
            <a:off x="430908" y="333374"/>
            <a:ext cx="806549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600" dirty="0">
                <a:latin typeface="+mn-lt"/>
              </a:rPr>
              <a:t>What is the highest common factor of .....</a:t>
            </a:r>
          </a:p>
        </p:txBody>
      </p:sp>
      <p:sp>
        <p:nvSpPr>
          <p:cNvPr id="15366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10 and 15</a:t>
            </a:r>
          </a:p>
        </p:txBody>
      </p:sp>
      <p:sp>
        <p:nvSpPr>
          <p:cNvPr id="15367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15368" name="TextBox 10"/>
          <p:cNvSpPr txBox="1">
            <a:spLocks noChangeArrowheads="1"/>
          </p:cNvSpPr>
          <p:nvPr/>
        </p:nvSpPr>
        <p:spPr bwMode="auto">
          <a:xfrm>
            <a:off x="4463653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15369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15370" name="TextBox 12"/>
          <p:cNvSpPr txBox="1">
            <a:spLocks noChangeArrowheads="1"/>
          </p:cNvSpPr>
          <p:nvPr/>
        </p:nvSpPr>
        <p:spPr bwMode="auto">
          <a:xfrm>
            <a:off x="4356498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723101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112545" y="33575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3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09739" y="33575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4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9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16389" name="TextBox 7"/>
          <p:cNvSpPr txBox="1">
            <a:spLocks noChangeArrowheads="1"/>
          </p:cNvSpPr>
          <p:nvPr/>
        </p:nvSpPr>
        <p:spPr bwMode="auto">
          <a:xfrm>
            <a:off x="1233982" y="334241"/>
            <a:ext cx="716498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p:sp>
        <p:nvSpPr>
          <p:cNvPr id="16390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9 and 12</a:t>
            </a:r>
          </a:p>
        </p:txBody>
      </p:sp>
      <p:sp>
        <p:nvSpPr>
          <p:cNvPr id="16391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16392" name="TextBox 10"/>
          <p:cNvSpPr txBox="1">
            <a:spLocks noChangeArrowheads="1"/>
          </p:cNvSpPr>
          <p:nvPr/>
        </p:nvSpPr>
        <p:spPr bwMode="auto">
          <a:xfrm>
            <a:off x="4463653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16393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16394" name="TextBox 12"/>
          <p:cNvSpPr txBox="1">
            <a:spLocks noChangeArrowheads="1"/>
          </p:cNvSpPr>
          <p:nvPr/>
        </p:nvSpPr>
        <p:spPr bwMode="auto">
          <a:xfrm>
            <a:off x="4356498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4107017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1709739" y="3429002"/>
            <a:ext cx="2483644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7776" y="3429002"/>
            <a:ext cx="2484835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7413" name="TextBox 7"/>
          <p:cNvSpPr txBox="1">
            <a:spLocks noChangeArrowheads="1"/>
          </p:cNvSpPr>
          <p:nvPr/>
        </p:nvSpPr>
        <p:spPr bwMode="auto">
          <a:xfrm>
            <a:off x="899592" y="333374"/>
            <a:ext cx="753345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p:sp>
        <p:nvSpPr>
          <p:cNvPr id="17414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15 and 20</a:t>
            </a:r>
          </a:p>
        </p:txBody>
      </p:sp>
      <p:sp>
        <p:nvSpPr>
          <p:cNvPr id="17415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17416" name="TextBox 10"/>
          <p:cNvSpPr txBox="1">
            <a:spLocks noChangeArrowheads="1"/>
          </p:cNvSpPr>
          <p:nvPr/>
        </p:nvSpPr>
        <p:spPr bwMode="auto">
          <a:xfrm>
            <a:off x="4591051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17417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17418" name="TextBox 12"/>
          <p:cNvSpPr txBox="1">
            <a:spLocks noChangeArrowheads="1"/>
          </p:cNvSpPr>
          <p:nvPr/>
        </p:nvSpPr>
        <p:spPr bwMode="auto">
          <a:xfrm>
            <a:off x="4512469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2606194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09739" y="3429002"/>
            <a:ext cx="2483644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6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57776" y="3429002"/>
            <a:ext cx="2484835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9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3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2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18437" name="TextBox 7"/>
          <p:cNvSpPr txBox="1">
            <a:spLocks noChangeArrowheads="1"/>
          </p:cNvSpPr>
          <p:nvPr/>
        </p:nvSpPr>
        <p:spPr bwMode="auto">
          <a:xfrm>
            <a:off x="1325376" y="333375"/>
            <a:ext cx="723699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p:sp>
        <p:nvSpPr>
          <p:cNvPr id="18438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18 and 30</a:t>
            </a:r>
          </a:p>
        </p:txBody>
      </p:sp>
      <p:sp>
        <p:nvSpPr>
          <p:cNvPr id="18439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18440" name="TextBox 10"/>
          <p:cNvSpPr txBox="1">
            <a:spLocks noChangeArrowheads="1"/>
          </p:cNvSpPr>
          <p:nvPr/>
        </p:nvSpPr>
        <p:spPr bwMode="auto">
          <a:xfrm>
            <a:off x="4591051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18441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18442" name="TextBox 12"/>
          <p:cNvSpPr txBox="1">
            <a:spLocks noChangeArrowheads="1"/>
          </p:cNvSpPr>
          <p:nvPr/>
        </p:nvSpPr>
        <p:spPr bwMode="auto">
          <a:xfrm>
            <a:off x="4512469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236500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1709739" y="3429002"/>
            <a:ext cx="2483644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7776" y="3429002"/>
            <a:ext cx="2484835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9461" name="TextBox 7"/>
          <p:cNvSpPr txBox="1">
            <a:spLocks noChangeArrowheads="1"/>
          </p:cNvSpPr>
          <p:nvPr/>
        </p:nvSpPr>
        <p:spPr bwMode="auto">
          <a:xfrm>
            <a:off x="980162" y="361084"/>
            <a:ext cx="723699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p:sp>
        <p:nvSpPr>
          <p:cNvPr id="19462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16 and 24</a:t>
            </a:r>
          </a:p>
        </p:txBody>
      </p:sp>
      <p:sp>
        <p:nvSpPr>
          <p:cNvPr id="19463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19464" name="TextBox 10"/>
          <p:cNvSpPr txBox="1">
            <a:spLocks noChangeArrowheads="1"/>
          </p:cNvSpPr>
          <p:nvPr/>
        </p:nvSpPr>
        <p:spPr bwMode="auto">
          <a:xfrm>
            <a:off x="4591051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19465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19466" name="TextBox 12"/>
          <p:cNvSpPr txBox="1">
            <a:spLocks noChangeArrowheads="1"/>
          </p:cNvSpPr>
          <p:nvPr/>
        </p:nvSpPr>
        <p:spPr bwMode="auto">
          <a:xfrm>
            <a:off x="4512469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2471647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112545" y="33575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12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09739" y="33575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9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4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8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20485" name="TextBox 7"/>
          <p:cNvSpPr txBox="1">
            <a:spLocks noChangeArrowheads="1"/>
          </p:cNvSpPr>
          <p:nvPr/>
        </p:nvSpPr>
        <p:spPr bwMode="auto">
          <a:xfrm>
            <a:off x="1146626" y="333375"/>
            <a:ext cx="724179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p:sp>
        <p:nvSpPr>
          <p:cNvPr id="20486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12 and 36</a:t>
            </a:r>
          </a:p>
        </p:txBody>
      </p:sp>
      <p:sp>
        <p:nvSpPr>
          <p:cNvPr id="20487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20488" name="TextBox 10"/>
          <p:cNvSpPr txBox="1">
            <a:spLocks noChangeArrowheads="1"/>
          </p:cNvSpPr>
          <p:nvPr/>
        </p:nvSpPr>
        <p:spPr bwMode="auto">
          <a:xfrm>
            <a:off x="4591051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20489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20490" name="TextBox 12"/>
          <p:cNvSpPr txBox="1">
            <a:spLocks noChangeArrowheads="1"/>
          </p:cNvSpPr>
          <p:nvPr/>
        </p:nvSpPr>
        <p:spPr bwMode="auto">
          <a:xfrm>
            <a:off x="4512469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3281459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112545" y="33575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10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09739" y="33575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6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5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4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22533" name="TextBox 7"/>
          <p:cNvSpPr txBox="1">
            <a:spLocks noChangeArrowheads="1"/>
          </p:cNvSpPr>
          <p:nvPr/>
        </p:nvSpPr>
        <p:spPr bwMode="auto">
          <a:xfrm>
            <a:off x="827584" y="333374"/>
            <a:ext cx="784887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p:sp>
        <p:nvSpPr>
          <p:cNvPr id="22534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20 and 30</a:t>
            </a:r>
          </a:p>
        </p:txBody>
      </p:sp>
      <p:sp>
        <p:nvSpPr>
          <p:cNvPr id="22535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22536" name="TextBox 10"/>
          <p:cNvSpPr txBox="1">
            <a:spLocks noChangeArrowheads="1"/>
          </p:cNvSpPr>
          <p:nvPr/>
        </p:nvSpPr>
        <p:spPr bwMode="auto">
          <a:xfrm>
            <a:off x="4591051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22537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22538" name="TextBox 12"/>
          <p:cNvSpPr txBox="1">
            <a:spLocks noChangeArrowheads="1"/>
          </p:cNvSpPr>
          <p:nvPr/>
        </p:nvSpPr>
        <p:spPr bwMode="auto">
          <a:xfrm>
            <a:off x="4512469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3248150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1709739" y="3429002"/>
            <a:ext cx="2483644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7776" y="3429002"/>
            <a:ext cx="2484835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1709739" y="5084763"/>
            <a:ext cx="2483644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4581" name="TextBox 7"/>
          <p:cNvSpPr txBox="1">
            <a:spLocks noChangeArrowheads="1"/>
          </p:cNvSpPr>
          <p:nvPr/>
        </p:nvSpPr>
        <p:spPr bwMode="auto">
          <a:xfrm>
            <a:off x="827584" y="333375"/>
            <a:ext cx="74168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p:sp>
        <p:nvSpPr>
          <p:cNvPr id="24582" name="TextBox 8"/>
          <p:cNvSpPr txBox="1">
            <a:spLocks noChangeArrowheads="1"/>
          </p:cNvSpPr>
          <p:nvPr/>
        </p:nvSpPr>
        <p:spPr bwMode="auto">
          <a:xfrm>
            <a:off x="2250282" y="1484313"/>
            <a:ext cx="458986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7200">
                <a:latin typeface="+mn-lt"/>
              </a:rPr>
              <a:t>28 and 70</a:t>
            </a:r>
          </a:p>
        </p:txBody>
      </p:sp>
      <p:sp>
        <p:nvSpPr>
          <p:cNvPr id="24583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24584" name="TextBox 10"/>
          <p:cNvSpPr txBox="1">
            <a:spLocks noChangeArrowheads="1"/>
          </p:cNvSpPr>
          <p:nvPr/>
        </p:nvSpPr>
        <p:spPr bwMode="auto">
          <a:xfrm>
            <a:off x="4591051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24585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24586" name="TextBox 12"/>
          <p:cNvSpPr txBox="1">
            <a:spLocks noChangeArrowheads="1"/>
          </p:cNvSpPr>
          <p:nvPr/>
        </p:nvSpPr>
        <p:spPr bwMode="auto">
          <a:xfrm>
            <a:off x="4512469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48508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709739" y="5084763"/>
                <a:ext cx="2483644" cy="143986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i="1">
                          <a:solidFill>
                            <a:schemeClr val="tx1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651" y="5084763"/>
                <a:ext cx="3311525" cy="143986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1709739" y="3429002"/>
            <a:ext cx="2483644" cy="14398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7776" y="5084763"/>
            <a:ext cx="2484835" cy="14398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600" dirty="0">
                <a:solidFill>
                  <a:schemeClr val="tx1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057776" y="3429002"/>
                <a:ext cx="2484835" cy="1439863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3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3701" y="3429001"/>
                <a:ext cx="3313113" cy="143986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05" name="TextBox 7"/>
          <p:cNvSpPr txBox="1">
            <a:spLocks noChangeArrowheads="1"/>
          </p:cNvSpPr>
          <p:nvPr/>
        </p:nvSpPr>
        <p:spPr bwMode="auto">
          <a:xfrm>
            <a:off x="971600" y="333375"/>
            <a:ext cx="74168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3200" dirty="0">
                <a:latin typeface="+mn-lt"/>
              </a:rPr>
              <a:t>What is the highest common factor of .....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06" name="TextBox 8"/>
              <p:cNvSpPr txBox="1">
                <a:spLocks noChangeArrowheads="1"/>
              </p:cNvSpPr>
              <p:nvPr/>
            </p:nvSpPr>
            <p:spPr bwMode="auto">
              <a:xfrm>
                <a:off x="2250282" y="1484314"/>
                <a:ext cx="4589860" cy="1225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GB" sz="7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7200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72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7200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7200" i="1">
                        <a:latin typeface="Cambria Math"/>
                      </a:rPr>
                      <m:t>𝑥</m:t>
                    </m:r>
                  </m:oMath>
                </a14:m>
                <a:endParaRPr lang="en-GB" sz="7200" dirty="0">
                  <a:latin typeface="+mn-lt"/>
                </a:endParaRPr>
              </a:p>
            </p:txBody>
          </p:sp>
        </mc:Choice>
        <mc:Fallback xmlns="">
          <p:sp>
            <p:nvSpPr>
              <p:cNvPr id="25606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00376" y="1484314"/>
                <a:ext cx="6119813" cy="1225272"/>
              </a:xfrm>
              <a:prstGeom prst="rect">
                <a:avLst/>
              </a:prstGeom>
              <a:blipFill rotWithShape="0">
                <a:blip r:embed="rId4"/>
                <a:stretch>
                  <a:fillRect t="-16418" b="-4079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07" name="TextBox 9"/>
          <p:cNvSpPr txBox="1">
            <a:spLocks noChangeArrowheads="1"/>
          </p:cNvSpPr>
          <p:nvPr/>
        </p:nvSpPr>
        <p:spPr bwMode="auto">
          <a:xfrm>
            <a:off x="1143001" y="3644900"/>
            <a:ext cx="72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A)</a:t>
            </a:r>
          </a:p>
        </p:txBody>
      </p:sp>
      <p:sp>
        <p:nvSpPr>
          <p:cNvPr id="25608" name="TextBox 10"/>
          <p:cNvSpPr txBox="1">
            <a:spLocks noChangeArrowheads="1"/>
          </p:cNvSpPr>
          <p:nvPr/>
        </p:nvSpPr>
        <p:spPr bwMode="auto">
          <a:xfrm>
            <a:off x="4591051" y="3644900"/>
            <a:ext cx="70564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B)</a:t>
            </a:r>
          </a:p>
        </p:txBody>
      </p:sp>
      <p:sp>
        <p:nvSpPr>
          <p:cNvPr id="25609" name="TextBox 11"/>
          <p:cNvSpPr txBox="1">
            <a:spLocks noChangeArrowheads="1"/>
          </p:cNvSpPr>
          <p:nvPr/>
        </p:nvSpPr>
        <p:spPr bwMode="auto">
          <a:xfrm>
            <a:off x="1143001" y="5373689"/>
            <a:ext cx="699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C)</a:t>
            </a:r>
          </a:p>
        </p:txBody>
      </p:sp>
      <p:sp>
        <p:nvSpPr>
          <p:cNvPr id="25610" name="TextBox 12"/>
          <p:cNvSpPr txBox="1">
            <a:spLocks noChangeArrowheads="1"/>
          </p:cNvSpPr>
          <p:nvPr/>
        </p:nvSpPr>
        <p:spPr bwMode="auto">
          <a:xfrm>
            <a:off x="4512469" y="5373689"/>
            <a:ext cx="7489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GB" sz="4800">
                <a:latin typeface="+mn-lt"/>
                <a:cs typeface="Aharoni" panose="02010803020104030203" pitchFamily="2" charset="-79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1633357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404664"/>
            <a:ext cx="8229600" cy="6192688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sz="2800" b="1" u="sng" dirty="0">
                <a:latin typeface="+mj-lt"/>
              </a:rPr>
              <a:t>Factorising Expressions</a:t>
            </a:r>
          </a:p>
          <a:p>
            <a:pPr marL="0" indent="0" algn="ctr">
              <a:buNone/>
            </a:pPr>
            <a:r>
              <a:rPr lang="en-GB" sz="2800" dirty="0">
                <a:latin typeface="+mj-lt"/>
              </a:rPr>
              <a:t>Factorising is the opposite of expansion.</a:t>
            </a:r>
          </a:p>
          <a:p>
            <a:pPr marL="0" indent="0" algn="ctr">
              <a:buNone/>
            </a:pPr>
            <a:r>
              <a:rPr lang="en-GB" sz="2800" dirty="0">
                <a:latin typeface="+mj-lt"/>
              </a:rPr>
              <a:t>It puts an expression back into brackets.</a:t>
            </a:r>
          </a:p>
          <a:p>
            <a:pPr marL="0" indent="0">
              <a:buNone/>
            </a:pPr>
            <a:endParaRPr lang="en-GB" sz="2800" dirty="0">
              <a:latin typeface="+mj-lt"/>
            </a:endParaRPr>
          </a:p>
          <a:p>
            <a:pPr marL="0" indent="0">
              <a:buNone/>
            </a:pPr>
            <a:endParaRPr lang="en-GB" sz="2800" dirty="0">
              <a:latin typeface="+mj-lt"/>
            </a:endParaRPr>
          </a:p>
          <a:p>
            <a:pPr marL="0" indent="0">
              <a:buNone/>
            </a:pPr>
            <a:endParaRPr lang="en-GB" sz="2800" dirty="0">
              <a:latin typeface="+mj-lt"/>
            </a:endParaRPr>
          </a:p>
          <a:p>
            <a:pPr marL="0" indent="0">
              <a:buNone/>
            </a:pPr>
            <a:endParaRPr lang="en-GB" sz="2800" dirty="0">
              <a:latin typeface="+mj-lt"/>
            </a:endParaRPr>
          </a:p>
          <a:p>
            <a:pPr marL="0" indent="0">
              <a:buNone/>
            </a:pPr>
            <a:endParaRPr lang="en-GB" sz="2800" dirty="0">
              <a:latin typeface="+mj-lt"/>
            </a:endParaRPr>
          </a:p>
          <a:p>
            <a:pPr marL="0" indent="0">
              <a:buNone/>
            </a:pPr>
            <a:endParaRPr lang="en-GB" sz="2800" dirty="0">
              <a:latin typeface="+mj-lt"/>
            </a:endParaRPr>
          </a:p>
          <a:p>
            <a:pPr marL="0" indent="0">
              <a:buNone/>
            </a:pPr>
            <a:endParaRPr lang="en-GB" sz="2800" dirty="0">
              <a:latin typeface="+mj-lt"/>
            </a:endParaRPr>
          </a:p>
          <a:p>
            <a:pPr marL="0" indent="0" algn="ctr">
              <a:buNone/>
            </a:pPr>
            <a:endParaRPr lang="en-GB" sz="2800" dirty="0">
              <a:latin typeface="+mj-lt"/>
            </a:endParaRPr>
          </a:p>
          <a:p>
            <a:pPr marL="0" indent="0" algn="ctr">
              <a:buNone/>
            </a:pPr>
            <a:r>
              <a:rPr lang="en-GB" sz="2800" dirty="0">
                <a:latin typeface="+mj-lt"/>
              </a:rPr>
              <a:t>We have to find the Highest Common Factor </a:t>
            </a:r>
          </a:p>
          <a:p>
            <a:pPr marL="0" indent="0" algn="ctr">
              <a:buNone/>
            </a:pPr>
            <a:r>
              <a:rPr lang="en-GB" sz="2800" dirty="0">
                <a:latin typeface="+mj-lt"/>
              </a:rPr>
              <a:t>of all terms to factorise.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430571" y="2118047"/>
            <a:ext cx="15103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Expanding</a:t>
            </a:r>
          </a:p>
        </p:txBody>
      </p:sp>
      <p:sp>
        <p:nvSpPr>
          <p:cNvPr id="5" name="Curved Down Arrow 4"/>
          <p:cNvSpPr/>
          <p:nvPr/>
        </p:nvSpPr>
        <p:spPr>
          <a:xfrm>
            <a:off x="1259632" y="2708920"/>
            <a:ext cx="1965990" cy="50405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Curved Down Arrow 8"/>
          <p:cNvSpPr/>
          <p:nvPr/>
        </p:nvSpPr>
        <p:spPr>
          <a:xfrm rot="10800000">
            <a:off x="1166748" y="4026400"/>
            <a:ext cx="2037998" cy="50405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5490" y="3361564"/>
            <a:ext cx="1717137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en-GB" sz="2800" b="1" dirty="0"/>
              <a:t>3(</a:t>
            </a:r>
            <a:r>
              <a:rPr lang="en-GB" sz="2800" b="1" dirty="0">
                <a:solidFill>
                  <a:srgbClr val="FF0000"/>
                </a:solidFill>
              </a:rPr>
              <a:t>2t</a:t>
            </a:r>
            <a:r>
              <a:rPr lang="en-GB" sz="2800" b="1" dirty="0"/>
              <a:t> + </a:t>
            </a:r>
            <a:r>
              <a:rPr lang="en-GB" sz="2800" b="1" dirty="0">
                <a:solidFill>
                  <a:srgbClr val="00B050"/>
                </a:solidFill>
              </a:rPr>
              <a:t>3m</a:t>
            </a:r>
            <a:r>
              <a:rPr lang="en-GB" sz="2800" b="1" dirty="0"/>
              <a:t>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73842" y="3357836"/>
            <a:ext cx="1309974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en-GB" sz="2800" b="1" dirty="0"/>
              <a:t>6t + </a:t>
            </a:r>
            <a:r>
              <a:rPr lang="en-GB" sz="2800" b="1" dirty="0">
                <a:solidFill>
                  <a:srgbClr val="00B050"/>
                </a:solidFill>
              </a:rPr>
              <a:t>9m</a:t>
            </a:r>
            <a:endParaRPr lang="en-GB" sz="2800" b="1" dirty="0"/>
          </a:p>
        </p:txBody>
      </p:sp>
      <p:sp>
        <p:nvSpPr>
          <p:cNvPr id="12" name="Rectangle 11"/>
          <p:cNvSpPr/>
          <p:nvPr/>
        </p:nvSpPr>
        <p:spPr>
          <a:xfrm>
            <a:off x="1405019" y="4653136"/>
            <a:ext cx="15614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Factorising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61648" y="2118046"/>
            <a:ext cx="15103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Expanding</a:t>
            </a:r>
          </a:p>
        </p:txBody>
      </p:sp>
      <p:sp>
        <p:nvSpPr>
          <p:cNvPr id="14" name="Curved Down Arrow 13"/>
          <p:cNvSpPr/>
          <p:nvPr/>
        </p:nvSpPr>
        <p:spPr>
          <a:xfrm>
            <a:off x="5290709" y="2708919"/>
            <a:ext cx="1965990" cy="50405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Curved Down Arrow 14"/>
          <p:cNvSpPr/>
          <p:nvPr/>
        </p:nvSpPr>
        <p:spPr>
          <a:xfrm rot="10800000">
            <a:off x="5197825" y="4026399"/>
            <a:ext cx="2037998" cy="50405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476587" y="3361563"/>
            <a:ext cx="1662635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en-GB" sz="2800" b="1" dirty="0"/>
              <a:t>4(</a:t>
            </a:r>
            <a:r>
              <a:rPr lang="en-GB" sz="2800" b="1" dirty="0">
                <a:solidFill>
                  <a:srgbClr val="FF0000"/>
                </a:solidFill>
              </a:rPr>
              <a:t>5y</a:t>
            </a:r>
            <a:r>
              <a:rPr lang="en-GB" sz="2800" b="1" dirty="0"/>
              <a:t> + </a:t>
            </a:r>
            <a:r>
              <a:rPr lang="en-GB" sz="2800" b="1" dirty="0">
                <a:solidFill>
                  <a:srgbClr val="00B050"/>
                </a:solidFill>
              </a:rPr>
              <a:t>2p</a:t>
            </a:r>
            <a:r>
              <a:rPr lang="en-GB" sz="2800" b="1" dirty="0"/>
              <a:t>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04919" y="3357835"/>
            <a:ext cx="1438214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en-GB" sz="2800" b="1" dirty="0"/>
              <a:t>20y + </a:t>
            </a:r>
            <a:r>
              <a:rPr lang="en-GB" sz="2800" b="1" dirty="0">
                <a:solidFill>
                  <a:srgbClr val="00B050"/>
                </a:solidFill>
              </a:rPr>
              <a:t>8p</a:t>
            </a:r>
            <a:endParaRPr lang="en-GB" sz="2800" b="1" dirty="0"/>
          </a:p>
        </p:txBody>
      </p:sp>
      <p:sp>
        <p:nvSpPr>
          <p:cNvPr id="18" name="Rectangle 17"/>
          <p:cNvSpPr/>
          <p:nvPr/>
        </p:nvSpPr>
        <p:spPr>
          <a:xfrm>
            <a:off x="5436096" y="4653135"/>
            <a:ext cx="15614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Factorising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755955" y="4026107"/>
            <a:ext cx="973343" cy="40011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</a:rPr>
              <a:t>HCF =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87032" y="3978452"/>
            <a:ext cx="599844" cy="40011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</a:rPr>
              <a:t>HCF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4690" y="3978452"/>
            <a:ext cx="500458" cy="40011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</a:rPr>
              <a:t>= 4</a:t>
            </a:r>
          </a:p>
        </p:txBody>
      </p:sp>
    </p:spTree>
    <p:extLst>
      <p:ext uri="{BB962C8B-B14F-4D97-AF65-F5344CB8AC3E}">
        <p14:creationId xmlns:p14="http://schemas.microsoft.com/office/powerpoint/2010/main" val="2498435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9" grpId="0" animBg="1"/>
      <p:bldP spid="7" grpId="0" animBg="1"/>
      <p:bldP spid="11" grpId="0" animBg="1"/>
      <p:bldP spid="12" grpId="0"/>
      <p:bldP spid="13" grpId="0"/>
      <p:bldP spid="14" grpId="0" animBg="1"/>
      <p:bldP spid="15" grpId="0" animBg="1"/>
      <p:bldP spid="16" grpId="0" animBg="1"/>
      <p:bldP spid="17" grpId="0" animBg="1"/>
      <p:bldP spid="18" grpId="0"/>
      <p:bldP spid="8" grpId="0" animBg="1"/>
      <p:bldP spid="20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1816442" y="1468911"/>
                <a:ext cx="3966519" cy="13542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/>
                <a14:m>
                  <m:oMath xmlns:m="http://schemas.openxmlformats.org/officeDocument/2006/math">
                    <m:r>
                      <a:rPr lang="en-AU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𝐹𝑎𝑐𝑡𝑜𝑟𝑖𝑠𝑒</m:t>
                    </m:r>
                  </m:oMath>
                </a14:m>
                <a:r>
                  <a:rPr lang="en-AU" dirty="0">
                    <a:solidFill>
                      <a:prstClr val="black"/>
                    </a:solidFill>
                    <a:latin typeface="Century Gothic" panose="020B0502020202020204"/>
                  </a:rPr>
                  <a:t>	     </a:t>
                </a:r>
                <a:endParaRPr lang="en-AU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defTabSz="685800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r>
                  <a:rPr lang="en-AU" b="1" dirty="0">
                    <a:solidFill>
                      <a:schemeClr val="tx1"/>
                    </a:solidFill>
                    <a:latin typeface="Century Gothic" panose="020B0502020202020204"/>
                  </a:rPr>
                  <a:t> </a:t>
                </a:r>
              </a:p>
              <a:p>
                <a:pPr defTabSz="685800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b="1" dirty="0">
                    <a:solidFill>
                      <a:schemeClr val="tx1"/>
                    </a:solidFill>
                    <a:latin typeface="Century Gothic" panose="020B0502020202020204"/>
                    <a:ea typeface="Cambria Math" panose="02040503050406030204" pitchFamily="18" charset="0"/>
                  </a:rPr>
                  <a:t> </a:t>
                </a:r>
              </a:p>
              <a:p>
                <a:pPr defTabSz="685800"/>
                <a14:m>
                  <m:oMath xmlns:m="http://schemas.openxmlformats.org/officeDocument/2006/math"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b="1" dirty="0">
                    <a:solidFill>
                      <a:schemeClr val="tx1"/>
                    </a:solidFill>
                    <a:latin typeface="Century Gothic" panose="020B0502020202020204"/>
                  </a:rPr>
                  <a:t>  </a:t>
                </a:r>
                <a:r>
                  <a:rPr lang="en-AU" dirty="0">
                    <a:solidFill>
                      <a:prstClr val="black"/>
                    </a:solidFill>
                    <a:latin typeface="Century Gothic" panose="020B0502020202020204"/>
                  </a:rPr>
                  <a:t>	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6442" y="1468911"/>
                <a:ext cx="3966519" cy="1354217"/>
              </a:xfrm>
              <a:prstGeom prst="rect">
                <a:avLst/>
              </a:prstGeom>
              <a:blipFill>
                <a:blip r:embed="rId2"/>
                <a:stretch>
                  <a:fillRect b="-3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816442" y="2994663"/>
                <a:ext cx="3966519" cy="13542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/>
                <a:r>
                  <a:rPr lang="en-AU" dirty="0">
                    <a:solidFill>
                      <a:prstClr val="black"/>
                    </a:solidFill>
                    <a:latin typeface="Century Gothic" panose="020B0502020202020204"/>
                  </a:rPr>
                  <a:t>     </a:t>
                </a:r>
                <a:endParaRPr lang="en-AU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defTabSz="685800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𝟏𝟔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r>
                  <a:rPr lang="en-AU" b="1" dirty="0">
                    <a:solidFill>
                      <a:schemeClr val="tx1"/>
                    </a:solidFill>
                    <a:latin typeface="Century Gothic" panose="020B0502020202020204"/>
                  </a:rPr>
                  <a:t> </a:t>
                </a:r>
              </a:p>
              <a:p>
                <a:pPr defTabSz="685800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b="1" dirty="0">
                    <a:solidFill>
                      <a:schemeClr val="tx1"/>
                    </a:solidFill>
                    <a:latin typeface="Century Gothic" panose="020B0502020202020204"/>
                    <a:ea typeface="Cambria Math" panose="02040503050406030204" pitchFamily="18" charset="0"/>
                  </a:rPr>
                  <a:t> </a:t>
                </a:r>
              </a:p>
              <a:p>
                <a:pPr defTabSz="685800"/>
                <a14:m>
                  <m:oMath xmlns:m="http://schemas.openxmlformats.org/officeDocument/2006/math"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b="1" dirty="0">
                    <a:solidFill>
                      <a:schemeClr val="tx1"/>
                    </a:solidFill>
                    <a:latin typeface="Century Gothic" panose="020B0502020202020204"/>
                  </a:rPr>
                  <a:t>  </a:t>
                </a:r>
                <a:r>
                  <a:rPr lang="en-AU" dirty="0">
                    <a:solidFill>
                      <a:prstClr val="black"/>
                    </a:solidFill>
                    <a:latin typeface="Century Gothic" panose="020B0502020202020204"/>
                  </a:rPr>
                  <a:t>	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6442" y="2994663"/>
                <a:ext cx="3966519" cy="1354217"/>
              </a:xfrm>
              <a:prstGeom prst="rect">
                <a:avLst/>
              </a:prstGeom>
              <a:blipFill>
                <a:blip r:embed="rId3"/>
                <a:stretch>
                  <a:fillRect l="-461" b="-405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4805233" y="2526433"/>
                <a:ext cx="3966519" cy="10002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/>
                <a14:m>
                  <m:oMath xmlns:m="http://schemas.openxmlformats.org/officeDocument/2006/math"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AU" b="1" dirty="0">
                    <a:solidFill>
                      <a:schemeClr val="tx1"/>
                    </a:solidFill>
                    <a:latin typeface="Century Gothic" panose="020B0502020202020204"/>
                  </a:rPr>
                  <a:t> </a:t>
                </a:r>
              </a:p>
              <a:p>
                <a:pPr defTabSz="685800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b="1" dirty="0">
                    <a:solidFill>
                      <a:schemeClr val="tx1"/>
                    </a:solidFill>
                    <a:latin typeface="Century Gothic" panose="020B0502020202020204"/>
                    <a:ea typeface="Cambria Math" panose="02040503050406030204" pitchFamily="18" charset="0"/>
                  </a:rPr>
                  <a:t> </a:t>
                </a:r>
              </a:p>
              <a:p>
                <a:pPr defTabSz="685800"/>
                <a14:m>
                  <m:oMath xmlns:m="http://schemas.openxmlformats.org/officeDocument/2006/math"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b="1" dirty="0">
                    <a:solidFill>
                      <a:schemeClr val="tx1"/>
                    </a:solidFill>
                    <a:latin typeface="Century Gothic" panose="020B0502020202020204"/>
                  </a:rPr>
                  <a:t>  </a:t>
                </a:r>
                <a:r>
                  <a:rPr lang="en-AU" dirty="0">
                    <a:solidFill>
                      <a:prstClr val="black"/>
                    </a:solidFill>
                    <a:latin typeface="Century Gothic" panose="020B0502020202020204"/>
                  </a:rPr>
                  <a:t>	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5233" y="2526433"/>
                <a:ext cx="3966519" cy="1000274"/>
              </a:xfrm>
              <a:prstGeom prst="rect">
                <a:avLst/>
              </a:prstGeom>
              <a:blipFill>
                <a:blip r:embed="rId4"/>
                <a:stretch>
                  <a:fillRect b="-48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805233" y="4012584"/>
                <a:ext cx="3864575" cy="10515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>
                  <a:spcAft>
                    <a:spcPts val="450"/>
                  </a:spcAft>
                  <a:buClr>
                    <a:srgbClr val="FF0000"/>
                  </a:buClr>
                </a:pPr>
                <a14:m>
                  <m:oMath xmlns:m="http://schemas.openxmlformats.org/officeDocument/2006/math">
                    <m:r>
                      <a:rPr lang="en-AU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en-AU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AU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AU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AU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AU" b="1" dirty="0">
                    <a:solidFill>
                      <a:schemeClr val="tx1"/>
                    </a:solidFill>
                    <a:latin typeface="Century Gothic" panose="020B0502020202020204"/>
                  </a:rPr>
                  <a:t> </a:t>
                </a:r>
              </a:p>
              <a:p>
                <a:pPr defTabSz="685800">
                  <a:spcAft>
                    <a:spcPts val="450"/>
                  </a:spcAft>
                  <a:buClr>
                    <a:srgbClr val="FF0000"/>
                  </a:buClr>
                </a:pPr>
                <a:r>
                  <a:rPr lang="en-AU" b="1" dirty="0">
                    <a:solidFill>
                      <a:schemeClr val="tx1"/>
                    </a:solidFill>
                    <a:latin typeface="Century Gothic" panose="020B0502020202020204"/>
                  </a:rPr>
                  <a:t>=</a:t>
                </a:r>
                <a14:m>
                  <m:oMath xmlns:m="http://schemas.openxmlformats.org/officeDocument/2006/math">
                    <m:r>
                      <a:rPr lang="en-AU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b="1" dirty="0">
                  <a:solidFill>
                    <a:schemeClr val="tx1"/>
                  </a:solidFill>
                  <a:latin typeface="Century Gothic" panose="020B0502020202020204"/>
                </a:endParaRPr>
              </a:p>
              <a:p>
                <a:pPr defTabSz="685800">
                  <a:spcAft>
                    <a:spcPts val="450"/>
                  </a:spcAft>
                  <a:buClr>
                    <a:srgbClr val="FF0000"/>
                  </a:buClr>
                </a:pPr>
                <a:r>
                  <a:rPr lang="en-AU" b="1" dirty="0">
                    <a:solidFill>
                      <a:schemeClr val="tx1"/>
                    </a:solidFill>
                    <a:latin typeface="Century Gothic" panose="020B0502020202020204"/>
                  </a:rPr>
                  <a:t>= </a:t>
                </a:r>
                <a14:m>
                  <m:oMath xmlns:m="http://schemas.openxmlformats.org/officeDocument/2006/math"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b="1" dirty="0">
                  <a:solidFill>
                    <a:schemeClr val="tx1"/>
                  </a:solidFill>
                  <a:latin typeface="Century Gothic" panose="020B0502020202020204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5233" y="4012584"/>
                <a:ext cx="3864575" cy="1051570"/>
              </a:xfrm>
              <a:prstGeom prst="rect">
                <a:avLst/>
              </a:prstGeom>
              <a:blipFill>
                <a:blip r:embed="rId5"/>
                <a:stretch>
                  <a:fillRect l="-1262" b="-80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101095" y="479108"/>
            <a:ext cx="47251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685800">
              <a:buAutoNum type="arabicPeriod"/>
            </a:pPr>
            <a:r>
              <a:rPr lang="en-AU" sz="1600" b="1" dirty="0">
                <a:solidFill>
                  <a:srgbClr val="00B0F0"/>
                </a:solidFill>
                <a:latin typeface="Century Gothic" panose="020B0502020202020204"/>
              </a:rPr>
              <a:t>Look for highest common factor (list) </a:t>
            </a:r>
          </a:p>
          <a:p>
            <a:pPr marL="342900" indent="-342900" defTabSz="685800">
              <a:buAutoNum type="arabicPeriod"/>
            </a:pPr>
            <a:r>
              <a:rPr lang="en-AU" sz="1600" b="1" dirty="0">
                <a:solidFill>
                  <a:srgbClr val="00B0F0"/>
                </a:solidFill>
                <a:latin typeface="Century Gothic" panose="020B0502020202020204"/>
              </a:rPr>
              <a:t>Take highest common factor to front of brackets</a:t>
            </a:r>
            <a:r>
              <a:rPr lang="en-AU" sz="1500" b="1" dirty="0">
                <a:solidFill>
                  <a:srgbClr val="00B0F0"/>
                </a:solidFill>
                <a:latin typeface="Century Gothic" panose="020B0502020202020204"/>
              </a:rPr>
              <a:t>.</a:t>
            </a:r>
          </a:p>
          <a:p>
            <a:pPr marL="342900" indent="-342900" defTabSz="685800">
              <a:buAutoNum type="arabicPeriod"/>
            </a:pPr>
            <a:r>
              <a:rPr lang="en-AU" sz="1600" b="1" dirty="0">
                <a:solidFill>
                  <a:srgbClr val="00B0F0"/>
                </a:solidFill>
                <a:latin typeface="Century Gothic" panose="020B0502020202020204"/>
              </a:rPr>
              <a:t>Fill brackets with remaining factors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2502E-9B55-4976-9A0C-C57BDE8ACD34}"/>
              </a:ext>
            </a:extLst>
          </p:cNvPr>
          <p:cNvSpPr txBox="1"/>
          <p:nvPr/>
        </p:nvSpPr>
        <p:spPr>
          <a:xfrm>
            <a:off x="2850356" y="1799264"/>
            <a:ext cx="140017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sz="1350" dirty="0">
                <a:solidFill>
                  <a:srgbClr val="FF0000"/>
                </a:solidFill>
                <a:latin typeface="Century Gothic" panose="020B0502020202020204"/>
              </a:rPr>
              <a:t>HCF = 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FE4912-9175-4DCF-9FF8-0BF88706A4DF}"/>
              </a:ext>
            </a:extLst>
          </p:cNvPr>
          <p:cNvSpPr txBox="1"/>
          <p:nvPr/>
        </p:nvSpPr>
        <p:spPr>
          <a:xfrm>
            <a:off x="2938593" y="3336410"/>
            <a:ext cx="140017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sz="1350" dirty="0">
                <a:solidFill>
                  <a:srgbClr val="FF0000"/>
                </a:solidFill>
                <a:latin typeface="Century Gothic" panose="020B0502020202020204"/>
              </a:rPr>
              <a:t>HCF =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86F7A8-A36F-4CBF-A1F9-07D05DF7AD2D}"/>
              </a:ext>
            </a:extLst>
          </p:cNvPr>
          <p:cNvSpPr txBox="1"/>
          <p:nvPr/>
        </p:nvSpPr>
        <p:spPr>
          <a:xfrm>
            <a:off x="5650706" y="2571604"/>
            <a:ext cx="140017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sz="1350" dirty="0">
                <a:solidFill>
                  <a:srgbClr val="FF0000"/>
                </a:solidFill>
                <a:latin typeface="Century Gothic" panose="020B0502020202020204"/>
              </a:rPr>
              <a:t>HCF = 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0D209F-9986-497D-80E9-B84B1374BBC2}"/>
              </a:ext>
            </a:extLst>
          </p:cNvPr>
          <p:cNvSpPr txBox="1"/>
          <p:nvPr/>
        </p:nvSpPr>
        <p:spPr>
          <a:xfrm>
            <a:off x="6788492" y="4056064"/>
            <a:ext cx="140017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sz="1350" dirty="0">
                <a:solidFill>
                  <a:srgbClr val="FF0000"/>
                </a:solidFill>
                <a:latin typeface="Century Gothic" panose="020B0502020202020204"/>
              </a:rPr>
              <a:t>HCF = 4</a:t>
            </a:r>
          </a:p>
        </p:txBody>
      </p:sp>
    </p:spTree>
    <p:extLst>
      <p:ext uri="{BB962C8B-B14F-4D97-AF65-F5344CB8AC3E}">
        <p14:creationId xmlns:p14="http://schemas.microsoft.com/office/powerpoint/2010/main" val="369839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  <p:bldP spid="8" grpId="0"/>
      <p:bldP spid="9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1B7F2E-52B1-40D6-AA7A-18BB3845C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Factorizing </a:t>
            </a:r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3F1D6-D81F-43F5-9FF3-407311F0F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I do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D7A944-04C8-457D-BAE0-23A008C3E8C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AU" sz="1800" b="1" dirty="0"/>
              <a:t>8y + 4 </a:t>
            </a:r>
          </a:p>
          <a:p>
            <a:pPr marL="0" indent="0" algn="ctr">
              <a:buNone/>
            </a:pPr>
            <a:endParaRPr lang="en-AU" sz="1800" b="1" dirty="0"/>
          </a:p>
          <a:p>
            <a:pPr marL="0" indent="0" algn="ctr">
              <a:buNone/>
            </a:pPr>
            <a:endParaRPr lang="en-AU" sz="1800" b="1" dirty="0"/>
          </a:p>
          <a:p>
            <a:pPr marL="0" indent="0" algn="ctr">
              <a:buNone/>
            </a:pPr>
            <a:r>
              <a:rPr lang="en-AU" sz="1800" b="1" dirty="0"/>
              <a:t>12x + 9 </a:t>
            </a:r>
          </a:p>
          <a:p>
            <a:pPr marL="0" indent="0" algn="ctr">
              <a:buNone/>
            </a:pPr>
            <a:endParaRPr lang="en-AU" sz="1800" b="1" dirty="0"/>
          </a:p>
          <a:p>
            <a:pPr marL="0" indent="0" algn="ctr">
              <a:buNone/>
            </a:pPr>
            <a:endParaRPr lang="en-AU" sz="1800" b="1" dirty="0"/>
          </a:p>
          <a:p>
            <a:pPr marL="0" indent="0" algn="ctr">
              <a:buNone/>
            </a:pPr>
            <a:r>
              <a:rPr lang="en-AU" sz="1800" b="1" dirty="0"/>
              <a:t>4f + 20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51CB56C-3324-4732-92E2-B3E746868D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We do </a:t>
            </a:r>
            <a:endParaRPr lang="en-A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A4FAC08-6916-4DA3-8FA2-179F126F8D4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1800" b="1" dirty="0"/>
          </a:p>
          <a:p>
            <a:pPr marL="0" indent="0" algn="ctr">
              <a:buNone/>
            </a:pPr>
            <a:r>
              <a:rPr lang="en-AU" sz="1800" b="1" dirty="0"/>
              <a:t>10x + 5 </a:t>
            </a:r>
          </a:p>
          <a:p>
            <a:pPr marL="0" indent="0" algn="ctr">
              <a:buNone/>
            </a:pPr>
            <a:endParaRPr lang="en-AU" sz="1800" b="1" dirty="0"/>
          </a:p>
          <a:p>
            <a:pPr marL="0" indent="0" algn="ctr">
              <a:buNone/>
            </a:pPr>
            <a:endParaRPr lang="en-AU" sz="1800" b="1" dirty="0"/>
          </a:p>
          <a:p>
            <a:pPr marL="0" indent="0" algn="ctr">
              <a:buNone/>
            </a:pPr>
            <a:r>
              <a:rPr lang="en-AU" sz="1800" b="1" dirty="0"/>
              <a:t>18 + 6b </a:t>
            </a:r>
          </a:p>
          <a:p>
            <a:pPr marL="0" indent="0" algn="ctr">
              <a:buNone/>
            </a:pPr>
            <a:endParaRPr lang="en-AU" sz="1800" b="1" dirty="0"/>
          </a:p>
          <a:p>
            <a:pPr marL="0" indent="0" algn="ctr">
              <a:buNone/>
            </a:pPr>
            <a:endParaRPr lang="en-AU" sz="1800" b="1" dirty="0"/>
          </a:p>
          <a:p>
            <a:pPr marL="0" indent="0" algn="ctr">
              <a:buNone/>
            </a:pPr>
            <a:r>
              <a:rPr lang="en-AU" sz="1800" b="1" dirty="0"/>
              <a:t>3h + 15 </a:t>
            </a:r>
          </a:p>
        </p:txBody>
      </p:sp>
    </p:spTree>
    <p:extLst>
      <p:ext uri="{BB962C8B-B14F-4D97-AF65-F5344CB8AC3E}">
        <p14:creationId xmlns:p14="http://schemas.microsoft.com/office/powerpoint/2010/main" val="1913691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90A88-983E-4498-BD14-C48A7B6F4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552" y="1844824"/>
            <a:ext cx="7772400" cy="1470025"/>
          </a:xfrm>
        </p:spPr>
        <p:txBody>
          <a:bodyPr/>
          <a:lstStyle/>
          <a:p>
            <a:r>
              <a:rPr lang="en-US" dirty="0"/>
              <a:t>Individual task sheet </a:t>
            </a:r>
            <a:endParaRPr lang="en-AU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E371911E-6DDD-4B61-9C06-D0FDF0C1BC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5t + 10 </a:t>
            </a:r>
            <a:r>
              <a:rPr lang="en-US" dirty="0">
                <a:sym typeface="Wingdings" panose="05000000000000000000" pitchFamily="2" charset="2"/>
              </a:rPr>
              <a:t> 5( ___ + ____) 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9w + 3  3( ___ + ____)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211365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  <a:solidFill>
            <a:schemeClr val="tx2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GB" sz="4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Activity 2 – Factorise the following: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96752"/>
            <a:ext cx="2746648" cy="4713387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u="sng" dirty="0"/>
              <a:t>Level 5b</a:t>
            </a:r>
          </a:p>
          <a:p>
            <a:pPr marL="514350" indent="-514350">
              <a:buAutoNum type="arabicParenR"/>
            </a:pPr>
            <a:r>
              <a:rPr lang="en-GB" dirty="0"/>
              <a:t>2x + 6</a:t>
            </a:r>
          </a:p>
          <a:p>
            <a:pPr marL="514350" indent="-514350">
              <a:buAutoNum type="arabicParenR"/>
            </a:pPr>
            <a:r>
              <a:rPr lang="en-GB" dirty="0"/>
              <a:t>4m + 12</a:t>
            </a:r>
          </a:p>
          <a:p>
            <a:pPr marL="514350" indent="-514350">
              <a:buAutoNum type="arabicParenR"/>
            </a:pPr>
            <a:r>
              <a:rPr lang="en-GB" dirty="0"/>
              <a:t>16y + 10n</a:t>
            </a:r>
          </a:p>
          <a:p>
            <a:pPr marL="514350" indent="-514350">
              <a:buAutoNum type="arabicParenR"/>
            </a:pPr>
            <a:r>
              <a:rPr lang="en-GB" dirty="0"/>
              <a:t>20p – 15r</a:t>
            </a:r>
          </a:p>
          <a:p>
            <a:pPr marL="514350" indent="-514350">
              <a:buAutoNum type="arabicParenR"/>
            </a:pPr>
            <a:r>
              <a:rPr lang="en-GB" dirty="0"/>
              <a:t>15b – 5t</a:t>
            </a:r>
          </a:p>
          <a:p>
            <a:pPr marL="514350" indent="-514350">
              <a:buAutoNum type="arabicParenR"/>
            </a:pPr>
            <a:r>
              <a:rPr lang="en-GB" dirty="0"/>
              <a:t>9 + 3x</a:t>
            </a:r>
          </a:p>
          <a:p>
            <a:pPr marL="514350" indent="-514350">
              <a:buAutoNum type="arabicParenR"/>
            </a:pPr>
            <a:r>
              <a:rPr lang="en-GB" dirty="0"/>
              <a:t>12x + 16e</a:t>
            </a:r>
          </a:p>
          <a:p>
            <a:pPr marL="514350" indent="-514350">
              <a:buAutoNum type="arabicParenR"/>
            </a:pPr>
            <a:endParaRPr lang="en-GB" dirty="0"/>
          </a:p>
          <a:p>
            <a:pPr marL="514350" indent="-514350">
              <a:buAutoNum type="arabicParenR"/>
            </a:pPr>
            <a:endParaRPr lang="en-GB" dirty="0"/>
          </a:p>
          <a:p>
            <a:pPr marL="0" indent="0">
              <a:buNone/>
            </a:pPr>
            <a:endParaRPr lang="en-GB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3275856" y="1196752"/>
                <a:ext cx="2746648" cy="4713387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b="1" u="sng" dirty="0"/>
                  <a:t>Level 5a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/>
                  <a:t>12x + 16e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/>
                  <a:t>15b - 5t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/>
                  <a:t>9 + 3x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/>
                  <a:t>5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b="0" i="0" smtClean="0">
                        <a:latin typeface="Cambria Math"/>
                      </a:rPr>
                      <m:t>−10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/>
                      </a:rPr>
                      <m:t>y</m:t>
                    </m:r>
                  </m:oMath>
                </a14:m>
                <a:endParaRPr lang="en-GB" b="0" dirty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/>
                  <a:t>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b="0" dirty="0"/>
                  <a:t> + a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𝑑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b="0" dirty="0"/>
                  <a:t> + 3d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/>
                  <a:t>4xy + 3x</a:t>
                </a:r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b="0" dirty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dirty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dirty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b="1" u="sng" dirty="0"/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1196752"/>
                <a:ext cx="2746648" cy="4713387"/>
              </a:xfrm>
              <a:prstGeom prst="rect">
                <a:avLst/>
              </a:prstGeom>
              <a:blipFill rotWithShape="1">
                <a:blip r:embed="rId2"/>
                <a:stretch>
                  <a:fillRect l="-5765" t="-1680" b="-34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6116394" y="1196752"/>
                <a:ext cx="2848094" cy="471338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b="1" u="sng" dirty="0"/>
                  <a:t>Level 6c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/>
                  <a:t>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b="0" dirty="0"/>
                  <a:t> + a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𝑑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b="0" dirty="0"/>
                  <a:t> + 3d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/>
                  <a:t>4xy + 3x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b="0" dirty="0"/>
                  <a:t>8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b="0" dirty="0"/>
                  <a:t> + 4x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dirty="0"/>
                  <a:t>21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b="0" dirty="0"/>
                  <a:t> + 14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GB" b="0" dirty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GB" b="0" dirty="0"/>
                  <a:t>15c - 10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𝑐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GB" b="0" dirty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𝑝𝑟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 −</m:t>
                    </m:r>
                    <m:r>
                      <a:rPr lang="en-GB" b="0" i="1" smtClean="0">
                        <a:latin typeface="Cambria Math"/>
                      </a:rPr>
                      <m:t>𝑝𝑟</m:t>
                    </m:r>
                  </m:oMath>
                </a14:m>
                <a:endParaRPr lang="en-GB" b="0" dirty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b="0" dirty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b="0" dirty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dirty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dirty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GB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b="1" u="sng" dirty="0"/>
              </a:p>
            </p:txBody>
          </p:sp>
        </mc:Choice>
        <mc:Fallback xmlns=""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6394" y="1196752"/>
                <a:ext cx="2848094" cy="4713387"/>
              </a:xfrm>
              <a:prstGeom prst="rect">
                <a:avLst/>
              </a:prstGeom>
              <a:blipFill rotWithShape="1">
                <a:blip r:embed="rId3"/>
                <a:stretch>
                  <a:fillRect l="-5556" t="-16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/>
          <p:cNvSpPr/>
          <p:nvPr/>
        </p:nvSpPr>
        <p:spPr>
          <a:xfrm>
            <a:off x="1345909" y="5915454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/>
              <a:t>9</a:t>
            </a:r>
          </a:p>
        </p:txBody>
      </p:sp>
      <p:sp>
        <p:nvSpPr>
          <p:cNvPr id="7" name="Oval 6"/>
          <p:cNvSpPr/>
          <p:nvPr/>
        </p:nvSpPr>
        <p:spPr>
          <a:xfrm>
            <a:off x="516365" y="5824389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indent="-457200" algn="ctr"/>
            <a:r>
              <a:rPr lang="en-GB" sz="2800" dirty="0"/>
              <a:t>10</a:t>
            </a:r>
          </a:p>
        </p:txBody>
      </p:sp>
      <p:sp>
        <p:nvSpPr>
          <p:cNvPr id="8" name="Oval 7"/>
          <p:cNvSpPr/>
          <p:nvPr/>
        </p:nvSpPr>
        <p:spPr>
          <a:xfrm>
            <a:off x="2160351" y="5843627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/>
              <a:t>8</a:t>
            </a:r>
          </a:p>
        </p:txBody>
      </p:sp>
      <p:sp>
        <p:nvSpPr>
          <p:cNvPr id="9" name="Oval 8"/>
          <p:cNvSpPr/>
          <p:nvPr/>
        </p:nvSpPr>
        <p:spPr>
          <a:xfrm>
            <a:off x="2914983" y="6101315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/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3744527" y="5910139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/>
              <a:t>6</a:t>
            </a:r>
          </a:p>
        </p:txBody>
      </p:sp>
      <p:sp>
        <p:nvSpPr>
          <p:cNvPr id="11" name="Oval 10"/>
          <p:cNvSpPr/>
          <p:nvPr/>
        </p:nvSpPr>
        <p:spPr>
          <a:xfrm>
            <a:off x="5386711" y="6090179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/>
              <a:t>4</a:t>
            </a:r>
          </a:p>
        </p:txBody>
      </p:sp>
      <p:sp>
        <p:nvSpPr>
          <p:cNvPr id="12" name="Oval 11"/>
          <p:cNvSpPr/>
          <p:nvPr/>
        </p:nvSpPr>
        <p:spPr>
          <a:xfrm>
            <a:off x="4612544" y="5898679"/>
            <a:ext cx="800078" cy="742433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/>
              <a:t>5</a:t>
            </a:r>
          </a:p>
        </p:txBody>
      </p:sp>
      <p:sp>
        <p:nvSpPr>
          <p:cNvPr id="13" name="Oval 12"/>
          <p:cNvSpPr/>
          <p:nvPr/>
        </p:nvSpPr>
        <p:spPr>
          <a:xfrm>
            <a:off x="6216255" y="5898679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/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7128959" y="5920769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/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7932398" y="5910139"/>
            <a:ext cx="829544" cy="769776"/>
          </a:xfrm>
          <a:prstGeom prst="ellipse">
            <a:avLst/>
          </a:prstGeom>
          <a:solidFill>
            <a:schemeClr val="tx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70569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9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9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9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59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9000"/>
                            </p:stCondLst>
                            <p:childTnLst>
                              <p:par>
                                <p:cTn id="12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9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9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9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" dur="59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18000"/>
                            </p:stCondLst>
                            <p:childTnLst>
                              <p:par>
                                <p:cTn id="19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9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9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9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" dur="59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7000"/>
                            </p:stCondLst>
                            <p:childTnLst>
                              <p:par>
                                <p:cTn id="26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9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9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9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59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36000"/>
                            </p:stCondLst>
                            <p:childTnLst>
                              <p:par>
                                <p:cTn id="33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9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9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9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9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95000"/>
                            </p:stCondLst>
                            <p:childTnLst>
                              <p:par>
                                <p:cTn id="40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59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9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9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9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4000"/>
                            </p:stCondLst>
                            <p:childTnLst>
                              <p:par>
                                <p:cTn id="47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9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9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9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1" dur="59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13000"/>
                            </p:stCondLst>
                            <p:childTnLst>
                              <p:par>
                                <p:cTn id="54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9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9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9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8" dur="59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72000"/>
                            </p:stCondLst>
                            <p:childTnLst>
                              <p:par>
                                <p:cTn id="61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9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9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9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59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31000"/>
                            </p:stCondLst>
                            <p:childTnLst>
                              <p:par>
                                <p:cTn id="68" presetID="3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9" dur="59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9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9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2" dur="59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71CFE9EA-50D8-4028-BE42-DC2D813BE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41173" y="251674"/>
            <a:ext cx="8661654" cy="16459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84982" y="452842"/>
            <a:ext cx="5232654" cy="12618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200" b="1" u="sng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Extension 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A218DD6-0CC7-465B-B80F-747F97B40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044952" y="623740"/>
            <a:ext cx="0" cy="914400"/>
          </a:xfrm>
          <a:prstGeom prst="line">
            <a:avLst/>
          </a:prstGeom>
          <a:ln w="19050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7544" y="2492896"/>
            <a:ext cx="8208912" cy="1579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4905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796</TotalTime>
  <Words>712</Words>
  <Application>Microsoft Office PowerPoint</Application>
  <PresentationFormat>On-screen Show (4:3)</PresentationFormat>
  <Paragraphs>260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Cambria Math</vt:lpstr>
      <vt:lpstr>Century Gothic</vt:lpstr>
      <vt:lpstr>Wingdings</vt:lpstr>
      <vt:lpstr>Wingdings 3</vt:lpstr>
      <vt:lpstr>Office Theme</vt:lpstr>
      <vt:lpstr>Wisp</vt:lpstr>
      <vt:lpstr>Lesson objective </vt:lpstr>
      <vt:lpstr>Like terms </vt:lpstr>
      <vt:lpstr>Exercise books</vt:lpstr>
      <vt:lpstr>Answers </vt:lpstr>
      <vt:lpstr>Factors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Factorizing </vt:lpstr>
      <vt:lpstr>Individual task sheet </vt:lpstr>
      <vt:lpstr>Activity 2 – Factorise the following:</vt:lpstr>
      <vt:lpstr>Extension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Goldspink</dc:creator>
  <cp:lastModifiedBy>DAVIES Rhys [Busselton Senior High School]</cp:lastModifiedBy>
  <cp:revision>19</cp:revision>
  <dcterms:created xsi:type="dcterms:W3CDTF">2014-02-24T16:34:55Z</dcterms:created>
  <dcterms:modified xsi:type="dcterms:W3CDTF">2022-04-27T00:33:47Z</dcterms:modified>
</cp:coreProperties>
</file>
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1" r:id="rId5"/>
    <p:sldId id="269" r:id="rId6"/>
    <p:sldId id="262" r:id="rId7"/>
    <p:sldId id="270" r:id="rId8"/>
    <p:sldId id="268" r:id="rId9"/>
    <p:sldId id="263" r:id="rId10"/>
    <p:sldId id="271" r:id="rId11"/>
    <p:sldId id="265" r:id="rId12"/>
    <p:sldId id="264" r:id="rId13"/>
    <p:sldId id="266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5D-4022-A7CE-57DB85C2640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5D-4022-A7CE-57DB85C2640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5D-4022-A7CE-57DB85C2640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5D-4022-A7CE-57DB85C2640C}"/>
              </c:ext>
            </c:extLst>
          </c:dPt>
          <c:cat>
            <c:strRef>
              <c:f>Sheet1!$A$2:$A$5</c:f>
              <c:strCache>
                <c:ptCount val="4"/>
                <c:pt idx="0">
                  <c:v>Blue </c:v>
                </c:pt>
                <c:pt idx="1">
                  <c:v>Red</c:v>
                </c:pt>
                <c:pt idx="2">
                  <c:v>Grey</c:v>
                </c:pt>
                <c:pt idx="3">
                  <c:v>Yellow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B5-4FDB-A92B-BC77348F43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9177-CCB3-4905-9F22-949A7A0AC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C4888-454C-46D5-8B16-34D676430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740E-9DC3-45D1-B664-D5DB651A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F1B5A-CB3F-48B1-B6C8-E6862F9B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21163-037C-408F-868F-6887B1EF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0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900A-053E-496C-A4F7-332CA7BF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CA5F-62FA-43C9-9D82-5DBB50295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FB9A4-D1CE-4148-B94A-3DF7CEC8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02238-1A42-420F-BAD6-7F4B1538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F8EA-B02E-478D-8A3D-337CD482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78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C149-CACA-4831-A446-912E10D5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FF905-D502-46B8-8F69-CF7599B48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438DA-69EE-4221-B3A6-D9C6D863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6B8F7-F281-4385-8BB7-507E4B9B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E2829-00FE-4C3C-9916-5A51560D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08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3B68-D050-45E2-9D99-9D73BFB9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06A18-7298-43EE-9D64-40B196F39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03BE5-9217-4913-8566-E3D21C68B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DCD40-7AF4-4B85-81BB-14EF9ED6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A345E-6DB5-4C4B-8B41-EBF9886F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C3794-246E-41FF-8864-D6959F07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326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5530-1E77-49B3-B6FE-A20974F3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79E48-643C-4CEB-B7D4-BBA9C1E7E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6D2E7-8267-4B46-A82E-A430619F1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04065-0C00-49BE-9360-7FBDF1280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6DB7F-58D1-4098-B0FF-07CD7D970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9D38F-3377-448C-BA04-EBA127D9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6CFE9-4AC2-4D3B-AD9F-EF6AA82E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3B813-2DC7-48FB-8D06-CE95DC4B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718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129D-B8F3-43B2-A988-25C7B004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E163F-D6C5-45DD-8C46-68A12360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9D7DD-6B11-4A13-AF35-396234B0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C9A1D-FB08-434A-ACF1-74A9DAAF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51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09259-3307-4DCB-B32F-FC8504BF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22474-2238-4F5A-A6C6-D9E7E0CA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E8821-6C16-4174-A4B2-9C7A8880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65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7725-4047-4A19-9EDF-AD048771F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ADAE-C99C-4B39-9EA3-1FB932A4A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0694F-F3FC-4AB5-AA45-F464F3E4B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861F8-D740-490E-ACA0-3AE968690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31586-7C9A-42EE-9BB6-D6EFD2D0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9077E-2C41-4F78-A37A-4D6F2C77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001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0322-FCAB-49A5-9CA7-B235A304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13DCB-328A-42C3-AE6B-728D0B0D3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7B49A-827C-4769-9AA4-95AFB969B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87520-C85D-498F-A0A9-A1608748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41079-B7E6-4DC0-BE4F-0C97EB10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6AB4F-3D2E-415F-86C7-11218A62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10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E296-378F-48A9-898C-6BC800C3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CACB7-21DB-4A4B-A480-4BBAAD37E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7C897-8783-4553-9FC2-BBA35AB2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FB192-9A3C-408E-B99B-6196AA64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B22A0-8A4B-49BF-8DB7-2857B07F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30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A96BE5-1D76-42DC-AC3C-D5094C1BC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82F56-8216-4351-9AC4-4DB87FD83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E3C9C-6651-4B7B-ABD7-ABE5B5E9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79FAE-ED6B-4F5F-A831-D521A5CB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68BED-BB97-46B8-9CB2-06A95CBA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077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B986F-AA61-47D1-A4F6-E3E0CF61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A33D1-EC0D-473D-83F2-58AA67DA5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B9A44-41A8-41CD-93EF-DE61013C5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90877-852C-49FF-A01E-0C39971D8507}" type="datetimeFigureOut">
              <a:rPr lang="en-AU" smtClean="0"/>
              <a:t>24/05/2022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66A52-4636-4995-B94F-09E3A7CAC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81A31-48BA-4BD8-94B8-CE3D09EA6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88C62-CF90-4D92-A267-179524EED9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07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80A8A5-3CEA-4A3D-A43F-01D88368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FB056C-48B3-4C7B-8B57-254F6A63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Probability Terminology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 -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Describe and state sample space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State the complement of an event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73D28C-C1CF-4B2F-93F7-2EDEC37EF28F}"/>
              </a:ext>
            </a:extLst>
          </p:cNvPr>
          <p:cNvSpPr txBox="1"/>
          <p:nvPr/>
        </p:nvSpPr>
        <p:spPr>
          <a:xfrm>
            <a:off x="8069802" y="1825625"/>
            <a:ext cx="2627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47343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F382-77A9-4974-B4E7-6B9FA239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C2470-6FDD-43F5-825C-D86177BE27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dirty="0"/>
              <a:t>Theoretical </a:t>
            </a:r>
          </a:p>
          <a:p>
            <a:pPr marL="0" indent="0">
              <a:buNone/>
            </a:pPr>
            <a:r>
              <a:rPr lang="en-AU" dirty="0"/>
              <a:t>What is the probability of spinning a blue?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the probability that the next spin won’t be blue?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D97BD00-4DFB-473F-B5F9-51DE1A1292A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7028602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238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3B2162-3122-47E3-B679-C31EA83E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E0B1D-C618-43E0-BA73-1E2AB916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</a:rPr>
              <a:t>Sample space</a:t>
            </a:r>
          </a:p>
          <a:p>
            <a:pPr>
              <a:buFontTx/>
              <a:buChar char="-"/>
            </a:pPr>
            <a:r>
              <a:rPr lang="en-US" sz="4000" dirty="0">
                <a:solidFill>
                  <a:srgbClr val="FF0000"/>
                </a:solidFill>
              </a:rPr>
              <a:t>A List of ALL possible outcomes </a:t>
            </a:r>
          </a:p>
          <a:p>
            <a:pPr>
              <a:buFontTx/>
              <a:buChar char="-"/>
            </a:pPr>
            <a:endParaRPr lang="en-US" sz="4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</a:rPr>
              <a:t>Complement of an event </a:t>
            </a:r>
          </a:p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</a:rPr>
              <a:t>- The opposite of something happening </a:t>
            </a:r>
          </a:p>
        </p:txBody>
      </p:sp>
    </p:spTree>
    <p:extLst>
      <p:ext uri="{BB962C8B-B14F-4D97-AF65-F5344CB8AC3E}">
        <p14:creationId xmlns:p14="http://schemas.microsoft.com/office/powerpoint/2010/main" val="3938570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E8AF-DAE0-456F-B789-2B0073D2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ALGEBRA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D8153-4AA6-438B-AAC0-22654F542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E9109F-FEC3-41AC-AA3D-A921D3DADA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AU" dirty="0"/>
                  <a:t>Sample space: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𝑣𝑜𝑤𝑒𝑙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𝑣𝑜𝑤𝑒𝑙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E9109F-FEC3-41AC-AA3D-A921D3DAD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82" t="-3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25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E8AF-DAE0-456F-B789-2B0073D2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Word is: RAINBOW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D8153-4AA6-438B-AAC0-22654F542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E9109F-FEC3-41AC-AA3D-A921D3DADA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/>
                  <a:t>Sample space: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𝑣𝑜𝑤𝑒𝑙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𝑣𝑜𝑤𝑒𝑙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E9109F-FEC3-41AC-AA3D-A921D3DAD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82" t="-28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3A5DBD7-CE81-408D-9496-A29F21AD46F0}"/>
              </a:ext>
            </a:extLst>
          </p:cNvPr>
          <p:cNvSpPr txBox="1"/>
          <p:nvPr/>
        </p:nvSpPr>
        <p:spPr>
          <a:xfrm>
            <a:off x="10138299" y="284085"/>
            <a:ext cx="1580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We do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1462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5BA2-7E7B-460B-A2FF-74DCECF7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word PRINCE (on whiteboards)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7FB83E-82F3-41D9-BFC3-F04E959E7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Write the sample space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the probability of selecting the letter R?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P(vowel)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P(not a vowel) </a:t>
            </a:r>
          </a:p>
        </p:txBody>
      </p:sp>
    </p:spTree>
    <p:extLst>
      <p:ext uri="{BB962C8B-B14F-4D97-AF65-F5344CB8AC3E}">
        <p14:creationId xmlns:p14="http://schemas.microsoft.com/office/powerpoint/2010/main" val="268874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7FB83E-82F3-41D9-BFC3-F04E959E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114301"/>
            <a:ext cx="4559425" cy="619579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3200" b="1" dirty="0"/>
              <a:t>Write the sample space 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What is the probability of yellow?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P(green or blue)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P(not blue)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pinner | Teaching Tools | Toy Theater Educational Games">
            <a:extLst>
              <a:ext uri="{FF2B5EF4-FFF2-40B4-BE49-F238E27FC236}">
                <a16:creationId xmlns:a16="http://schemas.microsoft.com/office/drawing/2014/main" id="{AF400F3A-E241-4494-A259-B46B843F1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" b="2287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56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6135-3FB1-4EBD-AA07-B2C72D29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Complementary events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9004-C2E5-4CCF-8495-AD5075CA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special notation.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rolling a 6-sided die.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P(4) = </a:t>
            </a:r>
          </a:p>
          <a:p>
            <a:pPr marL="0" indent="0">
              <a:buNone/>
            </a:pPr>
            <a:r>
              <a:rPr lang="en-US" dirty="0"/>
              <a:t>P(4’) = </a:t>
            </a:r>
          </a:p>
          <a:p>
            <a:pPr marL="0" indent="0" algn="ctr">
              <a:buNone/>
            </a:pPr>
            <a:r>
              <a:rPr lang="en-US" sz="4000" dirty="0">
                <a:solidFill>
                  <a:srgbClr val="FF0000"/>
                </a:solidFill>
              </a:rPr>
              <a:t>If it has a hat, it is the opposite.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9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52D1-62A5-4116-B64F-ECA365F6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06E5-9848-43BD-B371-FC6E06961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Open textbook to page 370 and complete questions 7 </a:t>
            </a:r>
            <a:r>
              <a:rPr lang="en-AU" dirty="0">
                <a:sym typeface="Wingdings" panose="05000000000000000000" pitchFamily="2" charset="2"/>
              </a:rPr>
              <a:t> 13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114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7C11-FDD2-459A-A04B-44FCF1C6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50DD-AA4F-426A-A83C-766F53374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List of ALL possible outcomes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Complement of an event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opposite of something happening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4000" dirty="0">
                <a:solidFill>
                  <a:srgbClr val="FF0000"/>
                </a:solidFill>
                <a:latin typeface="Calibri" panose="020F0502020204030204"/>
              </a:rPr>
              <a:t>	- has a h___ on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2E2F8E-6FCF-4999-B4E9-88CDF96FF825}"/>
              </a:ext>
            </a:extLst>
          </p:cNvPr>
          <p:cNvSpPr/>
          <p:nvPr/>
        </p:nvSpPr>
        <p:spPr>
          <a:xfrm>
            <a:off x="3737499" y="2521259"/>
            <a:ext cx="3861786" cy="577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939E6-5E58-4FAD-B2DF-25D93A9FACED}"/>
              </a:ext>
            </a:extLst>
          </p:cNvPr>
          <p:cNvSpPr/>
          <p:nvPr/>
        </p:nvSpPr>
        <p:spPr>
          <a:xfrm>
            <a:off x="951390" y="3841313"/>
            <a:ext cx="2706210" cy="577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2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0415-B1FB-4466-A3BB-C20E419B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Venn diagrams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61BB-A993-4A8C-AAE7-72D1DD208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When two events are being considered a Venn diagram gives another way to view the probabilities. They are especially useful when survey results are being considered and converted into probabilities.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For example eye colour.</a:t>
            </a:r>
          </a:p>
        </p:txBody>
      </p:sp>
    </p:spTree>
    <p:extLst>
      <p:ext uri="{BB962C8B-B14F-4D97-AF65-F5344CB8AC3E}">
        <p14:creationId xmlns:p14="http://schemas.microsoft.com/office/powerpoint/2010/main" val="2609080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5767-7501-43FB-A85A-F5F6C3C8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Venn diagram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77ED5F-9AD9-48BF-A714-6170761F63F9}"/>
              </a:ext>
            </a:extLst>
          </p:cNvPr>
          <p:cNvSpPr/>
          <p:nvPr/>
        </p:nvSpPr>
        <p:spPr>
          <a:xfrm>
            <a:off x="1452979" y="226380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F8159-4B82-4300-A724-C6522FD8D51C}"/>
              </a:ext>
            </a:extLst>
          </p:cNvPr>
          <p:cNvSpPr/>
          <p:nvPr/>
        </p:nvSpPr>
        <p:spPr>
          <a:xfrm>
            <a:off x="5467165" y="2170083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20AFB-52DE-4EDC-9F76-3F6A795B0570}"/>
              </a:ext>
            </a:extLst>
          </p:cNvPr>
          <p:cNvSpPr txBox="1"/>
          <p:nvPr/>
        </p:nvSpPr>
        <p:spPr>
          <a:xfrm>
            <a:off x="3606291" y="2352583"/>
            <a:ext cx="107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Blue eyes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8DF30-556E-4F67-A90C-EFE8CE4DD23C}"/>
              </a:ext>
            </a:extLst>
          </p:cNvPr>
          <p:cNvSpPr txBox="1"/>
          <p:nvPr/>
        </p:nvSpPr>
        <p:spPr>
          <a:xfrm>
            <a:off x="7766696" y="2263805"/>
            <a:ext cx="12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Brown hair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1E5BE-4500-4A0E-9432-3D16A339512F}"/>
              </a:ext>
            </a:extLst>
          </p:cNvPr>
          <p:cNvSpPr txBox="1"/>
          <p:nvPr/>
        </p:nvSpPr>
        <p:spPr>
          <a:xfrm>
            <a:off x="5722532" y="3244334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both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8EFA5-E445-4FE1-AB5D-86B9CA08EC9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CAEE4-694A-480B-A11D-C06C466A6B43}"/>
              </a:ext>
            </a:extLst>
          </p:cNvPr>
          <p:cNvSpPr txBox="1"/>
          <p:nvPr/>
        </p:nvSpPr>
        <p:spPr>
          <a:xfrm>
            <a:off x="284843" y="1060373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99769-EF2C-4BD2-9AAA-9D8EA2CEC79E}"/>
              </a:ext>
            </a:extLst>
          </p:cNvPr>
          <p:cNvSpPr txBox="1"/>
          <p:nvPr/>
        </p:nvSpPr>
        <p:spPr>
          <a:xfrm>
            <a:off x="9816618" y="633240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Neither: </a:t>
            </a:r>
          </a:p>
        </p:txBody>
      </p:sp>
    </p:spTree>
    <p:extLst>
      <p:ext uri="{BB962C8B-B14F-4D97-AF65-F5344CB8AC3E}">
        <p14:creationId xmlns:p14="http://schemas.microsoft.com/office/powerpoint/2010/main" val="375228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5460-395A-4378-BFB9-368860DD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Class reading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8629-10E1-4149-837B-F1BE83500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Read key ideas from page 373 AND </a:t>
            </a:r>
            <a:r>
              <a:rPr lang="en-AU" dirty="0">
                <a:highlight>
                  <a:srgbClr val="FF0000"/>
                </a:highlight>
              </a:rPr>
              <a:t>“Example 13” </a:t>
            </a:r>
          </a:p>
          <a:p>
            <a:pPr marL="0" indent="0">
              <a:buNone/>
            </a:pPr>
            <a:endParaRPr lang="en-AU" dirty="0">
              <a:highlight>
                <a:srgbClr val="FF0000"/>
              </a:highlight>
            </a:endParaRPr>
          </a:p>
          <a:p>
            <a:pPr marL="0" indent="0">
              <a:buNone/>
            </a:pPr>
            <a:r>
              <a:rPr lang="en-AU" dirty="0"/>
              <a:t>Questions to come in 4 minutes (a – f)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Begin </a:t>
            </a:r>
            <a:r>
              <a:rPr lang="en-AU"/>
              <a:t>Questions 1 </a:t>
            </a:r>
            <a:r>
              <a:rPr lang="en-AU">
                <a:sym typeface="Wingdings" panose="05000000000000000000" pitchFamily="2" charset="2"/>
              </a:rPr>
              <a:t> 5</a:t>
            </a:r>
            <a:r>
              <a:rPr lang="en-AU"/>
              <a:t> </a:t>
            </a:r>
            <a:r>
              <a:rPr lang="en-AU" dirty="0"/>
              <a:t>on page 374</a:t>
            </a:r>
          </a:p>
        </p:txBody>
      </p:sp>
    </p:spTree>
    <p:extLst>
      <p:ext uri="{BB962C8B-B14F-4D97-AF65-F5344CB8AC3E}">
        <p14:creationId xmlns:p14="http://schemas.microsoft.com/office/powerpoint/2010/main" val="3401208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56DA-9B93-40FD-80AD-A7DB9A5B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EEE2-3664-4DEF-97EB-BD9B623CB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Aim - be able to: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Describe and state sample space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State the complement of an event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2179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336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Choral response </vt:lpstr>
      <vt:lpstr>ALGEBRA</vt:lpstr>
      <vt:lpstr>Word is: RAINBOW </vt:lpstr>
      <vt:lpstr>The word PRINCE (on whiteboards)</vt:lpstr>
      <vt:lpstr>PowerPoint Presentation</vt:lpstr>
      <vt:lpstr>Complementary events </vt:lpstr>
      <vt:lpstr>Individual practice </vt:lpstr>
      <vt:lpstr>Review </vt:lpstr>
      <vt:lpstr>Venn diagrams </vt:lpstr>
      <vt:lpstr>Venn diagram </vt:lpstr>
      <vt:lpstr>Class reading </vt:lpstr>
      <vt:lpstr>Reflection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17</cp:revision>
  <dcterms:created xsi:type="dcterms:W3CDTF">2021-05-24T02:16:04Z</dcterms:created>
  <dcterms:modified xsi:type="dcterms:W3CDTF">2022-05-24T03:19:10Z</dcterms:modified>
</cp:coreProperties>
</file>
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65" r:id="rId2"/>
    <p:sldId id="267" r:id="rId3"/>
    <p:sldId id="268" r:id="rId4"/>
    <p:sldId id="280" r:id="rId5"/>
    <p:sldId id="270" r:id="rId6"/>
    <p:sldId id="271" r:id="rId7"/>
    <p:sldId id="295" r:id="rId8"/>
    <p:sldId id="286" r:id="rId9"/>
    <p:sldId id="287" r:id="rId10"/>
    <p:sldId id="288" r:id="rId11"/>
    <p:sldId id="289" r:id="rId12"/>
    <p:sldId id="290" r:id="rId13"/>
    <p:sldId id="273" r:id="rId14"/>
    <p:sldId id="274" r:id="rId15"/>
    <p:sldId id="275" r:id="rId16"/>
    <p:sldId id="276" r:id="rId17"/>
    <p:sldId id="277" r:id="rId18"/>
    <p:sldId id="278" r:id="rId19"/>
    <p:sldId id="266" r:id="rId20"/>
    <p:sldId id="256" r:id="rId21"/>
    <p:sldId id="259" r:id="rId22"/>
    <p:sldId id="260" r:id="rId23"/>
    <p:sldId id="258" r:id="rId24"/>
    <p:sldId id="261" r:id="rId25"/>
    <p:sldId id="264" r:id="rId26"/>
  </p:sldIdLst>
  <p:sldSz cx="6858000" cy="9144000" type="screen4x3"/>
  <p:notesSz cx="6794500" cy="9931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1007" autoAdjust="0"/>
  </p:normalViewPr>
  <p:slideViewPr>
    <p:cSldViewPr>
      <p:cViewPr varScale="1">
        <p:scale>
          <a:sx n="59" d="100"/>
          <a:sy n="59" d="100"/>
        </p:scale>
        <p:origin x="2256" y="3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217" y="0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830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217" y="9434830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B77189A-B0EE-4BA1-B712-E533E5CCA7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57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4" y="0"/>
            <a:ext cx="2944283" cy="496570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DE61515D-4FA0-4698-B6C6-F9ADCC23BD2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01838" y="746125"/>
            <a:ext cx="279082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6570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4" y="9433107"/>
            <a:ext cx="2944283" cy="496570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B7C2E43B-801A-439A-AF87-0AFFEBAB7F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4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28033" indent="-280013"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20050" indent="-224010"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68070" indent="-224010"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16091" indent="-224010"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64111" indent="-224010" defTabSz="9224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12131" indent="-224010" defTabSz="9224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60151" indent="-224010" defTabSz="9224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08171" indent="-224010" defTabSz="9224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3A35BAA-9F47-46AB-94EF-0040D3966200}" type="slidenum">
              <a:rPr lang="en-US" smtClean="0">
                <a:latin typeface="Calibri" pitchFamily="34" charset="0"/>
              </a:rPr>
              <a:pPr eaLnBrk="1" hangingPunct="1"/>
              <a:t>24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28033" indent="-280013"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20050" indent="-224010"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68070" indent="-224010"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16091" indent="-224010" defTabSz="92248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64111" indent="-224010" defTabSz="9224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12131" indent="-224010" defTabSz="9224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60151" indent="-224010" defTabSz="9224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08171" indent="-224010" defTabSz="9224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3A35BAA-9F47-46AB-94EF-0040D3966200}" type="slidenum">
              <a:rPr lang="en-US" smtClean="0">
                <a:latin typeface="Calibri" pitchFamily="34" charset="0"/>
              </a:rPr>
              <a:pPr eaLnBrk="1" hangingPunct="1"/>
              <a:t>25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DE6A8-2143-4FE6-87F6-31A9EC208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93AA7-58EB-4C3B-9C87-2E39CDA6A1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8BF3A-98F0-47A6-8065-5FC328026E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832F9-4935-4ECC-AFE0-7F1B390871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1F4526-3C1A-4D44-AB2C-BF22397752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43E19-292F-481E-AD0D-9CD463B244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EB3EC1-7513-4167-90FE-3BC9708F14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A619E1-759A-4DE0-AFDF-C5556DB055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FE4DC-C29F-466F-A83A-248A81CEF0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D9D76-5CE1-449E-8328-36850DCB8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57621-EF7F-4182-A7E5-99DB768497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544CEE-F475-497E-87E9-463546CF05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70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0" y="152400"/>
            <a:ext cx="43243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Showcard Gothic" pitchFamily="82" charset="0"/>
              </a:rPr>
              <a:t>Today’s Lesson:</a:t>
            </a:r>
          </a:p>
        </p:txBody>
      </p:sp>
      <p:pic>
        <p:nvPicPr>
          <p:cNvPr id="8" name="Picture 7" descr="tootsie pop ow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62200" y="6629400"/>
            <a:ext cx="1851656" cy="20574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AD8AE4-B7A3-4E1E-8CD1-66FE363A20A4}"/>
              </a:ext>
            </a:extLst>
          </p:cNvPr>
          <p:cNvSpPr txBox="1"/>
          <p:nvPr/>
        </p:nvSpPr>
        <p:spPr>
          <a:xfrm>
            <a:off x="0" y="1828800"/>
            <a:ext cx="6858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en-US" b="1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What:     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Showcard Gothic" pitchFamily="82" charset="0"/>
                <a:ea typeface="Cambria Math" pitchFamily="18" charset="0"/>
              </a:rPr>
              <a:t>probability of simple events</a:t>
            </a:r>
            <a:endParaRPr lang="en-US" b="1" dirty="0">
              <a:solidFill>
                <a:srgbClr val="00B0F0"/>
              </a:solidFill>
              <a:latin typeface="Cambria Math" pitchFamily="18" charset="0"/>
              <a:ea typeface="Cambria Math" pitchFamily="18" charset="0"/>
            </a:endParaRPr>
          </a:p>
          <a:p>
            <a:pPr algn="l">
              <a:defRPr/>
            </a:pPr>
            <a:endParaRPr lang="en-US" b="1" dirty="0">
              <a:solidFill>
                <a:schemeClr val="tx1"/>
              </a:solidFill>
              <a:latin typeface="Cambria Math" pitchFamily="18" charset="0"/>
              <a:ea typeface="Cambria Math" pitchFamily="18" charset="0"/>
            </a:endParaRPr>
          </a:p>
          <a:p>
            <a:pPr algn="l">
              <a:defRPr/>
            </a:pPr>
            <a:r>
              <a:rPr lang="en-US" b="1" dirty="0">
                <a:solidFill>
                  <a:srgbClr val="00B0F0"/>
                </a:solidFill>
                <a:latin typeface="Cambria Math" pitchFamily="18" charset="0"/>
                <a:ea typeface="Cambria Math" pitchFamily="18" charset="0"/>
              </a:rPr>
              <a:t>Aim:     </a:t>
            </a:r>
          </a:p>
          <a:p>
            <a:pPr marL="342900" indent="-342900" algn="l">
              <a:buFontTx/>
              <a:buChar char="-"/>
              <a:defRPr/>
            </a:pPr>
            <a:r>
              <a:rPr lang="en-US" b="1" dirty="0">
                <a:solidFill>
                  <a:srgbClr val="00B0F0"/>
                </a:solidFill>
                <a:latin typeface="Cambria Math" pitchFamily="18" charset="0"/>
                <a:ea typeface="Cambria Math" pitchFamily="18" charset="0"/>
              </a:rPr>
              <a:t>C</a:t>
            </a:r>
            <a:r>
              <a:rPr lang="en-US" b="1" dirty="0">
                <a:solidFill>
                  <a:srgbClr val="00B0F0"/>
                </a:solidFill>
                <a:latin typeface="Comic Sans MS" pitchFamily="66" charset="0"/>
              </a:rPr>
              <a:t>alculate the probability of simple events</a:t>
            </a:r>
          </a:p>
          <a:p>
            <a:pPr marL="342900" indent="-342900" algn="l">
              <a:buFontTx/>
              <a:buChar char="-"/>
              <a:defRPr/>
            </a:pPr>
            <a:r>
              <a:rPr lang="en-US" b="1" dirty="0">
                <a:solidFill>
                  <a:srgbClr val="00B0F0"/>
                </a:solidFill>
                <a:latin typeface="Comic Sans MS" pitchFamily="66" charset="0"/>
              </a:rPr>
              <a:t>Compare theoretical probability and experimental probability.</a:t>
            </a:r>
            <a:endParaRPr lang="en-US" dirty="0">
              <a:solidFill>
                <a:srgbClr val="00B0F0"/>
              </a:solidFill>
              <a:latin typeface="Cambria Math" pitchFamily="18" charset="0"/>
              <a:ea typeface="Cambria Math" pitchFamily="18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865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52400" y="228600"/>
            <a:ext cx="6553200" cy="67403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b="1" dirty="0">
                <a:solidFill>
                  <a:schemeClr val="accent2"/>
                </a:solidFill>
                <a:latin typeface="Showcard Gothic" pitchFamily="82" charset="0"/>
                <a:ea typeface="Cambria Math" pitchFamily="18" charset="0"/>
              </a:rPr>
              <a:t>Vocabulary:</a:t>
            </a:r>
            <a:r>
              <a:rPr lang="en-US" dirty="0">
                <a:solidFill>
                  <a:schemeClr val="accent2"/>
                </a:solidFill>
                <a:latin typeface="Showcard Gothic" pitchFamily="82" charset="0"/>
                <a:ea typeface="Cambria Math" pitchFamily="18" charset="0"/>
              </a:rPr>
              <a:t> </a:t>
            </a: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r>
              <a:rPr lang="en-US" b="1" dirty="0">
                <a:latin typeface="Cambria Math" pitchFamily="18" charset="0"/>
                <a:ea typeface="Cambria Math" pitchFamily="18" charset="0"/>
              </a:rPr>
              <a:t>Probability–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expressed as a ratio describing the # of ___________________ outcomes to the # of _______________ outcomes.  Probability is measured on a scale from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0 – 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 algn="l"/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pPr algn="l"/>
            <a:r>
              <a:rPr lang="en-US" b="1" dirty="0">
                <a:latin typeface="Cambria Math" pitchFamily="18" charset="0"/>
                <a:ea typeface="Cambria Math" pitchFamily="18" charset="0"/>
              </a:rPr>
              <a:t>Theoretical Probability–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the  probability, based on ______________________, that an event  will occur (what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should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happen).</a:t>
            </a:r>
          </a:p>
          <a:p>
            <a:pPr algn="l"/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pPr algn="l"/>
            <a:r>
              <a:rPr lang="en-US" b="1" dirty="0">
                <a:latin typeface="Cambria Math" pitchFamily="18" charset="0"/>
                <a:ea typeface="Cambria Math" pitchFamily="18" charset="0"/>
              </a:rPr>
              <a:t>Experimental Probability–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found using outcomes obtained in an actual _________________ or game (what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actually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happens).</a:t>
            </a:r>
          </a:p>
          <a:p>
            <a:pPr algn="l"/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endParaRPr lang="en-US" b="1" dirty="0">
              <a:latin typeface="Cambria Math" pitchFamily="18" charset="0"/>
              <a:ea typeface="Cambria Math" pitchFamily="18" charset="0"/>
            </a:endParaRPr>
          </a:p>
          <a:p>
            <a:r>
              <a:rPr lang="en-US" b="1" dirty="0">
                <a:latin typeface="Cambria Math" pitchFamily="18" charset="0"/>
                <a:ea typeface="Cambria Math" pitchFamily="18" charset="0"/>
              </a:rPr>
              <a:t>What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SHOULD happen v. What ACTUALLY happens!</a:t>
            </a:r>
            <a:endParaRPr lang="en-US" b="1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4" name="Picture 3" descr="coin fli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52700" y="7223714"/>
            <a:ext cx="1752600" cy="1752600"/>
          </a:xfrm>
          <a:prstGeom prst="rect">
            <a:avLst/>
          </a:prstGeom>
          <a:ln>
            <a:noFill/>
          </a:ln>
        </p:spPr>
      </p:pic>
      <p:pic>
        <p:nvPicPr>
          <p:cNvPr id="5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56343" y="7507952"/>
            <a:ext cx="1692689" cy="765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ard suit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3400" y="7315200"/>
            <a:ext cx="1002104" cy="1388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9960" y="1315278"/>
            <a:ext cx="1540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favorable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385" y="1696278"/>
            <a:ext cx="845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757" y="3139613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5054" y="4611756"/>
            <a:ext cx="1857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experiment</a:t>
            </a:r>
          </a:p>
        </p:txBody>
      </p:sp>
    </p:spTree>
    <p:extLst>
      <p:ext uri="{BB962C8B-B14F-4D97-AF65-F5344CB8AC3E}">
        <p14:creationId xmlns:p14="http://schemas.microsoft.com/office/powerpoint/2010/main" val="149615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2764" y="152400"/>
            <a:ext cx="6694329" cy="2565611"/>
            <a:chOff x="26564" y="3127177"/>
            <a:chExt cx="6694329" cy="2565611"/>
          </a:xfrm>
        </p:grpSpPr>
        <p:cxnSp>
          <p:nvCxnSpPr>
            <p:cNvPr id="3" name="Straight Connector 2"/>
            <p:cNvCxnSpPr/>
            <p:nvPr/>
          </p:nvCxnSpPr>
          <p:spPr bwMode="auto">
            <a:xfrm rot="5400000">
              <a:off x="3200400" y="4191000"/>
              <a:ext cx="3048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" name="Group 3"/>
            <p:cNvGrpSpPr/>
            <p:nvPr/>
          </p:nvGrpSpPr>
          <p:grpSpPr>
            <a:xfrm>
              <a:off x="26564" y="3127177"/>
              <a:ext cx="6694329" cy="2565611"/>
              <a:chOff x="26564" y="3127177"/>
              <a:chExt cx="6694329" cy="2565611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26564" y="3127177"/>
                <a:ext cx="6694329" cy="2565611"/>
                <a:chOff x="-125836" y="3127177"/>
                <a:chExt cx="6694329" cy="2565611"/>
              </a:xfrm>
            </p:grpSpPr>
            <p:grpSp>
              <p:nvGrpSpPr>
                <p:cNvPr id="8" name="Group 7"/>
                <p:cNvGrpSpPr/>
                <p:nvPr/>
              </p:nvGrpSpPr>
              <p:grpSpPr>
                <a:xfrm>
                  <a:off x="457200" y="4038600"/>
                  <a:ext cx="5638800" cy="304800"/>
                  <a:chOff x="457200" y="4267200"/>
                  <a:chExt cx="5638800" cy="304800"/>
                </a:xfrm>
              </p:grpSpPr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457200" y="4267200"/>
                    <a:ext cx="5638800" cy="304800"/>
                    <a:chOff x="457200" y="3886200"/>
                    <a:chExt cx="5638800" cy="304800"/>
                  </a:xfrm>
                </p:grpSpPr>
                <p:cxnSp>
                  <p:nvCxnSpPr>
                    <p:cNvPr id="20" name="Straight Connector 19"/>
                    <p:cNvCxnSpPr/>
                    <p:nvPr/>
                  </p:nvCxnSpPr>
                  <p:spPr bwMode="auto">
                    <a:xfrm rot="5400000">
                      <a:off x="304800" y="4038600"/>
                      <a:ext cx="304800" cy="0"/>
                    </a:xfrm>
                    <a:prstGeom prst="line">
                      <a:avLst/>
                    </a:prstGeom>
                    <a:noFill/>
                    <a:ln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21" name="Straight Connector 20"/>
                    <p:cNvCxnSpPr/>
                    <p:nvPr/>
                  </p:nvCxnSpPr>
                  <p:spPr bwMode="auto">
                    <a:xfrm>
                      <a:off x="457200" y="4038600"/>
                      <a:ext cx="5638800" cy="0"/>
                    </a:xfrm>
                    <a:prstGeom prst="line">
                      <a:avLst/>
                    </a:prstGeom>
                    <a:noFill/>
                    <a:ln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cxnSp>
                <p:nvCxnSpPr>
                  <p:cNvPr id="19" name="Straight Connector 18"/>
                  <p:cNvCxnSpPr/>
                  <p:nvPr/>
                </p:nvCxnSpPr>
                <p:spPr bwMode="auto">
                  <a:xfrm rot="5400000">
                    <a:off x="5943600" y="4419600"/>
                    <a:ext cx="304800" cy="0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-125836" y="3660577"/>
                  <a:ext cx="127150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latin typeface="Socket" pitchFamily="2" charset="0"/>
                    </a:rPr>
                    <a:t>Impossible</a:t>
                  </a: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1374108" y="5169568"/>
                  <a:ext cx="104708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latin typeface="Socket" pitchFamily="2" charset="0"/>
                    </a:rPr>
                    <a:t>Unlikely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2730265" y="3127177"/>
                  <a:ext cx="939681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latin typeface="Socket" pitchFamily="2" charset="0"/>
                    </a:rPr>
                    <a:t>Equally</a:t>
                  </a:r>
                </a:p>
                <a:p>
                  <a:r>
                    <a:rPr lang="en-US" sz="2800" b="1" dirty="0">
                      <a:latin typeface="Socket" pitchFamily="2" charset="0"/>
                    </a:rPr>
                    <a:t>Likely</a:t>
                  </a: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5624003" y="3660577"/>
                  <a:ext cx="94449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latin typeface="Socket" pitchFamily="2" charset="0"/>
                    </a:rPr>
                    <a:t>Certain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4319673" y="5140461"/>
                  <a:ext cx="79861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latin typeface="Socket" pitchFamily="2" charset="0"/>
                    </a:rPr>
                    <a:t>Likely</a:t>
                  </a:r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 bwMode="auto">
                <a:xfrm>
                  <a:off x="457200" y="4318000"/>
                  <a:ext cx="994665" cy="916633"/>
                </a:xfrm>
                <a:prstGeom prst="lin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" name="Straight Connector 14"/>
                <p:cNvCxnSpPr/>
                <p:nvPr/>
              </p:nvCxnSpPr>
              <p:spPr bwMode="auto">
                <a:xfrm flipH="1">
                  <a:off x="2324716" y="4343400"/>
                  <a:ext cx="854266" cy="916633"/>
                </a:xfrm>
                <a:prstGeom prst="lin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" name="Straight Connector 15"/>
                <p:cNvCxnSpPr/>
                <p:nvPr/>
              </p:nvCxnSpPr>
              <p:spPr bwMode="auto">
                <a:xfrm flipH="1">
                  <a:off x="5008166" y="4244776"/>
                  <a:ext cx="1087834" cy="916634"/>
                </a:xfrm>
                <a:prstGeom prst="lin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" name="Straight Connector 16"/>
                <p:cNvCxnSpPr>
                  <a:stCxn id="5" idx="0"/>
                </p:cNvCxnSpPr>
                <p:nvPr/>
              </p:nvCxnSpPr>
              <p:spPr bwMode="auto">
                <a:xfrm>
                  <a:off x="3229782" y="4327358"/>
                  <a:ext cx="1153374" cy="8396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7" name="TextBox 6"/>
              <p:cNvSpPr txBox="1"/>
              <p:nvPr/>
            </p:nvSpPr>
            <p:spPr>
              <a:xfrm>
                <a:off x="306312" y="4267200"/>
                <a:ext cx="3032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Socket" pitchFamily="2" charset="0"/>
                  </a:rPr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192867" y="4327358"/>
                  <a:ext cx="378630" cy="6109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800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n-US" sz="1800" b="1" dirty="0">
                    <a:latin typeface="Socket" pitchFamily="2" charset="0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2867" y="4327358"/>
                  <a:ext cx="378630" cy="610936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/>
          <p:cNvSpPr txBox="1"/>
          <p:nvPr/>
        </p:nvSpPr>
        <p:spPr>
          <a:xfrm>
            <a:off x="0" y="2667000"/>
            <a:ext cx="6797092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ocket" pitchFamily="2" charset="0"/>
              </a:rPr>
              <a:t>Where would the following fall on the above Number Line???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Your parents will win a lottery jackpot this year.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Food will be served for lunch.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The sun will rise tomorrow.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You will have 2 birthdays this year.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You will see a cat this evening.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6)   You will roll a “2” on a standard number cube.</a:t>
            </a:r>
          </a:p>
          <a:p>
            <a:pPr marL="457200" indent="-457200" algn="l">
              <a:buAutoNum type="arabicParenR" startAt="7"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On your way to school, you will see a live woolly  mammoth.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8)   You will see a wild, living black bear tomorrow.</a:t>
            </a:r>
          </a:p>
          <a:p>
            <a:pPr marL="228600" indent="-228600" algn="l">
              <a:lnSpc>
                <a:spcPct val="150000"/>
              </a:lnSpc>
              <a:buAutoNum type="arabicParenR" startAt="9"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 You will get tails when you flip a coin.</a:t>
            </a:r>
          </a:p>
          <a:p>
            <a:pPr marL="228600" indent="-228600" algn="l">
              <a:lnSpc>
                <a:spcPct val="150000"/>
              </a:lnSpc>
              <a:buAutoNum type="arabicParenR" startAt="9"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You will become famous one day.</a:t>
            </a: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 marL="228600" indent="-228600" algn="l">
              <a:buAutoNum type="arabicParenR" startAt="9"/>
            </a:pP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 marL="228600" indent="-228600" algn="l"/>
            <a:endParaRPr lang="en-US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38884" y="1337846"/>
            <a:ext cx="32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Socket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82568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647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howcard Gothic" pitchFamily="82" charset="0"/>
              </a:rPr>
              <a:t>“So, you’re saying there’s a chance . . 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46482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So you're saying there's a chanc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7800" y="1447800"/>
            <a:ext cx="65278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6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21834"/>
              </p:ext>
            </p:extLst>
          </p:nvPr>
        </p:nvGraphicFramePr>
        <p:xfrm>
          <a:off x="83125" y="304800"/>
          <a:ext cx="6705600" cy="7099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3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2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3021">
                <a:tc gridSpan="2"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TRIAL</a:t>
                      </a:r>
                      <a:r>
                        <a:rPr lang="en-US" sz="2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#1:  Rolling  a Number Cube</a:t>
                      </a:r>
                    </a:p>
                    <a:p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Out of 20 trials, how many times will an </a:t>
                      </a:r>
                      <a:r>
                        <a:rPr lang="en-US" sz="2400" b="1" i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odd number  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occur– P (odd #)?</a:t>
                      </a:r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32">
                <a:tc>
                  <a:txBody>
                    <a:bodyPr/>
                    <a:lstStyle/>
                    <a:p>
                      <a:pPr marL="457200" indent="-457200">
                        <a:buAutoNum type="arabicParenR"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What do we need to  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      know?</a:t>
                      </a: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# of odd #’s: _____</a:t>
                      </a: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total # of sides: _____  </a:t>
                      </a: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2)   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Theoretical Probability: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9495">
                <a:tc>
                  <a:txBody>
                    <a:bodyPr/>
                    <a:lstStyle/>
                    <a:p>
                      <a:pPr marL="457200" indent="-457200">
                        <a:buAutoNum type="arabicParenR" startAt="3"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Do the experiment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     (20 trials):</a:t>
                      </a: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4)   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Experimental Probability:</a:t>
                      </a:r>
                    </a:p>
                    <a:p>
                      <a:pPr algn="ctr"/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algn="ctr"/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algn="ctr"/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algn="ctr"/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737567"/>
              </p:ext>
            </p:extLst>
          </p:nvPr>
        </p:nvGraphicFramePr>
        <p:xfrm>
          <a:off x="177086" y="5657461"/>
          <a:ext cx="378531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8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71570" y="2939146"/>
            <a:ext cx="2710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Arial Rounded MT Bold" pitchFamily="34" charset="0"/>
              </a:rPr>
              <a:t>(what </a:t>
            </a:r>
            <a:r>
              <a:rPr lang="en-US" sz="1800" b="1" i="1" dirty="0">
                <a:latin typeface="Arial Rounded MT Bold" pitchFamily="34" charset="0"/>
              </a:rPr>
              <a:t>should  </a:t>
            </a:r>
            <a:r>
              <a:rPr lang="en-US" sz="1800" dirty="0">
                <a:latin typeface="Arial Rounded MT Bold" pitchFamily="34" charset="0"/>
              </a:rPr>
              <a:t> happen)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42183" y="5812973"/>
            <a:ext cx="2912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Arial Rounded MT Bold" pitchFamily="34" charset="0"/>
              </a:rPr>
              <a:t>(what </a:t>
            </a:r>
            <a:r>
              <a:rPr lang="en-US" sz="1800" b="1" i="1" dirty="0">
                <a:latin typeface="Arial Rounded MT Bold" pitchFamily="34" charset="0"/>
              </a:rPr>
              <a:t>actually </a:t>
            </a:r>
            <a:r>
              <a:rPr lang="en-US" sz="1800" dirty="0">
                <a:latin typeface="Arial Rounded MT Bold" pitchFamily="34" charset="0"/>
              </a:rPr>
              <a:t> happens)</a:t>
            </a:r>
          </a:p>
        </p:txBody>
      </p:sp>
      <p:pic>
        <p:nvPicPr>
          <p:cNvPr id="7" name="Picture 6" descr="dic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1799" y="7543800"/>
            <a:ext cx="1367097" cy="1143000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2299235" y="2991678"/>
            <a:ext cx="351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2699" y="3709457"/>
            <a:ext cx="351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267200" y="3549541"/>
                <a:ext cx="2313454" cy="102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2800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US" sz="2800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  <a:p>
                <a:r>
                  <a:rPr lang="en-US" sz="2000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*10 out of 20 rolls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3549541"/>
                <a:ext cx="2313454" cy="1022459"/>
              </a:xfrm>
              <a:prstGeom prst="rect">
                <a:avLst/>
              </a:prstGeom>
              <a:blipFill rotWithShape="1">
                <a:blip r:embed="rId3"/>
                <a:stretch>
                  <a:fillRect l="-2632" r="-2368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86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10973"/>
              </p:ext>
            </p:extLst>
          </p:nvPr>
        </p:nvGraphicFramePr>
        <p:xfrm>
          <a:off x="83125" y="304800"/>
          <a:ext cx="6705600" cy="7099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3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2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3021">
                <a:tc gridSpan="2"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TRIAL</a:t>
                      </a:r>
                      <a:r>
                        <a:rPr lang="en-US" sz="2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#2:  Flipping a Coin</a:t>
                      </a:r>
                    </a:p>
                    <a:p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Out of 20 trials, how many times will </a:t>
                      </a:r>
                      <a:r>
                        <a:rPr lang="en-US" sz="2400" b="1" i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heads  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occur– P(heads)?</a:t>
                      </a:r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32">
                <a:tc>
                  <a:txBody>
                    <a:bodyPr/>
                    <a:lstStyle/>
                    <a:p>
                      <a:pPr marL="457200" indent="-457200">
                        <a:buAutoNum type="arabicParenR"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What do we need to  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      know?</a:t>
                      </a: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# of heads:  _____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total # of sides:  _____</a:t>
                      </a: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2)   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Theoretical Probability: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9495">
                <a:tc>
                  <a:txBody>
                    <a:bodyPr/>
                    <a:lstStyle/>
                    <a:p>
                      <a:pPr marL="457200" indent="-457200">
                        <a:buAutoNum type="arabicParenR" startAt="3"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Do the experiment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     (20 trials):</a:t>
                      </a: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4)   </a:t>
                      </a:r>
                    </a:p>
                    <a:p>
                      <a:pPr algn="ctr"/>
                      <a:r>
                        <a:rPr lang="en-US" sz="2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Experimental Probability:</a:t>
                      </a:r>
                    </a:p>
                    <a:p>
                      <a:pPr algn="ctr"/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algn="ctr"/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algn="ctr"/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algn="ctr"/>
                      <a:endParaRPr lang="en-US" sz="2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336533"/>
              </p:ext>
            </p:extLst>
          </p:nvPr>
        </p:nvGraphicFramePr>
        <p:xfrm>
          <a:off x="177086" y="5657461"/>
          <a:ext cx="378531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8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85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71570" y="2939146"/>
            <a:ext cx="2710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Arial Rounded MT Bold" pitchFamily="34" charset="0"/>
              </a:rPr>
              <a:t>(what </a:t>
            </a:r>
            <a:r>
              <a:rPr lang="en-US" sz="1800" b="1" i="1" dirty="0">
                <a:latin typeface="Arial Rounded MT Bold" pitchFamily="34" charset="0"/>
              </a:rPr>
              <a:t>should  </a:t>
            </a:r>
            <a:r>
              <a:rPr lang="en-US" sz="1800" dirty="0">
                <a:latin typeface="Arial Rounded MT Bold" pitchFamily="34" charset="0"/>
              </a:rPr>
              <a:t> happen)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42183" y="5812973"/>
            <a:ext cx="2912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Arial Rounded MT Bold" pitchFamily="34" charset="0"/>
              </a:rPr>
              <a:t>(what </a:t>
            </a:r>
            <a:r>
              <a:rPr lang="en-US" sz="1800" b="1" i="1" dirty="0">
                <a:latin typeface="Arial Rounded MT Bold" pitchFamily="34" charset="0"/>
              </a:rPr>
              <a:t>actually </a:t>
            </a:r>
            <a:r>
              <a:rPr lang="en-US" sz="1800" dirty="0">
                <a:latin typeface="Arial Rounded MT Bold" pitchFamily="34" charset="0"/>
              </a:rPr>
              <a:t> happens)</a:t>
            </a:r>
          </a:p>
        </p:txBody>
      </p:sp>
      <p:pic>
        <p:nvPicPr>
          <p:cNvPr id="8" name="Picture 7" descr="coin fli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3200" y="7543800"/>
            <a:ext cx="1752600" cy="1432514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239421" y="2971800"/>
            <a:ext cx="351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600" y="3729335"/>
            <a:ext cx="351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191000" y="3429000"/>
                <a:ext cx="2388795" cy="1143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800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</a:t>
                </a:r>
              </a:p>
              <a:p>
                <a:r>
                  <a:rPr lang="en-US" sz="2000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*10 out of 20 flips</a:t>
                </a:r>
                <a:r>
                  <a:rPr lang="en-US" sz="2800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3429000"/>
                <a:ext cx="2388795" cy="1143518"/>
              </a:xfrm>
              <a:prstGeom prst="rect">
                <a:avLst/>
              </a:prstGeom>
              <a:blipFill rotWithShape="1">
                <a:blip r:embed="rId3"/>
                <a:stretch>
                  <a:fillRect l="-2302" b="-6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564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BEE7-846D-4E29-AE76-61CA028A6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notes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7A3DED-067D-4461-BED6-96BEB1B02E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500" i="1">
                          <a:latin typeface="Cambria Math" panose="02040503050406030204" pitchFamily="18" charset="0"/>
                        </a:rPr>
                        <m:t>𝑃𝑟𝑜𝑏𝑎𝑏𝑖𝑙𝑖𝑡𝑦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𝑒𝑣𝑒𝑛𝑡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𝑓𝑎𝑣𝑜𝑢𝑟𝑎𝑏𝑙𝑒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500" i="1">
                              <a:latin typeface="Cambria Math" panose="02040503050406030204" pitchFamily="18" charset="0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sz="1500" dirty="0"/>
              </a:p>
              <a:p>
                <a:pPr marL="0" indent="0">
                  <a:buNone/>
                </a:pPr>
                <a:endParaRPr lang="en-AU" sz="1500" dirty="0"/>
              </a:p>
              <a:p>
                <a:pPr marL="0" indent="0">
                  <a:buNone/>
                </a:pPr>
                <a:endParaRPr lang="en-AU" sz="1500" dirty="0"/>
              </a:p>
              <a:p>
                <a:pPr marL="0" indent="0" algn="ctr">
                  <a:buNone/>
                </a:pPr>
                <a:r>
                  <a:rPr lang="en-AU" sz="1500" dirty="0"/>
                  <a:t>Or mathematically stated as:</a:t>
                </a:r>
              </a:p>
              <a:p>
                <a:pPr marL="0" indent="0" algn="ctr">
                  <a:buNone/>
                </a:pPr>
                <a:endParaRPr lang="en-AU" sz="15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5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AU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𝒆𝒗𝒆𝒏𝒕</m:t>
                          </m:r>
                        </m:e>
                      </m:d>
                      <m:r>
                        <a:rPr lang="en-AU" sz="15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𝒇𝒂𝒗𝒐𝒖𝒓𝒂𝒃𝒍𝒆</m:t>
                          </m:r>
                          <m:r>
                            <a:rPr lang="en-AU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𝒐𝒖𝒄𝒐𝒎𝒆𝒔</m:t>
                          </m:r>
                        </m:num>
                        <m:den>
                          <m:r>
                            <a:rPr lang="en-AU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  <m:r>
                            <a:rPr lang="en-AU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5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𝒐𝒖𝒕𝒄𝒐𝒎𝒆𝒔</m:t>
                          </m:r>
                        </m:den>
                      </m:f>
                    </m:oMath>
                  </m:oMathPara>
                </a14:m>
                <a:endParaRPr lang="en-AU" sz="1500" b="1" dirty="0">
                  <a:solidFill>
                    <a:srgbClr val="00B0F0"/>
                  </a:solidFill>
                </a:endParaRPr>
              </a:p>
              <a:p>
                <a:pPr marL="0" indent="0" algn="ctr">
                  <a:buNone/>
                </a:pPr>
                <a:endParaRPr lang="en-AU" sz="1500" b="1" dirty="0">
                  <a:solidFill>
                    <a:srgbClr val="00B0F0"/>
                  </a:solidFill>
                </a:endParaRPr>
              </a:p>
              <a:p>
                <a:pPr marL="0" indent="0" algn="ctr">
                  <a:buNone/>
                </a:pPr>
                <a:endParaRPr lang="en-AU" sz="15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7A3DED-067D-4461-BED6-96BEB1B02E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873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526066">
            <a:off x="1973035" y="-230122"/>
            <a:ext cx="3996929" cy="389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0" name="Picture 2" descr="pin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60" y="2844404"/>
            <a:ext cx="6381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3" descr="pin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851547"/>
            <a:ext cx="6381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4" descr="pin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854" y="2844404"/>
            <a:ext cx="6381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0" name="Picture 12" descr="brow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60" y="3384947"/>
            <a:ext cx="6381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1" name="Picture 13" descr="brow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3384947"/>
            <a:ext cx="6381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2" name="Picture 14" descr="brow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329" y="3384947"/>
            <a:ext cx="6381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3" name="Picture 15" descr="brow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322" y="3384947"/>
            <a:ext cx="6381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7" name="Picture 19" descr="blu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3924300"/>
            <a:ext cx="5810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8" name="Picture 20" descr="blu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304" y="3924300"/>
            <a:ext cx="5810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9" name="Picture 21" descr="blu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906" y="3924300"/>
            <a:ext cx="5810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0" name="Picture 22" descr="oran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4464844"/>
            <a:ext cx="6286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1" name="Picture 23" descr="oran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206" y="4464844"/>
            <a:ext cx="6286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2" name="Picture 24" descr="oran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956" y="4464844"/>
            <a:ext cx="6286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3" name="Picture 25" descr="oran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4464844"/>
            <a:ext cx="6286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4" name="Picture 26" descr="yellow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5005388"/>
            <a:ext cx="657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5" name="Picture 27" descr="yellow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260" y="5005388"/>
            <a:ext cx="657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6" name="Picture 28" descr="yellow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485" y="5005388"/>
            <a:ext cx="657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20" name="Picture 32" descr="re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5589985"/>
            <a:ext cx="6286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21" name="Picture 33" descr="re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785" y="5589985"/>
            <a:ext cx="6286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22" name="Picture 34" descr="gree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6138863"/>
            <a:ext cx="6286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24" name="Text Box 36"/>
          <p:cNvSpPr txBox="1">
            <a:spLocks noChangeArrowheads="1"/>
          </p:cNvSpPr>
          <p:nvPr/>
        </p:nvSpPr>
        <p:spPr bwMode="auto">
          <a:xfrm>
            <a:off x="3644504" y="3977879"/>
            <a:ext cx="297060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How many Smarties are there altogether?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sp>
        <p:nvSpPr>
          <p:cNvPr id="37926" name="Text Box 38"/>
          <p:cNvSpPr txBox="1">
            <a:spLocks noChangeArrowheads="1"/>
          </p:cNvSpPr>
          <p:nvPr/>
        </p:nvSpPr>
        <p:spPr bwMode="auto">
          <a:xfrm>
            <a:off x="4419601" y="4950619"/>
            <a:ext cx="79176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 dirty="0">
                <a:latin typeface="Comic Sans MS" pitchFamily="66" charset="0"/>
              </a:rPr>
              <a:t>20</a:t>
            </a:r>
            <a:endParaRPr lang="en-GB" altLang="en-US" sz="2100" dirty="0">
              <a:solidFill>
                <a:srgbClr val="0033CC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3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4" grpId="0"/>
      <p:bldP spid="379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241823" y="2458641"/>
            <a:ext cx="537329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All the Smarties are put back in the tube.</a:t>
            </a:r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3336635" y="42408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944167" y="3330179"/>
            <a:ext cx="537329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If I pick a Smartie at random, what is the probability that it is green?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pic>
        <p:nvPicPr>
          <p:cNvPr id="24581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9" y="2141935"/>
            <a:ext cx="1077516" cy="105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582" name="Group 32"/>
          <p:cNvGrpSpPr>
            <a:grpSpLocks noChangeAspect="1"/>
          </p:cNvGrpSpPr>
          <p:nvPr/>
        </p:nvGrpSpPr>
        <p:grpSpPr bwMode="auto">
          <a:xfrm>
            <a:off x="513160" y="4207669"/>
            <a:ext cx="1708547" cy="2362200"/>
            <a:chOff x="431" y="709"/>
            <a:chExt cx="2297" cy="3175"/>
          </a:xfrm>
        </p:grpSpPr>
        <p:pic>
          <p:nvPicPr>
            <p:cNvPr id="24596" name="Picture 12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709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7" name="Picture 13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715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8" name="Picture 14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3" y="709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9" name="Picture 15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0" name="Picture 16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1" name="Picture 17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2" name="Picture 18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3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3" name="Picture 19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4" name="Picture 20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7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5" name="Picture 21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6" name="Picture 22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7" name="Picture 23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8" name="Picture 24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9" name="Picture 25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0" name="Picture 26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1" name="Picture 27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2" name="Picture 28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5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3" name="Picture 29" descr="re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" y="3015"/>
              <a:ext cx="5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4" name="Picture 30" descr="re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" y="3015"/>
              <a:ext cx="5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15" name="Picture 31" descr="gree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3476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0" y="6300787"/>
            <a:ext cx="1510904" cy="215504"/>
            <a:chOff x="0" y="3612"/>
            <a:chExt cx="1269" cy="181"/>
          </a:xfrm>
        </p:grpSpPr>
        <p:sp>
          <p:nvSpPr>
            <p:cNvPr id="24594" name="AutoShape 33"/>
            <p:cNvSpPr>
              <a:spLocks noChangeArrowheads="1"/>
            </p:cNvSpPr>
            <p:nvPr/>
          </p:nvSpPr>
          <p:spPr bwMode="auto">
            <a:xfrm>
              <a:off x="0" y="3612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4595" name="AutoShape 34"/>
            <p:cNvSpPr>
              <a:spLocks noChangeArrowheads="1"/>
            </p:cNvSpPr>
            <p:nvPr/>
          </p:nvSpPr>
          <p:spPr bwMode="auto">
            <a:xfrm flipH="1">
              <a:off x="884" y="3612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2349104" y="4356497"/>
            <a:ext cx="4666059" cy="415528"/>
            <a:chOff x="1973" y="1979"/>
            <a:chExt cx="3919" cy="349"/>
          </a:xfrm>
        </p:grpSpPr>
        <p:sp>
          <p:nvSpPr>
            <p:cNvPr id="24592" name="Text Box 37"/>
            <p:cNvSpPr txBox="1">
              <a:spLocks noChangeArrowheads="1"/>
            </p:cNvSpPr>
            <p:nvPr/>
          </p:nvSpPr>
          <p:spPr bwMode="auto">
            <a:xfrm>
              <a:off x="1973" y="1979"/>
              <a:ext cx="391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Total number of Smarties =</a:t>
              </a:r>
              <a:endParaRPr lang="en-GB" altLang="en-US" sz="210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  <p:sp>
          <p:nvSpPr>
            <p:cNvPr id="24593" name="Text Box 38"/>
            <p:cNvSpPr txBox="1">
              <a:spLocks noChangeArrowheads="1"/>
            </p:cNvSpPr>
            <p:nvPr/>
          </p:nvSpPr>
          <p:spPr bwMode="auto">
            <a:xfrm>
              <a:off x="4967" y="1979"/>
              <a:ext cx="58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 dirty="0">
                  <a:latin typeface="Comic Sans MS" pitchFamily="66" charset="0"/>
                </a:rPr>
                <a:t>20</a:t>
              </a:r>
              <a:endParaRPr lang="en-GB" altLang="en-US" sz="2100" dirty="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</p:grpSp>
      <p:sp>
        <p:nvSpPr>
          <p:cNvPr id="38951" name="Text Box 39"/>
          <p:cNvSpPr txBox="1">
            <a:spLocks noChangeArrowheads="1"/>
          </p:cNvSpPr>
          <p:nvPr/>
        </p:nvSpPr>
        <p:spPr bwMode="auto">
          <a:xfrm>
            <a:off x="2402682" y="4895850"/>
            <a:ext cx="466606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Number of green Smarties = 1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sp>
        <p:nvSpPr>
          <p:cNvPr id="38952" name="Text Box 40"/>
          <p:cNvSpPr txBox="1">
            <a:spLocks noChangeArrowheads="1"/>
          </p:cNvSpPr>
          <p:nvPr/>
        </p:nvSpPr>
        <p:spPr bwMode="auto">
          <a:xfrm>
            <a:off x="2191941" y="5543550"/>
            <a:ext cx="466605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Probability of picking green  =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5949549" y="5509023"/>
            <a:ext cx="466725" cy="746522"/>
            <a:chOff x="4997" y="2947"/>
            <a:chExt cx="392" cy="627"/>
          </a:xfrm>
        </p:grpSpPr>
        <p:sp>
          <p:nvSpPr>
            <p:cNvPr id="24589" name="Text Box 45"/>
            <p:cNvSpPr txBox="1">
              <a:spLocks noChangeArrowheads="1"/>
            </p:cNvSpPr>
            <p:nvPr/>
          </p:nvSpPr>
          <p:spPr bwMode="auto">
            <a:xfrm>
              <a:off x="5057" y="2947"/>
              <a:ext cx="27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1</a:t>
              </a:r>
            </a:p>
          </p:txBody>
        </p:sp>
        <p:sp>
          <p:nvSpPr>
            <p:cNvPr id="24590" name="Text Box 46"/>
            <p:cNvSpPr txBox="1">
              <a:spLocks noChangeArrowheads="1"/>
            </p:cNvSpPr>
            <p:nvPr/>
          </p:nvSpPr>
          <p:spPr bwMode="auto">
            <a:xfrm>
              <a:off x="4997" y="3264"/>
              <a:ext cx="3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20</a:t>
              </a:r>
            </a:p>
          </p:txBody>
        </p:sp>
        <p:sp>
          <p:nvSpPr>
            <p:cNvPr id="24591" name="Line 47"/>
            <p:cNvSpPr>
              <a:spLocks noChangeShapeType="1"/>
            </p:cNvSpPr>
            <p:nvPr/>
          </p:nvSpPr>
          <p:spPr bwMode="auto">
            <a:xfrm>
              <a:off x="5103" y="3249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800"/>
            </a:p>
          </p:txBody>
        </p:sp>
      </p:grpSp>
      <p:sp>
        <p:nvSpPr>
          <p:cNvPr id="38961" name="Line 49"/>
          <p:cNvSpPr>
            <a:spLocks noChangeShapeType="1"/>
          </p:cNvSpPr>
          <p:nvPr/>
        </p:nvSpPr>
        <p:spPr bwMode="auto">
          <a:xfrm>
            <a:off x="5967413" y="6246019"/>
            <a:ext cx="485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/>
      <p:bldP spid="38951" grpId="0"/>
      <p:bldP spid="38952" grpId="0"/>
      <p:bldP spid="389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241823" y="2458641"/>
            <a:ext cx="537329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All the Smarties are in the tube.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336635" y="42408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944167" y="3330179"/>
            <a:ext cx="537329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If I pick a Smartie at random, what is the probability that it is brown?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9" y="2141935"/>
            <a:ext cx="1077516" cy="105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6" name="Group 6"/>
          <p:cNvGrpSpPr>
            <a:grpSpLocks noChangeAspect="1"/>
          </p:cNvGrpSpPr>
          <p:nvPr/>
        </p:nvGrpSpPr>
        <p:grpSpPr bwMode="auto">
          <a:xfrm>
            <a:off x="513160" y="4207669"/>
            <a:ext cx="1708547" cy="2362200"/>
            <a:chOff x="431" y="709"/>
            <a:chExt cx="2297" cy="3175"/>
          </a:xfrm>
        </p:grpSpPr>
        <p:pic>
          <p:nvPicPr>
            <p:cNvPr id="25625" name="Picture 7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709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6" name="Picture 8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715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7" name="Picture 9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3" y="709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8" name="Picture 10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29" name="Picture 11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0" name="Picture 12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1" name="Picture 13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3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2" name="Picture 14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3" name="Picture 15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7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4" name="Picture 16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5" name="Picture 17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6" name="Picture 18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7" name="Picture 19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8" name="Picture 20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9" name="Picture 21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40" name="Picture 22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41" name="Picture 23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5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42" name="Picture 24" descr="re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" y="3015"/>
              <a:ext cx="5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43" name="Picture 25" descr="re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" y="3015"/>
              <a:ext cx="5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44" name="Picture 26" descr="gree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3476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349104" y="4356497"/>
            <a:ext cx="4666059" cy="415528"/>
            <a:chOff x="1973" y="1979"/>
            <a:chExt cx="3919" cy="349"/>
          </a:xfrm>
        </p:grpSpPr>
        <p:sp>
          <p:nvSpPr>
            <p:cNvPr id="25623" name="Text Box 30"/>
            <p:cNvSpPr txBox="1">
              <a:spLocks noChangeArrowheads="1"/>
            </p:cNvSpPr>
            <p:nvPr/>
          </p:nvSpPr>
          <p:spPr bwMode="auto">
            <a:xfrm>
              <a:off x="1973" y="1979"/>
              <a:ext cx="391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Total number of Smarties =</a:t>
              </a:r>
              <a:endParaRPr lang="en-GB" altLang="en-US" sz="210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  <p:sp>
          <p:nvSpPr>
            <p:cNvPr id="25624" name="Text Box 31"/>
            <p:cNvSpPr txBox="1">
              <a:spLocks noChangeArrowheads="1"/>
            </p:cNvSpPr>
            <p:nvPr/>
          </p:nvSpPr>
          <p:spPr bwMode="auto">
            <a:xfrm>
              <a:off x="4967" y="1979"/>
              <a:ext cx="58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 dirty="0">
                  <a:latin typeface="Comic Sans MS" pitchFamily="66" charset="0"/>
                </a:rPr>
                <a:t>20</a:t>
              </a:r>
              <a:endParaRPr lang="en-GB" altLang="en-US" sz="2100" dirty="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0" y="4625578"/>
            <a:ext cx="7068741" cy="685800"/>
            <a:chOff x="0" y="2205"/>
            <a:chExt cx="5937" cy="576"/>
          </a:xfrm>
        </p:grpSpPr>
        <p:sp>
          <p:nvSpPr>
            <p:cNvPr id="25620" name="AutoShape 28"/>
            <p:cNvSpPr>
              <a:spLocks noChangeArrowheads="1"/>
            </p:cNvSpPr>
            <p:nvPr/>
          </p:nvSpPr>
          <p:spPr bwMode="auto">
            <a:xfrm>
              <a:off x="0" y="2205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21" name="AutoShape 29"/>
            <p:cNvSpPr>
              <a:spLocks noChangeArrowheads="1"/>
            </p:cNvSpPr>
            <p:nvPr/>
          </p:nvSpPr>
          <p:spPr bwMode="auto">
            <a:xfrm flipH="1">
              <a:off x="1882" y="2205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22" name="Text Box 32"/>
            <p:cNvSpPr txBox="1">
              <a:spLocks noChangeArrowheads="1"/>
            </p:cNvSpPr>
            <p:nvPr/>
          </p:nvSpPr>
          <p:spPr bwMode="auto">
            <a:xfrm>
              <a:off x="2018" y="2432"/>
              <a:ext cx="391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Number of brown Smarties = 4</a:t>
              </a:r>
              <a:endParaRPr lang="en-GB" altLang="en-US" sz="210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</p:grpSp>
      <p:sp>
        <p:nvSpPr>
          <p:cNvPr id="48161" name="Text Box 33"/>
          <p:cNvSpPr txBox="1">
            <a:spLocks noChangeArrowheads="1"/>
          </p:cNvSpPr>
          <p:nvPr/>
        </p:nvSpPr>
        <p:spPr bwMode="auto">
          <a:xfrm>
            <a:off x="2191941" y="5543550"/>
            <a:ext cx="466605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Probability of picking brown  =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5949549" y="5509023"/>
            <a:ext cx="466725" cy="746522"/>
            <a:chOff x="4997" y="2947"/>
            <a:chExt cx="392" cy="627"/>
          </a:xfrm>
        </p:grpSpPr>
        <p:sp>
          <p:nvSpPr>
            <p:cNvPr id="25617" name="Text Box 35"/>
            <p:cNvSpPr txBox="1">
              <a:spLocks noChangeArrowheads="1"/>
            </p:cNvSpPr>
            <p:nvPr/>
          </p:nvSpPr>
          <p:spPr bwMode="auto">
            <a:xfrm>
              <a:off x="5057" y="2947"/>
              <a:ext cx="27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4</a:t>
              </a:r>
            </a:p>
          </p:txBody>
        </p:sp>
        <p:sp>
          <p:nvSpPr>
            <p:cNvPr id="25618" name="Text Box 36"/>
            <p:cNvSpPr txBox="1">
              <a:spLocks noChangeArrowheads="1"/>
            </p:cNvSpPr>
            <p:nvPr/>
          </p:nvSpPr>
          <p:spPr bwMode="auto">
            <a:xfrm>
              <a:off x="4997" y="3264"/>
              <a:ext cx="3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20</a:t>
              </a:r>
            </a:p>
          </p:txBody>
        </p:sp>
        <p:sp>
          <p:nvSpPr>
            <p:cNvPr id="25619" name="Line 37"/>
            <p:cNvSpPr>
              <a:spLocks noChangeShapeType="1"/>
            </p:cNvSpPr>
            <p:nvPr/>
          </p:nvSpPr>
          <p:spPr bwMode="auto">
            <a:xfrm>
              <a:off x="5103" y="3249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800"/>
            </a:p>
          </p:txBody>
        </p:sp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2187179" y="6228161"/>
            <a:ext cx="4666059" cy="746522"/>
            <a:chOff x="1837" y="3551"/>
            <a:chExt cx="3919" cy="627"/>
          </a:xfrm>
        </p:grpSpPr>
        <p:sp>
          <p:nvSpPr>
            <p:cNvPr id="25613" name="Text Box 38"/>
            <p:cNvSpPr txBox="1">
              <a:spLocks noChangeArrowheads="1"/>
            </p:cNvSpPr>
            <p:nvPr/>
          </p:nvSpPr>
          <p:spPr bwMode="auto">
            <a:xfrm>
              <a:off x="5051" y="3551"/>
              <a:ext cx="27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1</a:t>
              </a:r>
            </a:p>
          </p:txBody>
        </p:sp>
        <p:sp>
          <p:nvSpPr>
            <p:cNvPr id="25614" name="Text Box 39"/>
            <p:cNvSpPr txBox="1">
              <a:spLocks noChangeArrowheads="1"/>
            </p:cNvSpPr>
            <p:nvPr/>
          </p:nvSpPr>
          <p:spPr bwMode="auto">
            <a:xfrm>
              <a:off x="5050" y="3868"/>
              <a:ext cx="27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5</a:t>
              </a:r>
            </a:p>
          </p:txBody>
        </p:sp>
        <p:sp>
          <p:nvSpPr>
            <p:cNvPr id="25615" name="Line 40"/>
            <p:cNvSpPr>
              <a:spLocks noChangeShapeType="1"/>
            </p:cNvSpPr>
            <p:nvPr/>
          </p:nvSpPr>
          <p:spPr bwMode="auto">
            <a:xfrm>
              <a:off x="5097" y="3853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800"/>
            </a:p>
          </p:txBody>
        </p:sp>
        <p:sp>
          <p:nvSpPr>
            <p:cNvPr id="25616" name="Text Box 41"/>
            <p:cNvSpPr txBox="1">
              <a:spLocks noChangeArrowheads="1"/>
            </p:cNvSpPr>
            <p:nvPr/>
          </p:nvSpPr>
          <p:spPr bwMode="auto">
            <a:xfrm>
              <a:off x="1837" y="3612"/>
              <a:ext cx="391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                                             =</a:t>
              </a:r>
              <a:endParaRPr lang="en-GB" altLang="en-US" sz="210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</p:grpSp>
      <p:sp>
        <p:nvSpPr>
          <p:cNvPr id="48171" name="Line 43"/>
          <p:cNvSpPr>
            <a:spLocks noChangeShapeType="1"/>
          </p:cNvSpPr>
          <p:nvPr/>
        </p:nvSpPr>
        <p:spPr bwMode="auto">
          <a:xfrm>
            <a:off x="5967413" y="6948488"/>
            <a:ext cx="485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/>
      <p:bldP spid="48161" grpId="0"/>
      <p:bldP spid="4817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241823" y="2458641"/>
            <a:ext cx="537329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All the Smarties are in the tube.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3336635" y="42408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944166" y="3330179"/>
            <a:ext cx="55626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If I pick a Smartie at random, what is the probability that it is orange or yellow?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9" y="2141935"/>
            <a:ext cx="1077516" cy="105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630" name="Group 6"/>
          <p:cNvGrpSpPr>
            <a:grpSpLocks noChangeAspect="1"/>
          </p:cNvGrpSpPr>
          <p:nvPr/>
        </p:nvGrpSpPr>
        <p:grpSpPr bwMode="auto">
          <a:xfrm>
            <a:off x="513160" y="4207669"/>
            <a:ext cx="1708547" cy="2362200"/>
            <a:chOff x="431" y="709"/>
            <a:chExt cx="2297" cy="3175"/>
          </a:xfrm>
        </p:grpSpPr>
        <p:pic>
          <p:nvPicPr>
            <p:cNvPr id="26644" name="Picture 7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709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5" name="Picture 8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715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6" name="Picture 9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3" y="709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7" name="Picture 10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8" name="Picture 11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9" name="Picture 12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0" name="Picture 13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3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1" name="Picture 14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2" name="Picture 15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7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3" name="Picture 16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4" name="Picture 17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5" name="Picture 18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6" name="Picture 19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7" name="Picture 20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8" name="Picture 21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9" name="Picture 22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60" name="Picture 23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5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61" name="Picture 24" descr="re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" y="3015"/>
              <a:ext cx="5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62" name="Picture 25" descr="re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" y="3015"/>
              <a:ext cx="5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63" name="Picture 26" descr="gree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3476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2349104" y="4356497"/>
            <a:ext cx="4666059" cy="415528"/>
            <a:chOff x="1973" y="1979"/>
            <a:chExt cx="3919" cy="349"/>
          </a:xfrm>
        </p:grpSpPr>
        <p:sp>
          <p:nvSpPr>
            <p:cNvPr id="26642" name="Text Box 28"/>
            <p:cNvSpPr txBox="1">
              <a:spLocks noChangeArrowheads="1"/>
            </p:cNvSpPr>
            <p:nvPr/>
          </p:nvSpPr>
          <p:spPr bwMode="auto">
            <a:xfrm>
              <a:off x="1973" y="1979"/>
              <a:ext cx="391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Total number of Smarties =</a:t>
              </a:r>
              <a:endParaRPr lang="en-GB" altLang="en-US" sz="210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  <p:sp>
          <p:nvSpPr>
            <p:cNvPr id="26643" name="Text Box 29"/>
            <p:cNvSpPr txBox="1">
              <a:spLocks noChangeArrowheads="1"/>
            </p:cNvSpPr>
            <p:nvPr/>
          </p:nvSpPr>
          <p:spPr bwMode="auto">
            <a:xfrm>
              <a:off x="4967" y="1979"/>
              <a:ext cx="58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 dirty="0">
                  <a:latin typeface="Comic Sans MS" pitchFamily="66" charset="0"/>
                </a:rPr>
                <a:t>20</a:t>
              </a:r>
              <a:endParaRPr lang="en-GB" altLang="en-US" sz="2100" dirty="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</p:grpSp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2888457" y="5922169"/>
            <a:ext cx="466606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Probability of picking </a:t>
            </a:r>
          </a:p>
          <a:p>
            <a:pPr algn="l" eaLnBrk="1" hangingPunct="1"/>
            <a:r>
              <a:rPr lang="en-GB" altLang="en-US" sz="2100">
                <a:latin typeface="Comic Sans MS" pitchFamily="66" charset="0"/>
              </a:rPr>
              <a:t>orange or yellow          =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5995984" y="6084092"/>
            <a:ext cx="466725" cy="746522"/>
            <a:chOff x="4997" y="2947"/>
            <a:chExt cx="392" cy="627"/>
          </a:xfrm>
        </p:grpSpPr>
        <p:sp>
          <p:nvSpPr>
            <p:cNvPr id="26639" name="Text Box 36"/>
            <p:cNvSpPr txBox="1">
              <a:spLocks noChangeArrowheads="1"/>
            </p:cNvSpPr>
            <p:nvPr/>
          </p:nvSpPr>
          <p:spPr bwMode="auto">
            <a:xfrm>
              <a:off x="5057" y="2947"/>
              <a:ext cx="27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7</a:t>
              </a:r>
            </a:p>
          </p:txBody>
        </p:sp>
        <p:sp>
          <p:nvSpPr>
            <p:cNvPr id="26640" name="Text Box 37"/>
            <p:cNvSpPr txBox="1">
              <a:spLocks noChangeArrowheads="1"/>
            </p:cNvSpPr>
            <p:nvPr/>
          </p:nvSpPr>
          <p:spPr bwMode="auto">
            <a:xfrm>
              <a:off x="4997" y="3264"/>
              <a:ext cx="3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20</a:t>
              </a:r>
            </a:p>
          </p:txBody>
        </p:sp>
        <p:sp>
          <p:nvSpPr>
            <p:cNvPr id="26641" name="Line 38"/>
            <p:cNvSpPr>
              <a:spLocks noChangeShapeType="1"/>
            </p:cNvSpPr>
            <p:nvPr/>
          </p:nvSpPr>
          <p:spPr bwMode="auto">
            <a:xfrm>
              <a:off x="5103" y="3249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800"/>
            </a:p>
          </p:txBody>
        </p:sp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0" y="4895851"/>
            <a:ext cx="7068741" cy="917972"/>
            <a:chOff x="0" y="2432"/>
            <a:chExt cx="5937" cy="771"/>
          </a:xfrm>
        </p:grpSpPr>
        <p:sp>
          <p:nvSpPr>
            <p:cNvPr id="26636" name="AutoShape 31"/>
            <p:cNvSpPr>
              <a:spLocks noChangeArrowheads="1"/>
            </p:cNvSpPr>
            <p:nvPr/>
          </p:nvSpPr>
          <p:spPr bwMode="auto">
            <a:xfrm>
              <a:off x="0" y="2750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6637" name="Text Box 33"/>
            <p:cNvSpPr txBox="1">
              <a:spLocks noChangeArrowheads="1"/>
            </p:cNvSpPr>
            <p:nvPr/>
          </p:nvSpPr>
          <p:spPr bwMode="auto">
            <a:xfrm>
              <a:off x="2018" y="2432"/>
              <a:ext cx="3919" cy="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        Number of orange </a:t>
              </a:r>
            </a:p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      and yellow Smarties    = 7</a:t>
              </a:r>
              <a:endParaRPr lang="en-GB" altLang="en-US" sz="210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  <p:sp>
          <p:nvSpPr>
            <p:cNvPr id="26638" name="AutoShape 45"/>
            <p:cNvSpPr>
              <a:spLocks noChangeArrowheads="1"/>
            </p:cNvSpPr>
            <p:nvPr/>
          </p:nvSpPr>
          <p:spPr bwMode="auto">
            <a:xfrm>
              <a:off x="0" y="3022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sp>
        <p:nvSpPr>
          <p:cNvPr id="49199" name="Line 47"/>
          <p:cNvSpPr>
            <a:spLocks noChangeShapeType="1"/>
          </p:cNvSpPr>
          <p:nvPr/>
        </p:nvSpPr>
        <p:spPr bwMode="auto">
          <a:xfrm>
            <a:off x="5967413" y="6840141"/>
            <a:ext cx="485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/>
      <p:bldP spid="49186" grpId="0"/>
      <p:bldP spid="4919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241823" y="2458641"/>
            <a:ext cx="537329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All the Smarties are in the tube.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336635" y="42408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944166" y="3330179"/>
            <a:ext cx="55626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If I pick a Smartie at random, what is the probability that it is </a:t>
            </a:r>
            <a:r>
              <a:rPr lang="en-GB" altLang="en-US" sz="2100" i="1" u="sng">
                <a:latin typeface="Comic Sans MS" pitchFamily="66" charset="0"/>
              </a:rPr>
              <a:t>not</a:t>
            </a:r>
            <a:r>
              <a:rPr lang="en-GB" altLang="en-US" sz="2100">
                <a:latin typeface="Comic Sans MS" pitchFamily="66" charset="0"/>
              </a:rPr>
              <a:t> blue?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9" y="2141935"/>
            <a:ext cx="1077516" cy="105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4" name="Group 6"/>
          <p:cNvGrpSpPr>
            <a:grpSpLocks noChangeAspect="1"/>
          </p:cNvGrpSpPr>
          <p:nvPr/>
        </p:nvGrpSpPr>
        <p:grpSpPr bwMode="auto">
          <a:xfrm>
            <a:off x="513160" y="4207669"/>
            <a:ext cx="1708547" cy="2362200"/>
            <a:chOff x="431" y="709"/>
            <a:chExt cx="2297" cy="3175"/>
          </a:xfrm>
        </p:grpSpPr>
        <p:pic>
          <p:nvPicPr>
            <p:cNvPr id="27672" name="Picture 7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709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3" name="Picture 8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715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4" name="Picture 9" descr="pin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3" y="709"/>
              <a:ext cx="53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5" name="Picture 10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6" name="Picture 11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7" name="Picture 12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8" name="Picture 13" descr="brow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3" y="1163"/>
              <a:ext cx="536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9" name="Picture 14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0" name="Picture 15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7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1" name="Picture 16" descr="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1616"/>
              <a:ext cx="48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2" name="Picture 17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3" name="Picture 18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4" name="Picture 19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6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5" name="Picture 20" descr="orang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2070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6" name="Picture 21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7" name="Picture 22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8" name="Picture 23" descr="yellow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5" y="2524"/>
              <a:ext cx="55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89" name="Picture 24" descr="re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" y="3015"/>
              <a:ext cx="5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90" name="Picture 25" descr="re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" y="3015"/>
              <a:ext cx="5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91" name="Picture 26" descr="gree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3476"/>
              <a:ext cx="528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2349104" y="4356497"/>
            <a:ext cx="4666059" cy="415528"/>
            <a:chOff x="1973" y="1979"/>
            <a:chExt cx="3919" cy="349"/>
          </a:xfrm>
        </p:grpSpPr>
        <p:sp>
          <p:nvSpPr>
            <p:cNvPr id="27670" name="Text Box 28"/>
            <p:cNvSpPr txBox="1">
              <a:spLocks noChangeArrowheads="1"/>
            </p:cNvSpPr>
            <p:nvPr/>
          </p:nvSpPr>
          <p:spPr bwMode="auto">
            <a:xfrm>
              <a:off x="1973" y="1979"/>
              <a:ext cx="391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Total number of Smarties =</a:t>
              </a:r>
              <a:endParaRPr lang="en-GB" altLang="en-US" sz="210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  <p:sp>
          <p:nvSpPr>
            <p:cNvPr id="27671" name="Text Box 29"/>
            <p:cNvSpPr txBox="1">
              <a:spLocks noChangeArrowheads="1"/>
            </p:cNvSpPr>
            <p:nvPr/>
          </p:nvSpPr>
          <p:spPr bwMode="auto">
            <a:xfrm>
              <a:off x="4967" y="1979"/>
              <a:ext cx="66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 dirty="0">
                  <a:latin typeface="Comic Sans MS" pitchFamily="66" charset="0"/>
                </a:rPr>
                <a:t>20</a:t>
              </a:r>
              <a:endParaRPr lang="en-GB" altLang="en-US" sz="2100" dirty="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</p:grpSp>
      <p:sp>
        <p:nvSpPr>
          <p:cNvPr id="50206" name="Text Box 30"/>
          <p:cNvSpPr txBox="1">
            <a:spLocks noChangeArrowheads="1"/>
          </p:cNvSpPr>
          <p:nvPr/>
        </p:nvSpPr>
        <p:spPr bwMode="auto">
          <a:xfrm>
            <a:off x="2888457" y="5922169"/>
            <a:ext cx="466606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GB" altLang="en-US" sz="2100">
                <a:latin typeface="Comic Sans MS" pitchFamily="66" charset="0"/>
              </a:rPr>
              <a:t>      Probability of not </a:t>
            </a:r>
          </a:p>
          <a:p>
            <a:pPr algn="l" eaLnBrk="1" hangingPunct="1"/>
            <a:r>
              <a:rPr lang="en-GB" altLang="en-US" sz="2100">
                <a:latin typeface="Comic Sans MS" pitchFamily="66" charset="0"/>
              </a:rPr>
              <a:t>               picking blue  =</a:t>
            </a:r>
            <a:endParaRPr lang="en-GB" altLang="en-US" sz="2100">
              <a:solidFill>
                <a:srgbClr val="0033CC"/>
              </a:solidFill>
              <a:latin typeface="Comic Sans MS" pitchFamily="66" charset="0"/>
            </a:endParaRP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5996007" y="6084092"/>
            <a:ext cx="467917" cy="746522"/>
            <a:chOff x="4997" y="2947"/>
            <a:chExt cx="393" cy="627"/>
          </a:xfrm>
        </p:grpSpPr>
        <p:sp>
          <p:nvSpPr>
            <p:cNvPr id="27667" name="Text Box 32"/>
            <p:cNvSpPr txBox="1">
              <a:spLocks noChangeArrowheads="1"/>
            </p:cNvSpPr>
            <p:nvPr/>
          </p:nvSpPr>
          <p:spPr bwMode="auto">
            <a:xfrm>
              <a:off x="4998" y="2947"/>
              <a:ext cx="3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17</a:t>
              </a:r>
            </a:p>
          </p:txBody>
        </p:sp>
        <p:sp>
          <p:nvSpPr>
            <p:cNvPr id="27668" name="Text Box 33"/>
            <p:cNvSpPr txBox="1">
              <a:spLocks noChangeArrowheads="1"/>
            </p:cNvSpPr>
            <p:nvPr/>
          </p:nvSpPr>
          <p:spPr bwMode="auto">
            <a:xfrm>
              <a:off x="4997" y="3264"/>
              <a:ext cx="3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sz="1800" b="1">
                  <a:latin typeface="Comic Sans MS" pitchFamily="66" charset="0"/>
                </a:rPr>
                <a:t>20</a:t>
              </a:r>
            </a:p>
          </p:txBody>
        </p:sp>
        <p:sp>
          <p:nvSpPr>
            <p:cNvPr id="27669" name="Line 34"/>
            <p:cNvSpPr>
              <a:spLocks noChangeShapeType="1"/>
            </p:cNvSpPr>
            <p:nvPr/>
          </p:nvSpPr>
          <p:spPr bwMode="auto">
            <a:xfrm>
              <a:off x="5103" y="3249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800"/>
            </a:p>
          </p:txBody>
        </p:sp>
      </p:grpSp>
      <p:sp>
        <p:nvSpPr>
          <p:cNvPr id="50215" name="Line 39"/>
          <p:cNvSpPr>
            <a:spLocks noChangeShapeType="1"/>
          </p:cNvSpPr>
          <p:nvPr/>
        </p:nvSpPr>
        <p:spPr bwMode="auto">
          <a:xfrm>
            <a:off x="5967413" y="6840141"/>
            <a:ext cx="485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800"/>
          </a:p>
        </p:txBody>
      </p: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0" y="4248150"/>
            <a:ext cx="7068741" cy="2268141"/>
            <a:chOff x="0" y="1888"/>
            <a:chExt cx="5937" cy="1905"/>
          </a:xfrm>
        </p:grpSpPr>
        <p:sp>
          <p:nvSpPr>
            <p:cNvPr id="27660" name="AutoShape 36"/>
            <p:cNvSpPr>
              <a:spLocks noChangeArrowheads="1"/>
            </p:cNvSpPr>
            <p:nvPr/>
          </p:nvSpPr>
          <p:spPr bwMode="auto">
            <a:xfrm>
              <a:off x="0" y="2750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661" name="Text Box 37"/>
            <p:cNvSpPr txBox="1">
              <a:spLocks noChangeArrowheads="1"/>
            </p:cNvSpPr>
            <p:nvPr/>
          </p:nvSpPr>
          <p:spPr bwMode="auto">
            <a:xfrm>
              <a:off x="2018" y="2432"/>
              <a:ext cx="3919" cy="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        Number of </a:t>
              </a:r>
              <a:r>
                <a:rPr lang="en-GB" altLang="en-US" sz="2100" i="1" u="sng">
                  <a:latin typeface="Comic Sans MS" pitchFamily="66" charset="0"/>
                </a:rPr>
                <a:t>not</a:t>
              </a:r>
              <a:r>
                <a:rPr lang="en-GB" altLang="en-US" sz="2100">
                  <a:latin typeface="Comic Sans MS" pitchFamily="66" charset="0"/>
                </a:rPr>
                <a:t> blue</a:t>
              </a:r>
            </a:p>
            <a:p>
              <a:pPr algn="l" eaLnBrk="1" hangingPunct="1"/>
              <a:r>
                <a:rPr lang="en-GB" altLang="en-US" sz="2100">
                  <a:latin typeface="Comic Sans MS" pitchFamily="66" charset="0"/>
                </a:rPr>
                <a:t>                       Smarties    = 17</a:t>
              </a:r>
              <a:endParaRPr lang="en-GB" altLang="en-US" sz="2100">
                <a:solidFill>
                  <a:srgbClr val="0033CC"/>
                </a:solidFill>
                <a:latin typeface="Comic Sans MS" pitchFamily="66" charset="0"/>
              </a:endParaRPr>
            </a:p>
          </p:txBody>
        </p:sp>
        <p:sp>
          <p:nvSpPr>
            <p:cNvPr id="27662" name="AutoShape 38"/>
            <p:cNvSpPr>
              <a:spLocks noChangeArrowheads="1"/>
            </p:cNvSpPr>
            <p:nvPr/>
          </p:nvSpPr>
          <p:spPr bwMode="auto">
            <a:xfrm>
              <a:off x="0" y="3022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663" name="AutoShape 40"/>
            <p:cNvSpPr>
              <a:spLocks noChangeArrowheads="1"/>
            </p:cNvSpPr>
            <p:nvPr/>
          </p:nvSpPr>
          <p:spPr bwMode="auto">
            <a:xfrm>
              <a:off x="0" y="3340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664" name="AutoShape 41"/>
            <p:cNvSpPr>
              <a:spLocks noChangeArrowheads="1"/>
            </p:cNvSpPr>
            <p:nvPr/>
          </p:nvSpPr>
          <p:spPr bwMode="auto">
            <a:xfrm>
              <a:off x="0" y="3612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665" name="AutoShape 42"/>
            <p:cNvSpPr>
              <a:spLocks noChangeArrowheads="1"/>
            </p:cNvSpPr>
            <p:nvPr/>
          </p:nvSpPr>
          <p:spPr bwMode="auto">
            <a:xfrm>
              <a:off x="0" y="2205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666" name="AutoShape 43"/>
            <p:cNvSpPr>
              <a:spLocks noChangeArrowheads="1"/>
            </p:cNvSpPr>
            <p:nvPr/>
          </p:nvSpPr>
          <p:spPr bwMode="auto">
            <a:xfrm>
              <a:off x="0" y="1888"/>
              <a:ext cx="385" cy="181"/>
            </a:xfrm>
            <a:prstGeom prst="rightArrow">
              <a:avLst>
                <a:gd name="adj1" fmla="val 50000"/>
                <a:gd name="adj2" fmla="val 53177"/>
              </a:avLst>
            </a:prstGeom>
            <a:solidFill>
              <a:srgbClr val="00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/>
      <p:bldP spid="50206" grpId="0"/>
      <p:bldP spid="502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966" y="533400"/>
            <a:ext cx="68580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Tx/>
              <a:buAutoNum type="arabicParenR"/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A bag contains 7 blue, 5 purple, 12 red, and 6 orange marbles.  Find each probability if you draw one marble at random from the bag.  Write as a fraction in simplest form.</a:t>
            </a: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a) </a:t>
            </a:r>
            <a:r>
              <a:rPr lang="en-US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P(purple)    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b) </a:t>
            </a:r>
            <a:r>
              <a:rPr lang="en-US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P(red or orange)     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c) </a:t>
            </a:r>
            <a:r>
              <a:rPr lang="en-US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P(not blue)</a:t>
            </a: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457200" indent="-457200" algn="l">
              <a:buAutoNum type="arabicParenR" startAt="2"/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You roll a standard number cube (six sides numbered 1 – 6).  After one roll, answer the following:</a:t>
            </a:r>
          </a:p>
          <a:p>
            <a:pPr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3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a)  </a:t>
            </a:r>
            <a:r>
              <a:rPr lang="en-US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P(3 or 4)</a:t>
            </a:r>
            <a:r>
              <a:rPr lang="en-US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            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lang="en-US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P(even #)             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c)  </a:t>
            </a:r>
            <a:r>
              <a:rPr lang="en-US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P(not 2)</a:t>
            </a: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0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Probability Questions:</a:t>
            </a:r>
          </a:p>
        </p:txBody>
      </p:sp>
      <p:pic>
        <p:nvPicPr>
          <p:cNvPr id="3074" name="Picture 2" descr="http://t2.gstatic.com/images?q=tbn:ANd9GcTvw2SK78hLsjCLpTGEAGfT5kcXnMadsibAANDPxORb7kM-8TmfhA:www.shmoop.com/images/prealgebra/unit5/pa.5.107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8" r="6812" b="12832"/>
          <a:stretch/>
        </p:blipFill>
        <p:spPr bwMode="auto">
          <a:xfrm>
            <a:off x="4484914" y="1676400"/>
            <a:ext cx="2160037" cy="106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ic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57581" y="5867400"/>
            <a:ext cx="886019" cy="740782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3400" y="3276600"/>
                <a:ext cx="1300356" cy="6312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𝟔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276600"/>
                <a:ext cx="1300356" cy="631263"/>
              </a:xfrm>
              <a:prstGeom prst="rect">
                <a:avLst/>
              </a:prstGeom>
              <a:blipFill rotWithShape="1">
                <a:blip r:embed="rId4"/>
                <a:stretch>
                  <a:fillRect b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66844" y="3276600"/>
                <a:ext cx="1300356" cy="6258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𝟏𝟖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844" y="3276600"/>
                <a:ext cx="1300356" cy="625877"/>
              </a:xfrm>
              <a:prstGeom prst="rect">
                <a:avLst/>
              </a:prstGeom>
              <a:blipFill rotWithShape="1">
                <a:blip r:embed="rId5"/>
                <a:stretch>
                  <a:fillRect b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80117" y="3276600"/>
                <a:ext cx="620683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𝟐𝟑</m:t>
                          </m:r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𝟑𝟎</m:t>
                          </m:r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US" sz="1800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117" y="3276600"/>
                <a:ext cx="620683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9600" y="7391400"/>
                <a:ext cx="1165704" cy="625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𝟔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391400"/>
                <a:ext cx="1165704" cy="625812"/>
              </a:xfrm>
              <a:prstGeom prst="rect">
                <a:avLst/>
              </a:prstGeom>
              <a:blipFill rotWithShape="1">
                <a:blip r:embed="rId7"/>
                <a:stretch>
                  <a:fillRect b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025296" y="7391400"/>
                <a:ext cx="1165704" cy="625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𝟔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296" y="7391400"/>
                <a:ext cx="1165704" cy="625812"/>
              </a:xfrm>
              <a:prstGeom prst="rect">
                <a:avLst/>
              </a:prstGeom>
              <a:blipFill rotWithShape="1">
                <a:blip r:embed="rId8"/>
                <a:stretch>
                  <a:fillRect b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83929" y="7458889"/>
                <a:ext cx="482824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𝟔</m:t>
                          </m:r>
                          <m:r>
                            <a:rPr lang="en-US" sz="1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US" sz="1800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929" y="7458889"/>
                <a:ext cx="482824" cy="61831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51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6858000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arenR" startAt="3"/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Fill in the following information about a standard deck of cards:</a:t>
            </a:r>
          </a:p>
          <a:p>
            <a:pPr marL="342900" indent="-342900" algn="l">
              <a:buAutoNum type="arabicParenR" startAt="3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TOTAL # of Cards:	_____</a:t>
            </a: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# of Hearts(♥):  	_____		</a:t>
            </a:r>
          </a:p>
          <a:p>
            <a:pPr marL="342900" indent="-342900" algn="l">
              <a:defRPr/>
            </a:pP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Diamonds(♦):	_____</a:t>
            </a:r>
          </a:p>
          <a:p>
            <a:pPr marL="342900" indent="-342900" algn="l">
              <a:defRPr/>
            </a:pP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Clubs(♣):	_____</a:t>
            </a:r>
          </a:p>
          <a:p>
            <a:pPr marL="342900" indent="-342900" algn="l">
              <a:defRPr/>
            </a:pP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Spades(♠):	_____</a:t>
            </a:r>
          </a:p>
          <a:p>
            <a:pPr marL="342900" indent="-342900" algn="l">
              <a:defRPr/>
            </a:pP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342900" indent="-342900" algn="l">
              <a:defRPr/>
            </a:pP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Red Cards:	_____</a:t>
            </a:r>
          </a:p>
          <a:p>
            <a:pPr marL="342900" indent="-342900" algn="l">
              <a:defRPr/>
            </a:pP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Black Cards:	_____</a:t>
            </a: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Cards in Each Suit:  _______</a:t>
            </a: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Now, given the above, answer the following:</a:t>
            </a: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a)  </a:t>
            </a:r>
            <a:r>
              <a:rPr lang="en-US" sz="20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P(Ace)    </a:t>
            </a: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lang="en-US" sz="20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P(red card)    </a:t>
            </a: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c)  </a:t>
            </a:r>
            <a:r>
              <a:rPr lang="en-US" sz="20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P(Red King)    </a:t>
            </a:r>
            <a:r>
              <a:rPr lang="en-US" sz="20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d)  </a:t>
            </a:r>
            <a:r>
              <a:rPr lang="en-US" sz="20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P(Club)</a:t>
            </a: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pic>
        <p:nvPicPr>
          <p:cNvPr id="4" name="Picture 3" descr="card suit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95800" y="1380930"/>
            <a:ext cx="1940767" cy="3327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70696" y="1214735"/>
            <a:ext cx="518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5967" y="1960169"/>
            <a:ext cx="518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9400" y="2286000"/>
            <a:ext cx="518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2834" y="2590800"/>
            <a:ext cx="518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9400" y="2895600"/>
            <a:ext cx="518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709" y="3500735"/>
            <a:ext cx="518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708" y="3805535"/>
            <a:ext cx="518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956" y="4555434"/>
            <a:ext cx="518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3400" y="6917988"/>
                <a:ext cx="1231426" cy="625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𝟏𝟑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6917988"/>
                <a:ext cx="1231426" cy="625812"/>
              </a:xfrm>
              <a:prstGeom prst="rect">
                <a:avLst/>
              </a:prstGeom>
              <a:blipFill rotWithShape="1">
                <a:blip r:embed="rId3"/>
                <a:stretch>
                  <a:fillRect b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128644" y="6917988"/>
                <a:ext cx="1300356" cy="6258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𝟐𝟔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644" y="6917988"/>
                <a:ext cx="1300356" cy="625877"/>
              </a:xfrm>
              <a:prstGeom prst="rect">
                <a:avLst/>
              </a:prstGeom>
              <a:blipFill rotWithShape="1">
                <a:blip r:embed="rId4"/>
                <a:stretch>
                  <a:fillRect b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76680" y="6917923"/>
                <a:ext cx="1281120" cy="6258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𝟐𝟔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680" y="6917923"/>
                <a:ext cx="1281120" cy="625877"/>
              </a:xfrm>
              <a:prstGeom prst="rect">
                <a:avLst/>
              </a:prstGeom>
              <a:blipFill rotWithShape="1">
                <a:blip r:embed="rId5"/>
                <a:stretch>
                  <a:fillRect b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635332" y="6934200"/>
                <a:ext cx="1146468" cy="6258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𝟏𝟑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332" y="6934200"/>
                <a:ext cx="1146468" cy="625877"/>
              </a:xfrm>
              <a:prstGeom prst="rect">
                <a:avLst/>
              </a:prstGeom>
              <a:blipFill rotWithShape="1">
                <a:blip r:embed="rId6"/>
                <a:stretch>
                  <a:fillRect b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7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518" y="228600"/>
            <a:ext cx="670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AutoNum type="arabicParenR" startAt="4"/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Given the spinner to the right, answer the following:</a:t>
            </a:r>
          </a:p>
          <a:p>
            <a:pPr marL="342900" indent="-342900" algn="l">
              <a:buAutoNum type="arabicParenR" startAt="4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4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4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4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a)</a:t>
            </a:r>
            <a:r>
              <a:rPr lang="en-US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  P(5)	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lang="en-US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P(odd #)	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c)</a:t>
            </a:r>
            <a:r>
              <a:rPr lang="en-US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  P(2 or an odd #)</a:t>
            </a:r>
          </a:p>
        </p:txBody>
      </p:sp>
      <p:pic>
        <p:nvPicPr>
          <p:cNvPr id="3" name="Picture 2" descr="http://www.future-edge.com/blackboard/MathM3E312/images/spinn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867293"/>
            <a:ext cx="2057400" cy="2062544"/>
          </a:xfrm>
          <a:prstGeom prst="rect">
            <a:avLst/>
          </a:prstGeom>
          <a:noFill/>
        </p:spPr>
      </p:pic>
      <p:pic>
        <p:nvPicPr>
          <p:cNvPr id="4" name="Picture 2" descr="http://t2.gstatic.com/images?q=tbn:ANd9GcQJdOzJntXyvNSf1Pxu-snpWAHry-bbbydnnRTgVvJMzNeLrL1J:school.discoveryeducation.com/clipart/images/ani_thinkingca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730" y="6422571"/>
            <a:ext cx="1752600" cy="256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9276" y="3733800"/>
                <a:ext cx="1069524" cy="625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76" y="3733800"/>
                <a:ext cx="1069524" cy="625812"/>
              </a:xfrm>
              <a:prstGeom prst="rect">
                <a:avLst/>
              </a:prstGeom>
              <a:blipFill rotWithShape="1">
                <a:blip r:embed="rId4"/>
                <a:stretch>
                  <a:fillRect b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88076" y="3717588"/>
                <a:ext cx="1069524" cy="625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𝟖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076" y="3717588"/>
                <a:ext cx="1069524" cy="625812"/>
              </a:xfrm>
              <a:prstGeom prst="rect">
                <a:avLst/>
              </a:prstGeom>
              <a:blipFill rotWithShape="1">
                <a:blip r:embed="rId5"/>
                <a:stretch>
                  <a:fillRect b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800600" y="3717588"/>
                <a:ext cx="1069524" cy="6312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𝟏𝟐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𝟔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3717588"/>
                <a:ext cx="1069524" cy="631263"/>
              </a:xfrm>
              <a:prstGeom prst="rect">
                <a:avLst/>
              </a:prstGeom>
              <a:blipFill rotWithShape="1">
                <a:blip r:embed="rId6"/>
                <a:stretch>
                  <a:fillRect b="-7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11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656" y="0"/>
            <a:ext cx="6825343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“Experimental” Probability Questions:</a:t>
            </a:r>
          </a:p>
          <a:p>
            <a:pPr algn="l">
              <a:defRPr/>
            </a:pPr>
            <a:endParaRPr lang="en-US" b="1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5"/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Mike was practicing basketball shots.  </a:t>
            </a:r>
            <a:r>
              <a:rPr lang="en-US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Out of 24 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attempts, he </a:t>
            </a:r>
            <a:r>
              <a:rPr lang="en-US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made 21 baskets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.   </a:t>
            </a:r>
            <a:r>
              <a:rPr lang="en-US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Based on this rate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, what is the probability that Mike’s next shot will go in the basket?</a:t>
            </a: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6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6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6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6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6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6"/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Jane was throwing darts.  Out of </a:t>
            </a:r>
            <a:r>
              <a:rPr lang="en-US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12 attempts, 3 were bulls-eyes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.  If Jane were to make </a:t>
            </a:r>
            <a:r>
              <a:rPr lang="en-US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36 attempts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, how many </a:t>
            </a:r>
            <a:r>
              <a:rPr lang="en-US" b="1" i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should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be bulls-eyes?   </a:t>
            </a:r>
          </a:p>
          <a:p>
            <a:pPr marL="342900" indent="-342900" algn="l">
              <a:buAutoNum type="arabicParenR" startAt="6"/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pic>
        <p:nvPicPr>
          <p:cNvPr id="6146" name="Picture 2" descr="http://t2.gstatic.com/images?q=tbn:ANd9GcSaJ9XDTqBkx-v0FnKzfcCyOcfay0hq7L31N5FSf9Gu9EjsgJq4:clipartpin.com/clipart_file/basketball-hoop-clipart-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981200"/>
            <a:ext cx="2047875" cy="223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t3.gstatic.com/images?q=tbn:ANd9GcQNPAF6LJx8pMIwNqz9Rr-YaMQyxMbwBqNtreePt0ZC0W2lPfVn:www.clipartbest.com/cliparts/pT5/7K7/pT57K76TB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424" y="6553200"/>
            <a:ext cx="193357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62787" y="4404990"/>
                <a:ext cx="1223413" cy="624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𝟕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𝟖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787" y="4404990"/>
                <a:ext cx="1223413" cy="624210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103017" y="8443590"/>
            <a:ext cx="351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Rockwell" panose="02060603020205020403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1660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238685"/>
            <a:ext cx="685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marL="342900" indent="-342900" algn="l">
              <a:buAutoNum type="arabicParenR" startAt="8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The spinner shown has 5 sections of equal size.  The arrow of this spinner was spun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20 times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and landed on the section labeled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“R” 7 times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  Compare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the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theoretical probability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with the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experimental probability 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of the spinner landing </a:t>
            </a:r>
          </a:p>
          <a:p>
            <a:pPr algn="l"/>
            <a:r>
              <a:rPr lang="en-US" dirty="0">
                <a:latin typeface="Cambria Math" pitchFamily="18" charset="0"/>
                <a:ea typeface="Cambria Math" pitchFamily="18" charset="0"/>
              </a:rPr>
              <a:t>      on “R.”</a:t>
            </a: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657" y="0"/>
            <a:ext cx="6629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arenR" startAt="7"/>
              <a:defRPr/>
            </a:pP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A coin was flipped fifty times.  </a:t>
            </a:r>
            <a:r>
              <a:rPr lang="en-US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Out of 50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, it landed on</a:t>
            </a:r>
            <a:r>
              <a:rPr lang="en-US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heads 30 times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.  What is the </a:t>
            </a:r>
            <a:r>
              <a:rPr lang="en-US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experimental probability 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that the coin will land on heads on the next toss?  How is this different from the </a:t>
            </a:r>
            <a:r>
              <a:rPr lang="en-US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theoretical probability</a:t>
            </a:r>
            <a:r>
              <a:rPr lang="en-US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6" t="13741" r="34678" b="16583"/>
          <a:stretch/>
        </p:blipFill>
        <p:spPr bwMode="auto">
          <a:xfrm>
            <a:off x="4576669" y="6733592"/>
            <a:ext cx="2057396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 descr="http://t3.gstatic.com/images?q=tbn:ANd9GcSDMWi0rtdWuLRF85zVTlY4xpZQviDK39rtOwO9q31rSLJ8n5fZ2Q:scrabblesense.com/wp-content/uploads/2011/03/coin-fli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75" y="1975816"/>
            <a:ext cx="1990725" cy="229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6200" y="1981200"/>
                <a:ext cx="5046241" cy="2211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Experimental Probability: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𝟑𝟎</m:t>
                        </m:r>
                      </m:num>
                      <m:den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𝟓𝟎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/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/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Theoretical Probability :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/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/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experimental probability was greater than the theoretical probability.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981200"/>
                <a:ext cx="5046241" cy="2211183"/>
              </a:xfrm>
              <a:prstGeom prst="rect">
                <a:avLst/>
              </a:prstGeom>
              <a:blipFill rotWithShape="1">
                <a:blip r:embed="rId4"/>
                <a:stretch>
                  <a:fillRect l="-1330" b="-3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2400" y="6932817"/>
                <a:ext cx="5046241" cy="2211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Experimental Probability: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l"/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/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Theoretical Probability :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/>
                <a:endParaRPr lang="en-US" sz="20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/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experimental probability was greater than the theoretical probability.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6932817"/>
                <a:ext cx="5046241" cy="2211183"/>
              </a:xfrm>
              <a:prstGeom prst="rect">
                <a:avLst/>
              </a:prstGeom>
              <a:blipFill rotWithShape="1">
                <a:blip r:embed="rId5"/>
                <a:stretch>
                  <a:fillRect l="-1208" b="-3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26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9122" y="0"/>
            <a:ext cx="6858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AutoNum type="arabicParenR" startAt="9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The table shown depicts the results of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50 rolls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of a fair number cube numbered 1 – 6.  According the table, what was the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experimental probability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of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rolling a 3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?</a:t>
            </a: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marL="342900" indent="-342900" algn="l">
              <a:buAutoNum type="arabicParenR" startAt="10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The arrow of this spinner was spun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40 times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  </a:t>
            </a:r>
          </a:p>
          <a:p>
            <a:pPr algn="l"/>
            <a:r>
              <a:rPr lang="en-US" dirty="0">
                <a:latin typeface="Cambria Math" pitchFamily="18" charset="0"/>
                <a:ea typeface="Cambria Math" pitchFamily="18" charset="0"/>
              </a:rPr>
              <a:t>         On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25 out of 40 times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, the arrow landed on a  </a:t>
            </a:r>
          </a:p>
          <a:p>
            <a:pPr algn="l"/>
            <a:r>
              <a:rPr lang="en-US" dirty="0">
                <a:latin typeface="Cambria Math" pitchFamily="18" charset="0"/>
                <a:ea typeface="Cambria Math" pitchFamily="18" charset="0"/>
              </a:rPr>
              <a:t>         section labeled with a multiple of 4.  What was </a:t>
            </a:r>
          </a:p>
          <a:p>
            <a:pPr algn="l"/>
            <a:r>
              <a:rPr lang="en-US" dirty="0">
                <a:latin typeface="Cambria Math" pitchFamily="18" charset="0"/>
                <a:ea typeface="Cambria Math" pitchFamily="18" charset="0"/>
              </a:rPr>
              <a:t>         the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experimental  probability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of the arrow </a:t>
            </a:r>
          </a:p>
          <a:p>
            <a:pPr algn="l"/>
            <a:r>
              <a:rPr lang="en-US" dirty="0">
                <a:latin typeface="Cambria Math" pitchFamily="18" charset="0"/>
                <a:ea typeface="Cambria Math" pitchFamily="18" charset="0"/>
              </a:rPr>
              <a:t>         landing on a section labeled with a multiple </a:t>
            </a:r>
          </a:p>
          <a:p>
            <a:pPr algn="l"/>
            <a:r>
              <a:rPr lang="en-US" dirty="0">
                <a:latin typeface="Cambria Math" pitchFamily="18" charset="0"/>
                <a:ea typeface="Cambria Math" pitchFamily="18" charset="0"/>
              </a:rPr>
              <a:t>         of 4?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7" t="11918" r="62815" b="34204"/>
          <a:stretch/>
        </p:blipFill>
        <p:spPr bwMode="auto">
          <a:xfrm>
            <a:off x="4133823" y="6096000"/>
            <a:ext cx="2607878" cy="2516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3" t="12879" r="31316" b="16074"/>
          <a:stretch/>
        </p:blipFill>
        <p:spPr bwMode="auto">
          <a:xfrm>
            <a:off x="4158705" y="1258078"/>
            <a:ext cx="2699295" cy="239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dic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47781" y="1240418"/>
            <a:ext cx="886019" cy="740782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89936" y="2819400"/>
                <a:ext cx="1358064" cy="631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𝟏𝟎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936" y="2819400"/>
                <a:ext cx="1358064" cy="631327"/>
              </a:xfrm>
              <a:prstGeom prst="rect">
                <a:avLst/>
              </a:prstGeom>
              <a:blipFill rotWithShape="1">
                <a:blip r:embed="rId5"/>
                <a:stretch>
                  <a:fillRect b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43726" y="7522073"/>
                <a:ext cx="1223412" cy="6313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𝟐𝟓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</m:den>
                    </m:f>
                  </m:oMath>
                </a14:m>
                <a:r>
                  <a:rPr lang="en-US" b="1" i="1" dirty="0">
                    <a:solidFill>
                      <a:srgbClr val="FF0000"/>
                    </a:solidFill>
                    <a:latin typeface="Rockwell" panose="02060603020205020403" pitchFamily="18" charset="0"/>
                  </a:rPr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𝟖</m:t>
                        </m:r>
                      </m:den>
                    </m:f>
                  </m:oMath>
                </a14:m>
                <a:endParaRPr lang="en-US" b="1" i="1" dirty="0">
                  <a:solidFill>
                    <a:srgbClr val="FF0000"/>
                  </a:solidFill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726" y="7522073"/>
                <a:ext cx="1223412" cy="631391"/>
              </a:xfrm>
              <a:prstGeom prst="rect">
                <a:avLst/>
              </a:prstGeom>
              <a:blipFill rotWithShape="1">
                <a:blip r:embed="rId6"/>
                <a:stretch>
                  <a:fillRect b="-6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26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/>
          <p:cNvSpPr txBox="1">
            <a:spLocks noChangeArrowheads="1"/>
          </p:cNvSpPr>
          <p:nvPr/>
        </p:nvSpPr>
        <p:spPr bwMode="auto">
          <a:xfrm>
            <a:off x="0" y="3124200"/>
            <a:ext cx="6858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Showcard Gothic" pitchFamily="82" charset="0"/>
              </a:rPr>
              <a:t>END OF LESSON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dirty="0">
              <a:latin typeface="Showcard Gothic" pitchFamily="82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dirty="0">
              <a:latin typeface="Showcard Gothic" pitchFamily="82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 Rounded MT Bold" pitchFamily="34" charset="0"/>
              </a:rPr>
              <a:t>The next slides are student copies of the notes for this lesson.  These notes  were handed out in class and filled-in as the lesson progressed.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Arial Rounded MT Bold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Arial Rounded MT Bold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FF0000"/>
              </a:solidFill>
              <a:latin typeface="Arial Rounded MT Bold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FF0000"/>
              </a:solidFill>
              <a:latin typeface="Arial Rounded MT Bold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Arial Rounded MT Bold" pitchFamily="34" charset="0"/>
              </a:rPr>
              <a:t>NOTE:  The last slide(s) in any lesson slideshow (entitled “Practice Work”) represent the homework assigned for that day.    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1" r="15744" b="5830"/>
          <a:stretch>
            <a:fillRect/>
          </a:stretch>
        </p:blipFill>
        <p:spPr bwMode="auto">
          <a:xfrm>
            <a:off x="2509838" y="457200"/>
            <a:ext cx="1838325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7550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152400" y="1066800"/>
            <a:ext cx="6553200" cy="292387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1400" b="1" dirty="0">
                <a:solidFill>
                  <a:schemeClr val="accent2"/>
                </a:solidFill>
                <a:latin typeface="Showcard Gothic" pitchFamily="82" charset="0"/>
                <a:ea typeface="Cambria Math" pitchFamily="18" charset="0"/>
              </a:rPr>
              <a:t>Vocabulary:</a:t>
            </a:r>
            <a:r>
              <a:rPr lang="en-US" sz="1400" dirty="0">
                <a:solidFill>
                  <a:schemeClr val="accent2"/>
                </a:solidFill>
                <a:latin typeface="Showcard Gothic" pitchFamily="82" charset="0"/>
                <a:ea typeface="Cambria Math" pitchFamily="18" charset="0"/>
              </a:rPr>
              <a:t> </a:t>
            </a: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Probability–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expressed as a ratio describing the # of ___________________ outcomes to the # of _______________________ outcomes.  Probability is  measured on a scale from </a:t>
            </a:r>
          </a:p>
          <a:p>
            <a:pPr algn="l"/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0 – 1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.</a:t>
            </a:r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 algn="l"/>
            <a:endParaRPr lang="en-US" sz="1400" b="1" dirty="0">
              <a:latin typeface="Cambria Math" pitchFamily="18" charset="0"/>
              <a:ea typeface="Cambria Math" pitchFamily="18" charset="0"/>
            </a:endParaRPr>
          </a:p>
          <a:p>
            <a:pPr algn="l"/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Theoretical Probability–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the  probability, based on ______________________, that an event  will occur (what </a:t>
            </a:r>
            <a:r>
              <a:rPr lang="en-US" sz="1400" b="1" i="1" dirty="0">
                <a:latin typeface="Cambria Math" pitchFamily="18" charset="0"/>
                <a:ea typeface="Cambria Math" pitchFamily="18" charset="0"/>
              </a:rPr>
              <a:t>should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 happen).</a:t>
            </a:r>
          </a:p>
          <a:p>
            <a:pPr algn="l"/>
            <a:endParaRPr lang="en-US" sz="1400" b="1" dirty="0">
              <a:latin typeface="Cambria Math" pitchFamily="18" charset="0"/>
              <a:ea typeface="Cambria Math" pitchFamily="18" charset="0"/>
            </a:endParaRPr>
          </a:p>
          <a:p>
            <a:pPr algn="l"/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Experimental Probability–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found using outcomes obtained in an actual _________________ or game (what </a:t>
            </a:r>
            <a:r>
              <a:rPr lang="en-US" sz="1400" b="1" i="1" dirty="0">
                <a:latin typeface="Cambria Math" pitchFamily="18" charset="0"/>
                <a:ea typeface="Cambria Math" pitchFamily="18" charset="0"/>
              </a:rPr>
              <a:t>actually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happens).</a:t>
            </a:r>
          </a:p>
          <a:p>
            <a:pPr algn="l"/>
            <a:endParaRPr lang="en-US" sz="1400" b="1" dirty="0">
              <a:latin typeface="Cambria Math" pitchFamily="18" charset="0"/>
              <a:ea typeface="Cambria Math" pitchFamily="18" charset="0"/>
            </a:endParaRPr>
          </a:p>
          <a:p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What </a:t>
            </a:r>
            <a:r>
              <a:rPr lang="en-US" sz="1400" b="1" i="1" dirty="0">
                <a:latin typeface="Cambria Math" pitchFamily="18" charset="0"/>
                <a:ea typeface="Cambria Math" pitchFamily="18" charset="0"/>
              </a:rPr>
              <a:t>SHOULD happen v. What ACTUALLY happens!</a:t>
            </a:r>
            <a:endParaRPr lang="en-US" sz="1400" b="1" dirty="0">
              <a:latin typeface="Cambria Math" pitchFamily="18" charset="0"/>
              <a:ea typeface="Cambria Math" pitchFamily="18" charset="0"/>
            </a:endParaRPr>
          </a:p>
        </p:txBody>
      </p:sp>
      <p:cxnSp>
        <p:nvCxnSpPr>
          <p:cNvPr id="2052" name="AutoShape 226"/>
          <p:cNvCxnSpPr>
            <a:cxnSpLocks noChangeShapeType="1"/>
          </p:cNvCxnSpPr>
          <p:nvPr/>
        </p:nvCxnSpPr>
        <p:spPr bwMode="auto">
          <a:xfrm>
            <a:off x="1141413" y="6324600"/>
            <a:ext cx="1587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053" name="Line 230"/>
          <p:cNvSpPr>
            <a:spLocks noChangeShapeType="1"/>
          </p:cNvSpPr>
          <p:nvPr/>
        </p:nvSpPr>
        <p:spPr bwMode="auto">
          <a:xfrm>
            <a:off x="3581400" y="6553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205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47513" y="1143000"/>
            <a:ext cx="914400" cy="413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Straight Connector 14"/>
          <p:cNvCxnSpPr/>
          <p:nvPr/>
        </p:nvCxnSpPr>
        <p:spPr bwMode="auto">
          <a:xfrm rot="5400000" flipH="1" flipV="1">
            <a:off x="457200" y="3962400"/>
            <a:ext cx="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6273348" y="4641182"/>
            <a:ext cx="251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ocket" pitchFamily="2" charset="0"/>
              </a:rPr>
              <a:t>1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228600" y="3974432"/>
            <a:ext cx="6490747" cy="1712509"/>
            <a:chOff x="152400" y="3624468"/>
            <a:chExt cx="6490747" cy="1712509"/>
          </a:xfrm>
        </p:grpSpPr>
        <p:cxnSp>
          <p:nvCxnSpPr>
            <p:cNvPr id="31" name="Straight Connector 30"/>
            <p:cNvCxnSpPr/>
            <p:nvPr/>
          </p:nvCxnSpPr>
          <p:spPr bwMode="auto">
            <a:xfrm rot="5400000">
              <a:off x="3200400" y="4191000"/>
              <a:ext cx="3048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0" name="Group 49"/>
            <p:cNvGrpSpPr/>
            <p:nvPr/>
          </p:nvGrpSpPr>
          <p:grpSpPr>
            <a:xfrm>
              <a:off x="152400" y="3624468"/>
              <a:ext cx="6490747" cy="1712509"/>
              <a:chOff x="152400" y="3624468"/>
              <a:chExt cx="6490747" cy="1712509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152400" y="3624468"/>
                <a:ext cx="6490747" cy="1712509"/>
                <a:chOff x="0" y="3624468"/>
                <a:chExt cx="6490747" cy="1712509"/>
              </a:xfrm>
            </p:grpSpPr>
            <p:grpSp>
              <p:nvGrpSpPr>
                <p:cNvPr id="25" name="Group 24"/>
                <p:cNvGrpSpPr/>
                <p:nvPr/>
              </p:nvGrpSpPr>
              <p:grpSpPr>
                <a:xfrm>
                  <a:off x="457200" y="4038600"/>
                  <a:ext cx="5638800" cy="304800"/>
                  <a:chOff x="457200" y="4267200"/>
                  <a:chExt cx="5638800" cy="304800"/>
                </a:xfrm>
              </p:grpSpPr>
              <p:grpSp>
                <p:nvGrpSpPr>
                  <p:cNvPr id="24" name="Group 23"/>
                  <p:cNvGrpSpPr/>
                  <p:nvPr/>
                </p:nvGrpSpPr>
                <p:grpSpPr>
                  <a:xfrm>
                    <a:off x="457200" y="4267200"/>
                    <a:ext cx="5638800" cy="304800"/>
                    <a:chOff x="457200" y="3886200"/>
                    <a:chExt cx="5638800" cy="304800"/>
                  </a:xfrm>
                </p:grpSpPr>
                <p:cxnSp>
                  <p:nvCxnSpPr>
                    <p:cNvPr id="17" name="Straight Connector 16"/>
                    <p:cNvCxnSpPr/>
                    <p:nvPr/>
                  </p:nvCxnSpPr>
                  <p:spPr bwMode="auto">
                    <a:xfrm rot="5400000">
                      <a:off x="304800" y="4038600"/>
                      <a:ext cx="304800" cy="0"/>
                    </a:xfrm>
                    <a:prstGeom prst="line">
                      <a:avLst/>
                    </a:prstGeom>
                    <a:noFill/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9" name="Straight Connector 8"/>
                    <p:cNvCxnSpPr/>
                    <p:nvPr/>
                  </p:nvCxnSpPr>
                  <p:spPr bwMode="auto">
                    <a:xfrm>
                      <a:off x="457200" y="4038600"/>
                      <a:ext cx="5638800" cy="0"/>
                    </a:xfrm>
                    <a:prstGeom prst="line">
                      <a:avLst/>
                    </a:prstGeom>
                    <a:noFill/>
                    <a:ln w="222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cxnSp>
                <p:nvCxnSpPr>
                  <p:cNvPr id="18" name="Straight Connector 17"/>
                  <p:cNvCxnSpPr/>
                  <p:nvPr/>
                </p:nvCxnSpPr>
                <p:spPr bwMode="auto">
                  <a:xfrm rot="5400000">
                    <a:off x="5943600" y="4419600"/>
                    <a:ext cx="304800" cy="0"/>
                  </a:xfrm>
                  <a:prstGeom prst="line">
                    <a:avLst/>
                  </a:prstGeom>
                  <a:no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0" name="TextBox 19"/>
                <p:cNvSpPr txBox="1"/>
                <p:nvPr/>
              </p:nvSpPr>
              <p:spPr>
                <a:xfrm>
                  <a:off x="0" y="3856380"/>
                  <a:ext cx="101983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Socket" pitchFamily="2" charset="0"/>
                    </a:rPr>
                    <a:t>Impossible</a:t>
                  </a: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1524000" y="5029200"/>
                  <a:ext cx="77938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Socket" pitchFamily="2" charset="0"/>
                    </a:rPr>
                    <a:t>Unlikely</a:t>
                  </a: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2820033" y="3624468"/>
                  <a:ext cx="76014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Socket" pitchFamily="2" charset="0"/>
                    </a:rPr>
                    <a:t>Equally</a:t>
                  </a:r>
                </a:p>
                <a:p>
                  <a:r>
                    <a:rPr lang="en-US" sz="1400" dirty="0">
                      <a:latin typeface="Socket" pitchFamily="2" charset="0"/>
                    </a:rPr>
                    <a:t>Likely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5701748" y="3843128"/>
                  <a:ext cx="7889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Socket" pitchFamily="2" charset="0"/>
                    </a:rPr>
                    <a:t>Certain</a:t>
                  </a: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4343400" y="5029200"/>
                  <a:ext cx="61747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Socket" pitchFamily="2" charset="0"/>
                    </a:rPr>
                    <a:t>Likely</a:t>
                  </a:r>
                </a:p>
              </p:txBody>
            </p:sp>
            <p:cxnSp>
              <p:nvCxnSpPr>
                <p:cNvPr id="36" name="Straight Connector 35"/>
                <p:cNvCxnSpPr>
                  <a:endCxn id="21" idx="1"/>
                </p:cNvCxnSpPr>
                <p:nvPr/>
              </p:nvCxnSpPr>
              <p:spPr bwMode="auto">
                <a:xfrm>
                  <a:off x="457200" y="4343400"/>
                  <a:ext cx="1066800" cy="839689"/>
                </a:xfrm>
                <a:prstGeom prst="lin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" name="Straight Connector 37"/>
                <p:cNvCxnSpPr/>
                <p:nvPr/>
              </p:nvCxnSpPr>
              <p:spPr bwMode="auto">
                <a:xfrm flipH="1">
                  <a:off x="2255255" y="4343400"/>
                  <a:ext cx="926401" cy="839689"/>
                </a:xfrm>
                <a:prstGeom prst="lin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0" name="Straight Connector 39"/>
                <p:cNvCxnSpPr>
                  <a:endCxn id="32" idx="3"/>
                </p:cNvCxnSpPr>
                <p:nvPr/>
              </p:nvCxnSpPr>
              <p:spPr bwMode="auto">
                <a:xfrm rot="10800000" flipV="1">
                  <a:off x="4960878" y="4343399"/>
                  <a:ext cx="1135122" cy="839689"/>
                </a:xfrm>
                <a:prstGeom prst="lin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1" name="Straight Connector 40"/>
                <p:cNvCxnSpPr>
                  <a:stCxn id="46" idx="0"/>
                </p:cNvCxnSpPr>
                <p:nvPr/>
              </p:nvCxnSpPr>
              <p:spPr bwMode="auto">
                <a:xfrm>
                  <a:off x="3229782" y="4343400"/>
                  <a:ext cx="1153374" cy="8396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4" name="TextBox 43"/>
              <p:cNvSpPr txBox="1"/>
              <p:nvPr/>
            </p:nvSpPr>
            <p:spPr>
              <a:xfrm>
                <a:off x="381000" y="4267200"/>
                <a:ext cx="3064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Socket" pitchFamily="2" charset="0"/>
                  </a:rPr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3233744" y="4343400"/>
                  <a:ext cx="296876" cy="4092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11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100" dirty="0">
                    <a:latin typeface="Socket" pitchFamily="2" charset="0"/>
                  </a:endParaRPr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744" y="4343400"/>
                  <a:ext cx="296876" cy="40921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8458200"/>
            <a:ext cx="502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4" name="Group 36"/>
          <p:cNvGrpSpPr>
            <a:grpSpLocks/>
          </p:cNvGrpSpPr>
          <p:nvPr/>
        </p:nvGrpSpPr>
        <p:grpSpPr bwMode="auto">
          <a:xfrm>
            <a:off x="-16053" y="18467"/>
            <a:ext cx="6934200" cy="979706"/>
            <a:chOff x="685800" y="0"/>
            <a:chExt cx="6172200" cy="980139"/>
          </a:xfrm>
        </p:grpSpPr>
        <p:sp>
          <p:nvSpPr>
            <p:cNvPr id="35" name="TextBox 14"/>
            <p:cNvSpPr txBox="1">
              <a:spLocks noChangeArrowheads="1"/>
            </p:cNvSpPr>
            <p:nvPr/>
          </p:nvSpPr>
          <p:spPr bwMode="auto">
            <a:xfrm>
              <a:off x="2720148" y="11668"/>
              <a:ext cx="1766725" cy="400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Showcard Gothic" pitchFamily="82" charset="0"/>
                  <a:cs typeface="Times New Roman" pitchFamily="18" charset="0"/>
                </a:rPr>
                <a:t>Math-8 NOTES</a:t>
              </a:r>
            </a:p>
          </p:txBody>
        </p:sp>
        <p:sp>
          <p:nvSpPr>
            <p:cNvPr id="37" name="TextBox 15"/>
            <p:cNvSpPr txBox="1">
              <a:spLocks noChangeArrowheads="1"/>
            </p:cNvSpPr>
            <p:nvPr/>
          </p:nvSpPr>
          <p:spPr bwMode="auto">
            <a:xfrm>
              <a:off x="4953000" y="0"/>
              <a:ext cx="19050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b="1">
                  <a:latin typeface="Cambria Math" pitchFamily="18" charset="0"/>
                  <a:cs typeface="Times New Roman" pitchFamily="18" charset="0"/>
                </a:rPr>
                <a:t>DATE: ______/_______/_______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09624" y="333522"/>
              <a:ext cx="5895975" cy="646617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sz="1200" b="1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What:     </a:t>
              </a:r>
              <a:r>
                <a:rPr lang="en-US" sz="1200" dirty="0">
                  <a:solidFill>
                    <a:schemeClr val="tx1"/>
                  </a:solidFill>
                  <a:latin typeface="Showcard Gothic" pitchFamily="82" charset="0"/>
                  <a:ea typeface="Cambria Math" pitchFamily="18" charset="0"/>
                </a:rPr>
                <a:t>probability of simple events</a:t>
              </a:r>
              <a:endParaRPr lang="en-US" sz="1200" b="1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endParaRPr>
            </a:p>
            <a:p>
              <a:pPr algn="l">
                <a:defRPr/>
              </a:pPr>
              <a:r>
                <a:rPr lang="en-US" sz="1200" b="1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Why:     </a:t>
              </a:r>
              <a:r>
                <a:rPr lang="en-US" sz="1200" b="1" dirty="0">
                  <a:latin typeface="Comic Sans MS" pitchFamily="66" charset="0"/>
                </a:rPr>
                <a:t>To calculate the probability of simple events and to analyze the difference </a:t>
              </a:r>
            </a:p>
            <a:p>
              <a:pPr algn="l">
                <a:defRPr/>
              </a:pPr>
              <a:r>
                <a:rPr lang="en-US" sz="1200" b="1" dirty="0">
                  <a:latin typeface="Comic Sans MS" pitchFamily="66" charset="0"/>
                </a:rPr>
                <a:t>        between theoretical probability and experimental probability.</a:t>
              </a:r>
              <a:endPara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endParaRPr>
            </a:p>
          </p:txBody>
        </p:sp>
        <p:sp>
          <p:nvSpPr>
            <p:cNvPr id="42" name="TextBox 17"/>
            <p:cNvSpPr txBox="1">
              <a:spLocks noChangeArrowheads="1"/>
            </p:cNvSpPr>
            <p:nvPr/>
          </p:nvSpPr>
          <p:spPr bwMode="auto">
            <a:xfrm>
              <a:off x="685800" y="0"/>
              <a:ext cx="62895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1">
                  <a:latin typeface="Cambria Math" pitchFamily="18" charset="0"/>
                  <a:cs typeface="Times New Roman" pitchFamily="18" charset="0"/>
                </a:rPr>
                <a:t>NAME: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32084" y="5671625"/>
            <a:ext cx="679709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Socket" pitchFamily="2" charset="0"/>
              </a:rPr>
              <a:t>Where would the following fall on the above Number Line???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Your parents will win a lottery jackpot this year.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Food will be served for lunch.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The sun will rise tomorrow.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You will have 2 birthdays this year.</a:t>
            </a:r>
          </a:p>
          <a:p>
            <a:pPr marL="228600" indent="-228600" algn="l">
              <a:lnSpc>
                <a:spcPct val="150000"/>
              </a:lnSpc>
              <a:buAutoNum type="arabicParenR"/>
            </a:pPr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You will see a cat this evening.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6)    You will roll a “2” on a standard number cube.</a:t>
            </a:r>
          </a:p>
          <a:p>
            <a:pPr algn="l"/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7)    On your way to school, you will see a live woolly  mammoth.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8)    You will see a wild, living black bear tomorrow.</a:t>
            </a:r>
          </a:p>
          <a:p>
            <a:pPr marL="228600" indent="-228600" algn="l">
              <a:lnSpc>
                <a:spcPct val="150000"/>
              </a:lnSpc>
              <a:buAutoNum type="arabicParenR" startAt="9"/>
            </a:pPr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 You will get tails when you flip a coin.</a:t>
            </a:r>
          </a:p>
          <a:p>
            <a:pPr marL="228600" indent="-228600" algn="l">
              <a:lnSpc>
                <a:spcPct val="150000"/>
              </a:lnSpc>
              <a:buAutoNum type="arabicParenR" startAt="9"/>
            </a:pPr>
            <a:r>
              <a:rPr lang="en-US" sz="12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 You will become famous one day.</a:t>
            </a: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 marL="228600" indent="-228600" algn="l">
              <a:buAutoNum type="arabicParenR" startAt="9"/>
            </a:pPr>
            <a:endParaRPr lang="en-US" sz="1200" dirty="0">
              <a:latin typeface="Arial" pitchFamily="34" charset="0"/>
              <a:cs typeface="Arial" pitchFamily="34" charset="0"/>
            </a:endParaRPr>
          </a:p>
          <a:p>
            <a:pPr marL="228600" indent="-228600" algn="l"/>
            <a:endParaRPr lang="en-US" sz="1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1554" y="8458200"/>
            <a:ext cx="6656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howcard Gothic" pitchFamily="82" charset="0"/>
              </a:rPr>
              <a:t>Note:  As the # of Trials increase, The experimental probability will come closer and closer to the theoretical probability!!</a:t>
            </a:r>
          </a:p>
        </p:txBody>
      </p:sp>
      <p:sp>
        <p:nvSpPr>
          <p:cNvPr id="11" name="TextBox 18"/>
          <p:cNvSpPr txBox="1">
            <a:spLocks noChangeArrowheads="1"/>
          </p:cNvSpPr>
          <p:nvPr/>
        </p:nvSpPr>
        <p:spPr bwMode="auto">
          <a:xfrm>
            <a:off x="180196" y="48913"/>
            <a:ext cx="647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sz="1800" b="1" dirty="0">
                <a:latin typeface="Cambria Math" pitchFamily="18" charset="0"/>
                <a:ea typeface="Cambria Math" pitchFamily="18" charset="0"/>
                <a:cs typeface="Arial" charset="0"/>
              </a:rPr>
              <a:t>PROBABILITY TRIALS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99303"/>
              </p:ext>
            </p:extLst>
          </p:nvPr>
        </p:nvGraphicFramePr>
        <p:xfrm>
          <a:off x="152400" y="1025686"/>
          <a:ext cx="6705600" cy="23234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3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2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TRIAL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#1 :  Rolling  a Number Cube</a:t>
                      </a:r>
                    </a:p>
                    <a:p>
                      <a:r>
                        <a:rPr lang="en-US" sz="14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Out of 20 trials, how many times will an </a:t>
                      </a:r>
                      <a:r>
                        <a:rPr lang="en-US" sz="1400" b="1" i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odd number  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occur– P (odd #)?</a:t>
                      </a:r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375">
                <a:tc>
                  <a:txBody>
                    <a:bodyPr/>
                    <a:lstStyle/>
                    <a:p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1)   What do we need to know?</a:t>
                      </a:r>
                    </a:p>
                    <a:p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# of odd #’s: _____     total # of sides: _____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2)   Theoretical Probability: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3)   Do the experiment (20 trials):</a:t>
                      </a:r>
                    </a:p>
                    <a:p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4)   Experimental Probability: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583510"/>
              </p:ext>
            </p:extLst>
          </p:nvPr>
        </p:nvGraphicFramePr>
        <p:xfrm>
          <a:off x="325585" y="2794835"/>
          <a:ext cx="35814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3204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04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768540" y="1740970"/>
            <a:ext cx="15888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 Rounded MT Bold" pitchFamily="34" charset="0"/>
              </a:rPr>
              <a:t>(what </a:t>
            </a:r>
            <a:r>
              <a:rPr lang="en-US" sz="1000" b="1" i="1" dirty="0">
                <a:latin typeface="Arial Rounded MT Bold" pitchFamily="34" charset="0"/>
              </a:rPr>
              <a:t>should  </a:t>
            </a:r>
            <a:r>
              <a:rPr lang="en-US" sz="1000" dirty="0">
                <a:latin typeface="Arial Rounded MT Bold" pitchFamily="34" charset="0"/>
              </a:rPr>
              <a:t> happen)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827" y="2740805"/>
            <a:ext cx="17908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 Rounded MT Bold" pitchFamily="34" charset="0"/>
              </a:rPr>
              <a:t>(what </a:t>
            </a:r>
            <a:r>
              <a:rPr lang="en-US" sz="1000" b="1" i="1" dirty="0">
                <a:latin typeface="Arial Rounded MT Bold" pitchFamily="34" charset="0"/>
              </a:rPr>
              <a:t>actually </a:t>
            </a:r>
            <a:r>
              <a:rPr lang="en-US" sz="1000" dirty="0">
                <a:latin typeface="Arial Rounded MT Bold" pitchFamily="34" charset="0"/>
              </a:rPr>
              <a:t> happened)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262461"/>
              </p:ext>
            </p:extLst>
          </p:nvPr>
        </p:nvGraphicFramePr>
        <p:xfrm>
          <a:off x="62514" y="3789246"/>
          <a:ext cx="6705600" cy="240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3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2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TRIAL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#2 :  Flipping a Coin</a:t>
                      </a:r>
                    </a:p>
                    <a:p>
                      <a:r>
                        <a:rPr lang="en-US" sz="14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Out of 20 trials, how many times will </a:t>
                      </a:r>
                      <a:r>
                        <a:rPr lang="en-US" sz="1400" b="1" i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heads  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occur– P(heads)?</a:t>
                      </a:r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375">
                <a:tc>
                  <a:txBody>
                    <a:bodyPr/>
                    <a:lstStyle/>
                    <a:p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1)   What do we need to know?</a:t>
                      </a:r>
                    </a:p>
                    <a:p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r>
                        <a:rPr lang="en-US" sz="1400" b="1" baseline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# 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of heads</a:t>
                      </a:r>
                      <a:r>
                        <a:rPr lang="en-US" sz="1400" b="1" baseline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:  _____     total # of sides:  _____ </a:t>
                      </a:r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2)   Theoretical Probability: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3)   Do the experiment (20 trials):</a:t>
                      </a:r>
                    </a:p>
                    <a:p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14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4)   Experimental Probability: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794198"/>
              </p:ext>
            </p:extLst>
          </p:nvPr>
        </p:nvGraphicFramePr>
        <p:xfrm>
          <a:off x="235699" y="5558395"/>
          <a:ext cx="35814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3204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04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768540" y="4484170"/>
            <a:ext cx="15888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 Rounded MT Bold" pitchFamily="34" charset="0"/>
              </a:rPr>
              <a:t>(what </a:t>
            </a:r>
            <a:r>
              <a:rPr lang="en-US" sz="1000" b="1" i="1" dirty="0">
                <a:latin typeface="Arial Rounded MT Bold" pitchFamily="34" charset="0"/>
              </a:rPr>
              <a:t>should  </a:t>
            </a:r>
            <a:r>
              <a:rPr lang="en-US" sz="1000" dirty="0">
                <a:latin typeface="Arial Rounded MT Bold" pitchFamily="34" charset="0"/>
              </a:rPr>
              <a:t> happen)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827" y="5484005"/>
            <a:ext cx="17908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 Rounded MT Bold" pitchFamily="34" charset="0"/>
              </a:rPr>
              <a:t>(what </a:t>
            </a:r>
            <a:r>
              <a:rPr lang="en-US" sz="1000" b="1" i="1" dirty="0">
                <a:latin typeface="Arial Rounded MT Bold" pitchFamily="34" charset="0"/>
              </a:rPr>
              <a:t>actually </a:t>
            </a:r>
            <a:r>
              <a:rPr lang="en-US" sz="1000" dirty="0">
                <a:latin typeface="Arial Rounded MT Bold" pitchFamily="34" charset="0"/>
              </a:rPr>
              <a:t> happened)</a:t>
            </a:r>
          </a:p>
        </p:txBody>
      </p:sp>
      <p:pic>
        <p:nvPicPr>
          <p:cNvPr id="5" name="Picture 4" descr="dic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02829" y="1069038"/>
            <a:ext cx="533400" cy="4459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coin fli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27570" y="3789246"/>
            <a:ext cx="501359" cy="5013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52400"/>
            <a:ext cx="6629400" cy="892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FontTx/>
              <a:buAutoNum type="arabicParenR"/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A bag contains 7 blue, 5 purple, 12 red, and 6 orange marbles.  Find 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each probability if you draw one marble at random from the bag.  Write as a fraction in simplest form.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a)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P(purple)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        b)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P(red or orange) 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 	c)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P(not blue)</a:t>
            </a: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2)	You roll a standard number cube (six sides numbered 1 – 6).  After one roll, answer the following:</a:t>
            </a:r>
          </a:p>
          <a:p>
            <a:pPr marL="342900" indent="-342900" algn="l">
              <a:buAutoNum type="arabicParenR" startAt="3"/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a)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P(3 or 4)</a:t>
            </a:r>
            <a:r>
              <a:rPr lang="en-US" sz="1400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                      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P(even #)            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	c)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P(not 2)</a:t>
            </a: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3"/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Fill in the following information about a standard deck of cards:</a:t>
            </a:r>
          </a:p>
          <a:p>
            <a:pPr marL="342900" indent="-342900" algn="l">
              <a:buAutoNum type="arabicParenR" startAt="3"/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TOTAL # of Cards:	_____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Hearts(♥):  	_____		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Diamonds(♦):	_____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Clubs(♣):	_____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Spades(♠):	_____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Red Cards:	_____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# of Black Cards:	_____</a:t>
            </a: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Cards in Each Suit:  _______</a:t>
            </a: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Now, given the above, answer the following:</a:t>
            </a: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a)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P(Ace)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b)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P(red card)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c)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P(Red King)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d)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P(Club)</a:t>
            </a: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4"/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Given the spinner to the right, answer the following:</a:t>
            </a: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a)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  P(5)	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P(odd #)	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c)</a:t>
            </a:r>
            <a:r>
              <a:rPr lang="en-US" sz="1400" b="1" dirty="0">
                <a:solidFill>
                  <a:schemeClr val="accent2"/>
                </a:solidFill>
                <a:latin typeface="Cambria Math" pitchFamily="18" charset="0"/>
                <a:ea typeface="Cambria Math" pitchFamily="18" charset="0"/>
                <a:cs typeface="Arial" pitchFamily="34" charset="0"/>
              </a:rPr>
              <a:t>  P(2 or an odd #)</a:t>
            </a: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pic>
        <p:nvPicPr>
          <p:cNvPr id="7" name="Picture 6" descr="card suit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10200" y="3581400"/>
            <a:ext cx="1219200" cy="2090057"/>
          </a:xfrm>
          <a:prstGeom prst="rect">
            <a:avLst/>
          </a:prstGeom>
        </p:spPr>
      </p:pic>
      <p:pic>
        <p:nvPicPr>
          <p:cNvPr id="1026" name="Picture 2" descr="http://www.future-edge.com/blackboard/MathM3E312/images/spinn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7772400"/>
            <a:ext cx="1066800" cy="1069467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2400" y="0"/>
            <a:ext cx="647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Probability Questions: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0"/>
            <a:ext cx="6858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marL="342900" indent="-342900" algn="l">
              <a:buAutoNum type="arabicParenR" startAt="8"/>
            </a:pPr>
            <a:r>
              <a:rPr lang="en-US" sz="1400" dirty="0">
                <a:latin typeface="Cambria Math" pitchFamily="18" charset="0"/>
                <a:ea typeface="Cambria Math" pitchFamily="18" charset="0"/>
              </a:rPr>
              <a:t>The spinner shown has 5 sections of equal size.  The arrow of this spinner was </a:t>
            </a:r>
          </a:p>
          <a:p>
            <a:pPr algn="l"/>
            <a:r>
              <a:rPr lang="en-US" sz="1400" dirty="0">
                <a:latin typeface="Cambria Math" pitchFamily="18" charset="0"/>
                <a:ea typeface="Cambria Math" pitchFamily="18" charset="0"/>
              </a:rPr>
              <a:t>         spun </a:t>
            </a:r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20 times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and landed on the section labeled </a:t>
            </a:r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“R” 7 times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.  Compare</a:t>
            </a:r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the </a:t>
            </a:r>
          </a:p>
          <a:p>
            <a:pPr algn="l"/>
            <a:r>
              <a:rPr lang="en-US" sz="1400" b="1" i="1" dirty="0">
                <a:latin typeface="Cambria Math" pitchFamily="18" charset="0"/>
                <a:ea typeface="Cambria Math" pitchFamily="18" charset="0"/>
              </a:rPr>
              <a:t>         theoretical probability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 with the </a:t>
            </a:r>
            <a:r>
              <a:rPr lang="en-US" sz="1400" b="1" i="1" dirty="0">
                <a:latin typeface="Cambria Math" pitchFamily="18" charset="0"/>
                <a:ea typeface="Cambria Math" pitchFamily="18" charset="0"/>
              </a:rPr>
              <a:t>experimental probability 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of the spinner landing </a:t>
            </a:r>
          </a:p>
          <a:p>
            <a:pPr algn="l"/>
            <a:r>
              <a:rPr lang="en-US" sz="1400" dirty="0">
                <a:latin typeface="Cambria Math" pitchFamily="18" charset="0"/>
                <a:ea typeface="Cambria Math" pitchFamily="18" charset="0"/>
              </a:rPr>
              <a:t>         on “R.”</a:t>
            </a: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marL="342900" indent="-342900" algn="l">
              <a:buAutoNum type="arabicParenR" startAt="9"/>
            </a:pPr>
            <a:r>
              <a:rPr lang="en-US" sz="1400" dirty="0">
                <a:latin typeface="Cambria Math" pitchFamily="18" charset="0"/>
                <a:ea typeface="Cambria Math" pitchFamily="18" charset="0"/>
              </a:rPr>
              <a:t>The table shown depicts the results of </a:t>
            </a:r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50 rolls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of a fair number cube </a:t>
            </a:r>
          </a:p>
          <a:p>
            <a:pPr algn="l"/>
            <a:r>
              <a:rPr lang="en-US" sz="1400" dirty="0">
                <a:latin typeface="Cambria Math" pitchFamily="18" charset="0"/>
                <a:ea typeface="Cambria Math" pitchFamily="18" charset="0"/>
              </a:rPr>
              <a:t>         numbered 1 – 6.  According the table, what was the </a:t>
            </a:r>
            <a:r>
              <a:rPr lang="en-US" sz="1400" b="1" i="1" dirty="0">
                <a:latin typeface="Cambria Math" pitchFamily="18" charset="0"/>
                <a:ea typeface="Cambria Math" pitchFamily="18" charset="0"/>
              </a:rPr>
              <a:t>experimental probability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of </a:t>
            </a:r>
          </a:p>
          <a:p>
            <a:pPr algn="l"/>
            <a:r>
              <a:rPr lang="en-US" sz="1400" dirty="0">
                <a:latin typeface="Cambria Math" pitchFamily="18" charset="0"/>
                <a:ea typeface="Cambria Math" pitchFamily="18" charset="0"/>
              </a:rPr>
              <a:t>         </a:t>
            </a:r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rolling a 3 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?</a:t>
            </a: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algn="l"/>
            <a:endParaRPr lang="en-US" sz="1400" dirty="0">
              <a:latin typeface="Cambria Math" pitchFamily="18" charset="0"/>
              <a:ea typeface="Cambria Math" pitchFamily="18" charset="0"/>
            </a:endParaRPr>
          </a:p>
          <a:p>
            <a:pPr marL="342900" indent="-342900" algn="l">
              <a:buAutoNum type="arabicParenR" startAt="10"/>
            </a:pPr>
            <a:r>
              <a:rPr lang="en-US" sz="1400" dirty="0">
                <a:latin typeface="Cambria Math" pitchFamily="18" charset="0"/>
                <a:ea typeface="Cambria Math" pitchFamily="18" charset="0"/>
              </a:rPr>
              <a:t>  The arrow of this spinner was spun </a:t>
            </a:r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40 times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.  On </a:t>
            </a:r>
            <a:r>
              <a:rPr lang="en-US" sz="1400" b="1" dirty="0">
                <a:latin typeface="Cambria Math" pitchFamily="18" charset="0"/>
                <a:ea typeface="Cambria Math" pitchFamily="18" charset="0"/>
              </a:rPr>
              <a:t>25 out of 40 times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, the arrow </a:t>
            </a:r>
          </a:p>
          <a:p>
            <a:pPr algn="l"/>
            <a:r>
              <a:rPr lang="en-US" sz="1400" dirty="0">
                <a:latin typeface="Cambria Math" pitchFamily="18" charset="0"/>
                <a:ea typeface="Cambria Math" pitchFamily="18" charset="0"/>
              </a:rPr>
              <a:t>           landed on a section labeled with a multiple of 4.  What was the </a:t>
            </a:r>
            <a:r>
              <a:rPr lang="en-US" sz="1400" b="1" i="1" dirty="0">
                <a:latin typeface="Cambria Math" pitchFamily="18" charset="0"/>
                <a:ea typeface="Cambria Math" pitchFamily="18" charset="0"/>
              </a:rPr>
              <a:t>experimental </a:t>
            </a:r>
          </a:p>
          <a:p>
            <a:pPr algn="l"/>
            <a:r>
              <a:rPr lang="en-US" sz="1400" b="1" i="1" dirty="0">
                <a:latin typeface="Cambria Math" pitchFamily="18" charset="0"/>
                <a:ea typeface="Cambria Math" pitchFamily="18" charset="0"/>
              </a:rPr>
              <a:t>           probability</a:t>
            </a:r>
            <a:r>
              <a:rPr lang="en-US" sz="1400" dirty="0">
                <a:latin typeface="Cambria Math" pitchFamily="18" charset="0"/>
                <a:ea typeface="Cambria Math" pitchFamily="18" charset="0"/>
              </a:rPr>
              <a:t>  of the arrow landing on a section labeled with a multiple of 4?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657" y="0"/>
            <a:ext cx="66294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“Experimental” Probability Questions:</a:t>
            </a:r>
          </a:p>
          <a:p>
            <a:pPr algn="l">
              <a:defRPr/>
            </a:pPr>
            <a:endParaRPr lang="en-US" sz="1400" b="1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5"/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Mike was practicing basketball shots.  </a:t>
            </a:r>
            <a:r>
              <a:rPr lang="en-US" sz="1400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Out of 24 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attempts, he </a:t>
            </a:r>
            <a:r>
              <a:rPr lang="en-US" sz="1400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made 21 baskets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.    </a:t>
            </a:r>
          </a:p>
          <a:p>
            <a:pPr marL="342900" indent="-342900" algn="l"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  <a:r>
              <a:rPr lang="en-US" sz="1400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Based on this rate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, what is the probability that Mike’s next shot will go in the basket?</a:t>
            </a: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6"/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Jane was throwing darts.  Out of </a:t>
            </a:r>
            <a:r>
              <a:rPr lang="en-US" sz="1400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12 attempts, 3 were bulls-eyes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.  If Jane were to make </a:t>
            </a:r>
            <a:r>
              <a:rPr lang="en-US" sz="1400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36 attempts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, how many </a:t>
            </a:r>
            <a:r>
              <a:rPr lang="en-US" sz="1400" b="1" i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should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 be bulls-eyes?   </a:t>
            </a:r>
          </a:p>
          <a:p>
            <a:pPr marL="342900" indent="-342900" algn="l">
              <a:buAutoNum type="arabicParenR" startAt="6"/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defRPr/>
            </a:pPr>
            <a:endParaRPr lang="en-US" sz="1400" dirty="0"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indent="-342900" algn="l">
              <a:buAutoNum type="arabicParenR" startAt="7"/>
              <a:defRPr/>
            </a:pP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A coin was flipped fifty times.  </a:t>
            </a:r>
            <a:r>
              <a:rPr lang="en-US" sz="1400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Out of 50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, it landed on</a:t>
            </a:r>
            <a:r>
              <a:rPr lang="en-US" sz="1400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 heads 30 times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.  What is the </a:t>
            </a:r>
            <a:r>
              <a:rPr lang="en-US" sz="1400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experimental probability 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that the coin will land on heads on the next toss?  How is this different from the </a:t>
            </a:r>
            <a:r>
              <a:rPr lang="en-US" sz="1400" b="1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theoretical probability</a:t>
            </a:r>
            <a:r>
              <a:rPr lang="en-US" sz="1400" dirty="0">
                <a:latin typeface="Cambria Math" pitchFamily="18" charset="0"/>
                <a:ea typeface="Cambria Math" pitchFamily="18" charset="0"/>
                <a:cs typeface="Arial" pitchFamily="34" charset="0"/>
              </a:rPr>
              <a:t>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6" t="13741" r="34678" b="16583"/>
          <a:stretch/>
        </p:blipFill>
        <p:spPr bwMode="auto">
          <a:xfrm>
            <a:off x="5257800" y="3962398"/>
            <a:ext cx="1143000" cy="1143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7" t="11918" r="62815" b="34204"/>
          <a:stretch/>
        </p:blipFill>
        <p:spPr bwMode="auto">
          <a:xfrm>
            <a:off x="762000" y="7891380"/>
            <a:ext cx="1219200" cy="1176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3" t="12879" r="29537" b="16074"/>
          <a:stretch/>
        </p:blipFill>
        <p:spPr bwMode="auto">
          <a:xfrm>
            <a:off x="2624957" y="5715000"/>
            <a:ext cx="1489843" cy="124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0" y="0"/>
            <a:ext cx="7086600" cy="901117"/>
            <a:chOff x="685800" y="0"/>
            <a:chExt cx="6172200" cy="901519"/>
          </a:xfrm>
        </p:grpSpPr>
        <p:sp>
          <p:nvSpPr>
            <p:cNvPr id="2057" name="TextBox 14"/>
            <p:cNvSpPr txBox="1">
              <a:spLocks noChangeArrowheads="1"/>
            </p:cNvSpPr>
            <p:nvPr/>
          </p:nvSpPr>
          <p:spPr bwMode="auto">
            <a:xfrm>
              <a:off x="723132" y="224109"/>
              <a:ext cx="5898433" cy="677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ln w="19050">
                    <a:solidFill>
                      <a:schemeClr val="tx1"/>
                    </a:solidFill>
                  </a:ln>
                  <a:solidFill>
                    <a:schemeClr val="accent1">
                      <a:lumMod val="20000"/>
                      <a:lumOff val="80000"/>
                    </a:schemeClr>
                  </a:solidFill>
                  <a:latin typeface="Showcard Gothic" pitchFamily="82" charset="0"/>
                  <a:cs typeface="Times New Roman" pitchFamily="18" charset="0"/>
                </a:rPr>
                <a:t>Math-7 practice/ homework</a:t>
              </a:r>
            </a:p>
            <a:p>
              <a:pPr algn="ctr" eaLnBrk="1" hangingPunct="1"/>
              <a:r>
                <a:rPr lang="en-US" sz="1400" dirty="0">
                  <a:latin typeface="Showcard Gothic" pitchFamily="82" charset="0"/>
                  <a:cs typeface="Times New Roman" pitchFamily="18" charset="0"/>
                </a:rPr>
                <a:t>“theoretical versus experimental probability”</a:t>
              </a:r>
            </a:p>
          </p:txBody>
        </p:sp>
        <p:sp>
          <p:nvSpPr>
            <p:cNvPr id="2058" name="TextBox 15"/>
            <p:cNvSpPr txBox="1">
              <a:spLocks noChangeArrowheads="1"/>
            </p:cNvSpPr>
            <p:nvPr/>
          </p:nvSpPr>
          <p:spPr bwMode="auto">
            <a:xfrm>
              <a:off x="4953000" y="0"/>
              <a:ext cx="1905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>
                  <a:latin typeface="Cambria Math" pitchFamily="18" charset="0"/>
                  <a:cs typeface="Times New Roman" pitchFamily="18" charset="0"/>
                </a:rPr>
                <a:t>DATE: ______/_______/_______</a:t>
              </a:r>
            </a:p>
          </p:txBody>
        </p:sp>
        <p:sp>
          <p:nvSpPr>
            <p:cNvPr id="2060" name="TextBox 17"/>
            <p:cNvSpPr txBox="1">
              <a:spLocks noChangeArrowheads="1"/>
            </p:cNvSpPr>
            <p:nvPr/>
          </p:nvSpPr>
          <p:spPr bwMode="auto">
            <a:xfrm>
              <a:off x="685800" y="0"/>
              <a:ext cx="4310460" cy="277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>
                  <a:latin typeface="Cambria Math" pitchFamily="18" charset="0"/>
                  <a:cs typeface="Times New Roman" pitchFamily="18" charset="0"/>
                </a:rPr>
                <a:t>NAME:_____________________________________________________________________________</a:t>
              </a:r>
            </a:p>
          </p:txBody>
        </p:sp>
      </p:grpSp>
      <p:sp>
        <p:nvSpPr>
          <p:cNvPr id="6205" name="Rectangle 6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09650"/>
            <a:ext cx="6772275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Callout 1"/>
          <p:cNvSpPr/>
          <p:nvPr/>
        </p:nvSpPr>
        <p:spPr bwMode="auto">
          <a:xfrm>
            <a:off x="4495800" y="1447800"/>
            <a:ext cx="1752600" cy="1143000"/>
          </a:xfrm>
          <a:prstGeom prst="wedgeEllipseCallout">
            <a:avLst>
              <a:gd name="adj1" fmla="val -72023"/>
              <a:gd name="adj2" fmla="val 11667"/>
            </a:avLst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First,</a:t>
            </a:r>
            <a:r>
              <a:rPr kumimoji="0" lang="en-US" sz="1000" b="1" i="0" u="none" strike="noStrike" cap="none" normalizeH="0" dirty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 you need to count how many times she picked a card (look at tallies).</a:t>
            </a:r>
            <a:endParaRPr kumimoji="0" lang="en-US" sz="1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val Callout 9"/>
          <p:cNvSpPr/>
          <p:nvPr/>
        </p:nvSpPr>
        <p:spPr bwMode="auto">
          <a:xfrm>
            <a:off x="5237746" y="5975684"/>
            <a:ext cx="1600200" cy="990600"/>
          </a:xfrm>
          <a:prstGeom prst="wedgeEllipseCallout">
            <a:avLst>
              <a:gd name="adj1" fmla="val -66008"/>
              <a:gd name="adj2" fmla="val -7766"/>
            </a:avLst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Again,  use</a:t>
            </a:r>
            <a:r>
              <a:rPr kumimoji="0" lang="en-US" sz="1000" b="1" i="0" u="none" strike="noStrike" cap="none" normalizeH="0" dirty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 table to count the total # of people surveyed.</a:t>
            </a:r>
            <a:endParaRPr kumimoji="0" lang="en-US" sz="1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25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0" y="0"/>
            <a:ext cx="7086600" cy="931895"/>
            <a:chOff x="685800" y="0"/>
            <a:chExt cx="6172200" cy="932311"/>
          </a:xfrm>
        </p:grpSpPr>
        <p:sp>
          <p:nvSpPr>
            <p:cNvPr id="2057" name="TextBox 14"/>
            <p:cNvSpPr txBox="1">
              <a:spLocks noChangeArrowheads="1"/>
            </p:cNvSpPr>
            <p:nvPr/>
          </p:nvSpPr>
          <p:spPr bwMode="auto">
            <a:xfrm>
              <a:off x="685800" y="224109"/>
              <a:ext cx="5973098" cy="708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ln w="19050">
                    <a:solidFill>
                      <a:schemeClr val="tx1"/>
                    </a:solidFill>
                  </a:ln>
                  <a:solidFill>
                    <a:schemeClr val="accent1">
                      <a:lumMod val="20000"/>
                      <a:lumOff val="80000"/>
                    </a:schemeClr>
                  </a:solidFill>
                  <a:latin typeface="Showcard Gothic" pitchFamily="82" charset="0"/>
                  <a:cs typeface="Times New Roman" pitchFamily="18" charset="0"/>
                </a:rPr>
                <a:t>Math-7 practice/ homework</a:t>
              </a:r>
            </a:p>
            <a:p>
              <a:pPr algn="ctr" eaLnBrk="1" hangingPunct="1"/>
              <a:r>
                <a:rPr lang="en-US" sz="1600" dirty="0">
                  <a:latin typeface="Showcard Gothic" pitchFamily="82" charset="0"/>
                  <a:cs typeface="Times New Roman" pitchFamily="18" charset="0"/>
                </a:rPr>
                <a:t>“probability of simple events”</a:t>
              </a:r>
            </a:p>
          </p:txBody>
        </p:sp>
        <p:sp>
          <p:nvSpPr>
            <p:cNvPr id="2058" name="TextBox 15"/>
            <p:cNvSpPr txBox="1">
              <a:spLocks noChangeArrowheads="1"/>
            </p:cNvSpPr>
            <p:nvPr/>
          </p:nvSpPr>
          <p:spPr bwMode="auto">
            <a:xfrm>
              <a:off x="4953000" y="0"/>
              <a:ext cx="1905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>
                  <a:latin typeface="Cambria Math" pitchFamily="18" charset="0"/>
                  <a:cs typeface="Times New Roman" pitchFamily="18" charset="0"/>
                </a:rPr>
                <a:t>DATE: ______/_______/_______</a:t>
              </a:r>
            </a:p>
          </p:txBody>
        </p:sp>
        <p:sp>
          <p:nvSpPr>
            <p:cNvPr id="2060" name="TextBox 17"/>
            <p:cNvSpPr txBox="1">
              <a:spLocks noChangeArrowheads="1"/>
            </p:cNvSpPr>
            <p:nvPr/>
          </p:nvSpPr>
          <p:spPr bwMode="auto">
            <a:xfrm>
              <a:off x="685800" y="0"/>
              <a:ext cx="4310460" cy="277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>
                  <a:latin typeface="Cambria Math" pitchFamily="18" charset="0"/>
                  <a:cs typeface="Times New Roman" pitchFamily="18" charset="0"/>
                </a:rPr>
                <a:t>NAME:_____________________________________________________________________________</a:t>
              </a:r>
            </a:p>
          </p:txBody>
        </p:sp>
      </p:grpSp>
      <p:sp>
        <p:nvSpPr>
          <p:cNvPr id="6205" name="Rectangle 61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066800"/>
            <a:ext cx="6010275" cy="752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522474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5774</TotalTime>
  <Words>2298</Words>
  <Application>Microsoft Office PowerPoint</Application>
  <PresentationFormat>On-screen Show (4:3)</PresentationFormat>
  <Paragraphs>401</Paragraphs>
  <Slides>25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Rounded MT Bold</vt:lpstr>
      <vt:lpstr>Calibri</vt:lpstr>
      <vt:lpstr>Cambria Math</vt:lpstr>
      <vt:lpstr>Comic Sans MS</vt:lpstr>
      <vt:lpstr>Rockwell</vt:lpstr>
      <vt:lpstr>Showcard Gothic</vt:lpstr>
      <vt:lpstr>Socket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 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</dc:creator>
  <cp:lastModifiedBy>DAVIES Rhys [Busselton Senior High School]</cp:lastModifiedBy>
  <cp:revision>138</cp:revision>
  <cp:lastPrinted>2014-04-21T11:30:15Z</cp:lastPrinted>
  <dcterms:created xsi:type="dcterms:W3CDTF">2009-02-13T22:36:42Z</dcterms:created>
  <dcterms:modified xsi:type="dcterms:W3CDTF">2022-05-23T02:21:09Z</dcterms:modified>
</cp:coreProperties>
</file>
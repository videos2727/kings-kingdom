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0" r:id="rId4"/>
    <p:sldId id="271" r:id="rId5"/>
    <p:sldId id="261" r:id="rId6"/>
    <p:sldId id="258" r:id="rId7"/>
    <p:sldId id="265" r:id="rId8"/>
    <p:sldId id="266" r:id="rId9"/>
    <p:sldId id="267" r:id="rId10"/>
    <p:sldId id="272" r:id="rId11"/>
    <p:sldId id="268" r:id="rId12"/>
    <p:sldId id="26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6B57-AEED-4936-BFEA-2D0C1FB13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4CC35-6EF4-4E51-B51D-D50F039B3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D1B2-B717-4075-8ECC-E2116669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EA08-CBE2-4814-8256-E1F93DB4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41EF-5532-4A96-81F9-A3FE3648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81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45EF-2304-470A-AF00-DD38C236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9B11-23CA-4EE0-BC89-3918662E8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3B9-A7FB-4128-ADD7-1A5F8337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54229-49E9-4560-BCB9-9B33700D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F350-E825-42F1-A0FB-A0FD6FAC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1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C0A7-9034-4C90-902F-BECB932A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F758C-B678-4E4A-BC6C-1666410BF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1A4BF-AF85-4D68-B6CD-2EF38D79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41D20-FD6E-410F-8F6F-6369F8C1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37205-5380-4B49-9E0F-D3139CA7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72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4DDEE-BC16-4726-8988-B597E398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1F4F-64AE-49B1-AEA8-168B64972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EC056-956A-43BA-AFC6-56F908A07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908D8-4C40-44A2-86F6-2A4CB1D1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2B5F8-ED31-478A-80E3-2E11037C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11CC-B9F3-4617-AD8D-D83B74E9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0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2F1F-378C-4D1E-8DAF-B2221B1C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EDE8C-9ABD-4E34-8643-D8A89DF73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9A4CE-A194-4B02-9774-59E5E4B8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79D06-04A7-438D-A898-7782D2C6F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D70E75-627D-42F0-8189-3BD93A6BF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F35B5-DD23-40EA-807D-96E70DB0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6BCEE-053A-499C-B510-0FD7A79C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9B531-A481-4B66-84C7-2954AAAB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968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C1DF-E974-4B45-8E51-B6D4B1EA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5B20-9E0D-4A3F-9D83-9E57E70A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B1205-62D8-4FEA-9521-9BD6BD3A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EDA7B-2CD6-4F9C-B8C9-929C8A0A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0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FB723-EA84-4A0B-86AE-D5A882C4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98C7A-7A56-4D54-8F8B-FD653E04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E529F-3086-4448-8457-B81B8E6F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204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AF6A-575A-42E3-B0D1-7EF25F9C4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3C89-9D7A-47A2-B69C-C9F5A35E9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162C1-5CF1-4C5A-9790-CFC3EEA0D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C5DF6-F0F8-4E64-940E-5AC6BEF1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7BBA-98BB-4EEA-86C7-38B0D900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0826E-71B6-40B2-A6FB-36AE77C3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663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9C8A-EB03-4FBD-8738-94598B39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E126B-A3F3-4BC7-A291-DECB24157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66220-8D46-40A6-B338-84E1E422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71454-B2F7-4926-ABF4-68D09B18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8B5CC-5EF6-4A14-959B-5776AD6A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B182-B2D3-4953-A5D5-D26C0C5D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19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FE11-EA8C-408F-8B7E-9EEBE9AB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32697-A2AF-4072-941A-0CBA5113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7C7EE-A70C-45FC-9C21-12C080AB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393BA-FB6F-46BF-B0F1-F6EDC177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4132D-07AD-46F6-A8CA-845FBD48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722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29695-0B69-4A56-B643-42B44695B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4C9D0-68F5-42F6-81F5-ED2B75CC4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C41C4-63A8-4776-9F1E-791B08BD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4BEE-4895-4038-892B-C9DA234A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5EA1-D381-4CFF-9589-C7F6FDBC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931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831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1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323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41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292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93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320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964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618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114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1513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9572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8314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54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1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86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3F48A-16F5-484A-A20F-1419C719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9FB6B-544B-47C5-A823-C174EB04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AB16A-B2C1-4186-874F-4F1ACCA51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D4F08-51D8-4827-93D5-4943B377400F}" type="datetimeFigureOut">
              <a:rPr lang="en-AU" smtClean="0"/>
              <a:t>11/05/2022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F6695-7EAD-4784-A93C-A48FA0302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6CA3-1E77-4922-AA4D-281DB1B61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4D95B-06A3-4F93-A1CD-FF19A060E7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9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4806-E2A7-48A8-B292-BBA784E38300}" type="datetimeFigureOut">
              <a:rPr lang="en-GB" smtClean="0"/>
              <a:pPr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EFC404-0FBA-43FB-BAEF-3A9F354ED2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70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520" y="44624"/>
            <a:ext cx="7406640" cy="949874"/>
          </a:xfrm>
        </p:spPr>
        <p:txBody>
          <a:bodyPr/>
          <a:lstStyle/>
          <a:p>
            <a:pPr algn="ctr"/>
            <a:r>
              <a:rPr lang="en-GB" sz="4400" u="sng" dirty="0">
                <a:solidFill>
                  <a:srgbClr val="00B0F0"/>
                </a:solidFill>
              </a:rPr>
              <a:t>Area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6201" y="1203451"/>
            <a:ext cx="9025277" cy="2515040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00B0F0"/>
                </a:solidFill>
              </a:rPr>
              <a:t>Aim: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B0F0"/>
                </a:solidFill>
              </a:rPr>
              <a:t>Calculate the area of a parallelogram</a:t>
            </a:r>
            <a:r>
              <a:rPr lang="en-GB" dirty="0">
                <a:solidFill>
                  <a:srgbClr val="00B0F0"/>
                </a:solidFill>
              </a:rPr>
              <a:t> and </a:t>
            </a:r>
            <a:r>
              <a:rPr lang="en-GB" sz="2400" dirty="0">
                <a:solidFill>
                  <a:srgbClr val="00B0F0"/>
                </a:solidFill>
              </a:rPr>
              <a:t>kite.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B0F0"/>
                </a:solidFill>
              </a:rPr>
              <a:t>Convert squared units of measurement.</a:t>
            </a:r>
          </a:p>
          <a:p>
            <a:pPr algn="l"/>
            <a:endParaRPr lang="en-GB" sz="2400" dirty="0">
              <a:solidFill>
                <a:schemeClr val="tx1"/>
              </a:solidFill>
            </a:endParaRPr>
          </a:p>
          <a:p>
            <a:pPr algn="l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52184" y="25357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1319195" y="260562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 dirty="0"/>
              <a:t>Classwork</a:t>
            </a:r>
          </a:p>
        </p:txBody>
      </p:sp>
      <p:grpSp>
        <p:nvGrpSpPr>
          <p:cNvPr id="35" name="Group 34"/>
          <p:cNvGrpSpPr/>
          <p:nvPr/>
        </p:nvGrpSpPr>
        <p:grpSpPr>
          <a:xfrm rot="5400000" flipH="1">
            <a:off x="1508660" y="4124138"/>
            <a:ext cx="3006838" cy="1686452"/>
            <a:chOff x="7608168" y="3628465"/>
            <a:chExt cx="2212081" cy="1240695"/>
          </a:xfrm>
        </p:grpSpPr>
        <p:sp>
          <p:nvSpPr>
            <p:cNvPr id="7" name="Right Triangle 6"/>
            <p:cNvSpPr/>
            <p:nvPr/>
          </p:nvSpPr>
          <p:spPr>
            <a:xfrm>
              <a:off x="7765437" y="3645024"/>
              <a:ext cx="2054812" cy="1041704"/>
            </a:xfrm>
            <a:prstGeom prst="rtTriangl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7765437" y="4869160"/>
              <a:ext cx="20548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7608168" y="3628465"/>
              <a:ext cx="0" cy="10404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2832674" y="645789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3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5345" y="4828044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9 m</a:t>
            </a:r>
          </a:p>
        </p:txBody>
      </p:sp>
      <p:sp>
        <p:nvSpPr>
          <p:cNvPr id="38" name="Title 1"/>
          <p:cNvSpPr txBox="1">
            <a:spLocks/>
          </p:cNvSpPr>
          <p:nvPr/>
        </p:nvSpPr>
        <p:spPr>
          <a:xfrm>
            <a:off x="1935257" y="2768186"/>
            <a:ext cx="9810319" cy="5974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GB" sz="2800" b="1" u="sng" dirty="0">
                <a:solidFill>
                  <a:schemeClr val="tx1"/>
                </a:solidFill>
                <a:highlight>
                  <a:srgbClr val="FFFF00"/>
                </a:highlight>
              </a:rPr>
              <a:t>Starter</a:t>
            </a:r>
            <a:r>
              <a:rPr lang="en-GB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 Work out the area of the following shapes to 1 decimal place</a:t>
            </a:r>
            <a:r>
              <a:rPr lang="en-GB" sz="2400" dirty="0">
                <a:solidFill>
                  <a:schemeClr val="tx1"/>
                </a:solidFill>
                <a:highlight>
                  <a:srgbClr val="FFFF00"/>
                </a:highlight>
              </a:rPr>
              <a:t>.</a:t>
            </a:r>
            <a:endParaRPr lang="en-GB" sz="2400" u="sng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7460" y="4800086"/>
            <a:ext cx="1944216" cy="1123353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5697460" y="6163946"/>
            <a:ext cx="1944216" cy="0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764607" y="4800086"/>
            <a:ext cx="0" cy="1123200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697460" y="3859690"/>
            <a:ext cx="864096" cy="947412"/>
          </a:xfrm>
          <a:prstGeom prst="rect">
            <a:avLst/>
          </a:prstGeom>
          <a:solidFill>
            <a:srgbClr val="FFFF6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743025" y="4301401"/>
            <a:ext cx="792000" cy="947412"/>
          </a:xfrm>
          <a:prstGeom prst="rect">
            <a:avLst/>
          </a:prstGeom>
          <a:solidFill>
            <a:srgbClr val="FFFF6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1" name="Group 40"/>
          <p:cNvGrpSpPr/>
          <p:nvPr/>
        </p:nvGrpSpPr>
        <p:grpSpPr>
          <a:xfrm>
            <a:off x="8673681" y="3856196"/>
            <a:ext cx="2071788" cy="2071788"/>
            <a:chOff x="789817" y="3247243"/>
            <a:chExt cx="1584176" cy="1584176"/>
          </a:xfrm>
        </p:grpSpPr>
        <p:sp>
          <p:nvSpPr>
            <p:cNvPr id="42" name="Oval 41"/>
            <p:cNvSpPr/>
            <p:nvPr/>
          </p:nvSpPr>
          <p:spPr>
            <a:xfrm>
              <a:off x="789817" y="3247243"/>
              <a:ext cx="1584176" cy="1584176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1579652" y="3800899"/>
              <a:ext cx="774218" cy="2384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9759622" y="4357287"/>
            <a:ext cx="764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4 cm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8644" y="6222069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8cm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6669568" y="3856196"/>
            <a:ext cx="0" cy="972000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6535025" y="4921214"/>
            <a:ext cx="1080000" cy="0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55931" y="5228154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4cm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089" y="4856679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5cm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5733" y="4136261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3cm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41E415-AD94-4EAB-B070-ADF6E02188BC}"/>
              </a:ext>
            </a:extLst>
          </p:cNvPr>
          <p:cNvSpPr txBox="1"/>
          <p:nvPr/>
        </p:nvSpPr>
        <p:spPr>
          <a:xfrm>
            <a:off x="2923214" y="3917148"/>
            <a:ext cx="1409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/>
              <a:t>13.5 m</a:t>
            </a:r>
            <a:r>
              <a:rPr lang="en-GB" sz="2800" i="1" baseline="30000" dirty="0"/>
              <a:t>2</a:t>
            </a:r>
            <a:endParaRPr lang="en-GB" sz="2800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CDA2F0-5D14-4F21-A4C7-A81AB17E1174}"/>
              </a:ext>
            </a:extLst>
          </p:cNvPr>
          <p:cNvSpPr txBox="1"/>
          <p:nvPr/>
        </p:nvSpPr>
        <p:spPr>
          <a:xfrm>
            <a:off x="5958587" y="5092302"/>
            <a:ext cx="1255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/>
              <a:t>41 cm</a:t>
            </a:r>
            <a:r>
              <a:rPr lang="en-GB" sz="2800" i="1" baseline="30000" dirty="0"/>
              <a:t>2</a:t>
            </a:r>
            <a:endParaRPr lang="en-GB" sz="28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0E6C1F-49CA-461E-B297-792C7E6648B8}"/>
              </a:ext>
            </a:extLst>
          </p:cNvPr>
          <p:cNvSpPr txBox="1"/>
          <p:nvPr/>
        </p:nvSpPr>
        <p:spPr>
          <a:xfrm>
            <a:off x="8986130" y="4921106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/>
              <a:t>50.3 cm</a:t>
            </a:r>
            <a:r>
              <a:rPr lang="en-GB" sz="2800" i="1" baseline="30000" dirty="0"/>
              <a:t>2</a:t>
            </a:r>
            <a:endParaRPr lang="en-GB" sz="28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CDA2-F8D7-42BF-9344-62303B3A1E36}"/>
              </a:ext>
            </a:extLst>
          </p:cNvPr>
          <p:cNvSpPr txBox="1"/>
          <p:nvPr/>
        </p:nvSpPr>
        <p:spPr>
          <a:xfrm>
            <a:off x="9081855" y="260562"/>
            <a:ext cx="179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12/05/2022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29EF1-1E29-46DF-8E4C-F92B4E9D0161}"/>
              </a:ext>
            </a:extLst>
          </p:cNvPr>
          <p:cNvSpPr txBox="1"/>
          <p:nvPr/>
        </p:nvSpPr>
        <p:spPr>
          <a:xfrm>
            <a:off x="9081855" y="994498"/>
            <a:ext cx="2663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0000"/>
                </a:highlight>
              </a:rPr>
              <a:t>Need whiteboards</a:t>
            </a:r>
            <a:endParaRPr lang="en-AU" sz="2400" b="1" dirty="0">
              <a:highlight>
                <a:srgbClr val="FF00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Area (I do)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Convert 16cm</a:t>
            </a:r>
            <a:r>
              <a:rPr lang="en-GB" baseline="30000"/>
              <a:t>2</a:t>
            </a:r>
            <a:r>
              <a:rPr lang="en-GB"/>
              <a:t> to mm</a:t>
            </a:r>
            <a:r>
              <a:rPr lang="en-GB" baseline="30000"/>
              <a:t>2</a:t>
            </a:r>
          </a:p>
          <a:p>
            <a:endParaRPr lang="en-GB"/>
          </a:p>
          <a:p>
            <a:r>
              <a:rPr lang="en-GB"/>
              <a:t>95mm</a:t>
            </a:r>
            <a:r>
              <a:rPr lang="en-GB" baseline="30000"/>
              <a:t>2</a:t>
            </a:r>
            <a:r>
              <a:rPr lang="en-GB"/>
              <a:t> to cm</a:t>
            </a:r>
            <a:r>
              <a:rPr lang="en-GB" baseline="30000"/>
              <a:t>2</a:t>
            </a:r>
          </a:p>
          <a:p>
            <a:endParaRPr lang="en-GB"/>
          </a:p>
          <a:p>
            <a:r>
              <a:rPr lang="en-GB"/>
              <a:t>7m</a:t>
            </a:r>
            <a:r>
              <a:rPr lang="en-GB" baseline="30000"/>
              <a:t>2</a:t>
            </a:r>
            <a:r>
              <a:rPr lang="en-GB"/>
              <a:t> to cm</a:t>
            </a:r>
            <a:r>
              <a:rPr lang="en-GB" baseline="30000"/>
              <a:t>2</a:t>
            </a:r>
          </a:p>
          <a:p>
            <a:endParaRPr lang="en-GB"/>
          </a:p>
          <a:p>
            <a:r>
              <a:rPr lang="en-GB"/>
              <a:t>8400cm</a:t>
            </a:r>
            <a:r>
              <a:rPr lang="en-GB" baseline="30000"/>
              <a:t>2</a:t>
            </a:r>
            <a:r>
              <a:rPr lang="en-GB"/>
              <a:t> to m</a:t>
            </a:r>
            <a:r>
              <a:rPr lang="en-GB" baseline="30000"/>
              <a:t>2</a:t>
            </a:r>
            <a:endParaRPr lang="en-GB" baseline="30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99C69-E8B8-48B1-8807-EE88AE99F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0"/>
            <a:ext cx="58388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6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E5836-C74F-499A-B49B-3A48F7B0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20EED-6B43-421A-BBAD-73DB9F0C5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</a:t>
                </a:r>
                <a:r>
                  <a:rPr lang="en-AU" dirty="0" err="1"/>
                  <a:t>onvert</a:t>
                </a:r>
                <a:r>
                  <a:rPr lang="en-AU" dirty="0"/>
                  <a:t> the following: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=                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              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100 000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        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20EED-6B43-421A-BBAD-73DB9F0C5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932289-80D6-46FA-93BB-7980493AA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1424866"/>
            <a:ext cx="58388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Work through the sheet </a:t>
            </a:r>
            <a:r>
              <a:rPr lang="en-GB" u="sng" dirty="0">
                <a:solidFill>
                  <a:srgbClr val="FF0000"/>
                </a:solidFill>
              </a:rPr>
              <a:t>at your own pace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6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Area of a parallelogram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1442639"/>
            <a:ext cx="9289032" cy="1187574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GB" sz="2800" dirty="0">
                <a:solidFill>
                  <a:schemeClr val="tx1"/>
                </a:solidFill>
              </a:rPr>
              <a:t>Area of a parallelogram = base x perpendicular height</a:t>
            </a:r>
          </a:p>
          <a:p>
            <a:pPr algn="ctr">
              <a:buNone/>
            </a:pPr>
            <a:r>
              <a:rPr lang="en-GB" sz="2800" dirty="0">
                <a:solidFill>
                  <a:schemeClr val="tx1"/>
                </a:solidFill>
              </a:rPr>
              <a:t>(A = </a:t>
            </a:r>
            <a:r>
              <a:rPr lang="en-GB" sz="2800" dirty="0" err="1">
                <a:solidFill>
                  <a:schemeClr val="tx1"/>
                </a:solidFill>
              </a:rPr>
              <a:t>bh</a:t>
            </a:r>
            <a:r>
              <a:rPr lang="en-GB" sz="2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223792" y="2924944"/>
            <a:ext cx="4176464" cy="2160240"/>
          </a:xfrm>
          <a:prstGeom prst="parallelogram">
            <a:avLst>
              <a:gd name="adj" fmla="val 3802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580032" y="2924944"/>
            <a:ext cx="0" cy="216024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95468" y="2780928"/>
            <a:ext cx="864096" cy="24482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Right Triangle 7"/>
          <p:cNvSpPr/>
          <p:nvPr/>
        </p:nvSpPr>
        <p:spPr>
          <a:xfrm flipV="1">
            <a:off x="7572256" y="2924944"/>
            <a:ext cx="828000" cy="216024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rot="5400000">
            <a:off x="5887593" y="3537200"/>
            <a:ext cx="0" cy="33840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91944" y="515719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48272" y="2924944"/>
            <a:ext cx="216024" cy="21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8" name="Parallelogram 17"/>
          <p:cNvSpPr/>
          <p:nvPr/>
        </p:nvSpPr>
        <p:spPr>
          <a:xfrm>
            <a:off x="4215634" y="2918245"/>
            <a:ext cx="4176464" cy="2160240"/>
          </a:xfrm>
          <a:prstGeom prst="parallelogram">
            <a:avLst>
              <a:gd name="adj" fmla="val 3802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1784" y="350100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209724" y="2924944"/>
            <a:ext cx="0" cy="216024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>
            <a:off x="5887593" y="3537200"/>
            <a:ext cx="0" cy="33840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85978" y="515719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</a:p>
        </p:txBody>
      </p:sp>
      <p:sp>
        <p:nvSpPr>
          <p:cNvPr id="26" name="Parallelogram 25"/>
          <p:cNvSpPr/>
          <p:nvPr/>
        </p:nvSpPr>
        <p:spPr>
          <a:xfrm>
            <a:off x="4195593" y="2918245"/>
            <a:ext cx="4176464" cy="2160240"/>
          </a:xfrm>
          <a:prstGeom prst="parallelogram">
            <a:avLst>
              <a:gd name="adj" fmla="val 3802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02775" y="349681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460715" y="2920747"/>
            <a:ext cx="0" cy="216024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3.7037E-6 L -0.27513 -0.0011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54" y="-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9" grpId="1" animBg="1"/>
      <p:bldP spid="8" grpId="0" animBg="1"/>
      <p:bldP spid="8" grpId="1" animBg="1"/>
      <p:bldP spid="8" grpId="2" animBg="1"/>
      <p:bldP spid="14" grpId="0"/>
      <p:bldP spid="17" grpId="0" animBg="1"/>
      <p:bldP spid="18" grpId="0" animBg="1"/>
      <p:bldP spid="18" grpId="1" animBg="1"/>
      <p:bldP spid="13" grpId="0"/>
      <p:bldP spid="24" grpId="0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70501" y="2369962"/>
            <a:ext cx="2845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= b x 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= 15.6 x 18.1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= 282.36 m</a:t>
            </a:r>
            <a:r>
              <a:rPr kumimoji="0" lang="en-GB" sz="2800" b="1" i="1" u="none" strike="noStrike" kern="1200" cap="none" spc="0" normalizeH="0" baseline="3000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</a:t>
            </a:r>
            <a:endParaRPr kumimoji="0" lang="en-GB" sz="2800" b="1" i="1" u="none" strike="noStrike" kern="1200" cap="none" spc="0" normalizeH="0" baseline="0" noProof="0" dirty="0">
              <a:ln>
                <a:noFill/>
              </a:ln>
              <a:solidFill>
                <a:srgbClr val="C42F1A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88920" y="2311608"/>
            <a:ext cx="5039086" cy="2549554"/>
            <a:chOff x="5620810" y="1881878"/>
            <a:chExt cx="2961350" cy="1498312"/>
          </a:xfrm>
        </p:grpSpPr>
        <p:sp>
          <p:nvSpPr>
            <p:cNvPr id="6" name="Parallelogram 5"/>
            <p:cNvSpPr/>
            <p:nvPr/>
          </p:nvSpPr>
          <p:spPr>
            <a:xfrm rot="534646">
              <a:off x="5620810" y="1972979"/>
              <a:ext cx="2496559" cy="1291324"/>
            </a:xfrm>
            <a:prstGeom prst="parallelogram">
              <a:avLst>
                <a:gd name="adj" fmla="val 4776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6897784" y="1881878"/>
              <a:ext cx="154441" cy="226323"/>
              <a:chOff x="6732240" y="2132856"/>
              <a:chExt cx="154441" cy="226323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299486" y="3092159"/>
              <a:ext cx="154441" cy="226323"/>
              <a:chOff x="6732240" y="2132856"/>
              <a:chExt cx="154441" cy="22632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6382611" y="3106014"/>
              <a:ext cx="154441" cy="226323"/>
              <a:chOff x="6732240" y="2132856"/>
              <a:chExt cx="154441" cy="226323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 rot="18600000">
              <a:off x="7691250" y="2678844"/>
              <a:ext cx="154441" cy="226323"/>
              <a:chOff x="6732240" y="2132856"/>
              <a:chExt cx="154441" cy="226323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 rot="18600000">
              <a:off x="5833900" y="2390811"/>
              <a:ext cx="154441" cy="226323"/>
              <a:chOff x="6732240" y="2132856"/>
              <a:chExt cx="154441" cy="226323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/>
            <p:cNvSpPr/>
            <p:nvPr/>
          </p:nvSpPr>
          <p:spPr>
            <a:xfrm rot="2035935">
              <a:off x="7481368" y="2822765"/>
              <a:ext cx="194320" cy="1943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7378022" y="2156054"/>
              <a:ext cx="828000" cy="122413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cxnSpLocks noChangeAspect="1"/>
            </p:cNvCxnSpPr>
            <p:nvPr/>
          </p:nvCxnSpPr>
          <p:spPr>
            <a:xfrm flipH="1" flipV="1">
              <a:off x="6166586" y="2081944"/>
              <a:ext cx="1440160" cy="9741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206027" y="2533038"/>
              <a:ext cx="665273" cy="27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rPr>
                <a:t>18.1 m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16887" y="2524457"/>
              <a:ext cx="665273" cy="27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rPr>
                <a:t>15.6 m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42039" y="857689"/>
            <a:ext cx="5798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Find the area of this parallelogram</a:t>
            </a:r>
          </a:p>
        </p:txBody>
      </p:sp>
    </p:spTree>
    <p:extLst>
      <p:ext uri="{BB962C8B-B14F-4D97-AF65-F5344CB8AC3E}">
        <p14:creationId xmlns:p14="http://schemas.microsoft.com/office/powerpoint/2010/main" val="327718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70501" y="2369962"/>
            <a:ext cx="2845534" cy="195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 = b x 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= 22.4 x 12.9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1" u="none" strike="noStrike" kern="1200" cap="none" spc="0" normalizeH="0" baseline="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= 288.96mm</a:t>
            </a:r>
            <a:r>
              <a:rPr kumimoji="0" lang="en-GB" sz="2800" b="1" i="1" u="none" strike="noStrike" kern="1200" cap="none" spc="0" normalizeH="0" baseline="30000" noProof="0" dirty="0">
                <a:ln>
                  <a:noFill/>
                </a:ln>
                <a:solidFill>
                  <a:srgbClr val="C42F1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</a:t>
            </a:r>
            <a:endParaRPr kumimoji="0" lang="en-GB" sz="2800" b="1" i="1" u="none" strike="noStrike" kern="1200" cap="none" spc="0" normalizeH="0" baseline="0" noProof="0" dirty="0">
              <a:ln>
                <a:noFill/>
              </a:ln>
              <a:solidFill>
                <a:srgbClr val="C42F1A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88920" y="2311608"/>
            <a:ext cx="5200990" cy="2549554"/>
            <a:chOff x="5620810" y="1881878"/>
            <a:chExt cx="3056497" cy="1498312"/>
          </a:xfrm>
        </p:grpSpPr>
        <p:sp>
          <p:nvSpPr>
            <p:cNvPr id="6" name="Parallelogram 5"/>
            <p:cNvSpPr/>
            <p:nvPr/>
          </p:nvSpPr>
          <p:spPr>
            <a:xfrm rot="534646">
              <a:off x="5620810" y="1972979"/>
              <a:ext cx="2496559" cy="1291324"/>
            </a:xfrm>
            <a:prstGeom prst="parallelogram">
              <a:avLst>
                <a:gd name="adj" fmla="val 4776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6897784" y="1881878"/>
              <a:ext cx="154441" cy="226323"/>
              <a:chOff x="6732240" y="2132856"/>
              <a:chExt cx="154441" cy="226323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299486" y="3092159"/>
              <a:ext cx="154441" cy="226323"/>
              <a:chOff x="6732240" y="2132856"/>
              <a:chExt cx="154441" cy="22632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6382611" y="3106014"/>
              <a:ext cx="154441" cy="226323"/>
              <a:chOff x="6732240" y="2132856"/>
              <a:chExt cx="154441" cy="226323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 rot="18600000">
              <a:off x="7691250" y="2678844"/>
              <a:ext cx="154441" cy="226323"/>
              <a:chOff x="6732240" y="2132856"/>
              <a:chExt cx="154441" cy="226323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 rot="18600000">
              <a:off x="5833900" y="2390811"/>
              <a:ext cx="154441" cy="226323"/>
              <a:chOff x="6732240" y="2132856"/>
              <a:chExt cx="154441" cy="226323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6732240" y="2132856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H="1">
                <a:off x="6732240" y="2246429"/>
                <a:ext cx="154441" cy="1127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/>
            <p:cNvSpPr/>
            <p:nvPr/>
          </p:nvSpPr>
          <p:spPr>
            <a:xfrm rot="2035935">
              <a:off x="7481368" y="2822765"/>
              <a:ext cx="194320" cy="1943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7378022" y="2156054"/>
              <a:ext cx="828000" cy="122413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cxnSpLocks noChangeAspect="1"/>
            </p:cNvCxnSpPr>
            <p:nvPr/>
          </p:nvCxnSpPr>
          <p:spPr>
            <a:xfrm flipH="1" flipV="1">
              <a:off x="6166586" y="2081944"/>
              <a:ext cx="1440160" cy="9741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141184" y="2532545"/>
              <a:ext cx="760420" cy="27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400" dirty="0">
                  <a:solidFill>
                    <a:prstClr val="black"/>
                  </a:solidFill>
                  <a:latin typeface="Trebuchet MS" panose="020B0603020202020204"/>
                </a:rPr>
                <a:t>22.4mm</a:t>
              </a: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16887" y="2524457"/>
              <a:ext cx="760420" cy="271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/>
                  <a:ea typeface="+mn-ea"/>
                  <a:cs typeface="+mn-cs"/>
                </a:rPr>
                <a:t>12.9mm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42039" y="857689"/>
            <a:ext cx="5798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Find the area of this parallelogram</a:t>
            </a:r>
          </a:p>
        </p:txBody>
      </p:sp>
    </p:spTree>
    <p:extLst>
      <p:ext uri="{BB962C8B-B14F-4D97-AF65-F5344CB8AC3E}">
        <p14:creationId xmlns:p14="http://schemas.microsoft.com/office/powerpoint/2010/main" val="286091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Area of a kite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4721" y="1638595"/>
            <a:ext cx="5562682" cy="1139639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GB" sz="2800" dirty="0"/>
              <a:t>Area of a kite = ½ width x height</a:t>
            </a:r>
          </a:p>
          <a:p>
            <a:pPr algn="ctr">
              <a:buNone/>
            </a:pPr>
            <a:r>
              <a:rPr lang="en-GB" sz="2800" dirty="0"/>
              <a:t>(A= ½wh)</a:t>
            </a:r>
          </a:p>
        </p:txBody>
      </p:sp>
      <p:sp>
        <p:nvSpPr>
          <p:cNvPr id="6" name="Freeform 5"/>
          <p:cNvSpPr/>
          <p:nvPr/>
        </p:nvSpPr>
        <p:spPr>
          <a:xfrm>
            <a:off x="1552673" y="1549969"/>
            <a:ext cx="1453487" cy="3227695"/>
          </a:xfrm>
          <a:custGeom>
            <a:avLst/>
            <a:gdLst>
              <a:gd name="connsiteX0" fmla="*/ 0 w 1453487"/>
              <a:gd name="connsiteY0" fmla="*/ 1248770 h 3227695"/>
              <a:gd name="connsiteX1" fmla="*/ 723331 w 1453487"/>
              <a:gd name="connsiteY1" fmla="*/ 0 h 3227695"/>
              <a:gd name="connsiteX2" fmla="*/ 1453487 w 1453487"/>
              <a:gd name="connsiteY2" fmla="*/ 1248770 h 3227695"/>
              <a:gd name="connsiteX3" fmla="*/ 730155 w 1453487"/>
              <a:gd name="connsiteY3" fmla="*/ 3227695 h 3227695"/>
              <a:gd name="connsiteX4" fmla="*/ 0 w 1453487"/>
              <a:gd name="connsiteY4" fmla="*/ 1248770 h 322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487" h="3227695">
                <a:moveTo>
                  <a:pt x="0" y="1248770"/>
                </a:moveTo>
                <a:lnTo>
                  <a:pt x="723331" y="0"/>
                </a:lnTo>
                <a:lnTo>
                  <a:pt x="1453487" y="1248770"/>
                </a:lnTo>
                <a:lnTo>
                  <a:pt x="730155" y="3227695"/>
                </a:lnTo>
                <a:lnTo>
                  <a:pt x="0" y="124877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Triangle 9"/>
          <p:cNvSpPr/>
          <p:nvPr/>
        </p:nvSpPr>
        <p:spPr>
          <a:xfrm>
            <a:off x="2279576" y="1556792"/>
            <a:ext cx="727200" cy="1224136"/>
          </a:xfrm>
          <a:prstGeom prst="rt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Triangle 10"/>
          <p:cNvSpPr/>
          <p:nvPr/>
        </p:nvSpPr>
        <p:spPr>
          <a:xfrm flipV="1">
            <a:off x="2279576" y="2780928"/>
            <a:ext cx="727200" cy="1980000"/>
          </a:xfrm>
          <a:prstGeom prst="rt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Triangle 12"/>
          <p:cNvSpPr/>
          <p:nvPr/>
        </p:nvSpPr>
        <p:spPr>
          <a:xfrm flipH="1">
            <a:off x="1552672" y="1556792"/>
            <a:ext cx="727200" cy="1224136"/>
          </a:xfrm>
          <a:prstGeom prst="rt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Triangle 13"/>
          <p:cNvSpPr/>
          <p:nvPr/>
        </p:nvSpPr>
        <p:spPr>
          <a:xfrm flipH="1" flipV="1">
            <a:off x="1552672" y="2780928"/>
            <a:ext cx="727200" cy="1980000"/>
          </a:xfrm>
          <a:prstGeom prst="rt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113800" y="1549968"/>
            <a:ext cx="1152128" cy="32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552672" y="2788172"/>
            <a:ext cx="14544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634752" y="3173900"/>
            <a:ext cx="32760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80558" y="320615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2752" y="234205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w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2286648" y="4776260"/>
            <a:ext cx="7272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72752" y="4862336"/>
            <a:ext cx="692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1" dirty="0">
                <a:latin typeface="Times New Roman" pitchFamily="18" charset="0"/>
                <a:cs typeface="Times New Roman" pitchFamily="18" charset="0"/>
              </a:rPr>
              <a:t>½w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55824" y="1533207"/>
            <a:ext cx="1454400" cy="3276000"/>
            <a:chOff x="5782553" y="2354772"/>
            <a:chExt cx="1454400" cy="3276000"/>
          </a:xfrm>
        </p:grpSpPr>
        <p:sp>
          <p:nvSpPr>
            <p:cNvPr id="33" name="Freeform 32"/>
            <p:cNvSpPr/>
            <p:nvPr/>
          </p:nvSpPr>
          <p:spPr>
            <a:xfrm>
              <a:off x="5782554" y="2368841"/>
              <a:ext cx="1453487" cy="3227695"/>
            </a:xfrm>
            <a:custGeom>
              <a:avLst/>
              <a:gdLst>
                <a:gd name="connsiteX0" fmla="*/ 0 w 1453487"/>
                <a:gd name="connsiteY0" fmla="*/ 1248770 h 3227695"/>
                <a:gd name="connsiteX1" fmla="*/ 723331 w 1453487"/>
                <a:gd name="connsiteY1" fmla="*/ 0 h 3227695"/>
                <a:gd name="connsiteX2" fmla="*/ 1453487 w 1453487"/>
                <a:gd name="connsiteY2" fmla="*/ 1248770 h 3227695"/>
                <a:gd name="connsiteX3" fmla="*/ 730155 w 1453487"/>
                <a:gd name="connsiteY3" fmla="*/ 3227695 h 3227695"/>
                <a:gd name="connsiteX4" fmla="*/ 0 w 1453487"/>
                <a:gd name="connsiteY4" fmla="*/ 1248770 h 32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3487" h="3227695">
                  <a:moveTo>
                    <a:pt x="0" y="1248770"/>
                  </a:moveTo>
                  <a:lnTo>
                    <a:pt x="723331" y="0"/>
                  </a:lnTo>
                  <a:lnTo>
                    <a:pt x="1453487" y="1248770"/>
                  </a:lnTo>
                  <a:lnTo>
                    <a:pt x="730155" y="3227695"/>
                  </a:lnTo>
                  <a:lnTo>
                    <a:pt x="0" y="124877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ight Triangle 33"/>
            <p:cNvSpPr/>
            <p:nvPr/>
          </p:nvSpPr>
          <p:spPr>
            <a:xfrm>
              <a:off x="6509457" y="2375664"/>
              <a:ext cx="727200" cy="1224136"/>
            </a:xfrm>
            <a:prstGeom prst="rt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ight Triangle 34"/>
            <p:cNvSpPr/>
            <p:nvPr/>
          </p:nvSpPr>
          <p:spPr>
            <a:xfrm flipV="1">
              <a:off x="6509457" y="3599800"/>
              <a:ext cx="727200" cy="1980000"/>
            </a:xfrm>
            <a:prstGeom prst="rt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ight Triangle 35"/>
            <p:cNvSpPr/>
            <p:nvPr/>
          </p:nvSpPr>
          <p:spPr>
            <a:xfrm flipH="1">
              <a:off x="5782553" y="2375664"/>
              <a:ext cx="727200" cy="1224136"/>
            </a:xfrm>
            <a:prstGeom prst="rt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ight Triangle 36"/>
            <p:cNvSpPr/>
            <p:nvPr/>
          </p:nvSpPr>
          <p:spPr>
            <a:xfrm flipH="1" flipV="1">
              <a:off x="5782553" y="3599800"/>
              <a:ext cx="727200" cy="1980000"/>
            </a:xfrm>
            <a:prstGeom prst="rt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H="1" flipV="1">
              <a:off x="5782553" y="3607044"/>
              <a:ext cx="145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5400000" flipH="1" flipV="1">
              <a:off x="4864633" y="3992772"/>
              <a:ext cx="3276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210439" y="4025024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02633" y="3160928"/>
              <a:ext cx="4235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i="1" dirty="0">
                  <a:latin typeface="Times New Roman" pitchFamily="18" charset="0"/>
                  <a:cs typeface="Times New Roman" pitchFamily="18" charset="0"/>
                </a:rPr>
                <a:t>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3" grpId="0" animBg="1"/>
      <p:bldP spid="13" grpId="1" animBg="1"/>
      <p:bldP spid="14" grpId="0" animBg="1"/>
      <p:bldP spid="14" grpId="1" animBg="1"/>
      <p:bldP spid="12" grpId="0" animBg="1"/>
      <p:bldP spid="18" grpId="0"/>
      <p:bldP spid="19" grpId="0"/>
      <p:bldP spid="19" grpId="1"/>
      <p:bldP spid="21" grpId="0"/>
      <p:bldP spid="2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94B1-DE2D-43FC-860C-7B4507809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13F90-B094-45AE-BD4F-94BB394C5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25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742039" y="857689"/>
            <a:ext cx="4190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Find the area of this kite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67139" y="1903860"/>
            <a:ext cx="4276638" cy="3206072"/>
            <a:chOff x="1146478" y="3884246"/>
            <a:chExt cx="2718908" cy="2038287"/>
          </a:xfrm>
        </p:grpSpPr>
        <p:sp>
          <p:nvSpPr>
            <p:cNvPr id="29" name="Freeform 28"/>
            <p:cNvSpPr/>
            <p:nvPr/>
          </p:nvSpPr>
          <p:spPr>
            <a:xfrm>
              <a:off x="1146478" y="3884246"/>
              <a:ext cx="2718908" cy="1643520"/>
            </a:xfrm>
            <a:custGeom>
              <a:avLst/>
              <a:gdLst>
                <a:gd name="connsiteX0" fmla="*/ 0 w 1453487"/>
                <a:gd name="connsiteY0" fmla="*/ 1248770 h 3227695"/>
                <a:gd name="connsiteX1" fmla="*/ 723331 w 1453487"/>
                <a:gd name="connsiteY1" fmla="*/ 0 h 3227695"/>
                <a:gd name="connsiteX2" fmla="*/ 1453487 w 1453487"/>
                <a:gd name="connsiteY2" fmla="*/ 1248770 h 3227695"/>
                <a:gd name="connsiteX3" fmla="*/ 730155 w 1453487"/>
                <a:gd name="connsiteY3" fmla="*/ 3227695 h 3227695"/>
                <a:gd name="connsiteX4" fmla="*/ 0 w 1453487"/>
                <a:gd name="connsiteY4" fmla="*/ 1248770 h 32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3487" h="3227695">
                  <a:moveTo>
                    <a:pt x="0" y="1248770"/>
                  </a:moveTo>
                  <a:lnTo>
                    <a:pt x="723331" y="0"/>
                  </a:lnTo>
                  <a:lnTo>
                    <a:pt x="1453487" y="1248770"/>
                  </a:lnTo>
                  <a:lnTo>
                    <a:pt x="730155" y="3227695"/>
                  </a:lnTo>
                  <a:lnTo>
                    <a:pt x="0" y="124877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794550" y="4100270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3018686" y="4100270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 flipV="1">
              <a:off x="3090694" y="4964366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3137302" y="4932616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 flipH="1">
              <a:off x="1794550" y="4977066"/>
              <a:ext cx="190624" cy="175766"/>
              <a:chOff x="4220344" y="5205834"/>
              <a:chExt cx="190624" cy="175766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flipH="1" flipV="1">
                <a:off x="4220344" y="5237584"/>
                <a:ext cx="144016" cy="1440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 flipV="1">
                <a:off x="4266952" y="5205834"/>
                <a:ext cx="144016" cy="1440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Arrow Connector 36"/>
            <p:cNvCxnSpPr>
              <a:stCxn id="29" idx="1"/>
              <a:endCxn id="29" idx="3"/>
            </p:cNvCxnSpPr>
            <p:nvPr/>
          </p:nvCxnSpPr>
          <p:spPr>
            <a:xfrm>
              <a:off x="2499550" y="3884246"/>
              <a:ext cx="12765" cy="164352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146478" y="5540430"/>
              <a:ext cx="27189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980636" y="5629026"/>
              <a:ext cx="881745" cy="293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23.4 mm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491389" y="4388302"/>
              <a:ext cx="881745" cy="293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18.6 mm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363146" y="2050092"/>
            <a:ext cx="3504486" cy="19522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A = ½wh</a:t>
            </a:r>
          </a:p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   = ½ x 23.4 x 18.6</a:t>
            </a:r>
          </a:p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   = 217.62 mm</a:t>
            </a:r>
            <a:r>
              <a:rPr lang="en-GB" sz="2800" b="1" i="1" baseline="30000" dirty="0">
                <a:solidFill>
                  <a:schemeClr val="accent5"/>
                </a:solidFill>
              </a:rPr>
              <a:t>2</a:t>
            </a:r>
            <a:endParaRPr lang="en-GB" sz="2800" b="1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0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742039" y="857689"/>
            <a:ext cx="4190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Find the area of this kite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67139" y="1903860"/>
            <a:ext cx="4276638" cy="3206072"/>
            <a:chOff x="1146478" y="3884246"/>
            <a:chExt cx="2718908" cy="2038287"/>
          </a:xfrm>
        </p:grpSpPr>
        <p:sp>
          <p:nvSpPr>
            <p:cNvPr id="29" name="Freeform 28"/>
            <p:cNvSpPr/>
            <p:nvPr/>
          </p:nvSpPr>
          <p:spPr>
            <a:xfrm>
              <a:off x="1146478" y="3884246"/>
              <a:ext cx="2718908" cy="1643520"/>
            </a:xfrm>
            <a:custGeom>
              <a:avLst/>
              <a:gdLst>
                <a:gd name="connsiteX0" fmla="*/ 0 w 1453487"/>
                <a:gd name="connsiteY0" fmla="*/ 1248770 h 3227695"/>
                <a:gd name="connsiteX1" fmla="*/ 723331 w 1453487"/>
                <a:gd name="connsiteY1" fmla="*/ 0 h 3227695"/>
                <a:gd name="connsiteX2" fmla="*/ 1453487 w 1453487"/>
                <a:gd name="connsiteY2" fmla="*/ 1248770 h 3227695"/>
                <a:gd name="connsiteX3" fmla="*/ 730155 w 1453487"/>
                <a:gd name="connsiteY3" fmla="*/ 3227695 h 3227695"/>
                <a:gd name="connsiteX4" fmla="*/ 0 w 1453487"/>
                <a:gd name="connsiteY4" fmla="*/ 1248770 h 32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3487" h="3227695">
                  <a:moveTo>
                    <a:pt x="0" y="1248770"/>
                  </a:moveTo>
                  <a:lnTo>
                    <a:pt x="723331" y="0"/>
                  </a:lnTo>
                  <a:lnTo>
                    <a:pt x="1453487" y="1248770"/>
                  </a:lnTo>
                  <a:lnTo>
                    <a:pt x="730155" y="3227695"/>
                  </a:lnTo>
                  <a:lnTo>
                    <a:pt x="0" y="124877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794550" y="4100270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3018686" y="4100270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 flipV="1">
              <a:off x="3090694" y="4964366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3137302" y="4932616"/>
              <a:ext cx="144016" cy="14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>
            <a:xfrm flipH="1">
              <a:off x="1794550" y="4977066"/>
              <a:ext cx="190624" cy="175766"/>
              <a:chOff x="4220344" y="5205834"/>
              <a:chExt cx="190624" cy="175766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flipH="1" flipV="1">
                <a:off x="4220344" y="5237584"/>
                <a:ext cx="144016" cy="1440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 flipV="1">
                <a:off x="4266952" y="5205834"/>
                <a:ext cx="144016" cy="1440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Arrow Connector 36"/>
            <p:cNvCxnSpPr>
              <a:stCxn id="29" idx="1"/>
              <a:endCxn id="29" idx="3"/>
            </p:cNvCxnSpPr>
            <p:nvPr/>
          </p:nvCxnSpPr>
          <p:spPr>
            <a:xfrm>
              <a:off x="2499550" y="3884246"/>
              <a:ext cx="12765" cy="164352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146478" y="5540430"/>
              <a:ext cx="27189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980636" y="5629026"/>
              <a:ext cx="660595" cy="293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22.4m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491389" y="4388302"/>
              <a:ext cx="660595" cy="2935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19.5m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363146" y="2050092"/>
            <a:ext cx="3504486" cy="19522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A = ½wh</a:t>
            </a:r>
          </a:p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   = ½ x 19.5 x 22.4</a:t>
            </a:r>
          </a:p>
          <a:p>
            <a:pPr>
              <a:lnSpc>
                <a:spcPct val="150000"/>
              </a:lnSpc>
            </a:pPr>
            <a:r>
              <a:rPr lang="en-GB" sz="2800" b="1" i="1" dirty="0">
                <a:solidFill>
                  <a:schemeClr val="accent5"/>
                </a:solidFill>
              </a:rPr>
              <a:t>   = 436.8m</a:t>
            </a:r>
            <a:r>
              <a:rPr lang="en-GB" sz="2800" b="1" i="1" baseline="30000" dirty="0">
                <a:solidFill>
                  <a:schemeClr val="accent5"/>
                </a:solidFill>
              </a:rPr>
              <a:t>2</a:t>
            </a:r>
            <a:endParaRPr lang="en-GB" sz="2800" b="1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19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80D800-E1A9-4E81-ACA2-A4719548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tasks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AC3987-51EE-4661-A10C-D4F2A08A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Complete “converting Units of Area” task sheet</a:t>
            </a:r>
          </a:p>
          <a:p>
            <a:pPr marL="514350" indent="-514350">
              <a:buAutoNum type="arabicPeriod"/>
            </a:pPr>
            <a:r>
              <a:rPr lang="en-US" dirty="0"/>
              <a:t>Finish yesterday’s composite </a:t>
            </a:r>
            <a:r>
              <a:rPr lang="en-US"/>
              <a:t>area questions.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67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rgbClr val="FFFF66"/>
        </a:solidFill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256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Trebuchet MS</vt:lpstr>
      <vt:lpstr>Wingdings</vt:lpstr>
      <vt:lpstr>Wingdings 3</vt:lpstr>
      <vt:lpstr>Office Theme</vt:lpstr>
      <vt:lpstr>Facet</vt:lpstr>
      <vt:lpstr>Area</vt:lpstr>
      <vt:lpstr>Area (I do) </vt:lpstr>
      <vt:lpstr>Whiteboards </vt:lpstr>
      <vt:lpstr>Your turn…</vt:lpstr>
      <vt:lpstr>Area of a parallelogram</vt:lpstr>
      <vt:lpstr>PowerPoint Presentation</vt:lpstr>
      <vt:lpstr>PowerPoint Presentation</vt:lpstr>
      <vt:lpstr>Area of a kite</vt:lpstr>
      <vt:lpstr>Whiteboards </vt:lpstr>
      <vt:lpstr>PowerPoint Presentation</vt:lpstr>
      <vt:lpstr>PowerPoint Presentation</vt:lpstr>
      <vt:lpstr>Individual tasks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</dc:title>
  <dc:creator>DAVIES Rhys [Busselton Senior High School]</dc:creator>
  <cp:lastModifiedBy>DAVIES Rhys [Busselton Senior High School]</cp:lastModifiedBy>
  <cp:revision>9</cp:revision>
  <dcterms:created xsi:type="dcterms:W3CDTF">2022-05-11T08:27:29Z</dcterms:created>
  <dcterms:modified xsi:type="dcterms:W3CDTF">2022-05-11T09:01:51Z</dcterms:modified>
</cp:coreProperties>
</file>
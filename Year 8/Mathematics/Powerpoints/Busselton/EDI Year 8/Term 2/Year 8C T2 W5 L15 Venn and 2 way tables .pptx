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325" r:id="rId9"/>
    <p:sldId id="324" r:id="rId10"/>
    <p:sldId id="327" r:id="rId11"/>
    <p:sldId id="328" r:id="rId12"/>
    <p:sldId id="318" r:id="rId13"/>
    <p:sldId id="321" r:id="rId14"/>
    <p:sldId id="319" r:id="rId15"/>
    <p:sldId id="322" r:id="rId16"/>
    <p:sldId id="329" r:id="rId17"/>
    <p:sldId id="33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B1F1-795F-4372-97B3-E1092FFF4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F7184-94A2-4244-AA52-E0E0CC532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D17D-A2FB-45F0-BB87-EF48E281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C6C4-BCA6-4C20-8F1F-65B61357A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C2F04-1605-4EA0-B5BF-A150F335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45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2B365-EBBE-420D-B88F-ECF0161F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EF71A-EF34-417F-BCE2-AE0247007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B308-27CD-4D16-BB2D-422170F7A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02DAA-F52E-4F19-93DD-E4370CC2E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3071F-AE04-49D9-9EB8-4B883E6F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36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4E46E-B55D-4C56-8BBF-CB1462D1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0E6B4-A48C-4637-B558-CB3B5EB0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E2A95-C66C-42F5-8029-76A65B3D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7E47-E258-4933-82AF-F45A3208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0CB99-1BF0-490B-B7F0-110AB2BE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003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4087-072A-47C7-94F4-11AE5542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87DB-3E89-4616-BBE5-EE15D2D3D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24D67-D1E8-4F62-9147-1F361A70A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F01B7-FC38-4569-81EB-1BAC6953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EB59F-56BA-43F5-8250-2E55A9C0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6E714-D231-4DE6-9BF8-98EEB264C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0F22-32F5-49B4-9AB9-25B47EBE6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F1514-A7CC-48AD-8503-DBEE124A2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35DF2-7A91-4B81-A7AA-B2A03E709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D9906-CD63-469E-A40E-6A034F0E8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D35D3-BDCC-45CD-82B8-870AC84B6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97A66-0A26-4858-8F32-D3EAC526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0CAB3A-0FC3-4DDE-9B66-A9E99675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A39A1-372D-4631-B1EC-FF2F636B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47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0E04-677C-41BC-9636-A61CE696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96F1B-5D73-4763-AF44-EF89D84F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8E723F-5B4E-4BB0-9399-D9D6C9AF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CC6E8-FA9C-4B5D-8189-DD7B511B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20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3DA28-8BDF-440A-920B-588DD4EF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0DFF98-84CC-488C-9272-ADE16226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F8484-F105-4071-8426-EFD3CDAE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789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D655-5B55-4195-BD47-24E39A91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6C461-852C-4C9C-ADEE-1A4FA6C8C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28CDE-E994-44E5-A903-218D39BAA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C95AA-B664-43A6-B7ED-0D6C1E64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00482-49F9-429B-91A7-8ED9FADD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F863E-0C91-45CF-BBBC-A7D672AF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66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D433-0E04-4631-8E9B-558B38DB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D6271-AE0B-4261-934E-DC9747017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FD49D-0692-414A-9631-486F567CE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A02BE-755D-4532-AFF5-EFC5D9CB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255F8-EFD1-487A-B974-569CFAEF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63525-6C26-4280-8356-AFE21633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5533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A129-8A52-4524-8EF8-FDF569CC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49642-78C4-4E04-87BE-4B1F27286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0EE7E-5F36-4081-8B11-4419BDDE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217C-E412-4C37-AAF4-56963525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D6A75-664E-4D3B-9D01-506C841F9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305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249B5-EDA6-45DA-9105-676146D89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B4EEB-C7C8-4ACF-8FB5-446BB26AB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64384-97F9-42CB-9C3B-63205107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C1F4B-4EB7-4249-A0A9-821EC443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E593-1577-414D-943A-1A0AFBB3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9720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00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688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897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542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517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993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424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668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655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671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38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41147-362F-4122-AC06-57FB39CB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16D75-D5FE-45FD-862C-3FE0BB2E9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9BDCA-748A-42AF-A92F-FDAF88351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CBB36-9C78-4A8C-8CFB-E3EF9BBA9EA3}" type="datetimeFigureOut">
              <a:rPr lang="en-AU" smtClean="0"/>
              <a:t>25/05/2022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BFD40-F854-40A4-B56B-559DE8D6B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001E-4C63-4F8D-AEFC-D2B260CC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9EEEE-DDFA-47B2-910A-4AD7258A19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665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2972C-8A33-4B03-875B-B421DF475823}" type="datetimeFigureOut">
              <a:rPr lang="en-GB" smtClean="0"/>
              <a:pPr/>
              <a:t>25/05/2022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1EB1-20C0-4FA3-95F7-2E4E8F84328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68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9B4967-8D54-4D6C-A660-A5E5931E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1F807F-3D60-4535-9173-C2846DA02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305"/>
            <a:ext cx="10515600" cy="4747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200" b="1" dirty="0">
                <a:solidFill>
                  <a:srgbClr val="00B0F0"/>
                </a:solidFill>
              </a:rPr>
              <a:t>two-way tables </a:t>
            </a:r>
          </a:p>
          <a:p>
            <a:pPr marL="0" indent="0">
              <a:buNone/>
            </a:pPr>
            <a:endParaRPr lang="en-US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 Complete two-way tables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B0F0"/>
                </a:solidFill>
              </a:rPr>
              <a:t> Determine probability from two-way tables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Review Venn diagrams </a:t>
            </a:r>
          </a:p>
          <a:p>
            <a:pPr>
              <a:buFontTx/>
              <a:buChar char="-"/>
            </a:pPr>
            <a:r>
              <a:rPr lang="en-US" sz="3200" b="1" dirty="0">
                <a:solidFill>
                  <a:srgbClr val="00B0F0"/>
                </a:solidFill>
              </a:rPr>
              <a:t>Two-way tables </a:t>
            </a:r>
            <a:endParaRPr lang="en-AU" sz="32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C4AE53-9FF8-4677-AF73-2B5CF9FFBDAD}"/>
              </a:ext>
            </a:extLst>
          </p:cNvPr>
          <p:cNvSpPr txBox="1"/>
          <p:nvPr/>
        </p:nvSpPr>
        <p:spPr>
          <a:xfrm>
            <a:off x="8211845" y="1313895"/>
            <a:ext cx="3426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5496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 do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 people were asked if they owned an Xbox or PlayStation </a:t>
            </a:r>
          </a:p>
          <a:p>
            <a:r>
              <a:rPr lang="en-US" b="1" dirty="0"/>
              <a:t>8 owned a PlayStation </a:t>
            </a:r>
          </a:p>
          <a:p>
            <a:r>
              <a:rPr lang="en-US" b="1" dirty="0"/>
              <a:t>10 owned an Xbox</a:t>
            </a:r>
          </a:p>
          <a:p>
            <a:r>
              <a:rPr lang="en-US" b="1" dirty="0"/>
              <a:t>3 owned both</a:t>
            </a:r>
          </a:p>
          <a:p>
            <a:r>
              <a:rPr lang="en-US" b="1" dirty="0"/>
              <a:t>Complete the Venn diagram </a:t>
            </a:r>
            <a:endParaRPr lang="en-AU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A1F38-D2BD-4D2B-AAFA-81C777EAB0F5}"/>
              </a:ext>
            </a:extLst>
          </p:cNvPr>
          <p:cNvSpPr txBox="1"/>
          <p:nvPr/>
        </p:nvSpPr>
        <p:spPr>
          <a:xfrm>
            <a:off x="3752294" y="2006354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PS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80990-E552-4948-B3CC-3475DE91E572}"/>
              </a:ext>
            </a:extLst>
          </p:cNvPr>
          <p:cNvSpPr txBox="1"/>
          <p:nvPr/>
        </p:nvSpPr>
        <p:spPr>
          <a:xfrm>
            <a:off x="7895208" y="1954764"/>
            <a:ext cx="858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Xbox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6018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We do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30 people were asked if they play AFL or Soccer</a:t>
            </a:r>
          </a:p>
          <a:p>
            <a:r>
              <a:rPr lang="en-US" b="1" dirty="0"/>
              <a:t>15 play AFL </a:t>
            </a:r>
          </a:p>
          <a:p>
            <a:r>
              <a:rPr lang="en-US" b="1" dirty="0"/>
              <a:t>8 play soccer </a:t>
            </a:r>
          </a:p>
          <a:p>
            <a:r>
              <a:rPr lang="en-US" b="1" dirty="0"/>
              <a:t>5 Play both</a:t>
            </a:r>
          </a:p>
          <a:p>
            <a:r>
              <a:rPr lang="en-US" b="1" dirty="0"/>
              <a:t>Complete the Venn diagram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0DDE7-8EB6-4599-B513-44E4D6C68E91}"/>
              </a:ext>
            </a:extLst>
          </p:cNvPr>
          <p:cNvSpPr txBox="1"/>
          <p:nvPr/>
        </p:nvSpPr>
        <p:spPr>
          <a:xfrm>
            <a:off x="3752294" y="2006354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AFL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CC8A1-A49C-4549-B759-44DDEC5C2AE2}"/>
              </a:ext>
            </a:extLst>
          </p:cNvPr>
          <p:cNvSpPr txBox="1"/>
          <p:nvPr/>
        </p:nvSpPr>
        <p:spPr>
          <a:xfrm>
            <a:off x="7874492" y="1919347"/>
            <a:ext cx="1091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Soccer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76705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We do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40 people were asked if they dive or fish </a:t>
            </a:r>
          </a:p>
          <a:p>
            <a:r>
              <a:rPr lang="en-US" b="1" dirty="0"/>
              <a:t>21 said they dive </a:t>
            </a:r>
          </a:p>
          <a:p>
            <a:r>
              <a:rPr lang="en-US" b="1" dirty="0"/>
              <a:t>24 said they fish </a:t>
            </a:r>
          </a:p>
          <a:p>
            <a:r>
              <a:rPr lang="en-US" b="1" dirty="0"/>
              <a:t>10 do both </a:t>
            </a: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D1BB9-7F3C-46F8-B387-B6D7B56D7574}"/>
              </a:ext>
            </a:extLst>
          </p:cNvPr>
          <p:cNvSpPr txBox="1"/>
          <p:nvPr/>
        </p:nvSpPr>
        <p:spPr>
          <a:xfrm>
            <a:off x="3752294" y="2006354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Dive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3AAB4-01E9-4AE8-8AD3-DB73A61107C5}"/>
              </a:ext>
            </a:extLst>
          </p:cNvPr>
          <p:cNvSpPr txBox="1"/>
          <p:nvPr/>
        </p:nvSpPr>
        <p:spPr>
          <a:xfrm>
            <a:off x="7895208" y="1919347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Fish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64926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do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25 students were asked if they hate math's or science </a:t>
            </a:r>
          </a:p>
          <a:p>
            <a:r>
              <a:rPr lang="en-US" b="1" dirty="0"/>
              <a:t>11 said math's </a:t>
            </a:r>
          </a:p>
          <a:p>
            <a:r>
              <a:rPr lang="en-US" b="1" dirty="0"/>
              <a:t>9 said science </a:t>
            </a:r>
          </a:p>
          <a:p>
            <a:r>
              <a:rPr lang="en-US" b="1" dirty="0"/>
              <a:t>8 said both </a:t>
            </a: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D7E4B-9D2D-4A4B-B49B-5FB96F608754}"/>
              </a:ext>
            </a:extLst>
          </p:cNvPr>
          <p:cNvSpPr txBox="1"/>
          <p:nvPr/>
        </p:nvSpPr>
        <p:spPr>
          <a:xfrm>
            <a:off x="3654639" y="2006354"/>
            <a:ext cx="114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MATH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16C26-A8A4-46CF-ABD9-F534F3C9096D}"/>
              </a:ext>
            </a:extLst>
          </p:cNvPr>
          <p:cNvSpPr txBox="1"/>
          <p:nvPr/>
        </p:nvSpPr>
        <p:spPr>
          <a:xfrm>
            <a:off x="7614821" y="2006354"/>
            <a:ext cx="1289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SCIENCE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07754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do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50 students had to vote for REAL activities </a:t>
            </a:r>
          </a:p>
          <a:p>
            <a:r>
              <a:rPr lang="en-US" b="1" dirty="0"/>
              <a:t>20 said movies </a:t>
            </a:r>
          </a:p>
          <a:p>
            <a:r>
              <a:rPr lang="en-US" b="1" dirty="0"/>
              <a:t>24 said Adventure world</a:t>
            </a:r>
          </a:p>
          <a:p>
            <a:r>
              <a:rPr lang="en-US" b="1" dirty="0"/>
              <a:t>15 said both </a:t>
            </a:r>
          </a:p>
          <a:p>
            <a:r>
              <a:rPr lang="en-US" b="1" dirty="0"/>
              <a:t>Compete the Venn diagram </a:t>
            </a: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8290B-9A5B-443B-90F2-6408FA6E2383}"/>
              </a:ext>
            </a:extLst>
          </p:cNvPr>
          <p:cNvSpPr txBox="1"/>
          <p:nvPr/>
        </p:nvSpPr>
        <p:spPr>
          <a:xfrm>
            <a:off x="3441575" y="1997476"/>
            <a:ext cx="117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Movies 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1B13B7-E5E2-4333-B474-4B66B0753316}"/>
              </a:ext>
            </a:extLst>
          </p:cNvPr>
          <p:cNvSpPr txBox="1"/>
          <p:nvPr/>
        </p:nvSpPr>
        <p:spPr>
          <a:xfrm>
            <a:off x="7739848" y="1997476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AW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07425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6CC3-B4CC-4F7A-84A4-06F2AB91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Two-way tables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6735D-8657-4631-AB32-1ACB04CEF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Two-way tables are a way of sorting data so that the frequency of each category can be seen quickly and easily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677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19536" y="1988841"/>
          <a:ext cx="8352928" cy="4392487"/>
        </p:xfrm>
        <a:graphic>
          <a:graphicData uri="http://schemas.openxmlformats.org/drawingml/2006/table">
            <a:tbl>
              <a:tblPr/>
              <a:tblGrid>
                <a:gridCol w="1637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3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48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99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latin typeface="Calibri"/>
                          <a:ea typeface="Calibri"/>
                          <a:cs typeface="Times New Roman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b="1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43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069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b="1" dirty="0">
                        <a:solidFill>
                          <a:schemeClr val="accent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31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25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85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575720" y="2784550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Completing Two Way Tables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chemeClr val="accent5"/>
                </a:solidFill>
              </a:rPr>
              <a:t>Sometimes two way tables are incomplete.  How could we use the information to fill in the gaps?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chemeClr val="accent5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12040" y="2884919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Times New Roman"/>
              </a:rPr>
              <a:t>19</a:t>
            </a:r>
            <a:endParaRPr lang="en-GB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14256" y="2794154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652610" y="2884919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Times New Roman"/>
              </a:rPr>
              <a:t>12</a:t>
            </a:r>
            <a:endParaRPr lang="en-GB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55491" y="2803759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8904190" y="2884919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Times New Roman"/>
              </a:rPr>
              <a:t>42</a:t>
            </a:r>
            <a:endParaRPr lang="en-GB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93900" y="3910030"/>
            <a:ext cx="1584176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5662954" y="3946390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alibri"/>
                <a:ea typeface="Calibri"/>
                <a:cs typeface="Times New Roman"/>
              </a:rPr>
              <a:t>19</a:t>
            </a:r>
            <a:endParaRPr lang="en-GB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32105" y="3929765"/>
            <a:ext cx="1428941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303185" y="3903255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7396" y="5157193"/>
            <a:ext cx="1428941" cy="1004491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3948475" y="5085184"/>
            <a:ext cx="886781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13" grpId="0"/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One for you to do ...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chemeClr val="accent5"/>
                </a:solidFill>
              </a:rPr>
              <a:t>Sometimes two way tables are incomplete.  How could we use the information to fill in the gaps?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chemeClr val="accent5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19536" y="1988841"/>
          <a:ext cx="8352928" cy="4425508"/>
        </p:xfrm>
        <a:graphic>
          <a:graphicData uri="http://schemas.openxmlformats.org/drawingml/2006/table">
            <a:tbl>
              <a:tblPr/>
              <a:tblGrid>
                <a:gridCol w="1637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30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3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4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8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2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88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4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4000" b="1" dirty="0"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647728" y="2780928"/>
            <a:ext cx="1512168" cy="1080120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7032104" y="2792046"/>
            <a:ext cx="1440160" cy="1080120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8657145" y="2792046"/>
            <a:ext cx="1594520" cy="1080120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314256" y="4005064"/>
            <a:ext cx="1584176" cy="1008112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8636968" y="4052829"/>
            <a:ext cx="1594520" cy="936104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7104111" y="5157192"/>
            <a:ext cx="1296144" cy="1152128"/>
          </a:xfrm>
          <a:prstGeom prst="rect">
            <a:avLst/>
          </a:prstGeom>
          <a:solidFill>
            <a:srgbClr val="FFFFCC"/>
          </a:solidFill>
          <a:ln>
            <a:solidFill>
              <a:srgbClr val="FFFF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135949" y="285932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08794" y="2871776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0494" y="2871776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2610" y="4047455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0493" y="4047455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8793" y="5258288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rgbClr val="00349E"/>
                </a:solidFill>
                <a:latin typeface="Comic Sans MS"/>
              </a:rPr>
              <a:t>Using Two Way Tables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rgbClr val="005BD3"/>
                </a:solidFill>
                <a:latin typeface="Comic Sans MS"/>
              </a:rPr>
              <a:t>How can two way tables be useful?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rgbClr val="005BD3"/>
              </a:solidFill>
              <a:latin typeface="Comic Sans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968" y="1916833"/>
            <a:ext cx="4608512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rgbClr val="FF388C"/>
                </a:solidFill>
                <a:latin typeface="Comic Sans MS"/>
              </a:rPr>
              <a:t>You have this two way table in front of you.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dirty="0">
                <a:solidFill>
                  <a:prstClr val="black"/>
                </a:solidFill>
                <a:latin typeface="Comic Sans MS"/>
              </a:rPr>
              <a:t>If I was to choose a pupil at random, what is the probability of selecting a Year 8 pupil?</a:t>
            </a: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b="1" dirty="0">
                <a:solidFill>
                  <a:srgbClr val="FF388C"/>
                </a:solidFill>
                <a:latin typeface="Comic Sans MS"/>
              </a:rPr>
              <a:t>18/50 = 9/25</a:t>
            </a: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75521" y="2420888"/>
          <a:ext cx="3816423" cy="1747066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rgbClr val="00349E"/>
                </a:solidFill>
                <a:latin typeface="Comic Sans MS"/>
              </a:rPr>
              <a:t>Using Two Way Tables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rgbClr val="005BD3"/>
                </a:solidFill>
                <a:latin typeface="Comic Sans MS"/>
              </a:rPr>
              <a:t>How can two way tables be useful?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rgbClr val="005BD3"/>
              </a:solidFill>
              <a:latin typeface="Comic Sans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968" y="1916832"/>
            <a:ext cx="460851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rgbClr val="FF388C"/>
                </a:solidFill>
                <a:latin typeface="Comic Sans MS"/>
              </a:rPr>
              <a:t>You have this two way table in front of you.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dirty="0">
                <a:solidFill>
                  <a:prstClr val="black"/>
                </a:solidFill>
                <a:latin typeface="Comic Sans MS"/>
              </a:rPr>
              <a:t>What is the probability that a pupil selected at random will be a boy?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75521" y="2420888"/>
          <a:ext cx="3816423" cy="1747066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rgbClr val="00349E"/>
                </a:solidFill>
                <a:latin typeface="Comic Sans MS"/>
              </a:rPr>
              <a:t>Using Two Way Tables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rgbClr val="005BD3"/>
                </a:solidFill>
                <a:latin typeface="Comic Sans MS"/>
              </a:rPr>
              <a:t>How can two way tables be useful?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rgbClr val="005BD3"/>
              </a:solidFill>
              <a:latin typeface="Comic Sans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968" y="1916832"/>
            <a:ext cx="460851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rgbClr val="FF388C"/>
                </a:solidFill>
                <a:latin typeface="Comic Sans MS"/>
              </a:rPr>
              <a:t>You have this two way table in front of you.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dirty="0">
                <a:solidFill>
                  <a:prstClr val="black"/>
                </a:solidFill>
                <a:latin typeface="Comic Sans MS"/>
              </a:rPr>
              <a:t>What is the probability that a pupil selected at random will be a boy?</a:t>
            </a: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b="1" dirty="0">
                <a:solidFill>
                  <a:srgbClr val="FF388C"/>
                </a:solidFill>
                <a:latin typeface="Comic Sans MS"/>
              </a:rPr>
              <a:t>29/50 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75521" y="2420888"/>
          <a:ext cx="3816423" cy="1747066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rgbClr val="00349E"/>
                </a:solidFill>
                <a:latin typeface="Comic Sans MS"/>
              </a:rPr>
              <a:t>Using Two Way Tables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rgbClr val="005BD3"/>
                </a:solidFill>
                <a:latin typeface="Comic Sans MS"/>
              </a:rPr>
              <a:t>How can two way tables be useful?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rgbClr val="005BD3"/>
              </a:solidFill>
              <a:latin typeface="Comic Sans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968" y="1916832"/>
            <a:ext cx="460851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rgbClr val="FF388C"/>
                </a:solidFill>
                <a:latin typeface="Comic Sans MS"/>
              </a:rPr>
              <a:t>You have this two way table in front of you.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dirty="0">
                <a:solidFill>
                  <a:prstClr val="black"/>
                </a:solidFill>
                <a:latin typeface="Comic Sans MS"/>
              </a:rPr>
              <a:t>If a Year 7 pupil is selected, what is the probability that they will be a girl?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75521" y="2420888"/>
          <a:ext cx="3816423" cy="1747066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91544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4400" dirty="0">
                <a:solidFill>
                  <a:srgbClr val="00349E"/>
                </a:solidFill>
                <a:latin typeface="Comic Sans MS"/>
              </a:rPr>
              <a:t>Using Two Way Tables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81200" y="1196752"/>
            <a:ext cx="8229600" cy="5472608"/>
          </a:xfrm>
          <a:prstGeom prst="rect">
            <a:avLst/>
          </a:prstGeom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en-GB" sz="2000" dirty="0">
                <a:solidFill>
                  <a:srgbClr val="005BD3"/>
                </a:solidFill>
                <a:latin typeface="Comic Sans MS"/>
              </a:rPr>
              <a:t>How can two way tables be useful?</a:t>
            </a:r>
          </a:p>
          <a:p>
            <a:pPr marL="342900" indent="-342900" algn="ctr">
              <a:spcBef>
                <a:spcPct val="20000"/>
              </a:spcBef>
              <a:defRPr/>
            </a:pPr>
            <a:endParaRPr lang="en-GB" sz="2000" dirty="0">
              <a:solidFill>
                <a:srgbClr val="005BD3"/>
              </a:solidFill>
              <a:latin typeface="Comic Sans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968" y="1916833"/>
            <a:ext cx="460851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rgbClr val="FF388C"/>
                </a:solidFill>
                <a:latin typeface="Comic Sans MS"/>
              </a:rPr>
              <a:t>You have this two way table in front of you.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dirty="0">
                <a:solidFill>
                  <a:prstClr val="black"/>
                </a:solidFill>
                <a:latin typeface="Comic Sans MS"/>
              </a:rPr>
              <a:t>If a </a:t>
            </a:r>
            <a:r>
              <a:rPr lang="en-GB" u="sng" dirty="0">
                <a:solidFill>
                  <a:prstClr val="black"/>
                </a:solidFill>
                <a:latin typeface="Comic Sans MS"/>
              </a:rPr>
              <a:t>Year 7</a:t>
            </a:r>
            <a:r>
              <a:rPr lang="en-GB" dirty="0">
                <a:solidFill>
                  <a:prstClr val="black"/>
                </a:solidFill>
                <a:latin typeface="Comic Sans MS"/>
              </a:rPr>
              <a:t> pupil is selected, what is the probability that they will be a </a:t>
            </a:r>
            <a:r>
              <a:rPr lang="en-GB" u="sng" dirty="0">
                <a:solidFill>
                  <a:prstClr val="black"/>
                </a:solidFill>
                <a:latin typeface="Comic Sans MS"/>
              </a:rPr>
              <a:t>girl</a:t>
            </a:r>
            <a:r>
              <a:rPr lang="en-GB" dirty="0">
                <a:solidFill>
                  <a:prstClr val="black"/>
                </a:solidFill>
                <a:latin typeface="Comic Sans MS"/>
              </a:rPr>
              <a:t>?</a:t>
            </a:r>
          </a:p>
          <a:p>
            <a:pPr algn="ctr"/>
            <a:endParaRPr lang="en-GB" dirty="0">
              <a:solidFill>
                <a:prstClr val="black"/>
              </a:solidFill>
              <a:latin typeface="Comic Sans MS"/>
            </a:endParaRPr>
          </a:p>
          <a:p>
            <a:pPr algn="ctr"/>
            <a:r>
              <a:rPr lang="en-GB" dirty="0">
                <a:solidFill>
                  <a:srgbClr val="FF388C"/>
                </a:solidFill>
                <a:latin typeface="Comic Sans MS"/>
              </a:rPr>
              <a:t>4/13</a:t>
            </a:r>
            <a:r>
              <a:rPr lang="en-GB" dirty="0">
                <a:solidFill>
                  <a:prstClr val="black"/>
                </a:solidFill>
                <a:latin typeface="Comic Sans MS"/>
              </a:rPr>
              <a:t> </a:t>
            </a: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  <a:p>
            <a:endParaRPr lang="en-GB" dirty="0">
              <a:solidFill>
                <a:prstClr val="black"/>
              </a:solidFill>
              <a:latin typeface="Comic Sans M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75521" y="2420888"/>
          <a:ext cx="3816423" cy="1747066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A1F5-1CB6-4DDB-9D29-7BA898E2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task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316E5-7F54-4464-B55D-C13EB7846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the individual tasks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409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53E0-6748-42F9-973B-7B6C356A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4CAF0-3BAF-4A24-AAB3-0A9B44B0F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</a:rPr>
              <a:t> Complete two-way tables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</a:rPr>
              <a:t> Determine probability from two-way tables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455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Easy to Read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650</Words>
  <Application>Microsoft Office PowerPoint</Application>
  <PresentationFormat>Widescreen</PresentationFormat>
  <Paragraphs>290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Wingdings</vt:lpstr>
      <vt:lpstr>Office Theme</vt:lpstr>
      <vt:lpstr>1_Office Theme</vt:lpstr>
      <vt:lpstr>Lesson objective </vt:lpstr>
      <vt:lpstr>Review Venn diagrams </vt:lpstr>
      <vt:lpstr>Review Venn diagrams </vt:lpstr>
      <vt:lpstr>Review Venn diagrams </vt:lpstr>
      <vt:lpstr>Review Venn diagrams </vt:lpstr>
      <vt:lpstr>Review Venn diagrams </vt:lpstr>
      <vt:lpstr>Two-way tables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task </vt:lpstr>
      <vt:lpstr>Fist to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2022-05-25T12:21:06Z</dcterms:created>
  <dcterms:modified xsi:type="dcterms:W3CDTF">2022-05-25T12:49:04Z</dcterms:modified>
</cp:coreProperties>
</file>
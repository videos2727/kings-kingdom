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7" r:id="rId2"/>
  </p:sldMasterIdLst>
  <p:notesMasterIdLst>
    <p:notesMasterId r:id="rId13"/>
  </p:notesMasterIdLst>
  <p:sldIdLst>
    <p:sldId id="257" r:id="rId3"/>
    <p:sldId id="258" r:id="rId4"/>
    <p:sldId id="259" r:id="rId5"/>
    <p:sldId id="261" r:id="rId6"/>
    <p:sldId id="266" r:id="rId7"/>
    <p:sldId id="262" r:id="rId8"/>
    <p:sldId id="263" r:id="rId9"/>
    <p:sldId id="264" r:id="rId10"/>
    <p:sldId id="265" r:id="rId11"/>
    <p:sldId id="267" r:id="rId12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05C096-20A8-401F-92C9-45B009CFCED1}" type="datetimeFigureOut">
              <a:rPr lang="en-AU" smtClean="0"/>
              <a:t>7/12/2022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4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B1487D-1C79-4675-B0C2-740C9BA474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9019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Student notes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B1487D-1C79-4675-B0C2-740C9BA47408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00114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Student notes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B1487D-1C79-4675-B0C2-740C9BA47408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03746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Student notes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B1487D-1C79-4675-B0C2-740C9BA47408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93477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Student notes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B1487D-1C79-4675-B0C2-740C9BA47408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2913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BBC1C-6EC0-4EFF-8E20-B5A6271BDC75}" type="datetimeFigureOut">
              <a:rPr lang="en-AU" smtClean="0"/>
              <a:t>7/12/2022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5B3FF-F556-416C-A1F9-05195DFE3D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3289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BBC1C-6EC0-4EFF-8E20-B5A6271BDC75}" type="datetimeFigureOut">
              <a:rPr lang="en-AU" smtClean="0"/>
              <a:t>7/12/2022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5B3FF-F556-416C-A1F9-05195DFE3D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4860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BBC1C-6EC0-4EFF-8E20-B5A6271BDC75}" type="datetimeFigureOut">
              <a:rPr lang="en-AU" smtClean="0"/>
              <a:t>7/12/2022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5B3FF-F556-416C-A1F9-05195DFE3D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5650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BBC1C-6EC0-4EFF-8E20-B5A6271BDC75}" type="datetimeFigureOut">
              <a:rPr lang="en-AU" smtClean="0"/>
              <a:t>7/12/2022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5B3FF-F556-416C-A1F9-05195DFE3D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7836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BBC1C-6EC0-4EFF-8E20-B5A6271BDC75}" type="datetimeFigureOut">
              <a:rPr lang="en-AU" smtClean="0"/>
              <a:t>7/12/2022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5B3FF-F556-416C-A1F9-05195DFE3D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7891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BBC1C-6EC0-4EFF-8E20-B5A6271BDC75}" type="datetimeFigureOut">
              <a:rPr lang="en-AU" smtClean="0"/>
              <a:t>7/12/2022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5B3FF-F556-416C-A1F9-05195DFE3D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6976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BBC1C-6EC0-4EFF-8E20-B5A6271BDC75}" type="datetimeFigureOut">
              <a:rPr lang="en-AU" smtClean="0"/>
              <a:t>7/12/2022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5B3FF-F556-416C-A1F9-05195DFE3D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0256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BBC1C-6EC0-4EFF-8E20-B5A6271BDC75}" type="datetimeFigureOut">
              <a:rPr lang="en-AU" smtClean="0"/>
              <a:t>7/12/2022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5B3FF-F556-416C-A1F9-05195DFE3D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4929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BBC1C-6EC0-4EFF-8E20-B5A6271BDC75}" type="datetimeFigureOut">
              <a:rPr lang="en-AU" smtClean="0"/>
              <a:t>7/12/2022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5B3FF-F556-416C-A1F9-05195DFE3D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6814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BBC1C-6EC0-4EFF-8E20-B5A6271BDC75}" type="datetimeFigureOut">
              <a:rPr lang="en-AU" smtClean="0"/>
              <a:t>7/12/2022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5B3FF-F556-416C-A1F9-05195DFE3D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2554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BBC1C-6EC0-4EFF-8E20-B5A6271BDC75}" type="datetimeFigureOut">
              <a:rPr lang="en-AU" smtClean="0"/>
              <a:t>7/12/2022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5B3FF-F556-416C-A1F9-05195DFE3D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71435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BBC1C-6EC0-4EFF-8E20-B5A6271BDC75}" type="datetimeFigureOut">
              <a:rPr lang="en-AU" smtClean="0"/>
              <a:t>7/12/2022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5B3FF-F556-416C-A1F9-05195DFE3D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916742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BBC1C-6EC0-4EFF-8E20-B5A6271BDC75}" type="datetimeFigureOut">
              <a:rPr lang="en-AU" smtClean="0"/>
              <a:t>7/12/2022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5B3FF-F556-416C-A1F9-05195DFE3D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394975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BBC1C-6EC0-4EFF-8E20-B5A6271BDC75}" type="datetimeFigureOut">
              <a:rPr lang="en-AU" smtClean="0"/>
              <a:t>7/12/2022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5B3FF-F556-416C-A1F9-05195DFE3D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65058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BBC1C-6EC0-4EFF-8E20-B5A6271BDC75}" type="datetimeFigureOut">
              <a:rPr lang="en-AU" smtClean="0"/>
              <a:t>7/12/2022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5B3FF-F556-416C-A1F9-05195DFE3D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59066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BBC1C-6EC0-4EFF-8E20-B5A6271BDC75}" type="datetimeFigureOut">
              <a:rPr lang="en-AU" smtClean="0"/>
              <a:t>7/12/2022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5B3FF-F556-416C-A1F9-05195DFE3D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18378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BBC1C-6EC0-4EFF-8E20-B5A6271BDC75}" type="datetimeFigureOut">
              <a:rPr lang="en-AU" smtClean="0"/>
              <a:t>7/12/2022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5B3FF-F556-416C-A1F9-05195DFE3D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39984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BBC1C-6EC0-4EFF-8E20-B5A6271BDC75}" type="datetimeFigureOut">
              <a:rPr lang="en-AU" smtClean="0"/>
              <a:t>7/12/2022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5B3FF-F556-416C-A1F9-05195DFE3D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30979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BBC1C-6EC0-4EFF-8E20-B5A6271BDC75}" type="datetimeFigureOut">
              <a:rPr lang="en-AU" smtClean="0"/>
              <a:t>7/12/2022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5B3FF-F556-416C-A1F9-05195DFE3D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73033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5B3FF-F556-416C-A1F9-05195DFE3DCE}" type="slidenum">
              <a:rPr lang="en-AU" smtClean="0"/>
              <a:t>‹#›</a:t>
            </a:fld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BBC1C-6EC0-4EFF-8E20-B5A6271BDC75}" type="datetimeFigureOut">
              <a:rPr lang="en-AU" smtClean="0"/>
              <a:t>7/12/2022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51232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BBC1C-6EC0-4EFF-8E20-B5A6271BDC75}" type="datetimeFigureOut">
              <a:rPr lang="en-AU" smtClean="0"/>
              <a:t>7/12/2022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5B3FF-F556-416C-A1F9-05195DFE3D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86825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BBC1C-6EC0-4EFF-8E20-B5A6271BDC75}" type="datetimeFigureOut">
              <a:rPr lang="en-AU" smtClean="0"/>
              <a:t>7/12/2022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5B3FF-F556-416C-A1F9-05195DFE3DCE}" type="slidenum">
              <a:rPr lang="en-AU" smtClean="0"/>
              <a:t>‹#›</a:t>
            </a:fld>
            <a:endParaRPr lang="en-A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892764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BBC1C-6EC0-4EFF-8E20-B5A6271BDC75}" type="datetimeFigureOut">
              <a:rPr lang="en-AU" smtClean="0"/>
              <a:t>7/12/2022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5B3FF-F556-416C-A1F9-05195DFE3D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61925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BBC1C-6EC0-4EFF-8E20-B5A6271BDC75}" type="datetimeFigureOut">
              <a:rPr lang="en-AU" smtClean="0"/>
              <a:t>7/12/2022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5B3FF-F556-416C-A1F9-05195DFE3DCE}" type="slidenum">
              <a:rPr lang="en-AU" smtClean="0"/>
              <a:t>‹#›</a:t>
            </a:fld>
            <a:endParaRPr lang="en-A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257436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BBC1C-6EC0-4EFF-8E20-B5A6271BDC75}" type="datetimeFigureOut">
              <a:rPr lang="en-AU" smtClean="0"/>
              <a:t>7/12/2022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5B3FF-F556-416C-A1F9-05195DFE3D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27219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BBC1C-6EC0-4EFF-8E20-B5A6271BDC75}" type="datetimeFigureOut">
              <a:rPr lang="en-AU" smtClean="0"/>
              <a:t>7/12/2022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5B3FF-F556-416C-A1F9-05195DFE3D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00702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BBC1C-6EC0-4EFF-8E20-B5A6271BDC75}" type="datetimeFigureOut">
              <a:rPr lang="en-AU" smtClean="0"/>
              <a:t>7/12/2022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5B3FF-F556-416C-A1F9-05195DFE3D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8470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BBBC1C-6EC0-4EFF-8E20-B5A6271BDC75}" type="datetimeFigureOut">
              <a:rPr lang="en-AU" smtClean="0"/>
              <a:t>7/12/2022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85B3FF-F556-416C-A1F9-05195DFE3D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93794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BBBC1C-6EC0-4EFF-8E20-B5A6271BDC75}" type="datetimeFigureOut">
              <a:rPr lang="en-AU" smtClean="0"/>
              <a:t>7/12/2022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B85B3FF-F556-416C-A1F9-05195DFE3D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4509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>
            <a:alpha val="2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09461" y="1428981"/>
            <a:ext cx="823611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B0F0"/>
                </a:solidFill>
              </a:rPr>
              <a:t>Aims:</a:t>
            </a: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AU" sz="2400" dirty="0">
                <a:solidFill>
                  <a:srgbClr val="00B0F0"/>
                </a:solidFill>
              </a:rPr>
              <a:t>Know the meaning of ‘congruent’.</a:t>
            </a: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AU" sz="2400" dirty="0">
                <a:solidFill>
                  <a:srgbClr val="00B0F0"/>
                </a:solidFill>
              </a:rPr>
              <a:t>Know the conditions for congruence.</a:t>
            </a: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AU" sz="2400" dirty="0">
                <a:solidFill>
                  <a:srgbClr val="00B0F0"/>
                </a:solidFill>
              </a:rPr>
              <a:t>Be able to demonstrate that 2 triangles are congruent.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9461" y="3468743"/>
            <a:ext cx="894598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B0F0"/>
                </a:solidFill>
              </a:rPr>
              <a:t>Plan:</a:t>
            </a:r>
          </a:p>
          <a:p>
            <a:pPr marL="342900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rgbClr val="00B0F0"/>
                </a:solidFill>
              </a:rPr>
              <a:t>View examples of congruent and non-congruent pairs of triangles.</a:t>
            </a:r>
          </a:p>
          <a:p>
            <a:pPr marL="342900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rgbClr val="00B0F0"/>
                </a:solidFill>
              </a:rPr>
              <a:t>Complete guided notes.</a:t>
            </a:r>
          </a:p>
          <a:p>
            <a:pPr marL="342900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rgbClr val="00B0F0"/>
                </a:solidFill>
              </a:rPr>
              <a:t>Complete worksheet.</a:t>
            </a:r>
          </a:p>
          <a:p>
            <a:endParaRPr lang="en-AU" sz="2400" dirty="0"/>
          </a:p>
          <a:p>
            <a:endParaRPr lang="en-AU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5A82F0-A78B-7DEC-2E13-9D8B636E96D1}"/>
              </a:ext>
            </a:extLst>
          </p:cNvPr>
          <p:cNvSpPr txBox="1"/>
          <p:nvPr/>
        </p:nvSpPr>
        <p:spPr>
          <a:xfrm>
            <a:off x="2705493" y="216816"/>
            <a:ext cx="640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Lesson objective 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519950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83295" y="424299"/>
            <a:ext cx="5810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Congruent: same size and shape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595947C-8D0E-4DA7-BE7D-C1FEA398A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825" y="1625583"/>
            <a:ext cx="3726941" cy="17308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4DD48D2-8DE2-4C07-AFEB-BBF9BC3C21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9825" y="4096034"/>
            <a:ext cx="4267269" cy="202187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81AD37F-C833-4DB1-ADC1-64C3B121B5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0668" y="4096034"/>
            <a:ext cx="3975164" cy="202187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A3E1F0B-C88F-4730-96ED-207314E2B356}"/>
              </a:ext>
            </a:extLst>
          </p:cNvPr>
          <p:cNvSpPr txBox="1"/>
          <p:nvPr/>
        </p:nvSpPr>
        <p:spPr>
          <a:xfrm>
            <a:off x="4467859" y="1074656"/>
            <a:ext cx="3035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Congruent triangles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790EF22-B97F-4235-B5A6-721CE3E748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451" y="1773970"/>
            <a:ext cx="4005645" cy="1582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546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83295" y="424299"/>
            <a:ext cx="5810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Congruent: same size and shape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3E1F0B-C88F-4730-96ED-207314E2B356}"/>
              </a:ext>
            </a:extLst>
          </p:cNvPr>
          <p:cNvSpPr txBox="1"/>
          <p:nvPr/>
        </p:nvSpPr>
        <p:spPr>
          <a:xfrm>
            <a:off x="4467859" y="1074656"/>
            <a:ext cx="3035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Not congruent triangles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2FF051-C356-4389-9B3B-E5F5BD32F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935" y="4134564"/>
            <a:ext cx="4003104" cy="20218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20F19B7-468F-4049-89CF-28C22554D6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8719" y="1673832"/>
            <a:ext cx="4094546" cy="17551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022B87B-EB13-4F74-9514-DBD03932EB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8739" y="1632680"/>
            <a:ext cx="3329994" cy="175516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1" y="4046218"/>
            <a:ext cx="4702111" cy="1269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346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B9B816-F970-4C97-89F0-B7FDA4DB6468}"/>
              </a:ext>
            </a:extLst>
          </p:cNvPr>
          <p:cNvSpPr txBox="1"/>
          <p:nvPr/>
        </p:nvSpPr>
        <p:spPr>
          <a:xfrm>
            <a:off x="1149529" y="748937"/>
            <a:ext cx="10424161" cy="5863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Conditions for congruence</a:t>
            </a:r>
          </a:p>
          <a:p>
            <a:endParaRPr lang="en-AU" sz="2400" dirty="0"/>
          </a:p>
          <a:p>
            <a:pPr>
              <a:spcAft>
                <a:spcPts val="600"/>
              </a:spcAft>
            </a:pPr>
            <a:r>
              <a:rPr lang="en-AU" sz="2400" dirty="0"/>
              <a:t>SSS	</a:t>
            </a:r>
            <a:r>
              <a:rPr lang="en-AU" sz="2400" dirty="0">
                <a:solidFill>
                  <a:srgbClr val="0070C0"/>
                </a:solidFill>
              </a:rPr>
              <a:t>If 3 sides of one triangle are congruent to 3 sides of another triangle, then 	the triangles are congruent.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SAS	If 2 sides and the included angle of one triangle are congruent to 2 sides 	and the included angle of another triangle, then the triangles are 	congruent.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AAS	</a:t>
            </a:r>
            <a:r>
              <a:rPr lang="en-AU" sz="2400" dirty="0">
                <a:solidFill>
                  <a:srgbClr val="0070C0"/>
                </a:solidFill>
              </a:rPr>
              <a:t>If 2 angles and a side of one triangle are congruent to 2 angles and the 	corresponding side of another triangle, then the triangles are congruent.</a:t>
            </a:r>
          </a:p>
          <a:p>
            <a:r>
              <a:rPr lang="en-AU" sz="2400" dirty="0"/>
              <a:t>RHS	If the hypotenuse and another side of one right triangle are congruent to 	the hypotenuse and a side of another triangle, then the triangles are 	congruent.</a:t>
            </a:r>
          </a:p>
          <a:p>
            <a:endParaRPr lang="en-AU" sz="2400" dirty="0"/>
          </a:p>
          <a:p>
            <a:endParaRPr lang="en-AU" sz="2400" dirty="0"/>
          </a:p>
          <a:p>
            <a:endParaRPr lang="en-AU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10466B8-2DC6-4C80-AAFF-762573F4F3E7}"/>
              </a:ext>
            </a:extLst>
          </p:cNvPr>
          <p:cNvSpPr/>
          <p:nvPr/>
        </p:nvSpPr>
        <p:spPr>
          <a:xfrm>
            <a:off x="9023741" y="3545212"/>
            <a:ext cx="770709" cy="31350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89D53FA-6470-46BF-A152-5A0E020EDDBE}"/>
              </a:ext>
            </a:extLst>
          </p:cNvPr>
          <p:cNvSpPr/>
          <p:nvPr/>
        </p:nvSpPr>
        <p:spPr>
          <a:xfrm>
            <a:off x="2577962" y="2348711"/>
            <a:ext cx="693140" cy="31350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30554AE-D6EC-4B15-A58F-180E9E424872}"/>
              </a:ext>
            </a:extLst>
          </p:cNvPr>
          <p:cNvSpPr/>
          <p:nvPr/>
        </p:nvSpPr>
        <p:spPr>
          <a:xfrm>
            <a:off x="4286054" y="2348712"/>
            <a:ext cx="1096652" cy="31350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5B60901-591E-4D66-B38B-C3C505849980}"/>
              </a:ext>
            </a:extLst>
          </p:cNvPr>
          <p:cNvSpPr/>
          <p:nvPr/>
        </p:nvSpPr>
        <p:spPr>
          <a:xfrm>
            <a:off x="4112511" y="1567992"/>
            <a:ext cx="1008803" cy="31350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8914429-6EFB-4BFA-82C7-B072F2169C40}"/>
              </a:ext>
            </a:extLst>
          </p:cNvPr>
          <p:cNvSpPr/>
          <p:nvPr/>
        </p:nvSpPr>
        <p:spPr>
          <a:xfrm>
            <a:off x="7503735" y="1584421"/>
            <a:ext cx="678731" cy="31350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EC273E4-F8F8-4909-9DC4-4C992BFA269E}"/>
              </a:ext>
            </a:extLst>
          </p:cNvPr>
          <p:cNvSpPr/>
          <p:nvPr/>
        </p:nvSpPr>
        <p:spPr>
          <a:xfrm>
            <a:off x="4199145" y="1958352"/>
            <a:ext cx="1541417" cy="31350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7116F88-599E-47FE-B6E0-005AA698ABDF}"/>
              </a:ext>
            </a:extLst>
          </p:cNvPr>
          <p:cNvSpPr/>
          <p:nvPr/>
        </p:nvSpPr>
        <p:spPr>
          <a:xfrm>
            <a:off x="3162692" y="2718782"/>
            <a:ext cx="1096653" cy="31350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6AB4B2D-D3D1-4122-AF89-ED610130ECA1}"/>
              </a:ext>
            </a:extLst>
          </p:cNvPr>
          <p:cNvSpPr/>
          <p:nvPr/>
        </p:nvSpPr>
        <p:spPr>
          <a:xfrm>
            <a:off x="8519232" y="2365141"/>
            <a:ext cx="1275218" cy="31350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188787F-FA55-4997-B723-89DAC9F08289}"/>
              </a:ext>
            </a:extLst>
          </p:cNvPr>
          <p:cNvSpPr/>
          <p:nvPr/>
        </p:nvSpPr>
        <p:spPr>
          <a:xfrm>
            <a:off x="10402477" y="2372997"/>
            <a:ext cx="787139" cy="31350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77B8411-9677-47F3-8C52-1F4641952546}"/>
              </a:ext>
            </a:extLst>
          </p:cNvPr>
          <p:cNvSpPr/>
          <p:nvPr/>
        </p:nvSpPr>
        <p:spPr>
          <a:xfrm>
            <a:off x="8611385" y="2718782"/>
            <a:ext cx="1096654" cy="31350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0A49D09-37A6-43BD-8568-2808F93279A6}"/>
              </a:ext>
            </a:extLst>
          </p:cNvPr>
          <p:cNvSpPr/>
          <p:nvPr/>
        </p:nvSpPr>
        <p:spPr>
          <a:xfrm>
            <a:off x="2577962" y="3559352"/>
            <a:ext cx="815688" cy="31350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FD4E7BE-C0DF-438D-B10A-D1E15D0E5F60}"/>
              </a:ext>
            </a:extLst>
          </p:cNvPr>
          <p:cNvSpPr/>
          <p:nvPr/>
        </p:nvSpPr>
        <p:spPr>
          <a:xfrm>
            <a:off x="4199145" y="3534932"/>
            <a:ext cx="533111" cy="31350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F6F4838-CC2F-4308-959B-6332CFB02955}"/>
              </a:ext>
            </a:extLst>
          </p:cNvPr>
          <p:cNvSpPr/>
          <p:nvPr/>
        </p:nvSpPr>
        <p:spPr>
          <a:xfrm>
            <a:off x="7144262" y="3559352"/>
            <a:ext cx="1275219" cy="31350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EA55F06-9E74-4526-8495-FB25EE21DE39}"/>
              </a:ext>
            </a:extLst>
          </p:cNvPr>
          <p:cNvSpPr/>
          <p:nvPr/>
        </p:nvSpPr>
        <p:spPr>
          <a:xfrm>
            <a:off x="2304000" y="3929423"/>
            <a:ext cx="1608124" cy="31350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748E889-64E0-4496-B843-A92BA5BC6827}"/>
              </a:ext>
            </a:extLst>
          </p:cNvPr>
          <p:cNvSpPr/>
          <p:nvPr/>
        </p:nvSpPr>
        <p:spPr>
          <a:xfrm>
            <a:off x="3026653" y="4384064"/>
            <a:ext cx="1337957" cy="31350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24D087B-598E-4AA9-A9CA-72E881E80110}"/>
              </a:ext>
            </a:extLst>
          </p:cNvPr>
          <p:cNvSpPr/>
          <p:nvPr/>
        </p:nvSpPr>
        <p:spPr>
          <a:xfrm>
            <a:off x="9756000" y="3906431"/>
            <a:ext cx="1541417" cy="31350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F88D789-457C-492E-BCFB-7C2D16941732}"/>
              </a:ext>
            </a:extLst>
          </p:cNvPr>
          <p:cNvSpPr/>
          <p:nvPr/>
        </p:nvSpPr>
        <p:spPr>
          <a:xfrm>
            <a:off x="7411758" y="4351922"/>
            <a:ext cx="591600" cy="31350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F59BAA3-257B-4AA4-9D17-E68B85C2DE26}"/>
              </a:ext>
            </a:extLst>
          </p:cNvPr>
          <p:cNvSpPr/>
          <p:nvPr/>
        </p:nvSpPr>
        <p:spPr>
          <a:xfrm>
            <a:off x="2577963" y="4721152"/>
            <a:ext cx="1541416" cy="31350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0A703A4-F142-4E14-8AEC-F4252E55679A}"/>
              </a:ext>
            </a:extLst>
          </p:cNvPr>
          <p:cNvSpPr/>
          <p:nvPr/>
        </p:nvSpPr>
        <p:spPr>
          <a:xfrm>
            <a:off x="9023742" y="4721152"/>
            <a:ext cx="1166634" cy="31350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7095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B9B816-F970-4C97-89F0-B7FDA4DB6468}"/>
              </a:ext>
            </a:extLst>
          </p:cNvPr>
          <p:cNvSpPr txBox="1"/>
          <p:nvPr/>
        </p:nvSpPr>
        <p:spPr>
          <a:xfrm>
            <a:off x="883919" y="606285"/>
            <a:ext cx="10424161" cy="5863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Conditions for congruence</a:t>
            </a:r>
          </a:p>
          <a:p>
            <a:endParaRPr lang="en-AU" sz="2400" dirty="0"/>
          </a:p>
          <a:p>
            <a:pPr>
              <a:spcAft>
                <a:spcPts val="600"/>
              </a:spcAft>
            </a:pPr>
            <a:r>
              <a:rPr lang="en-AU" sz="2400" dirty="0"/>
              <a:t>SSS	</a:t>
            </a:r>
            <a:r>
              <a:rPr lang="en-AU" sz="2400" dirty="0">
                <a:solidFill>
                  <a:srgbClr val="0070C0"/>
                </a:solidFill>
              </a:rPr>
              <a:t>If 3 sides of one triangle are congruent to 3 sides of another triangle, then 	the triangles are congruent.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SAS	If 2 sides and the included angle of one triangle are congruent to 2 sides 	and the included angle of another triangle, then the triangles are 	congruent.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AAS	</a:t>
            </a:r>
            <a:r>
              <a:rPr lang="en-AU" sz="2400" dirty="0">
                <a:solidFill>
                  <a:srgbClr val="0070C0"/>
                </a:solidFill>
              </a:rPr>
              <a:t>If 2 angles and a side of one triangle are congruent to 2 angles and the 	corresponding side of another triangle, then the triangles are congruent.</a:t>
            </a:r>
          </a:p>
          <a:p>
            <a:r>
              <a:rPr lang="en-AU" sz="2400" dirty="0"/>
              <a:t>RHS	If the hypotenuse and another side of one right triangle are congruent to 	the hypotenuse and a side of another triangle, then the triangles are 	congruent.</a:t>
            </a:r>
          </a:p>
          <a:p>
            <a:endParaRPr lang="en-AU" sz="2400" dirty="0"/>
          </a:p>
          <a:p>
            <a:endParaRPr lang="en-AU" sz="2400" dirty="0"/>
          </a:p>
          <a:p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712791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22EF83-8FD6-4605-B026-570B76A213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2631" b="79391"/>
          <a:stretch/>
        </p:blipFill>
        <p:spPr>
          <a:xfrm>
            <a:off x="878684" y="1031949"/>
            <a:ext cx="10319647" cy="32951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95DB7CA-98C4-4F9E-9DC5-A19CF3B0183D}"/>
              </a:ext>
            </a:extLst>
          </p:cNvPr>
          <p:cNvSpPr txBox="1"/>
          <p:nvPr/>
        </p:nvSpPr>
        <p:spPr>
          <a:xfrm>
            <a:off x="816429" y="234043"/>
            <a:ext cx="104339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Why are these triangles congruent?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45E585-B8CA-4673-8E5D-49CB6E624D47}"/>
              </a:ext>
            </a:extLst>
          </p:cNvPr>
          <p:cNvSpPr txBox="1"/>
          <p:nvPr/>
        </p:nvSpPr>
        <p:spPr>
          <a:xfrm>
            <a:off x="1069174" y="5276553"/>
            <a:ext cx="972638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AU" sz="2400" dirty="0"/>
              <a:t>SSS	</a:t>
            </a:r>
            <a:r>
              <a:rPr lang="en-AU" sz="2400" dirty="0">
                <a:solidFill>
                  <a:srgbClr val="0070C0"/>
                </a:solidFill>
              </a:rPr>
              <a:t>If 3 sides of one triangle are congruent to 3 sides of another triangle, 			then the triangles are congruent.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A5E174-0178-437A-9013-D21A68AF58F2}"/>
              </a:ext>
            </a:extLst>
          </p:cNvPr>
          <p:cNvSpPr txBox="1"/>
          <p:nvPr/>
        </p:nvSpPr>
        <p:spPr>
          <a:xfrm>
            <a:off x="1153886" y="4540202"/>
            <a:ext cx="89465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They are congruent because all the sides are the same (SSS)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DE4FDE-C750-4F4D-8948-0F1A87F89C03}"/>
              </a:ext>
            </a:extLst>
          </p:cNvPr>
          <p:cNvSpPr txBox="1"/>
          <p:nvPr/>
        </p:nvSpPr>
        <p:spPr>
          <a:xfrm>
            <a:off x="7722424" y="4601757"/>
            <a:ext cx="1338449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rgbClr val="FF0000"/>
                </a:solidFill>
              </a:rPr>
              <a:t>Congruent</a:t>
            </a:r>
          </a:p>
        </p:txBody>
      </p:sp>
    </p:spTree>
    <p:extLst>
      <p:ext uri="{BB962C8B-B14F-4D97-AF65-F5344CB8AC3E}">
        <p14:creationId xmlns:p14="http://schemas.microsoft.com/office/powerpoint/2010/main" val="1692427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22EF83-8FD6-4605-B026-570B76A213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609" r="32998" b="60369"/>
          <a:stretch/>
        </p:blipFill>
        <p:spPr>
          <a:xfrm>
            <a:off x="880765" y="780050"/>
            <a:ext cx="10708181" cy="317318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28C75E-58DF-4B11-930C-17F2B1D635A7}"/>
              </a:ext>
            </a:extLst>
          </p:cNvPr>
          <p:cNvSpPr txBox="1"/>
          <p:nvPr/>
        </p:nvSpPr>
        <p:spPr>
          <a:xfrm>
            <a:off x="816429" y="234043"/>
            <a:ext cx="104339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Why are these triangles congruent?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DDA9FD-38FE-455E-BD6A-B1789C2CE10F}"/>
              </a:ext>
            </a:extLst>
          </p:cNvPr>
          <p:cNvSpPr txBox="1"/>
          <p:nvPr/>
        </p:nvSpPr>
        <p:spPr>
          <a:xfrm>
            <a:off x="718457" y="5585348"/>
            <a:ext cx="103359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AU" sz="2400" dirty="0"/>
              <a:t>AAS	</a:t>
            </a:r>
            <a:r>
              <a:rPr lang="en-AU" sz="2400" dirty="0">
                <a:solidFill>
                  <a:srgbClr val="0070C0"/>
                </a:solidFill>
              </a:rPr>
              <a:t>If 2 angles and a side of one triangle are congruent to 2 angles and the corresponding side of 	another triangle, then the triangles are congruent.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4C9D84-5C08-4AEB-BF03-8A9E714F904F}"/>
              </a:ext>
            </a:extLst>
          </p:cNvPr>
          <p:cNvSpPr txBox="1"/>
          <p:nvPr/>
        </p:nvSpPr>
        <p:spPr>
          <a:xfrm>
            <a:off x="1322614" y="4191859"/>
            <a:ext cx="89465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They are congruent because all angles are the same and one of the corresponding side is the same to (AAS)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DACF25-789A-404A-BF1C-67811D292B2A}"/>
              </a:ext>
            </a:extLst>
          </p:cNvPr>
          <p:cNvSpPr txBox="1"/>
          <p:nvPr/>
        </p:nvSpPr>
        <p:spPr>
          <a:xfrm>
            <a:off x="7517377" y="4268802"/>
            <a:ext cx="1338449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rgbClr val="FF0000"/>
                </a:solidFill>
              </a:rPr>
              <a:t>Congruent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3C2014-75E5-4919-94E2-E87B57F0BFCE}"/>
              </a:ext>
            </a:extLst>
          </p:cNvPr>
          <p:cNvSpPr txBox="1"/>
          <p:nvPr/>
        </p:nvSpPr>
        <p:spPr>
          <a:xfrm>
            <a:off x="5483529" y="4745856"/>
            <a:ext cx="1338449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rgbClr val="FF0000"/>
                </a:solidFill>
              </a:rPr>
              <a:t>Congruent</a:t>
            </a:r>
          </a:p>
        </p:txBody>
      </p:sp>
    </p:spTree>
    <p:extLst>
      <p:ext uri="{BB962C8B-B14F-4D97-AF65-F5344CB8AC3E}">
        <p14:creationId xmlns:p14="http://schemas.microsoft.com/office/powerpoint/2010/main" val="117153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22EF83-8FD6-4605-B026-570B76A213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1324" r="33923" b="39653"/>
          <a:stretch/>
        </p:blipFill>
        <p:spPr>
          <a:xfrm>
            <a:off x="716128" y="455673"/>
            <a:ext cx="10759743" cy="32330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46204E-9610-4BCC-BBBF-E972C53C3D4A}"/>
              </a:ext>
            </a:extLst>
          </p:cNvPr>
          <p:cNvSpPr txBox="1"/>
          <p:nvPr/>
        </p:nvSpPr>
        <p:spPr>
          <a:xfrm>
            <a:off x="816429" y="234043"/>
            <a:ext cx="104339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Why are these triangles congruent?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89A54E-9440-48D0-B52D-CC9CAFADF578}"/>
              </a:ext>
            </a:extLst>
          </p:cNvPr>
          <p:cNvSpPr txBox="1"/>
          <p:nvPr/>
        </p:nvSpPr>
        <p:spPr>
          <a:xfrm>
            <a:off x="1104901" y="5500573"/>
            <a:ext cx="102706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dirty="0"/>
              <a:t>RHS	</a:t>
            </a:r>
            <a:r>
              <a:rPr lang="en-AU" sz="2400" dirty="0">
                <a:solidFill>
                  <a:srgbClr val="0070C0"/>
                </a:solidFill>
              </a:rPr>
              <a:t>If the hypotenuse and another side of one right triangle are congruent to the hypotenuse and a side of another triangle, then the triangles are congruent.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BBB0BC4-A158-47A2-9D91-17DD61508E01}"/>
                  </a:ext>
                </a:extLst>
              </p:cNvPr>
              <p:cNvSpPr txBox="1"/>
              <p:nvPr/>
            </p:nvSpPr>
            <p:spPr>
              <a:xfrm>
                <a:off x="1377043" y="3732273"/>
                <a:ext cx="8946522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800" dirty="0"/>
                  <a:t>These triangles are congruent because the corresponding hypotenuses are the same the other corresponding sides are the same and both triangles have the same angle of 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90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AU" sz="2800" dirty="0"/>
                  <a:t>(RHS)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BBB0BC4-A158-47A2-9D91-17DD61508E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7043" y="3732273"/>
                <a:ext cx="8946522" cy="1815882"/>
              </a:xfrm>
              <a:prstGeom prst="rect">
                <a:avLst/>
              </a:prstGeom>
              <a:blipFill>
                <a:blip r:embed="rId3"/>
                <a:stretch>
                  <a:fillRect l="-1431" t="-3020" r="-2113" b="-872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14B16219-2F66-4F6C-8C4B-944C64847CBB}"/>
              </a:ext>
            </a:extLst>
          </p:cNvPr>
          <p:cNvSpPr txBox="1"/>
          <p:nvPr/>
        </p:nvSpPr>
        <p:spPr>
          <a:xfrm>
            <a:off x="3942904" y="4216313"/>
            <a:ext cx="1338449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rgbClr val="FF0000"/>
                </a:solidFill>
              </a:rPr>
              <a:t>Congruent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389E86-E3B7-4E01-9602-BA662AEDA278}"/>
              </a:ext>
            </a:extLst>
          </p:cNvPr>
          <p:cNvSpPr txBox="1"/>
          <p:nvPr/>
        </p:nvSpPr>
        <p:spPr>
          <a:xfrm>
            <a:off x="6370220" y="4658388"/>
            <a:ext cx="1338449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rgbClr val="FF0000"/>
                </a:solidFill>
              </a:rPr>
              <a:t>Congruent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A9882C-3E82-4E5E-9ACC-024400871DB7}"/>
              </a:ext>
            </a:extLst>
          </p:cNvPr>
          <p:cNvSpPr txBox="1"/>
          <p:nvPr/>
        </p:nvSpPr>
        <p:spPr>
          <a:xfrm>
            <a:off x="1460169" y="4679371"/>
            <a:ext cx="1338449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rgbClr val="FF0000"/>
                </a:solidFill>
              </a:rPr>
              <a:t>Congruent</a:t>
            </a:r>
          </a:p>
        </p:txBody>
      </p:sp>
    </p:spTree>
    <p:extLst>
      <p:ext uri="{BB962C8B-B14F-4D97-AF65-F5344CB8AC3E}">
        <p14:creationId xmlns:p14="http://schemas.microsoft.com/office/powerpoint/2010/main" val="2536542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  <p:bldP spid="10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22EF83-8FD6-4605-B026-570B76A213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9568" r="31993"/>
          <a:stretch/>
        </p:blipFill>
        <p:spPr>
          <a:xfrm>
            <a:off x="718457" y="667684"/>
            <a:ext cx="10804071" cy="338810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46CA261-BF08-4FEF-AA8F-CDFF564AC681}"/>
              </a:ext>
            </a:extLst>
          </p:cNvPr>
          <p:cNvSpPr txBox="1"/>
          <p:nvPr/>
        </p:nvSpPr>
        <p:spPr>
          <a:xfrm>
            <a:off x="816429" y="234043"/>
            <a:ext cx="104339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Why are these triangles congruent?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891B33-93EF-452F-AB6F-340CF3BD7998}"/>
              </a:ext>
            </a:extLst>
          </p:cNvPr>
          <p:cNvSpPr/>
          <p:nvPr/>
        </p:nvSpPr>
        <p:spPr>
          <a:xfrm>
            <a:off x="9002486" y="957943"/>
            <a:ext cx="778328" cy="6749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938107-0F96-4013-8465-2BE71CF00DC3}"/>
              </a:ext>
            </a:extLst>
          </p:cNvPr>
          <p:cNvSpPr/>
          <p:nvPr/>
        </p:nvSpPr>
        <p:spPr>
          <a:xfrm>
            <a:off x="2411186" y="957943"/>
            <a:ext cx="778328" cy="6749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E86BB8-3EA6-4BF5-AFD3-6D2062321EAD}"/>
              </a:ext>
            </a:extLst>
          </p:cNvPr>
          <p:cNvSpPr txBox="1"/>
          <p:nvPr/>
        </p:nvSpPr>
        <p:spPr>
          <a:xfrm>
            <a:off x="718457" y="5585348"/>
            <a:ext cx="103359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AU" sz="2400" dirty="0"/>
              <a:t>AAS	</a:t>
            </a:r>
            <a:r>
              <a:rPr lang="en-AU" sz="2400" dirty="0">
                <a:solidFill>
                  <a:srgbClr val="0070C0"/>
                </a:solidFill>
              </a:rPr>
              <a:t>If 2 angles and a side of one triangle are congruent to 2 angles and the corresponding side of 	another triangle, then the triangles are congruent.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5AB45B-B8ED-412B-86A8-50AFF2AB6691}"/>
              </a:ext>
            </a:extLst>
          </p:cNvPr>
          <p:cNvSpPr txBox="1"/>
          <p:nvPr/>
        </p:nvSpPr>
        <p:spPr>
          <a:xfrm>
            <a:off x="1322614" y="4191859"/>
            <a:ext cx="89465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They are congruent because all angles are the same and one of the corresponding side is the same to (AAS)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4201AF-1D1C-4224-B737-81B0A41F278F}"/>
              </a:ext>
            </a:extLst>
          </p:cNvPr>
          <p:cNvSpPr/>
          <p:nvPr/>
        </p:nvSpPr>
        <p:spPr>
          <a:xfrm>
            <a:off x="9339943" y="531613"/>
            <a:ext cx="495300" cy="4916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959F89-B511-4509-A8EB-55E86E7AEFB3}"/>
              </a:ext>
            </a:extLst>
          </p:cNvPr>
          <p:cNvSpPr txBox="1"/>
          <p:nvPr/>
        </p:nvSpPr>
        <p:spPr>
          <a:xfrm>
            <a:off x="7528460" y="4257603"/>
            <a:ext cx="1338449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rgbClr val="FF0000"/>
                </a:solidFill>
              </a:rPr>
              <a:t>Congruent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56F7B1-1927-42A9-86E3-3A051E63BE97}"/>
              </a:ext>
            </a:extLst>
          </p:cNvPr>
          <p:cNvSpPr txBox="1"/>
          <p:nvPr/>
        </p:nvSpPr>
        <p:spPr>
          <a:xfrm>
            <a:off x="5451267" y="4668912"/>
            <a:ext cx="1338449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rgbClr val="FF0000"/>
                </a:solidFill>
              </a:rPr>
              <a:t>Congruent</a:t>
            </a:r>
          </a:p>
        </p:txBody>
      </p:sp>
    </p:spTree>
    <p:extLst>
      <p:ext uri="{BB962C8B-B14F-4D97-AF65-F5344CB8AC3E}">
        <p14:creationId xmlns:p14="http://schemas.microsoft.com/office/powerpoint/2010/main" val="1950951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46CA261-BF08-4FEF-AA8F-CDFF564AC681}"/>
              </a:ext>
            </a:extLst>
          </p:cNvPr>
          <p:cNvSpPr txBox="1"/>
          <p:nvPr/>
        </p:nvSpPr>
        <p:spPr>
          <a:xfrm>
            <a:off x="816429" y="234043"/>
            <a:ext cx="104339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Why are these triangles congruent?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891B33-93EF-452F-AB6F-340CF3BD7998}"/>
              </a:ext>
            </a:extLst>
          </p:cNvPr>
          <p:cNvSpPr/>
          <p:nvPr/>
        </p:nvSpPr>
        <p:spPr>
          <a:xfrm>
            <a:off x="9002486" y="957943"/>
            <a:ext cx="778328" cy="6749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938107-0F96-4013-8465-2BE71CF00DC3}"/>
              </a:ext>
            </a:extLst>
          </p:cNvPr>
          <p:cNvSpPr/>
          <p:nvPr/>
        </p:nvSpPr>
        <p:spPr>
          <a:xfrm>
            <a:off x="2411186" y="957943"/>
            <a:ext cx="778328" cy="6749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E28FD9-9274-45E8-A900-AB6D023EF0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2856" b="16169"/>
          <a:stretch/>
        </p:blipFill>
        <p:spPr>
          <a:xfrm>
            <a:off x="1897524" y="957943"/>
            <a:ext cx="3618428" cy="21275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5E262D-CFF2-4CEE-BE46-7B769A869C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395" t="21536"/>
          <a:stretch/>
        </p:blipFill>
        <p:spPr>
          <a:xfrm>
            <a:off x="5647845" y="957943"/>
            <a:ext cx="3920698" cy="23534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78BA884-633B-4F3B-9FB4-452803FD3B4C}"/>
              </a:ext>
            </a:extLst>
          </p:cNvPr>
          <p:cNvSpPr txBox="1"/>
          <p:nvPr/>
        </p:nvSpPr>
        <p:spPr>
          <a:xfrm>
            <a:off x="1083128" y="3069564"/>
            <a:ext cx="894652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They are congruent because 2 corresponding sides on each triangle are the same and the angle they make is the same (AAS)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B84F1A-9DC7-4487-AA28-DCCBE670AC2A}"/>
              </a:ext>
            </a:extLst>
          </p:cNvPr>
          <p:cNvSpPr txBox="1"/>
          <p:nvPr/>
        </p:nvSpPr>
        <p:spPr>
          <a:xfrm>
            <a:off x="925284" y="4731132"/>
            <a:ext cx="100801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AU" sz="2400" dirty="0"/>
              <a:t>SAS	</a:t>
            </a:r>
            <a:r>
              <a:rPr lang="en-AU" sz="2400" dirty="0">
                <a:solidFill>
                  <a:srgbClr val="0070C0"/>
                </a:solidFill>
              </a:rPr>
              <a:t>If 2 sides and the included angle of one triangle are congruent to 2 sides and the included angle of another triangle, then the triangles are congruent.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D1BBBC-CC0A-4489-B313-5B84A45176E2}"/>
              </a:ext>
            </a:extLst>
          </p:cNvPr>
          <p:cNvSpPr txBox="1"/>
          <p:nvPr/>
        </p:nvSpPr>
        <p:spPr>
          <a:xfrm>
            <a:off x="2923210" y="3569975"/>
            <a:ext cx="1338449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rgbClr val="FF0000"/>
                </a:solidFill>
              </a:rPr>
              <a:t>Congruent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0B5FAF-2FC7-4A08-9C33-7A431FA4F5A7}"/>
              </a:ext>
            </a:extLst>
          </p:cNvPr>
          <p:cNvSpPr txBox="1"/>
          <p:nvPr/>
        </p:nvSpPr>
        <p:spPr>
          <a:xfrm>
            <a:off x="8230094" y="3562006"/>
            <a:ext cx="1338449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rgbClr val="FF0000"/>
                </a:solidFill>
              </a:rPr>
              <a:t>Congruent</a:t>
            </a:r>
          </a:p>
        </p:txBody>
      </p:sp>
    </p:spTree>
    <p:extLst>
      <p:ext uri="{BB962C8B-B14F-4D97-AF65-F5344CB8AC3E}">
        <p14:creationId xmlns:p14="http://schemas.microsoft.com/office/powerpoint/2010/main" val="2624384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 animBg="1"/>
      <p:bldP spid="1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625</Words>
  <Application>Microsoft Office PowerPoint</Application>
  <PresentationFormat>Widescreen</PresentationFormat>
  <Paragraphs>60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Trebuchet MS</vt:lpstr>
      <vt:lpstr>Wingdings</vt:lpstr>
      <vt:lpstr>Wingdings 3</vt:lpstr>
      <vt:lpstr>Office Theme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WALL Kevin [Busselton Senior High School]</dc:creator>
  <cp:lastModifiedBy>DAVIES Rhys [Busselton Senior High School]</cp:lastModifiedBy>
  <cp:revision>11</cp:revision>
  <cp:lastPrinted>2021-07-28T00:47:36Z</cp:lastPrinted>
  <dcterms:created xsi:type="dcterms:W3CDTF">2021-07-19T11:15:03Z</dcterms:created>
  <dcterms:modified xsi:type="dcterms:W3CDTF">2022-12-07T08:17:28Z</dcterms:modified>
</cp:coreProperties>
</file>
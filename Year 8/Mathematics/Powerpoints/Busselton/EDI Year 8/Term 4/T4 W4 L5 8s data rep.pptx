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87" r:id="rId4"/>
    <p:sldId id="288" r:id="rId5"/>
    <p:sldId id="289" r:id="rId6"/>
    <p:sldId id="307" r:id="rId7"/>
    <p:sldId id="308" r:id="rId8"/>
    <p:sldId id="309" r:id="rId9"/>
    <p:sldId id="311" r:id="rId10"/>
    <p:sldId id="310" r:id="rId11"/>
    <p:sldId id="312" r:id="rId12"/>
    <p:sldId id="31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31DB-FEE1-42F6-951F-CD887D95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B22EB-9322-4C8B-95B0-5BEB52623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FBC4F-FD30-44B8-961E-47654C8E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4F952-DA20-4E13-887C-AF6222BC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36E6-64C9-4268-9C5F-4A13BC5C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6598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CDCA-A1B2-4C7B-BE87-B13CE80E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7D59B-0E5A-424A-B603-1AF910093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7D5A4-BDCC-49B6-8D79-2B05D5D1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FD8B0-D833-4206-8547-2368BF33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B1A55-2308-4C8D-BCB2-A4A8B8D7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94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B074-8851-495E-A109-1C411831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6439B-8082-49E3-B0AC-4129DC294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E1B50-CA17-4192-A2C0-B5180957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5ADC3-E8B7-4ACD-9F04-963595F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24A42-9690-4B63-9700-34617BC6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83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15C2-48B7-4010-9D84-CCB27EC9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76870-798E-4B89-9663-A094F7BC5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3A0C8-999E-4775-9DB5-AC76B09E6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09166-7FDE-4F13-B304-FA693A3D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BFC7A-BA2C-4A99-B479-8E89739F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32574-9DBD-454D-947E-8D0C72C4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4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422F-5BE3-4C44-8698-41D18192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279F3-1995-4EA2-84CB-944E6B0B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A7A01-601B-4B38-93EA-A8D131D37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6CEB7-CDCA-4326-84AC-ED7135F58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50361-1BFC-4550-9112-ACFC802B5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E20B96-7968-4362-8F5B-0D433582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4A832-A485-4F42-9794-F2F63C078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954E9B-C59E-41BD-A618-D78E1DBD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40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3A0E9-065E-49A5-9B12-F1305653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A0522-12C4-40C3-8AE7-23EEAFA0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3C38E-08C0-486D-B56E-D55C43F3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8F432-4662-45D1-9B70-3F11F982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71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F4440-7B5A-471B-89C5-AA89C0B3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F8CB3-5A17-4FD4-B117-77974CE6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1FC08-08A7-4F43-B540-AED1651A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00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C9B5-139A-480E-BCC7-C478F7662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5B9BB-0450-4A89-A5E5-9B9E58ACA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53B83-15C5-4736-857A-E2D08809A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94830-0343-4BEA-BC09-8CFB3184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0BB00-0184-44E9-8120-2F49FD32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38C56-C4D6-4554-A276-39042D59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56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1C8A-37C9-48D9-8D97-A3478B14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C912B-8863-4D16-8366-8238F57E4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5B36B-751B-4F01-951E-E5FF1BF5B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B6975-ADD2-44CB-8AFB-D08527C2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44FDD-6F52-4544-BC41-49A2BF908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A8A6A-40E7-4EB3-9FEF-93A09E6D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880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842D-3862-4E1B-9B5C-A39A513F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40548-4160-435D-AB90-40999B16E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4EEA2-82A7-41C5-AF3F-1BFDBCD4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EEFD7-6722-4A7C-8EFA-CF94B779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EE59-50E5-4415-A2BB-AC1BC812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95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A477AE-F2B6-444E-8F76-C56B1D39B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F1065-011C-4F3E-A411-E066C70B5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004F3-CDF1-4AB0-BF0D-08B03C6C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AE817-700F-4F60-A7B7-690B370B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E36BB-5772-44BC-9424-7B9A9616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538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034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287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599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296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4850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157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7120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639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33364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342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8188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C1F6D-B5B0-4F57-B3FB-BEAAB17D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628CD-DD22-4656-84C4-DC7660DC6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964D-80D6-4C43-B51C-7A2878967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0EDA4-4EB2-4046-98D5-66E18CB1AC5E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2EC8-80BD-4F30-8A9E-921310E32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60F8E-A9F5-456B-A335-1EDB6A138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2A369-FE2A-4738-A338-98E2257F17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578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AD577-FEE9-4F71-8BB1-E3A0AC9C4BD4}" type="datetimeFigureOut">
              <a:rPr lang="en-AU" smtClean="0"/>
              <a:t>31/10/2022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91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1B4FF5-83D5-4AC3-8EB8-5E0EDB307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03D217-7C87-4DDF-94DF-A9DEFACB0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Representing data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create stem and leaf diagrams, dot plots and graphs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Review: dot plots and, stem and leaf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Different methods to display data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776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7164288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Stem and Leaf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1" y="692696"/>
            <a:ext cx="6571265" cy="5616624"/>
          </a:xfrm>
        </p:spPr>
        <p:txBody>
          <a:bodyPr>
            <a:normAutofit/>
          </a:bodyPr>
          <a:lstStyle/>
          <a:p>
            <a:r>
              <a:rPr lang="en-AU" sz="2400" dirty="0"/>
              <a:t>The </a:t>
            </a:r>
            <a:r>
              <a:rPr lang="en-AU" sz="2400" b="1" dirty="0"/>
              <a:t>stem</a:t>
            </a:r>
            <a:r>
              <a:rPr lang="en-AU" sz="2400" dirty="0"/>
              <a:t> contains the first part of each number</a:t>
            </a:r>
          </a:p>
          <a:p>
            <a:r>
              <a:rPr lang="en-AU" sz="2400" dirty="0"/>
              <a:t>The </a:t>
            </a:r>
            <a:r>
              <a:rPr lang="en-AU" sz="2400" b="1" dirty="0"/>
              <a:t>leaves</a:t>
            </a:r>
            <a:r>
              <a:rPr lang="en-AU" sz="2400" dirty="0"/>
              <a:t> contain the last digit of each number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4" y="2385758"/>
            <a:ext cx="2444575" cy="2195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9120" y="2377956"/>
            <a:ext cx="6508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Calibri"/>
              </a:rPr>
              <a:t>The numbers represented in this Stem and Leaf Diagram are: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0"/>
            <a:ext cx="2076450" cy="2076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295800" y="27783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51692" y="27876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32510" y="31162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37955" y="31162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4132" y="31084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58321" y="31126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34574" y="3498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019" y="3498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86196" y="34906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0385" y="34948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4208" y="3498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7945" y="38248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567" y="38170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3756" y="38212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8198" y="421179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55</a:t>
            </a:r>
          </a:p>
        </p:txBody>
      </p:sp>
      <p:sp>
        <p:nvSpPr>
          <p:cNvPr id="53" name="Oval 52"/>
          <p:cNvSpPr/>
          <p:nvPr/>
        </p:nvSpPr>
        <p:spPr>
          <a:xfrm>
            <a:off x="1983064" y="2781004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2320254" y="278928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2597149" y="278928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1983064" y="3127832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2320254" y="3136111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597149" y="3136111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878472" y="3152609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3155367" y="3152609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1970867" y="3504271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2308057" y="3512550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2584952" y="3512550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2866275" y="3529048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3143170" y="3529048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412353" y="3530976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980523" y="3874826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2317713" y="3883105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2594608" y="3883105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2875931" y="389960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1990300" y="4225334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2327490" y="423361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91" name="Group 90"/>
          <p:cNvGrpSpPr/>
          <p:nvPr/>
        </p:nvGrpSpPr>
        <p:grpSpPr>
          <a:xfrm rot="2312539" flipH="1">
            <a:off x="8879729" y="312305"/>
            <a:ext cx="945119" cy="1128600"/>
            <a:chOff x="9426525" y="1975418"/>
            <a:chExt cx="945119" cy="1128600"/>
          </a:xfrm>
        </p:grpSpPr>
        <p:cxnSp>
          <p:nvCxnSpPr>
            <p:cNvPr id="86" name="Straight Connector 85"/>
            <p:cNvCxnSpPr/>
            <p:nvPr/>
          </p:nvCxnSpPr>
          <p:spPr>
            <a:xfrm rot="2312539" flipH="1" flipV="1">
              <a:off x="9426525" y="2693184"/>
              <a:ext cx="480256" cy="41083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2312539" flipH="1" flipV="1">
              <a:off x="9522125" y="2492837"/>
              <a:ext cx="668019" cy="31411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2312539" flipH="1" flipV="1">
              <a:off x="9641190" y="2369828"/>
              <a:ext cx="730454" cy="10977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 flipV="1">
              <a:off x="9782715" y="2103072"/>
              <a:ext cx="553651" cy="10094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H="1">
              <a:off x="9782716" y="1975418"/>
              <a:ext cx="360610" cy="9318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9210990" y="160774"/>
            <a:ext cx="1148401" cy="1828800"/>
            <a:chOff x="7686989" y="160774"/>
            <a:chExt cx="1148401" cy="1828800"/>
          </a:xfrm>
        </p:grpSpPr>
        <p:cxnSp>
          <p:nvCxnSpPr>
            <p:cNvPr id="24" name="Straight Connector 23"/>
            <p:cNvCxnSpPr/>
            <p:nvPr/>
          </p:nvCxnSpPr>
          <p:spPr>
            <a:xfrm flipV="1">
              <a:off x="7894205" y="1419602"/>
              <a:ext cx="1" cy="4137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8028385" y="1075174"/>
              <a:ext cx="207216" cy="62563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8114305" y="805795"/>
              <a:ext cx="484865" cy="733445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8178053" y="642343"/>
              <a:ext cx="657337" cy="54256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 flipV="1">
              <a:off x="8204269" y="589934"/>
              <a:ext cx="553651" cy="10094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8204270" y="462280"/>
              <a:ext cx="360610" cy="9318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7686989" y="160774"/>
              <a:ext cx="653143" cy="182880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/>
          <p:cNvSpPr txBox="1"/>
          <p:nvPr/>
        </p:nvSpPr>
        <p:spPr>
          <a:xfrm>
            <a:off x="7770759" y="3522795"/>
            <a:ext cx="2504734" cy="13234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solidFill>
                  <a:prstClr val="black"/>
                </a:solidFill>
                <a:latin typeface="Calibri"/>
              </a:rPr>
              <a:t>Read out the numbers represented in these Stem and Leaf Diagrams with me</a:t>
            </a:r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 rotWithShape="1">
          <a:blip r:embed="rId4"/>
          <a:srcRect t="1743" r="1801" b="2378"/>
          <a:stretch/>
        </p:blipFill>
        <p:spPr>
          <a:xfrm>
            <a:off x="5085940" y="5030949"/>
            <a:ext cx="2173685" cy="1633755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5"/>
          <a:srcRect t="4463" b="2877"/>
          <a:stretch/>
        </p:blipFill>
        <p:spPr>
          <a:xfrm>
            <a:off x="7936154" y="5085184"/>
            <a:ext cx="1843292" cy="1512169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1935982" y="2743200"/>
            <a:ext cx="365578" cy="1863971"/>
          </a:xfrm>
          <a:prstGeom prst="round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300494" y="2740389"/>
            <a:ext cx="1427696" cy="186397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535" y="4919603"/>
            <a:ext cx="1709269" cy="184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0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 animBg="1"/>
      <p:bldP spid="53" grpId="1" animBg="1"/>
      <p:bldP spid="53" grpId="2" animBg="1"/>
      <p:bldP spid="53" grpId="3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6" grpId="7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73" grpId="0" animBg="1"/>
      <p:bldP spid="73" grpId="1" animBg="1"/>
      <p:bldP spid="73" grpId="2" animBg="1"/>
      <p:bldP spid="73" grpId="3" animBg="1"/>
      <p:bldP spid="73" grpId="4" animBg="1"/>
      <p:bldP spid="73" grpId="5" animBg="1"/>
      <p:bldP spid="73" grpId="6" animBg="1"/>
      <p:bldP spid="73" grpId="7" animBg="1"/>
      <p:bldP spid="73" grpId="8" animBg="1"/>
      <p:bldP spid="73" grpId="9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79" grpId="2" animBg="1"/>
      <p:bldP spid="79" grpId="3" animBg="1"/>
      <p:bldP spid="79" grpId="4" animBg="1"/>
      <p:bldP spid="79" grpId="5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97" grpId="0" animBg="1"/>
      <p:bldP spid="100" grpId="0" animBg="1"/>
      <p:bldP spid="100" grpId="1" animBg="1"/>
      <p:bldP spid="101" grpId="0" animBg="1"/>
      <p:bldP spid="10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 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6014" b="86636"/>
          <a:stretch/>
        </p:blipFill>
        <p:spPr>
          <a:xfrm>
            <a:off x="1524000" y="3408209"/>
            <a:ext cx="9144000" cy="436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5521" y="4009734"/>
            <a:ext cx="8359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prstClr val="black"/>
                </a:solidFill>
                <a:latin typeface="Calibri"/>
              </a:rPr>
              <a:t>40,  43,  45,  47,  52,  55,  57,  59,  65,  71,  72,  79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423592" y="4909816"/>
            <a:ext cx="4860032" cy="1692771"/>
            <a:chOff x="561975" y="2184708"/>
            <a:chExt cx="8020050" cy="257879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b="41858"/>
            <a:stretch/>
          </p:blipFill>
          <p:spPr>
            <a:xfrm>
              <a:off x="561975" y="2218988"/>
              <a:ext cx="8020050" cy="247550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19250" y="2184708"/>
              <a:ext cx="582493" cy="2578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4</a:t>
              </a:r>
            </a:p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5</a:t>
              </a:r>
            </a:p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6</a:t>
              </a:r>
            </a:p>
            <a:p>
              <a:r>
                <a:rPr lang="en-AU" sz="2600" dirty="0">
                  <a:solidFill>
                    <a:prstClr val="black"/>
                  </a:solidFill>
                  <a:latin typeface="Calibri"/>
                </a:rPr>
                <a:t>7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845990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7688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6600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4290" y="4923136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5990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688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6600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4290" y="530630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3344" y="569864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0630" y="6110145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2328" y="6110145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1240" y="6110144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214927" y="5796184"/>
            <a:ext cx="1779279" cy="687365"/>
            <a:chOff x="3581198" y="5698647"/>
            <a:chExt cx="1779279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581198" y="5698647"/>
              <a:ext cx="1779279" cy="687365"/>
              <a:chOff x="5290238" y="6056746"/>
              <a:chExt cx="1779279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means 52</a:t>
                </a:r>
              </a:p>
            </p:txBody>
          </p: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6507" y="6090480"/>
              <a:ext cx="589560" cy="276837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1881374" y="3986478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30457" y="3986478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2436" y="3986478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94415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47657" y="39864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45806" y="39864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26835" y="39917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37757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435906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29708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807617" y="3986473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501419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994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r>
              <a:rPr lang="en-AU" dirty="0">
                <a:highlight>
                  <a:srgbClr val="FFFF00"/>
                </a:highlight>
              </a:rPr>
              <a:t>(whiteboards) 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 </a:t>
            </a:r>
            <a:r>
              <a:rPr lang="en-AU" dirty="0">
                <a:highlight>
                  <a:srgbClr val="FFFF00"/>
                </a:highlight>
              </a:rPr>
              <a:t>(whiteboards)</a:t>
            </a:r>
            <a:endParaRPr lang="en-AU" dirty="0"/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t="15075" r="30405" b="72942"/>
          <a:stretch/>
        </p:blipFill>
        <p:spPr>
          <a:xfrm>
            <a:off x="1775521" y="3282910"/>
            <a:ext cx="8601389" cy="391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62390" y="3756783"/>
            <a:ext cx="773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prstClr val="black"/>
                </a:solidFill>
                <a:latin typeface="Calibri"/>
              </a:rPr>
              <a:t>3,  7,  9,  16,  18,  18,  19,  21,  23,  29,  33,  37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41858"/>
          <a:stretch/>
        </p:blipFill>
        <p:spPr>
          <a:xfrm>
            <a:off x="2423592" y="4932318"/>
            <a:ext cx="4860032" cy="1624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6977" y="4898417"/>
            <a:ext cx="35298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0</a:t>
            </a:r>
          </a:p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1</a:t>
            </a:r>
          </a:p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5990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7688" y="493231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6600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5990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688" y="531548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6600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4290" y="530630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3344" y="5698648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54105" y="5699224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372" y="5705320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63344" y="608563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54105" y="608620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5214927" y="5796184"/>
            <a:ext cx="1779279" cy="687365"/>
            <a:chOff x="3690926" y="5796183"/>
            <a:chExt cx="1779279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690926" y="5796183"/>
              <a:ext cx="1779279" cy="687365"/>
              <a:chOff x="5290238" y="6056746"/>
              <a:chExt cx="1779279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means 21</a:t>
                </a:r>
              </a:p>
            </p:txBody>
          </p:sp>
        </p:grp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39627" y="6166733"/>
              <a:ext cx="575110" cy="2909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369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40" grpId="0"/>
      <p:bldP spid="41" grpId="0"/>
      <p:bldP spid="42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-23"/>
          <a:stretch/>
        </p:blipFill>
        <p:spPr>
          <a:xfrm rot="16200000">
            <a:off x="6510057" y="2927404"/>
            <a:ext cx="4860032" cy="2795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187" y="2505202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4, 7, 5, 5, 6, 4, 7, 8, 2, 5, 6, 6, 5, 5, 7, 5, 7, 5, 3, 6</a:t>
            </a:r>
          </a:p>
        </p:txBody>
      </p:sp>
      <p:sp>
        <p:nvSpPr>
          <p:cNvPr id="7" name="Oval 6"/>
          <p:cNvSpPr/>
          <p:nvPr/>
        </p:nvSpPr>
        <p:spPr>
          <a:xfrm>
            <a:off x="864558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1991545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2"/>
          <a:srcRect t="83967" b="237"/>
          <a:stretch/>
        </p:blipFill>
        <p:spPr>
          <a:xfrm rot="16200000">
            <a:off x="8067563" y="4106339"/>
            <a:ext cx="4860032" cy="441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96937" y="6243653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prstClr val="black"/>
                </a:solidFill>
                <a:latin typeface="Calibri"/>
              </a:rPr>
              <a:t>2  3  4  5  6  7  8</a:t>
            </a:r>
          </a:p>
        </p:txBody>
      </p:sp>
      <p:sp>
        <p:nvSpPr>
          <p:cNvPr id="51" name="Oval 50"/>
          <p:cNvSpPr/>
          <p:nvPr/>
        </p:nvSpPr>
        <p:spPr>
          <a:xfrm>
            <a:off x="981546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9051925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2855641" y="2936631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9042134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425968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649100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3719737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815469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1018096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86965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flipV="1">
            <a:off x="4655841" y="2960640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9040133" y="506738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9417244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9436872" y="506738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7" name="Straight Connector 66"/>
          <p:cNvCxnSpPr/>
          <p:nvPr/>
        </p:nvCxnSpPr>
        <p:spPr>
          <a:xfrm flipV="1">
            <a:off x="5519937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034469" y="464461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9051925" y="426592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9815469" y="505204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1991545" y="333619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051925" y="3851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815469" y="465563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9051925" y="345970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>
            <a:off x="2855641" y="3326295"/>
            <a:ext cx="3751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8262120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9436872" y="465563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99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  <p:bldP spid="51" grpId="0" animBg="1"/>
      <p:bldP spid="52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30656"/>
          <a:stretch/>
        </p:blipFill>
        <p:spPr>
          <a:xfrm rot="16200000">
            <a:off x="6081345" y="3356116"/>
            <a:ext cx="4860032" cy="19380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187" y="2505202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20, 22, 21, 21, 23, 22, 20, 20, 21, 21, 21, 22, 20, 21, 20, 21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1991544" y="2924944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5363" y="6313100"/>
            <a:ext cx="1685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prstClr val="black"/>
                </a:solidFill>
                <a:latin typeface="Calibri"/>
              </a:rPr>
              <a:t>20  21  22  23 </a:t>
            </a:r>
          </a:p>
        </p:txBody>
      </p:sp>
      <p:sp>
        <p:nvSpPr>
          <p:cNvPr id="62" name="Oval 61"/>
          <p:cNvSpPr/>
          <p:nvPr/>
        </p:nvSpPr>
        <p:spPr>
          <a:xfrm>
            <a:off x="786965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641163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25540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3359696" y="2920699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257904" y="5440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9063264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662711" y="5440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4727848" y="2920699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873602" y="5440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7873602" y="503002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8255409" y="503002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6016936" y="2927376"/>
            <a:ext cx="2950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1991544" y="3284984"/>
            <a:ext cx="81895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8255409" y="465849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8255409" y="425339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637216" y="502686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83" name="Straight Connector 82"/>
          <p:cNvCxnSpPr/>
          <p:nvPr/>
        </p:nvCxnSpPr>
        <p:spPr>
          <a:xfrm>
            <a:off x="2862598" y="3284984"/>
            <a:ext cx="11451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7878283" y="465467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255409" y="386223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7878283" y="424406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89" name="Straight Connector 88"/>
          <p:cNvCxnSpPr/>
          <p:nvPr/>
        </p:nvCxnSpPr>
        <p:spPr>
          <a:xfrm>
            <a:off x="4241093" y="3284984"/>
            <a:ext cx="2950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8255409" y="345147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B032C-7EBB-4415-9A42-7CD2D0646609}"/>
              </a:ext>
            </a:extLst>
          </p:cNvPr>
          <p:cNvSpPr txBox="1"/>
          <p:nvPr/>
        </p:nvSpPr>
        <p:spPr>
          <a:xfrm>
            <a:off x="2279576" y="4149080"/>
            <a:ext cx="36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On your whiteboards </a:t>
            </a:r>
            <a:endParaRPr lang="en-AU" sz="4800" b="1" dirty="0">
              <a:solidFill>
                <a:prstClr val="black"/>
              </a:solidFill>
              <a:highlight>
                <a:srgbClr val="FFFF00"/>
              </a:highligh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42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2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9" grpId="0" animBg="1"/>
      <p:bldP spid="54" grpId="0" animBg="1"/>
      <p:bldP spid="55" grpId="0" animBg="1"/>
      <p:bldP spid="80" grpId="0" animBg="1"/>
      <p:bldP spid="81" grpId="0" animBg="1"/>
      <p:bldP spid="82" grpId="0" animBg="1"/>
      <p:bldP spid="84" grpId="0" animBg="1"/>
      <p:bldP spid="87" grpId="0" animBg="1"/>
      <p:bldP spid="88" grpId="0" animBg="1"/>
      <p:bldP spid="9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-263"/>
          <a:stretch/>
        </p:blipFill>
        <p:spPr>
          <a:xfrm rot="16200000">
            <a:off x="5575577" y="2882131"/>
            <a:ext cx="4860032" cy="280212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/>
          <a:srcRect t="4425" b="-263"/>
          <a:stretch/>
        </p:blipFill>
        <p:spPr>
          <a:xfrm rot="16200000">
            <a:off x="6805397" y="2943981"/>
            <a:ext cx="4860032" cy="26784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187" y="2505202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7, 9, 11, 12, 13, 15, 12, 10, 9, 12, 11, 9, 11, 10, 11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1991544" y="2924944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78582" y="6282620"/>
            <a:ext cx="35173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prstClr val="black"/>
                </a:solidFill>
                <a:latin typeface="Calibri"/>
              </a:rPr>
              <a:t>7     8    9   10   11  12   13  14  15</a:t>
            </a:r>
          </a:p>
        </p:txBody>
      </p:sp>
      <p:sp>
        <p:nvSpPr>
          <p:cNvPr id="62" name="Oval 61"/>
          <p:cNvSpPr/>
          <p:nvPr/>
        </p:nvSpPr>
        <p:spPr>
          <a:xfrm>
            <a:off x="6942035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710434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484598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3071664" y="2934803"/>
            <a:ext cx="11694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02529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9292026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056933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4367808" y="2934803"/>
            <a:ext cx="11694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902529" y="538658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122790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723727" y="538658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5591944" y="2934804"/>
            <a:ext cx="720080" cy="22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991545" y="3284985"/>
            <a:ext cx="195599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903458" y="499724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8497891" y="539243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7710434" y="499724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>
            <a:off x="2351584" y="3284984"/>
            <a:ext cx="11694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8497891" y="500382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107045" y="539129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8482652" y="460853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6AA7CC-94E2-4E89-98CD-15F717883BEA}"/>
              </a:ext>
            </a:extLst>
          </p:cNvPr>
          <p:cNvSpPr txBox="1"/>
          <p:nvPr/>
        </p:nvSpPr>
        <p:spPr>
          <a:xfrm>
            <a:off x="2279576" y="4149080"/>
            <a:ext cx="36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On your whiteboards </a:t>
            </a:r>
            <a:endParaRPr lang="en-AU" sz="4800" b="1" dirty="0">
              <a:solidFill>
                <a:prstClr val="black"/>
              </a:solidFill>
              <a:highlight>
                <a:srgbClr val="FFFF00"/>
              </a:highligh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387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2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41" grpId="0" animBg="1"/>
      <p:bldP spid="50" grpId="0" animBg="1"/>
      <p:bldP spid="51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Drawing a Column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1" y="692697"/>
                <a:ext cx="5117780" cy="4525963"/>
              </a:xfrm>
            </p:spPr>
            <p:txBody>
              <a:bodyPr>
                <a:normAutofit/>
              </a:bodyPr>
              <a:lstStyle/>
              <a:p>
                <a:r>
                  <a:rPr lang="en-AU" sz="2400" dirty="0"/>
                  <a:t>With </a:t>
                </a:r>
                <a:r>
                  <a:rPr lang="en-AU" sz="2400" b="1" dirty="0"/>
                  <a:t>c</a:t>
                </a:r>
                <a:r>
                  <a:rPr lang="en-AU" sz="2400" dirty="0"/>
                  <a:t>ategories the </a:t>
                </a:r>
                <a:r>
                  <a:rPr lang="en-AU" sz="2400" b="1" dirty="0"/>
                  <a:t>c</a:t>
                </a:r>
                <a:r>
                  <a:rPr lang="en-AU" sz="2400" dirty="0"/>
                  <a:t>olumns </a:t>
                </a:r>
                <a:r>
                  <a:rPr lang="en-AU" sz="2400" b="1" dirty="0"/>
                  <a:t>c</a:t>
                </a:r>
                <a:r>
                  <a:rPr lang="en-AU" sz="2400" dirty="0"/>
                  <a:t>an’t touch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Set up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-axis scale to extend past the highest frequency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Set up categories on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-axis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Draw in the columns one at a time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Write title and labels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1" y="692697"/>
                <a:ext cx="5117780" cy="4525963"/>
              </a:xfrm>
              <a:blipFill>
                <a:blip r:embed="rId2"/>
                <a:stretch>
                  <a:fillRect l="-1905" t="-10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-1" b="-263"/>
          <a:stretch/>
        </p:blipFill>
        <p:spPr>
          <a:xfrm rot="16200000">
            <a:off x="5296222" y="2434205"/>
            <a:ext cx="4860032" cy="28021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4425" b="-263"/>
          <a:stretch/>
        </p:blipFill>
        <p:spPr>
          <a:xfrm rot="16200000">
            <a:off x="6911655" y="2496054"/>
            <a:ext cx="4860032" cy="26784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 rot="16200000">
            <a:off x="5525710" y="4428003"/>
            <a:ext cx="1165897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Frequency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0420" y="6438147"/>
            <a:ext cx="806631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Colour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227" y="3864984"/>
            <a:ext cx="3705225" cy="24003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3"/>
          <a:srcRect l="15988" t="10644" r="-5823" b="46552"/>
          <a:stretch/>
        </p:blipFill>
        <p:spPr>
          <a:xfrm>
            <a:off x="6318025" y="219441"/>
            <a:ext cx="4253456" cy="1196248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 rotWithShape="1">
          <a:blip r:embed="rId3"/>
          <a:srcRect l="15987" t="10644" r="49337" b="46552"/>
          <a:stretch/>
        </p:blipFill>
        <p:spPr>
          <a:xfrm>
            <a:off x="9032755" y="221115"/>
            <a:ext cx="1641799" cy="11962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826992" y="352700"/>
            <a:ext cx="125951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 Colours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7153069" y="1857101"/>
            <a:ext cx="388566" cy="25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132972" y="1851121"/>
            <a:ext cx="0" cy="398244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7511265" y="1851121"/>
            <a:ext cx="0" cy="39734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7920156" y="3441031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7920156" y="3460528"/>
            <a:ext cx="0" cy="23780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 flipV="1">
            <a:off x="8308637" y="3441030"/>
            <a:ext cx="0" cy="23901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8695395" y="2244087"/>
            <a:ext cx="388566" cy="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690612" y="2244086"/>
            <a:ext cx="0" cy="3594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9070537" y="2236942"/>
            <a:ext cx="0" cy="3594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9473077" y="1278939"/>
            <a:ext cx="388566" cy="259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9456748" y="1278939"/>
            <a:ext cx="0" cy="4545617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9838741" y="1278939"/>
            <a:ext cx="0" cy="4545617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10238552" y="3260140"/>
            <a:ext cx="388566" cy="25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10238552" y="3275862"/>
            <a:ext cx="0" cy="2555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10612776" y="3269271"/>
            <a:ext cx="0" cy="2555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16200000">
            <a:off x="7074000" y="5925078"/>
            <a:ext cx="54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7824049" y="5953559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8552087" y="5953557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Black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9305709" y="6035732"/>
            <a:ext cx="754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White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10043050" y="6032783"/>
            <a:ext cx="76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680" y="52468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679" y="48434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3447" y="44537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544" y="4064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619" y="36928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638" y="32758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9415" y="28944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4481" y="2481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4481" y="205967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7649" y="16664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9147" y="5648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2275" y="12689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2433" y="93304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0638" y="5374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1406" y="1567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28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 flipV="1">
            <a:off x="6763186" y="332656"/>
            <a:ext cx="179" cy="572444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78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7" grpId="0"/>
      <p:bldP spid="8" grpId="0"/>
      <p:bldP spid="9" grpId="0"/>
      <p:bldP spid="10" grpId="0"/>
      <p:bldP spid="40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46" grpId="0"/>
      <p:bldP spid="47" grpId="0"/>
      <p:bldP spid="48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Drawing a Column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1" y="692697"/>
                <a:ext cx="5234155" cy="4525963"/>
              </a:xfrm>
            </p:spPr>
            <p:txBody>
              <a:bodyPr>
                <a:normAutofit/>
              </a:bodyPr>
              <a:lstStyle/>
              <a:p>
                <a:r>
                  <a:rPr lang="en-AU" sz="2400" dirty="0"/>
                  <a:t>With </a:t>
                </a:r>
                <a:r>
                  <a:rPr lang="en-AU" sz="2400" b="1" dirty="0"/>
                  <a:t>c</a:t>
                </a:r>
                <a:r>
                  <a:rPr lang="en-AU" sz="2400" dirty="0"/>
                  <a:t>ategories the </a:t>
                </a:r>
                <a:r>
                  <a:rPr lang="en-AU" sz="2400" b="1" dirty="0"/>
                  <a:t>c</a:t>
                </a:r>
                <a:r>
                  <a:rPr lang="en-AU" sz="2400" dirty="0"/>
                  <a:t>olumns </a:t>
                </a:r>
                <a:r>
                  <a:rPr lang="en-AU" sz="2400" b="1" dirty="0"/>
                  <a:t>c</a:t>
                </a:r>
                <a:r>
                  <a:rPr lang="en-AU" sz="2400" dirty="0"/>
                  <a:t>an’t touch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Set up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-axis scale to extend past the highest frequency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Set up categories on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-axis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Draw in the columns one at a time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Write title and labels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1" y="692697"/>
                <a:ext cx="5234155" cy="4525963"/>
              </a:xfrm>
              <a:blipFill>
                <a:blip r:embed="rId2"/>
                <a:stretch>
                  <a:fillRect l="-1863" t="-1078" r="-10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095" y="4044132"/>
            <a:ext cx="3752850" cy="2047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-1" b="-263"/>
          <a:stretch/>
        </p:blipFill>
        <p:spPr>
          <a:xfrm rot="16200000">
            <a:off x="5605504" y="1865666"/>
            <a:ext cx="4860032" cy="28021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t="4425" b="-263"/>
          <a:stretch/>
        </p:blipFill>
        <p:spPr>
          <a:xfrm rot="16200000">
            <a:off x="6835324" y="1927516"/>
            <a:ext cx="4860032" cy="2678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7181903" y="5553178"/>
            <a:ext cx="9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Football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7853703" y="5640161"/>
            <a:ext cx="115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Swimming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8767698" y="5511659"/>
            <a:ext cx="863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Netball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9557406" y="5511818"/>
            <a:ext cx="86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Hockey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072646" y="836712"/>
            <a:ext cx="0" cy="46518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17962" y="46782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7961" y="42748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2729" y="38852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2826" y="34956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0901" y="31243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9920" y="27073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8697" y="23258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3763" y="19129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763" y="14911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6931" y="10979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8429" y="50803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7442254" y="2273301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442254" y="2282309"/>
            <a:ext cx="0" cy="29827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7820547" y="2273301"/>
            <a:ext cx="0" cy="29827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8240424" y="4274604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8236655" y="4254550"/>
            <a:ext cx="0" cy="10104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8599201" y="4254550"/>
            <a:ext cx="0" cy="10104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9011299" y="2873034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9011299" y="2882043"/>
            <a:ext cx="0" cy="23829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9389592" y="2873035"/>
            <a:ext cx="0" cy="23919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9806190" y="3489689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9783745" y="3493388"/>
            <a:ext cx="0" cy="176190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10184708" y="3503123"/>
            <a:ext cx="0" cy="176190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 rot="16200000">
            <a:off x="5834992" y="3859464"/>
            <a:ext cx="1165897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Frequency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5369" y="6172876"/>
            <a:ext cx="69121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5435" y="1081818"/>
            <a:ext cx="161909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Favourite Sport</a:t>
            </a:r>
          </a:p>
        </p:txBody>
      </p:sp>
    </p:spTree>
    <p:extLst>
      <p:ext uri="{BB962C8B-B14F-4D97-AF65-F5344CB8AC3E}">
        <p14:creationId xmlns:p14="http://schemas.microsoft.com/office/powerpoint/2010/main" val="403450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53" grpId="0" animBg="1"/>
      <p:bldP spid="54" grpId="0" animBg="1"/>
      <p:bldP spid="5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670611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You do: Whiteboards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1" y="692697"/>
                <a:ext cx="5234155" cy="4525963"/>
              </a:xfrm>
            </p:spPr>
            <p:txBody>
              <a:bodyPr>
                <a:normAutofit/>
              </a:bodyPr>
              <a:lstStyle/>
              <a:p>
                <a:r>
                  <a:rPr lang="en-AU" sz="2400" dirty="0"/>
                  <a:t>With </a:t>
                </a:r>
                <a:r>
                  <a:rPr lang="en-AU" sz="2400" b="1" dirty="0"/>
                  <a:t>c</a:t>
                </a:r>
                <a:r>
                  <a:rPr lang="en-AU" sz="2400" dirty="0"/>
                  <a:t>ategories the </a:t>
                </a:r>
                <a:r>
                  <a:rPr lang="en-AU" sz="2400" b="1" dirty="0"/>
                  <a:t>c</a:t>
                </a:r>
                <a:r>
                  <a:rPr lang="en-AU" sz="2400" dirty="0"/>
                  <a:t>olumns </a:t>
                </a:r>
                <a:r>
                  <a:rPr lang="en-AU" sz="2400" b="1" dirty="0"/>
                  <a:t>c</a:t>
                </a:r>
                <a:r>
                  <a:rPr lang="en-AU" sz="2400" dirty="0"/>
                  <a:t>an’t touch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Set up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-axis scale to extend past the highest frequency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Set up categories on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-axis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Draw in the columns one at a time</a:t>
                </a:r>
              </a:p>
              <a:p>
                <a:pPr marL="361950" indent="-361950">
                  <a:buFont typeface="+mj-lt"/>
                  <a:buAutoNum type="arabicPeriod"/>
                </a:pPr>
                <a:r>
                  <a:rPr lang="en-AU" sz="2400" dirty="0"/>
                  <a:t>Write title and labels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1" y="692697"/>
                <a:ext cx="5234155" cy="4525963"/>
              </a:xfrm>
              <a:blipFill>
                <a:blip r:embed="rId2"/>
                <a:stretch>
                  <a:fillRect l="-1863" t="-1078" r="-10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-1" b="-263"/>
          <a:stretch/>
        </p:blipFill>
        <p:spPr>
          <a:xfrm rot="16200000">
            <a:off x="5663662" y="2372602"/>
            <a:ext cx="4860032" cy="28021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4425" b="-263"/>
          <a:stretch/>
        </p:blipFill>
        <p:spPr>
          <a:xfrm rot="16200000">
            <a:off x="6893482" y="2434452"/>
            <a:ext cx="4860032" cy="2678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7345091" y="606011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Space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7953157" y="6147097"/>
            <a:ext cx="1076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Detective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8911809" y="60185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Sport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9505802" y="6115675"/>
            <a:ext cx="1056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5817" y="48023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1175" y="39928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5158" y="31858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7359" y="2416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1198" y="16006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2197" y="55872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5893150" y="4366400"/>
            <a:ext cx="1165897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Frequency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4266" y="6467099"/>
            <a:ext cx="62786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580" y="3773665"/>
            <a:ext cx="3686175" cy="2057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3"/>
          <a:srcRect l="15988" t="10644" r="-5823" b="46552"/>
          <a:stretch/>
        </p:blipFill>
        <p:spPr>
          <a:xfrm>
            <a:off x="6689814" y="149102"/>
            <a:ext cx="4253456" cy="11962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89814" y="8766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1198" y="116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 flipV="1">
            <a:off x="7119902" y="188641"/>
            <a:ext cx="10902" cy="58068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7500412" y="1791875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500412" y="1791874"/>
            <a:ext cx="0" cy="3980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7878706" y="1791874"/>
            <a:ext cx="10273" cy="39710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8278262" y="3582660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8278263" y="3582660"/>
            <a:ext cx="16551" cy="218930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8657360" y="3582660"/>
            <a:ext cx="9469" cy="218930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9064554" y="673784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9064555" y="692697"/>
            <a:ext cx="4903" cy="50792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9447750" y="639358"/>
            <a:ext cx="5370" cy="51326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9834436" y="2598948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9841904" y="2598947"/>
            <a:ext cx="7615" cy="31632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10196680" y="2598947"/>
            <a:ext cx="22170" cy="31632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417634" y="727261"/>
            <a:ext cx="139890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 of Book</a:t>
            </a:r>
          </a:p>
        </p:txBody>
      </p:sp>
    </p:spTree>
    <p:extLst>
      <p:ext uri="{BB962C8B-B14F-4D97-AF65-F5344CB8AC3E}">
        <p14:creationId xmlns:p14="http://schemas.microsoft.com/office/powerpoint/2010/main" val="351650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23" grpId="0"/>
      <p:bldP spid="53" grpId="0" animBg="1"/>
      <p:bldP spid="54" grpId="0" animBg="1"/>
      <p:bldP spid="18" grpId="0"/>
      <p:bldP spid="19" grpId="0"/>
      <p:bldP spid="5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1D96-CA24-43B7-B80A-FA096A84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FC33F-8C0F-4E77-89E2-F27B1C91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Answer the questions in your exercise book.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9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638</Words>
  <Application>Microsoft Office PowerPoint</Application>
  <PresentationFormat>Widescreen</PresentationFormat>
  <Paragraphs>173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Stem and Leaf Diagrams</vt:lpstr>
      <vt:lpstr>Putting data into a Stem and Leaf Diagram</vt:lpstr>
      <vt:lpstr>Putting data into a Stem and Leaf Diagram</vt:lpstr>
      <vt:lpstr>Putting data into a Dot Plot</vt:lpstr>
      <vt:lpstr>Putting data into a Dot Plot</vt:lpstr>
      <vt:lpstr>Putting data into a Dot Plot</vt:lpstr>
      <vt:lpstr>Drawing a Column Graph</vt:lpstr>
      <vt:lpstr>Drawing a Column Graph</vt:lpstr>
      <vt:lpstr>You do: Whiteboards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7</cp:revision>
  <dcterms:created xsi:type="dcterms:W3CDTF">2021-12-07T13:48:19Z</dcterms:created>
  <dcterms:modified xsi:type="dcterms:W3CDTF">2022-10-31T02:17:35Z</dcterms:modified>
</cp:coreProperties>
</file>
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sldIdLst>
    <p:sldId id="266" r:id="rId3"/>
    <p:sldId id="257" r:id="rId4"/>
    <p:sldId id="270" r:id="rId5"/>
    <p:sldId id="258" r:id="rId6"/>
    <p:sldId id="259" r:id="rId7"/>
    <p:sldId id="267" r:id="rId8"/>
    <p:sldId id="260" r:id="rId9"/>
    <p:sldId id="261" r:id="rId10"/>
    <p:sldId id="262" r:id="rId11"/>
    <p:sldId id="268" r:id="rId12"/>
    <p:sldId id="269" r:id="rId13"/>
    <p:sldId id="264" r:id="rId14"/>
    <p:sldId id="265" r:id="rId15"/>
    <p:sldId id="273" r:id="rId16"/>
    <p:sldId id="274" r:id="rId17"/>
    <p:sldId id="275" r:id="rId18"/>
    <p:sldId id="276" r:id="rId19"/>
    <p:sldId id="271" r:id="rId20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GB" noProof="0" dirty="0"/>
              <a:t>Favourite</a:t>
            </a:r>
            <a:r>
              <a:rPr lang="en-US" dirty="0"/>
              <a:t> Shop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Top Shop</c:v>
                </c:pt>
                <c:pt idx="1">
                  <c:v>New Look</c:v>
                </c:pt>
                <c:pt idx="2">
                  <c:v>Primark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E7-4C12-9736-8C9452F915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9548288"/>
        <c:axId val="89549824"/>
      </c:barChart>
      <c:catAx>
        <c:axId val="895482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89549824"/>
        <c:crosses val="autoZero"/>
        <c:auto val="1"/>
        <c:lblAlgn val="ctr"/>
        <c:lblOffset val="100"/>
        <c:noMultiLvlLbl val="0"/>
      </c:catAx>
      <c:valAx>
        <c:axId val="895498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solidFill>
            <a:schemeClr val="bg1"/>
          </a:solidFill>
        </c:spPr>
        <c:crossAx val="89548288"/>
        <c:crosses val="autoZero"/>
        <c:crossBetween val="between"/>
      </c:valAx>
    </c:plotArea>
    <c:plotVisOnly val="1"/>
    <c:dispBlanksAs val="gap"/>
    <c:showDLblsOverMax val="0"/>
  </c:chart>
  <c:spPr>
    <a:solidFill>
      <a:schemeClr val="bg1"/>
    </a:solidFill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GB" noProof="0" dirty="0"/>
              <a:t>Favourite</a:t>
            </a:r>
            <a:r>
              <a:rPr lang="en-US" baseline="0" dirty="0"/>
              <a:t> Shop</a:t>
            </a:r>
            <a:endParaRPr lang="en-US" dirty="0"/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Top Shop</c:v>
                </c:pt>
                <c:pt idx="1">
                  <c:v>New Look</c:v>
                </c:pt>
                <c:pt idx="2">
                  <c:v>Primark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49-485B-BBC4-F71575B4C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0"/>
  </c:chart>
  <c:spPr>
    <a:solidFill>
      <a:schemeClr val="bg1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1"/>
    </mc:Choice>
    <mc:Fallback>
      <c:style val="21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Number of Siblings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7</c:v>
                </c:pt>
                <c:pt idx="2">
                  <c:v>9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BC-4B8A-99A4-60AAE9248C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6681984"/>
        <c:axId val="166716544"/>
      </c:barChart>
      <c:catAx>
        <c:axId val="166681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6716544"/>
        <c:crosses val="autoZero"/>
        <c:auto val="1"/>
        <c:lblAlgn val="ctr"/>
        <c:lblOffset val="100"/>
        <c:noMultiLvlLbl val="0"/>
      </c:catAx>
      <c:valAx>
        <c:axId val="16671654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6681984"/>
        <c:crosses val="autoZero"/>
        <c:crossBetween val="between"/>
      </c:valAx>
    </c:plotArea>
    <c:plotVisOnly val="1"/>
    <c:dispBlanksAs val="gap"/>
    <c:showDLblsOverMax val="0"/>
  </c:chart>
  <c:spPr>
    <a:solidFill>
      <a:schemeClr val="bg1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02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4094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7969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955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5951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516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4032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6228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5306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282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3718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6687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5083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8362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01937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300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1" y="2647950"/>
            <a:ext cx="4762500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Freeform 7"/>
          <p:cNvSpPr/>
          <p:nvPr/>
        </p:nvSpPr>
        <p:spPr>
          <a:xfrm>
            <a:off x="-3173" y="-925"/>
            <a:ext cx="12195173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1089484" y="1730403"/>
            <a:ext cx="7531497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616370" y="2470926"/>
            <a:ext cx="8681508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9A0E-3AB1-4C7C-8475-F6094899C79A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CCA2-6C44-4636-BF85-51CE3A210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9322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9A0E-3AB1-4C7C-8475-F6094899C79A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CCA2-6C44-4636-BF85-51CE3A210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3185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3173" y="-925"/>
            <a:ext cx="12195173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ight Triangle 6"/>
          <p:cNvSpPr/>
          <p:nvPr/>
        </p:nvSpPr>
        <p:spPr>
          <a:xfrm>
            <a:off x="1" y="2647950"/>
            <a:ext cx="4762500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1092532" y="1726738"/>
            <a:ext cx="7534656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621536" y="2468304"/>
            <a:ext cx="8680704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9A0E-3AB1-4C7C-8475-F6094899C79A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CCA2-6C44-4636-BF85-51CE3A210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9422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097280"/>
            <a:ext cx="42672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6688" y="1097280"/>
            <a:ext cx="42672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9A0E-3AB1-4C7C-8475-F6094899C79A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CCA2-6C44-4636-BF85-51CE3A2106C2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03936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097280"/>
            <a:ext cx="42672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2200" y="1701848"/>
            <a:ext cx="42672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6688" y="1097280"/>
            <a:ext cx="42672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6688" y="1701848"/>
            <a:ext cx="42672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9A0E-3AB1-4C7C-8475-F6094899C79A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CCA2-6C44-4636-BF85-51CE3A210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8368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9A0E-3AB1-4C7C-8475-F6094899C79A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CCA2-6C44-4636-BF85-51CE3A210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0208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9A0E-3AB1-4C7C-8475-F6094899C79A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CCA2-6C44-4636-BF85-51CE3A210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5154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1" y="2647950"/>
            <a:ext cx="4762500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ight Triangle 17"/>
          <p:cNvSpPr/>
          <p:nvPr/>
        </p:nvSpPr>
        <p:spPr>
          <a:xfrm rot="5400000">
            <a:off x="1720852" y="-1720850"/>
            <a:ext cx="6858000" cy="10299704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1046573" y="1576104"/>
            <a:ext cx="694944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2737" y="2618913"/>
            <a:ext cx="507703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730605" y="2253385"/>
            <a:ext cx="7726347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9A0E-3AB1-4C7C-8475-F6094899C79A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DDCCA2-6C44-4636-BF85-51CE3A210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91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705101" y="0"/>
            <a:ext cx="9486900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1" y="2647950"/>
            <a:ext cx="4762500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Freeform 9"/>
          <p:cNvSpPr/>
          <p:nvPr/>
        </p:nvSpPr>
        <p:spPr>
          <a:xfrm>
            <a:off x="1" y="5048250"/>
            <a:ext cx="4762500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94929" y="1717501"/>
            <a:ext cx="73152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524639" y="2180529"/>
            <a:ext cx="8128727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9A0E-3AB1-4C7C-8475-F6094899C79A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CCA2-6C44-4636-BF85-51CE3A210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3817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9A0E-3AB1-4C7C-8475-F6094899C79A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CCA2-6C44-4636-BF85-51CE3A210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6449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4678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4678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9A0E-3AB1-4C7C-8475-F6094899C79A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DCCA2-6C44-4636-BF85-51CE3A210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47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1588E-D072-4317-B878-3E9FE8CEA541}" type="datetimeFigureOut">
              <a:rPr lang="en-AU" smtClean="0"/>
              <a:t>1/11/2022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0958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pos="9216">
          <p15:clr>
            <a:srgbClr val="F26B43"/>
          </p15:clr>
        </p15:guide>
        <p15:guide id="3" pos="1248">
          <p15:clr>
            <a:srgbClr val="F26B43"/>
          </p15:clr>
        </p15:guide>
        <p15:guide id="4" pos="1152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3175" y="5050633"/>
            <a:ext cx="4765676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Freeform 7"/>
          <p:cNvSpPr/>
          <p:nvPr/>
        </p:nvSpPr>
        <p:spPr>
          <a:xfrm>
            <a:off x="-3173" y="5051293"/>
            <a:ext cx="12195173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65760"/>
            <a:ext cx="1002792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100629"/>
            <a:ext cx="1002792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68224" y="5870448"/>
            <a:ext cx="2901696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D639A0E-3AB1-4C7C-8475-F6094899C79A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90019" y="6285122"/>
            <a:ext cx="6299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384" y="6170822"/>
            <a:ext cx="67056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63DDCCA2-6C44-4636-BF85-51CE3A2106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69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9005-3B2C-AED6-9EB2-AD34B7905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54B31-41A2-A06D-6DA3-81759CC0A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326" y="2133600"/>
            <a:ext cx="10004286" cy="393872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Title: </a:t>
            </a:r>
            <a:r>
              <a:rPr lang="en-US" sz="2400" b="1" dirty="0">
                <a:solidFill>
                  <a:srgbClr val="00B0F0"/>
                </a:solidFill>
              </a:rPr>
              <a:t>Data collection </a:t>
            </a:r>
          </a:p>
          <a:p>
            <a:endParaRPr lang="en-US" sz="2400" b="1" dirty="0">
              <a:solidFill>
                <a:srgbClr val="00B0F0"/>
              </a:solidFill>
            </a:endParaRPr>
          </a:p>
          <a:p>
            <a:r>
              <a:rPr lang="en-US" sz="2400" b="1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400" b="1" dirty="0">
                <a:solidFill>
                  <a:srgbClr val="00B0F0"/>
                </a:solidFill>
              </a:rPr>
              <a:t>Collect and display different types of data appropriately Data Collection</a:t>
            </a:r>
          </a:p>
          <a:p>
            <a:pPr marL="0" indent="0"/>
            <a:endParaRPr lang="en-AU" sz="2400" b="1" dirty="0">
              <a:solidFill>
                <a:srgbClr val="00B0F0"/>
              </a:solidFill>
            </a:endParaRPr>
          </a:p>
          <a:p>
            <a:pPr marL="0" indent="0"/>
            <a:r>
              <a:rPr lang="en-AU" sz="2400" b="1" dirty="0">
                <a:solidFill>
                  <a:srgbClr val="00B0F0"/>
                </a:solidFill>
              </a:rPr>
              <a:t>Plan: </a:t>
            </a:r>
          </a:p>
          <a:p>
            <a:pPr marL="285750" indent="-285750">
              <a:buFontTx/>
              <a:buChar char="-"/>
            </a:pPr>
            <a:r>
              <a:rPr lang="en-AU" sz="2400" b="1" dirty="0">
                <a:solidFill>
                  <a:srgbClr val="00B0F0"/>
                </a:solidFill>
              </a:rPr>
              <a:t>Census Vs. Sample </a:t>
            </a:r>
          </a:p>
          <a:p>
            <a:pPr marL="285750" indent="-285750">
              <a:buFontTx/>
              <a:buChar char="-"/>
            </a:pPr>
            <a:r>
              <a:rPr lang="en-AU" sz="2400" b="1" dirty="0">
                <a:solidFill>
                  <a:srgbClr val="00B0F0"/>
                </a:solidFill>
              </a:rPr>
              <a:t>Representing data </a:t>
            </a:r>
          </a:p>
        </p:txBody>
      </p:sp>
    </p:spTree>
    <p:extLst>
      <p:ext uri="{BB962C8B-B14F-4D97-AF65-F5344CB8AC3E}">
        <p14:creationId xmlns:p14="http://schemas.microsoft.com/office/powerpoint/2010/main" val="3606876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Survey or Census?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6075" y="2187767"/>
            <a:ext cx="8915400" cy="377762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GB" dirty="0"/>
              <a:t>We use a census for the population </a:t>
            </a:r>
            <a:r>
              <a:rPr lang="en-GB" sz="2000" b="1" dirty="0">
                <a:solidFill>
                  <a:srgbClr val="00B0F0"/>
                </a:solidFill>
              </a:rPr>
              <a:t>(all the people in the group).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We use a survey for a sample </a:t>
            </a:r>
            <a:r>
              <a:rPr lang="en-GB" sz="2000" b="1" dirty="0">
                <a:solidFill>
                  <a:srgbClr val="00B0F0"/>
                </a:solidFill>
              </a:rPr>
              <a:t>(some of the people in the group).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We should select people at random when we choose a sample in order to </a:t>
            </a:r>
            <a:r>
              <a:rPr lang="en-GB" sz="2000" b="1" dirty="0">
                <a:solidFill>
                  <a:srgbClr val="00B0F0"/>
                </a:solidFill>
              </a:rPr>
              <a:t>reduce bias (unfairness).</a:t>
            </a:r>
          </a:p>
          <a:p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696E2E2-B408-AF75-549D-22B5AE40AC3D}"/>
              </a:ext>
            </a:extLst>
          </p:cNvPr>
          <p:cNvGrpSpPr/>
          <p:nvPr/>
        </p:nvGrpSpPr>
        <p:grpSpPr>
          <a:xfrm>
            <a:off x="6240008" y="3743018"/>
            <a:ext cx="4176464" cy="1944216"/>
            <a:chOff x="3647728" y="2780928"/>
            <a:chExt cx="4176464" cy="1944216"/>
          </a:xfrm>
        </p:grpSpPr>
        <p:sp>
          <p:nvSpPr>
            <p:cNvPr id="4" name="Rectangle 3"/>
            <p:cNvSpPr/>
            <p:nvPr/>
          </p:nvSpPr>
          <p:spPr>
            <a:xfrm>
              <a:off x="3647728" y="2780928"/>
              <a:ext cx="4176464" cy="1944216"/>
            </a:xfrm>
            <a:prstGeom prst="rect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r>
                <a:rPr lang="en-GB" dirty="0"/>
                <a:t>Population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4007494" y="2928211"/>
              <a:ext cx="3537759" cy="1410638"/>
            </a:xfrm>
            <a:custGeom>
              <a:avLst/>
              <a:gdLst>
                <a:gd name="connsiteX0" fmla="*/ 0 w 2448272"/>
                <a:gd name="connsiteY0" fmla="*/ 540060 h 1080120"/>
                <a:gd name="connsiteX1" fmla="*/ 1224136 w 2448272"/>
                <a:gd name="connsiteY1" fmla="*/ 0 h 1080120"/>
                <a:gd name="connsiteX2" fmla="*/ 2448272 w 2448272"/>
                <a:gd name="connsiteY2" fmla="*/ 540060 h 1080120"/>
                <a:gd name="connsiteX3" fmla="*/ 1224136 w 2448272"/>
                <a:gd name="connsiteY3" fmla="*/ 1080120 h 1080120"/>
                <a:gd name="connsiteX4" fmla="*/ 0 w 2448272"/>
                <a:gd name="connsiteY4" fmla="*/ 540060 h 1080120"/>
                <a:gd name="connsiteX0" fmla="*/ 245 w 2448517"/>
                <a:gd name="connsiteY0" fmla="*/ 284137 h 824197"/>
                <a:gd name="connsiteX1" fmla="*/ 1306677 w 2448517"/>
                <a:gd name="connsiteY1" fmla="*/ 109 h 824197"/>
                <a:gd name="connsiteX2" fmla="*/ 2448517 w 2448517"/>
                <a:gd name="connsiteY2" fmla="*/ 284137 h 824197"/>
                <a:gd name="connsiteX3" fmla="*/ 1224381 w 2448517"/>
                <a:gd name="connsiteY3" fmla="*/ 824197 h 824197"/>
                <a:gd name="connsiteX4" fmla="*/ 245 w 2448517"/>
                <a:gd name="connsiteY4" fmla="*/ 284137 h 824197"/>
                <a:gd name="connsiteX0" fmla="*/ 14458 w 2485433"/>
                <a:gd name="connsiteY0" fmla="*/ 494340 h 1034400"/>
                <a:gd name="connsiteX1" fmla="*/ 1970114 w 2485433"/>
                <a:gd name="connsiteY1" fmla="*/ 0 h 1034400"/>
                <a:gd name="connsiteX2" fmla="*/ 2462730 w 2485433"/>
                <a:gd name="connsiteY2" fmla="*/ 494340 h 1034400"/>
                <a:gd name="connsiteX3" fmla="*/ 1238594 w 2485433"/>
                <a:gd name="connsiteY3" fmla="*/ 1034400 h 1034400"/>
                <a:gd name="connsiteX4" fmla="*/ 14458 w 2485433"/>
                <a:gd name="connsiteY4" fmla="*/ 494340 h 1034400"/>
                <a:gd name="connsiteX0" fmla="*/ 11716 w 2935476"/>
                <a:gd name="connsiteY0" fmla="*/ 495563 h 1038693"/>
                <a:gd name="connsiteX1" fmla="*/ 1967372 w 2935476"/>
                <a:gd name="connsiteY1" fmla="*/ 1223 h 1038693"/>
                <a:gd name="connsiteX2" fmla="*/ 2935476 w 2935476"/>
                <a:gd name="connsiteY2" fmla="*/ 641867 h 1038693"/>
                <a:gd name="connsiteX3" fmla="*/ 1235852 w 2935476"/>
                <a:gd name="connsiteY3" fmla="*/ 1035623 h 1038693"/>
                <a:gd name="connsiteX4" fmla="*/ 11716 w 2935476"/>
                <a:gd name="connsiteY4" fmla="*/ 495563 h 1038693"/>
                <a:gd name="connsiteX0" fmla="*/ 11716 w 2935476"/>
                <a:gd name="connsiteY0" fmla="*/ 495563 h 1039867"/>
                <a:gd name="connsiteX1" fmla="*/ 1967372 w 2935476"/>
                <a:gd name="connsiteY1" fmla="*/ 1223 h 1039867"/>
                <a:gd name="connsiteX2" fmla="*/ 2935476 w 2935476"/>
                <a:gd name="connsiteY2" fmla="*/ 641867 h 1039867"/>
                <a:gd name="connsiteX3" fmla="*/ 1235852 w 2935476"/>
                <a:gd name="connsiteY3" fmla="*/ 1035623 h 1039867"/>
                <a:gd name="connsiteX4" fmla="*/ 11716 w 2935476"/>
                <a:gd name="connsiteY4" fmla="*/ 495563 h 1039867"/>
                <a:gd name="connsiteX0" fmla="*/ 8238 w 3416630"/>
                <a:gd name="connsiteY0" fmla="*/ 372014 h 1050774"/>
                <a:gd name="connsiteX1" fmla="*/ 2448526 w 3416630"/>
                <a:gd name="connsiteY1" fmla="*/ 5690 h 1050774"/>
                <a:gd name="connsiteX2" fmla="*/ 3416630 w 3416630"/>
                <a:gd name="connsiteY2" fmla="*/ 646334 h 1050774"/>
                <a:gd name="connsiteX3" fmla="*/ 1717006 w 3416630"/>
                <a:gd name="connsiteY3" fmla="*/ 1040090 h 1050774"/>
                <a:gd name="connsiteX4" fmla="*/ 8238 w 3416630"/>
                <a:gd name="connsiteY4" fmla="*/ 372014 h 1050774"/>
                <a:gd name="connsiteX0" fmla="*/ 41739 w 3450131"/>
                <a:gd name="connsiteY0" fmla="*/ 370166 h 1048926"/>
                <a:gd name="connsiteX1" fmla="*/ 2482027 w 3450131"/>
                <a:gd name="connsiteY1" fmla="*/ 3842 h 1048926"/>
                <a:gd name="connsiteX2" fmla="*/ 3450131 w 3450131"/>
                <a:gd name="connsiteY2" fmla="*/ 644486 h 1048926"/>
                <a:gd name="connsiteX3" fmla="*/ 1750507 w 3450131"/>
                <a:gd name="connsiteY3" fmla="*/ 1038242 h 1048926"/>
                <a:gd name="connsiteX4" fmla="*/ 41739 w 3450131"/>
                <a:gd name="connsiteY4" fmla="*/ 370166 h 1048926"/>
                <a:gd name="connsiteX0" fmla="*/ 38902 w 3463565"/>
                <a:gd name="connsiteY0" fmla="*/ 370166 h 1234761"/>
                <a:gd name="connsiteX1" fmla="*/ 2479190 w 3463565"/>
                <a:gd name="connsiteY1" fmla="*/ 3842 h 1234761"/>
                <a:gd name="connsiteX2" fmla="*/ 3447294 w 3463565"/>
                <a:gd name="connsiteY2" fmla="*/ 644486 h 1234761"/>
                <a:gd name="connsiteX3" fmla="*/ 2683783 w 3463565"/>
                <a:gd name="connsiteY3" fmla="*/ 1214275 h 1234761"/>
                <a:gd name="connsiteX4" fmla="*/ 1747670 w 3463565"/>
                <a:gd name="connsiteY4" fmla="*/ 1038242 h 1234761"/>
                <a:gd name="connsiteX5" fmla="*/ 38902 w 3463565"/>
                <a:gd name="connsiteY5" fmla="*/ 370166 h 1234761"/>
                <a:gd name="connsiteX0" fmla="*/ 94813 w 3519476"/>
                <a:gd name="connsiteY0" fmla="*/ 371756 h 1229602"/>
                <a:gd name="connsiteX1" fmla="*/ 2535101 w 3519476"/>
                <a:gd name="connsiteY1" fmla="*/ 5432 h 1229602"/>
                <a:gd name="connsiteX2" fmla="*/ 3503205 w 3519476"/>
                <a:gd name="connsiteY2" fmla="*/ 646076 h 1229602"/>
                <a:gd name="connsiteX3" fmla="*/ 2739694 w 3519476"/>
                <a:gd name="connsiteY3" fmla="*/ 1215865 h 1229602"/>
                <a:gd name="connsiteX4" fmla="*/ 715445 w 3519476"/>
                <a:gd name="connsiteY4" fmla="*/ 957536 h 1229602"/>
                <a:gd name="connsiteX5" fmla="*/ 94813 w 3519476"/>
                <a:gd name="connsiteY5" fmla="*/ 371756 h 1229602"/>
                <a:gd name="connsiteX0" fmla="*/ 19699 w 3440488"/>
                <a:gd name="connsiteY0" fmla="*/ 563682 h 1421528"/>
                <a:gd name="connsiteX1" fmla="*/ 1228971 w 3440488"/>
                <a:gd name="connsiteY1" fmla="*/ 17903 h 1421528"/>
                <a:gd name="connsiteX2" fmla="*/ 2459987 w 3440488"/>
                <a:gd name="connsiteY2" fmla="*/ 197358 h 1421528"/>
                <a:gd name="connsiteX3" fmla="*/ 3428091 w 3440488"/>
                <a:gd name="connsiteY3" fmla="*/ 838002 h 1421528"/>
                <a:gd name="connsiteX4" fmla="*/ 2664580 w 3440488"/>
                <a:gd name="connsiteY4" fmla="*/ 1407791 h 1421528"/>
                <a:gd name="connsiteX5" fmla="*/ 640331 w 3440488"/>
                <a:gd name="connsiteY5" fmla="*/ 1149462 h 1421528"/>
                <a:gd name="connsiteX6" fmla="*/ 19699 w 3440488"/>
                <a:gd name="connsiteY6" fmla="*/ 563682 h 1421528"/>
                <a:gd name="connsiteX0" fmla="*/ 19699 w 3539909"/>
                <a:gd name="connsiteY0" fmla="*/ 559720 h 1417566"/>
                <a:gd name="connsiteX1" fmla="*/ 1228971 w 3539909"/>
                <a:gd name="connsiteY1" fmla="*/ 13941 h 1417566"/>
                <a:gd name="connsiteX2" fmla="*/ 2459987 w 3539909"/>
                <a:gd name="connsiteY2" fmla="*/ 193396 h 1417566"/>
                <a:gd name="connsiteX3" fmla="*/ 3528675 w 3539909"/>
                <a:gd name="connsiteY3" fmla="*/ 532288 h 1417566"/>
                <a:gd name="connsiteX4" fmla="*/ 2664580 w 3539909"/>
                <a:gd name="connsiteY4" fmla="*/ 1403829 h 1417566"/>
                <a:gd name="connsiteX5" fmla="*/ 640331 w 3539909"/>
                <a:gd name="connsiteY5" fmla="*/ 1145500 h 1417566"/>
                <a:gd name="connsiteX6" fmla="*/ 19699 w 3539909"/>
                <a:gd name="connsiteY6" fmla="*/ 559720 h 1417566"/>
                <a:gd name="connsiteX0" fmla="*/ 19699 w 3538683"/>
                <a:gd name="connsiteY0" fmla="*/ 552792 h 1410638"/>
                <a:gd name="connsiteX1" fmla="*/ 1228971 w 3538683"/>
                <a:gd name="connsiteY1" fmla="*/ 7013 h 1410638"/>
                <a:gd name="connsiteX2" fmla="*/ 2350259 w 3538683"/>
                <a:gd name="connsiteY2" fmla="*/ 387636 h 1410638"/>
                <a:gd name="connsiteX3" fmla="*/ 3528675 w 3538683"/>
                <a:gd name="connsiteY3" fmla="*/ 525360 h 1410638"/>
                <a:gd name="connsiteX4" fmla="*/ 2664580 w 3538683"/>
                <a:gd name="connsiteY4" fmla="*/ 1396901 h 1410638"/>
                <a:gd name="connsiteX5" fmla="*/ 640331 w 3538683"/>
                <a:gd name="connsiteY5" fmla="*/ 1138572 h 1410638"/>
                <a:gd name="connsiteX6" fmla="*/ 19699 w 3538683"/>
                <a:gd name="connsiteY6" fmla="*/ 552792 h 1410638"/>
                <a:gd name="connsiteX0" fmla="*/ 19699 w 3528675"/>
                <a:gd name="connsiteY0" fmla="*/ 552792 h 1410638"/>
                <a:gd name="connsiteX1" fmla="*/ 1228971 w 3528675"/>
                <a:gd name="connsiteY1" fmla="*/ 7013 h 1410638"/>
                <a:gd name="connsiteX2" fmla="*/ 2350259 w 3528675"/>
                <a:gd name="connsiteY2" fmla="*/ 387636 h 1410638"/>
                <a:gd name="connsiteX3" fmla="*/ 3528675 w 3528675"/>
                <a:gd name="connsiteY3" fmla="*/ 525360 h 1410638"/>
                <a:gd name="connsiteX4" fmla="*/ 2664580 w 3528675"/>
                <a:gd name="connsiteY4" fmla="*/ 1396901 h 1410638"/>
                <a:gd name="connsiteX5" fmla="*/ 640331 w 3528675"/>
                <a:gd name="connsiteY5" fmla="*/ 1138572 h 1410638"/>
                <a:gd name="connsiteX6" fmla="*/ 19699 w 3528675"/>
                <a:gd name="connsiteY6" fmla="*/ 552792 h 1410638"/>
                <a:gd name="connsiteX0" fmla="*/ 19699 w 3537759"/>
                <a:gd name="connsiteY0" fmla="*/ 552792 h 1410638"/>
                <a:gd name="connsiteX1" fmla="*/ 1228971 w 3537759"/>
                <a:gd name="connsiteY1" fmla="*/ 7013 h 1410638"/>
                <a:gd name="connsiteX2" fmla="*/ 2350259 w 3537759"/>
                <a:gd name="connsiteY2" fmla="*/ 387636 h 1410638"/>
                <a:gd name="connsiteX3" fmla="*/ 3528675 w 3537759"/>
                <a:gd name="connsiteY3" fmla="*/ 525360 h 1410638"/>
                <a:gd name="connsiteX4" fmla="*/ 2664580 w 3537759"/>
                <a:gd name="connsiteY4" fmla="*/ 1396901 h 1410638"/>
                <a:gd name="connsiteX5" fmla="*/ 640331 w 3537759"/>
                <a:gd name="connsiteY5" fmla="*/ 1138572 h 1410638"/>
                <a:gd name="connsiteX6" fmla="*/ 19699 w 3537759"/>
                <a:gd name="connsiteY6" fmla="*/ 552792 h 1410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37759" h="1410638">
                  <a:moveTo>
                    <a:pt x="19699" y="552792"/>
                  </a:moveTo>
                  <a:cubicBezTo>
                    <a:pt x="117806" y="364199"/>
                    <a:pt x="822256" y="68067"/>
                    <a:pt x="1228971" y="7013"/>
                  </a:cubicBezTo>
                  <a:cubicBezTo>
                    <a:pt x="1635686" y="-54041"/>
                    <a:pt x="1966975" y="301245"/>
                    <a:pt x="2350259" y="387636"/>
                  </a:cubicBezTo>
                  <a:cubicBezTo>
                    <a:pt x="2733543" y="474027"/>
                    <a:pt x="3296456" y="245897"/>
                    <a:pt x="3528675" y="525360"/>
                  </a:cubicBezTo>
                  <a:cubicBezTo>
                    <a:pt x="3623734" y="713383"/>
                    <a:pt x="2947851" y="1331275"/>
                    <a:pt x="2664580" y="1396901"/>
                  </a:cubicBezTo>
                  <a:cubicBezTo>
                    <a:pt x="2381309" y="1462527"/>
                    <a:pt x="1081144" y="1279257"/>
                    <a:pt x="640331" y="1138572"/>
                  </a:cubicBezTo>
                  <a:cubicBezTo>
                    <a:pt x="199518" y="997887"/>
                    <a:pt x="-78408" y="741385"/>
                    <a:pt x="19699" y="552792"/>
                  </a:cubicBezTo>
                  <a:close/>
                </a:path>
              </a:pathLst>
            </a:cu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283328" y="3568370"/>
              <a:ext cx="1172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Sample</a:t>
              </a:r>
            </a:p>
          </p:txBody>
        </p:sp>
        <p:sp>
          <p:nvSpPr>
            <p:cNvPr id="8" name="Smiley Face 7"/>
            <p:cNvSpPr/>
            <p:nvPr/>
          </p:nvSpPr>
          <p:spPr>
            <a:xfrm>
              <a:off x="4511824" y="3429000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Smiley Face 8"/>
            <p:cNvSpPr/>
            <p:nvPr/>
          </p:nvSpPr>
          <p:spPr>
            <a:xfrm>
              <a:off x="5078798" y="3226151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Smiley Face 9"/>
            <p:cNvSpPr/>
            <p:nvPr/>
          </p:nvSpPr>
          <p:spPr>
            <a:xfrm>
              <a:off x="5571842" y="3189261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Smiley Face 10"/>
            <p:cNvSpPr/>
            <p:nvPr/>
          </p:nvSpPr>
          <p:spPr>
            <a:xfrm>
              <a:off x="4976533" y="3733172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Smiley Face 11"/>
            <p:cNvSpPr/>
            <p:nvPr/>
          </p:nvSpPr>
          <p:spPr>
            <a:xfrm>
              <a:off x="6353775" y="3630907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Smiley Face 12"/>
            <p:cNvSpPr/>
            <p:nvPr/>
          </p:nvSpPr>
          <p:spPr>
            <a:xfrm>
              <a:off x="6558305" y="3960897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Smiley Face 13"/>
            <p:cNvSpPr/>
            <p:nvPr/>
          </p:nvSpPr>
          <p:spPr>
            <a:xfrm>
              <a:off x="5951299" y="3960897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Smiley Face 14"/>
            <p:cNvSpPr/>
            <p:nvPr/>
          </p:nvSpPr>
          <p:spPr>
            <a:xfrm>
              <a:off x="6918345" y="3568370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Smiley Face 15"/>
            <p:cNvSpPr/>
            <p:nvPr/>
          </p:nvSpPr>
          <p:spPr>
            <a:xfrm>
              <a:off x="7248128" y="4337482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Smiley Face 16"/>
            <p:cNvSpPr/>
            <p:nvPr/>
          </p:nvSpPr>
          <p:spPr>
            <a:xfrm>
              <a:off x="7442131" y="3960897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Smiley Face 17"/>
            <p:cNvSpPr/>
            <p:nvPr/>
          </p:nvSpPr>
          <p:spPr>
            <a:xfrm>
              <a:off x="6827187" y="4428047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7043598" y="2928211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Smiley Face 19"/>
            <p:cNvSpPr/>
            <p:nvPr/>
          </p:nvSpPr>
          <p:spPr>
            <a:xfrm>
              <a:off x="3980828" y="4345929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sp>
          <p:nvSpPr>
            <p:cNvPr id="21" name="Smiley Face 20"/>
            <p:cNvSpPr/>
            <p:nvPr/>
          </p:nvSpPr>
          <p:spPr>
            <a:xfrm>
              <a:off x="4630994" y="4345929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Smiley Face 21"/>
            <p:cNvSpPr/>
            <p:nvPr/>
          </p:nvSpPr>
          <p:spPr>
            <a:xfrm>
              <a:off x="3783292" y="3088855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Smiley Face 22"/>
            <p:cNvSpPr/>
            <p:nvPr/>
          </p:nvSpPr>
          <p:spPr>
            <a:xfrm>
              <a:off x="4185358" y="2873364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Smiley Face 23"/>
            <p:cNvSpPr/>
            <p:nvPr/>
          </p:nvSpPr>
          <p:spPr>
            <a:xfrm>
              <a:off x="6259271" y="2948358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Smiley Face 24"/>
            <p:cNvSpPr/>
            <p:nvPr/>
          </p:nvSpPr>
          <p:spPr>
            <a:xfrm>
              <a:off x="7465446" y="2986590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Smiley Face 25"/>
            <p:cNvSpPr/>
            <p:nvPr/>
          </p:nvSpPr>
          <p:spPr>
            <a:xfrm>
              <a:off x="3802963" y="3858632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00548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Survey or Census?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6075" y="2187767"/>
            <a:ext cx="8915400" cy="377762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GB" dirty="0"/>
              <a:t>We use a census for the population 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We use a survey for a sample 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We should select people at random when we choose a sample in order to…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696E2E2-B408-AF75-549D-22B5AE40AC3D}"/>
              </a:ext>
            </a:extLst>
          </p:cNvPr>
          <p:cNvGrpSpPr/>
          <p:nvPr/>
        </p:nvGrpSpPr>
        <p:grpSpPr>
          <a:xfrm>
            <a:off x="6240008" y="3743018"/>
            <a:ext cx="4176464" cy="1944216"/>
            <a:chOff x="3647728" y="2780928"/>
            <a:chExt cx="4176464" cy="1944216"/>
          </a:xfrm>
        </p:grpSpPr>
        <p:sp>
          <p:nvSpPr>
            <p:cNvPr id="4" name="Rectangle 3"/>
            <p:cNvSpPr/>
            <p:nvPr/>
          </p:nvSpPr>
          <p:spPr>
            <a:xfrm>
              <a:off x="3647728" y="2780928"/>
              <a:ext cx="4176464" cy="1944216"/>
            </a:xfrm>
            <a:prstGeom prst="rect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endParaRPr lang="en-GB" dirty="0"/>
            </a:p>
            <a:p>
              <a:pPr algn="ctr"/>
              <a:r>
                <a:rPr lang="en-GB" dirty="0"/>
                <a:t>Population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4007494" y="2928211"/>
              <a:ext cx="3537759" cy="1410638"/>
            </a:xfrm>
            <a:custGeom>
              <a:avLst/>
              <a:gdLst>
                <a:gd name="connsiteX0" fmla="*/ 0 w 2448272"/>
                <a:gd name="connsiteY0" fmla="*/ 540060 h 1080120"/>
                <a:gd name="connsiteX1" fmla="*/ 1224136 w 2448272"/>
                <a:gd name="connsiteY1" fmla="*/ 0 h 1080120"/>
                <a:gd name="connsiteX2" fmla="*/ 2448272 w 2448272"/>
                <a:gd name="connsiteY2" fmla="*/ 540060 h 1080120"/>
                <a:gd name="connsiteX3" fmla="*/ 1224136 w 2448272"/>
                <a:gd name="connsiteY3" fmla="*/ 1080120 h 1080120"/>
                <a:gd name="connsiteX4" fmla="*/ 0 w 2448272"/>
                <a:gd name="connsiteY4" fmla="*/ 540060 h 1080120"/>
                <a:gd name="connsiteX0" fmla="*/ 245 w 2448517"/>
                <a:gd name="connsiteY0" fmla="*/ 284137 h 824197"/>
                <a:gd name="connsiteX1" fmla="*/ 1306677 w 2448517"/>
                <a:gd name="connsiteY1" fmla="*/ 109 h 824197"/>
                <a:gd name="connsiteX2" fmla="*/ 2448517 w 2448517"/>
                <a:gd name="connsiteY2" fmla="*/ 284137 h 824197"/>
                <a:gd name="connsiteX3" fmla="*/ 1224381 w 2448517"/>
                <a:gd name="connsiteY3" fmla="*/ 824197 h 824197"/>
                <a:gd name="connsiteX4" fmla="*/ 245 w 2448517"/>
                <a:gd name="connsiteY4" fmla="*/ 284137 h 824197"/>
                <a:gd name="connsiteX0" fmla="*/ 14458 w 2485433"/>
                <a:gd name="connsiteY0" fmla="*/ 494340 h 1034400"/>
                <a:gd name="connsiteX1" fmla="*/ 1970114 w 2485433"/>
                <a:gd name="connsiteY1" fmla="*/ 0 h 1034400"/>
                <a:gd name="connsiteX2" fmla="*/ 2462730 w 2485433"/>
                <a:gd name="connsiteY2" fmla="*/ 494340 h 1034400"/>
                <a:gd name="connsiteX3" fmla="*/ 1238594 w 2485433"/>
                <a:gd name="connsiteY3" fmla="*/ 1034400 h 1034400"/>
                <a:gd name="connsiteX4" fmla="*/ 14458 w 2485433"/>
                <a:gd name="connsiteY4" fmla="*/ 494340 h 1034400"/>
                <a:gd name="connsiteX0" fmla="*/ 11716 w 2935476"/>
                <a:gd name="connsiteY0" fmla="*/ 495563 h 1038693"/>
                <a:gd name="connsiteX1" fmla="*/ 1967372 w 2935476"/>
                <a:gd name="connsiteY1" fmla="*/ 1223 h 1038693"/>
                <a:gd name="connsiteX2" fmla="*/ 2935476 w 2935476"/>
                <a:gd name="connsiteY2" fmla="*/ 641867 h 1038693"/>
                <a:gd name="connsiteX3" fmla="*/ 1235852 w 2935476"/>
                <a:gd name="connsiteY3" fmla="*/ 1035623 h 1038693"/>
                <a:gd name="connsiteX4" fmla="*/ 11716 w 2935476"/>
                <a:gd name="connsiteY4" fmla="*/ 495563 h 1038693"/>
                <a:gd name="connsiteX0" fmla="*/ 11716 w 2935476"/>
                <a:gd name="connsiteY0" fmla="*/ 495563 h 1039867"/>
                <a:gd name="connsiteX1" fmla="*/ 1967372 w 2935476"/>
                <a:gd name="connsiteY1" fmla="*/ 1223 h 1039867"/>
                <a:gd name="connsiteX2" fmla="*/ 2935476 w 2935476"/>
                <a:gd name="connsiteY2" fmla="*/ 641867 h 1039867"/>
                <a:gd name="connsiteX3" fmla="*/ 1235852 w 2935476"/>
                <a:gd name="connsiteY3" fmla="*/ 1035623 h 1039867"/>
                <a:gd name="connsiteX4" fmla="*/ 11716 w 2935476"/>
                <a:gd name="connsiteY4" fmla="*/ 495563 h 1039867"/>
                <a:gd name="connsiteX0" fmla="*/ 8238 w 3416630"/>
                <a:gd name="connsiteY0" fmla="*/ 372014 h 1050774"/>
                <a:gd name="connsiteX1" fmla="*/ 2448526 w 3416630"/>
                <a:gd name="connsiteY1" fmla="*/ 5690 h 1050774"/>
                <a:gd name="connsiteX2" fmla="*/ 3416630 w 3416630"/>
                <a:gd name="connsiteY2" fmla="*/ 646334 h 1050774"/>
                <a:gd name="connsiteX3" fmla="*/ 1717006 w 3416630"/>
                <a:gd name="connsiteY3" fmla="*/ 1040090 h 1050774"/>
                <a:gd name="connsiteX4" fmla="*/ 8238 w 3416630"/>
                <a:gd name="connsiteY4" fmla="*/ 372014 h 1050774"/>
                <a:gd name="connsiteX0" fmla="*/ 41739 w 3450131"/>
                <a:gd name="connsiteY0" fmla="*/ 370166 h 1048926"/>
                <a:gd name="connsiteX1" fmla="*/ 2482027 w 3450131"/>
                <a:gd name="connsiteY1" fmla="*/ 3842 h 1048926"/>
                <a:gd name="connsiteX2" fmla="*/ 3450131 w 3450131"/>
                <a:gd name="connsiteY2" fmla="*/ 644486 h 1048926"/>
                <a:gd name="connsiteX3" fmla="*/ 1750507 w 3450131"/>
                <a:gd name="connsiteY3" fmla="*/ 1038242 h 1048926"/>
                <a:gd name="connsiteX4" fmla="*/ 41739 w 3450131"/>
                <a:gd name="connsiteY4" fmla="*/ 370166 h 1048926"/>
                <a:gd name="connsiteX0" fmla="*/ 38902 w 3463565"/>
                <a:gd name="connsiteY0" fmla="*/ 370166 h 1234761"/>
                <a:gd name="connsiteX1" fmla="*/ 2479190 w 3463565"/>
                <a:gd name="connsiteY1" fmla="*/ 3842 h 1234761"/>
                <a:gd name="connsiteX2" fmla="*/ 3447294 w 3463565"/>
                <a:gd name="connsiteY2" fmla="*/ 644486 h 1234761"/>
                <a:gd name="connsiteX3" fmla="*/ 2683783 w 3463565"/>
                <a:gd name="connsiteY3" fmla="*/ 1214275 h 1234761"/>
                <a:gd name="connsiteX4" fmla="*/ 1747670 w 3463565"/>
                <a:gd name="connsiteY4" fmla="*/ 1038242 h 1234761"/>
                <a:gd name="connsiteX5" fmla="*/ 38902 w 3463565"/>
                <a:gd name="connsiteY5" fmla="*/ 370166 h 1234761"/>
                <a:gd name="connsiteX0" fmla="*/ 94813 w 3519476"/>
                <a:gd name="connsiteY0" fmla="*/ 371756 h 1229602"/>
                <a:gd name="connsiteX1" fmla="*/ 2535101 w 3519476"/>
                <a:gd name="connsiteY1" fmla="*/ 5432 h 1229602"/>
                <a:gd name="connsiteX2" fmla="*/ 3503205 w 3519476"/>
                <a:gd name="connsiteY2" fmla="*/ 646076 h 1229602"/>
                <a:gd name="connsiteX3" fmla="*/ 2739694 w 3519476"/>
                <a:gd name="connsiteY3" fmla="*/ 1215865 h 1229602"/>
                <a:gd name="connsiteX4" fmla="*/ 715445 w 3519476"/>
                <a:gd name="connsiteY4" fmla="*/ 957536 h 1229602"/>
                <a:gd name="connsiteX5" fmla="*/ 94813 w 3519476"/>
                <a:gd name="connsiteY5" fmla="*/ 371756 h 1229602"/>
                <a:gd name="connsiteX0" fmla="*/ 19699 w 3440488"/>
                <a:gd name="connsiteY0" fmla="*/ 563682 h 1421528"/>
                <a:gd name="connsiteX1" fmla="*/ 1228971 w 3440488"/>
                <a:gd name="connsiteY1" fmla="*/ 17903 h 1421528"/>
                <a:gd name="connsiteX2" fmla="*/ 2459987 w 3440488"/>
                <a:gd name="connsiteY2" fmla="*/ 197358 h 1421528"/>
                <a:gd name="connsiteX3" fmla="*/ 3428091 w 3440488"/>
                <a:gd name="connsiteY3" fmla="*/ 838002 h 1421528"/>
                <a:gd name="connsiteX4" fmla="*/ 2664580 w 3440488"/>
                <a:gd name="connsiteY4" fmla="*/ 1407791 h 1421528"/>
                <a:gd name="connsiteX5" fmla="*/ 640331 w 3440488"/>
                <a:gd name="connsiteY5" fmla="*/ 1149462 h 1421528"/>
                <a:gd name="connsiteX6" fmla="*/ 19699 w 3440488"/>
                <a:gd name="connsiteY6" fmla="*/ 563682 h 1421528"/>
                <a:gd name="connsiteX0" fmla="*/ 19699 w 3539909"/>
                <a:gd name="connsiteY0" fmla="*/ 559720 h 1417566"/>
                <a:gd name="connsiteX1" fmla="*/ 1228971 w 3539909"/>
                <a:gd name="connsiteY1" fmla="*/ 13941 h 1417566"/>
                <a:gd name="connsiteX2" fmla="*/ 2459987 w 3539909"/>
                <a:gd name="connsiteY2" fmla="*/ 193396 h 1417566"/>
                <a:gd name="connsiteX3" fmla="*/ 3528675 w 3539909"/>
                <a:gd name="connsiteY3" fmla="*/ 532288 h 1417566"/>
                <a:gd name="connsiteX4" fmla="*/ 2664580 w 3539909"/>
                <a:gd name="connsiteY4" fmla="*/ 1403829 h 1417566"/>
                <a:gd name="connsiteX5" fmla="*/ 640331 w 3539909"/>
                <a:gd name="connsiteY5" fmla="*/ 1145500 h 1417566"/>
                <a:gd name="connsiteX6" fmla="*/ 19699 w 3539909"/>
                <a:gd name="connsiteY6" fmla="*/ 559720 h 1417566"/>
                <a:gd name="connsiteX0" fmla="*/ 19699 w 3538683"/>
                <a:gd name="connsiteY0" fmla="*/ 552792 h 1410638"/>
                <a:gd name="connsiteX1" fmla="*/ 1228971 w 3538683"/>
                <a:gd name="connsiteY1" fmla="*/ 7013 h 1410638"/>
                <a:gd name="connsiteX2" fmla="*/ 2350259 w 3538683"/>
                <a:gd name="connsiteY2" fmla="*/ 387636 h 1410638"/>
                <a:gd name="connsiteX3" fmla="*/ 3528675 w 3538683"/>
                <a:gd name="connsiteY3" fmla="*/ 525360 h 1410638"/>
                <a:gd name="connsiteX4" fmla="*/ 2664580 w 3538683"/>
                <a:gd name="connsiteY4" fmla="*/ 1396901 h 1410638"/>
                <a:gd name="connsiteX5" fmla="*/ 640331 w 3538683"/>
                <a:gd name="connsiteY5" fmla="*/ 1138572 h 1410638"/>
                <a:gd name="connsiteX6" fmla="*/ 19699 w 3538683"/>
                <a:gd name="connsiteY6" fmla="*/ 552792 h 1410638"/>
                <a:gd name="connsiteX0" fmla="*/ 19699 w 3528675"/>
                <a:gd name="connsiteY0" fmla="*/ 552792 h 1410638"/>
                <a:gd name="connsiteX1" fmla="*/ 1228971 w 3528675"/>
                <a:gd name="connsiteY1" fmla="*/ 7013 h 1410638"/>
                <a:gd name="connsiteX2" fmla="*/ 2350259 w 3528675"/>
                <a:gd name="connsiteY2" fmla="*/ 387636 h 1410638"/>
                <a:gd name="connsiteX3" fmla="*/ 3528675 w 3528675"/>
                <a:gd name="connsiteY3" fmla="*/ 525360 h 1410638"/>
                <a:gd name="connsiteX4" fmla="*/ 2664580 w 3528675"/>
                <a:gd name="connsiteY4" fmla="*/ 1396901 h 1410638"/>
                <a:gd name="connsiteX5" fmla="*/ 640331 w 3528675"/>
                <a:gd name="connsiteY5" fmla="*/ 1138572 h 1410638"/>
                <a:gd name="connsiteX6" fmla="*/ 19699 w 3528675"/>
                <a:gd name="connsiteY6" fmla="*/ 552792 h 1410638"/>
                <a:gd name="connsiteX0" fmla="*/ 19699 w 3537759"/>
                <a:gd name="connsiteY0" fmla="*/ 552792 h 1410638"/>
                <a:gd name="connsiteX1" fmla="*/ 1228971 w 3537759"/>
                <a:gd name="connsiteY1" fmla="*/ 7013 h 1410638"/>
                <a:gd name="connsiteX2" fmla="*/ 2350259 w 3537759"/>
                <a:gd name="connsiteY2" fmla="*/ 387636 h 1410638"/>
                <a:gd name="connsiteX3" fmla="*/ 3528675 w 3537759"/>
                <a:gd name="connsiteY3" fmla="*/ 525360 h 1410638"/>
                <a:gd name="connsiteX4" fmla="*/ 2664580 w 3537759"/>
                <a:gd name="connsiteY4" fmla="*/ 1396901 h 1410638"/>
                <a:gd name="connsiteX5" fmla="*/ 640331 w 3537759"/>
                <a:gd name="connsiteY5" fmla="*/ 1138572 h 1410638"/>
                <a:gd name="connsiteX6" fmla="*/ 19699 w 3537759"/>
                <a:gd name="connsiteY6" fmla="*/ 552792 h 1410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37759" h="1410638">
                  <a:moveTo>
                    <a:pt x="19699" y="552792"/>
                  </a:moveTo>
                  <a:cubicBezTo>
                    <a:pt x="117806" y="364199"/>
                    <a:pt x="822256" y="68067"/>
                    <a:pt x="1228971" y="7013"/>
                  </a:cubicBezTo>
                  <a:cubicBezTo>
                    <a:pt x="1635686" y="-54041"/>
                    <a:pt x="1966975" y="301245"/>
                    <a:pt x="2350259" y="387636"/>
                  </a:cubicBezTo>
                  <a:cubicBezTo>
                    <a:pt x="2733543" y="474027"/>
                    <a:pt x="3296456" y="245897"/>
                    <a:pt x="3528675" y="525360"/>
                  </a:cubicBezTo>
                  <a:cubicBezTo>
                    <a:pt x="3623734" y="713383"/>
                    <a:pt x="2947851" y="1331275"/>
                    <a:pt x="2664580" y="1396901"/>
                  </a:cubicBezTo>
                  <a:cubicBezTo>
                    <a:pt x="2381309" y="1462527"/>
                    <a:pt x="1081144" y="1279257"/>
                    <a:pt x="640331" y="1138572"/>
                  </a:cubicBezTo>
                  <a:cubicBezTo>
                    <a:pt x="199518" y="997887"/>
                    <a:pt x="-78408" y="741385"/>
                    <a:pt x="19699" y="552792"/>
                  </a:cubicBezTo>
                  <a:close/>
                </a:path>
              </a:pathLst>
            </a:cu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283328" y="3568370"/>
              <a:ext cx="1172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Sample</a:t>
              </a:r>
            </a:p>
          </p:txBody>
        </p:sp>
        <p:sp>
          <p:nvSpPr>
            <p:cNvPr id="8" name="Smiley Face 7"/>
            <p:cNvSpPr/>
            <p:nvPr/>
          </p:nvSpPr>
          <p:spPr>
            <a:xfrm>
              <a:off x="4511824" y="3429000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Smiley Face 8"/>
            <p:cNvSpPr/>
            <p:nvPr/>
          </p:nvSpPr>
          <p:spPr>
            <a:xfrm>
              <a:off x="5078798" y="3226151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Smiley Face 9"/>
            <p:cNvSpPr/>
            <p:nvPr/>
          </p:nvSpPr>
          <p:spPr>
            <a:xfrm>
              <a:off x="5571842" y="3189261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Smiley Face 10"/>
            <p:cNvSpPr/>
            <p:nvPr/>
          </p:nvSpPr>
          <p:spPr>
            <a:xfrm>
              <a:off x="4976533" y="3733172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Smiley Face 11"/>
            <p:cNvSpPr/>
            <p:nvPr/>
          </p:nvSpPr>
          <p:spPr>
            <a:xfrm>
              <a:off x="6353775" y="3630907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Smiley Face 12"/>
            <p:cNvSpPr/>
            <p:nvPr/>
          </p:nvSpPr>
          <p:spPr>
            <a:xfrm>
              <a:off x="6558305" y="3960897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Smiley Face 13"/>
            <p:cNvSpPr/>
            <p:nvPr/>
          </p:nvSpPr>
          <p:spPr>
            <a:xfrm>
              <a:off x="5951299" y="3960897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Smiley Face 14"/>
            <p:cNvSpPr/>
            <p:nvPr/>
          </p:nvSpPr>
          <p:spPr>
            <a:xfrm>
              <a:off x="6918345" y="3568370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Smiley Face 15"/>
            <p:cNvSpPr/>
            <p:nvPr/>
          </p:nvSpPr>
          <p:spPr>
            <a:xfrm>
              <a:off x="7248128" y="4337482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Smiley Face 16"/>
            <p:cNvSpPr/>
            <p:nvPr/>
          </p:nvSpPr>
          <p:spPr>
            <a:xfrm>
              <a:off x="7442131" y="3960897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Smiley Face 17"/>
            <p:cNvSpPr/>
            <p:nvPr/>
          </p:nvSpPr>
          <p:spPr>
            <a:xfrm>
              <a:off x="6827187" y="4428047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7043598" y="2928211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Smiley Face 19"/>
            <p:cNvSpPr/>
            <p:nvPr/>
          </p:nvSpPr>
          <p:spPr>
            <a:xfrm>
              <a:off x="3980828" y="4345929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sp>
          <p:nvSpPr>
            <p:cNvPr id="21" name="Smiley Face 20"/>
            <p:cNvSpPr/>
            <p:nvPr/>
          </p:nvSpPr>
          <p:spPr>
            <a:xfrm>
              <a:off x="4630994" y="4345929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Smiley Face 21"/>
            <p:cNvSpPr/>
            <p:nvPr/>
          </p:nvSpPr>
          <p:spPr>
            <a:xfrm>
              <a:off x="3783292" y="3088855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Smiley Face 22"/>
            <p:cNvSpPr/>
            <p:nvPr/>
          </p:nvSpPr>
          <p:spPr>
            <a:xfrm>
              <a:off x="4185358" y="2873364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Smiley Face 23"/>
            <p:cNvSpPr/>
            <p:nvPr/>
          </p:nvSpPr>
          <p:spPr>
            <a:xfrm>
              <a:off x="6259271" y="2948358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Smiley Face 24"/>
            <p:cNvSpPr/>
            <p:nvPr/>
          </p:nvSpPr>
          <p:spPr>
            <a:xfrm>
              <a:off x="7465446" y="2986590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Smiley Face 25"/>
            <p:cNvSpPr/>
            <p:nvPr/>
          </p:nvSpPr>
          <p:spPr>
            <a:xfrm>
              <a:off x="3802963" y="3858632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123329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select a Random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GB" dirty="0"/>
              <a:t>Examples: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Names out of a hat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Assigning numbers to people and selecting every 5</a:t>
            </a:r>
            <a:r>
              <a:rPr lang="en-GB" baseline="30000" dirty="0"/>
              <a:t>th</a:t>
            </a:r>
            <a:r>
              <a:rPr lang="en-GB" dirty="0"/>
              <a:t> number for example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Using a random name generator on the computer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Drawing straws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Rolling a dice and select everyone who rolls a 6</a:t>
            </a:r>
          </a:p>
          <a:p>
            <a:pPr marL="0" indent="0"/>
            <a:endParaRPr lang="en-GB" dirty="0"/>
          </a:p>
          <a:p>
            <a:pPr marL="0" indent="0"/>
            <a:r>
              <a:rPr lang="en-GB" dirty="0"/>
              <a:t>There are many other examples you could use, but the idea is that you do not know who you are picking until those people are selected.</a:t>
            </a:r>
          </a:p>
        </p:txBody>
      </p:sp>
    </p:spTree>
    <p:extLst>
      <p:ext uri="{BB962C8B-B14F-4D97-AF65-F5344CB8AC3E}">
        <p14:creationId xmlns:p14="http://schemas.microsoft.com/office/powerpoint/2010/main" val="2214475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076" y="2133600"/>
            <a:ext cx="10421536" cy="3777622"/>
          </a:xfrm>
        </p:spPr>
        <p:txBody>
          <a:bodyPr/>
          <a:lstStyle/>
          <a:p>
            <a:r>
              <a:rPr lang="en-GB" sz="2000" b="1" dirty="0">
                <a:solidFill>
                  <a:srgbClr val="FF0000"/>
                </a:solidFill>
              </a:rPr>
              <a:t>Categorical Data</a:t>
            </a:r>
            <a:r>
              <a:rPr lang="en-GB" sz="2000" b="1" dirty="0"/>
              <a:t> – 	</a:t>
            </a:r>
            <a:r>
              <a:rPr lang="en-GB" sz="2000" b="1" dirty="0">
                <a:solidFill>
                  <a:srgbClr val="00B0F0"/>
                </a:solidFill>
              </a:rPr>
              <a:t>This means data which can be placed into categories (can be </a:t>
            </a:r>
            <a:r>
              <a:rPr lang="en-GB" sz="2000" b="1" u="sng" dirty="0">
                <a:solidFill>
                  <a:srgbClr val="00B0F0"/>
                </a:solidFill>
              </a:rPr>
              <a:t>described using words</a:t>
            </a:r>
            <a:r>
              <a:rPr lang="en-GB" sz="2000" b="1" dirty="0">
                <a:solidFill>
                  <a:srgbClr val="00B0F0"/>
                </a:solidFill>
              </a:rPr>
              <a:t>).</a:t>
            </a:r>
          </a:p>
          <a:p>
            <a:endParaRPr lang="en-GB" sz="2000" b="1" dirty="0">
              <a:solidFill>
                <a:srgbClr val="FF0000"/>
              </a:solidFill>
            </a:endParaRPr>
          </a:p>
          <a:p>
            <a:r>
              <a:rPr lang="en-GB" sz="2000" b="1" dirty="0">
                <a:solidFill>
                  <a:srgbClr val="FF0000"/>
                </a:solidFill>
              </a:rPr>
              <a:t>Examples </a:t>
            </a:r>
            <a:r>
              <a:rPr lang="en-GB" sz="2000" b="1" dirty="0"/>
              <a:t>-	</a:t>
            </a:r>
            <a:r>
              <a:rPr lang="en-GB" sz="2000" b="1" dirty="0">
                <a:solidFill>
                  <a:srgbClr val="00B0F0"/>
                </a:solidFill>
              </a:rPr>
              <a:t>Eye colour, favourite food, brand of cereal you eat, places you go to shop, which football team you support, where you were born.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535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076" y="2133600"/>
            <a:ext cx="10421536" cy="3777622"/>
          </a:xfrm>
        </p:spPr>
        <p:txBody>
          <a:bodyPr/>
          <a:lstStyle/>
          <a:p>
            <a:r>
              <a:rPr lang="en-GB" sz="2000" b="1" dirty="0">
                <a:solidFill>
                  <a:srgbClr val="FF0000"/>
                </a:solidFill>
              </a:rPr>
              <a:t>Categorical Data</a:t>
            </a:r>
            <a:r>
              <a:rPr lang="en-GB" sz="2000" b="1" dirty="0"/>
              <a:t> – 	</a:t>
            </a:r>
          </a:p>
          <a:p>
            <a:endParaRPr lang="en-GB" sz="2000" b="1" dirty="0">
              <a:solidFill>
                <a:srgbClr val="FF0000"/>
              </a:solidFill>
            </a:endParaRPr>
          </a:p>
          <a:p>
            <a:endParaRPr lang="en-GB" sz="2000" b="1" dirty="0">
              <a:solidFill>
                <a:srgbClr val="FF0000"/>
              </a:solidFill>
            </a:endParaRPr>
          </a:p>
          <a:p>
            <a:endParaRPr lang="en-GB" sz="2000" b="1" dirty="0">
              <a:solidFill>
                <a:srgbClr val="FF0000"/>
              </a:solidFill>
            </a:endParaRPr>
          </a:p>
          <a:p>
            <a:r>
              <a:rPr lang="en-GB" sz="2000" b="1" dirty="0">
                <a:solidFill>
                  <a:srgbClr val="FF0000"/>
                </a:solidFill>
              </a:rPr>
              <a:t>Examples </a:t>
            </a:r>
            <a:r>
              <a:rPr lang="en-GB" sz="2000" b="1" dirty="0"/>
              <a:t>-	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01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Organisation of 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6960" y="1100629"/>
            <a:ext cx="7565464" cy="3579849"/>
          </a:xfrm>
        </p:spPr>
        <p:txBody>
          <a:bodyPr/>
          <a:lstStyle/>
          <a:p>
            <a:r>
              <a:rPr lang="en-GB" dirty="0"/>
              <a:t>We can organise categorical data into the following ways: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A dot plot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A tally and frequency table  (the frequency is the number of items in that category).</a:t>
            </a:r>
          </a:p>
          <a:p>
            <a:pPr marL="0" indent="0"/>
            <a:r>
              <a:rPr lang="en-GB" dirty="0"/>
              <a:t>Example: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012976"/>
              </p:ext>
            </p:extLst>
          </p:nvPr>
        </p:nvGraphicFramePr>
        <p:xfrm>
          <a:off x="1064811" y="4410677"/>
          <a:ext cx="429730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3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770">
                <a:tc>
                  <a:txBody>
                    <a:bodyPr/>
                    <a:lstStyle/>
                    <a:p>
                      <a:r>
                        <a:rPr lang="en-GB" dirty="0"/>
                        <a:t>Favourite</a:t>
                      </a:r>
                      <a:r>
                        <a:rPr lang="en-GB" baseline="0" dirty="0"/>
                        <a:t> Shop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r>
                        <a:rPr lang="en-GB" dirty="0"/>
                        <a:t>Top 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IIII</a:t>
                      </a:r>
                      <a:r>
                        <a:rPr lang="en-GB" baseline="0" dirty="0"/>
                        <a:t> II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r>
                        <a:rPr lang="en-GB" dirty="0"/>
                        <a:t>New Look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797">
                <a:tc>
                  <a:txBody>
                    <a:bodyPr/>
                    <a:lstStyle/>
                    <a:p>
                      <a:r>
                        <a:rPr lang="en-GB" dirty="0"/>
                        <a:t>Primark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 flipV="1">
            <a:off x="2796458" y="5215048"/>
            <a:ext cx="216024" cy="720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6960096" y="2492896"/>
            <a:ext cx="0" cy="20133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960096" y="4517504"/>
            <a:ext cx="352000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41422" y="263691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Top Shop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3680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New Look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9704" y="3933056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Primark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8485" y="457159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Frequency</a:t>
            </a:r>
          </a:p>
        </p:txBody>
      </p:sp>
      <p:sp>
        <p:nvSpPr>
          <p:cNvPr id="20" name="Oval 19"/>
          <p:cNvSpPr/>
          <p:nvPr/>
        </p:nvSpPr>
        <p:spPr>
          <a:xfrm>
            <a:off x="7071421" y="2713566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7070982" y="336163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7071421" y="4009710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7439845" y="2713566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7440488" y="336163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7441131" y="4009710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7824192" y="2713566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7824192" y="336163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/>
          <p:cNvSpPr/>
          <p:nvPr/>
        </p:nvSpPr>
        <p:spPr>
          <a:xfrm>
            <a:off x="7826356" y="4009710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8225612" y="2713566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8227776" y="4009710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8612088" y="2713566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9036176" y="2717299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9480376" y="2713344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867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Graphing 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can display categorical data using: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Bar charts 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Pie charts</a:t>
            </a:r>
          </a:p>
          <a:p>
            <a:pPr marL="0" indent="0"/>
            <a:r>
              <a:rPr lang="en-GB" dirty="0"/>
              <a:t>Example:</a:t>
            </a:r>
          </a:p>
          <a:p>
            <a:pPr marL="0" indent="0"/>
            <a:endParaRPr lang="en-GB" dirty="0"/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2126796010"/>
              </p:ext>
            </p:extLst>
          </p:nvPr>
        </p:nvGraphicFramePr>
        <p:xfrm>
          <a:off x="1983996" y="3745880"/>
          <a:ext cx="4392488" cy="3112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4182890387"/>
              </p:ext>
            </p:extLst>
          </p:nvPr>
        </p:nvGraphicFramePr>
        <p:xfrm>
          <a:off x="6304476" y="3745880"/>
          <a:ext cx="4330816" cy="3112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7" name="Straight Arrow Connector 6"/>
          <p:cNvCxnSpPr>
            <a:stCxn id="8" idx="2"/>
          </p:cNvCxnSpPr>
          <p:nvPr/>
        </p:nvCxnSpPr>
        <p:spPr>
          <a:xfrm flipH="1">
            <a:off x="4610056" y="3048000"/>
            <a:ext cx="2733976" cy="8234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79936" y="267866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Titles needed!</a:t>
            </a:r>
          </a:p>
        </p:txBody>
      </p:sp>
      <p:cxnSp>
        <p:nvCxnSpPr>
          <p:cNvPr id="9" name="Straight Arrow Connector 8"/>
          <p:cNvCxnSpPr>
            <a:stCxn id="8" idx="2"/>
          </p:cNvCxnSpPr>
          <p:nvPr/>
        </p:nvCxnSpPr>
        <p:spPr>
          <a:xfrm>
            <a:off x="7344032" y="3048000"/>
            <a:ext cx="1317928" cy="8234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461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Numerical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464" y="2133600"/>
            <a:ext cx="10377148" cy="3777622"/>
          </a:xfrm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Numerical Data</a:t>
            </a:r>
            <a:r>
              <a:rPr lang="en-GB" sz="2400" b="1" dirty="0"/>
              <a:t> – </a:t>
            </a:r>
            <a:r>
              <a:rPr lang="en-GB" sz="2400" b="1" dirty="0">
                <a:solidFill>
                  <a:srgbClr val="00B0F0"/>
                </a:solidFill>
              </a:rPr>
              <a:t>This means data which is in </a:t>
            </a:r>
            <a:r>
              <a:rPr lang="en-GB" sz="2400" b="1" u="sng" dirty="0">
                <a:solidFill>
                  <a:srgbClr val="00B0F0"/>
                </a:solidFill>
              </a:rPr>
              <a:t>number form </a:t>
            </a:r>
            <a:r>
              <a:rPr lang="en-GB" sz="2400" b="1" dirty="0">
                <a:solidFill>
                  <a:srgbClr val="00B0F0"/>
                </a:solidFill>
              </a:rPr>
              <a:t>(can be quantified).</a:t>
            </a:r>
          </a:p>
          <a:p>
            <a:endParaRPr lang="en-GB" sz="2400" b="1" dirty="0"/>
          </a:p>
          <a:p>
            <a:r>
              <a:rPr lang="en-GB" sz="2400" b="1" dirty="0">
                <a:solidFill>
                  <a:srgbClr val="FF0000"/>
                </a:solidFill>
              </a:rPr>
              <a:t>Examples </a:t>
            </a:r>
            <a:r>
              <a:rPr lang="en-GB" sz="2400" b="1" dirty="0"/>
              <a:t>-	</a:t>
            </a:r>
            <a:r>
              <a:rPr lang="en-GB" sz="2400" b="1" dirty="0">
                <a:solidFill>
                  <a:srgbClr val="00B0F0"/>
                </a:solidFill>
              </a:rPr>
              <a:t>Shoe size, height, number of siblings, annual income, number of pens in your pencil case.</a:t>
            </a:r>
          </a:p>
        </p:txBody>
      </p:sp>
    </p:spTree>
    <p:extLst>
      <p:ext uri="{BB962C8B-B14F-4D97-AF65-F5344CB8AC3E}">
        <p14:creationId xmlns:p14="http://schemas.microsoft.com/office/powerpoint/2010/main" val="98439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Numerical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464" y="2133600"/>
            <a:ext cx="10377148" cy="3777622"/>
          </a:xfrm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Numerical Data</a:t>
            </a:r>
            <a:r>
              <a:rPr lang="en-GB" sz="2400" b="1" dirty="0"/>
              <a:t> – 	</a:t>
            </a:r>
          </a:p>
          <a:p>
            <a:endParaRPr lang="en-GB" sz="2400" b="1" dirty="0"/>
          </a:p>
          <a:p>
            <a:endParaRPr lang="en-GB" sz="2400" b="1" dirty="0"/>
          </a:p>
          <a:p>
            <a:pPr marL="0" indent="0">
              <a:buNone/>
            </a:pPr>
            <a:endParaRPr lang="en-GB" sz="2400" b="1" dirty="0"/>
          </a:p>
          <a:p>
            <a:r>
              <a:rPr lang="en-GB" sz="2400" b="1" dirty="0">
                <a:solidFill>
                  <a:srgbClr val="FF0000"/>
                </a:solidFill>
              </a:rPr>
              <a:t>Examples </a:t>
            </a:r>
            <a:r>
              <a:rPr lang="en-GB" sz="2400" b="1" dirty="0"/>
              <a:t>-	</a:t>
            </a:r>
            <a:endParaRPr lang="en-GB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833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Organising Numerical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can organise numerical data in the following ways: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Stem-and-leaf plot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Tally and frequency table</a:t>
            </a:r>
          </a:p>
          <a:p>
            <a:pPr marL="0" indent="0"/>
            <a:r>
              <a:rPr lang="en-GB" dirty="0"/>
              <a:t>Example: The following data represents marks out of 50 on a test:</a:t>
            </a:r>
          </a:p>
          <a:p>
            <a:pPr marL="0" indent="0"/>
            <a:r>
              <a:rPr lang="en-GB" dirty="0"/>
              <a:t>32, 48, 19, 23, 29, 10, 41, 45, 37, 33, 31, 32, 20</a:t>
            </a:r>
          </a:p>
          <a:p>
            <a:pPr marL="0" indent="0"/>
            <a:r>
              <a:rPr lang="en-GB" dirty="0"/>
              <a:t>Unordered Stem Plot:					Ordered Stem Plot:</a:t>
            </a:r>
          </a:p>
          <a:p>
            <a:pPr marL="0" indent="0"/>
            <a:r>
              <a:rPr lang="en-GB" dirty="0"/>
              <a:t>1  9, 0						1  0, 9</a:t>
            </a:r>
          </a:p>
          <a:p>
            <a:pPr marL="0" indent="0"/>
            <a:r>
              <a:rPr lang="en-GB" dirty="0"/>
              <a:t>2  3, 9, 0						2  0, 3, 9</a:t>
            </a:r>
          </a:p>
          <a:p>
            <a:pPr marL="0" indent="0"/>
            <a:r>
              <a:rPr lang="en-GB" dirty="0"/>
              <a:t>3  2, 7, 3, 1, 2					3  1, 2, 2, 3, 7</a:t>
            </a:r>
          </a:p>
          <a:p>
            <a:pPr marL="0" indent="0"/>
            <a:r>
              <a:rPr lang="en-GB" dirty="0"/>
              <a:t>4  8, 1, 5						4  1, 5, 8  </a:t>
            </a:r>
          </a:p>
          <a:p>
            <a:pPr marL="0" indent="0"/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361231" y="3096302"/>
            <a:ext cx="0" cy="158417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842717" y="3148755"/>
            <a:ext cx="0" cy="158417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04922" y="3888390"/>
            <a:ext cx="1944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>
                <a:solidFill>
                  <a:srgbClr val="000000"/>
                </a:solidFill>
                <a:latin typeface="Franklin Gothic Book"/>
              </a:rPr>
              <a:t>Key:</a:t>
            </a:r>
          </a:p>
          <a:p>
            <a:r>
              <a:rPr lang="en-GB" dirty="0">
                <a:solidFill>
                  <a:srgbClr val="000000"/>
                </a:solidFill>
                <a:latin typeface="Franklin Gothic Book"/>
              </a:rPr>
              <a:t>1 9 means 1 tens, 9 units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748426" y="4188472"/>
            <a:ext cx="0" cy="32316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57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Graphing Numerical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can display numerical data using: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Column graphs</a:t>
            </a:r>
          </a:p>
          <a:p>
            <a:pPr marL="0" indent="0"/>
            <a:r>
              <a:rPr lang="en-GB" dirty="0"/>
              <a:t>Example: The number of siblings students have is as follows:</a:t>
            </a:r>
          </a:p>
          <a:p>
            <a:pPr>
              <a:buFont typeface="Arial" pitchFamily="34" charset="0"/>
              <a:buChar char="•"/>
            </a:pP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697033"/>
              </p:ext>
            </p:extLst>
          </p:nvPr>
        </p:nvGraphicFramePr>
        <p:xfrm>
          <a:off x="2342706" y="4221081"/>
          <a:ext cx="2759968" cy="221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9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r>
                        <a:rPr lang="en-GB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512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 or 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1566562842"/>
              </p:ext>
            </p:extLst>
          </p:nvPr>
        </p:nvGraphicFramePr>
        <p:xfrm>
          <a:off x="6229163" y="3627649"/>
          <a:ext cx="4464496" cy="2808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48958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Mean or Average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Mean/Average</a:t>
            </a:r>
            <a:r>
              <a:rPr lang="en-GB" dirty="0"/>
              <a:t> - 	</a:t>
            </a:r>
            <a:r>
              <a:rPr lang="en-GB" sz="2000" b="1" dirty="0">
                <a:solidFill>
                  <a:srgbClr val="00B0F0"/>
                </a:solidFill>
              </a:rPr>
              <a:t>This means the sum of the scores divided by the number of scores.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Median – </a:t>
            </a:r>
            <a:r>
              <a:rPr lang="en-GB" sz="2000" b="1" dirty="0">
                <a:solidFill>
                  <a:srgbClr val="00B0F0"/>
                </a:solidFill>
              </a:rPr>
              <a:t>Order the scores, circle the middle number OR the mean of the 2 middle numbers (if there is an even number of scores) 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Mode – </a:t>
            </a:r>
            <a:r>
              <a:rPr lang="en-GB" sz="2000" b="1" dirty="0">
                <a:solidFill>
                  <a:srgbClr val="00B0F0"/>
                </a:solidFill>
              </a:rPr>
              <a:t>the most occurring in the data set (can have 2 modes) </a:t>
            </a:r>
            <a:endParaRPr lang="en-GB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25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Mean or Average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Mean/Average</a:t>
            </a:r>
            <a:r>
              <a:rPr lang="en-GB" dirty="0"/>
              <a:t> –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Median – </a:t>
            </a:r>
          </a:p>
          <a:p>
            <a:pPr marL="0" indent="0">
              <a:buNone/>
            </a:pPr>
            <a:endParaRPr lang="en-GB" sz="2000" b="1" dirty="0">
              <a:solidFill>
                <a:srgbClr val="00B0F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Mode – </a:t>
            </a:r>
            <a:endParaRPr lang="en-GB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347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A683C-FFEE-B5D2-5D26-0E4843E04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B7C21-4CA9-312E-072E-2D18687E8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mean, mode and median from this set of class test scores. 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AU" dirty="0"/>
              <a:t>32, 45, 56, 21, 30, 56, 17, 74, 81, 15, 94, 20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First we need to </a:t>
            </a:r>
            <a:r>
              <a:rPr lang="en-AU" sz="2000" b="1" dirty="0">
                <a:solidFill>
                  <a:srgbClr val="00B0F0"/>
                </a:solidFill>
              </a:rPr>
              <a:t>order the data set</a:t>
            </a:r>
          </a:p>
          <a:p>
            <a:pPr marL="0" indent="0">
              <a:buNone/>
            </a:pPr>
            <a:endParaRPr lang="en-AU" sz="20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tx1"/>
                </a:solidFill>
              </a:rPr>
              <a:t>Median = </a:t>
            </a:r>
          </a:p>
          <a:p>
            <a:pPr marL="0" indent="0">
              <a:buNone/>
            </a:pPr>
            <a:r>
              <a:rPr lang="en-AU" sz="2000" b="1" dirty="0">
                <a:solidFill>
                  <a:schemeClr val="tx1"/>
                </a:solidFill>
              </a:rPr>
              <a:t>Mode = </a:t>
            </a:r>
          </a:p>
          <a:p>
            <a:pPr marL="0" indent="0">
              <a:buNone/>
            </a:pPr>
            <a:r>
              <a:rPr lang="en-AU" sz="2000" b="1" dirty="0">
                <a:solidFill>
                  <a:schemeClr val="tx1"/>
                </a:solidFill>
              </a:rPr>
              <a:t>Mean =   </a:t>
            </a:r>
            <a:endParaRPr lang="en-A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49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A683C-FFEE-B5D2-5D26-0E4843E04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B7C21-4CA9-312E-072E-2D18687E8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mean, mode and median from this set of class test scores. 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AU" dirty="0"/>
              <a:t>32, 45, 56, 21, 30, 56, 17, 74, 81, 15, 94, 20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First we need to</a:t>
            </a:r>
          </a:p>
          <a:p>
            <a:pPr marL="0" indent="0">
              <a:buNone/>
            </a:pPr>
            <a:endParaRPr lang="en-AU" sz="20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tx1"/>
                </a:solidFill>
              </a:rPr>
              <a:t>Median = </a:t>
            </a:r>
          </a:p>
          <a:p>
            <a:pPr marL="0" indent="0">
              <a:buNone/>
            </a:pPr>
            <a:r>
              <a:rPr lang="en-AU" sz="2000" b="1" dirty="0">
                <a:solidFill>
                  <a:schemeClr val="tx1"/>
                </a:solidFill>
              </a:rPr>
              <a:t>Mode = </a:t>
            </a:r>
          </a:p>
          <a:p>
            <a:pPr marL="0" indent="0">
              <a:buNone/>
            </a:pPr>
            <a:r>
              <a:rPr lang="en-AU" sz="2000" b="1" dirty="0">
                <a:solidFill>
                  <a:schemeClr val="tx1"/>
                </a:solidFill>
              </a:rPr>
              <a:t>Mean =   </a:t>
            </a:r>
            <a:endParaRPr lang="en-A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074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45C5-6376-95C9-69C2-7D96E3DF9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178" y="233492"/>
            <a:ext cx="8911687" cy="1280890"/>
          </a:xfrm>
        </p:spPr>
        <p:txBody>
          <a:bodyPr/>
          <a:lstStyle/>
          <a:p>
            <a:pPr algn="ctr"/>
            <a:r>
              <a:rPr lang="en-US" dirty="0"/>
              <a:t>You try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0F5E8-FF9C-5AC5-BAE1-E8C365CBB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7650" y="2364420"/>
            <a:ext cx="4313864" cy="377762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the mean.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887E3F-FBCA-959E-A33D-E2DE506AC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39068" y="2364420"/>
            <a:ext cx="4313864" cy="377762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the mode </a:t>
            </a:r>
            <a:endParaRPr lang="en-AU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CC0D9F5-F334-CAFB-380D-1C11F27FD107}"/>
              </a:ext>
            </a:extLst>
          </p:cNvPr>
          <p:cNvSpPr txBox="1">
            <a:spLocks/>
          </p:cNvSpPr>
          <p:nvPr/>
        </p:nvSpPr>
        <p:spPr>
          <a:xfrm>
            <a:off x="7695802" y="2364420"/>
            <a:ext cx="4313864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dirty="0"/>
              <a:t>Calculate the median 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B8520-4749-4386-233B-6874A51C76BB}"/>
              </a:ext>
            </a:extLst>
          </p:cNvPr>
          <p:cNvSpPr txBox="1"/>
          <p:nvPr/>
        </p:nvSpPr>
        <p:spPr>
          <a:xfrm>
            <a:off x="1903630" y="1207338"/>
            <a:ext cx="82523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21, 24, 76, 32, 24, 10, 52, 45, 67, 98, 45 </a:t>
            </a:r>
          </a:p>
          <a:p>
            <a:r>
              <a:rPr lang="en-US" sz="2400" dirty="0"/>
              <a:t>In order: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24163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E9F4F-0A32-6AFD-C1F5-40A1FF542B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Mean, mode and median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28781-EF81-D986-720C-615317D7C5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b="1" dirty="0"/>
              <a:t>Exercise 8D </a:t>
            </a:r>
          </a:p>
          <a:p>
            <a:r>
              <a:rPr lang="en-US" sz="2000" b="1" dirty="0"/>
              <a:t>Page 358 </a:t>
            </a:r>
          </a:p>
          <a:p>
            <a:r>
              <a:rPr lang="en-US" sz="2000" b="1" dirty="0"/>
              <a:t>Questions 8 – 13 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331078984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811</Words>
  <Application>Microsoft Office PowerPoint</Application>
  <PresentationFormat>Widescreen</PresentationFormat>
  <Paragraphs>165</Paragraphs>
  <Slides>18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Century Gothic</vt:lpstr>
      <vt:lpstr>Franklin Gothic Book</vt:lpstr>
      <vt:lpstr>Franklin Gothic Medium</vt:lpstr>
      <vt:lpstr>Wingdings</vt:lpstr>
      <vt:lpstr>Wingdings 3</vt:lpstr>
      <vt:lpstr>Wisp</vt:lpstr>
      <vt:lpstr>Angles</vt:lpstr>
      <vt:lpstr>Lesson objective </vt:lpstr>
      <vt:lpstr>Survey or Census?</vt:lpstr>
      <vt:lpstr>Survey or Census?</vt:lpstr>
      <vt:lpstr>How to select a Random Sample</vt:lpstr>
      <vt:lpstr>Categorical Data</vt:lpstr>
      <vt:lpstr>Categorical Data</vt:lpstr>
      <vt:lpstr>Organisation of Categorical Data</vt:lpstr>
      <vt:lpstr>Graphing Categorical Data</vt:lpstr>
      <vt:lpstr>Numerical Data</vt:lpstr>
      <vt:lpstr>Numerical Data</vt:lpstr>
      <vt:lpstr>Organising Numerical Data</vt:lpstr>
      <vt:lpstr>Graphing Numerical Data</vt:lpstr>
      <vt:lpstr>Mean or Average</vt:lpstr>
      <vt:lpstr>Mean or Average</vt:lpstr>
      <vt:lpstr>Example </vt:lpstr>
      <vt:lpstr>Example </vt:lpstr>
      <vt:lpstr>You try </vt:lpstr>
      <vt:lpstr>Mean, mode and median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4</cp:revision>
  <cp:lastPrinted>2022-10-31T23:56:43Z</cp:lastPrinted>
  <dcterms:created xsi:type="dcterms:W3CDTF">2022-10-31T02:34:34Z</dcterms:created>
  <dcterms:modified xsi:type="dcterms:W3CDTF">2022-10-31T23:56:43Z</dcterms:modified>
</cp:coreProperties>
</file>
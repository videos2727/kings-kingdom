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59" r:id="rId3"/>
    <p:sldId id="279" r:id="rId4"/>
    <p:sldId id="283" r:id="rId5"/>
    <p:sldId id="280" r:id="rId6"/>
    <p:sldId id="281" r:id="rId7"/>
    <p:sldId id="282" r:id="rId8"/>
    <p:sldId id="273" r:id="rId9"/>
    <p:sldId id="260" r:id="rId10"/>
    <p:sldId id="269" r:id="rId11"/>
    <p:sldId id="271" r:id="rId12"/>
    <p:sldId id="261" r:id="rId13"/>
    <p:sldId id="262" r:id="rId14"/>
    <p:sldId id="263" r:id="rId15"/>
    <p:sldId id="270" r:id="rId16"/>
    <p:sldId id="265" r:id="rId17"/>
    <p:sldId id="272" r:id="rId18"/>
    <p:sldId id="266" r:id="rId19"/>
    <p:sldId id="274" r:id="rId20"/>
    <p:sldId id="268" r:id="rId21"/>
    <p:sldId id="275" r:id="rId22"/>
    <p:sldId id="267" r:id="rId23"/>
    <p:sldId id="258" r:id="rId24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E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0" autoAdjust="0"/>
    <p:restoredTop sz="94660"/>
  </p:normalViewPr>
  <p:slideViewPr>
    <p:cSldViewPr>
      <p:cViewPr varScale="1">
        <p:scale>
          <a:sx n="81" d="100"/>
          <a:sy n="81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AB0D2E-A517-4AC4-96DE-3105AA030104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99C6F-262A-46E2-A6F0-2866892AF66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3753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B78C9D-31C2-418C-91D7-97357483D33F}" type="slidenum">
              <a:rPr lang="en-US" smtClean="0">
                <a:cs typeface="Arial" charset="0"/>
              </a:rPr>
              <a:pPr/>
              <a:t>1</a:t>
            </a:fld>
            <a:endParaRPr lang="en-US" dirty="0">
              <a:cs typeface="Arial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2882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Re-cap Epsilon as the notation</a:t>
            </a:r>
            <a:r>
              <a:rPr lang="en-GB" baseline="0" dirty="0"/>
              <a:t> for sum of.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99C6F-262A-46E2-A6F0-2866892AF66A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767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Re-cap Epsilon as the notation</a:t>
            </a:r>
            <a:r>
              <a:rPr lang="en-GB" baseline="0" dirty="0"/>
              <a:t> for sum of.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99C6F-262A-46E2-A6F0-2866892AF66A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1159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Plenary. 3 mistakes. </a:t>
            </a:r>
          </a:p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baseline="0" dirty="0"/>
              <a:t> – 27.0899471 has been rounded up, not down.</a:t>
            </a:r>
          </a:p>
          <a:p>
            <a:r>
              <a:rPr lang="en-GB" baseline="0" dirty="0"/>
              <a:t>2</a:t>
            </a:r>
            <a:r>
              <a:rPr lang="en-GB" baseline="30000" dirty="0"/>
              <a:t>nd</a:t>
            </a:r>
            <a:r>
              <a:rPr lang="en-GB" baseline="0" dirty="0"/>
              <a:t> – Year 8 girls (98) has been selected instead of Year 8 boys (92)</a:t>
            </a:r>
          </a:p>
          <a:p>
            <a:r>
              <a:rPr lang="en-GB" baseline="0" dirty="0"/>
              <a:t>3</a:t>
            </a:r>
            <a:r>
              <a:rPr lang="en-GB" baseline="30000" dirty="0"/>
              <a:t>rd</a:t>
            </a:r>
            <a:r>
              <a:rPr lang="en-GB" baseline="0" dirty="0"/>
              <a:t> – final answer should be a whole number. 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99C6F-262A-46E2-A6F0-2866892AF66A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05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CDBA4D8-8FEA-4169-BB78-2C529799F2AA}" type="slidenum">
              <a:rPr lang="en-GB" altLang="en-US"/>
              <a:pPr eaLnBrk="1" hangingPunct="1"/>
              <a:t>22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4484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BB51-4380-4E69-AFF7-3B0E0F118A86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ABB7-1E28-4BB4-8A3B-38AB24B9586B}" type="datetimeFigureOut">
              <a:rPr lang="en-GB" smtClean="0"/>
              <a:t>08/11/2022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8285E-4E33-4338-ABB7-696444D2E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950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ABB7-1E28-4BB4-8A3B-38AB24B9586B}" type="datetimeFigureOut">
              <a:rPr lang="en-GB" smtClean="0"/>
              <a:t>08/11/2022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8285E-4E33-4338-ABB7-696444D2E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593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ABB7-1E28-4BB4-8A3B-38AB24B9586B}" type="datetimeFigureOut">
              <a:rPr lang="en-GB" smtClean="0"/>
              <a:t>08/11/2022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8285E-4E33-4338-ABB7-696444D2E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42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ABB7-1E28-4BB4-8A3B-38AB24B9586B}" type="datetimeFigureOut">
              <a:rPr lang="en-GB" smtClean="0"/>
              <a:t>08/11/2022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8285E-4E33-4338-ABB7-696444D2E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423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ABB7-1E28-4BB4-8A3B-38AB24B9586B}" type="datetimeFigureOut">
              <a:rPr lang="en-GB" smtClean="0"/>
              <a:t>08/11/2022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8285E-4E33-4338-ABB7-696444D2E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951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ABB7-1E28-4BB4-8A3B-38AB24B9586B}" type="datetimeFigureOut">
              <a:rPr lang="en-GB" smtClean="0"/>
              <a:t>08/11/2022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8285E-4E33-4338-ABB7-696444D2E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5657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ABB7-1E28-4BB4-8A3B-38AB24B9586B}" type="datetimeFigureOut">
              <a:rPr lang="en-GB" smtClean="0"/>
              <a:t>08/11/2022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8285E-4E33-4338-ABB7-696444D2E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19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ABB7-1E28-4BB4-8A3B-38AB24B9586B}" type="datetimeFigureOut">
              <a:rPr lang="en-GB" smtClean="0"/>
              <a:t>08/11/2022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8285E-4E33-4338-ABB7-696444D2E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5707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ABB7-1E28-4BB4-8A3B-38AB24B9586B}" type="datetimeFigureOut">
              <a:rPr lang="en-GB" smtClean="0"/>
              <a:t>08/11/2022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8285E-4E33-4338-ABB7-696444D2E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2023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ABB7-1E28-4BB4-8A3B-38AB24B9586B}" type="datetimeFigureOut">
              <a:rPr lang="en-GB" smtClean="0"/>
              <a:t>08/11/2022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8285E-4E33-4338-ABB7-696444D2E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8321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ABB7-1E28-4BB4-8A3B-38AB24B9586B}" type="datetimeFigureOut">
              <a:rPr lang="en-GB" smtClean="0"/>
              <a:t>08/11/2022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8285E-4E33-4338-ABB7-696444D2E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41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BB51-4380-4E69-AFF7-3B0E0F118A86}" type="datetimeFigureOut">
              <a:rPr lang="en-GB" smtClean="0"/>
              <a:pPr/>
              <a:t>07/11/2022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555AE-3EE3-4166-849A-02558831F4B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FABB7-1E28-4BB4-8A3B-38AB24B9586B}" type="datetimeFigureOut">
              <a:rPr lang="en-GB" smtClean="0"/>
              <a:t>08/11/2022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8285E-4E33-4338-ABB7-696444D2E2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372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Rectangle 9"/>
          <p:cNvSpPr>
            <a:spLocks noChangeArrowheads="1"/>
          </p:cNvSpPr>
          <p:nvPr/>
        </p:nvSpPr>
        <p:spPr bwMode="auto">
          <a:xfrm>
            <a:off x="1979712" y="175739"/>
            <a:ext cx="5508104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3200" b="1" u="sng" dirty="0">
                <a:latin typeface="Comic Sans MS" pitchFamily="66" charset="0"/>
              </a:rPr>
              <a:t>Title: </a:t>
            </a:r>
            <a:r>
              <a:rPr lang="en-US" sz="3200" b="1" u="sng" dirty="0">
                <a:solidFill>
                  <a:srgbClr val="00B0F0"/>
                </a:solidFill>
                <a:latin typeface="Comic Sans MS" pitchFamily="66" charset="0"/>
              </a:rPr>
              <a:t>Stratified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3571" y="977399"/>
            <a:ext cx="8892359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rgbClr val="00B0F0"/>
                </a:solidFill>
              </a:rPr>
              <a:t>Aim – be able to</a:t>
            </a:r>
            <a:r>
              <a:rPr lang="en-GB" sz="3200" b="1" dirty="0">
                <a:solidFill>
                  <a:srgbClr val="00B0F0"/>
                </a:solidFill>
              </a:rPr>
              <a:t>: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GB" sz="3200" dirty="0">
                <a:solidFill>
                  <a:srgbClr val="00B0F0"/>
                </a:solidFill>
              </a:rPr>
              <a:t>Apply a stratified sample. </a:t>
            </a:r>
          </a:p>
          <a:p>
            <a:endParaRPr lang="en-GB" sz="3200" dirty="0">
              <a:solidFill>
                <a:srgbClr val="00B0F0"/>
              </a:solidFill>
            </a:endParaRPr>
          </a:p>
          <a:p>
            <a:r>
              <a:rPr lang="en-GB" sz="3200" b="1" u="sng" dirty="0"/>
              <a:t>PBS Focus: </a:t>
            </a:r>
          </a:p>
          <a:p>
            <a:r>
              <a:rPr lang="en-GB" sz="2000" dirty="0"/>
              <a:t>This week's PBS focus is treating others and ourselves with kindness and respect, as a part of Pay it Forward.</a:t>
            </a:r>
          </a:p>
          <a:p>
            <a:endParaRPr lang="en-GB" sz="2800" dirty="0"/>
          </a:p>
          <a:p>
            <a:r>
              <a:rPr lang="en-GB" sz="3200" b="1" dirty="0">
                <a:solidFill>
                  <a:srgbClr val="00B0F0"/>
                </a:solidFill>
              </a:rPr>
              <a:t>Plan:</a:t>
            </a:r>
          </a:p>
          <a:p>
            <a:pPr marL="457200" indent="-457200">
              <a:buFontTx/>
              <a:buChar char="-"/>
            </a:pPr>
            <a:r>
              <a:rPr lang="en-GB" sz="3200" b="1" dirty="0">
                <a:solidFill>
                  <a:srgbClr val="00B0F0"/>
                </a:solidFill>
              </a:rPr>
              <a:t>Review median and mean</a:t>
            </a:r>
          </a:p>
          <a:p>
            <a:pPr marL="457200" indent="-457200">
              <a:buFontTx/>
              <a:buChar char="-"/>
            </a:pPr>
            <a:r>
              <a:rPr lang="en-GB" sz="3200" b="1" dirty="0">
                <a:solidFill>
                  <a:srgbClr val="00B0F0"/>
                </a:solidFill>
              </a:rPr>
              <a:t>Stratified samples </a:t>
            </a:r>
          </a:p>
          <a:p>
            <a:endParaRPr lang="en-GB" sz="2000" b="1" dirty="0"/>
          </a:p>
          <a:p>
            <a:pPr lvl="2"/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288874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Match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576" y="1772816"/>
            <a:ext cx="2592288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576" y="2877840"/>
            <a:ext cx="2592288" cy="936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55576" y="4005064"/>
            <a:ext cx="2592288" cy="9361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55576" y="5110088"/>
            <a:ext cx="2592288" cy="9361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508104" y="1772816"/>
            <a:ext cx="2592288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middle 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8104" y="2877840"/>
            <a:ext cx="2592288" cy="936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difference between the biggest and smallest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8104" y="4005064"/>
            <a:ext cx="2592288" cy="9361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them up and divide by how many you have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8104" y="5110088"/>
            <a:ext cx="2592288" cy="9361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most often</a:t>
            </a:r>
          </a:p>
        </p:txBody>
      </p:sp>
      <p:cxnSp>
        <p:nvCxnSpPr>
          <p:cNvPr id="13" name="Straight Connector 12"/>
          <p:cNvCxnSpPr>
            <a:stCxn id="4" idx="3"/>
            <a:endCxn id="10" idx="1"/>
          </p:cNvCxnSpPr>
          <p:nvPr/>
        </p:nvCxnSpPr>
        <p:spPr>
          <a:xfrm>
            <a:off x="3347864" y="2240868"/>
            <a:ext cx="2160240" cy="22322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5" idx="3"/>
            <a:endCxn id="8" idx="1"/>
          </p:cNvCxnSpPr>
          <p:nvPr/>
        </p:nvCxnSpPr>
        <p:spPr>
          <a:xfrm flipV="1">
            <a:off x="3347864" y="2240868"/>
            <a:ext cx="2160240" cy="1105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3"/>
            <a:endCxn id="11" idx="1"/>
          </p:cNvCxnSpPr>
          <p:nvPr/>
        </p:nvCxnSpPr>
        <p:spPr>
          <a:xfrm>
            <a:off x="3347864" y="4473116"/>
            <a:ext cx="2160240" cy="1105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7" idx="3"/>
            <a:endCxn id="9" idx="1"/>
          </p:cNvCxnSpPr>
          <p:nvPr/>
        </p:nvCxnSpPr>
        <p:spPr>
          <a:xfrm flipV="1">
            <a:off x="3347864" y="3345892"/>
            <a:ext cx="2160240" cy="22322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75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Match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55576" y="1772816"/>
            <a:ext cx="2592288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576" y="2877840"/>
            <a:ext cx="2592288" cy="936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55576" y="4005064"/>
            <a:ext cx="2592288" cy="9361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55576" y="5110088"/>
            <a:ext cx="2592288" cy="9361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508104" y="1772816"/>
            <a:ext cx="2592288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middle 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8104" y="2877840"/>
            <a:ext cx="2592288" cy="93610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difference between the biggest and smallest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8104" y="4005064"/>
            <a:ext cx="2592288" cy="9361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them up and divide by how many you have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8104" y="5110088"/>
            <a:ext cx="2592288" cy="9361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most often</a:t>
            </a:r>
          </a:p>
        </p:txBody>
      </p:sp>
    </p:spTree>
    <p:extLst>
      <p:ext uri="{BB962C8B-B14F-4D97-AF65-F5344CB8AC3E}">
        <p14:creationId xmlns:p14="http://schemas.microsoft.com/office/powerpoint/2010/main" val="248704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1625208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 x 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169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Calculate the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763688" y="5373216"/>
                <a:ext cx="3112199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𝑴𝒆𝒂𝒏</m:t>
                      </m:r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𝟏𝟔𝟗</m:t>
                          </m:r>
                        </m:num>
                        <m:den>
                          <m: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𝟏𝟒</m:t>
                          </m:r>
                        </m:den>
                      </m:f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𝟏𝟐</m:t>
                      </m:r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.</m:t>
                      </m:r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GB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373216"/>
                <a:ext cx="3112199" cy="78380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3418B8E-4F52-6AD7-1C8E-70E7618EC052}"/>
              </a:ext>
            </a:extLst>
          </p:cNvPr>
          <p:cNvSpPr/>
          <p:nvPr/>
        </p:nvSpPr>
        <p:spPr>
          <a:xfrm>
            <a:off x="5580112" y="1521423"/>
            <a:ext cx="2039888" cy="3174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14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625507"/>
              </p:ext>
            </p:extLst>
          </p:nvPr>
        </p:nvGraphicFramePr>
        <p:xfrm>
          <a:off x="959767" y="1180476"/>
          <a:ext cx="7224465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8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Cumulative 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354488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Calculate the median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331640" y="5733256"/>
                <a:ext cx="5975097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𝑴𝒆𝒅𝒊𝒂𝒏</m:t>
                      </m:r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𝟏𝟒</m:t>
                          </m:r>
                          <m: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𝟕</m:t>
                          </m:r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𝟓</m:t>
                          </m:r>
                        </m:e>
                        <m:sup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𝒕𝒉</m:t>
                          </m:r>
                        </m:sup>
                      </m:sSup>
                      <m:r>
                        <a:rPr kumimoji="0" lang="en-GB" sz="2400" b="1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𝒏𝒖𝒎𝒃𝒆𝒓</m:t>
                      </m:r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=…</m:t>
                      </m:r>
                    </m:oMath>
                  </m:oMathPara>
                </a14:m>
                <a:endParaRPr kumimoji="0" lang="en-GB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5733256"/>
                <a:ext cx="5975097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97360A-130C-DDFD-342C-85B106FDEEF7}"/>
                  </a:ext>
                </a:extLst>
              </p:cNvPr>
              <p:cNvSpPr txBox="1"/>
              <p:nvPr/>
            </p:nvSpPr>
            <p:spPr>
              <a:xfrm>
                <a:off x="1331640" y="4570789"/>
                <a:ext cx="2553904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𝑴𝒆𝒅𝒊𝒂𝒏</m:t>
                      </m:r>
                      <m:r>
                        <a:rPr kumimoji="0" lang="en-GB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𝒏</m:t>
                          </m:r>
                          <m: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GB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kumimoji="0" lang="en-GB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97360A-130C-DDFD-342C-85B106FDE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4570789"/>
                <a:ext cx="2553904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34251D84-EFFE-DBD6-8D5D-3EC7D6575DFB}"/>
              </a:ext>
            </a:extLst>
          </p:cNvPr>
          <p:cNvSpPr/>
          <p:nvPr/>
        </p:nvSpPr>
        <p:spPr>
          <a:xfrm>
            <a:off x="5796136" y="1089391"/>
            <a:ext cx="2592288" cy="3174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38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Mean and median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8" t="15517" r="30560" b="31142"/>
          <a:stretch/>
        </p:blipFill>
        <p:spPr bwMode="auto">
          <a:xfrm>
            <a:off x="100506" y="1666699"/>
            <a:ext cx="4464496" cy="3524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2" t="16137" r="34482" b="48345"/>
          <a:stretch/>
        </p:blipFill>
        <p:spPr bwMode="auto">
          <a:xfrm>
            <a:off x="4578999" y="2168812"/>
            <a:ext cx="4565000" cy="252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696293" y="5733256"/>
            <a:ext cx="3751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Answers to 1d.p.</a:t>
            </a:r>
          </a:p>
        </p:txBody>
      </p:sp>
    </p:spTree>
    <p:extLst>
      <p:ext uri="{BB962C8B-B14F-4D97-AF65-F5344CB8AC3E}">
        <p14:creationId xmlns:p14="http://schemas.microsoft.com/office/powerpoint/2010/main" val="1570438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Calculate the mean and median from these tables.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8" t="15517" r="30560" b="31142"/>
          <a:stretch/>
        </p:blipFill>
        <p:spPr bwMode="auto">
          <a:xfrm>
            <a:off x="35496" y="1666699"/>
            <a:ext cx="4464496" cy="3524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2" t="16137" r="34482" b="48345"/>
          <a:stretch/>
        </p:blipFill>
        <p:spPr bwMode="auto">
          <a:xfrm>
            <a:off x="4578999" y="2168812"/>
            <a:ext cx="4565000" cy="252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27584" y="5193636"/>
            <a:ext cx="2520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Mean = 25.1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Median =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64088" y="5211197"/>
            <a:ext cx="2520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Mean = 19.5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Median = 20</a:t>
            </a:r>
          </a:p>
        </p:txBody>
      </p:sp>
    </p:spTree>
    <p:extLst>
      <p:ext uri="{BB962C8B-B14F-4D97-AF65-F5344CB8AC3E}">
        <p14:creationId xmlns:p14="http://schemas.microsoft.com/office/powerpoint/2010/main" val="4154533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en-GB" dirty="0"/>
              <a:t>STRATFIED RANDOM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method of sampling that involves the division of a population into smaller groups known as strata.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In stratified random sampling, the strata are formed based on members' shared attributes or characteristics (e.g. Year Group, gender, etc.)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025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en-GB" dirty="0"/>
              <a:t>STRATFIED RANDOM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 random sample from each stratum is taken in a number proportional to the stratum's size when compared to the population.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These subsets of the strata are then pooled to form a random sample.</a:t>
            </a:r>
          </a:p>
          <a:p>
            <a:endParaRPr lang="en-GB" dirty="0"/>
          </a:p>
          <a:p>
            <a:r>
              <a:rPr lang="en-GB" dirty="0"/>
              <a:t>Let’s see an example to put all of this in context…………………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23186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GB" dirty="0">
                <a:solidFill>
                  <a:srgbClr val="00B0F0"/>
                </a:solidFill>
              </a:rPr>
              <a:t>Stratified sample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B" dirty="0">
                <a:solidFill>
                  <a:srgbClr val="00B0F0"/>
                </a:solidFill>
              </a:rPr>
              <a:t>Divide members by total population </a:t>
            </a:r>
          </a:p>
          <a:p>
            <a:pPr marL="514350" indent="-514350">
              <a:buAutoNum type="arabicPeriod"/>
            </a:pPr>
            <a:r>
              <a:rPr lang="en-GB" dirty="0">
                <a:solidFill>
                  <a:srgbClr val="00B0F0"/>
                </a:solidFill>
              </a:rPr>
              <a:t>Multiply to sample amount (total number </a:t>
            </a:r>
            <a:r>
              <a:rPr lang="en-GB">
                <a:solidFill>
                  <a:srgbClr val="00B0F0"/>
                </a:solidFill>
              </a:rPr>
              <a:t>in survey) </a:t>
            </a:r>
            <a:endParaRPr lang="en-GB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505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7975"/>
            <a:ext cx="8229600" cy="51593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Suppose we had a class of </a:t>
            </a:r>
            <a:r>
              <a:rPr lang="en-GB" dirty="0">
                <a:solidFill>
                  <a:srgbClr val="0070C0"/>
                </a:solidFill>
              </a:rPr>
              <a:t>30</a:t>
            </a:r>
            <a:r>
              <a:rPr lang="en-GB" dirty="0"/>
              <a:t> students, that consisted of </a:t>
            </a:r>
            <a:r>
              <a:rPr lang="en-GB" dirty="0">
                <a:solidFill>
                  <a:srgbClr val="FF0000"/>
                </a:solidFill>
              </a:rPr>
              <a:t>12 boys</a:t>
            </a:r>
            <a:r>
              <a:rPr lang="en-GB" dirty="0"/>
              <a:t> and </a:t>
            </a:r>
            <a:r>
              <a:rPr lang="en-GB" dirty="0">
                <a:solidFill>
                  <a:srgbClr val="00B050"/>
                </a:solidFill>
              </a:rPr>
              <a:t>18 girls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want to survey 10 people from the class using a stratified random sample.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These 10 students need to accurately represent the ratio of </a:t>
            </a:r>
            <a:r>
              <a:rPr lang="en-GB" dirty="0">
                <a:solidFill>
                  <a:srgbClr val="FF0000"/>
                </a:solidFill>
              </a:rPr>
              <a:t>boys</a:t>
            </a:r>
            <a:r>
              <a:rPr lang="en-GB" dirty="0"/>
              <a:t> to </a:t>
            </a:r>
            <a:r>
              <a:rPr lang="en-GB" dirty="0">
                <a:solidFill>
                  <a:srgbClr val="00B050"/>
                </a:solidFill>
              </a:rPr>
              <a:t>girls</a:t>
            </a:r>
            <a:r>
              <a:rPr lang="en-GB" dirty="0"/>
              <a:t> in this class.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383868" y="2564904"/>
            <a:ext cx="2376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solidFill>
                  <a:srgbClr val="FF0000"/>
                </a:solidFill>
              </a:rPr>
              <a:t>12</a:t>
            </a:r>
            <a:r>
              <a:rPr lang="en-GB" sz="6000" b="1" dirty="0"/>
              <a:t>:</a:t>
            </a:r>
            <a:r>
              <a:rPr lang="en-GB" sz="6000" b="1" dirty="0">
                <a:solidFill>
                  <a:srgbClr val="00B050"/>
                </a:solidFill>
              </a:rPr>
              <a:t>18</a:t>
            </a:r>
            <a:endParaRPr lang="en-GB" sz="36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0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7975"/>
            <a:ext cx="8229600" cy="51593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Suppose we had a class of </a:t>
            </a:r>
            <a:r>
              <a:rPr lang="en-GB" dirty="0">
                <a:solidFill>
                  <a:srgbClr val="0070C0"/>
                </a:solidFill>
              </a:rPr>
              <a:t>30</a:t>
            </a:r>
            <a:r>
              <a:rPr lang="en-GB" dirty="0"/>
              <a:t> students, that consisted of </a:t>
            </a:r>
            <a:r>
              <a:rPr lang="en-GB" dirty="0">
                <a:solidFill>
                  <a:srgbClr val="FF0000"/>
                </a:solidFill>
              </a:rPr>
              <a:t>12 boys</a:t>
            </a:r>
            <a:r>
              <a:rPr lang="en-GB" dirty="0"/>
              <a:t> and </a:t>
            </a:r>
            <a:r>
              <a:rPr lang="en-GB" dirty="0">
                <a:solidFill>
                  <a:srgbClr val="00B050"/>
                </a:solidFill>
              </a:rPr>
              <a:t>18 girls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To work out the amount of boys and girls we need we need in the 10 person sample:</a:t>
            </a:r>
          </a:p>
          <a:p>
            <a:pPr marL="0" indent="0">
              <a:buNone/>
            </a:pPr>
            <a:r>
              <a:rPr lang="en-GB" b="1" u="sng" dirty="0">
                <a:solidFill>
                  <a:srgbClr val="FF0000"/>
                </a:solidFill>
              </a:rPr>
              <a:t>Boys</a:t>
            </a:r>
            <a:r>
              <a:rPr lang="en-GB" dirty="0"/>
              <a:t> =</a:t>
            </a:r>
          </a:p>
          <a:p>
            <a:pPr marL="0" indent="0">
              <a:buNone/>
            </a:pPr>
            <a:endParaRPr lang="en-GB" b="1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b="1" u="sng" dirty="0">
                <a:solidFill>
                  <a:srgbClr val="00B050"/>
                </a:solidFill>
              </a:rPr>
              <a:t>Girls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868" y="2564904"/>
            <a:ext cx="2376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solidFill>
                  <a:srgbClr val="FF0000"/>
                </a:solidFill>
              </a:rPr>
              <a:t>12</a:t>
            </a:r>
            <a:r>
              <a:rPr lang="en-GB" sz="6000" b="1" dirty="0"/>
              <a:t>:</a:t>
            </a:r>
            <a:r>
              <a:rPr lang="en-GB" sz="6000" b="1" dirty="0">
                <a:solidFill>
                  <a:srgbClr val="00B050"/>
                </a:solidFill>
              </a:rPr>
              <a:t>18</a:t>
            </a:r>
            <a:endParaRPr lang="en-GB" sz="36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17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/>
          <a:lstStyle/>
          <a:p>
            <a:r>
              <a:rPr lang="en-GB" dirty="0"/>
              <a:t>The class consists of </a:t>
            </a:r>
            <a:r>
              <a:rPr lang="en-GB" dirty="0">
                <a:solidFill>
                  <a:srgbClr val="00B050"/>
                </a:solidFill>
              </a:rPr>
              <a:t>20 girls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10 boys</a:t>
            </a:r>
            <a:r>
              <a:rPr lang="en-GB" dirty="0"/>
              <a:t>, </a:t>
            </a:r>
            <a:r>
              <a:rPr lang="en-GB" dirty="0">
                <a:solidFill>
                  <a:srgbClr val="0070C0"/>
                </a:solidFill>
              </a:rPr>
              <a:t>30</a:t>
            </a:r>
            <a:r>
              <a:rPr lang="en-GB" dirty="0"/>
              <a:t> pupils altogether. </a:t>
            </a:r>
          </a:p>
          <a:p>
            <a:r>
              <a:rPr lang="en-GB" dirty="0"/>
              <a:t>We want a sample of size 5.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800" b="1" u="sng" dirty="0">
                <a:solidFill>
                  <a:srgbClr val="00B050"/>
                </a:solidFill>
              </a:rPr>
              <a:t>Girls</a:t>
            </a:r>
            <a:r>
              <a:rPr lang="en-GB" sz="2800" dirty="0">
                <a:solidFill>
                  <a:srgbClr val="00B050"/>
                </a:solidFill>
              </a:rPr>
              <a:t> </a:t>
            </a:r>
            <a:r>
              <a:rPr lang="en-GB" sz="2800" dirty="0"/>
              <a:t>=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endParaRPr lang="en-GB" sz="2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sz="2800" b="1" u="sng" dirty="0">
                <a:solidFill>
                  <a:srgbClr val="FF0000"/>
                </a:solidFill>
              </a:rPr>
              <a:t>Boys</a:t>
            </a:r>
            <a:r>
              <a:rPr lang="en-GB" sz="2800" dirty="0">
                <a:solidFill>
                  <a:srgbClr val="00B050"/>
                </a:solidFill>
              </a:rPr>
              <a:t> </a:t>
            </a:r>
            <a:r>
              <a:rPr lang="en-GB" sz="2800" dirty="0"/>
              <a:t>=</a:t>
            </a:r>
          </a:p>
          <a:p>
            <a:pPr marL="0" indent="0">
              <a:buNone/>
            </a:pPr>
            <a:endParaRPr lang="en-GB" sz="2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solidFill>
            <a:srgbClr val="00B050"/>
          </a:solidFill>
        </p:spPr>
        <p:txBody>
          <a:bodyPr/>
          <a:lstStyle/>
          <a:p>
            <a:r>
              <a:rPr lang="en-GB" dirty="0"/>
              <a:t>STRATFIED RANDOM SAMPLE</a:t>
            </a:r>
          </a:p>
        </p:txBody>
      </p:sp>
    </p:spTree>
    <p:extLst>
      <p:ext uri="{BB962C8B-B14F-4D97-AF65-F5344CB8AC3E}">
        <p14:creationId xmlns:p14="http://schemas.microsoft.com/office/powerpoint/2010/main" val="1684808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16632"/>
            <a:ext cx="5976664" cy="6552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50277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75000"/>
            </a:schemeClr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GCSE QUESTION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40" y="1700808"/>
            <a:ext cx="7929218" cy="47525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79512" y="4581128"/>
                <a:ext cx="8532646" cy="704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800" dirty="0"/>
                  <a:t>Year 11 = 60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130</m:t>
                        </m:r>
                      </m:num>
                      <m:den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750</m:t>
                        </m:r>
                      </m:den>
                    </m:f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581128"/>
                <a:ext cx="8532646" cy="704295"/>
              </a:xfrm>
              <a:prstGeom prst="rect">
                <a:avLst/>
              </a:prstGeom>
              <a:blipFill rotWithShape="0">
                <a:blip r:embed="rId4"/>
                <a:stretch>
                  <a:fillRect l="-1429" b="-112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05677" y="4671665"/>
                <a:ext cx="853264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                                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800" dirty="0"/>
                  <a:t> 10.4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77" y="4671665"/>
                <a:ext cx="8532646" cy="523220"/>
              </a:xfrm>
              <a:prstGeom prst="rect">
                <a:avLst/>
              </a:prstGeom>
              <a:blipFill rotWithShape="0">
                <a:blip r:embed="rId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067944" y="4648209"/>
            <a:ext cx="41044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we round this down to 10 </a:t>
            </a:r>
          </a:p>
        </p:txBody>
      </p:sp>
      <p:sp>
        <p:nvSpPr>
          <p:cNvPr id="8" name="Rectangle 7"/>
          <p:cNvSpPr/>
          <p:nvPr/>
        </p:nvSpPr>
        <p:spPr>
          <a:xfrm>
            <a:off x="5724128" y="5308879"/>
            <a:ext cx="11926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rgbClr val="FF0000"/>
                </a:solidFill>
              </a:rPr>
              <a:t>10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22514" y="2521955"/>
            <a:ext cx="286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7030A0"/>
                </a:solidFill>
              </a:rPr>
              <a:t>Σ</a:t>
            </a:r>
            <a:r>
              <a:rPr lang="en-GB" dirty="0">
                <a:solidFill>
                  <a:srgbClr val="7030A0"/>
                </a:solidFill>
              </a:rPr>
              <a:t> Number of students = </a:t>
            </a:r>
            <a:r>
              <a:rPr lang="en-GB" dirty="0"/>
              <a:t>750</a:t>
            </a:r>
          </a:p>
        </p:txBody>
      </p:sp>
    </p:spTree>
    <p:extLst>
      <p:ext uri="{BB962C8B-B14F-4D97-AF65-F5344CB8AC3E}">
        <p14:creationId xmlns:p14="http://schemas.microsoft.com/office/powerpoint/2010/main" val="109064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75000"/>
            </a:schemeClr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GCSE QUESTION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40" y="1700808"/>
            <a:ext cx="7929218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19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  <a:solidFill>
            <a:schemeClr val="tx2">
              <a:lumMod val="75000"/>
            </a:schemeClr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GCSE QUESTION</a:t>
            </a: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79" y="1309099"/>
            <a:ext cx="7443985" cy="52882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A2FCAA-4C40-70E3-2F64-3CB6B4B89771}"/>
              </a:ext>
            </a:extLst>
          </p:cNvPr>
          <p:cNvSpPr txBox="1"/>
          <p:nvPr/>
        </p:nvSpPr>
        <p:spPr>
          <a:xfrm>
            <a:off x="740259" y="486916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68418-1493-823A-AB67-A498988ECAFC}"/>
              </a:ext>
            </a:extLst>
          </p:cNvPr>
          <p:cNvSpPr txBox="1"/>
          <p:nvPr/>
        </p:nvSpPr>
        <p:spPr>
          <a:xfrm>
            <a:off x="5580112" y="1844824"/>
            <a:ext cx="3312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2. A stratified sample of 150 students was taken from the school. Work out the number of year 8 boys in the sample.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D22E2D-08CE-68AE-B538-90C9F8BE62D2}"/>
                  </a:ext>
                </a:extLst>
              </p:cNvPr>
              <p:cNvSpPr txBox="1"/>
              <p:nvPr/>
            </p:nvSpPr>
            <p:spPr>
              <a:xfrm>
                <a:off x="1187624" y="5653723"/>
                <a:ext cx="4680520" cy="631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>
                    <a:solidFill>
                      <a:srgbClr val="FF0000"/>
                    </a:solidFill>
                  </a:rPr>
                  <a:t>Year 8 girls= </a:t>
                </a:r>
                <a14:m>
                  <m:oMath xmlns:m="http://schemas.openxmlformats.org/officeDocument/2006/math">
                    <m:r>
                      <a:rPr lang="en-AU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AU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𝟓𝟎</m:t>
                        </m:r>
                      </m:num>
                      <m:den>
                        <m: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𝟓𝟎𝟎</m:t>
                        </m:r>
                      </m:den>
                    </m:f>
                    <m:r>
                      <a:rPr lang="en-AU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D22E2D-08CE-68AE-B538-90C9F8BE6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5653723"/>
                <a:ext cx="4680520" cy="631327"/>
              </a:xfrm>
              <a:prstGeom prst="rect">
                <a:avLst/>
              </a:prstGeom>
              <a:blipFill>
                <a:blip r:embed="rId3"/>
                <a:stretch>
                  <a:fillRect l="-2083" b="-86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995313-2C39-6F30-6262-DB3E27ADA9C3}"/>
                  </a:ext>
                </a:extLst>
              </p:cNvPr>
              <p:cNvSpPr txBox="1"/>
              <p:nvPr/>
            </p:nvSpPr>
            <p:spPr>
              <a:xfrm>
                <a:off x="5364088" y="3113336"/>
                <a:ext cx="4320480" cy="1369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>
                    <a:solidFill>
                      <a:srgbClr val="FF0000"/>
                    </a:solidFill>
                  </a:rPr>
                  <a:t>Year 10 boys</a:t>
                </a:r>
                <a14:m>
                  <m:oMath xmlns:m="http://schemas.openxmlformats.org/officeDocument/2006/math">
                    <m:r>
                      <a:rPr lang="en-AU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𝟏𝟓𝟎</m:t>
                    </m:r>
                    <m:r>
                      <a:rPr lang="en-AU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𝟏𝟓𝟎</m:t>
                        </m:r>
                      </m:num>
                      <m:den>
                        <m:r>
                          <a:rPr lang="en-AU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𝟏𝟎𝟎𝟎</m:t>
                        </m:r>
                      </m:den>
                    </m:f>
                  </m:oMath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𝟐𝟑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𝒚𝒆𝒂𝒓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𝒃𝒐𝒚𝒔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C995313-2C39-6F30-6262-DB3E27ADA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113336"/>
                <a:ext cx="4320480" cy="1369927"/>
              </a:xfrm>
              <a:prstGeom prst="rect">
                <a:avLst/>
              </a:prstGeom>
              <a:blipFill>
                <a:blip r:embed="rId4"/>
                <a:stretch>
                  <a:fillRect l="-2257" b="-5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416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  <a:solidFill>
            <a:schemeClr val="tx2">
              <a:lumMod val="75000"/>
            </a:schemeClr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GCSE QUESTION</a:t>
            </a: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79" y="1309099"/>
            <a:ext cx="7443985" cy="52882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A2FCAA-4C40-70E3-2F64-3CB6B4B89771}"/>
              </a:ext>
            </a:extLst>
          </p:cNvPr>
          <p:cNvSpPr txBox="1"/>
          <p:nvPr/>
        </p:nvSpPr>
        <p:spPr>
          <a:xfrm>
            <a:off x="740259" y="486916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68418-1493-823A-AB67-A498988ECAFC}"/>
              </a:ext>
            </a:extLst>
          </p:cNvPr>
          <p:cNvSpPr txBox="1"/>
          <p:nvPr/>
        </p:nvSpPr>
        <p:spPr>
          <a:xfrm>
            <a:off x="5580112" y="1844824"/>
            <a:ext cx="3312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 A stratified sample of 150 students was taken from the school. Work out the number of year 8 boys in the sample. </a:t>
            </a:r>
          </a:p>
        </p:txBody>
      </p:sp>
    </p:spTree>
    <p:extLst>
      <p:ext uri="{BB962C8B-B14F-4D97-AF65-F5344CB8AC3E}">
        <p14:creationId xmlns:p14="http://schemas.microsoft.com/office/powerpoint/2010/main" val="3930860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  <a:solidFill>
            <a:srgbClr val="FF0000"/>
          </a:solidFill>
        </p:spPr>
        <p:txBody>
          <a:bodyPr/>
          <a:lstStyle/>
          <a:p>
            <a:r>
              <a:rPr lang="en-GB" dirty="0"/>
              <a:t>SPOT THE MISTAKES</a:t>
            </a:r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84783"/>
            <a:ext cx="8229600" cy="5100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99592" y="5301208"/>
                <a:ext cx="8157592" cy="13017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b="1" dirty="0">
                    <a:solidFill>
                      <a:srgbClr val="FF0000"/>
                    </a:solidFill>
                  </a:rPr>
                  <a:t>Year 8 boys</a:t>
                </a:r>
                <a:r>
                  <a:rPr lang="en-GB" sz="2000" dirty="0">
                    <a:solidFill>
                      <a:srgbClr val="00B050"/>
                    </a:solidFill>
                  </a:rPr>
                  <a:t> </a:t>
                </a:r>
                <a:r>
                  <a:rPr lang="en-GB" sz="2000" dirty="0"/>
                  <a:t>= </a:t>
                </a:r>
                <a:r>
                  <a:rPr lang="en-GB" sz="2000" dirty="0">
                    <a:solidFill>
                      <a:schemeClr val="tx1"/>
                    </a:solidFill>
                  </a:rPr>
                  <a:t>80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192</m:t>
                        </m:r>
                      </m:num>
                      <m:den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567</m:t>
                        </m:r>
                      </m:den>
                    </m:f>
                  </m:oMath>
                </a14:m>
                <a:r>
                  <a:rPr lang="en-GB" sz="2000" dirty="0"/>
                  <a:t>  = 27.0899471</a:t>
                </a:r>
              </a:p>
              <a:p>
                <a:endParaRPr lang="en-GB" sz="2000" dirty="0"/>
              </a:p>
              <a:p>
                <a:r>
                  <a:rPr lang="en-GB" sz="2000" dirty="0"/>
                  <a:t>                      = 28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98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192</m:t>
                        </m:r>
                      </m:den>
                    </m:f>
                  </m:oMath>
                </a14:m>
                <a:r>
                  <a:rPr lang="en-GB" sz="2000" dirty="0"/>
                  <a:t> = 14.29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5301208"/>
                <a:ext cx="8157592" cy="1301703"/>
              </a:xfrm>
              <a:prstGeom prst="rect">
                <a:avLst/>
              </a:prstGeom>
              <a:blipFill rotWithShape="0">
                <a:blip r:embed="rId4"/>
                <a:stretch>
                  <a:fillRect l="-822" b="-9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392888" y="5589240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14.3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2536" y="332656"/>
            <a:ext cx="87529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1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Stratified sampling: Pros &amp; Cons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7970B86-2032-FBF2-B722-BB3405181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854161"/>
              </p:ext>
            </p:extLst>
          </p:nvPr>
        </p:nvGraphicFramePr>
        <p:xfrm>
          <a:off x="457200" y="1592352"/>
          <a:ext cx="822960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34643325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999799329"/>
                    </a:ext>
                  </a:extLst>
                </a:gridCol>
              </a:tblGrid>
              <a:tr h="446417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206015"/>
                  </a:ext>
                </a:extLst>
              </a:tr>
              <a:tr h="362094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Minimises sample selection </a:t>
                      </a:r>
                      <a:r>
                        <a:rPr lang="en-AU" b="1" u="sng" dirty="0"/>
                        <a:t>bias</a:t>
                      </a:r>
                      <a:r>
                        <a:rPr lang="en-AU" dirty="0"/>
                        <a:t> (</a:t>
                      </a:r>
                      <a:r>
                        <a:rPr lang="en-AU" b="1" u="sng" dirty="0"/>
                        <a:t>majority/ minority</a:t>
                      </a:r>
                      <a:r>
                        <a:rPr lang="en-AU" dirty="0"/>
                        <a:t>)</a:t>
                      </a:r>
                    </a:p>
                    <a:p>
                      <a:pPr algn="ctr"/>
                      <a:r>
                        <a:rPr lang="en-AU" dirty="0"/>
                        <a:t>e.g. makes sure certain groups of the population are not over represented.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May causing </a:t>
                      </a:r>
                      <a:r>
                        <a:rPr lang="en-AU" b="1" u="sng" dirty="0"/>
                        <a:t>biasing</a:t>
                      </a:r>
                      <a:r>
                        <a:rPr lang="en-AU" dirty="0"/>
                        <a:t> through human interpretation of strata’s and their importance or impact they may have on a survey. Incorrectly identifying strata’s as </a:t>
                      </a:r>
                      <a:r>
                        <a:rPr lang="en-AU" b="1" u="sng" dirty="0"/>
                        <a:t>homogeneous</a:t>
                      </a:r>
                      <a:r>
                        <a:rPr lang="en-AU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049391"/>
                  </a:ext>
                </a:extLst>
              </a:tr>
              <a:tr h="362094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Able to </a:t>
                      </a:r>
                      <a:r>
                        <a:rPr lang="en-AU" b="1" u="sng" dirty="0"/>
                        <a:t>glean</a:t>
                      </a:r>
                      <a:r>
                        <a:rPr lang="en-AU" dirty="0"/>
                        <a:t> more information about the strata’s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Increases errors if strata's are selected in incorrect </a:t>
                      </a:r>
                      <a:r>
                        <a:rPr lang="en-AU" b="1" u="sng" dirty="0"/>
                        <a:t>proportion</a:t>
                      </a:r>
                      <a:r>
                        <a:rPr lang="en-AU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591890"/>
                  </a:ext>
                </a:extLst>
              </a:tr>
              <a:tr h="36209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Requires and realises on the accuracy of prior knowledge. </a:t>
                      </a:r>
                    </a:p>
                    <a:p>
                      <a:pPr algn="ctr"/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524098"/>
                  </a:ext>
                </a:extLst>
              </a:tr>
              <a:tr h="36209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Accuracy of defining or </a:t>
                      </a:r>
                      <a:r>
                        <a:rPr lang="en-AU" b="1" u="sng" dirty="0"/>
                        <a:t>gauging</a:t>
                      </a:r>
                      <a:r>
                        <a:rPr lang="en-AU" dirty="0"/>
                        <a:t> strata’s. e.g. genders what defines a male or female.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65544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187B336-103D-0801-24C3-2D61C88BA09B}"/>
              </a:ext>
            </a:extLst>
          </p:cNvPr>
          <p:cNvSpPr/>
          <p:nvPr/>
        </p:nvSpPr>
        <p:spPr>
          <a:xfrm>
            <a:off x="1259632" y="2060848"/>
            <a:ext cx="720081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C6EB0E-C3E2-82D0-B6DC-C7A5F4ED0E91}"/>
              </a:ext>
            </a:extLst>
          </p:cNvPr>
          <p:cNvSpPr/>
          <p:nvPr/>
        </p:nvSpPr>
        <p:spPr>
          <a:xfrm>
            <a:off x="913181" y="2911223"/>
            <a:ext cx="922515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9E4E3-86F4-32B0-AC0A-1286F4C1DD1F}"/>
              </a:ext>
            </a:extLst>
          </p:cNvPr>
          <p:cNvSpPr/>
          <p:nvPr/>
        </p:nvSpPr>
        <p:spPr>
          <a:xfrm>
            <a:off x="3131841" y="2636912"/>
            <a:ext cx="504056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E62343-DEDB-BB59-4008-D19E50822345}"/>
              </a:ext>
            </a:extLst>
          </p:cNvPr>
          <p:cNvSpPr/>
          <p:nvPr/>
        </p:nvSpPr>
        <p:spPr>
          <a:xfrm>
            <a:off x="5112702" y="2362601"/>
            <a:ext cx="1259498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90F46-B553-9267-0306-9975F3BEB13D}"/>
              </a:ext>
            </a:extLst>
          </p:cNvPr>
          <p:cNvSpPr/>
          <p:nvPr/>
        </p:nvSpPr>
        <p:spPr>
          <a:xfrm>
            <a:off x="4788024" y="2636912"/>
            <a:ext cx="1008112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4CEBFF-C750-E992-95FA-C6ED7FB35A87}"/>
              </a:ext>
            </a:extLst>
          </p:cNvPr>
          <p:cNvSpPr/>
          <p:nvPr/>
        </p:nvSpPr>
        <p:spPr>
          <a:xfrm>
            <a:off x="6588224" y="2911223"/>
            <a:ext cx="1008112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C03954-9B70-6BE3-507D-F1ABDD3E4CD7}"/>
              </a:ext>
            </a:extLst>
          </p:cNvPr>
          <p:cNvSpPr/>
          <p:nvPr/>
        </p:nvSpPr>
        <p:spPr>
          <a:xfrm>
            <a:off x="2483768" y="3573016"/>
            <a:ext cx="1008112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91D057-699A-32BB-6239-AD2D4F109F66}"/>
              </a:ext>
            </a:extLst>
          </p:cNvPr>
          <p:cNvSpPr/>
          <p:nvPr/>
        </p:nvSpPr>
        <p:spPr>
          <a:xfrm>
            <a:off x="2267744" y="3856696"/>
            <a:ext cx="648072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65DAAC-7FA4-97AD-3938-D6B36A7DAF51}"/>
              </a:ext>
            </a:extLst>
          </p:cNvPr>
          <p:cNvSpPr/>
          <p:nvPr/>
        </p:nvSpPr>
        <p:spPr>
          <a:xfrm>
            <a:off x="4836162" y="3565004"/>
            <a:ext cx="743949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43B58E-0AE5-564D-5D58-1A8B3FE802D4}"/>
              </a:ext>
            </a:extLst>
          </p:cNvPr>
          <p:cNvSpPr/>
          <p:nvPr/>
        </p:nvSpPr>
        <p:spPr>
          <a:xfrm>
            <a:off x="7595018" y="3582385"/>
            <a:ext cx="743950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0C358F-9EE4-4CAD-EC42-BFD8703B650C}"/>
              </a:ext>
            </a:extLst>
          </p:cNvPr>
          <p:cNvSpPr/>
          <p:nvPr/>
        </p:nvSpPr>
        <p:spPr>
          <a:xfrm>
            <a:off x="5742451" y="3818627"/>
            <a:ext cx="743949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839546-B992-FE3D-4CD0-72EB40277566}"/>
              </a:ext>
            </a:extLst>
          </p:cNvPr>
          <p:cNvSpPr/>
          <p:nvPr/>
        </p:nvSpPr>
        <p:spPr>
          <a:xfrm>
            <a:off x="4920106" y="4218785"/>
            <a:ext cx="660006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B2833C-04E0-E217-94A3-C47313974207}"/>
              </a:ext>
            </a:extLst>
          </p:cNvPr>
          <p:cNvSpPr/>
          <p:nvPr/>
        </p:nvSpPr>
        <p:spPr>
          <a:xfrm>
            <a:off x="7610028" y="4218784"/>
            <a:ext cx="660006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1FE09F-6906-E943-41A8-B38C71676D31}"/>
              </a:ext>
            </a:extLst>
          </p:cNvPr>
          <p:cNvSpPr/>
          <p:nvPr/>
        </p:nvSpPr>
        <p:spPr>
          <a:xfrm>
            <a:off x="6473450" y="4490390"/>
            <a:ext cx="906862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596D1A-B864-3653-C3E9-F26745A776C5}"/>
              </a:ext>
            </a:extLst>
          </p:cNvPr>
          <p:cNvSpPr/>
          <p:nvPr/>
        </p:nvSpPr>
        <p:spPr>
          <a:xfrm>
            <a:off x="4920106" y="5101176"/>
            <a:ext cx="660005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FDB4CA-F78B-A5B9-5437-83E036B7BE87}"/>
              </a:ext>
            </a:extLst>
          </p:cNvPr>
          <p:cNvSpPr/>
          <p:nvPr/>
        </p:nvSpPr>
        <p:spPr>
          <a:xfrm>
            <a:off x="5466133" y="5400500"/>
            <a:ext cx="660005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35CEE5-4F24-226C-557D-53F83626724B}"/>
              </a:ext>
            </a:extLst>
          </p:cNvPr>
          <p:cNvSpPr/>
          <p:nvPr/>
        </p:nvSpPr>
        <p:spPr>
          <a:xfrm>
            <a:off x="7740353" y="5392968"/>
            <a:ext cx="288032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EE4AE7-FCCA-1372-C2D5-230D0F39C39E}"/>
              </a:ext>
            </a:extLst>
          </p:cNvPr>
          <p:cNvSpPr/>
          <p:nvPr/>
        </p:nvSpPr>
        <p:spPr>
          <a:xfrm>
            <a:off x="6388698" y="5667279"/>
            <a:ext cx="559565" cy="2743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891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Complete the following worksheet that contains past GCSE questions independently. </a:t>
            </a:r>
          </a:p>
          <a:p>
            <a:endParaRPr lang="en-GB" dirty="0"/>
          </a:p>
          <a:p>
            <a:r>
              <a:rPr lang="en-GB" dirty="0"/>
              <a:t>Make sure you show all of your workings!</a:t>
            </a:r>
          </a:p>
        </p:txBody>
      </p:sp>
    </p:spTree>
    <p:extLst>
      <p:ext uri="{BB962C8B-B14F-4D97-AF65-F5344CB8AC3E}">
        <p14:creationId xmlns:p14="http://schemas.microsoft.com/office/powerpoint/2010/main" val="2100163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://www.cutevector.com/incl/data/big/0572-red-green-yellow-traffic-ligh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13" y="2636912"/>
            <a:ext cx="3803650" cy="277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155575" y="1033604"/>
            <a:ext cx="7993063" cy="5220419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GB" altLang="en-US" sz="2800" dirty="0">
                <a:latin typeface="Comic Sans MS" panose="030F0702030302020204" pitchFamily="66" charset="0"/>
              </a:rPr>
              <a:t>Now rate </a:t>
            </a:r>
            <a:r>
              <a:rPr lang="en-GB" altLang="en-US" sz="2800" b="1" u="sng" dirty="0">
                <a:latin typeface="Comic Sans MS" panose="030F0702030302020204" pitchFamily="66" charset="0"/>
              </a:rPr>
              <a:t>your</a:t>
            </a:r>
            <a:r>
              <a:rPr lang="en-GB" altLang="en-US" sz="2800" dirty="0">
                <a:latin typeface="Comic Sans MS" panose="030F0702030302020204" pitchFamily="66" charset="0"/>
              </a:rPr>
              <a:t> lesson using the following code:</a:t>
            </a:r>
          </a:p>
          <a:p>
            <a:pPr marL="0" indent="0">
              <a:buNone/>
            </a:pPr>
            <a:endParaRPr lang="en-GB" altLang="en-US" sz="2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GB" altLang="en-US" sz="2400" b="1" dirty="0">
                <a:latin typeface="Comic Sans MS" panose="030F0702030302020204" pitchFamily="66" charset="0"/>
              </a:rPr>
              <a:t>   U – </a:t>
            </a:r>
            <a:r>
              <a:rPr lang="en-GB" alt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Little (unsatisfactory) effort!</a:t>
            </a:r>
          </a:p>
          <a:p>
            <a:pPr marL="0" indent="0">
              <a:buNone/>
            </a:pPr>
            <a:r>
              <a:rPr lang="en-GB" altLang="en-US" sz="2400" b="1" dirty="0">
                <a:latin typeface="Comic Sans MS" panose="030F0702030302020204" pitchFamily="66" charset="0"/>
              </a:rPr>
              <a:t>   S – </a:t>
            </a:r>
            <a:r>
              <a:rPr lang="en-GB" altLang="en-US" sz="2400" b="1" dirty="0">
                <a:solidFill>
                  <a:srgbClr val="FFC000"/>
                </a:solidFill>
                <a:latin typeface="Comic Sans MS" panose="030F0702030302020204" pitchFamily="66" charset="0"/>
              </a:rPr>
              <a:t>Some effort, still room for improvement!!</a:t>
            </a:r>
          </a:p>
          <a:p>
            <a:pPr marL="0" indent="0">
              <a:buNone/>
            </a:pPr>
            <a:r>
              <a:rPr lang="en-GB" altLang="en-US" sz="2400" b="1" dirty="0">
                <a:latin typeface="Comic Sans MS" panose="030F0702030302020204" pitchFamily="66" charset="0"/>
              </a:rPr>
              <a:t>   E – </a:t>
            </a:r>
            <a:r>
              <a:rPr lang="en-GB" altLang="en-US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Excellent effort!!!</a:t>
            </a:r>
            <a:endParaRPr lang="en-GB" altLang="en-US" sz="2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altLang="en-US" sz="2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GB" altLang="en-US" sz="2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GB" altLang="en-US" sz="2400" b="1" dirty="0">
                <a:latin typeface="Comic Sans MS" panose="030F0702030302020204" pitchFamily="66" charset="0"/>
              </a:rPr>
              <a:t>        </a:t>
            </a:r>
            <a:r>
              <a:rPr lang="en-GB" alt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Little understanding</a:t>
            </a:r>
          </a:p>
          <a:p>
            <a:pPr marL="0" indent="0">
              <a:buNone/>
            </a:pPr>
            <a:r>
              <a:rPr lang="en-GB" altLang="en-US" sz="2400" b="1" dirty="0">
                <a:latin typeface="Comic Sans MS" panose="030F0702030302020204" pitchFamily="66" charset="0"/>
              </a:rPr>
              <a:t>        </a:t>
            </a:r>
            <a:r>
              <a:rPr lang="en-GB" altLang="en-US" sz="2400" b="1" dirty="0">
                <a:solidFill>
                  <a:srgbClr val="FFC000"/>
                </a:solidFill>
                <a:latin typeface="Comic Sans MS" panose="030F0702030302020204" pitchFamily="66" charset="0"/>
              </a:rPr>
              <a:t>Some understanding, not completely sure</a:t>
            </a:r>
          </a:p>
          <a:p>
            <a:pPr marL="0" indent="0">
              <a:buNone/>
            </a:pPr>
            <a:r>
              <a:rPr lang="en-GB" altLang="en-US" sz="2400" b="1" dirty="0">
                <a:latin typeface="Comic Sans MS" panose="030F0702030302020204" pitchFamily="66" charset="0"/>
              </a:rPr>
              <a:t>        </a:t>
            </a:r>
            <a:r>
              <a:rPr lang="en-GB" altLang="en-US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Excellent understanding</a:t>
            </a:r>
          </a:p>
        </p:txBody>
      </p:sp>
      <p:sp>
        <p:nvSpPr>
          <p:cNvPr id="14340" name="WordArt 6"/>
          <p:cNvSpPr>
            <a:spLocks noChangeArrowheads="1" noChangeShapeType="1" noTextEdit="1"/>
          </p:cNvSpPr>
          <p:nvPr/>
        </p:nvSpPr>
        <p:spPr bwMode="auto">
          <a:xfrm>
            <a:off x="1331640" y="193031"/>
            <a:ext cx="6480175" cy="792163"/>
          </a:xfrm>
          <a:prstGeom prst="rect">
            <a:avLst/>
          </a:prstGeom>
          <a:effectLst/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b="1" u="sng" kern="10" dirty="0">
                <a:ln w="12700">
                  <a:solidFill>
                    <a:schemeClr val="tx1"/>
                  </a:solidFill>
                  <a:round/>
                  <a:headEnd/>
                  <a:tailEnd/>
                </a:ln>
                <a:gradFill rotWithShape="1">
                  <a:gsLst>
                    <a:gs pos="23000">
                      <a:srgbClr val="00B050"/>
                    </a:gs>
                    <a:gs pos="44000">
                      <a:srgbClr val="FFFF00"/>
                    </a:gs>
                    <a:gs pos="65000">
                      <a:srgbClr val="FFC000"/>
                    </a:gs>
                    <a:gs pos="86000">
                      <a:srgbClr val="FF0000"/>
                    </a:gs>
                  </a:gsLst>
                  <a:lin ang="0" scaled="1"/>
                </a:gradFill>
                <a:latin typeface="Comic Sans MS" panose="030F0702030302020204" pitchFamily="66" charset="0"/>
              </a:rPr>
              <a:t>Self Evaluation</a:t>
            </a:r>
          </a:p>
        </p:txBody>
      </p:sp>
      <p:sp>
        <p:nvSpPr>
          <p:cNvPr id="3" name="AutoShape 2" descr="Image result for emoji faces"/>
          <p:cNvSpPr>
            <a:spLocks noChangeAspect="1" noChangeArrowheads="1"/>
          </p:cNvSpPr>
          <p:nvPr/>
        </p:nvSpPr>
        <p:spPr bwMode="auto">
          <a:xfrm>
            <a:off x="155575" y="-411163"/>
            <a:ext cx="857250" cy="85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64" y="5104311"/>
            <a:ext cx="449148" cy="4491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64" y="5553459"/>
            <a:ext cx="473975" cy="473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00" y="4666949"/>
            <a:ext cx="522701" cy="43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627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4485</TotalTime>
  <Words>828</Words>
  <Application>Microsoft Office PowerPoint</Application>
  <PresentationFormat>On-screen Show (4:3)</PresentationFormat>
  <Paragraphs>185</Paragraphs>
  <Slides>22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Cambria Math</vt:lpstr>
      <vt:lpstr>Comic Sans MS</vt:lpstr>
      <vt:lpstr>Wingdings</vt:lpstr>
      <vt:lpstr>Office Theme</vt:lpstr>
      <vt:lpstr>1_Office Theme</vt:lpstr>
      <vt:lpstr>PowerPoint Presentation</vt:lpstr>
      <vt:lpstr>Match up</vt:lpstr>
      <vt:lpstr>Match up</vt:lpstr>
      <vt:lpstr>Calculate the mean</vt:lpstr>
      <vt:lpstr>Calculate the median</vt:lpstr>
      <vt:lpstr>Mean and median </vt:lpstr>
      <vt:lpstr>Calculate the mean and median from these tables.</vt:lpstr>
      <vt:lpstr>STRATFIED RANDOM SAMPLE</vt:lpstr>
      <vt:lpstr>STRATFIED RANDOM SAMPLE</vt:lpstr>
      <vt:lpstr>Stratified sample </vt:lpstr>
      <vt:lpstr>EXAMPLE</vt:lpstr>
      <vt:lpstr>EXAMPLE</vt:lpstr>
      <vt:lpstr>STRATFIED RANDOM SAMPLE</vt:lpstr>
      <vt:lpstr>PowerPoint Presentation</vt:lpstr>
      <vt:lpstr>GCSE QUESTION</vt:lpstr>
      <vt:lpstr>GCSE QUESTION</vt:lpstr>
      <vt:lpstr>GCSE QUESTION</vt:lpstr>
      <vt:lpstr>GCSE QUESTION</vt:lpstr>
      <vt:lpstr>SPOT THE MISTAKES</vt:lpstr>
      <vt:lpstr>Stratified sampling: Pros &amp; Cons</vt:lpstr>
      <vt:lpstr>QUESTIONS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20th September 2013</dc:title>
  <dc:subject>Statistics</dc:subject>
  <dc:creator>Nathan Hardee</dc:creator>
  <cp:keywords>Sampling;Stratified;Statistics</cp:keywords>
  <cp:lastModifiedBy>DAVIES Rhys [Busselton Senior High School]</cp:lastModifiedBy>
  <cp:revision>85</cp:revision>
  <cp:lastPrinted>2022-11-07T23:56:17Z</cp:lastPrinted>
  <dcterms:created xsi:type="dcterms:W3CDTF">2013-09-24T13:23:41Z</dcterms:created>
  <dcterms:modified xsi:type="dcterms:W3CDTF">2022-11-08T00:42:32Z</dcterms:modified>
</cp:coreProperties>
</file>
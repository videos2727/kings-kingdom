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0"/>
  </p:notesMasterIdLst>
  <p:sldIdLst>
    <p:sldId id="256" r:id="rId4"/>
    <p:sldId id="279" r:id="rId5"/>
    <p:sldId id="278" r:id="rId6"/>
    <p:sldId id="276" r:id="rId7"/>
    <p:sldId id="277" r:id="rId8"/>
    <p:sldId id="263" r:id="rId9"/>
    <p:sldId id="265" r:id="rId10"/>
    <p:sldId id="267" r:id="rId11"/>
    <p:sldId id="257" r:id="rId12"/>
    <p:sldId id="280" r:id="rId13"/>
    <p:sldId id="281" r:id="rId14"/>
    <p:sldId id="282" r:id="rId15"/>
    <p:sldId id="283" r:id="rId16"/>
    <p:sldId id="285" r:id="rId17"/>
    <p:sldId id="286" r:id="rId18"/>
    <p:sldId id="28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A2A6B-E51E-4A09-8057-A72D1D03EEBD}" type="datetimeFigureOut">
              <a:rPr lang="en-AU" smtClean="0"/>
              <a:t>9/11/2022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3FF39-B4B6-4643-9C51-6AF16E197D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334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 are at least 4 things</a:t>
            </a:r>
            <a:r>
              <a:rPr lang="en-GB" baseline="0" dirty="0"/>
              <a:t> wrong with this question. Give students a minute to discuss the question with their neighbour to see if they can identify the mistakes.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3EBA4-D70C-4F96-A185-7C678711B04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627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There are at least 3 things</a:t>
            </a:r>
            <a:r>
              <a:rPr lang="en-GB" baseline="0" dirty="0"/>
              <a:t> wrong with this question. Give students a minute to discuss the question with their neighbour to see if they can identify the mistakes.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3EBA4-D70C-4F96-A185-7C678711B04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595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There are at least 4 things</a:t>
            </a:r>
            <a:r>
              <a:rPr lang="en-GB" baseline="0" dirty="0"/>
              <a:t> wrong with this question. Give students a minute to discuss the question with their neighbour to see if they can identify the mistakes.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3EBA4-D70C-4F96-A185-7C678711B04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567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5D0FB-634B-D19E-0E6B-DE4507154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FE317-DFD9-1D94-05D8-2ED5A13AF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D33E4-A578-8914-4763-83B6A527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858F-AD44-4206-9D72-3416CF097516}" type="datetimeFigureOut">
              <a:rPr lang="en-AU" smtClean="0"/>
              <a:t>9/11/2022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8B2A9-E914-7DEA-E81F-53B85788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EE9D7-F921-2ABB-082E-A607D369F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3A37-0EE0-466C-9CAC-4B30DCB636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5312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95D0B-53E3-4F0D-ABB0-1B2966107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81236-355F-F1C1-27F6-06C74D0C8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DC968-70C4-5E98-ED00-E737AB7DD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858F-AD44-4206-9D72-3416CF097516}" type="datetimeFigureOut">
              <a:rPr lang="en-AU" smtClean="0"/>
              <a:t>9/11/2022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5E3AF-05E5-40EB-2D0C-F24428D40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70444-88FF-9383-6D10-32D656D1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3A37-0EE0-466C-9CAC-4B30DCB636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58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55C05-5372-DD21-B6D6-D509702F4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7F392-3E50-37A5-072E-C0B4DFA6D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94D20-F365-686E-4718-E282B582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858F-AD44-4206-9D72-3416CF097516}" type="datetimeFigureOut">
              <a:rPr lang="en-AU" smtClean="0"/>
              <a:t>9/11/2022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E72A0-EC40-7758-5C0E-67588493D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855C5-B723-9C0C-37F2-4F08130C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3A37-0EE0-466C-9CAC-4B30DCB636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374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A3B25-9650-2DF3-D643-BDD81C56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5CBA1-FAEB-65C5-6DA1-20A5233D4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A3963-2C5B-E8A8-1032-7F6A0A074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EF89A-8C8F-6049-276D-250A3358A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858F-AD44-4206-9D72-3416CF097516}" type="datetimeFigureOut">
              <a:rPr lang="en-AU" smtClean="0"/>
              <a:t>9/11/2022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BE09A-5D94-A578-219D-B47D54F3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BA0CA-8AF4-CA62-A347-C985EF8F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3A37-0EE0-466C-9CAC-4B30DCB636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8456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B3F2-D947-AFC5-F70E-F7191B7A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DAA23-A1D1-934D-097D-03E7F6DB9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811CA-F520-5BAD-1F8F-3A4889972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F42AB-C2C1-71F5-DDAA-C6D01CDD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4A6E4F-6409-999B-D5B4-210A4CCC25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3BF095-C2D7-78AA-66FA-113AE52A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858F-AD44-4206-9D72-3416CF097516}" type="datetimeFigureOut">
              <a:rPr lang="en-AU" smtClean="0"/>
              <a:t>9/11/2022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02A7D5-D729-9439-79D7-6ED9FD6E7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8D4AB0-290D-8DFF-5990-9CEDA66A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3A37-0EE0-466C-9CAC-4B30DCB636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116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C7F38-C1A2-1DC4-7364-D75592B8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D23A2-6286-3EE6-A3C4-2DAB3867D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858F-AD44-4206-9D72-3416CF097516}" type="datetimeFigureOut">
              <a:rPr lang="en-AU" smtClean="0"/>
              <a:t>9/11/2022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570CE-B114-3CB2-0192-206D9141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DFBEFE-266B-7A9A-5EEB-9E08E2B2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3A37-0EE0-466C-9CAC-4B30DCB636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5191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2B3F5-0BA6-8970-4650-51E092AEE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858F-AD44-4206-9D72-3416CF097516}" type="datetimeFigureOut">
              <a:rPr lang="en-AU" smtClean="0"/>
              <a:t>9/11/2022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2916F-B5AF-F9FF-097D-7AFAE078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5D03B-64E9-B65B-9770-2093DC0EE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3A37-0EE0-466C-9CAC-4B30DCB636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2349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19D64-2292-8D2B-B8C3-A3EA8EFE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3C909-41DC-D216-43A1-25F482EC3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11EA7-F153-AEA0-20C4-C0CA5D401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62B4A-FF42-61A3-677F-59D53237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858F-AD44-4206-9D72-3416CF097516}" type="datetimeFigureOut">
              <a:rPr lang="en-AU" smtClean="0"/>
              <a:t>9/11/2022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E7DEF-76D2-E2D2-A90F-CE184BB3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932D3-EE59-8F50-3941-5A6EB5EE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3A37-0EE0-466C-9CAC-4B30DCB636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865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52999-36AF-F0C4-2BB3-34BB3617E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E8223-D61A-5023-2DEA-3841F8BC5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4F8BD-824A-2C38-B335-3201538C2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ED701-429E-4BC5-A91F-E234C742C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858F-AD44-4206-9D72-3416CF097516}" type="datetimeFigureOut">
              <a:rPr lang="en-AU" smtClean="0"/>
              <a:t>9/11/2022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46592-E79C-53C3-E231-3545ED6F0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28312-1375-0291-997B-7E44061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3A37-0EE0-466C-9CAC-4B30DCB636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7492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3C97-D59D-5189-701D-D3E3D233D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F9B4C-3B1F-F88B-3BBC-178C414CE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EFEE1-ACEA-A70E-1EBD-96DB0A811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858F-AD44-4206-9D72-3416CF097516}" type="datetimeFigureOut">
              <a:rPr lang="en-AU" smtClean="0"/>
              <a:t>9/11/2022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D7CE0-EAB2-8B52-4712-6CA1F8B8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E59F6-34EC-2320-F5DF-E07FE5BC7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3A37-0EE0-466C-9CAC-4B30DCB636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4204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1DC14-0125-A325-AF2F-D23FC673D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A3535-4F88-4252-CC6F-4F2E67BDE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9F524-6530-74C9-AC47-1C4E7BEB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7858F-AD44-4206-9D72-3416CF097516}" type="datetimeFigureOut">
              <a:rPr lang="en-AU" smtClean="0"/>
              <a:t>9/11/2022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B0808-1DED-8887-95B6-5B97ABCF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D7093-D41B-B6DE-AF1D-34A9ACD5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3A37-0EE0-466C-9CAC-4B30DCB636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8165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09/11/2022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1172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09/11/2022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4128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09/11/2022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542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09/11/2022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0356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09/11/2022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7814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09/11/2022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123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09/11/2022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3363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09/11/2022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06358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09/11/2022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0825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09/11/2022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912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09/11/2022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03976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09/11/2022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7209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09/11/2022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2723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09/11/2022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0940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09/11/2022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61694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09/11/2022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2921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09/11/2022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9160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09/11/2022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3927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09/11/2022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817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09/11/2022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2808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09/11/2022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2105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09/11/2022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34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EDD59C-D140-1C12-9D4B-36ED7F9B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F50C0-14A9-0927-88BB-BC6AA2C8F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DB68B-9AD9-E9B5-4EA9-AB65581B1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7858F-AD44-4206-9D72-3416CF097516}" type="datetimeFigureOut">
              <a:rPr lang="en-AU" smtClean="0"/>
              <a:t>9/11/2022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CF038-0386-DC84-9BFF-BF0B8DE35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313F8-E9EA-C71C-E3D1-763C59A6C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B3A37-0EE0-466C-9CAC-4B30DCB636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492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9BB51-4380-4E69-AFF7-3B0E0F118A86}" type="datetimeFigureOut">
              <a:rPr lang="en-GB" smtClean="0"/>
              <a:pPr/>
              <a:t>09/11/2022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082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CCFD5-5667-47B1-84BE-96C43EDE1B0B}" type="datetimeFigureOut">
              <a:rPr lang="en-GB" smtClean="0"/>
              <a:t>09/11/2022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50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146E41-89FE-4420-D861-F7097E7B7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B4CD7B-1C44-ADC4-8297-F7BE0F337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49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b="1" dirty="0">
                <a:solidFill>
                  <a:srgbClr val="00B0F0"/>
                </a:solidFill>
              </a:rPr>
              <a:t>Posing questions 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 Identify possible bias in surveys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Review stratified sampling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Sentence level response </a:t>
            </a:r>
          </a:p>
        </p:txBody>
      </p:sp>
    </p:spTree>
    <p:extLst>
      <p:ext uri="{BB962C8B-B14F-4D97-AF65-F5344CB8AC3E}">
        <p14:creationId xmlns:p14="http://schemas.microsoft.com/office/powerpoint/2010/main" val="341764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E47F0-BE98-0F6B-BEC4-3090263F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CC456-D7F5-E344-7011-BF46A7BEB429}"/>
              </a:ext>
            </a:extLst>
          </p:cNvPr>
          <p:cNvSpPr txBox="1"/>
          <p:nvPr/>
        </p:nvSpPr>
        <p:spPr>
          <a:xfrm>
            <a:off x="7022238" y="695325"/>
            <a:ext cx="489159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2400" dirty="0">
                <a:solidFill>
                  <a:srgbClr val="00B0F0"/>
                </a:solidFill>
              </a:rPr>
              <a:t>Divide members by total population </a:t>
            </a:r>
          </a:p>
          <a:p>
            <a:pPr marL="514350" indent="-514350">
              <a:buAutoNum type="arabicPeriod"/>
            </a:pPr>
            <a:r>
              <a:rPr lang="en-GB" sz="2400" dirty="0">
                <a:solidFill>
                  <a:srgbClr val="00B0F0"/>
                </a:solidFill>
              </a:rPr>
              <a:t>Multiply to sample amount (total number in survey) </a:t>
            </a:r>
          </a:p>
          <a:p>
            <a:endParaRPr lang="en-AU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4AB5302-495A-D115-4D61-C3ED1927F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166" y="46863"/>
            <a:ext cx="6033857" cy="6645005"/>
          </a:xfrm>
        </p:spPr>
      </p:pic>
    </p:spTree>
    <p:extLst>
      <p:ext uri="{BB962C8B-B14F-4D97-AF65-F5344CB8AC3E}">
        <p14:creationId xmlns:p14="http://schemas.microsoft.com/office/powerpoint/2010/main" val="347819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E47F0-BE98-0F6B-BEC4-3090263F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94A2CB-244A-16CB-9E12-4F5A96C11C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791" y="415691"/>
            <a:ext cx="6681684" cy="602661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FCC456-D7F5-E344-7011-BF46A7BEB429}"/>
              </a:ext>
            </a:extLst>
          </p:cNvPr>
          <p:cNvSpPr txBox="1"/>
          <p:nvPr/>
        </p:nvSpPr>
        <p:spPr>
          <a:xfrm>
            <a:off x="7022238" y="695325"/>
            <a:ext cx="489159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2400" dirty="0">
                <a:solidFill>
                  <a:srgbClr val="00B0F0"/>
                </a:solidFill>
              </a:rPr>
              <a:t>Divide members by total population </a:t>
            </a:r>
          </a:p>
          <a:p>
            <a:pPr marL="514350" indent="-514350">
              <a:buAutoNum type="arabicPeriod"/>
            </a:pPr>
            <a:r>
              <a:rPr lang="en-GB" sz="2400" dirty="0">
                <a:solidFill>
                  <a:srgbClr val="00B0F0"/>
                </a:solidFill>
              </a:rPr>
              <a:t>Multiply to sample amount (total number in survey)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333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Terminology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EC11CA-32D9-F9A9-6879-FA13C0BA0FC9}"/>
              </a:ext>
            </a:extLst>
          </p:cNvPr>
          <p:cNvSpPr txBox="1"/>
          <p:nvPr/>
        </p:nvSpPr>
        <p:spPr>
          <a:xfrm>
            <a:off x="1981200" y="1556793"/>
            <a:ext cx="82296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000" b="1" u="sng" dirty="0">
                <a:solidFill>
                  <a:prstClr val="black"/>
                </a:solidFill>
                <a:latin typeface="Calibri"/>
              </a:rPr>
              <a:t>Bias / biasing</a:t>
            </a:r>
            <a:r>
              <a:rPr lang="en-AU" sz="2000" dirty="0">
                <a:solidFill>
                  <a:prstClr val="black"/>
                </a:solidFill>
                <a:latin typeface="Calibri"/>
              </a:rPr>
              <a:t>: 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inclination or prejudice for or against one person or group, especially in a way considered to be unfair.</a:t>
            </a:r>
          </a:p>
          <a:p>
            <a:pPr>
              <a:lnSpc>
                <a:spcPct val="150000"/>
              </a:lnSpc>
            </a:pPr>
            <a:r>
              <a:rPr lang="en-GB" sz="2000" b="1" u="sng" dirty="0">
                <a:solidFill>
                  <a:prstClr val="black"/>
                </a:solidFill>
                <a:latin typeface="Calibri"/>
              </a:rPr>
              <a:t>Majority: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AU" sz="2000" dirty="0">
                <a:solidFill>
                  <a:srgbClr val="202124"/>
                </a:solidFill>
                <a:latin typeface="Calibri"/>
              </a:rPr>
              <a:t>the greater number.</a:t>
            </a:r>
            <a:endParaRPr lang="en-GB" sz="2000" dirty="0">
              <a:solidFill>
                <a:srgbClr val="202124"/>
              </a:solidFill>
              <a:latin typeface="Calibri"/>
            </a:endParaRPr>
          </a:p>
          <a:p>
            <a:pPr>
              <a:lnSpc>
                <a:spcPct val="150000"/>
              </a:lnSpc>
            </a:pPr>
            <a:r>
              <a:rPr lang="en-GB" sz="2000" b="1" u="sng" dirty="0">
                <a:solidFill>
                  <a:prstClr val="black"/>
                </a:solidFill>
                <a:latin typeface="Calibri"/>
              </a:rPr>
              <a:t>Minority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: the smaller number</a:t>
            </a:r>
          </a:p>
          <a:p>
            <a:pPr>
              <a:lnSpc>
                <a:spcPct val="150000"/>
              </a:lnSpc>
            </a:pPr>
            <a:r>
              <a:rPr lang="en-GB" sz="2000" b="1" u="sng" dirty="0">
                <a:solidFill>
                  <a:prstClr val="black"/>
                </a:solidFill>
                <a:latin typeface="Calibri"/>
              </a:rPr>
              <a:t>Glean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: </a:t>
            </a:r>
            <a:r>
              <a:rPr lang="en-GB" sz="2000" dirty="0">
                <a:solidFill>
                  <a:srgbClr val="202124"/>
                </a:solidFill>
                <a:latin typeface="Calibri"/>
              </a:rPr>
              <a:t>obtain (information) from various sources, often with difficulty.</a:t>
            </a:r>
          </a:p>
          <a:p>
            <a:pPr>
              <a:lnSpc>
                <a:spcPct val="150000"/>
              </a:lnSpc>
            </a:pPr>
            <a:endParaRPr lang="en-GB" sz="2000" dirty="0">
              <a:solidFill>
                <a:srgbClr val="202124"/>
              </a:solidFill>
              <a:latin typeface="Calibri"/>
            </a:endParaRPr>
          </a:p>
          <a:p>
            <a:pPr>
              <a:lnSpc>
                <a:spcPct val="150000"/>
              </a:lnSpc>
            </a:pPr>
            <a:r>
              <a:rPr lang="en-GB" sz="2000" b="1" u="sng" dirty="0">
                <a:solidFill>
                  <a:prstClr val="black"/>
                </a:solidFill>
                <a:latin typeface="Calibri"/>
              </a:rPr>
              <a:t>Homogeneous: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 of the same kind; alike.</a:t>
            </a:r>
          </a:p>
          <a:p>
            <a:pPr>
              <a:lnSpc>
                <a:spcPct val="150000"/>
              </a:lnSpc>
            </a:pPr>
            <a:endParaRPr lang="en-GB" sz="2000" dirty="0">
              <a:solidFill>
                <a:prstClr val="black"/>
              </a:solidFill>
              <a:latin typeface="Calibri"/>
            </a:endParaRPr>
          </a:p>
          <a:p>
            <a:pPr>
              <a:lnSpc>
                <a:spcPct val="150000"/>
              </a:lnSpc>
            </a:pPr>
            <a:r>
              <a:rPr lang="en-AU" sz="2000" b="1" u="sng" dirty="0">
                <a:solidFill>
                  <a:prstClr val="black"/>
                </a:solidFill>
                <a:latin typeface="Calibri"/>
              </a:rPr>
              <a:t>Proportion</a:t>
            </a:r>
            <a:r>
              <a:rPr lang="en-AU" sz="2000" dirty="0">
                <a:solidFill>
                  <a:prstClr val="black"/>
                </a:solidFill>
                <a:latin typeface="Calibri"/>
              </a:rPr>
              <a:t>: 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a part, share, or number considered in comparative relation to a whole.</a:t>
            </a:r>
          </a:p>
          <a:p>
            <a:pPr>
              <a:lnSpc>
                <a:spcPct val="150000"/>
              </a:lnSpc>
            </a:pPr>
            <a:r>
              <a:rPr lang="en-GB" sz="2000" b="1" u="sng" dirty="0">
                <a:solidFill>
                  <a:prstClr val="black"/>
                </a:solidFill>
                <a:latin typeface="Calibri"/>
              </a:rPr>
              <a:t>Gauging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: estimate or determine the amount, level, or volume of.</a:t>
            </a:r>
            <a:endParaRPr lang="en-AU" sz="2000" dirty="0">
              <a:solidFill>
                <a:prstClr val="black"/>
              </a:solidFill>
              <a:latin typeface="Calibri"/>
            </a:endParaRPr>
          </a:p>
          <a:p>
            <a:endParaRPr lang="en-AU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497C9-3776-9E6E-FECC-7150B277F5B0}"/>
              </a:ext>
            </a:extLst>
          </p:cNvPr>
          <p:cNvSpPr txBox="1"/>
          <p:nvPr/>
        </p:nvSpPr>
        <p:spPr>
          <a:xfrm>
            <a:off x="6888088" y="2060849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The suffix </a:t>
            </a:r>
            <a:r>
              <a:rPr lang="en-AU" b="1" u="sng" dirty="0">
                <a:solidFill>
                  <a:srgbClr val="FF0000"/>
                </a:solidFill>
                <a:latin typeface="Calibri"/>
              </a:rPr>
              <a:t>ITY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 means quality, state, or degree.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DD750-94DF-8192-DBCE-2E4B22EB4F92}"/>
              </a:ext>
            </a:extLst>
          </p:cNvPr>
          <p:cNvSpPr txBox="1"/>
          <p:nvPr/>
        </p:nvSpPr>
        <p:spPr>
          <a:xfrm>
            <a:off x="6426087" y="4150822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‘Homo’ prefix meaning ‘same’</a:t>
            </a:r>
          </a:p>
          <a:p>
            <a:r>
              <a:rPr lang="en-AU" dirty="0">
                <a:solidFill>
                  <a:srgbClr val="FF0000"/>
                </a:solidFill>
                <a:latin typeface="Calibri"/>
              </a:rPr>
              <a:t>‘</a:t>
            </a:r>
            <a:r>
              <a:rPr lang="en-AU" dirty="0" err="1">
                <a:solidFill>
                  <a:srgbClr val="FF0000"/>
                </a:solidFill>
                <a:latin typeface="Calibri"/>
              </a:rPr>
              <a:t>geneous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’ comes from the root ‘</a:t>
            </a:r>
            <a:r>
              <a:rPr lang="en-GB" dirty="0">
                <a:solidFill>
                  <a:srgbClr val="FF0000"/>
                </a:solidFill>
                <a:latin typeface="Calibri"/>
              </a:rPr>
              <a:t>genos’ meaning "kind, gender, race, stock"</a:t>
            </a:r>
            <a:endParaRPr lang="en-AU" dirty="0">
              <a:solidFill>
                <a:srgbClr val="FF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80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Terminology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EC11CA-32D9-F9A9-6879-FA13C0BA0FC9}"/>
              </a:ext>
            </a:extLst>
          </p:cNvPr>
          <p:cNvSpPr txBox="1"/>
          <p:nvPr/>
        </p:nvSpPr>
        <p:spPr>
          <a:xfrm>
            <a:off x="1981200" y="1556793"/>
            <a:ext cx="82296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000" b="1" u="sng" dirty="0">
                <a:solidFill>
                  <a:prstClr val="black"/>
                </a:solidFill>
                <a:latin typeface="Calibri"/>
              </a:rPr>
              <a:t>Bias / biasing</a:t>
            </a:r>
            <a:r>
              <a:rPr lang="en-AU" sz="2000" dirty="0">
                <a:solidFill>
                  <a:prstClr val="black"/>
                </a:solidFill>
                <a:latin typeface="Calibri"/>
              </a:rPr>
              <a:t>: 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inclination or prejudice for or against one person or group, especially in a way considered to be unfair.</a:t>
            </a:r>
          </a:p>
          <a:p>
            <a:pPr>
              <a:lnSpc>
                <a:spcPct val="150000"/>
              </a:lnSpc>
            </a:pPr>
            <a:r>
              <a:rPr lang="en-GB" sz="2000" b="1" u="sng" dirty="0">
                <a:solidFill>
                  <a:prstClr val="black"/>
                </a:solidFill>
                <a:latin typeface="Calibri"/>
              </a:rPr>
              <a:t>Majority: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AU" sz="2000" dirty="0">
                <a:solidFill>
                  <a:srgbClr val="202124"/>
                </a:solidFill>
                <a:latin typeface="Calibri"/>
              </a:rPr>
              <a:t>the greater number.</a:t>
            </a:r>
            <a:endParaRPr lang="en-GB" sz="2000" dirty="0">
              <a:solidFill>
                <a:srgbClr val="202124"/>
              </a:solidFill>
              <a:latin typeface="Calibri"/>
            </a:endParaRPr>
          </a:p>
          <a:p>
            <a:pPr>
              <a:lnSpc>
                <a:spcPct val="150000"/>
              </a:lnSpc>
            </a:pPr>
            <a:r>
              <a:rPr lang="en-GB" sz="2000" b="1" u="sng" dirty="0">
                <a:solidFill>
                  <a:prstClr val="black"/>
                </a:solidFill>
                <a:latin typeface="Calibri"/>
              </a:rPr>
              <a:t>Minority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: the smaller number</a:t>
            </a:r>
          </a:p>
          <a:p>
            <a:pPr>
              <a:lnSpc>
                <a:spcPct val="150000"/>
              </a:lnSpc>
            </a:pPr>
            <a:r>
              <a:rPr lang="en-GB" sz="2000" b="1" u="sng" dirty="0">
                <a:solidFill>
                  <a:prstClr val="black"/>
                </a:solidFill>
                <a:latin typeface="Calibri"/>
              </a:rPr>
              <a:t>Glean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: </a:t>
            </a:r>
            <a:r>
              <a:rPr lang="en-GB" sz="2000" dirty="0">
                <a:solidFill>
                  <a:srgbClr val="202124"/>
                </a:solidFill>
                <a:latin typeface="Calibri"/>
              </a:rPr>
              <a:t>obtain (information) from various sources, often with difficulty.</a:t>
            </a:r>
          </a:p>
          <a:p>
            <a:pPr>
              <a:lnSpc>
                <a:spcPct val="150000"/>
              </a:lnSpc>
            </a:pPr>
            <a:endParaRPr lang="en-GB" sz="2000" dirty="0">
              <a:solidFill>
                <a:srgbClr val="202124"/>
              </a:solidFill>
              <a:latin typeface="Calibri"/>
            </a:endParaRPr>
          </a:p>
          <a:p>
            <a:pPr>
              <a:lnSpc>
                <a:spcPct val="150000"/>
              </a:lnSpc>
            </a:pPr>
            <a:r>
              <a:rPr lang="en-GB" sz="2000" b="1" u="sng" dirty="0">
                <a:solidFill>
                  <a:prstClr val="black"/>
                </a:solidFill>
                <a:latin typeface="Calibri"/>
              </a:rPr>
              <a:t>Homogeneous: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 of the same kind; alike.</a:t>
            </a:r>
          </a:p>
          <a:p>
            <a:pPr>
              <a:lnSpc>
                <a:spcPct val="150000"/>
              </a:lnSpc>
            </a:pPr>
            <a:endParaRPr lang="en-GB" sz="2000" dirty="0">
              <a:solidFill>
                <a:prstClr val="black"/>
              </a:solidFill>
              <a:latin typeface="Calibri"/>
            </a:endParaRPr>
          </a:p>
          <a:p>
            <a:pPr>
              <a:lnSpc>
                <a:spcPct val="150000"/>
              </a:lnSpc>
            </a:pPr>
            <a:r>
              <a:rPr lang="en-AU" sz="2000" b="1" u="sng" dirty="0">
                <a:solidFill>
                  <a:prstClr val="black"/>
                </a:solidFill>
                <a:latin typeface="Calibri"/>
              </a:rPr>
              <a:t>Proportion</a:t>
            </a:r>
            <a:r>
              <a:rPr lang="en-AU" sz="2000" dirty="0">
                <a:solidFill>
                  <a:prstClr val="black"/>
                </a:solidFill>
                <a:latin typeface="Calibri"/>
              </a:rPr>
              <a:t>: 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a part, share, or number considered in comparative relation to a whole.</a:t>
            </a:r>
          </a:p>
          <a:p>
            <a:pPr>
              <a:lnSpc>
                <a:spcPct val="150000"/>
              </a:lnSpc>
            </a:pPr>
            <a:r>
              <a:rPr lang="en-GB" sz="2000" b="1" u="sng" dirty="0">
                <a:solidFill>
                  <a:prstClr val="black"/>
                </a:solidFill>
                <a:latin typeface="Calibri"/>
              </a:rPr>
              <a:t>Gauging</a:t>
            </a:r>
            <a:r>
              <a:rPr lang="en-GB" sz="2000" dirty="0">
                <a:solidFill>
                  <a:prstClr val="black"/>
                </a:solidFill>
                <a:latin typeface="Calibri"/>
              </a:rPr>
              <a:t>: estimate or determine the amount, level, or volume of.</a:t>
            </a:r>
            <a:endParaRPr lang="en-AU" sz="2000" dirty="0">
              <a:solidFill>
                <a:prstClr val="black"/>
              </a:solidFill>
              <a:latin typeface="Calibri"/>
            </a:endParaRPr>
          </a:p>
          <a:p>
            <a:endParaRPr lang="en-AU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96FD59-203B-C598-2769-F77415344D38}"/>
              </a:ext>
            </a:extLst>
          </p:cNvPr>
          <p:cNvSpPr/>
          <p:nvPr/>
        </p:nvSpPr>
        <p:spPr>
          <a:xfrm>
            <a:off x="5159896" y="1700808"/>
            <a:ext cx="864096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F6CC9B-F9AB-88DB-971C-5283DA444A65}"/>
              </a:ext>
            </a:extLst>
          </p:cNvPr>
          <p:cNvSpPr/>
          <p:nvPr/>
        </p:nvSpPr>
        <p:spPr>
          <a:xfrm>
            <a:off x="6801172" y="1671193"/>
            <a:ext cx="590973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5E979E-8F34-7273-2AA1-8F59CB9D1210}"/>
              </a:ext>
            </a:extLst>
          </p:cNvPr>
          <p:cNvSpPr/>
          <p:nvPr/>
        </p:nvSpPr>
        <p:spPr>
          <a:xfrm>
            <a:off x="5951985" y="2132856"/>
            <a:ext cx="57606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C2CB69-27A7-3410-0162-CC8F970A507A}"/>
              </a:ext>
            </a:extLst>
          </p:cNvPr>
          <p:cNvSpPr/>
          <p:nvPr/>
        </p:nvSpPr>
        <p:spPr>
          <a:xfrm>
            <a:off x="3647728" y="2564904"/>
            <a:ext cx="648072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F22D86-7CF7-4B00-3BAE-1F12CA68F371}"/>
              </a:ext>
            </a:extLst>
          </p:cNvPr>
          <p:cNvSpPr/>
          <p:nvPr/>
        </p:nvSpPr>
        <p:spPr>
          <a:xfrm>
            <a:off x="3647728" y="3064098"/>
            <a:ext cx="648072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2EF7C8-ECC2-81D3-A57B-32A769F60CD4}"/>
              </a:ext>
            </a:extLst>
          </p:cNvPr>
          <p:cNvSpPr/>
          <p:nvPr/>
        </p:nvSpPr>
        <p:spPr>
          <a:xfrm>
            <a:off x="6448585" y="3544200"/>
            <a:ext cx="727535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44DBA0-E7CC-3600-6687-3F797F8FD37D}"/>
              </a:ext>
            </a:extLst>
          </p:cNvPr>
          <p:cNvSpPr/>
          <p:nvPr/>
        </p:nvSpPr>
        <p:spPr>
          <a:xfrm>
            <a:off x="8472264" y="3532875"/>
            <a:ext cx="93610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16646B-67D8-AC3B-C260-742E14532DEB}"/>
              </a:ext>
            </a:extLst>
          </p:cNvPr>
          <p:cNvSpPr/>
          <p:nvPr/>
        </p:nvSpPr>
        <p:spPr>
          <a:xfrm>
            <a:off x="3666120" y="3494134"/>
            <a:ext cx="1152128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43867B-83AD-2BF8-C1BA-D8463F3C2537}"/>
              </a:ext>
            </a:extLst>
          </p:cNvPr>
          <p:cNvSpPr/>
          <p:nvPr/>
        </p:nvSpPr>
        <p:spPr>
          <a:xfrm>
            <a:off x="4511824" y="4437113"/>
            <a:ext cx="432048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07254A-5588-6336-4D7C-E92BBC5560F0}"/>
              </a:ext>
            </a:extLst>
          </p:cNvPr>
          <p:cNvSpPr/>
          <p:nvPr/>
        </p:nvSpPr>
        <p:spPr>
          <a:xfrm>
            <a:off x="3664986" y="5368354"/>
            <a:ext cx="2707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F5D0BB-04A9-EF92-0F50-45FF55A946CE}"/>
              </a:ext>
            </a:extLst>
          </p:cNvPr>
          <p:cNvSpPr/>
          <p:nvPr/>
        </p:nvSpPr>
        <p:spPr>
          <a:xfrm>
            <a:off x="4171669" y="5354596"/>
            <a:ext cx="511001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64E633-C018-35A4-CB3B-7006A64E03C6}"/>
              </a:ext>
            </a:extLst>
          </p:cNvPr>
          <p:cNvSpPr/>
          <p:nvPr/>
        </p:nvSpPr>
        <p:spPr>
          <a:xfrm>
            <a:off x="5163784" y="5319836"/>
            <a:ext cx="716193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B23613-D800-B590-9761-2772CC6338C0}"/>
              </a:ext>
            </a:extLst>
          </p:cNvPr>
          <p:cNvSpPr/>
          <p:nvPr/>
        </p:nvSpPr>
        <p:spPr>
          <a:xfrm>
            <a:off x="3195734" y="6309320"/>
            <a:ext cx="812035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390BEB-35AD-4F52-41EF-63635BD2ABA7}"/>
              </a:ext>
            </a:extLst>
          </p:cNvPr>
          <p:cNvSpPr/>
          <p:nvPr/>
        </p:nvSpPr>
        <p:spPr>
          <a:xfrm>
            <a:off x="4469497" y="6260305"/>
            <a:ext cx="948751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8BB33F-AE37-F75D-06F2-B925B283FE1C}"/>
              </a:ext>
            </a:extLst>
          </p:cNvPr>
          <p:cNvSpPr/>
          <p:nvPr/>
        </p:nvSpPr>
        <p:spPr>
          <a:xfrm>
            <a:off x="5974209" y="6258851"/>
            <a:ext cx="697856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298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wrong with this question?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many times do you go to the gym?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2279576" y="2708920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5640" y="270892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prstClr val="black"/>
                </a:solidFill>
                <a:latin typeface="Calibri"/>
              </a:rPr>
              <a:t>1 – 5</a:t>
            </a:r>
          </a:p>
        </p:txBody>
      </p:sp>
      <p:sp>
        <p:nvSpPr>
          <p:cNvPr id="6" name="Rectangle 5"/>
          <p:cNvSpPr/>
          <p:nvPr/>
        </p:nvSpPr>
        <p:spPr>
          <a:xfrm>
            <a:off x="4079776" y="2692732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55840" y="269273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prstClr val="black"/>
                </a:solidFill>
                <a:latin typeface="Calibri"/>
              </a:rPr>
              <a:t>5 – 10 </a:t>
            </a:r>
          </a:p>
        </p:txBody>
      </p:sp>
      <p:sp>
        <p:nvSpPr>
          <p:cNvPr id="8" name="Rectangle 7"/>
          <p:cNvSpPr/>
          <p:nvPr/>
        </p:nvSpPr>
        <p:spPr>
          <a:xfrm>
            <a:off x="6023992" y="2708920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0056" y="270892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prstClr val="black"/>
                </a:solidFill>
                <a:latin typeface="Calibri"/>
              </a:rPr>
              <a:t>10 –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4232" y="2692732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0296" y="269273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prstClr val="black"/>
                </a:solidFill>
                <a:latin typeface="Calibri"/>
              </a:rPr>
              <a:t>15 – 20</a:t>
            </a:r>
          </a:p>
        </p:txBody>
      </p:sp>
      <p:sp>
        <p:nvSpPr>
          <p:cNvPr id="12" name="Cloud Callout 11"/>
          <p:cNvSpPr/>
          <p:nvPr/>
        </p:nvSpPr>
        <p:spPr>
          <a:xfrm>
            <a:off x="7565558" y="188640"/>
            <a:ext cx="3102443" cy="1296144"/>
          </a:xfrm>
          <a:prstGeom prst="cloudCallout">
            <a:avLst>
              <a:gd name="adj1" fmla="val -35094"/>
              <a:gd name="adj2" fmla="val 67051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No Time Frame</a:t>
            </a:r>
          </a:p>
        </p:txBody>
      </p:sp>
      <p:sp>
        <p:nvSpPr>
          <p:cNvPr id="13" name="Cloud Callout 12"/>
          <p:cNvSpPr/>
          <p:nvPr/>
        </p:nvSpPr>
        <p:spPr>
          <a:xfrm>
            <a:off x="2063553" y="4077072"/>
            <a:ext cx="3313225" cy="1584176"/>
          </a:xfrm>
          <a:prstGeom prst="cloudCallout">
            <a:avLst>
              <a:gd name="adj1" fmla="val -20833"/>
              <a:gd name="adj2" fmla="val -100215"/>
            </a:avLst>
          </a:prstGeom>
          <a:solidFill>
            <a:srgbClr val="66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What if you don’t use the gym?</a:t>
            </a:r>
          </a:p>
        </p:txBody>
      </p:sp>
      <p:sp>
        <p:nvSpPr>
          <p:cNvPr id="14" name="Cloud Callout 13"/>
          <p:cNvSpPr/>
          <p:nvPr/>
        </p:nvSpPr>
        <p:spPr>
          <a:xfrm>
            <a:off x="7248129" y="4077072"/>
            <a:ext cx="3419872" cy="2016224"/>
          </a:xfrm>
          <a:prstGeom prst="cloudCallout">
            <a:avLst>
              <a:gd name="adj1" fmla="val 25043"/>
              <a:gd name="adj2" fmla="val -93299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What if you use the gym more than 20 times?</a:t>
            </a:r>
          </a:p>
        </p:txBody>
      </p:sp>
      <p:sp>
        <p:nvSpPr>
          <p:cNvPr id="15" name="Oval 14"/>
          <p:cNvSpPr/>
          <p:nvPr/>
        </p:nvSpPr>
        <p:spPr>
          <a:xfrm>
            <a:off x="3215680" y="2708920"/>
            <a:ext cx="576064" cy="5760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511824" y="2682498"/>
            <a:ext cx="576064" cy="5760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Cloud Callout 16"/>
          <p:cNvSpPr/>
          <p:nvPr/>
        </p:nvSpPr>
        <p:spPr>
          <a:xfrm>
            <a:off x="2567609" y="804545"/>
            <a:ext cx="3102443" cy="1296144"/>
          </a:xfrm>
          <a:prstGeom prst="cloudCallout">
            <a:avLst>
              <a:gd name="adj1" fmla="val 16723"/>
              <a:gd name="adj2" fmla="val 87533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Overlapping Options</a:t>
            </a:r>
          </a:p>
        </p:txBody>
      </p:sp>
    </p:spTree>
    <p:extLst>
      <p:ext uri="{BB962C8B-B14F-4D97-AF65-F5344CB8AC3E}">
        <p14:creationId xmlns:p14="http://schemas.microsoft.com/office/powerpoint/2010/main" val="383848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wrong with this question?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Given than smoking kills millions of people each year, don’t you agree that it should be banned?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2495600" y="3429000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71664" y="342900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prstClr val="black"/>
                </a:solidFill>
                <a:latin typeface="Calibri"/>
              </a:rPr>
              <a:t>Yes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55840" y="3424970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31904" y="342497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prstClr val="black"/>
                </a:solidFill>
                <a:latin typeface="Calibri"/>
              </a:rPr>
              <a:t>No</a:t>
            </a:r>
          </a:p>
        </p:txBody>
      </p:sp>
      <p:sp>
        <p:nvSpPr>
          <p:cNvPr id="11" name="Cloud Callout 10"/>
          <p:cNvSpPr/>
          <p:nvPr/>
        </p:nvSpPr>
        <p:spPr>
          <a:xfrm>
            <a:off x="5663953" y="188640"/>
            <a:ext cx="3102443" cy="1296144"/>
          </a:xfrm>
          <a:prstGeom prst="cloudCallout">
            <a:avLst>
              <a:gd name="adj1" fmla="val -35094"/>
              <a:gd name="adj2" fmla="val 67051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Emotive Language</a:t>
            </a:r>
          </a:p>
        </p:txBody>
      </p:sp>
      <p:sp>
        <p:nvSpPr>
          <p:cNvPr id="12" name="Cloud Callout 11"/>
          <p:cNvSpPr/>
          <p:nvPr/>
        </p:nvSpPr>
        <p:spPr>
          <a:xfrm>
            <a:off x="6384033" y="2924944"/>
            <a:ext cx="3102443" cy="1296144"/>
          </a:xfrm>
          <a:prstGeom prst="cloudCallout">
            <a:avLst>
              <a:gd name="adj1" fmla="val -50782"/>
              <a:gd name="adj2" fmla="val -67217"/>
            </a:avLst>
          </a:prstGeom>
          <a:solidFill>
            <a:srgbClr val="66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Leading Question</a:t>
            </a:r>
          </a:p>
        </p:txBody>
      </p:sp>
      <p:sp>
        <p:nvSpPr>
          <p:cNvPr id="13" name="Cloud Callout 12"/>
          <p:cNvSpPr/>
          <p:nvPr/>
        </p:nvSpPr>
        <p:spPr>
          <a:xfrm>
            <a:off x="1847528" y="4365104"/>
            <a:ext cx="4680520" cy="2232248"/>
          </a:xfrm>
          <a:prstGeom prst="cloudCallout">
            <a:avLst>
              <a:gd name="adj1" fmla="val -3037"/>
              <a:gd name="adj2" fmla="val -74461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No option for those without an opinion/undecided</a:t>
            </a:r>
          </a:p>
        </p:txBody>
      </p:sp>
    </p:spTree>
    <p:extLst>
      <p:ext uri="{BB962C8B-B14F-4D97-AF65-F5344CB8AC3E}">
        <p14:creationId xmlns:p14="http://schemas.microsoft.com/office/powerpoint/2010/main" val="98363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wrong with this question?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often do you walk your dog?</a:t>
            </a:r>
          </a:p>
        </p:txBody>
      </p:sp>
      <p:sp>
        <p:nvSpPr>
          <p:cNvPr id="4" name="Rectangle 3"/>
          <p:cNvSpPr/>
          <p:nvPr/>
        </p:nvSpPr>
        <p:spPr>
          <a:xfrm>
            <a:off x="2279576" y="2852936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5640" y="2852936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prstClr val="black"/>
                </a:solidFill>
                <a:latin typeface="Calibri"/>
              </a:rPr>
              <a:t>Never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079776" y="2836748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55840" y="2636913"/>
            <a:ext cx="13681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prstClr val="black"/>
                </a:solidFill>
                <a:latin typeface="Calibri"/>
              </a:rPr>
              <a:t>Quite A lot </a:t>
            </a:r>
          </a:p>
        </p:txBody>
      </p:sp>
      <p:sp>
        <p:nvSpPr>
          <p:cNvPr id="8" name="Rectangle 7"/>
          <p:cNvSpPr/>
          <p:nvPr/>
        </p:nvSpPr>
        <p:spPr>
          <a:xfrm>
            <a:off x="6023992" y="2852936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0056" y="2852936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prstClr val="black"/>
                </a:solidFill>
                <a:latin typeface="Calibri"/>
              </a:rPr>
              <a:t>A 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4232" y="2836748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0296" y="2836748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prstClr val="black"/>
                </a:solidFill>
                <a:latin typeface="Calibri"/>
              </a:rPr>
              <a:t>Regularly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6621" y="3789040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42685" y="3645025"/>
            <a:ext cx="18131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prstClr val="black"/>
                </a:solidFill>
                <a:latin typeface="Calibri"/>
              </a:rPr>
              <a:t>All the time</a:t>
            </a:r>
          </a:p>
        </p:txBody>
      </p:sp>
      <p:sp>
        <p:nvSpPr>
          <p:cNvPr id="16" name="Cloud Callout 15"/>
          <p:cNvSpPr/>
          <p:nvPr/>
        </p:nvSpPr>
        <p:spPr>
          <a:xfrm>
            <a:off x="7565558" y="188640"/>
            <a:ext cx="3102443" cy="1296144"/>
          </a:xfrm>
          <a:prstGeom prst="cloudCallout">
            <a:avLst>
              <a:gd name="adj1" fmla="val -35094"/>
              <a:gd name="adj2" fmla="val 67051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No Time Frame</a:t>
            </a:r>
          </a:p>
        </p:txBody>
      </p:sp>
      <p:sp>
        <p:nvSpPr>
          <p:cNvPr id="17" name="Cloud Callout 16"/>
          <p:cNvSpPr/>
          <p:nvPr/>
        </p:nvSpPr>
        <p:spPr>
          <a:xfrm>
            <a:off x="3161421" y="458854"/>
            <a:ext cx="3102443" cy="1296144"/>
          </a:xfrm>
          <a:prstGeom prst="cloudCallout">
            <a:avLst>
              <a:gd name="adj1" fmla="val 1986"/>
              <a:gd name="adj2" fmla="val 118255"/>
            </a:avLst>
          </a:prstGeom>
          <a:solidFill>
            <a:srgbClr val="66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Ambiguous options</a:t>
            </a:r>
          </a:p>
        </p:txBody>
      </p:sp>
      <p:sp>
        <p:nvSpPr>
          <p:cNvPr id="18" name="Cloud Callout 17"/>
          <p:cNvSpPr/>
          <p:nvPr/>
        </p:nvSpPr>
        <p:spPr>
          <a:xfrm>
            <a:off x="6921043" y="3962585"/>
            <a:ext cx="3102443" cy="1296144"/>
          </a:xfrm>
          <a:prstGeom prst="cloudCallout">
            <a:avLst>
              <a:gd name="adj1" fmla="val -18931"/>
              <a:gd name="adj2" fmla="val -82009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Overlapping options?</a:t>
            </a:r>
          </a:p>
        </p:txBody>
      </p:sp>
      <p:sp>
        <p:nvSpPr>
          <p:cNvPr id="19" name="Cloud Callout 18"/>
          <p:cNvSpPr/>
          <p:nvPr/>
        </p:nvSpPr>
        <p:spPr>
          <a:xfrm>
            <a:off x="2921550" y="4797152"/>
            <a:ext cx="3102443" cy="1584176"/>
          </a:xfrm>
          <a:prstGeom prst="cloudCallout">
            <a:avLst>
              <a:gd name="adj1" fmla="val -14177"/>
              <a:gd name="adj2" fmla="val -9680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What if you don’t own a dog?</a:t>
            </a:r>
          </a:p>
        </p:txBody>
      </p:sp>
    </p:spTree>
    <p:extLst>
      <p:ext uri="{BB962C8B-B14F-4D97-AF65-F5344CB8AC3E}">
        <p14:creationId xmlns:p14="http://schemas.microsoft.com/office/powerpoint/2010/main" val="299054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802807-8E0D-98D1-921C-9B8F8FE5C2C9}"/>
              </a:ext>
            </a:extLst>
          </p:cNvPr>
          <p:cNvSpPr txBox="1"/>
          <p:nvPr/>
        </p:nvSpPr>
        <p:spPr>
          <a:xfrm>
            <a:off x="387077" y="252442"/>
            <a:ext cx="1141597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800" b="1" i="0" dirty="0">
                <a:solidFill>
                  <a:srgbClr val="00B0F0"/>
                </a:solidFill>
                <a:effectLst/>
                <a:latin typeface="inherit"/>
              </a:rPr>
              <a:t>Selection bias</a:t>
            </a:r>
            <a:r>
              <a:rPr lang="en-GB" sz="2800" b="0" i="0" dirty="0">
                <a:solidFill>
                  <a:srgbClr val="474645"/>
                </a:solidFill>
                <a:effectLst/>
                <a:latin typeface="inherit"/>
              </a:rPr>
              <a:t>, where the results are skewed a certain way because you’ve </a:t>
            </a:r>
            <a:r>
              <a:rPr lang="en-GB" sz="2800" b="0" i="0" dirty="0">
                <a:solidFill>
                  <a:srgbClr val="00B0F0"/>
                </a:solidFill>
                <a:effectLst/>
                <a:latin typeface="inherit"/>
              </a:rPr>
              <a:t>only captured feedback from a certain segment of your audience.</a:t>
            </a:r>
          </a:p>
          <a:p>
            <a:pPr algn="l" fontAlgn="base"/>
            <a:r>
              <a:rPr lang="en-GB" sz="2800" dirty="0">
                <a:solidFill>
                  <a:srgbClr val="00B0F0"/>
                </a:solidFill>
                <a:latin typeface="inherit"/>
              </a:rPr>
              <a:t>E.G :</a:t>
            </a:r>
          </a:p>
          <a:p>
            <a:pPr marL="457200" indent="-457200" algn="l" fontAlgn="base">
              <a:buFontTx/>
              <a:buChar char="-"/>
            </a:pPr>
            <a:r>
              <a:rPr lang="en-GB" sz="2800" b="0" i="0" dirty="0">
                <a:solidFill>
                  <a:srgbClr val="00B0F0"/>
                </a:solidFill>
                <a:effectLst/>
                <a:latin typeface="inherit"/>
              </a:rPr>
              <a:t>Only asked old people or gender specific </a:t>
            </a:r>
          </a:p>
          <a:p>
            <a:pPr marL="457200" indent="-457200" algn="l" fontAlgn="base">
              <a:buFontTx/>
              <a:buChar char="-"/>
            </a:pPr>
            <a:r>
              <a:rPr lang="en-GB" sz="2800" dirty="0">
                <a:solidFill>
                  <a:srgbClr val="00B0F0"/>
                </a:solidFill>
                <a:latin typeface="inherit"/>
              </a:rPr>
              <a:t>Chosen a time or day that would NOT be inclusive </a:t>
            </a:r>
          </a:p>
          <a:p>
            <a:pPr algn="l" fontAlgn="base"/>
            <a:endParaRPr lang="en-GB" sz="2800" b="0" i="0" dirty="0">
              <a:solidFill>
                <a:srgbClr val="474645"/>
              </a:solidFill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800" b="1" i="0" dirty="0">
                <a:solidFill>
                  <a:srgbClr val="00B0F0"/>
                </a:solidFill>
                <a:effectLst/>
                <a:latin typeface="inherit"/>
              </a:rPr>
              <a:t>Response bias</a:t>
            </a:r>
            <a:r>
              <a:rPr lang="en-GB" sz="2800" b="0" i="0" dirty="0">
                <a:solidFill>
                  <a:srgbClr val="474645"/>
                </a:solidFill>
                <a:effectLst/>
                <a:latin typeface="inherit"/>
              </a:rPr>
              <a:t>, where there’s something about </a:t>
            </a:r>
            <a:r>
              <a:rPr lang="en-GB" sz="2800" b="0" i="0" dirty="0">
                <a:solidFill>
                  <a:srgbClr val="00B0F0"/>
                </a:solidFill>
                <a:effectLst/>
                <a:latin typeface="inherit"/>
              </a:rPr>
              <a:t>how the actual survey </a:t>
            </a:r>
            <a:r>
              <a:rPr lang="en-GB" sz="2800" b="0" i="0" dirty="0">
                <a:solidFill>
                  <a:srgbClr val="474645"/>
                </a:solidFill>
                <a:effectLst/>
                <a:latin typeface="inherit"/>
              </a:rPr>
              <a:t>questionnaire </a:t>
            </a:r>
            <a:r>
              <a:rPr lang="en-GB" sz="2800" b="0" i="0" dirty="0">
                <a:solidFill>
                  <a:srgbClr val="00B0F0"/>
                </a:solidFill>
                <a:effectLst/>
                <a:latin typeface="inherit"/>
              </a:rPr>
              <a:t>is constructed </a:t>
            </a:r>
            <a:r>
              <a:rPr lang="en-GB" sz="2800" b="0" i="0" dirty="0">
                <a:solidFill>
                  <a:srgbClr val="474645"/>
                </a:solidFill>
                <a:effectLst/>
                <a:latin typeface="inherit"/>
              </a:rPr>
              <a:t>that </a:t>
            </a:r>
            <a:r>
              <a:rPr lang="en-GB" sz="2800" b="0" i="0" dirty="0">
                <a:solidFill>
                  <a:srgbClr val="00B0F0"/>
                </a:solidFill>
                <a:effectLst/>
                <a:latin typeface="inherit"/>
              </a:rPr>
              <a:t>encourages a certain type of answer, </a:t>
            </a:r>
            <a:r>
              <a:rPr lang="en-GB" sz="2800" b="0" i="0" dirty="0">
                <a:solidFill>
                  <a:srgbClr val="474645"/>
                </a:solidFill>
                <a:effectLst/>
                <a:latin typeface="inherit"/>
              </a:rPr>
              <a:t>leading to measurement error.</a:t>
            </a:r>
          </a:p>
          <a:p>
            <a:pPr algn="l" fontAlgn="base"/>
            <a:r>
              <a:rPr lang="en-GB" sz="2800" dirty="0">
                <a:solidFill>
                  <a:srgbClr val="00B0F0"/>
                </a:solidFill>
                <a:latin typeface="inherit"/>
              </a:rPr>
              <a:t>E.g.</a:t>
            </a:r>
            <a:endParaRPr lang="en-GB" sz="2800" b="0" i="0" dirty="0">
              <a:solidFill>
                <a:srgbClr val="00B0F0"/>
              </a:solidFill>
              <a:effectLst/>
              <a:latin typeface="inherit"/>
            </a:endParaRPr>
          </a:p>
          <a:p>
            <a:pPr marL="457200" indent="-457200">
              <a:buFontTx/>
              <a:buChar char="-"/>
            </a:pPr>
            <a:r>
              <a:rPr lang="en-AU" sz="2800" dirty="0">
                <a:solidFill>
                  <a:srgbClr val="00B0F0"/>
                </a:solidFill>
              </a:rPr>
              <a:t>Leading question </a:t>
            </a:r>
          </a:p>
          <a:p>
            <a:pPr marL="457200" indent="-457200">
              <a:buFontTx/>
              <a:buChar char="-"/>
            </a:pPr>
            <a:r>
              <a:rPr lang="en-AU" sz="2800" dirty="0">
                <a:solidFill>
                  <a:srgbClr val="00B0F0"/>
                </a:solidFill>
              </a:rPr>
              <a:t>Choices for response are poorly displayed or arranged  </a:t>
            </a:r>
          </a:p>
        </p:txBody>
      </p:sp>
    </p:spTree>
    <p:extLst>
      <p:ext uri="{BB962C8B-B14F-4D97-AF65-F5344CB8AC3E}">
        <p14:creationId xmlns:p14="http://schemas.microsoft.com/office/powerpoint/2010/main" val="1135166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9CED-4B42-412E-FFCD-4B486859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30FE3-D5FE-8008-E9C8-ED7C4BADA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survey is conducted asking 100 randomly selected adults how many children they have.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Which method could lead to bias? Why? </a:t>
            </a:r>
          </a:p>
          <a:p>
            <a:pPr marL="514350" indent="-514350">
              <a:buAutoNum type="arabicPeriod"/>
            </a:pPr>
            <a:r>
              <a:rPr lang="en-US" dirty="0"/>
              <a:t>Asking people waiting outside a primary school at 3pm </a:t>
            </a:r>
          </a:p>
          <a:p>
            <a:pPr marL="514350" indent="-514350">
              <a:buAutoNum type="arabicPeriod"/>
            </a:pPr>
            <a:r>
              <a:rPr lang="en-US" dirty="0"/>
              <a:t>Randomly selecting people at a night club </a:t>
            </a:r>
          </a:p>
          <a:p>
            <a:pPr marL="514350" indent="-514350">
              <a:buAutoNum type="arabicPeriod"/>
            </a:pPr>
            <a:r>
              <a:rPr lang="en-US" dirty="0"/>
              <a:t>Randomly choosing 100 adults from the national census </a:t>
            </a:r>
          </a:p>
        </p:txBody>
      </p:sp>
    </p:spTree>
    <p:extLst>
      <p:ext uri="{BB962C8B-B14F-4D97-AF65-F5344CB8AC3E}">
        <p14:creationId xmlns:p14="http://schemas.microsoft.com/office/powerpoint/2010/main" val="1344135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B5C3-F0EB-3620-8531-BB2B090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a potential bias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8EF50-281F-5F6A-A319-51FB88C7F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Mr. Brown wanted to find out if the road through Stonehouse was dangerous. He counted the number of cars driving up the high street for two hours on a Sunday afternoon.</a:t>
            </a:r>
          </a:p>
        </p:txBody>
      </p:sp>
    </p:spTree>
    <p:extLst>
      <p:ext uri="{BB962C8B-B14F-4D97-AF65-F5344CB8AC3E}">
        <p14:creationId xmlns:p14="http://schemas.microsoft.com/office/powerpoint/2010/main" val="2569737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B5C3-F0EB-3620-8531-BB2B090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a potential bias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8EF50-281F-5F6A-A319-51FB88C7F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 company wants to find out how much people are prepared to spend on a new TV. They survey 5000 people on the internet via social media.</a:t>
            </a:r>
          </a:p>
          <a:p>
            <a:pPr marL="0" indent="0">
              <a:buNone/>
            </a:pPr>
            <a:r>
              <a:rPr lang="en-AU" dirty="0"/>
              <a:t>- Think: what would make you want to do a survey online? </a:t>
            </a:r>
          </a:p>
        </p:txBody>
      </p:sp>
    </p:spTree>
    <p:extLst>
      <p:ext uri="{BB962C8B-B14F-4D97-AF65-F5344CB8AC3E}">
        <p14:creationId xmlns:p14="http://schemas.microsoft.com/office/powerpoint/2010/main" val="4175339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B5C3-F0EB-3620-8531-BB2B090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a potential bias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8EF50-281F-5F6A-A319-51FB88C7F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Mr. Davies wanted to know whether students should be allowed wear hats inside. He asked 10 people in the staffroom.</a:t>
            </a:r>
          </a:p>
        </p:txBody>
      </p:sp>
    </p:spTree>
    <p:extLst>
      <p:ext uri="{BB962C8B-B14F-4D97-AF65-F5344CB8AC3E}">
        <p14:creationId xmlns:p14="http://schemas.microsoft.com/office/powerpoint/2010/main" val="2802780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B5C3-F0EB-3620-8531-BB2B090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a potential bias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8EF50-281F-5F6A-A319-51FB88C7F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Eating 5 veg and 2 fruit daily helps improve quality of life, do you think students should receive free lunch if its healthy?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Yes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no </a:t>
            </a:r>
          </a:p>
        </p:txBody>
      </p:sp>
    </p:spTree>
    <p:extLst>
      <p:ext uri="{BB962C8B-B14F-4D97-AF65-F5344CB8AC3E}">
        <p14:creationId xmlns:p14="http://schemas.microsoft.com/office/powerpoint/2010/main" val="4254270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B5C3-F0EB-3620-8531-BB2B090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a potential bias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8EF50-281F-5F6A-A319-51FB88C7F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Eating 5 veg and 2 fruit daily helps improve quality of life, how often do you eat vegetables?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yes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no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sometimes </a:t>
            </a:r>
          </a:p>
        </p:txBody>
      </p:sp>
    </p:spTree>
    <p:extLst>
      <p:ext uri="{BB962C8B-B14F-4D97-AF65-F5344CB8AC3E}">
        <p14:creationId xmlns:p14="http://schemas.microsoft.com/office/powerpoint/2010/main" val="2297636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367E-F3FE-1F92-EA3C-DF2BC83D6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F4572-693E-FF43-A62C-C952C9144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Page 361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6833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818</Words>
  <Application>Microsoft Office PowerPoint</Application>
  <PresentationFormat>Widescreen</PresentationFormat>
  <Paragraphs>104</Paragraphs>
  <Slides>16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inherit</vt:lpstr>
      <vt:lpstr>Wingdings</vt:lpstr>
      <vt:lpstr>Office Theme</vt:lpstr>
      <vt:lpstr>1_Office Theme</vt:lpstr>
      <vt:lpstr>2_Office Theme</vt:lpstr>
      <vt:lpstr>Lesson objective </vt:lpstr>
      <vt:lpstr>PowerPoint Presentation</vt:lpstr>
      <vt:lpstr>PowerPoint Presentation</vt:lpstr>
      <vt:lpstr>Terminology</vt:lpstr>
      <vt:lpstr>Terminology</vt:lpstr>
      <vt:lpstr>What is wrong with this question?</vt:lpstr>
      <vt:lpstr>What is wrong with this question?</vt:lpstr>
      <vt:lpstr>What is wrong with this question?</vt:lpstr>
      <vt:lpstr>PowerPoint Presentation</vt:lpstr>
      <vt:lpstr>Think </vt:lpstr>
      <vt:lpstr>Write a potential bias</vt:lpstr>
      <vt:lpstr>Write a potential bias</vt:lpstr>
      <vt:lpstr>Write a potential bias</vt:lpstr>
      <vt:lpstr>Write a potential bias</vt:lpstr>
      <vt:lpstr>Write a potential bias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7</cp:revision>
  <dcterms:created xsi:type="dcterms:W3CDTF">2022-11-09T04:17:40Z</dcterms:created>
  <dcterms:modified xsi:type="dcterms:W3CDTF">2022-11-09T13:37:35Z</dcterms:modified>
</cp:coreProperties>
</file>
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20"/>
  </p:notesMasterIdLst>
  <p:sldIdLst>
    <p:sldId id="262" r:id="rId5"/>
    <p:sldId id="258" r:id="rId6"/>
    <p:sldId id="269" r:id="rId7"/>
    <p:sldId id="270" r:id="rId8"/>
    <p:sldId id="271" r:id="rId9"/>
    <p:sldId id="272" r:id="rId10"/>
    <p:sldId id="267" r:id="rId11"/>
    <p:sldId id="261" r:id="rId12"/>
    <p:sldId id="273" r:id="rId13"/>
    <p:sldId id="279" r:id="rId14"/>
    <p:sldId id="280" r:id="rId15"/>
    <p:sldId id="260" r:id="rId16"/>
    <p:sldId id="256" r:id="rId17"/>
    <p:sldId id="257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EBDF8-F9E2-4114-AF04-87229D6CF6B0}" type="datetimeFigureOut">
              <a:rPr lang="en-AU" smtClean="0"/>
              <a:t>21/11/2022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9093F-0979-4F20-9671-0F7A3500C0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609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sheet available from </a:t>
            </a:r>
            <a:r>
              <a:rPr lang="en-US" dirty="0" err="1"/>
              <a:t>shareddrive</a:t>
            </a:r>
            <a:r>
              <a:rPr lang="en-US" dirty="0"/>
              <a:t>, strands, measurement Year 8 perimeter and area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9093F-0979-4F20-9671-0F7A3500C04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255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0388-E30D-424C-9C3D-AB6391554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1BD10-5299-4BF5-98BD-6F077264D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AFF9D-6BD8-4801-A953-6205C229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21/11/2022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98CEA-806C-4AB1-A21E-4CC368ED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E2B67-9156-4B9B-B634-CB3190E76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9271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B657-037E-454B-B0D2-F04447A9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A3459-7660-47EC-9574-08885AABD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A702A-8988-4DC5-8B41-6E2BD74F9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21/11/2022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4D8FF-01DA-4FAF-9E6B-61E5E756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5F74A-CA05-432C-8A7F-9DA3E010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469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B7D1-23E2-49EB-855A-22FD1F9C7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53246-44AF-4E69-848B-D7AAE9EEA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B8133-291A-4924-93DA-DA644D5C9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21/11/2022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79B3B-7E02-4066-8C9E-6EF793BB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03521-19E0-4ACB-A431-CBFDBB493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76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7C5A-A1CA-40AC-9250-E8AB85F5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17C92-A2D7-4335-80AD-0FDD994A0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94FA2-0A94-4C63-8AE3-A5A09B7D9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F70CE-39EC-4873-B798-ED0AD6332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21/11/2022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62227-BEBF-4BBB-9C3B-68595FFCD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AB2E4-8CFC-47AB-98A4-BF063AD03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6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EB1CC-6371-4861-A6BE-4F6E2A9CF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8A534-333C-4ABD-9CFB-F5F18506D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08E4F-3C31-4BFE-A547-FEBEEA14B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D0FEB-AEFA-415F-BB3A-E1173D3DC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1C6F4E-C092-4CFC-B410-78CEA6D12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40717D-0F19-458F-B671-2FA483DD7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21/11/2022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E743C-82A3-4AFE-ADF7-23CBCD9F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003BF0-8ACD-40C4-A071-14E20920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7534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1DD6-96FA-451B-848C-9B029D20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50842-C9F6-40B9-AF92-3867B890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21/11/2022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488353-94B9-4FE5-890E-DCF3621C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C9F7F-543D-4205-9DFF-3792D53CC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079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8D3F5-EC57-43E9-BD7B-25C60F25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21/11/2022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45791-0447-4241-A358-75CCA2E8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923E6-5192-491A-9CD4-15FCCEB5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45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754E-14A4-4BAF-951C-822CB5987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F9245-1DDF-46D0-8922-78CC97FAE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83B50-7850-4BDC-B1AE-69435565B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F6E88-F5C7-4959-BF50-714965942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21/11/2022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DF68A-B76F-4FDE-8E4E-630680B84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9A642-683F-4892-861E-F0BF7D9C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107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C37F7-53E8-4FFA-8018-312EFC555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A52C08-3B56-4369-9390-CD808DDB2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F28CB-2E9A-4019-B261-FA4A95128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CB158-0EAE-4E2D-9C82-E7FC3C09A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21/11/2022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748CD-9048-4D94-A078-25385717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EB213-D1AD-4CBD-9316-86CFD0B5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968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B0301-89E6-4AB1-B4ED-E0805538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E70D2-8BAA-43DF-9F20-2622DEF22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A9C9-3FD1-4321-9872-DB33F198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21/11/2022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08CCB-1683-4845-A91D-305987536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5AC14-E5BB-4E30-B1FA-5C319FD0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06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3DF5A8-E64A-469D-8D16-BFF9A7BBA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88251-E2BE-413D-BA22-ED0816A24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7CCAC-E1EC-46E3-84E7-DF68B8AD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21/11/2022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CEA5E-BC86-4F09-A6F1-BD0B75153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B7351-F2BC-4709-ADA8-BCAD9750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1642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4297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389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441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10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738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3782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5308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7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277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4675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3491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1576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633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6363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4098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9064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0803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3537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7234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2727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1229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3828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3028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9899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8252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4261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2835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6410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841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592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3296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6397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675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0A38AA-8328-42B5-BE69-68370DEB8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8F475-5497-4BBF-A748-FB4908E57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CD03D-C230-45A1-9337-F8FB049D7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7FC3E-8FAE-4104-AE60-DCC96648AB11}" type="datetimeFigureOut">
              <a:rPr lang="en-AU" smtClean="0"/>
              <a:t>21/11/2022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A8243-A837-4C44-AD3D-46410AC800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70330-F8AE-4764-B827-0031B322E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80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E87C6-93E2-40DB-B9FF-42C846A24D2B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36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30853-795F-4073-A39E-93864F215CA1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02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AD2FC-50B4-43B1-9CB7-F33A63B396A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286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62EA1D7-BD02-8259-D4D3-144C27A6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7AFA03-641F-50DD-F6FD-38C488D75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3600" u="sng" dirty="0"/>
              <a:t>Title: </a:t>
            </a:r>
            <a:r>
              <a:rPr lang="en-AU" sz="3200" b="1" dirty="0">
                <a:solidFill>
                  <a:srgbClr val="00B0F0"/>
                </a:solidFill>
              </a:rPr>
              <a:t>Area review </a:t>
            </a:r>
            <a:endParaRPr lang="en-AU" sz="3600" u="sng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sz="3600" u="sng" dirty="0">
                <a:solidFill>
                  <a:srgbClr val="00B0F0"/>
                </a:solidFill>
              </a:rPr>
              <a:t>Aim – be able to:</a:t>
            </a:r>
            <a:r>
              <a:rPr lang="en-AU" sz="2800" dirty="0">
                <a:solidFill>
                  <a:srgbClr val="00B0F0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800" dirty="0">
                <a:solidFill>
                  <a:srgbClr val="00B0F0"/>
                </a:solidFill>
              </a:rPr>
              <a:t> Calculate the perimeter and area of common geometric shapes.</a:t>
            </a:r>
          </a:p>
          <a:p>
            <a:pPr marL="0" indent="0">
              <a:buNone/>
            </a:pPr>
            <a:r>
              <a:rPr lang="en-AU" sz="3600" u="sng" dirty="0">
                <a:solidFill>
                  <a:srgbClr val="00B0F0"/>
                </a:solidFill>
              </a:rPr>
              <a:t>Plan: 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>
                <a:solidFill>
                  <a:srgbClr val="00B0F0"/>
                </a:solidFill>
              </a:rPr>
              <a:t>Review conversions of distance and area.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>
                <a:solidFill>
                  <a:srgbClr val="00B0F0"/>
                </a:solidFill>
              </a:rPr>
              <a:t>Review calculating the areas of common shapes.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>
                <a:solidFill>
                  <a:srgbClr val="00B0F0"/>
                </a:solidFill>
              </a:rPr>
              <a:t>Area in real life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92816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Perimeter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52737"/>
            <a:ext cx="8229600" cy="4525963"/>
          </a:xfrm>
        </p:spPr>
        <p:txBody>
          <a:bodyPr/>
          <a:lstStyle/>
          <a:p>
            <a:r>
              <a:rPr lang="en-GB" dirty="0"/>
              <a:t>Perimeter – </a:t>
            </a:r>
            <a:r>
              <a:rPr lang="en-GB" b="1" dirty="0">
                <a:solidFill>
                  <a:srgbClr val="FF0000"/>
                </a:solidFill>
              </a:rPr>
              <a:t>the distance around the </a:t>
            </a:r>
            <a:r>
              <a:rPr lang="en-GB" b="1" u="sng" dirty="0">
                <a:solidFill>
                  <a:srgbClr val="FF0000"/>
                </a:solidFill>
              </a:rPr>
              <a:t>outside</a:t>
            </a:r>
            <a:r>
              <a:rPr lang="en-GB" b="1" dirty="0">
                <a:solidFill>
                  <a:srgbClr val="FF0000"/>
                </a:solidFill>
              </a:rPr>
              <a:t> of a shape.</a:t>
            </a:r>
          </a:p>
          <a:p>
            <a:endParaRPr lang="en-GB" dirty="0"/>
          </a:p>
          <a:p>
            <a:r>
              <a:rPr lang="en-GB" dirty="0"/>
              <a:t>Area – </a:t>
            </a:r>
            <a:r>
              <a:rPr lang="en-GB" b="1" dirty="0">
                <a:solidFill>
                  <a:srgbClr val="FF0000"/>
                </a:solidFill>
              </a:rPr>
              <a:t>the amount of space taken up by a 2D shape.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2FF757-B87F-437F-B9A5-D488F0272D14}"/>
              </a:ext>
            </a:extLst>
          </p:cNvPr>
          <p:cNvSpPr txBox="1">
            <a:spLocks/>
          </p:cNvSpPr>
          <p:nvPr/>
        </p:nvSpPr>
        <p:spPr>
          <a:xfrm>
            <a:off x="1981200" y="180800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prstClr val="black"/>
                </a:solidFill>
                <a:latin typeface="Calibri"/>
              </a:rPr>
              <a:t>Area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095A3-A112-43C6-876E-A9BD029F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12" y="3693310"/>
            <a:ext cx="4752528" cy="287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41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F450C3-366A-4EC4-940D-DC24A7126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436" y="562450"/>
            <a:ext cx="8029128" cy="59441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0E1F3B-A357-4F6D-AB62-47190E75FFCA}"/>
              </a:ext>
            </a:extLst>
          </p:cNvPr>
          <p:cNvSpPr/>
          <p:nvPr/>
        </p:nvSpPr>
        <p:spPr>
          <a:xfrm>
            <a:off x="6872068" y="5240215"/>
            <a:ext cx="2996418" cy="1266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24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a square that is 1cm by 1cm. It has an area of 1cm</a:t>
            </a:r>
            <a:r>
              <a:rPr lang="en-GB" baseline="30000" dirty="0"/>
              <a:t>2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What is it’s area in mm</a:t>
            </a:r>
            <a:r>
              <a:rPr lang="en-GB" baseline="30000" dirty="0"/>
              <a:t>2</a:t>
            </a:r>
            <a:r>
              <a:rPr lang="en-GB" dirty="0"/>
              <a:t>?</a:t>
            </a:r>
          </a:p>
          <a:p>
            <a:endParaRPr lang="en-GB" dirty="0"/>
          </a:p>
          <a:p>
            <a:r>
              <a:rPr lang="en-GB" dirty="0">
                <a:solidFill>
                  <a:srgbClr val="FF0000"/>
                </a:solidFill>
              </a:rPr>
              <a:t>1cm</a:t>
            </a:r>
            <a:r>
              <a:rPr lang="en-GB" baseline="30000" dirty="0">
                <a:solidFill>
                  <a:srgbClr val="FF0000"/>
                </a:solidFill>
              </a:rPr>
              <a:t>2</a:t>
            </a:r>
            <a:r>
              <a:rPr lang="en-GB" dirty="0">
                <a:solidFill>
                  <a:srgbClr val="FF0000"/>
                </a:solidFill>
              </a:rPr>
              <a:t> = 100mm</a:t>
            </a:r>
            <a:r>
              <a:rPr lang="en-GB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20136" y="3356992"/>
            <a:ext cx="2304256" cy="2160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4232" y="298766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1cm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17318" y="429309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1cm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176" y="4140370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prstClr val="black"/>
                </a:solidFill>
                <a:latin typeface="Calibri"/>
              </a:rPr>
              <a:t>A = 1cm</a:t>
            </a:r>
            <a:r>
              <a:rPr lang="en-GB" sz="3200" baseline="30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2224" y="2996952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10mm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4392" y="429309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10mm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0216" y="3573016"/>
            <a:ext cx="1944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>
                <a:solidFill>
                  <a:prstClr val="black"/>
                </a:solidFill>
                <a:latin typeface="Calibri"/>
              </a:rPr>
              <a:t>?</a:t>
            </a:r>
            <a:endParaRPr lang="en-GB" sz="96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92144" y="4149081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prstClr val="black"/>
                </a:solidFill>
                <a:latin typeface="Calibri"/>
              </a:rPr>
              <a:t>A = 100mm</a:t>
            </a:r>
            <a:r>
              <a:rPr lang="en-GB" sz="3200" baseline="30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8426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/>
      <p:bldP spid="5" grpId="1"/>
      <p:bldP spid="6" grpId="0"/>
      <p:bldP spid="6" grpId="1"/>
      <p:bldP spid="7" grpId="0"/>
      <p:bldP spid="7" grpId="1"/>
      <p:bldP spid="8" grpId="0"/>
      <p:bldP spid="9" grpId="0"/>
      <p:bldP spid="10" grpId="0"/>
      <p:bldP spid="10" grpId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Using this logic, you work out the rate of conversion from m</a:t>
                </a:r>
                <a:r>
                  <a:rPr lang="en-GB" baseline="30000" dirty="0"/>
                  <a:t>2</a:t>
                </a:r>
                <a:r>
                  <a:rPr lang="en-GB" dirty="0"/>
                  <a:t> to cm</a:t>
                </a:r>
                <a:r>
                  <a:rPr lang="en-GB" baseline="30000" dirty="0"/>
                  <a:t>2</a:t>
                </a:r>
                <a:r>
                  <a:rPr lang="en-GB" dirty="0"/>
                  <a:t>?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= 10000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𝑐𝑚</m:t>
                    </m:r>
                    <m:r>
                      <a:rPr lang="en-GB" i="1" baseline="30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baseline="30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52" r="-2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58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C79BA7-9C9C-46A2-B6E5-9A150A53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459" y="238184"/>
            <a:ext cx="8135695" cy="57985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5B81B6F-9810-4501-92BF-A67FF7093666}"/>
              </a:ext>
            </a:extLst>
          </p:cNvPr>
          <p:cNvSpPr/>
          <p:nvPr/>
        </p:nvSpPr>
        <p:spPr>
          <a:xfrm>
            <a:off x="5733231" y="4785173"/>
            <a:ext cx="4521512" cy="1351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4156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B92BCA-DEB6-4D7A-94CE-3952A554E81F}"/>
              </a:ext>
            </a:extLst>
          </p:cNvPr>
          <p:cNvSpPr txBox="1"/>
          <p:nvPr/>
        </p:nvSpPr>
        <p:spPr>
          <a:xfrm>
            <a:off x="1318307" y="297320"/>
            <a:ext cx="9963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What is the perimeter and area of this shape?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C2891D-136C-4435-8A33-D59E6ED65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767" y="1804804"/>
            <a:ext cx="4623343" cy="39131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0F858B-9747-41A1-9F82-16FF02857955}"/>
                  </a:ext>
                </a:extLst>
              </p:cNvPr>
              <p:cNvSpPr txBox="1"/>
              <p:nvPr/>
            </p:nvSpPr>
            <p:spPr>
              <a:xfrm>
                <a:off x="6226896" y="1161232"/>
                <a:ext cx="5396643" cy="4173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𝟔𝟎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3200" b="1" dirty="0"/>
              </a:p>
              <a:p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  <m:r>
                        <a:rPr lang="en-AU" sz="3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  <m:r>
                        <a:rPr lang="en-AU" sz="3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𝟏𝟓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𝟐𝟐𝟓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endParaRPr lang="en-AU" sz="32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0F858B-9747-41A1-9F82-16FF02857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896" y="1161232"/>
                <a:ext cx="5396643" cy="4173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51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B92BCA-DEB6-4D7A-94CE-3952A554E81F}"/>
              </a:ext>
            </a:extLst>
          </p:cNvPr>
          <p:cNvSpPr txBox="1"/>
          <p:nvPr/>
        </p:nvSpPr>
        <p:spPr>
          <a:xfrm>
            <a:off x="1318307" y="297320"/>
            <a:ext cx="9963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What is the perimeter and area of this shape?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04B92-A2FB-4C7A-A603-8DEEA142B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319" y="1838084"/>
            <a:ext cx="4934735" cy="3098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27F32F-5F62-44A7-ADAA-2063471DEF02}"/>
                  </a:ext>
                </a:extLst>
              </p:cNvPr>
              <p:cNvSpPr txBox="1"/>
              <p:nvPr/>
            </p:nvSpPr>
            <p:spPr>
              <a:xfrm>
                <a:off x="6226896" y="1161232"/>
                <a:ext cx="5396643" cy="4173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𝟑𝟑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endParaRPr lang="en-AU" sz="3200" b="1" dirty="0"/>
              </a:p>
              <a:p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endParaRPr lang="en-AU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27F32F-5F62-44A7-ADAA-2063471DE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896" y="1161232"/>
                <a:ext cx="5396643" cy="4173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517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Area of Triangles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5506" y="1728789"/>
            <a:ext cx="10972800" cy="4525963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>
                <a:solidFill>
                  <a:srgbClr val="FF0000"/>
                </a:solidFill>
              </a:rPr>
              <a:t>Area of a triangle = ½ x base x height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			       = ½bh </a:t>
            </a:r>
          </a:p>
        </p:txBody>
      </p:sp>
      <p:sp>
        <p:nvSpPr>
          <p:cNvPr id="4" name="Rectangle 3"/>
          <p:cNvSpPr/>
          <p:nvPr/>
        </p:nvSpPr>
        <p:spPr>
          <a:xfrm>
            <a:off x="4367808" y="1484784"/>
            <a:ext cx="3024336" cy="17281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367808" y="1484784"/>
            <a:ext cx="3024336" cy="17281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Triangle 6"/>
          <p:cNvSpPr/>
          <p:nvPr/>
        </p:nvSpPr>
        <p:spPr>
          <a:xfrm>
            <a:off x="4367808" y="1484784"/>
            <a:ext cx="3024336" cy="1728192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87888" y="321297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prstClr val="black"/>
                </a:solidFill>
                <a:latin typeface="Calibri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672" y="2164214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prstClr val="black"/>
                </a:solidFill>
                <a:latin typeface="Calibri"/>
              </a:rPr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5746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Base and height are always perpendicular to each 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dirty="0">
                <a:solidFill>
                  <a:srgbClr val="FF0000"/>
                </a:solidFill>
              </a:rPr>
              <a:t>Perpendicular</a:t>
            </a:r>
            <a:r>
              <a:rPr lang="en-GB" dirty="0"/>
              <a:t> – “at right angles to”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51584" y="4869160"/>
            <a:ext cx="30243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3287688" y="3284984"/>
            <a:ext cx="0" cy="15841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87688" y="4653136"/>
            <a:ext cx="216024" cy="21602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780076" y="4509121"/>
            <a:ext cx="2664296" cy="13812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112224" y="3789040"/>
            <a:ext cx="720080" cy="14041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 rot="1680000">
            <a:off x="8150290" y="5051242"/>
            <a:ext cx="216024" cy="21602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28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Area of Triangles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Area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𝑏𝑎𝑠𝑒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h𝑒𝑖𝑔h𝑡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𝑏𝑎𝑠𝑒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h𝑒𝑖𝑔h𝑡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𝑏𝑎𝑠𝑒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h𝑒𝑖𝑔h𝑡</m:t>
                    </m:r>
                    <m:r>
                      <a:rPr lang="en-A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bh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Triangle 9"/>
          <p:cNvSpPr/>
          <p:nvPr/>
        </p:nvSpPr>
        <p:spPr>
          <a:xfrm>
            <a:off x="2351584" y="3068960"/>
            <a:ext cx="3168352" cy="2664296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351584" y="5517232"/>
            <a:ext cx="21602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Isosceles Triangle 12"/>
          <p:cNvSpPr/>
          <p:nvPr/>
        </p:nvSpPr>
        <p:spPr>
          <a:xfrm>
            <a:off x="6096000" y="3068960"/>
            <a:ext cx="1872208" cy="2016224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8184232" y="3501008"/>
            <a:ext cx="1440160" cy="15841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9624392" y="3501008"/>
            <a:ext cx="576064" cy="15841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184232" y="3501008"/>
            <a:ext cx="2016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032104" y="4869160"/>
            <a:ext cx="216024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5" name="Straight Arrow Connector 14"/>
          <p:cNvCxnSpPr>
            <a:stCxn id="13" idx="0"/>
            <a:endCxn id="13" idx="3"/>
          </p:cNvCxnSpPr>
          <p:nvPr/>
        </p:nvCxnSpPr>
        <p:spPr>
          <a:xfrm>
            <a:off x="7032104" y="3068960"/>
            <a:ext cx="0" cy="201622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379679" y="3501008"/>
            <a:ext cx="216024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9624392" y="3501008"/>
            <a:ext cx="0" cy="1584176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524000" y="4293096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height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4200" y="5733256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0584" y="5163786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4840" y="3131676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2304" y="3995772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height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6608" y="4067780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427484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B92BCA-DEB6-4D7A-94CE-3952A554E81F}"/>
              </a:ext>
            </a:extLst>
          </p:cNvPr>
          <p:cNvSpPr txBox="1"/>
          <p:nvPr/>
        </p:nvSpPr>
        <p:spPr>
          <a:xfrm>
            <a:off x="1318307" y="297320"/>
            <a:ext cx="9963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What is the perimeter and area of this shape?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26E720-99F5-41BA-9612-4BDDEC15A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353" y="2269263"/>
            <a:ext cx="5227542" cy="23194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4DCADA-911E-49E2-94C6-AC0562A3DF47}"/>
              </a:ext>
            </a:extLst>
          </p:cNvPr>
          <p:cNvSpPr/>
          <p:nvPr/>
        </p:nvSpPr>
        <p:spPr>
          <a:xfrm rot="1544130">
            <a:off x="2165387" y="2389781"/>
            <a:ext cx="330979" cy="3870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69FE6E-E282-44E0-B432-90B12FAF8C56}"/>
                  </a:ext>
                </a:extLst>
              </p:cNvPr>
              <p:cNvSpPr txBox="1"/>
              <p:nvPr/>
            </p:nvSpPr>
            <p:spPr>
              <a:xfrm>
                <a:off x="6226896" y="1161232"/>
                <a:ext cx="5396643" cy="3058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𝟐𝟐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0" smtClean="0">
                          <a:latin typeface="Cambria Math" panose="02040503050406030204" pitchFamily="18" charset="0"/>
                        </a:rPr>
                        <m:t>𝟔𝟑𝐜𝐦</m:t>
                      </m:r>
                    </m:oMath>
                  </m:oMathPara>
                </a14:m>
                <a:endParaRPr lang="en-AU" sz="3200" b="1" dirty="0"/>
              </a:p>
              <a:p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𝟐𝟐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𝟏𝟕𝟔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endParaRPr lang="en-AU" sz="32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69FE6E-E282-44E0-B432-90B12FAF8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896" y="1161232"/>
                <a:ext cx="5396643" cy="30581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59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E76001-C47A-4441-BA4B-A7D22D89D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44" y="1206066"/>
            <a:ext cx="5613501" cy="37025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B92BCA-DEB6-4D7A-94CE-3952A554E81F}"/>
              </a:ext>
            </a:extLst>
          </p:cNvPr>
          <p:cNvSpPr txBox="1"/>
          <p:nvPr/>
        </p:nvSpPr>
        <p:spPr>
          <a:xfrm>
            <a:off x="1318307" y="297320"/>
            <a:ext cx="9963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What is the perimeter and area of this shape?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D4E44D-31B0-4C6A-8B30-105D967C873C}"/>
                  </a:ext>
                </a:extLst>
              </p:cNvPr>
              <p:cNvSpPr txBox="1"/>
              <p:nvPr/>
            </p:nvSpPr>
            <p:spPr>
              <a:xfrm>
                <a:off x="6226896" y="1161232"/>
                <a:ext cx="5396643" cy="4173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  <a:p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𝒎𝒎</m:t>
                      </m:r>
                    </m:oMath>
                  </m:oMathPara>
                </a14:m>
                <a:endParaRPr lang="en-AU" sz="3200" b="1" dirty="0"/>
              </a:p>
              <a:p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𝟐𝟒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𝒎𝒎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endParaRPr lang="en-AU" sz="32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D4E44D-31B0-4C6A-8B30-105D967C8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896" y="1161232"/>
                <a:ext cx="5396643" cy="4173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365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B92BCA-DEB6-4D7A-94CE-3952A554E81F}"/>
              </a:ext>
            </a:extLst>
          </p:cNvPr>
          <p:cNvSpPr txBox="1"/>
          <p:nvPr/>
        </p:nvSpPr>
        <p:spPr>
          <a:xfrm>
            <a:off x="1318307" y="297320"/>
            <a:ext cx="9963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What is the perimeter and area of this shape?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6461E4-84AE-4148-83C1-59109D0E1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298" y="1642273"/>
            <a:ext cx="2004839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45A8801D-75D4-4A9E-9F06-8574E77B56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202072"/>
              </p:ext>
            </p:extLst>
          </p:nvPr>
        </p:nvGraphicFramePr>
        <p:xfrm>
          <a:off x="628299" y="1642274"/>
          <a:ext cx="5366112" cy="3573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X Draw" r:id="rId2" imgW="1106239" imgH="737305" progId="FXDraw.Graphic">
                  <p:embed/>
                </p:oleObj>
              </mc:Choice>
              <mc:Fallback>
                <p:oleObj name="FX Draw" r:id="rId2" imgW="1106239" imgH="737305" progId="FXDraw.Graphic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299" y="1642274"/>
                        <a:ext cx="5366112" cy="35734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19B410-FB07-4CA1-8FE5-3C99DB42BDCA}"/>
                  </a:ext>
                </a:extLst>
              </p:cNvPr>
              <p:cNvSpPr txBox="1"/>
              <p:nvPr/>
            </p:nvSpPr>
            <p:spPr>
              <a:xfrm>
                <a:off x="6226896" y="1161232"/>
                <a:ext cx="5396643" cy="4462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𝟖𝟓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𝒎𝒎</m:t>
                      </m:r>
                    </m:oMath>
                  </m:oMathPara>
                </a14:m>
                <a:endParaRPr lang="en-AU" sz="3200" b="1" dirty="0"/>
              </a:p>
              <a:p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𝟑𝟐</m:t>
                          </m:r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num>
                        <m:den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𝟐𝟐𝟓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endParaRPr lang="en-AU" sz="32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19B410-FB07-4CA1-8FE5-3C99DB42B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896" y="1161232"/>
                <a:ext cx="5396643" cy="44623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778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9QIIR89B\MP900439432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"/>
            <a:ext cx="9144000" cy="6871607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1487488" y="17240"/>
            <a:ext cx="8496944" cy="6669360"/>
          </a:xfrm>
          <a:prstGeom prst="rect">
            <a:avLst/>
          </a:prstGeom>
          <a:solidFill>
            <a:schemeClr val="bg1"/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59496" y="881336"/>
            <a:ext cx="158417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79776" y="233264"/>
            <a:ext cx="792088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35960" y="188640"/>
            <a:ext cx="1800200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56240" y="980728"/>
            <a:ext cx="86409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1631504" y="2609528"/>
            <a:ext cx="1728192" cy="792088"/>
          </a:xfrm>
          <a:prstGeom prst="parallelogram">
            <a:avLst>
              <a:gd name="adj" fmla="val 5823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Parallelogram 7"/>
          <p:cNvSpPr/>
          <p:nvPr/>
        </p:nvSpPr>
        <p:spPr>
          <a:xfrm>
            <a:off x="3935760" y="2348880"/>
            <a:ext cx="1944216" cy="1152128"/>
          </a:xfrm>
          <a:prstGeom prst="parallelogram">
            <a:avLst>
              <a:gd name="adj" fmla="val 4598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Parallelogram 8"/>
          <p:cNvSpPr/>
          <p:nvPr/>
        </p:nvSpPr>
        <p:spPr>
          <a:xfrm>
            <a:off x="6168008" y="2564904"/>
            <a:ext cx="2376264" cy="792088"/>
          </a:xfrm>
          <a:prstGeom prst="parallelogram">
            <a:avLst>
              <a:gd name="adj" fmla="val 8971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1775520" y="4049688"/>
            <a:ext cx="2088232" cy="1008112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Isosceles Triangle 10"/>
          <p:cNvSpPr/>
          <p:nvPr/>
        </p:nvSpPr>
        <p:spPr>
          <a:xfrm>
            <a:off x="4871864" y="4049688"/>
            <a:ext cx="1296144" cy="1008112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Isosceles Triangle 11"/>
          <p:cNvSpPr/>
          <p:nvPr/>
        </p:nvSpPr>
        <p:spPr>
          <a:xfrm>
            <a:off x="7392144" y="4121696"/>
            <a:ext cx="1944216" cy="1008112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rapezoid 12"/>
          <p:cNvSpPr/>
          <p:nvPr/>
        </p:nvSpPr>
        <p:spPr>
          <a:xfrm>
            <a:off x="2063552" y="5849888"/>
            <a:ext cx="1728192" cy="576064"/>
          </a:xfrm>
          <a:prstGeom prst="trapezoid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rapezoid 13"/>
          <p:cNvSpPr/>
          <p:nvPr/>
        </p:nvSpPr>
        <p:spPr>
          <a:xfrm>
            <a:off x="7824192" y="5777880"/>
            <a:ext cx="1728192" cy="576064"/>
          </a:xfrm>
          <a:prstGeom prst="trapezoid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Trapezoid 14"/>
          <p:cNvSpPr/>
          <p:nvPr/>
        </p:nvSpPr>
        <p:spPr>
          <a:xfrm rot="5400000">
            <a:off x="5447928" y="5273824"/>
            <a:ext cx="864096" cy="1440160"/>
          </a:xfrm>
          <a:prstGeom prst="trapezoid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35560" y="5212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14cm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1664" y="9533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10cm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9776" y="174543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1864" y="73732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2024" y="177281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4152" y="33265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15cm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248" y="186562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14cm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8088" y="328498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30cm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8208" y="29249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15cm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8088" y="278092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11cm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7728" y="25649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9cm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9816" y="342900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20cm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9856" y="263691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5560" y="332960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11cm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95600" y="289756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95600" y="498579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16cm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3672" y="41937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14cm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3632" y="45537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9cm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3792" y="41937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12cm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5880" y="498579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12cm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6080" y="440972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18cm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52184" y="505780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20cm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39616" y="638927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12cm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7648" y="59218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14cm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55640" y="556185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8cm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9816" y="570587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25cm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75920" y="59939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12cm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048" y="577788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15cm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2224" y="548984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14cm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56240" y="628193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16cm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8288" y="59218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15cm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V="1">
            <a:off x="2841785" y="4035833"/>
            <a:ext cx="0" cy="100811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2927648" y="5849888"/>
            <a:ext cx="0" cy="57606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8688288" y="5777880"/>
            <a:ext cx="0" cy="50405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endCxn id="46" idx="1"/>
          </p:cNvCxnSpPr>
          <p:nvPr/>
        </p:nvCxnSpPr>
        <p:spPr>
          <a:xfrm flipV="1">
            <a:off x="5159896" y="5962546"/>
            <a:ext cx="1368152" cy="3135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2567608" y="2537520"/>
            <a:ext cx="0" cy="86409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4799856" y="2348880"/>
            <a:ext cx="0" cy="115212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7608168" y="2492896"/>
            <a:ext cx="0" cy="86409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775520" y="30527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19736" y="161256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03912" y="11663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96200" y="83671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31504" y="2393504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07768" y="227687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12024" y="2420888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19536" y="4049688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51784" y="390567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72064" y="4049688"/>
            <a:ext cx="504056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31504" y="5489848"/>
            <a:ext cx="432048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11824" y="5345832"/>
            <a:ext cx="432048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92144" y="5561856"/>
            <a:ext cx="432048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36360" y="1"/>
            <a:ext cx="1331640" cy="4401205"/>
          </a:xfrm>
          <a:prstGeom prst="rect">
            <a:avLst/>
          </a:prstGeom>
          <a:solidFill>
            <a:schemeClr val="bg1"/>
          </a:solidFill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prstClr val="black"/>
                </a:solidFill>
                <a:latin typeface="Calibri"/>
              </a:rPr>
              <a:t>Answers:</a:t>
            </a: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140cm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56cm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180cm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196cm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132cm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240cm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330cm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72cm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72cm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180cm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140cm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240cm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225cm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21FA2DF-0F07-4765-A3BB-946AA67D23EC}"/>
              </a:ext>
            </a:extLst>
          </p:cNvPr>
          <p:cNvCxnSpPr>
            <a:cxnSpLocks/>
          </p:cNvCxnSpPr>
          <p:nvPr/>
        </p:nvCxnSpPr>
        <p:spPr>
          <a:xfrm>
            <a:off x="8112224" y="1435894"/>
            <a:ext cx="28168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C61D728-3C4D-4F82-8DDA-340250CE6381}"/>
              </a:ext>
            </a:extLst>
          </p:cNvPr>
          <p:cNvCxnSpPr>
            <a:cxnSpLocks/>
          </p:cNvCxnSpPr>
          <p:nvPr/>
        </p:nvCxnSpPr>
        <p:spPr>
          <a:xfrm>
            <a:off x="8976320" y="1435894"/>
            <a:ext cx="28168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72D6DDE-81BB-45CF-8A6D-F8EB4F54AD47}"/>
              </a:ext>
            </a:extLst>
          </p:cNvPr>
          <p:cNvCxnSpPr>
            <a:cxnSpLocks/>
          </p:cNvCxnSpPr>
          <p:nvPr/>
        </p:nvCxnSpPr>
        <p:spPr>
          <a:xfrm>
            <a:off x="8680697" y="836316"/>
            <a:ext cx="0" cy="26460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732254A-1B8A-4597-BEF1-4621EADAEC0B}"/>
              </a:ext>
            </a:extLst>
          </p:cNvPr>
          <p:cNvCxnSpPr>
            <a:cxnSpLocks/>
          </p:cNvCxnSpPr>
          <p:nvPr/>
        </p:nvCxnSpPr>
        <p:spPr>
          <a:xfrm>
            <a:off x="8669831" y="1690540"/>
            <a:ext cx="0" cy="26460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uiExpand="1" build="allAtOnce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1957</TotalTime>
  <Words>459</Words>
  <Application>Microsoft Office PowerPoint</Application>
  <PresentationFormat>Widescreen</PresentationFormat>
  <Paragraphs>146</Paragraphs>
  <Slides>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2_Office Theme</vt:lpstr>
      <vt:lpstr>3_Office Theme</vt:lpstr>
      <vt:lpstr>FX Draw</vt:lpstr>
      <vt:lpstr>Lesson objective </vt:lpstr>
      <vt:lpstr>Perimeter</vt:lpstr>
      <vt:lpstr>PowerPoint Presentation</vt:lpstr>
      <vt:lpstr>Area</vt:lpstr>
      <vt:lpstr>Area</vt:lpstr>
      <vt:lpstr>PowerPoint Presentation</vt:lpstr>
      <vt:lpstr>PowerPoint Presentation</vt:lpstr>
      <vt:lpstr>PowerPoint Presentation</vt:lpstr>
      <vt:lpstr>Area of Triangles</vt:lpstr>
      <vt:lpstr>Base and height are always perpendicular to each other</vt:lpstr>
      <vt:lpstr>Area of Triangles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Denham Gale</dc:creator>
  <cp:lastModifiedBy>DAVIES Rhys [Busselton Senior High School]</cp:lastModifiedBy>
  <cp:revision>14</cp:revision>
  <dcterms:created xsi:type="dcterms:W3CDTF">2020-03-20T00:14:26Z</dcterms:created>
  <dcterms:modified xsi:type="dcterms:W3CDTF">2022-11-21T01:24:01Z</dcterms:modified>
</cp:coreProperties>
</file>
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31"/>
  </p:notesMasterIdLst>
  <p:sldIdLst>
    <p:sldId id="256" r:id="rId6"/>
    <p:sldId id="279" r:id="rId7"/>
    <p:sldId id="278" r:id="rId8"/>
    <p:sldId id="257" r:id="rId9"/>
    <p:sldId id="263" r:id="rId10"/>
    <p:sldId id="265" r:id="rId11"/>
    <p:sldId id="267" r:id="rId12"/>
    <p:sldId id="297" r:id="rId13"/>
    <p:sldId id="260" r:id="rId14"/>
    <p:sldId id="261" r:id="rId15"/>
    <p:sldId id="262" r:id="rId16"/>
    <p:sldId id="298" r:id="rId17"/>
    <p:sldId id="264" r:id="rId18"/>
    <p:sldId id="266" r:id="rId19"/>
    <p:sldId id="299" r:id="rId20"/>
    <p:sldId id="268" r:id="rId21"/>
    <p:sldId id="291" r:id="rId22"/>
    <p:sldId id="270" r:id="rId23"/>
    <p:sldId id="271" r:id="rId24"/>
    <p:sldId id="292" r:id="rId25"/>
    <p:sldId id="293" r:id="rId26"/>
    <p:sldId id="300" r:id="rId27"/>
    <p:sldId id="275" r:id="rId28"/>
    <p:sldId id="277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23080-4FDE-4233-973D-928D7A2DD56E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B10F-3333-48C6-97E6-C4BEC70607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45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 are at least 4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627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There are at least 3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595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There are at least 4 things</a:t>
            </a:r>
            <a:r>
              <a:rPr lang="en-GB" baseline="0" dirty="0"/>
              <a:t> wrong with this question. Give students a minute to discuss the question with their neighbour to see if they can identify the mistakes.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3EBA4-D70C-4F96-A185-7C678711B04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567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1D77FE32-955B-4E2B-AEF7-D5C4DDC89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5DA27A-5010-4A57-9201-C2CEA62B79A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FDB5FBA-5D7A-49B4-809E-2E8AC3C50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D3FD818-41B5-493F-B567-B3D619866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3A50-95EF-BCF7-2E21-1BCA16661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7DF7A-F811-10C6-0076-8EA4CE191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441CD-437C-8695-CBDC-79BBA661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AD2BB-F960-E35A-BCF6-80180400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B1BCB-862E-DD3E-5E8C-2F1B0F5E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65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4FC4-C1DD-B2CA-2BB6-892BF1AE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5F48-435A-5DDE-06BD-9C84377A7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B546-E57E-E568-439E-6A92162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E8215-4FE9-251D-A3B0-3024E88B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6DF4D-2199-09CC-12DD-5F88C1ED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055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286D-BF7C-7A90-6580-758C7930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83602-F910-BF74-43F1-1D62CA89A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1188-BB65-DFC5-FC7A-FF55DDF6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4AB96-5BE5-8E28-186D-A5F6256B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7850-FA35-EDBA-43C6-052291D9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52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E4CB-4430-7FBF-A409-59D1A7C9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1E52-9BA1-5598-7EE0-8639CB018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14FAA-014E-EECC-7353-A18111C3C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029C0-E01D-5FEC-4229-8315D4A0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9AF4E-7D8A-1521-35F0-527377BC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DF9B1-F146-79C9-61D3-6600A004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26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167C-1CEB-8259-CB09-E91E2C32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1DFC2-C022-3E7A-4FFD-A8DCD5FAF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ACD473-08F9-1862-82D8-0091FFE52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1EFD-4226-25C9-6D8D-56B2487AF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E0655-A160-6918-D09D-D7B91E7C4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C4582-F4BB-B0E4-9A99-75E0CD9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564B1-F72E-FB5D-D8D4-E92A8DA3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89EC5-A621-4D81-AF49-F46205D8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093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3F50-AFBC-27DC-FD0F-46559500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2DD15-B2F4-D88A-BAD8-31C9BC2D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54F84-62B7-277B-7AA0-45E6D1B8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CAF4F-9242-EC4C-55DF-67103650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110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76DB3-F85B-633E-584B-C34F413D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FF20B-CD86-1A24-0830-A1EFEEE0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37E2E-3435-35EB-E502-58B3B646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17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15EB-DB79-0781-E7FE-8817872A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D63E1-C6C9-00F3-97FB-3E99490A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B5EB0-DC36-98D3-8B30-B5F009C45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B33DD-93D9-7AE4-1564-A7009E60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DFFBA-E03E-4FCD-BB6A-1F8A8CE0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50A9-92EA-9CB3-661E-19AB881D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24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30CC-68BC-99A9-66C3-F9EA1117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DC4A5A-4D4C-C9B5-14F0-54B9E9105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C4D3D-E8F2-B583-C856-CB026D766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A8D42-4191-85BB-A0C5-9E32E81B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3B283-9544-6770-55F3-F5680BA0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C3E6C-4D5D-7512-50D5-F886D844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285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3E56-7D5B-1271-9AE8-90B28347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EBA36-EFCF-4C7E-2364-BD9D5E8CC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4AB2D-50F1-0AB4-7A5E-F5006A6D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97009-746F-DAFA-E294-C41A8B11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82EB-7B2D-014A-DC7D-99D53B43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79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1509D-2394-E7CF-31AD-37AB6CE33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F0100-2B88-6AC1-56C7-79A799FD2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05669-78EE-2085-51D2-99AB3D8B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217DA-1445-A8F9-B1F0-1559DD66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BECF5-6CD8-C093-BE01-162A79D8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412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751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03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791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58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865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589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601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47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079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934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76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3E93-527E-44A5-8814-7ECDD6C1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DC29C-9793-4E15-9734-BB61E2FAA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BA70-241B-4A81-8818-94E1D9FE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6110-2E75-47BA-B5B6-83E747BA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9787-D14D-4CDB-ACB9-7BB1E39E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88D09-1AE0-43E6-B32A-88B57F7CCB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485758"/>
      </p:ext>
    </p:extLst>
  </p:cSld>
  <p:clrMapOvr>
    <a:masterClrMapping/>
  </p:clrMapOvr>
  <p:transition>
    <p:push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9979-B07A-4AE1-B464-ADC618A6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D42C-916E-4547-95F3-CC0B50DEB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0A26-64E8-4556-8D41-531D175E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E3B08-C1E2-4CA8-A685-E1CA795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B8A1-6B83-485A-A3AC-6ED8F9A0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15F3A-F36F-4663-8970-912915C5C9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624619"/>
      </p:ext>
    </p:extLst>
  </p:cSld>
  <p:clrMapOvr>
    <a:masterClrMapping/>
  </p:clrMapOvr>
  <p:transition>
    <p:push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F994-6B00-45E7-AEDA-3BD91CA2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9710C-7DF2-43A4-A1CC-7DD9BE218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8428-4277-423F-AFA2-B42C6EBC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64BB9-BB77-4825-BF2C-8C02B663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6C80-6480-4ADA-883D-55447DCD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99206-78BE-4FDB-9601-2F1650775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483419"/>
      </p:ext>
    </p:extLst>
  </p:cSld>
  <p:clrMapOvr>
    <a:masterClrMapping/>
  </p:clrMapOvr>
  <p:transition>
    <p:push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BA3C-722A-45B6-B581-893F0345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3DB7-0738-4B08-9D57-DCA2ABEA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5C01A-40E7-4D3A-8996-3DB81211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2794-8909-4851-8768-248C00DB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377C5-A427-4E2F-8016-0D21C1E1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93F05-2121-4157-9702-749E2D00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9D2F1-8485-4AB3-B4BF-62DF731E1C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567925"/>
      </p:ext>
    </p:extLst>
  </p:cSld>
  <p:clrMapOvr>
    <a:masterClrMapping/>
  </p:clrMapOvr>
  <p:transition>
    <p:push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8EF3-6A5B-4A4E-B4AB-29266D6E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583-B06D-4EEF-A125-D6B4AC432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5506E-FB96-4A9B-A5D9-23F4DDFCE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8DD3C-8933-482C-9924-AA7A12B2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5909-3800-4DBC-82D5-F3612C11C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0E2C7-6F7F-4202-88AA-0F0BCFB9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AEFC1A-67AD-41EB-887F-DBCB9065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79310-A174-41F8-B99C-B38CEFCF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65A6F-AC59-4261-AE06-1F2CC5FC33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5134"/>
      </p:ext>
    </p:extLst>
  </p:cSld>
  <p:clrMapOvr>
    <a:masterClrMapping/>
  </p:clrMapOvr>
  <p:transition>
    <p:push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2603-7DD0-4E55-AC85-845A927F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4A5F9-7C56-4BA3-B343-C6020C49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97888-5192-4212-AD15-E3AE3BB1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3AC52-DC18-477F-AFD6-1B24D91E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088D5-7F85-45E5-A889-B5BDED0D5D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394147"/>
      </p:ext>
    </p:extLst>
  </p:cSld>
  <p:clrMapOvr>
    <a:masterClrMapping/>
  </p:clrMapOvr>
  <p:transition>
    <p:push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A4883-CD1E-4DB2-BF07-BF087D6A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23E3A-FB66-426E-ADB5-98760ACB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14514-15DB-4AEB-B7E5-7067547E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C4692-C401-4857-918A-CF0FEBE3C0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806279"/>
      </p:ext>
    </p:extLst>
  </p:cSld>
  <p:clrMapOvr>
    <a:masterClrMapping/>
  </p:clrMapOvr>
  <p:transition>
    <p:push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9C21-A836-4D8D-8C85-504851C1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BEAB-0B91-43E9-9B45-B04484A7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656B7-E878-4A3E-91B4-5BAFBA910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32FF1-BA66-4506-8874-E7638095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F4A59-4841-4EFE-BE29-5E6EDDAB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397A9-F07C-4BDE-9AF1-72177AE0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1546E-840F-41F5-A2A5-CDA8AA5249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447721"/>
      </p:ext>
    </p:extLst>
  </p:cSld>
  <p:clrMapOvr>
    <a:masterClrMapping/>
  </p:clrMapOvr>
  <p:transition>
    <p:push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D14B-256D-4FCD-9E7B-856E25CD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55FBD-B9E2-4AFF-8085-1E6987590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C1A9C-9673-4A2B-953B-338392FC3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3443B-FA45-482E-B1BE-A73F9E72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DEAA3-6AF5-4F34-8AE5-4FD77BDD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AA65-820D-4405-A6F0-9843010F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4BF9F-970E-4E31-81FA-8DC08EE96A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487396"/>
      </p:ext>
    </p:extLst>
  </p:cSld>
  <p:clrMapOvr>
    <a:masterClrMapping/>
  </p:clrMapOvr>
  <p:transition>
    <p:push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3AD3-744B-4C85-8430-85DA2D49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9F07F-FD64-48DD-BFD2-0D58317B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97CD-2904-49E8-AEF2-5FDBEB83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66E7-4DBC-46D7-9C77-CF4EE538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3985-54BC-4E53-A557-784B792C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1D3F3-ADE2-4816-9CDC-65E62EDF4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750578"/>
      </p:ext>
    </p:extLst>
  </p:cSld>
  <p:clrMapOvr>
    <a:masterClrMapping/>
  </p:clrMapOvr>
  <p:transition>
    <p:push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8BA24-A671-4DD3-B665-1E50D12BB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646DD-F31C-4DD6-9BBC-26C1AC659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A005-D90A-40B3-ADCE-A0A013E5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8D79-AB67-4BC3-B7B2-4D211170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90D11-32D9-4CEE-B55E-51D686D9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76AA0-EAE7-48F3-9DD9-1F6767B33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709592"/>
      </p:ext>
    </p:extLst>
  </p:cSld>
  <p:clrMapOvr>
    <a:masterClrMapping/>
  </p:clrMapOvr>
  <p:transition>
    <p:push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844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6168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5252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0324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9116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840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6774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528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4590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0377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6585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1EE1AD-2FFD-4A73-B29E-1DC6DE2844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CB7014-636B-40ED-8416-7575159DE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E05252-4228-407F-AE0B-5E0028222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61976-B251-4859-9250-084BC7747D3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68434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9A0F14-02E4-4E26-8F0E-A4FC1AF81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E4F132-2F3E-47E9-A8E9-1DD10043C4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AE498-3A6F-4434-B71C-F6036AC47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70A67-7165-4D2E-8F96-E4A644A7FC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02522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84DE9D-59EA-4C10-8A42-6C04641A7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9C7938-E7D5-42BE-9C0D-8414E5EDA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A396E-5542-40A4-8F22-9D2577F58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4C902-18A6-449F-B5ED-B0CC9903AAA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791605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C36FF-D62D-4B79-AE61-4AF643C71C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0D62D-E52F-458E-84EE-1B264414B8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8A9A2-B88C-401A-B867-52A0E0BFB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016F2-5A10-4133-9EF7-D906689A46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0971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0E0FA9-E25B-4262-A80C-25DFA6FB34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20DE8A-EF5F-4F61-878D-85775B4692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C0BCDD7-BAA9-48D2-B9FD-D72C29414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A1000-FD7A-4637-A73C-5937FF3F51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54186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50A5C6-456B-4525-AE1E-B5C0170F2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10916B-42BB-49A0-AC0B-B6738E179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E27FB-773A-4E42-B518-E7F58EAD3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28F46-83C8-47F4-B9CB-DF3371F0214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62607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66C2175-A597-4A6E-BA0F-46B6FDA26B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812A21-BAB7-431E-8285-5765DF7CF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D88C8B-B32C-4DA9-B33F-018094B6A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08BC8-0AC7-4137-9A86-2268F65343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9391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B1D41-57B1-42CA-8D10-549BA82CF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B22BF-2668-4060-99BC-DC945545F9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C0EE8-6BF2-46F8-B627-3DE20B4B86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3BB89-7B32-40C3-BA60-7428880E9F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52861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F78F4-A230-4177-BDAC-E7E4054958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F8907-44EA-4D48-A24F-313E96ACB6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D1309-BFC0-4777-8C00-F93BCA4944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4A77-23B7-4775-8516-A9586D4ECD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63730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721620-F139-4120-8722-FFAB310B5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EDDD92-1E37-4190-8309-6C4A382A2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D1AED-D945-4F6A-A810-37EE9DCAF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210B9-D643-48E0-AAD7-FF063AED36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63550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4F0972-F736-4249-BB1C-9FC6370A53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4906B9-E53E-4AC5-AA57-B494E9DF52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113AB1-7085-403E-9C76-9B0EFF05E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3F93F-F20F-42DD-8C7F-BDAF317B046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76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4B2B5-1647-C0E9-59AD-570D2E01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1E920-F832-17BF-130B-2B8543C3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E1984-4AB7-BAF4-7EE8-A72B57378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09C6D-C0CC-41B8-922F-7FDB11487511}" type="datetimeFigureOut">
              <a:rPr lang="en-AU" smtClean="0"/>
              <a:t>14/11/2022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7164C-039F-B52D-1761-F6B51078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94955-8195-4596-22D3-F02E102FB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CA161-54DA-401B-99BF-78B1C1775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56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CCFD5-5667-47B1-84BE-96C43EDE1B0B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BEAA3-79B1-422B-9370-151CB28D08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77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665F56-8CB1-48F5-BE37-82F7B6E8C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C5786B-B61C-4210-8A4B-B5EFBC159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140B1-5654-4161-9F04-351C5F4C71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547366-D73C-4C65-9ED5-CFF44DA5B5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E099C5-B7F3-44F6-A7DF-1F1C24170B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2B8E9B-C340-430E-BA15-E54EEE9275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27626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40" presetClass="entr" presetSubtype="0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2AEF-9BC8-4210-8BE8-1CFEAC08FF91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51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1BBA2-200B-4B10-986E-7D2A432A3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FD4C56-9B6A-45DA-A0BA-433481C61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33E378-B909-4409-82D2-848A2D1C2C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3343CA-26EE-4F91-BF1F-D7708D9AE0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BB8680-7D56-47E3-9E38-17B817CEE8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9206715-16DF-479D-B47E-C38D6A35E9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38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F699-1E4D-3524-3EF3-86EEDA8C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1FEAD-96A7-05F0-FD72-6D5F6A270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Averages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Calculate mean, mode and median from different forms of represented data.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647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members by total population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to sample amount (total number in survey)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AB5302-495A-D115-4D61-C3ED1927F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66" y="46863"/>
            <a:ext cx="6033857" cy="6645005"/>
          </a:xfrm>
        </p:spPr>
      </p:pic>
    </p:spTree>
    <p:extLst>
      <p:ext uri="{BB962C8B-B14F-4D97-AF65-F5344CB8AC3E}">
        <p14:creationId xmlns:p14="http://schemas.microsoft.com/office/powerpoint/2010/main" val="34781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4A2CB-244A-16CB-9E12-4F5A96C11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1" y="415691"/>
            <a:ext cx="6681684" cy="60266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members by total population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to sample amount (total number in survey)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3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02807-8E0D-98D1-921C-9B8F8FE5C2C9}"/>
              </a:ext>
            </a:extLst>
          </p:cNvPr>
          <p:cNvSpPr txBox="1"/>
          <p:nvPr/>
        </p:nvSpPr>
        <p:spPr>
          <a:xfrm>
            <a:off x="387077" y="252442"/>
            <a:ext cx="114159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00B0F0"/>
                </a:solidFill>
                <a:effectLst/>
                <a:latin typeface="inherit"/>
              </a:rPr>
              <a:t>Selection bias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, where the results are skewed a certain way because you’ve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only captured feedback from a certain segment of your audience.</a:t>
            </a:r>
          </a:p>
          <a:p>
            <a:pPr algn="l" fontAlgn="base"/>
            <a:r>
              <a:rPr lang="en-GB" sz="2800" dirty="0">
                <a:solidFill>
                  <a:srgbClr val="00B0F0"/>
                </a:solidFill>
                <a:latin typeface="inherit"/>
              </a:rPr>
              <a:t>E.G :</a:t>
            </a:r>
          </a:p>
          <a:p>
            <a:pPr marL="457200" indent="-457200" algn="l" fontAlgn="base">
              <a:buFontTx/>
              <a:buChar char="-"/>
            </a:pP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Only asked old people or gender specific </a:t>
            </a:r>
          </a:p>
          <a:p>
            <a:pPr marL="457200" indent="-457200" algn="l" fontAlgn="base">
              <a:buFontTx/>
              <a:buChar char="-"/>
            </a:pPr>
            <a:r>
              <a:rPr lang="en-GB" sz="2800" dirty="0">
                <a:solidFill>
                  <a:srgbClr val="00B0F0"/>
                </a:solidFill>
                <a:latin typeface="inherit"/>
              </a:rPr>
              <a:t>Chosen a time or day that would NOT be inclusive </a:t>
            </a:r>
          </a:p>
          <a:p>
            <a:pPr algn="l" fontAlgn="base"/>
            <a:endParaRPr lang="en-GB" sz="2800" b="0" i="0" dirty="0">
              <a:solidFill>
                <a:srgbClr val="474645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00B0F0"/>
                </a:solidFill>
                <a:effectLst/>
                <a:latin typeface="inherit"/>
              </a:rPr>
              <a:t>Response bias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, where there’s something about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how the actual survey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questionnaire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is constructed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that </a:t>
            </a:r>
            <a:r>
              <a:rPr lang="en-GB" sz="2800" b="0" i="0" dirty="0">
                <a:solidFill>
                  <a:srgbClr val="00B0F0"/>
                </a:solidFill>
                <a:effectLst/>
                <a:latin typeface="inherit"/>
              </a:rPr>
              <a:t>encourages a certain type of answer, </a:t>
            </a:r>
            <a:r>
              <a:rPr lang="en-GB" sz="2800" b="0" i="0" dirty="0">
                <a:solidFill>
                  <a:srgbClr val="474645"/>
                </a:solidFill>
                <a:effectLst/>
                <a:latin typeface="inherit"/>
              </a:rPr>
              <a:t>leading to measurement error.</a:t>
            </a:r>
          </a:p>
          <a:p>
            <a:pPr algn="l" fontAlgn="base"/>
            <a:r>
              <a:rPr lang="en-GB" sz="2800" dirty="0">
                <a:solidFill>
                  <a:srgbClr val="00B0F0"/>
                </a:solidFill>
                <a:latin typeface="inherit"/>
              </a:rPr>
              <a:t>E.g.</a:t>
            </a:r>
            <a:endParaRPr lang="en-GB" sz="2800" b="0" i="0" dirty="0">
              <a:solidFill>
                <a:srgbClr val="00B0F0"/>
              </a:solidFill>
              <a:effectLst/>
              <a:latin typeface="inherit"/>
            </a:endParaRP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Leading question </a:t>
            </a: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Choices for response are poorly displayed or arranged  </a:t>
            </a:r>
          </a:p>
        </p:txBody>
      </p:sp>
    </p:spTree>
    <p:extLst>
      <p:ext uri="{BB962C8B-B14F-4D97-AF65-F5344CB8AC3E}">
        <p14:creationId xmlns:p14="http://schemas.microsoft.com/office/powerpoint/2010/main" val="113516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many times do you go to the gym?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279576" y="270892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0" y="270892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–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9776" y="2692732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5840" y="269273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– 10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3992" y="270892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56" y="270892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–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4232" y="2692732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0296" y="269273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 – 20</a:t>
            </a:r>
          </a:p>
        </p:txBody>
      </p:sp>
      <p:sp>
        <p:nvSpPr>
          <p:cNvPr id="12" name="Cloud Callout 11"/>
          <p:cNvSpPr/>
          <p:nvPr/>
        </p:nvSpPr>
        <p:spPr>
          <a:xfrm>
            <a:off x="7565558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Time Frame</a:t>
            </a:r>
          </a:p>
        </p:txBody>
      </p:sp>
      <p:sp>
        <p:nvSpPr>
          <p:cNvPr id="13" name="Cloud Callout 12"/>
          <p:cNvSpPr/>
          <p:nvPr/>
        </p:nvSpPr>
        <p:spPr>
          <a:xfrm>
            <a:off x="2063553" y="4077072"/>
            <a:ext cx="3313225" cy="1584176"/>
          </a:xfrm>
          <a:prstGeom prst="cloudCallout">
            <a:avLst>
              <a:gd name="adj1" fmla="val -20833"/>
              <a:gd name="adj2" fmla="val -100215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if you don’t use the gym?</a:t>
            </a:r>
          </a:p>
        </p:txBody>
      </p:sp>
      <p:sp>
        <p:nvSpPr>
          <p:cNvPr id="14" name="Cloud Callout 13"/>
          <p:cNvSpPr/>
          <p:nvPr/>
        </p:nvSpPr>
        <p:spPr>
          <a:xfrm>
            <a:off x="7248129" y="4077072"/>
            <a:ext cx="3419872" cy="2016224"/>
          </a:xfrm>
          <a:prstGeom prst="cloudCallout">
            <a:avLst>
              <a:gd name="adj1" fmla="val 25043"/>
              <a:gd name="adj2" fmla="val -93299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if you use the gym more than 20 times?</a:t>
            </a:r>
          </a:p>
        </p:txBody>
      </p:sp>
      <p:sp>
        <p:nvSpPr>
          <p:cNvPr id="15" name="Oval 14"/>
          <p:cNvSpPr/>
          <p:nvPr/>
        </p:nvSpPr>
        <p:spPr>
          <a:xfrm>
            <a:off x="3215680" y="2708920"/>
            <a:ext cx="576064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511824" y="2682498"/>
            <a:ext cx="576064" cy="5760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loud Callout 16"/>
          <p:cNvSpPr/>
          <p:nvPr/>
        </p:nvSpPr>
        <p:spPr>
          <a:xfrm>
            <a:off x="2567609" y="804545"/>
            <a:ext cx="3102443" cy="1296144"/>
          </a:xfrm>
          <a:prstGeom prst="cloudCallout">
            <a:avLst>
              <a:gd name="adj1" fmla="val 16723"/>
              <a:gd name="adj2" fmla="val 87533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Overlapping Options</a:t>
            </a:r>
          </a:p>
        </p:txBody>
      </p:sp>
    </p:spTree>
    <p:extLst>
      <p:ext uri="{BB962C8B-B14F-4D97-AF65-F5344CB8AC3E}">
        <p14:creationId xmlns:p14="http://schemas.microsoft.com/office/powerpoint/2010/main" val="38384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Given than smoking kills millions of people each year, don’t you agree that it should be banned?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5600" y="342900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1664" y="342900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55840" y="342497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31904" y="342497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</a:p>
        </p:txBody>
      </p:sp>
      <p:sp>
        <p:nvSpPr>
          <p:cNvPr id="11" name="Cloud Callout 10"/>
          <p:cNvSpPr/>
          <p:nvPr/>
        </p:nvSpPr>
        <p:spPr>
          <a:xfrm>
            <a:off x="5663953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Emotive Language</a:t>
            </a:r>
          </a:p>
        </p:txBody>
      </p:sp>
      <p:sp>
        <p:nvSpPr>
          <p:cNvPr id="12" name="Cloud Callout 11"/>
          <p:cNvSpPr/>
          <p:nvPr/>
        </p:nvSpPr>
        <p:spPr>
          <a:xfrm>
            <a:off x="6384033" y="2924944"/>
            <a:ext cx="3102443" cy="1296144"/>
          </a:xfrm>
          <a:prstGeom prst="cloudCallout">
            <a:avLst>
              <a:gd name="adj1" fmla="val -50782"/>
              <a:gd name="adj2" fmla="val -67217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Leading Question</a:t>
            </a:r>
          </a:p>
        </p:txBody>
      </p:sp>
      <p:sp>
        <p:nvSpPr>
          <p:cNvPr id="13" name="Cloud Callout 12"/>
          <p:cNvSpPr/>
          <p:nvPr/>
        </p:nvSpPr>
        <p:spPr>
          <a:xfrm>
            <a:off x="1847528" y="4365104"/>
            <a:ext cx="4680520" cy="2232248"/>
          </a:xfrm>
          <a:prstGeom prst="cloudCallout">
            <a:avLst>
              <a:gd name="adj1" fmla="val -3037"/>
              <a:gd name="adj2" fmla="val -74461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option for those without an opinion/undecided</a:t>
            </a:r>
          </a:p>
        </p:txBody>
      </p:sp>
    </p:spTree>
    <p:extLst>
      <p:ext uri="{BB962C8B-B14F-4D97-AF65-F5344CB8AC3E}">
        <p14:creationId xmlns:p14="http://schemas.microsoft.com/office/powerpoint/2010/main" val="98363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wrong with this question?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often do you walk your dog?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9576" y="285293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0" y="285293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9776" y="283674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5840" y="2636913"/>
            <a:ext cx="1368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Quite A lot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023992" y="2852936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00056" y="285293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4232" y="2836748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0296" y="283674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Regularly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6621" y="3789040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2685" y="3645025"/>
            <a:ext cx="1813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the time</a:t>
            </a:r>
          </a:p>
        </p:txBody>
      </p:sp>
      <p:sp>
        <p:nvSpPr>
          <p:cNvPr id="16" name="Cloud Callout 15"/>
          <p:cNvSpPr/>
          <p:nvPr/>
        </p:nvSpPr>
        <p:spPr>
          <a:xfrm>
            <a:off x="7565558" y="188640"/>
            <a:ext cx="3102443" cy="1296144"/>
          </a:xfrm>
          <a:prstGeom prst="cloudCallout">
            <a:avLst>
              <a:gd name="adj1" fmla="val -35094"/>
              <a:gd name="adj2" fmla="val 67051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Time Frame</a:t>
            </a:r>
          </a:p>
        </p:txBody>
      </p:sp>
      <p:sp>
        <p:nvSpPr>
          <p:cNvPr id="17" name="Cloud Callout 16"/>
          <p:cNvSpPr/>
          <p:nvPr/>
        </p:nvSpPr>
        <p:spPr>
          <a:xfrm>
            <a:off x="3161421" y="458854"/>
            <a:ext cx="3102443" cy="1296144"/>
          </a:xfrm>
          <a:prstGeom prst="cloudCallout">
            <a:avLst>
              <a:gd name="adj1" fmla="val 1986"/>
              <a:gd name="adj2" fmla="val 118255"/>
            </a:avLst>
          </a:prstGeom>
          <a:solidFill>
            <a:srgbClr val="66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Ambiguous options</a:t>
            </a:r>
          </a:p>
        </p:txBody>
      </p:sp>
      <p:sp>
        <p:nvSpPr>
          <p:cNvPr id="18" name="Cloud Callout 17"/>
          <p:cNvSpPr/>
          <p:nvPr/>
        </p:nvSpPr>
        <p:spPr>
          <a:xfrm>
            <a:off x="6921043" y="3962585"/>
            <a:ext cx="3102443" cy="1296144"/>
          </a:xfrm>
          <a:prstGeom prst="cloudCallout">
            <a:avLst>
              <a:gd name="adj1" fmla="val -18931"/>
              <a:gd name="adj2" fmla="val -82009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Overlapping options?</a:t>
            </a:r>
          </a:p>
        </p:txBody>
      </p:sp>
      <p:sp>
        <p:nvSpPr>
          <p:cNvPr id="19" name="Cloud Callout 18"/>
          <p:cNvSpPr/>
          <p:nvPr/>
        </p:nvSpPr>
        <p:spPr>
          <a:xfrm>
            <a:off x="2921550" y="4797152"/>
            <a:ext cx="3102443" cy="1584176"/>
          </a:xfrm>
          <a:prstGeom prst="cloudCallout">
            <a:avLst>
              <a:gd name="adj1" fmla="val -14177"/>
              <a:gd name="adj2" fmla="val -9680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if you don’t own a dog?</a:t>
            </a:r>
          </a:p>
        </p:txBody>
      </p:sp>
    </p:spTree>
    <p:extLst>
      <p:ext uri="{BB962C8B-B14F-4D97-AF65-F5344CB8AC3E}">
        <p14:creationId xmlns:p14="http://schemas.microsoft.com/office/powerpoint/2010/main" val="299054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C076-0BCA-4817-B8D1-3BB1E2DE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 do example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B7BD4-9A4D-48A6-9742-3CAE8409E481}"/>
              </a:ext>
            </a:extLst>
          </p:cNvPr>
          <p:cNvSpPr txBox="1"/>
          <p:nvPr/>
        </p:nvSpPr>
        <p:spPr>
          <a:xfrm>
            <a:off x="2927648" y="2156483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11, 15, 17, 19, 22, 24, 29, 31, 35, 40, 41, 41, 45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AU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50013-FA50-4836-BFBA-9E068918FB00}"/>
              </a:ext>
            </a:extLst>
          </p:cNvPr>
          <p:cNvSpPr txBox="1"/>
          <p:nvPr/>
        </p:nvSpPr>
        <p:spPr>
          <a:xfrm>
            <a:off x="2279576" y="3356993"/>
            <a:ext cx="208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 </a:t>
            </a:r>
            <a:endParaRPr lang="en-AU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25682"/>
      </p:ext>
    </p:extLst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4495-B956-4E8F-8633-41CC18061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Whiteboards ready</a:t>
            </a:r>
            <a:br>
              <a:rPr lang="en-US" alt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794BF-6DFC-45DB-A299-865C929BA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E10B740-7A1E-4CAE-92AA-BA0958190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E4C0E5F2-A9AE-404F-A64C-29988DF4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4" y="2565400"/>
            <a:ext cx="7559675" cy="201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mean of these numbers</a:t>
            </a:r>
            <a:r>
              <a:rPr lang="en-GB" alt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en-US" sz="2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36, 2, 4, 48, 6,12, 20,16</a:t>
            </a:r>
            <a:endParaRPr lang="en-US" altLang="en-US" sz="3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15286D3-EE32-4E27-8AE7-C85ADF812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mean is</a:t>
            </a:r>
            <a:endParaRPr lang="en-US" altLang="en-US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CD25B4BF-F43D-4E68-848A-23D533800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2708275"/>
            <a:ext cx="75612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4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US" altLang="en-US" sz="4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82C1595-49BB-4F9B-8C61-576FCE9A67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3600"/>
              <a:t>Find the mode of these numbers</a:t>
            </a:r>
            <a:endParaRPr lang="en-US" altLang="en-US" sz="36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8033346-09F4-41F3-A958-CC48327079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2, 4, 5, 3, 3, 7, 6, 8, 9, 4,1, 3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7D1B4CD-8CBE-45BF-8CF8-74AC8C728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mode is</a:t>
            </a:r>
            <a:endParaRPr lang="en-US" altLang="en-US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0BE2F476-5F36-4B0A-86BE-FEC136E28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068638"/>
            <a:ext cx="7343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4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4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0FE394D-66C5-4EE3-A4B8-067A725663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What is the median of these numbers?</a:t>
            </a:r>
            <a:endParaRPr lang="en-US" altLang="en-US" sz="44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15AEAF9-A037-4686-9F1D-F5591C752C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14, 6, 2, 12, 8, 6, 2</a:t>
            </a:r>
            <a:endParaRPr lang="en-US" alt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6A27C-8DD4-4C16-A87B-C27DE8AD2B7B}"/>
              </a:ext>
            </a:extLst>
          </p:cNvPr>
          <p:cNvSpPr txBox="1"/>
          <p:nvPr/>
        </p:nvSpPr>
        <p:spPr>
          <a:xfrm>
            <a:off x="1991544" y="5638801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rearrange, lowest to highest then find median. </a:t>
            </a:r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8F708E2-5D53-4009-A532-B54E560069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</a:t>
            </a:r>
            <a:endParaRPr lang="en-US" altLang="en-US" sz="440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B883C2C-02E8-4286-9338-36E765A500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6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790B7A-D7EF-43F1-AB1A-77AE237422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mean of these numbers</a:t>
            </a:r>
            <a:endParaRPr lang="en-US" altLang="en-US" sz="44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8FD179-9B06-452E-85B7-A91EA1880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36, 2, 2, 48, 8, 12, 20, 16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FA8773B-EB46-4032-A64C-A830E38D54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mean is </a:t>
            </a:r>
            <a:endParaRPr lang="en-US" altLang="en-US" sz="4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8CC4ED2-57CC-491F-919B-5264743E1C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18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D75C405-F21A-4FF9-9B1D-87770215D8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mode of these numbers</a:t>
            </a:r>
            <a:endParaRPr lang="en-US" altLang="en-US" sz="44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BDC3B95-653C-46FE-B498-82D7DEE9DA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7, 5, 3, 2, 5, 6, 8, 7, 5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7470026-920F-4831-89FE-F4E0134106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mode is </a:t>
            </a:r>
            <a:endParaRPr lang="en-US" altLang="en-US" sz="44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935C39A-6141-4CFC-AA55-9AED4155A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5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F9DAD1D-F885-444D-B7E2-9F58730CD7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median of these numbers</a:t>
            </a:r>
            <a:endParaRPr lang="en-US" altLang="en-US" sz="4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BB332E2-F2A4-4E93-A54B-46D2C535E8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6, 4, 8, 14, 8, 6, 38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2FD5D26-8637-4D0B-A67B-130FC9AE15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 </a:t>
            </a:r>
            <a:endParaRPr lang="en-US" altLang="en-US" sz="4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5DF2FC-3792-4228-B006-CE0C764CFF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12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3B6EE-C69B-6770-9984-AD2F8D011BAB}"/>
              </a:ext>
            </a:extLst>
          </p:cNvPr>
          <p:cNvSpPr txBox="1"/>
          <p:nvPr/>
        </p:nvSpPr>
        <p:spPr>
          <a:xfrm>
            <a:off x="241222" y="252442"/>
            <a:ext cx="11539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LO: TBAT calculate the averages from a frequency table.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2CE7C-CA23-A04B-BCC3-B4C02FBC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826746"/>
            <a:ext cx="6991839" cy="279676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7D69C1B-AF75-F4E9-49F6-E93784A5B4E0}"/>
              </a:ext>
            </a:extLst>
          </p:cNvPr>
          <p:cNvSpPr/>
          <p:nvPr/>
        </p:nvSpPr>
        <p:spPr>
          <a:xfrm>
            <a:off x="398297" y="1991485"/>
            <a:ext cx="813423" cy="30293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514081"/>
      </p:ext>
    </p:extLst>
  </p:cSld>
  <p:clrMapOvr>
    <a:masterClrMapping/>
  </p:clrMapOvr>
  <p:transition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0 0 0 0 0 1 2 3 2 2 3 0 0 0 1 1 2 1 1 1 0 1 0 0 0 0 3 3 2 0 0 0 1 1 1 1 1 0 0 2 1 0 2 1 1 0 0 0 0 0</a:t>
            </a:r>
          </a:p>
          <a:p>
            <a:endParaRPr lang="en-GB" dirty="0"/>
          </a:p>
          <a:p>
            <a:r>
              <a:rPr lang="en-GB" dirty="0"/>
              <a:t>We can put this information into a frequency table to make the calculation easier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23593" y="4437112"/>
          <a:ext cx="576064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148">
                  <a:extLst>
                    <a:ext uri="{9D8B030D-6E8A-4147-A177-3AD203B41FA5}">
                      <a16:colId xmlns:a16="http://schemas.microsoft.com/office/drawing/2014/main" val="206871707"/>
                    </a:ext>
                  </a:extLst>
                </a:gridCol>
                <a:gridCol w="1689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Number of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Tally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83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Year 9 did a French test and their results are below. Calculate the mean, mode and range of the data.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23593" y="3342600"/>
          <a:ext cx="58326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690">
                  <a:extLst>
                    <a:ext uri="{9D8B030D-6E8A-4147-A177-3AD203B41FA5}">
                      <a16:colId xmlns:a16="http://schemas.microsoft.com/office/drawing/2014/main" val="3360552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Mark (out of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 x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668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DCDAF3FE-6A20-493C-8F43-6BA333CD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125538"/>
            <a:ext cx="8820150" cy="1936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Here are the marks gained by 30 students in an examination: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63   58   61   52   59   65   69   75   70   54   57   63   76   81   64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68   59   40   65   74   80   44   47   53   70   81   68   49   57   61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22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10E7AB06-0E6B-4F82-A594-5CB28BC1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589" y="158750"/>
            <a:ext cx="685958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Stem and Leaf Diagrams</a:t>
            </a:r>
            <a:endParaRPr lang="en-US" altLang="en-US" sz="36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3FAAF959-E800-4B5C-92BC-7F6FD51832A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0"/>
            <a:ext cx="112236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Line 5">
            <a:extLst>
              <a:ext uri="{FF2B5EF4-FFF2-40B4-BE49-F238E27FC236}">
                <a16:creationId xmlns:a16="http://schemas.microsoft.com/office/drawing/2014/main" id="{29EE38B7-37A8-4838-BE5A-CF14DC8F6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638550"/>
            <a:ext cx="0" cy="3030538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533D7CAC-985F-4B6F-BAF2-D180D99E1F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8194" y="5064126"/>
            <a:ext cx="3200876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4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5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6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7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8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8467FE23-2782-4BD3-B815-72F93C26B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81289"/>
            <a:ext cx="8820150" cy="4270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76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588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20875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43163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003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3575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8147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719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2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</a:rPr>
              <a:t>Add a KEY:</a:t>
            </a:r>
            <a:endParaRPr lang="en-US" altLang="en-US" sz="2200" b="1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0E708E31-EAC5-405B-B46C-E071D3C6E69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73976" y="2342357"/>
            <a:ext cx="615553" cy="3216275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0   4   7   9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7A2EFE76-12AB-4215-9600-12E0A0A60DE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50224" y="2482057"/>
            <a:ext cx="615553" cy="414655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2   3   4   7   7   8   9   9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10FAEF68-F16A-4B5E-AB55-C0D0BFF854D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069338" y="2601119"/>
            <a:ext cx="615553" cy="521335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1   1   3   3   4   5   5   8   8   9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78DADE62-BDB3-4748-9DCC-E3FE74377D1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02600" y="3788569"/>
            <a:ext cx="615553" cy="414655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0   0   4   5   6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1A084493-1F4B-4DDE-9028-3682428E1E1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527999" y="4447382"/>
            <a:ext cx="615553" cy="4146550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0   1   1</a:t>
            </a:r>
            <a:endParaRPr lang="en-US" altLang="en-US" sz="2800" b="1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Kristen ITC" panose="03050502040202030202" pitchFamily="66" charset="0"/>
              <a:cs typeface="Arial" panose="020B0604020202020204" pitchFamily="34" charset="0"/>
            </a:endParaRPr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B9323E65-DC69-4594-B4B1-D2D88B4B6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4083050"/>
            <a:ext cx="1874838" cy="838200"/>
          </a:xfrm>
          <a:prstGeom prst="rect">
            <a:avLst/>
          </a:prstGeom>
          <a:solidFill>
            <a:schemeClr val="bg1"/>
          </a:solidFill>
          <a:ln w="28575">
            <a:solidFill>
              <a:srgbClr val="66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5</a:t>
            </a:r>
            <a:r>
              <a:rPr lang="en-US" altLang="en-US" sz="3200" b="1">
                <a:solidFill>
                  <a:srgbClr val="66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Kristen ITC" panose="03050502040202030202" pitchFamily="66" charset="0"/>
                <a:cs typeface="Arial" panose="020B0604020202020204" pitchFamily="34" charset="0"/>
              </a:rPr>
              <a:t>|2 = 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90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efault Design">
  <a:themeElements>
    <a:clrScheme name="Default Design 6">
      <a:dk1>
        <a:srgbClr val="005A58"/>
      </a:dk1>
      <a:lt1>
        <a:srgbClr val="FFFFFF"/>
      </a:lt1>
      <a:dk2>
        <a:srgbClr val="008080"/>
      </a:dk2>
      <a:lt2>
        <a:srgbClr val="FFFF99"/>
      </a:lt2>
      <a:accent1>
        <a:srgbClr val="006462"/>
      </a:accent1>
      <a:accent2>
        <a:srgbClr val="6D6FC7"/>
      </a:accent2>
      <a:accent3>
        <a:srgbClr val="AAC0C0"/>
      </a:accent3>
      <a:accent4>
        <a:srgbClr val="DADADA"/>
      </a:accent4>
      <a:accent5>
        <a:srgbClr val="AAB8B7"/>
      </a:accent5>
      <a:accent6>
        <a:srgbClr val="6264B4"/>
      </a:accent6>
      <a:hlink>
        <a:srgbClr val="00FFFF"/>
      </a:hlink>
      <a:folHlink>
        <a:srgbClr val="00FF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793</Words>
  <Application>Microsoft Office PowerPoint</Application>
  <PresentationFormat>Widescreen</PresentationFormat>
  <Paragraphs>135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inherit</vt:lpstr>
      <vt:lpstr>Kristen ITC</vt:lpstr>
      <vt:lpstr>Office Theme</vt:lpstr>
      <vt:lpstr>2_Office Theme</vt:lpstr>
      <vt:lpstr>1_Default Design</vt:lpstr>
      <vt:lpstr>1_Office Theme</vt:lpstr>
      <vt:lpstr>Default Design</vt:lpstr>
      <vt:lpstr>Lesson objective </vt:lpstr>
      <vt:lpstr>PowerPoint Presentation</vt:lpstr>
      <vt:lpstr>PowerPoint Presentation</vt:lpstr>
      <vt:lpstr>PowerPoint Presentation</vt:lpstr>
      <vt:lpstr>What is wrong with this question?</vt:lpstr>
      <vt:lpstr>What is wrong with this question?</vt:lpstr>
      <vt:lpstr>What is wrong with this question?</vt:lpstr>
      <vt:lpstr>I do example</vt:lpstr>
      <vt:lpstr>Whiteboards ready </vt:lpstr>
      <vt:lpstr>PowerPoint Presentation</vt:lpstr>
      <vt:lpstr>The mean is</vt:lpstr>
      <vt:lpstr>Find the mode of these numbers</vt:lpstr>
      <vt:lpstr>The mode is</vt:lpstr>
      <vt:lpstr>What is the median of these numbers?</vt:lpstr>
      <vt:lpstr>The median is</vt:lpstr>
      <vt:lpstr>Find the mean of these numbers</vt:lpstr>
      <vt:lpstr>The mean is </vt:lpstr>
      <vt:lpstr>Find the mode of these numbers</vt:lpstr>
      <vt:lpstr>The mode is </vt:lpstr>
      <vt:lpstr>Find the median of these numbers</vt:lpstr>
      <vt:lpstr>The median is </vt:lpstr>
      <vt:lpstr>PowerPoint Presentation</vt:lpstr>
      <vt:lpstr>Averages</vt:lpstr>
      <vt:lpstr>Averages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</cp:revision>
  <dcterms:created xsi:type="dcterms:W3CDTF">2022-11-14T00:02:01Z</dcterms:created>
  <dcterms:modified xsi:type="dcterms:W3CDTF">2022-11-14T06:03:30Z</dcterms:modified>
</cp:coreProperties>
</file>
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62" r:id="rId5"/>
    <p:sldId id="258" r:id="rId6"/>
    <p:sldId id="259" r:id="rId7"/>
    <p:sldId id="264" r:id="rId8"/>
    <p:sldId id="277" r:id="rId9"/>
    <p:sldId id="260" r:id="rId10"/>
    <p:sldId id="261" r:id="rId11"/>
    <p:sldId id="263" r:id="rId12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677D4-3D52-F317-1C7A-9D554FBF3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C0FDA-8925-6DBA-8E01-501C4BACF4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F7FA2-B55A-D39C-F8C6-362ADEFB1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8CD4-22C5-4225-A635-564BF42B3755}" type="datetimeFigureOut">
              <a:rPr lang="en-AU" smtClean="0"/>
              <a:t>3/11/2022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28412-3AAE-D95D-2C12-B7EA81F24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84073-A17F-4307-8DEF-82C4CA2F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B2CA-361A-40F2-8AC8-53CD79FD24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5826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2A576-FAE5-1095-5013-677A93AE6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46B04-4079-876E-0442-46DD592E9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8DD71-37F7-0F65-B4A1-AA0257F77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8CD4-22C5-4225-A635-564BF42B3755}" type="datetimeFigureOut">
              <a:rPr lang="en-AU" smtClean="0"/>
              <a:t>3/11/2022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23697-B240-7425-9937-5517F5ED6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514A3-51DF-7116-EC4C-BBDC522D4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B2CA-361A-40F2-8AC8-53CD79FD24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5787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DC9EE-EDE6-5CC2-D256-C22C72A2B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98B63-3D9F-1812-81B1-8951AEB44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8FA03-4F83-1476-C682-884B683B3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8CD4-22C5-4225-A635-564BF42B3755}" type="datetimeFigureOut">
              <a:rPr lang="en-AU" smtClean="0"/>
              <a:t>3/11/2022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5ED5C-964F-37D2-9241-EF29F98F5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32E05-1C43-5857-F51C-BCDDB3B1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B2CA-361A-40F2-8AC8-53CD79FD24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8854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519F7-A54A-9AC4-3E17-28D868C77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29890-3F30-7100-332D-F37074614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FFB2BC-0EBD-7B53-F63E-B6E7D31A6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B66A51-A87F-DD0B-74B6-3273CEF74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8CD4-22C5-4225-A635-564BF42B3755}" type="datetimeFigureOut">
              <a:rPr lang="en-AU" smtClean="0"/>
              <a:t>3/11/2022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50F3D-3B62-4D6B-291D-5F6C19CC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B5365-5FA1-1730-7698-D4B6BCAC3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B2CA-361A-40F2-8AC8-53CD79FD24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6955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A8845-8516-8BAC-B5C1-AB5A089FB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D44F4-2368-AA95-2E67-B0D5950DA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814F5-5CCC-8E67-D01A-3096A2D83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9BBA0E-3DB0-1F16-7AFD-3B276451AD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71F59-BB58-C8B9-FCD6-1684F264EB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77BDB3-F664-DC28-4916-34995E1E1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8CD4-22C5-4225-A635-564BF42B3755}" type="datetimeFigureOut">
              <a:rPr lang="en-AU" smtClean="0"/>
              <a:t>3/11/2022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3F6300-E731-F222-0EEC-B06307CC2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01EC9F-63F7-8CE5-564E-EA35F8834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B2CA-361A-40F2-8AC8-53CD79FD24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3970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479C1-F569-77D4-B252-70E66D023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7C709A-E3BA-99AB-3C80-76C6D2BC1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8CD4-22C5-4225-A635-564BF42B3755}" type="datetimeFigureOut">
              <a:rPr lang="en-AU" smtClean="0"/>
              <a:t>3/11/2022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9537BD-B70D-77BF-18A8-234D52FDA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11C927-E905-DA93-91DA-BE5F46CE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B2CA-361A-40F2-8AC8-53CD79FD24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7954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76526E-A18D-15EA-35FD-150BBB11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8CD4-22C5-4225-A635-564BF42B3755}" type="datetimeFigureOut">
              <a:rPr lang="en-AU" smtClean="0"/>
              <a:t>3/11/2022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0FFA6A-BA45-03CB-105B-AC19CBC16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DE7F7-FDA6-9542-F5FA-130CE69BD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B2CA-361A-40F2-8AC8-53CD79FD24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3898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D90E8-CD58-C5B4-B8B2-F7CE930C6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594B2-5E90-8AD3-A697-F0FE3BBC3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E3273E-73DB-4F1C-E74E-BB61B75A6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609CCB-B915-C1BB-5636-D5972928C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8CD4-22C5-4225-A635-564BF42B3755}" type="datetimeFigureOut">
              <a:rPr lang="en-AU" smtClean="0"/>
              <a:t>3/11/2022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79D73-1A6E-8799-A7B0-5E9675A91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13483-A6B0-585E-AAD8-E33FFC93A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B2CA-361A-40F2-8AC8-53CD79FD24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1662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7EE4-5174-569D-5243-0F7788A8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DD0681-7AD8-A1A7-0A71-73703019B9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F153F-8473-F33A-ABAF-CE308E1FC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FAB13-3F22-D7F7-2AE2-ECFCA4538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8CD4-22C5-4225-A635-564BF42B3755}" type="datetimeFigureOut">
              <a:rPr lang="en-AU" smtClean="0"/>
              <a:t>3/11/2022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B244A-489F-EB29-EC17-5FDAFCB7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5269C-5644-06C9-6298-82A0A1D4B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B2CA-361A-40F2-8AC8-53CD79FD24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5583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E1B5B-3DBC-5565-C6B4-2E04344B8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FEFBA-5E72-F50E-FCA7-F382EA13A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AB2C7-915E-D2A7-DB23-7488C906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8CD4-22C5-4225-A635-564BF42B3755}" type="datetimeFigureOut">
              <a:rPr lang="en-AU" smtClean="0"/>
              <a:t>3/11/2022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69AC6-E59E-7C06-DAD1-7DB0A3796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018C0-8E8F-6740-04B9-B3E26A87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B2CA-361A-40F2-8AC8-53CD79FD24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580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72B616-C218-DE8D-5351-022B895E1A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B0046-E782-85DC-8CEE-A658B6B67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F4350-75A1-79FA-F4C2-F1810F904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8CD4-22C5-4225-A635-564BF42B3755}" type="datetimeFigureOut">
              <a:rPr lang="en-AU" smtClean="0"/>
              <a:t>3/11/2022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D56A3-ED3D-F3A1-F2FA-1A225DB5B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345E0-FA2B-1103-A891-0EA00ADB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9B2CA-361A-40F2-8AC8-53CD79FD24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71706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03/11/2022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0997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03/11/2022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76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03/11/2022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844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03/11/2022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871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03/11/2022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5648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03/11/2022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967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03/11/2022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9171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03/11/2022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934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03/11/2022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160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03/11/2022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4050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03/11/2022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979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9BD73D-2D84-D724-00BA-8896A4A71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BA383-081F-8877-A49B-7BDC6B92A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0F3CF-52EB-99E5-A6EC-60489CF22F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88CD4-22C5-4225-A635-564BF42B3755}" type="datetimeFigureOut">
              <a:rPr lang="en-AU" smtClean="0"/>
              <a:t>3/11/2022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24DDD-ADC8-6FD0-7DD6-EC601DC06A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CE99-EF77-0B57-E5C1-32795462A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9B2CA-361A-40F2-8AC8-53CD79FD24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172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02AEF-9BC8-4210-8BE8-1CFEAC08FF91}" type="datetimeFigureOut">
              <a:rPr lang="en-GB" smtClean="0"/>
              <a:t>03/11/2022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606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6A95F-CBD2-646E-68D5-D54A0201A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3CCCE-6F89-4507-D9A1-5A060F58E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sz="3200" b="1" dirty="0">
                <a:solidFill>
                  <a:srgbClr val="00B0F0"/>
                </a:solidFill>
              </a:rPr>
              <a:t>Frequency tables </a:t>
            </a:r>
          </a:p>
          <a:p>
            <a:pPr marL="0" indent="0">
              <a:buNone/>
            </a:pPr>
            <a:endParaRPr lang="en-US" sz="32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>
                <a:solidFill>
                  <a:srgbClr val="00B0F0"/>
                </a:solidFill>
              </a:rPr>
              <a:t> Calculate </a:t>
            </a:r>
            <a:r>
              <a:rPr lang="en-US" sz="3200" b="1" dirty="0">
                <a:solidFill>
                  <a:srgbClr val="00B0F0"/>
                </a:solidFill>
              </a:rPr>
              <a:t>averages from a frequency table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</a:rPr>
              <a:t>Plan: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</a:rPr>
              <a:t> - review terminology </a:t>
            </a:r>
            <a:endParaRPr lang="en-AU" sz="3200" b="1" dirty="0">
              <a:solidFill>
                <a:srgbClr val="00B0F0"/>
              </a:solidFill>
            </a:endParaRPr>
          </a:p>
          <a:p>
            <a:pPr>
              <a:buFontTx/>
              <a:buChar char="-"/>
            </a:pPr>
            <a:r>
              <a:rPr lang="en-AU" sz="3200" b="1" dirty="0">
                <a:solidFill>
                  <a:srgbClr val="00B0F0"/>
                </a:solidFill>
              </a:rPr>
              <a:t>Averages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049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A3B6EE-C69B-6770-9984-AD2F8D011BAB}"/>
              </a:ext>
            </a:extLst>
          </p:cNvPr>
          <p:cNvSpPr txBox="1"/>
          <p:nvPr/>
        </p:nvSpPr>
        <p:spPr>
          <a:xfrm>
            <a:off x="241222" y="252442"/>
            <a:ext cx="1153939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b="1" u="sng" dirty="0"/>
              <a:t>Mean</a:t>
            </a:r>
            <a:r>
              <a:rPr lang="en-AU" sz="2400" dirty="0"/>
              <a:t>: </a:t>
            </a:r>
            <a:r>
              <a:rPr lang="en-GB" sz="2400" dirty="0"/>
              <a:t>the average of the given numbers and is calculated by dividing the sum of given 	numbers by the total number of data points. </a:t>
            </a:r>
          </a:p>
          <a:p>
            <a:pPr>
              <a:lnSpc>
                <a:spcPct val="150000"/>
              </a:lnSpc>
            </a:pPr>
            <a:r>
              <a:rPr lang="en-GB" sz="2400" b="1" u="sng" dirty="0"/>
              <a:t>Median</a:t>
            </a:r>
            <a:r>
              <a:rPr lang="en-GB" sz="2400" dirty="0"/>
              <a:t>: is the "middle" of a sorted list of numbers.</a:t>
            </a:r>
          </a:p>
          <a:p>
            <a:pPr>
              <a:lnSpc>
                <a:spcPct val="150000"/>
              </a:lnSpc>
            </a:pPr>
            <a:r>
              <a:rPr lang="en-GB" sz="2400" b="1" u="sng" dirty="0"/>
              <a:t>Mode</a:t>
            </a:r>
            <a:r>
              <a:rPr lang="en-GB" sz="2400" dirty="0"/>
              <a:t>: the most frequent number.</a:t>
            </a:r>
          </a:p>
          <a:p>
            <a:pPr>
              <a:lnSpc>
                <a:spcPct val="150000"/>
              </a:lnSpc>
            </a:pPr>
            <a:r>
              <a:rPr lang="en-GB" sz="2400" b="1" u="sng" dirty="0"/>
              <a:t>Frequency</a:t>
            </a:r>
            <a:r>
              <a:rPr lang="en-GB" sz="2400" dirty="0"/>
              <a:t>: the number of times a particular value for a variable (data item) has been 	observed to occur.</a:t>
            </a:r>
          </a:p>
          <a:p>
            <a:pPr>
              <a:lnSpc>
                <a:spcPct val="150000"/>
              </a:lnSpc>
            </a:pPr>
            <a:r>
              <a:rPr lang="en-GB" sz="2400" b="1" u="sng" dirty="0"/>
              <a:t>Outlier</a:t>
            </a:r>
            <a:r>
              <a:rPr lang="en-GB" sz="2400" dirty="0"/>
              <a:t>: an observation that lies an abnormal distance from other values in a random 	sample from a population. </a:t>
            </a:r>
          </a:p>
          <a:p>
            <a:pPr>
              <a:lnSpc>
                <a:spcPct val="150000"/>
              </a:lnSpc>
            </a:pPr>
            <a:r>
              <a:rPr lang="en-GB" sz="2400" b="1" u="sng" dirty="0"/>
              <a:t>Sample</a:t>
            </a:r>
            <a:r>
              <a:rPr lang="en-GB" sz="2400" dirty="0"/>
              <a:t>: a piece of information you get from a fraction of a population.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b="1" u="sng" dirty="0"/>
              <a:t>Census</a:t>
            </a:r>
            <a:r>
              <a:rPr lang="en-GB" sz="2400" dirty="0"/>
              <a:t>: is a study of every unit, everyone or everything, in a target population.</a:t>
            </a:r>
            <a:endParaRPr lang="en-AU" sz="2400" dirty="0"/>
          </a:p>
          <a:p>
            <a:endParaRPr lang="en-A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57B462-4756-0B85-391E-2C8AD27C645A}"/>
              </a:ext>
            </a:extLst>
          </p:cNvPr>
          <p:cNvSpPr/>
          <p:nvPr/>
        </p:nvSpPr>
        <p:spPr>
          <a:xfrm>
            <a:off x="1675462" y="388011"/>
            <a:ext cx="1007897" cy="437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CD888B-C293-BD9B-99CF-CE59F7BC52F7}"/>
              </a:ext>
            </a:extLst>
          </p:cNvPr>
          <p:cNvSpPr/>
          <p:nvPr/>
        </p:nvSpPr>
        <p:spPr>
          <a:xfrm>
            <a:off x="6254009" y="397660"/>
            <a:ext cx="1279852" cy="437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FD3B18-145B-C902-01F1-358255490740}"/>
              </a:ext>
            </a:extLst>
          </p:cNvPr>
          <p:cNvSpPr/>
          <p:nvPr/>
        </p:nvSpPr>
        <p:spPr>
          <a:xfrm>
            <a:off x="7888331" y="388010"/>
            <a:ext cx="1007897" cy="437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0CEF50-60AC-A3FA-F462-8CC5F4CC9DDE}"/>
              </a:ext>
            </a:extLst>
          </p:cNvPr>
          <p:cNvSpPr/>
          <p:nvPr/>
        </p:nvSpPr>
        <p:spPr>
          <a:xfrm>
            <a:off x="9452113" y="388011"/>
            <a:ext cx="527750" cy="437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D408E1-F383-E5FC-5424-4BEC724AC961}"/>
              </a:ext>
            </a:extLst>
          </p:cNvPr>
          <p:cNvSpPr/>
          <p:nvPr/>
        </p:nvSpPr>
        <p:spPr>
          <a:xfrm>
            <a:off x="1222513" y="955538"/>
            <a:ext cx="1128000" cy="437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2E194D-3C12-3C72-9861-1F5D39877B2A}"/>
              </a:ext>
            </a:extLst>
          </p:cNvPr>
          <p:cNvSpPr/>
          <p:nvPr/>
        </p:nvSpPr>
        <p:spPr>
          <a:xfrm>
            <a:off x="2350513" y="1461356"/>
            <a:ext cx="824643" cy="437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062D04-A4F8-C707-BA92-79EA7AF563A3}"/>
              </a:ext>
            </a:extLst>
          </p:cNvPr>
          <p:cNvSpPr/>
          <p:nvPr/>
        </p:nvSpPr>
        <p:spPr>
          <a:xfrm>
            <a:off x="3898823" y="1461356"/>
            <a:ext cx="824642" cy="437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9906BE-B25A-F944-24C9-5315730A933B}"/>
              </a:ext>
            </a:extLst>
          </p:cNvPr>
          <p:cNvSpPr/>
          <p:nvPr/>
        </p:nvSpPr>
        <p:spPr>
          <a:xfrm>
            <a:off x="2412221" y="2053191"/>
            <a:ext cx="1093914" cy="437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BE84AE-D745-73C9-D140-314314160AE2}"/>
              </a:ext>
            </a:extLst>
          </p:cNvPr>
          <p:cNvSpPr/>
          <p:nvPr/>
        </p:nvSpPr>
        <p:spPr>
          <a:xfrm>
            <a:off x="5880023" y="2581448"/>
            <a:ext cx="649804" cy="437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63BDDF-50AC-054D-151F-24178C5E4301}"/>
              </a:ext>
            </a:extLst>
          </p:cNvPr>
          <p:cNvSpPr/>
          <p:nvPr/>
        </p:nvSpPr>
        <p:spPr>
          <a:xfrm>
            <a:off x="7191784" y="2644091"/>
            <a:ext cx="1007897" cy="437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B198B2-6CCD-3746-4B51-3C99A51F43DE}"/>
              </a:ext>
            </a:extLst>
          </p:cNvPr>
          <p:cNvSpPr/>
          <p:nvPr/>
        </p:nvSpPr>
        <p:spPr>
          <a:xfrm>
            <a:off x="1222513" y="3110637"/>
            <a:ext cx="1189708" cy="437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AF810C-5AC9-1F7C-F023-1DFFF56F2AF2}"/>
              </a:ext>
            </a:extLst>
          </p:cNvPr>
          <p:cNvSpPr/>
          <p:nvPr/>
        </p:nvSpPr>
        <p:spPr>
          <a:xfrm>
            <a:off x="4723465" y="3678163"/>
            <a:ext cx="1156557" cy="437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DEFBB3-9444-1132-8AB3-10ECA438F612}"/>
              </a:ext>
            </a:extLst>
          </p:cNvPr>
          <p:cNvSpPr/>
          <p:nvPr/>
        </p:nvSpPr>
        <p:spPr>
          <a:xfrm>
            <a:off x="8488017" y="3700068"/>
            <a:ext cx="790619" cy="437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0B6745-3D8B-DB48-FAC2-DCFC74334A30}"/>
              </a:ext>
            </a:extLst>
          </p:cNvPr>
          <p:cNvSpPr/>
          <p:nvPr/>
        </p:nvSpPr>
        <p:spPr>
          <a:xfrm>
            <a:off x="3018081" y="4228326"/>
            <a:ext cx="1514162" cy="437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8AF40C-80EB-7D06-4824-A87DD3CA393B}"/>
              </a:ext>
            </a:extLst>
          </p:cNvPr>
          <p:cNvSpPr/>
          <p:nvPr/>
        </p:nvSpPr>
        <p:spPr>
          <a:xfrm>
            <a:off x="2683359" y="4756584"/>
            <a:ext cx="1490344" cy="437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4A95E3-C821-93AB-DB4A-B7B12B0BC0D2}"/>
              </a:ext>
            </a:extLst>
          </p:cNvPr>
          <p:cNvSpPr/>
          <p:nvPr/>
        </p:nvSpPr>
        <p:spPr>
          <a:xfrm>
            <a:off x="6096000" y="4793584"/>
            <a:ext cx="955539" cy="437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0174E2-E20B-24ED-3EA4-1A3AE433C953}"/>
              </a:ext>
            </a:extLst>
          </p:cNvPr>
          <p:cNvSpPr/>
          <p:nvPr/>
        </p:nvSpPr>
        <p:spPr>
          <a:xfrm>
            <a:off x="4306469" y="5874805"/>
            <a:ext cx="1191152" cy="437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345C43-F58F-ED3D-8821-87DC923DBCEF}"/>
              </a:ext>
            </a:extLst>
          </p:cNvPr>
          <p:cNvSpPr/>
          <p:nvPr/>
        </p:nvSpPr>
        <p:spPr>
          <a:xfrm>
            <a:off x="5880022" y="5915009"/>
            <a:ext cx="1268753" cy="437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28E23A-17BC-0825-D1CD-B6554F60DA7C}"/>
              </a:ext>
            </a:extLst>
          </p:cNvPr>
          <p:cNvSpPr/>
          <p:nvPr/>
        </p:nvSpPr>
        <p:spPr>
          <a:xfrm>
            <a:off x="8637105" y="5874804"/>
            <a:ext cx="1342758" cy="437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719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A3B6EE-C69B-6770-9984-AD2F8D011BAB}"/>
              </a:ext>
            </a:extLst>
          </p:cNvPr>
          <p:cNvSpPr txBox="1"/>
          <p:nvPr/>
        </p:nvSpPr>
        <p:spPr>
          <a:xfrm>
            <a:off x="241222" y="252442"/>
            <a:ext cx="11539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LO: TBAT calculate the averages from a frequency table.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2CE7C-CA23-A04B-BCC3-B4C02FBC4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2" y="826746"/>
            <a:ext cx="6991839" cy="2796768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47D69C1B-AF75-F4E9-49F6-E93784A5B4E0}"/>
              </a:ext>
            </a:extLst>
          </p:cNvPr>
          <p:cNvSpPr/>
          <p:nvPr/>
        </p:nvSpPr>
        <p:spPr>
          <a:xfrm>
            <a:off x="398297" y="1991485"/>
            <a:ext cx="813423" cy="30293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8514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A3B6EE-C69B-6770-9984-AD2F8D011BAB}"/>
              </a:ext>
            </a:extLst>
          </p:cNvPr>
          <p:cNvSpPr txBox="1"/>
          <p:nvPr/>
        </p:nvSpPr>
        <p:spPr>
          <a:xfrm>
            <a:off x="241222" y="252442"/>
            <a:ext cx="11539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LO: TBAT calculate the averages from a frequency table.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2CE7C-CA23-A04B-BCC3-B4C02FBC4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2" y="826746"/>
            <a:ext cx="6991839" cy="2796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DFA8F6-5195-0B32-73D5-0F6901081D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388" r="34924"/>
          <a:stretch/>
        </p:blipFill>
        <p:spPr>
          <a:xfrm>
            <a:off x="7219834" y="732226"/>
            <a:ext cx="1570748" cy="28412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D8C5B5-75F7-770D-8428-5B8C8EBBC1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388"/>
          <a:stretch/>
        </p:blipFill>
        <p:spPr>
          <a:xfrm>
            <a:off x="7219834" y="782287"/>
            <a:ext cx="3988578" cy="284122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47D69C1B-AF75-F4E9-49F6-E93784A5B4E0}"/>
              </a:ext>
            </a:extLst>
          </p:cNvPr>
          <p:cNvSpPr/>
          <p:nvPr/>
        </p:nvSpPr>
        <p:spPr>
          <a:xfrm>
            <a:off x="398297" y="1991485"/>
            <a:ext cx="813423" cy="30293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820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A3B6EE-C69B-6770-9984-AD2F8D011BAB}"/>
              </a:ext>
            </a:extLst>
          </p:cNvPr>
          <p:cNvSpPr txBox="1"/>
          <p:nvPr/>
        </p:nvSpPr>
        <p:spPr>
          <a:xfrm>
            <a:off x="241222" y="252442"/>
            <a:ext cx="11539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LO: TBAT calculate the averages from a frequency table.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2CE7C-CA23-A04B-BCC3-B4C02FBC4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90" y="804307"/>
            <a:ext cx="6991839" cy="2796768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7ECAE94-941A-EDA0-B339-6FB455968BF4}"/>
              </a:ext>
            </a:extLst>
          </p:cNvPr>
          <p:cNvSpPr/>
          <p:nvPr/>
        </p:nvSpPr>
        <p:spPr>
          <a:xfrm>
            <a:off x="330979" y="2288806"/>
            <a:ext cx="998547" cy="30293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A2F7D0-8E3B-7AF5-ECDC-3A5BDF564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067" y="871625"/>
            <a:ext cx="8864414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82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28686-DE1E-73CA-ED56-90500295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Notes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D86B91-3F35-1A67-6924-BBE29A8234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600" b="1" u="sng" dirty="0">
                    <a:solidFill>
                      <a:srgbClr val="00B0F0"/>
                    </a:solidFill>
                  </a:rPr>
                  <a:t>Position</a:t>
                </a:r>
                <a:r>
                  <a:rPr lang="en-US" sz="3600" dirty="0">
                    <a:solidFill>
                      <a:srgbClr val="00B0F0"/>
                    </a:solidFill>
                  </a:rPr>
                  <a:t> of the median in a table: </a:t>
                </a:r>
              </a:p>
              <a:p>
                <a:pPr marL="0" indent="0">
                  <a:buNone/>
                </a:pPr>
                <a:endParaRPr lang="en-US" sz="3600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US" sz="3600" dirty="0">
                    <a:solidFill>
                      <a:srgbClr val="00B0F0"/>
                    </a:solidFill>
                  </a:rPr>
                  <a:t>Median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sz="3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+1 </m:t>
                            </m:r>
                          </m:num>
                          <m:den>
                            <m:r>
                              <a:rPr lang="en-US" sz="36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2 </m:t>
                            </m:r>
                          </m:den>
                        </m:f>
                      </m:e>
                      <m:sup>
                        <m:r>
                          <a:rPr lang="en-US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endParaRPr lang="en-AU" sz="3600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sz="3600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AU" sz="3600" dirty="0">
                    <a:solidFill>
                      <a:srgbClr val="00B0F0"/>
                    </a:solidFill>
                  </a:rPr>
                  <a:t>N = total frequency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D86B91-3F35-1A67-6924-BBE29A823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7" t="-33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5519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Averages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Year 9 did a French test and their results are below. Calculate the median of the data.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885138"/>
              </p:ext>
            </p:extLst>
          </p:nvPr>
        </p:nvGraphicFramePr>
        <p:xfrm>
          <a:off x="1198475" y="2951982"/>
          <a:ext cx="415195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0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Mark (out of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Total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5668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A3B6EE-C69B-6770-9984-AD2F8D011BAB}"/>
              </a:ext>
            </a:extLst>
          </p:cNvPr>
          <p:cNvSpPr txBox="1"/>
          <p:nvPr/>
        </p:nvSpPr>
        <p:spPr>
          <a:xfrm>
            <a:off x="241222" y="252442"/>
            <a:ext cx="11539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LO: TBAT calculate the averages from a frequency table.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2CE7C-CA23-A04B-BCC3-B4C02FBC4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90" y="804307"/>
            <a:ext cx="6991839" cy="2796768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7ECAE94-941A-EDA0-B339-6FB455968BF4}"/>
              </a:ext>
            </a:extLst>
          </p:cNvPr>
          <p:cNvSpPr/>
          <p:nvPr/>
        </p:nvSpPr>
        <p:spPr>
          <a:xfrm>
            <a:off x="325369" y="2670274"/>
            <a:ext cx="998547" cy="30293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832FBF-A42F-1225-ABAB-427ACFDDB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296" y="4152940"/>
            <a:ext cx="8735644" cy="47631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A57E69-B29A-6C76-C2EA-9263B9C63D1C}"/>
              </a:ext>
            </a:extLst>
          </p:cNvPr>
          <p:cNvCxnSpPr/>
          <p:nvPr/>
        </p:nvCxnSpPr>
        <p:spPr>
          <a:xfrm flipH="1">
            <a:off x="7225443" y="2300025"/>
            <a:ext cx="185684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11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A3B6EE-C69B-6770-9984-AD2F8D011BAB}"/>
              </a:ext>
            </a:extLst>
          </p:cNvPr>
          <p:cNvSpPr txBox="1"/>
          <p:nvPr/>
        </p:nvSpPr>
        <p:spPr>
          <a:xfrm>
            <a:off x="241222" y="252442"/>
            <a:ext cx="1153939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LO: TBAT calculate the averages from a frequency table and be able to</a:t>
            </a:r>
            <a:endParaRPr lang="en-AU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2CE7C-CA23-A04B-BCC3-B4C02FBC4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69" y="798697"/>
            <a:ext cx="6991839" cy="2796768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7ECAE94-941A-EDA0-B339-6FB455968BF4}"/>
              </a:ext>
            </a:extLst>
          </p:cNvPr>
          <p:cNvSpPr/>
          <p:nvPr/>
        </p:nvSpPr>
        <p:spPr>
          <a:xfrm>
            <a:off x="409516" y="3034912"/>
            <a:ext cx="1868069" cy="30293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EAF545-0403-5E8C-436E-EA4FA991A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103" y="4071473"/>
            <a:ext cx="8347557" cy="79068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E6FB719-6DBF-82F5-2F2C-2C1FB069EDA8}"/>
              </a:ext>
            </a:extLst>
          </p:cNvPr>
          <p:cNvSpPr/>
          <p:nvPr/>
        </p:nvSpPr>
        <p:spPr>
          <a:xfrm>
            <a:off x="5144201" y="1250989"/>
            <a:ext cx="263662" cy="2776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FD7AC42-1FA4-3F56-8BDB-81F0E158C782}"/>
              </a:ext>
            </a:extLst>
          </p:cNvPr>
          <p:cNvSpPr/>
          <p:nvPr/>
        </p:nvSpPr>
        <p:spPr>
          <a:xfrm>
            <a:off x="5102050" y="2767402"/>
            <a:ext cx="384350" cy="30293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9870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A3B6EE-C69B-6770-9984-AD2F8D011BAB}"/>
              </a:ext>
            </a:extLst>
          </p:cNvPr>
          <p:cNvSpPr txBox="1"/>
          <p:nvPr/>
        </p:nvSpPr>
        <p:spPr>
          <a:xfrm>
            <a:off x="241222" y="252442"/>
            <a:ext cx="11539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HAESE year 8 page 393-398 every second question</a:t>
            </a:r>
          </a:p>
        </p:txBody>
      </p:sp>
    </p:spTree>
    <p:extLst>
      <p:ext uri="{BB962C8B-B14F-4D97-AF65-F5344CB8AC3E}">
        <p14:creationId xmlns:p14="http://schemas.microsoft.com/office/powerpoint/2010/main" val="921399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273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Wingdings</vt:lpstr>
      <vt:lpstr>Office Theme</vt:lpstr>
      <vt:lpstr>1_Office Theme</vt:lpstr>
      <vt:lpstr>Lesson objective </vt:lpstr>
      <vt:lpstr>PowerPoint Presentation</vt:lpstr>
      <vt:lpstr>PowerPoint Presentation</vt:lpstr>
      <vt:lpstr>PowerPoint Presentation</vt:lpstr>
      <vt:lpstr>PowerPoint Presentation</vt:lpstr>
      <vt:lpstr>Notes </vt:lpstr>
      <vt:lpstr>Averages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GALE Denham [Busselton Senior High School]</dc:creator>
  <cp:lastModifiedBy>DAVIES Rhys [Busselton Senior High School]</cp:lastModifiedBy>
  <cp:revision>8</cp:revision>
  <cp:lastPrinted>2022-11-01T00:43:05Z</cp:lastPrinted>
  <dcterms:created xsi:type="dcterms:W3CDTF">2022-11-01T00:13:51Z</dcterms:created>
  <dcterms:modified xsi:type="dcterms:W3CDTF">2022-11-03T00:03:42Z</dcterms:modified>
</cp:coreProperties>
</file>
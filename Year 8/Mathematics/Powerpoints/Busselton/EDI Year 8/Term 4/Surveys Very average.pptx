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56" r:id="rId3"/>
    <p:sldId id="257" r:id="rId4"/>
    <p:sldId id="260" r:id="rId5"/>
    <p:sldId id="261" r:id="rId6"/>
    <p:sldId id="262" r:id="rId7"/>
    <p:sldId id="263" r:id="rId8"/>
    <p:sldId id="264" r:id="rId9"/>
    <p:sldId id="265" r:id="rId10"/>
    <p:sldId id="266" r:id="rId11"/>
    <p:sldId id="267" r:id="rId12"/>
    <p:sldId id="268" r:id="rId13"/>
    <p:sldId id="269" r:id="rId14"/>
    <p:sldId id="270" r:id="rId15"/>
    <p:sldId id="275" r:id="rId16"/>
    <p:sldId id="271" r:id="rId17"/>
    <p:sldId id="272" r:id="rId18"/>
    <p:sldId id="273" r:id="rId19"/>
    <p:sldId id="274"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2D4687-30F5-4D00-91D8-49F21EE681FF}" type="datetimeFigureOut">
              <a:rPr lang="en-GB" smtClean="0"/>
              <a:t>24/10/2022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500DE0-0D26-495E-B329-79BF3A323A64}" type="slidenum">
              <a:rPr lang="en-GB" smtClean="0"/>
              <a:t>‹#›</a:t>
            </a:fld>
            <a:endParaRPr lang="en-GB"/>
          </a:p>
        </p:txBody>
      </p:sp>
    </p:spTree>
    <p:extLst>
      <p:ext uri="{BB962C8B-B14F-4D97-AF65-F5344CB8AC3E}">
        <p14:creationId xmlns:p14="http://schemas.microsoft.com/office/powerpoint/2010/main" val="4025776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“Ten to 10” as in</a:t>
            </a:r>
            <a:r>
              <a:rPr lang="en-GB" baseline="0" dirty="0"/>
              <a:t> the time which is also 9:50.</a:t>
            </a:r>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3</a:t>
            </a:fld>
            <a:endParaRPr lang="en-GB"/>
          </a:p>
        </p:txBody>
      </p:sp>
    </p:spTree>
    <p:extLst>
      <p:ext uri="{BB962C8B-B14F-4D97-AF65-F5344CB8AC3E}">
        <p14:creationId xmlns:p14="http://schemas.microsoft.com/office/powerpoint/2010/main" val="842208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may need to explain the meaning of ‘unambiguous’, ‘open’ and ‘closed’ questions. Get the students to see if they can give you example of open and closed questions.</a:t>
            </a:r>
          </a:p>
        </p:txBody>
      </p:sp>
      <p:sp>
        <p:nvSpPr>
          <p:cNvPr id="4" name="Slide Number Placeholder 3"/>
          <p:cNvSpPr>
            <a:spLocks noGrp="1"/>
          </p:cNvSpPr>
          <p:nvPr>
            <p:ph type="sldNum" sz="quarter" idx="10"/>
          </p:nvPr>
        </p:nvSpPr>
        <p:spPr/>
        <p:txBody>
          <a:bodyPr/>
          <a:lstStyle/>
          <a:p>
            <a:fld id="{0BC3EBA4-D70C-4F96-A185-7C678711B04F}" type="slidenum">
              <a:rPr lang="en-GB" smtClean="0"/>
              <a:t>6</a:t>
            </a:fld>
            <a:endParaRPr lang="en-GB"/>
          </a:p>
        </p:txBody>
      </p:sp>
    </p:spTree>
    <p:extLst>
      <p:ext uri="{BB962C8B-B14F-4D97-AF65-F5344CB8AC3E}">
        <p14:creationId xmlns:p14="http://schemas.microsoft.com/office/powerpoint/2010/main" val="549285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at least 4 things</a:t>
            </a:r>
            <a:r>
              <a:rPr lang="en-GB" baseline="0" dirty="0"/>
              <a:t> wrong with this question. Give students a minute to discuss the question with their neighbour to see if they can identify the mistakes.</a:t>
            </a:r>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7</a:t>
            </a:fld>
            <a:endParaRPr lang="en-GB"/>
          </a:p>
        </p:txBody>
      </p:sp>
    </p:spTree>
    <p:extLst>
      <p:ext uri="{BB962C8B-B14F-4D97-AF65-F5344CB8AC3E}">
        <p14:creationId xmlns:p14="http://schemas.microsoft.com/office/powerpoint/2010/main" val="4065627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Highlight the</a:t>
            </a:r>
            <a:r>
              <a:rPr lang="en-GB" baseline="0" dirty="0"/>
              <a:t> changes and how it has been improved. You may want to question if it could still be improved further?</a:t>
            </a:r>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8</a:t>
            </a:fld>
            <a:endParaRPr lang="en-GB"/>
          </a:p>
        </p:txBody>
      </p:sp>
    </p:spTree>
    <p:extLst>
      <p:ext uri="{BB962C8B-B14F-4D97-AF65-F5344CB8AC3E}">
        <p14:creationId xmlns:p14="http://schemas.microsoft.com/office/powerpoint/2010/main" val="1553869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There are at least 3 things</a:t>
            </a:r>
            <a:r>
              <a:rPr lang="en-GB" baseline="0" dirty="0"/>
              <a:t> wrong with this question. Give students a minute to discuss the question with their neighbour to see if they can identify the mistakes.</a:t>
            </a:r>
            <a:endParaRPr lang="en-GB" dirty="0"/>
          </a:p>
          <a:p>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9</a:t>
            </a:fld>
            <a:endParaRPr lang="en-GB"/>
          </a:p>
        </p:txBody>
      </p:sp>
    </p:spTree>
    <p:extLst>
      <p:ext uri="{BB962C8B-B14F-4D97-AF65-F5344CB8AC3E}">
        <p14:creationId xmlns:p14="http://schemas.microsoft.com/office/powerpoint/2010/main" val="3988595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Highlight the</a:t>
            </a:r>
            <a:r>
              <a:rPr lang="en-GB" baseline="0" dirty="0"/>
              <a:t> changes and how it has been improved. You may want to question if it could still be improved further?</a:t>
            </a:r>
            <a:endParaRPr lang="en-GB" dirty="0"/>
          </a:p>
          <a:p>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10</a:t>
            </a:fld>
            <a:endParaRPr lang="en-GB"/>
          </a:p>
        </p:txBody>
      </p:sp>
    </p:spTree>
    <p:extLst>
      <p:ext uri="{BB962C8B-B14F-4D97-AF65-F5344CB8AC3E}">
        <p14:creationId xmlns:p14="http://schemas.microsoft.com/office/powerpoint/2010/main" val="1798589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There are at least 4 things</a:t>
            </a:r>
            <a:r>
              <a:rPr lang="en-GB" baseline="0" dirty="0"/>
              <a:t> wrong with this question. Give students a minute to discuss the question with their neighbour to see if they can identify the mistakes.</a:t>
            </a:r>
            <a:endParaRPr lang="en-GB" dirty="0"/>
          </a:p>
          <a:p>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11</a:t>
            </a:fld>
            <a:endParaRPr lang="en-GB"/>
          </a:p>
        </p:txBody>
      </p:sp>
    </p:spTree>
    <p:extLst>
      <p:ext uri="{BB962C8B-B14F-4D97-AF65-F5344CB8AC3E}">
        <p14:creationId xmlns:p14="http://schemas.microsoft.com/office/powerpoint/2010/main" val="401956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Highlight the</a:t>
            </a:r>
            <a:r>
              <a:rPr lang="en-GB" baseline="0" dirty="0"/>
              <a:t> changes and how it has been improved. Note the change in wording of the question. The reference to “you” has been removed as your dog may be walked, just not by you!!!</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You may want to question if it could still be improved further?</a:t>
            </a:r>
            <a:endParaRPr lang="en-GB" dirty="0"/>
          </a:p>
          <a:p>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12</a:t>
            </a:fld>
            <a:endParaRPr lang="en-GB"/>
          </a:p>
        </p:txBody>
      </p:sp>
    </p:spTree>
    <p:extLst>
      <p:ext uri="{BB962C8B-B14F-4D97-AF65-F5344CB8AC3E}">
        <p14:creationId xmlns:p14="http://schemas.microsoft.com/office/powerpoint/2010/main" val="2843614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Briefly mention inequalities and how they differ from 0 – 3, etc.</a:t>
            </a:r>
          </a:p>
        </p:txBody>
      </p:sp>
      <p:sp>
        <p:nvSpPr>
          <p:cNvPr id="4" name="Slide Number Placeholder 3"/>
          <p:cNvSpPr>
            <a:spLocks noGrp="1"/>
          </p:cNvSpPr>
          <p:nvPr>
            <p:ph type="sldNum" sz="quarter" idx="10"/>
          </p:nvPr>
        </p:nvSpPr>
        <p:spPr/>
        <p:txBody>
          <a:bodyPr/>
          <a:lstStyle/>
          <a:p>
            <a:fld id="{0BC3EBA4-D70C-4F96-A185-7C678711B04F}" type="slidenum">
              <a:rPr lang="en-GB" smtClean="0"/>
              <a:t>17</a:t>
            </a:fld>
            <a:endParaRPr lang="en-GB"/>
          </a:p>
        </p:txBody>
      </p:sp>
    </p:spTree>
    <p:extLst>
      <p:ext uri="{BB962C8B-B14F-4D97-AF65-F5344CB8AC3E}">
        <p14:creationId xmlns:p14="http://schemas.microsoft.com/office/powerpoint/2010/main" val="2843911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them how</a:t>
            </a:r>
            <a:r>
              <a:rPr lang="en-GB" baseline="0" dirty="0"/>
              <a:t> this might be drawn first.</a:t>
            </a:r>
            <a:endParaRPr lang="en-GB" dirty="0"/>
          </a:p>
        </p:txBody>
      </p:sp>
      <p:sp>
        <p:nvSpPr>
          <p:cNvPr id="4" name="Slide Number Placeholder 3"/>
          <p:cNvSpPr>
            <a:spLocks noGrp="1"/>
          </p:cNvSpPr>
          <p:nvPr>
            <p:ph type="sldNum" sz="quarter" idx="10"/>
          </p:nvPr>
        </p:nvSpPr>
        <p:spPr/>
        <p:txBody>
          <a:bodyPr/>
          <a:lstStyle/>
          <a:p>
            <a:fld id="{0BC3EBA4-D70C-4F96-A185-7C678711B04F}" type="slidenum">
              <a:rPr lang="en-GB" smtClean="0"/>
              <a:t>18</a:t>
            </a:fld>
            <a:endParaRPr lang="en-GB"/>
          </a:p>
        </p:txBody>
      </p:sp>
    </p:spTree>
    <p:extLst>
      <p:ext uri="{BB962C8B-B14F-4D97-AF65-F5344CB8AC3E}">
        <p14:creationId xmlns:p14="http://schemas.microsoft.com/office/powerpoint/2010/main" val="1674852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ADCCFD5-5667-47B1-84BE-96C43EDE1B0B}" type="datetimeFigureOut">
              <a:rPr lang="en-GB" smtClean="0"/>
              <a:t>24/10/2022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429118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ADCCFD5-5667-47B1-84BE-96C43EDE1B0B}" type="datetimeFigureOut">
              <a:rPr lang="en-GB" smtClean="0"/>
              <a:t>24/10/2022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3452070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DCCFD5-5667-47B1-84BE-96C43EDE1B0B}" type="datetimeFigureOut">
              <a:rPr lang="en-GB" smtClean="0"/>
              <a:t>24/10/2022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3376398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ADCCFD5-5667-47B1-84BE-96C43EDE1B0B}" type="datetimeFigureOut">
              <a:rPr lang="en-GB" smtClean="0"/>
              <a:t>24/10/2022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3624679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ADCCFD5-5667-47B1-84BE-96C43EDE1B0B}" type="datetimeFigureOut">
              <a:rPr lang="en-GB" smtClean="0"/>
              <a:t>24/10/2022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3458005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ADCCFD5-5667-47B1-84BE-96C43EDE1B0B}" type="datetimeFigureOut">
              <a:rPr lang="en-GB" smtClean="0"/>
              <a:t>24/10/2022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2463314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DCCFD5-5667-47B1-84BE-96C43EDE1B0B}" type="datetimeFigureOut">
              <a:rPr lang="en-GB" smtClean="0"/>
              <a:t>24/10/2022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5226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CCFD5-5667-47B1-84BE-96C43EDE1B0B}" type="datetimeFigureOut">
              <a:rPr lang="en-GB" smtClean="0"/>
              <a:t>24/10/2022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2526061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DCCFD5-5667-47B1-84BE-96C43EDE1B0B}" type="datetimeFigureOut">
              <a:rPr lang="en-GB" smtClean="0"/>
              <a:t>24/10/2022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1330858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ADCCFD5-5667-47B1-84BE-96C43EDE1B0B}" type="datetimeFigureOut">
              <a:rPr lang="en-GB" smtClean="0"/>
              <a:t>24/10/2022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1873363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ADCCFD5-5667-47B1-84BE-96C43EDE1B0B}" type="datetimeFigureOut">
              <a:rPr lang="en-GB" smtClean="0"/>
              <a:t>24/10/2022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18BEAA3-79B1-422B-9370-151CB28D0875}" type="slidenum">
              <a:rPr lang="en-GB" smtClean="0"/>
              <a:t>‹#›</a:t>
            </a:fld>
            <a:endParaRPr lang="en-GB"/>
          </a:p>
        </p:txBody>
      </p:sp>
    </p:spTree>
    <p:extLst>
      <p:ext uri="{BB962C8B-B14F-4D97-AF65-F5344CB8AC3E}">
        <p14:creationId xmlns:p14="http://schemas.microsoft.com/office/powerpoint/2010/main" val="204452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DCCFD5-5667-47B1-84BE-96C43EDE1B0B}" type="datetimeFigureOut">
              <a:rPr lang="en-GB" smtClean="0"/>
              <a:t>24/10/2022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BEAA3-79B1-422B-9370-151CB28D0875}" type="slidenum">
              <a:rPr lang="en-GB" smtClean="0"/>
              <a:t>‹#›</a:t>
            </a:fld>
            <a:endParaRPr lang="en-GB"/>
          </a:p>
        </p:txBody>
      </p:sp>
    </p:spTree>
    <p:extLst>
      <p:ext uri="{BB962C8B-B14F-4D97-AF65-F5344CB8AC3E}">
        <p14:creationId xmlns:p14="http://schemas.microsoft.com/office/powerpoint/2010/main" val="230760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bart-simpson-generator"/>
          <p:cNvPicPr>
            <a:picLocks noChangeAspect="1" noChangeArrowheads="1"/>
          </p:cNvPicPr>
          <p:nvPr/>
        </p:nvPicPr>
        <p:blipFill>
          <a:blip r:embed="rId2" cstate="print"/>
          <a:srcRect/>
          <a:stretch>
            <a:fillRect/>
          </a:stretch>
        </p:blipFill>
        <p:spPr bwMode="auto">
          <a:xfrm>
            <a:off x="250825" y="260350"/>
            <a:ext cx="8713788" cy="6337300"/>
          </a:xfrm>
          <a:prstGeom prst="rect">
            <a:avLst/>
          </a:prstGeom>
          <a:noFill/>
        </p:spPr>
      </p:pic>
      <p:sp>
        <p:nvSpPr>
          <p:cNvPr id="4" name="Title 3"/>
          <p:cNvSpPr>
            <a:spLocks noGrp="1"/>
          </p:cNvSpPr>
          <p:nvPr>
            <p:ph type="title"/>
          </p:nvPr>
        </p:nvSpPr>
        <p:spPr/>
        <p:txBody>
          <a:bodyPr/>
          <a:lstStyle/>
          <a:p>
            <a:r>
              <a:rPr lang="en-GB" u="sng" dirty="0">
                <a:solidFill>
                  <a:schemeClr val="bg1"/>
                </a:solidFill>
              </a:rPr>
              <a:t>Title: </a:t>
            </a:r>
            <a:r>
              <a:rPr lang="en-GB" u="sng" dirty="0">
                <a:solidFill>
                  <a:srgbClr val="00B0F0"/>
                </a:solidFill>
              </a:rPr>
              <a:t>Surveys</a:t>
            </a:r>
          </a:p>
        </p:txBody>
      </p:sp>
      <p:sp>
        <p:nvSpPr>
          <p:cNvPr id="5" name="Content Placeholder 4"/>
          <p:cNvSpPr>
            <a:spLocks noGrp="1"/>
          </p:cNvSpPr>
          <p:nvPr>
            <p:ph idx="1"/>
          </p:nvPr>
        </p:nvSpPr>
        <p:spPr/>
        <p:txBody>
          <a:bodyPr/>
          <a:lstStyle/>
          <a:p>
            <a:pPr marL="0" indent="0">
              <a:buNone/>
            </a:pPr>
            <a:r>
              <a:rPr lang="en-GB" dirty="0">
                <a:solidFill>
                  <a:srgbClr val="00B0F0"/>
                </a:solidFill>
              </a:rPr>
              <a:t>Learning Objectives:</a:t>
            </a:r>
          </a:p>
          <a:p>
            <a:pPr marL="0" indent="0">
              <a:buNone/>
            </a:pPr>
            <a:endParaRPr lang="en-GB" dirty="0">
              <a:solidFill>
                <a:srgbClr val="00B0F0"/>
              </a:solidFill>
            </a:endParaRPr>
          </a:p>
          <a:p>
            <a:r>
              <a:rPr lang="en-GB" dirty="0">
                <a:solidFill>
                  <a:srgbClr val="00B0F0"/>
                </a:solidFill>
              </a:rPr>
              <a:t>Know the different ways to collect data</a:t>
            </a:r>
          </a:p>
          <a:p>
            <a:endParaRPr lang="en-GB" dirty="0">
              <a:solidFill>
                <a:srgbClr val="00B0F0"/>
              </a:solidFill>
            </a:endParaRPr>
          </a:p>
          <a:p>
            <a:r>
              <a:rPr lang="en-GB" dirty="0">
                <a:solidFill>
                  <a:srgbClr val="00B0F0"/>
                </a:solidFill>
              </a:rPr>
              <a:t>Know what makes a good survey question</a:t>
            </a:r>
          </a:p>
        </p:txBody>
      </p:sp>
      <p:sp>
        <p:nvSpPr>
          <p:cNvPr id="9" name="Oval 8"/>
          <p:cNvSpPr/>
          <p:nvPr/>
        </p:nvSpPr>
        <p:spPr>
          <a:xfrm>
            <a:off x="395536" y="2852936"/>
            <a:ext cx="432048" cy="43204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11" name="Oval 10"/>
          <p:cNvSpPr/>
          <p:nvPr/>
        </p:nvSpPr>
        <p:spPr>
          <a:xfrm>
            <a:off x="395536" y="4005064"/>
            <a:ext cx="432048" cy="432048"/>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extLst>
      <p:ext uri="{BB962C8B-B14F-4D97-AF65-F5344CB8AC3E}">
        <p14:creationId xmlns:p14="http://schemas.microsoft.com/office/powerpoint/2010/main" val="1926002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ext Box 4"/>
          <p:cNvSpPr txBox="1">
            <a:spLocks noChangeArrowheads="1"/>
          </p:cNvSpPr>
          <p:nvPr/>
        </p:nvSpPr>
        <p:spPr bwMode="auto">
          <a:xfrm>
            <a:off x="900113" y="2924175"/>
            <a:ext cx="7273925"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7200" b="1" dirty="0">
                <a:latin typeface="HandelGotDBol" pitchFamily="34" charset="0"/>
              </a:rPr>
              <a:t>I0  </a:t>
            </a:r>
            <a:r>
              <a:rPr lang="en-GB" sz="7200" b="1" dirty="0" err="1">
                <a:latin typeface="HandelGotDBol" pitchFamily="34" charset="0"/>
              </a:rPr>
              <a:t>I0</a:t>
            </a:r>
            <a:r>
              <a:rPr lang="en-GB" sz="7200" b="1" dirty="0">
                <a:latin typeface="HandelGotDBol" pitchFamily="34" charset="0"/>
              </a:rPr>
              <a:t>  </a:t>
            </a:r>
            <a:r>
              <a:rPr lang="en-GB" sz="7200" b="1" dirty="0" err="1">
                <a:latin typeface="HandelGotDBol" pitchFamily="34" charset="0"/>
              </a:rPr>
              <a:t>I0</a:t>
            </a:r>
            <a:r>
              <a:rPr lang="en-GB" sz="7200" b="1" dirty="0">
                <a:latin typeface="HandelGotDBol" pitchFamily="34" charset="0"/>
              </a:rPr>
              <a:t>  =  950</a:t>
            </a:r>
          </a:p>
        </p:txBody>
      </p:sp>
      <p:sp>
        <p:nvSpPr>
          <p:cNvPr id="8197" name="Text Box 5"/>
          <p:cNvSpPr txBox="1">
            <a:spLocks noChangeArrowheads="1"/>
          </p:cNvSpPr>
          <p:nvPr/>
        </p:nvSpPr>
        <p:spPr bwMode="auto">
          <a:xfrm>
            <a:off x="684213" y="981075"/>
            <a:ext cx="684053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GB" sz="2800">
                <a:latin typeface="Calibri" pitchFamily="34" charset="0"/>
              </a:rPr>
              <a:t>Using just </a:t>
            </a:r>
            <a:r>
              <a:rPr lang="en-GB" sz="2800" b="1" u="sng">
                <a:latin typeface="Calibri" pitchFamily="34" charset="0"/>
              </a:rPr>
              <a:t>one straight</a:t>
            </a:r>
            <a:r>
              <a:rPr lang="en-GB" sz="2800">
                <a:latin typeface="Calibri" pitchFamily="34" charset="0"/>
              </a:rPr>
              <a:t> line, make the statement below make sense.</a:t>
            </a:r>
          </a:p>
        </p:txBody>
      </p:sp>
    </p:spTree>
    <p:extLst>
      <p:ext uri="{BB962C8B-B14F-4D97-AF65-F5344CB8AC3E}">
        <p14:creationId xmlns:p14="http://schemas.microsoft.com/office/powerpoint/2010/main" val="3096618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a:t>Solution</a:t>
            </a:r>
          </a:p>
        </p:txBody>
      </p:sp>
      <p:sp>
        <p:nvSpPr>
          <p:cNvPr id="9220" name="Text Box 4"/>
          <p:cNvSpPr txBox="1">
            <a:spLocks noChangeArrowheads="1"/>
          </p:cNvSpPr>
          <p:nvPr/>
        </p:nvSpPr>
        <p:spPr bwMode="auto">
          <a:xfrm>
            <a:off x="825500" y="2924175"/>
            <a:ext cx="7634288"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GB" sz="7200" b="1" dirty="0">
                <a:latin typeface="HandelGotDBol" pitchFamily="34" charset="0"/>
              </a:rPr>
              <a:t>I0  T0  I0  =  950</a:t>
            </a:r>
          </a:p>
        </p:txBody>
      </p:sp>
    </p:spTree>
    <p:extLst>
      <p:ext uri="{BB962C8B-B14F-4D97-AF65-F5344CB8AC3E}">
        <p14:creationId xmlns:p14="http://schemas.microsoft.com/office/powerpoint/2010/main" val="2157765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Surveys</a:t>
            </a:r>
          </a:p>
        </p:txBody>
      </p:sp>
      <p:sp>
        <p:nvSpPr>
          <p:cNvPr id="3" name="Content Placeholder 2"/>
          <p:cNvSpPr>
            <a:spLocks noGrp="1"/>
          </p:cNvSpPr>
          <p:nvPr>
            <p:ph idx="1"/>
          </p:nvPr>
        </p:nvSpPr>
        <p:spPr/>
        <p:txBody>
          <a:bodyPr/>
          <a:lstStyle/>
          <a:p>
            <a:r>
              <a:rPr lang="en-GB" dirty="0"/>
              <a:t>There are two main ways to conduct a survey:</a:t>
            </a:r>
          </a:p>
          <a:p>
            <a:endParaRPr lang="en-GB" dirty="0"/>
          </a:p>
          <a:p>
            <a:pPr lvl="1"/>
            <a:r>
              <a:rPr lang="en-GB" dirty="0">
                <a:solidFill>
                  <a:srgbClr val="FF0000"/>
                </a:solidFill>
              </a:rPr>
              <a:t>Face-to-face</a:t>
            </a:r>
          </a:p>
          <a:p>
            <a:endParaRPr lang="en-GB" dirty="0"/>
          </a:p>
          <a:p>
            <a:pPr lvl="1"/>
            <a:r>
              <a:rPr lang="en-GB" dirty="0">
                <a:solidFill>
                  <a:srgbClr val="FF0000"/>
                </a:solidFill>
              </a:rPr>
              <a:t>Using a questionnaire</a:t>
            </a:r>
          </a:p>
          <a:p>
            <a:pPr lvl="1"/>
            <a:endParaRPr lang="en-GB" dirty="0"/>
          </a:p>
          <a:p>
            <a:r>
              <a:rPr lang="en-GB" dirty="0"/>
              <a:t>There are pros and cons to each method</a:t>
            </a:r>
          </a:p>
        </p:txBody>
      </p:sp>
    </p:spTree>
    <p:extLst>
      <p:ext uri="{BB962C8B-B14F-4D97-AF65-F5344CB8AC3E}">
        <p14:creationId xmlns:p14="http://schemas.microsoft.com/office/powerpoint/2010/main" val="1119274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Surveys</a:t>
            </a:r>
          </a:p>
        </p:txBody>
      </p:sp>
      <p:sp>
        <p:nvSpPr>
          <p:cNvPr id="5" name="Text Placeholder 4"/>
          <p:cNvSpPr>
            <a:spLocks noGrp="1"/>
          </p:cNvSpPr>
          <p:nvPr>
            <p:ph type="body" idx="1"/>
          </p:nvPr>
        </p:nvSpPr>
        <p:spPr/>
        <p:txBody>
          <a:bodyPr/>
          <a:lstStyle/>
          <a:p>
            <a:r>
              <a:rPr lang="en-GB" dirty="0"/>
              <a:t>Face-to-face</a:t>
            </a:r>
          </a:p>
        </p:txBody>
      </p:sp>
      <p:sp>
        <p:nvSpPr>
          <p:cNvPr id="6" name="Content Placeholder 5"/>
          <p:cNvSpPr>
            <a:spLocks noGrp="1"/>
          </p:cNvSpPr>
          <p:nvPr>
            <p:ph sz="half" idx="2"/>
          </p:nvPr>
        </p:nvSpPr>
        <p:spPr/>
        <p:txBody>
          <a:bodyPr>
            <a:normAutofit lnSpcReduction="10000"/>
          </a:bodyPr>
          <a:lstStyle/>
          <a:p>
            <a:r>
              <a:rPr lang="en-GB" dirty="0"/>
              <a:t>PROS</a:t>
            </a:r>
          </a:p>
          <a:p>
            <a:pPr lvl="1"/>
            <a:r>
              <a:rPr lang="en-GB" dirty="0"/>
              <a:t>Can make sure people understand the questions and complete the whole survey</a:t>
            </a:r>
          </a:p>
          <a:p>
            <a:pPr lvl="1"/>
            <a:r>
              <a:rPr lang="en-GB" dirty="0"/>
              <a:t>Enables follow up questions</a:t>
            </a:r>
          </a:p>
          <a:p>
            <a:pPr lvl="1"/>
            <a:endParaRPr lang="en-GB" dirty="0"/>
          </a:p>
          <a:p>
            <a:r>
              <a:rPr lang="en-GB" dirty="0"/>
              <a:t>CONS</a:t>
            </a:r>
          </a:p>
          <a:p>
            <a:pPr lvl="1"/>
            <a:r>
              <a:rPr lang="en-GB" dirty="0"/>
              <a:t>Takes a long time</a:t>
            </a:r>
          </a:p>
          <a:p>
            <a:pPr lvl="1"/>
            <a:r>
              <a:rPr lang="en-GB" dirty="0"/>
              <a:t>Expensive to pay someone to do the interview</a:t>
            </a:r>
          </a:p>
          <a:p>
            <a:pPr lvl="1"/>
            <a:r>
              <a:rPr lang="en-GB" dirty="0"/>
              <a:t>Can be intimidating</a:t>
            </a:r>
          </a:p>
          <a:p>
            <a:pPr lvl="1"/>
            <a:endParaRPr lang="en-GB" dirty="0"/>
          </a:p>
        </p:txBody>
      </p:sp>
      <p:sp>
        <p:nvSpPr>
          <p:cNvPr id="7" name="Text Placeholder 6"/>
          <p:cNvSpPr>
            <a:spLocks noGrp="1"/>
          </p:cNvSpPr>
          <p:nvPr>
            <p:ph type="body" sz="quarter" idx="3"/>
          </p:nvPr>
        </p:nvSpPr>
        <p:spPr/>
        <p:txBody>
          <a:bodyPr/>
          <a:lstStyle/>
          <a:p>
            <a:r>
              <a:rPr lang="en-GB" dirty="0"/>
              <a:t>Questionnaire</a:t>
            </a:r>
          </a:p>
        </p:txBody>
      </p:sp>
      <p:sp>
        <p:nvSpPr>
          <p:cNvPr id="8" name="Content Placeholder 7"/>
          <p:cNvSpPr>
            <a:spLocks noGrp="1"/>
          </p:cNvSpPr>
          <p:nvPr>
            <p:ph sz="quarter" idx="4"/>
          </p:nvPr>
        </p:nvSpPr>
        <p:spPr>
          <a:xfrm>
            <a:off x="4644008" y="2070509"/>
            <a:ext cx="4041775" cy="3951288"/>
          </a:xfrm>
        </p:spPr>
        <p:txBody>
          <a:bodyPr>
            <a:normAutofit fontScale="92500"/>
          </a:bodyPr>
          <a:lstStyle/>
          <a:p>
            <a:r>
              <a:rPr lang="en-GB" dirty="0"/>
              <a:t>PROS</a:t>
            </a:r>
          </a:p>
          <a:p>
            <a:pPr lvl="1"/>
            <a:r>
              <a:rPr lang="en-GB" dirty="0"/>
              <a:t>Cheap</a:t>
            </a:r>
          </a:p>
          <a:p>
            <a:pPr lvl="1"/>
            <a:r>
              <a:rPr lang="en-GB" dirty="0"/>
              <a:t>Can be giving to lots of people</a:t>
            </a:r>
          </a:p>
          <a:p>
            <a:pPr lvl="1"/>
            <a:r>
              <a:rPr lang="en-GB" dirty="0"/>
              <a:t>Easy to collect in</a:t>
            </a:r>
          </a:p>
          <a:p>
            <a:pPr lvl="1"/>
            <a:r>
              <a:rPr lang="en-GB" dirty="0"/>
              <a:t>People can take their time</a:t>
            </a:r>
          </a:p>
          <a:p>
            <a:pPr lvl="1"/>
            <a:endParaRPr lang="en-GB" dirty="0"/>
          </a:p>
          <a:p>
            <a:r>
              <a:rPr lang="en-GB" dirty="0"/>
              <a:t>CONS</a:t>
            </a:r>
          </a:p>
          <a:p>
            <a:pPr lvl="1"/>
            <a:r>
              <a:rPr lang="en-GB" dirty="0"/>
              <a:t>People can misunderstand questions</a:t>
            </a:r>
          </a:p>
          <a:p>
            <a:pPr lvl="1"/>
            <a:r>
              <a:rPr lang="en-GB" dirty="0"/>
              <a:t>People can leave questions</a:t>
            </a:r>
          </a:p>
          <a:p>
            <a:pPr lvl="1"/>
            <a:r>
              <a:rPr lang="en-GB" dirty="0"/>
              <a:t>Might not do it altogether</a:t>
            </a:r>
          </a:p>
        </p:txBody>
      </p:sp>
      <p:cxnSp>
        <p:nvCxnSpPr>
          <p:cNvPr id="10" name="Straight Connector 9"/>
          <p:cNvCxnSpPr>
            <a:stCxn id="5" idx="3"/>
          </p:cNvCxnSpPr>
          <p:nvPr/>
        </p:nvCxnSpPr>
        <p:spPr>
          <a:xfrm>
            <a:off x="4497388" y="1854994"/>
            <a:ext cx="2604" cy="438231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78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wipe(down)">
                                      <p:cBhvr>
                                        <p:cTn id="10" dur="500"/>
                                        <p:tgtEl>
                                          <p:spTgt spid="6">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wipe(down)">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wipe(down)">
                                      <p:cBhvr>
                                        <p:cTn id="18" dur="500"/>
                                        <p:tgtEl>
                                          <p:spTgt spid="6">
                                            <p:txEl>
                                              <p:pRg st="4" end="4"/>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wipe(down)">
                                      <p:cBhvr>
                                        <p:cTn id="21" dur="500"/>
                                        <p:tgtEl>
                                          <p:spTgt spid="6">
                                            <p:txEl>
                                              <p:pRg st="5" end="5"/>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wipe(down)">
                                      <p:cBhvr>
                                        <p:cTn id="24" dur="500"/>
                                        <p:tgtEl>
                                          <p:spTgt spid="6">
                                            <p:txEl>
                                              <p:pRg st="6" end="6"/>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animEffect transition="in" filter="wipe(down)">
                                      <p:cBhvr>
                                        <p:cTn id="27" dur="500"/>
                                        <p:tgtEl>
                                          <p:spTgt spid="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down)">
                                      <p:cBhvr>
                                        <p:cTn id="32" dur="500"/>
                                        <p:tgtEl>
                                          <p:spTgt spid="8">
                                            <p:txEl>
                                              <p:pRg st="0" end="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wipe(down)">
                                      <p:cBhvr>
                                        <p:cTn id="35" dur="500"/>
                                        <p:tgtEl>
                                          <p:spTgt spid="8">
                                            <p:txEl>
                                              <p:pRg st="1" end="1"/>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8">
                                            <p:txEl>
                                              <p:pRg st="2" end="2"/>
                                            </p:txEl>
                                          </p:spTgt>
                                        </p:tgtEl>
                                        <p:attrNameLst>
                                          <p:attrName>style.visibility</p:attrName>
                                        </p:attrNameLst>
                                      </p:cBhvr>
                                      <p:to>
                                        <p:strVal val="visible"/>
                                      </p:to>
                                    </p:set>
                                    <p:animEffect transition="in" filter="wipe(down)">
                                      <p:cBhvr>
                                        <p:cTn id="38" dur="500"/>
                                        <p:tgtEl>
                                          <p:spTgt spid="8">
                                            <p:txEl>
                                              <p:pRg st="2" end="2"/>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8">
                                            <p:txEl>
                                              <p:pRg st="3" end="3"/>
                                            </p:txEl>
                                          </p:spTgt>
                                        </p:tgtEl>
                                        <p:attrNameLst>
                                          <p:attrName>style.visibility</p:attrName>
                                        </p:attrNameLst>
                                      </p:cBhvr>
                                      <p:to>
                                        <p:strVal val="visible"/>
                                      </p:to>
                                    </p:set>
                                    <p:animEffect transition="in" filter="wipe(down)">
                                      <p:cBhvr>
                                        <p:cTn id="41" dur="500"/>
                                        <p:tgtEl>
                                          <p:spTgt spid="8">
                                            <p:txEl>
                                              <p:pRg st="3" end="3"/>
                                            </p:txEl>
                                          </p:spTgt>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8">
                                            <p:txEl>
                                              <p:pRg st="4" end="4"/>
                                            </p:txEl>
                                          </p:spTgt>
                                        </p:tgtEl>
                                        <p:attrNameLst>
                                          <p:attrName>style.visibility</p:attrName>
                                        </p:attrNameLst>
                                      </p:cBhvr>
                                      <p:to>
                                        <p:strVal val="visible"/>
                                      </p:to>
                                    </p:set>
                                    <p:animEffect transition="in" filter="wipe(down)">
                                      <p:cBhvr>
                                        <p:cTn id="44" dur="500"/>
                                        <p:tgtEl>
                                          <p:spTgt spid="8">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Effect transition="in" filter="wipe(down)">
                                      <p:cBhvr>
                                        <p:cTn id="49" dur="500"/>
                                        <p:tgtEl>
                                          <p:spTgt spid="8">
                                            <p:txEl>
                                              <p:pRg st="6" end="6"/>
                                            </p:txEl>
                                          </p:spTgt>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8">
                                            <p:txEl>
                                              <p:pRg st="7" end="7"/>
                                            </p:txEl>
                                          </p:spTgt>
                                        </p:tgtEl>
                                        <p:attrNameLst>
                                          <p:attrName>style.visibility</p:attrName>
                                        </p:attrNameLst>
                                      </p:cBhvr>
                                      <p:to>
                                        <p:strVal val="visible"/>
                                      </p:to>
                                    </p:set>
                                    <p:animEffect transition="in" filter="wipe(down)">
                                      <p:cBhvr>
                                        <p:cTn id="52" dur="500"/>
                                        <p:tgtEl>
                                          <p:spTgt spid="8">
                                            <p:txEl>
                                              <p:pRg st="7" end="7"/>
                                            </p:txEl>
                                          </p:spTgt>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8">
                                            <p:txEl>
                                              <p:pRg st="8" end="8"/>
                                            </p:txEl>
                                          </p:spTgt>
                                        </p:tgtEl>
                                        <p:attrNameLst>
                                          <p:attrName>style.visibility</p:attrName>
                                        </p:attrNameLst>
                                      </p:cBhvr>
                                      <p:to>
                                        <p:strVal val="visible"/>
                                      </p:to>
                                    </p:set>
                                    <p:animEffect transition="in" filter="wipe(down)">
                                      <p:cBhvr>
                                        <p:cTn id="55" dur="500"/>
                                        <p:tgtEl>
                                          <p:spTgt spid="8">
                                            <p:txEl>
                                              <p:pRg st="8" end="8"/>
                                            </p:txEl>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8">
                                            <p:txEl>
                                              <p:pRg st="9" end="9"/>
                                            </p:txEl>
                                          </p:spTgt>
                                        </p:tgtEl>
                                        <p:attrNameLst>
                                          <p:attrName>style.visibility</p:attrName>
                                        </p:attrNameLst>
                                      </p:cBhvr>
                                      <p:to>
                                        <p:strVal val="visible"/>
                                      </p:to>
                                    </p:set>
                                    <p:animEffect transition="in" filter="wipe(down)">
                                      <p:cBhvr>
                                        <p:cTn id="58"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Questionnaires</a:t>
            </a:r>
          </a:p>
        </p:txBody>
      </p:sp>
      <p:sp>
        <p:nvSpPr>
          <p:cNvPr id="3" name="Content Placeholder 2"/>
          <p:cNvSpPr>
            <a:spLocks noGrp="1"/>
          </p:cNvSpPr>
          <p:nvPr>
            <p:ph idx="1"/>
          </p:nvPr>
        </p:nvSpPr>
        <p:spPr/>
        <p:txBody>
          <a:bodyPr>
            <a:normAutofit fontScale="92500" lnSpcReduction="20000"/>
          </a:bodyPr>
          <a:lstStyle/>
          <a:p>
            <a:r>
              <a:rPr lang="en-GB" dirty="0"/>
              <a:t>Should include:</a:t>
            </a:r>
          </a:p>
          <a:p>
            <a:pPr lvl="1"/>
            <a:r>
              <a:rPr lang="en-GB" dirty="0"/>
              <a:t>Short questions</a:t>
            </a:r>
          </a:p>
          <a:p>
            <a:pPr lvl="1"/>
            <a:r>
              <a:rPr lang="en-GB" dirty="0"/>
              <a:t>Words that are easily understood</a:t>
            </a:r>
          </a:p>
          <a:p>
            <a:pPr lvl="1"/>
            <a:r>
              <a:rPr lang="en-GB" dirty="0"/>
              <a:t>Non-biased questions, i.e. no ‘leading’ questions</a:t>
            </a:r>
          </a:p>
          <a:p>
            <a:pPr lvl="1"/>
            <a:r>
              <a:rPr lang="en-GB" dirty="0"/>
              <a:t>Answer boxes that cover </a:t>
            </a:r>
            <a:r>
              <a:rPr lang="en-GB" b="1" u="sng" dirty="0"/>
              <a:t>every possible answer </a:t>
            </a:r>
            <a:r>
              <a:rPr lang="en-GB" dirty="0"/>
              <a:t>(using ‘other’ if necessary) are </a:t>
            </a:r>
            <a:r>
              <a:rPr lang="en-GB" b="1" u="sng" dirty="0"/>
              <a:t>easily </a:t>
            </a:r>
            <a:r>
              <a:rPr lang="en-GB" b="1" dirty="0"/>
              <a:t>understood </a:t>
            </a:r>
            <a:r>
              <a:rPr lang="en-GB" dirty="0"/>
              <a:t>and </a:t>
            </a:r>
            <a:r>
              <a:rPr lang="en-GB" b="1" u="sng" dirty="0"/>
              <a:t>do not overlap</a:t>
            </a:r>
          </a:p>
          <a:p>
            <a:pPr lvl="1"/>
            <a:endParaRPr lang="en-GB" dirty="0"/>
          </a:p>
          <a:p>
            <a:r>
              <a:rPr lang="en-GB" dirty="0"/>
              <a:t>Open questions – no suggested answers</a:t>
            </a:r>
          </a:p>
          <a:p>
            <a:r>
              <a:rPr lang="en-GB" dirty="0"/>
              <a:t>Closed questions – ones that have a set of answers to choose from</a:t>
            </a:r>
          </a:p>
        </p:txBody>
      </p:sp>
    </p:spTree>
    <p:extLst>
      <p:ext uri="{BB962C8B-B14F-4D97-AF65-F5344CB8AC3E}">
        <p14:creationId xmlns:p14="http://schemas.microsoft.com/office/powerpoint/2010/main" val="365156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wrong with this question?</a:t>
            </a:r>
          </a:p>
        </p:txBody>
      </p:sp>
      <p:sp>
        <p:nvSpPr>
          <p:cNvPr id="3" name="Content Placeholder 2"/>
          <p:cNvSpPr>
            <a:spLocks noGrp="1"/>
          </p:cNvSpPr>
          <p:nvPr>
            <p:ph idx="1"/>
          </p:nvPr>
        </p:nvSpPr>
        <p:spPr/>
        <p:txBody>
          <a:bodyPr/>
          <a:lstStyle/>
          <a:p>
            <a:r>
              <a:rPr lang="en-GB" dirty="0"/>
              <a:t>How many times do you go to the gym?</a:t>
            </a:r>
          </a:p>
          <a:p>
            <a:endParaRPr lang="en-GB" dirty="0"/>
          </a:p>
          <a:p>
            <a:endParaRPr lang="en-GB" dirty="0"/>
          </a:p>
        </p:txBody>
      </p:sp>
      <p:sp>
        <p:nvSpPr>
          <p:cNvPr id="4" name="Rectangle 3"/>
          <p:cNvSpPr/>
          <p:nvPr/>
        </p:nvSpPr>
        <p:spPr>
          <a:xfrm>
            <a:off x="755576" y="270892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331640" y="2708920"/>
            <a:ext cx="1296144" cy="523220"/>
          </a:xfrm>
          <a:prstGeom prst="rect">
            <a:avLst/>
          </a:prstGeom>
          <a:noFill/>
        </p:spPr>
        <p:txBody>
          <a:bodyPr wrap="square" rtlCol="0">
            <a:spAutoFit/>
          </a:bodyPr>
          <a:lstStyle/>
          <a:p>
            <a:r>
              <a:rPr lang="en-GB" sz="2800" dirty="0"/>
              <a:t>1 – 5</a:t>
            </a:r>
          </a:p>
        </p:txBody>
      </p:sp>
      <p:sp>
        <p:nvSpPr>
          <p:cNvPr id="6" name="Rectangle 5"/>
          <p:cNvSpPr/>
          <p:nvPr/>
        </p:nvSpPr>
        <p:spPr>
          <a:xfrm>
            <a:off x="2555776" y="2692732"/>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3131840" y="2692732"/>
            <a:ext cx="1296144" cy="523220"/>
          </a:xfrm>
          <a:prstGeom prst="rect">
            <a:avLst/>
          </a:prstGeom>
          <a:noFill/>
        </p:spPr>
        <p:txBody>
          <a:bodyPr wrap="square" rtlCol="0">
            <a:spAutoFit/>
          </a:bodyPr>
          <a:lstStyle/>
          <a:p>
            <a:r>
              <a:rPr lang="en-GB" sz="2800" dirty="0"/>
              <a:t>5 – 10 </a:t>
            </a:r>
          </a:p>
        </p:txBody>
      </p:sp>
      <p:sp>
        <p:nvSpPr>
          <p:cNvPr id="8" name="Rectangle 7"/>
          <p:cNvSpPr/>
          <p:nvPr/>
        </p:nvSpPr>
        <p:spPr>
          <a:xfrm>
            <a:off x="4499992" y="270892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076056" y="2708920"/>
            <a:ext cx="1296144" cy="523220"/>
          </a:xfrm>
          <a:prstGeom prst="rect">
            <a:avLst/>
          </a:prstGeom>
          <a:noFill/>
        </p:spPr>
        <p:txBody>
          <a:bodyPr wrap="square" rtlCol="0">
            <a:spAutoFit/>
          </a:bodyPr>
          <a:lstStyle/>
          <a:p>
            <a:r>
              <a:rPr lang="en-GB" sz="2800" dirty="0"/>
              <a:t>10 – 15</a:t>
            </a:r>
          </a:p>
        </p:txBody>
      </p:sp>
      <p:sp>
        <p:nvSpPr>
          <p:cNvPr id="10" name="Rectangle 9"/>
          <p:cNvSpPr/>
          <p:nvPr/>
        </p:nvSpPr>
        <p:spPr>
          <a:xfrm>
            <a:off x="6660232" y="2692732"/>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7236296" y="2692732"/>
            <a:ext cx="1296144" cy="523220"/>
          </a:xfrm>
          <a:prstGeom prst="rect">
            <a:avLst/>
          </a:prstGeom>
          <a:noFill/>
        </p:spPr>
        <p:txBody>
          <a:bodyPr wrap="square" rtlCol="0">
            <a:spAutoFit/>
          </a:bodyPr>
          <a:lstStyle/>
          <a:p>
            <a:r>
              <a:rPr lang="en-GB" sz="2800" dirty="0"/>
              <a:t>15 – 20</a:t>
            </a:r>
          </a:p>
        </p:txBody>
      </p:sp>
      <p:sp>
        <p:nvSpPr>
          <p:cNvPr id="12" name="Cloud Callout 11"/>
          <p:cNvSpPr/>
          <p:nvPr/>
        </p:nvSpPr>
        <p:spPr>
          <a:xfrm>
            <a:off x="6041557" y="188640"/>
            <a:ext cx="3102443" cy="1296144"/>
          </a:xfrm>
          <a:prstGeom prst="cloudCallout">
            <a:avLst>
              <a:gd name="adj1" fmla="val -35094"/>
              <a:gd name="adj2" fmla="val 67051"/>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No Time Frame</a:t>
            </a:r>
          </a:p>
        </p:txBody>
      </p:sp>
      <p:sp>
        <p:nvSpPr>
          <p:cNvPr id="13" name="Cloud Callout 12"/>
          <p:cNvSpPr/>
          <p:nvPr/>
        </p:nvSpPr>
        <p:spPr>
          <a:xfrm>
            <a:off x="539552" y="4077072"/>
            <a:ext cx="3313225" cy="1584176"/>
          </a:xfrm>
          <a:prstGeom prst="cloudCallout">
            <a:avLst>
              <a:gd name="adj1" fmla="val -20833"/>
              <a:gd name="adj2" fmla="val -100215"/>
            </a:avLst>
          </a:prstGeom>
          <a:solidFill>
            <a:srgbClr val="66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What if you don’t use the gym?</a:t>
            </a:r>
          </a:p>
        </p:txBody>
      </p:sp>
      <p:sp>
        <p:nvSpPr>
          <p:cNvPr id="14" name="Cloud Callout 13"/>
          <p:cNvSpPr/>
          <p:nvPr/>
        </p:nvSpPr>
        <p:spPr>
          <a:xfrm>
            <a:off x="5724129" y="4077072"/>
            <a:ext cx="3419872" cy="2016224"/>
          </a:xfrm>
          <a:prstGeom prst="cloudCallout">
            <a:avLst>
              <a:gd name="adj1" fmla="val 25043"/>
              <a:gd name="adj2" fmla="val -93299"/>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What if you use the gym more than 20 times?</a:t>
            </a:r>
          </a:p>
        </p:txBody>
      </p:sp>
      <p:sp>
        <p:nvSpPr>
          <p:cNvPr id="15" name="Oval 14"/>
          <p:cNvSpPr/>
          <p:nvPr/>
        </p:nvSpPr>
        <p:spPr>
          <a:xfrm>
            <a:off x="1691680" y="2708920"/>
            <a:ext cx="576064" cy="57606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2987824" y="2682498"/>
            <a:ext cx="576064" cy="57606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Cloud Callout 16"/>
          <p:cNvSpPr/>
          <p:nvPr/>
        </p:nvSpPr>
        <p:spPr>
          <a:xfrm>
            <a:off x="1043608" y="804545"/>
            <a:ext cx="3102443" cy="1296144"/>
          </a:xfrm>
          <a:prstGeom prst="cloudCallout">
            <a:avLst>
              <a:gd name="adj1" fmla="val 16723"/>
              <a:gd name="adj2" fmla="val 8753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rPr>
              <a:t>Overlapping Options</a:t>
            </a:r>
          </a:p>
        </p:txBody>
      </p:sp>
    </p:spTree>
    <p:extLst>
      <p:ext uri="{BB962C8B-B14F-4D97-AF65-F5344CB8AC3E}">
        <p14:creationId xmlns:p14="http://schemas.microsoft.com/office/powerpoint/2010/main" val="383848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Improved Question</a:t>
            </a:r>
          </a:p>
        </p:txBody>
      </p:sp>
      <p:sp>
        <p:nvSpPr>
          <p:cNvPr id="3" name="Content Placeholder 2"/>
          <p:cNvSpPr>
            <a:spLocks noGrp="1"/>
          </p:cNvSpPr>
          <p:nvPr>
            <p:ph idx="1"/>
          </p:nvPr>
        </p:nvSpPr>
        <p:spPr/>
        <p:txBody>
          <a:bodyPr/>
          <a:lstStyle/>
          <a:p>
            <a:r>
              <a:rPr lang="en-GB" dirty="0"/>
              <a:t>How many times do you go to the gym per month?</a:t>
            </a:r>
          </a:p>
          <a:p>
            <a:endParaRPr lang="en-GB" dirty="0"/>
          </a:p>
        </p:txBody>
      </p:sp>
      <p:sp>
        <p:nvSpPr>
          <p:cNvPr id="4" name="Rectangle 3"/>
          <p:cNvSpPr/>
          <p:nvPr/>
        </p:nvSpPr>
        <p:spPr>
          <a:xfrm>
            <a:off x="755576"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331640" y="2852936"/>
            <a:ext cx="1296144" cy="523220"/>
          </a:xfrm>
          <a:prstGeom prst="rect">
            <a:avLst/>
          </a:prstGeom>
          <a:noFill/>
        </p:spPr>
        <p:txBody>
          <a:bodyPr wrap="square" rtlCol="0">
            <a:spAutoFit/>
          </a:bodyPr>
          <a:lstStyle/>
          <a:p>
            <a:r>
              <a:rPr lang="en-GB" sz="2800" dirty="0"/>
              <a:t>Never</a:t>
            </a:r>
          </a:p>
        </p:txBody>
      </p:sp>
      <p:sp>
        <p:nvSpPr>
          <p:cNvPr id="6" name="Rectangle 5"/>
          <p:cNvSpPr/>
          <p:nvPr/>
        </p:nvSpPr>
        <p:spPr>
          <a:xfrm>
            <a:off x="2555776"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3131840" y="2836748"/>
            <a:ext cx="1296144" cy="523220"/>
          </a:xfrm>
          <a:prstGeom prst="rect">
            <a:avLst/>
          </a:prstGeom>
          <a:noFill/>
        </p:spPr>
        <p:txBody>
          <a:bodyPr wrap="square" rtlCol="0">
            <a:spAutoFit/>
          </a:bodyPr>
          <a:lstStyle/>
          <a:p>
            <a:r>
              <a:rPr lang="en-GB" sz="2800" dirty="0"/>
              <a:t>1 – 5</a:t>
            </a:r>
          </a:p>
        </p:txBody>
      </p:sp>
      <p:sp>
        <p:nvSpPr>
          <p:cNvPr id="8" name="Rectangle 7"/>
          <p:cNvSpPr/>
          <p:nvPr/>
        </p:nvSpPr>
        <p:spPr>
          <a:xfrm>
            <a:off x="4499992"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076056" y="2852936"/>
            <a:ext cx="1296144" cy="523220"/>
          </a:xfrm>
          <a:prstGeom prst="rect">
            <a:avLst/>
          </a:prstGeom>
          <a:noFill/>
        </p:spPr>
        <p:txBody>
          <a:bodyPr wrap="square" rtlCol="0">
            <a:spAutoFit/>
          </a:bodyPr>
          <a:lstStyle/>
          <a:p>
            <a:r>
              <a:rPr lang="en-GB" sz="2800" dirty="0"/>
              <a:t>6 – 10</a:t>
            </a:r>
          </a:p>
        </p:txBody>
      </p:sp>
      <p:sp>
        <p:nvSpPr>
          <p:cNvPr id="10" name="Rectangle 9"/>
          <p:cNvSpPr/>
          <p:nvPr/>
        </p:nvSpPr>
        <p:spPr>
          <a:xfrm>
            <a:off x="6660232"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7236296" y="2836748"/>
            <a:ext cx="1296144" cy="523220"/>
          </a:xfrm>
          <a:prstGeom prst="rect">
            <a:avLst/>
          </a:prstGeom>
          <a:noFill/>
        </p:spPr>
        <p:txBody>
          <a:bodyPr wrap="square" rtlCol="0">
            <a:spAutoFit/>
          </a:bodyPr>
          <a:lstStyle/>
          <a:p>
            <a:r>
              <a:rPr lang="en-GB" sz="2800" dirty="0"/>
              <a:t>11 – 15</a:t>
            </a:r>
          </a:p>
        </p:txBody>
      </p:sp>
      <p:sp>
        <p:nvSpPr>
          <p:cNvPr id="14" name="Rectangle 13"/>
          <p:cNvSpPr/>
          <p:nvPr/>
        </p:nvSpPr>
        <p:spPr>
          <a:xfrm>
            <a:off x="742621"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1318684" y="3789040"/>
            <a:ext cx="1813155" cy="523220"/>
          </a:xfrm>
          <a:prstGeom prst="rect">
            <a:avLst/>
          </a:prstGeom>
          <a:noFill/>
        </p:spPr>
        <p:txBody>
          <a:bodyPr wrap="square" rtlCol="0">
            <a:spAutoFit/>
          </a:bodyPr>
          <a:lstStyle/>
          <a:p>
            <a:r>
              <a:rPr lang="en-GB" sz="2800" dirty="0"/>
              <a:t>16 – 20 </a:t>
            </a:r>
          </a:p>
        </p:txBody>
      </p:sp>
      <p:sp>
        <p:nvSpPr>
          <p:cNvPr id="16" name="Rectangle 15"/>
          <p:cNvSpPr/>
          <p:nvPr/>
        </p:nvSpPr>
        <p:spPr>
          <a:xfrm>
            <a:off x="2915816"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p:cNvSpPr txBox="1"/>
          <p:nvPr/>
        </p:nvSpPr>
        <p:spPr>
          <a:xfrm>
            <a:off x="3491880" y="3789040"/>
            <a:ext cx="1800200" cy="523220"/>
          </a:xfrm>
          <a:prstGeom prst="rect">
            <a:avLst/>
          </a:prstGeom>
          <a:noFill/>
        </p:spPr>
        <p:txBody>
          <a:bodyPr wrap="square" rtlCol="0">
            <a:spAutoFit/>
          </a:bodyPr>
          <a:lstStyle/>
          <a:p>
            <a:r>
              <a:rPr lang="en-GB" sz="2800" dirty="0"/>
              <a:t>Over 20</a:t>
            </a:r>
          </a:p>
        </p:txBody>
      </p:sp>
    </p:spTree>
    <p:extLst>
      <p:ext uri="{BB962C8B-B14F-4D97-AF65-F5344CB8AC3E}">
        <p14:creationId xmlns:p14="http://schemas.microsoft.com/office/powerpoint/2010/main" val="1997360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wrong with this question?</a:t>
            </a:r>
          </a:p>
        </p:txBody>
      </p:sp>
      <p:sp>
        <p:nvSpPr>
          <p:cNvPr id="3" name="Content Placeholder 2"/>
          <p:cNvSpPr>
            <a:spLocks noGrp="1"/>
          </p:cNvSpPr>
          <p:nvPr>
            <p:ph idx="1"/>
          </p:nvPr>
        </p:nvSpPr>
        <p:spPr/>
        <p:txBody>
          <a:bodyPr/>
          <a:lstStyle/>
          <a:p>
            <a:r>
              <a:rPr lang="en-GB" dirty="0"/>
              <a:t>Given than smoking kills millions of people each year, don’t you agree that it should be banned?</a:t>
            </a:r>
          </a:p>
        </p:txBody>
      </p:sp>
      <p:sp>
        <p:nvSpPr>
          <p:cNvPr id="5" name="Rectangle 4"/>
          <p:cNvSpPr/>
          <p:nvPr/>
        </p:nvSpPr>
        <p:spPr>
          <a:xfrm>
            <a:off x="971600" y="342900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1547664" y="3429000"/>
            <a:ext cx="1296144" cy="523220"/>
          </a:xfrm>
          <a:prstGeom prst="rect">
            <a:avLst/>
          </a:prstGeom>
          <a:noFill/>
        </p:spPr>
        <p:txBody>
          <a:bodyPr wrap="square" rtlCol="0">
            <a:spAutoFit/>
          </a:bodyPr>
          <a:lstStyle/>
          <a:p>
            <a:r>
              <a:rPr lang="en-GB" sz="2800" dirty="0"/>
              <a:t>Yes</a:t>
            </a:r>
          </a:p>
        </p:txBody>
      </p:sp>
      <p:sp>
        <p:nvSpPr>
          <p:cNvPr id="9" name="Rectangle 8"/>
          <p:cNvSpPr/>
          <p:nvPr/>
        </p:nvSpPr>
        <p:spPr>
          <a:xfrm>
            <a:off x="3131840" y="342497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3707904" y="3424970"/>
            <a:ext cx="1296144" cy="523220"/>
          </a:xfrm>
          <a:prstGeom prst="rect">
            <a:avLst/>
          </a:prstGeom>
          <a:noFill/>
        </p:spPr>
        <p:txBody>
          <a:bodyPr wrap="square" rtlCol="0">
            <a:spAutoFit/>
          </a:bodyPr>
          <a:lstStyle/>
          <a:p>
            <a:r>
              <a:rPr lang="en-GB" sz="2800" dirty="0"/>
              <a:t>No</a:t>
            </a:r>
          </a:p>
        </p:txBody>
      </p:sp>
      <p:sp>
        <p:nvSpPr>
          <p:cNvPr id="11" name="Cloud Callout 10"/>
          <p:cNvSpPr/>
          <p:nvPr/>
        </p:nvSpPr>
        <p:spPr>
          <a:xfrm>
            <a:off x="4139952" y="188640"/>
            <a:ext cx="3102443" cy="1296144"/>
          </a:xfrm>
          <a:prstGeom prst="cloudCallout">
            <a:avLst>
              <a:gd name="adj1" fmla="val -35094"/>
              <a:gd name="adj2" fmla="val 67051"/>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Emotive Language</a:t>
            </a:r>
          </a:p>
        </p:txBody>
      </p:sp>
      <p:sp>
        <p:nvSpPr>
          <p:cNvPr id="12" name="Cloud Callout 11"/>
          <p:cNvSpPr/>
          <p:nvPr/>
        </p:nvSpPr>
        <p:spPr>
          <a:xfrm>
            <a:off x="4860032" y="2924944"/>
            <a:ext cx="3102443" cy="1296144"/>
          </a:xfrm>
          <a:prstGeom prst="cloudCallout">
            <a:avLst>
              <a:gd name="adj1" fmla="val -50782"/>
              <a:gd name="adj2" fmla="val -67217"/>
            </a:avLst>
          </a:prstGeom>
          <a:solidFill>
            <a:srgbClr val="66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Leading Question</a:t>
            </a:r>
          </a:p>
        </p:txBody>
      </p:sp>
      <p:sp>
        <p:nvSpPr>
          <p:cNvPr id="13" name="Cloud Callout 12"/>
          <p:cNvSpPr/>
          <p:nvPr/>
        </p:nvSpPr>
        <p:spPr>
          <a:xfrm>
            <a:off x="323528" y="4365104"/>
            <a:ext cx="4680520" cy="2232248"/>
          </a:xfrm>
          <a:prstGeom prst="cloudCallout">
            <a:avLst>
              <a:gd name="adj1" fmla="val -3037"/>
              <a:gd name="adj2" fmla="val -74461"/>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No option for those without an opinion/undecided</a:t>
            </a:r>
          </a:p>
        </p:txBody>
      </p:sp>
    </p:spTree>
    <p:extLst>
      <p:ext uri="{BB962C8B-B14F-4D97-AF65-F5344CB8AC3E}">
        <p14:creationId xmlns:p14="http://schemas.microsoft.com/office/powerpoint/2010/main" val="98363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improved Question</a:t>
            </a:r>
          </a:p>
        </p:txBody>
      </p:sp>
      <p:sp>
        <p:nvSpPr>
          <p:cNvPr id="3" name="Content Placeholder 2"/>
          <p:cNvSpPr>
            <a:spLocks noGrp="1"/>
          </p:cNvSpPr>
          <p:nvPr>
            <p:ph idx="1"/>
          </p:nvPr>
        </p:nvSpPr>
        <p:spPr/>
        <p:txBody>
          <a:bodyPr/>
          <a:lstStyle/>
          <a:p>
            <a:r>
              <a:rPr lang="en-GB" dirty="0"/>
              <a:t>Should smoking be banned?</a:t>
            </a:r>
          </a:p>
          <a:p>
            <a:endParaRPr lang="en-GB" dirty="0"/>
          </a:p>
          <a:p>
            <a:endParaRPr lang="en-GB" dirty="0"/>
          </a:p>
        </p:txBody>
      </p:sp>
      <p:sp>
        <p:nvSpPr>
          <p:cNvPr id="4" name="Rectangle 3"/>
          <p:cNvSpPr/>
          <p:nvPr/>
        </p:nvSpPr>
        <p:spPr>
          <a:xfrm>
            <a:off x="755576"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331640" y="2852936"/>
            <a:ext cx="1296144" cy="523220"/>
          </a:xfrm>
          <a:prstGeom prst="rect">
            <a:avLst/>
          </a:prstGeom>
          <a:noFill/>
        </p:spPr>
        <p:txBody>
          <a:bodyPr wrap="square" rtlCol="0">
            <a:spAutoFit/>
          </a:bodyPr>
          <a:lstStyle/>
          <a:p>
            <a:r>
              <a:rPr lang="en-GB" sz="2800" dirty="0"/>
              <a:t>Yes</a:t>
            </a:r>
          </a:p>
        </p:txBody>
      </p:sp>
      <p:sp>
        <p:nvSpPr>
          <p:cNvPr id="6" name="Rectangle 5"/>
          <p:cNvSpPr/>
          <p:nvPr/>
        </p:nvSpPr>
        <p:spPr>
          <a:xfrm>
            <a:off x="2555776"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3131840" y="2836748"/>
            <a:ext cx="1296144" cy="523220"/>
          </a:xfrm>
          <a:prstGeom prst="rect">
            <a:avLst/>
          </a:prstGeom>
          <a:noFill/>
        </p:spPr>
        <p:txBody>
          <a:bodyPr wrap="square" rtlCol="0">
            <a:spAutoFit/>
          </a:bodyPr>
          <a:lstStyle/>
          <a:p>
            <a:r>
              <a:rPr lang="en-GB" sz="2800" dirty="0"/>
              <a:t>No</a:t>
            </a:r>
          </a:p>
        </p:txBody>
      </p:sp>
      <p:sp>
        <p:nvSpPr>
          <p:cNvPr id="8" name="Rectangle 7"/>
          <p:cNvSpPr/>
          <p:nvPr/>
        </p:nvSpPr>
        <p:spPr>
          <a:xfrm>
            <a:off x="4499992"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076056" y="2852936"/>
            <a:ext cx="2016224" cy="523220"/>
          </a:xfrm>
          <a:prstGeom prst="rect">
            <a:avLst/>
          </a:prstGeom>
          <a:noFill/>
        </p:spPr>
        <p:txBody>
          <a:bodyPr wrap="square" rtlCol="0">
            <a:spAutoFit/>
          </a:bodyPr>
          <a:lstStyle/>
          <a:p>
            <a:r>
              <a:rPr lang="en-GB" sz="2800" dirty="0"/>
              <a:t>Don’t Know</a:t>
            </a:r>
          </a:p>
        </p:txBody>
      </p:sp>
    </p:spTree>
    <p:extLst>
      <p:ext uri="{BB962C8B-B14F-4D97-AF65-F5344CB8AC3E}">
        <p14:creationId xmlns:p14="http://schemas.microsoft.com/office/powerpoint/2010/main" val="318384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wrong with this question?</a:t>
            </a:r>
          </a:p>
        </p:txBody>
      </p:sp>
      <p:sp>
        <p:nvSpPr>
          <p:cNvPr id="3" name="Content Placeholder 2"/>
          <p:cNvSpPr>
            <a:spLocks noGrp="1"/>
          </p:cNvSpPr>
          <p:nvPr>
            <p:ph idx="1"/>
          </p:nvPr>
        </p:nvSpPr>
        <p:spPr/>
        <p:txBody>
          <a:bodyPr/>
          <a:lstStyle/>
          <a:p>
            <a:r>
              <a:rPr lang="en-GB" dirty="0"/>
              <a:t>How often do you walk your dog?</a:t>
            </a:r>
          </a:p>
        </p:txBody>
      </p:sp>
      <p:sp>
        <p:nvSpPr>
          <p:cNvPr id="4" name="Rectangle 3"/>
          <p:cNvSpPr/>
          <p:nvPr/>
        </p:nvSpPr>
        <p:spPr>
          <a:xfrm>
            <a:off x="755576"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1331640" y="2852936"/>
            <a:ext cx="1296144" cy="523220"/>
          </a:xfrm>
          <a:prstGeom prst="rect">
            <a:avLst/>
          </a:prstGeom>
          <a:noFill/>
        </p:spPr>
        <p:txBody>
          <a:bodyPr wrap="square" rtlCol="0">
            <a:spAutoFit/>
          </a:bodyPr>
          <a:lstStyle/>
          <a:p>
            <a:r>
              <a:rPr lang="en-GB" sz="2800" dirty="0"/>
              <a:t>Never</a:t>
            </a:r>
          </a:p>
        </p:txBody>
      </p:sp>
      <p:sp>
        <p:nvSpPr>
          <p:cNvPr id="6" name="Rectangle 5"/>
          <p:cNvSpPr/>
          <p:nvPr/>
        </p:nvSpPr>
        <p:spPr>
          <a:xfrm>
            <a:off x="2555776"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a:off x="3131840" y="2636912"/>
            <a:ext cx="1368152" cy="954107"/>
          </a:xfrm>
          <a:prstGeom prst="rect">
            <a:avLst/>
          </a:prstGeom>
          <a:noFill/>
        </p:spPr>
        <p:txBody>
          <a:bodyPr wrap="square" rtlCol="0">
            <a:spAutoFit/>
          </a:bodyPr>
          <a:lstStyle/>
          <a:p>
            <a:r>
              <a:rPr lang="en-GB" sz="2800" dirty="0"/>
              <a:t>Quite A lot </a:t>
            </a:r>
          </a:p>
        </p:txBody>
      </p:sp>
      <p:sp>
        <p:nvSpPr>
          <p:cNvPr id="8" name="Rectangle 7"/>
          <p:cNvSpPr/>
          <p:nvPr/>
        </p:nvSpPr>
        <p:spPr>
          <a:xfrm>
            <a:off x="4499992"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076056" y="2852936"/>
            <a:ext cx="1296144" cy="523220"/>
          </a:xfrm>
          <a:prstGeom prst="rect">
            <a:avLst/>
          </a:prstGeom>
          <a:noFill/>
        </p:spPr>
        <p:txBody>
          <a:bodyPr wrap="square" rtlCol="0">
            <a:spAutoFit/>
          </a:bodyPr>
          <a:lstStyle/>
          <a:p>
            <a:r>
              <a:rPr lang="en-GB" sz="2800" dirty="0"/>
              <a:t>A lot</a:t>
            </a:r>
          </a:p>
        </p:txBody>
      </p:sp>
      <p:sp>
        <p:nvSpPr>
          <p:cNvPr id="10" name="Rectangle 9"/>
          <p:cNvSpPr/>
          <p:nvPr/>
        </p:nvSpPr>
        <p:spPr>
          <a:xfrm>
            <a:off x="6660232"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7236296" y="2836748"/>
            <a:ext cx="1728192" cy="523220"/>
          </a:xfrm>
          <a:prstGeom prst="rect">
            <a:avLst/>
          </a:prstGeom>
          <a:noFill/>
        </p:spPr>
        <p:txBody>
          <a:bodyPr wrap="square" rtlCol="0">
            <a:spAutoFit/>
          </a:bodyPr>
          <a:lstStyle/>
          <a:p>
            <a:r>
              <a:rPr lang="en-GB" sz="2800" dirty="0"/>
              <a:t>Regularly</a:t>
            </a:r>
          </a:p>
        </p:txBody>
      </p:sp>
      <p:sp>
        <p:nvSpPr>
          <p:cNvPr id="12" name="Rectangle 11"/>
          <p:cNvSpPr/>
          <p:nvPr/>
        </p:nvSpPr>
        <p:spPr>
          <a:xfrm>
            <a:off x="742621"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1318684" y="3645024"/>
            <a:ext cx="1813155" cy="954107"/>
          </a:xfrm>
          <a:prstGeom prst="rect">
            <a:avLst/>
          </a:prstGeom>
          <a:noFill/>
        </p:spPr>
        <p:txBody>
          <a:bodyPr wrap="square" rtlCol="0">
            <a:spAutoFit/>
          </a:bodyPr>
          <a:lstStyle/>
          <a:p>
            <a:r>
              <a:rPr lang="en-GB" sz="2800" dirty="0"/>
              <a:t>All the time</a:t>
            </a:r>
          </a:p>
        </p:txBody>
      </p:sp>
      <p:sp>
        <p:nvSpPr>
          <p:cNvPr id="16" name="Cloud Callout 15"/>
          <p:cNvSpPr/>
          <p:nvPr/>
        </p:nvSpPr>
        <p:spPr>
          <a:xfrm>
            <a:off x="6041557" y="188640"/>
            <a:ext cx="3102443" cy="1296144"/>
          </a:xfrm>
          <a:prstGeom prst="cloudCallout">
            <a:avLst>
              <a:gd name="adj1" fmla="val -35094"/>
              <a:gd name="adj2" fmla="val 67051"/>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No Time Frame</a:t>
            </a:r>
          </a:p>
        </p:txBody>
      </p:sp>
      <p:sp>
        <p:nvSpPr>
          <p:cNvPr id="17" name="Cloud Callout 16"/>
          <p:cNvSpPr/>
          <p:nvPr/>
        </p:nvSpPr>
        <p:spPr>
          <a:xfrm>
            <a:off x="1637420" y="458854"/>
            <a:ext cx="3102443" cy="1296144"/>
          </a:xfrm>
          <a:prstGeom prst="cloudCallout">
            <a:avLst>
              <a:gd name="adj1" fmla="val 1986"/>
              <a:gd name="adj2" fmla="val 118255"/>
            </a:avLst>
          </a:prstGeom>
          <a:solidFill>
            <a:srgbClr val="66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Ambiguous options</a:t>
            </a:r>
          </a:p>
        </p:txBody>
      </p:sp>
      <p:sp>
        <p:nvSpPr>
          <p:cNvPr id="18" name="Cloud Callout 17"/>
          <p:cNvSpPr/>
          <p:nvPr/>
        </p:nvSpPr>
        <p:spPr>
          <a:xfrm>
            <a:off x="5397042" y="3962585"/>
            <a:ext cx="3102443" cy="1296144"/>
          </a:xfrm>
          <a:prstGeom prst="cloudCallout">
            <a:avLst>
              <a:gd name="adj1" fmla="val -18931"/>
              <a:gd name="adj2" fmla="val -82009"/>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rPr>
              <a:t>Overlapping options?</a:t>
            </a:r>
          </a:p>
        </p:txBody>
      </p:sp>
      <p:sp>
        <p:nvSpPr>
          <p:cNvPr id="19" name="Cloud Callout 18"/>
          <p:cNvSpPr/>
          <p:nvPr/>
        </p:nvSpPr>
        <p:spPr>
          <a:xfrm>
            <a:off x="1397549" y="4797152"/>
            <a:ext cx="3102443" cy="1584176"/>
          </a:xfrm>
          <a:prstGeom prst="cloudCallout">
            <a:avLst>
              <a:gd name="adj1" fmla="val -14177"/>
              <a:gd name="adj2" fmla="val -96802"/>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bg1"/>
                </a:solidFill>
              </a:rPr>
              <a:t>What if you don’t own a dog?</a:t>
            </a:r>
          </a:p>
        </p:txBody>
      </p:sp>
    </p:spTree>
    <p:extLst>
      <p:ext uri="{BB962C8B-B14F-4D97-AF65-F5344CB8AC3E}">
        <p14:creationId xmlns:p14="http://schemas.microsoft.com/office/powerpoint/2010/main" val="299054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31640" y="2852936"/>
            <a:ext cx="3060340" cy="523220"/>
          </a:xfrm>
          <a:prstGeom prst="rect">
            <a:avLst/>
          </a:prstGeom>
          <a:noFill/>
        </p:spPr>
        <p:txBody>
          <a:bodyPr wrap="square" rtlCol="0">
            <a:spAutoFit/>
          </a:bodyPr>
          <a:lstStyle/>
          <a:p>
            <a:r>
              <a:rPr lang="en-GB" sz="2800" dirty="0"/>
              <a:t>Don’t have a dog</a:t>
            </a:r>
          </a:p>
        </p:txBody>
      </p:sp>
      <p:sp>
        <p:nvSpPr>
          <p:cNvPr id="2" name="Title 1"/>
          <p:cNvSpPr>
            <a:spLocks noGrp="1"/>
          </p:cNvSpPr>
          <p:nvPr>
            <p:ph type="title"/>
          </p:nvPr>
        </p:nvSpPr>
        <p:spPr/>
        <p:txBody>
          <a:bodyPr/>
          <a:lstStyle/>
          <a:p>
            <a:r>
              <a:rPr lang="en-GB" dirty="0"/>
              <a:t>An Improved Question</a:t>
            </a:r>
          </a:p>
        </p:txBody>
      </p:sp>
      <p:sp>
        <p:nvSpPr>
          <p:cNvPr id="3" name="Content Placeholder 2"/>
          <p:cNvSpPr>
            <a:spLocks noGrp="1"/>
          </p:cNvSpPr>
          <p:nvPr>
            <p:ph idx="1"/>
          </p:nvPr>
        </p:nvSpPr>
        <p:spPr/>
        <p:txBody>
          <a:bodyPr/>
          <a:lstStyle/>
          <a:p>
            <a:r>
              <a:rPr lang="en-GB" dirty="0"/>
              <a:t>How often does your dog get walked a day?</a:t>
            </a:r>
          </a:p>
        </p:txBody>
      </p:sp>
      <p:sp>
        <p:nvSpPr>
          <p:cNvPr id="4" name="Rectangle 3"/>
          <p:cNvSpPr/>
          <p:nvPr/>
        </p:nvSpPr>
        <p:spPr>
          <a:xfrm>
            <a:off x="755576"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4499992" y="2852936"/>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a:off x="5076056" y="2852936"/>
            <a:ext cx="1296144" cy="523220"/>
          </a:xfrm>
          <a:prstGeom prst="rect">
            <a:avLst/>
          </a:prstGeom>
          <a:noFill/>
        </p:spPr>
        <p:txBody>
          <a:bodyPr wrap="square" rtlCol="0">
            <a:spAutoFit/>
          </a:bodyPr>
          <a:lstStyle/>
          <a:p>
            <a:r>
              <a:rPr lang="en-GB" sz="2800" dirty="0"/>
              <a:t>Once</a:t>
            </a:r>
          </a:p>
        </p:txBody>
      </p:sp>
      <p:sp>
        <p:nvSpPr>
          <p:cNvPr id="10" name="Rectangle 9"/>
          <p:cNvSpPr/>
          <p:nvPr/>
        </p:nvSpPr>
        <p:spPr>
          <a:xfrm>
            <a:off x="6660232" y="2836748"/>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p:cNvSpPr txBox="1"/>
          <p:nvPr/>
        </p:nvSpPr>
        <p:spPr>
          <a:xfrm>
            <a:off x="7236296" y="2836748"/>
            <a:ext cx="1296144" cy="523220"/>
          </a:xfrm>
          <a:prstGeom prst="rect">
            <a:avLst/>
          </a:prstGeom>
          <a:noFill/>
        </p:spPr>
        <p:txBody>
          <a:bodyPr wrap="square" rtlCol="0">
            <a:spAutoFit/>
          </a:bodyPr>
          <a:lstStyle/>
          <a:p>
            <a:r>
              <a:rPr lang="en-GB" sz="2800" dirty="0"/>
              <a:t>Twice</a:t>
            </a:r>
          </a:p>
        </p:txBody>
      </p:sp>
      <p:sp>
        <p:nvSpPr>
          <p:cNvPr id="12" name="Rectangle 11"/>
          <p:cNvSpPr/>
          <p:nvPr/>
        </p:nvSpPr>
        <p:spPr>
          <a:xfrm>
            <a:off x="742621"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1318684" y="3645024"/>
            <a:ext cx="1813155" cy="954107"/>
          </a:xfrm>
          <a:prstGeom prst="rect">
            <a:avLst/>
          </a:prstGeom>
          <a:noFill/>
        </p:spPr>
        <p:txBody>
          <a:bodyPr wrap="square" rtlCol="0">
            <a:spAutoFit/>
          </a:bodyPr>
          <a:lstStyle/>
          <a:p>
            <a:r>
              <a:rPr lang="en-GB" sz="2800" dirty="0"/>
              <a:t>Three times</a:t>
            </a:r>
          </a:p>
        </p:txBody>
      </p:sp>
      <p:sp>
        <p:nvSpPr>
          <p:cNvPr id="14" name="Rectangle 13"/>
          <p:cNvSpPr/>
          <p:nvPr/>
        </p:nvSpPr>
        <p:spPr>
          <a:xfrm>
            <a:off x="2915816" y="3789040"/>
            <a:ext cx="576064" cy="5760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p:cNvSpPr txBox="1"/>
          <p:nvPr/>
        </p:nvSpPr>
        <p:spPr>
          <a:xfrm>
            <a:off x="3491880" y="3627021"/>
            <a:ext cx="2088232" cy="954107"/>
          </a:xfrm>
          <a:prstGeom prst="rect">
            <a:avLst/>
          </a:prstGeom>
          <a:noFill/>
        </p:spPr>
        <p:txBody>
          <a:bodyPr wrap="square" rtlCol="0">
            <a:spAutoFit/>
          </a:bodyPr>
          <a:lstStyle/>
          <a:p>
            <a:r>
              <a:rPr lang="en-GB" sz="2800" dirty="0"/>
              <a:t>More than three times</a:t>
            </a:r>
          </a:p>
        </p:txBody>
      </p:sp>
    </p:spTree>
    <p:extLst>
      <p:ext uri="{BB962C8B-B14F-4D97-AF65-F5344CB8AC3E}">
        <p14:creationId xmlns:p14="http://schemas.microsoft.com/office/powerpoint/2010/main" val="1772359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Surveys</a:t>
            </a:r>
          </a:p>
        </p:txBody>
      </p:sp>
      <p:sp>
        <p:nvSpPr>
          <p:cNvPr id="5" name="Content Placeholder 4"/>
          <p:cNvSpPr>
            <a:spLocks noGrp="1"/>
          </p:cNvSpPr>
          <p:nvPr>
            <p:ph idx="1"/>
          </p:nvPr>
        </p:nvSpPr>
        <p:spPr/>
        <p:txBody>
          <a:bodyPr/>
          <a:lstStyle/>
          <a:p>
            <a:r>
              <a:rPr lang="en-GB" dirty="0"/>
              <a:t>In pairs, write down as many criticisms of the survey questions you created as possible.</a:t>
            </a:r>
          </a:p>
          <a:p>
            <a:endParaRPr lang="en-GB" dirty="0"/>
          </a:p>
          <a:p>
            <a:r>
              <a:rPr lang="en-GB" dirty="0"/>
              <a:t>EXTENSION: How might it be improved?</a:t>
            </a:r>
          </a:p>
        </p:txBody>
      </p:sp>
    </p:spTree>
    <p:extLst>
      <p:ext uri="{BB962C8B-B14F-4D97-AF65-F5344CB8AC3E}">
        <p14:creationId xmlns:p14="http://schemas.microsoft.com/office/powerpoint/2010/main" val="701480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Surveys</a:t>
            </a:r>
          </a:p>
        </p:txBody>
      </p:sp>
      <p:sp>
        <p:nvSpPr>
          <p:cNvPr id="3" name="Content Placeholder 2"/>
          <p:cNvSpPr>
            <a:spLocks noGrp="1"/>
          </p:cNvSpPr>
          <p:nvPr>
            <p:ph idx="1"/>
          </p:nvPr>
        </p:nvSpPr>
        <p:spPr>
          <a:xfrm>
            <a:off x="457200" y="1340768"/>
            <a:ext cx="8229600" cy="4785395"/>
          </a:xfrm>
        </p:spPr>
        <p:txBody>
          <a:bodyPr>
            <a:noAutofit/>
          </a:bodyPr>
          <a:lstStyle/>
          <a:p>
            <a:r>
              <a:rPr lang="en-GB" sz="2400" dirty="0"/>
              <a:t>In your pairs you are going to choose a topic for which you are going to design a survey. </a:t>
            </a:r>
          </a:p>
          <a:p>
            <a:endParaRPr lang="en-GB" sz="2400" dirty="0"/>
          </a:p>
          <a:p>
            <a:r>
              <a:rPr lang="en-GB" sz="2400" dirty="0"/>
              <a:t>Your survey must include 3 questions and a variety of styles of questions</a:t>
            </a:r>
          </a:p>
          <a:p>
            <a:endParaRPr lang="en-GB" sz="2400" dirty="0"/>
          </a:p>
          <a:p>
            <a:r>
              <a:rPr lang="en-GB" sz="2400" dirty="0"/>
              <a:t>Once you have decided on your questions and the response boxes, you must come up with a hypothesis for each question</a:t>
            </a:r>
          </a:p>
          <a:p>
            <a:endParaRPr lang="en-GB" sz="2400" dirty="0"/>
          </a:p>
          <a:p>
            <a:r>
              <a:rPr lang="en-GB" sz="2400" dirty="0"/>
              <a:t>A hypothesis is your prediction of what your results will be</a:t>
            </a:r>
          </a:p>
          <a:p>
            <a:endParaRPr lang="en-GB" sz="2400" dirty="0"/>
          </a:p>
          <a:p>
            <a:r>
              <a:rPr lang="en-GB" sz="2400" dirty="0"/>
              <a:t>“I think that the most popular ________ will be _________ because….”</a:t>
            </a:r>
          </a:p>
        </p:txBody>
      </p:sp>
    </p:spTree>
    <p:extLst>
      <p:ext uri="{BB962C8B-B14F-4D97-AF65-F5344CB8AC3E}">
        <p14:creationId xmlns:p14="http://schemas.microsoft.com/office/powerpoint/2010/main" val="362982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Survey Topics</a:t>
            </a:r>
          </a:p>
        </p:txBody>
      </p:sp>
      <p:sp>
        <p:nvSpPr>
          <p:cNvPr id="3" name="Content Placeholder 2"/>
          <p:cNvSpPr>
            <a:spLocks noGrp="1"/>
          </p:cNvSpPr>
          <p:nvPr>
            <p:ph idx="1"/>
          </p:nvPr>
        </p:nvSpPr>
        <p:spPr/>
        <p:txBody>
          <a:bodyPr/>
          <a:lstStyle/>
          <a:p>
            <a:r>
              <a:rPr lang="en-GB" dirty="0"/>
              <a:t>Choose from:</a:t>
            </a:r>
          </a:p>
          <a:p>
            <a:endParaRPr lang="en-GB" dirty="0"/>
          </a:p>
          <a:p>
            <a:pPr lvl="1"/>
            <a:r>
              <a:rPr lang="en-GB" dirty="0"/>
              <a:t>Music tastes</a:t>
            </a:r>
          </a:p>
          <a:p>
            <a:pPr lvl="1"/>
            <a:r>
              <a:rPr lang="en-GB" dirty="0"/>
              <a:t>Sport</a:t>
            </a:r>
          </a:p>
          <a:p>
            <a:pPr lvl="1"/>
            <a:r>
              <a:rPr lang="en-GB" dirty="0"/>
              <a:t>Diet/Healthy lifestyles</a:t>
            </a:r>
          </a:p>
          <a:p>
            <a:pPr lvl="1"/>
            <a:r>
              <a:rPr lang="en-GB" dirty="0"/>
              <a:t>School</a:t>
            </a:r>
          </a:p>
          <a:p>
            <a:pPr lvl="1"/>
            <a:r>
              <a:rPr lang="en-GB" dirty="0"/>
              <a:t>Hobbies/interests</a:t>
            </a:r>
          </a:p>
          <a:p>
            <a:pPr lvl="1"/>
            <a:r>
              <a:rPr lang="en-GB" dirty="0"/>
              <a:t>Holidays</a:t>
            </a:r>
          </a:p>
        </p:txBody>
      </p:sp>
    </p:spTree>
    <p:extLst>
      <p:ext uri="{BB962C8B-B14F-4D97-AF65-F5344CB8AC3E}">
        <p14:creationId xmlns:p14="http://schemas.microsoft.com/office/powerpoint/2010/main" val="3321091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Collection Sheets</a:t>
            </a:r>
          </a:p>
        </p:txBody>
      </p:sp>
      <p:sp>
        <p:nvSpPr>
          <p:cNvPr id="3" name="Content Placeholder 2"/>
          <p:cNvSpPr>
            <a:spLocks noGrp="1"/>
          </p:cNvSpPr>
          <p:nvPr>
            <p:ph idx="1"/>
          </p:nvPr>
        </p:nvSpPr>
        <p:spPr/>
        <p:txBody>
          <a:bodyPr/>
          <a:lstStyle/>
          <a:p>
            <a:r>
              <a:rPr lang="en-GB" dirty="0"/>
              <a:t>Having decided on the questions you are going to ask, you now need to design the </a:t>
            </a:r>
            <a:r>
              <a:rPr lang="en-GB" b="1" dirty="0">
                <a:solidFill>
                  <a:srgbClr val="FF0000"/>
                </a:solidFill>
              </a:rPr>
              <a:t>data collection sheet.</a:t>
            </a:r>
          </a:p>
          <a:p>
            <a:endParaRPr lang="en-GB" dirty="0"/>
          </a:p>
          <a:p>
            <a:r>
              <a:rPr lang="en-GB" dirty="0"/>
              <a:t>This is the table that you will use to note down their responses</a:t>
            </a:r>
          </a:p>
        </p:txBody>
      </p:sp>
    </p:spTree>
    <p:extLst>
      <p:ext uri="{BB962C8B-B14F-4D97-AF65-F5344CB8AC3E}">
        <p14:creationId xmlns:p14="http://schemas.microsoft.com/office/powerpoint/2010/main" val="492428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Collection Sheets</a:t>
            </a:r>
          </a:p>
        </p:txBody>
      </p:sp>
      <p:sp>
        <p:nvSpPr>
          <p:cNvPr id="3" name="Content Placeholder 2"/>
          <p:cNvSpPr>
            <a:spLocks noGrp="1"/>
          </p:cNvSpPr>
          <p:nvPr>
            <p:ph idx="1"/>
          </p:nvPr>
        </p:nvSpPr>
        <p:spPr/>
        <p:txBody>
          <a:bodyPr/>
          <a:lstStyle/>
          <a:p>
            <a:r>
              <a:rPr lang="en-GB" dirty="0"/>
              <a:t>Jane is going to survey some students to find out how much exercise they do in a week. Design a suitable data collection sheet that she can use to carry out this survey.</a:t>
            </a:r>
          </a:p>
        </p:txBody>
      </p:sp>
      <p:graphicFrame>
        <p:nvGraphicFramePr>
          <p:cNvPr id="4" name="Table 3"/>
          <p:cNvGraphicFramePr>
            <a:graphicFrameLocks noGrp="1"/>
          </p:cNvGraphicFramePr>
          <p:nvPr>
            <p:extLst>
              <p:ext uri="{D42A27DB-BD31-4B8C-83A1-F6EECF244321}">
                <p14:modId xmlns:p14="http://schemas.microsoft.com/office/powerpoint/2010/main" val="3506327232"/>
              </p:ext>
            </p:extLst>
          </p:nvPr>
        </p:nvGraphicFramePr>
        <p:xfrm>
          <a:off x="1979712" y="3868666"/>
          <a:ext cx="6848412" cy="2590800"/>
        </p:xfrm>
        <a:graphic>
          <a:graphicData uri="http://schemas.openxmlformats.org/drawingml/2006/table">
            <a:tbl>
              <a:tblPr firstRow="1" bandRow="1">
                <a:tableStyleId>{5C22544A-7EE6-4342-B048-85BDC9FD1C3A}</a:tableStyleId>
              </a:tblPr>
              <a:tblGrid>
                <a:gridCol w="2784412">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GB" sz="2800" dirty="0"/>
                        <a:t>Hours of Exercise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GB" sz="2800" dirty="0"/>
                        <a:t>Tally</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GB" sz="2800" dirty="0"/>
                        <a:t>Frequency</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GB" sz="2800" dirty="0"/>
                        <a:t>0 – 3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GB" sz="2800" dirty="0"/>
                        <a:t>4 – 6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GB" sz="2800" dirty="0"/>
                        <a:t>7 – 10 </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GB" sz="2800" dirty="0"/>
                        <a:t>More than 10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GB" sz="28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Left Brace 4">
            <a:extLst>
              <a:ext uri="{FF2B5EF4-FFF2-40B4-BE49-F238E27FC236}">
                <a16:creationId xmlns:a16="http://schemas.microsoft.com/office/drawing/2014/main" id="{00B86FA4-96BD-475B-BADF-F6B47F64D7AA}"/>
              </a:ext>
            </a:extLst>
          </p:cNvPr>
          <p:cNvSpPr/>
          <p:nvPr/>
        </p:nvSpPr>
        <p:spPr>
          <a:xfrm>
            <a:off x="1172024" y="3730901"/>
            <a:ext cx="1008112" cy="286633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6" name="TextBox 5">
            <a:extLst>
              <a:ext uri="{FF2B5EF4-FFF2-40B4-BE49-F238E27FC236}">
                <a16:creationId xmlns:a16="http://schemas.microsoft.com/office/drawing/2014/main" id="{5FCE25EA-2206-458C-B7B1-CB1EA45B1E16}"/>
              </a:ext>
            </a:extLst>
          </p:cNvPr>
          <p:cNvSpPr txBox="1"/>
          <p:nvPr/>
        </p:nvSpPr>
        <p:spPr>
          <a:xfrm>
            <a:off x="251520" y="3933056"/>
            <a:ext cx="1440160" cy="2308324"/>
          </a:xfrm>
          <a:prstGeom prst="rect">
            <a:avLst/>
          </a:prstGeom>
          <a:noFill/>
        </p:spPr>
        <p:txBody>
          <a:bodyPr wrap="square" rtlCol="0">
            <a:spAutoFit/>
          </a:bodyPr>
          <a:lstStyle/>
          <a:p>
            <a:r>
              <a:rPr lang="en-US" sz="2400" dirty="0"/>
              <a:t>Question and</a:t>
            </a:r>
          </a:p>
          <a:p>
            <a:endParaRPr lang="en-US" sz="2400" dirty="0"/>
          </a:p>
          <a:p>
            <a:r>
              <a:rPr lang="en-US" sz="2400" dirty="0"/>
              <a:t> responses available </a:t>
            </a:r>
            <a:endParaRPr lang="en-AU" sz="2400" dirty="0"/>
          </a:p>
        </p:txBody>
      </p:sp>
    </p:spTree>
    <p:extLst>
      <p:ext uri="{BB962C8B-B14F-4D97-AF65-F5344CB8AC3E}">
        <p14:creationId xmlns:p14="http://schemas.microsoft.com/office/powerpoint/2010/main" val="425900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Collection Sheets</a:t>
            </a:r>
          </a:p>
        </p:txBody>
      </p:sp>
      <p:sp>
        <p:nvSpPr>
          <p:cNvPr id="3" name="Content Placeholder 2"/>
          <p:cNvSpPr>
            <a:spLocks noGrp="1"/>
          </p:cNvSpPr>
          <p:nvPr>
            <p:ph idx="1"/>
          </p:nvPr>
        </p:nvSpPr>
        <p:spPr/>
        <p:txBody>
          <a:bodyPr>
            <a:normAutofit/>
          </a:bodyPr>
          <a:lstStyle/>
          <a:p>
            <a:r>
              <a:rPr lang="en-GB" sz="2400" dirty="0"/>
              <a:t>On a scale of 1 to 10 (1 being not important, 10 being very important), how important is brand name when buying shoes?</a:t>
            </a:r>
          </a:p>
        </p:txBody>
      </p:sp>
      <p:graphicFrame>
        <p:nvGraphicFramePr>
          <p:cNvPr id="5" name="Table 4"/>
          <p:cNvGraphicFramePr>
            <a:graphicFrameLocks noGrp="1"/>
          </p:cNvGraphicFramePr>
          <p:nvPr>
            <p:extLst>
              <p:ext uri="{D42A27DB-BD31-4B8C-83A1-F6EECF244321}">
                <p14:modId xmlns:p14="http://schemas.microsoft.com/office/powerpoint/2010/main" val="1042857465"/>
              </p:ext>
            </p:extLst>
          </p:nvPr>
        </p:nvGraphicFramePr>
        <p:xfrm>
          <a:off x="2043904" y="2420888"/>
          <a:ext cx="4976368" cy="4358640"/>
        </p:xfrm>
        <a:graphic>
          <a:graphicData uri="http://schemas.openxmlformats.org/drawingml/2006/table">
            <a:tbl>
              <a:tblPr firstRow="1" bandRow="1">
                <a:tableStyleId>{7DF18680-E054-41AD-8BC1-D1AEF772440D}</a:tableStyleId>
              </a:tblPr>
              <a:tblGrid>
                <a:gridCol w="912368">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GB" sz="2000" dirty="0"/>
                        <a:t>Rating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Tally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a:t>Frequency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GB"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GB" sz="20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GB" sz="20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ctr"/>
                      <a:r>
                        <a:rPr lang="en-GB" sz="20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n-GB" sz="20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ctr"/>
                      <a:r>
                        <a:rPr lang="en-GB" sz="20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algn="ctr"/>
                      <a:r>
                        <a:rPr lang="en-GB" sz="20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GB" sz="20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70840">
                <a:tc>
                  <a:txBody>
                    <a:bodyPr/>
                    <a:lstStyle/>
                    <a:p>
                      <a:pPr algn="ctr"/>
                      <a:r>
                        <a:rPr lang="en-GB" sz="2000"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70840">
                <a:tc>
                  <a:txBody>
                    <a:bodyPr/>
                    <a:lstStyle/>
                    <a:p>
                      <a:pPr algn="ctr"/>
                      <a:r>
                        <a:rPr lang="en-GB" sz="20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06050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Collection Sheets</a:t>
            </a:r>
          </a:p>
        </p:txBody>
      </p:sp>
      <p:sp>
        <p:nvSpPr>
          <p:cNvPr id="3" name="Content Placeholder 2"/>
          <p:cNvSpPr>
            <a:spLocks noGrp="1"/>
          </p:cNvSpPr>
          <p:nvPr>
            <p:ph idx="1"/>
          </p:nvPr>
        </p:nvSpPr>
        <p:spPr/>
        <p:txBody>
          <a:bodyPr/>
          <a:lstStyle/>
          <a:p>
            <a:r>
              <a:rPr lang="en-GB" dirty="0"/>
              <a:t>In your pairs, design a data collection sheet for your survey questions</a:t>
            </a:r>
          </a:p>
        </p:txBody>
      </p:sp>
    </p:spTree>
    <p:extLst>
      <p:ext uri="{BB962C8B-B14F-4D97-AF65-F5344CB8AC3E}">
        <p14:creationId xmlns:p14="http://schemas.microsoft.com/office/powerpoint/2010/main" val="2232754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87E78-87C9-4392-88A3-99B96C4166EC}"/>
              </a:ext>
            </a:extLst>
          </p:cNvPr>
          <p:cNvSpPr>
            <a:spLocks noGrp="1"/>
          </p:cNvSpPr>
          <p:nvPr>
            <p:ph type="title"/>
          </p:nvPr>
        </p:nvSpPr>
        <p:spPr/>
        <p:txBody>
          <a:bodyPr/>
          <a:lstStyle/>
          <a:p>
            <a:r>
              <a:rPr lang="en-US" dirty="0"/>
              <a:t>Collecting data </a:t>
            </a:r>
            <a:endParaRPr lang="en-AU" dirty="0"/>
          </a:p>
        </p:txBody>
      </p:sp>
      <p:sp>
        <p:nvSpPr>
          <p:cNvPr id="3" name="Content Placeholder 2">
            <a:extLst>
              <a:ext uri="{FF2B5EF4-FFF2-40B4-BE49-F238E27FC236}">
                <a16:creationId xmlns:a16="http://schemas.microsoft.com/office/drawing/2014/main" id="{5F7FD085-3BD3-4BDE-82E2-6A274FE5EB2F}"/>
              </a:ext>
            </a:extLst>
          </p:cNvPr>
          <p:cNvSpPr>
            <a:spLocks noGrp="1"/>
          </p:cNvSpPr>
          <p:nvPr>
            <p:ph idx="1"/>
          </p:nvPr>
        </p:nvSpPr>
        <p:spPr/>
        <p:txBody>
          <a:bodyPr/>
          <a:lstStyle/>
          <a:p>
            <a:pPr marL="0" indent="0">
              <a:buNone/>
            </a:pPr>
            <a:r>
              <a:rPr lang="en-US" dirty="0"/>
              <a:t>You need:</a:t>
            </a:r>
          </a:p>
          <a:p>
            <a:pPr>
              <a:buFontTx/>
              <a:buChar char="-"/>
            </a:pPr>
            <a:r>
              <a:rPr lang="en-US" dirty="0"/>
              <a:t>3 questions with a variety of answer methods </a:t>
            </a:r>
          </a:p>
          <a:p>
            <a:pPr>
              <a:buFontTx/>
              <a:buChar char="-"/>
            </a:pPr>
            <a:r>
              <a:rPr lang="en-US" dirty="0"/>
              <a:t>3 data collection sheets</a:t>
            </a:r>
          </a:p>
          <a:p>
            <a:pPr>
              <a:buFontTx/>
              <a:buChar char="-"/>
            </a:pPr>
            <a:endParaRPr lang="en-US" dirty="0"/>
          </a:p>
          <a:p>
            <a:pPr marL="0" indent="0">
              <a:buNone/>
            </a:pPr>
            <a:endParaRPr lang="en-US" dirty="0"/>
          </a:p>
          <a:p>
            <a:pPr marL="0" indent="0">
              <a:buNone/>
            </a:pPr>
            <a:r>
              <a:rPr lang="en-US" dirty="0"/>
              <a:t>In pairs, go around the room conducting your survey.</a:t>
            </a:r>
            <a:endParaRPr lang="en-AU" dirty="0"/>
          </a:p>
        </p:txBody>
      </p:sp>
    </p:spTree>
    <p:extLst>
      <p:ext uri="{BB962C8B-B14F-4D97-AF65-F5344CB8AC3E}">
        <p14:creationId xmlns:p14="http://schemas.microsoft.com/office/powerpoint/2010/main" val="15632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83F19-F96E-4BE7-8CD7-629930870212}"/>
              </a:ext>
            </a:extLst>
          </p:cNvPr>
          <p:cNvSpPr>
            <a:spLocks noGrp="1"/>
          </p:cNvSpPr>
          <p:nvPr>
            <p:ph type="title"/>
          </p:nvPr>
        </p:nvSpPr>
        <p:spPr/>
        <p:txBody>
          <a:bodyPr/>
          <a:lstStyle/>
          <a:p>
            <a:r>
              <a:rPr lang="en-US" dirty="0"/>
              <a:t>Your hypothesis </a:t>
            </a:r>
            <a:endParaRPr lang="en-AU" dirty="0"/>
          </a:p>
        </p:txBody>
      </p:sp>
      <p:sp>
        <p:nvSpPr>
          <p:cNvPr id="3" name="Content Placeholder 2">
            <a:extLst>
              <a:ext uri="{FF2B5EF4-FFF2-40B4-BE49-F238E27FC236}">
                <a16:creationId xmlns:a16="http://schemas.microsoft.com/office/drawing/2014/main" id="{0F8F2D1D-CC40-49A3-8897-3ADC787404EF}"/>
              </a:ext>
            </a:extLst>
          </p:cNvPr>
          <p:cNvSpPr>
            <a:spLocks noGrp="1"/>
          </p:cNvSpPr>
          <p:nvPr>
            <p:ph idx="1"/>
          </p:nvPr>
        </p:nvSpPr>
        <p:spPr/>
        <p:txBody>
          <a:bodyPr/>
          <a:lstStyle/>
          <a:p>
            <a:pPr marL="0" indent="0">
              <a:buNone/>
            </a:pPr>
            <a:r>
              <a:rPr lang="en-US" dirty="0"/>
              <a:t>Was your prediction correct? </a:t>
            </a:r>
          </a:p>
          <a:p>
            <a:pPr marL="0" indent="0">
              <a:buNone/>
            </a:pPr>
            <a:endParaRPr lang="en-US" dirty="0"/>
          </a:p>
          <a:p>
            <a:pPr marL="0" indent="0">
              <a:buNone/>
            </a:pPr>
            <a:r>
              <a:rPr lang="en-US" dirty="0"/>
              <a:t>Were there any issues with your survey? </a:t>
            </a:r>
          </a:p>
        </p:txBody>
      </p:sp>
    </p:spTree>
    <p:extLst>
      <p:ext uri="{BB962C8B-B14F-4D97-AF65-F5344CB8AC3E}">
        <p14:creationId xmlns:p14="http://schemas.microsoft.com/office/powerpoint/2010/main" val="492139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19E85-3EA1-4A50-B752-F82779043CC1}"/>
              </a:ext>
            </a:extLst>
          </p:cNvPr>
          <p:cNvSpPr>
            <a:spLocks noGrp="1"/>
          </p:cNvSpPr>
          <p:nvPr>
            <p:ph type="title"/>
          </p:nvPr>
        </p:nvSpPr>
        <p:spPr/>
        <p:txBody>
          <a:bodyPr/>
          <a:lstStyle/>
          <a:p>
            <a:r>
              <a:rPr lang="en-US" dirty="0"/>
              <a:t>Going through the test </a:t>
            </a:r>
            <a:endParaRPr lang="en-AU" dirty="0"/>
          </a:p>
        </p:txBody>
      </p:sp>
      <p:sp>
        <p:nvSpPr>
          <p:cNvPr id="3" name="Content Placeholder 2">
            <a:extLst>
              <a:ext uri="{FF2B5EF4-FFF2-40B4-BE49-F238E27FC236}">
                <a16:creationId xmlns:a16="http://schemas.microsoft.com/office/drawing/2014/main" id="{FF37F90B-730B-49C6-96B9-696F3B5DD5C2}"/>
              </a:ext>
            </a:extLst>
          </p:cNvPr>
          <p:cNvSpPr>
            <a:spLocks noGrp="1"/>
          </p:cNvSpPr>
          <p:nvPr>
            <p:ph idx="1"/>
          </p:nvPr>
        </p:nvSpPr>
        <p:spPr/>
        <p:txBody>
          <a:bodyPr/>
          <a:lstStyle/>
          <a:p>
            <a:pPr marL="0" indent="0">
              <a:buNone/>
            </a:pPr>
            <a:r>
              <a:rPr lang="en-US" dirty="0"/>
              <a:t>Find a question you struggled with and re-do </a:t>
            </a:r>
            <a:r>
              <a:rPr lang="en-US" b="1" i="1" u="sng" dirty="0"/>
              <a:t>IN YOUR EXERCISE BOOK. </a:t>
            </a:r>
            <a:endParaRPr lang="en-AU" dirty="0"/>
          </a:p>
        </p:txBody>
      </p:sp>
    </p:spTree>
    <p:extLst>
      <p:ext uri="{BB962C8B-B14F-4D97-AF65-F5344CB8AC3E}">
        <p14:creationId xmlns:p14="http://schemas.microsoft.com/office/powerpoint/2010/main" val="311730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1016</Words>
  <Application>Microsoft Office PowerPoint</Application>
  <PresentationFormat>On-screen Show (4:3)</PresentationFormat>
  <Paragraphs>187</Paragraphs>
  <Slides>22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HandelGotDBol</vt:lpstr>
      <vt:lpstr>Office Theme</vt:lpstr>
      <vt:lpstr>Title: Surveys</vt:lpstr>
      <vt:lpstr>PowerPoint Presentation</vt:lpstr>
      <vt:lpstr>Solution</vt:lpstr>
      <vt:lpstr>Surveys</vt:lpstr>
      <vt:lpstr>Surveys</vt:lpstr>
      <vt:lpstr>Questionnaires</vt:lpstr>
      <vt:lpstr>What is wrong with this question?</vt:lpstr>
      <vt:lpstr>An Improved Question</vt:lpstr>
      <vt:lpstr>What is wrong with this question?</vt:lpstr>
      <vt:lpstr>An improved Question</vt:lpstr>
      <vt:lpstr>What is wrong with this question?</vt:lpstr>
      <vt:lpstr>An Improved Question</vt:lpstr>
      <vt:lpstr>Surveys</vt:lpstr>
      <vt:lpstr>Surveys</vt:lpstr>
      <vt:lpstr>Survey Topics</vt:lpstr>
      <vt:lpstr>Data Collection Sheets</vt:lpstr>
      <vt:lpstr>Data Collection Sheets</vt:lpstr>
      <vt:lpstr>Data Collection Sheets</vt:lpstr>
      <vt:lpstr>Data Collection Sheets</vt:lpstr>
      <vt:lpstr>Collecting data </vt:lpstr>
      <vt:lpstr>Your hypothesis </vt:lpstr>
      <vt:lpstr>Going through the test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Burke</dc:creator>
  <cp:lastModifiedBy>DAVIES Rhys [Busselton Senior High School]</cp:lastModifiedBy>
  <cp:revision>12</cp:revision>
  <dcterms:created xsi:type="dcterms:W3CDTF">2013-03-24T16:59:33Z</dcterms:created>
  <dcterms:modified xsi:type="dcterms:W3CDTF">2022-10-24T07:45:56Z</dcterms:modified>
</cp:coreProperties>
</file>
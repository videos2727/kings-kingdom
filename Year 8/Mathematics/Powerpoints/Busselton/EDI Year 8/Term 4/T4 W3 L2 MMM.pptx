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94" r:id="rId4"/>
    <p:sldId id="296" r:id="rId5"/>
    <p:sldId id="257" r:id="rId6"/>
    <p:sldId id="258" r:id="rId7"/>
    <p:sldId id="259" r:id="rId8"/>
    <p:sldId id="297" r:id="rId9"/>
    <p:sldId id="260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91" r:id="rId18"/>
    <p:sldId id="270" r:id="rId19"/>
    <p:sldId id="271" r:id="rId20"/>
    <p:sldId id="292" r:id="rId21"/>
    <p:sldId id="293" r:id="rId22"/>
    <p:sldId id="298" r:id="rId23"/>
    <p:sldId id="29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5CAC8-181B-42E2-B816-8D0DC7E2C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65DBF-30EA-463E-AD11-3C41588C1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6D9C2-B3B5-4370-BC94-D308B8F5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C58BB-670C-4657-983D-5683C1040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1D4BC-2E96-4892-A0BD-25831BCB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7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6BD4-56C7-4548-812F-3BDA7EEFE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7D928-E695-4B7D-848C-990CAA19F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17F39-B95F-46DA-B80B-5AE4DB26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95E47-A2E9-4FF1-9709-C5DC0138F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33A6E-F711-423B-BF16-7297A128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095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881D-ED24-4426-BF58-E497915A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31024-B200-47D9-BE16-388E7A3F5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92887-A515-4AE6-A89F-67E1312D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62367-9DD3-4655-BAD6-6423F96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2046C-2A60-4CD6-851B-DBB7DAA0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138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DA5E-C038-4FE8-A530-F40011AF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37DF-3A3D-406B-9EF1-4099C1D9DA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64234-5593-45D3-962A-C7EEEA80C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DE7F3-956C-47B8-B942-799468C8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0CAB4-33D6-4F9E-8E64-630FBC1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35C6C-9895-4A92-89C2-7DA05032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E492-8216-4C7F-B55B-B0C6F3CB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8B0B9-2439-4AD6-98D1-4781218D2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FB10C-F8DB-4B14-AA07-022981FD4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12050-FB03-4198-BF49-00EC6B537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62BC6-C1B8-4A3E-B1DB-063C4566E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E1F08-CD6B-4DA3-80B3-40B6997B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31A0D-E31D-43DD-B047-5970030B2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652A5-56E7-458B-B27F-BC2087A2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094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4656-26A8-44E2-BEA8-BE9455F0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7B504-E087-4FB4-B71F-B52C2FF8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7289A-CC95-4170-B0D0-B2FDB315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22D51-B1F5-461D-8DBF-73FC8207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32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0AEC0-E039-46D1-B9C7-62919751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1229F-862C-44AE-BAA8-AA9242B6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149D6-65D9-498E-ADE9-30A9A465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14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A599-5945-43FC-B04D-5DCBDBDD3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6A99-785A-4325-98C2-1DF4BDA7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49460-1B58-4246-A9DB-18FF90AC6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5845B-258B-4A7E-A01C-2A0027353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36874-9001-4BF1-8759-48BA92D6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CCE59-53DB-4469-81C7-8FFA558D4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536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EA45-1C2F-4631-88EB-6786C1529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E9D224-6BD9-46E5-B690-1BD589DFC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7F27B-C774-4A85-BCAD-8AAB4AF7D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0C25A-C1C7-4B4F-A061-4593B2F7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1F53B-BD06-48AF-A903-71E5C8F7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F9CFD-41E7-48E4-86D3-F72897AA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86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0A7C-0781-4F94-A223-B72C732E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C5191-2EC5-4BBA-856D-F5BD85164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E967B-ADAB-4DC8-BCE8-77B7A6D5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5D9E-1C3A-4888-B533-C68541F2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7FF0C-C3AF-43C5-B5B9-64384362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38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9CC4F7-B349-4D2C-A1C1-5AE373877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3AD9B-0E36-47B8-B9B3-CE747EAB7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35B38-9ED2-420A-AFFF-D78C4432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683BB-E096-48B1-9D62-B2362A70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24D45-1F55-47F1-BD14-3DB3B457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64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1EE1AD-2FFD-4A73-B29E-1DC6DE2844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CB7014-636B-40ED-8416-7575159DE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E05252-4228-407F-AE0B-5E00282220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61976-B251-4859-9250-084BC7747D3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02298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9A0F14-02E4-4E26-8F0E-A4FC1AF81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E4F132-2F3E-47E9-A8E9-1DD10043C4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AE498-3A6F-4434-B71C-F6036AC473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870A67-7165-4D2E-8F96-E4A644A7FCF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266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84DE9D-59EA-4C10-8A42-6C04641A70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9C7938-E7D5-42BE-9C0D-8414E5EDAF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A396E-5542-40A4-8F22-9D2577F588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4C902-18A6-449F-B5ED-B0CC9903AAA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4715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C36FF-D62D-4B79-AE61-4AF643C71C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10D62D-E52F-458E-84EE-1B264414B8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88A9A2-B88C-401A-B867-52A0E0BFB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016F2-5A10-4133-9EF7-D906689A46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9670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0E0FA9-E25B-4262-A80C-25DFA6FB34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120DE8A-EF5F-4F61-878D-85775B4692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C0BCDD7-BAA9-48D2-B9FD-D72C29414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0A1000-FD7A-4637-A73C-5937FF3F51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7094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950A5C6-456B-4525-AE1E-B5C0170F2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10916B-42BB-49A0-AC0B-B6738E179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E27FB-773A-4E42-B518-E7F58EAD3D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28F46-83C8-47F4-B9CB-DF3371F0214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64908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66C2175-A597-4A6E-BA0F-46B6FDA26B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812A21-BAB7-431E-8285-5765DF7CF9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D88C8B-B32C-4DA9-B33F-018094B6A9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08BC8-0AC7-4137-9A86-2268F653433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24695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5B1D41-57B1-42CA-8D10-549BA82CF7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B22BF-2668-4060-99BC-DC945545F9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C0EE8-6BF2-46F8-B627-3DE20B4B86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3BB89-7B32-40C3-BA60-7428880E9F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56185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7F78F4-A230-4177-BDAC-E7E4054958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F8907-44EA-4D48-A24F-313E96ACB6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D1309-BFC0-4777-8C00-F93BCA4944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4A77-23B7-4775-8516-A9586D4ECDF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3746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721620-F139-4120-8722-FFAB310B5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EDDD92-1E37-4190-8309-6C4A382A2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D1AED-D945-4F6A-A810-37EE9DCAF8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210B9-D643-48E0-AAD7-FF063AED36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1004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4F0972-F736-4249-BB1C-9FC6370A53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4906B9-E53E-4AC5-AA57-B494E9DF52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113AB1-7085-403E-9C76-9B0EFF05E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3F93F-F20F-42DD-8C7F-BDAF317B046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4280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3E93-527E-44A5-8814-7ECDD6C1C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DC29C-9793-4E15-9734-BB61E2FAA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FBA70-241B-4A81-8818-94E1D9FE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6110-2E75-47BA-B5B6-83E747BA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E9787-D14D-4CDB-ACB9-7BB1E39E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A88D09-1AE0-43E6-B32A-88B57F7CCB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9233004"/>
      </p:ext>
    </p:extLst>
  </p:cSld>
  <p:clrMapOvr>
    <a:masterClrMapping/>
  </p:clrMapOvr>
  <p:transition>
    <p:push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9979-B07A-4AE1-B464-ADC618A6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CD42C-916E-4547-95F3-CC0B50DEB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0A26-64E8-4556-8D41-531D175E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E3B08-C1E2-4CA8-A685-E1CA7950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9B8A1-6B83-485A-A3AC-6ED8F9A0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15F3A-F36F-4663-8970-912915C5C9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7623467"/>
      </p:ext>
    </p:extLst>
  </p:cSld>
  <p:clrMapOvr>
    <a:masterClrMapping/>
  </p:clrMapOvr>
  <p:transition>
    <p:push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F994-6B00-45E7-AEDA-3BD91CA25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C9710C-7DF2-43A4-A1CC-7DD9BE218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8428-4277-423F-AFA2-B42C6EBC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64BB9-BB77-4825-BF2C-8C02B663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06C80-6480-4ADA-883D-55447DCD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99206-78BE-4FDB-9601-2F16507759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990228"/>
      </p:ext>
    </p:extLst>
  </p:cSld>
  <p:clrMapOvr>
    <a:masterClrMapping/>
  </p:clrMapOvr>
  <p:transition>
    <p:push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BA3C-722A-45B6-B581-893F0345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3DB7-0738-4B08-9D57-DCA2ABEA8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5C01A-40E7-4D3A-8996-3DB81211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62794-8909-4851-8768-248C00DB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377C5-A427-4E2F-8016-0D21C1E1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93F05-2121-4157-9702-749E2D00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E9D2F1-8485-4AB3-B4BF-62DF731E1C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887712"/>
      </p:ext>
    </p:extLst>
  </p:cSld>
  <p:clrMapOvr>
    <a:masterClrMapping/>
  </p:clrMapOvr>
  <p:transition>
    <p:push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8EF3-6A5B-4A4E-B4AB-29266D6E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583-B06D-4EEF-A125-D6B4AC432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5506E-FB96-4A9B-A5D9-23F4DDFCE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8DD3C-8933-482C-9924-AA7A12B20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B5909-3800-4DBC-82D5-F3612C11C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0E2C7-6F7F-4202-88AA-0F0BCFB9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AEFC1A-67AD-41EB-887F-DBCB9065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79310-A174-41F8-B99C-B38CEFCF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65A6F-AC59-4261-AE06-1F2CC5FC33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866992"/>
      </p:ext>
    </p:extLst>
  </p:cSld>
  <p:clrMapOvr>
    <a:masterClrMapping/>
  </p:clrMapOvr>
  <p:transition>
    <p:push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2603-7DD0-4E55-AC85-845A927F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4A5F9-7C56-4BA3-B343-C6020C49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97888-5192-4212-AD15-E3AE3BB1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3AC52-DC18-477F-AFD6-1B24D91E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B088D5-7F85-45E5-A889-B5BDED0D5D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5121074"/>
      </p:ext>
    </p:extLst>
  </p:cSld>
  <p:clrMapOvr>
    <a:masterClrMapping/>
  </p:clrMapOvr>
  <p:transition>
    <p:push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A4883-CD1E-4DB2-BF07-BF087D6A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23E3A-FB66-426E-ADB5-98760ACB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14514-15DB-4AEB-B7E5-7067547E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C4692-C401-4857-918A-CF0FEBE3C0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981940"/>
      </p:ext>
    </p:extLst>
  </p:cSld>
  <p:clrMapOvr>
    <a:masterClrMapping/>
  </p:clrMapOvr>
  <p:transition>
    <p:push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9C21-A836-4D8D-8C85-504851C1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CBEAB-0B91-43E9-9B45-B04484A7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656B7-E878-4A3E-91B4-5BAFBA910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32FF1-BA66-4506-8874-E7638095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F4A59-4841-4EFE-BE29-5E6EDDAB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397A9-F07C-4BDE-9AF1-72177AE0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71546E-840F-41F5-A2A5-CDA8AA5249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461930"/>
      </p:ext>
    </p:extLst>
  </p:cSld>
  <p:clrMapOvr>
    <a:masterClrMapping/>
  </p:clrMapOvr>
  <p:transition>
    <p:push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D14B-256D-4FCD-9E7B-856E25CD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D55FBD-B9E2-4AFF-8085-1E6987590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C1A9C-9673-4A2B-953B-338392FC3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3443B-FA45-482E-B1BE-A73F9E72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DEAA3-6AF5-4F34-8AE5-4FD77BDD8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AA65-820D-4405-A6F0-9843010F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4BF9F-970E-4E31-81FA-8DC08EE96A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6117966"/>
      </p:ext>
    </p:extLst>
  </p:cSld>
  <p:clrMapOvr>
    <a:masterClrMapping/>
  </p:clrMapOvr>
  <p:transition>
    <p:push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3AD3-744B-4C85-8430-85DA2D49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9F07F-FD64-48DD-BFD2-0D58317B2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97CD-2904-49E8-AEF2-5FDBEB83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66E7-4DBC-46D7-9C77-CF4EE538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73985-54BC-4E53-A557-784B792C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1D3F3-ADE2-4816-9CDC-65E62EDF4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8317197"/>
      </p:ext>
    </p:extLst>
  </p:cSld>
  <p:clrMapOvr>
    <a:masterClrMapping/>
  </p:clrMapOvr>
  <p:transition>
    <p:push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8BA24-A671-4DD3-B665-1E50D12BB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646DD-F31C-4DD6-9BBC-26C1AC659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4A005-D90A-40B3-ADCE-A0A013E5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78D79-AB67-4BC3-B7B2-4D2111700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90D11-32D9-4CEE-B55E-51D686D9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B76AA0-EAE7-48F3-9DD9-1F6767B333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7533208"/>
      </p:ext>
    </p:extLst>
  </p:cSld>
  <p:clrMapOvr>
    <a:masterClrMapping/>
  </p:clrMapOvr>
  <p:transition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84256-D2DC-479A-8BF8-B48795F0D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47C5C-8DE8-460B-9169-4E6AF6A4F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CA636-1577-41EE-828C-6F30436AE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D2903-AD50-4199-B8A5-B70952445036}" type="datetimeFigureOut">
              <a:rPr lang="en-AU" smtClean="0"/>
              <a:t>25/10/2022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FD9D2-0BDC-4DD6-942F-B91034A88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F577D-E81F-4406-8E63-9D4D44792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D83EB-A750-4BEC-B3ED-99B708D71F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65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01BBA2-200B-4B10-986E-7D2A432A3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FD4C56-9B6A-45DA-A0BA-433481C61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A33E378-B909-4409-82D2-848A2D1C2C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3343CA-26EE-4F91-BF1F-D7708D9AE08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BB8680-7D56-47E3-9E38-17B817CEE8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19206715-16DF-479D-B47E-C38D6A35E9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6983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665F56-8CB1-48F5-BE37-82F7B6E8C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DC5786B-B61C-4210-8A4B-B5EFBC159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6140B1-5654-4161-9F04-351C5F4C71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547366-D73C-4C65-9ED5-CFF44DA5B5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E099C5-B7F3-44F6-A7DF-1F1C24170B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02B8E9B-C340-430E-BA15-E54EEE9275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14652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40" presetClass="entr" presetSubtype="0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2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1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FED3EC-A286-4F0E-A049-EC9DEA488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9AA15C-5CE3-47BF-8DF0-C3C4F5B32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2880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Measures of center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>
                <a:solidFill>
                  <a:srgbClr val="00B0F0"/>
                </a:solidFill>
              </a:rPr>
              <a:t> Be </a:t>
            </a:r>
            <a:r>
              <a:rPr lang="en-US" dirty="0">
                <a:solidFill>
                  <a:srgbClr val="00B0F0"/>
                </a:solidFill>
              </a:rPr>
              <a:t>able to calculate mean, mode, median and range.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Mean, mode and median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3425-F5A1-45C0-AEDA-EE64DCE62C9B}"/>
              </a:ext>
            </a:extLst>
          </p:cNvPr>
          <p:cNvSpPr txBox="1"/>
          <p:nvPr/>
        </p:nvSpPr>
        <p:spPr>
          <a:xfrm>
            <a:off x="7320136" y="1628801"/>
            <a:ext cx="2890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will need calculators and whiteboards.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7029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C2AA-EB2D-4761-99CA-123ABD96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</a:t>
            </a:r>
            <a:r>
              <a:rPr lang="en-US" i="1" dirty="0"/>
              <a:t>mean</a:t>
            </a:r>
            <a:r>
              <a:rPr lang="en-US" dirty="0"/>
              <a:t>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6BD9-C68E-43B5-BD35-5EEF959B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Mean, median, and mode are different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measures of center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in a numerical data set. They each try to summarize a dataset with a single number to represent a "typical" data point from the dataset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5672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20C87E-2F60-46C4-85CD-CC455E995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333375"/>
            <a:ext cx="8229600" cy="1143000"/>
          </a:xfrm>
        </p:spPr>
        <p:txBody>
          <a:bodyPr/>
          <a:lstStyle/>
          <a:p>
            <a:r>
              <a:rPr lang="en-GB" altLang="en-US" sz="5400" dirty="0">
                <a:solidFill>
                  <a:schemeClr val="bg2"/>
                </a:solidFill>
              </a:rPr>
              <a:t>MEAN</a:t>
            </a:r>
            <a:endParaRPr lang="en-US" altLang="en-US" sz="5400" dirty="0">
              <a:solidFill>
                <a:schemeClr val="bg2"/>
              </a:solidFill>
            </a:endParaRPr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5990576F-63A1-40B5-BF90-0BEF5CDC0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2420938"/>
            <a:ext cx="755967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all the numbers in the data 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Divide the answer by the total </a:t>
            </a:r>
            <a:r>
              <a:rPr lang="en-US" altLang="en-US" sz="2400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data points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endParaRPr lang="en-US" altLang="en-US" sz="2400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US" altLang="en-US" sz="2400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400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E.G., 2+6+9+35+4=56 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2400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56÷5=11.2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CC07C5-5801-4F27-A0D6-60F902FBEF61}"/>
              </a:ext>
            </a:extLst>
          </p:cNvPr>
          <p:cNvSpPr txBox="1"/>
          <p:nvPr/>
        </p:nvSpPr>
        <p:spPr>
          <a:xfrm>
            <a:off x="3706905" y="3955750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points </a:t>
            </a:r>
            <a:endParaRPr lang="en-AU" sz="2400" b="1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80CEE2C-505C-4D77-ADB0-8025BA41ACF4}"/>
              </a:ext>
            </a:extLst>
          </p:cNvPr>
          <p:cNvCxnSpPr/>
          <p:nvPr/>
        </p:nvCxnSpPr>
        <p:spPr>
          <a:xfrm flipH="1">
            <a:off x="3457351" y="4496302"/>
            <a:ext cx="57606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87FDC5-8B1F-4885-8395-5CC23F8F42DA}"/>
              </a:ext>
            </a:extLst>
          </p:cNvPr>
          <p:cNvCxnSpPr/>
          <p:nvPr/>
        </p:nvCxnSpPr>
        <p:spPr>
          <a:xfrm flipH="1">
            <a:off x="3889399" y="4496302"/>
            <a:ext cx="504056" cy="44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27487C-DB15-466B-975F-05F89357EAAA}"/>
              </a:ext>
            </a:extLst>
          </p:cNvPr>
          <p:cNvCxnSpPr/>
          <p:nvPr/>
        </p:nvCxnSpPr>
        <p:spPr>
          <a:xfrm flipH="1">
            <a:off x="4249439" y="4496302"/>
            <a:ext cx="432048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5B068E-86AA-4DAF-9456-D9C8BC48EDAA}"/>
              </a:ext>
            </a:extLst>
          </p:cNvPr>
          <p:cNvCxnSpPr/>
          <p:nvPr/>
        </p:nvCxnSpPr>
        <p:spPr>
          <a:xfrm flipH="1">
            <a:off x="4681487" y="4496302"/>
            <a:ext cx="216024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C5DA3A-AB80-4749-B31E-E452CD7DCC9D}"/>
              </a:ext>
            </a:extLst>
          </p:cNvPr>
          <p:cNvCxnSpPr/>
          <p:nvPr/>
        </p:nvCxnSpPr>
        <p:spPr>
          <a:xfrm>
            <a:off x="5041527" y="4496302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EB31B4A-6D64-48D5-9889-DDE9ECADA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bg2"/>
                </a:solidFill>
              </a:rPr>
              <a:t>MODE</a:t>
            </a:r>
            <a:endParaRPr lang="en-US" altLang="en-US" dirty="0">
              <a:solidFill>
                <a:schemeClr val="bg2"/>
              </a:solidFill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D9EFE749-84FD-44DA-B7C6-1AF1F4ABE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2708275"/>
            <a:ext cx="73453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that appears the MOST in the data.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lang="en-GB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Most Occurring </a:t>
            </a:r>
            <a:endParaRPr lang="en-GB" altLang="en-US" sz="24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400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2,9,6,4,2,5,9,8,2 The mode of these 9 numbers is 2</a:t>
            </a:r>
            <a:endParaRPr lang="en-US" altLang="en-US" sz="2400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0B15FD8-2BF0-4351-B25F-9D9C3FAEA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5400" dirty="0">
                <a:solidFill>
                  <a:schemeClr val="bg2"/>
                </a:solidFill>
              </a:rPr>
              <a:t>MEDIAN</a:t>
            </a:r>
            <a:endParaRPr lang="en-US" altLang="en-US" sz="5400" dirty="0">
              <a:solidFill>
                <a:schemeClr val="bg2"/>
              </a:solidFill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159196B2-DEDD-42A8-91E7-5477E3452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1916832"/>
            <a:ext cx="72009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GB" altLang="en-US" sz="24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 </a:t>
            </a:r>
            <a:r>
              <a:rPr lang="en-GB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numbers into smallest to biggest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GB" altLang="en-US" sz="2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Pick the middle number.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400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2,4,5,8,12,9,15, 8 ,9.  Once these numbers are put in order (smallest to biggest) – 2,4,5,8,8,9,9,12,15 – 8 is the middle number so  is the median.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en-US" sz="2400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2400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 if there are 2 middle numbers, the median is the mean of these numbers. </a:t>
            </a:r>
            <a:endParaRPr lang="en-US" alt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C076-0BCA-4817-B8D1-3BB1E2DE9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I do example</a:t>
            </a:r>
            <a:endParaRPr lang="en-AU" dirty="0">
              <a:solidFill>
                <a:schemeClr val="bg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B7BD4-9A4D-48A6-9742-3CAE8409E481}"/>
              </a:ext>
            </a:extLst>
          </p:cNvPr>
          <p:cNvSpPr txBox="1"/>
          <p:nvPr/>
        </p:nvSpPr>
        <p:spPr>
          <a:xfrm>
            <a:off x="2927648" y="2156483"/>
            <a:ext cx="676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11, 15, 17, 19, 22, 24, 29, 31, 35, 40, 41, 41, 45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n-AU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50013-FA50-4836-BFBA-9E068918FB00}"/>
              </a:ext>
            </a:extLst>
          </p:cNvPr>
          <p:cNvSpPr txBox="1"/>
          <p:nvPr/>
        </p:nvSpPr>
        <p:spPr>
          <a:xfrm>
            <a:off x="2279576" y="3356993"/>
            <a:ext cx="20882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5A5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  </a:t>
            </a:r>
            <a:endParaRPr lang="en-AU" dirty="0">
              <a:solidFill>
                <a:srgbClr val="005A5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325682"/>
      </p:ext>
    </p:extLst>
  </p:cSld>
  <p:clrMapOvr>
    <a:masterClrMapping/>
  </p:clrMapOvr>
  <p:transition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A4495-B956-4E8F-8633-41CC18061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Whiteboards ready</a:t>
            </a:r>
            <a:br>
              <a:rPr lang="en-US" altLang="en-US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794BF-6DFC-45DB-A299-865C929BA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  <p:transition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E10B740-7A1E-4CAE-92AA-BA09581908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E4C0E5F2-A9AE-404F-A64C-29988DF47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4" y="2565400"/>
            <a:ext cx="7559675" cy="201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3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mean of these numbers</a:t>
            </a:r>
            <a:r>
              <a:rPr lang="en-GB" altLang="en-US" sz="2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en-GB" altLang="en-US" sz="2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3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36,2,4,48,6,12,20,16</a:t>
            </a:r>
            <a:endParaRPr lang="en-US" altLang="en-US" sz="36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2C2616-A848-43F0-9645-BEB81C8AEC8F}"/>
              </a:ext>
            </a:extLst>
          </p:cNvPr>
          <p:cNvSpPr txBox="1"/>
          <p:nvPr/>
        </p:nvSpPr>
        <p:spPr>
          <a:xfrm>
            <a:off x="692457" y="3835153"/>
            <a:ext cx="219278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 all the numbers in the data </a:t>
            </a:r>
          </a:p>
          <a:p>
            <a:pPr marL="457200" indent="-457200" fontAlgn="base">
              <a:spcBef>
                <a:spcPct val="50000"/>
              </a:spcBef>
              <a:spcAft>
                <a:spcPct val="0"/>
              </a:spcAft>
              <a:buFontTx/>
              <a:buAutoNum type="arabicPeriod"/>
              <a:defRPr/>
            </a:pP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Divide the answer by the total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number of data points</a:t>
            </a:r>
          </a:p>
          <a:p>
            <a:endParaRPr lang="en-AU" dirty="0"/>
          </a:p>
        </p:txBody>
      </p:sp>
    </p:spTree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15286D3-EE32-4E27-8AE7-C85ADF812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mean is</a:t>
            </a:r>
            <a:endParaRPr lang="en-US" altLang="en-US"/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CD25B4BF-F43D-4E68-848A-23D533800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2708275"/>
            <a:ext cx="75612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4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US" altLang="en-US" sz="4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82C1595-49BB-4F9B-8C61-576FCE9A67C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3600"/>
              <a:t>Find the mode of these numbers</a:t>
            </a:r>
            <a:endParaRPr lang="en-US" altLang="en-US" sz="36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8033346-09F4-41F3-A958-CC48327079F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/>
              <a:t>2,4,5,3,3,7,6,8,9,4,1,3</a:t>
            </a:r>
            <a:endParaRPr lang="en-US" altLang="en-US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464B5-81BC-44F2-BEFB-8B8B49E20374}"/>
              </a:ext>
            </a:extLst>
          </p:cNvPr>
          <p:cNvSpPr txBox="1"/>
          <p:nvPr/>
        </p:nvSpPr>
        <p:spPr>
          <a:xfrm>
            <a:off x="1145219" y="488272"/>
            <a:ext cx="41014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Most Occurring </a:t>
            </a:r>
            <a:endParaRPr lang="en-GB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/>
          </a:p>
        </p:txBody>
      </p:sp>
    </p:spTree>
  </p:cSld>
  <p:clrMapOvr>
    <a:masterClrMapping/>
  </p:clrMapOvr>
  <p:transition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7D1B4CD-8CBE-45BF-8CF8-74AC8C728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The mode is</a:t>
            </a:r>
            <a:endParaRPr lang="en-US" altLang="en-US"/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0BE2F476-5F36-4B0A-86BE-FEC136E28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3068638"/>
            <a:ext cx="7343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GB" altLang="en-US" sz="4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altLang="en-US" sz="4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0FE394D-66C5-4EE3-A4B8-067A725663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What is the median of these numbers?</a:t>
            </a:r>
            <a:endParaRPr lang="en-US" altLang="en-US" sz="4400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15AEAF9-A037-4686-9F1D-F5591C752C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2, 2, 6, 6, 8, 12, 14 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8F708E2-5D53-4009-A532-B54E560069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median is</a:t>
            </a:r>
            <a:endParaRPr lang="en-US" altLang="en-US" sz="440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B883C2C-02E8-4286-9338-36E765A500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6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4790B7A-D7EF-43F1-AB1A-77AE237422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mean of these numbers</a:t>
            </a:r>
            <a:endParaRPr lang="en-US" altLang="en-US" sz="440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D8FD179-9B06-452E-85B7-A91EA188091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 dirty="0"/>
              <a:t>12, 14, 16, 20, 22, 27, 27, 32 </a:t>
            </a:r>
            <a:endParaRPr lang="en-US" altLang="en-US" sz="3200" dirty="0"/>
          </a:p>
        </p:txBody>
      </p:sp>
    </p:spTree>
  </p:cSld>
  <p:clrMapOvr>
    <a:masterClrMapping/>
  </p:clrMapOvr>
  <p:transition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FA8773B-EB46-4032-A64C-A830E38D54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mean is </a:t>
            </a:r>
            <a:endParaRPr lang="en-US" altLang="en-US" sz="4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8CC4ED2-57CC-491F-919B-5264743E1C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 dirty="0"/>
              <a:t>21.25</a:t>
            </a:r>
            <a:endParaRPr lang="en-US" altLang="en-US" sz="4400" dirty="0"/>
          </a:p>
        </p:txBody>
      </p:sp>
    </p:spTree>
  </p:cSld>
  <p:clrMapOvr>
    <a:masterClrMapping/>
  </p:clrMapOvr>
  <p:transition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D75C405-F21A-4FF9-9B1D-87770215D8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mode of these numbers</a:t>
            </a:r>
            <a:endParaRPr lang="en-US" altLang="en-US" sz="44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BDC3B95-653C-46FE-B498-82D7DEE9DA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/>
              <a:t>7,5,3,2,5,6,8,7,5</a:t>
            </a:r>
            <a:endParaRPr lang="en-US" altLang="en-US" sz="3200"/>
          </a:p>
        </p:txBody>
      </p:sp>
    </p:spTree>
  </p:cSld>
  <p:clrMapOvr>
    <a:masterClrMapping/>
  </p:clrMapOvr>
  <p:transition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7470026-920F-4831-89FE-F4E01341067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mode is </a:t>
            </a:r>
            <a:endParaRPr lang="en-US" altLang="en-US" sz="440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935C39A-6141-4CFC-AA55-9AED4155AD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5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F9DAD1D-F885-444D-B7E2-9F58730CD7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Find the median of these numbers</a:t>
            </a:r>
            <a:endParaRPr lang="en-US" altLang="en-US" sz="4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BB332E2-F2A4-4E93-A54B-46D2C535E8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3200"/>
              <a:t>6,4,8,14,8,6,38</a:t>
            </a:r>
            <a:endParaRPr lang="en-US" alt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50217-D204-4643-BD91-77C6E9A57751}"/>
              </a:ext>
            </a:extLst>
          </p:cNvPr>
          <p:cNvSpPr txBox="1"/>
          <p:nvPr/>
        </p:nvSpPr>
        <p:spPr>
          <a:xfrm>
            <a:off x="1991544" y="5638801"/>
            <a:ext cx="4536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 rearrange, lowest to highest then find median. </a:t>
            </a:r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push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2FD5D26-8637-4D0B-A67B-130FC9AE15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1470025"/>
          </a:xfrm>
        </p:spPr>
        <p:txBody>
          <a:bodyPr anchor="ctr"/>
          <a:lstStyle/>
          <a:p>
            <a:r>
              <a:rPr lang="en-GB" altLang="en-US" sz="4400"/>
              <a:t>The median is </a:t>
            </a:r>
            <a:endParaRPr lang="en-US" altLang="en-US" sz="4400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5DF2FC-3792-4228-B006-CE0C764CFF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GB" altLang="en-US" sz="4400"/>
              <a:t>12</a:t>
            </a:r>
            <a:endParaRPr lang="en-US" altLang="en-US" sz="4400"/>
          </a:p>
        </p:txBody>
      </p:sp>
    </p:spTree>
  </p:cSld>
  <p:clrMapOvr>
    <a:masterClrMapping/>
  </p:clrMapOvr>
  <p:transition>
    <p:push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48EA-ABC5-49A9-821E-04D6344A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Range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60DA5-671F-4086-89F0-6CBDFE87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range gives an indication on the </a:t>
            </a:r>
            <a:r>
              <a:rPr lang="en-US" i="1" dirty="0"/>
              <a:t>spread</a:t>
            </a:r>
            <a:r>
              <a:rPr lang="en-US" dirty="0"/>
              <a:t> of data.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spread of data can impact the mean.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B0F0"/>
                </a:solidFill>
              </a:rPr>
              <a:t>Range is given by: Highest value – lowest value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01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59905-25DE-46BE-8563-4E31B287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Skills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2D23-8D44-4AF6-ACC2-87CD716B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Exercise 8D  </a:t>
            </a:r>
          </a:p>
          <a:p>
            <a:pPr marL="0" indent="0" algn="ctr">
              <a:buNone/>
            </a:pPr>
            <a:r>
              <a:rPr lang="en-US" dirty="0"/>
              <a:t>Page 355</a:t>
            </a:r>
          </a:p>
          <a:p>
            <a:pPr marL="0" indent="0" algn="ctr">
              <a:buNone/>
            </a:pPr>
            <a:r>
              <a:rPr lang="en-US" dirty="0"/>
              <a:t>Questions 1 – 13 </a:t>
            </a:r>
          </a:p>
        </p:txBody>
      </p:sp>
    </p:spTree>
    <p:extLst>
      <p:ext uri="{BB962C8B-B14F-4D97-AF65-F5344CB8AC3E}">
        <p14:creationId xmlns:p14="http://schemas.microsoft.com/office/powerpoint/2010/main" val="370522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efault Design">
  <a:themeElements>
    <a:clrScheme name="Default Design 6">
      <a:dk1>
        <a:srgbClr val="005A58"/>
      </a:dk1>
      <a:lt1>
        <a:srgbClr val="FFFFFF"/>
      </a:lt1>
      <a:dk2>
        <a:srgbClr val="008080"/>
      </a:dk2>
      <a:lt2>
        <a:srgbClr val="FFFF99"/>
      </a:lt2>
      <a:accent1>
        <a:srgbClr val="006462"/>
      </a:accent1>
      <a:accent2>
        <a:srgbClr val="6D6FC7"/>
      </a:accent2>
      <a:accent3>
        <a:srgbClr val="AAC0C0"/>
      </a:accent3>
      <a:accent4>
        <a:srgbClr val="DADADA"/>
      </a:accent4>
      <a:accent5>
        <a:srgbClr val="AAB8B7"/>
      </a:accent5>
      <a:accent6>
        <a:srgbClr val="6264B4"/>
      </a:accent6>
      <a:hlink>
        <a:srgbClr val="00FFFF"/>
      </a:hlink>
      <a:folHlink>
        <a:srgbClr val="00FF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406</Words>
  <Application>Microsoft Office PowerPoint</Application>
  <PresentationFormat>Widescreen</PresentationFormat>
  <Paragraphs>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</vt:lpstr>
      <vt:lpstr>Calibri</vt:lpstr>
      <vt:lpstr>Calibri Light</vt:lpstr>
      <vt:lpstr>Wingdings</vt:lpstr>
      <vt:lpstr>Office Theme</vt:lpstr>
      <vt:lpstr>Default Design</vt:lpstr>
      <vt:lpstr>1_Default Design</vt:lpstr>
      <vt:lpstr>Lesson objective </vt:lpstr>
      <vt:lpstr>What does it mean?</vt:lpstr>
      <vt:lpstr>MEAN</vt:lpstr>
      <vt:lpstr>MODE</vt:lpstr>
      <vt:lpstr>MEDIAN</vt:lpstr>
      <vt:lpstr>I do example</vt:lpstr>
      <vt:lpstr>Whiteboards ready </vt:lpstr>
      <vt:lpstr>PowerPoint Presentation</vt:lpstr>
      <vt:lpstr>The mean is</vt:lpstr>
      <vt:lpstr>Find the mode of these numbers</vt:lpstr>
      <vt:lpstr>The mode is</vt:lpstr>
      <vt:lpstr>What is the median of these numbers?</vt:lpstr>
      <vt:lpstr>The median is</vt:lpstr>
      <vt:lpstr>Find the mean of these numbers</vt:lpstr>
      <vt:lpstr>The mean is </vt:lpstr>
      <vt:lpstr>Find the mode of these numbers</vt:lpstr>
      <vt:lpstr>The mode is </vt:lpstr>
      <vt:lpstr>Find the median of these numbers</vt:lpstr>
      <vt:lpstr>The median is </vt:lpstr>
      <vt:lpstr>Range </vt:lpstr>
      <vt:lpstr>Skills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13</cp:revision>
  <dcterms:created xsi:type="dcterms:W3CDTF">2021-11-29T03:53:39Z</dcterms:created>
  <dcterms:modified xsi:type="dcterms:W3CDTF">2022-10-24T23:43:02Z</dcterms:modified>
</cp:coreProperties>
</file>
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94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80" r:id="rId12"/>
    <p:sldId id="29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96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7" r:id="rId37"/>
    <p:sldId id="292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3C34A-C3A6-4656-9841-28EB5855FAB4}" type="datetimeFigureOut">
              <a:rPr lang="en-GB" smtClean="0"/>
              <a:t>31/10/2022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7A34A-0B1F-4795-9EB7-ABB0792046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97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748F4C08-80CD-4A2D-BCCE-3F920AFFF650}" type="slidenum">
              <a:rPr lang="en-GB" altLang="en-US" smtClean="0">
                <a:latin typeface="Arial" charset="0"/>
              </a:rPr>
              <a:pPr/>
              <a:t>20</a:t>
            </a:fld>
            <a:endParaRPr lang="en-GB" alt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C96C130A-9E07-40BA-A367-29EC9E8BF40A}" type="slidenum">
              <a:rPr lang="en-GB" altLang="en-US" smtClean="0">
                <a:latin typeface="Arial" charset="0"/>
              </a:rPr>
              <a:pPr/>
              <a:t>21</a:t>
            </a:fld>
            <a:endParaRPr lang="en-GB" alt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8ECA0E50-95FC-408D-932F-F8D108E8B733}" type="slidenum">
              <a:rPr lang="en-GB" altLang="en-US" smtClean="0">
                <a:latin typeface="Arial" charset="0"/>
              </a:rPr>
              <a:pPr/>
              <a:t>22</a:t>
            </a:fld>
            <a:endParaRPr lang="en-GB" altLang="en-US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F146-A986-47DB-9BA2-0EBCAE2D024E}" type="datetimeFigureOut">
              <a:rPr lang="en-GB" smtClean="0"/>
              <a:t>31/10/2022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326D6-2F46-44FF-864F-DE5A336B67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156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F146-A986-47DB-9BA2-0EBCAE2D024E}" type="datetimeFigureOut">
              <a:rPr lang="en-GB" smtClean="0"/>
              <a:t>31/10/2022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326D6-2F46-44FF-864F-DE5A336B67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7675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F146-A986-47DB-9BA2-0EBCAE2D024E}" type="datetimeFigureOut">
              <a:rPr lang="en-GB" smtClean="0"/>
              <a:t>31/10/2022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326D6-2F46-44FF-864F-DE5A336B67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209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F146-A986-47DB-9BA2-0EBCAE2D024E}" type="datetimeFigureOut">
              <a:rPr lang="en-GB" smtClean="0"/>
              <a:t>31/10/2022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326D6-2F46-44FF-864F-DE5A336B67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259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F146-A986-47DB-9BA2-0EBCAE2D024E}" type="datetimeFigureOut">
              <a:rPr lang="en-GB" smtClean="0"/>
              <a:t>31/10/2022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326D6-2F46-44FF-864F-DE5A336B67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12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F146-A986-47DB-9BA2-0EBCAE2D024E}" type="datetimeFigureOut">
              <a:rPr lang="en-GB" smtClean="0"/>
              <a:t>31/10/2022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326D6-2F46-44FF-864F-DE5A336B67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18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F146-A986-47DB-9BA2-0EBCAE2D024E}" type="datetimeFigureOut">
              <a:rPr lang="en-GB" smtClean="0"/>
              <a:t>31/10/2022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326D6-2F46-44FF-864F-DE5A336B67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623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F146-A986-47DB-9BA2-0EBCAE2D024E}" type="datetimeFigureOut">
              <a:rPr lang="en-GB" smtClean="0"/>
              <a:t>31/10/2022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326D6-2F46-44FF-864F-DE5A336B67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51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F146-A986-47DB-9BA2-0EBCAE2D024E}" type="datetimeFigureOut">
              <a:rPr lang="en-GB" smtClean="0"/>
              <a:t>31/10/2022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326D6-2F46-44FF-864F-DE5A336B67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952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F146-A986-47DB-9BA2-0EBCAE2D024E}" type="datetimeFigureOut">
              <a:rPr lang="en-GB" smtClean="0"/>
              <a:t>31/10/2022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326D6-2F46-44FF-864F-DE5A336B67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830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AF146-A986-47DB-9BA2-0EBCAE2D024E}" type="datetimeFigureOut">
              <a:rPr lang="en-GB" smtClean="0"/>
              <a:t>31/10/2022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326D6-2F46-44FF-864F-DE5A336B67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8609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AF146-A986-47DB-9BA2-0EBCAE2D024E}" type="datetimeFigureOut">
              <a:rPr lang="en-GB" smtClean="0"/>
              <a:t>31/10/2022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326D6-2F46-44FF-864F-DE5A336B67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128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1600200"/>
            <a:ext cx="864235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400" dirty="0"/>
              <a:t>Today we will be learning how to calculate the </a:t>
            </a:r>
            <a:r>
              <a:rPr lang="en-GB" sz="4400" dirty="0">
                <a:solidFill>
                  <a:srgbClr val="FF0000"/>
                </a:solidFill>
              </a:rPr>
              <a:t>mode</a:t>
            </a:r>
            <a:r>
              <a:rPr lang="en-GB" sz="4400" dirty="0"/>
              <a:t> and </a:t>
            </a:r>
            <a:r>
              <a:rPr lang="en-GB" sz="4400" dirty="0">
                <a:solidFill>
                  <a:srgbClr val="FF0000"/>
                </a:solidFill>
              </a:rPr>
              <a:t>median</a:t>
            </a:r>
            <a:r>
              <a:rPr lang="en-GB" sz="4400" dirty="0"/>
              <a:t> from a set of data. However, as always, we will start with a range of warm ups.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50825" y="260350"/>
            <a:ext cx="86423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3300" b="1" u="sng" dirty="0">
                <a:solidFill>
                  <a:srgbClr val="FF0000"/>
                </a:solidFill>
              </a:rPr>
              <a:t>L.O: To calculate the mode and median</a:t>
            </a:r>
          </a:p>
        </p:txBody>
      </p:sp>
    </p:spTree>
    <p:extLst>
      <p:ext uri="{BB962C8B-B14F-4D97-AF65-F5344CB8AC3E}">
        <p14:creationId xmlns:p14="http://schemas.microsoft.com/office/powerpoint/2010/main" val="167829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sz="5500" b="1" u="sng">
                <a:solidFill>
                  <a:srgbClr val="FF0000"/>
                </a:solidFill>
              </a:rPr>
              <a:t>Let’s recap</a:t>
            </a:r>
          </a:p>
        </p:txBody>
      </p:sp>
      <p:sp>
        <p:nvSpPr>
          <p:cNvPr id="2" name="Rectangle 1"/>
          <p:cNvSpPr/>
          <p:nvPr/>
        </p:nvSpPr>
        <p:spPr>
          <a:xfrm>
            <a:off x="395288" y="2276475"/>
            <a:ext cx="5256212" cy="1223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7652" name="TextBox 2"/>
          <p:cNvSpPr txBox="1">
            <a:spLocks noChangeArrowheads="1"/>
          </p:cNvSpPr>
          <p:nvPr/>
        </p:nvSpPr>
        <p:spPr bwMode="auto">
          <a:xfrm>
            <a:off x="2484438" y="1592263"/>
            <a:ext cx="1512887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300">
                <a:latin typeface="Arial" charset="0"/>
              </a:rPr>
              <a:t>27m</a:t>
            </a:r>
          </a:p>
        </p:txBody>
      </p:sp>
      <p:sp>
        <p:nvSpPr>
          <p:cNvPr id="27653" name="TextBox 5"/>
          <p:cNvSpPr txBox="1">
            <a:spLocks noChangeArrowheads="1"/>
          </p:cNvSpPr>
          <p:nvPr/>
        </p:nvSpPr>
        <p:spPr bwMode="auto">
          <a:xfrm>
            <a:off x="5795963" y="2605088"/>
            <a:ext cx="1512887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300">
                <a:latin typeface="Arial" charset="0"/>
              </a:rPr>
              <a:t>14m</a:t>
            </a:r>
          </a:p>
        </p:txBody>
      </p:sp>
      <p:sp>
        <p:nvSpPr>
          <p:cNvPr id="27654" name="TextBox 6"/>
          <p:cNvSpPr txBox="1">
            <a:spLocks noChangeArrowheads="1"/>
          </p:cNvSpPr>
          <p:nvPr/>
        </p:nvSpPr>
        <p:spPr bwMode="auto">
          <a:xfrm>
            <a:off x="1187450" y="4868863"/>
            <a:ext cx="662463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3300" dirty="0">
                <a:solidFill>
                  <a:srgbClr val="FF0000"/>
                </a:solidFill>
                <a:latin typeface="Arial" charset="0"/>
              </a:rPr>
              <a:t>Calculate the perimeter and area.</a:t>
            </a:r>
          </a:p>
        </p:txBody>
      </p:sp>
    </p:spTree>
    <p:extLst>
      <p:ext uri="{BB962C8B-B14F-4D97-AF65-F5344CB8AC3E}">
        <p14:creationId xmlns:p14="http://schemas.microsoft.com/office/powerpoint/2010/main" val="266569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/>
      <p:bldP spid="27653" grpId="0"/>
      <p:bldP spid="276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-242888"/>
            <a:ext cx="8229600" cy="1143001"/>
          </a:xfrm>
        </p:spPr>
        <p:txBody>
          <a:bodyPr/>
          <a:lstStyle/>
          <a:p>
            <a:pPr eaLnBrk="1" hangingPunct="1"/>
            <a:r>
              <a:rPr lang="en-GB" altLang="en-US" sz="5500" b="1" u="sng">
                <a:solidFill>
                  <a:srgbClr val="FF0000"/>
                </a:solidFill>
              </a:rPr>
              <a:t>Let’s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288" y="1052513"/>
            <a:ext cx="8497887" cy="19542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cs"/>
              </a:rPr>
              <a:t>Complete these chains: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400" dirty="0">
                <a:latin typeface="+mn-lt"/>
                <a:cs typeface="+mn-cs"/>
              </a:rPr>
              <a:t>0.4                  4                   40%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400" dirty="0">
                <a:latin typeface="+mn-lt"/>
                <a:cs typeface="+mn-cs"/>
              </a:rPr>
              <a:t>                       10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476375" y="2133600"/>
            <a:ext cx="18002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140200" y="2133600"/>
            <a:ext cx="18002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19475" y="2276475"/>
            <a:ext cx="57626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3" name="TextBox 12"/>
          <p:cNvSpPr txBox="1">
            <a:spLocks noChangeArrowheads="1"/>
          </p:cNvSpPr>
          <p:nvPr/>
        </p:nvSpPr>
        <p:spPr bwMode="auto">
          <a:xfrm>
            <a:off x="395288" y="3059113"/>
            <a:ext cx="8497887" cy="19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300">
                <a:solidFill>
                  <a:schemeClr val="bg1"/>
                </a:solidFill>
              </a:rPr>
              <a:t>Complete these chains:</a:t>
            </a:r>
          </a:p>
          <a:p>
            <a:r>
              <a:rPr lang="en-GB" altLang="en-US" sz="4400"/>
              <a:t>0.8                                            %</a:t>
            </a:r>
          </a:p>
          <a:p>
            <a:r>
              <a:rPr lang="en-GB" altLang="en-US" sz="4400"/>
              <a:t>                       10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476375" y="4138613"/>
            <a:ext cx="18002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140200" y="4138613"/>
            <a:ext cx="18002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419475" y="4283075"/>
            <a:ext cx="57626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7" name="TextBox 16"/>
          <p:cNvSpPr txBox="1">
            <a:spLocks noChangeArrowheads="1"/>
          </p:cNvSpPr>
          <p:nvPr/>
        </p:nvSpPr>
        <p:spPr bwMode="auto">
          <a:xfrm>
            <a:off x="395288" y="4859338"/>
            <a:ext cx="8497887" cy="19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300">
                <a:solidFill>
                  <a:schemeClr val="bg1"/>
                </a:solidFill>
              </a:rPr>
              <a:t>Complete these chains:</a:t>
            </a:r>
          </a:p>
          <a:p>
            <a:r>
              <a:rPr lang="en-GB" altLang="en-US" sz="4400"/>
              <a:t>0.36                                                %</a:t>
            </a:r>
          </a:p>
          <a:p>
            <a:r>
              <a:rPr lang="en-GB" altLang="en-US" sz="4400"/>
              <a:t>                       100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1476375" y="5938838"/>
            <a:ext cx="18002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00563" y="5938838"/>
            <a:ext cx="18002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419475" y="6083300"/>
            <a:ext cx="79216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671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468313" y="549275"/>
            <a:ext cx="8229600" cy="2303463"/>
          </a:xfrm>
        </p:spPr>
        <p:txBody>
          <a:bodyPr/>
          <a:lstStyle/>
          <a:p>
            <a:pPr eaLnBrk="1" hangingPunct="1"/>
            <a:r>
              <a:rPr lang="en-GB" altLang="en-US" sz="3800" b="1" dirty="0">
                <a:solidFill>
                  <a:srgbClr val="FF0000"/>
                </a:solidFill>
              </a:rPr>
              <a:t>This week, we will be learning how to calculate the mode, median, mean and range from a set of numbers.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8313" y="3284538"/>
            <a:ext cx="8229600" cy="23050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GB" sz="3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First of all, let’s look at how we 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sz="3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find the mode and median. </a:t>
            </a:r>
          </a:p>
        </p:txBody>
      </p:sp>
    </p:spTree>
    <p:extLst>
      <p:ext uri="{BB962C8B-B14F-4D97-AF65-F5344CB8AC3E}">
        <p14:creationId xmlns:p14="http://schemas.microsoft.com/office/powerpoint/2010/main" val="66419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68313" y="-26988"/>
            <a:ext cx="8229600" cy="2303463"/>
          </a:xfrm>
        </p:spPr>
        <p:txBody>
          <a:bodyPr/>
          <a:lstStyle/>
          <a:p>
            <a:pPr eaLnBrk="1" hangingPunct="1"/>
            <a:r>
              <a:rPr lang="en-GB" altLang="en-US" sz="3800" b="1" u="sng">
                <a:solidFill>
                  <a:srgbClr val="FF0000"/>
                </a:solidFill>
              </a:rPr>
              <a:t>What is the mode?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8313" y="3068638"/>
            <a:ext cx="8229600" cy="23050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GB" sz="38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about the median?</a:t>
            </a:r>
          </a:p>
        </p:txBody>
      </p:sp>
      <p:sp>
        <p:nvSpPr>
          <p:cNvPr id="13316" name="TextBox 2"/>
          <p:cNvSpPr txBox="1">
            <a:spLocks noChangeArrowheads="1"/>
          </p:cNvSpPr>
          <p:nvPr/>
        </p:nvSpPr>
        <p:spPr bwMode="auto">
          <a:xfrm>
            <a:off x="323850" y="1866900"/>
            <a:ext cx="85693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4000"/>
              <a:t>The </a:t>
            </a:r>
            <a:r>
              <a:rPr lang="en-GB" altLang="en-US" sz="4000" u="sng">
                <a:solidFill>
                  <a:srgbClr val="FF0000"/>
                </a:solidFill>
              </a:rPr>
              <a:t>mo</a:t>
            </a:r>
            <a:r>
              <a:rPr lang="en-GB" altLang="en-US" sz="4000"/>
              <a:t>de is the </a:t>
            </a:r>
            <a:r>
              <a:rPr lang="en-GB" altLang="en-US" sz="4000" u="sng">
                <a:solidFill>
                  <a:srgbClr val="FF0000"/>
                </a:solidFill>
              </a:rPr>
              <a:t>mo</a:t>
            </a:r>
            <a:r>
              <a:rPr lang="en-GB" altLang="en-US" sz="4000"/>
              <a:t>st common number.</a:t>
            </a:r>
          </a:p>
        </p:txBody>
      </p:sp>
      <p:sp>
        <p:nvSpPr>
          <p:cNvPr id="13317" name="TextBox 5"/>
          <p:cNvSpPr txBox="1">
            <a:spLocks noChangeArrowheads="1"/>
          </p:cNvSpPr>
          <p:nvPr/>
        </p:nvSpPr>
        <p:spPr bwMode="auto">
          <a:xfrm>
            <a:off x="323850" y="4941888"/>
            <a:ext cx="856932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4400"/>
              <a:t>The </a:t>
            </a:r>
            <a:r>
              <a:rPr lang="en-GB" altLang="en-US" sz="4400" u="sng">
                <a:solidFill>
                  <a:srgbClr val="FF0000"/>
                </a:solidFill>
              </a:rPr>
              <a:t>median</a:t>
            </a:r>
            <a:r>
              <a:rPr lang="en-GB" altLang="en-US" sz="4400"/>
              <a:t> is the </a:t>
            </a:r>
            <a:r>
              <a:rPr lang="en-GB" altLang="en-US" sz="4400" u="sng">
                <a:solidFill>
                  <a:srgbClr val="FF0000"/>
                </a:solidFill>
              </a:rPr>
              <a:t>middle</a:t>
            </a:r>
            <a:r>
              <a:rPr lang="en-GB" altLang="en-US" sz="4400"/>
              <a:t> number.</a:t>
            </a:r>
          </a:p>
        </p:txBody>
      </p:sp>
    </p:spTree>
    <p:extLst>
      <p:ext uri="{BB962C8B-B14F-4D97-AF65-F5344CB8AC3E}">
        <p14:creationId xmlns:p14="http://schemas.microsoft.com/office/powerpoint/2010/main" val="4124473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11188" y="2924175"/>
            <a:ext cx="8229600" cy="2305050"/>
          </a:xfrm>
        </p:spPr>
        <p:txBody>
          <a:bodyPr/>
          <a:lstStyle/>
          <a:p>
            <a:pPr algn="l" eaLnBrk="1" hangingPunct="1"/>
            <a:r>
              <a:rPr lang="en-GB" altLang="en-US" sz="3800" b="1" u="sng">
                <a:solidFill>
                  <a:srgbClr val="FF0000"/>
                </a:solidFill>
              </a:rPr>
              <a:t>What is the mode?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11188" y="4292600"/>
            <a:ext cx="8229600" cy="23050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GB" sz="38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about the median?</a:t>
            </a:r>
          </a:p>
        </p:txBody>
      </p:sp>
      <p:sp>
        <p:nvSpPr>
          <p:cNvPr id="14340" name="TextBox 3"/>
          <p:cNvSpPr txBox="1">
            <a:spLocks noChangeArrowheads="1"/>
          </p:cNvSpPr>
          <p:nvPr/>
        </p:nvSpPr>
        <p:spPr bwMode="auto">
          <a:xfrm>
            <a:off x="468313" y="908050"/>
            <a:ext cx="8064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7,    2,     9,     2,    5</a:t>
            </a:r>
          </a:p>
        </p:txBody>
      </p:sp>
      <p:sp>
        <p:nvSpPr>
          <p:cNvPr id="14341" name="TextBox 2"/>
          <p:cNvSpPr txBox="1">
            <a:spLocks noChangeArrowheads="1"/>
          </p:cNvSpPr>
          <p:nvPr/>
        </p:nvSpPr>
        <p:spPr bwMode="auto">
          <a:xfrm>
            <a:off x="611188" y="188913"/>
            <a:ext cx="3960812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300" i="1"/>
              <a:t>Example:</a:t>
            </a:r>
          </a:p>
        </p:txBody>
      </p:sp>
      <p:sp>
        <p:nvSpPr>
          <p:cNvPr id="14342" name="TextBox 5"/>
          <p:cNvSpPr txBox="1">
            <a:spLocks noChangeArrowheads="1"/>
          </p:cNvSpPr>
          <p:nvPr/>
        </p:nvSpPr>
        <p:spPr bwMode="auto">
          <a:xfrm>
            <a:off x="468313" y="2105025"/>
            <a:ext cx="8064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2,    2,     5,     7,    9</a:t>
            </a:r>
          </a:p>
        </p:txBody>
      </p:sp>
    </p:spTree>
    <p:extLst>
      <p:ext uri="{BB962C8B-B14F-4D97-AF65-F5344CB8AC3E}">
        <p14:creationId xmlns:p14="http://schemas.microsoft.com/office/powerpoint/2010/main" val="116535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611188" y="2852738"/>
            <a:ext cx="8229600" cy="2305050"/>
          </a:xfrm>
        </p:spPr>
        <p:txBody>
          <a:bodyPr/>
          <a:lstStyle/>
          <a:p>
            <a:pPr algn="l" eaLnBrk="1" hangingPunct="1"/>
            <a:r>
              <a:rPr lang="en-GB" altLang="en-US" sz="3800" b="1" u="sng">
                <a:solidFill>
                  <a:srgbClr val="FF0000"/>
                </a:solidFill>
              </a:rPr>
              <a:t>What is the mode?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11188" y="4221163"/>
            <a:ext cx="8229600" cy="230346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GB" sz="38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about the median?</a:t>
            </a:r>
          </a:p>
        </p:txBody>
      </p:sp>
      <p:sp>
        <p:nvSpPr>
          <p:cNvPr id="15364" name="TextBox 3"/>
          <p:cNvSpPr txBox="1">
            <a:spLocks noChangeArrowheads="1"/>
          </p:cNvSpPr>
          <p:nvPr/>
        </p:nvSpPr>
        <p:spPr bwMode="auto">
          <a:xfrm>
            <a:off x="468313" y="549275"/>
            <a:ext cx="8064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14,   8,    17,    17,    13</a:t>
            </a:r>
          </a:p>
        </p:txBody>
      </p:sp>
      <p:sp>
        <p:nvSpPr>
          <p:cNvPr id="15365" name="TextBox 6"/>
          <p:cNvSpPr txBox="1">
            <a:spLocks noChangeArrowheads="1"/>
          </p:cNvSpPr>
          <p:nvPr/>
        </p:nvSpPr>
        <p:spPr bwMode="auto">
          <a:xfrm>
            <a:off x="468313" y="2060575"/>
            <a:ext cx="8064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8,   13,    14,    17,    17</a:t>
            </a:r>
          </a:p>
        </p:txBody>
      </p:sp>
    </p:spTree>
    <p:extLst>
      <p:ext uri="{BB962C8B-B14F-4D97-AF65-F5344CB8AC3E}">
        <p14:creationId xmlns:p14="http://schemas.microsoft.com/office/powerpoint/2010/main" val="3765454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611188" y="2708275"/>
            <a:ext cx="8229600" cy="2305050"/>
          </a:xfrm>
        </p:spPr>
        <p:txBody>
          <a:bodyPr/>
          <a:lstStyle/>
          <a:p>
            <a:pPr algn="l" eaLnBrk="1" hangingPunct="1"/>
            <a:r>
              <a:rPr lang="en-GB" altLang="en-US" sz="3800" b="1" u="sng">
                <a:solidFill>
                  <a:srgbClr val="FF0000"/>
                </a:solidFill>
              </a:rPr>
              <a:t>What is the mode?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11188" y="4076700"/>
            <a:ext cx="8229600" cy="23050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GB" sz="38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about the median?</a:t>
            </a:r>
          </a:p>
        </p:txBody>
      </p:sp>
      <p:sp>
        <p:nvSpPr>
          <p:cNvPr id="16388" name="TextBox 3"/>
          <p:cNvSpPr txBox="1">
            <a:spLocks noChangeArrowheads="1"/>
          </p:cNvSpPr>
          <p:nvPr/>
        </p:nvSpPr>
        <p:spPr bwMode="auto">
          <a:xfrm>
            <a:off x="468313" y="404813"/>
            <a:ext cx="8064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14,   8,    17,    17,    13</a:t>
            </a:r>
          </a:p>
        </p:txBody>
      </p:sp>
      <p:sp>
        <p:nvSpPr>
          <p:cNvPr id="16389" name="TextBox 5"/>
          <p:cNvSpPr txBox="1">
            <a:spLocks noChangeArrowheads="1"/>
          </p:cNvSpPr>
          <p:nvPr/>
        </p:nvSpPr>
        <p:spPr bwMode="auto">
          <a:xfrm>
            <a:off x="468313" y="2033588"/>
            <a:ext cx="8064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8,   13,    14,    17,    17</a:t>
            </a:r>
          </a:p>
        </p:txBody>
      </p:sp>
    </p:spTree>
    <p:extLst>
      <p:ext uri="{BB962C8B-B14F-4D97-AF65-F5344CB8AC3E}">
        <p14:creationId xmlns:p14="http://schemas.microsoft.com/office/powerpoint/2010/main" val="2709097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611188" y="2708275"/>
            <a:ext cx="8229600" cy="2305050"/>
          </a:xfrm>
        </p:spPr>
        <p:txBody>
          <a:bodyPr/>
          <a:lstStyle/>
          <a:p>
            <a:pPr algn="l" eaLnBrk="1" hangingPunct="1"/>
            <a:r>
              <a:rPr lang="en-GB" altLang="en-US" sz="3800" b="1" u="sng">
                <a:solidFill>
                  <a:srgbClr val="FF0000"/>
                </a:solidFill>
              </a:rPr>
              <a:t>What is the mode?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11188" y="4076700"/>
            <a:ext cx="8229600" cy="23050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GB" sz="38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about the median?</a:t>
            </a:r>
          </a:p>
        </p:txBody>
      </p:sp>
      <p:sp>
        <p:nvSpPr>
          <p:cNvPr id="17412" name="TextBox 3"/>
          <p:cNvSpPr txBox="1">
            <a:spLocks noChangeArrowheads="1"/>
          </p:cNvSpPr>
          <p:nvPr/>
        </p:nvSpPr>
        <p:spPr bwMode="auto">
          <a:xfrm>
            <a:off x="468313" y="404813"/>
            <a:ext cx="8064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15,   12,   7,    11,    11</a:t>
            </a:r>
          </a:p>
        </p:txBody>
      </p:sp>
      <p:sp>
        <p:nvSpPr>
          <p:cNvPr id="17413" name="TextBox 5"/>
          <p:cNvSpPr txBox="1">
            <a:spLocks noChangeArrowheads="1"/>
          </p:cNvSpPr>
          <p:nvPr/>
        </p:nvSpPr>
        <p:spPr bwMode="auto">
          <a:xfrm>
            <a:off x="468313" y="2033588"/>
            <a:ext cx="8064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8,   13,    14,    17,    17</a:t>
            </a:r>
          </a:p>
        </p:txBody>
      </p:sp>
    </p:spTree>
    <p:extLst>
      <p:ext uri="{BB962C8B-B14F-4D97-AF65-F5344CB8AC3E}">
        <p14:creationId xmlns:p14="http://schemas.microsoft.com/office/powerpoint/2010/main" val="2255787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3"/>
          <p:cNvSpPr txBox="1">
            <a:spLocks noChangeArrowheads="1"/>
          </p:cNvSpPr>
          <p:nvPr/>
        </p:nvSpPr>
        <p:spPr bwMode="auto">
          <a:xfrm>
            <a:off x="250825" y="260350"/>
            <a:ext cx="86423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3300" b="1" u="sng" dirty="0">
                <a:solidFill>
                  <a:srgbClr val="FF0000"/>
                </a:solidFill>
              </a:rPr>
              <a:t>L.O: To calculate the mode and median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" y="836613"/>
            <a:ext cx="8928100" cy="1477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u="sng" dirty="0">
                <a:latin typeface="+mn-lt"/>
                <a:cs typeface="+mn-cs"/>
              </a:rPr>
              <a:t>Must</a:t>
            </a:r>
          </a:p>
          <a:p>
            <a:pPr marL="457200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en-GB" sz="2000" dirty="0">
                <a:latin typeface="+mn-lt"/>
                <a:cs typeface="+mn-cs"/>
              </a:rPr>
              <a:t>3, 1, 5, 5, 2             2) 4, 1, 3, 9, 4            3) 8, 1, 1, 1, 5            4)  9, 2, 5, 2, 7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+mn-lt"/>
                <a:cs typeface="+mn-cs"/>
              </a:rPr>
              <a:t>5)   12, 5, 7, 5,  13        6) 10, 8, 8, 13, 17       7) 12, 2, 12, 5, 9       8)  13, 1, 8, 1,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950" y="2349500"/>
            <a:ext cx="8928100" cy="21685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u="sng" dirty="0">
                <a:solidFill>
                  <a:srgbClr val="00B0F0"/>
                </a:solidFill>
                <a:latin typeface="+mn-lt"/>
                <a:cs typeface="+mn-cs"/>
              </a:rPr>
              <a:t>Should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rgbClr val="00B0F0"/>
                </a:solidFill>
                <a:latin typeface="+mn-lt"/>
                <a:cs typeface="+mn-cs"/>
              </a:rPr>
              <a:t>1)  13, 11, 5, 13, 2            2) 14, 1, 13, 13, 8          3) 18, 1, 12, 12, 27          4)  13, 22, 25, 22, 37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arenR" startAt="5"/>
              <a:defRPr/>
            </a:pPr>
            <a:r>
              <a:rPr lang="en-GB" dirty="0">
                <a:solidFill>
                  <a:srgbClr val="00B0F0"/>
                </a:solidFill>
                <a:latin typeface="+mn-lt"/>
                <a:cs typeface="+mn-cs"/>
              </a:rPr>
              <a:t>8, 15, 15,  24,  13        6) 13, 8, 24, 13, 17        7) 22, 33, 22, 5, 49         8)  21, 15, 8, 33, 15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rgbClr val="00B0F0"/>
                </a:solidFill>
                <a:latin typeface="+mn-lt"/>
                <a:cs typeface="+mn-cs"/>
              </a:rPr>
              <a:t>9)  24, 34, 44, 34, 99        10) 47, 38, 19, 55, 47         11) 36, 48, 99, 55, 21, 71, 48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rgbClr val="00B0F0"/>
              </a:solidFill>
              <a:latin typeface="+mn-lt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950" y="4149725"/>
            <a:ext cx="8928100" cy="17541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u="sng" dirty="0">
                <a:solidFill>
                  <a:srgbClr val="00B050"/>
                </a:solidFill>
                <a:latin typeface="+mn-lt"/>
                <a:cs typeface="+mn-cs"/>
              </a:rPr>
              <a:t>Could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en-GB" dirty="0">
                <a:solidFill>
                  <a:srgbClr val="00B050"/>
                </a:solidFill>
                <a:latin typeface="+mn-lt"/>
                <a:cs typeface="+mn-cs"/>
              </a:rPr>
              <a:t>12,   8,  33,   59,   44,   9,    33                              2)  32,   25,   32,   21,   21,   32,   87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arenR" startAt="3"/>
              <a:defRPr/>
            </a:pPr>
            <a:r>
              <a:rPr lang="en-GB" dirty="0">
                <a:solidFill>
                  <a:srgbClr val="00B050"/>
                </a:solidFill>
                <a:latin typeface="+mn-lt"/>
                <a:cs typeface="+mn-cs"/>
              </a:rPr>
              <a:t>44,  39,  58,  107,  59,   44,   101                         4)  39,   58,    45,   85,  94,   94,    36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rgbClr val="00B050"/>
                </a:solidFill>
                <a:latin typeface="+mn-lt"/>
                <a:cs typeface="+mn-cs"/>
              </a:rPr>
              <a:t>5)   108,  95,  36,  84,   55,   109,    95                       6)  47,   81,    19,    65,    204,   134,   204  </a:t>
            </a:r>
          </a:p>
        </p:txBody>
      </p:sp>
      <p:sp>
        <p:nvSpPr>
          <p:cNvPr id="18438" name="TextBox 7"/>
          <p:cNvSpPr txBox="1">
            <a:spLocks noChangeArrowheads="1"/>
          </p:cNvSpPr>
          <p:nvPr/>
        </p:nvSpPr>
        <p:spPr bwMode="auto">
          <a:xfrm>
            <a:off x="179388" y="5821363"/>
            <a:ext cx="8713787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GB" altLang="en-US" sz="3300" b="1" i="1" u="sng">
                <a:solidFill>
                  <a:srgbClr val="FF0000"/>
                </a:solidFill>
              </a:rPr>
              <a:t>Bonus:</a:t>
            </a:r>
            <a:r>
              <a:rPr lang="en-GB" altLang="en-US" sz="3300">
                <a:solidFill>
                  <a:srgbClr val="FF0000"/>
                </a:solidFill>
              </a:rPr>
              <a:t> 47,  85,  99,  51,  94,  103,  27,  93,  51</a:t>
            </a:r>
            <a:r>
              <a:rPr lang="en-GB" altLang="en-US" sz="3300" b="1" i="1" u="sng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8736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500" b="1" i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SAT challenge.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0" t="29308" r="41501" b="32442"/>
          <a:stretch/>
        </p:blipFill>
        <p:spPr bwMode="auto">
          <a:xfrm>
            <a:off x="1547664" y="1484784"/>
            <a:ext cx="5832648" cy="492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3480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1268760"/>
            <a:ext cx="8642350" cy="452596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4400" dirty="0"/>
              <a:t>Following on from yesterday, we will be furthering our understanding of averages. However, this time we will calculating the </a:t>
            </a:r>
            <a:r>
              <a:rPr lang="en-GB" sz="4400" dirty="0">
                <a:solidFill>
                  <a:srgbClr val="FF0000"/>
                </a:solidFill>
              </a:rPr>
              <a:t>median</a:t>
            </a:r>
            <a:r>
              <a:rPr lang="en-GB" sz="4400" dirty="0"/>
              <a:t> from an even set of numbers. </a:t>
            </a:r>
          </a:p>
          <a:p>
            <a:pPr marL="0" indent="0" algn="ctr">
              <a:buNone/>
            </a:pPr>
            <a:endParaRPr lang="en-GB" sz="4400" dirty="0"/>
          </a:p>
          <a:p>
            <a:pPr marL="0" indent="0" algn="ctr">
              <a:buNone/>
            </a:pPr>
            <a:r>
              <a:rPr lang="en-GB" sz="4400" dirty="0"/>
              <a:t>But first, time for our daily warm up…</a:t>
            </a:r>
          </a:p>
        </p:txBody>
      </p:sp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107950" y="260350"/>
            <a:ext cx="8928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2800" b="1" u="sng" dirty="0">
                <a:solidFill>
                  <a:srgbClr val="FF0000"/>
                </a:solidFill>
              </a:rPr>
              <a:t>L.O: To calculate the median from an even set of numbers</a:t>
            </a:r>
          </a:p>
        </p:txBody>
      </p:sp>
    </p:spTree>
    <p:extLst>
      <p:ext uri="{BB962C8B-B14F-4D97-AF65-F5344CB8AC3E}">
        <p14:creationId xmlns:p14="http://schemas.microsoft.com/office/powerpoint/2010/main" val="2415815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0" t="11606" r="18840" b="6586"/>
          <a:stretch>
            <a:fillRect/>
          </a:stretch>
        </p:blipFill>
        <p:spPr bwMode="auto">
          <a:xfrm>
            <a:off x="1116013" y="188913"/>
            <a:ext cx="6985000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2444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1"/>
          <p:cNvSpPr txBox="1">
            <a:spLocks noChangeArrowheads="1"/>
          </p:cNvSpPr>
          <p:nvPr/>
        </p:nvSpPr>
        <p:spPr bwMode="auto">
          <a:xfrm>
            <a:off x="468313" y="333375"/>
            <a:ext cx="8207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3600">
                <a:solidFill>
                  <a:srgbClr val="FF0000"/>
                </a:solidFill>
                <a:latin typeface="Arial" charset="0"/>
              </a:rPr>
              <a:t>What do you need to do now?</a:t>
            </a:r>
          </a:p>
        </p:txBody>
      </p:sp>
      <p:pic>
        <p:nvPicPr>
          <p:cNvPr id="3277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01" t="31628" r="34761" b="37131"/>
          <a:stretch>
            <a:fillRect/>
          </a:stretch>
        </p:blipFill>
        <p:spPr bwMode="auto">
          <a:xfrm>
            <a:off x="1042988" y="1484313"/>
            <a:ext cx="7145337" cy="505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7222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388" y="1196975"/>
            <a:ext cx="1584325" cy="1800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2268538" y="1196975"/>
            <a:ext cx="1727200" cy="1800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4643438" y="1196975"/>
            <a:ext cx="1728787" cy="1800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6429375" y="1543050"/>
            <a:ext cx="2576513" cy="1108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6600" dirty="0">
                <a:solidFill>
                  <a:schemeClr val="accent6">
                    <a:lumMod val="50000"/>
                  </a:schemeClr>
                </a:solidFill>
              </a:rPr>
              <a:t>= 16.8 </a:t>
            </a:r>
          </a:p>
        </p:txBody>
      </p:sp>
      <p:sp>
        <p:nvSpPr>
          <p:cNvPr id="33798" name="TextBox 5"/>
          <p:cNvSpPr txBox="1">
            <a:spLocks noChangeArrowheads="1"/>
          </p:cNvSpPr>
          <p:nvPr/>
        </p:nvSpPr>
        <p:spPr bwMode="auto">
          <a:xfrm>
            <a:off x="1763713" y="1916113"/>
            <a:ext cx="244792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300">
                <a:latin typeface="Arial" charset="0"/>
              </a:rPr>
              <a:t>+</a:t>
            </a:r>
          </a:p>
        </p:txBody>
      </p:sp>
      <p:sp>
        <p:nvSpPr>
          <p:cNvPr id="33799" name="TextBox 6"/>
          <p:cNvSpPr txBox="1">
            <a:spLocks noChangeArrowheads="1"/>
          </p:cNvSpPr>
          <p:nvPr/>
        </p:nvSpPr>
        <p:spPr bwMode="auto">
          <a:xfrm>
            <a:off x="4140200" y="1916113"/>
            <a:ext cx="244792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300">
                <a:latin typeface="Arial" charset="0"/>
              </a:rPr>
              <a:t>+</a:t>
            </a:r>
          </a:p>
        </p:txBody>
      </p:sp>
      <p:sp>
        <p:nvSpPr>
          <p:cNvPr id="8" name="Rectangle 7"/>
          <p:cNvSpPr/>
          <p:nvPr/>
        </p:nvSpPr>
        <p:spPr>
          <a:xfrm>
            <a:off x="179388" y="4076700"/>
            <a:ext cx="1584325" cy="1800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268538" y="4076700"/>
            <a:ext cx="1727200" cy="1800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4643438" y="4076700"/>
            <a:ext cx="1728787" cy="1800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6429375" y="4422775"/>
            <a:ext cx="2576513" cy="1108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6600" dirty="0">
                <a:solidFill>
                  <a:schemeClr val="accent6">
                    <a:lumMod val="50000"/>
                  </a:schemeClr>
                </a:solidFill>
              </a:rPr>
              <a:t>= 22.2 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763713" y="4797425"/>
            <a:ext cx="24479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300">
                <a:latin typeface="Arial" charset="0"/>
              </a:rPr>
              <a:t>+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140200" y="4797425"/>
            <a:ext cx="24479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300">
                <a:latin typeface="Arial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0631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468313" y="-26988"/>
            <a:ext cx="8229600" cy="2303463"/>
          </a:xfrm>
        </p:spPr>
        <p:txBody>
          <a:bodyPr/>
          <a:lstStyle/>
          <a:p>
            <a:pPr eaLnBrk="1" hangingPunct="1"/>
            <a:r>
              <a:rPr lang="en-GB" altLang="en-US" sz="3800" b="1" u="sng">
                <a:solidFill>
                  <a:srgbClr val="FF0000"/>
                </a:solidFill>
              </a:rPr>
              <a:t>What is the mode?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8313" y="3068638"/>
            <a:ext cx="8229600" cy="23050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GB" sz="38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about the median?</a:t>
            </a:r>
          </a:p>
        </p:txBody>
      </p:sp>
      <p:sp>
        <p:nvSpPr>
          <p:cNvPr id="31748" name="TextBox 2"/>
          <p:cNvSpPr txBox="1">
            <a:spLocks noChangeArrowheads="1"/>
          </p:cNvSpPr>
          <p:nvPr/>
        </p:nvSpPr>
        <p:spPr bwMode="auto">
          <a:xfrm>
            <a:off x="323850" y="1866900"/>
            <a:ext cx="85693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4000"/>
              <a:t>The </a:t>
            </a:r>
            <a:r>
              <a:rPr lang="en-GB" altLang="en-US" sz="4000" u="sng">
                <a:solidFill>
                  <a:srgbClr val="FF0000"/>
                </a:solidFill>
              </a:rPr>
              <a:t>mo</a:t>
            </a:r>
            <a:r>
              <a:rPr lang="en-GB" altLang="en-US" sz="4000"/>
              <a:t>de is the </a:t>
            </a:r>
            <a:r>
              <a:rPr lang="en-GB" altLang="en-US" sz="4000" u="sng">
                <a:solidFill>
                  <a:srgbClr val="FF0000"/>
                </a:solidFill>
              </a:rPr>
              <a:t>mo</a:t>
            </a:r>
            <a:r>
              <a:rPr lang="en-GB" altLang="en-US" sz="4000"/>
              <a:t>st common number.</a:t>
            </a:r>
          </a:p>
        </p:txBody>
      </p:sp>
      <p:sp>
        <p:nvSpPr>
          <p:cNvPr id="31749" name="TextBox 5"/>
          <p:cNvSpPr txBox="1">
            <a:spLocks noChangeArrowheads="1"/>
          </p:cNvSpPr>
          <p:nvPr/>
        </p:nvSpPr>
        <p:spPr bwMode="auto">
          <a:xfrm>
            <a:off x="323850" y="4941888"/>
            <a:ext cx="856932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4400"/>
              <a:t>The </a:t>
            </a:r>
            <a:r>
              <a:rPr lang="en-GB" altLang="en-US" sz="4400" u="sng">
                <a:solidFill>
                  <a:srgbClr val="FF0000"/>
                </a:solidFill>
              </a:rPr>
              <a:t>median</a:t>
            </a:r>
            <a:r>
              <a:rPr lang="en-GB" altLang="en-US" sz="4400"/>
              <a:t> is the </a:t>
            </a:r>
            <a:r>
              <a:rPr lang="en-GB" altLang="en-US" sz="4400" u="sng">
                <a:solidFill>
                  <a:srgbClr val="FF0000"/>
                </a:solidFill>
              </a:rPr>
              <a:t>middle</a:t>
            </a:r>
            <a:r>
              <a:rPr lang="en-GB" altLang="en-US" sz="4400"/>
              <a:t> number.</a:t>
            </a:r>
          </a:p>
        </p:txBody>
      </p:sp>
    </p:spTree>
    <p:extLst>
      <p:ext uri="{BB962C8B-B14F-4D97-AF65-F5344CB8AC3E}">
        <p14:creationId xmlns:p14="http://schemas.microsoft.com/office/powerpoint/2010/main" val="349761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3174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611188" y="2924175"/>
            <a:ext cx="8229600" cy="2305050"/>
          </a:xfrm>
        </p:spPr>
        <p:txBody>
          <a:bodyPr/>
          <a:lstStyle/>
          <a:p>
            <a:pPr algn="l" eaLnBrk="1" hangingPunct="1"/>
            <a:r>
              <a:rPr lang="en-GB" altLang="en-US" sz="3800" b="1" u="sng">
                <a:solidFill>
                  <a:srgbClr val="FF0000"/>
                </a:solidFill>
              </a:rPr>
              <a:t>What is the mode?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11188" y="4292600"/>
            <a:ext cx="8229600" cy="23050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GB" sz="38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about the median?</a:t>
            </a:r>
          </a:p>
        </p:txBody>
      </p:sp>
      <p:sp>
        <p:nvSpPr>
          <p:cNvPr id="35844" name="TextBox 3"/>
          <p:cNvSpPr txBox="1">
            <a:spLocks noChangeArrowheads="1"/>
          </p:cNvSpPr>
          <p:nvPr/>
        </p:nvSpPr>
        <p:spPr bwMode="auto">
          <a:xfrm>
            <a:off x="468313" y="908050"/>
            <a:ext cx="8064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7,    2,     9,     2,    5</a:t>
            </a:r>
          </a:p>
        </p:txBody>
      </p:sp>
      <p:sp>
        <p:nvSpPr>
          <p:cNvPr id="35845" name="TextBox 2"/>
          <p:cNvSpPr txBox="1">
            <a:spLocks noChangeArrowheads="1"/>
          </p:cNvSpPr>
          <p:nvPr/>
        </p:nvSpPr>
        <p:spPr bwMode="auto">
          <a:xfrm>
            <a:off x="611188" y="188913"/>
            <a:ext cx="3960812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300" i="1"/>
              <a:t>Example:</a:t>
            </a:r>
          </a:p>
        </p:txBody>
      </p:sp>
      <p:sp>
        <p:nvSpPr>
          <p:cNvPr id="32774" name="TextBox 5"/>
          <p:cNvSpPr txBox="1">
            <a:spLocks noChangeArrowheads="1"/>
          </p:cNvSpPr>
          <p:nvPr/>
        </p:nvSpPr>
        <p:spPr bwMode="auto">
          <a:xfrm>
            <a:off x="468313" y="2105025"/>
            <a:ext cx="8064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2,    2,     5,     7,    9</a:t>
            </a:r>
          </a:p>
        </p:txBody>
      </p:sp>
    </p:spTree>
    <p:extLst>
      <p:ext uri="{BB962C8B-B14F-4D97-AF65-F5344CB8AC3E}">
        <p14:creationId xmlns:p14="http://schemas.microsoft.com/office/powerpoint/2010/main" val="80291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611188" y="2852738"/>
            <a:ext cx="8229600" cy="2305050"/>
          </a:xfrm>
        </p:spPr>
        <p:txBody>
          <a:bodyPr/>
          <a:lstStyle/>
          <a:p>
            <a:pPr algn="l" eaLnBrk="1" hangingPunct="1"/>
            <a:r>
              <a:rPr lang="en-GB" altLang="en-US" sz="3800" b="1" u="sng">
                <a:solidFill>
                  <a:srgbClr val="FF0000"/>
                </a:solidFill>
              </a:rPr>
              <a:t>What is the mode?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11188" y="4221163"/>
            <a:ext cx="8229600" cy="230346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GB" sz="38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about the median?</a:t>
            </a:r>
          </a:p>
        </p:txBody>
      </p:sp>
      <p:sp>
        <p:nvSpPr>
          <p:cNvPr id="36868" name="TextBox 3"/>
          <p:cNvSpPr txBox="1">
            <a:spLocks noChangeArrowheads="1"/>
          </p:cNvSpPr>
          <p:nvPr/>
        </p:nvSpPr>
        <p:spPr bwMode="auto">
          <a:xfrm>
            <a:off x="323850" y="549275"/>
            <a:ext cx="8280400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5500"/>
              <a:t>1.3,   1.5,  1.37,   1.70,   1.30</a:t>
            </a:r>
          </a:p>
        </p:txBody>
      </p:sp>
      <p:sp>
        <p:nvSpPr>
          <p:cNvPr id="33797" name="TextBox 6"/>
          <p:cNvSpPr txBox="1">
            <a:spLocks noChangeArrowheads="1"/>
          </p:cNvSpPr>
          <p:nvPr/>
        </p:nvSpPr>
        <p:spPr bwMode="auto">
          <a:xfrm>
            <a:off x="179388" y="2060575"/>
            <a:ext cx="8661400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5500"/>
              <a:t>1.30,  1.30,  1.37,  1.50,  1.70</a:t>
            </a:r>
          </a:p>
        </p:txBody>
      </p:sp>
    </p:spTree>
    <p:extLst>
      <p:ext uri="{BB962C8B-B14F-4D97-AF65-F5344CB8AC3E}">
        <p14:creationId xmlns:p14="http://schemas.microsoft.com/office/powerpoint/2010/main" val="208475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611188" y="2852738"/>
            <a:ext cx="8229600" cy="2305050"/>
          </a:xfrm>
        </p:spPr>
        <p:txBody>
          <a:bodyPr/>
          <a:lstStyle/>
          <a:p>
            <a:pPr algn="l" eaLnBrk="1" hangingPunct="1"/>
            <a:r>
              <a:rPr lang="en-GB" altLang="en-US" sz="3800" b="1" u="sng">
                <a:solidFill>
                  <a:srgbClr val="FF0000"/>
                </a:solidFill>
              </a:rPr>
              <a:t>What is the mode?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11188" y="4221163"/>
            <a:ext cx="8229600" cy="230346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GB" sz="38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about the median?</a:t>
            </a:r>
          </a:p>
        </p:txBody>
      </p:sp>
      <p:sp>
        <p:nvSpPr>
          <p:cNvPr id="37892" name="TextBox 3"/>
          <p:cNvSpPr txBox="1">
            <a:spLocks noChangeArrowheads="1"/>
          </p:cNvSpPr>
          <p:nvPr/>
        </p:nvSpPr>
        <p:spPr bwMode="auto">
          <a:xfrm>
            <a:off x="323850" y="549275"/>
            <a:ext cx="8280400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5500"/>
              <a:t>3.6,   3.64,  3.7,  3.60,  3.09</a:t>
            </a:r>
          </a:p>
        </p:txBody>
      </p:sp>
      <p:sp>
        <p:nvSpPr>
          <p:cNvPr id="34821" name="TextBox 6"/>
          <p:cNvSpPr txBox="1">
            <a:spLocks noChangeArrowheads="1"/>
          </p:cNvSpPr>
          <p:nvPr/>
        </p:nvSpPr>
        <p:spPr bwMode="auto">
          <a:xfrm>
            <a:off x="179388" y="2060575"/>
            <a:ext cx="8661400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5500"/>
              <a:t>3.09,  3.60,  3.60,  3.64,  3.70</a:t>
            </a:r>
          </a:p>
        </p:txBody>
      </p:sp>
    </p:spTree>
    <p:extLst>
      <p:ext uri="{BB962C8B-B14F-4D97-AF65-F5344CB8AC3E}">
        <p14:creationId xmlns:p14="http://schemas.microsoft.com/office/powerpoint/2010/main" val="115411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2"/>
          <p:cNvSpPr>
            <a:spLocks noGrp="1"/>
          </p:cNvSpPr>
          <p:nvPr>
            <p:ph idx="1"/>
          </p:nvPr>
        </p:nvSpPr>
        <p:spPr>
          <a:xfrm>
            <a:off x="457200" y="333375"/>
            <a:ext cx="8229600" cy="2303463"/>
          </a:xfrm>
        </p:spPr>
        <p:txBody>
          <a:bodyPr/>
          <a:lstStyle/>
          <a:p>
            <a:pPr marL="0" indent="0" algn="ctr" eaLnBrk="1" hangingPunct="1">
              <a:buFont typeface="Arial" charset="0"/>
              <a:buNone/>
            </a:pPr>
            <a:r>
              <a:rPr lang="en-GB" altLang="en-US" sz="4400">
                <a:solidFill>
                  <a:srgbClr val="92D050"/>
                </a:solidFill>
              </a:rPr>
              <a:t>Today, we will be looking at how to find the median when there is an even set of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375" y="3667125"/>
            <a:ext cx="6551613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14,   15,  18,  25,  35, 64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313" y="2636838"/>
            <a:ext cx="8280400" cy="1046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4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35,   14,  18,  15,  64,  25   </a:t>
            </a:r>
          </a:p>
          <a:p>
            <a:pPr>
              <a:defRPr/>
            </a:pPr>
            <a:endParaRPr lang="en-GB" dirty="0"/>
          </a:p>
        </p:txBody>
      </p:sp>
      <p:sp>
        <p:nvSpPr>
          <p:cNvPr id="35845" name="TextBox 5"/>
          <p:cNvSpPr txBox="1">
            <a:spLocks noChangeArrowheads="1"/>
          </p:cNvSpPr>
          <p:nvPr/>
        </p:nvSpPr>
        <p:spPr bwMode="auto">
          <a:xfrm>
            <a:off x="539750" y="5118100"/>
            <a:ext cx="8208963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100">
                <a:latin typeface="Arial" charset="0"/>
              </a:rPr>
              <a:t>As there are two middle numbers you must: </a:t>
            </a:r>
          </a:p>
          <a:p>
            <a:r>
              <a:rPr lang="en-GB" altLang="en-US" sz="3100" i="1">
                <a:solidFill>
                  <a:srgbClr val="FF0000"/>
                </a:solidFill>
                <a:latin typeface="Arial" charset="0"/>
              </a:rPr>
              <a:t>add the numbers together, then divide by two. </a:t>
            </a:r>
          </a:p>
        </p:txBody>
      </p:sp>
      <p:sp>
        <p:nvSpPr>
          <p:cNvPr id="2" name="Oval 1"/>
          <p:cNvSpPr/>
          <p:nvPr/>
        </p:nvSpPr>
        <p:spPr>
          <a:xfrm>
            <a:off x="3779838" y="3644900"/>
            <a:ext cx="900112" cy="914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4895850" y="3644900"/>
            <a:ext cx="900113" cy="914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25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58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7450" y="2420938"/>
            <a:ext cx="6913563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7,   21,   24,   38,   38,  59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313" y="981075"/>
            <a:ext cx="8280400" cy="1046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4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38,   59,  24,  7,   38,  21   </a:t>
            </a:r>
          </a:p>
          <a:p>
            <a:pPr>
              <a:defRPr/>
            </a:pPr>
            <a:endParaRPr lang="en-GB" dirty="0"/>
          </a:p>
        </p:txBody>
      </p:sp>
      <p:sp>
        <p:nvSpPr>
          <p:cNvPr id="36868" name="TextBox 5"/>
          <p:cNvSpPr txBox="1">
            <a:spLocks noChangeArrowheads="1"/>
          </p:cNvSpPr>
          <p:nvPr/>
        </p:nvSpPr>
        <p:spPr bwMode="auto">
          <a:xfrm>
            <a:off x="539750" y="3500438"/>
            <a:ext cx="8208963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100" i="1">
                <a:solidFill>
                  <a:srgbClr val="FF0000"/>
                </a:solidFill>
                <a:latin typeface="Arial" charset="0"/>
              </a:rPr>
              <a:t>Add the numbers together, then divide by two.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188" y="5035550"/>
            <a:ext cx="3455987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24 + 38 =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0425" y="5035550"/>
            <a:ext cx="2160588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6  2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5795963" y="5035550"/>
            <a:ext cx="20891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795963" y="5035550"/>
            <a:ext cx="0" cy="696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3" name="TextBox 14"/>
          <p:cNvSpPr txBox="1">
            <a:spLocks noChangeArrowheads="1"/>
          </p:cNvSpPr>
          <p:nvPr/>
        </p:nvSpPr>
        <p:spPr bwMode="auto">
          <a:xfrm>
            <a:off x="5148263" y="5035550"/>
            <a:ext cx="900112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4400">
                <a:latin typeface="Arial" charset="0"/>
              </a:rPr>
              <a:t>2</a:t>
            </a:r>
          </a:p>
        </p:txBody>
      </p:sp>
      <p:sp>
        <p:nvSpPr>
          <p:cNvPr id="36874" name="TextBox 15"/>
          <p:cNvSpPr txBox="1">
            <a:spLocks noChangeArrowheads="1"/>
          </p:cNvSpPr>
          <p:nvPr/>
        </p:nvSpPr>
        <p:spPr bwMode="auto">
          <a:xfrm>
            <a:off x="5940425" y="4365625"/>
            <a:ext cx="1944688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4400">
                <a:latin typeface="Arial" charset="0"/>
              </a:rPr>
              <a:t>3  1</a:t>
            </a:r>
          </a:p>
        </p:txBody>
      </p:sp>
    </p:spTree>
    <p:extLst>
      <p:ext uri="{BB962C8B-B14F-4D97-AF65-F5344CB8AC3E}">
        <p14:creationId xmlns:p14="http://schemas.microsoft.com/office/powerpoint/2010/main" val="358576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6868" grpId="0"/>
      <p:bldP spid="7" grpId="0"/>
      <p:bldP spid="8" grpId="0"/>
      <p:bldP spid="36873" grpId="0"/>
      <p:bldP spid="3687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7450" y="2565400"/>
            <a:ext cx="6913563" cy="768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19,   38,   42,   45,  55,  68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313" y="981075"/>
            <a:ext cx="8280400" cy="1046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4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45,   42,  38,  19,   55,  68   </a:t>
            </a:r>
          </a:p>
          <a:p>
            <a:pPr>
              <a:defRPr/>
            </a:pPr>
            <a:endParaRPr lang="en-GB" dirty="0"/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539750" y="3716338"/>
            <a:ext cx="8208963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100" i="1">
                <a:solidFill>
                  <a:srgbClr val="FF0000"/>
                </a:solidFill>
                <a:latin typeface="Arial" charset="0"/>
              </a:rPr>
              <a:t>Add the numbers together, then divide by two.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188" y="5035550"/>
            <a:ext cx="3455987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42 + 45 = 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0425" y="5035550"/>
            <a:ext cx="2160588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8  7 . 0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5795963" y="5035550"/>
            <a:ext cx="20891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795963" y="5035550"/>
            <a:ext cx="0" cy="696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7" name="TextBox 14"/>
          <p:cNvSpPr txBox="1">
            <a:spLocks noChangeArrowheads="1"/>
          </p:cNvSpPr>
          <p:nvPr/>
        </p:nvSpPr>
        <p:spPr bwMode="auto">
          <a:xfrm>
            <a:off x="5148263" y="5035550"/>
            <a:ext cx="900112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4400">
                <a:latin typeface="Arial" charset="0"/>
              </a:rPr>
              <a:t>2</a:t>
            </a:r>
          </a:p>
        </p:txBody>
      </p:sp>
      <p:sp>
        <p:nvSpPr>
          <p:cNvPr id="37898" name="TextBox 15"/>
          <p:cNvSpPr txBox="1">
            <a:spLocks noChangeArrowheads="1"/>
          </p:cNvSpPr>
          <p:nvPr/>
        </p:nvSpPr>
        <p:spPr bwMode="auto">
          <a:xfrm>
            <a:off x="5940425" y="4365625"/>
            <a:ext cx="1944688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4400">
                <a:latin typeface="Arial" charset="0"/>
              </a:rPr>
              <a:t>4  3 . 5</a:t>
            </a:r>
          </a:p>
        </p:txBody>
      </p:sp>
      <p:sp>
        <p:nvSpPr>
          <p:cNvPr id="37899" name="TextBox 16"/>
          <p:cNvSpPr txBox="1">
            <a:spLocks noChangeArrowheads="1"/>
          </p:cNvSpPr>
          <p:nvPr/>
        </p:nvSpPr>
        <p:spPr bwMode="auto">
          <a:xfrm>
            <a:off x="7164388" y="5148263"/>
            <a:ext cx="936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1800">
                <a:solidFill>
                  <a:srgbClr val="FF0000"/>
                </a:solidFill>
                <a:latin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2327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7892" grpId="0"/>
      <p:bldP spid="7" grpId="0"/>
      <p:bldP spid="8" grpId="0"/>
      <p:bldP spid="37897" grpId="0"/>
      <p:bldP spid="37898" grpId="0"/>
      <p:bldP spid="3789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Box 3"/>
          <p:cNvSpPr txBox="1">
            <a:spLocks noChangeArrowheads="1"/>
          </p:cNvSpPr>
          <p:nvPr/>
        </p:nvSpPr>
        <p:spPr bwMode="auto">
          <a:xfrm>
            <a:off x="107950" y="260350"/>
            <a:ext cx="8928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2800" b="1" u="sng" dirty="0">
                <a:solidFill>
                  <a:srgbClr val="FF0000"/>
                </a:solidFill>
              </a:rPr>
              <a:t>L.O: To calculate the median from an even set of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" y="836613"/>
            <a:ext cx="8928100" cy="2078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u="sng" dirty="0">
                <a:latin typeface="+mn-lt"/>
                <a:cs typeface="+mn-cs"/>
              </a:rPr>
              <a:t>Must</a:t>
            </a:r>
          </a:p>
          <a:p>
            <a:pPr marL="457200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en-GB" sz="2200" dirty="0">
                <a:latin typeface="+mn-lt"/>
                <a:cs typeface="+mn-cs"/>
              </a:rPr>
              <a:t>4, 1, 5, 8,                2) 4,  1,  3,  12            3)  8, 13, 6, 5          4)  9, 3, 5, 2,</a:t>
            </a:r>
          </a:p>
          <a:p>
            <a:pPr marL="457200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arenR" startAt="5"/>
              <a:defRPr/>
            </a:pPr>
            <a:r>
              <a:rPr lang="en-GB" sz="2200" dirty="0">
                <a:latin typeface="+mn-lt"/>
                <a:cs typeface="+mn-cs"/>
              </a:rPr>
              <a:t>12, 5, 7, 2             6) 10,  8,  7,  13           7) 12, 14, 12, 9       8)  13, 17, 8, 12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dirty="0">
                <a:latin typeface="+mn-lt"/>
                <a:cs typeface="+mn-cs"/>
              </a:rPr>
              <a:t>9)  24, 38, 21, 37      10) 27, 33, 51, 48       11) 37, 52, 49, 67    12) 24, 38, 9,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950" y="2852738"/>
            <a:ext cx="8928100" cy="157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u="sng" dirty="0">
                <a:solidFill>
                  <a:srgbClr val="00B0F0"/>
                </a:solidFill>
                <a:latin typeface="+mn-lt"/>
                <a:cs typeface="+mn-cs"/>
              </a:rPr>
              <a:t>Should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100" dirty="0">
                <a:solidFill>
                  <a:srgbClr val="00B0F0"/>
                </a:solidFill>
                <a:latin typeface="+mn-lt"/>
                <a:cs typeface="+mn-cs"/>
              </a:rPr>
              <a:t>1)  34,  56,  31,  34       2) 37,  29,  84,  63      3) 84, 79,  58,  91     4) 64, 55,  77,  81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100" dirty="0">
                <a:solidFill>
                  <a:srgbClr val="00B0F0"/>
                </a:solidFill>
                <a:latin typeface="+mn-lt"/>
                <a:cs typeface="+mn-cs"/>
              </a:rPr>
              <a:t>5)  57,  81,  69,  74       6) 84,  79,  93,  97      7) 64,  78,  54,  93    8) 91, 30,  44,  86</a:t>
            </a:r>
          </a:p>
        </p:txBody>
      </p:sp>
      <p:sp>
        <p:nvSpPr>
          <p:cNvPr id="41989" name="TextBox 7"/>
          <p:cNvSpPr txBox="1">
            <a:spLocks noChangeArrowheads="1"/>
          </p:cNvSpPr>
          <p:nvPr/>
        </p:nvSpPr>
        <p:spPr bwMode="auto">
          <a:xfrm>
            <a:off x="179388" y="5892800"/>
            <a:ext cx="8713787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GB" altLang="en-US" sz="3300" b="1" i="1" u="sng">
                <a:solidFill>
                  <a:srgbClr val="FF0000"/>
                </a:solidFill>
              </a:rPr>
              <a:t>Bonus:</a:t>
            </a:r>
            <a:r>
              <a:rPr lang="en-GB" altLang="en-US" sz="3300">
                <a:solidFill>
                  <a:srgbClr val="FF0000"/>
                </a:solidFill>
              </a:rPr>
              <a:t> 47,  85,  99,  51,  94,  103,  27,  93, </a:t>
            </a:r>
            <a:endParaRPr lang="en-GB" altLang="en-US" sz="3300" b="1" i="1" u="sng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950" y="4365625"/>
            <a:ext cx="8928100" cy="1616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u="sng" dirty="0">
                <a:solidFill>
                  <a:srgbClr val="00B050"/>
                </a:solidFill>
                <a:latin typeface="+mn-lt"/>
                <a:cs typeface="+mn-cs"/>
              </a:rPr>
              <a:t>Could</a:t>
            </a:r>
          </a:p>
          <a:p>
            <a:pPr marL="457200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en-GB" sz="2200" dirty="0">
                <a:solidFill>
                  <a:srgbClr val="00B050"/>
                </a:solidFill>
                <a:latin typeface="+mn-lt"/>
                <a:cs typeface="+mn-cs"/>
              </a:rPr>
              <a:t>34,  56,  31,  34,  42,   53                    2) 37,  29,  84,  63,  74,  54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dirty="0">
                <a:solidFill>
                  <a:srgbClr val="00B050"/>
                </a:solidFill>
                <a:latin typeface="+mn-lt"/>
                <a:cs typeface="+mn-cs"/>
              </a:rPr>
              <a:t>3)  48,   95,   32,   77,   52,   30                 4)  47,   36,   24,   88,   63,   73  </a:t>
            </a:r>
          </a:p>
        </p:txBody>
      </p:sp>
    </p:spTree>
    <p:extLst>
      <p:ext uri="{BB962C8B-B14F-4D97-AF65-F5344CB8AC3E}">
        <p14:creationId xmlns:p14="http://schemas.microsoft.com/office/powerpoint/2010/main" val="601721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1268760"/>
            <a:ext cx="8642350" cy="452596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4400" dirty="0"/>
              <a:t>In todays lesson we will adding to our knowledge of averages as we will be looking at how to calculate the </a:t>
            </a:r>
            <a:r>
              <a:rPr lang="en-GB" sz="4400" dirty="0">
                <a:solidFill>
                  <a:srgbClr val="FF0000"/>
                </a:solidFill>
              </a:rPr>
              <a:t>mean</a:t>
            </a:r>
            <a:r>
              <a:rPr lang="en-GB" sz="4400" dirty="0"/>
              <a:t> from a set of data.</a:t>
            </a:r>
          </a:p>
          <a:p>
            <a:pPr marL="0" indent="0" algn="ctr">
              <a:buNone/>
            </a:pPr>
            <a:endParaRPr lang="en-GB" sz="4400" dirty="0"/>
          </a:p>
          <a:p>
            <a:pPr marL="0" indent="0" algn="ctr">
              <a:buNone/>
            </a:pPr>
            <a:r>
              <a:rPr lang="en-GB" sz="4400" dirty="0"/>
              <a:t>First of all, let’s warm up with some challenging recaps.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07950" y="260350"/>
            <a:ext cx="8928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2800" b="1" u="sng" dirty="0">
                <a:solidFill>
                  <a:srgbClr val="FF0000"/>
                </a:solidFill>
              </a:rPr>
              <a:t>L.O: To calculate the mean from a set of data</a:t>
            </a:r>
          </a:p>
        </p:txBody>
      </p:sp>
    </p:spTree>
    <p:extLst>
      <p:ext uri="{BB962C8B-B14F-4D97-AF65-F5344CB8AC3E}">
        <p14:creationId xmlns:p14="http://schemas.microsoft.com/office/powerpoint/2010/main" val="3494602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Box 1"/>
          <p:cNvSpPr txBox="1">
            <a:spLocks noChangeArrowheads="1"/>
          </p:cNvSpPr>
          <p:nvPr/>
        </p:nvSpPr>
        <p:spPr bwMode="auto">
          <a:xfrm>
            <a:off x="323850" y="115888"/>
            <a:ext cx="856932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 b="1" u="sng">
                <a:solidFill>
                  <a:srgbClr val="FF0000"/>
                </a:solidFill>
                <a:latin typeface="Arial" charset="0"/>
              </a:rPr>
              <a:t>Let’s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288" y="1531938"/>
            <a:ext cx="8569325" cy="6016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33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Round these to the nearest tenth (1dp).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650" y="2349500"/>
            <a:ext cx="8569325" cy="48307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3.74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9.681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13.946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25.3874</a:t>
            </a:r>
          </a:p>
          <a:p>
            <a:pPr marL="514350" indent="-514350">
              <a:buFont typeface="+mj-lt"/>
              <a:buAutoNum type="arabicPeriod"/>
              <a:defRPr/>
            </a:pPr>
            <a:endParaRPr lang="en-GB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537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Box 1"/>
          <p:cNvSpPr txBox="1">
            <a:spLocks noChangeArrowheads="1"/>
          </p:cNvSpPr>
          <p:nvPr/>
        </p:nvSpPr>
        <p:spPr bwMode="auto">
          <a:xfrm>
            <a:off x="323850" y="115888"/>
            <a:ext cx="856932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 b="1" u="sng">
                <a:solidFill>
                  <a:srgbClr val="FF0000"/>
                </a:solidFill>
                <a:latin typeface="Arial" charset="0"/>
              </a:rPr>
              <a:t>Let’s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288" y="1531938"/>
            <a:ext cx="8569325" cy="6016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33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Round these to the nearest hundredth (2dp).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650" y="2349500"/>
            <a:ext cx="8569325" cy="48307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3.742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8.485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18.274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35.748</a:t>
            </a:r>
          </a:p>
          <a:p>
            <a:pPr marL="514350" indent="-514350">
              <a:buFont typeface="+mj-lt"/>
              <a:buAutoNum type="arabicPeriod"/>
              <a:defRPr/>
            </a:pPr>
            <a:endParaRPr lang="en-GB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710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Box 1"/>
          <p:cNvSpPr txBox="1">
            <a:spLocks noChangeArrowheads="1"/>
          </p:cNvSpPr>
          <p:nvPr/>
        </p:nvSpPr>
        <p:spPr bwMode="auto">
          <a:xfrm>
            <a:off x="323850" y="115888"/>
            <a:ext cx="856932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 b="1" u="sng">
                <a:solidFill>
                  <a:srgbClr val="FF0000"/>
                </a:solidFill>
                <a:latin typeface="Arial" charset="0"/>
              </a:rPr>
              <a:t>Let’s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288" y="1531938"/>
            <a:ext cx="8569325" cy="6016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3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Calculate the median.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650" y="2420938"/>
            <a:ext cx="76327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62,   45,    57,   68,   94,    94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650" y="3429000"/>
            <a:ext cx="76327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45,   57,    62,   68,   94,    94</a:t>
            </a:r>
          </a:p>
        </p:txBody>
      </p:sp>
      <p:sp>
        <p:nvSpPr>
          <p:cNvPr id="6" name="Oval 5"/>
          <p:cNvSpPr/>
          <p:nvPr/>
        </p:nvSpPr>
        <p:spPr>
          <a:xfrm>
            <a:off x="3419475" y="3284538"/>
            <a:ext cx="1152525" cy="11525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4716463" y="3284538"/>
            <a:ext cx="1150937" cy="11525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5304" name="TextBox 7"/>
          <p:cNvSpPr txBox="1">
            <a:spLocks noChangeArrowheads="1"/>
          </p:cNvSpPr>
          <p:nvPr/>
        </p:nvSpPr>
        <p:spPr bwMode="auto">
          <a:xfrm>
            <a:off x="323850" y="5251450"/>
            <a:ext cx="4319588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4400">
                <a:latin typeface="Arial" charset="0"/>
              </a:rPr>
              <a:t>62 + 68 = 130</a:t>
            </a:r>
          </a:p>
        </p:txBody>
      </p:sp>
      <p:sp>
        <p:nvSpPr>
          <p:cNvPr id="55305" name="TextBox 8"/>
          <p:cNvSpPr txBox="1">
            <a:spLocks noChangeArrowheads="1"/>
          </p:cNvSpPr>
          <p:nvPr/>
        </p:nvSpPr>
        <p:spPr bwMode="auto">
          <a:xfrm>
            <a:off x="6084888" y="5251450"/>
            <a:ext cx="2159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4400">
                <a:latin typeface="Arial" charset="0"/>
              </a:rPr>
              <a:t>1 3 0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5940425" y="5251450"/>
            <a:ext cx="1655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940425" y="5251450"/>
            <a:ext cx="0" cy="698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08" name="TextBox 13"/>
          <p:cNvSpPr txBox="1">
            <a:spLocks noChangeArrowheads="1"/>
          </p:cNvSpPr>
          <p:nvPr/>
        </p:nvSpPr>
        <p:spPr bwMode="auto">
          <a:xfrm>
            <a:off x="5364163" y="5251450"/>
            <a:ext cx="2160587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4400">
                <a:latin typeface="Arial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4928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nimBg="1" autoUpdateAnimBg="0"/>
      <p:bldP spid="7" grpId="0" animBg="1" autoUpdateAnimBg="0"/>
      <p:bldP spid="55304" grpId="0" autoUpdateAnimBg="0"/>
      <p:bldP spid="5530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Box 1"/>
          <p:cNvSpPr txBox="1">
            <a:spLocks noChangeArrowheads="1"/>
          </p:cNvSpPr>
          <p:nvPr/>
        </p:nvSpPr>
        <p:spPr bwMode="auto">
          <a:xfrm>
            <a:off x="323850" y="115888"/>
            <a:ext cx="856932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 b="1" u="sng">
                <a:solidFill>
                  <a:srgbClr val="FF0000"/>
                </a:solidFill>
                <a:latin typeface="Arial" charset="0"/>
              </a:rPr>
              <a:t>Let’s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288" y="1531938"/>
            <a:ext cx="8569325" cy="6016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3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Calculate the median.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650" y="2420938"/>
            <a:ext cx="76327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22,   85,    21,   67,   84,    22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650" y="3429000"/>
            <a:ext cx="76327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21,   22,    22,   67,   84,    85</a:t>
            </a:r>
          </a:p>
        </p:txBody>
      </p:sp>
      <p:sp>
        <p:nvSpPr>
          <p:cNvPr id="6" name="Oval 5"/>
          <p:cNvSpPr/>
          <p:nvPr/>
        </p:nvSpPr>
        <p:spPr>
          <a:xfrm>
            <a:off x="3419475" y="3284538"/>
            <a:ext cx="1152525" cy="11525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4716463" y="3284538"/>
            <a:ext cx="1150937" cy="11525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6328" name="TextBox 7"/>
          <p:cNvSpPr txBox="1">
            <a:spLocks noChangeArrowheads="1"/>
          </p:cNvSpPr>
          <p:nvPr/>
        </p:nvSpPr>
        <p:spPr bwMode="auto">
          <a:xfrm>
            <a:off x="611188" y="5251450"/>
            <a:ext cx="43211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4400">
                <a:latin typeface="Arial" charset="0"/>
              </a:rPr>
              <a:t>22 + 67 = 89</a:t>
            </a:r>
          </a:p>
        </p:txBody>
      </p:sp>
      <p:sp>
        <p:nvSpPr>
          <p:cNvPr id="56329" name="TextBox 8"/>
          <p:cNvSpPr txBox="1">
            <a:spLocks noChangeArrowheads="1"/>
          </p:cNvSpPr>
          <p:nvPr/>
        </p:nvSpPr>
        <p:spPr bwMode="auto">
          <a:xfrm>
            <a:off x="6084888" y="5251450"/>
            <a:ext cx="2159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4400">
                <a:latin typeface="Arial" charset="0"/>
              </a:rPr>
              <a:t>8  9 . 0 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5940425" y="5251450"/>
            <a:ext cx="2160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940425" y="5251450"/>
            <a:ext cx="0" cy="698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32" name="TextBox 13"/>
          <p:cNvSpPr txBox="1">
            <a:spLocks noChangeArrowheads="1"/>
          </p:cNvSpPr>
          <p:nvPr/>
        </p:nvSpPr>
        <p:spPr bwMode="auto">
          <a:xfrm>
            <a:off x="5292725" y="5251450"/>
            <a:ext cx="2159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4400">
                <a:latin typeface="Arial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6632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6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nimBg="1" autoUpdateAnimBg="0"/>
      <p:bldP spid="7" grpId="0" animBg="1" autoUpdateAnimBg="0"/>
      <p:bldP spid="56328" grpId="0" autoUpdateAnimBg="0"/>
      <p:bldP spid="56329" grpId="0" autoUpdateAnimBg="0"/>
      <p:bldP spid="5633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Box 1"/>
          <p:cNvSpPr txBox="1">
            <a:spLocks noChangeArrowheads="1"/>
          </p:cNvSpPr>
          <p:nvPr/>
        </p:nvSpPr>
        <p:spPr bwMode="auto">
          <a:xfrm>
            <a:off x="250825" y="260350"/>
            <a:ext cx="86423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4400" b="1" u="sng">
                <a:solidFill>
                  <a:srgbClr val="FF0000"/>
                </a:solidFill>
                <a:latin typeface="Arial" charset="0"/>
              </a:rPr>
              <a:t>What is the mean?</a:t>
            </a:r>
          </a:p>
        </p:txBody>
      </p:sp>
      <p:pic>
        <p:nvPicPr>
          <p:cNvPr id="5734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16" t="66830" r="37045" b="13538"/>
          <a:stretch>
            <a:fillRect/>
          </a:stretch>
        </p:blipFill>
        <p:spPr bwMode="auto">
          <a:xfrm>
            <a:off x="390525" y="3868738"/>
            <a:ext cx="8429625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348" name="TextBox 2"/>
          <p:cNvSpPr txBox="1">
            <a:spLocks noChangeArrowheads="1"/>
          </p:cNvSpPr>
          <p:nvPr/>
        </p:nvSpPr>
        <p:spPr bwMode="auto">
          <a:xfrm>
            <a:off x="250825" y="1557338"/>
            <a:ext cx="86423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2800">
                <a:latin typeface="Arial" charset="0"/>
              </a:rPr>
              <a:t>The mean is the average of a set of numbers. </a:t>
            </a:r>
          </a:p>
        </p:txBody>
      </p:sp>
      <p:sp>
        <p:nvSpPr>
          <p:cNvPr id="57349" name="TextBox 4"/>
          <p:cNvSpPr txBox="1">
            <a:spLocks noChangeArrowheads="1"/>
          </p:cNvSpPr>
          <p:nvPr/>
        </p:nvSpPr>
        <p:spPr bwMode="auto">
          <a:xfrm>
            <a:off x="250825" y="2565400"/>
            <a:ext cx="86423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2800">
                <a:latin typeface="Arial" charset="0"/>
              </a:rPr>
              <a:t>It’s easy to calculate: </a:t>
            </a:r>
            <a:r>
              <a:rPr lang="en-GB" altLang="en-US" sz="2800">
                <a:solidFill>
                  <a:srgbClr val="FF0000"/>
                </a:solidFill>
                <a:latin typeface="Arial" charset="0"/>
              </a:rPr>
              <a:t>add up </a:t>
            </a:r>
            <a:r>
              <a:rPr lang="en-GB" altLang="en-US" sz="2800">
                <a:latin typeface="Arial" charset="0"/>
              </a:rPr>
              <a:t>all the numbers, then </a:t>
            </a:r>
            <a:r>
              <a:rPr lang="en-GB" altLang="en-US" sz="2800">
                <a:solidFill>
                  <a:srgbClr val="FF0000"/>
                </a:solidFill>
                <a:latin typeface="Arial" charset="0"/>
              </a:rPr>
              <a:t>divide by how many </a:t>
            </a:r>
            <a:r>
              <a:rPr lang="en-GB" altLang="en-US" sz="2800">
                <a:latin typeface="Arial" charset="0"/>
              </a:rPr>
              <a:t>numbers they are.</a:t>
            </a:r>
          </a:p>
        </p:txBody>
      </p:sp>
    </p:spTree>
    <p:extLst>
      <p:ext uri="{BB962C8B-B14F-4D97-AF65-F5344CB8AC3E}">
        <p14:creationId xmlns:p14="http://schemas.microsoft.com/office/powerpoint/2010/main" val="316363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/>
      <p:bldP spid="5734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Box 1"/>
          <p:cNvSpPr txBox="1">
            <a:spLocks noChangeArrowheads="1"/>
          </p:cNvSpPr>
          <p:nvPr/>
        </p:nvSpPr>
        <p:spPr bwMode="auto">
          <a:xfrm>
            <a:off x="179388" y="1109663"/>
            <a:ext cx="8856662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3800">
                <a:solidFill>
                  <a:srgbClr val="FF0000"/>
                </a:solidFill>
                <a:latin typeface="Arial" charset="0"/>
              </a:rPr>
              <a:t>Let’s look at another example together.</a:t>
            </a:r>
          </a:p>
          <a:p>
            <a:pPr algn="ctr"/>
            <a:endParaRPr lang="en-GB" altLang="en-US" sz="4400">
              <a:latin typeface="Arial" charset="0"/>
            </a:endParaRPr>
          </a:p>
          <a:p>
            <a:pPr algn="ctr"/>
            <a:r>
              <a:rPr lang="en-GB" altLang="en-US" sz="4400">
                <a:latin typeface="Arial" charset="0"/>
              </a:rPr>
              <a:t>Firstly, I need three volunteers.</a:t>
            </a:r>
          </a:p>
        </p:txBody>
      </p:sp>
      <p:sp>
        <p:nvSpPr>
          <p:cNvPr id="58371" name="TextBox 2"/>
          <p:cNvSpPr txBox="1">
            <a:spLocks noChangeArrowheads="1"/>
          </p:cNvSpPr>
          <p:nvPr/>
        </p:nvSpPr>
        <p:spPr bwMode="auto">
          <a:xfrm>
            <a:off x="179388" y="4398963"/>
            <a:ext cx="8856662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3800">
                <a:solidFill>
                  <a:srgbClr val="00B0F0"/>
                </a:solidFill>
                <a:latin typeface="Arial" charset="0"/>
              </a:rPr>
              <a:t>What data could we collect </a:t>
            </a:r>
          </a:p>
          <a:p>
            <a:pPr algn="ctr"/>
            <a:r>
              <a:rPr lang="en-GB" altLang="en-US" sz="3800">
                <a:solidFill>
                  <a:srgbClr val="00B0F0"/>
                </a:solidFill>
                <a:latin typeface="Arial" charset="0"/>
              </a:rPr>
              <a:t>from our volunteers?</a:t>
            </a:r>
            <a:endParaRPr lang="en-GB" altLang="en-US" sz="4400">
              <a:solidFill>
                <a:srgbClr val="00B0F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6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3"/>
          <p:cNvSpPr txBox="1">
            <a:spLocks noChangeArrowheads="1"/>
          </p:cNvSpPr>
          <p:nvPr/>
        </p:nvSpPr>
        <p:spPr bwMode="auto">
          <a:xfrm>
            <a:off x="107950" y="260350"/>
            <a:ext cx="8928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2800" b="1" u="sng" dirty="0">
                <a:solidFill>
                  <a:srgbClr val="FF0000"/>
                </a:solidFill>
              </a:rPr>
              <a:t>L.O: To calculate the mean from a set of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" y="836613"/>
            <a:ext cx="8928100" cy="2078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u="sng" dirty="0">
                <a:latin typeface="+mn-lt"/>
                <a:cs typeface="+mn-cs"/>
              </a:rPr>
              <a:t>Must</a:t>
            </a:r>
          </a:p>
          <a:p>
            <a:pPr marL="457200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en-GB" sz="2200" dirty="0">
                <a:latin typeface="+mn-lt"/>
                <a:cs typeface="+mn-cs"/>
              </a:rPr>
              <a:t>5, 1, 5,                 2) 8,  1,  4,  12            3)  8, 11, 6,            4)  11, 3, 6, 2, 2</a:t>
            </a:r>
          </a:p>
          <a:p>
            <a:pPr marL="457200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arenR" startAt="5"/>
              <a:defRPr/>
            </a:pPr>
            <a:r>
              <a:rPr lang="en-GB" sz="2200" dirty="0">
                <a:latin typeface="+mn-lt"/>
                <a:cs typeface="+mn-cs"/>
              </a:rPr>
              <a:t>9, 8, 7, 2             6) 10,  7,  7              7) 12, 13, 12, 8       8)  13, 17, 4, 12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dirty="0">
                <a:latin typeface="+mn-lt"/>
                <a:cs typeface="+mn-cs"/>
              </a:rPr>
              <a:t>9)  38, 21, 37           10) 27, 33, 21         11) 37, 22, 19          12) 24, 28, 19,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950" y="2852738"/>
            <a:ext cx="8928100" cy="157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u="sng" dirty="0">
                <a:solidFill>
                  <a:srgbClr val="00B0F0"/>
                </a:solidFill>
                <a:latin typeface="+mn-lt"/>
                <a:cs typeface="+mn-cs"/>
              </a:rPr>
              <a:t>Should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100" dirty="0">
                <a:solidFill>
                  <a:srgbClr val="00B0F0"/>
                </a:solidFill>
                <a:latin typeface="+mn-lt"/>
                <a:cs typeface="+mn-cs"/>
              </a:rPr>
              <a:t>1)  24,  36,  31,  34       2) 37,  29,  34,  33      3) 44, 59,  38,  41     4) 24, 35, 47,  51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100" dirty="0">
                <a:solidFill>
                  <a:srgbClr val="00B0F0"/>
                </a:solidFill>
                <a:latin typeface="+mn-lt"/>
                <a:cs typeface="+mn-cs"/>
              </a:rPr>
              <a:t>5)  37,  51,  49,  54       6) 24,  59,  33,  27      7) 34,  48,  54,  63    8) 31, 30,  64,  76</a:t>
            </a:r>
          </a:p>
        </p:txBody>
      </p:sp>
      <p:sp>
        <p:nvSpPr>
          <p:cNvPr id="59397" name="TextBox 7"/>
          <p:cNvSpPr txBox="1">
            <a:spLocks noChangeArrowheads="1"/>
          </p:cNvSpPr>
          <p:nvPr/>
        </p:nvSpPr>
        <p:spPr bwMode="auto">
          <a:xfrm>
            <a:off x="179388" y="5965825"/>
            <a:ext cx="8713787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GB" altLang="en-US" sz="3300" b="1" i="1" u="sng">
                <a:solidFill>
                  <a:srgbClr val="FF0000"/>
                </a:solidFill>
              </a:rPr>
              <a:t>Bonus:</a:t>
            </a:r>
            <a:r>
              <a:rPr lang="en-GB" altLang="en-US" sz="3300">
                <a:solidFill>
                  <a:srgbClr val="FF0000"/>
                </a:solidFill>
              </a:rPr>
              <a:t> 47,  85,  99,  51,  94,  103,  27,  93, </a:t>
            </a:r>
            <a:endParaRPr lang="en-GB" altLang="en-US" sz="3300" b="1" i="1" u="sng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950" y="4405313"/>
            <a:ext cx="8928100" cy="1616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u="sng" dirty="0">
                <a:solidFill>
                  <a:srgbClr val="00B050"/>
                </a:solidFill>
                <a:latin typeface="+mn-lt"/>
                <a:cs typeface="+mn-cs"/>
              </a:rPr>
              <a:t>Could</a:t>
            </a:r>
          </a:p>
          <a:p>
            <a:pPr marL="457200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en-GB" sz="2200" dirty="0">
                <a:solidFill>
                  <a:srgbClr val="00B050"/>
                </a:solidFill>
                <a:latin typeface="+mn-lt"/>
                <a:cs typeface="+mn-cs"/>
              </a:rPr>
              <a:t>34,  56,  31,  34,  42,                          2) 37,  29,  84,  63,  74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dirty="0">
                <a:solidFill>
                  <a:srgbClr val="00B050"/>
                </a:solidFill>
                <a:latin typeface="+mn-lt"/>
                <a:cs typeface="+mn-cs"/>
              </a:rPr>
              <a:t>3)  48,   95,   32,   77,   30                        4)  47,   36,   24,   88,   63</a:t>
            </a:r>
          </a:p>
        </p:txBody>
      </p:sp>
    </p:spTree>
    <p:extLst>
      <p:ext uri="{BB962C8B-B14F-4D97-AF65-F5344CB8AC3E}">
        <p14:creationId xmlns:p14="http://schemas.microsoft.com/office/powerpoint/2010/main" val="41990980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24188" y="692150"/>
            <a:ext cx="3240087" cy="1116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1403350" y="4400550"/>
            <a:ext cx="3240088" cy="1116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4643438" y="4400550"/>
            <a:ext cx="3241675" cy="1116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173" name="TextBox 6"/>
          <p:cNvSpPr txBox="1">
            <a:spLocks noChangeArrowheads="1"/>
          </p:cNvSpPr>
          <p:nvPr/>
        </p:nvSpPr>
        <p:spPr bwMode="auto">
          <a:xfrm>
            <a:off x="3024188" y="196850"/>
            <a:ext cx="3240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2400">
                <a:latin typeface="Arial" charset="0"/>
              </a:rPr>
              <a:t>23m</a:t>
            </a:r>
          </a:p>
        </p:txBody>
      </p:sp>
      <p:sp>
        <p:nvSpPr>
          <p:cNvPr id="7174" name="TextBox 7"/>
          <p:cNvSpPr txBox="1">
            <a:spLocks noChangeArrowheads="1"/>
          </p:cNvSpPr>
          <p:nvPr/>
        </p:nvSpPr>
        <p:spPr bwMode="auto">
          <a:xfrm>
            <a:off x="6372225" y="908050"/>
            <a:ext cx="2016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2400">
                <a:latin typeface="Arial" charset="0"/>
              </a:rPr>
              <a:t>16m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825" y="2636838"/>
            <a:ext cx="8569325" cy="1108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3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 the diagram above, calculate the</a:t>
            </a:r>
          </a:p>
          <a:p>
            <a:pPr algn="ctr">
              <a:defRPr/>
            </a:pPr>
            <a:r>
              <a:rPr lang="en-GB" sz="33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area of the shape below.</a:t>
            </a:r>
          </a:p>
        </p:txBody>
      </p:sp>
    </p:spTree>
    <p:extLst>
      <p:ext uri="{BB962C8B-B14F-4D97-AF65-F5344CB8AC3E}">
        <p14:creationId xmlns:p14="http://schemas.microsoft.com/office/powerpoint/2010/main" val="3868909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611188" y="2924175"/>
            <a:ext cx="8229600" cy="2305050"/>
          </a:xfrm>
        </p:spPr>
        <p:txBody>
          <a:bodyPr/>
          <a:lstStyle/>
          <a:p>
            <a:pPr algn="l" eaLnBrk="1" hangingPunct="1"/>
            <a:r>
              <a:rPr lang="en-GB" altLang="en-US" sz="3800" b="1" u="sng">
                <a:solidFill>
                  <a:srgbClr val="FF0000"/>
                </a:solidFill>
              </a:rPr>
              <a:t>What is the range?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11188" y="3787775"/>
            <a:ext cx="8229600" cy="23050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GB" sz="38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the median?</a:t>
            </a:r>
          </a:p>
        </p:txBody>
      </p:sp>
      <p:sp>
        <p:nvSpPr>
          <p:cNvPr id="8196" name="TextBox 3"/>
          <p:cNvSpPr txBox="1">
            <a:spLocks noChangeArrowheads="1"/>
          </p:cNvSpPr>
          <p:nvPr/>
        </p:nvSpPr>
        <p:spPr bwMode="auto">
          <a:xfrm>
            <a:off x="468313" y="908050"/>
            <a:ext cx="8064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13,    2,     8,     7,    5</a:t>
            </a:r>
          </a:p>
        </p:txBody>
      </p:sp>
      <p:sp>
        <p:nvSpPr>
          <p:cNvPr id="8197" name="TextBox 2"/>
          <p:cNvSpPr txBox="1">
            <a:spLocks noChangeArrowheads="1"/>
          </p:cNvSpPr>
          <p:nvPr/>
        </p:nvSpPr>
        <p:spPr bwMode="auto">
          <a:xfrm>
            <a:off x="611188" y="188913"/>
            <a:ext cx="3960812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300" i="1"/>
              <a:t>Example:</a:t>
            </a:r>
          </a:p>
        </p:txBody>
      </p:sp>
      <p:sp>
        <p:nvSpPr>
          <p:cNvPr id="8198" name="TextBox 5"/>
          <p:cNvSpPr txBox="1">
            <a:spLocks noChangeArrowheads="1"/>
          </p:cNvSpPr>
          <p:nvPr/>
        </p:nvSpPr>
        <p:spPr bwMode="auto">
          <a:xfrm>
            <a:off x="468313" y="2105025"/>
            <a:ext cx="8064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2,    5,     7,     8,    13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11188" y="4652963"/>
            <a:ext cx="8229600" cy="23050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GB" sz="38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What is the mean?</a:t>
            </a:r>
          </a:p>
        </p:txBody>
      </p:sp>
    </p:spTree>
    <p:extLst>
      <p:ext uri="{BB962C8B-B14F-4D97-AF65-F5344CB8AC3E}">
        <p14:creationId xmlns:p14="http://schemas.microsoft.com/office/powerpoint/2010/main" val="4253132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611188" y="2924175"/>
            <a:ext cx="8229600" cy="2305050"/>
          </a:xfrm>
        </p:spPr>
        <p:txBody>
          <a:bodyPr/>
          <a:lstStyle/>
          <a:p>
            <a:pPr algn="l" eaLnBrk="1" hangingPunct="1"/>
            <a:r>
              <a:rPr lang="en-GB" altLang="en-US" sz="3800" b="1" u="sng">
                <a:solidFill>
                  <a:srgbClr val="FF0000"/>
                </a:solidFill>
              </a:rPr>
              <a:t>What is the range?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11188" y="3787775"/>
            <a:ext cx="8229600" cy="23050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GB" sz="38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the median?</a:t>
            </a:r>
          </a:p>
        </p:txBody>
      </p:sp>
      <p:sp>
        <p:nvSpPr>
          <p:cNvPr id="9220" name="TextBox 3"/>
          <p:cNvSpPr txBox="1">
            <a:spLocks noChangeArrowheads="1"/>
          </p:cNvSpPr>
          <p:nvPr/>
        </p:nvSpPr>
        <p:spPr bwMode="auto">
          <a:xfrm>
            <a:off x="107950" y="908050"/>
            <a:ext cx="8064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    2,     7,     2,    5</a:t>
            </a:r>
          </a:p>
        </p:txBody>
      </p:sp>
      <p:sp>
        <p:nvSpPr>
          <p:cNvPr id="9221" name="TextBox 2"/>
          <p:cNvSpPr txBox="1">
            <a:spLocks noChangeArrowheads="1"/>
          </p:cNvSpPr>
          <p:nvPr/>
        </p:nvSpPr>
        <p:spPr bwMode="auto">
          <a:xfrm>
            <a:off x="611188" y="188913"/>
            <a:ext cx="3960812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300" i="1"/>
              <a:t>Example:</a:t>
            </a:r>
          </a:p>
        </p:txBody>
      </p:sp>
      <p:sp>
        <p:nvSpPr>
          <p:cNvPr id="9222" name="TextBox 5"/>
          <p:cNvSpPr txBox="1">
            <a:spLocks noChangeArrowheads="1"/>
          </p:cNvSpPr>
          <p:nvPr/>
        </p:nvSpPr>
        <p:spPr bwMode="auto">
          <a:xfrm>
            <a:off x="611188" y="2176463"/>
            <a:ext cx="8064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2,    2,     5,     7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11188" y="4652963"/>
            <a:ext cx="8229600" cy="23050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GB" sz="38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What is the mean?</a:t>
            </a:r>
          </a:p>
        </p:txBody>
      </p:sp>
    </p:spTree>
    <p:extLst>
      <p:ext uri="{BB962C8B-B14F-4D97-AF65-F5344CB8AC3E}">
        <p14:creationId xmlns:p14="http://schemas.microsoft.com/office/powerpoint/2010/main" val="385011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611188" y="2924175"/>
            <a:ext cx="8229600" cy="2305050"/>
          </a:xfrm>
        </p:spPr>
        <p:txBody>
          <a:bodyPr/>
          <a:lstStyle/>
          <a:p>
            <a:pPr algn="l" eaLnBrk="1" hangingPunct="1"/>
            <a:r>
              <a:rPr lang="en-GB" altLang="en-US" sz="3800" b="1" u="sng">
                <a:solidFill>
                  <a:srgbClr val="FF0000"/>
                </a:solidFill>
              </a:rPr>
              <a:t>What is the range?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11188" y="3787775"/>
            <a:ext cx="8229600" cy="23050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GB" sz="38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the median?</a:t>
            </a:r>
          </a:p>
        </p:txBody>
      </p:sp>
      <p:sp>
        <p:nvSpPr>
          <p:cNvPr id="10244" name="TextBox 3"/>
          <p:cNvSpPr txBox="1">
            <a:spLocks noChangeArrowheads="1"/>
          </p:cNvSpPr>
          <p:nvPr/>
        </p:nvSpPr>
        <p:spPr bwMode="auto">
          <a:xfrm>
            <a:off x="107950" y="908050"/>
            <a:ext cx="8351838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    12,   7,    8,    4,   4,   1 </a:t>
            </a:r>
          </a:p>
        </p:txBody>
      </p:sp>
      <p:sp>
        <p:nvSpPr>
          <p:cNvPr id="10245" name="TextBox 2"/>
          <p:cNvSpPr txBox="1">
            <a:spLocks noChangeArrowheads="1"/>
          </p:cNvSpPr>
          <p:nvPr/>
        </p:nvSpPr>
        <p:spPr bwMode="auto">
          <a:xfrm>
            <a:off x="611188" y="188913"/>
            <a:ext cx="3960812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300" i="1"/>
              <a:t>Example:</a:t>
            </a:r>
          </a:p>
        </p:txBody>
      </p:sp>
      <p:sp>
        <p:nvSpPr>
          <p:cNvPr id="10246" name="TextBox 5"/>
          <p:cNvSpPr txBox="1">
            <a:spLocks noChangeArrowheads="1"/>
          </p:cNvSpPr>
          <p:nvPr/>
        </p:nvSpPr>
        <p:spPr bwMode="auto">
          <a:xfrm>
            <a:off x="611188" y="2176463"/>
            <a:ext cx="8064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6600"/>
              <a:t>1,   4,   4,   7,   8,   12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11188" y="4652963"/>
            <a:ext cx="8229600" cy="23050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GB" sz="38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What is the mean?</a:t>
            </a:r>
          </a:p>
        </p:txBody>
      </p:sp>
    </p:spTree>
    <p:extLst>
      <p:ext uri="{BB962C8B-B14F-4D97-AF65-F5344CB8AC3E}">
        <p14:creationId xmlns:p14="http://schemas.microsoft.com/office/powerpoint/2010/main" val="356768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1268760"/>
            <a:ext cx="8642350" cy="452596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4400" dirty="0"/>
              <a:t>Today, working in groups, you will be collecting data and then calculating the median, mean and range from the results. </a:t>
            </a:r>
          </a:p>
          <a:p>
            <a:pPr marL="0" indent="0" algn="ctr">
              <a:buNone/>
            </a:pPr>
            <a:endParaRPr lang="en-GB" sz="4400" dirty="0"/>
          </a:p>
          <a:p>
            <a:pPr marL="0" indent="0" algn="ctr">
              <a:buNone/>
            </a:pPr>
            <a:r>
              <a:rPr lang="en-GB" sz="4400" dirty="0"/>
              <a:t>To begin with, let’s take a look at the worksheet you will be completing. 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79388" y="333375"/>
            <a:ext cx="87852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2200" u="sng" dirty="0">
                <a:solidFill>
                  <a:srgbClr val="FF0000"/>
                </a:solidFill>
                <a:latin typeface="Arial" charset="0"/>
              </a:rPr>
              <a:t>L.O: Calculate the median, mean and range from data I collected.</a:t>
            </a:r>
          </a:p>
        </p:txBody>
      </p:sp>
    </p:spTree>
    <p:extLst>
      <p:ext uri="{BB962C8B-B14F-4D97-AF65-F5344CB8AC3E}">
        <p14:creationId xmlns:p14="http://schemas.microsoft.com/office/powerpoint/2010/main" val="28591504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71550" y="1766888"/>
          <a:ext cx="7200900" cy="31750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4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426">
                <a:tc>
                  <a:txBody>
                    <a:bodyPr/>
                    <a:lstStyle/>
                    <a:p>
                      <a:pPr algn="ctr"/>
                      <a:r>
                        <a:rPr lang="en-GB" sz="3300" dirty="0">
                          <a:solidFill>
                            <a:srgbClr val="00B0F0"/>
                          </a:solidFill>
                        </a:rPr>
                        <a:t>Name</a:t>
                      </a:r>
                    </a:p>
                  </a:txBody>
                  <a:tcPr marL="91441" marR="91441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300" dirty="0">
                          <a:solidFill>
                            <a:srgbClr val="00B0F0"/>
                          </a:solidFill>
                        </a:rPr>
                        <a:t>Time</a:t>
                      </a:r>
                      <a:endParaRPr lang="en-GB" sz="3300" dirty="0"/>
                    </a:p>
                  </a:txBody>
                  <a:tcPr marL="91441" marR="91441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115">
                <a:tc>
                  <a:txBody>
                    <a:bodyPr/>
                    <a:lstStyle/>
                    <a:p>
                      <a:endParaRPr lang="en-GB" sz="1800"/>
                    </a:p>
                  </a:txBody>
                  <a:tcPr marL="91441" marR="91441" marT="45725" marB="45725"/>
                </a:tc>
                <a:tc>
                  <a:txBody>
                    <a:bodyPr/>
                    <a:lstStyle/>
                    <a:p>
                      <a:endParaRPr lang="en-GB" sz="1800"/>
                    </a:p>
                  </a:txBody>
                  <a:tcPr marL="91441" marR="91441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115">
                <a:tc>
                  <a:txBody>
                    <a:bodyPr/>
                    <a:lstStyle/>
                    <a:p>
                      <a:endParaRPr lang="en-GB" sz="1800"/>
                    </a:p>
                  </a:txBody>
                  <a:tcPr marL="91441" marR="91441" marT="45725" marB="45725"/>
                </a:tc>
                <a:tc>
                  <a:txBody>
                    <a:bodyPr/>
                    <a:lstStyle/>
                    <a:p>
                      <a:endParaRPr lang="en-GB" sz="1800"/>
                    </a:p>
                  </a:txBody>
                  <a:tcPr marL="91441" marR="91441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115">
                <a:tc>
                  <a:txBody>
                    <a:bodyPr/>
                    <a:lstStyle/>
                    <a:p>
                      <a:endParaRPr lang="en-GB" sz="1800"/>
                    </a:p>
                  </a:txBody>
                  <a:tcPr marL="91441" marR="91441" marT="45725" marB="45725"/>
                </a:tc>
                <a:tc>
                  <a:txBody>
                    <a:bodyPr/>
                    <a:lstStyle/>
                    <a:p>
                      <a:endParaRPr lang="en-GB" sz="1800"/>
                    </a:p>
                  </a:txBody>
                  <a:tcPr marL="91441" marR="91441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115">
                <a:tc>
                  <a:txBody>
                    <a:bodyPr/>
                    <a:lstStyle/>
                    <a:p>
                      <a:endParaRPr lang="en-GB" sz="1800"/>
                    </a:p>
                  </a:txBody>
                  <a:tcPr marL="91441" marR="91441" marT="45725" marB="45725"/>
                </a:tc>
                <a:tc>
                  <a:txBody>
                    <a:bodyPr/>
                    <a:lstStyle/>
                    <a:p>
                      <a:endParaRPr lang="en-GB" sz="1800"/>
                    </a:p>
                  </a:txBody>
                  <a:tcPr marL="91441" marR="91441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115">
                <a:tc>
                  <a:txBody>
                    <a:bodyPr/>
                    <a:lstStyle/>
                    <a:p>
                      <a:endParaRPr lang="en-GB" sz="1800"/>
                    </a:p>
                  </a:txBody>
                  <a:tcPr marL="91441" marR="91441" marT="45725" marB="45725"/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41" marR="91441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289" name="TextBox 4"/>
          <p:cNvSpPr txBox="1">
            <a:spLocks noChangeArrowheads="1"/>
          </p:cNvSpPr>
          <p:nvPr/>
        </p:nvSpPr>
        <p:spPr bwMode="auto">
          <a:xfrm>
            <a:off x="179388" y="333375"/>
            <a:ext cx="87852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GB" altLang="en-US" sz="2200" u="sng" dirty="0">
                <a:solidFill>
                  <a:srgbClr val="FF0000"/>
                </a:solidFill>
                <a:latin typeface="Arial" charset="0"/>
              </a:rPr>
              <a:t>L.O: Calculate the median, mean and range from data I collected.</a:t>
            </a:r>
          </a:p>
        </p:txBody>
      </p:sp>
    </p:spTree>
    <p:extLst>
      <p:ext uri="{BB962C8B-B14F-4D97-AF65-F5344CB8AC3E}">
        <p14:creationId xmlns:p14="http://schemas.microsoft.com/office/powerpoint/2010/main" val="290668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1854</Words>
  <Application>Microsoft Office PowerPoint</Application>
  <PresentationFormat>On-screen Show (4:3)</PresentationFormat>
  <Paragraphs>196</Paragraphs>
  <Slides>37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Let’s recap</vt:lpstr>
      <vt:lpstr>Let’s recap</vt:lpstr>
      <vt:lpstr>This week, we will be learning how to calculate the mode, median, mean and range from a set of numbers. </vt:lpstr>
      <vt:lpstr>What is the mode?</vt:lpstr>
      <vt:lpstr>What is the mode?</vt:lpstr>
      <vt:lpstr>What is the mode?</vt:lpstr>
      <vt:lpstr>What is the mode?</vt:lpstr>
      <vt:lpstr>What is the mode?</vt:lpstr>
      <vt:lpstr>PowerPoint Presentation</vt:lpstr>
      <vt:lpstr>SAT challenge.</vt:lpstr>
      <vt:lpstr>PowerPoint Presentation</vt:lpstr>
      <vt:lpstr>PowerPoint Presentation</vt:lpstr>
      <vt:lpstr>PowerPoint Presentation</vt:lpstr>
      <vt:lpstr>PowerPoint Presentation</vt:lpstr>
      <vt:lpstr>What is the mode?</vt:lpstr>
      <vt:lpstr>What is the mode?</vt:lpstr>
      <vt:lpstr>What is the mode?</vt:lpstr>
      <vt:lpstr>What is the mode?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the range?</vt:lpstr>
      <vt:lpstr>What is the range?</vt:lpstr>
      <vt:lpstr>What is the range?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Let’s recap</dc:title>
  <dc:creator>John</dc:creator>
  <cp:lastModifiedBy>DAVIES Rhys [Busselton Senior High School]</cp:lastModifiedBy>
  <cp:revision>5</cp:revision>
  <dcterms:created xsi:type="dcterms:W3CDTF">2014-08-14T15:08:01Z</dcterms:created>
  <dcterms:modified xsi:type="dcterms:W3CDTF">2022-10-31T02:45:08Z</dcterms:modified>
</cp:coreProperties>
</file>
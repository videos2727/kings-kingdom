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80" r:id="rId4"/>
    <p:sldId id="263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55DA-E0FD-4169-B697-9120CB5BF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BBD03-FB40-48B4-97C9-B5C80B05C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9F78A-6ADC-42F2-B84D-7195F5AF4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F4ECD-E70C-4D28-906A-29DF3836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2D4FC-890C-445A-93D5-E85AEA2E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725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66ED-E102-40E8-AEE8-04A965803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A699A-64A1-4AB6-9261-B39B5B94A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803E-AEBA-466E-AAC9-BD40992B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37318-BDC4-4F61-854E-613F7F95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E4871-F32F-4082-A425-0FD3C4EEB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73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F26D-47D6-403C-A718-3F3E88046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17F88-02EB-4D6D-9350-AFB415C8A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0399F-7E43-4630-8D4F-FE15510C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C83BC-227C-4951-A4C5-F6E8CA3F3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23A30-0EA3-4CAF-BA32-0F93494BE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069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3214-FFA5-4B51-B00A-B83F9BCA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EC384-2E78-404A-8186-DBC76B79D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8B736-CEBF-4C06-972E-68DD2F9E2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DFDB3-EDA3-4CEA-A872-C09446A4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0AAC8-BCC2-4C35-86BE-1A3FD2DB3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E9544-0096-4EE4-9A41-B0F62DDE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833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30E3-2B0A-488B-9FF3-0BDDC3A99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4CA4C-31D2-4F64-91AC-C4AC0D16B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121AA-C5EE-4F54-A9D4-A5976E76B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D897A6-A89F-4304-8833-8C3B945D8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8DF92E-1A36-4842-9C1C-3CB4A8C42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36AA6-0947-4082-BEB2-7C39E8A6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24FA2-B079-4775-A943-5829398A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20CD0E-A6DC-4ED2-8645-6DB296231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1610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122D-8D06-4E2F-9773-B98454C65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DE1436-915F-4FF2-9088-7D429B49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0AC67-C858-44A5-B091-27F603A9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CF93D-CE35-436C-81F1-35F9CB8B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2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57528-03FF-44A2-B8B2-925373D7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55295-1376-4C6A-9635-48F1F70A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05621-A1C6-4312-AFF9-95027EA44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034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73D3-74A8-4FE1-AE3D-ADBDF1949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6ECAC-4F25-464D-BECF-9A67DB51F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FB338-6838-449F-AF73-42F12ED48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044C2-86B9-4366-B94E-B0F0D8F3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24FB8-3559-4580-97FD-D34C7854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5DB55-4D27-4FE7-A515-7BACEAAE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2468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9B26-977E-4A48-8D1F-D28E6D2F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A35D80-8836-4179-9204-0A0F495F1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2ED77-0F4C-4A00-BB1C-9DA97AE4A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C98E2-2B56-4DA2-9624-FEF547E1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5C9A3-34CC-45DF-84F7-36CF06AF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43064-F041-41E7-AE2F-3D6702DE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241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A4667-5B84-483F-9EAA-6AAA60F3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64661-A3A6-405B-A11B-82F2654F8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6CAF9-F3A5-4EE9-85F3-CD299B80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F3BF3-F750-4370-8B48-E00048A3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10770-AC79-497F-880D-F39E11A9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409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E32606-9A86-4173-9B4C-C9294943E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98CEF-607B-47FA-9A3E-4836C44A7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787BE-315B-496B-AAAE-76742F629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3416F-43A6-4E06-92AB-AD4C45E4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A56FE-9CB6-418C-9D69-4373CB7F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3572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18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696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568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911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717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6594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6374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109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083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6208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40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A70162-DF45-4AA0-95F7-9C691784F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E33DE-075D-485F-A1A3-59BBEF1E7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B7FAB-97A1-4382-9E9B-D2AB80BD9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D62D8-D4DE-4ABA-A7F1-F98236B685A8}" type="datetimeFigureOut">
              <a:rPr lang="en-AU" smtClean="0"/>
              <a:t>2/11/2022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1355E-44ED-40D7-B8B5-68E842418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6615-1250-4C7B-85DF-3E82A1540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FE3D5-16E8-40CE-B06A-EADBC4C788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26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02AEF-9BC8-4210-8BE8-1CFEAC08FF91}" type="datetimeFigureOut">
              <a:rPr lang="en-GB" smtClean="0"/>
              <a:t>02/11/2022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B092E-F7BF-49D4-8189-D7A54C1630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31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93BD84-DAD6-48D6-A5D5-589E3F85F810}"/>
              </a:ext>
            </a:extLst>
          </p:cNvPr>
          <p:cNvSpPr txBox="1"/>
          <p:nvPr/>
        </p:nvSpPr>
        <p:spPr>
          <a:xfrm>
            <a:off x="267401" y="2106459"/>
            <a:ext cx="11657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u="sng" dirty="0"/>
              <a:t>Aim</a:t>
            </a:r>
            <a:r>
              <a:rPr lang="en-AU" sz="2800" dirty="0"/>
              <a:t>: </a:t>
            </a:r>
            <a:r>
              <a:rPr lang="en-AU" sz="2800" dirty="0">
                <a:solidFill>
                  <a:srgbClr val="00B0F0"/>
                </a:solidFill>
              </a:rPr>
              <a:t>Be able to explain how and outlier affects the mean, median and mode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3480B8-D058-43B6-ABAE-58D906636150}"/>
              </a:ext>
            </a:extLst>
          </p:cNvPr>
          <p:cNvSpPr txBox="1"/>
          <p:nvPr/>
        </p:nvSpPr>
        <p:spPr>
          <a:xfrm>
            <a:off x="4355977" y="603681"/>
            <a:ext cx="348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Title: </a:t>
            </a:r>
            <a:r>
              <a:rPr lang="en-US" sz="3200" dirty="0">
                <a:solidFill>
                  <a:srgbClr val="00B0F0"/>
                </a:solidFill>
              </a:rPr>
              <a:t>Outlier</a:t>
            </a:r>
            <a:endParaRPr lang="en-AU" sz="3200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BFA8CC-C102-4041-A4D6-9870AF598842}"/>
              </a:ext>
            </a:extLst>
          </p:cNvPr>
          <p:cNvSpPr txBox="1"/>
          <p:nvPr/>
        </p:nvSpPr>
        <p:spPr>
          <a:xfrm>
            <a:off x="267401" y="3797435"/>
            <a:ext cx="116571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P</a:t>
            </a:r>
            <a:r>
              <a:rPr lang="en-AU" sz="2800" b="1" u="sng" dirty="0" err="1"/>
              <a:t>lan</a:t>
            </a:r>
            <a:r>
              <a:rPr lang="en-AU" sz="2800" b="1" u="sng" dirty="0"/>
              <a:t>:</a:t>
            </a:r>
            <a:r>
              <a:rPr lang="en-AU" sz="2800" dirty="0"/>
              <a:t> </a:t>
            </a:r>
          </a:p>
          <a:p>
            <a:pPr marL="457200" indent="-457200">
              <a:buFontTx/>
              <a:buChar char="-"/>
            </a:pPr>
            <a:r>
              <a:rPr lang="en-AU" sz="2800" dirty="0">
                <a:solidFill>
                  <a:srgbClr val="00B0F0"/>
                </a:solidFill>
              </a:rPr>
              <a:t>Investigating changes in data </a:t>
            </a:r>
          </a:p>
          <a:p>
            <a:pPr marL="457200" indent="-457200">
              <a:buFontTx/>
              <a:buChar char="-"/>
            </a:pPr>
            <a:r>
              <a:rPr lang="en-AU" sz="2800" dirty="0">
                <a:solidFill>
                  <a:srgbClr val="00B0F0"/>
                </a:solidFill>
              </a:rPr>
              <a:t>Identifying outliers </a:t>
            </a:r>
          </a:p>
        </p:txBody>
      </p:sp>
    </p:spTree>
    <p:extLst>
      <p:ext uri="{BB962C8B-B14F-4D97-AF65-F5344CB8AC3E}">
        <p14:creationId xmlns:p14="http://schemas.microsoft.com/office/powerpoint/2010/main" val="1328024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68760"/>
            <a:ext cx="8229600" cy="5256584"/>
          </a:xfrm>
        </p:spPr>
        <p:txBody>
          <a:bodyPr>
            <a:normAutofit/>
          </a:bodyPr>
          <a:lstStyle/>
          <a:p>
            <a:r>
              <a:rPr lang="en-GB" dirty="0"/>
              <a:t>How many brothers and sisters do you have?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Calculate the mean number of siblings in this class.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51585" y="1916832"/>
          <a:ext cx="7303453" cy="3337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14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No. of siblings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Tally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Frequency x no. of siblings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861074"/>
              </p:ext>
            </p:extLst>
          </p:nvPr>
        </p:nvGraphicFramePr>
        <p:xfrm>
          <a:off x="2351584" y="1916832"/>
          <a:ext cx="4572000" cy="3337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No. of siblings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Tally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33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124B-0702-460C-9AA6-39628D5CA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9963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highlight>
                  <a:srgbClr val="FFFF00"/>
                </a:highlight>
              </a:rPr>
              <a:t>The following questions need to be completed in your exercise books as we need to compare changes later. </a:t>
            </a:r>
            <a:endParaRPr lang="en-AU" sz="48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EB05A-AE29-0EFE-DC0C-05399A93F8EC}"/>
              </a:ext>
            </a:extLst>
          </p:cNvPr>
          <p:cNvSpPr txBox="1"/>
          <p:nvPr/>
        </p:nvSpPr>
        <p:spPr>
          <a:xfrm>
            <a:off x="0" y="3429000"/>
            <a:ext cx="5486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Question 1</a:t>
            </a:r>
          </a:p>
          <a:p>
            <a:r>
              <a:rPr lang="en-AU" sz="3200" dirty="0"/>
              <a:t>Ordered </a:t>
            </a:r>
          </a:p>
          <a:p>
            <a:r>
              <a:rPr lang="en-AU" sz="3200" dirty="0"/>
              <a:t>Median = </a:t>
            </a:r>
          </a:p>
          <a:p>
            <a:r>
              <a:rPr lang="en-AU" sz="3200" dirty="0"/>
              <a:t>Mean =</a:t>
            </a:r>
          </a:p>
          <a:p>
            <a:r>
              <a:rPr lang="en-AU" sz="3200" dirty="0"/>
              <a:t>Mode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3CD13-4D30-A026-3AAF-DBD4F80E740B}"/>
              </a:ext>
            </a:extLst>
          </p:cNvPr>
          <p:cNvSpPr txBox="1"/>
          <p:nvPr/>
        </p:nvSpPr>
        <p:spPr>
          <a:xfrm>
            <a:off x="3740460" y="3429000"/>
            <a:ext cx="5486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Question 2</a:t>
            </a:r>
          </a:p>
          <a:p>
            <a:r>
              <a:rPr lang="en-AU" sz="3200" dirty="0"/>
              <a:t>Ordered </a:t>
            </a:r>
          </a:p>
          <a:p>
            <a:r>
              <a:rPr lang="en-AU" sz="3200" dirty="0"/>
              <a:t>Median = </a:t>
            </a:r>
          </a:p>
          <a:p>
            <a:r>
              <a:rPr lang="en-AU" sz="3200" dirty="0"/>
              <a:t>Mean =</a:t>
            </a:r>
          </a:p>
          <a:p>
            <a:r>
              <a:rPr lang="en-AU" sz="3200" dirty="0"/>
              <a:t>Mode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63E8A-D526-5701-D6B6-5A305B2BE158}"/>
              </a:ext>
            </a:extLst>
          </p:cNvPr>
          <p:cNvSpPr txBox="1"/>
          <p:nvPr/>
        </p:nvSpPr>
        <p:spPr>
          <a:xfrm>
            <a:off x="7683625" y="3429000"/>
            <a:ext cx="5486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Question 3</a:t>
            </a:r>
          </a:p>
          <a:p>
            <a:r>
              <a:rPr lang="en-AU" sz="3200" dirty="0"/>
              <a:t>Ordered </a:t>
            </a:r>
          </a:p>
          <a:p>
            <a:r>
              <a:rPr lang="en-AU" sz="3200" dirty="0"/>
              <a:t>Median = </a:t>
            </a:r>
          </a:p>
          <a:p>
            <a:r>
              <a:rPr lang="en-AU" sz="3200" dirty="0"/>
              <a:t>Mean =</a:t>
            </a:r>
          </a:p>
          <a:p>
            <a:r>
              <a:rPr lang="en-AU" sz="3200" dirty="0"/>
              <a:t>Mode = </a:t>
            </a:r>
          </a:p>
        </p:txBody>
      </p:sp>
    </p:spTree>
    <p:extLst>
      <p:ext uri="{BB962C8B-B14F-4D97-AF65-F5344CB8AC3E}">
        <p14:creationId xmlns:p14="http://schemas.microsoft.com/office/powerpoint/2010/main" val="1561549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93BD84-DAD6-48D6-A5D5-589E3F85F810}"/>
              </a:ext>
            </a:extLst>
          </p:cNvPr>
          <p:cNvSpPr txBox="1"/>
          <p:nvPr/>
        </p:nvSpPr>
        <p:spPr>
          <a:xfrm>
            <a:off x="235612" y="224393"/>
            <a:ext cx="1165719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1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13, 15, 7, 7, 31, 9, 15, 15, 11, 17</a:t>
            </a:r>
          </a:p>
          <a:p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Font typeface="+mj-lt"/>
              <a:buAutoNum type="alphaLcParenR"/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this set in numerical order</a:t>
            </a:r>
          </a:p>
          <a:p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Font typeface="+mj-lt"/>
              <a:buAutoNum type="alphaLcParenR"/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 the mean, mode median of this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DF11F1-5A48-4E0F-9A00-8EB32B99419A}"/>
                  </a:ext>
                </a:extLst>
              </p:cNvPr>
              <p:cNvSpPr txBox="1"/>
              <p:nvPr/>
            </p:nvSpPr>
            <p:spPr>
              <a:xfrm>
                <a:off x="905051" y="3831855"/>
                <a:ext cx="11051337" cy="2837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4000" b="1" dirty="0">
                    <a:solidFill>
                      <a:srgbClr val="0070C0"/>
                    </a:solidFill>
                  </a:rPr>
                  <a:t>Mean=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𝟑𝟏</m:t>
                        </m:r>
                      </m:num>
                      <m:den>
                        <m:r>
                          <a:rPr lang="en-AU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AU" sz="4000" b="1" dirty="0">
                    <a:solidFill>
                      <a:srgbClr val="0070C0"/>
                    </a:solidFill>
                  </a:rPr>
                  <a:t> = 14</a:t>
                </a:r>
              </a:p>
              <a:p>
                <a:r>
                  <a:rPr lang="en-AU" sz="4000" b="1" dirty="0">
                    <a:solidFill>
                      <a:srgbClr val="0070C0"/>
                    </a:solidFill>
                  </a:rPr>
                  <a:t>Median=14</a:t>
                </a:r>
              </a:p>
              <a:p>
                <a:r>
                  <a:rPr lang="en-AU" sz="4000" b="1" dirty="0">
                    <a:solidFill>
                      <a:srgbClr val="0070C0"/>
                    </a:solidFill>
                  </a:rPr>
                  <a:t>Mode=15</a:t>
                </a:r>
              </a:p>
              <a:p>
                <a:r>
                  <a:rPr lang="en-AU" sz="4000" b="1" dirty="0">
                    <a:solidFill>
                      <a:srgbClr val="0070C0"/>
                    </a:solidFill>
                  </a:rPr>
                  <a:t>Range= 31-7=24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DF11F1-5A48-4E0F-9A00-8EB32B994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051" y="3831855"/>
                <a:ext cx="11051337" cy="2837315"/>
              </a:xfrm>
              <a:prstGeom prst="rect">
                <a:avLst/>
              </a:prstGeom>
              <a:blipFill>
                <a:blip r:embed="rId2"/>
                <a:stretch>
                  <a:fillRect l="-1931" b="-83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D3A381-1181-4BD8-875B-B555F3EFB2B3}"/>
              </a:ext>
            </a:extLst>
          </p:cNvPr>
          <p:cNvSpPr txBox="1"/>
          <p:nvPr/>
        </p:nvSpPr>
        <p:spPr>
          <a:xfrm>
            <a:off x="859982" y="2476924"/>
            <a:ext cx="11051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7, 7, 9, 11, 13, 15, 15, 15, 17, 31</a:t>
            </a:r>
          </a:p>
        </p:txBody>
      </p:sp>
    </p:spTree>
    <p:extLst>
      <p:ext uri="{BB962C8B-B14F-4D97-AF65-F5344CB8AC3E}">
        <p14:creationId xmlns:p14="http://schemas.microsoft.com/office/powerpoint/2010/main" val="125011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93BD84-DAD6-48D6-A5D5-589E3F85F810}"/>
              </a:ext>
            </a:extLst>
          </p:cNvPr>
          <p:cNvSpPr txBox="1"/>
          <p:nvPr/>
        </p:nvSpPr>
        <p:spPr>
          <a:xfrm>
            <a:off x="235612" y="224393"/>
            <a:ext cx="1165719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2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13, 15, 7, 7, 9, 15, 15, 11, 17, 21</a:t>
            </a:r>
          </a:p>
          <a:p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Write this set in numerical order</a:t>
            </a:r>
          </a:p>
          <a:p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How does this set differ from the set in </a:t>
            </a:r>
            <a:r>
              <a:rPr lang="en-AU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1</a:t>
            </a: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</a:p>
          <a:p>
            <a:pPr marL="342900" lvl="0" indent="-342900">
              <a:buFont typeface="+mj-lt"/>
              <a:buAutoNum type="alphaLcParenR"/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 the mean, mode median of this 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DF11F1-5A48-4E0F-9A00-8EB32B99419A}"/>
                  </a:ext>
                </a:extLst>
              </p:cNvPr>
              <p:cNvSpPr txBox="1"/>
              <p:nvPr/>
            </p:nvSpPr>
            <p:spPr>
              <a:xfrm>
                <a:off x="841473" y="4365319"/>
                <a:ext cx="11051337" cy="1582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>
                    <a:solidFill>
                      <a:srgbClr val="FF0000"/>
                    </a:solidFill>
                  </a:rPr>
                  <a:t>Mean=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AU" sz="2800" b="1" dirty="0">
                    <a:solidFill>
                      <a:srgbClr val="FF0000"/>
                    </a:solidFill>
                  </a:rPr>
                  <a:t> = 13</a:t>
                </a:r>
              </a:p>
              <a:p>
                <a:r>
                  <a:rPr lang="en-AU" sz="2800" b="1" dirty="0">
                    <a:solidFill>
                      <a:srgbClr val="FF0000"/>
                    </a:solidFill>
                  </a:rPr>
                  <a:t>Median=14</a:t>
                </a:r>
              </a:p>
              <a:p>
                <a:r>
                  <a:rPr lang="en-AU" sz="2800" b="1" dirty="0">
                    <a:solidFill>
                      <a:srgbClr val="FF0000"/>
                    </a:solidFill>
                  </a:rPr>
                  <a:t>Mode</a:t>
                </a:r>
                <a:r>
                  <a:rPr lang="en-AU" sz="2800" b="1">
                    <a:solidFill>
                      <a:srgbClr val="FF0000"/>
                    </a:solidFill>
                  </a:rPr>
                  <a:t>=15</a:t>
                </a:r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DF11F1-5A48-4E0F-9A00-8EB32B994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73" y="4365319"/>
                <a:ext cx="11051337" cy="1582806"/>
              </a:xfrm>
              <a:prstGeom prst="rect">
                <a:avLst/>
              </a:prstGeom>
              <a:blipFill>
                <a:blip r:embed="rId2"/>
                <a:stretch>
                  <a:fillRect l="-1103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D3A381-1181-4BD8-875B-B555F3EFB2B3}"/>
              </a:ext>
            </a:extLst>
          </p:cNvPr>
          <p:cNvSpPr txBox="1"/>
          <p:nvPr/>
        </p:nvSpPr>
        <p:spPr>
          <a:xfrm>
            <a:off x="781401" y="1616849"/>
            <a:ext cx="11051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FF0000"/>
                </a:solidFill>
              </a:rPr>
              <a:t>7, 7, 9, 11, 13, 15, 15, 15, 17, 21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E916D-E05F-4091-9B3E-3544143EC80D}"/>
              </a:ext>
            </a:extLst>
          </p:cNvPr>
          <p:cNvSpPr txBox="1"/>
          <p:nvPr/>
        </p:nvSpPr>
        <p:spPr>
          <a:xfrm>
            <a:off x="690738" y="2790975"/>
            <a:ext cx="11051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FF0000"/>
                </a:solidFill>
              </a:rPr>
              <a:t>The maximum has reduced by 10</a:t>
            </a:r>
          </a:p>
        </p:txBody>
      </p:sp>
    </p:spTree>
    <p:extLst>
      <p:ext uri="{BB962C8B-B14F-4D97-AF65-F5344CB8AC3E}">
        <p14:creationId xmlns:p14="http://schemas.microsoft.com/office/powerpoint/2010/main" val="347500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93BD84-DAD6-48D6-A5D5-589E3F85F810}"/>
              </a:ext>
            </a:extLst>
          </p:cNvPr>
          <p:cNvSpPr txBox="1"/>
          <p:nvPr/>
        </p:nvSpPr>
        <p:spPr>
          <a:xfrm>
            <a:off x="235612" y="224393"/>
            <a:ext cx="116571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d) How do the values of the mean, median and range of this set differ from the mean, median, mode and range in </a:t>
            </a:r>
            <a:r>
              <a:rPr lang="en-A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1</a:t>
            </a:r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 Have they increased or decreased? Why do you think this is? What is different about this set compared to the set in </a:t>
            </a:r>
            <a:r>
              <a:rPr lang="en-A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1</a:t>
            </a:r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DF11F1-5A48-4E0F-9A00-8EB32B99419A}"/>
              </a:ext>
            </a:extLst>
          </p:cNvPr>
          <p:cNvSpPr txBox="1"/>
          <p:nvPr/>
        </p:nvSpPr>
        <p:spPr>
          <a:xfrm>
            <a:off x="5372099" y="2070771"/>
            <a:ext cx="28702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Question 2: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Mean= 13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Median=14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Mode=15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Range=14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5886E-7B6B-4474-B845-AC5D1FFCCECA}"/>
              </a:ext>
            </a:extLst>
          </p:cNvPr>
          <p:cNvSpPr txBox="1"/>
          <p:nvPr/>
        </p:nvSpPr>
        <p:spPr>
          <a:xfrm>
            <a:off x="3683282" y="2055523"/>
            <a:ext cx="23952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Question 1:</a:t>
            </a:r>
          </a:p>
          <a:p>
            <a:r>
              <a:rPr lang="en-AU" sz="2400" b="1" dirty="0">
                <a:solidFill>
                  <a:srgbClr val="0070C0"/>
                </a:solidFill>
              </a:rPr>
              <a:t>Mean = 14</a:t>
            </a:r>
          </a:p>
          <a:p>
            <a:r>
              <a:rPr lang="en-AU" sz="2400" b="1" dirty="0">
                <a:solidFill>
                  <a:srgbClr val="0070C0"/>
                </a:solidFill>
              </a:rPr>
              <a:t>Median=14</a:t>
            </a:r>
          </a:p>
          <a:p>
            <a:r>
              <a:rPr lang="en-AU" sz="2400" b="1" dirty="0">
                <a:solidFill>
                  <a:srgbClr val="0070C0"/>
                </a:solidFill>
              </a:rPr>
              <a:t>Mode=15</a:t>
            </a:r>
          </a:p>
          <a:p>
            <a:r>
              <a:rPr lang="en-AU" sz="2400" b="1" dirty="0">
                <a:solidFill>
                  <a:srgbClr val="0070C0"/>
                </a:solidFill>
              </a:rPr>
              <a:t>Range=24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DB376-C9B2-4338-9011-3CD17AEC8439}"/>
              </a:ext>
            </a:extLst>
          </p:cNvPr>
          <p:cNvSpPr txBox="1"/>
          <p:nvPr/>
        </p:nvSpPr>
        <p:spPr>
          <a:xfrm>
            <a:off x="781401" y="4145966"/>
            <a:ext cx="110513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7030A0"/>
                </a:solidFill>
              </a:rPr>
              <a:t>The mean has decreased from question 1 to question 2. this is because the maximum score changed by 10 thus so did the range.</a:t>
            </a:r>
          </a:p>
        </p:txBody>
      </p:sp>
    </p:spTree>
    <p:extLst>
      <p:ext uri="{BB962C8B-B14F-4D97-AF65-F5344CB8AC3E}">
        <p14:creationId xmlns:p14="http://schemas.microsoft.com/office/powerpoint/2010/main" val="104928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93BD84-DAD6-48D6-A5D5-589E3F85F810}"/>
              </a:ext>
            </a:extLst>
          </p:cNvPr>
          <p:cNvSpPr txBox="1"/>
          <p:nvPr/>
        </p:nvSpPr>
        <p:spPr>
          <a:xfrm>
            <a:off x="235612" y="224393"/>
            <a:ext cx="116571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3</a:t>
            </a:r>
            <a:endParaRPr lang="en-A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1, 1, 13, 15, 20, 11, 15, 15, 11, 17 </a:t>
            </a:r>
          </a:p>
          <a:p>
            <a:pPr marL="342900" lvl="0" indent="-342900">
              <a:buFont typeface="+mj-lt"/>
              <a:buAutoNum type="alphaLcParenR"/>
            </a:pPr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this set in numerical order</a:t>
            </a:r>
          </a:p>
          <a:p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Font typeface="+mj-lt"/>
              <a:buAutoNum type="alphaLcParenR"/>
            </a:pPr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this set differ from the set in </a:t>
            </a:r>
            <a:r>
              <a:rPr lang="en-A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2</a:t>
            </a:r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buFont typeface="+mj-lt"/>
              <a:buAutoNum type="alphaLcParenR"/>
            </a:pPr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 the mean, mode median of this 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DF11F1-5A48-4E0F-9A00-8EB32B99419A}"/>
                  </a:ext>
                </a:extLst>
              </p:cNvPr>
              <p:cNvSpPr txBox="1"/>
              <p:nvPr/>
            </p:nvSpPr>
            <p:spPr>
              <a:xfrm>
                <a:off x="841473" y="4619914"/>
                <a:ext cx="11051337" cy="1582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>
                    <a:solidFill>
                      <a:schemeClr val="accent2">
                        <a:lumMod val="75000"/>
                      </a:schemeClr>
                    </a:solidFill>
                  </a:rPr>
                  <a:t>Mean=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AU" sz="2800" b="1" dirty="0">
                    <a:solidFill>
                      <a:schemeClr val="accent2">
                        <a:lumMod val="75000"/>
                      </a:schemeClr>
                    </a:solidFill>
                  </a:rPr>
                  <a:t> = 12</a:t>
                </a:r>
              </a:p>
              <a:p>
                <a:r>
                  <a:rPr lang="en-AU" sz="2800" b="1" dirty="0">
                    <a:solidFill>
                      <a:schemeClr val="accent2">
                        <a:lumMod val="75000"/>
                      </a:schemeClr>
                    </a:solidFill>
                  </a:rPr>
                  <a:t>Median=14</a:t>
                </a:r>
              </a:p>
              <a:p>
                <a:r>
                  <a:rPr lang="en-AU" sz="2800" b="1" dirty="0">
                    <a:solidFill>
                      <a:schemeClr val="accent2">
                        <a:lumMod val="75000"/>
                      </a:schemeClr>
                    </a:solidFill>
                  </a:rPr>
                  <a:t>Mode=15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DF11F1-5A48-4E0F-9A00-8EB32B994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73" y="4619914"/>
                <a:ext cx="11051337" cy="1582806"/>
              </a:xfrm>
              <a:prstGeom prst="rect">
                <a:avLst/>
              </a:prstGeom>
              <a:blipFill>
                <a:blip r:embed="rId2"/>
                <a:stretch>
                  <a:fillRect l="-1103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D3A381-1181-4BD8-875B-B555F3EFB2B3}"/>
              </a:ext>
            </a:extLst>
          </p:cNvPr>
          <p:cNvSpPr txBox="1"/>
          <p:nvPr/>
        </p:nvSpPr>
        <p:spPr>
          <a:xfrm>
            <a:off x="781401" y="1616849"/>
            <a:ext cx="11051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chemeClr val="accent2">
                    <a:lumMod val="75000"/>
                  </a:schemeClr>
                </a:solidFill>
              </a:rPr>
              <a:t>1, 1, 11, 11, 13, 15, 15, 15, 17, 21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E916D-E05F-4091-9B3E-3544143EC80D}"/>
              </a:ext>
            </a:extLst>
          </p:cNvPr>
          <p:cNvSpPr txBox="1"/>
          <p:nvPr/>
        </p:nvSpPr>
        <p:spPr>
          <a:xfrm>
            <a:off x="690738" y="2790975"/>
            <a:ext cx="11051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chemeClr val="accent2">
                    <a:lumMod val="75000"/>
                  </a:schemeClr>
                </a:solidFill>
              </a:rPr>
              <a:t>The minimum has reduced by 6</a:t>
            </a:r>
          </a:p>
        </p:txBody>
      </p:sp>
    </p:spTree>
    <p:extLst>
      <p:ext uri="{BB962C8B-B14F-4D97-AF65-F5344CB8AC3E}">
        <p14:creationId xmlns:p14="http://schemas.microsoft.com/office/powerpoint/2010/main" val="107765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93BD84-DAD6-48D6-A5D5-589E3F85F810}"/>
              </a:ext>
            </a:extLst>
          </p:cNvPr>
          <p:cNvSpPr txBox="1"/>
          <p:nvPr/>
        </p:nvSpPr>
        <p:spPr>
          <a:xfrm>
            <a:off x="235612" y="224393"/>
            <a:ext cx="116571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d) How do the values of the mean, median and range of this set differ from the mean, median, mode and range in </a:t>
            </a:r>
            <a:r>
              <a:rPr lang="en-A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1</a:t>
            </a:r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 Have they increased or decreased? Why do you think this is? What is different about this set compared to the set in </a:t>
            </a:r>
            <a:r>
              <a:rPr lang="en-A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1</a:t>
            </a:r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DF11F1-5A48-4E0F-9A00-8EB32B99419A}"/>
              </a:ext>
            </a:extLst>
          </p:cNvPr>
          <p:cNvSpPr txBox="1"/>
          <p:nvPr/>
        </p:nvSpPr>
        <p:spPr>
          <a:xfrm>
            <a:off x="3600449" y="2206974"/>
            <a:ext cx="28702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Question 2: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Mean= 13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Median=14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Mode=15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Range=14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DB376-C9B2-4338-9011-3CD17AEC8439}"/>
              </a:ext>
            </a:extLst>
          </p:cNvPr>
          <p:cNvSpPr txBox="1"/>
          <p:nvPr/>
        </p:nvSpPr>
        <p:spPr>
          <a:xfrm>
            <a:off x="781401" y="4145966"/>
            <a:ext cx="110513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7030A0"/>
                </a:solidFill>
              </a:rPr>
              <a:t>The mean has decreased from question 2 to question 3. This is because the minimum score changed by 6 thus so did the range.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9D7762-111A-4932-8216-F0191F0F706A}"/>
              </a:ext>
            </a:extLst>
          </p:cNvPr>
          <p:cNvSpPr txBox="1"/>
          <p:nvPr/>
        </p:nvSpPr>
        <p:spPr>
          <a:xfrm>
            <a:off x="5442048" y="2169624"/>
            <a:ext cx="110513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Question 3:</a:t>
            </a:r>
          </a:p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Mean= 12</a:t>
            </a:r>
          </a:p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Median=14</a:t>
            </a:r>
          </a:p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Mode=15</a:t>
            </a:r>
          </a:p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Range =20</a:t>
            </a:r>
          </a:p>
        </p:txBody>
      </p:sp>
    </p:spTree>
    <p:extLst>
      <p:ext uri="{BB962C8B-B14F-4D97-AF65-F5344CB8AC3E}">
        <p14:creationId xmlns:p14="http://schemas.microsoft.com/office/powerpoint/2010/main" val="383424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93BD84-DAD6-48D6-A5D5-589E3F85F810}"/>
              </a:ext>
            </a:extLst>
          </p:cNvPr>
          <p:cNvSpPr txBox="1"/>
          <p:nvPr/>
        </p:nvSpPr>
        <p:spPr>
          <a:xfrm>
            <a:off x="235612" y="224393"/>
            <a:ext cx="1165719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Outliers</a:t>
            </a:r>
          </a:p>
          <a:p>
            <a:pPr algn="ctr"/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A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Outliers are values that lie far from the rest of a set of data. They can be much larger, or much smaller than the rest of the values in the data set.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83093-9961-4327-B50A-79366F99895D}"/>
              </a:ext>
            </a:extLst>
          </p:cNvPr>
          <p:cNvSpPr txBox="1"/>
          <p:nvPr/>
        </p:nvSpPr>
        <p:spPr>
          <a:xfrm>
            <a:off x="2842380" y="1732498"/>
            <a:ext cx="7208876" cy="395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Highlight or circle the outliers in each of the following sets of data 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romanLcParenR"/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12, 13, 10, 16, 17, 13, 13, 58, 12, 11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romanLcParenR"/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45, 67, 55, 58, 47, 12, 66, 49, 53, 54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romanLcParenR"/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-5, 11, 10, 11, 10, 11, 9, 10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romanLcParenR"/>
            </a:pPr>
            <a:r>
              <a:rPr lang="en-A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2, 34, 29, 33, 34, 34, 37, 38, 30, 67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A624CE-E8F1-4F55-A093-DF268998FD9D}"/>
              </a:ext>
            </a:extLst>
          </p:cNvPr>
          <p:cNvSpPr/>
          <p:nvPr/>
        </p:nvSpPr>
        <p:spPr>
          <a:xfrm>
            <a:off x="7660528" y="2793206"/>
            <a:ext cx="521494" cy="71437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8EAB9AB-654A-4355-8555-A5682DEED70D}"/>
              </a:ext>
            </a:extLst>
          </p:cNvPr>
          <p:cNvSpPr/>
          <p:nvPr/>
        </p:nvSpPr>
        <p:spPr>
          <a:xfrm>
            <a:off x="6430924" y="3559968"/>
            <a:ext cx="521494" cy="71437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13241E-F618-4D27-BBC4-8091CCDC2A55}"/>
              </a:ext>
            </a:extLst>
          </p:cNvPr>
          <p:cNvSpPr/>
          <p:nvPr/>
        </p:nvSpPr>
        <p:spPr>
          <a:xfrm>
            <a:off x="3345658" y="4274343"/>
            <a:ext cx="521494" cy="71437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D8DCB3-2D65-46B7-9521-7DB082944C18}"/>
              </a:ext>
            </a:extLst>
          </p:cNvPr>
          <p:cNvSpPr/>
          <p:nvPr/>
        </p:nvSpPr>
        <p:spPr>
          <a:xfrm>
            <a:off x="3281362" y="5053013"/>
            <a:ext cx="521494" cy="71437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F602A5-E50E-4B61-86EF-94979070083B}"/>
              </a:ext>
            </a:extLst>
          </p:cNvPr>
          <p:cNvSpPr/>
          <p:nvPr/>
        </p:nvSpPr>
        <p:spPr>
          <a:xfrm>
            <a:off x="8653462" y="5053012"/>
            <a:ext cx="521494" cy="71437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59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D7AE-4BC7-458C-B9C6-C23F2BB7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Outlier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7E115-F6FD-4EFE-AB74-3EC43AFFA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AU" dirty="0"/>
              <a:t>Describe what an outlier is/how would you identify an outlier?</a:t>
            </a:r>
          </a:p>
          <a:p>
            <a:pPr marL="514350" indent="-514350">
              <a:buAutoNum type="arabicPeriod"/>
            </a:pP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What effect do </a:t>
            </a:r>
            <a:r>
              <a:rPr lang="en-AU"/>
              <a:t>outliers have on a data set? </a:t>
            </a:r>
          </a:p>
        </p:txBody>
      </p:sp>
    </p:spTree>
    <p:extLst>
      <p:ext uri="{BB962C8B-B14F-4D97-AF65-F5344CB8AC3E}">
        <p14:creationId xmlns:p14="http://schemas.microsoft.com/office/powerpoint/2010/main" val="1888941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C42B-65A8-4BDA-8EB0-34FF4C7DF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Skills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B5F05-12D8-45D4-A5BF-62E26911E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Complete the activities provided.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3562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763</Words>
  <Application>Microsoft Office PowerPoint</Application>
  <PresentationFormat>Widescreen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1_Office Theme</vt:lpstr>
      <vt:lpstr>PowerPoint Presentation</vt:lpstr>
      <vt:lpstr>Starter</vt:lpstr>
      <vt:lpstr>The following questions need to be completed in your exercise books as we need to compare changes later.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Outlier </vt:lpstr>
      <vt:lpstr>Skills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GALE Denham [Busselton Senior High School]</dc:creator>
  <cp:lastModifiedBy>DAVIES Rhys [Busselton Senior High School]</cp:lastModifiedBy>
  <cp:revision>10</cp:revision>
  <dcterms:created xsi:type="dcterms:W3CDTF">2021-12-02T02:10:23Z</dcterms:created>
  <dcterms:modified xsi:type="dcterms:W3CDTF">2022-11-02T04:32:36Z</dcterms:modified>
</cp:coreProperties>
</file>
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9" r:id="rId3"/>
    <p:sldId id="262" r:id="rId4"/>
    <p:sldId id="269" r:id="rId5"/>
    <p:sldId id="264" r:id="rId6"/>
    <p:sldId id="267" r:id="rId7"/>
    <p:sldId id="265" r:id="rId8"/>
    <p:sldId id="266" r:id="rId9"/>
    <p:sldId id="268" r:id="rId10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65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1767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482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15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44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10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81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4288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298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07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141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7728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711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7924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736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876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1588E-D072-4317-B878-3E9FE8CEA541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39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pos="9216">
          <p15:clr>
            <a:srgbClr val="F26B43"/>
          </p15:clr>
        </p15:guide>
        <p15:guide id="3" pos="1248">
          <p15:clr>
            <a:srgbClr val="F26B43"/>
          </p15:clr>
        </p15:guide>
        <p15:guide id="4" pos="1152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651418-86AC-7006-2E30-7A3251A6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21A8C2-3BC9-B976-8A19-83FF2A9B0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19250"/>
            <a:ext cx="89154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Title: </a:t>
            </a:r>
            <a:r>
              <a:rPr lang="en-US" sz="2400" b="1" dirty="0">
                <a:solidFill>
                  <a:srgbClr val="00B0F0"/>
                </a:solidFill>
              </a:rPr>
              <a:t>Topic review 1</a:t>
            </a:r>
          </a:p>
          <a:p>
            <a:pPr marL="0" indent="0">
              <a:buNone/>
            </a:pPr>
            <a:endParaRPr lang="en-US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B0F0"/>
                </a:solidFill>
              </a:rPr>
              <a:t>Create a frequency table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B0F0"/>
                </a:solidFill>
              </a:rPr>
              <a:t>Determine central tendencies from a frequency table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B0F0"/>
                </a:solidFill>
              </a:rPr>
              <a:t>Draw column graphs from a table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2400" b="1" dirty="0">
                <a:solidFill>
                  <a:srgbClr val="00B0F0"/>
                </a:solidFill>
              </a:rPr>
              <a:t>Review types of data </a:t>
            </a:r>
          </a:p>
          <a:p>
            <a:pPr>
              <a:buFontTx/>
              <a:buChar char="-"/>
            </a:pPr>
            <a:r>
              <a:rPr lang="en-US" sz="2400" b="1" dirty="0">
                <a:solidFill>
                  <a:srgbClr val="00B0F0"/>
                </a:solidFill>
              </a:rPr>
              <a:t>Frequency table </a:t>
            </a:r>
          </a:p>
        </p:txBody>
      </p:sp>
    </p:spTree>
    <p:extLst>
      <p:ext uri="{BB962C8B-B14F-4D97-AF65-F5344CB8AC3E}">
        <p14:creationId xmlns:p14="http://schemas.microsoft.com/office/powerpoint/2010/main" val="117923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076" y="2133600"/>
            <a:ext cx="10421536" cy="3777622"/>
          </a:xfrm>
        </p:spPr>
        <p:txBody>
          <a:bodyPr/>
          <a:lstStyle/>
          <a:p>
            <a:r>
              <a:rPr lang="en-GB" sz="2000" b="1" dirty="0">
                <a:solidFill>
                  <a:srgbClr val="FF0000"/>
                </a:solidFill>
              </a:rPr>
              <a:t>Categorical Data</a:t>
            </a:r>
            <a:r>
              <a:rPr lang="en-GB" sz="2000" b="1" dirty="0"/>
              <a:t> – 	</a:t>
            </a:r>
            <a:r>
              <a:rPr lang="en-GB" sz="2000" b="1" dirty="0">
                <a:solidFill>
                  <a:srgbClr val="00B0F0"/>
                </a:solidFill>
              </a:rPr>
              <a:t>This means data which can be placed into categories (can be </a:t>
            </a:r>
            <a:r>
              <a:rPr lang="en-GB" sz="2000" b="1" u="sng" dirty="0">
                <a:solidFill>
                  <a:srgbClr val="00B0F0"/>
                </a:solidFill>
              </a:rPr>
              <a:t>described using words</a:t>
            </a:r>
            <a:r>
              <a:rPr lang="en-GB" sz="2000" b="1" dirty="0">
                <a:solidFill>
                  <a:srgbClr val="00B0F0"/>
                </a:solidFill>
              </a:rPr>
              <a:t>).</a:t>
            </a:r>
          </a:p>
          <a:p>
            <a:endParaRPr lang="en-GB" sz="2000" b="1" dirty="0">
              <a:solidFill>
                <a:srgbClr val="FF0000"/>
              </a:solidFill>
            </a:endParaRPr>
          </a:p>
          <a:p>
            <a:r>
              <a:rPr lang="en-GB" sz="2000" b="1" dirty="0">
                <a:solidFill>
                  <a:srgbClr val="FF0000"/>
                </a:solidFill>
              </a:rPr>
              <a:t>Examples </a:t>
            </a:r>
            <a:r>
              <a:rPr lang="en-GB" sz="2000" b="1" dirty="0"/>
              <a:t>-	</a:t>
            </a:r>
            <a:r>
              <a:rPr lang="en-GB" sz="2000" b="1" dirty="0">
                <a:solidFill>
                  <a:srgbClr val="00B0F0"/>
                </a:solidFill>
              </a:rPr>
              <a:t>Eye colour, favourite food, brand of cereal you eat, places you go to shop, which football team you support, where you were born.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53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64" y="2133600"/>
            <a:ext cx="10377148" cy="3777622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Numerical Data</a:t>
            </a:r>
            <a:r>
              <a:rPr lang="en-GB" sz="2400" b="1" dirty="0"/>
              <a:t> – </a:t>
            </a:r>
            <a:r>
              <a:rPr lang="en-GB" sz="2400" b="1" dirty="0">
                <a:solidFill>
                  <a:srgbClr val="00B0F0"/>
                </a:solidFill>
              </a:rPr>
              <a:t>This means data which is in </a:t>
            </a:r>
            <a:r>
              <a:rPr lang="en-GB" sz="2400" b="1" u="sng" dirty="0">
                <a:solidFill>
                  <a:srgbClr val="00B0F0"/>
                </a:solidFill>
              </a:rPr>
              <a:t>number form </a:t>
            </a:r>
            <a:r>
              <a:rPr lang="en-GB" sz="2400" b="1" dirty="0">
                <a:solidFill>
                  <a:srgbClr val="00B0F0"/>
                </a:solidFill>
              </a:rPr>
              <a:t>(can be quantified).</a:t>
            </a:r>
          </a:p>
          <a:p>
            <a:endParaRPr lang="en-GB" sz="2400" b="1" dirty="0"/>
          </a:p>
          <a:p>
            <a:r>
              <a:rPr lang="en-GB" sz="2400" b="1" dirty="0">
                <a:solidFill>
                  <a:srgbClr val="FF0000"/>
                </a:solidFill>
              </a:rPr>
              <a:t>Examples </a:t>
            </a:r>
            <a:r>
              <a:rPr lang="en-GB" sz="2400" b="1" dirty="0"/>
              <a:t>-	</a:t>
            </a:r>
            <a:r>
              <a:rPr lang="en-GB" sz="2400" b="1" dirty="0">
                <a:solidFill>
                  <a:srgbClr val="00B0F0"/>
                </a:solidFill>
              </a:rPr>
              <a:t>Shoe size, height, number of siblings, annual income, number of pens in your pencil case.</a:t>
            </a:r>
          </a:p>
        </p:txBody>
      </p:sp>
    </p:spTree>
    <p:extLst>
      <p:ext uri="{BB962C8B-B14F-4D97-AF65-F5344CB8AC3E}">
        <p14:creationId xmlns:p14="http://schemas.microsoft.com/office/powerpoint/2010/main" val="98439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CE3E-8AED-1041-5A86-C702C363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C7BB-1A55-04AA-AF95-CF63C4EBA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876" y="154018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In your own words, describe (with examples):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Categorical data: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Numerical data: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97801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F6F6-F06A-441D-4296-6A60AE50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or numerical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1F464-FA39-FF74-FBA5-C18BD37F3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70" y="190500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Organize the following into categorical or numerical: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FontTx/>
              <a:buChar char="-"/>
            </a:pPr>
            <a:r>
              <a:rPr lang="en-US" sz="2400" b="1" dirty="0"/>
              <a:t>Best school subject </a:t>
            </a:r>
          </a:p>
          <a:p>
            <a:pPr>
              <a:buFontTx/>
              <a:buChar char="-"/>
            </a:pPr>
            <a:r>
              <a:rPr lang="en-US" sz="2400" b="1" dirty="0"/>
              <a:t>Number of pets owned</a:t>
            </a:r>
          </a:p>
          <a:p>
            <a:pPr>
              <a:buFontTx/>
              <a:buChar char="-"/>
            </a:pPr>
            <a:r>
              <a:rPr lang="en-US" sz="2400" b="1" dirty="0"/>
              <a:t>Shoe size </a:t>
            </a:r>
          </a:p>
          <a:p>
            <a:pPr>
              <a:buFontTx/>
              <a:buChar char="-"/>
            </a:pPr>
            <a:r>
              <a:rPr lang="en-US" sz="2400" b="1" dirty="0"/>
              <a:t>Car </a:t>
            </a:r>
            <a:r>
              <a:rPr lang="en-US" sz="2400" b="1" dirty="0" err="1"/>
              <a:t>colour</a:t>
            </a:r>
            <a:r>
              <a:rPr lang="en-US" sz="2400" b="1" dirty="0"/>
              <a:t> </a:t>
            </a:r>
          </a:p>
          <a:p>
            <a:pPr>
              <a:buFontTx/>
              <a:buChar char="-"/>
            </a:pPr>
            <a:r>
              <a:rPr lang="en-AU" sz="2400" b="1" dirty="0"/>
              <a:t>Favourite AFL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F64BB-D365-DF02-61F0-B8A67FA02A3D}"/>
              </a:ext>
            </a:extLst>
          </p:cNvPr>
          <p:cNvSpPr txBox="1"/>
          <p:nvPr/>
        </p:nvSpPr>
        <p:spPr>
          <a:xfrm>
            <a:off x="4802820" y="2885242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9D1CF-47B0-C9AE-4BD9-A4521208CDCF}"/>
              </a:ext>
            </a:extLst>
          </p:cNvPr>
          <p:cNvSpPr txBox="1"/>
          <p:nvPr/>
        </p:nvSpPr>
        <p:spPr>
          <a:xfrm>
            <a:off x="4802820" y="3431219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1E421-2F12-620F-7DAE-56568F64092F}"/>
              </a:ext>
            </a:extLst>
          </p:cNvPr>
          <p:cNvSpPr txBox="1"/>
          <p:nvPr/>
        </p:nvSpPr>
        <p:spPr>
          <a:xfrm>
            <a:off x="4713619" y="3977196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C3CFE-40AF-4195-D9BC-FECB36600F35}"/>
              </a:ext>
            </a:extLst>
          </p:cNvPr>
          <p:cNvSpPr txBox="1"/>
          <p:nvPr/>
        </p:nvSpPr>
        <p:spPr>
          <a:xfrm>
            <a:off x="4713619" y="4429799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F75A3-82FF-0AA1-F435-E69890E90492}"/>
              </a:ext>
            </a:extLst>
          </p:cNvPr>
          <p:cNvSpPr txBox="1"/>
          <p:nvPr/>
        </p:nvSpPr>
        <p:spPr>
          <a:xfrm>
            <a:off x="4802820" y="5029577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F4AA9F-044B-C657-5597-1BD4E4F880FD}"/>
              </a:ext>
            </a:extLst>
          </p:cNvPr>
          <p:cNvSpPr/>
          <p:nvPr/>
        </p:nvSpPr>
        <p:spPr>
          <a:xfrm>
            <a:off x="4802820" y="2856506"/>
            <a:ext cx="1748900" cy="4934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13EACD-2BEF-A81C-C16F-700925D136AB}"/>
              </a:ext>
            </a:extLst>
          </p:cNvPr>
          <p:cNvSpPr/>
          <p:nvPr/>
        </p:nvSpPr>
        <p:spPr>
          <a:xfrm>
            <a:off x="7361069" y="3404319"/>
            <a:ext cx="1748900" cy="4934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F9EC4C-467B-8D1F-DBED-B57EEED76AED}"/>
              </a:ext>
            </a:extLst>
          </p:cNvPr>
          <p:cNvSpPr/>
          <p:nvPr/>
        </p:nvSpPr>
        <p:spPr>
          <a:xfrm>
            <a:off x="7290047" y="3941419"/>
            <a:ext cx="1748900" cy="4934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D07CF6-79B0-ABC4-6650-83EA3507022C}"/>
              </a:ext>
            </a:extLst>
          </p:cNvPr>
          <p:cNvSpPr/>
          <p:nvPr/>
        </p:nvSpPr>
        <p:spPr>
          <a:xfrm>
            <a:off x="4713619" y="4370764"/>
            <a:ext cx="1748900" cy="4934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1AAD6D-A394-70EE-4568-25F3D3120AAB}"/>
              </a:ext>
            </a:extLst>
          </p:cNvPr>
          <p:cNvSpPr/>
          <p:nvPr/>
        </p:nvSpPr>
        <p:spPr>
          <a:xfrm>
            <a:off x="4802820" y="4983011"/>
            <a:ext cx="1748900" cy="4934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68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F6F6-F06A-441D-4296-6A60AE50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or numerical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1F464-FA39-FF74-FBA5-C18BD37F3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70" y="190500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Organize the following into categorical or numerical: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FontTx/>
              <a:buChar char="-"/>
            </a:pPr>
            <a:r>
              <a:rPr lang="en-US" sz="2400" b="1" dirty="0"/>
              <a:t>Best school subject </a:t>
            </a:r>
          </a:p>
          <a:p>
            <a:pPr>
              <a:buFontTx/>
              <a:buChar char="-"/>
            </a:pPr>
            <a:r>
              <a:rPr lang="en-US" sz="2400" b="1" dirty="0"/>
              <a:t>Number of pets owned</a:t>
            </a:r>
          </a:p>
          <a:p>
            <a:pPr>
              <a:buFontTx/>
              <a:buChar char="-"/>
            </a:pPr>
            <a:r>
              <a:rPr lang="en-US" sz="2400" b="1" dirty="0"/>
              <a:t>Shoe size </a:t>
            </a:r>
          </a:p>
          <a:p>
            <a:pPr>
              <a:buFontTx/>
              <a:buChar char="-"/>
            </a:pPr>
            <a:r>
              <a:rPr lang="en-US" sz="2400" b="1" dirty="0"/>
              <a:t>Car </a:t>
            </a:r>
            <a:r>
              <a:rPr lang="en-US" sz="2400" b="1" dirty="0" err="1"/>
              <a:t>colour</a:t>
            </a:r>
            <a:r>
              <a:rPr lang="en-US" sz="2400" b="1" dirty="0"/>
              <a:t> </a:t>
            </a:r>
          </a:p>
          <a:p>
            <a:pPr>
              <a:buFontTx/>
              <a:buChar char="-"/>
            </a:pPr>
            <a:r>
              <a:rPr lang="en-AU" sz="2400" b="1" dirty="0"/>
              <a:t>Favourite AFL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F64BB-D365-DF02-61F0-B8A67FA02A3D}"/>
              </a:ext>
            </a:extLst>
          </p:cNvPr>
          <p:cNvSpPr txBox="1"/>
          <p:nvPr/>
        </p:nvSpPr>
        <p:spPr>
          <a:xfrm>
            <a:off x="4802820" y="2885242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9D1CF-47B0-C9AE-4BD9-A4521208CDCF}"/>
              </a:ext>
            </a:extLst>
          </p:cNvPr>
          <p:cNvSpPr txBox="1"/>
          <p:nvPr/>
        </p:nvSpPr>
        <p:spPr>
          <a:xfrm>
            <a:off x="4802820" y="3431219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1E421-2F12-620F-7DAE-56568F64092F}"/>
              </a:ext>
            </a:extLst>
          </p:cNvPr>
          <p:cNvSpPr txBox="1"/>
          <p:nvPr/>
        </p:nvSpPr>
        <p:spPr>
          <a:xfrm>
            <a:off x="4713619" y="3977196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C3CFE-40AF-4195-D9BC-FECB36600F35}"/>
              </a:ext>
            </a:extLst>
          </p:cNvPr>
          <p:cNvSpPr txBox="1"/>
          <p:nvPr/>
        </p:nvSpPr>
        <p:spPr>
          <a:xfrm>
            <a:off x="4713619" y="4429799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F75A3-82FF-0AA1-F435-E69890E90492}"/>
              </a:ext>
            </a:extLst>
          </p:cNvPr>
          <p:cNvSpPr txBox="1"/>
          <p:nvPr/>
        </p:nvSpPr>
        <p:spPr>
          <a:xfrm>
            <a:off x="4802820" y="5029577"/>
            <a:ext cx="482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Categorical	/	Numerical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53188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5281-9665-7E13-E695-CF842BA01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frequency table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A041F97-8863-3179-05BF-6ADE7F476EF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98781098"/>
                  </p:ext>
                </p:extLst>
              </p:nvPr>
            </p:nvGraphicFramePr>
            <p:xfrm>
              <a:off x="1638300" y="2969791"/>
              <a:ext cx="8915400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8850">
                      <a:extLst>
                        <a:ext uri="{9D8B030D-6E8A-4147-A177-3AD203B41FA5}">
                          <a16:colId xmlns:a16="http://schemas.microsoft.com/office/drawing/2014/main" val="2681693752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753195843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606259419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20826973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Number </a:t>
                          </a:r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Tally </a:t>
                          </a:r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Frequency </a:t>
                          </a:r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𝒇𝒙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77674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53363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21590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9245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7559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5961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TOTAL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92588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A041F97-8863-3179-05BF-6ADE7F476EF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98781098"/>
                  </p:ext>
                </p:extLst>
              </p:nvPr>
            </p:nvGraphicFramePr>
            <p:xfrm>
              <a:off x="1638300" y="2969791"/>
              <a:ext cx="8915400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8850">
                      <a:extLst>
                        <a:ext uri="{9D8B030D-6E8A-4147-A177-3AD203B41FA5}">
                          <a16:colId xmlns:a16="http://schemas.microsoft.com/office/drawing/2014/main" val="2681693752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753195843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606259419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208269732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Number </a:t>
                          </a:r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Tally </a:t>
                          </a:r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Frequency </a:t>
                          </a:r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273" t="-7692" r="-1093" b="-5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77674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53363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21590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9245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7559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5961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TOTAL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92588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AACCB75-B6E6-DBC1-323F-88B31289CFDC}"/>
              </a:ext>
            </a:extLst>
          </p:cNvPr>
          <p:cNvSpPr txBox="1"/>
          <p:nvPr/>
        </p:nvSpPr>
        <p:spPr>
          <a:xfrm>
            <a:off x="1233996" y="1411550"/>
            <a:ext cx="1054968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30 people in </a:t>
            </a:r>
            <a:r>
              <a:rPr lang="en-US" sz="2000" dirty="0" err="1"/>
              <a:t>Dunsborough</a:t>
            </a:r>
            <a:r>
              <a:rPr lang="en-US" sz="2000" dirty="0"/>
              <a:t> were asked how many cars they owned.</a:t>
            </a:r>
          </a:p>
          <a:p>
            <a:r>
              <a:rPr lang="en-US" sz="2000" dirty="0"/>
              <a:t>Put the following data into a frequency table:</a:t>
            </a:r>
          </a:p>
          <a:p>
            <a:endParaRPr lang="en-US" dirty="0"/>
          </a:p>
          <a:p>
            <a:r>
              <a:rPr lang="en-US" sz="2400" b="1" dirty="0"/>
              <a:t>0, 3, 4, 2, 1, 0, 3, 4, 3, 1, 1, 2, 3, 0, 0, 4, 3, 2, 2, 1, 1, 2, 0, 0, 2 , 1, 4, 2, 0, 1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69C5A-240A-61E2-214B-A43646AC2205}"/>
              </a:ext>
            </a:extLst>
          </p:cNvPr>
          <p:cNvSpPr txBox="1"/>
          <p:nvPr/>
        </p:nvSpPr>
        <p:spPr>
          <a:xfrm>
            <a:off x="2396971" y="6054571"/>
            <a:ext cx="4856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Calculate Mean, mode and median: </a:t>
            </a:r>
          </a:p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6387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75FB-51BA-7A8B-4BAA-BCC0F87F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26" y="0"/>
            <a:ext cx="2941100" cy="1871440"/>
          </a:xfrm>
        </p:spPr>
        <p:txBody>
          <a:bodyPr/>
          <a:lstStyle/>
          <a:p>
            <a:r>
              <a:rPr lang="en-US" dirty="0"/>
              <a:t>Frequency table to graph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DD6ED5-4189-6EC6-E0CF-4C03C4BA5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5126" y="295846"/>
            <a:ext cx="6104923" cy="610492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E0DD9-6C81-AD55-4038-BFAC7CED219A}"/>
              </a:ext>
            </a:extLst>
          </p:cNvPr>
          <p:cNvSpPr txBox="1"/>
          <p:nvPr/>
        </p:nvSpPr>
        <p:spPr>
          <a:xfrm>
            <a:off x="647700" y="2200275"/>
            <a:ext cx="4210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Label axis with frequency on the y-axis, data on the x-axis</a:t>
            </a:r>
          </a:p>
          <a:p>
            <a:pPr marL="342900" indent="-342900">
              <a:buAutoNum type="arabicPeriod"/>
            </a:pPr>
            <a:endParaRPr lang="en-US" b="1" dirty="0">
              <a:solidFill>
                <a:srgbClr val="00B0F0"/>
              </a:solidFill>
            </a:endParaRPr>
          </a:p>
          <a:p>
            <a:pPr marL="342900" indent="-342900">
              <a:buAutoNum type="arabicPeriod"/>
            </a:pPr>
            <a:r>
              <a:rPr lang="en-AU" b="1" dirty="0">
                <a:solidFill>
                  <a:srgbClr val="00B0F0"/>
                </a:solidFill>
              </a:rPr>
              <a:t>Use frequency table and ruler to draw columns </a:t>
            </a:r>
          </a:p>
          <a:p>
            <a:pPr marL="342900" indent="-342900">
              <a:buAutoNum type="arabicPeriod"/>
            </a:pPr>
            <a:endParaRPr lang="en-AU" b="1" dirty="0">
              <a:solidFill>
                <a:srgbClr val="00B0F0"/>
              </a:solidFill>
            </a:endParaRPr>
          </a:p>
          <a:p>
            <a:pPr marL="342900" indent="-342900">
              <a:buAutoNum type="arabicPeriod"/>
            </a:pPr>
            <a:r>
              <a:rPr lang="en-AU" b="1" dirty="0">
                <a:solidFill>
                  <a:srgbClr val="00B0F0"/>
                </a:solidFill>
              </a:rPr>
              <a:t>Columns don’t touch 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760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52BF-F62F-4798-548D-941650E1A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9A325-9435-9A9F-B0AF-FD5A36092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the tasks provided.</a:t>
            </a:r>
          </a:p>
          <a:p>
            <a:endParaRPr lang="en-US" dirty="0"/>
          </a:p>
          <a:p>
            <a:r>
              <a:rPr lang="en-US" dirty="0" err="1"/>
              <a:t>Haese</a:t>
            </a:r>
            <a:r>
              <a:rPr lang="en-US" dirty="0"/>
              <a:t> 393 – </a:t>
            </a:r>
            <a:r>
              <a:rPr lang="en-US"/>
              <a:t>398 continue.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398079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393</Words>
  <Application>Microsoft Office PowerPoint</Application>
  <PresentationFormat>Widescreen</PresentationFormat>
  <Paragraphs>79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Cambria Math</vt:lpstr>
      <vt:lpstr>Century Gothic</vt:lpstr>
      <vt:lpstr>Wingdings</vt:lpstr>
      <vt:lpstr>Wingdings 3</vt:lpstr>
      <vt:lpstr>Wisp</vt:lpstr>
      <vt:lpstr>Lesson objective </vt:lpstr>
      <vt:lpstr>Categorical Data</vt:lpstr>
      <vt:lpstr>Numerical Data</vt:lpstr>
      <vt:lpstr>Types of data</vt:lpstr>
      <vt:lpstr>Categorical or numerical </vt:lpstr>
      <vt:lpstr>Categorical or numerical </vt:lpstr>
      <vt:lpstr>Create a frequency table </vt:lpstr>
      <vt:lpstr>Frequency table to graph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8</cp:revision>
  <cp:lastPrinted>2022-11-15T00:30:57Z</cp:lastPrinted>
  <dcterms:created xsi:type="dcterms:W3CDTF">2022-11-14T13:28:10Z</dcterms:created>
  <dcterms:modified xsi:type="dcterms:W3CDTF">2022-11-15T00:31:27Z</dcterms:modified>
</cp:coreProperties>
</file>
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7" r:id="rId2"/>
    <p:sldId id="258" r:id="rId3"/>
    <p:sldId id="259" r:id="rId4"/>
    <p:sldId id="260" r:id="rId5"/>
    <p:sldId id="261" r:id="rId6"/>
    <p:sldId id="262" r:id="rId7"/>
    <p:sldId id="263" r:id="rId8"/>
    <p:sldId id="265" r:id="rId9"/>
    <p:sldId id="266" r:id="rId10"/>
    <p:sldId id="267" r:id="rId11"/>
    <p:sldId id="268" r:id="rId12"/>
    <p:sldId id="269" r:id="rId13"/>
    <p:sldId id="270" r:id="rId14"/>
    <p:sldId id="271" r:id="rId15"/>
    <p:sldId id="272" r:id="rId16"/>
    <p:sldId id="273" r:id="rId17"/>
    <p:sldId id="274" r:id="rId18"/>
    <p:sldId id="275" r:id="rId19"/>
    <p:sldId id="276" r:id="rId20"/>
  </p:sldIdLst>
  <p:sldSz cx="12192000" cy="6858000"/>
  <p:notesSz cx="6794500" cy="9931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8" autoAdjust="0"/>
    <p:restoredTop sz="94660"/>
  </p:normalViewPr>
  <p:slideViewPr>
    <p:cSldViewPr snapToGrid="0">
      <p:cViewPr varScale="1">
        <p:scale>
          <a:sx n="86" d="100"/>
          <a:sy n="86" d="100"/>
        </p:scale>
        <p:origin x="33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283" cy="498295"/>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48645" y="0"/>
            <a:ext cx="2944283" cy="498295"/>
          </a:xfrm>
          <a:prstGeom prst="rect">
            <a:avLst/>
          </a:prstGeom>
        </p:spPr>
        <p:txBody>
          <a:bodyPr vert="horz" lIns="91440" tIns="45720" rIns="91440" bIns="45720" rtlCol="0"/>
          <a:lstStyle>
            <a:lvl1pPr algn="r">
              <a:defRPr sz="1200"/>
            </a:lvl1pPr>
          </a:lstStyle>
          <a:p>
            <a:fld id="{2DDDA247-905C-4575-A9E2-E1CFA0739AF6}" type="datetimeFigureOut">
              <a:rPr lang="en-AU" smtClean="0"/>
              <a:t>27/10/2022</a:t>
            </a:fld>
            <a:endParaRPr lang="en-AU"/>
          </a:p>
        </p:txBody>
      </p:sp>
      <p:sp>
        <p:nvSpPr>
          <p:cNvPr id="4" name="Slide Image Placeholder 3"/>
          <p:cNvSpPr>
            <a:spLocks noGrp="1" noRot="1" noChangeAspect="1"/>
          </p:cNvSpPr>
          <p:nvPr>
            <p:ph type="sldImg" idx="2"/>
          </p:nvPr>
        </p:nvSpPr>
        <p:spPr>
          <a:xfrm>
            <a:off x="419100" y="1241425"/>
            <a:ext cx="5956300" cy="3351213"/>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9450" y="4779486"/>
            <a:ext cx="5435600" cy="3910489"/>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33107"/>
            <a:ext cx="2944283" cy="498294"/>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48645" y="9433107"/>
            <a:ext cx="2944283" cy="498294"/>
          </a:xfrm>
          <a:prstGeom prst="rect">
            <a:avLst/>
          </a:prstGeom>
        </p:spPr>
        <p:txBody>
          <a:bodyPr vert="horz" lIns="91440" tIns="45720" rIns="91440" bIns="45720" rtlCol="0" anchor="b"/>
          <a:lstStyle>
            <a:lvl1pPr algn="r">
              <a:defRPr sz="1200"/>
            </a:lvl1pPr>
          </a:lstStyle>
          <a:p>
            <a:fld id="{5231DCFB-457A-42EA-9151-578A02A18784}" type="slidenum">
              <a:rPr lang="en-AU" smtClean="0"/>
              <a:t>‹#›</a:t>
            </a:fld>
            <a:endParaRPr lang="en-AU"/>
          </a:p>
        </p:txBody>
      </p:sp>
    </p:spTree>
    <p:extLst>
      <p:ext uri="{BB962C8B-B14F-4D97-AF65-F5344CB8AC3E}">
        <p14:creationId xmlns:p14="http://schemas.microsoft.com/office/powerpoint/2010/main" val="3561420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Student worksheet</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A4BC40-0373-4138-99EC-30DC31AB705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0344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Student notes</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A4BC40-0373-4138-99EC-30DC31AB705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7660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Student notes</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A4BC40-0373-4138-99EC-30DC31AB705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50705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Student notes</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A4BC40-0373-4138-99EC-30DC31AB705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82464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Work sheet</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A4BC40-0373-4138-99EC-30DC31AB705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93327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Work sheet</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14A4BC40-0373-4138-99EC-30DC31AB705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17818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73EEA7D-77E1-4CE5-9C84-8287B2E0CA35}" type="datetimeFigureOut">
              <a:rPr lang="en-AU" smtClean="0"/>
              <a:t>27/10/2022</a:t>
            </a:fld>
            <a:endParaRPr lang="en-AU"/>
          </a:p>
        </p:txBody>
      </p:sp>
      <p:sp>
        <p:nvSpPr>
          <p:cNvPr id="5" name="Footer Placeholder 4"/>
          <p:cNvSpPr>
            <a:spLocks noGrp="1"/>
          </p:cNvSpPr>
          <p:nvPr>
            <p:ph type="ftr" sz="quarter" idx="11"/>
          </p:nvPr>
        </p:nvSpPr>
        <p:spPr/>
        <p:txBody>
          <a:bodyPr/>
          <a:lstStyle/>
          <a:p>
            <a:endParaRPr lang="en-AU"/>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A94186A8-25EF-459A-B4A3-7EE448EE51AF}" type="slidenum">
              <a:rPr lang="en-AU" smtClean="0"/>
              <a:t>‹#›</a:t>
            </a:fld>
            <a:endParaRPr lang="en-AU"/>
          </a:p>
        </p:txBody>
      </p:sp>
    </p:spTree>
    <p:extLst>
      <p:ext uri="{BB962C8B-B14F-4D97-AF65-F5344CB8AC3E}">
        <p14:creationId xmlns:p14="http://schemas.microsoft.com/office/powerpoint/2010/main" val="1144188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3EEA7D-77E1-4CE5-9C84-8287B2E0CA35}" type="datetimeFigureOut">
              <a:rPr lang="en-AU" smtClean="0"/>
              <a:t>27/10/2022</a:t>
            </a:fld>
            <a:endParaRPr lang="en-AU"/>
          </a:p>
        </p:txBody>
      </p:sp>
      <p:sp>
        <p:nvSpPr>
          <p:cNvPr id="5" name="Footer Placeholder 4"/>
          <p:cNvSpPr>
            <a:spLocks noGrp="1"/>
          </p:cNvSpPr>
          <p:nvPr>
            <p:ph type="ftr" sz="quarter" idx="11"/>
          </p:nvPr>
        </p:nvSpPr>
        <p:spPr/>
        <p:txBody>
          <a:bodyPr/>
          <a:lstStyle/>
          <a:p>
            <a:endParaRPr lang="en-A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94186A8-25EF-459A-B4A3-7EE448EE51AF}" type="slidenum">
              <a:rPr lang="en-AU" smtClean="0"/>
              <a:t>‹#›</a:t>
            </a:fld>
            <a:endParaRPr lang="en-AU"/>
          </a:p>
        </p:txBody>
      </p:sp>
    </p:spTree>
    <p:extLst>
      <p:ext uri="{BB962C8B-B14F-4D97-AF65-F5344CB8AC3E}">
        <p14:creationId xmlns:p14="http://schemas.microsoft.com/office/powerpoint/2010/main" val="4033833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3EEA7D-77E1-4CE5-9C84-8287B2E0CA35}" type="datetimeFigureOut">
              <a:rPr lang="en-AU" smtClean="0"/>
              <a:t>27/10/2022</a:t>
            </a:fld>
            <a:endParaRPr lang="en-AU"/>
          </a:p>
        </p:txBody>
      </p:sp>
      <p:sp>
        <p:nvSpPr>
          <p:cNvPr id="5" name="Footer Placeholder 4"/>
          <p:cNvSpPr>
            <a:spLocks noGrp="1"/>
          </p:cNvSpPr>
          <p:nvPr>
            <p:ph type="ftr" sz="quarter" idx="11"/>
          </p:nvPr>
        </p:nvSpPr>
        <p:spPr/>
        <p:txBody>
          <a:bodyPr/>
          <a:lstStyle/>
          <a:p>
            <a:endParaRPr lang="en-AU"/>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94186A8-25EF-459A-B4A3-7EE448EE51AF}" type="slidenum">
              <a:rPr lang="en-AU" smtClean="0"/>
              <a:t>‹#›</a:t>
            </a:fld>
            <a:endParaRPr lang="en-AU"/>
          </a:p>
        </p:txBody>
      </p:sp>
    </p:spTree>
    <p:extLst>
      <p:ext uri="{BB962C8B-B14F-4D97-AF65-F5344CB8AC3E}">
        <p14:creationId xmlns:p14="http://schemas.microsoft.com/office/powerpoint/2010/main" val="1120996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73EEA7D-77E1-4CE5-9C84-8287B2E0CA35}" type="datetimeFigureOut">
              <a:rPr lang="en-AU" smtClean="0"/>
              <a:t>27/10/2022</a:t>
            </a:fld>
            <a:endParaRPr lang="en-AU"/>
          </a:p>
        </p:txBody>
      </p:sp>
      <p:sp>
        <p:nvSpPr>
          <p:cNvPr id="6" name="Footer Placeholder 5"/>
          <p:cNvSpPr>
            <a:spLocks noGrp="1"/>
          </p:cNvSpPr>
          <p:nvPr>
            <p:ph type="ftr" sz="quarter" idx="11"/>
          </p:nvPr>
        </p:nvSpPr>
        <p:spPr/>
        <p:txBody>
          <a:bodyPr/>
          <a:lstStyle/>
          <a:p>
            <a:endParaRPr lang="en-AU"/>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A94186A8-25EF-459A-B4A3-7EE448EE51AF}" type="slidenum">
              <a:rPr lang="en-AU" smtClean="0"/>
              <a:t>‹#›</a:t>
            </a:fld>
            <a:endParaRPr lang="en-AU"/>
          </a:p>
        </p:txBody>
      </p:sp>
    </p:spTree>
    <p:extLst>
      <p:ext uri="{BB962C8B-B14F-4D97-AF65-F5344CB8AC3E}">
        <p14:creationId xmlns:p14="http://schemas.microsoft.com/office/powerpoint/2010/main" val="3576113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73EEA7D-77E1-4CE5-9C84-8287B2E0CA35}" type="datetimeFigureOut">
              <a:rPr lang="en-AU" smtClean="0"/>
              <a:t>27/10/2022</a:t>
            </a:fld>
            <a:endParaRPr lang="en-AU"/>
          </a:p>
        </p:txBody>
      </p:sp>
      <p:sp>
        <p:nvSpPr>
          <p:cNvPr id="8" name="Footer Placeholder 7"/>
          <p:cNvSpPr>
            <a:spLocks noGrp="1"/>
          </p:cNvSpPr>
          <p:nvPr>
            <p:ph type="ftr" sz="quarter" idx="11"/>
          </p:nvPr>
        </p:nvSpPr>
        <p:spPr/>
        <p:txBody>
          <a:bodyPr/>
          <a:lstStyle/>
          <a:p>
            <a:endParaRPr lang="en-AU"/>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A94186A8-25EF-459A-B4A3-7EE448EE51AF}" type="slidenum">
              <a:rPr lang="en-AU" smtClean="0"/>
              <a:t>‹#›</a:t>
            </a:fld>
            <a:endParaRPr lang="en-AU"/>
          </a:p>
        </p:txBody>
      </p:sp>
    </p:spTree>
    <p:extLst>
      <p:ext uri="{BB962C8B-B14F-4D97-AF65-F5344CB8AC3E}">
        <p14:creationId xmlns:p14="http://schemas.microsoft.com/office/powerpoint/2010/main" val="2360814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3EEA7D-77E1-4CE5-9C84-8287B2E0CA35}" type="datetimeFigureOut">
              <a:rPr lang="en-AU" smtClean="0"/>
              <a:t>27/10/2022</a:t>
            </a:fld>
            <a:endParaRPr lang="en-AU"/>
          </a:p>
        </p:txBody>
      </p:sp>
      <p:sp>
        <p:nvSpPr>
          <p:cNvPr id="4" name="Footer Placeholder 3"/>
          <p:cNvSpPr>
            <a:spLocks noGrp="1"/>
          </p:cNvSpPr>
          <p:nvPr>
            <p:ph type="ftr" sz="quarter" idx="11"/>
          </p:nvPr>
        </p:nvSpPr>
        <p:spPr/>
        <p:txBody>
          <a:bodyPr/>
          <a:lstStyle/>
          <a:p>
            <a:endParaRPr lang="en-AU"/>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A94186A8-25EF-459A-B4A3-7EE448EE51AF}" type="slidenum">
              <a:rPr lang="en-AU" smtClean="0"/>
              <a:t>‹#›</a:t>
            </a:fld>
            <a:endParaRPr lang="en-AU"/>
          </a:p>
        </p:txBody>
      </p:sp>
    </p:spTree>
    <p:extLst>
      <p:ext uri="{BB962C8B-B14F-4D97-AF65-F5344CB8AC3E}">
        <p14:creationId xmlns:p14="http://schemas.microsoft.com/office/powerpoint/2010/main" val="3141470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3EEA7D-77E1-4CE5-9C84-8287B2E0CA35}" type="datetimeFigureOut">
              <a:rPr lang="en-AU" smtClean="0"/>
              <a:t>27/10/2022</a:t>
            </a:fld>
            <a:endParaRPr lang="en-AU"/>
          </a:p>
        </p:txBody>
      </p:sp>
      <p:sp>
        <p:nvSpPr>
          <p:cNvPr id="3" name="Footer Placeholder 2"/>
          <p:cNvSpPr>
            <a:spLocks noGrp="1"/>
          </p:cNvSpPr>
          <p:nvPr>
            <p:ph type="ftr" sz="quarter" idx="11"/>
          </p:nvPr>
        </p:nvSpPr>
        <p:spPr/>
        <p:txBody>
          <a:bodyPr/>
          <a:lstStyle/>
          <a:p>
            <a:endParaRPr lang="en-AU"/>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A94186A8-25EF-459A-B4A3-7EE448EE51AF}" type="slidenum">
              <a:rPr lang="en-AU" smtClean="0"/>
              <a:t>‹#›</a:t>
            </a:fld>
            <a:endParaRPr lang="en-AU"/>
          </a:p>
        </p:txBody>
      </p:sp>
    </p:spTree>
    <p:extLst>
      <p:ext uri="{BB962C8B-B14F-4D97-AF65-F5344CB8AC3E}">
        <p14:creationId xmlns:p14="http://schemas.microsoft.com/office/powerpoint/2010/main" val="839619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3EEA7D-77E1-4CE5-9C84-8287B2E0CA35}" type="datetimeFigureOut">
              <a:rPr lang="en-AU" smtClean="0"/>
              <a:t>27/10/2022</a:t>
            </a:fld>
            <a:endParaRPr lang="en-AU"/>
          </a:p>
        </p:txBody>
      </p:sp>
      <p:sp>
        <p:nvSpPr>
          <p:cNvPr id="6" name="Footer Placeholder 5"/>
          <p:cNvSpPr>
            <a:spLocks noGrp="1"/>
          </p:cNvSpPr>
          <p:nvPr>
            <p:ph type="ftr" sz="quarter" idx="11"/>
          </p:nvPr>
        </p:nvSpPr>
        <p:spPr/>
        <p:txBody>
          <a:bodyPr/>
          <a:lstStyle/>
          <a:p>
            <a:endParaRPr lang="en-AU"/>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A94186A8-25EF-459A-B4A3-7EE448EE51AF}" type="slidenum">
              <a:rPr lang="en-AU" smtClean="0"/>
              <a:t>‹#›</a:t>
            </a:fld>
            <a:endParaRPr lang="en-AU"/>
          </a:p>
        </p:txBody>
      </p:sp>
    </p:spTree>
    <p:extLst>
      <p:ext uri="{BB962C8B-B14F-4D97-AF65-F5344CB8AC3E}">
        <p14:creationId xmlns:p14="http://schemas.microsoft.com/office/powerpoint/2010/main" val="2756632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3EEA7D-77E1-4CE5-9C84-8287B2E0CA35}" type="datetimeFigureOut">
              <a:rPr lang="en-AU" smtClean="0"/>
              <a:t>27/10/2022</a:t>
            </a:fld>
            <a:endParaRPr lang="en-AU"/>
          </a:p>
        </p:txBody>
      </p:sp>
      <p:sp>
        <p:nvSpPr>
          <p:cNvPr id="6" name="Footer Placeholder 5"/>
          <p:cNvSpPr>
            <a:spLocks noGrp="1"/>
          </p:cNvSpPr>
          <p:nvPr>
            <p:ph type="ftr" sz="quarter" idx="11"/>
          </p:nvPr>
        </p:nvSpPr>
        <p:spPr/>
        <p:txBody>
          <a:bodyPr/>
          <a:lstStyle/>
          <a:p>
            <a:endParaRPr lang="en-A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94186A8-25EF-459A-B4A3-7EE448EE51AF}" type="slidenum">
              <a:rPr lang="en-AU" smtClean="0"/>
              <a:t>‹#›</a:t>
            </a:fld>
            <a:endParaRPr lang="en-AU"/>
          </a:p>
        </p:txBody>
      </p:sp>
    </p:spTree>
    <p:extLst>
      <p:ext uri="{BB962C8B-B14F-4D97-AF65-F5344CB8AC3E}">
        <p14:creationId xmlns:p14="http://schemas.microsoft.com/office/powerpoint/2010/main" val="486499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3EEA7D-77E1-4CE5-9C84-8287B2E0CA35}" type="datetimeFigureOut">
              <a:rPr lang="en-AU" smtClean="0"/>
              <a:t>27/10/2022</a:t>
            </a:fld>
            <a:endParaRPr lang="en-AU"/>
          </a:p>
        </p:txBody>
      </p:sp>
      <p:sp>
        <p:nvSpPr>
          <p:cNvPr id="5" name="Footer Placeholder 4"/>
          <p:cNvSpPr>
            <a:spLocks noGrp="1"/>
          </p:cNvSpPr>
          <p:nvPr>
            <p:ph type="ftr" sz="quarter" idx="11"/>
          </p:nvPr>
        </p:nvSpPr>
        <p:spPr/>
        <p:txBody>
          <a:bodyPr/>
          <a:lstStyle/>
          <a:p>
            <a:endParaRPr lang="en-AU"/>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94186A8-25EF-459A-B4A3-7EE448EE51AF}" type="slidenum">
              <a:rPr lang="en-AU" smtClean="0"/>
              <a:t>‹#›</a:t>
            </a:fld>
            <a:endParaRPr lang="en-AU"/>
          </a:p>
        </p:txBody>
      </p:sp>
    </p:spTree>
    <p:extLst>
      <p:ext uri="{BB962C8B-B14F-4D97-AF65-F5344CB8AC3E}">
        <p14:creationId xmlns:p14="http://schemas.microsoft.com/office/powerpoint/2010/main" val="3764737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3EEA7D-77E1-4CE5-9C84-8287B2E0CA35}" type="datetimeFigureOut">
              <a:rPr lang="en-AU" smtClean="0"/>
              <a:t>27/10/2022</a:t>
            </a:fld>
            <a:endParaRPr lang="en-AU"/>
          </a:p>
        </p:txBody>
      </p:sp>
      <p:sp>
        <p:nvSpPr>
          <p:cNvPr id="5" name="Footer Placeholder 4"/>
          <p:cNvSpPr>
            <a:spLocks noGrp="1"/>
          </p:cNvSpPr>
          <p:nvPr>
            <p:ph type="ftr" sz="quarter" idx="11"/>
          </p:nvPr>
        </p:nvSpPr>
        <p:spPr/>
        <p:txBody>
          <a:bodyPr/>
          <a:lstStyle/>
          <a:p>
            <a:endParaRPr lang="en-AU"/>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A94186A8-25EF-459A-B4A3-7EE448EE51AF}" type="slidenum">
              <a:rPr lang="en-AU" smtClean="0"/>
              <a:t>‹#›</a:t>
            </a:fld>
            <a:endParaRPr lang="en-AU"/>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304364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73EEA7D-77E1-4CE5-9C84-8287B2E0CA35}" type="datetimeFigureOut">
              <a:rPr lang="en-AU" smtClean="0"/>
              <a:t>27/10/2022</a:t>
            </a:fld>
            <a:endParaRPr lang="en-AU"/>
          </a:p>
        </p:txBody>
      </p:sp>
      <p:sp>
        <p:nvSpPr>
          <p:cNvPr id="6" name="Footer Placeholder 5"/>
          <p:cNvSpPr>
            <a:spLocks noGrp="1"/>
          </p:cNvSpPr>
          <p:nvPr>
            <p:ph type="ftr" sz="quarter" idx="11"/>
          </p:nvPr>
        </p:nvSpPr>
        <p:spPr/>
        <p:txBody>
          <a:bodyPr/>
          <a:lstStyle/>
          <a:p>
            <a:endParaRPr lang="en-A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94186A8-25EF-459A-B4A3-7EE448EE51AF}" type="slidenum">
              <a:rPr lang="en-AU" smtClean="0"/>
              <a:t>‹#›</a:t>
            </a:fld>
            <a:endParaRPr lang="en-AU"/>
          </a:p>
        </p:txBody>
      </p:sp>
    </p:spTree>
    <p:extLst>
      <p:ext uri="{BB962C8B-B14F-4D97-AF65-F5344CB8AC3E}">
        <p14:creationId xmlns:p14="http://schemas.microsoft.com/office/powerpoint/2010/main" val="3378340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73EEA7D-77E1-4CE5-9C84-8287B2E0CA35}" type="datetimeFigureOut">
              <a:rPr lang="en-AU" smtClean="0"/>
              <a:t>27/10/2022</a:t>
            </a:fld>
            <a:endParaRPr lang="en-AU"/>
          </a:p>
        </p:txBody>
      </p:sp>
      <p:sp>
        <p:nvSpPr>
          <p:cNvPr id="6" name="Footer Placeholder 5"/>
          <p:cNvSpPr>
            <a:spLocks noGrp="1"/>
          </p:cNvSpPr>
          <p:nvPr>
            <p:ph type="ftr" sz="quarter" idx="11"/>
          </p:nvPr>
        </p:nvSpPr>
        <p:spPr/>
        <p:txBody>
          <a:bodyPr/>
          <a:lstStyle/>
          <a:p>
            <a:endParaRPr lang="en-AU"/>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94186A8-25EF-459A-B4A3-7EE448EE51AF}" type="slidenum">
              <a:rPr lang="en-AU" smtClean="0"/>
              <a:t>‹#›</a:t>
            </a:fld>
            <a:endParaRPr lang="en-AU"/>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84813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73EEA7D-77E1-4CE5-9C84-8287B2E0CA35}" type="datetimeFigureOut">
              <a:rPr lang="en-AU" smtClean="0"/>
              <a:t>27/10/2022</a:t>
            </a:fld>
            <a:endParaRPr lang="en-AU"/>
          </a:p>
        </p:txBody>
      </p:sp>
      <p:sp>
        <p:nvSpPr>
          <p:cNvPr id="6" name="Footer Placeholder 5"/>
          <p:cNvSpPr>
            <a:spLocks noGrp="1"/>
          </p:cNvSpPr>
          <p:nvPr>
            <p:ph type="ftr" sz="quarter" idx="11"/>
          </p:nvPr>
        </p:nvSpPr>
        <p:spPr/>
        <p:txBody>
          <a:bodyPr/>
          <a:lstStyle/>
          <a:p>
            <a:endParaRPr lang="en-A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A94186A8-25EF-459A-B4A3-7EE448EE51AF}" type="slidenum">
              <a:rPr lang="en-AU" smtClean="0"/>
              <a:t>‹#›</a:t>
            </a:fld>
            <a:endParaRPr lang="en-AU"/>
          </a:p>
        </p:txBody>
      </p:sp>
    </p:spTree>
    <p:extLst>
      <p:ext uri="{BB962C8B-B14F-4D97-AF65-F5344CB8AC3E}">
        <p14:creationId xmlns:p14="http://schemas.microsoft.com/office/powerpoint/2010/main" val="39882886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3EEA7D-77E1-4CE5-9C84-8287B2E0CA35}" type="datetimeFigureOut">
              <a:rPr lang="en-AU" smtClean="0"/>
              <a:t>27/10/2022</a:t>
            </a:fld>
            <a:endParaRPr lang="en-AU"/>
          </a:p>
        </p:txBody>
      </p:sp>
      <p:sp>
        <p:nvSpPr>
          <p:cNvPr id="5" name="Footer Placeholder 4"/>
          <p:cNvSpPr>
            <a:spLocks noGrp="1"/>
          </p:cNvSpPr>
          <p:nvPr>
            <p:ph type="ftr" sz="quarter" idx="11"/>
          </p:nvPr>
        </p:nvSpPr>
        <p:spPr/>
        <p:txBody>
          <a:bodyPr/>
          <a:lstStyle/>
          <a:p>
            <a:endParaRPr lang="en-A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94186A8-25EF-459A-B4A3-7EE448EE51AF}" type="slidenum">
              <a:rPr lang="en-AU" smtClean="0"/>
              <a:t>‹#›</a:t>
            </a:fld>
            <a:endParaRPr lang="en-AU"/>
          </a:p>
        </p:txBody>
      </p:sp>
    </p:spTree>
    <p:extLst>
      <p:ext uri="{BB962C8B-B14F-4D97-AF65-F5344CB8AC3E}">
        <p14:creationId xmlns:p14="http://schemas.microsoft.com/office/powerpoint/2010/main" val="9315362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73EEA7D-77E1-4CE5-9C84-8287B2E0CA35}" type="datetimeFigureOut">
              <a:rPr lang="en-AU" smtClean="0"/>
              <a:t>27/10/2022</a:t>
            </a:fld>
            <a:endParaRPr lang="en-AU"/>
          </a:p>
        </p:txBody>
      </p:sp>
      <p:sp>
        <p:nvSpPr>
          <p:cNvPr id="5" name="Footer Placeholder 4"/>
          <p:cNvSpPr>
            <a:spLocks noGrp="1"/>
          </p:cNvSpPr>
          <p:nvPr>
            <p:ph type="ftr" sz="quarter" idx="11"/>
          </p:nvPr>
        </p:nvSpPr>
        <p:spPr/>
        <p:txBody>
          <a:bodyPr/>
          <a:lstStyle/>
          <a:p>
            <a:endParaRPr lang="en-A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94186A8-25EF-459A-B4A3-7EE448EE51AF}" type="slidenum">
              <a:rPr lang="en-AU" smtClean="0"/>
              <a:t>‹#›</a:t>
            </a:fld>
            <a:endParaRPr lang="en-AU"/>
          </a:p>
        </p:txBody>
      </p:sp>
    </p:spTree>
    <p:extLst>
      <p:ext uri="{BB962C8B-B14F-4D97-AF65-F5344CB8AC3E}">
        <p14:creationId xmlns:p14="http://schemas.microsoft.com/office/powerpoint/2010/main" val="3695672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73EEA7D-77E1-4CE5-9C84-8287B2E0CA35}" type="datetimeFigureOut">
              <a:rPr lang="en-AU" smtClean="0"/>
              <a:t>27/10/2022</a:t>
            </a:fld>
            <a:endParaRPr lang="en-AU"/>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A94186A8-25EF-459A-B4A3-7EE448EE51AF}" type="slidenum">
              <a:rPr lang="en-AU" smtClean="0"/>
              <a:t>‹#›</a:t>
            </a:fld>
            <a:endParaRPr lang="en-AU"/>
          </a:p>
        </p:txBody>
      </p:sp>
    </p:spTree>
    <p:extLst>
      <p:ext uri="{BB962C8B-B14F-4D97-AF65-F5344CB8AC3E}">
        <p14:creationId xmlns:p14="http://schemas.microsoft.com/office/powerpoint/2010/main" val="12061464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E90F26-F50F-45CB-B6F2-3F72E410C00D}"/>
              </a:ext>
            </a:extLst>
          </p:cNvPr>
          <p:cNvSpPr txBox="1"/>
          <p:nvPr/>
        </p:nvSpPr>
        <p:spPr>
          <a:xfrm>
            <a:off x="2546218" y="1402738"/>
            <a:ext cx="9026946" cy="225446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AU" sz="3200" b="1" i="0" u="none" strike="noStrike" kern="1200" cap="none" spc="0" normalizeH="0" baseline="0" noProof="0" dirty="0">
                <a:ln>
                  <a:noFill/>
                </a:ln>
                <a:solidFill>
                  <a:srgbClr val="00B0F0"/>
                </a:solidFill>
                <a:effectLst/>
                <a:uLnTx/>
                <a:uFillTx/>
                <a:latin typeface="Century Gothic" panose="020B0502020202020204"/>
                <a:ea typeface="+mn-ea"/>
                <a:cs typeface="+mn-cs"/>
              </a:rPr>
              <a:t>Aim: </a:t>
            </a:r>
          </a:p>
          <a:p>
            <a:pPr marL="342900" marR="0" lvl="0" indent="-342900" algn="l" defTabSz="457200" rtl="0" eaLnBrk="1" fontAlgn="auto" latinLnBrk="0" hangingPunct="1">
              <a:lnSpc>
                <a:spcPct val="100000"/>
              </a:lnSpc>
              <a:spcBef>
                <a:spcPts val="0"/>
              </a:spcBef>
              <a:spcAft>
                <a:spcPts val="900"/>
              </a:spcAft>
              <a:buClr>
                <a:srgbClr val="FF0000"/>
              </a:buClr>
              <a:buSzTx/>
              <a:buFont typeface="Wingdings" panose="05000000000000000000" pitchFamily="2" charset="2"/>
              <a:buChar char="q"/>
              <a:tabLst/>
              <a:defRPr/>
            </a:pPr>
            <a:r>
              <a:rPr kumimoji="0" lang="en-AU" sz="3200" b="1" i="0" u="none" strike="noStrike" kern="1200" cap="none" spc="0" normalizeH="0" baseline="0" noProof="0" dirty="0">
                <a:ln>
                  <a:noFill/>
                </a:ln>
                <a:solidFill>
                  <a:srgbClr val="00B0F0"/>
                </a:solidFill>
                <a:effectLst/>
                <a:uLnTx/>
                <a:uFillTx/>
                <a:latin typeface="Century Gothic" panose="020B0502020202020204"/>
                <a:ea typeface="+mn-ea"/>
                <a:cs typeface="+mn-cs"/>
              </a:rPr>
              <a:t>Know 4 methods of sampling.</a:t>
            </a:r>
          </a:p>
          <a:p>
            <a:pPr marL="342900" marR="0" lvl="0" indent="-342900" algn="l" defTabSz="457200" rtl="0" eaLnBrk="1" fontAlgn="auto" latinLnBrk="0" hangingPunct="1">
              <a:lnSpc>
                <a:spcPct val="100000"/>
              </a:lnSpc>
              <a:spcBef>
                <a:spcPts val="0"/>
              </a:spcBef>
              <a:spcAft>
                <a:spcPts val="900"/>
              </a:spcAft>
              <a:buClr>
                <a:srgbClr val="FF0000"/>
              </a:buClr>
              <a:buSzTx/>
              <a:buFont typeface="Wingdings" panose="05000000000000000000" pitchFamily="2" charset="2"/>
              <a:buChar char="q"/>
              <a:tabLst/>
              <a:defRPr/>
            </a:pPr>
            <a:r>
              <a:rPr kumimoji="0" lang="en-AU" sz="3200" b="1" i="0" u="none" strike="noStrike" kern="1200" cap="none" spc="0" normalizeH="0" baseline="0" noProof="0" dirty="0">
                <a:ln>
                  <a:noFill/>
                </a:ln>
                <a:solidFill>
                  <a:srgbClr val="00B0F0"/>
                </a:solidFill>
                <a:effectLst/>
                <a:uLnTx/>
                <a:uFillTx/>
                <a:latin typeface="Century Gothic" panose="020B0502020202020204"/>
                <a:ea typeface="+mn-ea"/>
                <a:cs typeface="+mn-cs"/>
              </a:rPr>
              <a:t>Know the difference between sample and census</a:t>
            </a:r>
            <a:r>
              <a:rPr kumimoji="0" lang="en-AU" sz="3200" b="1" i="0" u="none" strike="noStrike" kern="1200" cap="none" spc="0" normalizeH="0" baseline="0" noProof="0" dirty="0">
                <a:ln>
                  <a:noFill/>
                </a:ln>
                <a:solidFill>
                  <a:srgbClr val="002060"/>
                </a:solidFill>
                <a:effectLst/>
                <a:uLnTx/>
                <a:uFillTx/>
                <a:latin typeface="Century Gothic" panose="020B0502020202020204"/>
                <a:ea typeface="+mn-ea"/>
                <a:cs typeface="+mn-cs"/>
              </a:rPr>
              <a:t>.</a:t>
            </a:r>
            <a:endParaRPr kumimoji="0" lang="en-AU" sz="2400" b="1" i="0" u="none" strike="noStrike" kern="1200" cap="none" spc="0" normalizeH="0" baseline="0" noProof="0" dirty="0">
              <a:ln>
                <a:noFill/>
              </a:ln>
              <a:solidFill>
                <a:srgbClr val="002060"/>
              </a:solidFill>
              <a:effectLst/>
              <a:uLnTx/>
              <a:uFillTx/>
              <a:latin typeface="Century Gothic" panose="020B0502020202020204"/>
              <a:ea typeface="+mn-ea"/>
              <a:cs typeface="+mn-cs"/>
            </a:endParaRPr>
          </a:p>
        </p:txBody>
      </p:sp>
      <p:sp>
        <p:nvSpPr>
          <p:cNvPr id="4" name="TextBox 3">
            <a:extLst>
              <a:ext uri="{FF2B5EF4-FFF2-40B4-BE49-F238E27FC236}">
                <a16:creationId xmlns:a16="http://schemas.microsoft.com/office/drawing/2014/main" id="{C632B1DC-6CC2-4CA1-89B4-4912E113770B}"/>
              </a:ext>
            </a:extLst>
          </p:cNvPr>
          <p:cNvSpPr txBox="1"/>
          <p:nvPr/>
        </p:nvSpPr>
        <p:spPr>
          <a:xfrm>
            <a:off x="1800493" y="3717312"/>
            <a:ext cx="8241231" cy="196977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600"/>
              </a:spcAft>
              <a:buClrTx/>
              <a:buSzTx/>
              <a:buFontTx/>
              <a:buNone/>
              <a:tabLst/>
              <a:defRPr/>
            </a:pPr>
            <a:r>
              <a:rPr kumimoji="0" lang="en-AU" sz="3200" b="1" i="0" u="none" strike="noStrike" kern="1200" cap="none" spc="0" normalizeH="0" baseline="0" noProof="0" dirty="0">
                <a:ln>
                  <a:noFill/>
                </a:ln>
                <a:solidFill>
                  <a:srgbClr val="00B0F0"/>
                </a:solidFill>
                <a:effectLst/>
                <a:uLnTx/>
                <a:uFillTx/>
                <a:latin typeface="Century Gothic" panose="020B0502020202020204"/>
                <a:ea typeface="+mn-ea"/>
                <a:cs typeface="+mn-cs"/>
              </a:rPr>
              <a:t>Plan:</a:t>
            </a:r>
          </a:p>
          <a:p>
            <a:pPr marL="342900" marR="0" lvl="0" indent="-342900" algn="l" defTabSz="457200" rtl="0" eaLnBrk="1" fontAlgn="auto" latinLnBrk="0" hangingPunct="1">
              <a:lnSpc>
                <a:spcPct val="150000"/>
              </a:lnSpc>
              <a:spcBef>
                <a:spcPts val="0"/>
              </a:spcBef>
              <a:spcAft>
                <a:spcPts val="600"/>
              </a:spcAft>
              <a:buClr>
                <a:srgbClr val="FF0000"/>
              </a:buClr>
              <a:buSzTx/>
              <a:buFont typeface="Arial" panose="020B0604020202020204" pitchFamily="34" charset="0"/>
              <a:buChar char="•"/>
              <a:tabLst/>
              <a:defRPr/>
            </a:pPr>
            <a:r>
              <a:rPr kumimoji="0" lang="en-AU" sz="3200" b="1" i="0" u="none" strike="noStrike" kern="1200" cap="none" spc="0" normalizeH="0" baseline="0" noProof="0" dirty="0">
                <a:ln>
                  <a:noFill/>
                </a:ln>
                <a:solidFill>
                  <a:srgbClr val="00B0F0"/>
                </a:solidFill>
                <a:effectLst/>
                <a:uLnTx/>
                <a:uFillTx/>
                <a:latin typeface="Century Gothic" panose="020B0502020202020204"/>
                <a:ea typeface="+mn-ea"/>
                <a:cs typeface="+mn-cs"/>
              </a:rPr>
              <a:t>Daily Review – mean, mode, median.</a:t>
            </a:r>
          </a:p>
          <a:p>
            <a:pPr marL="342900" marR="0" lvl="0" indent="-342900" algn="l" defTabSz="457200" rtl="0" eaLnBrk="1" fontAlgn="auto" latinLnBrk="0" hangingPunct="1">
              <a:lnSpc>
                <a:spcPct val="100000"/>
              </a:lnSpc>
              <a:spcBef>
                <a:spcPts val="0"/>
              </a:spcBef>
              <a:spcAft>
                <a:spcPts val="0"/>
              </a:spcAft>
              <a:buClr>
                <a:srgbClr val="FF0000"/>
              </a:buClr>
              <a:buSzTx/>
              <a:buFont typeface="Arial" panose="020B0604020202020204" pitchFamily="34" charset="0"/>
              <a:buChar char="•"/>
              <a:tabLst/>
              <a:defRPr/>
            </a:pPr>
            <a:r>
              <a:rPr kumimoji="0" lang="en-AU" sz="3200" b="1" i="0" u="none" strike="noStrike" kern="1200" cap="none" spc="0" normalizeH="0" baseline="0" noProof="0" dirty="0">
                <a:ln>
                  <a:noFill/>
                </a:ln>
                <a:solidFill>
                  <a:srgbClr val="00B0F0"/>
                </a:solidFill>
                <a:effectLst/>
                <a:uLnTx/>
                <a:uFillTx/>
                <a:latin typeface="Century Gothic" panose="020B0502020202020204"/>
                <a:ea typeface="+mn-ea"/>
                <a:cs typeface="+mn-cs"/>
              </a:rPr>
              <a:t>Sampling.</a:t>
            </a:r>
          </a:p>
        </p:txBody>
      </p:sp>
      <p:sp>
        <p:nvSpPr>
          <p:cNvPr id="5" name="TextBox 4">
            <a:extLst>
              <a:ext uri="{FF2B5EF4-FFF2-40B4-BE49-F238E27FC236}">
                <a16:creationId xmlns:a16="http://schemas.microsoft.com/office/drawing/2014/main" id="{40830C5D-06F8-434C-AF4C-9072825B6AAC}"/>
              </a:ext>
            </a:extLst>
          </p:cNvPr>
          <p:cNvSpPr txBox="1"/>
          <p:nvPr/>
        </p:nvSpPr>
        <p:spPr>
          <a:xfrm>
            <a:off x="4980373" y="585693"/>
            <a:ext cx="3504098"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Title: </a:t>
            </a:r>
            <a:r>
              <a:rPr kumimoji="0" lang="en-AU" sz="2400" b="1" i="0" u="none" strike="noStrike" kern="1200" cap="none" spc="0" normalizeH="0" baseline="0" noProof="0" dirty="0">
                <a:ln>
                  <a:noFill/>
                </a:ln>
                <a:solidFill>
                  <a:srgbClr val="00B0F0"/>
                </a:solidFill>
                <a:effectLst/>
                <a:uLnTx/>
                <a:uFillTx/>
                <a:latin typeface="Century Gothic" panose="020B0502020202020204"/>
                <a:ea typeface="+mn-ea"/>
                <a:cs typeface="+mn-cs"/>
              </a:rPr>
              <a:t>Sampling</a:t>
            </a:r>
          </a:p>
        </p:txBody>
      </p:sp>
      <p:sp>
        <p:nvSpPr>
          <p:cNvPr id="2" name="TextBox 1">
            <a:extLst>
              <a:ext uri="{FF2B5EF4-FFF2-40B4-BE49-F238E27FC236}">
                <a16:creationId xmlns:a16="http://schemas.microsoft.com/office/drawing/2014/main" id="{1715E289-5639-48B5-AE87-AFF16F73C33C}"/>
              </a:ext>
            </a:extLst>
          </p:cNvPr>
          <p:cNvSpPr txBox="1"/>
          <p:nvPr/>
        </p:nvSpPr>
        <p:spPr>
          <a:xfrm>
            <a:off x="8806648" y="571741"/>
            <a:ext cx="2947386" cy="830997"/>
          </a:xfrm>
          <a:prstGeom prst="rect">
            <a:avLst/>
          </a:prstGeom>
          <a:noFill/>
        </p:spPr>
        <p:txBody>
          <a:bodyPr wrap="square" rtlCol="0">
            <a:spAutoFit/>
          </a:bodyPr>
          <a:lstStyle/>
          <a:p>
            <a:r>
              <a:rPr lang="en-US" sz="2400" b="1" dirty="0">
                <a:highlight>
                  <a:srgbClr val="FFFF00"/>
                </a:highlight>
              </a:rPr>
              <a:t>Need whiteboards and calculators. </a:t>
            </a:r>
            <a:endParaRPr lang="en-AU" sz="2400" b="1" dirty="0">
              <a:highlight>
                <a:srgbClr val="FFFF00"/>
              </a:highlight>
            </a:endParaRPr>
          </a:p>
        </p:txBody>
      </p:sp>
    </p:spTree>
    <p:extLst>
      <p:ext uri="{BB962C8B-B14F-4D97-AF65-F5344CB8AC3E}">
        <p14:creationId xmlns:p14="http://schemas.microsoft.com/office/powerpoint/2010/main" val="3872333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41188" y="110610"/>
            <a:ext cx="4724370" cy="455189"/>
          </a:xfrm>
          <a:prstGeom prst="rect">
            <a:avLst/>
          </a:prstGeom>
        </p:spPr>
        <p:txBody>
          <a:bodyPr wrap="none">
            <a:spAutoFit/>
          </a:bodyPr>
          <a:lstStyle/>
          <a:p>
            <a:pPr marL="342900" marR="0" lvl="0" indent="-342900" algn="l" defTabSz="457200" rtl="0" eaLnBrk="1" fontAlgn="auto" latinLnBrk="0" hangingPunct="1">
              <a:lnSpc>
                <a:spcPct val="150000"/>
              </a:lnSpc>
              <a:spcBef>
                <a:spcPts val="0"/>
              </a:spcBef>
              <a:spcAft>
                <a:spcPts val="600"/>
              </a:spcAft>
              <a:buClr>
                <a:srgbClr val="FF0000"/>
              </a:buClr>
              <a:buSzTx/>
              <a:buFont typeface="Arial" panose="020B0604020202020204" pitchFamily="34" charset="0"/>
              <a:buChar char="•"/>
              <a:tabLst/>
              <a:defRPr/>
            </a:pPr>
            <a:r>
              <a:rPr kumimoji="0" lang="en-AU" sz="1800" b="1" i="0" u="none" strike="noStrike" kern="1200" cap="none" spc="0" normalizeH="0" baseline="0" noProof="0" dirty="0">
                <a:ln>
                  <a:noFill/>
                </a:ln>
                <a:solidFill>
                  <a:srgbClr val="FF0000"/>
                </a:solidFill>
                <a:effectLst/>
                <a:uLnTx/>
                <a:uFillTx/>
                <a:latin typeface="Century Gothic" panose="020B0502020202020204"/>
                <a:ea typeface="+mn-ea"/>
                <a:cs typeface="+mn-cs"/>
              </a:rPr>
              <a:t>Daily Review – mean, mode, median.</a:t>
            </a:r>
          </a:p>
        </p:txBody>
      </p:sp>
      <p:sp>
        <p:nvSpPr>
          <p:cNvPr id="3" name="TextBox 2"/>
          <p:cNvSpPr txBox="1"/>
          <p:nvPr/>
        </p:nvSpPr>
        <p:spPr>
          <a:xfrm>
            <a:off x="1655806" y="766118"/>
            <a:ext cx="1878227"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dirty="0">
                <a:ln>
                  <a:noFill/>
                </a:ln>
                <a:solidFill>
                  <a:srgbClr val="FF0000"/>
                </a:solidFill>
                <a:effectLst/>
                <a:uLnTx/>
                <a:uFillTx/>
                <a:latin typeface="Century Gothic" panose="020B0502020202020204"/>
                <a:ea typeface="+mn-ea"/>
                <a:cs typeface="+mn-cs"/>
              </a:rPr>
              <a:t>Reteach:</a:t>
            </a:r>
          </a:p>
        </p:txBody>
      </p:sp>
      <p:sp>
        <p:nvSpPr>
          <p:cNvPr id="4" name="TextBox 3"/>
          <p:cNvSpPr txBox="1"/>
          <p:nvPr/>
        </p:nvSpPr>
        <p:spPr>
          <a:xfrm>
            <a:off x="3068579" y="998413"/>
            <a:ext cx="4312508"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Mean =</a:t>
            </a:r>
            <a:endPar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mc:AlternateContent xmlns:mc="http://schemas.openxmlformats.org/markup-compatibility/2006" xmlns:a14="http://schemas.microsoft.com/office/drawing/2010/main">
        <mc:Choice Requires="a14">
          <p:sp>
            <p:nvSpPr>
              <p:cNvPr id="5" name="TextBox 4"/>
              <p:cNvSpPr txBox="1"/>
              <p:nvPr/>
            </p:nvSpPr>
            <p:spPr>
              <a:xfrm>
                <a:off x="4254828" y="863839"/>
                <a:ext cx="3521675" cy="76572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dirty="0">
                    <a:ln>
                      <a:noFill/>
                    </a:ln>
                    <a:solidFill>
                      <a:srgbClr val="002060"/>
                    </a:solidFill>
                    <a:effectLst/>
                    <a:uLnTx/>
                    <a:uFillTx/>
                    <a:latin typeface="Century Gothic" panose="020B0502020202020204"/>
                    <a:ea typeface="+mn-ea"/>
                    <a:cs typeface="+mn-cs"/>
                  </a:rPr>
                  <a:t> </a:t>
                </a:r>
                <a14:m>
                  <m:oMath xmlns:m="http://schemas.openxmlformats.org/officeDocument/2006/math">
                    <m:f>
                      <m:fPr>
                        <m:ctrlPr>
                          <a:rPr kumimoji="0" lang="en-AU" sz="2800" b="0" i="1" u="none" strike="noStrike" kern="1200" cap="none" spc="0" normalizeH="0" baseline="0" noProof="0">
                            <a:ln>
                              <a:noFill/>
                            </a:ln>
                            <a:solidFill>
                              <a:srgbClr val="002060"/>
                            </a:solidFill>
                            <a:effectLst/>
                            <a:uLnTx/>
                            <a:uFillTx/>
                            <a:latin typeface="Cambria Math" panose="02040503050406030204" pitchFamily="18" charset="0"/>
                            <a:ea typeface="+mn-ea"/>
                            <a:cs typeface="+mn-cs"/>
                          </a:rPr>
                        </m:ctrlPr>
                      </m:fPr>
                      <m:num>
                        <m:r>
                          <a:rPr kumimoji="0" lang="en-AU" sz="2800" b="0" i="1" u="none" strike="noStrike" kern="1200" cap="none" spc="0" normalizeH="0" baseline="0" noProof="0">
                            <a:ln>
                              <a:noFill/>
                            </a:ln>
                            <a:solidFill>
                              <a:srgbClr val="002060"/>
                            </a:solidFill>
                            <a:effectLst/>
                            <a:uLnTx/>
                            <a:uFillTx/>
                            <a:latin typeface="Cambria Math" panose="02040503050406030204" pitchFamily="18" charset="0"/>
                            <a:ea typeface="+mn-ea"/>
                            <a:cs typeface="+mn-cs"/>
                          </a:rPr>
                          <m:t>𝑠𝑢𝑚</m:t>
                        </m:r>
                        <m:r>
                          <a:rPr kumimoji="0" lang="en-AU" sz="2800" b="0" i="1" u="none" strike="noStrike" kern="1200" cap="none" spc="0" normalizeH="0" baseline="0" noProof="0">
                            <a:ln>
                              <a:noFill/>
                            </a:ln>
                            <a:solidFill>
                              <a:srgbClr val="002060"/>
                            </a:solidFill>
                            <a:effectLst/>
                            <a:uLnTx/>
                            <a:uFillTx/>
                            <a:latin typeface="Cambria Math" panose="02040503050406030204" pitchFamily="18" charset="0"/>
                            <a:ea typeface="+mn-ea"/>
                            <a:cs typeface="+mn-cs"/>
                          </a:rPr>
                          <m:t> </m:t>
                        </m:r>
                        <m:r>
                          <a:rPr kumimoji="0" lang="en-AU" sz="2800" b="0" i="1" u="none" strike="noStrike" kern="1200" cap="none" spc="0" normalizeH="0" baseline="0" noProof="0">
                            <a:ln>
                              <a:noFill/>
                            </a:ln>
                            <a:solidFill>
                              <a:srgbClr val="002060"/>
                            </a:solidFill>
                            <a:effectLst/>
                            <a:uLnTx/>
                            <a:uFillTx/>
                            <a:latin typeface="Cambria Math" panose="02040503050406030204" pitchFamily="18" charset="0"/>
                            <a:ea typeface="+mn-ea"/>
                            <a:cs typeface="+mn-cs"/>
                          </a:rPr>
                          <m:t>𝑜𝑓</m:t>
                        </m:r>
                        <m:r>
                          <a:rPr kumimoji="0" lang="en-AU" sz="2800" b="0" i="1" u="none" strike="noStrike" kern="1200" cap="none" spc="0" normalizeH="0" baseline="0" noProof="0">
                            <a:ln>
                              <a:noFill/>
                            </a:ln>
                            <a:solidFill>
                              <a:srgbClr val="002060"/>
                            </a:solidFill>
                            <a:effectLst/>
                            <a:uLnTx/>
                            <a:uFillTx/>
                            <a:latin typeface="Cambria Math" panose="02040503050406030204" pitchFamily="18" charset="0"/>
                            <a:ea typeface="+mn-ea"/>
                            <a:cs typeface="+mn-cs"/>
                          </a:rPr>
                          <m:t> </m:t>
                        </m:r>
                        <m:r>
                          <a:rPr kumimoji="0" lang="en-AU" sz="2800" b="0" i="1" u="none" strike="noStrike" kern="1200" cap="none" spc="0" normalizeH="0" baseline="0" noProof="0">
                            <a:ln>
                              <a:noFill/>
                            </a:ln>
                            <a:solidFill>
                              <a:srgbClr val="002060"/>
                            </a:solidFill>
                            <a:effectLst/>
                            <a:uLnTx/>
                            <a:uFillTx/>
                            <a:latin typeface="Cambria Math" panose="02040503050406030204" pitchFamily="18" charset="0"/>
                            <a:ea typeface="+mn-ea"/>
                            <a:cs typeface="+mn-cs"/>
                          </a:rPr>
                          <m:t>𝑡h𝑒</m:t>
                        </m:r>
                        <m:r>
                          <a:rPr kumimoji="0" lang="en-AU" sz="2800" b="0" i="1" u="none" strike="noStrike" kern="1200" cap="none" spc="0" normalizeH="0" baseline="0" noProof="0">
                            <a:ln>
                              <a:noFill/>
                            </a:ln>
                            <a:solidFill>
                              <a:srgbClr val="002060"/>
                            </a:solidFill>
                            <a:effectLst/>
                            <a:uLnTx/>
                            <a:uFillTx/>
                            <a:latin typeface="Cambria Math" panose="02040503050406030204" pitchFamily="18" charset="0"/>
                            <a:ea typeface="+mn-ea"/>
                            <a:cs typeface="+mn-cs"/>
                          </a:rPr>
                          <m:t> </m:t>
                        </m:r>
                        <m:r>
                          <a:rPr kumimoji="0" lang="en-AU" sz="2800" b="0" i="1" u="none" strike="noStrike" kern="1200" cap="none" spc="0" normalizeH="0" baseline="0" noProof="0">
                            <a:ln>
                              <a:noFill/>
                            </a:ln>
                            <a:solidFill>
                              <a:srgbClr val="002060"/>
                            </a:solidFill>
                            <a:effectLst/>
                            <a:uLnTx/>
                            <a:uFillTx/>
                            <a:latin typeface="Cambria Math" panose="02040503050406030204" pitchFamily="18" charset="0"/>
                            <a:ea typeface="+mn-ea"/>
                            <a:cs typeface="+mn-cs"/>
                          </a:rPr>
                          <m:t>𝑠𝑐𝑜𝑟𝑒𝑠</m:t>
                        </m:r>
                      </m:num>
                      <m:den>
                        <m:r>
                          <a:rPr kumimoji="0" lang="en-AU" sz="2800" b="0" i="1" u="none" strike="noStrike" kern="1200" cap="none" spc="0" normalizeH="0" baseline="0" noProof="0">
                            <a:ln>
                              <a:noFill/>
                            </a:ln>
                            <a:solidFill>
                              <a:srgbClr val="002060"/>
                            </a:solidFill>
                            <a:effectLst/>
                            <a:uLnTx/>
                            <a:uFillTx/>
                            <a:latin typeface="Cambria Math" panose="02040503050406030204" pitchFamily="18" charset="0"/>
                            <a:ea typeface="+mn-ea"/>
                            <a:cs typeface="+mn-cs"/>
                          </a:rPr>
                          <m:t>𝑛𝑢𝑚𝑏𝑒𝑟</m:t>
                        </m:r>
                        <m:r>
                          <a:rPr kumimoji="0" lang="en-AU" sz="2800" b="0" i="1" u="none" strike="noStrike" kern="1200" cap="none" spc="0" normalizeH="0" baseline="0" noProof="0">
                            <a:ln>
                              <a:noFill/>
                            </a:ln>
                            <a:solidFill>
                              <a:srgbClr val="002060"/>
                            </a:solidFill>
                            <a:effectLst/>
                            <a:uLnTx/>
                            <a:uFillTx/>
                            <a:latin typeface="Cambria Math" panose="02040503050406030204" pitchFamily="18" charset="0"/>
                            <a:ea typeface="+mn-ea"/>
                            <a:cs typeface="+mn-cs"/>
                          </a:rPr>
                          <m:t> </m:t>
                        </m:r>
                        <m:r>
                          <a:rPr kumimoji="0" lang="en-AU" sz="2800" b="0" i="1" u="none" strike="noStrike" kern="1200" cap="none" spc="0" normalizeH="0" baseline="0" noProof="0">
                            <a:ln>
                              <a:noFill/>
                            </a:ln>
                            <a:solidFill>
                              <a:srgbClr val="002060"/>
                            </a:solidFill>
                            <a:effectLst/>
                            <a:uLnTx/>
                            <a:uFillTx/>
                            <a:latin typeface="Cambria Math" panose="02040503050406030204" pitchFamily="18" charset="0"/>
                            <a:ea typeface="+mn-ea"/>
                            <a:cs typeface="+mn-cs"/>
                          </a:rPr>
                          <m:t>𝑜𝑓</m:t>
                        </m:r>
                        <m:r>
                          <a:rPr kumimoji="0" lang="en-AU" sz="2800" b="0" i="1" u="none" strike="noStrike" kern="1200" cap="none" spc="0" normalizeH="0" baseline="0" noProof="0">
                            <a:ln>
                              <a:noFill/>
                            </a:ln>
                            <a:solidFill>
                              <a:srgbClr val="002060"/>
                            </a:solidFill>
                            <a:effectLst/>
                            <a:uLnTx/>
                            <a:uFillTx/>
                            <a:latin typeface="Cambria Math" panose="02040503050406030204" pitchFamily="18" charset="0"/>
                            <a:ea typeface="+mn-ea"/>
                            <a:cs typeface="+mn-cs"/>
                          </a:rPr>
                          <m:t> </m:t>
                        </m:r>
                        <m:r>
                          <a:rPr kumimoji="0" lang="en-AU" sz="2800" b="0" i="1" u="none" strike="noStrike" kern="1200" cap="none" spc="0" normalizeH="0" baseline="0" noProof="0">
                            <a:ln>
                              <a:noFill/>
                            </a:ln>
                            <a:solidFill>
                              <a:srgbClr val="002060"/>
                            </a:solidFill>
                            <a:effectLst/>
                            <a:uLnTx/>
                            <a:uFillTx/>
                            <a:latin typeface="Cambria Math" panose="02040503050406030204" pitchFamily="18" charset="0"/>
                            <a:ea typeface="+mn-ea"/>
                            <a:cs typeface="+mn-cs"/>
                          </a:rPr>
                          <m:t>𝑠𝑐𝑜𝑟𝑒𝑠</m:t>
                        </m:r>
                      </m:den>
                    </m:f>
                  </m:oMath>
                </a14:m>
                <a:endParaRPr kumimoji="0" lang="en-AU" sz="2800" b="0" i="0" u="none" strike="noStrike" kern="1200" cap="none" spc="0" normalizeH="0" baseline="0" noProof="0" dirty="0">
                  <a:ln>
                    <a:noFill/>
                  </a:ln>
                  <a:solidFill>
                    <a:srgbClr val="002060"/>
                  </a:solidFill>
                  <a:effectLst/>
                  <a:uLnTx/>
                  <a:uFillTx/>
                  <a:latin typeface="Century Gothic" panose="020B0502020202020204"/>
                  <a:ea typeface="+mn-ea"/>
                  <a:cs typeface="+mn-cs"/>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254828" y="863839"/>
                <a:ext cx="3521675" cy="765722"/>
              </a:xfrm>
              <a:prstGeom prst="rect">
                <a:avLst/>
              </a:prstGeom>
              <a:blipFill>
                <a:blip r:embed="rId2"/>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007693" y="1764135"/>
                <a:ext cx="2010032" cy="7319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a:t>
                </a:r>
                <a:r>
                  <a:rPr kumimoji="0" lang="en-AU" sz="2400" b="0" i="0" u="none" strike="noStrike" kern="1200" cap="none" spc="0" normalizeH="0" baseline="0" noProof="0" dirty="0">
                    <a:ln>
                      <a:noFill/>
                    </a:ln>
                    <a:solidFill>
                      <a:srgbClr val="002060"/>
                    </a:solidFill>
                    <a:effectLst/>
                    <a:uLnTx/>
                    <a:uFillTx/>
                    <a:latin typeface="Century Gothic" panose="020B0502020202020204"/>
                    <a:ea typeface="+mn-ea"/>
                    <a:cs typeface="+mn-cs"/>
                  </a:rPr>
                  <a:t> </a:t>
                </a:r>
                <a:r>
                  <a:rPr kumimoji="0" lang="en-AU" sz="1800" b="0" i="0" u="none" strike="noStrike" kern="1200" cap="none" spc="0" normalizeH="0" baseline="0" noProof="0" dirty="0">
                    <a:ln>
                      <a:noFill/>
                    </a:ln>
                    <a:solidFill>
                      <a:srgbClr val="002060"/>
                    </a:solidFill>
                    <a:effectLst/>
                    <a:uLnTx/>
                    <a:uFillTx/>
                    <a:latin typeface="Century Gothic" panose="020B0502020202020204"/>
                    <a:ea typeface="+mn-ea"/>
                    <a:cs typeface="+mn-cs"/>
                  </a:rPr>
                  <a:t> </a:t>
                </a:r>
                <a14:m>
                  <m:oMath xmlns:m="http://schemas.openxmlformats.org/officeDocument/2006/math">
                    <m:f>
                      <m:fPr>
                        <m:ctrlPr>
                          <a:rPr kumimoji="0" lang="en-AU" sz="2800" b="0"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fPr>
                      <m:num>
                        <m:nary>
                          <m:naryPr>
                            <m:chr m:val="∑"/>
                            <m:subHide m:val="on"/>
                            <m:supHide m:val="on"/>
                            <m:ctrlPr>
                              <a:rPr kumimoji="0" lang="en-AU" sz="2800" b="0"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naryPr>
                          <m:sub/>
                          <m:sup/>
                          <m:e>
                            <m:r>
                              <a:rPr kumimoji="0" lang="en-AU" sz="2800" b="0"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𝑥</m:t>
                            </m:r>
                          </m:e>
                        </m:nary>
                      </m:num>
                      <m:den>
                        <m:r>
                          <a:rPr kumimoji="0" lang="en-AU" sz="2800" b="0"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𝑛</m:t>
                        </m:r>
                      </m:den>
                    </m:f>
                  </m:oMath>
                </a14:m>
                <a:endParaRPr kumimoji="0" lang="en-AU" sz="2800" b="0" i="0" u="none" strike="noStrike" kern="1200" cap="none" spc="0" normalizeH="0" baseline="0" noProof="0" dirty="0">
                  <a:ln>
                    <a:noFill/>
                  </a:ln>
                  <a:solidFill>
                    <a:srgbClr val="002060"/>
                  </a:solidFill>
                  <a:effectLst/>
                  <a:uLnTx/>
                  <a:uFillTx/>
                  <a:latin typeface="Century Gothic" panose="020B0502020202020204"/>
                  <a:ea typeface="+mn-ea"/>
                  <a:cs typeface="+mn-cs"/>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4007693" y="1764135"/>
                <a:ext cx="2010032" cy="731932"/>
              </a:xfrm>
              <a:prstGeom prst="rect">
                <a:avLst/>
              </a:prstGeom>
              <a:blipFill>
                <a:blip r:embed="rId3"/>
                <a:stretch>
                  <a:fillRect l="-4545" b="-2500"/>
                </a:stretch>
              </a:blipFill>
            </p:spPr>
            <p:txBody>
              <a:bodyPr/>
              <a:lstStyle/>
              <a:p>
                <a:r>
                  <a:rPr lang="en-AU">
                    <a:noFill/>
                  </a:rPr>
                  <a:t> </a:t>
                </a:r>
              </a:p>
            </p:txBody>
          </p:sp>
        </mc:Fallback>
      </mc:AlternateContent>
      <p:sp>
        <p:nvSpPr>
          <p:cNvPr id="7" name="TextBox 6"/>
          <p:cNvSpPr txBox="1"/>
          <p:nvPr/>
        </p:nvSpPr>
        <p:spPr>
          <a:xfrm>
            <a:off x="3012989" y="2844958"/>
            <a:ext cx="1692876"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Median = </a:t>
            </a:r>
          </a:p>
        </p:txBody>
      </p:sp>
      <p:sp>
        <p:nvSpPr>
          <p:cNvPr id="8" name="TextBox 7"/>
          <p:cNvSpPr txBox="1"/>
          <p:nvPr/>
        </p:nvSpPr>
        <p:spPr>
          <a:xfrm>
            <a:off x="4662601" y="2844958"/>
            <a:ext cx="221185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002060"/>
                </a:solidFill>
                <a:effectLst/>
                <a:uLnTx/>
                <a:uFillTx/>
                <a:latin typeface="Century Gothic" panose="020B0502020202020204"/>
                <a:ea typeface="+mn-ea"/>
                <a:cs typeface="+mn-cs"/>
              </a:rPr>
              <a:t>Middle</a:t>
            </a:r>
          </a:p>
        </p:txBody>
      </p:sp>
      <p:sp>
        <p:nvSpPr>
          <p:cNvPr id="9" name="TextBox 8"/>
          <p:cNvSpPr txBox="1"/>
          <p:nvPr/>
        </p:nvSpPr>
        <p:spPr>
          <a:xfrm>
            <a:off x="4662601" y="3319633"/>
            <a:ext cx="7068065"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002060"/>
                </a:solidFill>
                <a:effectLst/>
                <a:uLnTx/>
                <a:uFillTx/>
                <a:latin typeface="Century Gothic" panose="020B0502020202020204"/>
                <a:ea typeface="+mn-ea"/>
                <a:cs typeface="+mn-cs"/>
              </a:rPr>
              <a:t>The centre score when scores are put in order.</a:t>
            </a:r>
          </a:p>
        </p:txBody>
      </p:sp>
      <p:sp>
        <p:nvSpPr>
          <p:cNvPr id="10" name="TextBox 9"/>
          <p:cNvSpPr txBox="1"/>
          <p:nvPr/>
        </p:nvSpPr>
        <p:spPr>
          <a:xfrm>
            <a:off x="3202428" y="4189178"/>
            <a:ext cx="1692876"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Mode = </a:t>
            </a:r>
          </a:p>
        </p:txBody>
      </p:sp>
      <p:sp>
        <p:nvSpPr>
          <p:cNvPr id="11" name="TextBox 10"/>
          <p:cNvSpPr txBox="1"/>
          <p:nvPr/>
        </p:nvSpPr>
        <p:spPr>
          <a:xfrm>
            <a:off x="4539033" y="4148518"/>
            <a:ext cx="213771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002060"/>
                </a:solidFill>
                <a:effectLst/>
                <a:uLnTx/>
                <a:uFillTx/>
                <a:latin typeface="Century Gothic" panose="020B0502020202020204"/>
                <a:ea typeface="+mn-ea"/>
                <a:cs typeface="+mn-cs"/>
              </a:rPr>
              <a:t>Most</a:t>
            </a:r>
          </a:p>
        </p:txBody>
      </p:sp>
      <p:sp>
        <p:nvSpPr>
          <p:cNvPr id="12" name="TextBox 11"/>
          <p:cNvSpPr txBox="1"/>
          <p:nvPr/>
        </p:nvSpPr>
        <p:spPr>
          <a:xfrm>
            <a:off x="4539033" y="4691503"/>
            <a:ext cx="6474940"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002060"/>
                </a:solidFill>
                <a:effectLst/>
                <a:uLnTx/>
                <a:uFillTx/>
                <a:latin typeface="Century Gothic" panose="020B0502020202020204"/>
                <a:ea typeface="+mn-ea"/>
                <a:cs typeface="+mn-cs"/>
              </a:rPr>
              <a:t>Most frequently occurring score.</a:t>
            </a:r>
          </a:p>
        </p:txBody>
      </p:sp>
    </p:spTree>
    <p:extLst>
      <p:ext uri="{BB962C8B-B14F-4D97-AF65-F5344CB8AC3E}">
        <p14:creationId xmlns:p14="http://schemas.microsoft.com/office/powerpoint/2010/main" val="1546516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1+#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1+#ppt_w/2"/>
                                          </p:val>
                                        </p:tav>
                                        <p:tav tm="100000">
                                          <p:val>
                                            <p:strVal val="#ppt_x"/>
                                          </p:val>
                                        </p:tav>
                                      </p:tavLst>
                                    </p:anim>
                                    <p:anim calcmode="lin" valueType="num">
                                      <p:cBhvr additive="base">
                                        <p:cTn id="2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1+#ppt_w/2"/>
                                          </p:val>
                                        </p:tav>
                                        <p:tav tm="100000">
                                          <p:val>
                                            <p:strVal val="#ppt_x"/>
                                          </p:val>
                                        </p:tav>
                                      </p:tavLst>
                                    </p:anim>
                                    <p:anim calcmode="lin" valueType="num">
                                      <p:cBhvr additive="base">
                                        <p:cTn id="34"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1+#ppt_w/2"/>
                                          </p:val>
                                        </p:tav>
                                        <p:tav tm="100000">
                                          <p:val>
                                            <p:strVal val="#ppt_x"/>
                                          </p:val>
                                        </p:tav>
                                      </p:tavLst>
                                    </p:anim>
                                    <p:anim calcmode="lin" valueType="num">
                                      <p:cBhvr additive="base">
                                        <p:cTn id="4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1+#ppt_w/2"/>
                                          </p:val>
                                        </p:tav>
                                        <p:tav tm="100000">
                                          <p:val>
                                            <p:strVal val="#ppt_x"/>
                                          </p:val>
                                        </p:tav>
                                      </p:tavLst>
                                    </p:anim>
                                    <p:anim calcmode="lin" valueType="num">
                                      <p:cBhvr additive="base">
                                        <p:cTn id="50"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5416" y="160638"/>
            <a:ext cx="2866767"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dirty="0">
                <a:ln>
                  <a:noFill/>
                </a:ln>
                <a:solidFill>
                  <a:srgbClr val="FF0000"/>
                </a:solidFill>
                <a:effectLst/>
                <a:uLnTx/>
                <a:uFillTx/>
                <a:latin typeface="Century Gothic" panose="020B0502020202020204"/>
                <a:ea typeface="+mn-ea"/>
                <a:cs typeface="+mn-cs"/>
              </a:rPr>
              <a:t>Apply - </a:t>
            </a:r>
          </a:p>
        </p:txBody>
      </p:sp>
      <p:sp>
        <p:nvSpPr>
          <p:cNvPr id="4" name="TextBox 3"/>
          <p:cNvSpPr txBox="1"/>
          <p:nvPr/>
        </p:nvSpPr>
        <p:spPr>
          <a:xfrm>
            <a:off x="1569307" y="160638"/>
            <a:ext cx="1692876"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dirty="0">
                <a:ln>
                  <a:noFill/>
                </a:ln>
                <a:solidFill>
                  <a:srgbClr val="FF0000"/>
                </a:solidFill>
                <a:effectLst/>
                <a:uLnTx/>
                <a:uFillTx/>
                <a:latin typeface="Century Gothic" panose="020B0502020202020204"/>
                <a:ea typeface="+mn-ea"/>
                <a:cs typeface="+mn-cs"/>
              </a:rPr>
              <a:t>White-boards</a:t>
            </a:r>
          </a:p>
        </p:txBody>
      </p:sp>
      <p:sp>
        <p:nvSpPr>
          <p:cNvPr id="5" name="TextBox 4"/>
          <p:cNvSpPr txBox="1"/>
          <p:nvPr/>
        </p:nvSpPr>
        <p:spPr>
          <a:xfrm>
            <a:off x="2539313" y="963829"/>
            <a:ext cx="696921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Calculate the mean of 34, 36, 38, 40, 42</a:t>
            </a:r>
          </a:p>
        </p:txBody>
      </p:sp>
      <p:sp>
        <p:nvSpPr>
          <p:cNvPr id="7" name="TextBox 6"/>
          <p:cNvSpPr txBox="1"/>
          <p:nvPr/>
        </p:nvSpPr>
        <p:spPr>
          <a:xfrm>
            <a:off x="3352783" y="1859353"/>
            <a:ext cx="4345475"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Mean =</a:t>
            </a:r>
            <a:endPar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mc:AlternateContent xmlns:mc="http://schemas.openxmlformats.org/markup-compatibility/2006" xmlns:a14="http://schemas.microsoft.com/office/drawing/2010/main">
        <mc:Choice Requires="a14">
          <p:sp>
            <p:nvSpPr>
              <p:cNvPr id="8" name="TextBox 7"/>
              <p:cNvSpPr txBox="1"/>
              <p:nvPr/>
            </p:nvSpPr>
            <p:spPr>
              <a:xfrm>
                <a:off x="4512821" y="1724219"/>
                <a:ext cx="2025398" cy="7319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002060"/>
                    </a:solidFill>
                    <a:effectLst/>
                    <a:uLnTx/>
                    <a:uFillTx/>
                    <a:latin typeface="Century Gothic" panose="020B0502020202020204"/>
                    <a:ea typeface="+mn-ea"/>
                    <a:cs typeface="+mn-cs"/>
                  </a:rPr>
                  <a:t> </a:t>
                </a:r>
                <a:r>
                  <a:rPr kumimoji="0" lang="en-AU" sz="1800" b="0" i="0" u="none" strike="noStrike" kern="1200" cap="none" spc="0" normalizeH="0" baseline="0" noProof="0" dirty="0">
                    <a:ln>
                      <a:noFill/>
                    </a:ln>
                    <a:solidFill>
                      <a:srgbClr val="002060"/>
                    </a:solidFill>
                    <a:effectLst/>
                    <a:uLnTx/>
                    <a:uFillTx/>
                    <a:latin typeface="Century Gothic" panose="020B0502020202020204"/>
                    <a:ea typeface="+mn-ea"/>
                    <a:cs typeface="+mn-cs"/>
                  </a:rPr>
                  <a:t> </a:t>
                </a:r>
                <a14:m>
                  <m:oMath xmlns:m="http://schemas.openxmlformats.org/officeDocument/2006/math">
                    <m:f>
                      <m:fPr>
                        <m:ctrlPr>
                          <a:rPr kumimoji="0" lang="en-AU" sz="2800" b="0"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fPr>
                      <m:num>
                        <m:nary>
                          <m:naryPr>
                            <m:chr m:val="∑"/>
                            <m:subHide m:val="on"/>
                            <m:supHide m:val="on"/>
                            <m:ctrlPr>
                              <a:rPr kumimoji="0" lang="en-AU" sz="2800" b="0"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ctrlPr>
                          </m:naryPr>
                          <m:sub/>
                          <m:sup/>
                          <m:e>
                            <m:r>
                              <a:rPr kumimoji="0" lang="en-AU" sz="2800" b="0"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𝑥</m:t>
                            </m:r>
                          </m:e>
                        </m:nary>
                      </m:num>
                      <m:den>
                        <m:r>
                          <a:rPr kumimoji="0" lang="en-AU" sz="2800" b="0" i="1" u="none" strike="noStrike" kern="1200" cap="none" spc="0" normalizeH="0" baseline="0" noProof="0" smtClean="0">
                            <a:ln>
                              <a:noFill/>
                            </a:ln>
                            <a:solidFill>
                              <a:srgbClr val="002060"/>
                            </a:solidFill>
                            <a:effectLst/>
                            <a:uLnTx/>
                            <a:uFillTx/>
                            <a:latin typeface="Cambria Math" panose="02040503050406030204" pitchFamily="18" charset="0"/>
                            <a:ea typeface="+mn-ea"/>
                            <a:cs typeface="+mn-cs"/>
                          </a:rPr>
                          <m:t>𝑛</m:t>
                        </m:r>
                      </m:den>
                    </m:f>
                  </m:oMath>
                </a14:m>
                <a:endParaRPr kumimoji="0" lang="en-AU" sz="2800" b="0" i="0" u="none" strike="noStrike" kern="1200" cap="none" spc="0" normalizeH="0" baseline="0" noProof="0" dirty="0">
                  <a:ln>
                    <a:noFill/>
                  </a:ln>
                  <a:solidFill>
                    <a:srgbClr val="002060"/>
                  </a:solidFill>
                  <a:effectLst/>
                  <a:uLnTx/>
                  <a:uFillTx/>
                  <a:latin typeface="Century Gothic" panose="020B0502020202020204"/>
                  <a:ea typeface="+mn-ea"/>
                  <a:cs typeface="+mn-cs"/>
                </a:endParaRPr>
              </a:p>
            </p:txBody>
          </p:sp>
        </mc:Choice>
        <mc:Fallback xmlns="">
          <p:sp>
            <p:nvSpPr>
              <p:cNvPr id="8" name="TextBox 7"/>
              <p:cNvSpPr txBox="1">
                <a:spLocks noRot="1" noChangeAspect="1" noMove="1" noResize="1" noEditPoints="1" noAdjustHandles="1" noChangeArrowheads="1" noChangeShapeType="1" noTextEdit="1"/>
              </p:cNvSpPr>
              <p:nvPr/>
            </p:nvSpPr>
            <p:spPr>
              <a:xfrm>
                <a:off x="4512821" y="1724219"/>
                <a:ext cx="2025398" cy="731932"/>
              </a:xfrm>
              <a:prstGeom prst="rect">
                <a:avLst/>
              </a:prstGeom>
              <a:blipFill>
                <a:blip r:embed="rId2"/>
                <a:stretch>
                  <a:fillRect/>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3206577" y="2456151"/>
                <a:ext cx="3188043" cy="13093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1200"/>
                  </a:spcAft>
                  <a:buClrTx/>
                  <a:buSzTx/>
                  <a:buFontTx/>
                  <a:buNone/>
                  <a:tabLst/>
                  <a:defRPr/>
                </a:pPr>
                <a14:m>
                  <m:oMathPara xmlns:m="http://schemas.openxmlformats.org/officeDocument/2006/math">
                    <m:oMathParaPr>
                      <m:jc m:val="centerGroup"/>
                    </m:oMathParaPr>
                    <m:oMath xmlns:m="http://schemas.openxmlformats.org/officeDocument/2006/math">
                      <m:r>
                        <a:rPr kumimoji="0" lang="en-AU"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f>
                        <m:fPr>
                          <m:ctrlPr>
                            <a:rPr kumimoji="0" lang="en-AU"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AU"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190</m:t>
                          </m:r>
                        </m:num>
                        <m:den>
                          <m:r>
                            <a:rPr kumimoji="0" lang="en-AU"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m:t>
                          </m:r>
                        </m:den>
                      </m:f>
                    </m:oMath>
                  </m:oMathPara>
                </a14:m>
                <a:endParaRPr kumimoji="0" lang="en-AU" sz="24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a:p>
                <a:pPr marL="0" marR="0" lvl="0" indent="0" algn="l" defTabSz="457200" rtl="0" eaLnBrk="1" fontAlgn="auto" latinLnBrk="0" hangingPunct="1">
                  <a:lnSpc>
                    <a:spcPct val="100000"/>
                  </a:lnSpc>
                  <a:spcBef>
                    <a:spcPts val="0"/>
                  </a:spcBef>
                  <a:spcAft>
                    <a:spcPts val="120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             </a:t>
                </a:r>
                <a14:m>
                  <m:oMath xmlns:m="http://schemas.openxmlformats.org/officeDocument/2006/math">
                    <m:r>
                      <a:rPr kumimoji="0" lang="en-AU"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=38</m:t>
                    </m:r>
                  </m:oMath>
                </a14:m>
                <a:endPar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206577" y="2456151"/>
                <a:ext cx="3188043" cy="1309397"/>
              </a:xfrm>
              <a:prstGeom prst="rect">
                <a:avLst/>
              </a:prstGeom>
              <a:blipFill>
                <a:blip r:embed="rId3"/>
                <a:stretch>
                  <a:fillRect/>
                </a:stretch>
              </a:blipFill>
            </p:spPr>
            <p:txBody>
              <a:bodyPr/>
              <a:lstStyle/>
              <a:p>
                <a:r>
                  <a:rPr lang="en-AU">
                    <a:noFill/>
                  </a:rPr>
                  <a:t> </a:t>
                </a:r>
              </a:p>
            </p:txBody>
          </p:sp>
        </mc:Fallback>
      </mc:AlternateContent>
      <p:sp>
        <p:nvSpPr>
          <p:cNvPr id="11" name="TextBox 10"/>
          <p:cNvSpPr txBox="1"/>
          <p:nvPr/>
        </p:nvSpPr>
        <p:spPr>
          <a:xfrm>
            <a:off x="2294227" y="3592554"/>
            <a:ext cx="9897773" cy="156966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srgbClr val="FF0000"/>
                </a:solidFill>
                <a:effectLst/>
                <a:uLnTx/>
                <a:uFillTx/>
                <a:latin typeface="Century Gothic" panose="020B0502020202020204"/>
                <a:ea typeface="+mn-ea"/>
                <a:cs typeface="+mn-cs"/>
              </a:rPr>
              <a:t>or</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Mean : 	as scores are in a pattern the mean will be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			the middle score. </a:t>
            </a:r>
          </a:p>
        </p:txBody>
      </p:sp>
    </p:spTree>
    <p:extLst>
      <p:ext uri="{BB962C8B-B14F-4D97-AF65-F5344CB8AC3E}">
        <p14:creationId xmlns:p14="http://schemas.microsoft.com/office/powerpoint/2010/main" val="970173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15745" y="1628520"/>
            <a:ext cx="696921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Calculate the median of 34, 36, 38, 40, 42</a:t>
            </a:r>
          </a:p>
        </p:txBody>
      </p:sp>
      <p:sp>
        <p:nvSpPr>
          <p:cNvPr id="3" name="TextBox 2"/>
          <p:cNvSpPr txBox="1"/>
          <p:nvPr/>
        </p:nvSpPr>
        <p:spPr>
          <a:xfrm>
            <a:off x="3880021" y="2483708"/>
            <a:ext cx="473263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002060"/>
                </a:solidFill>
                <a:effectLst/>
                <a:uLnTx/>
                <a:uFillTx/>
                <a:latin typeface="Century Gothic" panose="020B0502020202020204"/>
                <a:ea typeface="+mn-ea"/>
                <a:cs typeface="+mn-cs"/>
              </a:rPr>
              <a:t>Median = middle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002060"/>
                </a:solidFill>
                <a:effectLst/>
                <a:uLnTx/>
                <a:uFillTx/>
                <a:latin typeface="Century Gothic" panose="020B0502020202020204"/>
                <a:ea typeface="+mn-ea"/>
                <a:cs typeface="+mn-cs"/>
              </a:rPr>
              <a:t>		    = 38</a:t>
            </a:r>
          </a:p>
        </p:txBody>
      </p:sp>
    </p:spTree>
    <p:extLst>
      <p:ext uri="{BB962C8B-B14F-4D97-AF65-F5344CB8AC3E}">
        <p14:creationId xmlns:p14="http://schemas.microsoft.com/office/powerpoint/2010/main" val="472634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20779" y="1025610"/>
            <a:ext cx="7043351"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Without calculating: which would be higher, the mean or the median?</a:t>
            </a:r>
          </a:p>
        </p:txBody>
      </p:sp>
      <p:sp>
        <p:nvSpPr>
          <p:cNvPr id="4" name="TextBox 3"/>
          <p:cNvSpPr txBox="1"/>
          <p:nvPr/>
        </p:nvSpPr>
        <p:spPr>
          <a:xfrm>
            <a:off x="3842951" y="2038865"/>
            <a:ext cx="392944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34, 36, 38, 40, 4200</a:t>
            </a:r>
          </a:p>
        </p:txBody>
      </p:sp>
      <p:sp>
        <p:nvSpPr>
          <p:cNvPr id="5" name="TextBox 4"/>
          <p:cNvSpPr txBox="1"/>
          <p:nvPr/>
        </p:nvSpPr>
        <p:spPr>
          <a:xfrm>
            <a:off x="2656701" y="3064476"/>
            <a:ext cx="7908325"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FF0000"/>
                </a:solidFill>
                <a:effectLst/>
                <a:uLnTx/>
                <a:uFillTx/>
                <a:latin typeface="Century Gothic" panose="020B0502020202020204"/>
                <a:ea typeface="+mn-ea"/>
                <a:cs typeface="+mn-cs"/>
              </a:rPr>
              <a:t>Mean as it is influenced by the extreme score of 4200. The median is not affected.</a:t>
            </a:r>
          </a:p>
        </p:txBody>
      </p:sp>
    </p:spTree>
    <p:extLst>
      <p:ext uri="{BB962C8B-B14F-4D97-AF65-F5344CB8AC3E}">
        <p14:creationId xmlns:p14="http://schemas.microsoft.com/office/powerpoint/2010/main" val="183491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39065" y="639979"/>
            <a:ext cx="6969211" cy="98488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120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Calculate the mode of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34, 36, 38, 40, 42, 34, 36, 38, 44, 34,44 </a:t>
            </a:r>
          </a:p>
        </p:txBody>
      </p:sp>
      <p:sp>
        <p:nvSpPr>
          <p:cNvPr id="3" name="TextBox 2"/>
          <p:cNvSpPr txBox="1"/>
          <p:nvPr/>
        </p:nvSpPr>
        <p:spPr>
          <a:xfrm>
            <a:off x="4905632" y="2026508"/>
            <a:ext cx="4658497" cy="98488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1200"/>
              </a:spcAft>
              <a:buClrTx/>
              <a:buSzTx/>
              <a:buFontTx/>
              <a:buNone/>
              <a:tabLst/>
              <a:defRPr/>
            </a:pPr>
            <a:r>
              <a:rPr kumimoji="0" lang="en-AU" sz="2400" b="0" i="0" u="none" strike="noStrike" kern="1200" cap="none" spc="0" normalizeH="0" baseline="0" noProof="0" dirty="0">
                <a:ln>
                  <a:noFill/>
                </a:ln>
                <a:solidFill>
                  <a:srgbClr val="FF0000"/>
                </a:solidFill>
                <a:effectLst/>
                <a:uLnTx/>
                <a:uFillTx/>
                <a:latin typeface="Century Gothic" panose="020B0502020202020204"/>
                <a:ea typeface="+mn-ea"/>
                <a:cs typeface="+mn-cs"/>
              </a:rPr>
              <a:t>Mode = most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FF0000"/>
                </a:solidFill>
                <a:effectLst/>
                <a:uLnTx/>
                <a:uFillTx/>
                <a:latin typeface="Century Gothic" panose="020B0502020202020204"/>
                <a:ea typeface="+mn-ea"/>
                <a:cs typeface="+mn-cs"/>
              </a:rPr>
              <a:t>		 = 34</a:t>
            </a:r>
          </a:p>
        </p:txBody>
      </p:sp>
    </p:spTree>
    <p:extLst>
      <p:ext uri="{BB962C8B-B14F-4D97-AF65-F5344CB8AC3E}">
        <p14:creationId xmlns:p14="http://schemas.microsoft.com/office/powerpoint/2010/main" val="701960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A2AA3E-77D0-441B-A4A0-8421229C9E30}"/>
              </a:ext>
            </a:extLst>
          </p:cNvPr>
          <p:cNvSpPr txBox="1"/>
          <p:nvPr/>
        </p:nvSpPr>
        <p:spPr>
          <a:xfrm>
            <a:off x="2066081" y="0"/>
            <a:ext cx="3714750" cy="1015663"/>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6000" b="0" i="0" u="none" strike="noStrike" kern="1200" cap="none" spc="0" normalizeH="0" baseline="0" noProof="0" dirty="0">
                <a:ln>
                  <a:noFill/>
                </a:ln>
                <a:solidFill>
                  <a:prstClr val="black"/>
                </a:solidFill>
                <a:effectLst/>
                <a:uLnTx/>
                <a:uFillTx/>
                <a:latin typeface="Century Gothic" panose="020B0502020202020204"/>
                <a:ea typeface="+mn-ea"/>
                <a:cs typeface="+mn-cs"/>
              </a:rPr>
              <a:t>Sampling</a:t>
            </a:r>
          </a:p>
        </p:txBody>
      </p:sp>
      <p:grpSp>
        <p:nvGrpSpPr>
          <p:cNvPr id="5" name="Group 4"/>
          <p:cNvGrpSpPr/>
          <p:nvPr/>
        </p:nvGrpSpPr>
        <p:grpSpPr>
          <a:xfrm>
            <a:off x="2640440" y="1151980"/>
            <a:ext cx="9150507" cy="4350461"/>
            <a:chOff x="2897114" y="1761581"/>
            <a:chExt cx="8496537" cy="3657600"/>
          </a:xfrm>
        </p:grpSpPr>
        <p:pic>
          <p:nvPicPr>
            <p:cNvPr id="4" name="Picture 3">
              <a:extLst>
                <a:ext uri="{FF2B5EF4-FFF2-40B4-BE49-F238E27FC236}">
                  <a16:creationId xmlns:a16="http://schemas.microsoft.com/office/drawing/2014/main" id="{DD1BE151-5148-441A-B5AE-2E80C32D632E}"/>
                </a:ext>
              </a:extLst>
            </p:cNvPr>
            <p:cNvPicPr>
              <a:picLocks noChangeAspect="1"/>
            </p:cNvPicPr>
            <p:nvPr/>
          </p:nvPicPr>
          <p:blipFill>
            <a:blip r:embed="rId2"/>
            <a:stretch>
              <a:fillRect/>
            </a:stretch>
          </p:blipFill>
          <p:spPr>
            <a:xfrm>
              <a:off x="2897114" y="1761581"/>
              <a:ext cx="8496537" cy="3657600"/>
            </a:xfrm>
            <a:prstGeom prst="rect">
              <a:avLst/>
            </a:prstGeom>
          </p:spPr>
        </p:pic>
        <p:sp>
          <p:nvSpPr>
            <p:cNvPr id="3" name="Rectangle 2"/>
            <p:cNvSpPr/>
            <p:nvPr/>
          </p:nvSpPr>
          <p:spPr>
            <a:xfrm>
              <a:off x="3850105" y="5101390"/>
              <a:ext cx="6561221" cy="3177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pSp>
    </p:spTree>
    <p:extLst>
      <p:ext uri="{BB962C8B-B14F-4D97-AF65-F5344CB8AC3E}">
        <p14:creationId xmlns:p14="http://schemas.microsoft.com/office/powerpoint/2010/main" val="3298769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09639A-6E40-41FB-ADE4-80482E9E8EF5}"/>
              </a:ext>
            </a:extLst>
          </p:cNvPr>
          <p:cNvSpPr txBox="1"/>
          <p:nvPr/>
        </p:nvSpPr>
        <p:spPr>
          <a:xfrm>
            <a:off x="3150056" y="196679"/>
            <a:ext cx="6240776"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Our focus is sampling a population. </a:t>
            </a:r>
            <a:endParaRPr kumimoji="0" lang="en-AU" sz="2400" b="0" i="0" u="none" strike="noStrike" kern="1200" cap="none" spc="0" normalizeH="0" baseline="0" noProof="0" dirty="0">
              <a:ln>
                <a:noFill/>
              </a:ln>
              <a:solidFill>
                <a:srgbClr val="FF0000"/>
              </a:solidFill>
              <a:effectLst/>
              <a:uLnTx/>
              <a:uFillTx/>
              <a:latin typeface="Century Gothic" panose="020B0502020202020204"/>
              <a:ea typeface="+mn-ea"/>
              <a:cs typeface="+mn-cs"/>
            </a:endParaRPr>
          </a:p>
        </p:txBody>
      </p:sp>
      <p:sp>
        <p:nvSpPr>
          <p:cNvPr id="3" name="TextBox 2">
            <a:extLst>
              <a:ext uri="{FF2B5EF4-FFF2-40B4-BE49-F238E27FC236}">
                <a16:creationId xmlns:a16="http://schemas.microsoft.com/office/drawing/2014/main" id="{AE92E76A-6F7E-453A-933D-6A1DD9E0BCDF}"/>
              </a:ext>
            </a:extLst>
          </p:cNvPr>
          <p:cNvSpPr txBox="1"/>
          <p:nvPr/>
        </p:nvSpPr>
        <p:spPr>
          <a:xfrm>
            <a:off x="3718558" y="883753"/>
            <a:ext cx="431945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Census versus sample.</a:t>
            </a:r>
          </a:p>
        </p:txBody>
      </p:sp>
      <p:sp>
        <p:nvSpPr>
          <p:cNvPr id="4" name="TextBox 3">
            <a:extLst>
              <a:ext uri="{FF2B5EF4-FFF2-40B4-BE49-F238E27FC236}">
                <a16:creationId xmlns:a16="http://schemas.microsoft.com/office/drawing/2014/main" id="{6C79C854-2686-4D38-B229-A220715C5B44}"/>
              </a:ext>
            </a:extLst>
          </p:cNvPr>
          <p:cNvSpPr txBox="1"/>
          <p:nvPr/>
        </p:nvSpPr>
        <p:spPr>
          <a:xfrm>
            <a:off x="2357294" y="1532374"/>
            <a:ext cx="1420582"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Census: </a:t>
            </a:r>
          </a:p>
        </p:txBody>
      </p:sp>
      <p:sp>
        <p:nvSpPr>
          <p:cNvPr id="5" name="TextBox 4">
            <a:extLst>
              <a:ext uri="{FF2B5EF4-FFF2-40B4-BE49-F238E27FC236}">
                <a16:creationId xmlns:a16="http://schemas.microsoft.com/office/drawing/2014/main" id="{903BC74D-2858-4FFF-9F8B-E3495B4CF7EE}"/>
              </a:ext>
            </a:extLst>
          </p:cNvPr>
          <p:cNvSpPr txBox="1"/>
          <p:nvPr/>
        </p:nvSpPr>
        <p:spPr>
          <a:xfrm>
            <a:off x="3993424" y="1596660"/>
            <a:ext cx="7251507"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00B0F0"/>
                </a:solidFill>
                <a:effectLst/>
                <a:uLnTx/>
                <a:uFillTx/>
                <a:latin typeface="Century Gothic" panose="020B0502020202020204"/>
                <a:ea typeface="+mn-ea"/>
                <a:cs typeface="+mn-cs"/>
              </a:rPr>
              <a:t>When the whole target population is surveyed.</a:t>
            </a:r>
          </a:p>
        </p:txBody>
      </p:sp>
      <p:sp>
        <p:nvSpPr>
          <p:cNvPr id="6" name="TextBox 5">
            <a:extLst>
              <a:ext uri="{FF2B5EF4-FFF2-40B4-BE49-F238E27FC236}">
                <a16:creationId xmlns:a16="http://schemas.microsoft.com/office/drawing/2014/main" id="{504595AF-5EE8-42A1-A15A-5DEE22B5CB43}"/>
              </a:ext>
            </a:extLst>
          </p:cNvPr>
          <p:cNvSpPr txBox="1"/>
          <p:nvPr/>
        </p:nvSpPr>
        <p:spPr>
          <a:xfrm>
            <a:off x="2357294" y="2180995"/>
            <a:ext cx="1420582"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Sample:</a:t>
            </a:r>
          </a:p>
        </p:txBody>
      </p:sp>
      <p:sp>
        <p:nvSpPr>
          <p:cNvPr id="7" name="TextBox 6">
            <a:extLst>
              <a:ext uri="{FF2B5EF4-FFF2-40B4-BE49-F238E27FC236}">
                <a16:creationId xmlns:a16="http://schemas.microsoft.com/office/drawing/2014/main" id="{FFFBBB3B-1101-4038-839D-1918E5B71AC2}"/>
              </a:ext>
            </a:extLst>
          </p:cNvPr>
          <p:cNvSpPr txBox="1"/>
          <p:nvPr/>
        </p:nvSpPr>
        <p:spPr>
          <a:xfrm>
            <a:off x="3993424" y="2164922"/>
            <a:ext cx="7707094"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00B0F0"/>
                </a:solidFill>
                <a:effectLst/>
                <a:uLnTx/>
                <a:uFillTx/>
                <a:latin typeface="Century Gothic" panose="020B0502020202020204"/>
                <a:ea typeface="+mn-ea"/>
                <a:cs typeface="+mn-cs"/>
              </a:rPr>
              <a:t>When a proportion of the population is surveyed.</a:t>
            </a:r>
          </a:p>
        </p:txBody>
      </p:sp>
      <p:graphicFrame>
        <p:nvGraphicFramePr>
          <p:cNvPr id="9" name="Table 9">
            <a:extLst>
              <a:ext uri="{FF2B5EF4-FFF2-40B4-BE49-F238E27FC236}">
                <a16:creationId xmlns:a16="http://schemas.microsoft.com/office/drawing/2014/main" id="{8B3C3A79-1022-4285-B95D-8E121B5B9145}"/>
              </a:ext>
            </a:extLst>
          </p:cNvPr>
          <p:cNvGraphicFramePr>
            <a:graphicFrameLocks noGrp="1"/>
          </p:cNvGraphicFramePr>
          <p:nvPr/>
        </p:nvGraphicFramePr>
        <p:xfrm>
          <a:off x="2408374" y="3429000"/>
          <a:ext cx="8907326" cy="3108960"/>
        </p:xfrm>
        <a:graphic>
          <a:graphicData uri="http://schemas.openxmlformats.org/drawingml/2006/table">
            <a:tbl>
              <a:tblPr firstRow="1" bandRow="1">
                <a:tableStyleId>{5C22544A-7EE6-4342-B048-85BDC9FD1C3A}</a:tableStyleId>
              </a:tblPr>
              <a:tblGrid>
                <a:gridCol w="1420676">
                  <a:extLst>
                    <a:ext uri="{9D8B030D-6E8A-4147-A177-3AD203B41FA5}">
                      <a16:colId xmlns:a16="http://schemas.microsoft.com/office/drawing/2014/main" val="1926258242"/>
                    </a:ext>
                  </a:extLst>
                </a:gridCol>
                <a:gridCol w="3752850">
                  <a:extLst>
                    <a:ext uri="{9D8B030D-6E8A-4147-A177-3AD203B41FA5}">
                      <a16:colId xmlns:a16="http://schemas.microsoft.com/office/drawing/2014/main" val="3161842522"/>
                    </a:ext>
                  </a:extLst>
                </a:gridCol>
                <a:gridCol w="3733800">
                  <a:extLst>
                    <a:ext uri="{9D8B030D-6E8A-4147-A177-3AD203B41FA5}">
                      <a16:colId xmlns:a16="http://schemas.microsoft.com/office/drawing/2014/main" val="3354828974"/>
                    </a:ext>
                  </a:extLst>
                </a:gridCol>
              </a:tblGrid>
              <a:tr h="370840">
                <a:tc>
                  <a:txBody>
                    <a:bodyPr/>
                    <a:lstStyle/>
                    <a:p>
                      <a:pPr algn="ctr"/>
                      <a:endParaRPr lang="en-AU" b="0" dirty="0">
                        <a:solidFill>
                          <a:srgbClr val="00206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2400" b="0" dirty="0">
                          <a:solidFill>
                            <a:srgbClr val="002060"/>
                          </a:solidFill>
                        </a:rPr>
                        <a:t>Advantages</a:t>
                      </a: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2400" b="0" dirty="0">
                          <a:solidFill>
                            <a:srgbClr val="002060"/>
                          </a:solidFill>
                        </a:rPr>
                        <a:t>Disadvantages</a:t>
                      </a: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990288"/>
                  </a:ext>
                </a:extLst>
              </a:tr>
              <a:tr h="370840">
                <a:tc>
                  <a:txBody>
                    <a:bodyPr/>
                    <a:lstStyle/>
                    <a:p>
                      <a:pPr algn="ctr"/>
                      <a:r>
                        <a:rPr lang="en-AU" sz="2400" b="0" dirty="0">
                          <a:solidFill>
                            <a:srgbClr val="002060"/>
                          </a:solidFill>
                        </a:rPr>
                        <a:t>Census</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b="0" dirty="0">
                        <a:solidFill>
                          <a:srgbClr val="002060"/>
                        </a:solidFill>
                      </a:endParaRPr>
                    </a:p>
                    <a:p>
                      <a:pPr algn="ctr"/>
                      <a:endParaRPr lang="en-AU" b="0" dirty="0">
                        <a:solidFill>
                          <a:srgbClr val="002060"/>
                        </a:solidFill>
                      </a:endParaRPr>
                    </a:p>
                    <a:p>
                      <a:pPr algn="ctr"/>
                      <a:endParaRPr lang="en-AU" b="0" dirty="0">
                        <a:solidFill>
                          <a:srgbClr val="002060"/>
                        </a:solidFill>
                      </a:endParaRPr>
                    </a:p>
                    <a:p>
                      <a:pPr algn="ctr"/>
                      <a:endParaRPr lang="en-AU" b="0" dirty="0">
                        <a:solidFill>
                          <a:srgbClr val="00206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b="0" dirty="0">
                        <a:solidFill>
                          <a:srgbClr val="00206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2327761"/>
                  </a:ext>
                </a:extLst>
              </a:tr>
              <a:tr h="370840">
                <a:tc>
                  <a:txBody>
                    <a:bodyPr/>
                    <a:lstStyle/>
                    <a:p>
                      <a:pPr algn="ctr"/>
                      <a:r>
                        <a:rPr lang="en-AU" sz="2400" b="0" dirty="0">
                          <a:solidFill>
                            <a:srgbClr val="002060"/>
                          </a:solidFill>
                        </a:rPr>
                        <a:t>Sample</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b="0" dirty="0">
                        <a:solidFill>
                          <a:srgbClr val="002060"/>
                        </a:solidFill>
                      </a:endParaRPr>
                    </a:p>
                    <a:p>
                      <a:pPr algn="ctr"/>
                      <a:endParaRPr lang="en-AU" b="0" dirty="0">
                        <a:solidFill>
                          <a:srgbClr val="002060"/>
                        </a:solidFill>
                      </a:endParaRPr>
                    </a:p>
                    <a:p>
                      <a:pPr algn="ctr"/>
                      <a:endParaRPr lang="en-AU" b="0" dirty="0">
                        <a:solidFill>
                          <a:srgbClr val="002060"/>
                        </a:solidFill>
                      </a:endParaRPr>
                    </a:p>
                    <a:p>
                      <a:pPr algn="ctr"/>
                      <a:endParaRPr lang="en-AU" b="0" dirty="0">
                        <a:solidFill>
                          <a:srgbClr val="00206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b="0" dirty="0">
                        <a:solidFill>
                          <a:srgbClr val="002060"/>
                        </a:solidFill>
                      </a:endParaRPr>
                    </a:p>
                    <a:p>
                      <a:pPr algn="ctr"/>
                      <a:endParaRPr lang="en-AU" b="0" dirty="0">
                        <a:solidFill>
                          <a:srgbClr val="002060"/>
                        </a:solidFill>
                      </a:endParaRPr>
                    </a:p>
                    <a:p>
                      <a:pPr algn="ctr"/>
                      <a:endParaRPr lang="en-AU" b="0" dirty="0">
                        <a:solidFill>
                          <a:srgbClr val="002060"/>
                        </a:solidFill>
                      </a:endParaRPr>
                    </a:p>
                    <a:p>
                      <a:pPr algn="ctr"/>
                      <a:endParaRPr lang="en-AU" b="0" dirty="0">
                        <a:solidFill>
                          <a:srgbClr val="002060"/>
                        </a:solidFill>
                      </a:endParaRPr>
                    </a:p>
                    <a:p>
                      <a:pPr algn="ctr"/>
                      <a:endParaRPr lang="en-AU" b="0" dirty="0">
                        <a:solidFill>
                          <a:srgbClr val="00206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722506"/>
                  </a:ext>
                </a:extLst>
              </a:tr>
            </a:tbl>
          </a:graphicData>
        </a:graphic>
      </p:graphicFrame>
      <p:sp>
        <p:nvSpPr>
          <p:cNvPr id="10" name="TextBox 9">
            <a:extLst>
              <a:ext uri="{FF2B5EF4-FFF2-40B4-BE49-F238E27FC236}">
                <a16:creationId xmlns:a16="http://schemas.microsoft.com/office/drawing/2014/main" id="{FA869750-13B4-41EB-B866-0A7E8D125EDA}"/>
              </a:ext>
            </a:extLst>
          </p:cNvPr>
          <p:cNvSpPr txBox="1"/>
          <p:nvPr/>
        </p:nvSpPr>
        <p:spPr>
          <a:xfrm>
            <a:off x="3909423" y="4093010"/>
            <a:ext cx="3582485"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srgbClr val="00B0F0"/>
                </a:solidFill>
                <a:effectLst/>
                <a:uLnTx/>
                <a:uFillTx/>
                <a:latin typeface="Century Gothic" panose="020B0502020202020204"/>
                <a:ea typeface="+mn-ea"/>
                <a:cs typeface="+mn-cs"/>
              </a:rPr>
              <a:t>Whole population surveyed so most accurate results.</a:t>
            </a:r>
          </a:p>
        </p:txBody>
      </p:sp>
      <p:sp>
        <p:nvSpPr>
          <p:cNvPr id="11" name="TextBox 10">
            <a:extLst>
              <a:ext uri="{FF2B5EF4-FFF2-40B4-BE49-F238E27FC236}">
                <a16:creationId xmlns:a16="http://schemas.microsoft.com/office/drawing/2014/main" id="{0E33AD53-341F-4FB9-92BB-A3DB234CC224}"/>
              </a:ext>
            </a:extLst>
          </p:cNvPr>
          <p:cNvSpPr txBox="1"/>
          <p:nvPr/>
        </p:nvSpPr>
        <p:spPr>
          <a:xfrm>
            <a:off x="7491908" y="3879817"/>
            <a:ext cx="3143250"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srgbClr val="00B0F0"/>
                </a:solidFill>
                <a:effectLst/>
                <a:uLnTx/>
                <a:uFillTx/>
                <a:latin typeface="Century Gothic" panose="020B0502020202020204"/>
                <a:ea typeface="+mn-ea"/>
                <a:cs typeface="+mn-cs"/>
              </a:rPr>
              <a:t>Can be hard to do. </a:t>
            </a:r>
          </a:p>
        </p:txBody>
      </p:sp>
      <p:sp>
        <p:nvSpPr>
          <p:cNvPr id="12" name="TextBox 11">
            <a:extLst>
              <a:ext uri="{FF2B5EF4-FFF2-40B4-BE49-F238E27FC236}">
                <a16:creationId xmlns:a16="http://schemas.microsoft.com/office/drawing/2014/main" id="{FEA79513-B601-4B40-A2C5-C7186074C104}"/>
              </a:ext>
            </a:extLst>
          </p:cNvPr>
          <p:cNvSpPr txBox="1"/>
          <p:nvPr/>
        </p:nvSpPr>
        <p:spPr>
          <a:xfrm>
            <a:off x="7704000" y="4189651"/>
            <a:ext cx="2600325" cy="40011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srgbClr val="00B0F0"/>
                </a:solidFill>
                <a:effectLst/>
                <a:uLnTx/>
                <a:uFillTx/>
                <a:latin typeface="Century Gothic" panose="020B0502020202020204"/>
                <a:ea typeface="+mn-ea"/>
                <a:cs typeface="+mn-cs"/>
              </a:rPr>
              <a:t>Can be expensive.</a:t>
            </a:r>
          </a:p>
        </p:txBody>
      </p:sp>
      <p:sp>
        <p:nvSpPr>
          <p:cNvPr id="13" name="TextBox 12">
            <a:extLst>
              <a:ext uri="{FF2B5EF4-FFF2-40B4-BE49-F238E27FC236}">
                <a16:creationId xmlns:a16="http://schemas.microsoft.com/office/drawing/2014/main" id="{9EDBD95F-1277-4E24-9501-060B822F6977}"/>
              </a:ext>
            </a:extLst>
          </p:cNvPr>
          <p:cNvSpPr txBox="1"/>
          <p:nvPr/>
        </p:nvSpPr>
        <p:spPr>
          <a:xfrm>
            <a:off x="7773485" y="4508107"/>
            <a:ext cx="3582485"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srgbClr val="00B0F0"/>
                </a:solidFill>
                <a:effectLst/>
                <a:uLnTx/>
                <a:uFillTx/>
                <a:latin typeface="Century Gothic" panose="020B0502020202020204"/>
                <a:ea typeface="+mn-ea"/>
                <a:cs typeface="+mn-cs"/>
              </a:rPr>
              <a:t>Can be time consuming</a:t>
            </a:r>
            <a:r>
              <a:rPr kumimoji="0" lang="en-AU" sz="2000" b="0" i="0" u="none" strike="noStrike" kern="1200" cap="none" spc="0" normalizeH="0" baseline="0" noProof="0" dirty="0">
                <a:ln>
                  <a:noFill/>
                </a:ln>
                <a:solidFill>
                  <a:srgbClr val="002060"/>
                </a:solidFill>
                <a:effectLst/>
                <a:uLnTx/>
                <a:uFillTx/>
                <a:latin typeface="Century Gothic" panose="020B0502020202020204"/>
                <a:ea typeface="+mn-ea"/>
                <a:cs typeface="+mn-cs"/>
              </a:rPr>
              <a:t>.</a:t>
            </a:r>
          </a:p>
        </p:txBody>
      </p:sp>
      <p:sp>
        <p:nvSpPr>
          <p:cNvPr id="14" name="TextBox 13">
            <a:extLst>
              <a:ext uri="{FF2B5EF4-FFF2-40B4-BE49-F238E27FC236}">
                <a16:creationId xmlns:a16="http://schemas.microsoft.com/office/drawing/2014/main" id="{5D889519-446F-41D9-9CF1-B4EB70C606AB}"/>
              </a:ext>
            </a:extLst>
          </p:cNvPr>
          <p:cNvSpPr txBox="1"/>
          <p:nvPr/>
        </p:nvSpPr>
        <p:spPr>
          <a:xfrm>
            <a:off x="3993424" y="5121394"/>
            <a:ext cx="1884859"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srgbClr val="00B0F0"/>
                </a:solidFill>
                <a:effectLst/>
                <a:uLnTx/>
                <a:uFillTx/>
                <a:latin typeface="Century Gothic" panose="020B0502020202020204"/>
                <a:ea typeface="+mn-ea"/>
                <a:cs typeface="+mn-cs"/>
              </a:rPr>
              <a:t>Time efficient.</a:t>
            </a:r>
          </a:p>
        </p:txBody>
      </p:sp>
      <p:sp>
        <p:nvSpPr>
          <p:cNvPr id="15" name="TextBox 14">
            <a:extLst>
              <a:ext uri="{FF2B5EF4-FFF2-40B4-BE49-F238E27FC236}">
                <a16:creationId xmlns:a16="http://schemas.microsoft.com/office/drawing/2014/main" id="{A903D44D-CF0A-4272-AE3B-1A929DEC9821}"/>
              </a:ext>
            </a:extLst>
          </p:cNvPr>
          <p:cNvSpPr txBox="1"/>
          <p:nvPr/>
        </p:nvSpPr>
        <p:spPr>
          <a:xfrm>
            <a:off x="3993424" y="5491071"/>
            <a:ext cx="3038475"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srgbClr val="00B0F0"/>
                </a:solidFill>
                <a:effectLst/>
                <a:uLnTx/>
                <a:uFillTx/>
                <a:latin typeface="Century Gothic" panose="020B0502020202020204"/>
                <a:ea typeface="+mn-ea"/>
                <a:cs typeface="+mn-cs"/>
              </a:rPr>
              <a:t>Not as expensive</a:t>
            </a:r>
            <a:r>
              <a:rPr kumimoji="0" lang="en-AU" sz="2000" b="0" i="0" u="none" strike="noStrike" kern="1200" cap="none" spc="0" normalizeH="0" baseline="0" noProof="0" dirty="0">
                <a:ln>
                  <a:noFill/>
                </a:ln>
                <a:solidFill>
                  <a:srgbClr val="002060"/>
                </a:solidFill>
                <a:effectLst/>
                <a:uLnTx/>
                <a:uFillTx/>
                <a:latin typeface="Century Gothic" panose="020B0502020202020204"/>
                <a:ea typeface="+mn-ea"/>
                <a:cs typeface="+mn-cs"/>
              </a:rPr>
              <a:t>.</a:t>
            </a:r>
          </a:p>
        </p:txBody>
      </p:sp>
      <p:sp>
        <p:nvSpPr>
          <p:cNvPr id="17" name="TextBox 16">
            <a:extLst>
              <a:ext uri="{FF2B5EF4-FFF2-40B4-BE49-F238E27FC236}">
                <a16:creationId xmlns:a16="http://schemas.microsoft.com/office/drawing/2014/main" id="{309B460C-2937-4995-8A54-F2728B14CB26}"/>
              </a:ext>
            </a:extLst>
          </p:cNvPr>
          <p:cNvSpPr txBox="1"/>
          <p:nvPr/>
        </p:nvSpPr>
        <p:spPr>
          <a:xfrm>
            <a:off x="3993424" y="5822367"/>
            <a:ext cx="4554041"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srgbClr val="00B0F0"/>
                </a:solidFill>
                <a:effectLst/>
                <a:uLnTx/>
                <a:uFillTx/>
                <a:latin typeface="Century Gothic" panose="020B0502020202020204"/>
                <a:ea typeface="+mn-ea"/>
                <a:cs typeface="+mn-cs"/>
              </a:rPr>
              <a:t>Easier to deal with a smaller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srgbClr val="00B0F0"/>
                </a:solidFill>
                <a:effectLst/>
                <a:uLnTx/>
                <a:uFillTx/>
                <a:latin typeface="Century Gothic" panose="020B0502020202020204"/>
                <a:ea typeface="+mn-ea"/>
                <a:cs typeface="+mn-cs"/>
              </a:rPr>
              <a:t>group of people.</a:t>
            </a:r>
          </a:p>
        </p:txBody>
      </p:sp>
      <p:sp>
        <p:nvSpPr>
          <p:cNvPr id="18" name="TextBox 17">
            <a:extLst>
              <a:ext uri="{FF2B5EF4-FFF2-40B4-BE49-F238E27FC236}">
                <a16:creationId xmlns:a16="http://schemas.microsoft.com/office/drawing/2014/main" id="{74B4925A-B26D-4A6B-A6A4-907F7FC89066}"/>
              </a:ext>
            </a:extLst>
          </p:cNvPr>
          <p:cNvSpPr txBox="1"/>
          <p:nvPr/>
        </p:nvSpPr>
        <p:spPr>
          <a:xfrm>
            <a:off x="7611553" y="5095574"/>
            <a:ext cx="3744417" cy="132343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000" b="0" i="0" u="none" strike="noStrike" kern="1200" cap="none" spc="0" normalizeH="0" baseline="0" noProof="0" dirty="0">
                <a:ln>
                  <a:noFill/>
                </a:ln>
                <a:solidFill>
                  <a:srgbClr val="00B0F0"/>
                </a:solidFill>
                <a:effectLst/>
                <a:uLnTx/>
                <a:uFillTx/>
                <a:latin typeface="Century Gothic" panose="020B0502020202020204"/>
                <a:ea typeface="+mn-ea"/>
                <a:cs typeface="+mn-cs"/>
              </a:rPr>
              <a:t>We have to be sure that the sample is a fair representation of the target population.</a:t>
            </a:r>
          </a:p>
        </p:txBody>
      </p:sp>
      <p:sp>
        <p:nvSpPr>
          <p:cNvPr id="16" name="TextBox 15"/>
          <p:cNvSpPr txBox="1"/>
          <p:nvPr/>
        </p:nvSpPr>
        <p:spPr>
          <a:xfrm>
            <a:off x="3174589" y="2762141"/>
            <a:ext cx="8634637"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000" b="1" i="0" u="none" strike="noStrike" kern="1200" cap="none" spc="0" normalizeH="0" baseline="0" noProof="0" dirty="0">
                <a:ln>
                  <a:noFill/>
                </a:ln>
                <a:solidFill>
                  <a:srgbClr val="FF0000"/>
                </a:solidFill>
                <a:effectLst/>
                <a:uLnTx/>
                <a:uFillTx/>
                <a:latin typeface="Century Gothic" panose="020B0502020202020204"/>
                <a:ea typeface="+mn-ea"/>
                <a:cs typeface="+mn-cs"/>
              </a:rPr>
              <a:t>Survey: </a:t>
            </a:r>
            <a:r>
              <a:rPr kumimoji="0" lang="en-AU" sz="2000" b="1" i="0" u="none" strike="noStrike" kern="1200" cap="none" spc="0" normalizeH="0" baseline="0" noProof="0" dirty="0">
                <a:ln>
                  <a:noFill/>
                </a:ln>
                <a:solidFill>
                  <a:srgbClr val="00B0F0"/>
                </a:solidFill>
                <a:effectLst/>
                <a:uLnTx/>
                <a:uFillTx/>
                <a:latin typeface="Century Gothic" panose="020B0502020202020204"/>
                <a:ea typeface="+mn-ea"/>
                <a:cs typeface="+mn-cs"/>
              </a:rPr>
              <a:t>Questions to find out some particular information</a:t>
            </a:r>
            <a:r>
              <a:rPr kumimoji="0" lang="en-AU" sz="2000" b="1" i="0" u="none" strike="noStrike" kern="1200" cap="none" spc="0" normalizeH="0" baseline="0" noProof="0" dirty="0">
                <a:ln>
                  <a:noFill/>
                </a:ln>
                <a:solidFill>
                  <a:srgbClr val="FF0000"/>
                </a:solidFill>
                <a:effectLst/>
                <a:uLnTx/>
                <a:uFillTx/>
                <a:latin typeface="Century Gothic" panose="020B0502020202020204"/>
                <a:ea typeface="+mn-ea"/>
                <a:cs typeface="+mn-cs"/>
              </a:rPr>
              <a:t>.</a:t>
            </a:r>
          </a:p>
        </p:txBody>
      </p:sp>
    </p:spTree>
    <p:extLst>
      <p:ext uri="{BB962C8B-B14F-4D97-AF65-F5344CB8AC3E}">
        <p14:creationId xmlns:p14="http://schemas.microsoft.com/office/powerpoint/2010/main" val="588536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10" grpId="0"/>
      <p:bldP spid="11" grpId="0"/>
      <p:bldP spid="12" grpId="0"/>
      <p:bldP spid="13" grpId="0"/>
      <p:bldP spid="14" grpId="0"/>
      <p:bldP spid="15" grpId="0"/>
      <p:bldP spid="17" grpId="0"/>
      <p:bldP spid="18"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09639A-6E40-41FB-ADE4-80482E9E8EF5}"/>
              </a:ext>
            </a:extLst>
          </p:cNvPr>
          <p:cNvSpPr txBox="1"/>
          <p:nvPr/>
        </p:nvSpPr>
        <p:spPr>
          <a:xfrm>
            <a:off x="2882537" y="253507"/>
            <a:ext cx="5991038"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Our focus is sampling a population. </a:t>
            </a:r>
            <a:endParaRPr kumimoji="0" lang="en-AU" sz="2400" b="0" i="0" u="none" strike="noStrike" kern="1200" cap="none" spc="0" normalizeH="0" baseline="0" noProof="0" dirty="0">
              <a:ln>
                <a:noFill/>
              </a:ln>
              <a:solidFill>
                <a:srgbClr val="FF0000"/>
              </a:solidFill>
              <a:effectLst/>
              <a:uLnTx/>
              <a:uFillTx/>
              <a:latin typeface="Century Gothic" panose="020B0502020202020204"/>
              <a:ea typeface="+mn-ea"/>
              <a:cs typeface="+mn-cs"/>
            </a:endParaRPr>
          </a:p>
        </p:txBody>
      </p:sp>
      <p:sp>
        <p:nvSpPr>
          <p:cNvPr id="3" name="TextBox 2">
            <a:extLst>
              <a:ext uri="{FF2B5EF4-FFF2-40B4-BE49-F238E27FC236}">
                <a16:creationId xmlns:a16="http://schemas.microsoft.com/office/drawing/2014/main" id="{AE92E76A-6F7E-453A-933D-6A1DD9E0BCDF}"/>
              </a:ext>
            </a:extLst>
          </p:cNvPr>
          <p:cNvSpPr txBox="1"/>
          <p:nvPr/>
        </p:nvSpPr>
        <p:spPr>
          <a:xfrm>
            <a:off x="3718558" y="883753"/>
            <a:ext cx="4319451"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Census versus sample.</a:t>
            </a:r>
          </a:p>
        </p:txBody>
      </p:sp>
      <p:sp>
        <p:nvSpPr>
          <p:cNvPr id="4" name="TextBox 3">
            <a:extLst>
              <a:ext uri="{FF2B5EF4-FFF2-40B4-BE49-F238E27FC236}">
                <a16:creationId xmlns:a16="http://schemas.microsoft.com/office/drawing/2014/main" id="{6C79C854-2686-4D38-B229-A220715C5B44}"/>
              </a:ext>
            </a:extLst>
          </p:cNvPr>
          <p:cNvSpPr txBox="1"/>
          <p:nvPr/>
        </p:nvSpPr>
        <p:spPr>
          <a:xfrm>
            <a:off x="2882537" y="1532374"/>
            <a:ext cx="1420582"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Census: </a:t>
            </a:r>
          </a:p>
        </p:txBody>
      </p:sp>
      <p:sp>
        <p:nvSpPr>
          <p:cNvPr id="6" name="TextBox 5">
            <a:extLst>
              <a:ext uri="{FF2B5EF4-FFF2-40B4-BE49-F238E27FC236}">
                <a16:creationId xmlns:a16="http://schemas.microsoft.com/office/drawing/2014/main" id="{504595AF-5EE8-42A1-A15A-5DEE22B5CB43}"/>
              </a:ext>
            </a:extLst>
          </p:cNvPr>
          <p:cNvSpPr txBox="1"/>
          <p:nvPr/>
        </p:nvSpPr>
        <p:spPr>
          <a:xfrm>
            <a:off x="2882537" y="2180996"/>
            <a:ext cx="1420582"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Sample:</a:t>
            </a:r>
          </a:p>
        </p:txBody>
      </p:sp>
      <p:graphicFrame>
        <p:nvGraphicFramePr>
          <p:cNvPr id="9" name="Table 9">
            <a:extLst>
              <a:ext uri="{FF2B5EF4-FFF2-40B4-BE49-F238E27FC236}">
                <a16:creationId xmlns:a16="http://schemas.microsoft.com/office/drawing/2014/main" id="{8B3C3A79-1022-4285-B95D-8E121B5B9145}"/>
              </a:ext>
            </a:extLst>
          </p:cNvPr>
          <p:cNvGraphicFramePr>
            <a:graphicFrameLocks noGrp="1"/>
          </p:cNvGraphicFramePr>
          <p:nvPr/>
        </p:nvGraphicFramePr>
        <p:xfrm>
          <a:off x="2328164" y="3332747"/>
          <a:ext cx="8907326" cy="3108960"/>
        </p:xfrm>
        <a:graphic>
          <a:graphicData uri="http://schemas.openxmlformats.org/drawingml/2006/table">
            <a:tbl>
              <a:tblPr firstRow="1" bandRow="1">
                <a:tableStyleId>{5C22544A-7EE6-4342-B048-85BDC9FD1C3A}</a:tableStyleId>
              </a:tblPr>
              <a:tblGrid>
                <a:gridCol w="1420676">
                  <a:extLst>
                    <a:ext uri="{9D8B030D-6E8A-4147-A177-3AD203B41FA5}">
                      <a16:colId xmlns:a16="http://schemas.microsoft.com/office/drawing/2014/main" val="1926258242"/>
                    </a:ext>
                  </a:extLst>
                </a:gridCol>
                <a:gridCol w="3752850">
                  <a:extLst>
                    <a:ext uri="{9D8B030D-6E8A-4147-A177-3AD203B41FA5}">
                      <a16:colId xmlns:a16="http://schemas.microsoft.com/office/drawing/2014/main" val="3161842522"/>
                    </a:ext>
                  </a:extLst>
                </a:gridCol>
                <a:gridCol w="3733800">
                  <a:extLst>
                    <a:ext uri="{9D8B030D-6E8A-4147-A177-3AD203B41FA5}">
                      <a16:colId xmlns:a16="http://schemas.microsoft.com/office/drawing/2014/main" val="3354828974"/>
                    </a:ext>
                  </a:extLst>
                </a:gridCol>
              </a:tblGrid>
              <a:tr h="370840">
                <a:tc>
                  <a:txBody>
                    <a:bodyPr/>
                    <a:lstStyle/>
                    <a:p>
                      <a:pPr algn="ctr"/>
                      <a:endParaRPr lang="en-AU" b="0" dirty="0">
                        <a:solidFill>
                          <a:srgbClr val="00206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2400" b="0" dirty="0">
                          <a:solidFill>
                            <a:srgbClr val="002060"/>
                          </a:solidFill>
                        </a:rPr>
                        <a:t>Advantages</a:t>
                      </a: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2400" b="0" dirty="0">
                          <a:solidFill>
                            <a:srgbClr val="002060"/>
                          </a:solidFill>
                        </a:rPr>
                        <a:t>Disadvantages</a:t>
                      </a: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990288"/>
                  </a:ext>
                </a:extLst>
              </a:tr>
              <a:tr h="370840">
                <a:tc>
                  <a:txBody>
                    <a:bodyPr/>
                    <a:lstStyle/>
                    <a:p>
                      <a:pPr algn="ctr"/>
                      <a:r>
                        <a:rPr lang="en-AU" sz="2400" b="0" dirty="0">
                          <a:solidFill>
                            <a:srgbClr val="002060"/>
                          </a:solidFill>
                        </a:rPr>
                        <a:t>Census</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b="0" dirty="0">
                        <a:solidFill>
                          <a:srgbClr val="002060"/>
                        </a:solidFill>
                      </a:endParaRPr>
                    </a:p>
                    <a:p>
                      <a:pPr algn="ctr"/>
                      <a:endParaRPr lang="en-AU" b="0" dirty="0">
                        <a:solidFill>
                          <a:srgbClr val="002060"/>
                        </a:solidFill>
                      </a:endParaRPr>
                    </a:p>
                    <a:p>
                      <a:pPr algn="ctr"/>
                      <a:endParaRPr lang="en-AU" b="0" dirty="0">
                        <a:solidFill>
                          <a:srgbClr val="002060"/>
                        </a:solidFill>
                      </a:endParaRPr>
                    </a:p>
                    <a:p>
                      <a:pPr algn="ctr"/>
                      <a:endParaRPr lang="en-AU" b="0" dirty="0">
                        <a:solidFill>
                          <a:srgbClr val="00206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b="0" dirty="0">
                        <a:solidFill>
                          <a:srgbClr val="00206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2327761"/>
                  </a:ext>
                </a:extLst>
              </a:tr>
              <a:tr h="370840">
                <a:tc>
                  <a:txBody>
                    <a:bodyPr/>
                    <a:lstStyle/>
                    <a:p>
                      <a:pPr algn="ctr"/>
                      <a:r>
                        <a:rPr lang="en-AU" sz="2400" b="0" dirty="0">
                          <a:solidFill>
                            <a:srgbClr val="002060"/>
                          </a:solidFill>
                        </a:rPr>
                        <a:t>Sample</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b="0" dirty="0">
                        <a:solidFill>
                          <a:srgbClr val="002060"/>
                        </a:solidFill>
                      </a:endParaRPr>
                    </a:p>
                    <a:p>
                      <a:pPr algn="ctr"/>
                      <a:endParaRPr lang="en-AU" b="0" dirty="0">
                        <a:solidFill>
                          <a:srgbClr val="002060"/>
                        </a:solidFill>
                      </a:endParaRPr>
                    </a:p>
                    <a:p>
                      <a:pPr algn="ctr"/>
                      <a:endParaRPr lang="en-AU" b="0" dirty="0">
                        <a:solidFill>
                          <a:srgbClr val="002060"/>
                        </a:solidFill>
                      </a:endParaRPr>
                    </a:p>
                    <a:p>
                      <a:pPr algn="ctr"/>
                      <a:endParaRPr lang="en-AU" b="0" dirty="0">
                        <a:solidFill>
                          <a:srgbClr val="00206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b="0" dirty="0">
                        <a:solidFill>
                          <a:srgbClr val="002060"/>
                        </a:solidFill>
                      </a:endParaRPr>
                    </a:p>
                    <a:p>
                      <a:pPr algn="ctr"/>
                      <a:endParaRPr lang="en-AU" b="0" dirty="0">
                        <a:solidFill>
                          <a:srgbClr val="002060"/>
                        </a:solidFill>
                      </a:endParaRPr>
                    </a:p>
                    <a:p>
                      <a:pPr algn="ctr"/>
                      <a:endParaRPr lang="en-AU" b="0" dirty="0">
                        <a:solidFill>
                          <a:srgbClr val="002060"/>
                        </a:solidFill>
                      </a:endParaRPr>
                    </a:p>
                    <a:p>
                      <a:pPr algn="ctr"/>
                      <a:endParaRPr lang="en-AU" b="0" dirty="0">
                        <a:solidFill>
                          <a:srgbClr val="002060"/>
                        </a:solidFill>
                      </a:endParaRPr>
                    </a:p>
                    <a:p>
                      <a:pPr algn="ctr"/>
                      <a:endParaRPr lang="en-AU" b="0" dirty="0">
                        <a:solidFill>
                          <a:srgbClr val="002060"/>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2722506"/>
                  </a:ext>
                </a:extLst>
              </a:tr>
            </a:tbl>
          </a:graphicData>
        </a:graphic>
      </p:graphicFrame>
      <p:sp>
        <p:nvSpPr>
          <p:cNvPr id="7" name="TextBox 6">
            <a:extLst>
              <a:ext uri="{FF2B5EF4-FFF2-40B4-BE49-F238E27FC236}">
                <a16:creationId xmlns:a16="http://schemas.microsoft.com/office/drawing/2014/main" id="{D95A7708-D18F-0707-7A76-744651F492F3}"/>
              </a:ext>
            </a:extLst>
          </p:cNvPr>
          <p:cNvSpPr txBox="1"/>
          <p:nvPr/>
        </p:nvSpPr>
        <p:spPr>
          <a:xfrm>
            <a:off x="3174589" y="2762141"/>
            <a:ext cx="8634637"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000" b="1" i="0" u="none" strike="noStrike" kern="1200" cap="none" spc="0" normalizeH="0" baseline="0" noProof="0" dirty="0">
                <a:ln>
                  <a:noFill/>
                </a:ln>
                <a:solidFill>
                  <a:srgbClr val="FF0000"/>
                </a:solidFill>
                <a:effectLst/>
                <a:uLnTx/>
                <a:uFillTx/>
                <a:latin typeface="Century Gothic" panose="020B0502020202020204"/>
                <a:ea typeface="+mn-ea"/>
                <a:cs typeface="+mn-cs"/>
              </a:rPr>
              <a:t>Survey:</a:t>
            </a:r>
          </a:p>
        </p:txBody>
      </p:sp>
    </p:spTree>
    <p:extLst>
      <p:ext uri="{BB962C8B-B14F-4D97-AF65-F5344CB8AC3E}">
        <p14:creationId xmlns:p14="http://schemas.microsoft.com/office/powerpoint/2010/main" val="1190720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1895" y="192505"/>
            <a:ext cx="3946358"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dirty="0">
                <a:ln>
                  <a:noFill/>
                </a:ln>
                <a:solidFill>
                  <a:srgbClr val="FF0000"/>
                </a:solidFill>
                <a:effectLst/>
                <a:uLnTx/>
                <a:uFillTx/>
                <a:latin typeface="Century Gothic" panose="020B0502020202020204"/>
                <a:ea typeface="+mn-ea"/>
                <a:cs typeface="+mn-cs"/>
              </a:rPr>
              <a:t>Review</a:t>
            </a:r>
          </a:p>
        </p:txBody>
      </p:sp>
      <p:sp>
        <p:nvSpPr>
          <p:cNvPr id="3" name="TextBox 2"/>
          <p:cNvSpPr txBox="1"/>
          <p:nvPr/>
        </p:nvSpPr>
        <p:spPr>
          <a:xfrm>
            <a:off x="2005264" y="1010653"/>
            <a:ext cx="9208168"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What is the difference between a sample and a census. </a:t>
            </a:r>
          </a:p>
        </p:txBody>
      </p:sp>
      <p:sp>
        <p:nvSpPr>
          <p:cNvPr id="4" name="TextBox 3"/>
          <p:cNvSpPr txBox="1"/>
          <p:nvPr/>
        </p:nvSpPr>
        <p:spPr>
          <a:xfrm>
            <a:off x="2951747" y="1921134"/>
            <a:ext cx="5309937" cy="1200329"/>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FF0000"/>
                </a:solidFill>
                <a:effectLst/>
                <a:uLnTx/>
                <a:uFillTx/>
                <a:latin typeface="Century Gothic" panose="020B0502020202020204"/>
                <a:ea typeface="+mn-ea"/>
                <a:cs typeface="+mn-cs"/>
              </a:rPr>
              <a:t>Pair – share</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2400" b="0" i="0" u="none" strike="noStrike" kern="1200" cap="none" spc="0" normalizeH="0" baseline="0" noProof="0" dirty="0">
              <a:ln>
                <a:noFill/>
              </a:ln>
              <a:solidFill>
                <a:srgbClr val="FF0000"/>
              </a:solidFill>
              <a:effectLst/>
              <a:uLnTx/>
              <a:uFillTx/>
              <a:latin typeface="Century Gothic" panose="020B050202020202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FF0000"/>
                </a:solidFill>
                <a:effectLst/>
                <a:uLnTx/>
                <a:uFillTx/>
                <a:latin typeface="Century Gothic" panose="020B0502020202020204"/>
                <a:ea typeface="+mn-ea"/>
                <a:cs typeface="+mn-cs"/>
              </a:rPr>
              <a:t>Be prepared to answer.</a:t>
            </a:r>
          </a:p>
        </p:txBody>
      </p:sp>
    </p:spTree>
    <p:extLst>
      <p:ext uri="{BB962C8B-B14F-4D97-AF65-F5344CB8AC3E}">
        <p14:creationId xmlns:p14="http://schemas.microsoft.com/office/powerpoint/2010/main" val="172749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7B6408-EDB9-448C-BAB8-5248EEA04A9D}"/>
              </a:ext>
            </a:extLst>
          </p:cNvPr>
          <p:cNvSpPr txBox="1"/>
          <p:nvPr/>
        </p:nvSpPr>
        <p:spPr>
          <a:xfrm>
            <a:off x="1447799" y="200025"/>
            <a:ext cx="4752975"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FF0000"/>
                </a:solidFill>
                <a:effectLst/>
                <a:uLnTx/>
                <a:uFillTx/>
                <a:latin typeface="Century Gothic" panose="020B0502020202020204"/>
                <a:ea typeface="+mn-ea"/>
                <a:cs typeface="+mn-cs"/>
              </a:rPr>
              <a:t>Sampling situation.</a:t>
            </a:r>
          </a:p>
        </p:txBody>
      </p:sp>
      <p:sp>
        <p:nvSpPr>
          <p:cNvPr id="3" name="TextBox 2">
            <a:extLst>
              <a:ext uri="{FF2B5EF4-FFF2-40B4-BE49-F238E27FC236}">
                <a16:creationId xmlns:a16="http://schemas.microsoft.com/office/drawing/2014/main" id="{D390AB71-933F-483A-9B3E-9D230C7EFB03}"/>
              </a:ext>
            </a:extLst>
          </p:cNvPr>
          <p:cNvSpPr txBox="1"/>
          <p:nvPr/>
        </p:nvSpPr>
        <p:spPr>
          <a:xfrm>
            <a:off x="1895769" y="804488"/>
            <a:ext cx="10002505" cy="95410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dirty="0">
                <a:ln>
                  <a:noFill/>
                </a:ln>
                <a:solidFill>
                  <a:srgbClr val="002060"/>
                </a:solidFill>
                <a:effectLst/>
                <a:uLnTx/>
                <a:uFillTx/>
                <a:latin typeface="Century Gothic" panose="020B0502020202020204"/>
                <a:ea typeface="+mn-ea"/>
                <a:cs typeface="+mn-cs"/>
              </a:rPr>
              <a:t>It is believed that the students of Busselton SHS are generally taller than students in other regions.</a:t>
            </a:r>
            <a:endParaRPr kumimoji="0" lang="en-AU" sz="2800" b="0" i="1"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6" name="TextBox 5"/>
          <p:cNvSpPr txBox="1"/>
          <p:nvPr/>
        </p:nvSpPr>
        <p:spPr>
          <a:xfrm>
            <a:off x="1783473" y="2076706"/>
            <a:ext cx="920536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srgbClr val="FF0000"/>
                </a:solidFill>
                <a:effectLst/>
                <a:uLnTx/>
                <a:uFillTx/>
                <a:latin typeface="Century Gothic" panose="020B0502020202020204"/>
                <a:ea typeface="+mn-ea"/>
                <a:cs typeface="+mn-cs"/>
              </a:rPr>
              <a:t>To find out: Determine the average height for students at Busselton SHS and compare to other high schools.</a:t>
            </a:r>
          </a:p>
        </p:txBody>
      </p:sp>
      <p:sp>
        <p:nvSpPr>
          <p:cNvPr id="7" name="TextBox 6"/>
          <p:cNvSpPr txBox="1"/>
          <p:nvPr/>
        </p:nvSpPr>
        <p:spPr>
          <a:xfrm>
            <a:off x="2580819" y="3225814"/>
            <a:ext cx="8632403" cy="230832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FF0000"/>
                </a:solidFill>
                <a:effectLst/>
                <a:uLnTx/>
                <a:uFillTx/>
                <a:latin typeface="Century Gothic" panose="020B0502020202020204"/>
                <a:ea typeface="+mn-ea"/>
                <a:cs typeface="+mn-cs"/>
              </a:rPr>
              <a:t>Survey question: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“How tall are you?”</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FF0000"/>
                </a:solidFill>
                <a:effectLst/>
                <a:uLnTx/>
                <a:uFillTx/>
                <a:latin typeface="Century Gothic" panose="020B0502020202020204"/>
                <a:ea typeface="+mn-ea"/>
                <a:cs typeface="+mn-cs"/>
              </a:rPr>
              <a:t>Census or Sample?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prstClr val="black"/>
                </a:solidFill>
                <a:effectLst/>
                <a:uLnTx/>
                <a:uFillTx/>
                <a:latin typeface="Century Gothic" panose="020B0502020202020204"/>
                <a:ea typeface="+mn-ea"/>
                <a:cs typeface="+mn-cs"/>
              </a:rPr>
              <a:t>Sample</a:t>
            </a: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 as it would be too hard and too time consuming to survey all students.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FF0000"/>
                </a:solidFill>
                <a:effectLst/>
                <a:uLnTx/>
                <a:uFillTx/>
                <a:latin typeface="Century Gothic" panose="020B0502020202020204"/>
                <a:ea typeface="+mn-ea"/>
                <a:cs typeface="+mn-cs"/>
              </a:rPr>
              <a:t>How many in the sample?</a:t>
            </a:r>
          </a:p>
        </p:txBody>
      </p:sp>
    </p:spTree>
    <p:extLst>
      <p:ext uri="{BB962C8B-B14F-4D97-AF65-F5344CB8AC3E}">
        <p14:creationId xmlns:p14="http://schemas.microsoft.com/office/powerpoint/2010/main" val="1230611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2520994" y="1002379"/>
            <a:ext cx="9079833" cy="3899722"/>
          </a:xfrm>
          <a:prstGeom prst="rect">
            <a:avLst/>
          </a:prstGeom>
        </p:spPr>
        <p:txBody>
          <a:bodyPr wrap="square">
            <a:spAutoFit/>
          </a:bodyPr>
          <a:lstStyle/>
          <a:p>
            <a:pPr marL="0" marR="0" lvl="0" indent="0" algn="l" defTabSz="457200" rtl="0" eaLnBrk="1" fontAlgn="auto" latinLnBrk="0" hangingPunct="1">
              <a:lnSpc>
                <a:spcPct val="107000"/>
              </a:lnSpc>
              <a:spcBef>
                <a:spcPts val="0"/>
              </a:spcBef>
              <a:spcAft>
                <a:spcPts val="0"/>
              </a:spcAft>
              <a:buClrTx/>
              <a:buSzTx/>
              <a:buFontTx/>
              <a:buNone/>
              <a:tabLst/>
              <a:defRPr/>
            </a:pPr>
            <a:r>
              <a:rPr kumimoji="0" lang="en-AU" sz="3600" b="0" i="0" u="none" strike="noStrike" kern="1800" cap="none" spc="0" normalizeH="0" baseline="0" noProof="0" dirty="0">
                <a:ln>
                  <a:noFill/>
                </a:ln>
                <a:solidFill>
                  <a:prstClr val="black"/>
                </a:solidFill>
                <a:effectLst/>
                <a:uLnTx/>
                <a:uFillTx/>
                <a:latin typeface="Alike"/>
                <a:ea typeface="Times New Roman" panose="02020603050405020304" pitchFamily="18" charset="0"/>
                <a:cs typeface="Times New Roman" panose="02020603050405020304" pitchFamily="18" charset="0"/>
              </a:rPr>
              <a:t>How to choose a sample size (for the statistically challenged)</a:t>
            </a:r>
            <a:endParaRPr kumimoji="0" lang="en-AU"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457200" rtl="0" eaLnBrk="1" fontAlgn="auto" latinLnBrk="0" hangingPunct="1">
              <a:lnSpc>
                <a:spcPct val="107000"/>
              </a:lnSpc>
              <a:spcBef>
                <a:spcPts val="1875"/>
              </a:spcBef>
              <a:spcAft>
                <a:spcPts val="750"/>
              </a:spcAft>
              <a:buClrTx/>
              <a:buSzTx/>
              <a:buFontTx/>
              <a:buNone/>
              <a:tabLst/>
              <a:defRPr/>
            </a:pPr>
            <a:r>
              <a:rPr kumimoji="0" lang="en-AU" sz="2400" b="0" i="0" u="none" strike="noStrike" kern="1200" cap="none" spc="0" normalizeH="0" baseline="0" noProof="0" dirty="0">
                <a:ln>
                  <a:noFill/>
                </a:ln>
                <a:solidFill>
                  <a:srgbClr val="333333"/>
                </a:solidFill>
                <a:effectLst/>
                <a:uLnTx/>
                <a:uFillTx/>
                <a:latin typeface="Helvetica" pitchFamily="34" charset="0"/>
                <a:ea typeface="Times New Roman" panose="02020603050405020304" pitchFamily="18" charset="0"/>
                <a:cs typeface="Times New Roman" panose="02020603050405020304" pitchFamily="18" charset="0"/>
              </a:rPr>
              <a:t>The minimum sample size is 100</a:t>
            </a:r>
            <a:endParaRPr kumimoji="0" lang="en-AU"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457200" rtl="0" eaLnBrk="1" fontAlgn="auto" latinLnBrk="0" hangingPunct="1">
              <a:lnSpc>
                <a:spcPts val="1650"/>
              </a:lnSpc>
              <a:spcBef>
                <a:spcPts val="0"/>
              </a:spcBef>
              <a:spcAft>
                <a:spcPts val="1500"/>
              </a:spcAft>
              <a:buClrTx/>
              <a:buSzTx/>
              <a:buFontTx/>
              <a:buNone/>
              <a:tabLst/>
              <a:defRPr/>
            </a:pPr>
            <a:r>
              <a:rPr kumimoji="0" lang="en-AU" sz="1800" b="0" i="0" u="none" strike="noStrike" kern="1200" cap="none" spc="0" normalizeH="0" baseline="0" noProof="0" dirty="0">
                <a:ln>
                  <a:noFill/>
                </a:ln>
                <a:solidFill>
                  <a:srgbClr val="333333"/>
                </a:solidFill>
                <a:effectLst/>
                <a:uLnTx/>
                <a:uFillTx/>
                <a:latin typeface="Alike"/>
                <a:ea typeface="Times New Roman" panose="02020603050405020304" pitchFamily="18" charset="0"/>
                <a:cs typeface="Times New Roman" panose="02020603050405020304" pitchFamily="18" charset="0"/>
              </a:rPr>
              <a:t>Most statisticians agree that the minimum sample size to get any kind of meaningful result is 100. If your population is less than 100 then you really need to survey all of them.</a:t>
            </a:r>
            <a:endParaRPr kumimoji="0" lang="en-AU"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457200" rtl="0" eaLnBrk="1" fontAlgn="auto" latinLnBrk="0" hangingPunct="1">
              <a:lnSpc>
                <a:spcPct val="107000"/>
              </a:lnSpc>
              <a:spcBef>
                <a:spcPts val="1875"/>
              </a:spcBef>
              <a:spcAft>
                <a:spcPts val="750"/>
              </a:spcAft>
              <a:buClrTx/>
              <a:buSzTx/>
              <a:buFontTx/>
              <a:buNone/>
              <a:tabLst/>
              <a:defRPr/>
            </a:pPr>
            <a:r>
              <a:rPr kumimoji="0" lang="en-AU" sz="2400" b="0" i="0" u="none" strike="noStrike" kern="1200" cap="none" spc="0" normalizeH="0" baseline="0" noProof="0" dirty="0">
                <a:ln>
                  <a:noFill/>
                </a:ln>
                <a:solidFill>
                  <a:srgbClr val="333333"/>
                </a:solidFill>
                <a:effectLst/>
                <a:uLnTx/>
                <a:uFillTx/>
                <a:latin typeface="Helvetica" pitchFamily="34" charset="0"/>
                <a:ea typeface="Times New Roman" panose="02020603050405020304" pitchFamily="18" charset="0"/>
                <a:cs typeface="Times New Roman" panose="02020603050405020304" pitchFamily="18" charset="0"/>
              </a:rPr>
              <a:t>A good maximum sample size is usually 10% as long as it does not exceed 1000.</a:t>
            </a:r>
            <a:endParaRPr kumimoji="0" lang="en-AU"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2256523" y="368153"/>
            <a:ext cx="4055919" cy="46166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FF0000"/>
                </a:solidFill>
                <a:effectLst/>
                <a:uLnTx/>
                <a:uFillTx/>
                <a:latin typeface="Century Gothic" panose="020B0502020202020204"/>
                <a:ea typeface="+mn-ea"/>
                <a:cs typeface="+mn-cs"/>
              </a:rPr>
              <a:t>How many in the sample?</a:t>
            </a:r>
            <a:endPar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TextBox 3"/>
          <p:cNvSpPr txBox="1"/>
          <p:nvPr/>
        </p:nvSpPr>
        <p:spPr>
          <a:xfrm>
            <a:off x="2520994" y="5074662"/>
            <a:ext cx="7463482"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Busselton SHS has a population of 682, so we would need a sample size of _____ </a:t>
            </a:r>
          </a:p>
        </p:txBody>
      </p:sp>
    </p:spTree>
    <p:extLst>
      <p:ext uri="{BB962C8B-B14F-4D97-AF65-F5344CB8AC3E}">
        <p14:creationId xmlns:p14="http://schemas.microsoft.com/office/powerpoint/2010/main" val="1140070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20994" y="1002379"/>
            <a:ext cx="9079833" cy="3899722"/>
          </a:xfrm>
          <a:prstGeom prst="rect">
            <a:avLst/>
          </a:prstGeom>
        </p:spPr>
        <p:txBody>
          <a:bodyPr wrap="square">
            <a:spAutoFit/>
          </a:bodyPr>
          <a:lstStyle/>
          <a:p>
            <a:pPr marL="0" marR="0" lvl="0" indent="0" algn="l" defTabSz="457200" rtl="0" eaLnBrk="1" fontAlgn="auto" latinLnBrk="0" hangingPunct="1">
              <a:lnSpc>
                <a:spcPct val="107000"/>
              </a:lnSpc>
              <a:spcBef>
                <a:spcPts val="0"/>
              </a:spcBef>
              <a:spcAft>
                <a:spcPts val="0"/>
              </a:spcAft>
              <a:buClrTx/>
              <a:buSzTx/>
              <a:buFontTx/>
              <a:buNone/>
              <a:tabLst/>
              <a:defRPr/>
            </a:pPr>
            <a:r>
              <a:rPr kumimoji="0" lang="en-AU" sz="3600" b="0" i="0" u="none" strike="noStrike" kern="1800" cap="none" spc="0" normalizeH="0" baseline="0" noProof="0" dirty="0">
                <a:ln>
                  <a:noFill/>
                </a:ln>
                <a:solidFill>
                  <a:prstClr val="black"/>
                </a:solidFill>
                <a:effectLst/>
                <a:uLnTx/>
                <a:uFillTx/>
                <a:latin typeface="Alike"/>
                <a:ea typeface="Times New Roman" panose="02020603050405020304" pitchFamily="18" charset="0"/>
                <a:cs typeface="Times New Roman" panose="02020603050405020304" pitchFamily="18" charset="0"/>
              </a:rPr>
              <a:t>How to choose a sample size (for the statistically challenged)</a:t>
            </a:r>
            <a:endParaRPr kumimoji="0" lang="en-AU"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457200" rtl="0" eaLnBrk="1" fontAlgn="auto" latinLnBrk="0" hangingPunct="1">
              <a:lnSpc>
                <a:spcPct val="107000"/>
              </a:lnSpc>
              <a:spcBef>
                <a:spcPts val="1875"/>
              </a:spcBef>
              <a:spcAft>
                <a:spcPts val="750"/>
              </a:spcAft>
              <a:buClrTx/>
              <a:buSzTx/>
              <a:buFontTx/>
              <a:buNone/>
              <a:tabLst/>
              <a:defRPr/>
            </a:pPr>
            <a:r>
              <a:rPr kumimoji="0" lang="en-AU" sz="2400" b="0" i="0" u="none" strike="noStrike" kern="1200" cap="none" spc="0" normalizeH="0" baseline="0" noProof="0" dirty="0">
                <a:ln>
                  <a:noFill/>
                </a:ln>
                <a:solidFill>
                  <a:srgbClr val="333333"/>
                </a:solidFill>
                <a:effectLst/>
                <a:uLnTx/>
                <a:uFillTx/>
                <a:latin typeface="Helvetica" pitchFamily="34" charset="0"/>
                <a:ea typeface="Times New Roman" panose="02020603050405020304" pitchFamily="18" charset="0"/>
                <a:cs typeface="Times New Roman" panose="02020603050405020304" pitchFamily="18" charset="0"/>
              </a:rPr>
              <a:t>The minimum sample size is 100</a:t>
            </a:r>
            <a:endParaRPr kumimoji="0" lang="en-AU"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457200" rtl="0" eaLnBrk="1" fontAlgn="auto" latinLnBrk="0" hangingPunct="1">
              <a:lnSpc>
                <a:spcPts val="1650"/>
              </a:lnSpc>
              <a:spcBef>
                <a:spcPts val="0"/>
              </a:spcBef>
              <a:spcAft>
                <a:spcPts val="1500"/>
              </a:spcAft>
              <a:buClrTx/>
              <a:buSzTx/>
              <a:buFontTx/>
              <a:buNone/>
              <a:tabLst/>
              <a:defRPr/>
            </a:pPr>
            <a:r>
              <a:rPr kumimoji="0" lang="en-AU" sz="1800" b="0" i="0" u="none" strike="noStrike" kern="1200" cap="none" spc="0" normalizeH="0" baseline="0" noProof="0" dirty="0">
                <a:ln>
                  <a:noFill/>
                </a:ln>
                <a:solidFill>
                  <a:srgbClr val="333333"/>
                </a:solidFill>
                <a:effectLst/>
                <a:uLnTx/>
                <a:uFillTx/>
                <a:latin typeface="Alike"/>
                <a:ea typeface="Times New Roman" panose="02020603050405020304" pitchFamily="18" charset="0"/>
                <a:cs typeface="Times New Roman" panose="02020603050405020304" pitchFamily="18" charset="0"/>
              </a:rPr>
              <a:t>Most statisticians agree that the minimum sample size to get any kind of meaningful result is 100. If your population is less than 100 then you really need to survey all of them.</a:t>
            </a:r>
            <a:endParaRPr kumimoji="0" lang="en-AU"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457200" rtl="0" eaLnBrk="1" fontAlgn="auto" latinLnBrk="0" hangingPunct="1">
              <a:lnSpc>
                <a:spcPct val="107000"/>
              </a:lnSpc>
              <a:spcBef>
                <a:spcPts val="1875"/>
              </a:spcBef>
              <a:spcAft>
                <a:spcPts val="750"/>
              </a:spcAft>
              <a:buClrTx/>
              <a:buSzTx/>
              <a:buFontTx/>
              <a:buNone/>
              <a:tabLst/>
              <a:defRPr/>
            </a:pPr>
            <a:r>
              <a:rPr kumimoji="0" lang="en-AU" sz="2400" b="0" i="0" u="none" strike="noStrike" kern="1200" cap="none" spc="0" normalizeH="0" baseline="0" noProof="0" dirty="0">
                <a:ln>
                  <a:noFill/>
                </a:ln>
                <a:solidFill>
                  <a:srgbClr val="333333"/>
                </a:solidFill>
                <a:effectLst/>
                <a:uLnTx/>
                <a:uFillTx/>
                <a:latin typeface="Helvetica" pitchFamily="34" charset="0"/>
                <a:ea typeface="Times New Roman" panose="02020603050405020304" pitchFamily="18" charset="0"/>
                <a:cs typeface="Times New Roman" panose="02020603050405020304" pitchFamily="18" charset="0"/>
              </a:rPr>
              <a:t>A good maximum sample size is usually 10% as long as it does not exceed 1000.</a:t>
            </a:r>
            <a:endParaRPr kumimoji="0" lang="en-AU" sz="16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2256523" y="368153"/>
            <a:ext cx="4055919" cy="46166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srgbClr val="FF0000"/>
                </a:solidFill>
                <a:effectLst/>
                <a:uLnTx/>
                <a:uFillTx/>
                <a:latin typeface="Century Gothic" panose="020B0502020202020204"/>
                <a:ea typeface="+mn-ea"/>
                <a:cs typeface="+mn-cs"/>
              </a:rPr>
              <a:t>How many in the sample?</a:t>
            </a:r>
            <a:endPar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TextBox 3"/>
          <p:cNvSpPr txBox="1"/>
          <p:nvPr/>
        </p:nvSpPr>
        <p:spPr>
          <a:xfrm>
            <a:off x="2520994" y="5074662"/>
            <a:ext cx="7463482"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Busselton SHS has a population of 682, so we would need a sample size of _____ </a:t>
            </a:r>
          </a:p>
        </p:txBody>
      </p:sp>
      <p:sp>
        <p:nvSpPr>
          <p:cNvPr id="5" name="TextBox 4"/>
          <p:cNvSpPr txBox="1"/>
          <p:nvPr/>
        </p:nvSpPr>
        <p:spPr>
          <a:xfrm>
            <a:off x="5638999" y="5443994"/>
            <a:ext cx="1346886"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100</a:t>
            </a:r>
          </a:p>
        </p:txBody>
      </p:sp>
    </p:spTree>
    <p:extLst>
      <p:ext uri="{BB962C8B-B14F-4D97-AF65-F5344CB8AC3E}">
        <p14:creationId xmlns:p14="http://schemas.microsoft.com/office/powerpoint/2010/main" val="3865555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175221" y="184594"/>
            <a:ext cx="8710864"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Busselton SHS has a population of 682, so we should have a sample size of 100.</a:t>
            </a:r>
          </a:p>
        </p:txBody>
      </p:sp>
      <p:sp>
        <p:nvSpPr>
          <p:cNvPr id="3" name="TextBox 2"/>
          <p:cNvSpPr txBox="1"/>
          <p:nvPr/>
        </p:nvSpPr>
        <p:spPr>
          <a:xfrm>
            <a:off x="2175221" y="830925"/>
            <a:ext cx="8550444"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The 100 in the sample should reflect the proportions in each year group.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Complete the following table.</a:t>
            </a:r>
          </a:p>
        </p:txBody>
      </p:sp>
      <p:graphicFrame>
        <p:nvGraphicFramePr>
          <p:cNvPr id="4" name="Table 3"/>
          <p:cNvGraphicFramePr>
            <a:graphicFrameLocks noGrp="1"/>
          </p:cNvGraphicFramePr>
          <p:nvPr/>
        </p:nvGraphicFramePr>
        <p:xfrm>
          <a:off x="2484431" y="1718301"/>
          <a:ext cx="5339347" cy="4214350"/>
        </p:xfrm>
        <a:graphic>
          <a:graphicData uri="http://schemas.openxmlformats.org/drawingml/2006/table">
            <a:tbl>
              <a:tblPr firstRow="1" bandRow="1">
                <a:tableStyleId>{5C22544A-7EE6-4342-B048-85BDC9FD1C3A}</a:tableStyleId>
              </a:tblPr>
              <a:tblGrid>
                <a:gridCol w="719221">
                  <a:extLst>
                    <a:ext uri="{9D8B030D-6E8A-4147-A177-3AD203B41FA5}">
                      <a16:colId xmlns:a16="http://schemas.microsoft.com/office/drawing/2014/main" val="2734744002"/>
                    </a:ext>
                  </a:extLst>
                </a:gridCol>
                <a:gridCol w="1540042">
                  <a:extLst>
                    <a:ext uri="{9D8B030D-6E8A-4147-A177-3AD203B41FA5}">
                      <a16:colId xmlns:a16="http://schemas.microsoft.com/office/drawing/2014/main" val="105871198"/>
                    </a:ext>
                  </a:extLst>
                </a:gridCol>
                <a:gridCol w="1540042">
                  <a:extLst>
                    <a:ext uri="{9D8B030D-6E8A-4147-A177-3AD203B41FA5}">
                      <a16:colId xmlns:a16="http://schemas.microsoft.com/office/drawing/2014/main" val="680257512"/>
                    </a:ext>
                  </a:extLst>
                </a:gridCol>
                <a:gridCol w="1540042">
                  <a:extLst>
                    <a:ext uri="{9D8B030D-6E8A-4147-A177-3AD203B41FA5}">
                      <a16:colId xmlns:a16="http://schemas.microsoft.com/office/drawing/2014/main" val="565922125"/>
                    </a:ext>
                  </a:extLst>
                </a:gridCol>
              </a:tblGrid>
              <a:tr h="373870">
                <a:tc>
                  <a:txBody>
                    <a:bodyPr/>
                    <a:lstStyle/>
                    <a:p>
                      <a:r>
                        <a:rPr lang="en-AU" dirty="0">
                          <a:solidFill>
                            <a:schemeClr val="tx1"/>
                          </a:solidFill>
                        </a:rPr>
                        <a:t>Year </a:t>
                      </a: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dirty="0">
                          <a:solidFill>
                            <a:schemeClr val="tx1"/>
                          </a:solidFill>
                        </a:rPr>
                        <a:t>Population</a:t>
                      </a: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dirty="0">
                          <a:solidFill>
                            <a:schemeClr val="tx1"/>
                          </a:solidFill>
                        </a:rPr>
                        <a:t>Proportion</a:t>
                      </a: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dirty="0">
                          <a:solidFill>
                            <a:schemeClr val="tx1"/>
                          </a:solidFill>
                        </a:rPr>
                        <a:t>#</a:t>
                      </a:r>
                      <a:r>
                        <a:rPr lang="en-AU" baseline="0" dirty="0">
                          <a:solidFill>
                            <a:schemeClr val="tx1"/>
                          </a:solidFill>
                        </a:rPr>
                        <a:t> in survey</a:t>
                      </a:r>
                      <a:endParaRPr lang="en-AU"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5509124"/>
                  </a:ext>
                </a:extLst>
              </a:tr>
              <a:tr h="373870">
                <a:tc>
                  <a:txBody>
                    <a:bodyPr/>
                    <a:lstStyle/>
                    <a:p>
                      <a:pPr algn="ctr"/>
                      <a:r>
                        <a:rPr lang="en-AU" dirty="0">
                          <a:solidFill>
                            <a:schemeClr val="tx1"/>
                          </a:solidFill>
                        </a:rPr>
                        <a:t>7</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dirty="0">
                          <a:solidFill>
                            <a:schemeClr val="tx1"/>
                          </a:solidFill>
                        </a:rPr>
                        <a:t>113</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1469632"/>
                  </a:ext>
                </a:extLst>
              </a:tr>
              <a:tr h="373870">
                <a:tc>
                  <a:txBody>
                    <a:bodyPr/>
                    <a:lstStyle/>
                    <a:p>
                      <a:pPr algn="ctr"/>
                      <a:r>
                        <a:rPr lang="en-AU" dirty="0">
                          <a:solidFill>
                            <a:schemeClr val="tx1"/>
                          </a:solidFill>
                        </a:rPr>
                        <a:t>8</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dirty="0">
                          <a:solidFill>
                            <a:schemeClr val="tx1"/>
                          </a:solidFill>
                        </a:rPr>
                        <a:t>133</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462832"/>
                  </a:ext>
                </a:extLst>
              </a:tr>
              <a:tr h="373870">
                <a:tc>
                  <a:txBody>
                    <a:bodyPr/>
                    <a:lstStyle/>
                    <a:p>
                      <a:pPr algn="ctr"/>
                      <a:r>
                        <a:rPr lang="en-AU" dirty="0">
                          <a:solidFill>
                            <a:schemeClr val="tx1"/>
                          </a:solidFill>
                        </a:rPr>
                        <a:t>9</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dirty="0">
                          <a:solidFill>
                            <a:schemeClr val="tx1"/>
                          </a:solidFill>
                        </a:rPr>
                        <a:t>135</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33536243"/>
                  </a:ext>
                </a:extLst>
              </a:tr>
              <a:tr h="373870">
                <a:tc>
                  <a:txBody>
                    <a:bodyPr/>
                    <a:lstStyle/>
                    <a:p>
                      <a:pPr algn="ctr"/>
                      <a:r>
                        <a:rPr lang="en-AU" dirty="0">
                          <a:solidFill>
                            <a:schemeClr val="tx1"/>
                          </a:solidFill>
                        </a:rPr>
                        <a:t>10</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dirty="0">
                          <a:solidFill>
                            <a:schemeClr val="tx1"/>
                          </a:solidFill>
                        </a:rPr>
                        <a:t>113</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9717482"/>
                  </a:ext>
                </a:extLst>
              </a:tr>
              <a:tr h="373870">
                <a:tc>
                  <a:txBody>
                    <a:bodyPr/>
                    <a:lstStyle/>
                    <a:p>
                      <a:pPr algn="ctr"/>
                      <a:r>
                        <a:rPr lang="en-AU" dirty="0">
                          <a:solidFill>
                            <a:schemeClr val="tx1"/>
                          </a:solidFill>
                        </a:rPr>
                        <a:t>11</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dirty="0">
                          <a:solidFill>
                            <a:schemeClr val="tx1"/>
                          </a:solidFill>
                        </a:rPr>
                        <a:t>104</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8289520"/>
                  </a:ext>
                </a:extLst>
              </a:tr>
              <a:tr h="373870">
                <a:tc>
                  <a:txBody>
                    <a:bodyPr/>
                    <a:lstStyle/>
                    <a:p>
                      <a:pPr algn="ctr"/>
                      <a:r>
                        <a:rPr lang="en-AU" dirty="0">
                          <a:solidFill>
                            <a:schemeClr val="tx1"/>
                          </a:solidFill>
                        </a:rPr>
                        <a:t>12</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dirty="0">
                          <a:solidFill>
                            <a:schemeClr val="tx1"/>
                          </a:solidFill>
                        </a:rPr>
                        <a:t>84</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7332873"/>
                  </a:ext>
                </a:extLst>
              </a:tr>
            </a:tbl>
          </a:graphicData>
        </a:graphic>
      </p:graphicFrame>
    </p:spTree>
    <p:extLst>
      <p:ext uri="{BB962C8B-B14F-4D97-AF65-F5344CB8AC3E}">
        <p14:creationId xmlns:p14="http://schemas.microsoft.com/office/powerpoint/2010/main" val="3915608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75221" y="184594"/>
            <a:ext cx="8710864"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Busselton SHS has a population of 682, so we should have a sample size of 100.</a:t>
            </a:r>
          </a:p>
        </p:txBody>
      </p:sp>
      <p:sp>
        <p:nvSpPr>
          <p:cNvPr id="3" name="TextBox 2"/>
          <p:cNvSpPr txBox="1"/>
          <p:nvPr/>
        </p:nvSpPr>
        <p:spPr>
          <a:xfrm>
            <a:off x="2175221" y="830925"/>
            <a:ext cx="8550444"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The 100 in the sample should reflect the proportions in each year group.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Complete the following table.</a:t>
            </a:r>
          </a:p>
        </p:txBody>
      </p:sp>
      <p:graphicFrame>
        <p:nvGraphicFramePr>
          <p:cNvPr id="4" name="Table 3"/>
          <p:cNvGraphicFramePr>
            <a:graphicFrameLocks noGrp="1"/>
          </p:cNvGraphicFramePr>
          <p:nvPr/>
        </p:nvGraphicFramePr>
        <p:xfrm>
          <a:off x="2620355" y="1693587"/>
          <a:ext cx="5339347" cy="4214350"/>
        </p:xfrm>
        <a:graphic>
          <a:graphicData uri="http://schemas.openxmlformats.org/drawingml/2006/table">
            <a:tbl>
              <a:tblPr firstRow="1" bandRow="1">
                <a:tableStyleId>{5C22544A-7EE6-4342-B048-85BDC9FD1C3A}</a:tableStyleId>
              </a:tblPr>
              <a:tblGrid>
                <a:gridCol w="719221">
                  <a:extLst>
                    <a:ext uri="{9D8B030D-6E8A-4147-A177-3AD203B41FA5}">
                      <a16:colId xmlns:a16="http://schemas.microsoft.com/office/drawing/2014/main" val="2734744002"/>
                    </a:ext>
                  </a:extLst>
                </a:gridCol>
                <a:gridCol w="1540042">
                  <a:extLst>
                    <a:ext uri="{9D8B030D-6E8A-4147-A177-3AD203B41FA5}">
                      <a16:colId xmlns:a16="http://schemas.microsoft.com/office/drawing/2014/main" val="105871198"/>
                    </a:ext>
                  </a:extLst>
                </a:gridCol>
                <a:gridCol w="1540042">
                  <a:extLst>
                    <a:ext uri="{9D8B030D-6E8A-4147-A177-3AD203B41FA5}">
                      <a16:colId xmlns:a16="http://schemas.microsoft.com/office/drawing/2014/main" val="680257512"/>
                    </a:ext>
                  </a:extLst>
                </a:gridCol>
                <a:gridCol w="1540042">
                  <a:extLst>
                    <a:ext uri="{9D8B030D-6E8A-4147-A177-3AD203B41FA5}">
                      <a16:colId xmlns:a16="http://schemas.microsoft.com/office/drawing/2014/main" val="565922125"/>
                    </a:ext>
                  </a:extLst>
                </a:gridCol>
              </a:tblGrid>
              <a:tr h="373870">
                <a:tc>
                  <a:txBody>
                    <a:bodyPr/>
                    <a:lstStyle/>
                    <a:p>
                      <a:r>
                        <a:rPr lang="en-AU" dirty="0">
                          <a:solidFill>
                            <a:schemeClr val="tx1"/>
                          </a:solidFill>
                        </a:rPr>
                        <a:t>Year </a:t>
                      </a: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dirty="0">
                          <a:solidFill>
                            <a:schemeClr val="tx1"/>
                          </a:solidFill>
                        </a:rPr>
                        <a:t>Population</a:t>
                      </a: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dirty="0">
                          <a:solidFill>
                            <a:schemeClr val="tx1"/>
                          </a:solidFill>
                        </a:rPr>
                        <a:t>Proportion</a:t>
                      </a: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AU" dirty="0">
                          <a:solidFill>
                            <a:schemeClr val="tx1"/>
                          </a:solidFill>
                        </a:rPr>
                        <a:t>#</a:t>
                      </a:r>
                      <a:r>
                        <a:rPr lang="en-AU" baseline="0" dirty="0">
                          <a:solidFill>
                            <a:schemeClr val="tx1"/>
                          </a:solidFill>
                        </a:rPr>
                        <a:t> in survey</a:t>
                      </a:r>
                      <a:endParaRPr lang="en-AU" dirty="0">
                        <a:solidFill>
                          <a:schemeClr val="tx1"/>
                        </a:solidFill>
                      </a:endParaRPr>
                    </a:p>
                  </a:txBody>
                  <a:tcP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5509124"/>
                  </a:ext>
                </a:extLst>
              </a:tr>
              <a:tr h="373870">
                <a:tc>
                  <a:txBody>
                    <a:bodyPr/>
                    <a:lstStyle/>
                    <a:p>
                      <a:pPr algn="ctr"/>
                      <a:r>
                        <a:rPr lang="en-AU" dirty="0">
                          <a:solidFill>
                            <a:schemeClr val="tx1"/>
                          </a:solidFill>
                        </a:rPr>
                        <a:t>7</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dirty="0">
                          <a:solidFill>
                            <a:schemeClr val="tx1"/>
                          </a:solidFill>
                        </a:rPr>
                        <a:t>113</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1469632"/>
                  </a:ext>
                </a:extLst>
              </a:tr>
              <a:tr h="373870">
                <a:tc>
                  <a:txBody>
                    <a:bodyPr/>
                    <a:lstStyle/>
                    <a:p>
                      <a:pPr algn="ctr"/>
                      <a:r>
                        <a:rPr lang="en-AU" dirty="0">
                          <a:solidFill>
                            <a:schemeClr val="tx1"/>
                          </a:solidFill>
                        </a:rPr>
                        <a:t>8</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dirty="0">
                          <a:solidFill>
                            <a:schemeClr val="tx1"/>
                          </a:solidFill>
                        </a:rPr>
                        <a:t>133</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462832"/>
                  </a:ext>
                </a:extLst>
              </a:tr>
              <a:tr h="373870">
                <a:tc>
                  <a:txBody>
                    <a:bodyPr/>
                    <a:lstStyle/>
                    <a:p>
                      <a:pPr algn="ctr"/>
                      <a:r>
                        <a:rPr lang="en-AU" dirty="0">
                          <a:solidFill>
                            <a:schemeClr val="tx1"/>
                          </a:solidFill>
                        </a:rPr>
                        <a:t>9</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dirty="0">
                          <a:solidFill>
                            <a:schemeClr val="tx1"/>
                          </a:solidFill>
                        </a:rPr>
                        <a:t>135</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33536243"/>
                  </a:ext>
                </a:extLst>
              </a:tr>
              <a:tr h="373870">
                <a:tc>
                  <a:txBody>
                    <a:bodyPr/>
                    <a:lstStyle/>
                    <a:p>
                      <a:pPr algn="ctr"/>
                      <a:r>
                        <a:rPr lang="en-AU" dirty="0">
                          <a:solidFill>
                            <a:schemeClr val="tx1"/>
                          </a:solidFill>
                        </a:rPr>
                        <a:t>10</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dirty="0">
                          <a:solidFill>
                            <a:schemeClr val="tx1"/>
                          </a:solidFill>
                        </a:rPr>
                        <a:t>113</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9717482"/>
                  </a:ext>
                </a:extLst>
              </a:tr>
              <a:tr h="373870">
                <a:tc>
                  <a:txBody>
                    <a:bodyPr/>
                    <a:lstStyle/>
                    <a:p>
                      <a:pPr algn="ctr"/>
                      <a:r>
                        <a:rPr lang="en-AU" dirty="0">
                          <a:solidFill>
                            <a:schemeClr val="tx1"/>
                          </a:solidFill>
                        </a:rPr>
                        <a:t>11</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dirty="0">
                          <a:solidFill>
                            <a:schemeClr val="tx1"/>
                          </a:solidFill>
                        </a:rPr>
                        <a:t>104</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8289520"/>
                  </a:ext>
                </a:extLst>
              </a:tr>
              <a:tr h="373870">
                <a:tc>
                  <a:txBody>
                    <a:bodyPr/>
                    <a:lstStyle/>
                    <a:p>
                      <a:pPr algn="ctr"/>
                      <a:r>
                        <a:rPr lang="en-AU" dirty="0">
                          <a:solidFill>
                            <a:schemeClr val="tx1"/>
                          </a:solidFill>
                        </a:rPr>
                        <a:t>12</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dirty="0">
                          <a:solidFill>
                            <a:schemeClr val="tx1"/>
                          </a:solidFill>
                        </a:rPr>
                        <a:t>84</a:t>
                      </a: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AU" dirty="0">
                        <a:solidFill>
                          <a:schemeClr val="tx1"/>
                        </a:solidFill>
                      </a:endParaRPr>
                    </a:p>
                    <a:p>
                      <a:pPr algn="ctr"/>
                      <a:endParaRPr lang="en-AU" dirty="0">
                        <a:solidFill>
                          <a:schemeClr val="tx1"/>
                        </a:solidFill>
                      </a:endParaRPr>
                    </a:p>
                  </a:txBody>
                  <a:tcPr anchor="ctr">
                    <a:lnL w="12700" cap="flat" cmpd="sng" algn="ctr">
                      <a:solidFill>
                        <a:srgbClr val="FF0000"/>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0000"/>
                      </a:solidFill>
                      <a:prstDash val="solid"/>
                      <a:round/>
                      <a:headEnd type="none" w="med" len="med"/>
                      <a:tailEnd type="none" w="med" len="med"/>
                    </a:lnT>
                    <a:lnB w="127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7332873"/>
                  </a:ext>
                </a:extLst>
              </a:tr>
            </a:tbl>
          </a:graphicData>
        </a:graphic>
      </p:graphicFrame>
      <p:sp>
        <p:nvSpPr>
          <p:cNvPr id="5" name="TextBox 4"/>
          <p:cNvSpPr txBox="1"/>
          <p:nvPr/>
        </p:nvSpPr>
        <p:spPr>
          <a:xfrm>
            <a:off x="8476734" y="2450096"/>
            <a:ext cx="3373396" cy="230832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This is called </a:t>
            </a:r>
            <a:r>
              <a:rPr kumimoji="0" lang="en-AU" sz="2400" b="1" i="0" u="none" strike="noStrike" kern="1200" cap="none" spc="0" normalizeH="0" baseline="0" noProof="0" dirty="0">
                <a:ln>
                  <a:noFill/>
                </a:ln>
                <a:solidFill>
                  <a:prstClr val="black"/>
                </a:solidFill>
                <a:effectLst/>
                <a:uLnTx/>
                <a:uFillTx/>
                <a:latin typeface="Century Gothic" panose="020B0502020202020204"/>
                <a:ea typeface="+mn-ea"/>
                <a:cs typeface="+mn-cs"/>
              </a:rPr>
              <a:t>stratified</a:t>
            </a: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 sampling.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The total population is split up into layers, in this case year groups. </a:t>
            </a:r>
          </a:p>
        </p:txBody>
      </p:sp>
      <p:cxnSp>
        <p:nvCxnSpPr>
          <p:cNvPr id="7" name="Straight Connector 6"/>
          <p:cNvCxnSpPr/>
          <p:nvPr/>
        </p:nvCxnSpPr>
        <p:spPr>
          <a:xfrm flipV="1">
            <a:off x="10453816" y="2879124"/>
            <a:ext cx="1223319" cy="12357"/>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9087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7269" y="818146"/>
            <a:ext cx="731520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How do we select the students? (The sample)</a:t>
            </a:r>
          </a:p>
        </p:txBody>
      </p:sp>
      <p:sp>
        <p:nvSpPr>
          <p:cNvPr id="3" name="TextBox 2"/>
          <p:cNvSpPr txBox="1"/>
          <p:nvPr/>
        </p:nvSpPr>
        <p:spPr>
          <a:xfrm>
            <a:off x="1987269" y="1431884"/>
            <a:ext cx="9851805"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We need to select 17 Year 7 students out of the population of 113. The selection needs to be fair and every student needs the same chance of selection.</a:t>
            </a:r>
          </a:p>
        </p:txBody>
      </p:sp>
      <p:sp>
        <p:nvSpPr>
          <p:cNvPr id="4" name="TextBox 3"/>
          <p:cNvSpPr txBox="1"/>
          <p:nvPr/>
        </p:nvSpPr>
        <p:spPr>
          <a:xfrm>
            <a:off x="1987269" y="2322621"/>
            <a:ext cx="7347284" cy="325473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900"/>
              </a:spcAft>
              <a:buClrTx/>
              <a:buSzTx/>
              <a:buFontTx/>
              <a:buNone/>
              <a:tabLst/>
              <a:defRPr/>
            </a:pP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Methods of sampling: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Random: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Systematic:</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Self selecting (volunteer): </a:t>
            </a:r>
          </a:p>
        </p:txBody>
      </p:sp>
    </p:spTree>
    <p:extLst>
      <p:ext uri="{BB962C8B-B14F-4D97-AF65-F5344CB8AC3E}">
        <p14:creationId xmlns:p14="http://schemas.microsoft.com/office/powerpoint/2010/main" val="633805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7269" y="818146"/>
            <a:ext cx="7315200"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How do we select the students? (The sample)</a:t>
            </a:r>
          </a:p>
        </p:txBody>
      </p:sp>
      <p:sp>
        <p:nvSpPr>
          <p:cNvPr id="3" name="TextBox 2"/>
          <p:cNvSpPr txBox="1"/>
          <p:nvPr/>
        </p:nvSpPr>
        <p:spPr>
          <a:xfrm>
            <a:off x="1987269" y="1431884"/>
            <a:ext cx="9851805"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We need to select 17 Year 7 students out of the population of 113. The selection needs to be fair and every student needs the same chance of selection.</a:t>
            </a:r>
          </a:p>
        </p:txBody>
      </p:sp>
      <p:sp>
        <p:nvSpPr>
          <p:cNvPr id="4" name="TextBox 3"/>
          <p:cNvSpPr txBox="1"/>
          <p:nvPr/>
        </p:nvSpPr>
        <p:spPr>
          <a:xfrm>
            <a:off x="1987269" y="2322621"/>
            <a:ext cx="7347284" cy="297773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900"/>
              </a:spcAft>
              <a:buClrTx/>
              <a:buSzTx/>
              <a:buFontTx/>
              <a:buNone/>
              <a:tabLst/>
              <a:defRPr/>
            </a:pPr>
            <a:r>
              <a:rPr kumimoji="0" lang="en-AU" sz="1800" b="1" i="0" u="none" strike="noStrike" kern="1200" cap="none" spc="0" normalizeH="0" baseline="0" noProof="0" dirty="0">
                <a:ln>
                  <a:noFill/>
                </a:ln>
                <a:solidFill>
                  <a:prstClr val="black"/>
                </a:solidFill>
                <a:effectLst/>
                <a:uLnTx/>
                <a:uFillTx/>
                <a:latin typeface="Century Gothic" panose="020B0502020202020204"/>
                <a:ea typeface="+mn-ea"/>
                <a:cs typeface="+mn-cs"/>
              </a:rPr>
              <a:t>Methods of sampling:</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Random: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Systematic:</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Self selecting (volunteer): </a:t>
            </a:r>
          </a:p>
        </p:txBody>
      </p:sp>
      <p:sp>
        <p:nvSpPr>
          <p:cNvPr id="5" name="TextBox 4"/>
          <p:cNvSpPr txBox="1"/>
          <p:nvPr/>
        </p:nvSpPr>
        <p:spPr>
          <a:xfrm>
            <a:off x="3206468" y="2727158"/>
            <a:ext cx="6128085"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00B0F0"/>
                </a:solidFill>
                <a:effectLst/>
                <a:uLnTx/>
                <a:uFillTx/>
                <a:latin typeface="Century Gothic" panose="020B0502020202020204"/>
                <a:ea typeface="+mn-ea"/>
                <a:cs typeface="+mn-cs"/>
              </a:rPr>
              <a:t>Each student is allocated a number and then use a random number generator.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00B0F0"/>
                </a:solidFill>
                <a:effectLst/>
                <a:uLnTx/>
                <a:uFillTx/>
                <a:latin typeface="Century Gothic" panose="020B0502020202020204"/>
                <a:ea typeface="+mn-ea"/>
                <a:cs typeface="+mn-cs"/>
              </a:rPr>
              <a:t>The name of each student is written on a piece of paper and randomly drawn from a hat.</a:t>
            </a:r>
          </a:p>
        </p:txBody>
      </p:sp>
      <p:sp>
        <p:nvSpPr>
          <p:cNvPr id="6" name="TextBox 5"/>
          <p:cNvSpPr txBox="1"/>
          <p:nvPr/>
        </p:nvSpPr>
        <p:spPr>
          <a:xfrm>
            <a:off x="3465095" y="4088489"/>
            <a:ext cx="4716379"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00B0F0"/>
                </a:solidFill>
                <a:effectLst/>
                <a:uLnTx/>
                <a:uFillTx/>
                <a:latin typeface="Century Gothic" panose="020B0502020202020204"/>
                <a:ea typeface="+mn-ea"/>
                <a:cs typeface="+mn-cs"/>
              </a:rPr>
              <a:t>Students are listed alphabetically and every fifth student is selected </a:t>
            </a:r>
          </a:p>
        </p:txBody>
      </p:sp>
      <p:sp>
        <p:nvSpPr>
          <p:cNvPr id="7" name="TextBox 6"/>
          <p:cNvSpPr txBox="1"/>
          <p:nvPr/>
        </p:nvSpPr>
        <p:spPr>
          <a:xfrm>
            <a:off x="4957010" y="4936797"/>
            <a:ext cx="4764505"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00B0F0"/>
                </a:solidFill>
                <a:effectLst/>
                <a:uLnTx/>
                <a:uFillTx/>
                <a:latin typeface="Century Gothic" panose="020B0502020202020204"/>
                <a:ea typeface="+mn-ea"/>
                <a:cs typeface="+mn-cs"/>
              </a:rPr>
              <a:t>A call for volunteers is put out through the notices.</a:t>
            </a:r>
          </a:p>
        </p:txBody>
      </p:sp>
    </p:spTree>
    <p:extLst>
      <p:ext uri="{BB962C8B-B14F-4D97-AF65-F5344CB8AC3E}">
        <p14:creationId xmlns:p14="http://schemas.microsoft.com/office/powerpoint/2010/main" val="106242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1263" y="128337"/>
            <a:ext cx="176463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FF0000"/>
                </a:solidFill>
                <a:effectLst/>
                <a:uLnTx/>
                <a:uFillTx/>
                <a:latin typeface="Century Gothic" panose="020B0502020202020204"/>
                <a:ea typeface="+mn-ea"/>
                <a:cs typeface="+mn-cs"/>
              </a:rPr>
              <a:t>Review:</a:t>
            </a:r>
          </a:p>
        </p:txBody>
      </p:sp>
      <p:sp>
        <p:nvSpPr>
          <p:cNvPr id="3" name="TextBox 2"/>
          <p:cNvSpPr txBox="1"/>
          <p:nvPr/>
        </p:nvSpPr>
        <p:spPr>
          <a:xfrm>
            <a:off x="2662988" y="834190"/>
            <a:ext cx="8598569"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entury Gothic" panose="020B0502020202020204"/>
                <a:ea typeface="+mn-ea"/>
                <a:cs typeface="+mn-cs"/>
              </a:rPr>
              <a:t>List the 4 types of sampling discussed today.</a:t>
            </a:r>
          </a:p>
        </p:txBody>
      </p:sp>
      <p:sp>
        <p:nvSpPr>
          <p:cNvPr id="4" name="TextBox 3">
            <a:extLst>
              <a:ext uri="{FF2B5EF4-FFF2-40B4-BE49-F238E27FC236}">
                <a16:creationId xmlns:a16="http://schemas.microsoft.com/office/drawing/2014/main" id="{06B3AF31-473C-CD9E-6189-42147F63538D}"/>
              </a:ext>
            </a:extLst>
          </p:cNvPr>
          <p:cNvSpPr txBox="1"/>
          <p:nvPr/>
        </p:nvSpPr>
        <p:spPr>
          <a:xfrm>
            <a:off x="3946357" y="1973180"/>
            <a:ext cx="6481011" cy="267765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srgbClr val="00B0F0"/>
                </a:solidFill>
                <a:effectLst/>
                <a:uLnTx/>
                <a:uFillTx/>
                <a:latin typeface="Century Gothic" panose="020B0502020202020204"/>
                <a:ea typeface="+mn-ea"/>
                <a:cs typeface="+mn-cs"/>
              </a:rPr>
              <a:t>Stratified</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2400" b="1" i="0" u="none" strike="noStrike" kern="1200" cap="none" spc="0" normalizeH="0" baseline="0" noProof="0" dirty="0">
              <a:ln>
                <a:noFill/>
              </a:ln>
              <a:solidFill>
                <a:srgbClr val="00B0F0"/>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srgbClr val="00B0F0"/>
                </a:solidFill>
                <a:effectLst/>
                <a:uLnTx/>
                <a:uFillTx/>
                <a:latin typeface="Century Gothic" panose="020B0502020202020204"/>
                <a:ea typeface="+mn-ea"/>
                <a:cs typeface="+mn-cs"/>
              </a:rPr>
              <a:t>Random</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2400" b="1" i="0" u="none" strike="noStrike" kern="1200" cap="none" spc="0" normalizeH="0" baseline="0" noProof="0" dirty="0">
              <a:ln>
                <a:noFill/>
              </a:ln>
              <a:solidFill>
                <a:srgbClr val="00B0F0"/>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srgbClr val="00B0F0"/>
                </a:solidFill>
                <a:effectLst/>
                <a:uLnTx/>
                <a:uFillTx/>
                <a:latin typeface="Century Gothic" panose="020B0502020202020204"/>
                <a:ea typeface="+mn-ea"/>
                <a:cs typeface="+mn-cs"/>
              </a:rPr>
              <a:t>Systematic</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2400" b="1" i="0" u="none" strike="noStrike" kern="1200" cap="none" spc="0" normalizeH="0" baseline="0" noProof="0" dirty="0">
              <a:ln>
                <a:noFill/>
              </a:ln>
              <a:solidFill>
                <a:srgbClr val="00B0F0"/>
              </a:solidFill>
              <a:effectLst/>
              <a:uLnTx/>
              <a:uFillTx/>
              <a:latin typeface="Century Gothic" panose="020B0502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1" i="0" u="none" strike="noStrike" kern="1200" cap="none" spc="0" normalizeH="0" baseline="0" noProof="0" dirty="0">
                <a:ln>
                  <a:noFill/>
                </a:ln>
                <a:solidFill>
                  <a:srgbClr val="00B0F0"/>
                </a:solidFill>
                <a:effectLst/>
                <a:uLnTx/>
                <a:uFillTx/>
                <a:latin typeface="Century Gothic" panose="020B0502020202020204"/>
                <a:ea typeface="+mn-ea"/>
                <a:cs typeface="+mn-cs"/>
              </a:rPr>
              <a:t>Volunteer</a:t>
            </a:r>
          </a:p>
        </p:txBody>
      </p:sp>
    </p:spTree>
    <p:extLst>
      <p:ext uri="{BB962C8B-B14F-4D97-AF65-F5344CB8AC3E}">
        <p14:creationId xmlns:p14="http://schemas.microsoft.com/office/powerpoint/2010/main" val="1532216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81263" y="128337"/>
            <a:ext cx="1764631"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srgbClr val="FF0000"/>
                </a:solidFill>
                <a:effectLst/>
                <a:uLnTx/>
                <a:uFillTx/>
                <a:latin typeface="Century Gothic" panose="020B0502020202020204"/>
                <a:ea typeface="+mn-ea"/>
                <a:cs typeface="+mn-cs"/>
              </a:rPr>
              <a:t>Review:</a:t>
            </a:r>
          </a:p>
        </p:txBody>
      </p:sp>
      <p:sp>
        <p:nvSpPr>
          <p:cNvPr id="3" name="TextBox 2"/>
          <p:cNvSpPr txBox="1"/>
          <p:nvPr/>
        </p:nvSpPr>
        <p:spPr>
          <a:xfrm>
            <a:off x="2245894" y="753980"/>
            <a:ext cx="8598569"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2400" b="0" i="0" u="none" strike="noStrike" kern="1200" cap="none" spc="0" normalizeH="0" baseline="0" noProof="0" dirty="0">
                <a:ln>
                  <a:noFill/>
                </a:ln>
                <a:solidFill>
                  <a:prstClr val="black"/>
                </a:solidFill>
                <a:effectLst/>
                <a:uLnTx/>
                <a:uFillTx/>
                <a:latin typeface="Century Gothic" panose="020B0502020202020204"/>
                <a:ea typeface="+mn-ea"/>
                <a:cs typeface="+mn-cs"/>
              </a:rPr>
              <a:t>List the 4 types of sampling discussed today.</a:t>
            </a:r>
          </a:p>
        </p:txBody>
      </p:sp>
    </p:spTree>
    <p:extLst>
      <p:ext uri="{BB962C8B-B14F-4D97-AF65-F5344CB8AC3E}">
        <p14:creationId xmlns:p14="http://schemas.microsoft.com/office/powerpoint/2010/main" val="183643313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TotalTime>
  <Words>963</Words>
  <Application>Microsoft Office PowerPoint</Application>
  <PresentationFormat>Widescreen</PresentationFormat>
  <Paragraphs>202</Paragraphs>
  <Slides>19</Slides>
  <Notes>6</Notes>
  <HiddenSlides>4</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Alike</vt:lpstr>
      <vt:lpstr>Arial</vt:lpstr>
      <vt:lpstr>Calibri</vt:lpstr>
      <vt:lpstr>Cambria Math</vt:lpstr>
      <vt:lpstr>Century Gothic</vt:lpstr>
      <vt:lpstr>Helvetica</vt:lpstr>
      <vt:lpstr>Wingdings</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WALL Kevin [Busselton Senior High School]</dc:creator>
  <cp:lastModifiedBy>DAVIES Rhys [Busselton Senior High School]</cp:lastModifiedBy>
  <cp:revision>9</cp:revision>
  <dcterms:created xsi:type="dcterms:W3CDTF">2021-12-02T02:44:02Z</dcterms:created>
  <dcterms:modified xsi:type="dcterms:W3CDTF">2022-10-27T00:02:59Z</dcterms:modified>
</cp:coreProperties>
</file>
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79E3-0B53-976E-CB6E-852653860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81C61-404D-01AB-FD29-F6D3D87C4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C1B46-9DA0-E0DC-E760-DE6AB759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734E4-5F08-3B91-5D72-EBD4AA34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F19CF-C183-F671-4F4E-96FE59369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870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9509-25D9-4DF7-0072-B05DBE178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94461-62E7-CAE6-FD44-0CBBC90DA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27301-279B-CE32-7465-32A78646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C52FF-2B1B-8817-5BD6-315D2975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8550F-145B-6106-C0D6-B5938FA8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685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4823-1F61-EB19-FE66-DA72A443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F1991-7DD7-0A85-B2C0-E63861112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38360-34B8-257C-48A2-342094F82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473BA-747F-C922-BEAB-18B9BB86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DC138-BE22-6260-4121-5920C829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263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A284-482C-CA49-5C09-0FEA41FA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3D4B5-D264-F45F-4201-0538F1BF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95555-DCED-AEA9-0F4E-FAB9191AD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DFCFB-F7D2-42A0-3C40-5DB2C9719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5DF5A-33A1-EA38-B7A0-90A26978C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F9F98-FCA2-5940-7D42-372DBE0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74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4DFE-F4AE-40A4-89A5-A2F644F8C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728B0-81C8-A017-83C1-000E47D6C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045BA-5434-989F-A41A-65D98A71C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A6511-6170-1D23-1A00-0E86E015B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2D5645-9329-B8B8-F7BB-A3F57375E7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B508C8-ADC7-C83C-7280-09878F09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857016-D620-E63B-00C9-A4D1E401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71FAE8-A22C-B7D3-0750-97466314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150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4176-552D-261B-3C63-E36DB9B0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88D69-EB06-C119-4784-46DAFEB0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3AD6D-BB91-5EDB-9931-24A7E6AEB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916C4-C236-2CA5-1B4E-4A3D55F7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3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864B2D-B198-11DC-D680-3869FA72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77DE3-7505-67B9-9B7A-BEF11527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97E6D-0BA1-556D-B149-6B467DC9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4036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69CD-7617-4900-BFA4-40D457B1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A87BB-347B-F3EA-995B-65B41F44E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BB219-F5D4-AF60-596E-E8C519C1A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185AD-EEBD-7242-AFE1-C844FCF2A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D843C-D3BF-F6D7-267A-4EF7011E4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A09AC-FC33-7D1D-B556-D428DD5D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006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E289-FFC8-E753-96CF-ADDCDDFF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8EFFE1-9EC2-07EB-DE95-F5455397E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560A0-642A-446F-F104-951E8F5B3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2E626-1120-6E5F-420E-F6255CA48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E65B7-7FAF-7769-5A64-95FE9CEC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CF8D0-13A6-E191-6AB0-0BB8BEE8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227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4F8A-E959-4D4D-DAF3-F3BDFB96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0AD83-27E7-784B-9E38-2D6E9ABBD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FF061-660A-69C9-34A4-984E635A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60392-B23D-68C4-D939-A613E468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260E8-54B3-F37E-72C6-201AD472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292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11CB21-5024-32BA-0CA3-266C98F7A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C1038-7749-FCEB-1557-D5A2BC611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34575-1734-850B-6C8D-90C8DFA0B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AF8F8-8B43-CAB0-4640-8A157F1D8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50E9B-2498-B594-4585-80742B6F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288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0142B-269D-20A7-C8EA-E0D31AD97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4EF00-E602-994A-2447-AF7C6F870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F5CBF-DBE8-C617-D732-12CED1333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335C8-2102-45C5-B621-A958116B510B}" type="datetimeFigureOut">
              <a:rPr lang="en-AU" smtClean="0"/>
              <a:t>7/11/2022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EA767-1FCB-7F1E-4F6B-9AD8FD618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F1226-9A42-B0CB-9BBC-6BAB3E024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A2BB5-46D2-410F-9AAC-640EB75430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320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67EC-AC9B-12B0-0CB5-F5B3D02B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AE54C-FC1E-D031-C38B-11E5F79EE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594" y="1452763"/>
            <a:ext cx="11131858" cy="48592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Outliers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State the impact an outlier has on the mean, compared to the median. </a:t>
            </a:r>
          </a:p>
          <a:p>
            <a:pPr marL="0" indent="0">
              <a:buNone/>
            </a:pPr>
            <a:r>
              <a:rPr lang="en-AU" sz="2800" b="1" dirty="0">
                <a:solidFill>
                  <a:srgbClr val="00B0F0"/>
                </a:solidFill>
              </a:rPr>
              <a:t>Plan: </a:t>
            </a:r>
          </a:p>
          <a:p>
            <a:r>
              <a:rPr lang="en-AU" sz="2800" b="1" dirty="0">
                <a:solidFill>
                  <a:srgbClr val="00B0F0"/>
                </a:solidFill>
              </a:rPr>
              <a:t>Review statistical language</a:t>
            </a:r>
          </a:p>
          <a:p>
            <a:r>
              <a:rPr lang="en-AU" sz="2800" b="1" dirty="0">
                <a:solidFill>
                  <a:srgbClr val="00B0F0"/>
                </a:solidFill>
              </a:rPr>
              <a:t>Review calculating mean median mode from a frequency table</a:t>
            </a:r>
          </a:p>
          <a:p>
            <a:r>
              <a:rPr lang="en-AU" sz="2800" b="1" dirty="0">
                <a:solidFill>
                  <a:srgbClr val="00B0F0"/>
                </a:solidFill>
              </a:rPr>
              <a:t>Investigate how outliers impact the mean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1607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A991BE-E36B-84AC-CA79-79A385E467D0}"/>
              </a:ext>
            </a:extLst>
          </p:cNvPr>
          <p:cNvSpPr txBox="1"/>
          <p:nvPr/>
        </p:nvSpPr>
        <p:spPr>
          <a:xfrm>
            <a:off x="281426" y="695046"/>
            <a:ext cx="1181988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Numerical data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refers to the data that is in the form of numbers, and not in any language or descriptive form.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Categorical data refers to a data type that can be stored and identified based on the names or labels given to them.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collecting data results should be stored I a table.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frequency table is a method of organizing raw data in a compact form by displaying categories, or a series of scores in ascending or descending order, together with their frequencies—the number of times each category or score occurs in the respective data set.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frequency table commonly utilises a tally.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Survey: the process of gathering data on a target population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Target population: the group you are studying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Census: the process of surveying the entire target population.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Sample: the process of surveying a part of the target population, in an attempt to estimate the target population.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3 methods of random sampling are simple random sampling, systematic sampling, self-selecting sampling (volunteer).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of the 3 methods of sampling can be stratified, meaning sub-groups are sampled proportionally.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Due to sampling only being able to provide an estimate biasing may occur.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Biasing is defined as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systematic deviation from the actual value.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Deviation: the action of departing from an established course or accepted standard.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CBC3B4-EDCD-934A-7546-2D647F42061A}"/>
              </a:ext>
            </a:extLst>
          </p:cNvPr>
          <p:cNvSpPr/>
          <p:nvPr/>
        </p:nvSpPr>
        <p:spPr>
          <a:xfrm>
            <a:off x="6490557" y="728705"/>
            <a:ext cx="768544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5FD1EA-6A9B-0A5D-F64C-E36280E1CB40}"/>
              </a:ext>
            </a:extLst>
          </p:cNvPr>
          <p:cNvSpPr/>
          <p:nvPr/>
        </p:nvSpPr>
        <p:spPr>
          <a:xfrm>
            <a:off x="9004690" y="768545"/>
            <a:ext cx="86297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756804-2DEE-9B2A-686D-BACB44C9F1BE}"/>
              </a:ext>
            </a:extLst>
          </p:cNvPr>
          <p:cNvSpPr/>
          <p:nvPr/>
        </p:nvSpPr>
        <p:spPr>
          <a:xfrm>
            <a:off x="3681910" y="1060255"/>
            <a:ext cx="340328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DC15EE-978B-3702-43ED-FAB9726247FF}"/>
              </a:ext>
            </a:extLst>
          </p:cNvPr>
          <p:cNvSpPr/>
          <p:nvPr/>
        </p:nvSpPr>
        <p:spPr>
          <a:xfrm>
            <a:off x="8131429" y="1060255"/>
            <a:ext cx="507688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7A6264-F211-FB62-0D90-5EE3C92675A7}"/>
              </a:ext>
            </a:extLst>
          </p:cNvPr>
          <p:cNvSpPr/>
          <p:nvPr/>
        </p:nvSpPr>
        <p:spPr>
          <a:xfrm>
            <a:off x="3044260" y="1661440"/>
            <a:ext cx="637649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5BDCF1-56CF-7EA2-F69A-BB0B5DFE1BC3}"/>
              </a:ext>
            </a:extLst>
          </p:cNvPr>
          <p:cNvSpPr/>
          <p:nvPr/>
        </p:nvSpPr>
        <p:spPr>
          <a:xfrm>
            <a:off x="5876749" y="1661440"/>
            <a:ext cx="449721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D60639-D81A-D281-1D29-E74BC2144319}"/>
              </a:ext>
            </a:extLst>
          </p:cNvPr>
          <p:cNvSpPr/>
          <p:nvPr/>
        </p:nvSpPr>
        <p:spPr>
          <a:xfrm>
            <a:off x="1031739" y="1993353"/>
            <a:ext cx="97657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6324E8-475F-3E9D-8014-F4BCD1E803C6}"/>
              </a:ext>
            </a:extLst>
          </p:cNvPr>
          <p:cNvSpPr/>
          <p:nvPr/>
        </p:nvSpPr>
        <p:spPr>
          <a:xfrm>
            <a:off x="4258319" y="1993353"/>
            <a:ext cx="97657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06A78-B96B-5E9C-48C0-09A2783BE986}"/>
              </a:ext>
            </a:extLst>
          </p:cNvPr>
          <p:cNvSpPr/>
          <p:nvPr/>
        </p:nvSpPr>
        <p:spPr>
          <a:xfrm>
            <a:off x="7309589" y="2285063"/>
            <a:ext cx="1150014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89640B-742F-85D2-F9C5-DBD894136691}"/>
              </a:ext>
            </a:extLst>
          </p:cNvPr>
          <p:cNvSpPr/>
          <p:nvPr/>
        </p:nvSpPr>
        <p:spPr>
          <a:xfrm>
            <a:off x="9229081" y="2285063"/>
            <a:ext cx="638585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D665B5-FF16-9C7A-69A5-EE3E4E70F3E9}"/>
              </a:ext>
            </a:extLst>
          </p:cNvPr>
          <p:cNvSpPr/>
          <p:nvPr/>
        </p:nvSpPr>
        <p:spPr>
          <a:xfrm>
            <a:off x="4022238" y="2576773"/>
            <a:ext cx="97657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9FA820-9CA5-D213-9DCB-4F47CDB6E09F}"/>
              </a:ext>
            </a:extLst>
          </p:cNvPr>
          <p:cNvSpPr/>
          <p:nvPr/>
        </p:nvSpPr>
        <p:spPr>
          <a:xfrm>
            <a:off x="9150545" y="2627261"/>
            <a:ext cx="57126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279317-8D59-A802-DDE9-D1507352EFA8}"/>
              </a:ext>
            </a:extLst>
          </p:cNvPr>
          <p:cNvSpPr/>
          <p:nvPr/>
        </p:nvSpPr>
        <p:spPr>
          <a:xfrm>
            <a:off x="3177026" y="2881569"/>
            <a:ext cx="845212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DFCA6B-95E3-907F-09B2-D417DD4FA784}"/>
              </a:ext>
            </a:extLst>
          </p:cNvPr>
          <p:cNvSpPr/>
          <p:nvPr/>
        </p:nvSpPr>
        <p:spPr>
          <a:xfrm>
            <a:off x="5903864" y="2890912"/>
            <a:ext cx="1013974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9076E7-F9C3-8977-AE3F-F56B07CF72B5}"/>
              </a:ext>
            </a:extLst>
          </p:cNvPr>
          <p:cNvSpPr/>
          <p:nvPr/>
        </p:nvSpPr>
        <p:spPr>
          <a:xfrm>
            <a:off x="827915" y="3182622"/>
            <a:ext cx="546490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5FBD6F-FC2F-0A44-8E69-00339CAD0BFD}"/>
              </a:ext>
            </a:extLst>
          </p:cNvPr>
          <p:cNvSpPr/>
          <p:nvPr/>
        </p:nvSpPr>
        <p:spPr>
          <a:xfrm>
            <a:off x="4637915" y="3182622"/>
            <a:ext cx="83165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A5FBD0-0FB5-F335-4AD0-B6E7D19B0E81}"/>
              </a:ext>
            </a:extLst>
          </p:cNvPr>
          <p:cNvSpPr/>
          <p:nvPr/>
        </p:nvSpPr>
        <p:spPr>
          <a:xfrm>
            <a:off x="3190582" y="3474332"/>
            <a:ext cx="83165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F12F33-F39E-CAA3-882E-4A4FA5C481D6}"/>
              </a:ext>
            </a:extLst>
          </p:cNvPr>
          <p:cNvSpPr/>
          <p:nvPr/>
        </p:nvSpPr>
        <p:spPr>
          <a:xfrm>
            <a:off x="5269953" y="3526223"/>
            <a:ext cx="568462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04419A-01C8-7F9E-7D13-ED06033DFDC1}"/>
              </a:ext>
            </a:extLst>
          </p:cNvPr>
          <p:cNvSpPr/>
          <p:nvPr/>
        </p:nvSpPr>
        <p:spPr>
          <a:xfrm>
            <a:off x="6042238" y="3523328"/>
            <a:ext cx="1013973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0C29F-8E73-2FE1-5E64-EC0A98662894}"/>
              </a:ext>
            </a:extLst>
          </p:cNvPr>
          <p:cNvSpPr/>
          <p:nvPr/>
        </p:nvSpPr>
        <p:spPr>
          <a:xfrm>
            <a:off x="2163054" y="3815401"/>
            <a:ext cx="62502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76F7E9-9761-6D6A-0312-E9388A02C1DD}"/>
              </a:ext>
            </a:extLst>
          </p:cNvPr>
          <p:cNvSpPr/>
          <p:nvPr/>
        </p:nvSpPr>
        <p:spPr>
          <a:xfrm>
            <a:off x="9288454" y="3827011"/>
            <a:ext cx="751711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6C301C-8928-07EA-A17E-37CAF6D6DEFF}"/>
              </a:ext>
            </a:extLst>
          </p:cNvPr>
          <p:cNvSpPr/>
          <p:nvPr/>
        </p:nvSpPr>
        <p:spPr>
          <a:xfrm>
            <a:off x="2668405" y="4430054"/>
            <a:ext cx="747974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70931F-76DF-F3CF-6A4A-DA45DABE71CB}"/>
              </a:ext>
            </a:extLst>
          </p:cNvPr>
          <p:cNvSpPr/>
          <p:nvPr/>
        </p:nvSpPr>
        <p:spPr>
          <a:xfrm>
            <a:off x="4935706" y="4430054"/>
            <a:ext cx="568462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0FBAF2-DBED-F601-A633-CFE82E407306}"/>
              </a:ext>
            </a:extLst>
          </p:cNvPr>
          <p:cNvSpPr/>
          <p:nvPr/>
        </p:nvSpPr>
        <p:spPr>
          <a:xfrm>
            <a:off x="7562966" y="4430054"/>
            <a:ext cx="1036881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713435-C871-2985-F98F-4B6FF3A4EC62}"/>
              </a:ext>
            </a:extLst>
          </p:cNvPr>
          <p:cNvSpPr/>
          <p:nvPr/>
        </p:nvSpPr>
        <p:spPr>
          <a:xfrm>
            <a:off x="10228564" y="4430054"/>
            <a:ext cx="1036881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E00761-8B60-078C-9D3F-D39943A6A4CB}"/>
              </a:ext>
            </a:extLst>
          </p:cNvPr>
          <p:cNvSpPr/>
          <p:nvPr/>
        </p:nvSpPr>
        <p:spPr>
          <a:xfrm>
            <a:off x="1893313" y="4721764"/>
            <a:ext cx="894768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6ED1B4-1F8D-85B0-2B6A-C60398EB2512}"/>
              </a:ext>
            </a:extLst>
          </p:cNvPr>
          <p:cNvSpPr/>
          <p:nvPr/>
        </p:nvSpPr>
        <p:spPr>
          <a:xfrm>
            <a:off x="5206841" y="5026323"/>
            <a:ext cx="835397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4767D2-CF27-8698-DFE6-4D6C6F3D5468}"/>
              </a:ext>
            </a:extLst>
          </p:cNvPr>
          <p:cNvSpPr/>
          <p:nvPr/>
        </p:nvSpPr>
        <p:spPr>
          <a:xfrm>
            <a:off x="9768557" y="5071567"/>
            <a:ext cx="1299610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28C476-482D-DF8C-1C4A-E57323755D33}"/>
              </a:ext>
            </a:extLst>
          </p:cNvPr>
          <p:cNvSpPr/>
          <p:nvPr/>
        </p:nvSpPr>
        <p:spPr>
          <a:xfrm>
            <a:off x="5653757" y="5351692"/>
            <a:ext cx="730214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82BDC9-66F8-8AC6-9DDB-30E67148B287}"/>
              </a:ext>
            </a:extLst>
          </p:cNvPr>
          <p:cNvSpPr/>
          <p:nvPr/>
        </p:nvSpPr>
        <p:spPr>
          <a:xfrm>
            <a:off x="7923396" y="5346009"/>
            <a:ext cx="416065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0EA863-BBF8-283B-969E-A3C33DFDBDB0}"/>
              </a:ext>
            </a:extLst>
          </p:cNvPr>
          <p:cNvSpPr/>
          <p:nvPr/>
        </p:nvSpPr>
        <p:spPr>
          <a:xfrm>
            <a:off x="3105499" y="5650183"/>
            <a:ext cx="102332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12C53B-07EE-E551-2529-0309C591D70F}"/>
              </a:ext>
            </a:extLst>
          </p:cNvPr>
          <p:cNvSpPr/>
          <p:nvPr/>
        </p:nvSpPr>
        <p:spPr>
          <a:xfrm>
            <a:off x="6952898" y="5650183"/>
            <a:ext cx="102332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A823C1-40BD-62AD-CD12-A9FEA3BC0938}"/>
              </a:ext>
            </a:extLst>
          </p:cNvPr>
          <p:cNvSpPr/>
          <p:nvPr/>
        </p:nvSpPr>
        <p:spPr>
          <a:xfrm>
            <a:off x="869987" y="5961908"/>
            <a:ext cx="801738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713BA8-63A8-3761-FF07-9B1F1CDE3EC6}"/>
              </a:ext>
            </a:extLst>
          </p:cNvPr>
          <p:cNvSpPr/>
          <p:nvPr/>
        </p:nvSpPr>
        <p:spPr>
          <a:xfrm>
            <a:off x="3327087" y="5978539"/>
            <a:ext cx="86344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2EF094-A2D9-13C0-E3F1-20D9C5467D7B}"/>
              </a:ext>
            </a:extLst>
          </p:cNvPr>
          <p:cNvSpPr/>
          <p:nvPr/>
        </p:nvSpPr>
        <p:spPr>
          <a:xfrm>
            <a:off x="8459603" y="5934957"/>
            <a:ext cx="863446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49E138-E72B-7B55-09CE-0AE0A433507E}"/>
              </a:ext>
            </a:extLst>
          </p:cNvPr>
          <p:cNvSpPr txBox="1"/>
          <p:nvPr/>
        </p:nvSpPr>
        <p:spPr>
          <a:xfrm>
            <a:off x="489456" y="103888"/>
            <a:ext cx="114038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Review:  identifying, collecting, graphing and analysing numerical and categorical 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6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A991BE-E36B-84AC-CA79-79A385E467D0}"/>
              </a:ext>
            </a:extLst>
          </p:cNvPr>
          <p:cNvSpPr txBox="1"/>
          <p:nvPr/>
        </p:nvSpPr>
        <p:spPr>
          <a:xfrm>
            <a:off x="416061" y="291711"/>
            <a:ext cx="118198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 column graph displays the frequency of the data with length of vertical bars.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 bar chart displays the frequency of the data with length of horizontal bars.</a:t>
            </a:r>
            <a:endParaRPr lang="en-A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Numerical data can be displayed in column graphs, bar charts, histograms, stem and leaf plots.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Categorical data can be displayed column graphs, bar charts, dot plots, pictograms and pie graph.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461361-4D88-43BA-3E5D-DFDEDFD93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61" y="1743162"/>
            <a:ext cx="2241284" cy="18695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80EF1F-43CE-B43D-A79A-503A87755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224" y="1743162"/>
            <a:ext cx="2466975" cy="1857375"/>
          </a:xfrm>
          <a:prstGeom prst="rect">
            <a:avLst/>
          </a:prstGeom>
        </p:spPr>
      </p:pic>
      <p:pic>
        <p:nvPicPr>
          <p:cNvPr id="1026" name="Picture 2" descr="What is a pictogram? | TheSchoolRun">
            <a:extLst>
              <a:ext uri="{FF2B5EF4-FFF2-40B4-BE49-F238E27FC236}">
                <a16:creationId xmlns:a16="http://schemas.microsoft.com/office/drawing/2014/main" id="{3961EF50-1B09-4028-D1C1-D909A5480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66" y="1903861"/>
            <a:ext cx="27717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t Plots">
            <a:extLst>
              <a:ext uri="{FF2B5EF4-FFF2-40B4-BE49-F238E27FC236}">
                <a16:creationId xmlns:a16="http://schemas.microsoft.com/office/drawing/2014/main" id="{99D35502-6F71-ED08-5B2C-ADA0EBA8C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164" y="1847208"/>
            <a:ext cx="31527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em and Leaf Plot">
            <a:extLst>
              <a:ext uri="{FF2B5EF4-FFF2-40B4-BE49-F238E27FC236}">
                <a16:creationId xmlns:a16="http://schemas.microsoft.com/office/drawing/2014/main" id="{C1686FBD-AD71-13FB-A490-225CED2E6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449" y="4073572"/>
            <a:ext cx="24955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5.7 Histogram">
            <a:extLst>
              <a:ext uri="{FF2B5EF4-FFF2-40B4-BE49-F238E27FC236}">
                <a16:creationId xmlns:a16="http://schemas.microsoft.com/office/drawing/2014/main" id="{A7CB876E-1DAA-D9C6-4468-77F3F945D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543" y="4292647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e Chart">
            <a:extLst>
              <a:ext uri="{FF2B5EF4-FFF2-40B4-BE49-F238E27FC236}">
                <a16:creationId xmlns:a16="http://schemas.microsoft.com/office/drawing/2014/main" id="{62D13982-48D4-DD70-065F-0F68230DF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401" y="4225972"/>
            <a:ext cx="27241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E7F9FE-101E-702C-E902-406CBC97A283}"/>
              </a:ext>
            </a:extLst>
          </p:cNvPr>
          <p:cNvSpPr txBox="1"/>
          <p:nvPr/>
        </p:nvSpPr>
        <p:spPr>
          <a:xfrm>
            <a:off x="460005" y="3600537"/>
            <a:ext cx="219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Column Graph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B9AFC9-77E9-EFFB-2204-4AD8CFAE68F5}"/>
              </a:ext>
            </a:extLst>
          </p:cNvPr>
          <p:cNvSpPr txBox="1"/>
          <p:nvPr/>
        </p:nvSpPr>
        <p:spPr>
          <a:xfrm>
            <a:off x="2962145" y="3577260"/>
            <a:ext cx="219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Bar Chart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FECA9-B110-EEDC-93A7-4E17C1265250}"/>
              </a:ext>
            </a:extLst>
          </p:cNvPr>
          <p:cNvSpPr txBox="1"/>
          <p:nvPr/>
        </p:nvSpPr>
        <p:spPr>
          <a:xfrm>
            <a:off x="5616522" y="3619176"/>
            <a:ext cx="219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Pictogram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624FBD-CCF9-508D-31A0-E8CFDBF1F83A}"/>
              </a:ext>
            </a:extLst>
          </p:cNvPr>
          <p:cNvSpPr txBox="1"/>
          <p:nvPr/>
        </p:nvSpPr>
        <p:spPr>
          <a:xfrm>
            <a:off x="9100881" y="3186541"/>
            <a:ext cx="219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Dot plot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6BAE8-5A37-AD94-E393-EE09B676207B}"/>
              </a:ext>
            </a:extLst>
          </p:cNvPr>
          <p:cNvSpPr txBox="1"/>
          <p:nvPr/>
        </p:nvSpPr>
        <p:spPr>
          <a:xfrm>
            <a:off x="1626905" y="5844686"/>
            <a:ext cx="219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Stem and leaf plot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E4ABD8-B89C-15ED-BC5B-5694893A9C8D}"/>
              </a:ext>
            </a:extLst>
          </p:cNvPr>
          <p:cNvSpPr txBox="1"/>
          <p:nvPr/>
        </p:nvSpPr>
        <p:spPr>
          <a:xfrm>
            <a:off x="7670569" y="5953593"/>
            <a:ext cx="219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Pie graph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988DC2-38E6-0B8A-A907-C107A9C20686}"/>
              </a:ext>
            </a:extLst>
          </p:cNvPr>
          <p:cNvSpPr txBox="1"/>
          <p:nvPr/>
        </p:nvSpPr>
        <p:spPr>
          <a:xfrm>
            <a:off x="4661757" y="5902372"/>
            <a:ext cx="219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Histogram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D62592-6854-B39F-5D02-ED8A2B6A0AD0}"/>
              </a:ext>
            </a:extLst>
          </p:cNvPr>
          <p:cNvSpPr/>
          <p:nvPr/>
        </p:nvSpPr>
        <p:spPr>
          <a:xfrm>
            <a:off x="1042556" y="337937"/>
            <a:ext cx="777365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506CEE-05D5-DE02-01C0-EEDE7F2C187D}"/>
              </a:ext>
            </a:extLst>
          </p:cNvPr>
          <p:cNvSpPr/>
          <p:nvPr/>
        </p:nvSpPr>
        <p:spPr>
          <a:xfrm>
            <a:off x="2655050" y="352272"/>
            <a:ext cx="699620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B0DF37-D8C3-6D07-6DF2-F0B3B2F45DB3}"/>
              </a:ext>
            </a:extLst>
          </p:cNvPr>
          <p:cNvSpPr/>
          <p:nvPr/>
        </p:nvSpPr>
        <p:spPr>
          <a:xfrm>
            <a:off x="3881189" y="343168"/>
            <a:ext cx="965692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95C9BB-F5D9-3F1A-6322-FF6F320CFFE0}"/>
              </a:ext>
            </a:extLst>
          </p:cNvPr>
          <p:cNvSpPr/>
          <p:nvPr/>
        </p:nvSpPr>
        <p:spPr>
          <a:xfrm>
            <a:off x="7689681" y="369612"/>
            <a:ext cx="656348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B75F4F-F95A-233C-DC5D-834A65B038E3}"/>
              </a:ext>
            </a:extLst>
          </p:cNvPr>
          <p:cNvSpPr/>
          <p:nvPr/>
        </p:nvSpPr>
        <p:spPr>
          <a:xfrm>
            <a:off x="1560772" y="663657"/>
            <a:ext cx="449639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55ACDD-4E58-DDE9-9F64-2E2FAE63272C}"/>
              </a:ext>
            </a:extLst>
          </p:cNvPr>
          <p:cNvSpPr/>
          <p:nvPr/>
        </p:nvSpPr>
        <p:spPr>
          <a:xfrm>
            <a:off x="3431550" y="678568"/>
            <a:ext cx="965692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526581-DA43-8D12-C52B-EAAF7CF48961}"/>
              </a:ext>
            </a:extLst>
          </p:cNvPr>
          <p:cNvSpPr/>
          <p:nvPr/>
        </p:nvSpPr>
        <p:spPr>
          <a:xfrm>
            <a:off x="6210197" y="651696"/>
            <a:ext cx="555241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1C346D-F611-6568-C3EA-D32FEF129D45}"/>
              </a:ext>
            </a:extLst>
          </p:cNvPr>
          <p:cNvSpPr/>
          <p:nvPr/>
        </p:nvSpPr>
        <p:spPr>
          <a:xfrm>
            <a:off x="7239519" y="676830"/>
            <a:ext cx="900324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C4EEBF-E313-954B-C4E7-84026110B61B}"/>
              </a:ext>
            </a:extLst>
          </p:cNvPr>
          <p:cNvSpPr/>
          <p:nvPr/>
        </p:nvSpPr>
        <p:spPr>
          <a:xfrm>
            <a:off x="1023482" y="967583"/>
            <a:ext cx="900324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AE62C2-6A51-4088-020D-4AFAB9F8BFEB}"/>
              </a:ext>
            </a:extLst>
          </p:cNvPr>
          <p:cNvSpPr/>
          <p:nvPr/>
        </p:nvSpPr>
        <p:spPr>
          <a:xfrm>
            <a:off x="7427145" y="966698"/>
            <a:ext cx="948441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F96512-B894-16AA-1EF2-75E9EE605C16}"/>
              </a:ext>
            </a:extLst>
          </p:cNvPr>
          <p:cNvSpPr/>
          <p:nvPr/>
        </p:nvSpPr>
        <p:spPr>
          <a:xfrm>
            <a:off x="8643786" y="979733"/>
            <a:ext cx="1308384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048F20-662F-7857-D39B-00E1438C92A7}"/>
              </a:ext>
            </a:extLst>
          </p:cNvPr>
          <p:cNvSpPr/>
          <p:nvPr/>
        </p:nvSpPr>
        <p:spPr>
          <a:xfrm>
            <a:off x="999423" y="1273706"/>
            <a:ext cx="1025720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BF56FF-B306-E752-1951-4D60390DA975}"/>
              </a:ext>
            </a:extLst>
          </p:cNvPr>
          <p:cNvSpPr/>
          <p:nvPr/>
        </p:nvSpPr>
        <p:spPr>
          <a:xfrm>
            <a:off x="3431550" y="1261907"/>
            <a:ext cx="900324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81B938-ED75-36F4-3B20-C51F1B1225E3}"/>
              </a:ext>
            </a:extLst>
          </p:cNvPr>
          <p:cNvSpPr/>
          <p:nvPr/>
        </p:nvSpPr>
        <p:spPr>
          <a:xfrm>
            <a:off x="5297044" y="1297074"/>
            <a:ext cx="680133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A8C674-BDA5-7ED0-B6A5-4BCED874DB8B}"/>
              </a:ext>
            </a:extLst>
          </p:cNvPr>
          <p:cNvSpPr/>
          <p:nvPr/>
        </p:nvSpPr>
        <p:spPr>
          <a:xfrm>
            <a:off x="7298219" y="1273706"/>
            <a:ext cx="231817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D9542D-43F3-F1F6-EE0B-B51F7B3E3611}"/>
              </a:ext>
            </a:extLst>
          </p:cNvPr>
          <p:cNvSpPr/>
          <p:nvPr/>
        </p:nvSpPr>
        <p:spPr>
          <a:xfrm>
            <a:off x="8333824" y="1289424"/>
            <a:ext cx="1007303" cy="291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74DB71-E325-DD10-B721-1360791B1E11}"/>
              </a:ext>
            </a:extLst>
          </p:cNvPr>
          <p:cNvSpPr/>
          <p:nvPr/>
        </p:nvSpPr>
        <p:spPr>
          <a:xfrm>
            <a:off x="460005" y="3639348"/>
            <a:ext cx="2126120" cy="4342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69154ED1-1513-46EB-DC88-0E20FD67187A}"/>
              </a:ext>
            </a:extLst>
          </p:cNvPr>
          <p:cNvSpPr/>
          <p:nvPr/>
        </p:nvSpPr>
        <p:spPr>
          <a:xfrm>
            <a:off x="3078449" y="3591619"/>
            <a:ext cx="2126120" cy="4342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A36C4B10-522B-69EB-3E17-799AAD8F98F3}"/>
              </a:ext>
            </a:extLst>
          </p:cNvPr>
          <p:cNvSpPr/>
          <p:nvPr/>
        </p:nvSpPr>
        <p:spPr>
          <a:xfrm>
            <a:off x="5837076" y="3617295"/>
            <a:ext cx="2126120" cy="4342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E24F9694-F6AB-729E-AF9A-070CBB53CDF7}"/>
              </a:ext>
            </a:extLst>
          </p:cNvPr>
          <p:cNvSpPr/>
          <p:nvPr/>
        </p:nvSpPr>
        <p:spPr>
          <a:xfrm>
            <a:off x="9110287" y="3193621"/>
            <a:ext cx="2126120" cy="4342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3F17F1F6-4F37-79C8-F769-57A2CDC3F760}"/>
              </a:ext>
            </a:extLst>
          </p:cNvPr>
          <p:cNvSpPr/>
          <p:nvPr/>
        </p:nvSpPr>
        <p:spPr>
          <a:xfrm>
            <a:off x="1752397" y="5869926"/>
            <a:ext cx="2126120" cy="4342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541B856-E736-1734-1A67-AA6B7538EC23}"/>
              </a:ext>
            </a:extLst>
          </p:cNvPr>
          <p:cNvSpPr/>
          <p:nvPr/>
        </p:nvSpPr>
        <p:spPr>
          <a:xfrm>
            <a:off x="4553462" y="6008536"/>
            <a:ext cx="2126120" cy="4342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36E46AB-8CAD-B3E4-0A8C-74558E181EDE}"/>
              </a:ext>
            </a:extLst>
          </p:cNvPr>
          <p:cNvSpPr/>
          <p:nvPr/>
        </p:nvSpPr>
        <p:spPr>
          <a:xfrm>
            <a:off x="7719238" y="6013792"/>
            <a:ext cx="2126120" cy="4342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867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1024" grpId="0" animBg="1"/>
      <p:bldP spid="1025" grpId="0" animBg="1"/>
      <p:bldP spid="1027" grpId="0" animBg="1"/>
      <p:bldP spid="1029" grpId="0" animBg="1"/>
      <p:bldP spid="1031" grpId="0" animBg="1"/>
      <p:bldP spid="10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8F4CC-AFDF-4446-7E38-1985C917705C}"/>
              </a:ext>
            </a:extLst>
          </p:cNvPr>
          <p:cNvSpPr txBox="1"/>
          <p:nvPr/>
        </p:nvSpPr>
        <p:spPr>
          <a:xfrm>
            <a:off x="398297" y="325369"/>
            <a:ext cx="1137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Calculating mean median mode from a frequency table: 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3F42924-81BC-F8D7-9D6D-F378791C4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875142"/>
              </p:ext>
            </p:extLst>
          </p:nvPr>
        </p:nvGraphicFramePr>
        <p:xfrm>
          <a:off x="584668" y="694701"/>
          <a:ext cx="309578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893">
                  <a:extLst>
                    <a:ext uri="{9D8B030D-6E8A-4147-A177-3AD203B41FA5}">
                      <a16:colId xmlns:a16="http://schemas.microsoft.com/office/drawing/2014/main" val="678831426"/>
                    </a:ext>
                  </a:extLst>
                </a:gridCol>
                <a:gridCol w="1547893">
                  <a:extLst>
                    <a:ext uri="{9D8B030D-6E8A-4147-A177-3AD203B41FA5}">
                      <a16:colId xmlns:a16="http://schemas.microsoft.com/office/drawing/2014/main" val="3101194076"/>
                    </a:ext>
                  </a:extLst>
                </a:gridCol>
              </a:tblGrid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168488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551951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72475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7140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717159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29781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0154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F9FB02-9849-0A97-2686-21586E3DCAB5}"/>
              </a:ext>
            </a:extLst>
          </p:cNvPr>
          <p:cNvSpPr txBox="1"/>
          <p:nvPr/>
        </p:nvSpPr>
        <p:spPr>
          <a:xfrm>
            <a:off x="6198846" y="734886"/>
            <a:ext cx="54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Mean</a:t>
            </a:r>
            <a:r>
              <a:rPr lang="en-AU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6747B-BF87-3653-9C43-085CB1890606}"/>
              </a:ext>
            </a:extLst>
          </p:cNvPr>
          <p:cNvSpPr txBox="1"/>
          <p:nvPr/>
        </p:nvSpPr>
        <p:spPr>
          <a:xfrm>
            <a:off x="398297" y="3707130"/>
            <a:ext cx="54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Median</a:t>
            </a:r>
            <a:r>
              <a:rPr lang="en-AU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67AF3-BBAA-3C44-7EA6-2DE77901D791}"/>
              </a:ext>
            </a:extLst>
          </p:cNvPr>
          <p:cNvSpPr txBox="1"/>
          <p:nvPr/>
        </p:nvSpPr>
        <p:spPr>
          <a:xfrm>
            <a:off x="6198845" y="3707130"/>
            <a:ext cx="54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Mode</a:t>
            </a:r>
            <a:r>
              <a:rPr lang="en-AU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4CEE3-D261-C717-1B82-CF70DD53386D}"/>
              </a:ext>
            </a:extLst>
          </p:cNvPr>
          <p:cNvSpPr txBox="1"/>
          <p:nvPr/>
        </p:nvSpPr>
        <p:spPr>
          <a:xfrm>
            <a:off x="6221286" y="4230350"/>
            <a:ext cx="5228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Mode is the most frequent:</a:t>
            </a:r>
          </a:p>
          <a:p>
            <a:r>
              <a:rPr lang="en-AU" sz="2400" dirty="0"/>
              <a:t>5 is the most frequent with a frequency of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F318F5-6E84-8676-CB01-773EA6DC9F74}"/>
                  </a:ext>
                </a:extLst>
              </p:cNvPr>
              <p:cNvSpPr txBox="1"/>
              <p:nvPr/>
            </p:nvSpPr>
            <p:spPr>
              <a:xfrm>
                <a:off x="398297" y="4179394"/>
                <a:ext cx="5121762" cy="2576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Median is the middle number in an ordered set:</a:t>
                </a:r>
              </a:p>
              <a:p>
                <a:r>
                  <a:rPr lang="en-AU" sz="2000" dirty="0"/>
                  <a:t>Find position of middle number: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32+1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=16.5</m:t>
                      </m:r>
                    </m:oMath>
                  </m:oMathPara>
                </a14:m>
                <a:endParaRPr lang="en-AU" sz="2000" b="0" dirty="0"/>
              </a:p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AU" sz="2000" b="0" dirty="0"/>
                  <a:t> between the 16</a:t>
                </a:r>
                <a:r>
                  <a:rPr lang="en-AU" sz="2000" b="0" baseline="30000" dirty="0"/>
                  <a:t>th</a:t>
                </a:r>
                <a:r>
                  <a:rPr lang="en-AU" sz="2000" b="0" dirty="0"/>
                  <a:t> and 17</a:t>
                </a:r>
                <a:r>
                  <a:rPr lang="en-AU" sz="2000" b="0" baseline="30000" dirty="0"/>
                  <a:t>th</a:t>
                </a:r>
                <a:r>
                  <a:rPr lang="en-AU" sz="2000" b="0" dirty="0"/>
                  <a:t> data point</a:t>
                </a:r>
              </a:p>
              <a:p>
                <a:pPr algn="ctr"/>
                <a:r>
                  <a:rPr lang="en-AU" sz="2000" dirty="0"/>
                  <a:t>The median is 3</a:t>
                </a:r>
                <a:endParaRPr lang="en-AU" sz="2000" b="0" dirty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F318F5-6E84-8676-CB01-773EA6DC9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97" y="4179394"/>
                <a:ext cx="5121762" cy="2576731"/>
              </a:xfrm>
              <a:prstGeom prst="rect">
                <a:avLst/>
              </a:prstGeom>
              <a:blipFill>
                <a:blip r:embed="rId2"/>
                <a:stretch>
                  <a:fillRect l="-1189" t="-14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F37B4D-143B-FBCD-CADE-F0D9EFBECA70}"/>
              </a:ext>
            </a:extLst>
          </p:cNvPr>
          <p:cNvCxnSpPr>
            <a:endCxn id="2" idx="3"/>
          </p:cNvCxnSpPr>
          <p:nvPr/>
        </p:nvCxnSpPr>
        <p:spPr>
          <a:xfrm flipH="1">
            <a:off x="3680454" y="1963436"/>
            <a:ext cx="1166427" cy="114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52D9EA4-DEB8-F68D-326E-E5E447BA82B3}"/>
              </a:ext>
            </a:extLst>
          </p:cNvPr>
          <p:cNvSpPr txBox="1"/>
          <p:nvPr/>
        </p:nvSpPr>
        <p:spPr>
          <a:xfrm>
            <a:off x="3866825" y="1627437"/>
            <a:ext cx="2496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13</a:t>
            </a:r>
            <a:r>
              <a:rPr lang="en-AU" sz="1400" baseline="30000" dirty="0"/>
              <a:t>th</a:t>
            </a:r>
            <a:r>
              <a:rPr lang="en-AU" sz="1400" dirty="0"/>
              <a:t>, 14</a:t>
            </a:r>
            <a:r>
              <a:rPr lang="en-AU" sz="1400" baseline="30000" dirty="0"/>
              <a:t>th</a:t>
            </a:r>
            <a:r>
              <a:rPr lang="en-AU" sz="1400" dirty="0"/>
              <a:t>, 15</a:t>
            </a:r>
            <a:r>
              <a:rPr lang="en-AU" sz="1400" baseline="30000" dirty="0"/>
              <a:t>th</a:t>
            </a:r>
            <a:r>
              <a:rPr lang="en-AU" sz="1400" dirty="0"/>
              <a:t>,16</a:t>
            </a:r>
            <a:r>
              <a:rPr lang="en-AU" sz="1400" baseline="30000" dirty="0"/>
              <a:t>th</a:t>
            </a:r>
            <a:r>
              <a:rPr lang="en-AU" sz="1400" dirty="0"/>
              <a:t> , 17th</a:t>
            </a:r>
          </a:p>
        </p:txBody>
      </p:sp>
    </p:spTree>
    <p:extLst>
      <p:ext uri="{BB962C8B-B14F-4D97-AF65-F5344CB8AC3E}">
        <p14:creationId xmlns:p14="http://schemas.microsoft.com/office/powerpoint/2010/main" val="296455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8F4CC-AFDF-4446-7E38-1985C917705C}"/>
              </a:ext>
            </a:extLst>
          </p:cNvPr>
          <p:cNvSpPr txBox="1"/>
          <p:nvPr/>
        </p:nvSpPr>
        <p:spPr>
          <a:xfrm>
            <a:off x="398297" y="325369"/>
            <a:ext cx="1137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Calculating mean median mode from a frequency table: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9FB02-9849-0A97-2686-21586E3DCAB5}"/>
              </a:ext>
            </a:extLst>
          </p:cNvPr>
          <p:cNvSpPr txBox="1"/>
          <p:nvPr/>
        </p:nvSpPr>
        <p:spPr>
          <a:xfrm>
            <a:off x="6198846" y="734886"/>
            <a:ext cx="54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Mean</a:t>
            </a:r>
            <a:r>
              <a:rPr lang="en-AU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6747B-BF87-3653-9C43-085CB1890606}"/>
              </a:ext>
            </a:extLst>
          </p:cNvPr>
          <p:cNvSpPr txBox="1"/>
          <p:nvPr/>
        </p:nvSpPr>
        <p:spPr>
          <a:xfrm>
            <a:off x="398297" y="3707130"/>
            <a:ext cx="54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Median</a:t>
            </a:r>
            <a:r>
              <a:rPr lang="en-AU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67AF3-BBAA-3C44-7EA6-2DE77901D791}"/>
              </a:ext>
            </a:extLst>
          </p:cNvPr>
          <p:cNvSpPr txBox="1"/>
          <p:nvPr/>
        </p:nvSpPr>
        <p:spPr>
          <a:xfrm>
            <a:off x="6198845" y="3707130"/>
            <a:ext cx="54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Mode</a:t>
            </a:r>
            <a:r>
              <a:rPr lang="en-AU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4CEE3-D261-C717-1B82-CF70DD53386D}"/>
              </a:ext>
            </a:extLst>
          </p:cNvPr>
          <p:cNvSpPr txBox="1"/>
          <p:nvPr/>
        </p:nvSpPr>
        <p:spPr>
          <a:xfrm>
            <a:off x="6221286" y="4230350"/>
            <a:ext cx="5228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Mode is the most frequent:</a:t>
            </a:r>
          </a:p>
          <a:p>
            <a:r>
              <a:rPr lang="en-AU" sz="2400" dirty="0"/>
              <a:t>5 is the most frequent with a frequency of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F318F5-6E84-8676-CB01-773EA6DC9F74}"/>
                  </a:ext>
                </a:extLst>
              </p:cNvPr>
              <p:cNvSpPr txBox="1"/>
              <p:nvPr/>
            </p:nvSpPr>
            <p:spPr>
              <a:xfrm>
                <a:off x="398297" y="4179394"/>
                <a:ext cx="5121762" cy="2576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Median is the middle number in an ordered set:</a:t>
                </a:r>
              </a:p>
              <a:p>
                <a:r>
                  <a:rPr lang="en-AU" sz="2000" dirty="0"/>
                  <a:t>Find position of middle number: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32+1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=16.5</m:t>
                      </m:r>
                    </m:oMath>
                  </m:oMathPara>
                </a14:m>
                <a:endParaRPr lang="en-AU" sz="2000" b="0" dirty="0"/>
              </a:p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AU" sz="2000" b="0" dirty="0"/>
                  <a:t> between the 16</a:t>
                </a:r>
                <a:r>
                  <a:rPr lang="en-AU" sz="2000" b="0" baseline="30000" dirty="0"/>
                  <a:t>th</a:t>
                </a:r>
                <a:r>
                  <a:rPr lang="en-AU" sz="2000" b="0" dirty="0"/>
                  <a:t> and 17</a:t>
                </a:r>
                <a:r>
                  <a:rPr lang="en-AU" sz="2000" b="0" baseline="30000" dirty="0"/>
                  <a:t>th</a:t>
                </a:r>
                <a:r>
                  <a:rPr lang="en-AU" sz="2000" b="0" dirty="0"/>
                  <a:t> data point</a:t>
                </a:r>
              </a:p>
              <a:p>
                <a:pPr algn="ctr"/>
                <a:r>
                  <a:rPr lang="en-AU" sz="2000" dirty="0"/>
                  <a:t>The median is 3</a:t>
                </a:r>
                <a:endParaRPr lang="en-AU" sz="2000" b="0" dirty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F318F5-6E84-8676-CB01-773EA6DC9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97" y="4179394"/>
                <a:ext cx="5121762" cy="2576731"/>
              </a:xfrm>
              <a:prstGeom prst="rect">
                <a:avLst/>
              </a:prstGeom>
              <a:blipFill>
                <a:blip r:embed="rId2"/>
                <a:stretch>
                  <a:fillRect l="-1189" t="-14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C0E69119-0D05-66C9-7821-D127A480B390}"/>
              </a:ext>
            </a:extLst>
          </p:cNvPr>
          <p:cNvGraphicFramePr>
            <a:graphicFrameLocks noGrp="1"/>
          </p:cNvGraphicFramePr>
          <p:nvPr/>
        </p:nvGraphicFramePr>
        <p:xfrm>
          <a:off x="584668" y="694701"/>
          <a:ext cx="464367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893">
                  <a:extLst>
                    <a:ext uri="{9D8B030D-6E8A-4147-A177-3AD203B41FA5}">
                      <a16:colId xmlns:a16="http://schemas.microsoft.com/office/drawing/2014/main" val="678831426"/>
                    </a:ext>
                  </a:extLst>
                </a:gridCol>
                <a:gridCol w="1547893">
                  <a:extLst>
                    <a:ext uri="{9D8B030D-6E8A-4147-A177-3AD203B41FA5}">
                      <a16:colId xmlns:a16="http://schemas.microsoft.com/office/drawing/2014/main" val="3101194076"/>
                    </a:ext>
                  </a:extLst>
                </a:gridCol>
                <a:gridCol w="1547893">
                  <a:extLst>
                    <a:ext uri="{9D8B030D-6E8A-4147-A177-3AD203B41FA5}">
                      <a16:colId xmlns:a16="http://schemas.microsoft.com/office/drawing/2014/main" val="3433527849"/>
                    </a:ext>
                  </a:extLst>
                </a:gridCol>
              </a:tblGrid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168488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551951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72475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7140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717159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29781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01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322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8F4CC-AFDF-4446-7E38-1985C917705C}"/>
              </a:ext>
            </a:extLst>
          </p:cNvPr>
          <p:cNvSpPr txBox="1"/>
          <p:nvPr/>
        </p:nvSpPr>
        <p:spPr>
          <a:xfrm>
            <a:off x="398297" y="325369"/>
            <a:ext cx="1137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Calculating mean median mode from a frequency table: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9FB02-9849-0A97-2686-21586E3DCAB5}"/>
              </a:ext>
            </a:extLst>
          </p:cNvPr>
          <p:cNvSpPr txBox="1"/>
          <p:nvPr/>
        </p:nvSpPr>
        <p:spPr>
          <a:xfrm>
            <a:off x="6198846" y="734886"/>
            <a:ext cx="54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Mean</a:t>
            </a:r>
            <a:r>
              <a:rPr lang="en-AU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6747B-BF87-3653-9C43-085CB1890606}"/>
              </a:ext>
            </a:extLst>
          </p:cNvPr>
          <p:cNvSpPr txBox="1"/>
          <p:nvPr/>
        </p:nvSpPr>
        <p:spPr>
          <a:xfrm>
            <a:off x="398297" y="3707130"/>
            <a:ext cx="54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Median</a:t>
            </a:r>
            <a:r>
              <a:rPr lang="en-AU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67AF3-BBAA-3C44-7EA6-2DE77901D791}"/>
              </a:ext>
            </a:extLst>
          </p:cNvPr>
          <p:cNvSpPr txBox="1"/>
          <p:nvPr/>
        </p:nvSpPr>
        <p:spPr>
          <a:xfrm>
            <a:off x="6198845" y="3707130"/>
            <a:ext cx="54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Mode</a:t>
            </a:r>
            <a:r>
              <a:rPr lang="en-AU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4CEE3-D261-C717-1B82-CF70DD53386D}"/>
              </a:ext>
            </a:extLst>
          </p:cNvPr>
          <p:cNvSpPr txBox="1"/>
          <p:nvPr/>
        </p:nvSpPr>
        <p:spPr>
          <a:xfrm>
            <a:off x="6221286" y="4230350"/>
            <a:ext cx="5228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Mode is the most frequent:</a:t>
            </a:r>
          </a:p>
          <a:p>
            <a:r>
              <a:rPr lang="en-AU" sz="2400" dirty="0"/>
              <a:t>5 is the most frequent with a frequency of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F318F5-6E84-8676-CB01-773EA6DC9F74}"/>
                  </a:ext>
                </a:extLst>
              </p:cNvPr>
              <p:cNvSpPr txBox="1"/>
              <p:nvPr/>
            </p:nvSpPr>
            <p:spPr>
              <a:xfrm>
                <a:off x="398297" y="4179394"/>
                <a:ext cx="5121762" cy="2576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Median is the middle number in an ordered set:</a:t>
                </a:r>
              </a:p>
              <a:p>
                <a:r>
                  <a:rPr lang="en-AU" sz="2000" dirty="0"/>
                  <a:t>Find position of middle number: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32+1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=16.5</m:t>
                      </m:r>
                    </m:oMath>
                  </m:oMathPara>
                </a14:m>
                <a:endParaRPr lang="en-AU" sz="2000" b="0" dirty="0"/>
              </a:p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AU" sz="2000" b="0" dirty="0"/>
                  <a:t> between the 16</a:t>
                </a:r>
                <a:r>
                  <a:rPr lang="en-AU" sz="2000" b="0" baseline="30000" dirty="0"/>
                  <a:t>th</a:t>
                </a:r>
                <a:r>
                  <a:rPr lang="en-AU" sz="2000" b="0" dirty="0"/>
                  <a:t> and 17</a:t>
                </a:r>
                <a:r>
                  <a:rPr lang="en-AU" sz="2000" b="0" baseline="30000" dirty="0"/>
                  <a:t>th</a:t>
                </a:r>
                <a:r>
                  <a:rPr lang="en-AU" sz="2000" b="0" dirty="0"/>
                  <a:t> data point</a:t>
                </a:r>
              </a:p>
              <a:p>
                <a:pPr algn="ctr"/>
                <a:r>
                  <a:rPr lang="en-AU" sz="2000" dirty="0"/>
                  <a:t>The median is 3</a:t>
                </a:r>
                <a:endParaRPr lang="en-AU" sz="2000" b="0" dirty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F318F5-6E84-8676-CB01-773EA6DC9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97" y="4179394"/>
                <a:ext cx="5121762" cy="2576731"/>
              </a:xfrm>
              <a:prstGeom prst="rect">
                <a:avLst/>
              </a:prstGeom>
              <a:blipFill>
                <a:blip r:embed="rId2"/>
                <a:stretch>
                  <a:fillRect l="-1189" t="-14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C0E69119-0D05-66C9-7821-D127A480B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33874"/>
              </p:ext>
            </p:extLst>
          </p:nvPr>
        </p:nvGraphicFramePr>
        <p:xfrm>
          <a:off x="584668" y="694701"/>
          <a:ext cx="464367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893">
                  <a:extLst>
                    <a:ext uri="{9D8B030D-6E8A-4147-A177-3AD203B41FA5}">
                      <a16:colId xmlns:a16="http://schemas.microsoft.com/office/drawing/2014/main" val="678831426"/>
                    </a:ext>
                  </a:extLst>
                </a:gridCol>
                <a:gridCol w="1547893">
                  <a:extLst>
                    <a:ext uri="{9D8B030D-6E8A-4147-A177-3AD203B41FA5}">
                      <a16:colId xmlns:a16="http://schemas.microsoft.com/office/drawing/2014/main" val="3101194076"/>
                    </a:ext>
                  </a:extLst>
                </a:gridCol>
                <a:gridCol w="1547893">
                  <a:extLst>
                    <a:ext uri="{9D8B030D-6E8A-4147-A177-3AD203B41FA5}">
                      <a16:colId xmlns:a16="http://schemas.microsoft.com/office/drawing/2014/main" val="3433527849"/>
                    </a:ext>
                  </a:extLst>
                </a:gridCol>
              </a:tblGrid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168488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551951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72475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97140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717159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29781"/>
                  </a:ext>
                </a:extLst>
              </a:tr>
              <a:tr h="35595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01543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879791-5A30-C713-6B1E-B96AB37770E4}"/>
                  </a:ext>
                </a:extLst>
              </p:cNvPr>
              <p:cNvSpPr txBox="1"/>
              <p:nvPr/>
            </p:nvSpPr>
            <p:spPr>
              <a:xfrm>
                <a:off x="6221286" y="1217921"/>
                <a:ext cx="5228348" cy="1163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105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3.28 (2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879791-5A30-C713-6B1E-B96AB3777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286" y="1217921"/>
                <a:ext cx="5228348" cy="1163011"/>
              </a:xfrm>
              <a:prstGeom prst="rect">
                <a:avLst/>
              </a:prstGeom>
              <a:blipFill>
                <a:blip r:embed="rId3"/>
                <a:stretch>
                  <a:fillRect b="-62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06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8F4CC-AFDF-4446-7E38-1985C917705C}"/>
              </a:ext>
            </a:extLst>
          </p:cNvPr>
          <p:cNvSpPr txBox="1"/>
          <p:nvPr/>
        </p:nvSpPr>
        <p:spPr>
          <a:xfrm>
            <a:off x="410451" y="437566"/>
            <a:ext cx="11371097" cy="317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/>
              <a:t>Outlier</a:t>
            </a:r>
            <a:r>
              <a:rPr lang="en-AU" sz="2400" dirty="0"/>
              <a:t>: </a:t>
            </a:r>
            <a:r>
              <a:rPr lang="en-GB" sz="2400" dirty="0"/>
              <a:t>is a data point that lies outside the overall pattern in a distribution.</a:t>
            </a:r>
          </a:p>
          <a:p>
            <a:endParaRPr lang="en-GB" sz="2400" dirty="0"/>
          </a:p>
          <a:p>
            <a:pPr algn="ctr"/>
            <a:r>
              <a:rPr lang="en-GB" sz="2400" u="sng" dirty="0"/>
              <a:t>Pick the outlier from the set:</a:t>
            </a:r>
          </a:p>
          <a:p>
            <a:endParaRPr lang="en-AU" sz="2400" dirty="0"/>
          </a:p>
          <a:p>
            <a:pPr>
              <a:lnSpc>
                <a:spcPct val="150000"/>
              </a:lnSpc>
            </a:pPr>
            <a:r>
              <a:rPr lang="en-AU" sz="2400" dirty="0"/>
              <a:t>Set 1:                     1, 2, 3, 1, 2, 3, 8, 1, 2, 3, 1, 2, 3</a:t>
            </a:r>
          </a:p>
          <a:p>
            <a:pPr>
              <a:lnSpc>
                <a:spcPct val="150000"/>
              </a:lnSpc>
            </a:pPr>
            <a:r>
              <a:rPr lang="en-AU" sz="2400" dirty="0"/>
              <a:t>Set 2:                     10, 11, 14, 15, 16, 10, 15, 11, 14, 13, 1, 12, 13, 14</a:t>
            </a:r>
          </a:p>
          <a:p>
            <a:pPr>
              <a:lnSpc>
                <a:spcPct val="150000"/>
              </a:lnSpc>
            </a:pPr>
            <a:r>
              <a:rPr lang="en-AU" sz="2400" dirty="0"/>
              <a:t>Set 3:                     4, 31, 32, 34, 38, 45, 56, 48, 52, 29, 101, 41, 37, 35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798BEF-1642-339B-FB4A-5DCE0AB19FA5}"/>
              </a:ext>
            </a:extLst>
          </p:cNvPr>
          <p:cNvSpPr/>
          <p:nvPr/>
        </p:nvSpPr>
        <p:spPr>
          <a:xfrm>
            <a:off x="4347607" y="2070022"/>
            <a:ext cx="286101" cy="403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51F4DD-7DD3-1847-A265-9BC60A0B4103}"/>
              </a:ext>
            </a:extLst>
          </p:cNvPr>
          <p:cNvSpPr/>
          <p:nvPr/>
        </p:nvSpPr>
        <p:spPr>
          <a:xfrm>
            <a:off x="7069303" y="2592670"/>
            <a:ext cx="286101" cy="403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9549D6-A4CF-67E3-8E4B-205FEACAC1C8}"/>
              </a:ext>
            </a:extLst>
          </p:cNvPr>
          <p:cNvSpPr/>
          <p:nvPr/>
        </p:nvSpPr>
        <p:spPr>
          <a:xfrm>
            <a:off x="2599214" y="3208054"/>
            <a:ext cx="286101" cy="403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DE0D32-51BA-0BDA-0B5F-747D19A08F0E}"/>
              </a:ext>
            </a:extLst>
          </p:cNvPr>
          <p:cNvSpPr/>
          <p:nvPr/>
        </p:nvSpPr>
        <p:spPr>
          <a:xfrm>
            <a:off x="7047330" y="3192920"/>
            <a:ext cx="430555" cy="403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036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F8F4CC-AFDF-4446-7E38-1985C917705C}"/>
                  </a:ext>
                </a:extLst>
              </p:cNvPr>
              <p:cNvSpPr txBox="1"/>
              <p:nvPr/>
            </p:nvSpPr>
            <p:spPr>
              <a:xfrm>
                <a:off x="410451" y="437566"/>
                <a:ext cx="11371097" cy="3591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u="sng" dirty="0"/>
                  <a:t>Outlier</a:t>
                </a:r>
                <a:r>
                  <a:rPr lang="en-AU" sz="2400" dirty="0"/>
                  <a:t>: </a:t>
                </a:r>
                <a:r>
                  <a:rPr lang="en-GB" sz="2400" dirty="0"/>
                  <a:t>is a data point that lies outside the overall pattern in a distribution.</a:t>
                </a:r>
              </a:p>
              <a:p>
                <a:endParaRPr lang="en-GB" sz="2400" dirty="0"/>
              </a:p>
              <a:p>
                <a:endParaRPr lang="en-AU" sz="2400" dirty="0"/>
              </a:p>
              <a:p>
                <a:pPr>
                  <a:lnSpc>
                    <a:spcPct val="150000"/>
                  </a:lnSpc>
                </a:pPr>
                <a:r>
                  <a:rPr lang="en-AU" sz="2400" dirty="0"/>
                  <a:t>Set 1:                     1, 2, 3, 1, 2, 3, 8, 1, 2, 3, 1, 2, 3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sz="2400" dirty="0"/>
                  <a:t>Ordered set 1:     1, 1, 1, 1, 2, 2, 2, 2, 3, 3, 3, 3, 8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sz="2400" dirty="0"/>
                  <a:t>Mean: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=2.46</m:t>
                    </m:r>
                  </m:oMath>
                </a14:m>
                <a:endParaRPr lang="en-AU" sz="2400" dirty="0"/>
              </a:p>
              <a:p>
                <a:pPr>
                  <a:lnSpc>
                    <a:spcPct val="150000"/>
                  </a:lnSpc>
                </a:pPr>
                <a:r>
                  <a:rPr lang="en-AU" sz="2400" dirty="0"/>
                  <a:t>Median=2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F8F4CC-AFDF-4446-7E38-1985C9177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51" y="437566"/>
                <a:ext cx="11371097" cy="3591368"/>
              </a:xfrm>
              <a:prstGeom prst="rect">
                <a:avLst/>
              </a:prstGeom>
              <a:blipFill>
                <a:blip r:embed="rId2"/>
                <a:stretch>
                  <a:fillRect l="-804" t="-1358" b="-28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D78F8B-D730-A0D0-C634-773D083F8F60}"/>
                  </a:ext>
                </a:extLst>
              </p:cNvPr>
              <p:cNvSpPr txBox="1"/>
              <p:nvPr/>
            </p:nvSpPr>
            <p:spPr>
              <a:xfrm>
                <a:off x="6664462" y="2541247"/>
                <a:ext cx="4762734" cy="135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Without the outlier:</a:t>
                </a:r>
              </a:p>
              <a:p>
                <a:r>
                  <a:rPr lang="en-AU" sz="2400" dirty="0"/>
                  <a:t>Mean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AU" sz="2400" b="0" dirty="0"/>
              </a:p>
              <a:p>
                <a:r>
                  <a:rPr lang="en-AU" sz="2400" dirty="0"/>
                  <a:t>Median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D78F8B-D730-A0D0-C634-773D083F8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462" y="2541247"/>
                <a:ext cx="4762734" cy="1353319"/>
              </a:xfrm>
              <a:prstGeom prst="rect">
                <a:avLst/>
              </a:prstGeom>
              <a:blipFill>
                <a:blip r:embed="rId3"/>
                <a:stretch>
                  <a:fillRect l="-1918" t="-3604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E941FA9D-0804-1FC7-8C31-58155CDDC5B7}"/>
              </a:ext>
            </a:extLst>
          </p:cNvPr>
          <p:cNvSpPr/>
          <p:nvPr/>
        </p:nvSpPr>
        <p:spPr>
          <a:xfrm>
            <a:off x="6095999" y="2233250"/>
            <a:ext cx="314150" cy="38707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01888-D8BF-C9A0-0EB2-F4BA9858269E}"/>
              </a:ext>
            </a:extLst>
          </p:cNvPr>
          <p:cNvSpPr txBox="1"/>
          <p:nvPr/>
        </p:nvSpPr>
        <p:spPr>
          <a:xfrm>
            <a:off x="634845" y="4185858"/>
            <a:ext cx="8290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Which average is effected more by the outlier?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FF0000"/>
                </a:solidFill>
              </a:rPr>
              <a:t>The Mean</a:t>
            </a:r>
          </a:p>
          <a:p>
            <a:r>
              <a:rPr lang="en-AU" sz="2400" dirty="0"/>
              <a:t>What does the outlier do to the mean compared to the median?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FF0000"/>
                </a:solidFill>
              </a:rPr>
              <a:t>It increases it, skewing it positively</a:t>
            </a:r>
          </a:p>
        </p:txBody>
      </p:sp>
    </p:spTree>
    <p:extLst>
      <p:ext uri="{BB962C8B-B14F-4D97-AF65-F5344CB8AC3E}">
        <p14:creationId xmlns:p14="http://schemas.microsoft.com/office/powerpoint/2010/main" val="354638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9" grpId="0" animBg="1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F8F4CC-AFDF-4446-7E38-1985C917705C}"/>
                  </a:ext>
                </a:extLst>
              </p:cNvPr>
              <p:cNvSpPr txBox="1"/>
              <p:nvPr/>
            </p:nvSpPr>
            <p:spPr>
              <a:xfrm>
                <a:off x="410451" y="437566"/>
                <a:ext cx="11371097" cy="3588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u="sng" dirty="0"/>
                  <a:t>Outlier</a:t>
                </a:r>
                <a:r>
                  <a:rPr lang="en-AU" sz="2400" dirty="0"/>
                  <a:t>: </a:t>
                </a:r>
                <a:r>
                  <a:rPr lang="en-GB" sz="2400" dirty="0"/>
                  <a:t>is a data point that lies outside the overall pattern in a distribution.</a:t>
                </a:r>
              </a:p>
              <a:p>
                <a:endParaRPr lang="en-GB" sz="2400" dirty="0"/>
              </a:p>
              <a:p>
                <a:endParaRPr lang="en-AU" sz="2400" dirty="0"/>
              </a:p>
              <a:p>
                <a:pPr>
                  <a:lnSpc>
                    <a:spcPct val="150000"/>
                  </a:lnSpc>
                </a:pPr>
                <a:r>
                  <a:rPr lang="en-AU" sz="2400" dirty="0"/>
                  <a:t>Set 2:                     10, 11, 14, 15, 16, 10, 15, 11, 14, 13, 1, 12, 13, 14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sz="2400" dirty="0"/>
                  <a:t>ordered set 2:      1, 10, 10, 11, 11, 12, 13, 13, 14, 14, 14, 15, 15, 16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sz="2400" dirty="0"/>
                  <a:t>mean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=12.07</m:t>
                    </m:r>
                  </m:oMath>
                </a14:m>
                <a:endParaRPr lang="en-AU" sz="2400" b="0" dirty="0"/>
              </a:p>
              <a:p>
                <a:pPr>
                  <a:lnSpc>
                    <a:spcPct val="150000"/>
                  </a:lnSpc>
                </a:pPr>
                <a:r>
                  <a:rPr lang="en-AU" sz="2400" dirty="0"/>
                  <a:t>Median=13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F8F4CC-AFDF-4446-7E38-1985C9177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51" y="437566"/>
                <a:ext cx="11371097" cy="3588546"/>
              </a:xfrm>
              <a:prstGeom prst="rect">
                <a:avLst/>
              </a:prstGeom>
              <a:blipFill>
                <a:blip r:embed="rId2"/>
                <a:stretch>
                  <a:fillRect l="-804" t="-1361" b="-30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698E5ED9-11FF-FE0A-BB04-283C3E272F31}"/>
              </a:ext>
            </a:extLst>
          </p:cNvPr>
          <p:cNvSpPr/>
          <p:nvPr/>
        </p:nvSpPr>
        <p:spPr>
          <a:xfrm>
            <a:off x="2556205" y="2272519"/>
            <a:ext cx="314150" cy="38707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CBA781-4FEA-161C-F4D3-358F123F91FE}"/>
                  </a:ext>
                </a:extLst>
              </p:cNvPr>
              <p:cNvSpPr txBox="1"/>
              <p:nvPr/>
            </p:nvSpPr>
            <p:spPr>
              <a:xfrm>
                <a:off x="6664462" y="2640092"/>
                <a:ext cx="4762734" cy="1386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Without the outlier:</a:t>
                </a:r>
              </a:p>
              <a:p>
                <a:r>
                  <a:rPr lang="en-AU" sz="2400" dirty="0"/>
                  <a:t>Mean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168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=12.92</m:t>
                    </m:r>
                  </m:oMath>
                </a14:m>
                <a:endParaRPr lang="en-AU" sz="2400" b="0" dirty="0"/>
              </a:p>
              <a:p>
                <a:r>
                  <a:rPr lang="en-AU" sz="2400" dirty="0"/>
                  <a:t>Median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=13.5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CBA781-4FEA-161C-F4D3-358F123F9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462" y="2640092"/>
                <a:ext cx="4762734" cy="1386020"/>
              </a:xfrm>
              <a:prstGeom prst="rect">
                <a:avLst/>
              </a:prstGeom>
              <a:blipFill>
                <a:blip r:embed="rId3"/>
                <a:stretch>
                  <a:fillRect l="-1918" t="-3524" b="-70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A50BFE1-3CB0-8965-FA5F-C8205D7F9661}"/>
              </a:ext>
            </a:extLst>
          </p:cNvPr>
          <p:cNvSpPr txBox="1"/>
          <p:nvPr/>
        </p:nvSpPr>
        <p:spPr>
          <a:xfrm>
            <a:off x="634845" y="4185858"/>
            <a:ext cx="8290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Which average is effected more by the outlier?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FF0000"/>
                </a:solidFill>
              </a:rPr>
              <a:t>The Mean</a:t>
            </a:r>
          </a:p>
          <a:p>
            <a:r>
              <a:rPr lang="en-AU" sz="2400" dirty="0"/>
              <a:t>What does the outlier do to the mean compared to the median?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FF0000"/>
                </a:solidFill>
              </a:rPr>
              <a:t>It decreases it, skewing it negatively</a:t>
            </a:r>
          </a:p>
        </p:txBody>
      </p:sp>
    </p:spTree>
    <p:extLst>
      <p:ext uri="{BB962C8B-B14F-4D97-AF65-F5344CB8AC3E}">
        <p14:creationId xmlns:p14="http://schemas.microsoft.com/office/powerpoint/2010/main" val="11912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build="p"/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8F4CC-AFDF-4446-7E38-1985C917705C}"/>
              </a:ext>
            </a:extLst>
          </p:cNvPr>
          <p:cNvSpPr txBox="1"/>
          <p:nvPr/>
        </p:nvSpPr>
        <p:spPr>
          <a:xfrm>
            <a:off x="410451" y="437566"/>
            <a:ext cx="11371097" cy="2989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/>
              <a:t>Outlier</a:t>
            </a:r>
            <a:r>
              <a:rPr lang="en-AU" sz="2400" dirty="0"/>
              <a:t>: </a:t>
            </a:r>
            <a:r>
              <a:rPr lang="en-GB" sz="2400" dirty="0"/>
              <a:t>is a data point that lies outside the overall pattern in a distribution.</a:t>
            </a:r>
          </a:p>
          <a:p>
            <a:endParaRPr lang="en-GB" sz="2400" dirty="0"/>
          </a:p>
          <a:p>
            <a:pPr>
              <a:lnSpc>
                <a:spcPct val="150000"/>
              </a:lnSpc>
            </a:pPr>
            <a:r>
              <a:rPr lang="en-AU" sz="2400" dirty="0"/>
              <a:t>Set 3:                     4, 31, 32, 34, 38, 45, 56, 48, 52, 29, 101, 41, 37, 35</a:t>
            </a:r>
          </a:p>
          <a:p>
            <a:pPr>
              <a:lnSpc>
                <a:spcPct val="150000"/>
              </a:lnSpc>
            </a:pPr>
            <a:r>
              <a:rPr lang="en-AU" sz="2400" dirty="0"/>
              <a:t>Ordered set 3:     4, 29, 31, 32, 34, 35, 37, 38, 41, 45, 48, 52, 56, 101</a:t>
            </a:r>
          </a:p>
          <a:p>
            <a:pPr>
              <a:lnSpc>
                <a:spcPct val="150000"/>
              </a:lnSpc>
            </a:pPr>
            <a:r>
              <a:rPr lang="en-AU" sz="2400" dirty="0"/>
              <a:t>Mean: </a:t>
            </a:r>
          </a:p>
          <a:p>
            <a:pPr>
              <a:lnSpc>
                <a:spcPct val="150000"/>
              </a:lnSpc>
            </a:pPr>
            <a:r>
              <a:rPr lang="en-AU" sz="2400" dirty="0"/>
              <a:t>Median: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EFBE76-F407-790A-BAF0-BE7515DA9691}"/>
                  </a:ext>
                </a:extLst>
              </p:cNvPr>
              <p:cNvSpPr txBox="1"/>
              <p:nvPr/>
            </p:nvSpPr>
            <p:spPr>
              <a:xfrm>
                <a:off x="6664462" y="2640092"/>
                <a:ext cx="476273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Without the outlier:</a:t>
                </a:r>
              </a:p>
              <a:p>
                <a:r>
                  <a:rPr lang="en-AU" sz="2400" dirty="0"/>
                  <a:t>Mean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400" b="0" dirty="0"/>
              </a:p>
              <a:p>
                <a:r>
                  <a:rPr lang="en-AU" sz="2400" dirty="0"/>
                  <a:t>Median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EFBE76-F407-790A-BAF0-BE7515DA9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462" y="2640092"/>
                <a:ext cx="4762734" cy="1200329"/>
              </a:xfrm>
              <a:prstGeom prst="rect">
                <a:avLst/>
              </a:prstGeom>
              <a:blipFill>
                <a:blip r:embed="rId2"/>
                <a:stretch>
                  <a:fillRect l="-1918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65D2F2F-31F6-375E-25F9-185D902C898A}"/>
              </a:ext>
            </a:extLst>
          </p:cNvPr>
          <p:cNvSpPr txBox="1"/>
          <p:nvPr/>
        </p:nvSpPr>
        <p:spPr>
          <a:xfrm>
            <a:off x="634845" y="4185858"/>
            <a:ext cx="8290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Which average is </a:t>
            </a:r>
            <a:r>
              <a:rPr lang="en-AU" sz="2400"/>
              <a:t>effected more </a:t>
            </a:r>
            <a:r>
              <a:rPr lang="en-AU" sz="2400" dirty="0"/>
              <a:t>by the outlier?</a:t>
            </a:r>
          </a:p>
          <a:p>
            <a:endParaRPr lang="en-AU" sz="2400" dirty="0"/>
          </a:p>
          <a:p>
            <a:r>
              <a:rPr lang="en-AU" sz="2400" dirty="0"/>
              <a:t>What does the outlier do to the mean compared to the median?</a:t>
            </a:r>
          </a:p>
        </p:txBody>
      </p:sp>
    </p:spTree>
    <p:extLst>
      <p:ext uri="{BB962C8B-B14F-4D97-AF65-F5344CB8AC3E}">
        <p14:creationId xmlns:p14="http://schemas.microsoft.com/office/powerpoint/2010/main" val="274300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405A7-A774-F9CD-557B-1F73B1DD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43958-E40D-D9C7-B64D-14D9B8073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An outlier will skew the mean positively or negatively, depending on its value in relation to the data set.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If the outlier is smaller than the data set: negative skew 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If the outlier is larger than the data set: positive skew 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29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8E6E-27B0-DF9E-2E9D-7E94559D1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set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94E92-CE1A-75E1-CF6D-C76C40C04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Identify the outlier</a:t>
            </a:r>
          </a:p>
          <a:p>
            <a:pPr marL="514350" indent="-514350">
              <a:buAutoNum type="arabicPeriod"/>
            </a:pPr>
            <a:r>
              <a:rPr lang="en-US" dirty="0"/>
              <a:t>What will it affect? </a:t>
            </a:r>
          </a:p>
          <a:p>
            <a:pPr marL="514350" indent="-514350">
              <a:buAutoNum type="arabicPeriod"/>
            </a:pPr>
            <a:r>
              <a:rPr lang="en-US" dirty="0"/>
              <a:t>Positive or negative skew?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1, 2, 1, 3, 5, 3, 6, 7, 1, 7, 8, 9, 45, 1, 3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1, 2, 1, 3, 0.5, 3, 6, 7, 1, 7, 8, 9, 4,5, 1, 3 </a:t>
            </a:r>
          </a:p>
          <a:p>
            <a:pPr marL="0" indent="0" algn="ctr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275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702D35-CB84-9D9B-8ECC-23D19E58C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Complete HAESE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B5F35CE-D4B5-C370-4AB3-D04967F86D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Page 393 – 398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6619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1245</Words>
  <Application>Microsoft Office PowerPoint</Application>
  <PresentationFormat>Widescreen</PresentationFormat>
  <Paragraphs>184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Choral response </vt:lpstr>
      <vt:lpstr>Data set </vt:lpstr>
      <vt:lpstr>Complete HAESE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GALE Denham [Busselton Senior High School]</dc:creator>
  <cp:lastModifiedBy>DAVIES Rhys [Busselton Senior High School]</cp:lastModifiedBy>
  <cp:revision>8</cp:revision>
  <dcterms:created xsi:type="dcterms:W3CDTF">2022-11-02T00:37:29Z</dcterms:created>
  <dcterms:modified xsi:type="dcterms:W3CDTF">2022-11-07T00:25:55Z</dcterms:modified>
</cp:coreProperties>
</file>
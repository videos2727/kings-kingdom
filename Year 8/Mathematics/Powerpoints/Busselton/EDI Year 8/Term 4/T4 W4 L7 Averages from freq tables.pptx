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2" r:id="rId3"/>
    <p:sldId id="274" r:id="rId4"/>
    <p:sldId id="275" r:id="rId5"/>
    <p:sldId id="277" r:id="rId6"/>
    <p:sldId id="278" r:id="rId7"/>
    <p:sldId id="280" r:id="rId8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E77F-E9EA-C3CA-599A-4336C236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F80A-A8B6-9B1A-DCA2-D32C49945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86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Frequency tables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Construct frequency tables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Calculate mean, mode and median from frequency tables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MMM refresh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Tables 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75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Calculate the mean, median and mode of the following:</a:t>
            </a:r>
          </a:p>
          <a:p>
            <a:endParaRPr lang="en-GB" dirty="0"/>
          </a:p>
          <a:p>
            <a:pPr marL="514350" indent="-514350">
              <a:buFont typeface="+mj-lt"/>
              <a:buAutoNum type="alphaLcParenR"/>
            </a:pPr>
            <a:r>
              <a:rPr lang="en-GB" dirty="0"/>
              <a:t>5, 8, 2, 7, 8</a:t>
            </a:r>
          </a:p>
          <a:p>
            <a:pPr marL="514350" indent="-514350">
              <a:buFont typeface="+mj-lt"/>
              <a:buAutoNum type="alphaLcParenR"/>
            </a:pPr>
            <a:endParaRPr lang="en-GB" dirty="0"/>
          </a:p>
          <a:p>
            <a:pPr marL="514350" indent="-514350">
              <a:buFont typeface="+mj-lt"/>
              <a:buAutoNum type="alphaLcParenR"/>
            </a:pPr>
            <a:r>
              <a:rPr lang="en-GB" dirty="0"/>
              <a:t>15, 10, 15, 10, 6, 10, 8</a:t>
            </a:r>
          </a:p>
          <a:p>
            <a:pPr marL="514350" indent="-514350">
              <a:buFont typeface="+mj-lt"/>
              <a:buAutoNum type="alphaLcParenR"/>
            </a:pPr>
            <a:endParaRPr lang="en-GB" dirty="0"/>
          </a:p>
          <a:p>
            <a:pPr marL="514350" indent="-514350">
              <a:buFont typeface="+mj-lt"/>
              <a:buAutoNum type="alphaLcParenR"/>
            </a:pPr>
            <a:r>
              <a:rPr lang="en-GB" dirty="0"/>
              <a:t>9, 12, 20, 15, 10, 6</a:t>
            </a:r>
          </a:p>
        </p:txBody>
      </p:sp>
    </p:spTree>
    <p:extLst>
      <p:ext uri="{BB962C8B-B14F-4D97-AF65-F5344CB8AC3E}">
        <p14:creationId xmlns:p14="http://schemas.microsoft.com/office/powerpoint/2010/main" val="1381349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Below shows the number of pets owned by 50 people.</a:t>
            </a:r>
          </a:p>
          <a:p>
            <a:endParaRPr lang="en-GB" dirty="0"/>
          </a:p>
          <a:p>
            <a:r>
              <a:rPr lang="en-GB" dirty="0"/>
              <a:t>0 0 0 0 0 1 2 3 2 2 3 0 0 0 1 1 2 1 1 1 0 1 0 0 0 0 3 3 2 0 0 0 1 1 1 1 1 0 0 2 1 0 2 1 1 0 0 0 0 0</a:t>
            </a:r>
          </a:p>
          <a:p>
            <a:endParaRPr lang="en-GB" dirty="0"/>
          </a:p>
          <a:p>
            <a:r>
              <a:rPr lang="en-GB" dirty="0"/>
              <a:t>Calculate the mean number of pets owned.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827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0 0 0 0 0 1 2 3 2 2 3 0 0 0 1 1 2 1 1 1 0 1 0 0 0 0 3 3 2 0 0 0 1 1 1 1 1 0 0 2 1 0 2 1 1 0 0 0 0 0</a:t>
            </a:r>
          </a:p>
          <a:p>
            <a:endParaRPr lang="en-GB" dirty="0"/>
          </a:p>
          <a:p>
            <a:r>
              <a:rPr lang="en-GB" dirty="0"/>
              <a:t>We can put this information into a frequency table to make the calculation easier</a:t>
            </a: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51375"/>
              </p:ext>
            </p:extLst>
          </p:nvPr>
        </p:nvGraphicFramePr>
        <p:xfrm>
          <a:off x="899592" y="4437112"/>
          <a:ext cx="576064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148">
                  <a:extLst>
                    <a:ext uri="{9D8B030D-6E8A-4147-A177-3AD203B41FA5}">
                      <a16:colId xmlns:a16="http://schemas.microsoft.com/office/drawing/2014/main" val="206871707"/>
                    </a:ext>
                  </a:extLst>
                </a:gridCol>
                <a:gridCol w="1689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Number of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Tally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88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Year 9 did a French test and their results are below. Calculate the mean, mode and range of the data.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938210"/>
              </p:ext>
            </p:extLst>
          </p:nvPr>
        </p:nvGraphicFramePr>
        <p:xfrm>
          <a:off x="899592" y="3342600"/>
          <a:ext cx="58326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690">
                  <a:extLst>
                    <a:ext uri="{9D8B030D-6E8A-4147-A177-3AD203B41FA5}">
                      <a16:colId xmlns:a16="http://schemas.microsoft.com/office/drawing/2014/main" val="3360552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Mark (out of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 x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66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9288"/>
            <a:ext cx="8229600" cy="570007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GB" sz="2600" dirty="0"/>
              <a:t>The table below shows the number of people living in a house</a:t>
            </a:r>
          </a:p>
          <a:p>
            <a:pPr marL="514350" indent="-514350">
              <a:buFont typeface="+mj-lt"/>
              <a:buAutoNum type="alphaLcParenR"/>
            </a:pPr>
            <a:endParaRPr lang="en-GB" dirty="0"/>
          </a:p>
          <a:p>
            <a:pPr marL="514350" indent="-514350">
              <a:buFont typeface="+mj-lt"/>
              <a:buAutoNum type="alphaLcParenR"/>
            </a:pPr>
            <a:endParaRPr lang="en-GB" dirty="0"/>
          </a:p>
          <a:p>
            <a:pPr marL="514350" indent="-514350">
              <a:buFont typeface="+mj-lt"/>
              <a:buAutoNum type="alphaLcParenR"/>
            </a:pPr>
            <a:endParaRPr lang="en-GB" dirty="0"/>
          </a:p>
          <a:p>
            <a:pPr marL="0" indent="0">
              <a:buNone/>
            </a:pPr>
            <a:r>
              <a:rPr lang="en-GB" sz="2600" i="1" dirty="0">
                <a:solidFill>
                  <a:srgbClr val="FF0000"/>
                </a:solidFill>
              </a:rPr>
              <a:t>Calculate the mean number of people staying in a house.</a:t>
            </a:r>
          </a:p>
          <a:p>
            <a:pPr marL="0" indent="0">
              <a:buNone/>
            </a:pPr>
            <a:endParaRPr lang="en-GB" sz="2200" dirty="0"/>
          </a:p>
          <a:p>
            <a:pPr marL="514350" indent="-514350">
              <a:buAutoNum type="alphaLcParenR" startAt="2"/>
            </a:pPr>
            <a:r>
              <a:rPr lang="en-GB" sz="2200" dirty="0"/>
              <a:t>The table below shows the weights (to the nearest pound) of some new born babies</a:t>
            </a:r>
          </a:p>
          <a:p>
            <a:pPr marL="514350" indent="-514350">
              <a:buAutoNum type="alphaLcParenR" startAt="2"/>
            </a:pPr>
            <a:endParaRPr lang="en-GB" dirty="0"/>
          </a:p>
          <a:p>
            <a:pPr marL="514350" indent="-514350">
              <a:buAutoNum type="alphaLcParenR" startAt="2"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 </a:t>
            </a:r>
            <a:r>
              <a:rPr lang="en-GB" sz="2600" i="1" dirty="0">
                <a:solidFill>
                  <a:srgbClr val="FF0000"/>
                </a:solidFill>
              </a:rPr>
              <a:t>Calculate the mean weight of a new born baby.</a:t>
            </a:r>
            <a:endParaRPr lang="en-GB" i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10803"/>
              </p:ext>
            </p:extLst>
          </p:nvPr>
        </p:nvGraphicFramePr>
        <p:xfrm>
          <a:off x="1907704" y="1412776"/>
          <a:ext cx="6094901" cy="1364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6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6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6925">
                  <a:extLst>
                    <a:ext uri="{9D8B030D-6E8A-4147-A177-3AD203B41FA5}">
                      <a16:colId xmlns:a16="http://schemas.microsoft.com/office/drawing/2014/main" val="512845699"/>
                    </a:ext>
                  </a:extLst>
                </a:gridCol>
              </a:tblGrid>
              <a:tr h="4547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 err="1">
                          <a:effectLst/>
                        </a:rPr>
                        <a:t>no.of</a:t>
                      </a:r>
                      <a:r>
                        <a:rPr lang="en-GB" sz="2400" u="none" strike="noStrike" dirty="0">
                          <a:effectLst/>
                        </a:rPr>
                        <a:t> people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2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3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4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5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6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7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frequency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4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7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3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12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11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7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effectLst/>
                          <a:latin typeface="Arial"/>
                        </a:rPr>
                        <a:t>P x f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17631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0223"/>
              </p:ext>
            </p:extLst>
          </p:nvPr>
        </p:nvGraphicFramePr>
        <p:xfrm>
          <a:off x="488094" y="4896584"/>
          <a:ext cx="7684309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9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2905">
                  <a:extLst>
                    <a:ext uri="{9D8B030D-6E8A-4147-A177-3AD203B41FA5}">
                      <a16:colId xmlns:a16="http://schemas.microsoft.com/office/drawing/2014/main" val="3054237133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Weight (</a:t>
                      </a:r>
                      <a:r>
                        <a:rPr lang="en-GB" sz="2400" u="none" strike="noStrike" dirty="0" err="1">
                          <a:effectLst/>
                        </a:rPr>
                        <a:t>lbs</a:t>
                      </a:r>
                      <a:r>
                        <a:rPr lang="en-GB" sz="2400" u="none" strike="noStrike" dirty="0">
                          <a:effectLst/>
                        </a:rPr>
                        <a:t>)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3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4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6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7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8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9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10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11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12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frequency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2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13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40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52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22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12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3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0</a:t>
                      </a:r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</a:t>
                      </a:r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effectLst/>
                          <a:latin typeface="Arial"/>
                        </a:rPr>
                        <a:t>W x f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1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90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67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/>
          </a:bodyPr>
          <a:lstStyle/>
          <a:p>
            <a:r>
              <a:rPr lang="en-GB" dirty="0"/>
              <a:t>How many brothers and sisters do you have?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Calculate the mean number of siblings in this class.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55172"/>
              </p:ext>
            </p:extLst>
          </p:nvPr>
        </p:nvGraphicFramePr>
        <p:xfrm>
          <a:off x="827584" y="1916832"/>
          <a:ext cx="7303453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 of siblings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 x no. of siblings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96448"/>
              </p:ext>
            </p:extLst>
          </p:nvPr>
        </p:nvGraphicFramePr>
        <p:xfrm>
          <a:off x="827584" y="1916832"/>
          <a:ext cx="4572000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 of siblings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33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723</TotalTime>
  <Words>422</Words>
  <Application>Microsoft Office PowerPoint</Application>
  <PresentationFormat>On-screen Show (4:3)</PresentationFormat>
  <Paragraphs>136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Lesson </vt:lpstr>
      <vt:lpstr>Starter</vt:lpstr>
      <vt:lpstr>Averages</vt:lpstr>
      <vt:lpstr>Averages</vt:lpstr>
      <vt:lpstr>Averages</vt:lpstr>
      <vt:lpstr>Averages</vt:lpstr>
      <vt:lpstr>Starter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</dc:title>
  <dc:creator>Daniel</dc:creator>
  <cp:lastModifiedBy>DAVIES Rhys [Busselton Senior High School]</cp:lastModifiedBy>
  <cp:revision>39</cp:revision>
  <cp:lastPrinted>2022-11-01T23:59:52Z</cp:lastPrinted>
  <dcterms:created xsi:type="dcterms:W3CDTF">2011-02-06T22:14:33Z</dcterms:created>
  <dcterms:modified xsi:type="dcterms:W3CDTF">2022-11-02T02:31:48Z</dcterms:modified>
</cp:coreProperties>
</file>
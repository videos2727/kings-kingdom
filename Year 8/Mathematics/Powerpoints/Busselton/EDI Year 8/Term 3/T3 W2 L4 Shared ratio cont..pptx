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322" r:id="rId2"/>
    <p:sldId id="323" r:id="rId3"/>
    <p:sldId id="397" r:id="rId4"/>
    <p:sldId id="398" r:id="rId5"/>
    <p:sldId id="399" r:id="rId6"/>
    <p:sldId id="400" r:id="rId7"/>
    <p:sldId id="365" r:id="rId8"/>
    <p:sldId id="361" r:id="rId9"/>
    <p:sldId id="329" r:id="rId10"/>
    <p:sldId id="363" r:id="rId11"/>
    <p:sldId id="331" r:id="rId12"/>
    <p:sldId id="333" r:id="rId13"/>
    <p:sldId id="353" r:id="rId14"/>
    <p:sldId id="411" r:id="rId15"/>
    <p:sldId id="367" r:id="rId16"/>
    <p:sldId id="401" r:id="rId17"/>
    <p:sldId id="403" r:id="rId18"/>
    <p:sldId id="376" r:id="rId19"/>
    <p:sldId id="404" r:id="rId20"/>
    <p:sldId id="405" r:id="rId21"/>
    <p:sldId id="410"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sson Plan" id="{9A45E0D3-98D0-334F-8A38-475A6087A733}">
          <p14:sldIdLst>
            <p14:sldId id="322"/>
          </p14:sldIdLst>
        </p14:section>
        <p14:section name="Lesson Content" id="{7F8F0CF0-F944-DA4D-A19F-C6EACB7ED8F3}">
          <p14:sldIdLst>
            <p14:sldId id="323"/>
            <p14:sldId id="397"/>
            <p14:sldId id="398"/>
            <p14:sldId id="399"/>
            <p14:sldId id="400"/>
            <p14:sldId id="365"/>
            <p14:sldId id="361"/>
            <p14:sldId id="329"/>
            <p14:sldId id="363"/>
            <p14:sldId id="331"/>
            <p14:sldId id="333"/>
            <p14:sldId id="353"/>
            <p14:sldId id="411"/>
            <p14:sldId id="367"/>
          </p14:sldIdLst>
        </p14:section>
        <p14:section name="Student Resources" id="{8439B795-A8BE-8F4A-84D6-54A3EF025D57}">
          <p14:sldIdLst>
            <p14:sldId id="401"/>
            <p14:sldId id="403"/>
            <p14:sldId id="376"/>
            <p14:sldId id="404"/>
            <p14:sldId id="405"/>
            <p14:sldId id="41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734"/>
    <a:srgbClr val="E679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3" autoAdjust="0"/>
    <p:restoredTop sz="94660"/>
  </p:normalViewPr>
  <p:slideViewPr>
    <p:cSldViewPr snapToGrid="0">
      <p:cViewPr varScale="1">
        <p:scale>
          <a:sx n="86" d="100"/>
          <a:sy n="86" d="100"/>
        </p:scale>
        <p:origin x="658" y="53"/>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B5816E-9854-4624-9FCC-2BFE8417AB4A}" type="datetimeFigureOut">
              <a:rPr lang="en-GB" smtClean="0"/>
              <a:pPr/>
              <a:t>26/07/2022</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2C33D5-DD1B-48A4-8220-07294736B45B}" type="slidenum">
              <a:rPr lang="en-GB" smtClean="0"/>
              <a:pPr/>
              <a:t>‹#›</a:t>
            </a:fld>
            <a:endParaRPr lang="en-GB"/>
          </a:p>
        </p:txBody>
      </p:sp>
    </p:spTree>
    <p:extLst>
      <p:ext uri="{BB962C8B-B14F-4D97-AF65-F5344CB8AC3E}">
        <p14:creationId xmlns:p14="http://schemas.microsoft.com/office/powerpoint/2010/main" val="2639968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a:t>
            </a:r>
          </a:p>
          <a:p>
            <a:r>
              <a:rPr lang="en-US" dirty="0"/>
              <a:t>P: K</a:t>
            </a:r>
          </a:p>
          <a:p>
            <a:r>
              <a:rPr lang="en-US" dirty="0"/>
              <a:t>3: 8</a:t>
            </a:r>
          </a:p>
          <a:p>
            <a:r>
              <a:rPr lang="en-US" dirty="0"/>
              <a:t>?: 32</a:t>
            </a:r>
          </a:p>
          <a:p>
            <a:endParaRPr lang="en-US" dirty="0"/>
          </a:p>
          <a:p>
            <a:r>
              <a:rPr lang="en-US" dirty="0"/>
              <a:t>X4</a:t>
            </a:r>
            <a:r>
              <a:rPr lang="en-US" baseline="0" dirty="0"/>
              <a:t> so = 12</a:t>
            </a:r>
            <a:endParaRPr lang="en-US" dirty="0"/>
          </a:p>
        </p:txBody>
      </p:sp>
      <p:sp>
        <p:nvSpPr>
          <p:cNvPr id="4" name="Slide Number Placeholder 3"/>
          <p:cNvSpPr>
            <a:spLocks noGrp="1"/>
          </p:cNvSpPr>
          <p:nvPr>
            <p:ph type="sldNum" sz="quarter" idx="10"/>
          </p:nvPr>
        </p:nvSpPr>
        <p:spPr/>
        <p:txBody>
          <a:bodyPr/>
          <a:lstStyle/>
          <a:p>
            <a:fld id="{3EFCD158-57C5-F143-BD30-9669EF409EA0}" type="slidenum">
              <a:rPr lang="en-US" smtClean="0"/>
              <a:t>8</a:t>
            </a:fld>
            <a:endParaRPr lang="en-US"/>
          </a:p>
        </p:txBody>
      </p:sp>
    </p:spTree>
    <p:extLst>
      <p:ext uri="{BB962C8B-B14F-4D97-AF65-F5344CB8AC3E}">
        <p14:creationId xmlns:p14="http://schemas.microsoft.com/office/powerpoint/2010/main" val="1299546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a:t>
            </a:r>
          </a:p>
        </p:txBody>
      </p:sp>
      <p:sp>
        <p:nvSpPr>
          <p:cNvPr id="4" name="Slide Number Placeholder 3"/>
          <p:cNvSpPr>
            <a:spLocks noGrp="1"/>
          </p:cNvSpPr>
          <p:nvPr>
            <p:ph type="sldNum" sz="quarter" idx="10"/>
          </p:nvPr>
        </p:nvSpPr>
        <p:spPr/>
        <p:txBody>
          <a:bodyPr/>
          <a:lstStyle/>
          <a:p>
            <a:fld id="{3EFCD158-57C5-F143-BD30-9669EF409EA0}" type="slidenum">
              <a:rPr lang="en-US" smtClean="0"/>
              <a:t>9</a:t>
            </a:fld>
            <a:endParaRPr lang="en-US"/>
          </a:p>
        </p:txBody>
      </p:sp>
    </p:spTree>
    <p:extLst>
      <p:ext uri="{BB962C8B-B14F-4D97-AF65-F5344CB8AC3E}">
        <p14:creationId xmlns:p14="http://schemas.microsoft.com/office/powerpoint/2010/main" val="2691004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a:t>
            </a:r>
          </a:p>
        </p:txBody>
      </p:sp>
      <p:sp>
        <p:nvSpPr>
          <p:cNvPr id="4" name="Slide Number Placeholder 3"/>
          <p:cNvSpPr>
            <a:spLocks noGrp="1"/>
          </p:cNvSpPr>
          <p:nvPr>
            <p:ph type="sldNum" sz="quarter" idx="10"/>
          </p:nvPr>
        </p:nvSpPr>
        <p:spPr/>
        <p:txBody>
          <a:bodyPr/>
          <a:lstStyle/>
          <a:p>
            <a:fld id="{3EFCD158-57C5-F143-BD30-9669EF409EA0}" type="slidenum">
              <a:rPr lang="en-US" smtClean="0"/>
              <a:t>10</a:t>
            </a:fld>
            <a:endParaRPr lang="en-US"/>
          </a:p>
        </p:txBody>
      </p:sp>
    </p:spTree>
    <p:extLst>
      <p:ext uri="{BB962C8B-B14F-4D97-AF65-F5344CB8AC3E}">
        <p14:creationId xmlns:p14="http://schemas.microsoft.com/office/powerpoint/2010/main" val="10724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a:t>
            </a:r>
          </a:p>
        </p:txBody>
      </p:sp>
      <p:sp>
        <p:nvSpPr>
          <p:cNvPr id="4" name="Slide Number Placeholder 3"/>
          <p:cNvSpPr>
            <a:spLocks noGrp="1"/>
          </p:cNvSpPr>
          <p:nvPr>
            <p:ph type="sldNum" sz="quarter" idx="10"/>
          </p:nvPr>
        </p:nvSpPr>
        <p:spPr/>
        <p:txBody>
          <a:bodyPr/>
          <a:lstStyle/>
          <a:p>
            <a:fld id="{3EFCD158-57C5-F143-BD30-9669EF409EA0}" type="slidenum">
              <a:rPr lang="en-US" smtClean="0"/>
              <a:t>11</a:t>
            </a:fld>
            <a:endParaRPr lang="en-US"/>
          </a:p>
        </p:txBody>
      </p:sp>
    </p:spTree>
    <p:extLst>
      <p:ext uri="{BB962C8B-B14F-4D97-AF65-F5344CB8AC3E}">
        <p14:creationId xmlns:p14="http://schemas.microsoft.com/office/powerpoint/2010/main" val="1707793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a:t>
            </a:r>
          </a:p>
          <a:p>
            <a:r>
              <a:rPr lang="en-US" dirty="0"/>
              <a:t>P: K</a:t>
            </a:r>
          </a:p>
          <a:p>
            <a:r>
              <a:rPr lang="en-US" dirty="0"/>
              <a:t>3: 8</a:t>
            </a:r>
          </a:p>
          <a:p>
            <a:r>
              <a:rPr lang="en-US" dirty="0"/>
              <a:t>?: 32</a:t>
            </a:r>
          </a:p>
          <a:p>
            <a:endParaRPr lang="en-US" dirty="0"/>
          </a:p>
          <a:p>
            <a:r>
              <a:rPr lang="en-US" dirty="0"/>
              <a:t>X4</a:t>
            </a:r>
            <a:r>
              <a:rPr lang="en-US" baseline="0" dirty="0"/>
              <a:t> so = 12</a:t>
            </a:r>
            <a:endParaRPr lang="en-US" dirty="0"/>
          </a:p>
        </p:txBody>
      </p:sp>
      <p:sp>
        <p:nvSpPr>
          <p:cNvPr id="4" name="Slide Number Placeholder 3"/>
          <p:cNvSpPr>
            <a:spLocks noGrp="1"/>
          </p:cNvSpPr>
          <p:nvPr>
            <p:ph type="sldNum" sz="quarter" idx="10"/>
          </p:nvPr>
        </p:nvSpPr>
        <p:spPr/>
        <p:txBody>
          <a:bodyPr/>
          <a:lstStyle/>
          <a:p>
            <a:fld id="{3EFCD158-57C5-F143-BD30-9669EF409EA0}" type="slidenum">
              <a:rPr lang="en-US" smtClean="0"/>
              <a:t>18</a:t>
            </a:fld>
            <a:endParaRPr lang="en-US"/>
          </a:p>
        </p:txBody>
      </p:sp>
    </p:spTree>
    <p:extLst>
      <p:ext uri="{BB962C8B-B14F-4D97-AF65-F5344CB8AC3E}">
        <p14:creationId xmlns:p14="http://schemas.microsoft.com/office/powerpoint/2010/main" val="1805964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FB5BFB-31C5-4BCE-A275-9F6A028C7FDD}" type="datetimeFigureOut">
              <a:rPr lang="en-GB" smtClean="0"/>
              <a:pPr/>
              <a:t>26/07/2022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3739069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FB5BFB-31C5-4BCE-A275-9F6A028C7FDD}" type="datetimeFigureOut">
              <a:rPr lang="en-GB" smtClean="0"/>
              <a:pPr/>
              <a:t>26/07/2022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2177446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DFB5BFB-31C5-4BCE-A275-9F6A028C7FDD}" type="datetimeFigureOut">
              <a:rPr lang="en-GB" smtClean="0"/>
              <a:pPr/>
              <a:t>26/07/2022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612323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FB5BFB-31C5-4BCE-A275-9F6A028C7FDD}" type="datetimeFigureOut">
              <a:rPr lang="en-GB" smtClean="0"/>
              <a:pPr/>
              <a:t>26/07/2022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998738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FB5BFB-31C5-4BCE-A275-9F6A028C7FDD}" type="datetimeFigureOut">
              <a:rPr lang="en-GB" smtClean="0"/>
              <a:pPr/>
              <a:t>26/07/2022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1430085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FB5BFB-31C5-4BCE-A275-9F6A028C7FDD}" type="datetimeFigureOut">
              <a:rPr lang="en-GB" smtClean="0"/>
              <a:pPr/>
              <a:t>26/07/2022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3527406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FB5BFB-31C5-4BCE-A275-9F6A028C7FDD}" type="datetimeFigureOut">
              <a:rPr lang="en-GB" smtClean="0"/>
              <a:pPr/>
              <a:t>26/07/2022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3404737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DFB5BFB-31C5-4BCE-A275-9F6A028C7FDD}" type="datetimeFigureOut">
              <a:rPr lang="en-GB" smtClean="0"/>
              <a:pPr/>
              <a:t>26/07/2022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3628143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DFB5BFB-31C5-4BCE-A275-9F6A028C7FDD}" type="datetimeFigureOut">
              <a:rPr lang="en-GB" smtClean="0"/>
              <a:pPr/>
              <a:t>26/07/2022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1019349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FB5BFB-31C5-4BCE-A275-9F6A028C7FDD}" type="datetimeFigureOut">
              <a:rPr lang="en-GB" smtClean="0"/>
              <a:pPr/>
              <a:t>26/07/2022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3422302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FB5BFB-31C5-4BCE-A275-9F6A028C7FDD}" type="datetimeFigureOut">
              <a:rPr lang="en-GB" smtClean="0"/>
              <a:pPr/>
              <a:t>26/07/2022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34B555-C9EB-4623-91D5-B1E16899B696}" type="slidenum">
              <a:rPr lang="en-GB" smtClean="0"/>
              <a:pPr/>
              <a:t>‹#›</a:t>
            </a:fld>
            <a:endParaRPr lang="en-GB"/>
          </a:p>
        </p:txBody>
      </p:sp>
    </p:spTree>
    <p:extLst>
      <p:ext uri="{BB962C8B-B14F-4D97-AF65-F5344CB8AC3E}">
        <p14:creationId xmlns:p14="http://schemas.microsoft.com/office/powerpoint/2010/main" val="2167766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FB5BFB-31C5-4BCE-A275-9F6A028C7FDD}" type="datetimeFigureOut">
              <a:rPr lang="en-GB" smtClean="0"/>
              <a:pPr/>
              <a:t>26/07/2022</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34B555-C9EB-4623-91D5-B1E16899B696}" type="slidenum">
              <a:rPr lang="en-GB" smtClean="0"/>
              <a:pPr/>
              <a:t>‹#›</a:t>
            </a:fld>
            <a:endParaRPr lang="en-GB"/>
          </a:p>
        </p:txBody>
      </p:sp>
      <p:pic>
        <p:nvPicPr>
          <p:cNvPr id="7" name="Picture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40226" y="114491"/>
            <a:ext cx="1503774" cy="1092833"/>
          </a:xfrm>
          <a:prstGeom prst="rect">
            <a:avLst/>
          </a:prstGeom>
        </p:spPr>
      </p:pic>
    </p:spTree>
    <p:extLst>
      <p:ext uri="{BB962C8B-B14F-4D97-AF65-F5344CB8AC3E}">
        <p14:creationId xmlns:p14="http://schemas.microsoft.com/office/powerpoint/2010/main" val="11378060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71858012"/>
              </p:ext>
            </p:extLst>
          </p:nvPr>
        </p:nvGraphicFramePr>
        <p:xfrm>
          <a:off x="526591" y="1237069"/>
          <a:ext cx="8151778" cy="4068455"/>
        </p:xfrm>
        <a:graphic>
          <a:graphicData uri="http://schemas.openxmlformats.org/drawingml/2006/table">
            <a:tbl>
              <a:tblPr firstRow="1" bandRow="1">
                <a:tableStyleId>{5C22544A-7EE6-4342-B048-85BDC9FD1C3A}</a:tableStyleId>
              </a:tblPr>
              <a:tblGrid>
                <a:gridCol w="1139596">
                  <a:extLst>
                    <a:ext uri="{9D8B030D-6E8A-4147-A177-3AD203B41FA5}">
                      <a16:colId xmlns:a16="http://schemas.microsoft.com/office/drawing/2014/main" val="20000"/>
                    </a:ext>
                  </a:extLst>
                </a:gridCol>
                <a:gridCol w="1856523">
                  <a:extLst>
                    <a:ext uri="{9D8B030D-6E8A-4147-A177-3AD203B41FA5}">
                      <a16:colId xmlns:a16="http://schemas.microsoft.com/office/drawing/2014/main" val="20001"/>
                    </a:ext>
                  </a:extLst>
                </a:gridCol>
                <a:gridCol w="894944">
                  <a:extLst>
                    <a:ext uri="{9D8B030D-6E8A-4147-A177-3AD203B41FA5}">
                      <a16:colId xmlns:a16="http://schemas.microsoft.com/office/drawing/2014/main" val="20002"/>
                    </a:ext>
                  </a:extLst>
                </a:gridCol>
                <a:gridCol w="1798832">
                  <a:extLst>
                    <a:ext uri="{9D8B030D-6E8A-4147-A177-3AD203B41FA5}">
                      <a16:colId xmlns:a16="http://schemas.microsoft.com/office/drawing/2014/main" val="20003"/>
                    </a:ext>
                  </a:extLst>
                </a:gridCol>
                <a:gridCol w="841926">
                  <a:extLst>
                    <a:ext uri="{9D8B030D-6E8A-4147-A177-3AD203B41FA5}">
                      <a16:colId xmlns:a16="http://schemas.microsoft.com/office/drawing/2014/main" val="20004"/>
                    </a:ext>
                  </a:extLst>
                </a:gridCol>
                <a:gridCol w="618008">
                  <a:extLst>
                    <a:ext uri="{9D8B030D-6E8A-4147-A177-3AD203B41FA5}">
                      <a16:colId xmlns:a16="http://schemas.microsoft.com/office/drawing/2014/main" val="20005"/>
                    </a:ext>
                  </a:extLst>
                </a:gridCol>
                <a:gridCol w="544749">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tblGrid>
              <a:tr h="269369">
                <a:tc gridSpan="8">
                  <a:txBody>
                    <a:bodyPr/>
                    <a:lstStyle/>
                    <a:p>
                      <a:r>
                        <a:rPr lang="en-US" sz="1200" b="1" dirty="0">
                          <a:solidFill>
                            <a:schemeClr val="tx1"/>
                          </a:solidFill>
                          <a:latin typeface="+mn-lt"/>
                          <a:ea typeface="Arial" charset="0"/>
                          <a:cs typeface="Arial" charset="0"/>
                        </a:rPr>
                        <a:t>Lesson Overview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39590">
                <a:tc>
                  <a:txBody>
                    <a:bodyPr/>
                    <a:lstStyle/>
                    <a:p>
                      <a:r>
                        <a:rPr lang="en-US" sz="800" b="1" dirty="0">
                          <a:latin typeface="+mn-lt"/>
                        </a:rPr>
                        <a:t>Objective(s)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5">
                  <a:txBody>
                    <a:bodyPr/>
                    <a:lstStyle/>
                    <a:p>
                      <a:r>
                        <a:rPr lang="en-US" sz="800" dirty="0"/>
                        <a:t>Divide a quantity in a given ratio</a:t>
                      </a:r>
                      <a:endParaRPr lang="en-GB"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hMerge="1">
                  <a:txBody>
                    <a:bodyPr/>
                    <a:lstStyle/>
                    <a:p>
                      <a:endParaRPr lang="en-US"/>
                    </a:p>
                  </a:txBody>
                  <a:tcPr/>
                </a:tc>
                <a:tc hMerge="1">
                  <a:txBody>
                    <a:bodyPr/>
                    <a:lstStyle/>
                    <a:p>
                      <a:endParaRPr lang="en-US" sz="11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a:txBody>
                    <a:bodyPr/>
                    <a:lstStyle/>
                    <a:p>
                      <a:r>
                        <a:rPr lang="en-US" sz="800" b="1" dirty="0">
                          <a:latin typeface="+mn-lt"/>
                        </a:rPr>
                        <a:t>Grade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800" dirty="0">
                          <a:latin typeface="+mn-lt"/>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38378">
                <a:tc>
                  <a:txBody>
                    <a:bodyPr/>
                    <a:lstStyle/>
                    <a:p>
                      <a:r>
                        <a:rPr lang="en-US" sz="800" b="1" dirty="0">
                          <a:latin typeface="+mn-lt"/>
                        </a:rPr>
                        <a:t>Prior</a:t>
                      </a:r>
                      <a:r>
                        <a:rPr lang="en-US" sz="800" b="1" baseline="0" dirty="0">
                          <a:latin typeface="+mn-lt"/>
                        </a:rPr>
                        <a:t> Knowledge</a:t>
                      </a:r>
                      <a:endParaRPr lang="en-US" sz="800"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r>
                        <a:rPr lang="en-US" sz="800" dirty="0"/>
                        <a:t>Basic</a:t>
                      </a:r>
                      <a:r>
                        <a:rPr lang="en-US" sz="800" baseline="0" dirty="0"/>
                        <a:t> operations</a:t>
                      </a:r>
                    </a:p>
                    <a:p>
                      <a:r>
                        <a:rPr lang="en-US" sz="800" baseline="0" dirty="0"/>
                        <a:t>Simplifying ratios</a:t>
                      </a:r>
                      <a:endParaRPr 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46616">
                <a:tc>
                  <a:txBody>
                    <a:bodyPr/>
                    <a:lstStyle/>
                    <a:p>
                      <a:r>
                        <a:rPr lang="en-US" sz="800" b="1" dirty="0">
                          <a:solidFill>
                            <a:schemeClr val="tx1"/>
                          </a:solidFill>
                          <a:latin typeface="+mn-lt"/>
                        </a:rPr>
                        <a:t>Duration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r>
                        <a:rPr lang="en-US" sz="800" dirty="0">
                          <a:solidFill>
                            <a:schemeClr val="tx1"/>
                          </a:solidFill>
                        </a:rPr>
                        <a:t>Suggested</a:t>
                      </a:r>
                      <a:r>
                        <a:rPr lang="en-US" sz="800" baseline="0" dirty="0">
                          <a:solidFill>
                            <a:schemeClr val="tx1"/>
                          </a:solidFill>
                        </a:rPr>
                        <a:t> duration is 60 minutes for this objective</a:t>
                      </a:r>
                      <a:endParaRPr lang="en-US" sz="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248354">
                <a:tc>
                  <a:txBody>
                    <a:bodyPr/>
                    <a:lstStyle/>
                    <a:p>
                      <a:r>
                        <a:rPr lang="en-US" sz="800" b="1" dirty="0">
                          <a:latin typeface="+mn-lt"/>
                        </a:rPr>
                        <a:t>Resources</a:t>
                      </a:r>
                      <a:r>
                        <a:rPr lang="en-US" sz="800" b="1" baseline="0" dirty="0">
                          <a:latin typeface="+mn-lt"/>
                        </a:rPr>
                        <a:t> </a:t>
                      </a:r>
                      <a:endParaRPr lang="en-US" sz="800"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3">
                  <a:txBody>
                    <a:bodyPr/>
                    <a:lstStyle/>
                    <a:p>
                      <a:r>
                        <a:rPr lang="en-US" sz="800" dirty="0"/>
                        <a:t>Print slides:</a:t>
                      </a:r>
                      <a:r>
                        <a:rPr lang="en-US" sz="800" baseline="0" dirty="0"/>
                        <a:t> 25 - 30</a:t>
                      </a:r>
                      <a:endParaRPr lang="en-US" sz="8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tc>
                <a:tc hMerge="1">
                  <a:txBody>
                    <a:bodyPr/>
                    <a:lstStyle/>
                    <a:p>
                      <a:endParaRPr lang="en-US"/>
                    </a:p>
                  </a:txBody>
                  <a:tcPr/>
                </a:tc>
                <a:tc>
                  <a:txBody>
                    <a:bodyPr/>
                    <a:lstStyle/>
                    <a:p>
                      <a:r>
                        <a:rPr lang="en-US" sz="800" b="1" dirty="0">
                          <a:latin typeface="+mn-lt"/>
                        </a:rPr>
                        <a:t>Equipment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3">
                  <a:txBody>
                    <a:bodyPr/>
                    <a:lstStyle/>
                    <a:p>
                      <a:endParaRPr 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269369">
                <a:tc gridSpan="8">
                  <a:txBody>
                    <a:bodyPr/>
                    <a:lstStyle/>
                    <a:p>
                      <a:r>
                        <a:rPr lang="en-US" sz="1200" b="1" dirty="0">
                          <a:latin typeface="+mn-lt"/>
                        </a:rPr>
                        <a:t>Progression of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364147">
                <a:tc gridSpan="2">
                  <a:txBody>
                    <a:bodyPr/>
                    <a:lstStyle/>
                    <a:p>
                      <a:r>
                        <a:rPr lang="en-US" sz="1200" b="1" u="sng" dirty="0">
                          <a:latin typeface="+mn-lt"/>
                        </a:rPr>
                        <a:t>What</a:t>
                      </a:r>
                      <a:r>
                        <a:rPr lang="en-US" sz="1200" baseline="0" dirty="0">
                          <a:latin typeface="+mn-lt"/>
                        </a:rPr>
                        <a:t> are the students learning?</a:t>
                      </a:r>
                      <a:endParaRPr lang="en-US" sz="12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hMerge="1">
                  <a:txBody>
                    <a:bodyPr/>
                    <a:lstStyle/>
                    <a:p>
                      <a:endParaRPr lang="en-US"/>
                    </a:p>
                  </a:txBody>
                  <a:tcPr/>
                </a:tc>
                <a:tc gridSpan="6">
                  <a:txBody>
                    <a:bodyPr/>
                    <a:lstStyle/>
                    <a:p>
                      <a:r>
                        <a:rPr lang="en-US" sz="1200" b="1" u="sng" dirty="0">
                          <a:latin typeface="+mn-lt"/>
                        </a:rPr>
                        <a:t>How</a:t>
                      </a:r>
                      <a:r>
                        <a:rPr lang="en-US" sz="1200" dirty="0">
                          <a:latin typeface="+mn-lt"/>
                        </a:rPr>
                        <a:t> are the students learning?</a:t>
                      </a:r>
                      <a:r>
                        <a:rPr lang="en-US" sz="1200" baseline="0" dirty="0">
                          <a:latin typeface="+mn-lt"/>
                        </a:rPr>
                        <a:t> (Activities &amp; Differentiation)</a:t>
                      </a:r>
                      <a:endParaRPr lang="en-US" sz="12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hMerge="1">
                  <a:txBody>
                    <a:bodyPr/>
                    <a:lstStyle/>
                    <a:p>
                      <a:endParaRPr lang="en-US"/>
                    </a:p>
                  </a:txBody>
                  <a:tcPr/>
                </a:tc>
                <a:tc hMerge="1">
                  <a:txBody>
                    <a:bodyPr/>
                    <a:lstStyle/>
                    <a:p>
                      <a:endParaRPr lang="en-US" dirty="0"/>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355974">
                <a:tc gridSpan="2">
                  <a:txBody>
                    <a:bodyPr/>
                    <a:lstStyle/>
                    <a:p>
                      <a:r>
                        <a:rPr lang="en-US" sz="800" dirty="0">
                          <a:latin typeface="+mn-lt"/>
                        </a:rPr>
                        <a:t>Simple</a:t>
                      </a:r>
                      <a:r>
                        <a:rPr lang="en-US" sz="800" baseline="0" dirty="0">
                          <a:latin typeface="+mn-lt"/>
                        </a:rPr>
                        <a:t> ratio sharing</a:t>
                      </a:r>
                      <a:endParaRPr lang="en-US" sz="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5">
                  <a:txBody>
                    <a:bodyPr/>
                    <a:lstStyle/>
                    <a:p>
                      <a:r>
                        <a:rPr lang="en-US" sz="800" b="1" baseline="0" dirty="0">
                          <a:solidFill>
                            <a:srgbClr val="FF0000"/>
                          </a:solidFill>
                          <a:latin typeface="+mn-lt"/>
                        </a:rPr>
                        <a:t>PRINT slide 25</a:t>
                      </a:r>
                      <a:r>
                        <a:rPr lang="en-US" sz="800" baseline="0" dirty="0">
                          <a:latin typeface="+mn-lt"/>
                        </a:rPr>
                        <a:t>. Using the 4 example questions on slides 4 to 7 show how to divide an amount into a given ratio.</a:t>
                      </a:r>
                    </a:p>
                    <a:p>
                      <a:endParaRPr lang="en-US" sz="800" baseline="0" dirty="0">
                        <a:latin typeface="+mn-lt"/>
                      </a:endParaRPr>
                    </a:p>
                    <a:p>
                      <a:r>
                        <a:rPr lang="en-US" sz="800" b="1" baseline="0" dirty="0">
                          <a:solidFill>
                            <a:srgbClr val="FF0000"/>
                          </a:solidFill>
                          <a:latin typeface="+mn-lt"/>
                        </a:rPr>
                        <a:t>PRINT slide 26</a:t>
                      </a:r>
                      <a:r>
                        <a:rPr lang="en-US" sz="800" baseline="0" dirty="0">
                          <a:latin typeface="+mn-lt"/>
                        </a:rPr>
                        <a:t>. Simple practice questions.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800" dirty="0"/>
                        <a:t>10</a:t>
                      </a:r>
                    </a:p>
                    <a:p>
                      <a:endParaRPr lang="en-US" sz="800" dirty="0"/>
                    </a:p>
                    <a:p>
                      <a:endParaRPr lang="en-US" sz="800" dirty="0"/>
                    </a:p>
                    <a:p>
                      <a:r>
                        <a:rPr lang="en-US" sz="800"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55974">
                <a:tc gridSpan="2">
                  <a:txBody>
                    <a:bodyPr/>
                    <a:lstStyle/>
                    <a:p>
                      <a:r>
                        <a:rPr lang="en-US" sz="800" dirty="0">
                          <a:latin typeface="+mn-lt"/>
                        </a:rPr>
                        <a:t>How to set up </a:t>
                      </a:r>
                      <a:r>
                        <a:rPr lang="en-US" sz="800" baseline="0" dirty="0">
                          <a:latin typeface="+mn-lt"/>
                        </a:rPr>
                        <a:t>a ratio. Listing the parts in the correct order and calculating the missing number(s)</a:t>
                      </a:r>
                      <a:endParaRPr lang="en-US" sz="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5">
                  <a:txBody>
                    <a:bodyPr/>
                    <a:lstStyle/>
                    <a:p>
                      <a:r>
                        <a:rPr lang="en-US" sz="800" b="1" baseline="0" dirty="0">
                          <a:solidFill>
                            <a:srgbClr val="FF0000"/>
                          </a:solidFill>
                          <a:latin typeface="+mn-lt"/>
                        </a:rPr>
                        <a:t>PRINT slide 27</a:t>
                      </a:r>
                      <a:r>
                        <a:rPr lang="en-US" sz="800" baseline="0" dirty="0">
                          <a:latin typeface="+mn-lt"/>
                        </a:rPr>
                        <a:t>. This contains 4 key ratio questions </a:t>
                      </a:r>
                      <a:r>
                        <a:rPr lang="mr-IN" sz="800" baseline="0" dirty="0">
                          <a:latin typeface="+mn-lt"/>
                        </a:rPr>
                        <a:t>–</a:t>
                      </a:r>
                      <a:r>
                        <a:rPr lang="en-US" sz="800" baseline="0" dirty="0">
                          <a:latin typeface="+mn-lt"/>
                        </a:rPr>
                        <a:t> all with slight variations but the set up of the information given in the question and finding the missing number is exactly the same. Using slides 9 to 12 explain each question with the students.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dirty="0"/>
                    </a:p>
                  </a:txBody>
                  <a:tcPr/>
                </a:tc>
                <a:tc hMerge="1">
                  <a:txBody>
                    <a:bodyPr/>
                    <a:lstStyle/>
                    <a:p>
                      <a:endParaRPr lang="en-US"/>
                    </a:p>
                  </a:txBody>
                  <a:tcPr/>
                </a:tc>
                <a:tc hMerge="1">
                  <a:txBody>
                    <a:bodyPr/>
                    <a:lstStyle/>
                    <a:p>
                      <a:endParaRPr lang="en-US"/>
                    </a:p>
                  </a:txBody>
                  <a:tcPr/>
                </a:tc>
                <a:tc>
                  <a:txBody>
                    <a:bodyPr/>
                    <a:lstStyle/>
                    <a:p>
                      <a:r>
                        <a:rPr lang="en-US" sz="800"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53930">
                <a:tc gridSpan="2">
                  <a:txBody>
                    <a:bodyPr/>
                    <a:lstStyle/>
                    <a:p>
                      <a:r>
                        <a:rPr lang="en-US" sz="800" dirty="0">
                          <a:latin typeface="+mn-lt"/>
                        </a:rPr>
                        <a:t>Problem solving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5">
                  <a:txBody>
                    <a:bodyPr/>
                    <a:lstStyle/>
                    <a:p>
                      <a:r>
                        <a:rPr lang="en-US" sz="800" b="1" baseline="0" dirty="0">
                          <a:solidFill>
                            <a:srgbClr val="FF0000"/>
                          </a:solidFill>
                          <a:latin typeface="+mn-lt"/>
                        </a:rPr>
                        <a:t>PRINT slide 28</a:t>
                      </a:r>
                      <a:r>
                        <a:rPr lang="en-US" sz="800" baseline="0" dirty="0">
                          <a:latin typeface="+mn-lt"/>
                        </a:rPr>
                        <a:t>. Contextualised problems followed by a true or false activity.</a:t>
                      </a:r>
                      <a:endParaRPr lang="en-US" sz="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dirty="0"/>
                    </a:p>
                  </a:txBody>
                  <a:tcPr/>
                </a:tc>
                <a:tc hMerge="1">
                  <a:txBody>
                    <a:bodyPr/>
                    <a:lstStyle/>
                    <a:p>
                      <a:endParaRPr lang="en-US"/>
                    </a:p>
                  </a:txBody>
                  <a:tcPr/>
                </a:tc>
                <a:tc hMerge="1">
                  <a:txBody>
                    <a:bodyPr/>
                    <a:lstStyle/>
                    <a:p>
                      <a:endParaRPr lang="en-US"/>
                    </a:p>
                  </a:txBody>
                  <a:tcPr/>
                </a:tc>
                <a:tc>
                  <a:txBody>
                    <a:bodyPr/>
                    <a:lstStyle/>
                    <a:p>
                      <a:r>
                        <a:rPr lang="en-US" sz="800"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448948">
                <a:tc gridSpan="2">
                  <a:txBody>
                    <a:bodyPr/>
                    <a:lstStyle/>
                    <a:p>
                      <a:r>
                        <a:rPr lang="en-US" sz="800" dirty="0"/>
                        <a:t>Ratio sharing</a:t>
                      </a:r>
                      <a:r>
                        <a:rPr lang="en-US" sz="800" baseline="0" dirty="0"/>
                        <a:t> </a:t>
                      </a:r>
                      <a:r>
                        <a:rPr lang="en-US" sz="800" dirty="0">
                          <a:latin typeface="+mn-lt"/>
                        </a:rPr>
                        <a:t>in exam</a:t>
                      </a:r>
                      <a:r>
                        <a:rPr lang="en-US" sz="800" baseline="0" dirty="0">
                          <a:latin typeface="+mn-lt"/>
                        </a:rPr>
                        <a:t> questions (specimen papers)</a:t>
                      </a:r>
                      <a:endParaRPr lang="en-US" sz="8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gridSpan="5">
                  <a:txBody>
                    <a:bodyPr/>
                    <a:lstStyle/>
                    <a:p>
                      <a:r>
                        <a:rPr lang="en-US" sz="800" b="1" dirty="0">
                          <a:solidFill>
                            <a:srgbClr val="FF0000"/>
                          </a:solidFill>
                          <a:latin typeface="+mn-lt"/>
                        </a:rPr>
                        <a:t>PRINT </a:t>
                      </a:r>
                      <a:r>
                        <a:rPr lang="en-US" sz="800" b="1">
                          <a:solidFill>
                            <a:srgbClr val="FF0000"/>
                          </a:solidFill>
                          <a:latin typeface="+mn-lt"/>
                        </a:rPr>
                        <a:t>slides 29</a:t>
                      </a:r>
                      <a:r>
                        <a:rPr lang="en-US" sz="800" b="1" baseline="0">
                          <a:solidFill>
                            <a:srgbClr val="FF0000"/>
                          </a:solidFill>
                          <a:latin typeface="+mn-lt"/>
                        </a:rPr>
                        <a:t> and 30</a:t>
                      </a:r>
                      <a:r>
                        <a:rPr lang="en-US" sz="800" b="1">
                          <a:solidFill>
                            <a:srgbClr val="FF0000"/>
                          </a:solidFill>
                          <a:latin typeface="+mn-lt"/>
                        </a:rPr>
                        <a:t>. </a:t>
                      </a:r>
                      <a:r>
                        <a:rPr lang="en-US" sz="800" dirty="0">
                          <a:solidFill>
                            <a:schemeClr val="tx1"/>
                          </a:solidFill>
                          <a:latin typeface="+mn-lt"/>
                        </a:rPr>
                        <a:t>This includes 8 exam questions related</a:t>
                      </a:r>
                      <a:r>
                        <a:rPr lang="en-US" sz="800" baseline="0" dirty="0">
                          <a:solidFill>
                            <a:schemeClr val="tx1"/>
                          </a:solidFill>
                          <a:latin typeface="+mn-lt"/>
                        </a:rPr>
                        <a:t> to objective (including 2 from the curve 2.0). Students need to use notes from lesson to answer the questions. Ensure that all steps are shown. Relate to mark scheme to show how the marks are allocated. </a:t>
                      </a:r>
                      <a:endParaRPr lang="en-US" sz="80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sz="11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r>
                        <a:rPr lang="en-US" sz="800"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2393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b="1" dirty="0">
                          <a:latin typeface="+mn-lt"/>
                        </a:rPr>
                        <a:t>Next 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800" dirty="0"/>
                        <a:t>Recipe</a:t>
                      </a:r>
                      <a:r>
                        <a:rPr lang="en-US" sz="800" baseline="0" dirty="0"/>
                        <a:t> questions</a:t>
                      </a:r>
                    </a:p>
                    <a:p>
                      <a:r>
                        <a:rPr lang="en-US" sz="800" baseline="0" dirty="0"/>
                        <a:t>Direct and inverse proportion</a:t>
                      </a:r>
                      <a:endParaRPr 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800" b="1" dirty="0">
                          <a:latin typeface="+mn-lt"/>
                        </a:rPr>
                        <a:t>Assessment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5">
                  <a:txBody>
                    <a:bodyPr/>
                    <a:lstStyle/>
                    <a:p>
                      <a:r>
                        <a:rPr lang="en-US" sz="800" dirty="0"/>
                        <a:t>PLC/Reformed Specification/Target 4/Ratio, Proportion and Rates</a:t>
                      </a:r>
                      <a:r>
                        <a:rPr lang="en-US" sz="800" baseline="0" dirty="0"/>
                        <a:t> of Change/Ratio sharing</a:t>
                      </a:r>
                      <a:endParaRPr lang="en-US" sz="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sz="10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1"/>
                  </a:ext>
                </a:extLst>
              </a:tr>
            </a:tbl>
          </a:graphicData>
        </a:graphic>
      </p:graphicFrame>
      <p:sp>
        <p:nvSpPr>
          <p:cNvPr id="4" name="TextBox 3"/>
          <p:cNvSpPr txBox="1"/>
          <p:nvPr/>
        </p:nvSpPr>
        <p:spPr>
          <a:xfrm>
            <a:off x="389103" y="319693"/>
            <a:ext cx="3599234" cy="769441"/>
          </a:xfrm>
          <a:prstGeom prst="rect">
            <a:avLst/>
          </a:prstGeom>
          <a:noFill/>
        </p:spPr>
        <p:txBody>
          <a:bodyPr wrap="square" rtlCol="0">
            <a:spAutoFit/>
          </a:bodyPr>
          <a:lstStyle/>
          <a:p>
            <a:r>
              <a:rPr lang="en-GB" sz="4400" b="1" dirty="0">
                <a:latin typeface="+mj-lt"/>
              </a:rPr>
              <a:t>Lesson Plan</a:t>
            </a:r>
          </a:p>
        </p:txBody>
      </p:sp>
    </p:spTree>
    <p:extLst>
      <p:ext uri="{BB962C8B-B14F-4D97-AF65-F5344CB8AC3E}">
        <p14:creationId xmlns:p14="http://schemas.microsoft.com/office/powerpoint/2010/main" val="361934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754626" y="1870417"/>
            <a:ext cx="7772400" cy="1270346"/>
          </a:xfrm>
        </p:spPr>
        <p:txBody>
          <a:bodyPr>
            <a:normAutofit/>
          </a:bodyPr>
          <a:lstStyle/>
          <a:p>
            <a:r>
              <a:rPr lang="en-GB" sz="6600" dirty="0"/>
              <a:t>Title: </a:t>
            </a:r>
            <a:r>
              <a:rPr lang="en-GB" sz="6600" dirty="0">
                <a:solidFill>
                  <a:srgbClr val="00B0F0"/>
                </a:solidFill>
              </a:rPr>
              <a:t>Ratio Sharing</a:t>
            </a:r>
          </a:p>
        </p:txBody>
      </p:sp>
      <p:sp>
        <p:nvSpPr>
          <p:cNvPr id="3" name="Subtitle 2"/>
          <p:cNvSpPr>
            <a:spLocks noGrp="1"/>
          </p:cNvSpPr>
          <p:nvPr>
            <p:ph type="subTitle" idx="1"/>
          </p:nvPr>
        </p:nvSpPr>
        <p:spPr>
          <a:xfrm>
            <a:off x="178420" y="3140763"/>
            <a:ext cx="8854068" cy="1655762"/>
          </a:xfrm>
        </p:spPr>
        <p:txBody>
          <a:bodyPr>
            <a:normAutofit lnSpcReduction="10000"/>
          </a:bodyPr>
          <a:lstStyle/>
          <a:p>
            <a:pPr algn="l"/>
            <a:r>
              <a:rPr lang="en-US" dirty="0">
                <a:solidFill>
                  <a:srgbClr val="00B0F0"/>
                </a:solidFill>
              </a:rPr>
              <a:t>Aim:</a:t>
            </a:r>
          </a:p>
          <a:p>
            <a:pPr marL="342900" indent="-342900" algn="l">
              <a:buFont typeface="Wingdings" panose="05000000000000000000" pitchFamily="2" charset="2"/>
              <a:buChar char="q"/>
            </a:pPr>
            <a:r>
              <a:rPr lang="en-US" dirty="0">
                <a:solidFill>
                  <a:srgbClr val="00B0F0"/>
                </a:solidFill>
              </a:rPr>
              <a:t>Divide a given quantity into two parts in a given part : part or part : whole ratio.</a:t>
            </a:r>
          </a:p>
          <a:p>
            <a:pPr marL="342900" indent="-342900" algn="l">
              <a:buFont typeface="Wingdings" panose="05000000000000000000" pitchFamily="2" charset="2"/>
              <a:buChar char="q"/>
            </a:pPr>
            <a:r>
              <a:rPr lang="en-US" dirty="0">
                <a:solidFill>
                  <a:srgbClr val="00B0F0"/>
                </a:solidFill>
              </a:rPr>
              <a:t>Express the division of a quantity into two parts as a ratio</a:t>
            </a:r>
            <a:endParaRPr lang="en-GB" dirty="0">
              <a:solidFill>
                <a:srgbClr val="00B0F0"/>
              </a:solidFill>
            </a:endParaRPr>
          </a:p>
        </p:txBody>
      </p:sp>
      <p:sp>
        <p:nvSpPr>
          <p:cNvPr id="4" name="TextBox 3">
            <a:extLst>
              <a:ext uri="{FF2B5EF4-FFF2-40B4-BE49-F238E27FC236}">
                <a16:creationId xmlns:a16="http://schemas.microsoft.com/office/drawing/2014/main" id="{20B90CF0-BB29-0DB6-9EAF-7361E62C4B43}"/>
              </a:ext>
            </a:extLst>
          </p:cNvPr>
          <p:cNvSpPr txBox="1"/>
          <p:nvPr/>
        </p:nvSpPr>
        <p:spPr>
          <a:xfrm>
            <a:off x="5717219" y="266330"/>
            <a:ext cx="3062797" cy="1015663"/>
          </a:xfrm>
          <a:prstGeom prst="rect">
            <a:avLst/>
          </a:prstGeom>
          <a:noFill/>
        </p:spPr>
        <p:txBody>
          <a:bodyPr wrap="square" rtlCol="0">
            <a:spAutoFit/>
          </a:bodyPr>
          <a:lstStyle/>
          <a:p>
            <a:r>
              <a:rPr lang="en-US" sz="2000" b="1" dirty="0" err="1">
                <a:highlight>
                  <a:srgbClr val="FFFF00"/>
                </a:highlight>
              </a:rPr>
              <a:t>PBiS</a:t>
            </a:r>
            <a:r>
              <a:rPr lang="en-US" sz="2000" b="1" dirty="0">
                <a:highlight>
                  <a:srgbClr val="FFFF00"/>
                </a:highlight>
              </a:rPr>
              <a:t> Focus </a:t>
            </a:r>
          </a:p>
          <a:p>
            <a:r>
              <a:rPr lang="en-US" sz="2000" b="1" dirty="0">
                <a:highlight>
                  <a:srgbClr val="FFFF00"/>
                </a:highlight>
              </a:rPr>
              <a:t>Empathy (kind words)</a:t>
            </a:r>
          </a:p>
          <a:p>
            <a:r>
              <a:rPr lang="en-US" sz="2000" b="1" dirty="0">
                <a:highlight>
                  <a:srgbClr val="FFFF00"/>
                </a:highlight>
              </a:rPr>
              <a:t>Learn (try, questions) </a:t>
            </a:r>
            <a:endParaRPr lang="en-AU" sz="2000" b="1" dirty="0">
              <a:highlight>
                <a:srgbClr val="FFFF00"/>
              </a:highlight>
            </a:endParaRPr>
          </a:p>
        </p:txBody>
      </p:sp>
    </p:spTree>
    <p:extLst>
      <p:ext uri="{BB962C8B-B14F-4D97-AF65-F5344CB8AC3E}">
        <p14:creationId xmlns:p14="http://schemas.microsoft.com/office/powerpoint/2010/main" val="1362495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Content Placeholder 14"/>
          <p:cNvSpPr>
            <a:spLocks noGrp="1"/>
          </p:cNvSpPr>
          <p:nvPr>
            <p:ph idx="1"/>
          </p:nvPr>
        </p:nvSpPr>
        <p:spPr>
          <a:xfrm>
            <a:off x="396875" y="1682750"/>
            <a:ext cx="8118475" cy="4494213"/>
          </a:xfrm>
        </p:spPr>
        <p:txBody>
          <a:bodyPr/>
          <a:lstStyle/>
          <a:p>
            <a:pPr marL="0" indent="0">
              <a:buNone/>
            </a:pPr>
            <a:r>
              <a:rPr lang="en-US" dirty="0"/>
              <a:t>1)  Share £24 into the ratio 1 : 5</a:t>
            </a:r>
          </a:p>
          <a:p>
            <a:pPr marL="0" indent="0">
              <a:buNone/>
            </a:pPr>
            <a:r>
              <a:rPr lang="en-US" dirty="0"/>
              <a:t>               </a:t>
            </a:r>
          </a:p>
          <a:p>
            <a:pPr marL="0" indent="0">
              <a:buNone/>
            </a:pPr>
            <a:endParaRPr lang="en-US" dirty="0"/>
          </a:p>
          <a:p>
            <a:pPr marL="0" indent="0">
              <a:buNone/>
            </a:pPr>
            <a:r>
              <a:rPr lang="en-US" dirty="0"/>
              <a:t>               </a:t>
            </a:r>
          </a:p>
          <a:p>
            <a:pPr marL="0" indent="0">
              <a:buNone/>
            </a:pPr>
            <a:endParaRPr lang="en-US" dirty="0"/>
          </a:p>
          <a:p>
            <a:pPr marL="0" indent="0">
              <a:buNone/>
            </a:pPr>
            <a:r>
              <a:rPr lang="en-US" dirty="0"/>
              <a:t>  </a:t>
            </a:r>
          </a:p>
        </p:txBody>
      </p:sp>
      <p:sp>
        <p:nvSpPr>
          <p:cNvPr id="40" name="TextBox 39"/>
          <p:cNvSpPr txBox="1"/>
          <p:nvPr/>
        </p:nvSpPr>
        <p:spPr>
          <a:xfrm>
            <a:off x="891729" y="2604172"/>
            <a:ext cx="1413017" cy="523220"/>
          </a:xfrm>
          <a:prstGeom prst="rect">
            <a:avLst/>
          </a:prstGeom>
          <a:noFill/>
        </p:spPr>
        <p:txBody>
          <a:bodyPr wrap="none" rtlCol="0">
            <a:spAutoFit/>
          </a:bodyPr>
          <a:lstStyle/>
          <a:p>
            <a:r>
              <a:rPr lang="en-US" sz="2800" dirty="0"/>
              <a:t>1 + 5 = 6</a:t>
            </a:r>
          </a:p>
        </p:txBody>
      </p:sp>
      <p:sp>
        <p:nvSpPr>
          <p:cNvPr id="42" name="TextBox 41"/>
          <p:cNvSpPr txBox="1"/>
          <p:nvPr/>
        </p:nvSpPr>
        <p:spPr>
          <a:xfrm>
            <a:off x="868912" y="3142841"/>
            <a:ext cx="5255503" cy="523220"/>
          </a:xfrm>
          <a:prstGeom prst="rect">
            <a:avLst/>
          </a:prstGeom>
          <a:noFill/>
        </p:spPr>
        <p:txBody>
          <a:bodyPr wrap="none" rtlCol="0">
            <a:spAutoFit/>
          </a:bodyPr>
          <a:lstStyle/>
          <a:p>
            <a:r>
              <a:rPr lang="en-US" sz="2600" dirty="0"/>
              <a:t>To find each part, we divide </a:t>
            </a:r>
            <a:r>
              <a:rPr lang="en-US" sz="2800" dirty="0"/>
              <a:t>£24 by 6</a:t>
            </a:r>
            <a:r>
              <a:rPr lang="en-US" sz="2600" dirty="0"/>
              <a:t> </a:t>
            </a:r>
          </a:p>
        </p:txBody>
      </p:sp>
      <p:sp>
        <p:nvSpPr>
          <p:cNvPr id="23" name="TextBox 22"/>
          <p:cNvSpPr txBox="1"/>
          <p:nvPr/>
        </p:nvSpPr>
        <p:spPr>
          <a:xfrm>
            <a:off x="865735" y="2135054"/>
            <a:ext cx="3820427" cy="461665"/>
          </a:xfrm>
          <a:prstGeom prst="rect">
            <a:avLst/>
          </a:prstGeom>
          <a:noFill/>
        </p:spPr>
        <p:txBody>
          <a:bodyPr wrap="none" rtlCol="0">
            <a:spAutoFit/>
          </a:bodyPr>
          <a:lstStyle/>
          <a:p>
            <a:r>
              <a:rPr lang="en-US" sz="2400" dirty="0">
                <a:solidFill>
                  <a:srgbClr val="000000"/>
                </a:solidFill>
              </a:rPr>
              <a:t>We add the parts of the ratio</a:t>
            </a:r>
          </a:p>
        </p:txBody>
      </p:sp>
      <p:sp>
        <p:nvSpPr>
          <p:cNvPr id="46" name="Rectangle 45"/>
          <p:cNvSpPr/>
          <p:nvPr/>
        </p:nvSpPr>
        <p:spPr>
          <a:xfrm>
            <a:off x="890889" y="3693603"/>
            <a:ext cx="1776999" cy="523220"/>
          </a:xfrm>
          <a:prstGeom prst="rect">
            <a:avLst/>
          </a:prstGeom>
        </p:spPr>
        <p:txBody>
          <a:bodyPr wrap="none">
            <a:spAutoFit/>
          </a:bodyPr>
          <a:lstStyle/>
          <a:p>
            <a:r>
              <a:rPr lang="en-US" sz="2800" dirty="0"/>
              <a:t>24 ÷ 6 = £4</a:t>
            </a:r>
          </a:p>
        </p:txBody>
      </p:sp>
      <p:sp>
        <p:nvSpPr>
          <p:cNvPr id="4" name="Cloud Callout 3"/>
          <p:cNvSpPr/>
          <p:nvPr/>
        </p:nvSpPr>
        <p:spPr>
          <a:xfrm>
            <a:off x="6294585" y="1426871"/>
            <a:ext cx="2849415" cy="1959989"/>
          </a:xfrm>
          <a:prstGeom prst="cloud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How can you check your answer?</a:t>
            </a:r>
          </a:p>
        </p:txBody>
      </p:sp>
      <p:sp>
        <p:nvSpPr>
          <p:cNvPr id="11" name="Rectangle 10"/>
          <p:cNvSpPr/>
          <p:nvPr/>
        </p:nvSpPr>
        <p:spPr>
          <a:xfrm>
            <a:off x="886512" y="4206642"/>
            <a:ext cx="5907737" cy="523220"/>
          </a:xfrm>
          <a:prstGeom prst="rect">
            <a:avLst/>
          </a:prstGeom>
        </p:spPr>
        <p:txBody>
          <a:bodyPr wrap="none">
            <a:spAutoFit/>
          </a:bodyPr>
          <a:lstStyle/>
          <a:p>
            <a:r>
              <a:rPr lang="en-US" sz="2800" dirty="0"/>
              <a:t>This means one part is equivalent to £4 </a:t>
            </a:r>
          </a:p>
        </p:txBody>
      </p:sp>
      <p:sp>
        <p:nvSpPr>
          <p:cNvPr id="13" name="Rectangle 12"/>
          <p:cNvSpPr/>
          <p:nvPr/>
        </p:nvSpPr>
        <p:spPr>
          <a:xfrm>
            <a:off x="866458" y="4719680"/>
            <a:ext cx="5279711" cy="523220"/>
          </a:xfrm>
          <a:prstGeom prst="rect">
            <a:avLst/>
          </a:prstGeom>
        </p:spPr>
        <p:txBody>
          <a:bodyPr wrap="none">
            <a:spAutoFit/>
          </a:bodyPr>
          <a:lstStyle/>
          <a:p>
            <a:r>
              <a:rPr lang="en-US" sz="2800" dirty="0">
                <a:solidFill>
                  <a:srgbClr val="FF0000"/>
                </a:solidFill>
              </a:rPr>
              <a:t>Since one gets 1 part = 1 x £4 = £4 </a:t>
            </a:r>
          </a:p>
        </p:txBody>
      </p:sp>
      <p:sp>
        <p:nvSpPr>
          <p:cNvPr id="16" name="Rectangle 15"/>
          <p:cNvSpPr/>
          <p:nvPr/>
        </p:nvSpPr>
        <p:spPr>
          <a:xfrm>
            <a:off x="846404" y="5264078"/>
            <a:ext cx="6275927" cy="523220"/>
          </a:xfrm>
          <a:prstGeom prst="rect">
            <a:avLst/>
          </a:prstGeom>
        </p:spPr>
        <p:txBody>
          <a:bodyPr wrap="none">
            <a:spAutoFit/>
          </a:bodyPr>
          <a:lstStyle/>
          <a:p>
            <a:r>
              <a:rPr lang="en-US" sz="2800" dirty="0">
                <a:solidFill>
                  <a:srgbClr val="FF0000"/>
                </a:solidFill>
              </a:rPr>
              <a:t>Since the other </a:t>
            </a:r>
            <a:r>
              <a:rPr lang="en-US" sz="2800">
                <a:solidFill>
                  <a:srgbClr val="FF0000"/>
                </a:solidFill>
              </a:rPr>
              <a:t>gets 5 </a:t>
            </a:r>
            <a:r>
              <a:rPr lang="en-US" sz="2800" dirty="0">
                <a:solidFill>
                  <a:srgbClr val="FF0000"/>
                </a:solidFill>
              </a:rPr>
              <a:t>parts = 5 x £4 = £20 </a:t>
            </a:r>
          </a:p>
        </p:txBody>
      </p:sp>
      <p:sp>
        <p:nvSpPr>
          <p:cNvPr id="14" name="Title 1"/>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Ratio sharing</a:t>
            </a:r>
          </a:p>
        </p:txBody>
      </p:sp>
    </p:spTree>
    <p:extLst>
      <p:ext uri="{BB962C8B-B14F-4D97-AF65-F5344CB8AC3E}">
        <p14:creationId xmlns:p14="http://schemas.microsoft.com/office/powerpoint/2010/main" val="1711007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anim calcmode="lin" valueType="num">
                                      <p:cBhvr additive="base">
                                        <p:cTn id="13" dur="500" fill="hold"/>
                                        <p:tgtEl>
                                          <p:spTgt spid="40"/>
                                        </p:tgtEl>
                                        <p:attrNameLst>
                                          <p:attrName>ppt_x</p:attrName>
                                        </p:attrNameLst>
                                      </p:cBhvr>
                                      <p:tavLst>
                                        <p:tav tm="0">
                                          <p:val>
                                            <p:strVal val="#ppt_x"/>
                                          </p:val>
                                        </p:tav>
                                        <p:tav tm="100000">
                                          <p:val>
                                            <p:strVal val="#ppt_x"/>
                                          </p:val>
                                        </p:tav>
                                      </p:tavLst>
                                    </p:anim>
                                    <p:anim calcmode="lin" valueType="num">
                                      <p:cBhvr additive="base">
                                        <p:cTn id="1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6"/>
                                        </p:tgtEl>
                                        <p:attrNameLst>
                                          <p:attrName>style.visibility</p:attrName>
                                        </p:attrNameLst>
                                      </p:cBhvr>
                                      <p:to>
                                        <p:strVal val="visible"/>
                                      </p:to>
                                    </p:set>
                                    <p:anim calcmode="lin" valueType="num">
                                      <p:cBhvr additive="base">
                                        <p:cTn id="25" dur="500" fill="hold"/>
                                        <p:tgtEl>
                                          <p:spTgt spid="46"/>
                                        </p:tgtEl>
                                        <p:attrNameLst>
                                          <p:attrName>ppt_x</p:attrName>
                                        </p:attrNameLst>
                                      </p:cBhvr>
                                      <p:tavLst>
                                        <p:tav tm="0">
                                          <p:val>
                                            <p:strVal val="#ppt_x"/>
                                          </p:val>
                                        </p:tav>
                                        <p:tav tm="100000">
                                          <p:val>
                                            <p:strVal val="#ppt_x"/>
                                          </p:val>
                                        </p:tav>
                                      </p:tavLst>
                                    </p:anim>
                                    <p:anim calcmode="lin" valueType="num">
                                      <p:cBhvr additive="base">
                                        <p:cTn id="26"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2" grpId="0"/>
      <p:bldP spid="23" grpId="0"/>
      <p:bldP spid="46" grpId="0"/>
      <p:bldP spid="4" grpId="0" animBg="1"/>
      <p:bldP spid="11" grpId="0"/>
      <p:bldP spid="13"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Content Placeholder 14"/>
          <p:cNvSpPr>
            <a:spLocks noGrp="1"/>
          </p:cNvSpPr>
          <p:nvPr>
            <p:ph idx="1"/>
          </p:nvPr>
        </p:nvSpPr>
        <p:spPr>
          <a:xfrm>
            <a:off x="396875" y="1682750"/>
            <a:ext cx="8118475" cy="4494213"/>
          </a:xfrm>
        </p:spPr>
        <p:txBody>
          <a:bodyPr/>
          <a:lstStyle/>
          <a:p>
            <a:pPr marL="0" indent="0">
              <a:buNone/>
            </a:pPr>
            <a:r>
              <a:rPr lang="en-US" dirty="0"/>
              <a:t>2)  Share 6m into the ratio 3 : 7</a:t>
            </a:r>
          </a:p>
          <a:p>
            <a:pPr marL="0" indent="0">
              <a:buNone/>
            </a:pPr>
            <a:r>
              <a:rPr lang="en-US" dirty="0"/>
              <a:t>               </a:t>
            </a:r>
          </a:p>
          <a:p>
            <a:pPr marL="0" indent="0">
              <a:buNone/>
            </a:pPr>
            <a:endParaRPr lang="en-US" dirty="0"/>
          </a:p>
          <a:p>
            <a:pPr marL="0" indent="0">
              <a:buNone/>
            </a:pPr>
            <a:r>
              <a:rPr lang="en-US" dirty="0"/>
              <a:t>               </a:t>
            </a:r>
          </a:p>
          <a:p>
            <a:pPr marL="0" indent="0">
              <a:buNone/>
            </a:pPr>
            <a:endParaRPr lang="en-US" dirty="0"/>
          </a:p>
          <a:p>
            <a:pPr marL="0" indent="0">
              <a:buNone/>
            </a:pPr>
            <a:r>
              <a:rPr lang="en-US" dirty="0"/>
              <a:t>  </a:t>
            </a:r>
          </a:p>
        </p:txBody>
      </p:sp>
      <p:sp>
        <p:nvSpPr>
          <p:cNvPr id="40" name="TextBox 39"/>
          <p:cNvSpPr txBox="1"/>
          <p:nvPr/>
        </p:nvSpPr>
        <p:spPr>
          <a:xfrm>
            <a:off x="891729" y="2604172"/>
            <a:ext cx="1595008" cy="523220"/>
          </a:xfrm>
          <a:prstGeom prst="rect">
            <a:avLst/>
          </a:prstGeom>
          <a:noFill/>
        </p:spPr>
        <p:txBody>
          <a:bodyPr wrap="none" rtlCol="0">
            <a:spAutoFit/>
          </a:bodyPr>
          <a:lstStyle/>
          <a:p>
            <a:r>
              <a:rPr lang="en-US" sz="2800" dirty="0"/>
              <a:t>3 + 7 = 10</a:t>
            </a:r>
          </a:p>
        </p:txBody>
      </p:sp>
      <p:sp>
        <p:nvSpPr>
          <p:cNvPr id="42" name="TextBox 41"/>
          <p:cNvSpPr txBox="1"/>
          <p:nvPr/>
        </p:nvSpPr>
        <p:spPr>
          <a:xfrm>
            <a:off x="868912" y="3142841"/>
            <a:ext cx="5360349" cy="523220"/>
          </a:xfrm>
          <a:prstGeom prst="rect">
            <a:avLst/>
          </a:prstGeom>
          <a:noFill/>
        </p:spPr>
        <p:txBody>
          <a:bodyPr wrap="none" rtlCol="0">
            <a:spAutoFit/>
          </a:bodyPr>
          <a:lstStyle/>
          <a:p>
            <a:r>
              <a:rPr lang="en-US" sz="2600" dirty="0"/>
              <a:t>To find each part, we divide </a:t>
            </a:r>
            <a:r>
              <a:rPr lang="en-US" sz="2800" dirty="0"/>
              <a:t>6m by 10</a:t>
            </a:r>
            <a:r>
              <a:rPr lang="en-US" sz="2600" dirty="0"/>
              <a:t> </a:t>
            </a:r>
          </a:p>
        </p:txBody>
      </p:sp>
      <p:sp>
        <p:nvSpPr>
          <p:cNvPr id="23" name="TextBox 22"/>
          <p:cNvSpPr txBox="1"/>
          <p:nvPr/>
        </p:nvSpPr>
        <p:spPr>
          <a:xfrm>
            <a:off x="865735" y="2135054"/>
            <a:ext cx="3820427" cy="461665"/>
          </a:xfrm>
          <a:prstGeom prst="rect">
            <a:avLst/>
          </a:prstGeom>
          <a:noFill/>
        </p:spPr>
        <p:txBody>
          <a:bodyPr wrap="none" rtlCol="0">
            <a:spAutoFit/>
          </a:bodyPr>
          <a:lstStyle/>
          <a:p>
            <a:r>
              <a:rPr lang="en-US" sz="2400" dirty="0">
                <a:solidFill>
                  <a:srgbClr val="000000"/>
                </a:solidFill>
              </a:rPr>
              <a:t>We add the parts of the ratio</a:t>
            </a:r>
          </a:p>
        </p:txBody>
      </p:sp>
      <p:sp>
        <p:nvSpPr>
          <p:cNvPr id="46" name="Rectangle 45"/>
          <p:cNvSpPr/>
          <p:nvPr/>
        </p:nvSpPr>
        <p:spPr>
          <a:xfrm>
            <a:off x="890889" y="3693603"/>
            <a:ext cx="4268767" cy="523220"/>
          </a:xfrm>
          <a:prstGeom prst="rect">
            <a:avLst/>
          </a:prstGeom>
        </p:spPr>
        <p:txBody>
          <a:bodyPr wrap="none">
            <a:spAutoFit/>
          </a:bodyPr>
          <a:lstStyle/>
          <a:p>
            <a:r>
              <a:rPr lang="en-US" sz="2800" dirty="0"/>
              <a:t>6m = 600cm ,  600 ÷ 10 = 60</a:t>
            </a:r>
          </a:p>
        </p:txBody>
      </p:sp>
      <p:sp>
        <p:nvSpPr>
          <p:cNvPr id="4" name="Cloud Callout 3"/>
          <p:cNvSpPr/>
          <p:nvPr/>
        </p:nvSpPr>
        <p:spPr>
          <a:xfrm>
            <a:off x="6294585" y="1426871"/>
            <a:ext cx="2849415" cy="1959989"/>
          </a:xfrm>
          <a:prstGeom prst="cloud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Why did we change 6m to 600cm?</a:t>
            </a:r>
          </a:p>
        </p:txBody>
      </p:sp>
      <p:sp>
        <p:nvSpPr>
          <p:cNvPr id="11" name="Rectangle 10"/>
          <p:cNvSpPr/>
          <p:nvPr/>
        </p:nvSpPr>
        <p:spPr>
          <a:xfrm>
            <a:off x="886512" y="4206642"/>
            <a:ext cx="6346409" cy="523220"/>
          </a:xfrm>
          <a:prstGeom prst="rect">
            <a:avLst/>
          </a:prstGeom>
        </p:spPr>
        <p:txBody>
          <a:bodyPr wrap="none">
            <a:spAutoFit/>
          </a:bodyPr>
          <a:lstStyle/>
          <a:p>
            <a:r>
              <a:rPr lang="en-US" sz="2800" dirty="0"/>
              <a:t>This means one part is equivalent to 60cm </a:t>
            </a:r>
          </a:p>
        </p:txBody>
      </p:sp>
      <p:sp>
        <p:nvSpPr>
          <p:cNvPr id="13" name="Rectangle 12"/>
          <p:cNvSpPr/>
          <p:nvPr/>
        </p:nvSpPr>
        <p:spPr>
          <a:xfrm>
            <a:off x="866458" y="4719680"/>
            <a:ext cx="6983027" cy="523220"/>
          </a:xfrm>
          <a:prstGeom prst="rect">
            <a:avLst/>
          </a:prstGeom>
        </p:spPr>
        <p:txBody>
          <a:bodyPr wrap="none">
            <a:spAutoFit/>
          </a:bodyPr>
          <a:lstStyle/>
          <a:p>
            <a:r>
              <a:rPr lang="en-US" sz="2800" dirty="0">
                <a:solidFill>
                  <a:srgbClr val="FF0000"/>
                </a:solidFill>
              </a:rPr>
              <a:t>Since one gets 3 parts = 3 x 60 = 180cm = 1.8m </a:t>
            </a:r>
          </a:p>
        </p:txBody>
      </p:sp>
      <p:sp>
        <p:nvSpPr>
          <p:cNvPr id="16" name="Rectangle 15"/>
          <p:cNvSpPr/>
          <p:nvPr/>
        </p:nvSpPr>
        <p:spPr>
          <a:xfrm>
            <a:off x="846404" y="5264078"/>
            <a:ext cx="7979243" cy="523220"/>
          </a:xfrm>
          <a:prstGeom prst="rect">
            <a:avLst/>
          </a:prstGeom>
        </p:spPr>
        <p:txBody>
          <a:bodyPr wrap="none">
            <a:spAutoFit/>
          </a:bodyPr>
          <a:lstStyle/>
          <a:p>
            <a:r>
              <a:rPr lang="en-US" sz="2800" dirty="0">
                <a:solidFill>
                  <a:srgbClr val="FF0000"/>
                </a:solidFill>
              </a:rPr>
              <a:t>Since the other gets 7 parts = 7 x 60 = 420cm = 4.2m </a:t>
            </a:r>
          </a:p>
        </p:txBody>
      </p:sp>
      <p:sp>
        <p:nvSpPr>
          <p:cNvPr id="12" name="Title 1"/>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Ratio sharing</a:t>
            </a:r>
          </a:p>
        </p:txBody>
      </p:sp>
    </p:spTree>
    <p:extLst>
      <p:ext uri="{BB962C8B-B14F-4D97-AF65-F5344CB8AC3E}">
        <p14:creationId xmlns:p14="http://schemas.microsoft.com/office/powerpoint/2010/main" val="2099136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anim calcmode="lin" valueType="num">
                                      <p:cBhvr additive="base">
                                        <p:cTn id="13" dur="500" fill="hold"/>
                                        <p:tgtEl>
                                          <p:spTgt spid="40"/>
                                        </p:tgtEl>
                                        <p:attrNameLst>
                                          <p:attrName>ppt_x</p:attrName>
                                        </p:attrNameLst>
                                      </p:cBhvr>
                                      <p:tavLst>
                                        <p:tav tm="0">
                                          <p:val>
                                            <p:strVal val="#ppt_x"/>
                                          </p:val>
                                        </p:tav>
                                        <p:tav tm="100000">
                                          <p:val>
                                            <p:strVal val="#ppt_x"/>
                                          </p:val>
                                        </p:tav>
                                      </p:tavLst>
                                    </p:anim>
                                    <p:anim calcmode="lin" valueType="num">
                                      <p:cBhvr additive="base">
                                        <p:cTn id="1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6"/>
                                        </p:tgtEl>
                                        <p:attrNameLst>
                                          <p:attrName>style.visibility</p:attrName>
                                        </p:attrNameLst>
                                      </p:cBhvr>
                                      <p:to>
                                        <p:strVal val="visible"/>
                                      </p:to>
                                    </p:set>
                                    <p:anim calcmode="lin" valueType="num">
                                      <p:cBhvr additive="base">
                                        <p:cTn id="25" dur="500" fill="hold"/>
                                        <p:tgtEl>
                                          <p:spTgt spid="46"/>
                                        </p:tgtEl>
                                        <p:attrNameLst>
                                          <p:attrName>ppt_x</p:attrName>
                                        </p:attrNameLst>
                                      </p:cBhvr>
                                      <p:tavLst>
                                        <p:tav tm="0">
                                          <p:val>
                                            <p:strVal val="#ppt_x"/>
                                          </p:val>
                                        </p:tav>
                                        <p:tav tm="100000">
                                          <p:val>
                                            <p:strVal val="#ppt_x"/>
                                          </p:val>
                                        </p:tav>
                                      </p:tavLst>
                                    </p:anim>
                                    <p:anim calcmode="lin" valueType="num">
                                      <p:cBhvr additive="base">
                                        <p:cTn id="26"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ppt_x"/>
                                          </p:val>
                                        </p:tav>
                                        <p:tav tm="100000">
                                          <p:val>
                                            <p:strVal val="#ppt_x"/>
                                          </p:val>
                                        </p:tav>
                                      </p:tavLst>
                                    </p:anim>
                                    <p:anim calcmode="lin" valueType="num">
                                      <p:cBhvr additive="base">
                                        <p:cTn id="4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2" grpId="0"/>
      <p:bldP spid="23" grpId="0"/>
      <p:bldP spid="46" grpId="0"/>
      <p:bldP spid="4" grpId="0" animBg="1"/>
      <p:bldP spid="11" grpId="0"/>
      <p:bldP spid="13"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Content Placeholder 14"/>
          <p:cNvSpPr>
            <a:spLocks noGrp="1"/>
          </p:cNvSpPr>
          <p:nvPr>
            <p:ph idx="1"/>
          </p:nvPr>
        </p:nvSpPr>
        <p:spPr>
          <a:xfrm>
            <a:off x="269875" y="1444625"/>
            <a:ext cx="8118475" cy="4494213"/>
          </a:xfrm>
        </p:spPr>
        <p:txBody>
          <a:bodyPr/>
          <a:lstStyle/>
          <a:p>
            <a:pPr marL="0" indent="0">
              <a:buNone/>
            </a:pPr>
            <a:r>
              <a:rPr lang="en-US" dirty="0"/>
              <a:t>3)  In a </a:t>
            </a:r>
            <a:r>
              <a:rPr lang="en-US" dirty="0" err="1"/>
              <a:t>maths</a:t>
            </a:r>
            <a:r>
              <a:rPr lang="en-US" dirty="0"/>
              <a:t> test, the ratio of marks given for method to accuracy is 5:3. If Bill scored 39 marks for accuracy, what was his total mark?</a:t>
            </a:r>
          </a:p>
          <a:p>
            <a:pPr marL="0" indent="0">
              <a:buNone/>
            </a:pPr>
            <a:endParaRPr lang="en-US" dirty="0"/>
          </a:p>
          <a:p>
            <a:pPr marL="0" indent="0">
              <a:buNone/>
            </a:pPr>
            <a:r>
              <a:rPr lang="en-US" dirty="0"/>
              <a:t>               </a:t>
            </a:r>
          </a:p>
          <a:p>
            <a:pPr marL="0" indent="0">
              <a:buNone/>
            </a:pPr>
            <a:endParaRPr lang="en-US" dirty="0"/>
          </a:p>
          <a:p>
            <a:pPr marL="0" indent="0">
              <a:buNone/>
            </a:pPr>
            <a:r>
              <a:rPr lang="en-US" dirty="0"/>
              <a:t>  </a:t>
            </a:r>
          </a:p>
        </p:txBody>
      </p:sp>
      <p:sp>
        <p:nvSpPr>
          <p:cNvPr id="40" name="TextBox 39"/>
          <p:cNvSpPr txBox="1"/>
          <p:nvPr/>
        </p:nvSpPr>
        <p:spPr>
          <a:xfrm>
            <a:off x="463104" y="4048797"/>
            <a:ext cx="6805619" cy="492443"/>
          </a:xfrm>
          <a:prstGeom prst="rect">
            <a:avLst/>
          </a:prstGeom>
          <a:noFill/>
        </p:spPr>
        <p:txBody>
          <a:bodyPr wrap="none" rtlCol="0">
            <a:spAutoFit/>
          </a:bodyPr>
          <a:lstStyle/>
          <a:p>
            <a:r>
              <a:rPr lang="en-US" sz="2600" dirty="0">
                <a:solidFill>
                  <a:srgbClr val="FF0000"/>
                </a:solidFill>
              </a:rPr>
              <a:t>Method marks refer to 5 parts, 5 x 13 = 65 marks</a:t>
            </a:r>
          </a:p>
        </p:txBody>
      </p:sp>
      <p:sp>
        <p:nvSpPr>
          <p:cNvPr id="42" name="TextBox 41"/>
          <p:cNvSpPr txBox="1"/>
          <p:nvPr/>
        </p:nvSpPr>
        <p:spPr>
          <a:xfrm>
            <a:off x="487912" y="4571591"/>
            <a:ext cx="4977319" cy="492443"/>
          </a:xfrm>
          <a:prstGeom prst="rect">
            <a:avLst/>
          </a:prstGeom>
          <a:noFill/>
        </p:spPr>
        <p:txBody>
          <a:bodyPr wrap="none" rtlCol="0">
            <a:spAutoFit/>
          </a:bodyPr>
          <a:lstStyle/>
          <a:p>
            <a:r>
              <a:rPr lang="en-US" sz="2600" dirty="0">
                <a:solidFill>
                  <a:srgbClr val="FF0000"/>
                </a:solidFill>
              </a:rPr>
              <a:t>His total mark, 39 + 65 = </a:t>
            </a:r>
            <a:r>
              <a:rPr lang="en-US" sz="2600" b="1" u="sng" dirty="0">
                <a:solidFill>
                  <a:srgbClr val="FF0000"/>
                </a:solidFill>
              </a:rPr>
              <a:t>104 marks</a:t>
            </a:r>
            <a:endParaRPr lang="en-US" sz="2600" dirty="0">
              <a:solidFill>
                <a:srgbClr val="FF0000"/>
              </a:solidFill>
            </a:endParaRPr>
          </a:p>
        </p:txBody>
      </p:sp>
      <p:sp>
        <p:nvSpPr>
          <p:cNvPr id="23" name="TextBox 22"/>
          <p:cNvSpPr txBox="1"/>
          <p:nvPr/>
        </p:nvSpPr>
        <p:spPr>
          <a:xfrm>
            <a:off x="508000" y="3103429"/>
            <a:ext cx="5181965" cy="892552"/>
          </a:xfrm>
          <a:prstGeom prst="rect">
            <a:avLst/>
          </a:prstGeom>
          <a:noFill/>
        </p:spPr>
        <p:txBody>
          <a:bodyPr wrap="none" rtlCol="0">
            <a:spAutoFit/>
          </a:bodyPr>
          <a:lstStyle/>
          <a:p>
            <a:r>
              <a:rPr lang="en-US" sz="2600" dirty="0">
                <a:solidFill>
                  <a:srgbClr val="FF0000"/>
                </a:solidFill>
              </a:rPr>
              <a:t>39 marks refers to 3 parts, </a:t>
            </a:r>
          </a:p>
          <a:p>
            <a:r>
              <a:rPr lang="en-US" sz="2600" dirty="0">
                <a:solidFill>
                  <a:srgbClr val="FF0000"/>
                </a:solidFill>
              </a:rPr>
              <a:t>therefore 1 part is 39 ÷ 3 = 13 marks.</a:t>
            </a:r>
          </a:p>
        </p:txBody>
      </p:sp>
      <p:sp>
        <p:nvSpPr>
          <p:cNvPr id="7" name="Title 1"/>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Ratio sharing</a:t>
            </a:r>
          </a:p>
        </p:txBody>
      </p:sp>
    </p:spTree>
    <p:extLst>
      <p:ext uri="{BB962C8B-B14F-4D97-AF65-F5344CB8AC3E}">
        <p14:creationId xmlns:p14="http://schemas.microsoft.com/office/powerpoint/2010/main" val="1331718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anim calcmode="lin" valueType="num">
                                      <p:cBhvr additive="base">
                                        <p:cTn id="13" dur="500" fill="hold"/>
                                        <p:tgtEl>
                                          <p:spTgt spid="40"/>
                                        </p:tgtEl>
                                        <p:attrNameLst>
                                          <p:attrName>ppt_x</p:attrName>
                                        </p:attrNameLst>
                                      </p:cBhvr>
                                      <p:tavLst>
                                        <p:tav tm="0">
                                          <p:val>
                                            <p:strVal val="#ppt_x"/>
                                          </p:val>
                                        </p:tav>
                                        <p:tav tm="100000">
                                          <p:val>
                                            <p:strVal val="#ppt_x"/>
                                          </p:val>
                                        </p:tav>
                                      </p:tavLst>
                                    </p:anim>
                                    <p:anim calcmode="lin" valueType="num">
                                      <p:cBhvr additive="base">
                                        <p:cTn id="1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2"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extBox 8"/>
          <p:cNvSpPr txBox="1"/>
          <p:nvPr/>
        </p:nvSpPr>
        <p:spPr>
          <a:xfrm>
            <a:off x="269875" y="1190625"/>
            <a:ext cx="9085140" cy="830997"/>
          </a:xfrm>
          <a:prstGeom prst="rect">
            <a:avLst/>
          </a:prstGeom>
          <a:noFill/>
        </p:spPr>
        <p:txBody>
          <a:bodyPr wrap="square" rtlCol="0">
            <a:spAutoFit/>
          </a:bodyPr>
          <a:lstStyle/>
          <a:p>
            <a:r>
              <a:rPr lang="en-GB" sz="2400" dirty="0"/>
              <a:t>4) Isabella and Louisa share their money in the ratio 3 : 7. If Louisa gets £84 more than Isabella, how much money </a:t>
            </a:r>
            <a:r>
              <a:rPr lang="en-GB" sz="2400"/>
              <a:t>have they in </a:t>
            </a:r>
            <a:r>
              <a:rPr lang="en-GB" sz="2400" dirty="0"/>
              <a:t>total?</a:t>
            </a:r>
          </a:p>
        </p:txBody>
      </p:sp>
      <p:sp>
        <p:nvSpPr>
          <p:cNvPr id="16" name="TextBox 15"/>
          <p:cNvSpPr txBox="1"/>
          <p:nvPr/>
        </p:nvSpPr>
        <p:spPr>
          <a:xfrm>
            <a:off x="442358" y="2423610"/>
            <a:ext cx="8432583" cy="2092881"/>
          </a:xfrm>
          <a:prstGeom prst="rect">
            <a:avLst/>
          </a:prstGeom>
          <a:noFill/>
        </p:spPr>
        <p:txBody>
          <a:bodyPr wrap="square" rtlCol="0">
            <a:spAutoFit/>
          </a:bodyPr>
          <a:lstStyle/>
          <a:p>
            <a:r>
              <a:rPr lang="en-GB" sz="2600" b="1" dirty="0">
                <a:solidFill>
                  <a:srgbClr val="0070C0"/>
                </a:solidFill>
              </a:rPr>
              <a:t> </a:t>
            </a:r>
            <a:r>
              <a:rPr lang="en-GB" sz="2600" dirty="0">
                <a:solidFill>
                  <a:srgbClr val="0070C0"/>
                </a:solidFill>
              </a:rPr>
              <a:t>Isabella        </a:t>
            </a:r>
            <a:r>
              <a:rPr lang="en-GB" sz="2600" dirty="0">
                <a:solidFill>
                  <a:srgbClr val="FF0000"/>
                </a:solidFill>
              </a:rPr>
              <a:t>Louisa</a:t>
            </a:r>
          </a:p>
          <a:p>
            <a:r>
              <a:rPr lang="en-GB" sz="2600" dirty="0">
                <a:solidFill>
                  <a:srgbClr val="0070C0"/>
                </a:solidFill>
              </a:rPr>
              <a:t>      3          :        </a:t>
            </a:r>
            <a:r>
              <a:rPr lang="en-GB" sz="2600" dirty="0">
                <a:solidFill>
                  <a:srgbClr val="FF0000"/>
                </a:solidFill>
              </a:rPr>
              <a:t>7</a:t>
            </a:r>
          </a:p>
          <a:p>
            <a:r>
              <a:rPr lang="en-GB" sz="2600" dirty="0"/>
              <a:t>If Louisa has</a:t>
            </a:r>
            <a:r>
              <a:rPr lang="en-GB" sz="2600" dirty="0">
                <a:solidFill>
                  <a:srgbClr val="548235"/>
                </a:solidFill>
              </a:rPr>
              <a:t> £84 </a:t>
            </a:r>
            <a:r>
              <a:rPr lang="en-GB" sz="2600" dirty="0">
                <a:solidFill>
                  <a:schemeClr val="accent6">
                    <a:lumMod val="75000"/>
                  </a:schemeClr>
                </a:solidFill>
              </a:rPr>
              <a:t>more</a:t>
            </a:r>
            <a:r>
              <a:rPr lang="en-GB" sz="2600" dirty="0"/>
              <a:t>, this refers to the difference in parts of the ratio. 7 – 3 = 4.</a:t>
            </a:r>
          </a:p>
          <a:p>
            <a:r>
              <a:rPr lang="en-GB" sz="2600" dirty="0"/>
              <a:t>If 4 parts is £84, then 1 part is £84 ÷ 4 = £21</a:t>
            </a:r>
            <a:endParaRPr lang="en-US" sz="2600" b="1" dirty="0">
              <a:solidFill>
                <a:srgbClr val="0070C0"/>
              </a:solidFill>
            </a:endParaRPr>
          </a:p>
        </p:txBody>
      </p:sp>
      <p:sp>
        <p:nvSpPr>
          <p:cNvPr id="17" name="TextBox 16"/>
          <p:cNvSpPr txBox="1"/>
          <p:nvPr/>
        </p:nvSpPr>
        <p:spPr>
          <a:xfrm>
            <a:off x="436601" y="4523050"/>
            <a:ext cx="8432583" cy="523220"/>
          </a:xfrm>
          <a:prstGeom prst="rect">
            <a:avLst/>
          </a:prstGeom>
          <a:noFill/>
        </p:spPr>
        <p:txBody>
          <a:bodyPr wrap="square" rtlCol="0">
            <a:spAutoFit/>
          </a:bodyPr>
          <a:lstStyle/>
          <a:p>
            <a:r>
              <a:rPr lang="en-GB" sz="2800" dirty="0"/>
              <a:t>If </a:t>
            </a:r>
            <a:r>
              <a:rPr lang="en-GB" sz="2800" dirty="0">
                <a:solidFill>
                  <a:srgbClr val="4472C4"/>
                </a:solidFill>
              </a:rPr>
              <a:t>Isabella </a:t>
            </a:r>
            <a:r>
              <a:rPr lang="en-GB" sz="2800" dirty="0">
                <a:solidFill>
                  <a:srgbClr val="000000"/>
                </a:solidFill>
              </a:rPr>
              <a:t>has</a:t>
            </a:r>
            <a:r>
              <a:rPr lang="en-GB" sz="2800" dirty="0">
                <a:solidFill>
                  <a:srgbClr val="FF0000"/>
                </a:solidFill>
              </a:rPr>
              <a:t> </a:t>
            </a:r>
            <a:r>
              <a:rPr lang="en-GB" sz="2800" dirty="0">
                <a:solidFill>
                  <a:srgbClr val="4472C4"/>
                </a:solidFill>
              </a:rPr>
              <a:t>3 shares, </a:t>
            </a:r>
            <a:r>
              <a:rPr lang="en-GB" sz="2800" dirty="0">
                <a:solidFill>
                  <a:srgbClr val="000000"/>
                </a:solidFill>
              </a:rPr>
              <a:t>then she has </a:t>
            </a:r>
            <a:r>
              <a:rPr lang="en-GB" sz="2800" dirty="0"/>
              <a:t>£21 x 3 = </a:t>
            </a:r>
            <a:r>
              <a:rPr lang="en-GB" sz="2800" dirty="0">
                <a:solidFill>
                  <a:schemeClr val="accent5"/>
                </a:solidFill>
              </a:rPr>
              <a:t>£63</a:t>
            </a:r>
            <a:endParaRPr lang="en-US" sz="2800" b="1" dirty="0">
              <a:solidFill>
                <a:schemeClr val="accent5"/>
              </a:solidFill>
            </a:endParaRPr>
          </a:p>
        </p:txBody>
      </p:sp>
      <p:sp>
        <p:nvSpPr>
          <p:cNvPr id="19" name="TextBox 18"/>
          <p:cNvSpPr txBox="1"/>
          <p:nvPr/>
        </p:nvSpPr>
        <p:spPr>
          <a:xfrm>
            <a:off x="493949" y="5749781"/>
            <a:ext cx="8432583" cy="523220"/>
          </a:xfrm>
          <a:prstGeom prst="rect">
            <a:avLst/>
          </a:prstGeom>
          <a:noFill/>
        </p:spPr>
        <p:txBody>
          <a:bodyPr wrap="square" rtlCol="0">
            <a:spAutoFit/>
          </a:bodyPr>
          <a:lstStyle/>
          <a:p>
            <a:r>
              <a:rPr lang="en-GB" sz="2800" dirty="0">
                <a:solidFill>
                  <a:srgbClr val="0070C0"/>
                </a:solidFill>
              </a:rPr>
              <a:t> </a:t>
            </a:r>
            <a:r>
              <a:rPr lang="en-GB" sz="2800" dirty="0"/>
              <a:t>In total, they have  </a:t>
            </a:r>
            <a:r>
              <a:rPr lang="en-GB" sz="2800" dirty="0">
                <a:solidFill>
                  <a:schemeClr val="accent5"/>
                </a:solidFill>
              </a:rPr>
              <a:t>£63 </a:t>
            </a:r>
            <a:r>
              <a:rPr lang="en-GB" sz="2800" dirty="0"/>
              <a:t>+ </a:t>
            </a:r>
            <a:r>
              <a:rPr lang="en-GB" sz="2800" b="1" dirty="0">
                <a:solidFill>
                  <a:srgbClr val="0070C0"/>
                </a:solidFill>
              </a:rPr>
              <a:t> </a:t>
            </a:r>
            <a:r>
              <a:rPr lang="en-GB" sz="2800" dirty="0">
                <a:solidFill>
                  <a:srgbClr val="FF0000"/>
                </a:solidFill>
              </a:rPr>
              <a:t>£147</a:t>
            </a:r>
            <a:r>
              <a:rPr lang="en-GB" sz="2800" dirty="0"/>
              <a:t> = </a:t>
            </a:r>
            <a:r>
              <a:rPr lang="en-GB" sz="2800" b="1" dirty="0">
                <a:solidFill>
                  <a:srgbClr val="0070C0"/>
                </a:solidFill>
              </a:rPr>
              <a:t> </a:t>
            </a:r>
            <a:r>
              <a:rPr lang="en-GB" sz="2800" u="sng" dirty="0"/>
              <a:t>£210</a:t>
            </a:r>
            <a:endParaRPr lang="en-US" sz="2800" b="1" u="sng" dirty="0">
              <a:solidFill>
                <a:srgbClr val="0070C0"/>
              </a:solidFill>
            </a:endParaRPr>
          </a:p>
        </p:txBody>
      </p:sp>
      <p:sp>
        <p:nvSpPr>
          <p:cNvPr id="21" name="TextBox 20"/>
          <p:cNvSpPr txBox="1"/>
          <p:nvPr/>
        </p:nvSpPr>
        <p:spPr>
          <a:xfrm>
            <a:off x="493751" y="5072325"/>
            <a:ext cx="8432583" cy="523220"/>
          </a:xfrm>
          <a:prstGeom prst="rect">
            <a:avLst/>
          </a:prstGeom>
          <a:noFill/>
        </p:spPr>
        <p:txBody>
          <a:bodyPr wrap="square" rtlCol="0">
            <a:spAutoFit/>
          </a:bodyPr>
          <a:lstStyle/>
          <a:p>
            <a:r>
              <a:rPr lang="en-GB" sz="2800" dirty="0"/>
              <a:t>If </a:t>
            </a:r>
            <a:r>
              <a:rPr lang="en-GB" sz="2800" dirty="0">
                <a:solidFill>
                  <a:srgbClr val="FF0000"/>
                </a:solidFill>
              </a:rPr>
              <a:t>Louisa </a:t>
            </a:r>
            <a:r>
              <a:rPr lang="en-GB" sz="2800" dirty="0">
                <a:solidFill>
                  <a:srgbClr val="000000"/>
                </a:solidFill>
              </a:rPr>
              <a:t>has</a:t>
            </a:r>
            <a:r>
              <a:rPr lang="en-GB" sz="2800" dirty="0">
                <a:solidFill>
                  <a:srgbClr val="FF0000"/>
                </a:solidFill>
              </a:rPr>
              <a:t> 7 shares, </a:t>
            </a:r>
            <a:r>
              <a:rPr lang="en-GB" sz="2800" dirty="0">
                <a:solidFill>
                  <a:srgbClr val="000000"/>
                </a:solidFill>
              </a:rPr>
              <a:t>then she has </a:t>
            </a:r>
            <a:r>
              <a:rPr lang="en-GB" sz="2800" dirty="0"/>
              <a:t>£21 x 7 = </a:t>
            </a:r>
            <a:r>
              <a:rPr lang="en-GB" sz="2800" dirty="0">
                <a:solidFill>
                  <a:srgbClr val="FF0000"/>
                </a:solidFill>
              </a:rPr>
              <a:t>£147</a:t>
            </a:r>
            <a:endParaRPr lang="en-US" sz="2800" b="1" dirty="0">
              <a:solidFill>
                <a:srgbClr val="FF0000"/>
              </a:solidFill>
            </a:endParaRPr>
          </a:p>
        </p:txBody>
      </p:sp>
      <p:sp>
        <p:nvSpPr>
          <p:cNvPr id="8" name="Title 1"/>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Ratio sharing</a:t>
            </a:r>
          </a:p>
        </p:txBody>
      </p:sp>
    </p:spTree>
    <p:extLst>
      <p:ext uri="{BB962C8B-B14F-4D97-AF65-F5344CB8AC3E}">
        <p14:creationId xmlns:p14="http://schemas.microsoft.com/office/powerpoint/2010/main" val="1120747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ox(i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ox(in)">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ox(in)">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ox(in)">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9" grpId="0"/>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p:cNvSpPr txBox="1"/>
          <p:nvPr/>
        </p:nvSpPr>
        <p:spPr>
          <a:xfrm>
            <a:off x="4755371" y="1325563"/>
            <a:ext cx="5017279" cy="4770537"/>
          </a:xfrm>
          <a:prstGeom prst="rect">
            <a:avLst/>
          </a:prstGeom>
          <a:noFill/>
        </p:spPr>
        <p:txBody>
          <a:bodyPr wrap="square" rtlCol="0">
            <a:spAutoFit/>
          </a:bodyPr>
          <a:lstStyle/>
          <a:p>
            <a:r>
              <a:rPr lang="en-GB" sz="1600" dirty="0"/>
              <a:t>4) Tyler and Kate share £91 in the ratio 4 : 3.</a:t>
            </a:r>
          </a:p>
          <a:p>
            <a:r>
              <a:rPr lang="en-GB" sz="1600" dirty="0"/>
              <a:t>Work out how much money each person gets.</a:t>
            </a:r>
          </a:p>
          <a:p>
            <a:pPr algn="ctr"/>
            <a:r>
              <a:rPr lang="en-GB" sz="1600" b="1" dirty="0">
                <a:solidFill>
                  <a:srgbClr val="FF0000"/>
                </a:solidFill>
              </a:rPr>
              <a:t>4 + 3 = 7 </a:t>
            </a:r>
          </a:p>
          <a:p>
            <a:pPr algn="ctr"/>
            <a:r>
              <a:rPr lang="en-GB" sz="1600" b="1" dirty="0">
                <a:solidFill>
                  <a:srgbClr val="FF0000"/>
                </a:solidFill>
              </a:rPr>
              <a:t>91/7 = 13</a:t>
            </a:r>
          </a:p>
          <a:p>
            <a:pPr algn="ctr"/>
            <a:r>
              <a:rPr lang="en-GB" sz="1600" b="1" dirty="0">
                <a:solidFill>
                  <a:srgbClr val="FF0000"/>
                </a:solidFill>
              </a:rPr>
              <a:t>Tyler:	4 × 13 = </a:t>
            </a:r>
            <a:r>
              <a:rPr lang="en-GB" sz="1600" b="1" u="sng" dirty="0">
                <a:solidFill>
                  <a:srgbClr val="FF0000"/>
                </a:solidFill>
              </a:rPr>
              <a:t>£52</a:t>
            </a:r>
          </a:p>
          <a:p>
            <a:pPr algn="ctr"/>
            <a:r>
              <a:rPr lang="en-GB" sz="1600" b="1" dirty="0">
                <a:solidFill>
                  <a:srgbClr val="FF0000"/>
                </a:solidFill>
              </a:rPr>
              <a:t>Kate:	3 × 13 = </a:t>
            </a:r>
            <a:r>
              <a:rPr lang="en-GB" sz="1600" b="1" u="sng" dirty="0">
                <a:solidFill>
                  <a:srgbClr val="FF0000"/>
                </a:solidFill>
              </a:rPr>
              <a:t>£39</a:t>
            </a:r>
          </a:p>
          <a:p>
            <a:r>
              <a:rPr lang="en-GB" sz="1600" dirty="0"/>
              <a:t>5) Ryan and Simon share £72 in the ratio 4 : 8.</a:t>
            </a:r>
          </a:p>
          <a:p>
            <a:r>
              <a:rPr lang="en-GB" sz="1600" dirty="0"/>
              <a:t>Work out how much money each person gets.</a:t>
            </a:r>
          </a:p>
          <a:p>
            <a:pPr algn="ctr"/>
            <a:r>
              <a:rPr lang="en-GB" sz="1600" b="1" dirty="0">
                <a:solidFill>
                  <a:srgbClr val="FF0000"/>
                </a:solidFill>
              </a:rPr>
              <a:t>4 + 8 = 12</a:t>
            </a:r>
          </a:p>
          <a:p>
            <a:pPr algn="ctr"/>
            <a:r>
              <a:rPr lang="en-GB" sz="1600" b="1" dirty="0">
                <a:solidFill>
                  <a:srgbClr val="FF0000"/>
                </a:solidFill>
              </a:rPr>
              <a:t>72/12 = 6</a:t>
            </a:r>
          </a:p>
          <a:p>
            <a:pPr algn="ctr"/>
            <a:r>
              <a:rPr lang="en-GB" sz="1600" b="1" dirty="0">
                <a:solidFill>
                  <a:srgbClr val="FF0000"/>
                </a:solidFill>
              </a:rPr>
              <a:t>Ryan:	4 × 6 = </a:t>
            </a:r>
            <a:r>
              <a:rPr lang="en-GB" sz="1600" b="1" u="sng" dirty="0">
                <a:solidFill>
                  <a:srgbClr val="FF0000"/>
                </a:solidFill>
              </a:rPr>
              <a:t>£24</a:t>
            </a:r>
          </a:p>
          <a:p>
            <a:pPr algn="ctr"/>
            <a:r>
              <a:rPr lang="en-GB" sz="1600" b="1" dirty="0">
                <a:solidFill>
                  <a:srgbClr val="FF0000"/>
                </a:solidFill>
              </a:rPr>
              <a:t>Simon:	8 × 6 = </a:t>
            </a:r>
            <a:r>
              <a:rPr lang="en-GB" sz="1600" b="1" u="sng" dirty="0">
                <a:solidFill>
                  <a:srgbClr val="FF0000"/>
                </a:solidFill>
              </a:rPr>
              <a:t>£48</a:t>
            </a:r>
            <a:endParaRPr lang="en-GB" sz="1600" b="1" dirty="0">
              <a:solidFill>
                <a:srgbClr val="FF0000"/>
              </a:solidFill>
            </a:endParaRPr>
          </a:p>
          <a:p>
            <a:r>
              <a:rPr lang="en-GB" sz="1600" dirty="0"/>
              <a:t>6) Manisha and Alex share £600 in the ratio 62 : 58.</a:t>
            </a:r>
          </a:p>
          <a:p>
            <a:r>
              <a:rPr lang="en-GB" sz="1600" dirty="0"/>
              <a:t>Work out how much money each person gets.</a:t>
            </a:r>
          </a:p>
          <a:p>
            <a:pPr algn="ctr"/>
            <a:r>
              <a:rPr lang="en-GB" sz="1600" b="1" dirty="0">
                <a:solidFill>
                  <a:srgbClr val="FF0000"/>
                </a:solidFill>
              </a:rPr>
              <a:t>62 + 58 = 120</a:t>
            </a:r>
          </a:p>
          <a:p>
            <a:pPr algn="ctr"/>
            <a:r>
              <a:rPr lang="en-GB" sz="1600" b="1" dirty="0">
                <a:solidFill>
                  <a:srgbClr val="FF0000"/>
                </a:solidFill>
              </a:rPr>
              <a:t>600/120 = 5</a:t>
            </a:r>
          </a:p>
          <a:p>
            <a:pPr algn="ctr"/>
            <a:r>
              <a:rPr lang="en-GB" sz="1600" b="1" dirty="0">
                <a:solidFill>
                  <a:srgbClr val="FF0000"/>
                </a:solidFill>
              </a:rPr>
              <a:t>Manisha:	62 × 5 = </a:t>
            </a:r>
            <a:r>
              <a:rPr lang="en-GB" sz="1600" b="1" u="sng" dirty="0">
                <a:solidFill>
                  <a:srgbClr val="FF0000"/>
                </a:solidFill>
              </a:rPr>
              <a:t>£310</a:t>
            </a:r>
          </a:p>
          <a:p>
            <a:pPr algn="ctr"/>
            <a:r>
              <a:rPr lang="en-GB" sz="1600" b="1" dirty="0">
                <a:solidFill>
                  <a:srgbClr val="FF0000"/>
                </a:solidFill>
              </a:rPr>
              <a:t>Alex:	58 × 5 = </a:t>
            </a:r>
            <a:r>
              <a:rPr lang="en-GB" sz="1600" b="1" u="sng" dirty="0">
                <a:solidFill>
                  <a:srgbClr val="FF0000"/>
                </a:solidFill>
              </a:rPr>
              <a:t>£290</a:t>
            </a:r>
            <a:endParaRPr lang="en-GB" sz="1600" b="1" dirty="0">
              <a:solidFill>
                <a:srgbClr val="FF0000"/>
              </a:solidFill>
            </a:endParaRPr>
          </a:p>
          <a:p>
            <a:endParaRPr lang="en-GB" sz="1600" dirty="0"/>
          </a:p>
        </p:txBody>
      </p:sp>
      <p:sp>
        <p:nvSpPr>
          <p:cNvPr id="5" name="Title 1"/>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Ratio sharing practice</a:t>
            </a:r>
          </a:p>
        </p:txBody>
      </p:sp>
      <p:sp>
        <p:nvSpPr>
          <p:cNvPr id="7" name="Rectangle 6"/>
          <p:cNvSpPr>
            <a:spLocks noChangeArrowheads="1"/>
          </p:cNvSpPr>
          <p:nvPr/>
        </p:nvSpPr>
        <p:spPr bwMode="auto">
          <a:xfrm>
            <a:off x="0" y="1107946"/>
            <a:ext cx="4114800" cy="427809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GB" sz="1600" i="0" strike="noStrike" cap="none" normalizeH="0" baseline="0" dirty="0">
                <a:ln>
                  <a:noFill/>
                </a:ln>
                <a:solidFill>
                  <a:schemeClr val="tx1"/>
                </a:solidFill>
                <a:effectLst/>
                <a:cs typeface="Arial" pitchFamily="34" charset="0"/>
              </a:rPr>
              <a:t>1) Share the following into</a:t>
            </a:r>
            <a:r>
              <a:rPr kumimoji="0" lang="en-GB" sz="1600" i="0" strike="noStrike" cap="none" normalizeH="0" dirty="0">
                <a:ln>
                  <a:noFill/>
                </a:ln>
                <a:solidFill>
                  <a:schemeClr val="tx1"/>
                </a:solidFill>
                <a:effectLst/>
                <a:cs typeface="Arial" pitchFamily="34" charset="0"/>
              </a:rPr>
              <a:t> the given ratios:</a:t>
            </a:r>
          </a:p>
          <a:p>
            <a:pPr defTabSz="914400" eaLnBrk="0" fontAlgn="base" hangingPunct="0">
              <a:spcBef>
                <a:spcPct val="0"/>
              </a:spcBef>
              <a:spcAft>
                <a:spcPct val="0"/>
              </a:spcAft>
            </a:pPr>
            <a:r>
              <a:rPr lang="en-US" sz="1600" dirty="0"/>
              <a:t>(a) £70 in the ratio  2:3</a:t>
            </a:r>
          </a:p>
          <a:p>
            <a:pPr defTabSz="914400" eaLnBrk="0" fontAlgn="base" hangingPunct="0">
              <a:spcBef>
                <a:spcPct val="0"/>
              </a:spcBef>
              <a:spcAft>
                <a:spcPct val="0"/>
              </a:spcAft>
            </a:pPr>
            <a:r>
              <a:rPr lang="en-US" sz="1600" dirty="0"/>
              <a:t>(b) 3kg in the ratio   9:11</a:t>
            </a:r>
          </a:p>
          <a:p>
            <a:pPr defTabSz="914400" eaLnBrk="0" fontAlgn="base" hangingPunct="0">
              <a:spcBef>
                <a:spcPct val="0"/>
              </a:spcBef>
              <a:spcAft>
                <a:spcPct val="0"/>
              </a:spcAft>
            </a:pPr>
            <a:r>
              <a:rPr lang="en-US" sz="1600" dirty="0">
                <a:cs typeface="Arial" pitchFamily="34" charset="0"/>
              </a:rPr>
              <a:t>(c) 9</a:t>
            </a:r>
            <a:r>
              <a:rPr kumimoji="0" lang="en-US" sz="1600" i="0" strike="noStrike" cap="none" normalizeH="0" baseline="0" dirty="0">
                <a:ln>
                  <a:noFill/>
                </a:ln>
                <a:solidFill>
                  <a:schemeClr val="tx1"/>
                </a:solidFill>
                <a:effectLst/>
                <a:cs typeface="Arial" pitchFamily="34" charset="0"/>
              </a:rPr>
              <a:t>m in</a:t>
            </a:r>
            <a:r>
              <a:rPr kumimoji="0" lang="en-US" sz="1600" i="0" strike="noStrike" cap="none" normalizeH="0" dirty="0">
                <a:ln>
                  <a:noFill/>
                </a:ln>
                <a:solidFill>
                  <a:schemeClr val="tx1"/>
                </a:solidFill>
                <a:effectLst/>
                <a:cs typeface="Arial" pitchFamily="34" charset="0"/>
              </a:rPr>
              <a:t> the ratio</a:t>
            </a:r>
            <a:r>
              <a:rPr kumimoji="0" lang="en-US" sz="1600" i="0" strike="noStrike" cap="none" normalizeH="0" baseline="0" dirty="0">
                <a:ln>
                  <a:noFill/>
                </a:ln>
                <a:solidFill>
                  <a:schemeClr val="tx1"/>
                </a:solidFill>
                <a:effectLst/>
                <a:cs typeface="Arial" pitchFamily="34" charset="0"/>
              </a:rPr>
              <a:t>   4:</a:t>
            </a:r>
            <a:r>
              <a:rPr lang="en-US" sz="1600" dirty="0">
                <a:cs typeface="Arial" pitchFamily="34" charset="0"/>
              </a:rPr>
              <a:t>5</a:t>
            </a:r>
          </a:p>
          <a:p>
            <a:pPr defTabSz="914400" eaLnBrk="0" fontAlgn="base" hangingPunct="0">
              <a:spcBef>
                <a:spcPct val="0"/>
              </a:spcBef>
              <a:spcAft>
                <a:spcPct val="0"/>
              </a:spcAft>
            </a:pPr>
            <a:endParaRPr lang="en-US" sz="1600" dirty="0">
              <a:cs typeface="Arial" pitchFamily="34" charset="0"/>
            </a:endParaRPr>
          </a:p>
          <a:p>
            <a:pPr defTabSz="914400" eaLnBrk="0" fontAlgn="base" hangingPunct="0">
              <a:spcBef>
                <a:spcPct val="0"/>
              </a:spcBef>
              <a:spcAft>
                <a:spcPct val="0"/>
              </a:spcAft>
            </a:pPr>
            <a:endParaRPr lang="en-US" sz="1600" dirty="0">
              <a:cs typeface="Arial" pitchFamily="34" charset="0"/>
            </a:endParaRPr>
          </a:p>
          <a:p>
            <a:pPr defTabSz="914400" eaLnBrk="0" fontAlgn="base" hangingPunct="0">
              <a:spcBef>
                <a:spcPct val="0"/>
              </a:spcBef>
              <a:spcAft>
                <a:spcPct val="0"/>
              </a:spcAft>
            </a:pPr>
            <a:endParaRPr lang="en-US" sz="1600" dirty="0">
              <a:cs typeface="Arial" pitchFamily="34" charset="0"/>
            </a:endParaRPr>
          </a:p>
          <a:p>
            <a:pPr defTabSz="914400" eaLnBrk="0" fontAlgn="base" hangingPunct="0">
              <a:spcBef>
                <a:spcPct val="0"/>
              </a:spcBef>
              <a:spcAft>
                <a:spcPct val="0"/>
              </a:spcAft>
            </a:pPr>
            <a:endParaRPr lang="en-US" sz="1600" dirty="0">
              <a:cs typeface="Arial" pitchFamily="34" charset="0"/>
            </a:endParaRPr>
          </a:p>
          <a:p>
            <a:pPr defTabSz="914400" eaLnBrk="0" fontAlgn="base" hangingPunct="0">
              <a:spcBef>
                <a:spcPct val="0"/>
              </a:spcBef>
              <a:spcAft>
                <a:spcPct val="0"/>
              </a:spcAft>
            </a:pPr>
            <a:r>
              <a:rPr lang="en-US" sz="1600" dirty="0">
                <a:cs typeface="Arial" pitchFamily="34" charset="0"/>
              </a:rPr>
              <a:t>2)In April, the ratio of sunny days to rainy days is 1:2. How many days were rainy?</a:t>
            </a:r>
          </a:p>
          <a:p>
            <a:pPr defTabSz="914400" eaLnBrk="0" fontAlgn="base" hangingPunct="0">
              <a:spcBef>
                <a:spcPct val="0"/>
              </a:spcBef>
              <a:spcAft>
                <a:spcPct val="0"/>
              </a:spcAft>
            </a:pPr>
            <a:endParaRPr lang="en-US" sz="1600" dirty="0">
              <a:cs typeface="Arial" pitchFamily="34" charset="0"/>
            </a:endParaRPr>
          </a:p>
          <a:p>
            <a:pPr defTabSz="914400" eaLnBrk="0" fontAlgn="base" hangingPunct="0">
              <a:spcBef>
                <a:spcPct val="0"/>
              </a:spcBef>
              <a:spcAft>
                <a:spcPct val="0"/>
              </a:spcAft>
            </a:pPr>
            <a:endParaRPr lang="en-US" sz="1600" dirty="0">
              <a:cs typeface="Arial" pitchFamily="34" charset="0"/>
            </a:endParaRPr>
          </a:p>
          <a:p>
            <a:pPr defTabSz="914400" eaLnBrk="0" fontAlgn="base" hangingPunct="0">
              <a:spcBef>
                <a:spcPct val="0"/>
              </a:spcBef>
              <a:spcAft>
                <a:spcPct val="0"/>
              </a:spcAft>
            </a:pPr>
            <a:endParaRPr lang="en-US" sz="1600" dirty="0">
              <a:cs typeface="Arial" pitchFamily="34" charset="0"/>
            </a:endParaRPr>
          </a:p>
          <a:p>
            <a:pPr defTabSz="914400" eaLnBrk="0" fontAlgn="base" hangingPunct="0">
              <a:spcBef>
                <a:spcPct val="0"/>
              </a:spcBef>
              <a:spcAft>
                <a:spcPct val="0"/>
              </a:spcAft>
            </a:pPr>
            <a:r>
              <a:rPr lang="en-GB" sz="1600" dirty="0">
                <a:cs typeface="Arial" pitchFamily="34" charset="0"/>
              </a:rPr>
              <a:t>3)There are 5p and 2p coins in a bag. The ratio of 5p coins to 2p coins is 3 : 7. If the value of the bag adds to £2.90, how many 2p coins are in the bag?</a:t>
            </a:r>
            <a:endParaRPr lang="en-US" sz="1600" dirty="0">
              <a:cs typeface="Arial" pitchFamily="34" charset="0"/>
            </a:endParaRPr>
          </a:p>
        </p:txBody>
      </p:sp>
      <p:sp>
        <p:nvSpPr>
          <p:cNvPr id="8" name="TextBox 7"/>
          <p:cNvSpPr txBox="1"/>
          <p:nvPr/>
        </p:nvSpPr>
        <p:spPr>
          <a:xfrm>
            <a:off x="1947294" y="1345022"/>
            <a:ext cx="2726850" cy="338554"/>
          </a:xfrm>
          <a:prstGeom prst="rect">
            <a:avLst/>
          </a:prstGeom>
          <a:noFill/>
        </p:spPr>
        <p:txBody>
          <a:bodyPr wrap="square" rtlCol="0">
            <a:spAutoFit/>
          </a:bodyPr>
          <a:lstStyle/>
          <a:p>
            <a:r>
              <a:rPr lang="en-GB" sz="1600" b="1" dirty="0">
                <a:solidFill>
                  <a:srgbClr val="FF0000"/>
                </a:solidFill>
              </a:rPr>
              <a:t> a) £28 : £42</a:t>
            </a:r>
            <a:endParaRPr lang="en-US" sz="1600" b="1" dirty="0">
              <a:solidFill>
                <a:srgbClr val="FF0000"/>
              </a:solidFill>
            </a:endParaRPr>
          </a:p>
        </p:txBody>
      </p:sp>
      <p:sp>
        <p:nvSpPr>
          <p:cNvPr id="9" name="TextBox 8"/>
          <p:cNvSpPr txBox="1"/>
          <p:nvPr/>
        </p:nvSpPr>
        <p:spPr>
          <a:xfrm>
            <a:off x="1994625" y="1600664"/>
            <a:ext cx="5115240" cy="338554"/>
          </a:xfrm>
          <a:prstGeom prst="rect">
            <a:avLst/>
          </a:prstGeom>
          <a:noFill/>
        </p:spPr>
        <p:txBody>
          <a:bodyPr wrap="square" rtlCol="0">
            <a:spAutoFit/>
          </a:bodyPr>
          <a:lstStyle/>
          <a:p>
            <a:r>
              <a:rPr lang="en-GB" sz="1600" b="1" dirty="0">
                <a:solidFill>
                  <a:srgbClr val="FF0000"/>
                </a:solidFill>
              </a:rPr>
              <a:t>b</a:t>
            </a:r>
            <a:r>
              <a:rPr lang="en-GB" sz="1600" b="1">
                <a:solidFill>
                  <a:srgbClr val="FF0000"/>
                </a:solidFill>
              </a:rPr>
              <a:t>) 1350g </a:t>
            </a:r>
            <a:r>
              <a:rPr lang="en-GB" sz="1600" b="1" dirty="0">
                <a:solidFill>
                  <a:srgbClr val="FF0000"/>
                </a:solidFill>
              </a:rPr>
              <a:t>:  1650g </a:t>
            </a:r>
            <a:r>
              <a:rPr lang="en-GB" sz="1600" b="1">
                <a:solidFill>
                  <a:srgbClr val="FF0000"/>
                </a:solidFill>
              </a:rPr>
              <a:t>or 1.35Kg </a:t>
            </a:r>
            <a:r>
              <a:rPr lang="en-GB" sz="1600" b="1" dirty="0">
                <a:solidFill>
                  <a:srgbClr val="FF0000"/>
                </a:solidFill>
              </a:rPr>
              <a:t>: 1.65 kg</a:t>
            </a:r>
            <a:endParaRPr lang="en-US" sz="1600" b="1" dirty="0">
              <a:solidFill>
                <a:srgbClr val="FF0000"/>
              </a:solidFill>
            </a:endParaRPr>
          </a:p>
        </p:txBody>
      </p:sp>
      <p:sp>
        <p:nvSpPr>
          <p:cNvPr id="10" name="TextBox 9"/>
          <p:cNvSpPr txBox="1"/>
          <p:nvPr/>
        </p:nvSpPr>
        <p:spPr>
          <a:xfrm>
            <a:off x="2003769" y="1856306"/>
            <a:ext cx="3242185" cy="338554"/>
          </a:xfrm>
          <a:prstGeom prst="rect">
            <a:avLst/>
          </a:prstGeom>
          <a:noFill/>
        </p:spPr>
        <p:txBody>
          <a:bodyPr wrap="square" rtlCol="0">
            <a:spAutoFit/>
          </a:bodyPr>
          <a:lstStyle/>
          <a:p>
            <a:r>
              <a:rPr lang="en-GB" sz="1600" b="1" dirty="0">
                <a:solidFill>
                  <a:srgbClr val="FF0000"/>
                </a:solidFill>
              </a:rPr>
              <a:t>c) 4m : 5m</a:t>
            </a:r>
            <a:endParaRPr lang="en-US" sz="1600" b="1" dirty="0">
              <a:solidFill>
                <a:srgbClr val="FF0000"/>
              </a:solidFill>
            </a:endParaRPr>
          </a:p>
        </p:txBody>
      </p:sp>
      <p:sp>
        <p:nvSpPr>
          <p:cNvPr id="11" name="TextBox 10"/>
          <p:cNvSpPr txBox="1"/>
          <p:nvPr/>
        </p:nvSpPr>
        <p:spPr>
          <a:xfrm>
            <a:off x="1747358" y="3728107"/>
            <a:ext cx="1296144" cy="338554"/>
          </a:xfrm>
          <a:prstGeom prst="rect">
            <a:avLst/>
          </a:prstGeom>
          <a:noFill/>
        </p:spPr>
        <p:txBody>
          <a:bodyPr wrap="square" rtlCol="0">
            <a:spAutoFit/>
          </a:bodyPr>
          <a:lstStyle/>
          <a:p>
            <a:r>
              <a:rPr lang="en-GB" sz="1600" b="1" dirty="0">
                <a:solidFill>
                  <a:srgbClr val="FF0000"/>
                </a:solidFill>
              </a:rPr>
              <a:t>20</a:t>
            </a:r>
            <a:endParaRPr lang="en-US" sz="1600" b="1" dirty="0">
              <a:solidFill>
                <a:srgbClr val="FF0000"/>
              </a:solidFill>
            </a:endParaRPr>
          </a:p>
        </p:txBody>
      </p:sp>
      <p:sp>
        <p:nvSpPr>
          <p:cNvPr id="12" name="TextBox 11"/>
          <p:cNvSpPr txBox="1"/>
          <p:nvPr/>
        </p:nvSpPr>
        <p:spPr>
          <a:xfrm>
            <a:off x="1747358" y="5647043"/>
            <a:ext cx="1734448" cy="338554"/>
          </a:xfrm>
          <a:prstGeom prst="rect">
            <a:avLst/>
          </a:prstGeom>
          <a:noFill/>
        </p:spPr>
        <p:txBody>
          <a:bodyPr wrap="square" rtlCol="0">
            <a:spAutoFit/>
          </a:bodyPr>
          <a:lstStyle/>
          <a:p>
            <a:r>
              <a:rPr lang="en-GB" sz="1600" b="1" dirty="0">
                <a:solidFill>
                  <a:srgbClr val="FF0000"/>
                </a:solidFill>
              </a:rPr>
              <a:t>70</a:t>
            </a:r>
            <a:endParaRPr lang="en-US" sz="1600" b="1" dirty="0">
              <a:solidFill>
                <a:srgbClr val="FF0000"/>
              </a:solidFill>
            </a:endParaRPr>
          </a:p>
        </p:txBody>
      </p:sp>
    </p:spTree>
    <p:extLst>
      <p:ext uri="{BB962C8B-B14F-4D97-AF65-F5344CB8AC3E}">
        <p14:creationId xmlns:p14="http://schemas.microsoft.com/office/powerpoint/2010/main" val="1314175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ox(i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ox(in)">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ox(in)">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3">
                                            <p:txEl>
                                              <p:pRg st="10" end="10"/>
                                            </p:txEl>
                                          </p:spTgt>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3">
                                            <p:txEl>
                                              <p:pRg st="14" end="14"/>
                                            </p:txEl>
                                          </p:spTgt>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3">
                                            <p:txEl>
                                              <p:pRg st="15" end="15"/>
                                            </p:txEl>
                                          </p:spTgt>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3">
                                            <p:txEl>
                                              <p:pRg st="16" end="16"/>
                                            </p:txEl>
                                          </p:spTgt>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alphaModFix amt="49000"/>
          </a:blip>
          <a:srcRect b="80981"/>
          <a:stretch/>
        </p:blipFill>
        <p:spPr>
          <a:xfrm>
            <a:off x="573980" y="1386516"/>
            <a:ext cx="7739740" cy="1094038"/>
          </a:xfrm>
          <a:prstGeom prst="rect">
            <a:avLst/>
          </a:prstGeom>
        </p:spPr>
      </p:pic>
      <p:sp>
        <p:nvSpPr>
          <p:cNvPr id="3" name="TextBox 2"/>
          <p:cNvSpPr txBox="1"/>
          <p:nvPr/>
        </p:nvSpPr>
        <p:spPr>
          <a:xfrm>
            <a:off x="573980" y="1320293"/>
            <a:ext cx="8679931" cy="1200329"/>
          </a:xfrm>
          <a:prstGeom prst="rect">
            <a:avLst/>
          </a:prstGeom>
          <a:noFill/>
        </p:spPr>
        <p:txBody>
          <a:bodyPr wrap="square" rtlCol="0">
            <a:spAutoFit/>
          </a:bodyPr>
          <a:lstStyle/>
          <a:p>
            <a:r>
              <a:rPr lang="en-US" sz="2400" dirty="0"/>
              <a:t>Paul and Katie share some sweets in the ratio 3:8</a:t>
            </a:r>
          </a:p>
          <a:p>
            <a:r>
              <a:rPr lang="en-US" sz="2400" dirty="0"/>
              <a:t>Katie gets 32 sweets.</a:t>
            </a:r>
          </a:p>
          <a:p>
            <a:r>
              <a:rPr lang="en-US" sz="2400" dirty="0"/>
              <a:t>How many sweets does Paul get?</a:t>
            </a:r>
          </a:p>
        </p:txBody>
      </p:sp>
      <p:sp>
        <p:nvSpPr>
          <p:cNvPr id="5" name="TextBox 4"/>
          <p:cNvSpPr txBox="1"/>
          <p:nvPr/>
        </p:nvSpPr>
        <p:spPr>
          <a:xfrm>
            <a:off x="2304143" y="2798856"/>
            <a:ext cx="1705428" cy="1015663"/>
          </a:xfrm>
          <a:prstGeom prst="rect">
            <a:avLst/>
          </a:prstGeom>
          <a:noFill/>
        </p:spPr>
        <p:txBody>
          <a:bodyPr wrap="square" rtlCol="0">
            <a:spAutoFit/>
          </a:bodyPr>
          <a:lstStyle/>
          <a:p>
            <a:r>
              <a:rPr lang="en-US" sz="6000" b="1" dirty="0">
                <a:solidFill>
                  <a:srgbClr val="0000FF"/>
                </a:solidFill>
              </a:rPr>
              <a:t>P : K</a:t>
            </a:r>
          </a:p>
        </p:txBody>
      </p:sp>
      <p:sp>
        <p:nvSpPr>
          <p:cNvPr id="6" name="TextBox 5"/>
          <p:cNvSpPr txBox="1"/>
          <p:nvPr/>
        </p:nvSpPr>
        <p:spPr>
          <a:xfrm>
            <a:off x="2340429" y="3549630"/>
            <a:ext cx="1705428" cy="1015663"/>
          </a:xfrm>
          <a:prstGeom prst="rect">
            <a:avLst/>
          </a:prstGeom>
          <a:noFill/>
        </p:spPr>
        <p:txBody>
          <a:bodyPr wrap="square" rtlCol="0">
            <a:spAutoFit/>
          </a:bodyPr>
          <a:lstStyle/>
          <a:p>
            <a:r>
              <a:rPr lang="en-US" sz="6000" b="1" dirty="0">
                <a:solidFill>
                  <a:srgbClr val="0000FF"/>
                </a:solidFill>
              </a:rPr>
              <a:t>3 : 8</a:t>
            </a:r>
          </a:p>
        </p:txBody>
      </p:sp>
      <p:sp>
        <p:nvSpPr>
          <p:cNvPr id="7" name="TextBox 6"/>
          <p:cNvSpPr txBox="1"/>
          <p:nvPr/>
        </p:nvSpPr>
        <p:spPr>
          <a:xfrm>
            <a:off x="2910118" y="4337030"/>
            <a:ext cx="1705428" cy="1015663"/>
          </a:xfrm>
          <a:prstGeom prst="rect">
            <a:avLst/>
          </a:prstGeom>
          <a:noFill/>
        </p:spPr>
        <p:txBody>
          <a:bodyPr wrap="square" rtlCol="0">
            <a:spAutoFit/>
          </a:bodyPr>
          <a:lstStyle/>
          <a:p>
            <a:r>
              <a:rPr lang="en-US" sz="6000" b="1" dirty="0">
                <a:solidFill>
                  <a:srgbClr val="0000FF"/>
                </a:solidFill>
              </a:rPr>
              <a:t>: 32</a:t>
            </a:r>
          </a:p>
        </p:txBody>
      </p:sp>
      <p:sp>
        <p:nvSpPr>
          <p:cNvPr id="8" name="Curved Left Arrow 7"/>
          <p:cNvSpPr/>
          <p:nvPr/>
        </p:nvSpPr>
        <p:spPr>
          <a:xfrm rot="10800000" flipH="1" flipV="1">
            <a:off x="4230826" y="4061237"/>
            <a:ext cx="504056" cy="1008112"/>
          </a:xfrm>
          <a:prstGeom prst="curved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9" name="TextBox 8"/>
          <p:cNvSpPr txBox="1"/>
          <p:nvPr/>
        </p:nvSpPr>
        <p:spPr>
          <a:xfrm>
            <a:off x="5566233" y="3017433"/>
            <a:ext cx="1182910" cy="1938992"/>
          </a:xfrm>
          <a:prstGeom prst="rect">
            <a:avLst/>
          </a:prstGeom>
          <a:noFill/>
        </p:spPr>
        <p:txBody>
          <a:bodyPr wrap="square" rtlCol="0">
            <a:spAutoFit/>
          </a:bodyPr>
          <a:lstStyle/>
          <a:p>
            <a:pPr algn="ctr"/>
            <a:r>
              <a:rPr lang="en-US" sz="6000" b="1" u="sng" dirty="0">
                <a:solidFill>
                  <a:srgbClr val="0000FF"/>
                </a:solidFill>
              </a:rPr>
              <a:t>32</a:t>
            </a:r>
          </a:p>
          <a:p>
            <a:pPr algn="ctr"/>
            <a:r>
              <a:rPr lang="en-US" sz="6000" b="1" dirty="0">
                <a:solidFill>
                  <a:srgbClr val="0000FF"/>
                </a:solidFill>
              </a:rPr>
              <a:t>8</a:t>
            </a:r>
          </a:p>
        </p:txBody>
      </p:sp>
      <p:sp>
        <p:nvSpPr>
          <p:cNvPr id="10" name="TextBox 9"/>
          <p:cNvSpPr txBox="1"/>
          <p:nvPr/>
        </p:nvSpPr>
        <p:spPr>
          <a:xfrm>
            <a:off x="6749143" y="3364909"/>
            <a:ext cx="1034143" cy="1015663"/>
          </a:xfrm>
          <a:prstGeom prst="rect">
            <a:avLst/>
          </a:prstGeom>
          <a:noFill/>
        </p:spPr>
        <p:txBody>
          <a:bodyPr wrap="square" rtlCol="0">
            <a:spAutoFit/>
          </a:bodyPr>
          <a:lstStyle/>
          <a:p>
            <a:r>
              <a:rPr lang="en-US" sz="6000" b="1" dirty="0">
                <a:solidFill>
                  <a:srgbClr val="0000FF"/>
                </a:solidFill>
              </a:rPr>
              <a:t>=4</a:t>
            </a:r>
          </a:p>
        </p:txBody>
      </p:sp>
      <p:sp>
        <p:nvSpPr>
          <p:cNvPr id="11" name="TextBox 10"/>
          <p:cNvSpPr txBox="1"/>
          <p:nvPr/>
        </p:nvSpPr>
        <p:spPr>
          <a:xfrm>
            <a:off x="5812971" y="5352693"/>
            <a:ext cx="3276600" cy="1015663"/>
          </a:xfrm>
          <a:prstGeom prst="rect">
            <a:avLst/>
          </a:prstGeom>
          <a:noFill/>
        </p:spPr>
        <p:txBody>
          <a:bodyPr wrap="square" rtlCol="0">
            <a:spAutoFit/>
          </a:bodyPr>
          <a:lstStyle/>
          <a:p>
            <a:r>
              <a:rPr lang="en-US" sz="6000" b="1" dirty="0">
                <a:solidFill>
                  <a:srgbClr val="0000FF"/>
                </a:solidFill>
              </a:rPr>
              <a:t>3 x 4 = 12</a:t>
            </a:r>
          </a:p>
        </p:txBody>
      </p:sp>
      <p:sp>
        <p:nvSpPr>
          <p:cNvPr id="12" name="Curved Left Arrow 11"/>
          <p:cNvSpPr/>
          <p:nvPr/>
        </p:nvSpPr>
        <p:spPr>
          <a:xfrm flipH="1">
            <a:off x="1705307" y="4157771"/>
            <a:ext cx="504056" cy="1008112"/>
          </a:xfrm>
          <a:prstGeom prst="curved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13" name="TextBox 12"/>
          <p:cNvSpPr txBox="1"/>
          <p:nvPr/>
        </p:nvSpPr>
        <p:spPr>
          <a:xfrm>
            <a:off x="2114488" y="4356028"/>
            <a:ext cx="964627" cy="1015663"/>
          </a:xfrm>
          <a:prstGeom prst="rect">
            <a:avLst/>
          </a:prstGeom>
          <a:noFill/>
        </p:spPr>
        <p:txBody>
          <a:bodyPr wrap="none" rtlCol="0">
            <a:spAutoFit/>
          </a:bodyPr>
          <a:lstStyle/>
          <a:p>
            <a:r>
              <a:rPr lang="en-GB" sz="6000" b="1" dirty="0">
                <a:solidFill>
                  <a:srgbClr val="FF0000"/>
                </a:solidFill>
                <a:latin typeface="+mj-lt"/>
              </a:rPr>
              <a:t>12</a:t>
            </a:r>
          </a:p>
        </p:txBody>
      </p:sp>
      <p:sp>
        <p:nvSpPr>
          <p:cNvPr id="15" name="Title 1"/>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Ratio sharing </a:t>
            </a:r>
            <a:r>
              <a:rPr lang="en-GB" b="1" dirty="0" err="1">
                <a:latin typeface="+mn-lt"/>
              </a:rPr>
              <a:t>contexualised</a:t>
            </a:r>
            <a:r>
              <a:rPr lang="en-GB" b="1" dirty="0">
                <a:latin typeface="+mn-lt"/>
              </a:rPr>
              <a:t> question</a:t>
            </a:r>
          </a:p>
        </p:txBody>
      </p:sp>
    </p:spTree>
    <p:extLst>
      <p:ext uri="{BB962C8B-B14F-4D97-AF65-F5344CB8AC3E}">
        <p14:creationId xmlns:p14="http://schemas.microsoft.com/office/powerpoint/2010/main" val="1720670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heckerboard(across)">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checkerboard(across)">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checkerboard(across)">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up)">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checkerboard(across)">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dissolve">
                                      <p:cBhvr>
                                        <p:cTn id="4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animBg="1"/>
      <p:bldP spid="9" grpId="0"/>
      <p:bldP spid="10" grpId="0"/>
      <p:bldP spid="11" grpId="0"/>
      <p:bldP spid="12" grpId="0" animBg="1"/>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6896160" y="1780592"/>
            <a:ext cx="1679778" cy="1250332"/>
          </a:xfrm>
          <a:prstGeom prst="rect">
            <a:avLst/>
          </a:prstGeom>
        </p:spPr>
      </p:pic>
      <p:sp>
        <p:nvSpPr>
          <p:cNvPr id="3" name="TextBox 2"/>
          <p:cNvSpPr txBox="1"/>
          <p:nvPr/>
        </p:nvSpPr>
        <p:spPr>
          <a:xfrm>
            <a:off x="75824" y="1417512"/>
            <a:ext cx="9144000" cy="1938992"/>
          </a:xfrm>
          <a:prstGeom prst="rect">
            <a:avLst/>
          </a:prstGeom>
          <a:noFill/>
        </p:spPr>
        <p:txBody>
          <a:bodyPr wrap="square" rtlCol="0">
            <a:spAutoFit/>
          </a:bodyPr>
          <a:lstStyle/>
          <a:p>
            <a:r>
              <a:rPr lang="en-US" sz="2400" dirty="0"/>
              <a:t>Sandra has a piece of string 150cm long.</a:t>
            </a:r>
          </a:p>
          <a:p>
            <a:endParaRPr lang="en-US" sz="2400" dirty="0"/>
          </a:p>
          <a:p>
            <a:r>
              <a:rPr lang="en-US" sz="2400" dirty="0"/>
              <a:t>She cuts the string into three lengths in the ratio 5:2:3</a:t>
            </a:r>
          </a:p>
          <a:p>
            <a:endParaRPr lang="en-US" sz="2400" dirty="0"/>
          </a:p>
          <a:p>
            <a:r>
              <a:rPr lang="en-US" sz="2400" dirty="0"/>
              <a:t>Work out the length, in cm, of each piece of string.</a:t>
            </a:r>
          </a:p>
        </p:txBody>
      </p:sp>
      <p:sp>
        <p:nvSpPr>
          <p:cNvPr id="5" name="TextBox 4"/>
          <p:cNvSpPr txBox="1"/>
          <p:nvPr/>
        </p:nvSpPr>
        <p:spPr>
          <a:xfrm>
            <a:off x="1251856" y="3489520"/>
            <a:ext cx="2775857" cy="1015663"/>
          </a:xfrm>
          <a:prstGeom prst="rect">
            <a:avLst/>
          </a:prstGeom>
          <a:noFill/>
        </p:spPr>
        <p:txBody>
          <a:bodyPr wrap="square" rtlCol="0">
            <a:spAutoFit/>
          </a:bodyPr>
          <a:lstStyle/>
          <a:p>
            <a:r>
              <a:rPr lang="en-US" sz="6000" b="1" dirty="0">
                <a:solidFill>
                  <a:srgbClr val="0000FF"/>
                </a:solidFill>
              </a:rPr>
              <a:t>5 : 2 : 3</a:t>
            </a:r>
          </a:p>
        </p:txBody>
      </p:sp>
      <p:sp>
        <p:nvSpPr>
          <p:cNvPr id="6" name="TextBox 5"/>
          <p:cNvSpPr txBox="1"/>
          <p:nvPr/>
        </p:nvSpPr>
        <p:spPr>
          <a:xfrm>
            <a:off x="4270827" y="3429061"/>
            <a:ext cx="2936935" cy="1015663"/>
          </a:xfrm>
          <a:prstGeom prst="rect">
            <a:avLst/>
          </a:prstGeom>
          <a:noFill/>
        </p:spPr>
        <p:txBody>
          <a:bodyPr wrap="square" rtlCol="0">
            <a:spAutoFit/>
          </a:bodyPr>
          <a:lstStyle/>
          <a:p>
            <a:r>
              <a:rPr lang="en-US" sz="6000" b="1" dirty="0">
                <a:solidFill>
                  <a:srgbClr val="0000FF"/>
                </a:solidFill>
              </a:rPr>
              <a:t>=10 </a:t>
            </a:r>
            <a:r>
              <a:rPr lang="en-US" sz="2000" b="1" dirty="0">
                <a:solidFill>
                  <a:srgbClr val="FF0000"/>
                </a:solidFill>
              </a:rPr>
              <a:t>parts</a:t>
            </a:r>
          </a:p>
        </p:txBody>
      </p:sp>
      <p:sp>
        <p:nvSpPr>
          <p:cNvPr id="7" name="TextBox 6"/>
          <p:cNvSpPr txBox="1"/>
          <p:nvPr/>
        </p:nvSpPr>
        <p:spPr>
          <a:xfrm>
            <a:off x="4270827" y="4432664"/>
            <a:ext cx="2280025" cy="1015663"/>
          </a:xfrm>
          <a:prstGeom prst="rect">
            <a:avLst/>
          </a:prstGeom>
          <a:noFill/>
        </p:spPr>
        <p:txBody>
          <a:bodyPr wrap="square" rtlCol="0">
            <a:spAutoFit/>
          </a:bodyPr>
          <a:lstStyle/>
          <a:p>
            <a:r>
              <a:rPr lang="en-US" sz="6000" b="1" dirty="0">
                <a:solidFill>
                  <a:srgbClr val="0000FF"/>
                </a:solidFill>
              </a:rPr>
              <a:t>=150</a:t>
            </a:r>
            <a:r>
              <a:rPr lang="en-US" b="1" dirty="0">
                <a:solidFill>
                  <a:srgbClr val="FF0000"/>
                </a:solidFill>
              </a:rPr>
              <a:t>cm</a:t>
            </a:r>
            <a:endParaRPr lang="en-US" b="1" dirty="0">
              <a:solidFill>
                <a:srgbClr val="0000FF"/>
              </a:solidFill>
            </a:endParaRPr>
          </a:p>
        </p:txBody>
      </p:sp>
      <p:sp>
        <p:nvSpPr>
          <p:cNvPr id="8" name="Curved Left Arrow 7"/>
          <p:cNvSpPr/>
          <p:nvPr/>
        </p:nvSpPr>
        <p:spPr>
          <a:xfrm rot="10800000" flipH="1" flipV="1">
            <a:off x="6255312" y="4058001"/>
            <a:ext cx="504056" cy="1008112"/>
          </a:xfrm>
          <a:prstGeom prst="curved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9" name="TextBox 8"/>
          <p:cNvSpPr txBox="1"/>
          <p:nvPr/>
        </p:nvSpPr>
        <p:spPr>
          <a:xfrm>
            <a:off x="6961334" y="3649435"/>
            <a:ext cx="1174237" cy="1323439"/>
          </a:xfrm>
          <a:prstGeom prst="rect">
            <a:avLst/>
          </a:prstGeom>
          <a:noFill/>
        </p:spPr>
        <p:txBody>
          <a:bodyPr wrap="square" rtlCol="0">
            <a:spAutoFit/>
          </a:bodyPr>
          <a:lstStyle/>
          <a:p>
            <a:pPr algn="ctr"/>
            <a:r>
              <a:rPr lang="en-US" sz="4000" b="1" u="sng" dirty="0">
                <a:solidFill>
                  <a:srgbClr val="0000FF"/>
                </a:solidFill>
              </a:rPr>
              <a:t>150</a:t>
            </a:r>
          </a:p>
          <a:p>
            <a:pPr algn="ctr"/>
            <a:r>
              <a:rPr lang="en-US" sz="4000" b="1" dirty="0">
                <a:solidFill>
                  <a:srgbClr val="0000FF"/>
                </a:solidFill>
              </a:rPr>
              <a:t>10</a:t>
            </a:r>
          </a:p>
        </p:txBody>
      </p:sp>
      <p:sp>
        <p:nvSpPr>
          <p:cNvPr id="10" name="TextBox 9"/>
          <p:cNvSpPr txBox="1"/>
          <p:nvPr/>
        </p:nvSpPr>
        <p:spPr>
          <a:xfrm>
            <a:off x="7932053" y="3883163"/>
            <a:ext cx="1287771" cy="707886"/>
          </a:xfrm>
          <a:prstGeom prst="rect">
            <a:avLst/>
          </a:prstGeom>
          <a:noFill/>
        </p:spPr>
        <p:txBody>
          <a:bodyPr wrap="square" rtlCol="0">
            <a:spAutoFit/>
          </a:bodyPr>
          <a:lstStyle/>
          <a:p>
            <a:r>
              <a:rPr lang="en-US" sz="4000" b="1" dirty="0">
                <a:solidFill>
                  <a:srgbClr val="0000FF"/>
                </a:solidFill>
              </a:rPr>
              <a:t>= 15</a:t>
            </a:r>
          </a:p>
        </p:txBody>
      </p:sp>
      <p:sp>
        <p:nvSpPr>
          <p:cNvPr id="11" name="Curved Left Arrow 10"/>
          <p:cNvSpPr/>
          <p:nvPr/>
        </p:nvSpPr>
        <p:spPr>
          <a:xfrm flipH="1">
            <a:off x="747800" y="4249589"/>
            <a:ext cx="504056" cy="1008112"/>
          </a:xfrm>
          <a:prstGeom prst="curved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12" name="TextBox 11"/>
          <p:cNvSpPr txBox="1"/>
          <p:nvPr/>
        </p:nvSpPr>
        <p:spPr>
          <a:xfrm>
            <a:off x="6550852" y="5862389"/>
            <a:ext cx="2668972" cy="707886"/>
          </a:xfrm>
          <a:prstGeom prst="rect">
            <a:avLst/>
          </a:prstGeom>
          <a:noFill/>
        </p:spPr>
        <p:txBody>
          <a:bodyPr wrap="square" rtlCol="0">
            <a:spAutoFit/>
          </a:bodyPr>
          <a:lstStyle/>
          <a:p>
            <a:r>
              <a:rPr lang="en-US" sz="4000" b="1" dirty="0">
                <a:solidFill>
                  <a:srgbClr val="0000FF"/>
                </a:solidFill>
              </a:rPr>
              <a:t> 5 x 15 = 75</a:t>
            </a:r>
          </a:p>
        </p:txBody>
      </p:sp>
      <p:sp>
        <p:nvSpPr>
          <p:cNvPr id="13" name="Curved Left Arrow 12"/>
          <p:cNvSpPr/>
          <p:nvPr/>
        </p:nvSpPr>
        <p:spPr>
          <a:xfrm flipH="1">
            <a:off x="1772185" y="4326157"/>
            <a:ext cx="504056" cy="1008112"/>
          </a:xfrm>
          <a:prstGeom prst="curved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14" name="Curved Left Arrow 13"/>
          <p:cNvSpPr/>
          <p:nvPr/>
        </p:nvSpPr>
        <p:spPr>
          <a:xfrm flipH="1">
            <a:off x="2644922" y="4307199"/>
            <a:ext cx="504056" cy="1008112"/>
          </a:xfrm>
          <a:prstGeom prst="curved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15" name="TextBox 14"/>
          <p:cNvSpPr txBox="1"/>
          <p:nvPr/>
        </p:nvSpPr>
        <p:spPr>
          <a:xfrm>
            <a:off x="1251856" y="4740441"/>
            <a:ext cx="2775857" cy="707886"/>
          </a:xfrm>
          <a:prstGeom prst="rect">
            <a:avLst/>
          </a:prstGeom>
          <a:noFill/>
        </p:spPr>
        <p:txBody>
          <a:bodyPr wrap="square" rtlCol="0">
            <a:spAutoFit/>
          </a:bodyPr>
          <a:lstStyle/>
          <a:p>
            <a:r>
              <a:rPr lang="en-US" sz="4000" b="1" dirty="0">
                <a:solidFill>
                  <a:srgbClr val="0000FF"/>
                </a:solidFill>
              </a:rPr>
              <a:t>75 : 30 : 45</a:t>
            </a:r>
          </a:p>
        </p:txBody>
      </p:sp>
      <p:sp>
        <p:nvSpPr>
          <p:cNvPr id="18" name="Title 1"/>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Ratio sharing </a:t>
            </a:r>
            <a:r>
              <a:rPr lang="en-GB" b="1" dirty="0" err="1">
                <a:latin typeface="+mn-lt"/>
              </a:rPr>
              <a:t>contexualised</a:t>
            </a:r>
            <a:r>
              <a:rPr lang="en-GB" b="1" dirty="0">
                <a:latin typeface="+mn-lt"/>
              </a:rPr>
              <a:t> question</a:t>
            </a:r>
          </a:p>
        </p:txBody>
      </p:sp>
    </p:spTree>
    <p:extLst>
      <p:ext uri="{BB962C8B-B14F-4D97-AF65-F5344CB8AC3E}">
        <p14:creationId xmlns:p14="http://schemas.microsoft.com/office/powerpoint/2010/main" val="2042086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heckerboard(across)">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checkerboard(across)">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checkerboard(across)">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up)">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checkerboard(across)">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up)">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wipe(up)">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checkerboard(across)">
                                      <p:cBhvr>
                                        <p:cTn id="5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animBg="1"/>
      <p:bldP spid="9" grpId="0"/>
      <p:bldP spid="10" grpId="0"/>
      <p:bldP spid="11" grpId="0" animBg="1"/>
      <p:bldP spid="12" grpId="0"/>
      <p:bldP spid="13" grpId="0" animBg="1"/>
      <p:bldP spid="14" grpId="0" animBg="1"/>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6260596" y="1250874"/>
            <a:ext cx="2614073" cy="1733639"/>
          </a:xfrm>
          <a:prstGeom prst="rect">
            <a:avLst/>
          </a:prstGeom>
        </p:spPr>
      </p:pic>
      <p:sp>
        <p:nvSpPr>
          <p:cNvPr id="3" name="TextBox 2"/>
          <p:cNvSpPr txBox="1"/>
          <p:nvPr/>
        </p:nvSpPr>
        <p:spPr>
          <a:xfrm>
            <a:off x="0" y="1316465"/>
            <a:ext cx="8857830" cy="1938992"/>
          </a:xfrm>
          <a:prstGeom prst="rect">
            <a:avLst/>
          </a:prstGeom>
          <a:noFill/>
        </p:spPr>
        <p:txBody>
          <a:bodyPr wrap="square" rtlCol="0">
            <a:spAutoFit/>
          </a:bodyPr>
          <a:lstStyle/>
          <a:p>
            <a:r>
              <a:rPr lang="en-US" sz="2400" dirty="0"/>
              <a:t>Pat and Julie share some money in the ratio 2:5</a:t>
            </a:r>
          </a:p>
          <a:p>
            <a:endParaRPr lang="en-US" sz="2400" dirty="0"/>
          </a:p>
          <a:p>
            <a:r>
              <a:rPr lang="en-US" sz="2400" dirty="0"/>
              <a:t>Julie gets £45 more than Pat.</a:t>
            </a:r>
          </a:p>
          <a:p>
            <a:endParaRPr lang="en-US" sz="2400" dirty="0"/>
          </a:p>
          <a:p>
            <a:r>
              <a:rPr lang="en-US" sz="2400" dirty="0"/>
              <a:t>How much money did Pat get?</a:t>
            </a:r>
          </a:p>
        </p:txBody>
      </p:sp>
      <p:sp>
        <p:nvSpPr>
          <p:cNvPr id="5" name="TextBox 4"/>
          <p:cNvSpPr txBox="1"/>
          <p:nvPr/>
        </p:nvSpPr>
        <p:spPr>
          <a:xfrm>
            <a:off x="2304143" y="3970381"/>
            <a:ext cx="1705428" cy="1015663"/>
          </a:xfrm>
          <a:prstGeom prst="rect">
            <a:avLst/>
          </a:prstGeom>
          <a:noFill/>
        </p:spPr>
        <p:txBody>
          <a:bodyPr wrap="square" rtlCol="0">
            <a:spAutoFit/>
          </a:bodyPr>
          <a:lstStyle/>
          <a:p>
            <a:r>
              <a:rPr lang="en-US" sz="6000" b="1" dirty="0">
                <a:solidFill>
                  <a:srgbClr val="0000FF"/>
                </a:solidFill>
              </a:rPr>
              <a:t>P : J</a:t>
            </a:r>
          </a:p>
        </p:txBody>
      </p:sp>
      <p:sp>
        <p:nvSpPr>
          <p:cNvPr id="6" name="TextBox 5"/>
          <p:cNvSpPr txBox="1"/>
          <p:nvPr/>
        </p:nvSpPr>
        <p:spPr>
          <a:xfrm>
            <a:off x="2340429" y="4721155"/>
            <a:ext cx="1705428" cy="1015663"/>
          </a:xfrm>
          <a:prstGeom prst="rect">
            <a:avLst/>
          </a:prstGeom>
          <a:noFill/>
        </p:spPr>
        <p:txBody>
          <a:bodyPr wrap="square" rtlCol="0">
            <a:spAutoFit/>
          </a:bodyPr>
          <a:lstStyle/>
          <a:p>
            <a:r>
              <a:rPr lang="en-US" sz="6000" b="1" dirty="0">
                <a:solidFill>
                  <a:srgbClr val="0000FF"/>
                </a:solidFill>
              </a:rPr>
              <a:t>2 : 5</a:t>
            </a:r>
          </a:p>
        </p:txBody>
      </p:sp>
      <p:sp>
        <p:nvSpPr>
          <p:cNvPr id="7" name="TextBox 6"/>
          <p:cNvSpPr txBox="1"/>
          <p:nvPr/>
        </p:nvSpPr>
        <p:spPr>
          <a:xfrm>
            <a:off x="1981891" y="5508555"/>
            <a:ext cx="1705428" cy="1015663"/>
          </a:xfrm>
          <a:prstGeom prst="rect">
            <a:avLst/>
          </a:prstGeom>
          <a:noFill/>
        </p:spPr>
        <p:txBody>
          <a:bodyPr wrap="square" rtlCol="0">
            <a:spAutoFit/>
          </a:bodyPr>
          <a:lstStyle/>
          <a:p>
            <a:r>
              <a:rPr lang="en-US" sz="6000" b="1" dirty="0">
                <a:solidFill>
                  <a:srgbClr val="FF0000"/>
                </a:solidFill>
              </a:rPr>
              <a:t>30 </a:t>
            </a:r>
            <a:r>
              <a:rPr lang="en-US" sz="6000" b="1" dirty="0">
                <a:solidFill>
                  <a:srgbClr val="0000FF"/>
                </a:solidFill>
              </a:rPr>
              <a:t>:</a:t>
            </a:r>
          </a:p>
        </p:txBody>
      </p:sp>
      <p:sp>
        <p:nvSpPr>
          <p:cNvPr id="9" name="TextBox 8"/>
          <p:cNvSpPr txBox="1"/>
          <p:nvPr/>
        </p:nvSpPr>
        <p:spPr>
          <a:xfrm>
            <a:off x="5566233" y="3720608"/>
            <a:ext cx="1182910" cy="1938992"/>
          </a:xfrm>
          <a:prstGeom prst="rect">
            <a:avLst/>
          </a:prstGeom>
          <a:noFill/>
        </p:spPr>
        <p:txBody>
          <a:bodyPr wrap="square" rtlCol="0">
            <a:spAutoFit/>
          </a:bodyPr>
          <a:lstStyle/>
          <a:p>
            <a:pPr algn="ctr"/>
            <a:r>
              <a:rPr lang="en-US" sz="6000" b="1" u="sng" dirty="0">
                <a:solidFill>
                  <a:srgbClr val="0000FF"/>
                </a:solidFill>
              </a:rPr>
              <a:t>45</a:t>
            </a:r>
          </a:p>
          <a:p>
            <a:pPr algn="ctr"/>
            <a:r>
              <a:rPr lang="en-US" sz="6000" b="1" dirty="0">
                <a:solidFill>
                  <a:srgbClr val="0000FF"/>
                </a:solidFill>
              </a:rPr>
              <a:t>3</a:t>
            </a:r>
          </a:p>
        </p:txBody>
      </p:sp>
      <p:sp>
        <p:nvSpPr>
          <p:cNvPr id="10" name="TextBox 9"/>
          <p:cNvSpPr txBox="1"/>
          <p:nvPr/>
        </p:nvSpPr>
        <p:spPr>
          <a:xfrm>
            <a:off x="6749143" y="4068084"/>
            <a:ext cx="1842062" cy="1015663"/>
          </a:xfrm>
          <a:prstGeom prst="rect">
            <a:avLst/>
          </a:prstGeom>
          <a:noFill/>
        </p:spPr>
        <p:txBody>
          <a:bodyPr wrap="square" rtlCol="0">
            <a:spAutoFit/>
          </a:bodyPr>
          <a:lstStyle/>
          <a:p>
            <a:r>
              <a:rPr lang="en-US" sz="6000" b="1" dirty="0">
                <a:solidFill>
                  <a:srgbClr val="0000FF"/>
                </a:solidFill>
              </a:rPr>
              <a:t>= 15</a:t>
            </a:r>
          </a:p>
        </p:txBody>
      </p:sp>
      <p:sp>
        <p:nvSpPr>
          <p:cNvPr id="11" name="TextBox 10"/>
          <p:cNvSpPr txBox="1"/>
          <p:nvPr/>
        </p:nvSpPr>
        <p:spPr>
          <a:xfrm>
            <a:off x="5812971" y="6055868"/>
            <a:ext cx="3276600" cy="707886"/>
          </a:xfrm>
          <a:prstGeom prst="rect">
            <a:avLst/>
          </a:prstGeom>
          <a:noFill/>
        </p:spPr>
        <p:txBody>
          <a:bodyPr wrap="square" rtlCol="0">
            <a:spAutoFit/>
          </a:bodyPr>
          <a:lstStyle/>
          <a:p>
            <a:r>
              <a:rPr lang="en-US" sz="4000" b="1" dirty="0">
                <a:solidFill>
                  <a:srgbClr val="0000FF"/>
                </a:solidFill>
              </a:rPr>
              <a:t>2 x 15 = 30</a:t>
            </a:r>
          </a:p>
        </p:txBody>
      </p:sp>
      <p:sp>
        <p:nvSpPr>
          <p:cNvPr id="12" name="Curved Left Arrow 11"/>
          <p:cNvSpPr/>
          <p:nvPr/>
        </p:nvSpPr>
        <p:spPr>
          <a:xfrm flipH="1">
            <a:off x="1553659" y="5234506"/>
            <a:ext cx="504056" cy="1008112"/>
          </a:xfrm>
          <a:prstGeom prst="curved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13" name="TextBox 12"/>
          <p:cNvSpPr txBox="1"/>
          <p:nvPr/>
        </p:nvSpPr>
        <p:spPr>
          <a:xfrm>
            <a:off x="5669727" y="2882093"/>
            <a:ext cx="2851945" cy="1015663"/>
          </a:xfrm>
          <a:prstGeom prst="rect">
            <a:avLst/>
          </a:prstGeom>
          <a:noFill/>
        </p:spPr>
        <p:txBody>
          <a:bodyPr wrap="square" rtlCol="0">
            <a:spAutoFit/>
          </a:bodyPr>
          <a:lstStyle/>
          <a:p>
            <a:r>
              <a:rPr lang="en-US" sz="6000" b="1" dirty="0">
                <a:solidFill>
                  <a:srgbClr val="0000FF"/>
                </a:solidFill>
              </a:rPr>
              <a:t>5 – 2 = 3  </a:t>
            </a:r>
          </a:p>
        </p:txBody>
      </p:sp>
      <p:sp>
        <p:nvSpPr>
          <p:cNvPr id="16" name="Title 1"/>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Ratio sharing </a:t>
            </a:r>
            <a:r>
              <a:rPr lang="en-GB" b="1" dirty="0" err="1">
                <a:latin typeface="+mn-lt"/>
              </a:rPr>
              <a:t>contexualised</a:t>
            </a:r>
            <a:r>
              <a:rPr lang="en-GB" b="1" dirty="0">
                <a:latin typeface="+mn-lt"/>
              </a:rPr>
              <a:t> question</a:t>
            </a:r>
          </a:p>
        </p:txBody>
      </p:sp>
    </p:spTree>
    <p:extLst>
      <p:ext uri="{BB962C8B-B14F-4D97-AF65-F5344CB8AC3E}">
        <p14:creationId xmlns:p14="http://schemas.microsoft.com/office/powerpoint/2010/main" val="1977034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checkerboard(across)">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heckerboard(across)">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checkerboard(across)">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checkerboard(across)">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checkerboard(across)">
                                      <p:cBhvr>
                                        <p:cTn id="4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0" grpId="0"/>
      <p:bldP spid="11" grpId="0"/>
      <p:bldP spid="12" grpId="0" animBg="1"/>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p:cNvSpPr txBox="1"/>
          <p:nvPr/>
        </p:nvSpPr>
        <p:spPr>
          <a:xfrm>
            <a:off x="390795" y="1109444"/>
            <a:ext cx="8753205" cy="2062103"/>
          </a:xfrm>
          <a:prstGeom prst="rect">
            <a:avLst/>
          </a:prstGeom>
          <a:noFill/>
        </p:spPr>
        <p:txBody>
          <a:bodyPr wrap="square" rtlCol="0">
            <a:spAutoFit/>
          </a:bodyPr>
          <a:lstStyle/>
          <a:p>
            <a:r>
              <a:rPr lang="en-US" sz="1600" dirty="0" err="1"/>
              <a:t>Talil</a:t>
            </a:r>
            <a:r>
              <a:rPr lang="en-US" sz="1600" dirty="0"/>
              <a:t> is going to make some concrete mix.</a:t>
            </a:r>
          </a:p>
          <a:p>
            <a:r>
              <a:rPr lang="en-US" sz="1600" dirty="0"/>
              <a:t>He needs to mix cement, sand and gravel in the ratio 1:3:5 by weight.</a:t>
            </a:r>
          </a:p>
          <a:p>
            <a:endParaRPr lang="en-US" sz="1600" dirty="0"/>
          </a:p>
          <a:p>
            <a:r>
              <a:rPr lang="en-US" sz="1600" dirty="0" err="1"/>
              <a:t>Talil</a:t>
            </a:r>
            <a:r>
              <a:rPr lang="en-US" sz="1600" dirty="0"/>
              <a:t> wants to make 180 kg of concrete mix.</a:t>
            </a:r>
          </a:p>
          <a:p>
            <a:endParaRPr lang="en-US" sz="1600" dirty="0"/>
          </a:p>
          <a:p>
            <a:r>
              <a:rPr lang="en-US" sz="1600" dirty="0" err="1"/>
              <a:t>Talil</a:t>
            </a:r>
            <a:r>
              <a:rPr lang="en-US" sz="1600" dirty="0"/>
              <a:t> has 15kg of cement, 85kg of sand, 100kg of gravel</a:t>
            </a:r>
          </a:p>
          <a:p>
            <a:endParaRPr lang="en-US" sz="1600" dirty="0"/>
          </a:p>
          <a:p>
            <a:r>
              <a:rPr lang="en-US" sz="1600" dirty="0"/>
              <a:t>Does he have enough cement, sand and gravel?</a:t>
            </a:r>
          </a:p>
        </p:txBody>
      </p:sp>
      <p:pic>
        <p:nvPicPr>
          <p:cNvPr id="2" name="Picture 1"/>
          <p:cNvPicPr>
            <a:picLocks noChangeAspect="1"/>
          </p:cNvPicPr>
          <p:nvPr/>
        </p:nvPicPr>
        <p:blipFill>
          <a:blip r:embed="rId3"/>
          <a:stretch>
            <a:fillRect/>
          </a:stretch>
        </p:blipFill>
        <p:spPr>
          <a:xfrm>
            <a:off x="5959610" y="1669000"/>
            <a:ext cx="1976596" cy="885415"/>
          </a:xfrm>
          <a:prstGeom prst="rect">
            <a:avLst/>
          </a:prstGeom>
        </p:spPr>
      </p:pic>
      <p:sp>
        <p:nvSpPr>
          <p:cNvPr id="5" name="TextBox 4"/>
          <p:cNvSpPr txBox="1"/>
          <p:nvPr/>
        </p:nvSpPr>
        <p:spPr>
          <a:xfrm>
            <a:off x="1251857" y="3103994"/>
            <a:ext cx="2255042" cy="830997"/>
          </a:xfrm>
          <a:prstGeom prst="rect">
            <a:avLst/>
          </a:prstGeom>
          <a:noFill/>
        </p:spPr>
        <p:txBody>
          <a:bodyPr wrap="square" rtlCol="0">
            <a:spAutoFit/>
          </a:bodyPr>
          <a:lstStyle/>
          <a:p>
            <a:r>
              <a:rPr lang="en-US" sz="4800" b="1" dirty="0">
                <a:solidFill>
                  <a:srgbClr val="0000FF"/>
                </a:solidFill>
              </a:rPr>
              <a:t>C : S : G</a:t>
            </a:r>
          </a:p>
        </p:txBody>
      </p:sp>
      <p:sp>
        <p:nvSpPr>
          <p:cNvPr id="6" name="TextBox 5"/>
          <p:cNvSpPr txBox="1"/>
          <p:nvPr/>
        </p:nvSpPr>
        <p:spPr>
          <a:xfrm>
            <a:off x="3525856" y="3060990"/>
            <a:ext cx="2951488" cy="830997"/>
          </a:xfrm>
          <a:prstGeom prst="rect">
            <a:avLst/>
          </a:prstGeom>
          <a:noFill/>
        </p:spPr>
        <p:txBody>
          <a:bodyPr wrap="square" rtlCol="0">
            <a:spAutoFit/>
          </a:bodyPr>
          <a:lstStyle/>
          <a:p>
            <a:r>
              <a:rPr lang="en-US" sz="4800" b="1" dirty="0">
                <a:solidFill>
                  <a:srgbClr val="0000FF"/>
                </a:solidFill>
              </a:rPr>
              <a:t>= concrete</a:t>
            </a:r>
          </a:p>
        </p:txBody>
      </p:sp>
      <p:sp>
        <p:nvSpPr>
          <p:cNvPr id="7" name="TextBox 6"/>
          <p:cNvSpPr txBox="1"/>
          <p:nvPr/>
        </p:nvSpPr>
        <p:spPr>
          <a:xfrm>
            <a:off x="1270814" y="3874795"/>
            <a:ext cx="2255042" cy="830997"/>
          </a:xfrm>
          <a:prstGeom prst="rect">
            <a:avLst/>
          </a:prstGeom>
          <a:noFill/>
        </p:spPr>
        <p:txBody>
          <a:bodyPr wrap="square" rtlCol="0">
            <a:spAutoFit/>
          </a:bodyPr>
          <a:lstStyle/>
          <a:p>
            <a:r>
              <a:rPr lang="en-US" sz="4800" b="1" dirty="0">
                <a:solidFill>
                  <a:srgbClr val="0000FF"/>
                </a:solidFill>
              </a:rPr>
              <a:t>1 : 3 : 5</a:t>
            </a:r>
          </a:p>
        </p:txBody>
      </p:sp>
      <p:sp>
        <p:nvSpPr>
          <p:cNvPr id="8" name="TextBox 7"/>
          <p:cNvSpPr txBox="1"/>
          <p:nvPr/>
        </p:nvSpPr>
        <p:spPr>
          <a:xfrm>
            <a:off x="3564520" y="3812833"/>
            <a:ext cx="2463554" cy="830997"/>
          </a:xfrm>
          <a:prstGeom prst="rect">
            <a:avLst/>
          </a:prstGeom>
          <a:noFill/>
        </p:spPr>
        <p:txBody>
          <a:bodyPr wrap="square" rtlCol="0">
            <a:spAutoFit/>
          </a:bodyPr>
          <a:lstStyle/>
          <a:p>
            <a:r>
              <a:rPr lang="en-US" sz="4800" b="1" dirty="0">
                <a:solidFill>
                  <a:srgbClr val="0000FF"/>
                </a:solidFill>
              </a:rPr>
              <a:t>= 9 </a:t>
            </a:r>
            <a:r>
              <a:rPr lang="en-US" sz="2000" b="1" dirty="0">
                <a:solidFill>
                  <a:srgbClr val="FF0000"/>
                </a:solidFill>
              </a:rPr>
              <a:t>parts</a:t>
            </a:r>
          </a:p>
        </p:txBody>
      </p:sp>
      <p:sp>
        <p:nvSpPr>
          <p:cNvPr id="9" name="TextBox 8"/>
          <p:cNvSpPr txBox="1"/>
          <p:nvPr/>
        </p:nvSpPr>
        <p:spPr>
          <a:xfrm>
            <a:off x="3621388" y="4801864"/>
            <a:ext cx="2406686" cy="830997"/>
          </a:xfrm>
          <a:prstGeom prst="rect">
            <a:avLst/>
          </a:prstGeom>
          <a:noFill/>
        </p:spPr>
        <p:txBody>
          <a:bodyPr wrap="square" rtlCol="0">
            <a:spAutoFit/>
          </a:bodyPr>
          <a:lstStyle/>
          <a:p>
            <a:r>
              <a:rPr lang="en-US" sz="4800" b="1" dirty="0">
                <a:solidFill>
                  <a:srgbClr val="0000FF"/>
                </a:solidFill>
              </a:rPr>
              <a:t>= 180 kg</a:t>
            </a:r>
          </a:p>
        </p:txBody>
      </p:sp>
      <p:sp>
        <p:nvSpPr>
          <p:cNvPr id="10" name="TextBox 9"/>
          <p:cNvSpPr txBox="1"/>
          <p:nvPr/>
        </p:nvSpPr>
        <p:spPr>
          <a:xfrm>
            <a:off x="6376884" y="3230267"/>
            <a:ext cx="1182910" cy="954107"/>
          </a:xfrm>
          <a:prstGeom prst="rect">
            <a:avLst/>
          </a:prstGeom>
          <a:noFill/>
        </p:spPr>
        <p:txBody>
          <a:bodyPr wrap="square" rtlCol="0">
            <a:spAutoFit/>
          </a:bodyPr>
          <a:lstStyle/>
          <a:p>
            <a:pPr algn="ctr"/>
            <a:r>
              <a:rPr lang="en-US" sz="2800" b="1" u="sng" dirty="0">
                <a:solidFill>
                  <a:srgbClr val="0000FF"/>
                </a:solidFill>
              </a:rPr>
              <a:t>180</a:t>
            </a:r>
          </a:p>
          <a:p>
            <a:pPr algn="ctr"/>
            <a:r>
              <a:rPr lang="en-US" sz="2800" b="1" dirty="0">
                <a:solidFill>
                  <a:srgbClr val="0000FF"/>
                </a:solidFill>
              </a:rPr>
              <a:t>9</a:t>
            </a:r>
          </a:p>
        </p:txBody>
      </p:sp>
      <p:sp>
        <p:nvSpPr>
          <p:cNvPr id="11" name="TextBox 10"/>
          <p:cNvSpPr txBox="1"/>
          <p:nvPr/>
        </p:nvSpPr>
        <p:spPr>
          <a:xfrm>
            <a:off x="7559794" y="3577743"/>
            <a:ext cx="1842062" cy="523220"/>
          </a:xfrm>
          <a:prstGeom prst="rect">
            <a:avLst/>
          </a:prstGeom>
          <a:noFill/>
        </p:spPr>
        <p:txBody>
          <a:bodyPr wrap="square" rtlCol="0">
            <a:spAutoFit/>
          </a:bodyPr>
          <a:lstStyle/>
          <a:p>
            <a:r>
              <a:rPr lang="en-US" sz="2800" b="1" dirty="0">
                <a:solidFill>
                  <a:srgbClr val="0000FF"/>
                </a:solidFill>
              </a:rPr>
              <a:t>= 20</a:t>
            </a:r>
          </a:p>
        </p:txBody>
      </p:sp>
      <p:sp>
        <p:nvSpPr>
          <p:cNvPr id="12" name="Curved Left Arrow 11"/>
          <p:cNvSpPr/>
          <p:nvPr/>
        </p:nvSpPr>
        <p:spPr>
          <a:xfrm rot="10800000" flipH="1" flipV="1">
            <a:off x="5959611" y="4184374"/>
            <a:ext cx="504056" cy="1008112"/>
          </a:xfrm>
          <a:prstGeom prst="curved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13" name="Curved Left Arrow 12"/>
          <p:cNvSpPr/>
          <p:nvPr/>
        </p:nvSpPr>
        <p:spPr>
          <a:xfrm flipH="1">
            <a:off x="775266" y="4537398"/>
            <a:ext cx="504056" cy="1008112"/>
          </a:xfrm>
          <a:prstGeom prst="curved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14" name="TextBox 13"/>
          <p:cNvSpPr txBox="1"/>
          <p:nvPr/>
        </p:nvSpPr>
        <p:spPr>
          <a:xfrm>
            <a:off x="6957640" y="4643830"/>
            <a:ext cx="2186360" cy="1384995"/>
          </a:xfrm>
          <a:prstGeom prst="rect">
            <a:avLst/>
          </a:prstGeom>
          <a:noFill/>
        </p:spPr>
        <p:txBody>
          <a:bodyPr wrap="square" rtlCol="0">
            <a:spAutoFit/>
          </a:bodyPr>
          <a:lstStyle/>
          <a:p>
            <a:r>
              <a:rPr lang="en-US" sz="2800" b="1" dirty="0">
                <a:solidFill>
                  <a:srgbClr val="0000FF"/>
                </a:solidFill>
              </a:rPr>
              <a:t>1 x 20 = 20</a:t>
            </a:r>
          </a:p>
          <a:p>
            <a:r>
              <a:rPr lang="en-US" sz="2800" b="1" dirty="0">
                <a:solidFill>
                  <a:srgbClr val="0000FF"/>
                </a:solidFill>
              </a:rPr>
              <a:t>3 x 20 = 60</a:t>
            </a:r>
          </a:p>
          <a:p>
            <a:r>
              <a:rPr lang="en-US" sz="2800" b="1" dirty="0">
                <a:solidFill>
                  <a:srgbClr val="0000FF"/>
                </a:solidFill>
              </a:rPr>
              <a:t>5 x 20 = 100</a:t>
            </a:r>
          </a:p>
        </p:txBody>
      </p:sp>
      <p:sp>
        <p:nvSpPr>
          <p:cNvPr id="15" name="TextBox 14"/>
          <p:cNvSpPr txBox="1"/>
          <p:nvPr/>
        </p:nvSpPr>
        <p:spPr>
          <a:xfrm>
            <a:off x="1422461" y="4982662"/>
            <a:ext cx="2008610" cy="523220"/>
          </a:xfrm>
          <a:prstGeom prst="rect">
            <a:avLst/>
          </a:prstGeom>
          <a:noFill/>
        </p:spPr>
        <p:txBody>
          <a:bodyPr wrap="square" rtlCol="0">
            <a:spAutoFit/>
          </a:bodyPr>
          <a:lstStyle/>
          <a:p>
            <a:r>
              <a:rPr lang="en-US" sz="2800" b="1" dirty="0">
                <a:solidFill>
                  <a:srgbClr val="0000FF"/>
                </a:solidFill>
              </a:rPr>
              <a:t>20 : 60 : 100</a:t>
            </a:r>
          </a:p>
        </p:txBody>
      </p:sp>
      <p:sp>
        <p:nvSpPr>
          <p:cNvPr id="16" name="Oval 15"/>
          <p:cNvSpPr/>
          <p:nvPr/>
        </p:nvSpPr>
        <p:spPr>
          <a:xfrm>
            <a:off x="1075035" y="2337388"/>
            <a:ext cx="569722" cy="340507"/>
          </a:xfrm>
          <a:prstGeom prst="ellipse">
            <a:avLst/>
          </a:prstGeom>
          <a:noFill/>
          <a:ln w="38100" cmpd="sng">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Multiply 16"/>
          <p:cNvSpPr/>
          <p:nvPr/>
        </p:nvSpPr>
        <p:spPr>
          <a:xfrm>
            <a:off x="1422461" y="5462471"/>
            <a:ext cx="587643" cy="566354"/>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p:cNvSpPr/>
          <p:nvPr/>
        </p:nvSpPr>
        <p:spPr>
          <a:xfrm>
            <a:off x="2446099" y="2325694"/>
            <a:ext cx="588931" cy="366867"/>
          </a:xfrm>
          <a:prstGeom prst="ellipse">
            <a:avLst/>
          </a:prstGeom>
          <a:noFill/>
          <a:ln w="38100" cmpd="sng">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p:cNvSpPr/>
          <p:nvPr/>
        </p:nvSpPr>
        <p:spPr>
          <a:xfrm>
            <a:off x="3533719" y="2315489"/>
            <a:ext cx="650065" cy="362406"/>
          </a:xfrm>
          <a:prstGeom prst="ellipse">
            <a:avLst/>
          </a:prstGeom>
          <a:noFill/>
          <a:ln w="38100" cmpd="sng">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0" name="Picture 19"/>
          <p:cNvPicPr>
            <a:picLocks noChangeAspect="1"/>
          </p:cNvPicPr>
          <p:nvPr/>
        </p:nvPicPr>
        <p:blipFill>
          <a:blip r:embed="rId4"/>
          <a:stretch>
            <a:fillRect/>
          </a:stretch>
        </p:blipFill>
        <p:spPr>
          <a:xfrm>
            <a:off x="2085928" y="5482915"/>
            <a:ext cx="473159" cy="442690"/>
          </a:xfrm>
          <a:prstGeom prst="rect">
            <a:avLst/>
          </a:prstGeom>
        </p:spPr>
      </p:pic>
      <p:pic>
        <p:nvPicPr>
          <p:cNvPr id="21" name="Picture 20"/>
          <p:cNvPicPr>
            <a:picLocks noChangeAspect="1"/>
          </p:cNvPicPr>
          <p:nvPr/>
        </p:nvPicPr>
        <p:blipFill>
          <a:blip r:embed="rId4"/>
          <a:stretch>
            <a:fillRect/>
          </a:stretch>
        </p:blipFill>
        <p:spPr>
          <a:xfrm>
            <a:off x="2730443" y="5467966"/>
            <a:ext cx="473159" cy="442690"/>
          </a:xfrm>
          <a:prstGeom prst="rect">
            <a:avLst/>
          </a:prstGeom>
        </p:spPr>
      </p:pic>
      <p:sp>
        <p:nvSpPr>
          <p:cNvPr id="22" name="TextBox 21"/>
          <p:cNvSpPr txBox="1"/>
          <p:nvPr/>
        </p:nvSpPr>
        <p:spPr>
          <a:xfrm>
            <a:off x="1422461" y="6079562"/>
            <a:ext cx="4339519" cy="400110"/>
          </a:xfrm>
          <a:prstGeom prst="rect">
            <a:avLst/>
          </a:prstGeom>
          <a:solidFill>
            <a:srgbClr val="FFFF00"/>
          </a:solidFill>
        </p:spPr>
        <p:txBody>
          <a:bodyPr wrap="square" rtlCol="0">
            <a:spAutoFit/>
          </a:bodyPr>
          <a:lstStyle/>
          <a:p>
            <a:r>
              <a:rPr lang="en-US" sz="2000" b="1" i="1" dirty="0">
                <a:solidFill>
                  <a:srgbClr val="0000FF"/>
                </a:solidFill>
              </a:rPr>
              <a:t>No </a:t>
            </a:r>
            <a:r>
              <a:rPr lang="en-US" sz="2000" b="1" i="1" dirty="0" err="1">
                <a:solidFill>
                  <a:srgbClr val="0000FF"/>
                </a:solidFill>
              </a:rPr>
              <a:t>Talil</a:t>
            </a:r>
            <a:r>
              <a:rPr lang="en-US" sz="2000" b="1" i="1" dirty="0">
                <a:solidFill>
                  <a:srgbClr val="0000FF"/>
                </a:solidFill>
              </a:rPr>
              <a:t> does not have enough cement</a:t>
            </a:r>
          </a:p>
        </p:txBody>
      </p:sp>
      <p:sp>
        <p:nvSpPr>
          <p:cNvPr id="25" name="Title 1"/>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Ratio sharing </a:t>
            </a:r>
            <a:r>
              <a:rPr lang="en-GB" b="1" dirty="0" err="1">
                <a:latin typeface="+mn-lt"/>
              </a:rPr>
              <a:t>contexualised</a:t>
            </a:r>
            <a:r>
              <a:rPr lang="en-GB" b="1" dirty="0">
                <a:latin typeface="+mn-lt"/>
              </a:rPr>
              <a:t> question</a:t>
            </a:r>
          </a:p>
        </p:txBody>
      </p:sp>
    </p:spTree>
    <p:extLst>
      <p:ext uri="{BB962C8B-B14F-4D97-AF65-F5344CB8AC3E}">
        <p14:creationId xmlns:p14="http://schemas.microsoft.com/office/powerpoint/2010/main" val="1003376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heckerboard(across)">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checkerboard(across)">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checkerboard(across)">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up)">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checkerboard(across)">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checkerboard(across)">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up)">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checkerboard(across)">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checkerboard(across)">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8" presetClass="entr" presetSubtype="12"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strips(downLeft)">
                                      <p:cBhvr>
                                        <p:cTn id="62" dur="5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21" presetClass="entr" presetSubtype="1"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heel(1)">
                                      <p:cBhvr>
                                        <p:cTn id="67" dur="20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12"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strips(downLeft)">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21" presetClass="entr" presetSubtype="1" fill="hold" nodeType="click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wheel(1)">
                                      <p:cBhvr>
                                        <p:cTn id="77" dur="2000"/>
                                        <p:tgtEl>
                                          <p:spTgt spid="20"/>
                                        </p:tgtEl>
                                      </p:cBhvr>
                                    </p:animEffect>
                                  </p:childTnLst>
                                </p:cTn>
                              </p:par>
                            </p:childTnLst>
                          </p:cTn>
                        </p:par>
                      </p:childTnLst>
                    </p:cTn>
                  </p:par>
                  <p:par>
                    <p:cTn id="78" fill="hold">
                      <p:stCondLst>
                        <p:cond delay="indefinite"/>
                      </p:stCondLst>
                      <p:childTnLst>
                        <p:par>
                          <p:cTn id="79" fill="hold">
                            <p:stCondLst>
                              <p:cond delay="0"/>
                            </p:stCondLst>
                            <p:childTnLst>
                              <p:par>
                                <p:cTn id="80" presetID="18" presetClass="entr" presetSubtype="12"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strips(downLeft)">
                                      <p:cBhvr>
                                        <p:cTn id="82" dur="500"/>
                                        <p:tgtEl>
                                          <p:spTgt spid="19"/>
                                        </p:tgtEl>
                                      </p:cBhvr>
                                    </p:animEffect>
                                  </p:childTnLst>
                                </p:cTn>
                              </p:par>
                            </p:childTnLst>
                          </p:cTn>
                        </p:par>
                      </p:childTnLst>
                    </p:cTn>
                  </p:par>
                  <p:par>
                    <p:cTn id="83" fill="hold">
                      <p:stCondLst>
                        <p:cond delay="indefinite"/>
                      </p:stCondLst>
                      <p:childTnLst>
                        <p:par>
                          <p:cTn id="84" fill="hold">
                            <p:stCondLst>
                              <p:cond delay="0"/>
                            </p:stCondLst>
                            <p:childTnLst>
                              <p:par>
                                <p:cTn id="85" presetID="21" presetClass="entr" presetSubtype="1" fill="hold" nodeType="clickEffect">
                                  <p:stCondLst>
                                    <p:cond delay="0"/>
                                  </p:stCondLst>
                                  <p:childTnLst>
                                    <p:set>
                                      <p:cBhvr>
                                        <p:cTn id="86" dur="1" fill="hold">
                                          <p:stCondLst>
                                            <p:cond delay="0"/>
                                          </p:stCondLst>
                                        </p:cTn>
                                        <p:tgtEl>
                                          <p:spTgt spid="21"/>
                                        </p:tgtEl>
                                        <p:attrNameLst>
                                          <p:attrName>style.visibility</p:attrName>
                                        </p:attrNameLst>
                                      </p:cBhvr>
                                      <p:to>
                                        <p:strVal val="visible"/>
                                      </p:to>
                                    </p:set>
                                    <p:animEffect transition="in" filter="wheel(1)">
                                      <p:cBhvr>
                                        <p:cTn id="87" dur="2000"/>
                                        <p:tgtEl>
                                          <p:spTgt spid="21"/>
                                        </p:tgtEl>
                                      </p:cBhvr>
                                    </p:animEffect>
                                  </p:childTnLst>
                                </p:cTn>
                              </p:par>
                            </p:childTnLst>
                          </p:cTn>
                        </p:par>
                      </p:childTnLst>
                    </p:cTn>
                  </p:par>
                  <p:par>
                    <p:cTn id="88" fill="hold">
                      <p:stCondLst>
                        <p:cond delay="indefinite"/>
                      </p:stCondLst>
                      <p:childTnLst>
                        <p:par>
                          <p:cTn id="89" fill="hold">
                            <p:stCondLst>
                              <p:cond delay="0"/>
                            </p:stCondLst>
                            <p:childTnLst>
                              <p:par>
                                <p:cTn id="90" presetID="5" presetClass="entr" presetSubtype="10" fill="hold" grpId="0" nodeType="clickEffect">
                                  <p:stCondLst>
                                    <p:cond delay="0"/>
                                  </p:stCondLst>
                                  <p:childTnLst>
                                    <p:set>
                                      <p:cBhvr>
                                        <p:cTn id="91" dur="1" fill="hold">
                                          <p:stCondLst>
                                            <p:cond delay="0"/>
                                          </p:stCondLst>
                                        </p:cTn>
                                        <p:tgtEl>
                                          <p:spTgt spid="22"/>
                                        </p:tgtEl>
                                        <p:attrNameLst>
                                          <p:attrName>style.visibility</p:attrName>
                                        </p:attrNameLst>
                                      </p:cBhvr>
                                      <p:to>
                                        <p:strVal val="visible"/>
                                      </p:to>
                                    </p:set>
                                    <p:animEffect transition="in" filter="checkerboard(across)">
                                      <p:cBhvr>
                                        <p:cTn id="9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animBg="1"/>
      <p:bldP spid="13" grpId="0" animBg="1"/>
      <p:bldP spid="14" grpId="0"/>
      <p:bldP spid="15" grpId="0"/>
      <p:bldP spid="16" grpId="0" animBg="1"/>
      <p:bldP spid="17" grpId="0" animBg="1"/>
      <p:bldP spid="18" grpId="0" animBg="1"/>
      <p:bldP spid="19" grpId="0" animBg="1"/>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110045" y="1221911"/>
            <a:ext cx="8574156" cy="6001643"/>
          </a:xfrm>
          <a:prstGeom prst="rect">
            <a:avLst/>
          </a:prstGeom>
          <a:noFill/>
        </p:spPr>
        <p:txBody>
          <a:bodyPr wrap="square" rtlCol="0">
            <a:spAutoFit/>
          </a:bodyPr>
          <a:lstStyle/>
          <a:p>
            <a:r>
              <a:rPr lang="en-GB" sz="2400" dirty="0"/>
              <a:t>Kate, Drake and Ed share £350 between them.</a:t>
            </a:r>
          </a:p>
          <a:p>
            <a:r>
              <a:rPr lang="en-GB" sz="2400" dirty="0"/>
              <a:t>Kate receives £120 more than Drake.</a:t>
            </a:r>
          </a:p>
          <a:p>
            <a:r>
              <a:rPr lang="en-GB" sz="2400" dirty="0"/>
              <a:t>The ratio of Kate’s share to Drake’s share is 13 : 3</a:t>
            </a:r>
          </a:p>
          <a:p>
            <a:r>
              <a:rPr lang="en-GB" sz="2400" dirty="0"/>
              <a:t>Work out the ratio of Ed’s share to Drake’s share.</a:t>
            </a:r>
          </a:p>
          <a:p>
            <a:r>
              <a:rPr lang="en-GB" sz="2400" dirty="0"/>
              <a:t>Give your answer in its simplest form.</a:t>
            </a:r>
          </a:p>
          <a:p>
            <a:pPr algn="ctr"/>
            <a:endParaRPr lang="en-US" sz="2400" dirty="0"/>
          </a:p>
          <a:p>
            <a:pPr algn="ctr"/>
            <a:r>
              <a:rPr lang="en-US" sz="2400" dirty="0">
                <a:solidFill>
                  <a:srgbClr val="FF0000"/>
                </a:solidFill>
              </a:rPr>
              <a:t>120 + Drake = Kate</a:t>
            </a:r>
          </a:p>
          <a:p>
            <a:pPr algn="ctr"/>
            <a:r>
              <a:rPr lang="en-US" sz="2400" dirty="0">
                <a:solidFill>
                  <a:srgbClr val="FF0000"/>
                </a:solidFill>
              </a:rPr>
              <a:t>13 – 3 = 10</a:t>
            </a:r>
          </a:p>
          <a:p>
            <a:pPr algn="ctr"/>
            <a:r>
              <a:rPr lang="en-US" sz="2400" dirty="0">
                <a:solidFill>
                  <a:srgbClr val="FF0000"/>
                </a:solidFill>
              </a:rPr>
              <a:t>120 ÷ 10 = £12 = 1 part</a:t>
            </a:r>
          </a:p>
          <a:p>
            <a:pPr algn="ctr"/>
            <a:r>
              <a:rPr lang="en-US" sz="2400" dirty="0">
                <a:solidFill>
                  <a:srgbClr val="FF0000"/>
                </a:solidFill>
              </a:rPr>
              <a:t>13 </a:t>
            </a:r>
            <a:r>
              <a:rPr lang="en-GB" sz="2400" dirty="0">
                <a:solidFill>
                  <a:srgbClr val="FF0000"/>
                </a:solidFill>
              </a:rPr>
              <a:t>× £12 = £156 : Kate</a:t>
            </a:r>
          </a:p>
          <a:p>
            <a:pPr algn="ctr"/>
            <a:r>
              <a:rPr lang="en-GB" sz="2400" dirty="0">
                <a:solidFill>
                  <a:srgbClr val="FF0000"/>
                </a:solidFill>
              </a:rPr>
              <a:t>3 × £12 = £36 : Drake</a:t>
            </a:r>
          </a:p>
          <a:p>
            <a:pPr algn="ctr"/>
            <a:r>
              <a:rPr lang="en-GB" sz="2400" dirty="0">
                <a:solidFill>
                  <a:srgbClr val="FF0000"/>
                </a:solidFill>
              </a:rPr>
              <a:t>£156 + £36 = £192</a:t>
            </a:r>
          </a:p>
          <a:p>
            <a:pPr algn="ctr"/>
            <a:r>
              <a:rPr lang="en-GB" sz="2400" dirty="0">
                <a:solidFill>
                  <a:srgbClr val="FF0000"/>
                </a:solidFill>
              </a:rPr>
              <a:t>£350 - £192 = £158</a:t>
            </a:r>
          </a:p>
          <a:p>
            <a:pPr algn="ctr"/>
            <a:r>
              <a:rPr lang="en-GB" sz="2400" dirty="0">
                <a:solidFill>
                  <a:srgbClr val="FF0000"/>
                </a:solidFill>
              </a:rPr>
              <a:t>158 : 36</a:t>
            </a:r>
          </a:p>
          <a:p>
            <a:pPr algn="ctr"/>
            <a:r>
              <a:rPr lang="en-GB" sz="2400" dirty="0">
                <a:solidFill>
                  <a:srgbClr val="FF0000"/>
                </a:solidFill>
              </a:rPr>
              <a:t>79 : 18</a:t>
            </a:r>
            <a:endParaRPr lang="en-US" sz="2400" dirty="0">
              <a:solidFill>
                <a:srgbClr val="FF0000"/>
              </a:solidFill>
            </a:endParaRPr>
          </a:p>
          <a:p>
            <a:endParaRPr lang="en-GB" sz="2400" dirty="0">
              <a:solidFill>
                <a:srgbClr val="FF0000"/>
              </a:solidFill>
            </a:endParaRPr>
          </a:p>
        </p:txBody>
      </p:sp>
      <p:sp>
        <p:nvSpPr>
          <p:cNvPr id="6" name="Curved Up Arrow 5"/>
          <p:cNvSpPr/>
          <p:nvPr/>
        </p:nvSpPr>
        <p:spPr>
          <a:xfrm rot="5400000">
            <a:off x="3304512" y="6194410"/>
            <a:ext cx="579550" cy="463639"/>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 name="Curved Left Arrow 6"/>
          <p:cNvSpPr/>
          <p:nvPr/>
        </p:nvSpPr>
        <p:spPr>
          <a:xfrm>
            <a:off x="4915646" y="6136454"/>
            <a:ext cx="489397" cy="579549"/>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 name="TextBox 7"/>
          <p:cNvSpPr txBox="1"/>
          <p:nvPr/>
        </p:nvSpPr>
        <p:spPr>
          <a:xfrm>
            <a:off x="5488756" y="6241562"/>
            <a:ext cx="502276" cy="369332"/>
          </a:xfrm>
          <a:prstGeom prst="rect">
            <a:avLst/>
          </a:prstGeom>
          <a:noFill/>
        </p:spPr>
        <p:txBody>
          <a:bodyPr wrap="square" rtlCol="0">
            <a:spAutoFit/>
          </a:bodyPr>
          <a:lstStyle/>
          <a:p>
            <a:r>
              <a:rPr lang="en-GB" b="1" dirty="0">
                <a:solidFill>
                  <a:schemeClr val="accent6">
                    <a:lumMod val="75000"/>
                  </a:schemeClr>
                </a:solidFill>
              </a:rPr>
              <a:t>÷ 2</a:t>
            </a:r>
          </a:p>
        </p:txBody>
      </p:sp>
      <p:sp>
        <p:nvSpPr>
          <p:cNvPr id="9" name="TextBox 8"/>
          <p:cNvSpPr txBox="1"/>
          <p:nvPr/>
        </p:nvSpPr>
        <p:spPr>
          <a:xfrm>
            <a:off x="2860191" y="6241562"/>
            <a:ext cx="502276" cy="369332"/>
          </a:xfrm>
          <a:prstGeom prst="rect">
            <a:avLst/>
          </a:prstGeom>
          <a:noFill/>
        </p:spPr>
        <p:txBody>
          <a:bodyPr wrap="square" rtlCol="0">
            <a:spAutoFit/>
          </a:bodyPr>
          <a:lstStyle/>
          <a:p>
            <a:r>
              <a:rPr lang="en-GB" b="1" dirty="0">
                <a:solidFill>
                  <a:schemeClr val="accent6">
                    <a:lumMod val="75000"/>
                  </a:schemeClr>
                </a:solidFill>
              </a:rPr>
              <a:t>÷ 2</a:t>
            </a:r>
          </a:p>
        </p:txBody>
      </p:sp>
      <p:sp>
        <p:nvSpPr>
          <p:cNvPr id="11" name="Title 1"/>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Problem solving and reasoning Q1</a:t>
            </a:r>
          </a:p>
        </p:txBody>
      </p:sp>
    </p:spTree>
    <p:extLst>
      <p:ext uri="{BB962C8B-B14F-4D97-AF65-F5344CB8AC3E}">
        <p14:creationId xmlns:p14="http://schemas.microsoft.com/office/powerpoint/2010/main" val="1074601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4" end="14"/>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extBox 8"/>
          <p:cNvSpPr txBox="1"/>
          <p:nvPr/>
        </p:nvSpPr>
        <p:spPr>
          <a:xfrm>
            <a:off x="83456" y="1265951"/>
            <a:ext cx="8904426" cy="1569660"/>
          </a:xfrm>
          <a:prstGeom prst="rect">
            <a:avLst/>
          </a:prstGeom>
          <a:noFill/>
        </p:spPr>
        <p:txBody>
          <a:bodyPr wrap="square" rtlCol="0">
            <a:spAutoFit/>
          </a:bodyPr>
          <a:lstStyle/>
          <a:p>
            <a:r>
              <a:rPr lang="en-GB" sz="2400" dirty="0"/>
              <a:t>One litre of green paint can be made by mixing yellow and blue in the ratio 1 : 9. Sally adds more yellow to make lighter green so the ratio of yellow to blue is 1 : 2. Sally now wants the colour to be more blue so the ratio is 1 : 3. How much blue paint does she need to add?</a:t>
            </a:r>
          </a:p>
        </p:txBody>
      </p:sp>
      <p:sp>
        <p:nvSpPr>
          <p:cNvPr id="5" name="TextBox 4"/>
          <p:cNvSpPr txBox="1"/>
          <p:nvPr/>
        </p:nvSpPr>
        <p:spPr>
          <a:xfrm>
            <a:off x="269876" y="3295513"/>
            <a:ext cx="8874124" cy="461665"/>
          </a:xfrm>
          <a:prstGeom prst="rect">
            <a:avLst/>
          </a:prstGeom>
          <a:noFill/>
        </p:spPr>
        <p:txBody>
          <a:bodyPr wrap="square" rtlCol="0">
            <a:spAutoFit/>
          </a:bodyPr>
          <a:lstStyle/>
          <a:p>
            <a:r>
              <a:rPr lang="en-GB" sz="2400" dirty="0">
                <a:solidFill>
                  <a:srgbClr val="FF0000"/>
                </a:solidFill>
              </a:rPr>
              <a:t>1+9 = 10 parts all together.      1000ml ÷ 10 = 100ml</a:t>
            </a:r>
          </a:p>
        </p:txBody>
      </p:sp>
      <p:sp>
        <p:nvSpPr>
          <p:cNvPr id="6" name="TextBox 5"/>
          <p:cNvSpPr txBox="1"/>
          <p:nvPr/>
        </p:nvSpPr>
        <p:spPr>
          <a:xfrm>
            <a:off x="269876" y="3789680"/>
            <a:ext cx="8874124" cy="830997"/>
          </a:xfrm>
          <a:prstGeom prst="rect">
            <a:avLst/>
          </a:prstGeom>
          <a:noFill/>
        </p:spPr>
        <p:txBody>
          <a:bodyPr wrap="square" rtlCol="0">
            <a:spAutoFit/>
          </a:bodyPr>
          <a:lstStyle/>
          <a:p>
            <a:r>
              <a:rPr lang="en-GB" sz="2400" dirty="0">
                <a:solidFill>
                  <a:srgbClr val="FF0000"/>
                </a:solidFill>
              </a:rPr>
              <a:t>In the paint mixture there is, 1 x 100ml = 100ml yellow</a:t>
            </a:r>
          </a:p>
          <a:p>
            <a:r>
              <a:rPr lang="en-GB" sz="2400" dirty="0">
                <a:solidFill>
                  <a:srgbClr val="FF0000"/>
                </a:solidFill>
              </a:rPr>
              <a:t>                                                     9 x 100ml = 900ml blue paint</a:t>
            </a:r>
          </a:p>
        </p:txBody>
      </p:sp>
      <p:sp>
        <p:nvSpPr>
          <p:cNvPr id="7" name="TextBox 6"/>
          <p:cNvSpPr txBox="1"/>
          <p:nvPr/>
        </p:nvSpPr>
        <p:spPr>
          <a:xfrm>
            <a:off x="269876" y="4413646"/>
            <a:ext cx="8874124" cy="1200328"/>
          </a:xfrm>
          <a:prstGeom prst="rect">
            <a:avLst/>
          </a:prstGeom>
          <a:noFill/>
        </p:spPr>
        <p:txBody>
          <a:bodyPr wrap="square" rtlCol="0">
            <a:spAutoFit/>
          </a:bodyPr>
          <a:lstStyle/>
          <a:p>
            <a:r>
              <a:rPr lang="en-GB" sz="2400" dirty="0">
                <a:solidFill>
                  <a:srgbClr val="FF0000"/>
                </a:solidFill>
              </a:rPr>
              <a:t>yellow      blue </a:t>
            </a:r>
          </a:p>
          <a:p>
            <a:r>
              <a:rPr lang="en-GB" sz="2400" dirty="0">
                <a:solidFill>
                  <a:srgbClr val="FF0000"/>
                </a:solidFill>
              </a:rPr>
              <a:t>  100    :    900       If Sally adds yellow to make ratio 1 : 2, </a:t>
            </a:r>
          </a:p>
          <a:p>
            <a:r>
              <a:rPr lang="en-GB" sz="2400" b="1" u="sng" dirty="0">
                <a:solidFill>
                  <a:srgbClr val="FF0000"/>
                </a:solidFill>
              </a:rPr>
              <a:t>+350ml more yellow</a:t>
            </a:r>
            <a:r>
              <a:rPr lang="en-GB" sz="2400" dirty="0">
                <a:solidFill>
                  <a:srgbClr val="FF0000"/>
                </a:solidFill>
              </a:rPr>
              <a:t>. She now has 450ml yellow and 900ml blue.</a:t>
            </a:r>
          </a:p>
        </p:txBody>
      </p:sp>
      <p:sp>
        <p:nvSpPr>
          <p:cNvPr id="8" name="TextBox 7"/>
          <p:cNvSpPr txBox="1"/>
          <p:nvPr/>
        </p:nvSpPr>
        <p:spPr>
          <a:xfrm>
            <a:off x="269876" y="5613974"/>
            <a:ext cx="8874124" cy="1200328"/>
          </a:xfrm>
          <a:prstGeom prst="rect">
            <a:avLst/>
          </a:prstGeom>
          <a:noFill/>
        </p:spPr>
        <p:txBody>
          <a:bodyPr wrap="square" rtlCol="0">
            <a:spAutoFit/>
          </a:bodyPr>
          <a:lstStyle/>
          <a:p>
            <a:r>
              <a:rPr lang="en-GB" sz="2400" dirty="0">
                <a:solidFill>
                  <a:srgbClr val="FF0000"/>
                </a:solidFill>
              </a:rPr>
              <a:t>If Sally would like the ratio to be 1 : 3, then she needs 3 x 450ml= 1350ml blue. She already has 900ml, so she needs to add 450ml of blue.</a:t>
            </a:r>
          </a:p>
        </p:txBody>
      </p:sp>
      <p:sp>
        <p:nvSpPr>
          <p:cNvPr id="10" name="TextBox 9"/>
          <p:cNvSpPr txBox="1"/>
          <p:nvPr/>
        </p:nvSpPr>
        <p:spPr>
          <a:xfrm>
            <a:off x="2846388" y="2835611"/>
            <a:ext cx="2562224" cy="461665"/>
          </a:xfrm>
          <a:prstGeom prst="rect">
            <a:avLst/>
          </a:prstGeom>
          <a:noFill/>
        </p:spPr>
        <p:txBody>
          <a:bodyPr wrap="square" rtlCol="0">
            <a:spAutoFit/>
          </a:bodyPr>
          <a:lstStyle/>
          <a:p>
            <a:r>
              <a:rPr lang="en-GB" sz="2400" dirty="0">
                <a:solidFill>
                  <a:srgbClr val="FF0000"/>
                </a:solidFill>
              </a:rPr>
              <a:t>1 litre = 1000ml</a:t>
            </a:r>
          </a:p>
        </p:txBody>
      </p:sp>
      <p:sp>
        <p:nvSpPr>
          <p:cNvPr id="11" name="Title 1"/>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Problem solving and reasoning Q2</a:t>
            </a:r>
          </a:p>
        </p:txBody>
      </p:sp>
    </p:spTree>
    <p:extLst>
      <p:ext uri="{BB962C8B-B14F-4D97-AF65-F5344CB8AC3E}">
        <p14:creationId xmlns:p14="http://schemas.microsoft.com/office/powerpoint/2010/main" val="947420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ppt_y</p:attrName>
                                        </p:attrNameLst>
                                      </p:cBhvr>
                                      <p:tavLst>
                                        <p:tav tm="0">
                                          <p:val>
                                            <p:strVal val="#ppt_y+#ppt_h*1.125000"/>
                                          </p:val>
                                        </p:tav>
                                        <p:tav tm="100000">
                                          <p:val>
                                            <p:strVal val="#ppt_y"/>
                                          </p:val>
                                        </p:tav>
                                      </p:tavLst>
                                    </p:anim>
                                    <p:animEffect transition="in" filter="wipe(up)">
                                      <p:cBhvr>
                                        <p:cTn id="8" dur="50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p:tgtEl>
                                          <p:spTgt spid="5"/>
                                        </p:tgtEl>
                                        <p:attrNameLst>
                                          <p:attrName>ppt_y</p:attrName>
                                        </p:attrNameLst>
                                      </p:cBhvr>
                                      <p:tavLst>
                                        <p:tav tm="0">
                                          <p:val>
                                            <p:strVal val="#ppt_y+#ppt_h*1.125000"/>
                                          </p:val>
                                        </p:tav>
                                        <p:tav tm="100000">
                                          <p:val>
                                            <p:strVal val="#ppt_y"/>
                                          </p:val>
                                        </p:tav>
                                      </p:tavLst>
                                    </p:anim>
                                    <p:animEffect transition="in" filter="wipe(up)">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p:tgtEl>
                                          <p:spTgt spid="6"/>
                                        </p:tgtEl>
                                        <p:attrNameLst>
                                          <p:attrName>ppt_y</p:attrName>
                                        </p:attrNameLst>
                                      </p:cBhvr>
                                      <p:tavLst>
                                        <p:tav tm="0">
                                          <p:val>
                                            <p:strVal val="#ppt_y+#ppt_h*1.125000"/>
                                          </p:val>
                                        </p:tav>
                                        <p:tav tm="100000">
                                          <p:val>
                                            <p:strVal val="#ppt_y"/>
                                          </p:val>
                                        </p:tav>
                                      </p:tavLst>
                                    </p:anim>
                                    <p:animEffect transition="in" filter="wipe(up)">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p:tgtEl>
                                          <p:spTgt spid="7"/>
                                        </p:tgtEl>
                                        <p:attrNameLst>
                                          <p:attrName>ppt_y</p:attrName>
                                        </p:attrNameLst>
                                      </p:cBhvr>
                                      <p:tavLst>
                                        <p:tav tm="0">
                                          <p:val>
                                            <p:strVal val="#ppt_y+#ppt_h*1.125000"/>
                                          </p:val>
                                        </p:tav>
                                        <p:tav tm="100000">
                                          <p:val>
                                            <p:strVal val="#ppt_y"/>
                                          </p:val>
                                        </p:tav>
                                      </p:tavLst>
                                    </p:anim>
                                    <p:animEffect transition="in" filter="wipe(up)">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p:tgtEl>
                                          <p:spTgt spid="8"/>
                                        </p:tgtEl>
                                        <p:attrNameLst>
                                          <p:attrName>ppt_y</p:attrName>
                                        </p:attrNameLst>
                                      </p:cBhvr>
                                      <p:tavLst>
                                        <p:tav tm="0">
                                          <p:val>
                                            <p:strVal val="#ppt_y+#ppt_h*1.125000"/>
                                          </p:val>
                                        </p:tav>
                                        <p:tav tm="100000">
                                          <p:val>
                                            <p:strVal val="#ppt_y"/>
                                          </p:val>
                                        </p:tav>
                                      </p:tavLst>
                                    </p:anim>
                                    <p:animEffect transition="in" filter="wipe(up)">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0919" y="1368736"/>
            <a:ext cx="7997781" cy="1482032"/>
          </a:xfrm>
        </p:spPr>
        <p:txBody>
          <a:bodyPr>
            <a:normAutofit/>
          </a:bodyPr>
          <a:lstStyle/>
          <a:p>
            <a:pPr marL="0" indent="0">
              <a:buNone/>
            </a:pPr>
            <a:r>
              <a:rPr lang="en-GB" sz="2400" dirty="0"/>
              <a:t>Tom, Ben and David share £65 </a:t>
            </a:r>
          </a:p>
          <a:p>
            <a:pPr marL="0" indent="0">
              <a:buNone/>
            </a:pPr>
            <a:r>
              <a:rPr lang="en-GB" sz="2400" u="sng" dirty="0"/>
              <a:t>Ben gets three times </a:t>
            </a:r>
            <a:r>
              <a:rPr lang="en-GB" sz="2400" dirty="0"/>
              <a:t>as much money as Tom. </a:t>
            </a:r>
            <a:r>
              <a:rPr lang="en-GB" sz="2400" u="sng" dirty="0"/>
              <a:t>David gets twice </a:t>
            </a:r>
            <a:r>
              <a:rPr lang="en-GB" sz="2400" dirty="0"/>
              <a:t>as much money as Ben. How much money does David get?</a:t>
            </a:r>
          </a:p>
        </p:txBody>
      </p:sp>
      <p:sp>
        <p:nvSpPr>
          <p:cNvPr id="4" name="TextBox 3"/>
          <p:cNvSpPr txBox="1"/>
          <p:nvPr/>
        </p:nvSpPr>
        <p:spPr>
          <a:xfrm>
            <a:off x="280919" y="3335629"/>
            <a:ext cx="3554568" cy="1384995"/>
          </a:xfrm>
          <a:prstGeom prst="rect">
            <a:avLst/>
          </a:prstGeom>
          <a:noFill/>
        </p:spPr>
        <p:txBody>
          <a:bodyPr wrap="square" rtlCol="0">
            <a:spAutoFit/>
          </a:bodyPr>
          <a:lstStyle/>
          <a:p>
            <a:r>
              <a:rPr lang="en-GB" sz="2800" b="1" dirty="0">
                <a:solidFill>
                  <a:srgbClr val="0070C0"/>
                </a:solidFill>
              </a:rPr>
              <a:t>T 	: 	B 	     : 	D</a:t>
            </a:r>
          </a:p>
          <a:p>
            <a:r>
              <a:rPr lang="en-GB" sz="2800" b="1" dirty="0">
                <a:solidFill>
                  <a:srgbClr val="0070C0"/>
                </a:solidFill>
              </a:rPr>
              <a:t>a	: 	3 x a	:   3 x a x 2</a:t>
            </a:r>
          </a:p>
          <a:p>
            <a:r>
              <a:rPr lang="en-GB" sz="2800" b="1" dirty="0">
                <a:solidFill>
                  <a:srgbClr val="0070C0"/>
                </a:solidFill>
              </a:rPr>
              <a:t>a	: 	3a	      :   6a</a:t>
            </a:r>
          </a:p>
        </p:txBody>
      </p:sp>
      <p:sp>
        <p:nvSpPr>
          <p:cNvPr id="5" name="Rectangle 4"/>
          <p:cNvSpPr/>
          <p:nvPr/>
        </p:nvSpPr>
        <p:spPr>
          <a:xfrm>
            <a:off x="280919" y="2651126"/>
            <a:ext cx="5226431" cy="461665"/>
          </a:xfrm>
          <a:prstGeom prst="rect">
            <a:avLst/>
          </a:prstGeom>
          <a:solidFill>
            <a:schemeClr val="accent1">
              <a:lumMod val="40000"/>
              <a:lumOff val="60000"/>
            </a:schemeClr>
          </a:solidFill>
        </p:spPr>
        <p:txBody>
          <a:bodyPr wrap="none">
            <a:spAutoFit/>
          </a:bodyPr>
          <a:lstStyle/>
          <a:p>
            <a:r>
              <a:rPr lang="en-GB" sz="2400" dirty="0">
                <a:solidFill>
                  <a:srgbClr val="0070C0"/>
                </a:solidFill>
              </a:rPr>
              <a:t>a is the share in pounds each person has</a:t>
            </a:r>
          </a:p>
        </p:txBody>
      </p:sp>
      <p:sp>
        <p:nvSpPr>
          <p:cNvPr id="7" name="TextBox 6"/>
          <p:cNvSpPr txBox="1"/>
          <p:nvPr/>
        </p:nvSpPr>
        <p:spPr>
          <a:xfrm>
            <a:off x="3835487" y="4298523"/>
            <a:ext cx="3309871" cy="461665"/>
          </a:xfrm>
          <a:prstGeom prst="rect">
            <a:avLst/>
          </a:prstGeom>
          <a:noFill/>
        </p:spPr>
        <p:txBody>
          <a:bodyPr wrap="square" rtlCol="0">
            <a:spAutoFit/>
          </a:bodyPr>
          <a:lstStyle/>
          <a:p>
            <a:r>
              <a:rPr lang="en-GB" sz="2400" b="1" dirty="0">
                <a:solidFill>
                  <a:srgbClr val="FF0000"/>
                </a:solidFill>
              </a:rPr>
              <a:t>Total of 10 shares </a:t>
            </a:r>
          </a:p>
        </p:txBody>
      </p:sp>
      <mc:AlternateContent xmlns:mc="http://schemas.openxmlformats.org/markup-compatibility/2006" xmlns:a14="http://schemas.microsoft.com/office/drawing/2010/main">
        <mc:Choice Requires="a14">
          <p:sp>
            <p:nvSpPr>
              <p:cNvPr id="8" name="TextBox 7"/>
              <p:cNvSpPr txBox="1"/>
              <p:nvPr/>
            </p:nvSpPr>
            <p:spPr>
              <a:xfrm>
                <a:off x="457200" y="4943462"/>
                <a:ext cx="3309871" cy="1000595"/>
              </a:xfrm>
              <a:prstGeom prst="rect">
                <a:avLst/>
              </a:prstGeom>
              <a:noFill/>
            </p:spPr>
            <p:txBody>
              <a:bodyPr wrap="square" rtlCol="0">
                <a:spAutoFit/>
              </a:bodyPr>
              <a:lstStyle/>
              <a:p>
                <a14:m>
                  <m:oMath xmlns:m="http://schemas.openxmlformats.org/officeDocument/2006/math">
                    <m:f>
                      <m:fPr>
                        <m:ctrlPr>
                          <a:rPr lang="en-GB" sz="2400" b="1" i="1" smtClean="0">
                            <a:solidFill>
                              <a:srgbClr val="FF0000"/>
                            </a:solidFill>
                            <a:latin typeface="Cambria Math" panose="02040503050406030204" pitchFamily="18" charset="0"/>
                          </a:rPr>
                        </m:ctrlPr>
                      </m:fPr>
                      <m:num>
                        <m:r>
                          <a:rPr lang="en-GB" sz="2400" b="1" i="1" smtClean="0">
                            <a:solidFill>
                              <a:srgbClr val="FF0000"/>
                            </a:solidFill>
                            <a:latin typeface="Cambria Math" panose="02040503050406030204" pitchFamily="18" charset="0"/>
                          </a:rPr>
                          <m:t>𝟔𝟓</m:t>
                        </m:r>
                      </m:num>
                      <m:den>
                        <m:r>
                          <a:rPr lang="en-GB" sz="2400" b="1" i="1" smtClean="0">
                            <a:solidFill>
                              <a:srgbClr val="FF0000"/>
                            </a:solidFill>
                            <a:latin typeface="Cambria Math" panose="02040503050406030204" pitchFamily="18" charset="0"/>
                          </a:rPr>
                          <m:t>𝟏𝟎</m:t>
                        </m:r>
                      </m:den>
                    </m:f>
                  </m:oMath>
                </a14:m>
                <a:r>
                  <a:rPr lang="en-GB" sz="2400" b="1" dirty="0">
                    <a:solidFill>
                      <a:srgbClr val="FF0000"/>
                    </a:solidFill>
                  </a:rPr>
                  <a:t> = 1 share</a:t>
                </a:r>
              </a:p>
              <a:p>
                <a:r>
                  <a:rPr lang="en-GB" sz="2400" b="1" dirty="0">
                    <a:solidFill>
                      <a:srgbClr val="FF0000"/>
                    </a:solidFill>
                  </a:rPr>
                  <a:t>65 ÷ 10 = £6.50</a:t>
                </a:r>
              </a:p>
            </p:txBody>
          </p:sp>
        </mc:Choice>
        <mc:Fallback xmlns="">
          <p:sp>
            <p:nvSpPr>
              <p:cNvPr id="8" name="TextBox 7"/>
              <p:cNvSpPr txBox="1">
                <a:spLocks noRot="1" noChangeAspect="1" noMove="1" noResize="1" noEditPoints="1" noAdjustHandles="1" noChangeArrowheads="1" noChangeShapeType="1" noTextEdit="1"/>
              </p:cNvSpPr>
              <p:nvPr/>
            </p:nvSpPr>
            <p:spPr>
              <a:xfrm>
                <a:off x="457200" y="4943462"/>
                <a:ext cx="3309871" cy="1000595"/>
              </a:xfrm>
              <a:prstGeom prst="rect">
                <a:avLst/>
              </a:prstGeom>
              <a:blipFill rotWithShape="0">
                <a:blip r:embed="rId2" cstate="print"/>
                <a:stretch>
                  <a:fillRect l="-2762" b="-12805"/>
                </a:stretch>
              </a:blipFill>
            </p:spPr>
            <p:txBody>
              <a:bodyPr/>
              <a:lstStyle/>
              <a:p>
                <a:r>
                  <a:rPr lang="en-GB">
                    <a:noFill/>
                  </a:rPr>
                  <a:t> </a:t>
                </a:r>
              </a:p>
            </p:txBody>
          </p:sp>
        </mc:Fallback>
      </mc:AlternateContent>
      <p:sp>
        <p:nvSpPr>
          <p:cNvPr id="9" name="TextBox 8"/>
          <p:cNvSpPr txBox="1"/>
          <p:nvPr/>
        </p:nvSpPr>
        <p:spPr>
          <a:xfrm>
            <a:off x="1687133" y="5936062"/>
            <a:ext cx="5782614" cy="461665"/>
          </a:xfrm>
          <a:prstGeom prst="rect">
            <a:avLst/>
          </a:prstGeom>
          <a:solidFill>
            <a:schemeClr val="accent1">
              <a:lumMod val="40000"/>
              <a:lumOff val="60000"/>
            </a:schemeClr>
          </a:solidFill>
        </p:spPr>
        <p:txBody>
          <a:bodyPr wrap="square" rtlCol="0">
            <a:spAutoFit/>
          </a:bodyPr>
          <a:lstStyle/>
          <a:p>
            <a:r>
              <a:rPr lang="en-GB" sz="2400" b="1" dirty="0"/>
              <a:t>David has 6 shares therefore 6 x 6.50 = £39 </a:t>
            </a:r>
          </a:p>
        </p:txBody>
      </p:sp>
      <p:sp>
        <p:nvSpPr>
          <p:cNvPr id="10" name="TextBox 9"/>
          <p:cNvSpPr txBox="1"/>
          <p:nvPr/>
        </p:nvSpPr>
        <p:spPr>
          <a:xfrm>
            <a:off x="3837903" y="3457668"/>
            <a:ext cx="5306097" cy="830997"/>
          </a:xfrm>
          <a:prstGeom prst="rect">
            <a:avLst/>
          </a:prstGeom>
          <a:noFill/>
        </p:spPr>
        <p:txBody>
          <a:bodyPr wrap="square" rtlCol="0">
            <a:spAutoFit/>
          </a:bodyPr>
          <a:lstStyle/>
          <a:p>
            <a:r>
              <a:rPr lang="en-GB" sz="2400" b="1" dirty="0">
                <a:solidFill>
                  <a:srgbClr val="FF0000"/>
                </a:solidFill>
              </a:rPr>
              <a:t>Calculate each share as a ratio using the information provided</a:t>
            </a:r>
          </a:p>
        </p:txBody>
      </p:sp>
      <p:sp>
        <p:nvSpPr>
          <p:cNvPr id="11" name="Title 1"/>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Problem solving and reasoning Q3</a:t>
            </a:r>
          </a:p>
        </p:txBody>
      </p:sp>
    </p:spTree>
    <p:extLst>
      <p:ext uri="{BB962C8B-B14F-4D97-AF65-F5344CB8AC3E}">
        <p14:creationId xmlns:p14="http://schemas.microsoft.com/office/powerpoint/2010/main" val="21610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randombar(horizont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randombar(horizontal)">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animBg="1"/>
      <p:bldP spid="7" grpId="0"/>
      <p:bldP spid="8" grpId="0" animBg="1"/>
      <p:bldP spid="9" grpId="0" animBg="1"/>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p:cNvSpPr txBox="1"/>
          <p:nvPr/>
        </p:nvSpPr>
        <p:spPr>
          <a:xfrm>
            <a:off x="96343" y="1583989"/>
            <a:ext cx="9047657" cy="2554545"/>
          </a:xfrm>
          <a:prstGeom prst="rect">
            <a:avLst/>
          </a:prstGeom>
          <a:noFill/>
        </p:spPr>
        <p:txBody>
          <a:bodyPr wrap="square" rtlCol="0">
            <a:spAutoFit/>
          </a:bodyPr>
          <a:lstStyle/>
          <a:p>
            <a:pPr marL="342900" indent="-342900">
              <a:buFont typeface="Wingdings" panose="05000000000000000000" pitchFamily="2" charset="2"/>
              <a:buChar char="§"/>
            </a:pPr>
            <a:r>
              <a:rPr lang="en-GB" sz="2000"/>
              <a:t>A </a:t>
            </a:r>
            <a:r>
              <a:rPr lang="en-GB" sz="2000" dirty="0"/>
              <a:t>bag contains 10 yellow balls, 20 red balls and 25 blue balls. The ratio is 2 : 10 : 5</a:t>
            </a:r>
          </a:p>
          <a:p>
            <a:endParaRPr lang="en-GB" sz="2000" dirty="0"/>
          </a:p>
          <a:p>
            <a:endParaRPr lang="en-GB" sz="2000" dirty="0"/>
          </a:p>
          <a:p>
            <a:pPr marL="342900" indent="-342900">
              <a:buFont typeface="Wingdings" panose="05000000000000000000" pitchFamily="2" charset="2"/>
              <a:buChar char="§"/>
            </a:pPr>
            <a:r>
              <a:rPr lang="en-GB" sz="2000" dirty="0"/>
              <a:t>A wallet contains 16, 2p coins, 24, 10p coins and 6, 50p coins. The ratio is 4 : 6 : 3</a:t>
            </a:r>
          </a:p>
          <a:p>
            <a:pPr marL="342900" indent="-342900">
              <a:buFont typeface="Wingdings" panose="05000000000000000000" pitchFamily="2" charset="2"/>
              <a:buChar char="§"/>
            </a:pPr>
            <a:endParaRPr lang="en-GB" sz="2000" dirty="0"/>
          </a:p>
          <a:p>
            <a:pPr marL="342900" indent="-342900">
              <a:buFont typeface="Wingdings" panose="05000000000000000000" pitchFamily="2" charset="2"/>
              <a:buChar char="§"/>
            </a:pPr>
            <a:endParaRPr lang="en-GB" sz="2000" dirty="0"/>
          </a:p>
          <a:p>
            <a:pPr marL="342900" indent="-342900">
              <a:buFont typeface="Wingdings" panose="05000000000000000000" pitchFamily="2" charset="2"/>
              <a:buChar char="§"/>
            </a:pPr>
            <a:r>
              <a:rPr lang="en-GB" sz="2000" dirty="0"/>
              <a:t>A jar contains 36 green marbles, 54 orange marbles and 60 pink. The simplified ratio is 18 : 27 : 30</a:t>
            </a:r>
          </a:p>
        </p:txBody>
      </p:sp>
      <p:sp>
        <p:nvSpPr>
          <p:cNvPr id="6" name="TextBox 5"/>
          <p:cNvSpPr txBox="1"/>
          <p:nvPr/>
        </p:nvSpPr>
        <p:spPr>
          <a:xfrm>
            <a:off x="391479" y="1961191"/>
            <a:ext cx="1391055" cy="646331"/>
          </a:xfrm>
          <a:prstGeom prst="rect">
            <a:avLst/>
          </a:prstGeom>
          <a:noFill/>
        </p:spPr>
        <p:txBody>
          <a:bodyPr wrap="square" rtlCol="0">
            <a:spAutoFit/>
          </a:bodyPr>
          <a:lstStyle/>
          <a:p>
            <a:r>
              <a:rPr lang="en-US" sz="3600">
                <a:solidFill>
                  <a:srgbClr val="FF0000"/>
                </a:solidFill>
              </a:rPr>
              <a:t>False</a:t>
            </a:r>
          </a:p>
        </p:txBody>
      </p:sp>
      <p:sp>
        <p:nvSpPr>
          <p:cNvPr id="7" name="TextBox 6"/>
          <p:cNvSpPr txBox="1"/>
          <p:nvPr/>
        </p:nvSpPr>
        <p:spPr>
          <a:xfrm>
            <a:off x="391479" y="2886943"/>
            <a:ext cx="1391055" cy="646331"/>
          </a:xfrm>
          <a:prstGeom prst="rect">
            <a:avLst/>
          </a:prstGeom>
          <a:noFill/>
        </p:spPr>
        <p:txBody>
          <a:bodyPr wrap="square" rtlCol="0">
            <a:spAutoFit/>
          </a:bodyPr>
          <a:lstStyle/>
          <a:p>
            <a:r>
              <a:rPr lang="en-US" sz="3600">
                <a:solidFill>
                  <a:srgbClr val="FF0000"/>
                </a:solidFill>
              </a:rPr>
              <a:t>False</a:t>
            </a:r>
          </a:p>
        </p:txBody>
      </p:sp>
      <p:sp>
        <p:nvSpPr>
          <p:cNvPr id="8" name="TextBox 7"/>
          <p:cNvSpPr txBox="1"/>
          <p:nvPr/>
        </p:nvSpPr>
        <p:spPr>
          <a:xfrm>
            <a:off x="391479" y="4073794"/>
            <a:ext cx="1391055" cy="646331"/>
          </a:xfrm>
          <a:prstGeom prst="rect">
            <a:avLst/>
          </a:prstGeom>
          <a:noFill/>
        </p:spPr>
        <p:txBody>
          <a:bodyPr wrap="square" rtlCol="0">
            <a:spAutoFit/>
          </a:bodyPr>
          <a:lstStyle/>
          <a:p>
            <a:r>
              <a:rPr lang="en-US" sz="3600">
                <a:solidFill>
                  <a:srgbClr val="FF0000"/>
                </a:solidFill>
              </a:rPr>
              <a:t>False</a:t>
            </a:r>
          </a:p>
        </p:txBody>
      </p:sp>
      <p:sp>
        <p:nvSpPr>
          <p:cNvPr id="9" name="Title 1"/>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True or false?</a:t>
            </a:r>
          </a:p>
        </p:txBody>
      </p:sp>
    </p:spTree>
    <p:extLst>
      <p:ext uri="{BB962C8B-B14F-4D97-AF65-F5344CB8AC3E}">
        <p14:creationId xmlns:p14="http://schemas.microsoft.com/office/powerpoint/2010/main" val="492064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5" name="Content Placeholder 14"/>
          <p:cNvSpPr>
            <a:spLocks noGrp="1"/>
          </p:cNvSpPr>
          <p:nvPr>
            <p:ph idx="1"/>
          </p:nvPr>
        </p:nvSpPr>
        <p:spPr>
          <a:xfrm>
            <a:off x="118095" y="1147492"/>
            <a:ext cx="8118475" cy="5286762"/>
          </a:xfrm>
        </p:spPr>
        <p:txBody>
          <a:bodyPr>
            <a:normAutofit/>
          </a:bodyPr>
          <a:lstStyle/>
          <a:p>
            <a:pPr marL="514350" indent="-514350">
              <a:buAutoNum type="arabicParenR"/>
            </a:pPr>
            <a:r>
              <a:rPr lang="en-US" sz="1800" dirty="0"/>
              <a:t>Share £24 into the ratio 1 : 5</a:t>
            </a:r>
          </a:p>
          <a:p>
            <a:pPr marL="514350" indent="-514350">
              <a:buAutoNum type="arabicParenR"/>
            </a:pPr>
            <a:endParaRPr lang="en-US" sz="1800" dirty="0"/>
          </a:p>
          <a:p>
            <a:pPr marL="514350" indent="-514350">
              <a:buAutoNum type="arabicParenR"/>
            </a:pPr>
            <a:endParaRPr lang="en-US" sz="1800" dirty="0"/>
          </a:p>
          <a:p>
            <a:pPr marL="514350" indent="-514350">
              <a:buFont typeface="Arial" panose="020B0604020202020204" pitchFamily="34" charset="0"/>
              <a:buAutoNum type="arabicParenR"/>
            </a:pPr>
            <a:r>
              <a:rPr lang="en-US" sz="1800" dirty="0"/>
              <a:t>Share 6m into the ratio 3 : 7</a:t>
            </a:r>
          </a:p>
          <a:p>
            <a:pPr marL="514350" indent="-514350">
              <a:buFont typeface="Arial" panose="020B0604020202020204" pitchFamily="34" charset="0"/>
              <a:buAutoNum type="arabicParenR"/>
            </a:pPr>
            <a:endParaRPr lang="en-US" sz="1800" dirty="0"/>
          </a:p>
          <a:p>
            <a:pPr marL="514350" indent="-514350">
              <a:buFont typeface="Arial" panose="020B0604020202020204" pitchFamily="34" charset="0"/>
              <a:buAutoNum type="arabicParenR"/>
            </a:pPr>
            <a:endParaRPr lang="en-US" sz="1800" dirty="0"/>
          </a:p>
          <a:p>
            <a:pPr marL="514350" indent="-514350">
              <a:buFont typeface="Arial" panose="020B0604020202020204" pitchFamily="34" charset="0"/>
              <a:buAutoNum type="arabicParenR"/>
            </a:pPr>
            <a:r>
              <a:rPr lang="en-US" sz="1800" dirty="0"/>
              <a:t>In a </a:t>
            </a:r>
            <a:r>
              <a:rPr lang="en-US" sz="1800" dirty="0" err="1"/>
              <a:t>maths</a:t>
            </a:r>
            <a:r>
              <a:rPr lang="en-US" sz="1800" dirty="0"/>
              <a:t> test, the ratio of marks given for method to accuracy is 5:3. If Bill scored 39 marks for accuracy, what was his total mark?</a:t>
            </a:r>
          </a:p>
          <a:p>
            <a:pPr marL="514350" indent="-514350">
              <a:buFont typeface="Arial" panose="020B0604020202020204" pitchFamily="34" charset="0"/>
              <a:buAutoNum type="arabicParenR"/>
            </a:pPr>
            <a:endParaRPr lang="en-US" sz="1800" dirty="0"/>
          </a:p>
          <a:p>
            <a:pPr marL="514350" indent="-514350">
              <a:buFont typeface="Arial" panose="020B0604020202020204" pitchFamily="34" charset="0"/>
              <a:buAutoNum type="arabicParenR"/>
            </a:pPr>
            <a:endParaRPr lang="en-US" sz="1800" dirty="0"/>
          </a:p>
          <a:p>
            <a:pPr marL="514350" indent="-514350">
              <a:buFont typeface="Arial" panose="020B0604020202020204" pitchFamily="34" charset="0"/>
              <a:buAutoNum type="arabicParenR"/>
            </a:pPr>
            <a:r>
              <a:rPr lang="en-GB" sz="1800" dirty="0"/>
              <a:t>Isabella and Louisa share their money in the ratio 3 : 7. If Louisa gets £84 more than Isabella, how much money have they in total?</a:t>
            </a:r>
            <a:endParaRPr lang="en-US" sz="1800" dirty="0"/>
          </a:p>
        </p:txBody>
      </p:sp>
      <p:sp>
        <p:nvSpPr>
          <p:cNvPr id="14" name="Title 1"/>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Ratio sharing</a:t>
            </a:r>
          </a:p>
        </p:txBody>
      </p:sp>
      <p:sp>
        <p:nvSpPr>
          <p:cNvPr id="4" name="TextBox 3"/>
          <p:cNvSpPr txBox="1"/>
          <p:nvPr/>
        </p:nvSpPr>
        <p:spPr>
          <a:xfrm>
            <a:off x="160504" y="6408902"/>
            <a:ext cx="1687961" cy="369332"/>
          </a:xfrm>
          <a:prstGeom prst="rect">
            <a:avLst/>
          </a:prstGeom>
          <a:solidFill>
            <a:schemeClr val="bg2"/>
          </a:solidFill>
        </p:spPr>
        <p:txBody>
          <a:bodyPr wrap="square" rtlCol="0">
            <a:spAutoFit/>
          </a:bodyPr>
          <a:lstStyle/>
          <a:p>
            <a:pPr algn="ctr"/>
            <a:r>
              <a:rPr lang="en-US" dirty="0"/>
              <a:t>Student Sheet 1</a:t>
            </a:r>
          </a:p>
        </p:txBody>
      </p:sp>
    </p:spTree>
    <p:extLst>
      <p:ext uri="{BB962C8B-B14F-4D97-AF65-F5344CB8AC3E}">
        <p14:creationId xmlns:p14="http://schemas.microsoft.com/office/powerpoint/2010/main" val="954954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 name="TextBox 2"/>
          <p:cNvSpPr txBox="1"/>
          <p:nvPr/>
        </p:nvSpPr>
        <p:spPr>
          <a:xfrm>
            <a:off x="4755371" y="1325563"/>
            <a:ext cx="5017279" cy="3539430"/>
          </a:xfrm>
          <a:prstGeom prst="rect">
            <a:avLst/>
          </a:prstGeom>
          <a:noFill/>
        </p:spPr>
        <p:txBody>
          <a:bodyPr wrap="square" rtlCol="0">
            <a:spAutoFit/>
          </a:bodyPr>
          <a:lstStyle/>
          <a:p>
            <a:r>
              <a:rPr lang="en-GB" sz="1600" dirty="0"/>
              <a:t>4) Tyler and Kate share £91 in the ratio 4 : 3.</a:t>
            </a:r>
          </a:p>
          <a:p>
            <a:r>
              <a:rPr lang="en-GB" sz="1600" dirty="0"/>
              <a:t>Work out how much money each person gets.</a:t>
            </a:r>
          </a:p>
          <a:p>
            <a:endParaRPr lang="en-GB" sz="1600" dirty="0"/>
          </a:p>
          <a:p>
            <a:endParaRPr lang="en-GB" sz="1600" dirty="0"/>
          </a:p>
          <a:p>
            <a:endParaRPr lang="en-GB" sz="1600" dirty="0"/>
          </a:p>
          <a:p>
            <a:r>
              <a:rPr lang="en-GB" sz="1600" dirty="0"/>
              <a:t>5) Ryan and Simon share £72 in the ratio 4 : 8.</a:t>
            </a:r>
          </a:p>
          <a:p>
            <a:r>
              <a:rPr lang="en-GB" sz="1600" dirty="0"/>
              <a:t>Work out how much money each person gets.</a:t>
            </a:r>
          </a:p>
          <a:p>
            <a:endParaRPr lang="en-GB" sz="1600" dirty="0"/>
          </a:p>
          <a:p>
            <a:endParaRPr lang="en-GB" sz="1600" dirty="0"/>
          </a:p>
          <a:p>
            <a:endParaRPr lang="en-GB" sz="1600" dirty="0"/>
          </a:p>
          <a:p>
            <a:endParaRPr lang="en-GB" sz="1600" dirty="0"/>
          </a:p>
          <a:p>
            <a:r>
              <a:rPr lang="en-GB" sz="1600" dirty="0"/>
              <a:t>6) Manisha and Alex share £600 in the ratio 62 : 58.</a:t>
            </a:r>
          </a:p>
          <a:p>
            <a:r>
              <a:rPr lang="en-GB" sz="1600" dirty="0"/>
              <a:t>Work out how much money each person gets.</a:t>
            </a:r>
          </a:p>
          <a:p>
            <a:endParaRPr lang="en-GB" sz="1600" dirty="0"/>
          </a:p>
        </p:txBody>
      </p:sp>
      <p:sp>
        <p:nvSpPr>
          <p:cNvPr id="5" name="Title 1"/>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Ratio sharing practice</a:t>
            </a:r>
          </a:p>
        </p:txBody>
      </p:sp>
      <p:sp>
        <p:nvSpPr>
          <p:cNvPr id="7" name="Rectangle 6"/>
          <p:cNvSpPr>
            <a:spLocks noChangeArrowheads="1"/>
          </p:cNvSpPr>
          <p:nvPr/>
        </p:nvSpPr>
        <p:spPr bwMode="auto">
          <a:xfrm>
            <a:off x="0" y="1107946"/>
            <a:ext cx="4114800" cy="427809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GB" sz="1600" i="0" strike="noStrike" cap="none" normalizeH="0" baseline="0" dirty="0">
                <a:ln>
                  <a:noFill/>
                </a:ln>
                <a:solidFill>
                  <a:schemeClr val="tx1"/>
                </a:solidFill>
                <a:effectLst/>
                <a:cs typeface="Arial" pitchFamily="34" charset="0"/>
              </a:rPr>
              <a:t>1) Share the following into</a:t>
            </a:r>
            <a:r>
              <a:rPr kumimoji="0" lang="en-GB" sz="1600" i="0" strike="noStrike" cap="none" normalizeH="0" dirty="0">
                <a:ln>
                  <a:noFill/>
                </a:ln>
                <a:solidFill>
                  <a:schemeClr val="tx1"/>
                </a:solidFill>
                <a:effectLst/>
                <a:cs typeface="Arial" pitchFamily="34" charset="0"/>
              </a:rPr>
              <a:t> the given ratios:</a:t>
            </a:r>
          </a:p>
          <a:p>
            <a:pPr defTabSz="914400" eaLnBrk="0" fontAlgn="base" hangingPunct="0">
              <a:spcBef>
                <a:spcPct val="0"/>
              </a:spcBef>
              <a:spcAft>
                <a:spcPct val="0"/>
              </a:spcAft>
            </a:pPr>
            <a:r>
              <a:rPr lang="en-US" sz="1600" dirty="0"/>
              <a:t>(a) £70 in the ratio  2:3</a:t>
            </a:r>
          </a:p>
          <a:p>
            <a:pPr defTabSz="914400" eaLnBrk="0" fontAlgn="base" hangingPunct="0">
              <a:spcBef>
                <a:spcPct val="0"/>
              </a:spcBef>
              <a:spcAft>
                <a:spcPct val="0"/>
              </a:spcAft>
            </a:pPr>
            <a:r>
              <a:rPr lang="en-US" sz="1600" dirty="0"/>
              <a:t>(b) 3kg in the ratio   9:11</a:t>
            </a:r>
          </a:p>
          <a:p>
            <a:pPr defTabSz="914400" eaLnBrk="0" fontAlgn="base" hangingPunct="0">
              <a:spcBef>
                <a:spcPct val="0"/>
              </a:spcBef>
              <a:spcAft>
                <a:spcPct val="0"/>
              </a:spcAft>
            </a:pPr>
            <a:r>
              <a:rPr lang="en-US" sz="1600" dirty="0">
                <a:cs typeface="Arial" pitchFamily="34" charset="0"/>
              </a:rPr>
              <a:t>(c) 9</a:t>
            </a:r>
            <a:r>
              <a:rPr kumimoji="0" lang="en-US" sz="1600" i="0" strike="noStrike" cap="none" normalizeH="0" baseline="0" dirty="0">
                <a:ln>
                  <a:noFill/>
                </a:ln>
                <a:solidFill>
                  <a:schemeClr val="tx1"/>
                </a:solidFill>
                <a:effectLst/>
                <a:cs typeface="Arial" pitchFamily="34" charset="0"/>
              </a:rPr>
              <a:t>m in</a:t>
            </a:r>
            <a:r>
              <a:rPr kumimoji="0" lang="en-US" sz="1600" i="0" strike="noStrike" cap="none" normalizeH="0" dirty="0">
                <a:ln>
                  <a:noFill/>
                </a:ln>
                <a:solidFill>
                  <a:schemeClr val="tx1"/>
                </a:solidFill>
                <a:effectLst/>
                <a:cs typeface="Arial" pitchFamily="34" charset="0"/>
              </a:rPr>
              <a:t> the ratio</a:t>
            </a:r>
            <a:r>
              <a:rPr kumimoji="0" lang="en-US" sz="1600" i="0" strike="noStrike" cap="none" normalizeH="0" baseline="0" dirty="0">
                <a:ln>
                  <a:noFill/>
                </a:ln>
                <a:solidFill>
                  <a:schemeClr val="tx1"/>
                </a:solidFill>
                <a:effectLst/>
                <a:cs typeface="Arial" pitchFamily="34" charset="0"/>
              </a:rPr>
              <a:t>   4:</a:t>
            </a:r>
            <a:r>
              <a:rPr lang="en-US" sz="1600" dirty="0">
                <a:cs typeface="Arial" pitchFamily="34" charset="0"/>
              </a:rPr>
              <a:t>5</a:t>
            </a:r>
          </a:p>
          <a:p>
            <a:pPr defTabSz="914400" eaLnBrk="0" fontAlgn="base" hangingPunct="0">
              <a:spcBef>
                <a:spcPct val="0"/>
              </a:spcBef>
              <a:spcAft>
                <a:spcPct val="0"/>
              </a:spcAft>
            </a:pPr>
            <a:endParaRPr lang="en-US" sz="1600" dirty="0">
              <a:cs typeface="Arial" pitchFamily="34" charset="0"/>
            </a:endParaRPr>
          </a:p>
          <a:p>
            <a:pPr defTabSz="914400" eaLnBrk="0" fontAlgn="base" hangingPunct="0">
              <a:spcBef>
                <a:spcPct val="0"/>
              </a:spcBef>
              <a:spcAft>
                <a:spcPct val="0"/>
              </a:spcAft>
            </a:pPr>
            <a:endParaRPr lang="en-US" sz="1600" dirty="0">
              <a:cs typeface="Arial" pitchFamily="34" charset="0"/>
            </a:endParaRPr>
          </a:p>
          <a:p>
            <a:pPr defTabSz="914400" eaLnBrk="0" fontAlgn="base" hangingPunct="0">
              <a:spcBef>
                <a:spcPct val="0"/>
              </a:spcBef>
              <a:spcAft>
                <a:spcPct val="0"/>
              </a:spcAft>
            </a:pPr>
            <a:endParaRPr lang="en-US" sz="1600" dirty="0">
              <a:cs typeface="Arial" pitchFamily="34" charset="0"/>
            </a:endParaRPr>
          </a:p>
          <a:p>
            <a:pPr defTabSz="914400" eaLnBrk="0" fontAlgn="base" hangingPunct="0">
              <a:spcBef>
                <a:spcPct val="0"/>
              </a:spcBef>
              <a:spcAft>
                <a:spcPct val="0"/>
              </a:spcAft>
            </a:pPr>
            <a:endParaRPr lang="en-US" sz="1600" dirty="0">
              <a:cs typeface="Arial" pitchFamily="34" charset="0"/>
            </a:endParaRPr>
          </a:p>
          <a:p>
            <a:pPr defTabSz="914400" eaLnBrk="0" fontAlgn="base" hangingPunct="0">
              <a:spcBef>
                <a:spcPct val="0"/>
              </a:spcBef>
              <a:spcAft>
                <a:spcPct val="0"/>
              </a:spcAft>
            </a:pPr>
            <a:r>
              <a:rPr lang="en-US" sz="1600" dirty="0">
                <a:cs typeface="Arial" pitchFamily="34" charset="0"/>
              </a:rPr>
              <a:t>2)In April, the ratio of sunny days to rainy days is 1:2. How many days were rainy?</a:t>
            </a:r>
          </a:p>
          <a:p>
            <a:pPr defTabSz="914400" eaLnBrk="0" fontAlgn="base" hangingPunct="0">
              <a:spcBef>
                <a:spcPct val="0"/>
              </a:spcBef>
              <a:spcAft>
                <a:spcPct val="0"/>
              </a:spcAft>
            </a:pPr>
            <a:endParaRPr lang="en-US" sz="1600" dirty="0">
              <a:cs typeface="Arial" pitchFamily="34" charset="0"/>
            </a:endParaRPr>
          </a:p>
          <a:p>
            <a:pPr defTabSz="914400" eaLnBrk="0" fontAlgn="base" hangingPunct="0">
              <a:spcBef>
                <a:spcPct val="0"/>
              </a:spcBef>
              <a:spcAft>
                <a:spcPct val="0"/>
              </a:spcAft>
            </a:pPr>
            <a:endParaRPr lang="en-US" sz="1600" dirty="0">
              <a:cs typeface="Arial" pitchFamily="34" charset="0"/>
            </a:endParaRPr>
          </a:p>
          <a:p>
            <a:pPr defTabSz="914400" eaLnBrk="0" fontAlgn="base" hangingPunct="0">
              <a:spcBef>
                <a:spcPct val="0"/>
              </a:spcBef>
              <a:spcAft>
                <a:spcPct val="0"/>
              </a:spcAft>
            </a:pPr>
            <a:endParaRPr lang="en-US" sz="1600" dirty="0">
              <a:cs typeface="Arial" pitchFamily="34" charset="0"/>
            </a:endParaRPr>
          </a:p>
          <a:p>
            <a:pPr defTabSz="914400" eaLnBrk="0" fontAlgn="base" hangingPunct="0">
              <a:spcBef>
                <a:spcPct val="0"/>
              </a:spcBef>
              <a:spcAft>
                <a:spcPct val="0"/>
              </a:spcAft>
            </a:pPr>
            <a:r>
              <a:rPr lang="en-GB" sz="1600" dirty="0">
                <a:cs typeface="Arial" pitchFamily="34" charset="0"/>
              </a:rPr>
              <a:t>3)There are 5p and 2p coins in a bag. The ratio of 5p coins to 2p coins is 3 : 7. If the value of the bag adds to £2.90, how many 2p coins are in the bag?</a:t>
            </a:r>
            <a:endParaRPr lang="en-US" sz="1600" dirty="0">
              <a:cs typeface="Arial" pitchFamily="34" charset="0"/>
            </a:endParaRPr>
          </a:p>
        </p:txBody>
      </p:sp>
      <p:sp>
        <p:nvSpPr>
          <p:cNvPr id="13" name="TextBox 12"/>
          <p:cNvSpPr txBox="1"/>
          <p:nvPr/>
        </p:nvSpPr>
        <p:spPr>
          <a:xfrm>
            <a:off x="160504" y="6408902"/>
            <a:ext cx="1687961" cy="369332"/>
          </a:xfrm>
          <a:prstGeom prst="rect">
            <a:avLst/>
          </a:prstGeom>
          <a:solidFill>
            <a:schemeClr val="bg2"/>
          </a:solidFill>
        </p:spPr>
        <p:txBody>
          <a:bodyPr wrap="square" rtlCol="0">
            <a:spAutoFit/>
          </a:bodyPr>
          <a:lstStyle/>
          <a:p>
            <a:pPr algn="ctr"/>
            <a:r>
              <a:rPr lang="en-US" dirty="0"/>
              <a:t>Student Sheet 2</a:t>
            </a:r>
          </a:p>
        </p:txBody>
      </p:sp>
    </p:spTree>
    <p:extLst>
      <p:ext uri="{BB962C8B-B14F-4D97-AF65-F5344CB8AC3E}">
        <p14:creationId xmlns:p14="http://schemas.microsoft.com/office/powerpoint/2010/main" val="1916336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alphaModFix amt="49000"/>
          </a:blip>
          <a:srcRect r="61918" b="89775"/>
          <a:stretch/>
        </p:blipFill>
        <p:spPr>
          <a:xfrm>
            <a:off x="272422" y="1294878"/>
            <a:ext cx="2947433" cy="588199"/>
          </a:xfrm>
          <a:prstGeom prst="rect">
            <a:avLst/>
          </a:prstGeom>
        </p:spPr>
      </p:pic>
      <p:sp>
        <p:nvSpPr>
          <p:cNvPr id="3" name="TextBox 2"/>
          <p:cNvSpPr txBox="1"/>
          <p:nvPr/>
        </p:nvSpPr>
        <p:spPr>
          <a:xfrm>
            <a:off x="248103" y="1261853"/>
            <a:ext cx="2996070" cy="600164"/>
          </a:xfrm>
          <a:prstGeom prst="rect">
            <a:avLst/>
          </a:prstGeom>
          <a:noFill/>
        </p:spPr>
        <p:txBody>
          <a:bodyPr wrap="square" rtlCol="0">
            <a:spAutoFit/>
          </a:bodyPr>
          <a:lstStyle/>
          <a:p>
            <a:r>
              <a:rPr lang="en-US" sz="1100" dirty="0"/>
              <a:t>Paul and Katie share some sweets in the ratio 3:8</a:t>
            </a:r>
          </a:p>
          <a:p>
            <a:r>
              <a:rPr lang="en-US" sz="1100" dirty="0"/>
              <a:t>Katie gets 32 sweets.</a:t>
            </a:r>
          </a:p>
          <a:p>
            <a:r>
              <a:rPr lang="en-US" sz="1100" dirty="0"/>
              <a:t>How many sweets does Paul get?</a:t>
            </a:r>
          </a:p>
        </p:txBody>
      </p:sp>
      <p:pic>
        <p:nvPicPr>
          <p:cNvPr id="15" name="Picture 14"/>
          <p:cNvPicPr>
            <a:picLocks noChangeAspect="1"/>
          </p:cNvPicPr>
          <p:nvPr/>
        </p:nvPicPr>
        <p:blipFill>
          <a:blip r:embed="rId4"/>
          <a:stretch>
            <a:fillRect/>
          </a:stretch>
        </p:blipFill>
        <p:spPr>
          <a:xfrm>
            <a:off x="7528506" y="1298108"/>
            <a:ext cx="915102" cy="681150"/>
          </a:xfrm>
          <a:prstGeom prst="rect">
            <a:avLst/>
          </a:prstGeom>
        </p:spPr>
      </p:pic>
      <p:sp>
        <p:nvSpPr>
          <p:cNvPr id="16" name="TextBox 15"/>
          <p:cNvSpPr txBox="1"/>
          <p:nvPr/>
        </p:nvSpPr>
        <p:spPr>
          <a:xfrm>
            <a:off x="4197969" y="1040539"/>
            <a:ext cx="3291789" cy="938719"/>
          </a:xfrm>
          <a:prstGeom prst="rect">
            <a:avLst/>
          </a:prstGeom>
          <a:noFill/>
        </p:spPr>
        <p:txBody>
          <a:bodyPr wrap="square" rtlCol="0">
            <a:spAutoFit/>
          </a:bodyPr>
          <a:lstStyle/>
          <a:p>
            <a:r>
              <a:rPr lang="en-US" sz="1100" dirty="0"/>
              <a:t>Sandra has a piece of string 150cm long.</a:t>
            </a:r>
          </a:p>
          <a:p>
            <a:endParaRPr lang="en-US" sz="1100" dirty="0"/>
          </a:p>
          <a:p>
            <a:r>
              <a:rPr lang="en-US" sz="1100" dirty="0"/>
              <a:t>She cuts the string into three lengths in the ratio 5:2:3</a:t>
            </a:r>
          </a:p>
          <a:p>
            <a:endParaRPr lang="en-US" sz="1100" dirty="0"/>
          </a:p>
          <a:p>
            <a:r>
              <a:rPr lang="en-US" sz="1100" dirty="0"/>
              <a:t>Work out the length, in cm, of each piece of string.</a:t>
            </a:r>
          </a:p>
        </p:txBody>
      </p:sp>
      <p:pic>
        <p:nvPicPr>
          <p:cNvPr id="17" name="Picture 16"/>
          <p:cNvPicPr>
            <a:picLocks noChangeAspect="1"/>
          </p:cNvPicPr>
          <p:nvPr/>
        </p:nvPicPr>
        <p:blipFill>
          <a:blip r:embed="rId5"/>
          <a:stretch>
            <a:fillRect/>
          </a:stretch>
        </p:blipFill>
        <p:spPr>
          <a:xfrm>
            <a:off x="3019091" y="3810168"/>
            <a:ext cx="1076765" cy="714105"/>
          </a:xfrm>
          <a:prstGeom prst="rect">
            <a:avLst/>
          </a:prstGeom>
        </p:spPr>
      </p:pic>
      <p:sp>
        <p:nvSpPr>
          <p:cNvPr id="18" name="TextBox 17"/>
          <p:cNvSpPr txBox="1"/>
          <p:nvPr/>
        </p:nvSpPr>
        <p:spPr>
          <a:xfrm>
            <a:off x="109725" y="3810168"/>
            <a:ext cx="2879387" cy="938719"/>
          </a:xfrm>
          <a:prstGeom prst="rect">
            <a:avLst/>
          </a:prstGeom>
          <a:noFill/>
        </p:spPr>
        <p:txBody>
          <a:bodyPr wrap="square" rtlCol="0">
            <a:spAutoFit/>
          </a:bodyPr>
          <a:lstStyle/>
          <a:p>
            <a:r>
              <a:rPr lang="en-US" sz="1100" dirty="0"/>
              <a:t>Pat and Julie share some money in the ratio 2:5</a:t>
            </a:r>
          </a:p>
          <a:p>
            <a:endParaRPr lang="en-US" sz="1100" dirty="0"/>
          </a:p>
          <a:p>
            <a:r>
              <a:rPr lang="en-US" sz="1100" dirty="0"/>
              <a:t>Julie gets £45 more than Pat.</a:t>
            </a:r>
          </a:p>
          <a:p>
            <a:endParaRPr lang="en-US" sz="1100" dirty="0"/>
          </a:p>
          <a:p>
            <a:r>
              <a:rPr lang="en-US" sz="1100" dirty="0"/>
              <a:t>How much money did Pat get?</a:t>
            </a:r>
          </a:p>
        </p:txBody>
      </p:sp>
      <p:sp>
        <p:nvSpPr>
          <p:cNvPr id="19" name="TextBox 18"/>
          <p:cNvSpPr txBox="1"/>
          <p:nvPr/>
        </p:nvSpPr>
        <p:spPr>
          <a:xfrm>
            <a:off x="4237849" y="3725530"/>
            <a:ext cx="4268009" cy="1107996"/>
          </a:xfrm>
          <a:prstGeom prst="rect">
            <a:avLst/>
          </a:prstGeom>
          <a:noFill/>
        </p:spPr>
        <p:txBody>
          <a:bodyPr wrap="square" rtlCol="0">
            <a:spAutoFit/>
          </a:bodyPr>
          <a:lstStyle/>
          <a:p>
            <a:r>
              <a:rPr lang="en-US" sz="1100" dirty="0" err="1"/>
              <a:t>Talil</a:t>
            </a:r>
            <a:r>
              <a:rPr lang="en-US" sz="1100" dirty="0"/>
              <a:t> is going to make some concrete mix. He needs to mix cement, sand and gravel in the ratio 1:3:5 by weight. </a:t>
            </a:r>
            <a:r>
              <a:rPr lang="en-US" sz="1100" dirty="0" err="1"/>
              <a:t>Talil</a:t>
            </a:r>
            <a:r>
              <a:rPr lang="en-US" sz="1100" dirty="0"/>
              <a:t> wants to make 180 kg of concrete mix.</a:t>
            </a:r>
          </a:p>
          <a:p>
            <a:endParaRPr lang="en-US" sz="1100" dirty="0"/>
          </a:p>
          <a:p>
            <a:r>
              <a:rPr lang="en-US" sz="1100" dirty="0" err="1"/>
              <a:t>Talil</a:t>
            </a:r>
            <a:r>
              <a:rPr lang="en-US" sz="1100" dirty="0"/>
              <a:t> has 15kg of cement, 85kg of sand, 100kg of gravel. Does he have enough cement, sand and gravel?</a:t>
            </a:r>
          </a:p>
        </p:txBody>
      </p:sp>
      <p:pic>
        <p:nvPicPr>
          <p:cNvPr id="20" name="Picture 19"/>
          <p:cNvPicPr>
            <a:picLocks noChangeAspect="1"/>
          </p:cNvPicPr>
          <p:nvPr/>
        </p:nvPicPr>
        <p:blipFill>
          <a:blip r:embed="rId6"/>
          <a:stretch>
            <a:fillRect/>
          </a:stretch>
        </p:blipFill>
        <p:spPr>
          <a:xfrm>
            <a:off x="7950434" y="4148440"/>
            <a:ext cx="671560" cy="300825"/>
          </a:xfrm>
          <a:prstGeom prst="rect">
            <a:avLst/>
          </a:prstGeom>
        </p:spPr>
      </p:pic>
      <p:cxnSp>
        <p:nvCxnSpPr>
          <p:cNvPr id="21" name="Straight Connector 20"/>
          <p:cNvCxnSpPr/>
          <p:nvPr/>
        </p:nvCxnSpPr>
        <p:spPr>
          <a:xfrm>
            <a:off x="4168787" y="1040539"/>
            <a:ext cx="58365" cy="5871474"/>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109725" y="3650319"/>
            <a:ext cx="8927271" cy="46192"/>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60504" y="6408902"/>
            <a:ext cx="1687961" cy="369332"/>
          </a:xfrm>
          <a:prstGeom prst="rect">
            <a:avLst/>
          </a:prstGeom>
          <a:solidFill>
            <a:schemeClr val="bg2"/>
          </a:solidFill>
        </p:spPr>
        <p:txBody>
          <a:bodyPr wrap="square" rtlCol="0">
            <a:spAutoFit/>
          </a:bodyPr>
          <a:lstStyle/>
          <a:p>
            <a:pPr algn="ctr"/>
            <a:r>
              <a:rPr lang="en-US" dirty="0"/>
              <a:t>Student Sheet 3</a:t>
            </a:r>
          </a:p>
        </p:txBody>
      </p:sp>
      <p:sp>
        <p:nvSpPr>
          <p:cNvPr id="23" name="Title 1"/>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Ratio sharing contextualised practice</a:t>
            </a:r>
          </a:p>
        </p:txBody>
      </p:sp>
    </p:spTree>
    <p:extLst>
      <p:ext uri="{BB962C8B-B14F-4D97-AF65-F5344CB8AC3E}">
        <p14:creationId xmlns:p14="http://schemas.microsoft.com/office/powerpoint/2010/main" val="548254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4" name="TextBox 3"/>
          <p:cNvSpPr txBox="1"/>
          <p:nvPr/>
        </p:nvSpPr>
        <p:spPr>
          <a:xfrm>
            <a:off x="1" y="1051416"/>
            <a:ext cx="3914078" cy="1169551"/>
          </a:xfrm>
          <a:prstGeom prst="rect">
            <a:avLst/>
          </a:prstGeom>
          <a:noFill/>
        </p:spPr>
        <p:txBody>
          <a:bodyPr wrap="square" rtlCol="0">
            <a:spAutoFit/>
          </a:bodyPr>
          <a:lstStyle/>
          <a:p>
            <a:r>
              <a:rPr lang="en-GB" sz="1400"/>
              <a:t>Q1: Kate</a:t>
            </a:r>
            <a:r>
              <a:rPr lang="en-GB" sz="1400" dirty="0"/>
              <a:t>, Drake and Ed share £350 between them.</a:t>
            </a:r>
          </a:p>
          <a:p>
            <a:r>
              <a:rPr lang="en-GB" sz="1400" dirty="0"/>
              <a:t>Kate receives £120 more than Drake.</a:t>
            </a:r>
          </a:p>
          <a:p>
            <a:r>
              <a:rPr lang="en-GB" sz="1400" dirty="0"/>
              <a:t>The ratio of Kate’s share to Drake’s share is 13 : 3</a:t>
            </a:r>
          </a:p>
          <a:p>
            <a:r>
              <a:rPr lang="en-GB" sz="1400" dirty="0"/>
              <a:t>Work out the ratio of Ed’s share to Drake’s share.</a:t>
            </a:r>
          </a:p>
          <a:p>
            <a:r>
              <a:rPr lang="en-GB" sz="1400" dirty="0"/>
              <a:t>Give your answer in its simplest form.</a:t>
            </a:r>
          </a:p>
        </p:txBody>
      </p:sp>
      <p:sp>
        <p:nvSpPr>
          <p:cNvPr id="11" name="Title 1"/>
          <p:cNvSpPr txBox="1">
            <a:spLocks/>
          </p:cNvSpPr>
          <p:nvPr/>
        </p:nvSpPr>
        <p:spPr>
          <a:xfrm>
            <a:off x="0" y="0"/>
            <a:ext cx="78867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Problem solving and reasoning</a:t>
            </a:r>
          </a:p>
        </p:txBody>
      </p:sp>
      <p:sp>
        <p:nvSpPr>
          <p:cNvPr id="10" name="TextBox 9"/>
          <p:cNvSpPr txBox="1"/>
          <p:nvPr/>
        </p:nvSpPr>
        <p:spPr>
          <a:xfrm>
            <a:off x="4293220" y="1188490"/>
            <a:ext cx="4772721" cy="1169551"/>
          </a:xfrm>
          <a:prstGeom prst="rect">
            <a:avLst/>
          </a:prstGeom>
          <a:noFill/>
        </p:spPr>
        <p:txBody>
          <a:bodyPr wrap="square" rtlCol="0">
            <a:spAutoFit/>
          </a:bodyPr>
          <a:lstStyle/>
          <a:p>
            <a:r>
              <a:rPr lang="en-GB" sz="1400"/>
              <a:t>Q2: One </a:t>
            </a:r>
            <a:r>
              <a:rPr lang="en-GB" sz="1400" dirty="0"/>
              <a:t>litre of green paint can be made by mixing yellow and blue in the ratio 1 : 9. Sally adds more yellow to make lighter green so the ratio of yellow to blue is 1 : 2. Sally now wants the colour to be more blue so the ratio is 1 : 3. How much blue paint does she need to add?</a:t>
            </a:r>
          </a:p>
        </p:txBody>
      </p:sp>
      <p:sp>
        <p:nvSpPr>
          <p:cNvPr id="12" name="TextBox 11"/>
          <p:cNvSpPr txBox="1"/>
          <p:nvPr/>
        </p:nvSpPr>
        <p:spPr>
          <a:xfrm>
            <a:off x="499099" y="5044949"/>
            <a:ext cx="7988291" cy="1169551"/>
          </a:xfrm>
          <a:prstGeom prst="rect">
            <a:avLst/>
          </a:prstGeom>
          <a:noFill/>
        </p:spPr>
        <p:txBody>
          <a:bodyPr wrap="square" rtlCol="0">
            <a:spAutoFit/>
          </a:bodyPr>
          <a:lstStyle/>
          <a:p>
            <a:pPr marL="342900" indent="-342900">
              <a:buFont typeface="Wingdings" panose="05000000000000000000" pitchFamily="2" charset="2"/>
              <a:buChar char="§"/>
            </a:pPr>
            <a:r>
              <a:rPr lang="en-GB" sz="1400" dirty="0"/>
              <a:t>A bag contains 10 yellow balls, 20 red balls and 25 blue balls. The ratio is 2 : 10 : 5</a:t>
            </a:r>
          </a:p>
          <a:p>
            <a:endParaRPr lang="en-GB" sz="1400" dirty="0"/>
          </a:p>
          <a:p>
            <a:pPr marL="342900" indent="-342900">
              <a:buFont typeface="Wingdings" panose="05000000000000000000" pitchFamily="2" charset="2"/>
              <a:buChar char="§"/>
            </a:pPr>
            <a:r>
              <a:rPr lang="en-GB" sz="1400" dirty="0"/>
              <a:t>A wallet contains 16, 2p coins, 24, 10p coins and 6, 50p coins. The ratio is 4 : 6 : 3</a:t>
            </a:r>
          </a:p>
          <a:p>
            <a:pPr marL="342900" indent="-342900">
              <a:buFont typeface="Wingdings" panose="05000000000000000000" pitchFamily="2" charset="2"/>
              <a:buChar char="§"/>
            </a:pPr>
            <a:endParaRPr lang="en-GB" sz="1400" dirty="0"/>
          </a:p>
          <a:p>
            <a:pPr marL="342900" indent="-342900">
              <a:buFont typeface="Wingdings" panose="05000000000000000000" pitchFamily="2" charset="2"/>
              <a:buChar char="§"/>
            </a:pPr>
            <a:r>
              <a:rPr lang="en-GB" sz="1400" dirty="0"/>
              <a:t>A jar contains 36 green marbles, 54 orange marbles and 60 pink. The simplified ratio is 18 : 27 : 30</a:t>
            </a:r>
          </a:p>
        </p:txBody>
      </p:sp>
      <p:sp>
        <p:nvSpPr>
          <p:cNvPr id="13" name="TextBox 12"/>
          <p:cNvSpPr txBox="1"/>
          <p:nvPr/>
        </p:nvSpPr>
        <p:spPr>
          <a:xfrm>
            <a:off x="160504" y="6408902"/>
            <a:ext cx="1687961" cy="369332"/>
          </a:xfrm>
          <a:prstGeom prst="rect">
            <a:avLst/>
          </a:prstGeom>
          <a:solidFill>
            <a:schemeClr val="bg2"/>
          </a:solidFill>
        </p:spPr>
        <p:txBody>
          <a:bodyPr wrap="square" rtlCol="0">
            <a:spAutoFit/>
          </a:bodyPr>
          <a:lstStyle/>
          <a:p>
            <a:pPr algn="ctr"/>
            <a:r>
              <a:rPr lang="en-US" dirty="0"/>
              <a:t>Student Sheet 4</a:t>
            </a:r>
          </a:p>
        </p:txBody>
      </p:sp>
      <p:sp>
        <p:nvSpPr>
          <p:cNvPr id="2" name="TextBox 1"/>
          <p:cNvSpPr txBox="1"/>
          <p:nvPr/>
        </p:nvSpPr>
        <p:spPr>
          <a:xfrm rot="16200000">
            <a:off x="-319584" y="5475837"/>
            <a:ext cx="1267956" cy="307777"/>
          </a:xfrm>
          <a:prstGeom prst="rect">
            <a:avLst/>
          </a:prstGeom>
          <a:solidFill>
            <a:schemeClr val="accent4">
              <a:lumMod val="20000"/>
              <a:lumOff val="80000"/>
            </a:schemeClr>
          </a:solidFill>
        </p:spPr>
        <p:txBody>
          <a:bodyPr wrap="square" rtlCol="0">
            <a:spAutoFit/>
          </a:bodyPr>
          <a:lstStyle/>
          <a:p>
            <a:pPr algn="ctr"/>
            <a:r>
              <a:rPr lang="en-US" sz="1400" b="1"/>
              <a:t>True or false?</a:t>
            </a:r>
          </a:p>
        </p:txBody>
      </p:sp>
      <p:sp>
        <p:nvSpPr>
          <p:cNvPr id="3" name="Rectangle 2"/>
          <p:cNvSpPr/>
          <p:nvPr/>
        </p:nvSpPr>
        <p:spPr>
          <a:xfrm>
            <a:off x="160503" y="3467386"/>
            <a:ext cx="8905437" cy="523220"/>
          </a:xfrm>
          <a:prstGeom prst="rect">
            <a:avLst/>
          </a:prstGeom>
        </p:spPr>
        <p:txBody>
          <a:bodyPr wrap="square">
            <a:spAutoFit/>
          </a:bodyPr>
          <a:lstStyle/>
          <a:p>
            <a:r>
              <a:rPr lang="en-GB" sz="1400" dirty="0"/>
              <a:t>Q3: Tom, Ben and David share </a:t>
            </a:r>
            <a:r>
              <a:rPr lang="en-GB" sz="1400"/>
              <a:t>£65. </a:t>
            </a:r>
            <a:r>
              <a:rPr lang="en-GB" sz="1400" u="sng" dirty="0"/>
              <a:t>Ben gets three times </a:t>
            </a:r>
            <a:r>
              <a:rPr lang="en-GB" sz="1400" dirty="0"/>
              <a:t>as much money as Tom. </a:t>
            </a:r>
            <a:r>
              <a:rPr lang="en-GB" sz="1400" u="sng" dirty="0"/>
              <a:t>David gets twice </a:t>
            </a:r>
            <a:r>
              <a:rPr lang="en-GB" sz="1400" dirty="0"/>
              <a:t>as much money as Ben. How much money does David get?</a:t>
            </a:r>
          </a:p>
        </p:txBody>
      </p:sp>
    </p:spTree>
    <p:extLst>
      <p:ext uri="{BB962C8B-B14F-4D97-AF65-F5344CB8AC3E}">
        <p14:creationId xmlns:p14="http://schemas.microsoft.com/office/powerpoint/2010/main" val="712644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4434" y="1070672"/>
            <a:ext cx="4125332" cy="2898717"/>
          </a:xfrm>
          <a:prstGeom prst="rect">
            <a:avLst/>
          </a:prstGeom>
        </p:spPr>
      </p:pic>
      <p:sp>
        <p:nvSpPr>
          <p:cNvPr id="4" name="Title 1"/>
          <p:cNvSpPr txBox="1">
            <a:spLocks/>
          </p:cNvSpPr>
          <p:nvPr/>
        </p:nvSpPr>
        <p:spPr>
          <a:xfrm>
            <a:off x="0" y="2332"/>
            <a:ext cx="7740352" cy="1325563"/>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Exam specimen questions</a:t>
            </a:r>
          </a:p>
        </p:txBody>
      </p:sp>
      <p:pic>
        <p:nvPicPr>
          <p:cNvPr id="5" name="Picture 4"/>
          <p:cNvPicPr>
            <a:picLocks noChangeAspect="1"/>
          </p:cNvPicPr>
          <p:nvPr/>
        </p:nvPicPr>
        <p:blipFill>
          <a:blip r:embed="rId3"/>
          <a:stretch>
            <a:fillRect/>
          </a:stretch>
        </p:blipFill>
        <p:spPr>
          <a:xfrm>
            <a:off x="4605454" y="1153560"/>
            <a:ext cx="4315522" cy="1095227"/>
          </a:xfrm>
          <a:prstGeom prst="rect">
            <a:avLst/>
          </a:prstGeom>
        </p:spPr>
      </p:pic>
      <p:pic>
        <p:nvPicPr>
          <p:cNvPr id="6" name="Picture 5"/>
          <p:cNvPicPr>
            <a:picLocks noChangeAspect="1"/>
          </p:cNvPicPr>
          <p:nvPr/>
        </p:nvPicPr>
        <p:blipFill>
          <a:blip r:embed="rId4"/>
          <a:stretch>
            <a:fillRect/>
          </a:stretch>
        </p:blipFill>
        <p:spPr>
          <a:xfrm>
            <a:off x="4605454" y="3400015"/>
            <a:ext cx="4260212" cy="792844"/>
          </a:xfrm>
          <a:prstGeom prst="rect">
            <a:avLst/>
          </a:prstGeom>
        </p:spPr>
      </p:pic>
      <p:pic>
        <p:nvPicPr>
          <p:cNvPr id="7" name="Picture 6"/>
          <p:cNvPicPr>
            <a:picLocks noChangeAspect="1"/>
          </p:cNvPicPr>
          <p:nvPr/>
        </p:nvPicPr>
        <p:blipFill rotWithShape="1">
          <a:blip r:embed="rId5"/>
          <a:srcRect r="32811" b="82852"/>
          <a:stretch/>
        </p:blipFill>
        <p:spPr>
          <a:xfrm>
            <a:off x="134434" y="4394384"/>
            <a:ext cx="3199781" cy="622680"/>
          </a:xfrm>
          <a:prstGeom prst="rect">
            <a:avLst/>
          </a:prstGeom>
        </p:spPr>
      </p:pic>
      <p:sp>
        <p:nvSpPr>
          <p:cNvPr id="8" name="TextBox 7"/>
          <p:cNvSpPr txBox="1"/>
          <p:nvPr/>
        </p:nvSpPr>
        <p:spPr>
          <a:xfrm>
            <a:off x="2966224" y="4760730"/>
            <a:ext cx="1639230" cy="276999"/>
          </a:xfrm>
          <a:prstGeom prst="rect">
            <a:avLst/>
          </a:prstGeom>
          <a:noFill/>
        </p:spPr>
        <p:txBody>
          <a:bodyPr wrap="square" rtlCol="0">
            <a:spAutoFit/>
          </a:bodyPr>
          <a:lstStyle/>
          <a:p>
            <a:r>
              <a:rPr lang="en-US" sz="1200" b="1"/>
              <a:t>[3 marks]</a:t>
            </a:r>
          </a:p>
        </p:txBody>
      </p:sp>
      <p:sp>
        <p:nvSpPr>
          <p:cNvPr id="9" name="TextBox 8"/>
          <p:cNvSpPr txBox="1"/>
          <p:nvPr/>
        </p:nvSpPr>
        <p:spPr>
          <a:xfrm>
            <a:off x="160504" y="6408902"/>
            <a:ext cx="1687961" cy="369332"/>
          </a:xfrm>
          <a:prstGeom prst="rect">
            <a:avLst/>
          </a:prstGeom>
          <a:solidFill>
            <a:schemeClr val="bg2"/>
          </a:solidFill>
        </p:spPr>
        <p:txBody>
          <a:bodyPr wrap="square" rtlCol="0">
            <a:spAutoFit/>
          </a:bodyPr>
          <a:lstStyle/>
          <a:p>
            <a:pPr algn="ctr"/>
            <a:r>
              <a:rPr lang="en-US" dirty="0"/>
              <a:t>Student Sheet 5</a:t>
            </a:r>
          </a:p>
        </p:txBody>
      </p:sp>
    </p:spTree>
    <p:extLst>
      <p:ext uri="{BB962C8B-B14F-4D97-AF65-F5344CB8AC3E}">
        <p14:creationId xmlns:p14="http://schemas.microsoft.com/office/powerpoint/2010/main" val="12070607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l="1011" t="2148" r="16359" b="72860"/>
          <a:stretch/>
        </p:blipFill>
        <p:spPr>
          <a:xfrm>
            <a:off x="162048" y="1019699"/>
            <a:ext cx="3707425" cy="1025453"/>
          </a:xfrm>
          <a:prstGeom prst="rect">
            <a:avLst/>
          </a:prstGeom>
        </p:spPr>
      </p:pic>
      <p:sp>
        <p:nvSpPr>
          <p:cNvPr id="6" name="Title 1"/>
          <p:cNvSpPr txBox="1">
            <a:spLocks/>
          </p:cNvSpPr>
          <p:nvPr/>
        </p:nvSpPr>
        <p:spPr>
          <a:xfrm>
            <a:off x="0" y="2332"/>
            <a:ext cx="7740352" cy="1325563"/>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mn-lt"/>
              </a:rPr>
              <a:t>Exam specimen questions</a:t>
            </a:r>
          </a:p>
        </p:txBody>
      </p:sp>
      <p:pic>
        <p:nvPicPr>
          <p:cNvPr id="7" name="Picture 6"/>
          <p:cNvPicPr>
            <a:picLocks noChangeAspect="1"/>
          </p:cNvPicPr>
          <p:nvPr/>
        </p:nvPicPr>
        <p:blipFill>
          <a:blip r:embed="rId3"/>
          <a:stretch>
            <a:fillRect/>
          </a:stretch>
        </p:blipFill>
        <p:spPr>
          <a:xfrm>
            <a:off x="4493941" y="1177779"/>
            <a:ext cx="4170557" cy="2534461"/>
          </a:xfrm>
          <a:prstGeom prst="rect">
            <a:avLst/>
          </a:prstGeom>
        </p:spPr>
      </p:pic>
      <p:sp>
        <p:nvSpPr>
          <p:cNvPr id="8" name="TextBox 7"/>
          <p:cNvSpPr txBox="1"/>
          <p:nvPr/>
        </p:nvSpPr>
        <p:spPr>
          <a:xfrm>
            <a:off x="3289965" y="4206514"/>
            <a:ext cx="1639230" cy="276999"/>
          </a:xfrm>
          <a:prstGeom prst="rect">
            <a:avLst/>
          </a:prstGeom>
          <a:noFill/>
        </p:spPr>
        <p:txBody>
          <a:bodyPr wrap="square" rtlCol="0">
            <a:spAutoFit/>
          </a:bodyPr>
          <a:lstStyle/>
          <a:p>
            <a:r>
              <a:rPr lang="en-US" sz="1200" b="1"/>
              <a:t>[3 marks]</a:t>
            </a:r>
          </a:p>
        </p:txBody>
      </p:sp>
      <p:pic>
        <p:nvPicPr>
          <p:cNvPr id="9" name="Picture 8"/>
          <p:cNvPicPr>
            <a:picLocks noChangeAspect="1"/>
          </p:cNvPicPr>
          <p:nvPr/>
        </p:nvPicPr>
        <p:blipFill rotWithShape="1">
          <a:blip r:embed="rId4"/>
          <a:srcRect r="20610" b="74698"/>
          <a:stretch/>
        </p:blipFill>
        <p:spPr>
          <a:xfrm>
            <a:off x="162048" y="3544933"/>
            <a:ext cx="3947532" cy="661581"/>
          </a:xfrm>
          <a:prstGeom prst="rect">
            <a:avLst/>
          </a:prstGeom>
        </p:spPr>
      </p:pic>
      <p:sp>
        <p:nvSpPr>
          <p:cNvPr id="10" name="TextBox 9"/>
          <p:cNvSpPr txBox="1"/>
          <p:nvPr/>
        </p:nvSpPr>
        <p:spPr>
          <a:xfrm>
            <a:off x="3364306" y="2059052"/>
            <a:ext cx="1639230" cy="276999"/>
          </a:xfrm>
          <a:prstGeom prst="rect">
            <a:avLst/>
          </a:prstGeom>
          <a:noFill/>
        </p:spPr>
        <p:txBody>
          <a:bodyPr wrap="square" rtlCol="0">
            <a:spAutoFit/>
          </a:bodyPr>
          <a:lstStyle/>
          <a:p>
            <a:r>
              <a:rPr lang="en-US" sz="1200" b="1"/>
              <a:t>[3 marks]</a:t>
            </a:r>
          </a:p>
        </p:txBody>
      </p:sp>
      <p:pic>
        <p:nvPicPr>
          <p:cNvPr id="11" name="Picture 10"/>
          <p:cNvPicPr>
            <a:picLocks noChangeAspect="1"/>
          </p:cNvPicPr>
          <p:nvPr/>
        </p:nvPicPr>
        <p:blipFill>
          <a:blip r:embed="rId5"/>
          <a:stretch>
            <a:fillRect/>
          </a:stretch>
        </p:blipFill>
        <p:spPr>
          <a:xfrm>
            <a:off x="4493941" y="3726140"/>
            <a:ext cx="3757961" cy="2947244"/>
          </a:xfrm>
          <a:prstGeom prst="rect">
            <a:avLst/>
          </a:prstGeom>
        </p:spPr>
      </p:pic>
      <p:sp>
        <p:nvSpPr>
          <p:cNvPr id="12" name="TextBox 11"/>
          <p:cNvSpPr txBox="1"/>
          <p:nvPr/>
        </p:nvSpPr>
        <p:spPr>
          <a:xfrm>
            <a:off x="160504" y="6408902"/>
            <a:ext cx="1687961" cy="369332"/>
          </a:xfrm>
          <a:prstGeom prst="rect">
            <a:avLst/>
          </a:prstGeom>
          <a:solidFill>
            <a:schemeClr val="bg2"/>
          </a:solidFill>
        </p:spPr>
        <p:txBody>
          <a:bodyPr wrap="square" rtlCol="0">
            <a:spAutoFit/>
          </a:bodyPr>
          <a:lstStyle/>
          <a:p>
            <a:pPr algn="ctr"/>
            <a:r>
              <a:rPr lang="en-US" dirty="0"/>
              <a:t>Student Sheet 6</a:t>
            </a:r>
          </a:p>
        </p:txBody>
      </p:sp>
    </p:spTree>
    <p:extLst>
      <p:ext uri="{BB962C8B-B14F-4D97-AF65-F5344CB8AC3E}">
        <p14:creationId xmlns:p14="http://schemas.microsoft.com/office/powerpoint/2010/main" val="77903075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3586</TotalTime>
  <Words>2457</Words>
  <Application>Microsoft Office PowerPoint</Application>
  <PresentationFormat>On-screen Show (4:3)</PresentationFormat>
  <Paragraphs>345</Paragraphs>
  <Slides>21</Slides>
  <Notes>5</Notes>
  <HiddenSlides>7</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Cambria Math</vt:lpstr>
      <vt:lpstr>Wingdings</vt:lpstr>
      <vt:lpstr>Office Theme</vt:lpstr>
      <vt:lpstr>PowerPoint Presentation</vt:lpstr>
      <vt:lpstr>Title: Ratio Sharing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Christina Moody</dc:creator>
  <cp:lastModifiedBy>DAVIES Rhys [Busselton Senior High School]</cp:lastModifiedBy>
  <cp:revision>184</cp:revision>
  <dcterms:created xsi:type="dcterms:W3CDTF">2016-01-18T14:56:17Z</dcterms:created>
  <dcterms:modified xsi:type="dcterms:W3CDTF">2022-07-26T12:58:36Z</dcterms:modified>
</cp:coreProperties>
</file>
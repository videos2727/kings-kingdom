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handoutMasterIdLst>
    <p:handoutMasterId r:id="rId22"/>
  </p:handoutMasterIdLst>
  <p:sldIdLst>
    <p:sldId id="501" r:id="rId3"/>
    <p:sldId id="495" r:id="rId4"/>
    <p:sldId id="482" r:id="rId5"/>
    <p:sldId id="257" r:id="rId6"/>
    <p:sldId id="496" r:id="rId7"/>
    <p:sldId id="497" r:id="rId8"/>
    <p:sldId id="260" r:id="rId9"/>
    <p:sldId id="262" r:id="rId10"/>
    <p:sldId id="268" r:id="rId11"/>
    <p:sldId id="499" r:id="rId12"/>
    <p:sldId id="264" r:id="rId13"/>
    <p:sldId id="498" r:id="rId14"/>
    <p:sldId id="265" r:id="rId15"/>
    <p:sldId id="266" r:id="rId16"/>
    <p:sldId id="267" r:id="rId17"/>
    <p:sldId id="500" r:id="rId18"/>
    <p:sldId id="272" r:id="rId19"/>
    <p:sldId id="273" r:id="rId20"/>
    <p:sldId id="26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1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5ECE08-031C-445B-AB1D-A315E0F3C1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004C26-837A-4525-BE9F-CDBBAF0362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1E13A-608C-4E8F-82D8-04B2BC724D3B}" type="datetimeFigureOut">
              <a:rPr lang="en-AU" smtClean="0"/>
              <a:t>31/08/2022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6687E-828F-4425-86AB-13F93F4E0D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94112-A873-412A-9AE2-34084DD1B6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FB3729-C1F1-41B4-9C19-06A65C1BA7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8079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18EF-326B-4F14-8648-E90653F5D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Lesson Title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E1C93-5CFF-4364-8FFF-F38E0EA91F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Subtitle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3078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 and S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D930B-A4D6-4644-B2DF-1EC0591815B3}"/>
              </a:ext>
            </a:extLst>
          </p:cNvPr>
          <p:cNvSpPr txBox="1">
            <a:spLocks/>
          </p:cNvSpPr>
          <p:nvPr userDrawn="1"/>
        </p:nvSpPr>
        <p:spPr>
          <a:xfrm>
            <a:off x="778932" y="3689575"/>
            <a:ext cx="10399607" cy="2651940"/>
          </a:xfrm>
          <a:prstGeom prst="round2DiagRect">
            <a:avLst/>
          </a:prstGeom>
          <a:noFill/>
          <a:ln w="38100">
            <a:solidFill>
              <a:srgbClr val="1891AC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rgbClr val="154983"/>
                </a:solidFill>
                <a:latin typeface="Arial Rounded MT Bold" panose="020F070403050403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sz="280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6D50DB4-3A4D-4206-A917-3994E504464A}"/>
              </a:ext>
            </a:extLst>
          </p:cNvPr>
          <p:cNvSpPr txBox="1">
            <a:spLocks/>
          </p:cNvSpPr>
          <p:nvPr userDrawn="1"/>
        </p:nvSpPr>
        <p:spPr>
          <a:xfrm>
            <a:off x="778932" y="602344"/>
            <a:ext cx="10399607" cy="2651940"/>
          </a:xfrm>
          <a:prstGeom prst="round2DiagRect">
            <a:avLst/>
          </a:prstGeom>
          <a:ln w="38100">
            <a:solidFill>
              <a:srgbClr val="154983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rgbClr val="154983"/>
                </a:solidFill>
                <a:latin typeface="Arial Rounded MT Bold" panose="020F070403050403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sz="2800" dirty="0"/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3F00BA76-7AC9-4AD4-8B7E-C305E0EBE5F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012825" y="3883378"/>
            <a:ext cx="9948863" cy="2269066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1pPr>
            <a:lvl2pPr algn="ctr"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2pPr>
            <a:lvl3pPr algn="ctr"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3pPr>
            <a:lvl4pPr algn="ctr"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4pPr>
            <a:lvl5pPr algn="ctr"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en-AU" sz="2800" dirty="0"/>
              <a:t>(optional) State a specific task you will be setting at the end of the lesson, to assess whether students have been successful in obtaining the learning objective.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B0AC64-397B-4C0A-A212-693A8B1DDD15}"/>
              </a:ext>
            </a:extLst>
          </p:cNvPr>
          <p:cNvSpPr txBox="1"/>
          <p:nvPr userDrawn="1"/>
        </p:nvSpPr>
        <p:spPr>
          <a:xfrm>
            <a:off x="9146009" y="602344"/>
            <a:ext cx="2034232" cy="358796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400" b="0" i="0" dirty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rPr>
              <a:t>Learning Objective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404594-AAD4-4080-A68D-4509AB151AEC}"/>
              </a:ext>
            </a:extLst>
          </p:cNvPr>
          <p:cNvSpPr txBox="1"/>
          <p:nvPr userDrawn="1"/>
        </p:nvSpPr>
        <p:spPr>
          <a:xfrm>
            <a:off x="9146009" y="3677498"/>
            <a:ext cx="2034234" cy="358796"/>
          </a:xfrm>
          <a:prstGeom prst="round2DiagRect">
            <a:avLst/>
          </a:prstGeom>
          <a:solidFill>
            <a:srgbClr val="1891AC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400" b="0" i="0" dirty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rPr>
              <a:t>Success Criteria</a:t>
            </a:r>
          </a:p>
        </p:txBody>
      </p:sp>
      <p:sp>
        <p:nvSpPr>
          <p:cNvPr id="8" name="Content Placeholder 17">
            <a:extLst>
              <a:ext uri="{FF2B5EF4-FFF2-40B4-BE49-F238E27FC236}">
                <a16:creationId xmlns:a16="http://schemas.microsoft.com/office/drawing/2014/main" id="{8D112EE5-A45B-48D1-93DA-DA5B5B1B545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12825" y="812800"/>
            <a:ext cx="9948863" cy="230293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1pPr>
            <a:lvl2pPr algn="ctr"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2pPr>
            <a:lvl3pPr algn="ctr"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3pPr>
            <a:lvl4pPr algn="ctr"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4pPr>
            <a:lvl5pPr algn="ctr"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en-US" sz="2800" dirty="0"/>
              <a:t>A statement describing what the students</a:t>
            </a:r>
            <a:br>
              <a:rPr lang="en-US" sz="2800" dirty="0"/>
            </a:br>
            <a:r>
              <a:rPr lang="en-US" sz="2800" dirty="0"/>
              <a:t>will be able to do by the end of the lesson.</a:t>
            </a:r>
            <a:br>
              <a:rPr lang="en-US" sz="2800" dirty="0"/>
            </a:br>
            <a:r>
              <a:rPr lang="en-US" sz="2800" dirty="0"/>
              <a:t>E.g. ‘Write direct speech using</a:t>
            </a:r>
            <a:br>
              <a:rPr lang="en-US" sz="2800" dirty="0"/>
            </a:br>
            <a:r>
              <a:rPr lang="en-US" sz="2800" dirty="0"/>
              <a:t>correct punctuation and grammar.’</a:t>
            </a:r>
          </a:p>
        </p:txBody>
      </p:sp>
    </p:spTree>
    <p:extLst>
      <p:ext uri="{BB962C8B-B14F-4D97-AF65-F5344CB8AC3E}">
        <p14:creationId xmlns:p14="http://schemas.microsoft.com/office/powerpoint/2010/main" val="168522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6D50DB4-3A4D-4206-A917-3994E504464A}"/>
              </a:ext>
            </a:extLst>
          </p:cNvPr>
          <p:cNvSpPr txBox="1">
            <a:spLocks/>
          </p:cNvSpPr>
          <p:nvPr userDrawn="1"/>
        </p:nvSpPr>
        <p:spPr>
          <a:xfrm>
            <a:off x="778932" y="602344"/>
            <a:ext cx="10399607" cy="2651940"/>
          </a:xfrm>
          <a:prstGeom prst="round2DiagRect">
            <a:avLst/>
          </a:prstGeom>
          <a:ln w="38100">
            <a:solidFill>
              <a:srgbClr val="154983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rgbClr val="154983"/>
                </a:solidFill>
                <a:latin typeface="Arial Rounded MT Bold" panose="020F070403050403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B0AC64-397B-4C0A-A212-693A8B1DDD15}"/>
              </a:ext>
            </a:extLst>
          </p:cNvPr>
          <p:cNvSpPr txBox="1"/>
          <p:nvPr userDrawn="1"/>
        </p:nvSpPr>
        <p:spPr>
          <a:xfrm>
            <a:off x="9146009" y="602344"/>
            <a:ext cx="2034232" cy="358796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400" b="0" i="0" dirty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rPr>
              <a:t>Learning Objective</a:t>
            </a:r>
          </a:p>
        </p:txBody>
      </p:sp>
      <p:sp>
        <p:nvSpPr>
          <p:cNvPr id="8" name="Content Placeholder 17">
            <a:extLst>
              <a:ext uri="{FF2B5EF4-FFF2-40B4-BE49-F238E27FC236}">
                <a16:creationId xmlns:a16="http://schemas.microsoft.com/office/drawing/2014/main" id="{8D112EE5-A45B-48D1-93DA-DA5B5B1B545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12825" y="812800"/>
            <a:ext cx="9948863" cy="230293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1pPr>
            <a:lvl2pPr algn="ctr"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2pPr>
            <a:lvl3pPr algn="ctr"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3pPr>
            <a:lvl4pPr algn="ctr"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4pPr>
            <a:lvl5pPr algn="ctr">
              <a:defRPr>
                <a:solidFill>
                  <a:schemeClr val="accent1"/>
                </a:solidFill>
                <a:latin typeface="Arial Rounded MT Bold" panose="020F0704030504030204" pitchFamily="34" charset="0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en-US" sz="2800" dirty="0"/>
              <a:t>A statement describing what the students</a:t>
            </a:r>
            <a:br>
              <a:rPr lang="en-US" sz="2800" dirty="0"/>
            </a:br>
            <a:r>
              <a:rPr lang="en-US" sz="2800" dirty="0"/>
              <a:t>will be able to do by the end of the lesson.</a:t>
            </a:r>
            <a:br>
              <a:rPr lang="en-US" sz="2800" dirty="0"/>
            </a:br>
            <a:r>
              <a:rPr lang="en-US" sz="2800" dirty="0"/>
              <a:t>E.g. ‘Write direct speech using</a:t>
            </a:r>
            <a:br>
              <a:rPr lang="en-US" sz="2800" dirty="0"/>
            </a:br>
            <a:r>
              <a:rPr lang="en-US" sz="2800" dirty="0"/>
              <a:t>correct punctuation and grammar.’</a:t>
            </a:r>
          </a:p>
        </p:txBody>
      </p:sp>
    </p:spTree>
    <p:extLst>
      <p:ext uri="{BB962C8B-B14F-4D97-AF65-F5344CB8AC3E}">
        <p14:creationId xmlns:p14="http://schemas.microsoft.com/office/powerpoint/2010/main" val="404725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Li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10B6-5EB8-4594-B011-3C2F53241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03" y="321993"/>
            <a:ext cx="11031747" cy="51476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E589-DAEB-4941-BC27-7CE5EAC50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04" y="945730"/>
            <a:ext cx="11601090" cy="565347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708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15FB8-4F42-46F8-BA50-5DC2E6F3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166" y="321995"/>
            <a:ext cx="11112260" cy="51476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A0F4A8-79A9-4523-B60D-F59C830CA12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604" y="945730"/>
            <a:ext cx="11601090" cy="565347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en-AU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563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B5A2109-2756-40CE-AA21-5153395A8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03" y="321993"/>
            <a:ext cx="11031747" cy="51476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4734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ual Underst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7D535A-6781-4D91-A8AD-4D859137FFC9}"/>
              </a:ext>
            </a:extLst>
          </p:cNvPr>
          <p:cNvSpPr txBox="1"/>
          <p:nvPr userDrawn="1"/>
        </p:nvSpPr>
        <p:spPr>
          <a:xfrm>
            <a:off x="154907" y="141439"/>
            <a:ext cx="3668156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Conceptual Understanding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15104F-6B1E-42E1-9F7F-B855DD9D3D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78934"/>
            <a:ext cx="11697787" cy="58202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en-AU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30123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or Knowl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7D535A-6781-4D91-A8AD-4D859137FFC9}"/>
              </a:ext>
            </a:extLst>
          </p:cNvPr>
          <p:cNvSpPr txBox="1"/>
          <p:nvPr userDrawn="1"/>
        </p:nvSpPr>
        <p:spPr>
          <a:xfrm>
            <a:off x="154907" y="141439"/>
            <a:ext cx="2754548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Prior Knowledge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15104F-6B1E-42E1-9F7F-B855DD9D3D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78934"/>
            <a:ext cx="11697787" cy="58202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en-AU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1244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nge-Point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7D535A-6781-4D91-A8AD-4D859137FFC9}"/>
              </a:ext>
            </a:extLst>
          </p:cNvPr>
          <p:cNvSpPr txBox="1"/>
          <p:nvPr userDrawn="1"/>
        </p:nvSpPr>
        <p:spPr>
          <a:xfrm>
            <a:off x="154907" y="141439"/>
            <a:ext cx="3096293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Hinge-Point Question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15104F-6B1E-42E1-9F7F-B855DD9D3D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78934"/>
            <a:ext cx="11697787" cy="58202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en-AU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19702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7D535A-6781-4D91-A8AD-4D859137FFC9}"/>
              </a:ext>
            </a:extLst>
          </p:cNvPr>
          <p:cNvSpPr txBox="1"/>
          <p:nvPr userDrawn="1"/>
        </p:nvSpPr>
        <p:spPr>
          <a:xfrm>
            <a:off x="154907" y="141439"/>
            <a:ext cx="940115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I DO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15104F-6B1E-42E1-9F7F-B855DD9D3D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8" y="778934"/>
            <a:ext cx="8492382" cy="58202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AU" dirty="0"/>
              <a:t>Click to add text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FC7D70-3314-4844-815E-16EC349B173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839200" y="778934"/>
            <a:ext cx="3098801" cy="5820274"/>
          </a:xfrm>
          <a:prstGeom prst="roundRect">
            <a:avLst>
              <a:gd name="adj" fmla="val 6467"/>
            </a:avLst>
          </a:prstGeom>
          <a:ln>
            <a:solidFill>
              <a:schemeClr val="accent1"/>
            </a:solidFill>
          </a:ln>
          <a:effectLst/>
        </p:spPr>
        <p:txBody>
          <a:bodyPr lIns="270000" tIns="270000" rIns="270000" bIns="270000"/>
          <a:lstStyle>
            <a:lvl1pPr marL="0" indent="0">
              <a:lnSpc>
                <a:spcPct val="100000"/>
              </a:lnSpc>
              <a:buNone/>
              <a:defRPr sz="2000">
                <a:latin typeface="Arial Rounded MT Bold" panose="020F0704030504030204" pitchFamily="34" charset="0"/>
              </a:defRPr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AU" dirty="0"/>
              <a:t>Steps to follow…</a:t>
            </a:r>
          </a:p>
        </p:txBody>
      </p:sp>
    </p:spTree>
    <p:extLst>
      <p:ext uri="{BB962C8B-B14F-4D97-AF65-F5344CB8AC3E}">
        <p14:creationId xmlns:p14="http://schemas.microsoft.com/office/powerpoint/2010/main" val="102191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7D535A-6781-4D91-A8AD-4D859137FFC9}"/>
              </a:ext>
            </a:extLst>
          </p:cNvPr>
          <p:cNvSpPr txBox="1"/>
          <p:nvPr userDrawn="1"/>
        </p:nvSpPr>
        <p:spPr>
          <a:xfrm>
            <a:off x="154907" y="141439"/>
            <a:ext cx="1244915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WE DO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15104F-6B1E-42E1-9F7F-B855DD9D3D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8" y="778934"/>
            <a:ext cx="8492382" cy="58202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AU" dirty="0"/>
              <a:t>Click to add text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FC7D70-3314-4844-815E-16EC349B173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839200" y="778934"/>
            <a:ext cx="3098801" cy="5820274"/>
          </a:xfrm>
          <a:prstGeom prst="roundRect">
            <a:avLst>
              <a:gd name="adj" fmla="val 6467"/>
            </a:avLst>
          </a:prstGeom>
          <a:ln>
            <a:solidFill>
              <a:schemeClr val="accent1"/>
            </a:solidFill>
          </a:ln>
          <a:effectLst/>
        </p:spPr>
        <p:txBody>
          <a:bodyPr lIns="270000" tIns="270000" rIns="270000" bIns="270000"/>
          <a:lstStyle>
            <a:lvl1pPr marL="0" indent="0">
              <a:lnSpc>
                <a:spcPct val="100000"/>
              </a:lnSpc>
              <a:buNone/>
              <a:defRPr sz="2000">
                <a:latin typeface="Arial Rounded MT Bold" panose="020F0704030504030204" pitchFamily="34" charset="0"/>
              </a:defRPr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AU" dirty="0"/>
              <a:t>Steps to follow…</a:t>
            </a:r>
          </a:p>
        </p:txBody>
      </p:sp>
    </p:spTree>
    <p:extLst>
      <p:ext uri="{BB962C8B-B14F-4D97-AF65-F5344CB8AC3E}">
        <p14:creationId xmlns:p14="http://schemas.microsoft.com/office/powerpoint/2010/main" val="1811707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7D535A-6781-4D91-A8AD-4D859137FFC9}"/>
              </a:ext>
            </a:extLst>
          </p:cNvPr>
          <p:cNvSpPr txBox="1"/>
          <p:nvPr userDrawn="1"/>
        </p:nvSpPr>
        <p:spPr>
          <a:xfrm>
            <a:off x="154907" y="141439"/>
            <a:ext cx="1290071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YOU DO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15104F-6B1E-42E1-9F7F-B855DD9D3D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8" y="778934"/>
            <a:ext cx="8492382" cy="58202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AU" dirty="0"/>
              <a:t>Click to add text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FC7D70-3314-4844-815E-16EC349B173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839200" y="778934"/>
            <a:ext cx="3098801" cy="5820274"/>
          </a:xfrm>
          <a:prstGeom prst="roundRect">
            <a:avLst>
              <a:gd name="adj" fmla="val 6467"/>
            </a:avLst>
          </a:prstGeom>
          <a:ln>
            <a:solidFill>
              <a:schemeClr val="accent1"/>
            </a:solidFill>
          </a:ln>
          <a:effectLst/>
        </p:spPr>
        <p:txBody>
          <a:bodyPr lIns="270000" tIns="270000" rIns="270000" bIns="270000"/>
          <a:lstStyle>
            <a:lvl1pPr marL="0" indent="0">
              <a:lnSpc>
                <a:spcPct val="100000"/>
              </a:lnSpc>
              <a:buNone/>
              <a:defRPr sz="2000">
                <a:latin typeface="Arial Rounded MT Bold" panose="020F0704030504030204" pitchFamily="34" charset="0"/>
              </a:defRPr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AU" dirty="0"/>
              <a:t>Steps to follow…</a:t>
            </a:r>
          </a:p>
        </p:txBody>
      </p:sp>
    </p:spTree>
    <p:extLst>
      <p:ext uri="{BB962C8B-B14F-4D97-AF65-F5344CB8AC3E}">
        <p14:creationId xmlns:p14="http://schemas.microsoft.com/office/powerpoint/2010/main" val="46986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son 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15104F-6B1E-42E1-9F7F-B855DD9D3DA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78934"/>
            <a:ext cx="11697787" cy="58202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en-AU" dirty="0"/>
              <a:t>Click to add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87B03-C82C-4336-A9C7-5F6EB9D8CD19}"/>
              </a:ext>
            </a:extLst>
          </p:cNvPr>
          <p:cNvSpPr txBox="1"/>
          <p:nvPr userDrawn="1"/>
        </p:nvSpPr>
        <p:spPr>
          <a:xfrm>
            <a:off x="154907" y="141439"/>
            <a:ext cx="2353162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Lesson Closure</a:t>
            </a:r>
          </a:p>
        </p:txBody>
      </p:sp>
    </p:spTree>
    <p:extLst>
      <p:ext uri="{BB962C8B-B14F-4D97-AF65-F5344CB8AC3E}">
        <p14:creationId xmlns:p14="http://schemas.microsoft.com/office/powerpoint/2010/main" val="2549862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007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/>
              <a:pPr/>
              <a:t>31/08/2022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500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/>
              <a:pPr/>
              <a:t>31/08/2022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069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/>
              <a:pPr/>
              <a:t>31/08/2022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9769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/>
              <a:pPr/>
              <a:t>31/08/2022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623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/>
              <a:pPr/>
              <a:t>31/08/2022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6761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/>
              <a:pPr/>
              <a:t>31/08/2022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8775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/>
              <a:pPr/>
              <a:t>31/08/2022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0958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/>
              <a:pPr/>
              <a:t>31/08/2022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3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/>
              <a:pPr/>
              <a:t>31/08/2022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9584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/>
              <a:pPr/>
              <a:t>31/08/2022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3676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46EF9-5B47-4BCA-816C-28FC2A22B3BF}" type="datetimeFigureOut">
              <a:rPr lang="en-GB" smtClean="0"/>
              <a:pPr/>
              <a:t>31/08/2022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4BF1-CC74-42AE-9D89-04761F890B1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164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generated with high confidence">
            <a:extLst>
              <a:ext uri="{FF2B5EF4-FFF2-40B4-BE49-F238E27FC236}">
                <a16:creationId xmlns:a16="http://schemas.microsoft.com/office/drawing/2014/main" id="{761DAA86-BB2C-4542-B7E0-B9CF9771E992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5166" y="68536"/>
            <a:ext cx="461264" cy="59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9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0" r:id="rId4"/>
    <p:sldLayoutId id="2147483656" r:id="rId5"/>
    <p:sldLayoutId id="2147483654" r:id="rId6"/>
    <p:sldLayoutId id="2147483657" r:id="rId7"/>
    <p:sldLayoutId id="2147483665" r:id="rId8"/>
    <p:sldLayoutId id="2147483658" r:id="rId9"/>
    <p:sldLayoutId id="2147483659" r:id="rId10"/>
    <p:sldLayoutId id="2147483660" r:id="rId11"/>
    <p:sldLayoutId id="2147483661" r:id="rId12"/>
    <p:sldLayoutId id="2147483664" r:id="rId13"/>
    <p:sldLayoutId id="214748365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Rounded MT Bold" panose="020F07040305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»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46EF9-5B47-4BCA-816C-28FC2A22B3BF}" type="datetimeFigureOut">
              <a:rPr lang="en-GB" smtClean="0"/>
              <a:pPr/>
              <a:t>31/08/2022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64BF1-CC74-42AE-9D89-04761F890B1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91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8B205C-F9E3-6A6E-8752-F7620A6F5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Lesson objective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BDEEF68-6EA0-8C37-8574-A0805FCFDF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3600" b="1" dirty="0"/>
                  <a:t>Title: </a:t>
                </a:r>
                <a:r>
                  <a:rPr lang="en-US" sz="3600" b="1" dirty="0">
                    <a:solidFill>
                      <a:srgbClr val="00B0F0"/>
                    </a:solidFill>
                  </a:rPr>
                  <a:t>equation of a line </a:t>
                </a:r>
              </a:p>
              <a:p>
                <a:pPr marL="0" indent="0">
                  <a:buNone/>
                </a:pPr>
                <a:endParaRPr lang="en-US" sz="3600" b="1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US" sz="3600" b="1" dirty="0">
                    <a:solidFill>
                      <a:srgbClr val="00B0F0"/>
                    </a:solidFill>
                  </a:rPr>
                  <a:t>Aim: </a:t>
                </a:r>
              </a:p>
              <a:p>
                <a:pPr>
                  <a:spcAft>
                    <a:spcPts val="600"/>
                  </a:spcAft>
                  <a:buClr>
                    <a:srgbClr val="FF0000"/>
                  </a:buClr>
                  <a:buFont typeface="Wingdings" panose="05000000000000000000" pitchFamily="2" charset="2"/>
                  <a:buChar char="q"/>
                </a:pPr>
                <a:r>
                  <a:rPr lang="en-GB" sz="3600" b="1" dirty="0">
                    <a:solidFill>
                      <a:srgbClr val="00B0F0"/>
                    </a:solidFill>
                  </a:rPr>
                  <a:t>Be able to create the equation for a line in the format </a:t>
                </a:r>
                <a:endParaRPr lang="en-AU" sz="3600" b="1" i="1" dirty="0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600"/>
                  </a:spcAft>
                  <a:buClr>
                    <a:srgbClr val="FF00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𝒎𝒙</m:t>
                      </m:r>
                      <m:r>
                        <a:rPr lang="en-AU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sz="3600" b="1" dirty="0">
                  <a:solidFill>
                    <a:srgbClr val="00B0F0"/>
                  </a:solidFill>
                </a:endParaRPr>
              </a:p>
              <a:p>
                <a:pPr marL="0" indent="0">
                  <a:spcAft>
                    <a:spcPts val="600"/>
                  </a:spcAft>
                  <a:buClr>
                    <a:srgbClr val="FF0000"/>
                  </a:buClr>
                  <a:buNone/>
                </a:pPr>
                <a:r>
                  <a:rPr lang="en-GB" sz="3600" b="1" dirty="0">
                    <a:solidFill>
                      <a:srgbClr val="00B0F0"/>
                    </a:solidFill>
                  </a:rPr>
                  <a:t>Plan: </a:t>
                </a:r>
              </a:p>
              <a:p>
                <a:pPr>
                  <a:spcAft>
                    <a:spcPts val="600"/>
                  </a:spcAft>
                  <a:buClr>
                    <a:srgbClr val="FF0000"/>
                  </a:buClr>
                  <a:buFontTx/>
                  <a:buChar char="-"/>
                </a:pPr>
                <a:r>
                  <a:rPr lang="en-GB" sz="3600" b="1" dirty="0">
                    <a:solidFill>
                      <a:srgbClr val="00B0F0"/>
                    </a:solidFill>
                  </a:rPr>
                  <a:t>Intercepts </a:t>
                </a:r>
              </a:p>
              <a:p>
                <a:pPr>
                  <a:spcAft>
                    <a:spcPts val="600"/>
                  </a:spcAft>
                  <a:buClr>
                    <a:srgbClr val="FF0000"/>
                  </a:buClr>
                  <a:buFontTx/>
                  <a:buChar char="-"/>
                </a:pPr>
                <a:r>
                  <a:rPr lang="en-GB" sz="3600" b="1">
                    <a:solidFill>
                      <a:srgbClr val="00B0F0"/>
                    </a:solidFill>
                  </a:rPr>
                  <a:t>Making equations for lines </a:t>
                </a:r>
                <a:endParaRPr lang="en-GB" sz="3600" b="1" dirty="0">
                  <a:solidFill>
                    <a:srgbClr val="00B0F0"/>
                  </a:solidFill>
                </a:endParaRPr>
              </a:p>
              <a:p>
                <a:pPr marL="0" indent="0">
                  <a:spcAft>
                    <a:spcPts val="600"/>
                  </a:spcAft>
                  <a:buClr>
                    <a:srgbClr val="FF0000"/>
                  </a:buClr>
                  <a:buNone/>
                </a:pPr>
                <a:endParaRPr lang="en-AU" sz="3200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BDEEF68-6EA0-8C37-8574-A0805FCFDF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56" t="-3774" b="-5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8848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3FEBC6-D256-4EF0-8ED3-D8815E4C6196}"/>
              </a:ext>
            </a:extLst>
          </p:cNvPr>
          <p:cNvSpPr/>
          <p:nvPr/>
        </p:nvSpPr>
        <p:spPr>
          <a:xfrm>
            <a:off x="214745" y="173182"/>
            <a:ext cx="2507673" cy="41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/>
              <a:t>Daily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CF2326-8ECA-4DAA-94C9-5B317797EC73}"/>
                  </a:ext>
                </a:extLst>
              </p:cNvPr>
              <p:cNvSpPr txBox="1"/>
              <p:nvPr/>
            </p:nvSpPr>
            <p:spPr>
              <a:xfrm>
                <a:off x="214745" y="925078"/>
                <a:ext cx="11360728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𝑖𝑛𝑡𝑒𝑟𝑐𝑒𝑝𝑡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AU" sz="2800" dirty="0"/>
                  <a:t> the coordinate where the a line crosses the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800" dirty="0"/>
              </a:p>
              <a:p>
                <a:r>
                  <a:rPr lang="en-AU" sz="2800" dirty="0"/>
                  <a:t>                             (e.g.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8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endParaRPr lang="en-AU" sz="2800" dirty="0"/>
              </a:p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𝑖𝑛𝑡𝑒𝑟𝑐𝑒𝑝𝑡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AU" sz="2800" dirty="0"/>
                  <a:t>the coordinate where the a line crosses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8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i="1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en-AU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800" dirty="0"/>
              </a:p>
              <a:p>
                <a:r>
                  <a:rPr lang="en-AU" sz="2800" dirty="0"/>
                  <a:t>                             (e.g. when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800" i="1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endParaRPr lang="en-AU" sz="2800" dirty="0"/>
              </a:p>
              <a:p>
                <a:endParaRPr lang="en-AU" sz="2800" dirty="0"/>
              </a:p>
              <a:p>
                <a:endParaRPr lang="en-AU" sz="2800" dirty="0"/>
              </a:p>
              <a:p>
                <a:r>
                  <a:rPr lang="en-AU" sz="2800" dirty="0"/>
                  <a:t>Gradient (slope): the rate a line changes in the y-scale per x</a:t>
                </a:r>
              </a:p>
              <a:p>
                <a:endParaRPr lang="en-AU" sz="2800" dirty="0"/>
              </a:p>
              <a:p>
                <a:pPr marL="514350" indent="-514350">
                  <a:buAutoNum type="arabicPeriod"/>
                </a:pPr>
                <a:endParaRPr lang="en-AU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CF2326-8ECA-4DAA-94C9-5B317797E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45" y="925078"/>
                <a:ext cx="11360728" cy="3970318"/>
              </a:xfrm>
              <a:prstGeom prst="rect">
                <a:avLst/>
              </a:prstGeom>
              <a:blipFill>
                <a:blip r:embed="rId2"/>
                <a:stretch>
                  <a:fillRect l="-1073" t="-15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226648-CD22-4AAF-8EC7-D74ED564C499}"/>
                  </a:ext>
                </a:extLst>
              </p:cNvPr>
              <p:cNvSpPr txBox="1"/>
              <p:nvPr/>
            </p:nvSpPr>
            <p:spPr>
              <a:xfrm>
                <a:off x="2149929" y="4135582"/>
                <a:ext cx="3265714" cy="685188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𝐶h𝑎𝑛𝑔𝑒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𝑅𝑖𝑠𝑒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𝑅𝑢𝑛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226648-CD22-4AAF-8EC7-D74ED564C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29" y="4135582"/>
                <a:ext cx="3265714" cy="6851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91D2830-2372-4CAB-8D86-FB8125901C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349" b="27651"/>
          <a:stretch/>
        </p:blipFill>
        <p:spPr>
          <a:xfrm>
            <a:off x="8926287" y="2432166"/>
            <a:ext cx="3265713" cy="312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17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3FEBC6-D256-4EF0-8ED3-D8815E4C6196}"/>
              </a:ext>
            </a:extLst>
          </p:cNvPr>
          <p:cNvSpPr/>
          <p:nvPr/>
        </p:nvSpPr>
        <p:spPr>
          <a:xfrm>
            <a:off x="214745" y="173182"/>
            <a:ext cx="2507673" cy="41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/>
              <a:t>Daily Review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4A50AC-7348-46C3-8FCC-4D8FC8DE7C41}"/>
              </a:ext>
            </a:extLst>
          </p:cNvPr>
          <p:cNvSpPr/>
          <p:nvPr/>
        </p:nvSpPr>
        <p:spPr>
          <a:xfrm>
            <a:off x="2993572" y="129519"/>
            <a:ext cx="1992086" cy="620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Whiteboards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3B1866-3EA3-4967-B7A5-B43D7713CD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572" t="27486" r="16056" b="6914"/>
          <a:stretch/>
        </p:blipFill>
        <p:spPr>
          <a:xfrm>
            <a:off x="371103" y="1023256"/>
            <a:ext cx="3787240" cy="5032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BB9985-ABA8-44CD-9AAA-28D0F664E768}"/>
                  </a:ext>
                </a:extLst>
              </p:cNvPr>
              <p:cNvSpPr txBox="1"/>
              <p:nvPr/>
            </p:nvSpPr>
            <p:spPr>
              <a:xfrm>
                <a:off x="5050971" y="1197429"/>
                <a:ext cx="659674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What is the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𝑖𝑛𝑡𝑒𝑟𝑐𝑒𝑝𝑡</m:t>
                    </m:r>
                  </m:oMath>
                </a14:m>
                <a:r>
                  <a:rPr lang="en-AU" dirty="0"/>
                  <a:t>?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What is the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𝑖𝑛𝑡𝑒𝑟𝑐𝑒𝑝𝑡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BB9985-ABA8-44CD-9AAA-28D0F664E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971" y="1197429"/>
                <a:ext cx="6596743" cy="1477328"/>
              </a:xfrm>
              <a:prstGeom prst="rect">
                <a:avLst/>
              </a:prstGeom>
              <a:blipFill>
                <a:blip r:embed="rId3"/>
                <a:stretch>
                  <a:fillRect l="-832" t="-2058" b="-53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77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96B09B-D440-4F59-B80F-A11825DB6D4F}"/>
                  </a:ext>
                </a:extLst>
              </p:cNvPr>
              <p:cNvSpPr txBox="1"/>
              <p:nvPr/>
            </p:nvSpPr>
            <p:spPr>
              <a:xfrm>
                <a:off x="201386" y="772886"/>
                <a:ext cx="11674928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dirty="0"/>
                  <a:t>Linear relationships: have a constant rate that can be expressed as a line on the cartesian plane.</a:t>
                </a:r>
              </a:p>
              <a:p>
                <a:pPr algn="ctr"/>
                <a:endParaRPr lang="en-AU" dirty="0"/>
              </a:p>
              <a:p>
                <a:pPr algn="ctr"/>
                <a:r>
                  <a:rPr lang="en-AU" dirty="0"/>
                  <a:t>These relationships can be written as an equation using the variable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  <a:p>
                <a:pPr algn="ctr"/>
                <a:r>
                  <a:rPr lang="en-AU" dirty="0"/>
                  <a:t>The equations general format: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96B09B-D440-4F59-B80F-A11825DB6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86" y="772886"/>
                <a:ext cx="11674928" cy="1877437"/>
              </a:xfrm>
              <a:prstGeom prst="rect">
                <a:avLst/>
              </a:prstGeom>
              <a:blipFill>
                <a:blip r:embed="rId2"/>
                <a:stretch>
                  <a:fillRect t="-19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90E513-D29F-4495-ADC9-13698B467CDB}"/>
                  </a:ext>
                </a:extLst>
              </p:cNvPr>
              <p:cNvSpPr txBox="1"/>
              <p:nvPr/>
            </p:nvSpPr>
            <p:spPr>
              <a:xfrm>
                <a:off x="772886" y="3889172"/>
                <a:ext cx="6096000" cy="768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2800" dirty="0">
                    <a:solidFill>
                      <a:schemeClr val="accent1"/>
                    </a:solidFill>
                  </a:rPr>
                  <a:t>m</a:t>
                </a:r>
                <a:r>
                  <a:rPr kumimoji="0" lang="en-AU" sz="2800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</a:rPr>
                  <a:t>= Gradient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𝐶h𝑎𝑛𝑔𝑒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𝐶h𝑎𝑛𝑔𝑒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kumimoji="0" lang="en-AU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kumimoji="0" lang="en-AU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𝑅𝑢𝑛</m:t>
                        </m:r>
                      </m:den>
                    </m:f>
                  </m:oMath>
                </a14:m>
                <a:endParaRPr lang="en-AU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190E513-D29F-4495-ADC9-13698B467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86" y="3889172"/>
                <a:ext cx="6096000" cy="768224"/>
              </a:xfrm>
              <a:prstGeom prst="rect">
                <a:avLst/>
              </a:prstGeom>
              <a:blipFill>
                <a:blip r:embed="rId3"/>
                <a:stretch>
                  <a:fillRect l="-2100" b="-39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1592B4-B448-4508-9061-31A670040FA9}"/>
              </a:ext>
            </a:extLst>
          </p:cNvPr>
          <p:cNvCxnSpPr/>
          <p:nvPr/>
        </p:nvCxnSpPr>
        <p:spPr>
          <a:xfrm flipV="1">
            <a:off x="1061357" y="2476500"/>
            <a:ext cx="4631872" cy="156754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D5645C-09B2-457A-A1AE-5C7112D24919}"/>
              </a:ext>
            </a:extLst>
          </p:cNvPr>
          <p:cNvCxnSpPr/>
          <p:nvPr/>
        </p:nvCxnSpPr>
        <p:spPr>
          <a:xfrm flipH="1" flipV="1">
            <a:off x="7391400" y="2476500"/>
            <a:ext cx="1322614" cy="161652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E8A39E9-0AC3-4C42-83EF-94E2723ACE3C}"/>
              </a:ext>
            </a:extLst>
          </p:cNvPr>
          <p:cNvSpPr txBox="1"/>
          <p:nvPr/>
        </p:nvSpPr>
        <p:spPr>
          <a:xfrm>
            <a:off x="6357257" y="427872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noProof="0" dirty="0">
                <a:solidFill>
                  <a:schemeClr val="accent1"/>
                </a:solidFill>
              </a:rPr>
              <a:t>C</a:t>
            </a:r>
            <a:r>
              <a:rPr kumimoji="0" lang="en-AU" sz="2800" b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=</a:t>
            </a:r>
            <a:r>
              <a:rPr kumimoji="0" lang="en-AU" sz="2800" b="0" u="none" strike="noStrike" kern="1200" cap="none" spc="0" normalizeH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 what the y-intercept is (for y)</a:t>
            </a:r>
            <a:endParaRPr lang="en-AU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043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193368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flipV="1">
            <a:off x="2999656" y="908720"/>
            <a:ext cx="5400600" cy="532859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</a:t>
            </a:r>
            <a:r>
              <a:rPr lang="en-GB" sz="6600" dirty="0" err="1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mx</a:t>
            </a: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 + 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11824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2</a:t>
            </a:r>
          </a:p>
        </p:txBody>
      </p:sp>
      <p:cxnSp>
        <p:nvCxnSpPr>
          <p:cNvPr id="131" name="Straight Arrow Connector 130"/>
          <p:cNvCxnSpPr>
            <a:stCxn id="129" idx="3"/>
            <a:endCxn id="108" idx="1"/>
          </p:cNvCxnSpPr>
          <p:nvPr/>
        </p:nvCxnSpPr>
        <p:spPr>
          <a:xfrm>
            <a:off x="5087888" y="3212976"/>
            <a:ext cx="648072" cy="40650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8040216" y="2564904"/>
            <a:ext cx="64807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1 </a:t>
            </a:r>
          </a:p>
        </p:txBody>
      </p:sp>
      <p:cxnSp>
        <p:nvCxnSpPr>
          <p:cNvPr id="133" name="Straight Arrow Connector 132"/>
          <p:cNvCxnSpPr>
            <a:stCxn id="132" idx="1"/>
          </p:cNvCxnSpPr>
          <p:nvPr/>
        </p:nvCxnSpPr>
        <p:spPr>
          <a:xfrm rot="10800000" flipV="1">
            <a:off x="6456040" y="2996952"/>
            <a:ext cx="1584176" cy="7200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6023992" y="3284984"/>
            <a:ext cx="360040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>
            <a:off x="-2628800" y="1484784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6226161" y="3082815"/>
            <a:ext cx="28803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2639616" y="-27384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y=x + 2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511824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040216" y="2564904"/>
            <a:ext cx="64807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1 </a:t>
            </a:r>
          </a:p>
        </p:txBody>
      </p:sp>
      <p:sp>
        <p:nvSpPr>
          <p:cNvPr id="152" name="Rectangle 151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Next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6ED8CB9-BD21-4B36-B4A6-7F5495E70DB8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I Do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48148E-6 L 0.25247 -0.3861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17" y="-1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3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96296E-6 L -0.20847 -0.35278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30" y="-1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29" grpId="1" animBg="1"/>
      <p:bldP spid="132" grpId="0" animBg="1"/>
      <p:bldP spid="132" grpId="1" animBg="1"/>
      <p:bldP spid="149" grpId="0" animBg="1"/>
      <p:bldP spid="150" grpId="0" animBg="1"/>
      <p:bldP spid="1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207656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rot="5400000" flipH="1" flipV="1">
            <a:off x="3035660" y="2312876"/>
            <a:ext cx="4824536" cy="273630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</a:t>
            </a:r>
            <a:r>
              <a:rPr lang="en-GB" sz="6600" dirty="0" err="1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mx</a:t>
            </a: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 + 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11824" y="2204864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4</a:t>
            </a:r>
          </a:p>
        </p:txBody>
      </p:sp>
      <p:cxnSp>
        <p:nvCxnSpPr>
          <p:cNvPr id="131" name="Straight Arrow Connector 130"/>
          <p:cNvCxnSpPr/>
          <p:nvPr/>
        </p:nvCxnSpPr>
        <p:spPr>
          <a:xfrm>
            <a:off x="5087888" y="2636912"/>
            <a:ext cx="648072" cy="40650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8112224" y="1844824"/>
            <a:ext cx="64807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2 </a:t>
            </a:r>
          </a:p>
        </p:txBody>
      </p:sp>
      <p:cxnSp>
        <p:nvCxnSpPr>
          <p:cNvPr id="133" name="Straight Arrow Connector 132"/>
          <p:cNvCxnSpPr/>
          <p:nvPr/>
        </p:nvCxnSpPr>
        <p:spPr>
          <a:xfrm rot="10800000" flipV="1">
            <a:off x="6456040" y="2276872"/>
            <a:ext cx="1584176" cy="7200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6023992" y="2636912"/>
            <a:ext cx="360040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>
            <a:off x="-2628800" y="1484784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6096001" y="2348881"/>
            <a:ext cx="57606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2639616" y="-27384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y=2x + 4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511824" y="2204864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112224" y="1844824"/>
            <a:ext cx="64807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2 </a:t>
            </a:r>
          </a:p>
        </p:txBody>
      </p:sp>
      <p:sp>
        <p:nvSpPr>
          <p:cNvPr id="135" name="Rectangle 134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Next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0EAE3D6-3B47-4AE0-8AC8-8E7C25DC38DA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I Do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7.40741E-7 L 0.26445 -0.30208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16" y="-1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3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4.44444E-6 L -0.20209 -0.24675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04" y="-1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29" grpId="1" animBg="1"/>
      <p:bldP spid="132" grpId="0" animBg="1"/>
      <p:bldP spid="132" grpId="1" animBg="1"/>
      <p:bldP spid="149" grpId="0" animBg="1"/>
      <p:bldP spid="150" grpId="0" animBg="1"/>
      <p:bldP spid="1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207656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rot="16200000" flipH="1">
            <a:off x="2884182" y="2476699"/>
            <a:ext cx="6525344" cy="223726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</a:t>
            </a:r>
            <a:r>
              <a:rPr lang="en-GB" sz="6600" dirty="0" err="1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mx</a:t>
            </a: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 + 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11824" y="2204864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2</a:t>
            </a:r>
          </a:p>
        </p:txBody>
      </p:sp>
      <p:cxnSp>
        <p:nvCxnSpPr>
          <p:cNvPr id="131" name="Straight Arrow Connector 130"/>
          <p:cNvCxnSpPr>
            <a:endCxn id="108" idx="1"/>
          </p:cNvCxnSpPr>
          <p:nvPr/>
        </p:nvCxnSpPr>
        <p:spPr>
          <a:xfrm>
            <a:off x="5087888" y="2636912"/>
            <a:ext cx="648072" cy="616714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8112224" y="1844824"/>
            <a:ext cx="64807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-3 </a:t>
            </a:r>
          </a:p>
        </p:txBody>
      </p:sp>
      <p:cxnSp>
        <p:nvCxnSpPr>
          <p:cNvPr id="133" name="Straight Arrow Connector 132"/>
          <p:cNvCxnSpPr/>
          <p:nvPr/>
        </p:nvCxnSpPr>
        <p:spPr>
          <a:xfrm rot="10800000" flipV="1">
            <a:off x="6384032" y="2276872"/>
            <a:ext cx="1656184" cy="1296144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6023992" y="3212976"/>
            <a:ext cx="28803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>
            <a:off x="-2628800" y="1484784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5915980" y="3609020"/>
            <a:ext cx="792088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2639616" y="-27384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y=-3x + 2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511824" y="2204864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112224" y="1844824"/>
            <a:ext cx="64807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-3 </a:t>
            </a:r>
          </a:p>
        </p:txBody>
      </p:sp>
      <p:sp>
        <p:nvSpPr>
          <p:cNvPr id="146" name="Rectangle 145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Next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43EB47A-BAD7-487F-BC6A-2E19FCBF7A29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I Do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7.40741E-7 L 0.24219 -0.299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09" y="-14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4.44444E-6 L -0.22149 -0.25069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81" y="-1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29" grpId="1" animBg="1"/>
      <p:bldP spid="132" grpId="0" animBg="1"/>
      <p:bldP spid="132" grpId="1" animBg="1"/>
      <p:bldP spid="149" grpId="0" animBg="1"/>
      <p:bldP spid="150" grpId="0" animBg="1"/>
      <p:bldP spid="15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207656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>
            <a:cxnSpLocks/>
            <a:stCxn id="128" idx="3"/>
          </p:cNvCxnSpPr>
          <p:nvPr/>
        </p:nvCxnSpPr>
        <p:spPr>
          <a:xfrm>
            <a:off x="3820886" y="405212"/>
            <a:ext cx="3512243" cy="635481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</a:t>
            </a:r>
            <a:r>
              <a:rPr lang="en-GB" sz="6600" dirty="0" err="1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mx</a:t>
            </a: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 + 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007768" y="4437112"/>
            <a:ext cx="864096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-2</a:t>
            </a:r>
          </a:p>
        </p:txBody>
      </p:sp>
      <p:cxnSp>
        <p:nvCxnSpPr>
          <p:cNvPr id="131" name="Straight Arrow Connector 130"/>
          <p:cNvCxnSpPr>
            <a:stCxn id="150" idx="3"/>
          </p:cNvCxnSpPr>
          <p:nvPr/>
        </p:nvCxnSpPr>
        <p:spPr>
          <a:xfrm flipV="1">
            <a:off x="4871864" y="4365104"/>
            <a:ext cx="1008112" cy="504056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8112224" y="1844824"/>
            <a:ext cx="64807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-2 </a:t>
            </a:r>
          </a:p>
        </p:txBody>
      </p:sp>
      <p:cxnSp>
        <p:nvCxnSpPr>
          <p:cNvPr id="133" name="Straight Arrow Connector 132"/>
          <p:cNvCxnSpPr/>
          <p:nvPr/>
        </p:nvCxnSpPr>
        <p:spPr>
          <a:xfrm rot="5400000">
            <a:off x="5987988" y="2672916"/>
            <a:ext cx="2448272" cy="1656184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6096000" y="4365104"/>
            <a:ext cx="28803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>
            <a:off x="-2628800" y="1484784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6096000" y="4725144"/>
            <a:ext cx="576064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2639616" y="-27384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y=-2x - 2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863752" y="4437112"/>
            <a:ext cx="100811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-2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112224" y="1844824"/>
            <a:ext cx="64807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-2 </a:t>
            </a:r>
          </a:p>
        </p:txBody>
      </p:sp>
      <p:sp>
        <p:nvSpPr>
          <p:cNvPr id="140" name="Rectangle 139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Next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9516566-0E75-48A8-AAD3-E4167274D0A2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I Do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6 L 0.2694 -0.62569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64" y="-31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4.44444E-6 L -0.21068 -0.2504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34" y="-12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29" grpId="1" animBg="1"/>
      <p:bldP spid="132" grpId="0" animBg="1"/>
      <p:bldP spid="132" grpId="1" animBg="1"/>
      <p:bldP spid="149" grpId="0" animBg="1"/>
      <p:bldP spid="150" grpId="0" animBg="1"/>
      <p:bldP spid="15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193368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flipV="1">
            <a:off x="2855640" y="1988840"/>
            <a:ext cx="5616624" cy="295232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</a:t>
            </a:r>
            <a:r>
              <a:rPr lang="en-GB" sz="6600" dirty="0" err="1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mx</a:t>
            </a: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 + 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11824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2</a:t>
            </a:r>
          </a:p>
        </p:txBody>
      </p:sp>
      <p:cxnSp>
        <p:nvCxnSpPr>
          <p:cNvPr id="131" name="Straight Arrow Connector 130"/>
          <p:cNvCxnSpPr>
            <a:stCxn id="129" idx="3"/>
            <a:endCxn id="108" idx="1"/>
          </p:cNvCxnSpPr>
          <p:nvPr/>
        </p:nvCxnSpPr>
        <p:spPr>
          <a:xfrm>
            <a:off x="5087888" y="3212976"/>
            <a:ext cx="648072" cy="40650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10800000" flipV="1">
            <a:off x="6744072" y="2996952"/>
            <a:ext cx="1296144" cy="7200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6023992" y="3284984"/>
            <a:ext cx="64807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6528048" y="3140968"/>
            <a:ext cx="28803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4511824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040216" y="2636912"/>
            <a:ext cx="64807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  <a:latin typeface="Calibri"/>
              </a:rPr>
              <a:t>1up </a:t>
            </a:r>
          </a:p>
        </p:txBody>
      </p:sp>
      <p:sp>
        <p:nvSpPr>
          <p:cNvPr id="152" name="Rectangle 151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Calibri"/>
              </a:rPr>
              <a:t>Next</a:t>
            </a:r>
          </a:p>
        </p:txBody>
      </p:sp>
      <p:cxnSp>
        <p:nvCxnSpPr>
          <p:cNvPr id="138" name="Straight Arrow Connector 137"/>
          <p:cNvCxnSpPr/>
          <p:nvPr/>
        </p:nvCxnSpPr>
        <p:spPr>
          <a:xfrm rot="10800000">
            <a:off x="6384032" y="3356992"/>
            <a:ext cx="1296144" cy="1224136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7680176" y="4077072"/>
            <a:ext cx="93610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  <a:latin typeface="Calibri"/>
              </a:rPr>
              <a:t>2 right 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832304" y="3429000"/>
            <a:ext cx="1440160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1÷2=0.5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696400" y="3429000"/>
            <a:ext cx="648072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  <a:latin typeface="Calibri"/>
              </a:rPr>
              <a:t>0.5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39616" y="-27384"/>
            <a:ext cx="6984776" cy="11079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y=0.5x + 2</a:t>
            </a:r>
          </a:p>
        </p:txBody>
      </p:sp>
      <p:sp>
        <p:nvSpPr>
          <p:cNvPr id="145" name="Cloud 144"/>
          <p:cNvSpPr/>
          <p:nvPr/>
        </p:nvSpPr>
        <p:spPr>
          <a:xfrm>
            <a:off x="1524000" y="5489848"/>
            <a:ext cx="2808312" cy="136815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solidFill>
                <a:prstClr val="white"/>
              </a:solidFill>
              <a:latin typeface="Century Gothic" pitchFamily="34" charset="0"/>
            </a:endParaRPr>
          </a:p>
          <a:p>
            <a:pPr algn="ctr"/>
            <a:r>
              <a:rPr lang="en-GB" b="1" dirty="0">
                <a:solidFill>
                  <a:prstClr val="white"/>
                </a:solidFill>
                <a:latin typeface="Century Gothic" pitchFamily="34" charset="0"/>
              </a:rPr>
              <a:t>Remember –</a:t>
            </a:r>
          </a:p>
          <a:p>
            <a:pPr algn="ctr"/>
            <a:r>
              <a:rPr lang="en-GB" b="1" dirty="0">
                <a:solidFill>
                  <a:prstClr val="white"/>
                </a:solidFill>
                <a:latin typeface="Century Gothic" pitchFamily="34" charset="0"/>
              </a:rPr>
              <a:t>Up or down ÷ across</a:t>
            </a:r>
          </a:p>
          <a:p>
            <a:pPr algn="ctr"/>
            <a:endParaRPr lang="en-GB" b="1" dirty="0">
              <a:solidFill>
                <a:prstClr val="white"/>
              </a:solidFill>
              <a:latin typeface="Century Gothic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0459B3E-AC9A-4C10-BF81-E8E4FEAB8AAC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I Do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48148E-6 L 0.24818 -0.38148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09" y="-1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3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6 L -0.35144 -0.46829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578" y="-2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29" grpId="1" animBg="1"/>
      <p:bldP spid="150" grpId="0" animBg="1"/>
      <p:bldP spid="151" grpId="0" animBg="1"/>
      <p:bldP spid="142" grpId="0" animBg="1"/>
      <p:bldP spid="143" grpId="0" animBg="1"/>
      <p:bldP spid="144" grpId="0" animBg="1"/>
      <p:bldP spid="144" grpId="1" animBg="1"/>
      <p:bldP spid="14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193368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flipV="1">
            <a:off x="3287688" y="1484784"/>
            <a:ext cx="4104456" cy="273630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</a:t>
            </a:r>
            <a:r>
              <a:rPr lang="en-GB" sz="6600" dirty="0" err="1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mx</a:t>
            </a: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 + 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295800" y="1988840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cxnSp>
        <p:nvCxnSpPr>
          <p:cNvPr id="131" name="Straight Arrow Connector 130"/>
          <p:cNvCxnSpPr>
            <a:stCxn id="129" idx="3"/>
            <a:endCxn id="111" idx="1"/>
          </p:cNvCxnSpPr>
          <p:nvPr/>
        </p:nvCxnSpPr>
        <p:spPr>
          <a:xfrm flipV="1">
            <a:off x="4871864" y="2389530"/>
            <a:ext cx="864096" cy="3135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10800000">
            <a:off x="6960096" y="2060848"/>
            <a:ext cx="1080120" cy="936104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6096000" y="2348880"/>
            <a:ext cx="864096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6708068" y="2096852"/>
            <a:ext cx="504056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4295800" y="1988840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040216" y="2636912"/>
            <a:ext cx="64807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  <a:latin typeface="Calibri"/>
              </a:rPr>
              <a:t>2up </a:t>
            </a:r>
          </a:p>
        </p:txBody>
      </p:sp>
      <p:sp>
        <p:nvSpPr>
          <p:cNvPr id="152" name="Rectangle 151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Calibri"/>
              </a:rPr>
              <a:t>Next</a:t>
            </a:r>
          </a:p>
        </p:txBody>
      </p:sp>
      <p:cxnSp>
        <p:nvCxnSpPr>
          <p:cNvPr id="138" name="Straight Arrow Connector 137"/>
          <p:cNvCxnSpPr/>
          <p:nvPr/>
        </p:nvCxnSpPr>
        <p:spPr>
          <a:xfrm rot="16200000" flipV="1">
            <a:off x="5987988" y="2888940"/>
            <a:ext cx="2160240" cy="1224136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7680176" y="4077072"/>
            <a:ext cx="93610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  <a:latin typeface="Calibri"/>
              </a:rPr>
              <a:t>3 right 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832304" y="3429000"/>
            <a:ext cx="1440160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2÷3=2/3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624392" y="3429000"/>
            <a:ext cx="648072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  <a:latin typeface="Calibri"/>
              </a:rPr>
              <a:t>2/3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39616" y="-27384"/>
            <a:ext cx="6984776" cy="110799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   x+ 5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447928" y="188640"/>
            <a:ext cx="576064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u="sng" dirty="0">
                <a:solidFill>
                  <a:prstClr val="black"/>
                </a:solidFill>
                <a:latin typeface="Calibri"/>
              </a:rPr>
              <a:t>2</a:t>
            </a:r>
          </a:p>
          <a:p>
            <a:pPr algn="ctr"/>
            <a:r>
              <a:rPr lang="en-GB" sz="4400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57" name="Cloud 156"/>
          <p:cNvSpPr/>
          <p:nvPr/>
        </p:nvSpPr>
        <p:spPr>
          <a:xfrm>
            <a:off x="1524000" y="5489848"/>
            <a:ext cx="2808312" cy="136815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solidFill>
                <a:prstClr val="white"/>
              </a:solidFill>
              <a:latin typeface="Century Gothic" pitchFamily="34" charset="0"/>
            </a:endParaRPr>
          </a:p>
          <a:p>
            <a:pPr algn="ctr"/>
            <a:r>
              <a:rPr lang="en-GB" b="1" dirty="0">
                <a:solidFill>
                  <a:prstClr val="white"/>
                </a:solidFill>
                <a:latin typeface="Century Gothic" pitchFamily="34" charset="0"/>
              </a:rPr>
              <a:t>Remember –</a:t>
            </a:r>
          </a:p>
          <a:p>
            <a:pPr algn="ctr"/>
            <a:r>
              <a:rPr lang="en-GB" b="1" dirty="0">
                <a:solidFill>
                  <a:prstClr val="white"/>
                </a:solidFill>
                <a:latin typeface="Century Gothic" pitchFamily="34" charset="0"/>
              </a:rPr>
              <a:t>Up or down ÷ across</a:t>
            </a:r>
          </a:p>
          <a:p>
            <a:pPr algn="ctr"/>
            <a:endParaRPr lang="en-GB" b="1" dirty="0">
              <a:solidFill>
                <a:prstClr val="white"/>
              </a:solidFill>
              <a:latin typeface="Century Gothic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8B0BDA9-2A31-4DC2-A805-3744EC6A188F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I Do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7.40741E-7 L 0.26289 -0.270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38" y="-1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3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3.7037E-6 L -0.32787 -0.46412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93" y="-2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29" grpId="1" animBg="1"/>
      <p:bldP spid="150" grpId="0" animBg="1"/>
      <p:bldP spid="151" grpId="0" animBg="1"/>
      <p:bldP spid="142" grpId="0" animBg="1"/>
      <p:bldP spid="143" grpId="0" animBg="1"/>
      <p:bldP spid="144" grpId="0" animBg="1"/>
      <p:bldP spid="144" grpId="1" animBg="1"/>
      <p:bldP spid="149" grpId="0" animBg="1"/>
      <p:bldP spid="1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207656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rot="16200000" flipH="1">
            <a:off x="3985457" y="3307295"/>
            <a:ext cx="5229201" cy="187220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y=-3x + 4</a:t>
            </a:r>
          </a:p>
        </p:txBody>
      </p:sp>
      <p:cxnSp>
        <p:nvCxnSpPr>
          <p:cNvPr id="139" name="Straight Connector 138"/>
          <p:cNvCxnSpPr/>
          <p:nvPr/>
        </p:nvCxnSpPr>
        <p:spPr>
          <a:xfrm>
            <a:off x="-2628800" y="1484784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Next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DEE776F-3DBB-4983-AAB5-FB5D578102E6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We Do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C22CEFD-64B0-4397-AF26-B3BA6903B3B1}"/>
              </a:ext>
            </a:extLst>
          </p:cNvPr>
          <p:cNvSpPr/>
          <p:nvPr/>
        </p:nvSpPr>
        <p:spPr>
          <a:xfrm>
            <a:off x="128649" y="791835"/>
            <a:ext cx="1992086" cy="620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Whiteboards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207656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rot="16200000" flipH="1">
            <a:off x="3985457" y="3307295"/>
            <a:ext cx="5229201" cy="187220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y=-3x + 4</a:t>
            </a:r>
          </a:p>
        </p:txBody>
      </p:sp>
      <p:cxnSp>
        <p:nvCxnSpPr>
          <p:cNvPr id="139" name="Straight Connector 138"/>
          <p:cNvCxnSpPr/>
          <p:nvPr/>
        </p:nvCxnSpPr>
        <p:spPr>
          <a:xfrm>
            <a:off x="-2628800" y="1484784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Next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104112" y="1196753"/>
            <a:ext cx="3024336" cy="1200329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Your turn!</a:t>
            </a:r>
          </a:p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What is the equation of this line?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325D59A-E938-455B-8A80-93D2222ACF57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We Do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3B0589C-752A-429F-BA4E-A751BEF12FFB}"/>
              </a:ext>
            </a:extLst>
          </p:cNvPr>
          <p:cNvSpPr/>
          <p:nvPr/>
        </p:nvSpPr>
        <p:spPr>
          <a:xfrm>
            <a:off x="128649" y="791835"/>
            <a:ext cx="1992086" cy="620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Whiteboards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207656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>
            <a:cxnSpLocks/>
          </p:cNvCxnSpPr>
          <p:nvPr/>
        </p:nvCxnSpPr>
        <p:spPr>
          <a:xfrm flipH="1">
            <a:off x="4691338" y="836715"/>
            <a:ext cx="2681706" cy="539221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y=2x + 1</a:t>
            </a:r>
          </a:p>
        </p:txBody>
      </p:sp>
      <p:cxnSp>
        <p:nvCxnSpPr>
          <p:cNvPr id="139" name="Straight Connector 138"/>
          <p:cNvCxnSpPr/>
          <p:nvPr/>
        </p:nvCxnSpPr>
        <p:spPr>
          <a:xfrm>
            <a:off x="-2628800" y="1484784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Next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104112" y="1196753"/>
            <a:ext cx="3024336" cy="1200329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Your turn!</a:t>
            </a:r>
          </a:p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What is the equation of this line?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0948348-1780-445F-B687-70BA2CE0A363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We Do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F0B7669-2132-40C3-9D27-3729E5684AA8}"/>
              </a:ext>
            </a:extLst>
          </p:cNvPr>
          <p:cNvSpPr/>
          <p:nvPr/>
        </p:nvSpPr>
        <p:spPr>
          <a:xfrm>
            <a:off x="128649" y="791835"/>
            <a:ext cx="1992086" cy="620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Whiteboards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207656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rot="16200000" flipH="1">
            <a:off x="3229374" y="3559324"/>
            <a:ext cx="5301208" cy="129614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y=-4x -4</a:t>
            </a:r>
          </a:p>
        </p:txBody>
      </p:sp>
      <p:cxnSp>
        <p:nvCxnSpPr>
          <p:cNvPr id="139" name="Straight Connector 138"/>
          <p:cNvCxnSpPr/>
          <p:nvPr/>
        </p:nvCxnSpPr>
        <p:spPr>
          <a:xfrm>
            <a:off x="-2628800" y="1484784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Next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104112" y="1196753"/>
            <a:ext cx="3024336" cy="1200329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Your turn!</a:t>
            </a:r>
          </a:p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What is the equation of this line?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F077E0E-A8D3-4795-97DA-43BFC5A60A28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We Do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33A7795-FFB3-438D-B1E5-245EE39F07F1}"/>
              </a:ext>
            </a:extLst>
          </p:cNvPr>
          <p:cNvSpPr/>
          <p:nvPr/>
        </p:nvSpPr>
        <p:spPr>
          <a:xfrm>
            <a:off x="128649" y="791835"/>
            <a:ext cx="1992086" cy="620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Whiteboards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207656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rot="5400000">
            <a:off x="3467708" y="1232756"/>
            <a:ext cx="4464496" cy="424847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y=x + 3</a:t>
            </a:r>
          </a:p>
        </p:txBody>
      </p:sp>
      <p:cxnSp>
        <p:nvCxnSpPr>
          <p:cNvPr id="139" name="Straight Connector 138"/>
          <p:cNvCxnSpPr/>
          <p:nvPr/>
        </p:nvCxnSpPr>
        <p:spPr>
          <a:xfrm>
            <a:off x="-2628800" y="1484784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hlinkClick r:id="" action="ppaction://hlinkshowjump?jump=firs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Back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104112" y="1196753"/>
            <a:ext cx="3024336" cy="1200329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Your turn!</a:t>
            </a:r>
          </a:p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What is the equation of this line?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8D83E4E-983D-4525-B79B-00AC5EEAE4DD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We Do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7AE1CD5-E2BD-4092-86C6-FF12C3ACA74D}"/>
              </a:ext>
            </a:extLst>
          </p:cNvPr>
          <p:cNvSpPr/>
          <p:nvPr/>
        </p:nvSpPr>
        <p:spPr>
          <a:xfrm>
            <a:off x="128649" y="791835"/>
            <a:ext cx="1992086" cy="620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Whiteboards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193368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>
            <a:cxnSpLocks/>
          </p:cNvCxnSpPr>
          <p:nvPr/>
        </p:nvCxnSpPr>
        <p:spPr>
          <a:xfrm flipV="1">
            <a:off x="3719736" y="1153886"/>
            <a:ext cx="3361421" cy="465137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</a:t>
            </a:r>
            <a:r>
              <a:rPr lang="en-GB" sz="6600" dirty="0" err="1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mx</a:t>
            </a: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 + 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11824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4</a:t>
            </a:r>
          </a:p>
        </p:txBody>
      </p:sp>
      <p:cxnSp>
        <p:nvCxnSpPr>
          <p:cNvPr id="131" name="Straight Arrow Connector 130"/>
          <p:cNvCxnSpPr>
            <a:stCxn id="129" idx="3"/>
          </p:cNvCxnSpPr>
          <p:nvPr/>
        </p:nvCxnSpPr>
        <p:spPr>
          <a:xfrm flipV="1">
            <a:off x="5087889" y="2646218"/>
            <a:ext cx="786439" cy="56675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10800000">
            <a:off x="6744072" y="2348880"/>
            <a:ext cx="1296144" cy="648072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6096000" y="2636912"/>
            <a:ext cx="64807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cxnSpLocks/>
          </p:cNvCxnSpPr>
          <p:nvPr/>
        </p:nvCxnSpPr>
        <p:spPr>
          <a:xfrm flipV="1">
            <a:off x="6636567" y="1781200"/>
            <a:ext cx="0" cy="855712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4511824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040216" y="2636912"/>
            <a:ext cx="64807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  <a:latin typeface="Calibri"/>
              </a:rPr>
              <a:t>3up </a:t>
            </a:r>
          </a:p>
        </p:txBody>
      </p:sp>
      <p:sp>
        <p:nvSpPr>
          <p:cNvPr id="152" name="Rectangle 151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Calibri"/>
              </a:rPr>
              <a:t>Next</a:t>
            </a:r>
          </a:p>
        </p:txBody>
      </p:sp>
      <p:cxnSp>
        <p:nvCxnSpPr>
          <p:cNvPr id="138" name="Straight Arrow Connector 137"/>
          <p:cNvCxnSpPr/>
          <p:nvPr/>
        </p:nvCxnSpPr>
        <p:spPr>
          <a:xfrm rot="16200000" flipV="1">
            <a:off x="6096000" y="2996952"/>
            <a:ext cx="1872208" cy="1296144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7680176" y="4077072"/>
            <a:ext cx="93610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  <a:latin typeface="Calibri"/>
              </a:rPr>
              <a:t>2 right 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832304" y="3429000"/>
            <a:ext cx="1440160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3÷2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/>
              <p:cNvSpPr txBox="1"/>
              <p:nvPr/>
            </p:nvSpPr>
            <p:spPr>
              <a:xfrm>
                <a:off x="2639616" y="-27384"/>
                <a:ext cx="6984776" cy="1528624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66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haroni" pitchFamily="2" charset="-79"/>
                          </a:rPr>
                        </m:ctrlPr>
                      </m:fPr>
                      <m:num>
                        <m:r>
                          <a:rPr lang="en-AU" sz="6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haroni" pitchFamily="2" charset="-79"/>
                          </a:rPr>
                          <m:t>3</m:t>
                        </m:r>
                      </m:num>
                      <m:den>
                        <m:r>
                          <a:rPr lang="en-AU" sz="6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Aharoni" pitchFamily="2" charset="-79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6600" dirty="0">
                    <a:solidFill>
                      <a:prstClr val="black"/>
                    </a:solidFill>
                    <a:latin typeface="Aharoni" pitchFamily="2" charset="-79"/>
                    <a:cs typeface="Aharoni" pitchFamily="2" charset="-79"/>
                  </a:rPr>
                  <a:t>x + 4</a:t>
                </a:r>
              </a:p>
            </p:txBody>
          </p:sp>
        </mc:Choice>
        <mc:Fallback xmlns="">
          <p:sp>
            <p:nvSpPr>
              <p:cNvPr id="149" name="TextBox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-27384"/>
                <a:ext cx="6984776" cy="1528624"/>
              </a:xfrm>
              <a:prstGeom prst="rect">
                <a:avLst/>
              </a:prstGeom>
              <a:blipFill>
                <a:blip r:embed="rId2"/>
                <a:stretch>
                  <a:fillRect b="-192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Cloud 144"/>
          <p:cNvSpPr/>
          <p:nvPr/>
        </p:nvSpPr>
        <p:spPr>
          <a:xfrm>
            <a:off x="1524000" y="5489848"/>
            <a:ext cx="2808312" cy="136815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solidFill>
                <a:prstClr val="white"/>
              </a:solidFill>
              <a:latin typeface="Century Gothic" pitchFamily="34" charset="0"/>
            </a:endParaRPr>
          </a:p>
          <a:p>
            <a:pPr algn="ctr"/>
            <a:r>
              <a:rPr lang="en-GB" b="1" dirty="0">
                <a:solidFill>
                  <a:prstClr val="white"/>
                </a:solidFill>
                <a:latin typeface="Century Gothic" pitchFamily="34" charset="0"/>
              </a:rPr>
              <a:t>Remember –</a:t>
            </a:r>
          </a:p>
          <a:p>
            <a:pPr algn="ctr"/>
            <a:r>
              <a:rPr lang="en-GB" b="1" dirty="0">
                <a:solidFill>
                  <a:prstClr val="white"/>
                </a:solidFill>
                <a:latin typeface="Century Gothic" pitchFamily="34" charset="0"/>
              </a:rPr>
              <a:t>Up or down ÷ across</a:t>
            </a:r>
          </a:p>
          <a:p>
            <a:pPr algn="ctr"/>
            <a:endParaRPr lang="en-GB" b="1" dirty="0">
              <a:solidFill>
                <a:prstClr val="white"/>
              </a:solidFill>
              <a:latin typeface="Century Gothic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01E8A0C-B4F0-45E9-AF2D-3D8B839E96B6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We Do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C9FD914-35FF-4946-9FDF-C4EC66DB321E}"/>
              </a:ext>
            </a:extLst>
          </p:cNvPr>
          <p:cNvSpPr/>
          <p:nvPr/>
        </p:nvSpPr>
        <p:spPr>
          <a:xfrm>
            <a:off x="128649" y="791835"/>
            <a:ext cx="1992086" cy="620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Whiteboards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48148E-6 L 0.22878 -0.3518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32" y="-17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3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29" grpId="1" animBg="1"/>
      <p:bldP spid="150" grpId="0" animBg="1"/>
      <p:bldP spid="151" grpId="0" animBg="1"/>
      <p:bldP spid="142" grpId="0" animBg="1"/>
      <p:bldP spid="143" grpId="0" animBg="1"/>
      <p:bldP spid="14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193368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flipV="1">
            <a:off x="2927648" y="1947275"/>
            <a:ext cx="5688632" cy="151216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</a:t>
            </a:r>
            <a:r>
              <a:rPr lang="en-GB" sz="6600" dirty="0" err="1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mx</a:t>
            </a: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 + 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11824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4</a:t>
            </a:r>
          </a:p>
        </p:txBody>
      </p:sp>
      <p:cxnSp>
        <p:nvCxnSpPr>
          <p:cNvPr id="131" name="Straight Arrow Connector 130"/>
          <p:cNvCxnSpPr>
            <a:stCxn id="129" idx="3"/>
            <a:endCxn id="110" idx="1"/>
          </p:cNvCxnSpPr>
          <p:nvPr/>
        </p:nvCxnSpPr>
        <p:spPr>
          <a:xfrm flipV="1">
            <a:off x="5087888" y="2677562"/>
            <a:ext cx="648072" cy="535414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10800000">
            <a:off x="7032104" y="2564904"/>
            <a:ext cx="1008112" cy="43204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6096000" y="2650767"/>
            <a:ext cx="864096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6816080" y="2537194"/>
            <a:ext cx="28803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4511824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040216" y="2636912"/>
            <a:ext cx="64807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  <a:latin typeface="Calibri"/>
              </a:rPr>
              <a:t>1up </a:t>
            </a:r>
          </a:p>
        </p:txBody>
      </p:sp>
      <p:sp>
        <p:nvSpPr>
          <p:cNvPr id="152" name="Rectangle 151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Calibri"/>
              </a:rPr>
              <a:t>Next</a:t>
            </a:r>
          </a:p>
        </p:txBody>
      </p:sp>
      <p:cxnSp>
        <p:nvCxnSpPr>
          <p:cNvPr id="138" name="Straight Arrow Connector 137"/>
          <p:cNvCxnSpPr/>
          <p:nvPr/>
        </p:nvCxnSpPr>
        <p:spPr>
          <a:xfrm rot="16200000" flipV="1">
            <a:off x="6204012" y="3104964"/>
            <a:ext cx="1944216" cy="115212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7680176" y="4077072"/>
            <a:ext cx="93610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  <a:latin typeface="Calibri"/>
              </a:rPr>
              <a:t>3 right 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832304" y="3429000"/>
            <a:ext cx="1440160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1÷3=1/3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624392" y="3429000"/>
            <a:ext cx="648072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  <a:latin typeface="Calibri"/>
              </a:rPr>
              <a:t>1/3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39616" y="-27384"/>
            <a:ext cx="6984776" cy="110799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y=1/3x + 4</a:t>
            </a:r>
          </a:p>
        </p:txBody>
      </p:sp>
      <p:sp>
        <p:nvSpPr>
          <p:cNvPr id="140" name="Cloud 139"/>
          <p:cNvSpPr/>
          <p:nvPr/>
        </p:nvSpPr>
        <p:spPr>
          <a:xfrm>
            <a:off x="1524000" y="5517232"/>
            <a:ext cx="2808312" cy="136815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solidFill>
                <a:prstClr val="white"/>
              </a:solidFill>
              <a:latin typeface="Century Gothic" pitchFamily="34" charset="0"/>
            </a:endParaRPr>
          </a:p>
          <a:p>
            <a:pPr algn="ctr"/>
            <a:r>
              <a:rPr lang="en-GB" b="1" dirty="0">
                <a:solidFill>
                  <a:prstClr val="white"/>
                </a:solidFill>
                <a:latin typeface="Century Gothic" pitchFamily="34" charset="0"/>
              </a:rPr>
              <a:t>Remember –</a:t>
            </a:r>
          </a:p>
          <a:p>
            <a:pPr algn="ctr"/>
            <a:r>
              <a:rPr lang="en-GB" b="1" dirty="0">
                <a:solidFill>
                  <a:prstClr val="white"/>
                </a:solidFill>
                <a:latin typeface="Century Gothic" pitchFamily="34" charset="0"/>
              </a:rPr>
              <a:t>Up or down ÷ across</a:t>
            </a:r>
          </a:p>
          <a:p>
            <a:pPr algn="ctr"/>
            <a:endParaRPr lang="en-GB" b="1" dirty="0">
              <a:solidFill>
                <a:prstClr val="white"/>
              </a:solidFill>
              <a:latin typeface="Century Gothic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89CD128-AC47-46AC-994F-7841EAD1D4AB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We Do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631AF5E-EAF6-4CC9-8AB6-573A9BAFEB60}"/>
              </a:ext>
            </a:extLst>
          </p:cNvPr>
          <p:cNvSpPr/>
          <p:nvPr/>
        </p:nvSpPr>
        <p:spPr>
          <a:xfrm>
            <a:off x="128649" y="791835"/>
            <a:ext cx="1992086" cy="620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Whiteboards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48148E-6 L 0.25651 -0.3861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26" y="-1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3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3.7037E-6 L -0.33959 -0.47107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79" y="-235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29" grpId="1" animBg="1"/>
      <p:bldP spid="150" grpId="0" animBg="1"/>
      <p:bldP spid="151" grpId="0" animBg="1"/>
      <p:bldP spid="142" grpId="0" animBg="1"/>
      <p:bldP spid="143" grpId="0" animBg="1"/>
      <p:bldP spid="144" grpId="0" animBg="1"/>
      <p:bldP spid="144" grpId="1" animBg="1"/>
      <p:bldP spid="1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193368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rot="10800000">
            <a:off x="2783632" y="1556793"/>
            <a:ext cx="7488832" cy="325601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</a:t>
            </a:r>
            <a:r>
              <a:rPr lang="en-GB" sz="6600" dirty="0" err="1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mx</a:t>
            </a:r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 + 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11824" y="2780928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3</a:t>
            </a:r>
          </a:p>
        </p:txBody>
      </p:sp>
      <p:cxnSp>
        <p:nvCxnSpPr>
          <p:cNvPr id="131" name="Straight Arrow Connector 130"/>
          <p:cNvCxnSpPr>
            <a:stCxn id="129" idx="3"/>
            <a:endCxn id="109" idx="1"/>
          </p:cNvCxnSpPr>
          <p:nvPr/>
        </p:nvCxnSpPr>
        <p:spPr>
          <a:xfrm flipV="1">
            <a:off x="5087888" y="2965594"/>
            <a:ext cx="648072" cy="247382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rot="10800000" flipV="1">
            <a:off x="6744072" y="2996952"/>
            <a:ext cx="1296144" cy="72008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6096000" y="2924944"/>
            <a:ext cx="648072" cy="0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rot="5400000" flipH="1" flipV="1">
            <a:off x="6504354" y="3064948"/>
            <a:ext cx="307713" cy="27709"/>
          </a:xfrm>
          <a:prstGeom prst="line">
            <a:avLst/>
          </a:prstGeom>
          <a:ln w="571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4507931" y="2779981"/>
            <a:ext cx="57606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prstClr val="white"/>
                </a:solidFill>
                <a:latin typeface="Calibri"/>
              </a:rPr>
              <a:t>3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040216" y="2636912"/>
            <a:ext cx="1152128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  <a:latin typeface="Calibri"/>
              </a:rPr>
              <a:t>1 DOWN </a:t>
            </a:r>
          </a:p>
        </p:txBody>
      </p:sp>
      <p:sp>
        <p:nvSpPr>
          <p:cNvPr id="152" name="Rectangle 151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black"/>
                </a:solidFill>
                <a:latin typeface="Calibri"/>
              </a:rPr>
              <a:t>Next</a:t>
            </a:r>
          </a:p>
        </p:txBody>
      </p:sp>
      <p:cxnSp>
        <p:nvCxnSpPr>
          <p:cNvPr id="138" name="Straight Arrow Connector 137"/>
          <p:cNvCxnSpPr/>
          <p:nvPr/>
        </p:nvCxnSpPr>
        <p:spPr>
          <a:xfrm rot="16200000" flipV="1">
            <a:off x="6240016" y="3140968"/>
            <a:ext cx="1656184" cy="1224136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/>
          <p:cNvSpPr/>
          <p:nvPr/>
        </p:nvSpPr>
        <p:spPr>
          <a:xfrm>
            <a:off x="7680176" y="4077072"/>
            <a:ext cx="936104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  <a:latin typeface="Calibri"/>
              </a:rPr>
              <a:t>2 right 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616280" y="3429000"/>
            <a:ext cx="165618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-1÷2=-0.5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552384" y="3429000"/>
            <a:ext cx="720080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  <a:latin typeface="Calibri"/>
              </a:rPr>
              <a:t>-0.5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39616" y="-27384"/>
            <a:ext cx="6984776" cy="110799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y=-0.5x + 3</a:t>
            </a:r>
          </a:p>
        </p:txBody>
      </p:sp>
      <p:sp>
        <p:nvSpPr>
          <p:cNvPr id="147" name="Cloud 146"/>
          <p:cNvSpPr/>
          <p:nvPr/>
        </p:nvSpPr>
        <p:spPr>
          <a:xfrm>
            <a:off x="6312024" y="5489848"/>
            <a:ext cx="2808312" cy="136815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solidFill>
                <a:prstClr val="white"/>
              </a:solidFill>
              <a:latin typeface="Century Gothic" pitchFamily="34" charset="0"/>
            </a:endParaRPr>
          </a:p>
          <a:p>
            <a:pPr algn="ctr"/>
            <a:r>
              <a:rPr lang="en-GB" b="1" dirty="0">
                <a:solidFill>
                  <a:prstClr val="white"/>
                </a:solidFill>
                <a:latin typeface="Century Gothic" pitchFamily="34" charset="0"/>
              </a:rPr>
              <a:t>Remember –</a:t>
            </a:r>
          </a:p>
          <a:p>
            <a:pPr algn="ctr"/>
            <a:r>
              <a:rPr lang="en-GB" b="1" dirty="0">
                <a:solidFill>
                  <a:prstClr val="white"/>
                </a:solidFill>
                <a:latin typeface="Century Gothic" pitchFamily="34" charset="0"/>
              </a:rPr>
              <a:t>Down is negative</a:t>
            </a:r>
          </a:p>
          <a:p>
            <a:pPr algn="ctr"/>
            <a:endParaRPr lang="en-GB" b="1" dirty="0">
              <a:solidFill>
                <a:prstClr val="white"/>
              </a:solidFill>
              <a:latin typeface="Century Gothic" pitchFamily="34" charset="0"/>
            </a:endParaRPr>
          </a:p>
        </p:txBody>
      </p:sp>
      <p:sp>
        <p:nvSpPr>
          <p:cNvPr id="148" name="Cloud 147"/>
          <p:cNvSpPr/>
          <p:nvPr/>
        </p:nvSpPr>
        <p:spPr>
          <a:xfrm>
            <a:off x="1524000" y="5489848"/>
            <a:ext cx="2808312" cy="136815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solidFill>
                <a:prstClr val="white"/>
              </a:solidFill>
              <a:latin typeface="Century Gothic" pitchFamily="34" charset="0"/>
            </a:endParaRPr>
          </a:p>
          <a:p>
            <a:pPr algn="ctr"/>
            <a:r>
              <a:rPr lang="en-GB" b="1" dirty="0">
                <a:solidFill>
                  <a:prstClr val="white"/>
                </a:solidFill>
                <a:latin typeface="Century Gothic" pitchFamily="34" charset="0"/>
              </a:rPr>
              <a:t>Remember –</a:t>
            </a:r>
          </a:p>
          <a:p>
            <a:pPr algn="ctr"/>
            <a:r>
              <a:rPr lang="en-GB" b="1" dirty="0">
                <a:solidFill>
                  <a:prstClr val="white"/>
                </a:solidFill>
                <a:latin typeface="Century Gothic" pitchFamily="34" charset="0"/>
              </a:rPr>
              <a:t>Up or down ÷ across</a:t>
            </a:r>
          </a:p>
          <a:p>
            <a:pPr algn="ctr"/>
            <a:endParaRPr lang="en-GB" b="1" dirty="0">
              <a:solidFill>
                <a:prstClr val="white"/>
              </a:solidFill>
              <a:latin typeface="Century Gothic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9660F52-4CDC-4561-B794-2B047A6812C0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We Do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7BB9A15-B745-4BA3-B5E6-7556A4725C5B}"/>
              </a:ext>
            </a:extLst>
          </p:cNvPr>
          <p:cNvSpPr/>
          <p:nvPr/>
        </p:nvSpPr>
        <p:spPr>
          <a:xfrm>
            <a:off x="128649" y="791835"/>
            <a:ext cx="1992086" cy="620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Whiteboards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48148E-6 L 0.26055 -0.3861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1" y="-1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6 L -0.3375 -0.4673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75" y="-23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29" grpId="1" animBg="1"/>
      <p:bldP spid="150" grpId="0" animBg="1"/>
      <p:bldP spid="151" grpId="0" animBg="1"/>
      <p:bldP spid="142" grpId="0" animBg="1"/>
      <p:bldP spid="143" grpId="0" animBg="1"/>
      <p:bldP spid="144" grpId="0" animBg="1"/>
      <p:bldP spid="144" grpId="1" animBg="1"/>
      <p:bldP spid="14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0F0360-0FCA-4665-B5A9-15056BCA78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45" t="17622" r="20598" b="8892"/>
          <a:stretch/>
        </p:blipFill>
        <p:spPr>
          <a:xfrm>
            <a:off x="277584" y="968829"/>
            <a:ext cx="6308273" cy="58181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7A8382-8E05-4A9E-BB18-CD754AF89A76}"/>
                  </a:ext>
                </a:extLst>
              </p:cNvPr>
              <p:cNvSpPr txBox="1"/>
              <p:nvPr/>
            </p:nvSpPr>
            <p:spPr>
              <a:xfrm>
                <a:off x="7048500" y="919843"/>
                <a:ext cx="5023757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dirty="0"/>
                  <a:t>Which of the following are equations of the line:</a:t>
                </a:r>
              </a:p>
              <a:p>
                <a:endParaRPr lang="en-AU" sz="32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AU" sz="32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AU" sz="32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=−3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AU" sz="32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=−0.5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AU" sz="32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AU" sz="32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=3−0.5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3200" b="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=3−2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7A8382-8E05-4A9E-BB18-CD754AF89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0" y="919843"/>
                <a:ext cx="5023757" cy="5016758"/>
              </a:xfrm>
              <a:prstGeom prst="rect">
                <a:avLst/>
              </a:prstGeom>
              <a:blipFill>
                <a:blip r:embed="rId3"/>
                <a:stretch>
                  <a:fillRect l="-3034" t="-15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7052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ach Well">
      <a:dk1>
        <a:srgbClr val="0C0C0C"/>
      </a:dk1>
      <a:lt1>
        <a:sysClr val="window" lastClr="FFFFFF"/>
      </a:lt1>
      <a:dk2>
        <a:srgbClr val="262626"/>
      </a:dk2>
      <a:lt2>
        <a:srgbClr val="E7E6E6"/>
      </a:lt2>
      <a:accent1>
        <a:srgbClr val="034785"/>
      </a:accent1>
      <a:accent2>
        <a:srgbClr val="0088A5"/>
      </a:accent2>
      <a:accent3>
        <a:srgbClr val="FFD530"/>
      </a:accent3>
      <a:accent4>
        <a:srgbClr val="F36424"/>
      </a:accent4>
      <a:accent5>
        <a:srgbClr val="852F9B"/>
      </a:accent5>
      <a:accent6>
        <a:srgbClr val="E1208C"/>
      </a:accent6>
      <a:hlink>
        <a:srgbClr val="0088A5"/>
      </a:hlink>
      <a:folHlink>
        <a:srgbClr val="0088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Teach Well</Template>
  <TotalTime>644</TotalTime>
  <Words>894</Words>
  <Application>Microsoft Office PowerPoint</Application>
  <PresentationFormat>Widescreen</PresentationFormat>
  <Paragraphs>397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Aharoni</vt:lpstr>
      <vt:lpstr>Arial</vt:lpstr>
      <vt:lpstr>Arial Rounded MT Bold</vt:lpstr>
      <vt:lpstr>Calibri</vt:lpstr>
      <vt:lpstr>Cambria Math</vt:lpstr>
      <vt:lpstr>Century Gothic</vt:lpstr>
      <vt:lpstr>Verdana</vt:lpstr>
      <vt:lpstr>Wingdings</vt:lpstr>
      <vt:lpstr>Office Theme</vt:lpstr>
      <vt:lpstr>1_Office Theme</vt:lpstr>
      <vt:lpstr>Lesson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 O'Sullivan</dc:creator>
  <cp:lastModifiedBy>DAVIES Rhys [Busselton Senior High School]</cp:lastModifiedBy>
  <cp:revision>43</cp:revision>
  <dcterms:created xsi:type="dcterms:W3CDTF">2020-10-07T06:32:09Z</dcterms:created>
  <dcterms:modified xsi:type="dcterms:W3CDTF">2022-08-31T01:40:23Z</dcterms:modified>
</cp:coreProperties>
</file>
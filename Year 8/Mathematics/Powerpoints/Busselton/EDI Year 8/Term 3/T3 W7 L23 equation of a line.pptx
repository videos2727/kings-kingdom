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315" r:id="rId3"/>
    <p:sldId id="270" r:id="rId4"/>
    <p:sldId id="502" r:id="rId5"/>
    <p:sldId id="263" r:id="rId6"/>
    <p:sldId id="264" r:id="rId7"/>
    <p:sldId id="265" r:id="rId8"/>
    <p:sldId id="498" r:id="rId9"/>
    <p:sldId id="499" r:id="rId10"/>
    <p:sldId id="266" r:id="rId11"/>
    <p:sldId id="314" r:id="rId12"/>
    <p:sldId id="500" r:id="rId13"/>
    <p:sldId id="273" r:id="rId14"/>
    <p:sldId id="50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2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Book2" TargetMode="External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Book2" TargetMode="External"/><Relationship Id="rId1" Type="http://schemas.openxmlformats.org/officeDocument/2006/relationships/themeOverride" Target="../theme/themeOverrid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v>y=3x-1</c:v>
          </c:tx>
          <c:spPr>
            <a:ln>
              <a:noFill/>
            </a:ln>
          </c:spPr>
          <c:marker>
            <c:symbol val="none"/>
          </c:marker>
          <c:xVal>
            <c:numRef>
              <c:f>'C:\Users\Dow\Documents\Work\Teaching Resources\[Gradient.xlsx]Sheet1'!$A$2:$A$15</c:f>
              <c:numCache>
                <c:formatCode>General</c:formatCode>
                <c:ptCount val="14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  <c:pt idx="13">
                  <c:v>10</c:v>
                </c:pt>
              </c:numCache>
            </c:numRef>
          </c:xVal>
          <c:yVal>
            <c:numRef>
              <c:f>'C:\Users\Dow\Documents\Work\Teaching Resources\[Gradient.xlsx]Sheet1'!$D$2:$D$15</c:f>
              <c:numCache>
                <c:formatCode>General</c:formatCode>
                <c:ptCount val="14"/>
                <c:pt idx="0">
                  <c:v>-10</c:v>
                </c:pt>
                <c:pt idx="1">
                  <c:v>-7</c:v>
                </c:pt>
                <c:pt idx="2">
                  <c:v>-4</c:v>
                </c:pt>
                <c:pt idx="3">
                  <c:v>-1</c:v>
                </c:pt>
                <c:pt idx="4">
                  <c:v>2</c:v>
                </c:pt>
                <c:pt idx="5">
                  <c:v>5</c:v>
                </c:pt>
                <c:pt idx="6">
                  <c:v>8</c:v>
                </c:pt>
                <c:pt idx="7">
                  <c:v>11</c:v>
                </c:pt>
                <c:pt idx="8">
                  <c:v>14</c:v>
                </c:pt>
                <c:pt idx="9">
                  <c:v>17</c:v>
                </c:pt>
                <c:pt idx="10">
                  <c:v>20</c:v>
                </c:pt>
                <c:pt idx="11">
                  <c:v>23</c:v>
                </c:pt>
                <c:pt idx="12">
                  <c:v>26</c:v>
                </c:pt>
                <c:pt idx="13">
                  <c:v>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0AD-43EB-87F1-E81D713324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6662272"/>
        <c:axId val="36669696"/>
      </c:scatterChart>
      <c:valAx>
        <c:axId val="36662272"/>
        <c:scaling>
          <c:orientation val="minMax"/>
          <c:max val="6"/>
          <c:min val="-2"/>
        </c:scaling>
        <c:delete val="0"/>
        <c:axPos val="b"/>
        <c:majorGridlines/>
        <c:minorGridlines/>
        <c:numFmt formatCode="General" sourceLinked="1"/>
        <c:majorTickMark val="out"/>
        <c:minorTickMark val="none"/>
        <c:tickLblPos val="nextTo"/>
        <c:spPr>
          <a:ln w="22225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36669696"/>
        <c:crosses val="autoZero"/>
        <c:crossBetween val="midCat"/>
      </c:valAx>
      <c:valAx>
        <c:axId val="36669696"/>
        <c:scaling>
          <c:orientation val="minMax"/>
          <c:max val="20"/>
          <c:min val="-5"/>
        </c:scaling>
        <c:delete val="0"/>
        <c:axPos val="l"/>
        <c:majorGridlines/>
        <c:minorGridlines/>
        <c:numFmt formatCode="General" sourceLinked="1"/>
        <c:majorTickMark val="out"/>
        <c:minorTickMark val="none"/>
        <c:tickLblPos val="nextTo"/>
        <c:spPr>
          <a:ln w="19050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36662272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v>y=3x-1</c:v>
          </c:tx>
          <c:spPr>
            <a:ln>
              <a:noFill/>
            </a:ln>
          </c:spPr>
          <c:marker>
            <c:symbol val="none"/>
          </c:marker>
          <c:xVal>
            <c:numRef>
              <c:f>'C:\Users\Dow\Documents\Work\Teaching Resources\[Gradient.xlsx]Sheet1'!$A$2:$A$15</c:f>
              <c:numCache>
                <c:formatCode>General</c:formatCode>
                <c:ptCount val="14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  <c:pt idx="13">
                  <c:v>10</c:v>
                </c:pt>
              </c:numCache>
            </c:numRef>
          </c:xVal>
          <c:yVal>
            <c:numRef>
              <c:f>'C:\Users\Dow\Documents\Work\Teaching Resources\[Gradient.xlsx]Sheet1'!$D$2:$D$15</c:f>
              <c:numCache>
                <c:formatCode>General</c:formatCode>
                <c:ptCount val="14"/>
                <c:pt idx="0">
                  <c:v>-10</c:v>
                </c:pt>
                <c:pt idx="1">
                  <c:v>-7</c:v>
                </c:pt>
                <c:pt idx="2">
                  <c:v>-4</c:v>
                </c:pt>
                <c:pt idx="3">
                  <c:v>-1</c:v>
                </c:pt>
                <c:pt idx="4">
                  <c:v>2</c:v>
                </c:pt>
                <c:pt idx="5">
                  <c:v>5</c:v>
                </c:pt>
                <c:pt idx="6">
                  <c:v>8</c:v>
                </c:pt>
                <c:pt idx="7">
                  <c:v>11</c:v>
                </c:pt>
                <c:pt idx="8">
                  <c:v>14</c:v>
                </c:pt>
                <c:pt idx="9">
                  <c:v>17</c:v>
                </c:pt>
                <c:pt idx="10">
                  <c:v>20</c:v>
                </c:pt>
                <c:pt idx="11">
                  <c:v>23</c:v>
                </c:pt>
                <c:pt idx="12">
                  <c:v>26</c:v>
                </c:pt>
                <c:pt idx="13">
                  <c:v>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357-4FD5-B2D2-5DDCE791D0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96232320"/>
        <c:axId val="196234240"/>
      </c:scatterChart>
      <c:valAx>
        <c:axId val="196232320"/>
        <c:scaling>
          <c:orientation val="minMax"/>
          <c:max val="6"/>
          <c:min val="-2"/>
        </c:scaling>
        <c:delete val="0"/>
        <c:axPos val="b"/>
        <c:majorGridlines/>
        <c:minorGridlines/>
        <c:numFmt formatCode="General" sourceLinked="1"/>
        <c:majorTickMark val="out"/>
        <c:minorTickMark val="none"/>
        <c:tickLblPos val="nextTo"/>
        <c:spPr>
          <a:ln w="22225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196234240"/>
        <c:crosses val="autoZero"/>
        <c:crossBetween val="midCat"/>
      </c:valAx>
      <c:valAx>
        <c:axId val="196234240"/>
        <c:scaling>
          <c:orientation val="minMax"/>
          <c:max val="20"/>
          <c:min val="-5"/>
        </c:scaling>
        <c:delete val="0"/>
        <c:axPos val="l"/>
        <c:majorGridlines/>
        <c:minorGridlines/>
        <c:numFmt formatCode="General" sourceLinked="1"/>
        <c:majorTickMark val="out"/>
        <c:minorTickMark val="none"/>
        <c:tickLblPos val="nextTo"/>
        <c:spPr>
          <a:ln w="19050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196232320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scatterChart>
        <c:scatterStyle val="smoothMarker"/>
        <c:varyColors val="0"/>
        <c:ser>
          <c:idx val="2"/>
          <c:order val="0"/>
          <c:tx>
            <c:v>y=3x-1</c:v>
          </c:tx>
          <c:spPr>
            <a:ln>
              <a:noFill/>
            </a:ln>
          </c:spPr>
          <c:marker>
            <c:symbol val="none"/>
          </c:marker>
          <c:xVal>
            <c:numRef>
              <c:f>'C:\Users\Dow\Documents\Work\Teaching Resources\[Gradient.xlsx]Sheet1'!$A$2:$A$15</c:f>
              <c:numCache>
                <c:formatCode>General</c:formatCode>
                <c:ptCount val="14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  <c:pt idx="7">
                  <c:v>4</c:v>
                </c:pt>
                <c:pt idx="8">
                  <c:v>5</c:v>
                </c:pt>
                <c:pt idx="9">
                  <c:v>6</c:v>
                </c:pt>
                <c:pt idx="10">
                  <c:v>7</c:v>
                </c:pt>
                <c:pt idx="11">
                  <c:v>8</c:v>
                </c:pt>
                <c:pt idx="12">
                  <c:v>9</c:v>
                </c:pt>
                <c:pt idx="13">
                  <c:v>10</c:v>
                </c:pt>
              </c:numCache>
            </c:numRef>
          </c:xVal>
          <c:yVal>
            <c:numRef>
              <c:f>'C:\Users\Dow\Documents\Work\Teaching Resources\[Gradient.xlsx]Sheet1'!$D$2:$D$15</c:f>
              <c:numCache>
                <c:formatCode>General</c:formatCode>
                <c:ptCount val="14"/>
                <c:pt idx="0">
                  <c:v>-10</c:v>
                </c:pt>
                <c:pt idx="1">
                  <c:v>-7</c:v>
                </c:pt>
                <c:pt idx="2">
                  <c:v>-4</c:v>
                </c:pt>
                <c:pt idx="3">
                  <c:v>-1</c:v>
                </c:pt>
                <c:pt idx="4">
                  <c:v>2</c:v>
                </c:pt>
                <c:pt idx="5">
                  <c:v>5</c:v>
                </c:pt>
                <c:pt idx="6">
                  <c:v>8</c:v>
                </c:pt>
                <c:pt idx="7">
                  <c:v>11</c:v>
                </c:pt>
                <c:pt idx="8">
                  <c:v>14</c:v>
                </c:pt>
                <c:pt idx="9">
                  <c:v>17</c:v>
                </c:pt>
                <c:pt idx="10">
                  <c:v>20</c:v>
                </c:pt>
                <c:pt idx="11">
                  <c:v>23</c:v>
                </c:pt>
                <c:pt idx="12">
                  <c:v>26</c:v>
                </c:pt>
                <c:pt idx="13">
                  <c:v>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FAA-4D98-8F4E-A52AC4E073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3588224"/>
        <c:axId val="103590144"/>
      </c:scatterChart>
      <c:valAx>
        <c:axId val="103588224"/>
        <c:scaling>
          <c:orientation val="minMax"/>
          <c:max val="6"/>
          <c:min val="-2"/>
        </c:scaling>
        <c:delete val="0"/>
        <c:axPos val="b"/>
        <c:majorGridlines/>
        <c:minorGridlines/>
        <c:numFmt formatCode="General" sourceLinked="1"/>
        <c:majorTickMark val="out"/>
        <c:minorTickMark val="none"/>
        <c:tickLblPos val="nextTo"/>
        <c:spPr>
          <a:ln w="22225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103590144"/>
        <c:crosses val="autoZero"/>
        <c:crossBetween val="midCat"/>
      </c:valAx>
      <c:valAx>
        <c:axId val="103590144"/>
        <c:scaling>
          <c:orientation val="minMax"/>
          <c:max val="20"/>
          <c:min val="-5"/>
        </c:scaling>
        <c:delete val="0"/>
        <c:axPos val="l"/>
        <c:majorGridlines/>
        <c:minorGridlines/>
        <c:numFmt formatCode="General" sourceLinked="1"/>
        <c:majorTickMark val="out"/>
        <c:minorTickMark val="none"/>
        <c:tickLblPos val="nextTo"/>
        <c:spPr>
          <a:ln w="19050">
            <a:solidFill>
              <a:schemeClr val="tx1"/>
            </a:solidFill>
          </a:ln>
        </c:spPr>
        <c:txPr>
          <a:bodyPr/>
          <a:lstStyle/>
          <a:p>
            <a:pPr>
              <a:defRPr sz="1600"/>
            </a:pPr>
            <a:endParaRPr lang="en-US"/>
          </a:p>
        </c:txPr>
        <c:crossAx val="103588224"/>
        <c:crosses val="autoZero"/>
        <c:crossBetween val="midCat"/>
      </c:valAx>
      <c:spPr>
        <a:noFill/>
        <a:ln w="25400">
          <a:noFill/>
        </a:ln>
      </c:spPr>
    </c:plotArea>
    <c:plotVisOnly val="1"/>
    <c:dispBlanksAs val="gap"/>
    <c:showDLblsOverMax val="0"/>
  </c:chart>
  <c:externalData r:id="rId2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711B1-D107-3911-6546-9313F90D8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4AF7B1-F9D6-BF49-3D83-9591134384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B48A9-9438-29EA-129C-B0A6710B8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E5FBA1-D829-C69B-3407-1B2E5EDB6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2B2A3-E91A-E68D-A8B9-91972C66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81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A2280-EBE3-12BF-B9B8-5AEED1E36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19EE9-3E19-9059-5800-D2325754CE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BDD53-C0AB-6524-C7B7-58E9BE3E6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9F782-45FD-6E49-0EF2-B10A299D9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80A3A-A99F-84AE-3426-CB16D19A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131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DF06-7B7A-54EE-69D1-E45958F6F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3786D-7078-CCC3-9836-021193657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3790B-D4D4-344A-90D3-9BA4E6B4D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0518D-908D-BFFE-5766-3EC6DFD1C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5C2CC-1FC9-BD91-1351-AD2C6833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0234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CC09B-BFF4-FA77-EB40-8FBA21392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AF515-B23F-8E7B-E409-F7D35B2A8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E9662A-0282-BF4C-0B20-B32DEEAFD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EEC35-8CEE-DFCB-4E3A-B3E2DE0D2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450C5-C840-E896-C039-62D4A3D2C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95A8C-592F-924E-5A9B-EE28F77F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857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4966-1CC4-C441-6F6E-CE74F2D81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250BB-F097-D4ED-F9D1-7564583C9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1A6D4-30E3-800E-8332-CD1AFC064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5E9C0D-BACD-5511-90B9-A9451D0D85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4F636-F814-BDC4-ABA9-EF794F4035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66B8A-D6D2-39DC-A17F-AC54A011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256FB-C625-6196-0110-86A9D65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4D172C-77E3-C160-119C-818265024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6578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AC324-399C-943C-DCFF-E1986C0C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31747-3A82-5469-3F82-89DDFF546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7C3993-E4D5-47A8-8EE8-E239030D5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BC863F-CB0E-17B1-10A1-1ED178D26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981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99B3C3-33D1-5736-DB4A-9E870C4BA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14498-6690-969F-5A64-E3A47B0E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AE23B-F473-9642-AC48-BB6FD4A43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97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1C289-D5FF-F5CD-6DE3-C1653C31E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FBDE0-4C12-D361-5106-036AB2A06D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B16BF5-EF82-349A-B877-4D80861C7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6E80CB-BB6E-C4E3-0BFC-C914F063C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E3E2A-5206-85B8-A82D-AB25A2EF4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502CC-9490-3CFB-36E5-E9CEE00AE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2193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C84E8-3BFA-3970-1F44-524333F21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F546E6-68DD-F36E-D791-37D266A37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99A89-5A44-14F6-8CE8-1F34326D90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0A182-57E9-7CE9-1C31-EC72753E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89838-1F34-78E8-FF03-2E245E10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BA402F-464A-6808-D863-B22634B91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718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1C5B9-481B-2AF4-FF03-FFBC6AC30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1B7BF3-6FAB-D919-62BC-FC1E91A807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26874-73A0-FDC0-1AD6-60B56F6A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16103-99DF-B821-EFC0-478E0E0B0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84685-8692-9879-E28F-75D49BF1C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7424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CBAFF7-E736-5E89-F473-BADE74B3FE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70675-5436-A7B2-12B5-674B6F356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081EF-628D-0C94-3AF7-4E9405F62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32404-642F-8658-3DBF-6942C3EB8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7157B-3C5C-FB60-49AD-78CE7AD1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9521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882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009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122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9259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79510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3571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445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52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7899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5347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268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44850F-B8B9-51E0-D807-01AEFB67E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A8601-6AF0-6909-4BC9-2272C43B6E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1836D-6B00-B64C-1F3F-063A2E3A5A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26475-7ADE-4E48-A47F-8722D74ECF4B}" type="datetimeFigureOut">
              <a:rPr lang="en-AU" smtClean="0"/>
              <a:t>31/08/2022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9B99F-0936-86B5-4C50-C154D2BADF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9DE47-CCA3-2E74-AAD6-9855AF6063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30E93-B54C-45B9-B23C-F82B459B33D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27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0585D-59B0-4A1F-B831-F80CC4276C0E}" type="datetimeFigureOut">
              <a:rPr lang="en-GB" smtClean="0"/>
              <a:t>31/08/2022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0EB99-A988-48D9-82D2-9216CDFC19F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55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0896D4-79AC-594C-046A-BFA926F94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B68675-FC3B-1079-1DF9-249F19D1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Graphing linear relationships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Construct a table of values to plot points on a number plane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Identify gradient and y-intercept from a linear equation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x and y-intercepts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Finding gradient and y-intercept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Slope intercept form and standard form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E6403F-8348-62ED-0116-1534865ACA06}"/>
              </a:ext>
            </a:extLst>
          </p:cNvPr>
          <p:cNvSpPr txBox="1"/>
          <p:nvPr/>
        </p:nvSpPr>
        <p:spPr>
          <a:xfrm>
            <a:off x="6241002" y="2287290"/>
            <a:ext cx="26189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Need whiteboards 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76CFDD-E889-2C9A-8BCE-4C2F76C96F54}"/>
              </a:ext>
            </a:extLst>
          </p:cNvPr>
          <p:cNvSpPr txBox="1"/>
          <p:nvPr/>
        </p:nvSpPr>
        <p:spPr>
          <a:xfrm>
            <a:off x="6960094" y="230188"/>
            <a:ext cx="44107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PBiS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 Focus: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Empathy – allow others to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00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Learn – complete all tasks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00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230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591F-AC3E-FC8D-3E01-7C96F1011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X and y-intercepts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6C29-032E-346D-6F13-3ABE79C6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X-intercept of a line is: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FF0000"/>
                </a:solidFill>
              </a:rPr>
              <a:t>The x-coordinate of the point where the line cuts the x-axis</a:t>
            </a:r>
          </a:p>
          <a:p>
            <a:pPr>
              <a:buFontTx/>
              <a:buChar char="-"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Y-intercept of a line is:</a:t>
            </a:r>
          </a:p>
          <a:p>
            <a:pPr marL="0" indent="0">
              <a:buNone/>
            </a:pPr>
            <a:r>
              <a:rPr lang="en-US" sz="3600" dirty="0"/>
              <a:t>- </a:t>
            </a:r>
            <a:r>
              <a:rPr lang="en-US" b="1" dirty="0">
                <a:solidFill>
                  <a:srgbClr val="FF0000"/>
                </a:solidFill>
              </a:rPr>
              <a:t>The y-coordinate of the point where the line cuts the y-axis </a:t>
            </a:r>
            <a:endParaRPr lang="en-AU" sz="3600" b="1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A426D-DF92-C28C-16E3-B98DA5A41B84}"/>
              </a:ext>
            </a:extLst>
          </p:cNvPr>
          <p:cNvSpPr/>
          <p:nvPr/>
        </p:nvSpPr>
        <p:spPr>
          <a:xfrm>
            <a:off x="1056443" y="2343705"/>
            <a:ext cx="9978501" cy="508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B81028-8C30-B401-842D-E83399AAA5B9}"/>
              </a:ext>
            </a:extLst>
          </p:cNvPr>
          <p:cNvSpPr/>
          <p:nvPr/>
        </p:nvSpPr>
        <p:spPr>
          <a:xfrm>
            <a:off x="951390" y="4297248"/>
            <a:ext cx="9978501" cy="5085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567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87BA-517B-D295-DE0B-71DF80550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B7B52-7BA1-D1EF-76DB-AA37B80B8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/>
                  <a:t>Identify the gradient and y-intercept: </a:t>
                </a:r>
              </a:p>
              <a:p>
                <a:pPr marL="0" indent="0" algn="ctr">
                  <a:buNone/>
                </a:pPr>
                <a:endParaRPr lang="en-US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6000" b="0" i="1" smtClean="0">
                          <a:latin typeface="Cambria Math" panose="02040503050406030204" pitchFamily="18" charset="0"/>
                        </a:rPr>
                        <m:t>+9 </m:t>
                      </m:r>
                    </m:oMath>
                  </m:oMathPara>
                </a14:m>
                <a:endParaRPr lang="en-US" sz="6000" b="0" dirty="0"/>
              </a:p>
              <a:p>
                <a:pPr marL="0" indent="0" algn="ctr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0B7B52-7BA1-D1EF-76DB-AA37B80B8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3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5616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the Equation of a Line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2207568" y="1239126"/>
          <a:ext cx="7272808" cy="5253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2639616" y="2204864"/>
            <a:ext cx="5472608" cy="37444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986384" y="4365104"/>
            <a:ext cx="0" cy="576064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4151784" y="4941168"/>
            <a:ext cx="834600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15880" y="4365104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9816" y="486916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51984" y="1340769"/>
            <a:ext cx="457560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Draw a triangle on and note down the change in the y co-ordinate and x co-ordinate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960096" y="3212976"/>
                <a:ext cx="3240360" cy="7887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3</m:t>
                        </m:r>
                      </m:num>
                      <m:den>
                        <m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den>
                    </m:f>
                    <m:r>
                      <a:rPr kumimoji="0" lang="en-GB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=3</m:t>
                    </m:r>
                  </m:oMath>
                </a14:m>
                <a:endPara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0096" y="3212976"/>
                <a:ext cx="3240360" cy="788742"/>
              </a:xfrm>
              <a:prstGeom prst="rect">
                <a:avLst/>
              </a:prstGeom>
              <a:blipFill>
                <a:blip r:embed="rId3"/>
                <a:stretch>
                  <a:fillRect l="-4896" b="-131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588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 animBg="1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the Equation of a Line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2207568" y="1239126"/>
          <a:ext cx="7272808" cy="5253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2639616" y="2535408"/>
            <a:ext cx="6120680" cy="345638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50480" y="4312260"/>
            <a:ext cx="0" cy="101671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850480" y="5328972"/>
            <a:ext cx="175768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16928" y="4559006"/>
            <a:ext cx="50405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296" y="5362416"/>
            <a:ext cx="50405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449593" y="1589234"/>
                <a:ext cx="3240360" cy="7957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−5</m:t>
                        </m:r>
                      </m:num>
                      <m:den>
                        <m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2</m:t>
                        </m:r>
                      </m:den>
                    </m:f>
                    <m:r>
                      <a:rPr kumimoji="0" lang="en-GB" sz="32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/>
                        <a:ea typeface="+mn-ea"/>
                        <a:cs typeface="+mn-cs"/>
                      </a:rPr>
                      <m:t>=−2.5</m:t>
                    </m:r>
                  </m:oMath>
                </a14:m>
                <a:endPara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593" y="1589234"/>
                <a:ext cx="3240360" cy="795795"/>
              </a:xfrm>
              <a:prstGeom prst="rect">
                <a:avLst/>
              </a:prstGeom>
              <a:blipFill>
                <a:blip r:embed="rId3"/>
                <a:stretch>
                  <a:fillRect l="-4699" b="-130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21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Calculating the Equation of a Line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2207568" y="1239126"/>
          <a:ext cx="7272808" cy="52537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6" name="Straight Connector 5"/>
          <p:cNvCxnSpPr/>
          <p:nvPr/>
        </p:nvCxnSpPr>
        <p:spPr>
          <a:xfrm flipV="1">
            <a:off x="3143672" y="4009900"/>
            <a:ext cx="6336704" cy="39771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550908" y="4119584"/>
            <a:ext cx="0" cy="22904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4151784" y="4348624"/>
            <a:ext cx="339912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059996" y="4380331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0908" y="3985900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571426" y="1644874"/>
                <a:ext cx="3240360" cy="787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GB" sz="32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/>
                            <a:ea typeface="+mn-ea"/>
                            <a:cs typeface="+mn-cs"/>
                          </a:rPr>
                          <m:t>4</m:t>
                        </m:r>
                      </m:den>
                    </m:f>
                  </m:oMath>
                </a14:m>
                <a:endParaRPr kumimoji="0" lang="en-GB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1426" y="1644874"/>
                <a:ext cx="3240360" cy="787716"/>
              </a:xfrm>
              <a:prstGeom prst="rect">
                <a:avLst/>
              </a:prstGeom>
              <a:blipFill>
                <a:blip r:embed="rId3"/>
                <a:stretch>
                  <a:fillRect l="-4887" b="-124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704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6200000" flipH="1">
            <a:off x="3985457" y="3307295"/>
            <a:ext cx="5229201" cy="187220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y=-3x + 4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0325D59A-E938-455B-8A80-93D2222ACF57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53B0589C-752A-429F-BA4E-A751BEF12FFB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>
            <a:cxnSpLocks/>
          </p:cNvCxnSpPr>
          <p:nvPr/>
        </p:nvCxnSpPr>
        <p:spPr>
          <a:xfrm flipH="1">
            <a:off x="4691338" y="836715"/>
            <a:ext cx="2681706" cy="5392215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y=2x + 1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0948348-1780-445F-B687-70BA2CE0A363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6F0B7669-2132-40C3-9D27-3729E5684AA8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/>
          <p:cNvGrpSpPr/>
          <p:nvPr/>
        </p:nvGrpSpPr>
        <p:grpSpPr>
          <a:xfrm>
            <a:off x="2028056" y="-171400"/>
            <a:ext cx="8640960" cy="7632848"/>
            <a:chOff x="467544" y="-171400"/>
            <a:chExt cx="8640960" cy="7056784"/>
          </a:xfrm>
        </p:grpSpPr>
        <p:cxnSp>
          <p:nvCxnSpPr>
            <p:cNvPr id="54" name="Straight Connector 53"/>
            <p:cNvCxnSpPr/>
            <p:nvPr/>
          </p:nvCxnSpPr>
          <p:spPr>
            <a:xfrm rot="5400000">
              <a:off x="-8113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>
              <a:off x="49492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>
              <a:off x="107099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>
              <a:off x="1647055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rot="5400000">
              <a:off x="2223119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rot="5400000">
              <a:off x="2799183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 rot="5400000">
              <a:off x="3375247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52"/>
            <p:cNvGrpSpPr/>
            <p:nvPr/>
          </p:nvGrpSpPr>
          <p:grpSpPr>
            <a:xfrm>
              <a:off x="467544" y="-72008"/>
              <a:ext cx="6624735" cy="6957392"/>
              <a:chOff x="467544" y="-72008"/>
              <a:chExt cx="6624735" cy="6957392"/>
            </a:xfrm>
          </p:grpSpPr>
          <p:cxnSp>
            <p:nvCxnSpPr>
              <p:cNvPr id="73" name="Straight Connector 72"/>
              <p:cNvCxnSpPr/>
              <p:nvPr/>
            </p:nvCxnSpPr>
            <p:spPr>
              <a:xfrm rot="5400000">
                <a:off x="-2961456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 rot="5400000">
                <a:off x="-2673425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>
                <a:off x="-2385393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rot="5400000">
                <a:off x="-2385392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5400000">
                <a:off x="-2097361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5400000">
                <a:off x="-1809329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/>
              <p:cNvCxnSpPr/>
              <p:nvPr/>
            </p:nvCxnSpPr>
            <p:spPr>
              <a:xfrm rot="5400000">
                <a:off x="-1809328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11"/>
              <p:cNvCxnSpPr/>
              <p:nvPr/>
            </p:nvCxnSpPr>
            <p:spPr>
              <a:xfrm rot="5400000">
                <a:off x="-1521297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/>
              <p:cNvCxnSpPr/>
              <p:nvPr/>
            </p:nvCxnSpPr>
            <p:spPr>
              <a:xfrm rot="5400000">
                <a:off x="-1233265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>
                <a:off x="-1233264" y="3429000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5400000">
                <a:off x="-945233" y="3456384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 rot="5400000">
                <a:off x="-657201" y="340161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-65720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5400000">
                <a:off x="-36916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5400000">
                <a:off x="-8113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/>
              <p:cNvCxnSpPr/>
              <p:nvPr/>
            </p:nvCxnSpPr>
            <p:spPr>
              <a:xfrm rot="5400000">
                <a:off x="20689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/>
              <p:cNvCxnSpPr/>
              <p:nvPr/>
            </p:nvCxnSpPr>
            <p:spPr>
              <a:xfrm rot="5400000">
                <a:off x="49492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/>
              <p:cNvCxnSpPr/>
              <p:nvPr/>
            </p:nvCxnSpPr>
            <p:spPr>
              <a:xfrm rot="5400000">
                <a:off x="78295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/>
              <p:cNvCxnSpPr/>
              <p:nvPr/>
            </p:nvCxnSpPr>
            <p:spPr>
              <a:xfrm rot="5400000">
                <a:off x="1070992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 rot="5400000">
                <a:off x="1359023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/>
              <p:cNvCxnSpPr/>
              <p:nvPr/>
            </p:nvCxnSpPr>
            <p:spPr>
              <a:xfrm rot="5400000">
                <a:off x="1647056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/>
              <p:cNvCxnSpPr/>
              <p:nvPr/>
            </p:nvCxnSpPr>
            <p:spPr>
              <a:xfrm rot="5400000">
                <a:off x="1935087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 rot="5400000">
                <a:off x="2223120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>
                <a:off x="2511151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rot="5400000">
                <a:off x="2799184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 rot="5400000">
                <a:off x="3087215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rot="5400000">
                <a:off x="3375248" y="3356992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/>
              <p:cNvCxnSpPr/>
              <p:nvPr/>
            </p:nvCxnSpPr>
            <p:spPr>
              <a:xfrm rot="5400000">
                <a:off x="3663279" y="3384376"/>
                <a:ext cx="6858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2" name="Straight Connector 61"/>
            <p:cNvCxnSpPr/>
            <p:nvPr/>
          </p:nvCxnSpPr>
          <p:spPr>
            <a:xfrm rot="5400000">
              <a:off x="3951311" y="332960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 rot="5400000">
              <a:off x="3951312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rot="5400000">
              <a:off x="4239343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 rot="5400000">
              <a:off x="4527375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 rot="5400000">
              <a:off x="4527376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 rot="5400000">
              <a:off x="4815407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 rot="5400000">
              <a:off x="5103439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 rot="5400000">
              <a:off x="5103440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rot="5400000">
              <a:off x="5391471" y="3312368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rot="5400000">
              <a:off x="5679503" y="32576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 rot="5400000">
              <a:off x="5679504" y="32849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" name="Straight Connector 6"/>
          <p:cNvCxnSpPr/>
          <p:nvPr/>
        </p:nvCxnSpPr>
        <p:spPr>
          <a:xfrm>
            <a:off x="1118772" y="494955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18772" y="43734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1118772" y="37974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1118772" y="322136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8772" y="264529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118772" y="206923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1118772" y="149316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52"/>
          <p:cNvGrpSpPr/>
          <p:nvPr/>
        </p:nvGrpSpPr>
        <p:grpSpPr>
          <a:xfrm rot="16200000">
            <a:off x="2618067" y="-256578"/>
            <a:ext cx="6624735" cy="9548163"/>
            <a:chOff x="467544" y="-72008"/>
            <a:chExt cx="6624735" cy="6957392"/>
          </a:xfrm>
        </p:grpSpPr>
        <p:cxnSp>
          <p:nvCxnSpPr>
            <p:cNvPr id="26" name="Straight Connector 25"/>
            <p:cNvCxnSpPr/>
            <p:nvPr/>
          </p:nvCxnSpPr>
          <p:spPr>
            <a:xfrm rot="5400000">
              <a:off x="-2961456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-2673425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-2385393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-2385392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-2097361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9"/>
            <p:cNvCxnSpPr/>
            <p:nvPr/>
          </p:nvCxnSpPr>
          <p:spPr>
            <a:xfrm rot="5400000">
              <a:off x="-1809329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-1809328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-1521297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rot="5400000">
              <a:off x="-1233265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 rot="5400000">
              <a:off x="-1233264" y="3429000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rot="5400000">
              <a:off x="-945233" y="3456384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5400000">
              <a:off x="-657201" y="340161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 rot="5400000">
              <a:off x="-65720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rot="5400000">
              <a:off x="-36916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 rot="5400000">
              <a:off x="-8113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rot="5400000">
              <a:off x="20689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5400000">
              <a:off x="49492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>
              <a:off x="78295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5400000">
              <a:off x="1070992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5400000">
              <a:off x="1359023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5400000">
              <a:off x="1647056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5400000">
              <a:off x="1935087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rot="5400000">
              <a:off x="2223120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rot="5400000">
              <a:off x="2511151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 rot="5400000">
              <a:off x="2799184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rot="5400000">
              <a:off x="3087215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 rot="5400000">
              <a:off x="3375248" y="3356992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rot="5400000">
              <a:off x="3663279" y="3384376"/>
              <a:ext cx="6858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/>
          <p:cNvCxnSpPr/>
          <p:nvPr/>
        </p:nvCxnSpPr>
        <p:spPr>
          <a:xfrm>
            <a:off x="1118772" y="91710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057531" y="917103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95112" y="629072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9950" y="341040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057531" y="34103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95112" y="5300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1019950" y="-235024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1057531" y="-235025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1095112" y="-523056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1019950" y="-811088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1057531" y="-811089"/>
            <a:ext cx="9411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 rot="5400000">
            <a:off x="3207656" y="4027376"/>
            <a:ext cx="5661248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>
            <a:off x="3215680" y="3789040"/>
            <a:ext cx="5544616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5735960" y="3347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35960" y="30689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735960" y="278092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735960" y="249289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735960" y="220486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735960" y="190754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735960" y="1628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5735960" y="13407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722306" y="59399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-8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722306" y="566124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-7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2306" y="537321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-6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722306" y="5085184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722306" y="4797152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22306" y="449982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722306" y="4221088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-2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722306" y="3933056"/>
            <a:ext cx="372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prstClr val="black"/>
                </a:solidFill>
                <a:latin typeface="Calibri"/>
              </a:rPr>
              <a:t>-1</a:t>
            </a:r>
          </a:p>
        </p:txBody>
      </p:sp>
      <p:cxnSp>
        <p:nvCxnSpPr>
          <p:cNvPr id="124" name="Straight Connector 123"/>
          <p:cNvCxnSpPr/>
          <p:nvPr/>
        </p:nvCxnSpPr>
        <p:spPr>
          <a:xfrm rot="16200000" flipH="1">
            <a:off x="3229374" y="3559324"/>
            <a:ext cx="5301208" cy="1296147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2783632" y="0"/>
            <a:ext cx="6984776" cy="1107996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6600" dirty="0">
                <a:solidFill>
                  <a:prstClr val="black"/>
                </a:solidFill>
                <a:latin typeface="Aharoni" pitchFamily="2" charset="-79"/>
                <a:cs typeface="Aharoni" pitchFamily="2" charset="-79"/>
              </a:rPr>
              <a:t>y=-4x -4</a:t>
            </a:r>
          </a:p>
        </p:txBody>
      </p:sp>
      <p:cxnSp>
        <p:nvCxnSpPr>
          <p:cNvPr id="139" name="Straight Connector 138"/>
          <p:cNvCxnSpPr/>
          <p:nvPr/>
        </p:nvCxnSpPr>
        <p:spPr>
          <a:xfrm>
            <a:off x="-2628800" y="1484784"/>
            <a:ext cx="914400" cy="914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Rectangle 139">
            <a:hlinkClick r:id="" action="ppaction://hlinkshowjump?jump=nextslide"/>
          </p:cNvPr>
          <p:cNvSpPr/>
          <p:nvPr/>
        </p:nvSpPr>
        <p:spPr>
          <a:xfrm>
            <a:off x="9552384" y="6381328"/>
            <a:ext cx="1115616" cy="4766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prstClr val="white"/>
                </a:solidFill>
                <a:latin typeface="Calibri"/>
              </a:rPr>
              <a:t>Next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104112" y="1196753"/>
            <a:ext cx="3024336" cy="1200329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Your turn!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What is the equation of this line?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1F077E0E-A8D3-4795-97DA-43BFC5A60A28}"/>
              </a:ext>
            </a:extLst>
          </p:cNvPr>
          <p:cNvSpPr/>
          <p:nvPr/>
        </p:nvSpPr>
        <p:spPr>
          <a:xfrm>
            <a:off x="136071" y="97971"/>
            <a:ext cx="3684815" cy="6144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3600" dirty="0"/>
              <a:t>We Do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833A7795-FFB3-438D-B1E5-245EE39F07F1}"/>
              </a:ext>
            </a:extLst>
          </p:cNvPr>
          <p:cNvSpPr/>
          <p:nvPr/>
        </p:nvSpPr>
        <p:spPr>
          <a:xfrm>
            <a:off x="128649" y="791835"/>
            <a:ext cx="1992086" cy="6204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b="1" dirty="0"/>
              <a:t>Whiteboards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 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DF6AE2-E0D4-4F5A-A78D-834A6D825DB5}"/>
              </a:ext>
            </a:extLst>
          </p:cNvPr>
          <p:cNvSpPr txBox="1"/>
          <p:nvPr/>
        </p:nvSpPr>
        <p:spPr>
          <a:xfrm>
            <a:off x="2574525" y="2467993"/>
            <a:ext cx="688907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Create a table of values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Complete 3 values or x &amp; y-intercepts.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Plot the coordinates.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1" i="1" u="sng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Accurately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draw a straight line connecting these points.</a:t>
            </a:r>
            <a:endParaRPr kumimoji="0" lang="en-AU" sz="2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915C03-17E7-4810-9307-34A7FF04F2D2}"/>
              </a:ext>
            </a:extLst>
          </p:cNvPr>
          <p:cNvSpPr txBox="1"/>
          <p:nvPr/>
        </p:nvSpPr>
        <p:spPr>
          <a:xfrm>
            <a:off x="1669002" y="5557421"/>
            <a:ext cx="938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Big hint for later: by starting at x = 0 you have what is called the y intercept – important later.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532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FBDBDD-223D-F912-BF2C-0A6D6C69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Table of values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37EBD-4721-8AE5-70ED-5C4B05EC0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The rule is: y = 3x + 2</a:t>
            </a:r>
          </a:p>
          <a:p>
            <a:pPr marL="0" indent="0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Table of values: </a:t>
            </a:r>
            <a:endParaRPr lang="en-AU" sz="3600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181FE29-A1BC-DCE6-9130-5844AEDB0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29355"/>
              </p:ext>
            </p:extLst>
          </p:nvPr>
        </p:nvGraphicFramePr>
        <p:xfrm>
          <a:off x="1839389" y="3728903"/>
          <a:ext cx="8128000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01871972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4978586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3231022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35553318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6709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5088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3084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693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A3C55B-24E8-4832-BB22-B79C49D6C3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57" y="2061840"/>
            <a:ext cx="5384800" cy="452596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Plot the following graphs:</a:t>
            </a:r>
          </a:p>
          <a:p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x + 3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2x + 4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3x – 2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514350" indent="-514350">
              <a:buFont typeface="+mj-lt"/>
              <a:buAutoNum type="arabicParenR"/>
            </a:pPr>
            <a:r>
              <a:rPr lang="en-GB" dirty="0"/>
              <a:t>y = 9 – x </a:t>
            </a:r>
          </a:p>
          <a:p>
            <a:pPr marL="514350" indent="-514350">
              <a:buFont typeface="+mj-lt"/>
              <a:buAutoNum type="arabicParenR"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F56396-5840-4B04-B02F-CE56903D6E80}"/>
              </a:ext>
            </a:extLst>
          </p:cNvPr>
          <p:cNvSpPr txBox="1"/>
          <p:nvPr/>
        </p:nvSpPr>
        <p:spPr>
          <a:xfrm>
            <a:off x="275208" y="435006"/>
            <a:ext cx="52822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LINE GRAPHS </a:t>
            </a:r>
            <a:endParaRPr kumimoji="0" lang="en-AU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129879FF-0586-4044-8732-0436AEF2120C}"/>
              </a:ext>
            </a:extLst>
          </p:cNvPr>
          <p:cNvGraphicFramePr>
            <a:graphicFrameLocks noGrp="1"/>
          </p:cNvGraphicFramePr>
          <p:nvPr/>
        </p:nvGraphicFramePr>
        <p:xfrm>
          <a:off x="2493639" y="2775544"/>
          <a:ext cx="4137980" cy="76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95">
                  <a:extLst>
                    <a:ext uri="{9D8B030D-6E8A-4147-A177-3AD203B41FA5}">
                      <a16:colId xmlns:a16="http://schemas.microsoft.com/office/drawing/2014/main" val="322936271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89460223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3919845746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4190568812"/>
                    </a:ext>
                  </a:extLst>
                </a:gridCol>
              </a:tblGrid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38415"/>
                  </a:ext>
                </a:extLst>
              </a:tr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704899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2CD3291-2458-47DD-9D89-28A1BAFD18C9}"/>
              </a:ext>
            </a:extLst>
          </p:cNvPr>
          <p:cNvGraphicFramePr>
            <a:graphicFrameLocks noGrp="1"/>
          </p:cNvGraphicFramePr>
          <p:nvPr/>
        </p:nvGraphicFramePr>
        <p:xfrm>
          <a:off x="2493639" y="4610652"/>
          <a:ext cx="4137980" cy="76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495">
                  <a:extLst>
                    <a:ext uri="{9D8B030D-6E8A-4147-A177-3AD203B41FA5}">
                      <a16:colId xmlns:a16="http://schemas.microsoft.com/office/drawing/2014/main" val="322936271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894602235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3919845746"/>
                    </a:ext>
                  </a:extLst>
                </a:gridCol>
                <a:gridCol w="1034495">
                  <a:extLst>
                    <a:ext uri="{9D8B030D-6E8A-4147-A177-3AD203B41FA5}">
                      <a16:colId xmlns:a16="http://schemas.microsoft.com/office/drawing/2014/main" val="4190568812"/>
                    </a:ext>
                  </a:extLst>
                </a:gridCol>
              </a:tblGrid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0738415"/>
                  </a:ext>
                </a:extLst>
              </a:tr>
              <a:tr h="38472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AU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704899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D07251F6-0BEB-5DF8-FB1E-58303D09D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712" y="1700772"/>
            <a:ext cx="5706688" cy="492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A09DF63-4A75-BEBB-3821-B6A584AD9E2A}"/>
              </a:ext>
            </a:extLst>
          </p:cNvPr>
          <p:cNvSpPr txBox="1"/>
          <p:nvPr/>
        </p:nvSpPr>
        <p:spPr>
          <a:xfrm>
            <a:off x="5655076" y="355107"/>
            <a:ext cx="46341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Sketch axis on your whiteboards.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25409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E54FFD-7FBE-8E71-01DE-4B07B09A30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Revision activity sheet </a:t>
            </a:r>
            <a:endParaRPr lang="en-AU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4A1447AD-3B8A-D72A-4FAB-2F841C2A46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12504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420</Words>
  <Application>Microsoft Office PowerPoint</Application>
  <PresentationFormat>Widescreen</PresentationFormat>
  <Paragraphs>141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Aharoni</vt:lpstr>
      <vt:lpstr>Arial</vt:lpstr>
      <vt:lpstr>Calibri</vt:lpstr>
      <vt:lpstr>Calibri Light</vt:lpstr>
      <vt:lpstr>Cambria Math</vt:lpstr>
      <vt:lpstr>Wingdings</vt:lpstr>
      <vt:lpstr>Office Theme</vt:lpstr>
      <vt:lpstr>1_Office Theme</vt:lpstr>
      <vt:lpstr>Lesson objective </vt:lpstr>
      <vt:lpstr>X and y-intercepts </vt:lpstr>
      <vt:lpstr>Identify </vt:lpstr>
      <vt:lpstr>Calculating the Equation of a Line</vt:lpstr>
      <vt:lpstr>Calculating the Equation of a Line</vt:lpstr>
      <vt:lpstr>Calculating the Equation of a Line</vt:lpstr>
      <vt:lpstr>PowerPoint Presentation</vt:lpstr>
      <vt:lpstr>PowerPoint Presentation</vt:lpstr>
      <vt:lpstr>PowerPoint Presentation</vt:lpstr>
      <vt:lpstr>Line Graphs</vt:lpstr>
      <vt:lpstr>Table of values </vt:lpstr>
      <vt:lpstr>PowerPoint Presentation</vt:lpstr>
      <vt:lpstr>Revision activity sheet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5</cp:revision>
  <dcterms:created xsi:type="dcterms:W3CDTF">2022-08-31T13:59:12Z</dcterms:created>
  <dcterms:modified xsi:type="dcterms:W3CDTF">2022-08-31T14:11:25Z</dcterms:modified>
</cp:coreProperties>
</file>
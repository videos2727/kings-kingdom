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  <p:sldMasterId id="2147483673" r:id="rId3"/>
    <p:sldMasterId id="2147483685" r:id="rId4"/>
  </p:sldMasterIdLst>
  <p:notesMasterIdLst>
    <p:notesMasterId r:id="rId27"/>
  </p:notesMasterIdLst>
  <p:sldIdLst>
    <p:sldId id="256" r:id="rId5"/>
    <p:sldId id="278" r:id="rId6"/>
    <p:sldId id="272" r:id="rId7"/>
    <p:sldId id="283" r:id="rId8"/>
    <p:sldId id="279" r:id="rId9"/>
    <p:sldId id="282" r:id="rId10"/>
    <p:sldId id="277" r:id="rId11"/>
    <p:sldId id="273" r:id="rId12"/>
    <p:sldId id="280" r:id="rId13"/>
    <p:sldId id="281" r:id="rId14"/>
    <p:sldId id="257" r:id="rId15"/>
    <p:sldId id="258" r:id="rId16"/>
    <p:sldId id="285" r:id="rId17"/>
    <p:sldId id="286" r:id="rId18"/>
    <p:sldId id="287" r:id="rId19"/>
    <p:sldId id="259" r:id="rId20"/>
    <p:sldId id="264" r:id="rId21"/>
    <p:sldId id="288" r:id="rId22"/>
    <p:sldId id="260" r:id="rId23"/>
    <p:sldId id="261" r:id="rId24"/>
    <p:sldId id="262" r:id="rId25"/>
    <p:sldId id="263" r:id="rId26"/>
  </p:sldIdLst>
  <p:sldSz cx="9144000" cy="6858000" type="screen4x3"/>
  <p:notesSz cx="6794500" cy="99314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024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890" y="0"/>
            <a:ext cx="2945024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4D8AD-B62A-4AD8-96D6-A0287C45A739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3638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133" y="4779080"/>
            <a:ext cx="5436235" cy="39103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4274"/>
            <a:ext cx="2945024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890" y="9434274"/>
            <a:ext cx="2945024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7A721-EE66-46E8-91CC-7F79AD499A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491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D7A721-EE66-46E8-91CC-7F79AD499A2C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90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ACBECFF-E3FB-4AD5-960C-C59A5505CABF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en-US" noProof="0"/>
              <a:t>Click to edit Master title style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0F880D6-2598-43BF-8185-8207D875C02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GB" altLang="en-US" noProof="0"/>
              <a:t>Click to edit Master subtitle style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EEB2BFEA-E15C-4569-B3F6-4DB14271F909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6839AFED-A045-48D0-A6A2-2C591768A56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508E6C0A-A775-4AA3-95BD-CFD19008939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A500F8F-9EEF-4C5F-A505-2B5BDA23BAD0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3B3C-C598-4933-A0D2-3BA8FC57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0BB9E-A4C6-4088-86B6-D0CC87C2F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FB703-0B87-4E23-83C3-F700CFFDA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EF7EC-9213-428C-A6C3-E4356E80F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F8D9-CE92-4F54-B893-1F5DF69C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F07C34-6644-4097-82C5-94FA4A05D0D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9652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81B49-D227-4B40-9764-E407B2B91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AC842-634D-4774-9346-3E349BAA9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851B8-916F-47DE-A8CF-C0779E981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CA254-FF4A-41D8-9747-B4E32251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6215B-3E79-4ADB-BCAF-175AB284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6A771-368E-48AB-93DF-772F452D43F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6304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4BB0-8F57-4878-B91F-F893B78CC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B560C-3291-4B1D-BBC2-D0F2180FC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5E7B4-2350-4CA9-AE9A-A46BDBBDF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3B1ED-28C1-4606-BFAA-280F09AC4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360E4-7A52-4E88-9546-EEC4C214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F057C-1F5D-4A18-B4A4-D84EDBC0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8E5900-F216-46E6-92B9-1D8C42D0E63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5733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523C-ADF6-485A-BC86-3A8285A6E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BD7F5-535A-4290-8B2A-3D9C950DF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FEF23-C63D-4769-BB77-BFFB0A8D0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7C92C-CC31-466D-8E89-DCB2456404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03A1B-7EC1-4DC2-84CB-6B37895E2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503293-5197-4E9E-A3C2-2FFB4782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9134E-761E-4F19-97BD-D9B95F8F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430A1-2215-4385-872D-BB6174BF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FD9D60-3883-4991-AA3D-8B40EDDD73F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63926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946C8-B505-4C82-94FA-52E1BC740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1204A8-6D70-4DF3-A08E-F1FD5F18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AC4BD-A4B7-4011-B8C6-1235FD0BE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36D26-B36B-4BD3-B823-AA199F00F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316D0E-4B62-47B0-8823-2FC42BE6245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7819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458A5-F140-474F-81C2-D79507B13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60852-9F28-4884-AE3F-441FFCB9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42F30-470B-42EC-B16A-99A550BE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BA4B5C-8C68-4730-9B4D-4AA3D197C65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100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8D39-74CF-4ACA-B1F3-0670CE239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8648C-1EFE-48BC-A66B-F4CF50235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18229-0D3B-4B4E-BB81-F3870511E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32167-FF79-4AFB-BA40-B211E1F8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C0881-745D-46ED-8E46-2ACED37DA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2ECD7-B2A1-4611-9080-5114BA22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D828BB-C6F6-40AB-A538-3C31F6B2145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90507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76B38-68D1-49D2-84AE-E862B4F14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75058-3653-4C42-AA69-85ADEAEC6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F2A48-500E-4DF7-8977-7EDE4B3CE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3BCC7-59E0-4249-8B13-3A5103D98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660ED-FB97-4983-AA60-E27DAE34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BDF06-30DC-4D23-B434-139EA82A1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87E561-3470-4342-8321-19C7F0C391D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29713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1875-B5FC-494C-91A9-1B513F611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2B940-984A-48BC-9049-8E15417B5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C607A-6A6F-46CC-B606-4DE8E837E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A22E2-46F0-4A75-9262-DE2EA049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BE205-AD13-46C6-AC44-6CDF6358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098FF-5994-41D8-A281-9AC9DF85769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970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34980B-37E0-4135-A5AC-8D3B0EF53E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139144-7D3B-478E-B92F-27C0BB0F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DCBC3-15C3-4321-9691-A13328323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FA488-BE55-4040-9F52-DE7D1848D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2AF9F-F92F-44EA-87CB-A0990945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6C2DD3-0363-43F8-AF3E-4F9429E6D86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11421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4790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7560"/>
            <a:ext cx="9144000" cy="5539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7107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92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4438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35214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2408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86213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497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28089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17623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2343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4D3A-50C0-44DF-832B-F915DE26B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39C90-3F22-496A-BC3F-1AFA13567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BB774-6B46-4EC5-AD99-A5B693A2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25A66-41E1-4254-A554-3337C6A3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AD15D-DB66-4046-9D08-D2CA4D40D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0237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44F6-F843-49C2-A84D-E1372DED7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23CA-3E45-4345-8FD7-8622111CE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0721C-8B80-4443-9245-C89C8AAA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35197-18DE-4DBF-ACA9-AC760D2A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42FB9-7596-4C3B-A9A8-7B9D0DAE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12421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E1FB-D075-460F-A9D8-2A4A0CC03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5BE28-7F66-46FE-BE92-633C59C90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42DC7-78D1-4577-9EF6-C9D40C19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95F84-6B17-4355-BC0F-B726791C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7F312-CD57-4A58-9A4C-38470340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81782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E217-76E0-4A55-B1D8-B39C9BAF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B773A-2EAD-42A2-8D45-EB369292E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BA63E-40B8-41EC-9AEC-C563F904D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700B-43BF-414E-9B9A-EE7A5565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E60C5-D757-4F63-8FFE-334D0EAD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22336-E1F8-4E3C-AFFE-FC95E1CA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9023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481C-701B-40C8-A56C-7235F4F0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83B4E-586C-4FB1-81D0-4AA5FE2D2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C61EC-F36F-4D1C-B6A3-73D7D1108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C23A2-0B05-4B38-92C5-A8D14352D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3E69A-BB74-422C-9BE2-C9D1B0128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DD1D3-18C9-4DBB-8D4B-0ED05512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5F90B-5BB7-4DDC-9DD0-381F9260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321A5-9EB8-430B-AFAD-39BA7495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197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5C68-A4FE-4B56-A6D1-74B0EE75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1B32BC-76E2-494B-84EA-810433B5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57573-34EE-40D6-A45A-7801B68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E3348-58A2-4E1E-8916-EDB5C4CB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74595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DE1F0-CAA2-4199-96AF-58489382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5C3D7-4187-43B0-B68F-7761F43E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4A1E7-D62C-407E-B8FF-B0A14446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28251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6A88-F676-4ED7-98D9-C6DA821D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CDED-6ED0-4E4C-B74E-C39D8821D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13A06-C675-463B-AC56-B2F3EC0DD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8E15D-767E-4EFE-9B02-C914B679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4586E-EE20-4F98-AF9E-2BF983071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275C4-88C0-4B30-8C5A-615CADC8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779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5ABC-4487-4499-898F-63976F8D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DB0FF-E23D-47B0-9F6D-F0A4F849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814BD-3F8C-4794-B9DF-4988E5552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33447-8A69-4DCF-BA31-848CF70DD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79386-1720-4CDE-9278-329F01C9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67E03-25B1-4021-8640-16383110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5967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4C44-0319-4AA1-B93D-BF7AAB81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3E9BC-1FCF-4264-9D1D-10A026144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3262-6835-4D26-B53E-78010317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68F2-6249-4A72-ACCF-0F99B35D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527EA-4E08-4D64-B9C9-0F11205A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8072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60C07-C942-45CB-BB7E-53273752F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EED66-877B-4B9C-8B82-1A410A77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DB268-D751-48EA-BD1F-908BF312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A9357-5840-4C3A-B273-424AD4B6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E44E9-655E-439D-B20B-B7ABA9D4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3718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05061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7560"/>
            <a:ext cx="9144000" cy="5539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7292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59816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77679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62533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4485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7204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68192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6554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05935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6019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CE78A57-9A10-4D7A-A41D-8D4C2853E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247F023-B76B-414E-B3F9-36310B725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5F90C959-26FB-4E4C-A815-2E8D4A4681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GB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EBBE155C-B263-45EC-BB62-805A70F79A5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endParaRPr lang="en-GB" alt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DC98EB9C-371F-4FA9-8266-EA940E64AEC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defRPr>
            </a:lvl1pPr>
          </a:lstStyle>
          <a:p>
            <a:fld id="{936AB5CA-39AA-458D-B6E6-895BFE9CD7F6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975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1B750-5D28-4F89-996B-37A3E0A22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0AD77-9CAB-4484-94CD-F17F9240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C5EBA-40D6-40D7-BEE8-6620624694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B264A-1A4E-4851-A8F2-F3B53172A0C5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415A9-5E8F-47E7-B9AC-FBB27D629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85B8B-B165-4024-99C2-6DF063885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79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84BA26-DC35-45BC-B129-48DE13C970DB}" type="datetimeFigureOut">
              <a:rPr lang="en-AU" smtClean="0"/>
              <a:t>11/08/2022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7D054-CDD2-4EDB-BDF5-38085B4AC1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855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9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C1816B-139E-9DBF-1866-73E4D567C657}"/>
              </a:ext>
            </a:extLst>
          </p:cNvPr>
          <p:cNvSpPr txBox="1"/>
          <p:nvPr/>
        </p:nvSpPr>
        <p:spPr>
          <a:xfrm>
            <a:off x="86628" y="3356992"/>
            <a:ext cx="86749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B0F0"/>
                </a:solidFill>
              </a:rPr>
              <a:t>Plan: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400" b="1" dirty="0">
                <a:solidFill>
                  <a:srgbClr val="00B0F0"/>
                </a:solidFill>
              </a:rPr>
              <a:t>Daily review Order of operation (BIMDAS).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400" b="1" dirty="0">
                <a:solidFill>
                  <a:srgbClr val="00B0F0"/>
                </a:solidFill>
              </a:rPr>
              <a:t>Daily review common mathematical terms involving equations.</a:t>
            </a:r>
          </a:p>
          <a:p>
            <a:pPr marL="342900" indent="-342900">
              <a:buFont typeface="+mj-lt"/>
              <a:buAutoNum type="arabicPeriod"/>
            </a:pPr>
            <a:r>
              <a:rPr lang="en-AU" sz="2400" b="1" dirty="0">
                <a:solidFill>
                  <a:srgbClr val="00B0F0"/>
                </a:solidFill>
              </a:rPr>
              <a:t>Solving 2 step linear equations using balancing method.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1BCCA-6D3D-CBB9-0E99-537E586148BD}"/>
              </a:ext>
            </a:extLst>
          </p:cNvPr>
          <p:cNvSpPr txBox="1"/>
          <p:nvPr/>
        </p:nvSpPr>
        <p:spPr>
          <a:xfrm>
            <a:off x="145566" y="2060848"/>
            <a:ext cx="88528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B0F0"/>
                </a:solidFill>
              </a:rPr>
              <a:t>Aim: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AU" sz="2400" b="1" dirty="0">
                <a:solidFill>
                  <a:srgbClr val="00B0F0"/>
                </a:solidFill>
              </a:rPr>
              <a:t>Solve two step equations using the balancing method</a:t>
            </a:r>
          </a:p>
          <a:p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1BACCC-6888-AE63-99FC-5CEC8F49334D}"/>
              </a:ext>
            </a:extLst>
          </p:cNvPr>
          <p:cNvSpPr txBox="1"/>
          <p:nvPr/>
        </p:nvSpPr>
        <p:spPr>
          <a:xfrm>
            <a:off x="5292080" y="332656"/>
            <a:ext cx="34959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b="1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PBS Focus: to engage with the content and take notes.</a:t>
            </a:r>
          </a:p>
          <a:p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62DCF9-F19C-B4FA-FEDC-311F68786994}"/>
              </a:ext>
            </a:extLst>
          </p:cNvPr>
          <p:cNvSpPr txBox="1"/>
          <p:nvPr/>
        </p:nvSpPr>
        <p:spPr>
          <a:xfrm>
            <a:off x="272834" y="952852"/>
            <a:ext cx="8852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</a:rPr>
              <a:t>Title: Introduction to Equations</a:t>
            </a:r>
            <a:endParaRPr lang="en-AU" sz="2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>
    <p:split orient="vert"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A4E011-6007-425A-A2B9-4BDBE4F3E3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623"/>
          <a:stretch/>
        </p:blipFill>
        <p:spPr>
          <a:xfrm>
            <a:off x="747355" y="1500977"/>
            <a:ext cx="7814627" cy="4463532"/>
          </a:xfrm>
          <a:prstGeom prst="rect">
            <a:avLst/>
          </a:prstGeom>
        </p:spPr>
      </p:pic>
      <p:pic>
        <p:nvPicPr>
          <p:cNvPr id="1030" name="Picture 6" descr="The Maths Magpie: Posters for BODMAS / BIDMAS Misconception">
            <a:extLst>
              <a:ext uri="{FF2B5EF4-FFF2-40B4-BE49-F238E27FC236}">
                <a16:creationId xmlns:a16="http://schemas.microsoft.com/office/drawing/2014/main" id="{67061E1A-1068-4CB0-A63D-92A1BF1AD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0" t="6147" r="7594" b="79634"/>
          <a:stretch/>
        </p:blipFill>
        <p:spPr bwMode="auto">
          <a:xfrm>
            <a:off x="2516001" y="743652"/>
            <a:ext cx="3492733" cy="90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712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857250"/>
            <a:ext cx="5689478" cy="519522"/>
          </a:xfrm>
        </p:spPr>
        <p:txBody>
          <a:bodyPr>
            <a:normAutofit fontScale="90000"/>
          </a:bodyPr>
          <a:lstStyle/>
          <a:p>
            <a:r>
              <a:rPr lang="en-AU" dirty="0"/>
              <a:t>Doing calculations using BIMDAS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043" y="1325033"/>
            <a:ext cx="219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9 + 2 x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5984" y="2042640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=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2395" y="1340669"/>
            <a:ext cx="219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(8 - 3) x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605" y="2195382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=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2540" y="2725509"/>
            <a:ext cx="12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4 + 5 x 6 - 7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5120" y="3188105"/>
            <a:ext cx="510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2239" y="3654095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= 27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2273016" y="1621413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463622" y="1686917"/>
            <a:ext cx="533769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050006" y="3018849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55514" y="2540876"/>
            <a:ext cx="1960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(5 – 1)</a:t>
            </a:r>
            <a:r>
              <a:rPr lang="en-AU" b="1" baseline="30000" dirty="0">
                <a:solidFill>
                  <a:srgbClr val="7030A0"/>
                </a:solidFill>
                <a:latin typeface="Calibri"/>
                <a:cs typeface="+mn-cs"/>
              </a:rPr>
              <a:t>2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x (5 - 3) ÷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7108" y="3716677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= 8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293063" y="2835465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154150" y="2856977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66971" y="3248201"/>
            <a:ext cx="17879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03619" y="3188105"/>
            <a:ext cx="937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= 4 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122" y="3188105"/>
            <a:ext cx="482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- 7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2018" y="1702526"/>
            <a:ext cx="536774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949872" y="1847710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1798" y="2939237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648815" y="2908598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02393" y="2881085"/>
            <a:ext cx="5849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1350" b="1" dirty="0">
                <a:solidFill>
                  <a:srgbClr val="FF0000"/>
                </a:solidFill>
                <a:latin typeface="Calibri"/>
                <a:cs typeface="+mn-cs"/>
              </a:rPr>
              <a:t>Write</a:t>
            </a:r>
            <a:endParaRPr lang="en-AU" sz="135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02392" y="3236659"/>
            <a:ext cx="8980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1350" b="1" dirty="0">
                <a:ln>
                  <a:solidFill>
                    <a:prstClr val="black"/>
                  </a:solidFill>
                </a:ln>
                <a:solidFill>
                  <a:srgbClr val="FFFF00"/>
                </a:solidFill>
                <a:latin typeface="Calibri"/>
                <a:cs typeface="+mn-cs"/>
              </a:rPr>
              <a:t>Underline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932" y="4021918"/>
            <a:ext cx="7418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1350" b="1" dirty="0">
                <a:solidFill>
                  <a:srgbClr val="0070C0"/>
                </a:solidFill>
                <a:latin typeface="Calibri"/>
                <a:cs typeface="+mn-cs"/>
              </a:rPr>
              <a:t>Rewrite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9951" y="3641731"/>
            <a:ext cx="7463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1350" b="1" dirty="0">
                <a:solidFill>
                  <a:srgbClr val="00B050"/>
                </a:solidFill>
                <a:latin typeface="Calibri"/>
                <a:cs typeface="+mn-cs"/>
              </a:rPr>
              <a:t>Replace</a:t>
            </a:r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479" y="865800"/>
            <a:ext cx="1167368" cy="18677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407892" y="2532859"/>
            <a:ext cx="23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887320" y="2541630"/>
            <a:ext cx="24350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332311" y="4153793"/>
            <a:ext cx="2484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441319" y="4225310"/>
            <a:ext cx="2375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8 x (3+7) - (35 - 3) ÷ 2</a:t>
            </a:r>
            <a:r>
              <a:rPr lang="en-AU" b="1" baseline="30000" dirty="0">
                <a:solidFill>
                  <a:srgbClr val="7030A0"/>
                </a:solidFill>
                <a:latin typeface="Calibri"/>
                <a:cs typeface="+mn-cs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6819" y="5011094"/>
            <a:ext cx="2364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= 8  x  10   -     32   ÷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78006" y="5811665"/>
            <a:ext cx="7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= 76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1854192" y="4521314"/>
            <a:ext cx="432046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2510084" y="4533830"/>
            <a:ext cx="637239" cy="899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252213" y="4602768"/>
            <a:ext cx="23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= 8  x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10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-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 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32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÷ 2</a:t>
            </a:r>
            <a:r>
              <a:rPr lang="en-AU" b="1" baseline="30000" dirty="0">
                <a:solidFill>
                  <a:srgbClr val="0070C0"/>
                </a:solidFill>
                <a:latin typeface="Calibri"/>
                <a:cs typeface="+mn-cs"/>
              </a:rPr>
              <a:t>3</a:t>
            </a:r>
          </a:p>
        </p:txBody>
      </p:sp>
      <p:cxnSp>
        <p:nvCxnSpPr>
          <p:cNvPr id="52" name="Straight Connector 51"/>
          <p:cNvCxnSpPr/>
          <p:nvPr/>
        </p:nvCxnSpPr>
        <p:spPr>
          <a:xfrm>
            <a:off x="3222734" y="4956350"/>
            <a:ext cx="17879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1252212" y="4586227"/>
            <a:ext cx="581406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029336" y="4583866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>
            <a:off x="3987739" y="4171959"/>
            <a:ext cx="2484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1494605" y="5338232"/>
            <a:ext cx="678029" cy="7454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V="1">
            <a:off x="2694665" y="5352394"/>
            <a:ext cx="695157" cy="580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2220053" y="4576945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359075" y="4964690"/>
            <a:ext cx="1834383" cy="353204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2213066" y="5413504"/>
            <a:ext cx="421301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823465" y="2798277"/>
            <a:ext cx="966248" cy="16155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858140" y="3329818"/>
            <a:ext cx="314960" cy="412562"/>
          </a:xfrm>
          <a:prstGeom prst="rect">
            <a:avLst/>
          </a:prstGeom>
          <a:solidFill>
            <a:srgbClr val="E6B9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2020" y="1702534"/>
            <a:ext cx="1681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= 9 +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9748" y="1828415"/>
            <a:ext cx="1131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= 5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 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x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4531" y="2944975"/>
            <a:ext cx="2047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= 4</a:t>
            </a:r>
            <a:r>
              <a:rPr lang="en-AU" b="1" baseline="30000" dirty="0">
                <a:solidFill>
                  <a:srgbClr val="00B050"/>
                </a:solidFill>
                <a:latin typeface="Calibri"/>
                <a:cs typeface="+mn-cs"/>
              </a:rPr>
              <a:t>2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x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 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2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÷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4531" y="3295329"/>
            <a:ext cx="2218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= 16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x  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2</a:t>
            </a: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      ÷ 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14377" y="5428860"/>
            <a:ext cx="254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= 80</a:t>
            </a:r>
            <a:r>
              <a:rPr lang="en-AU" b="1" dirty="0">
                <a:solidFill>
                  <a:srgbClr val="7030A0"/>
                </a:solidFill>
                <a:latin typeface="Calibri"/>
                <a:cs typeface="+mn-cs"/>
              </a:rPr>
              <a:t>        </a:t>
            </a:r>
            <a:r>
              <a:rPr lang="en-AU" b="1" dirty="0">
                <a:solidFill>
                  <a:srgbClr val="0070C0"/>
                </a:solidFill>
                <a:latin typeface="Calibri"/>
                <a:cs typeface="+mn-cs"/>
              </a:rPr>
              <a:t>-         </a:t>
            </a:r>
            <a:r>
              <a:rPr lang="en-AU" b="1" dirty="0">
                <a:solidFill>
                  <a:srgbClr val="00B050"/>
                </a:solidFill>
                <a:latin typeface="Calibri"/>
                <a:cs typeface="+mn-cs"/>
              </a:rPr>
              <a:t>4</a:t>
            </a:r>
            <a:endParaRPr lang="en-AU" b="1" dirty="0">
              <a:solidFill>
                <a:srgbClr val="0070C0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05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3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2" grpId="0"/>
      <p:bldP spid="13" grpId="0"/>
      <p:bldP spid="14" grpId="0"/>
      <p:bldP spid="18" grpId="0"/>
      <p:bldP spid="20" grpId="0"/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46" grpId="0"/>
      <p:bldP spid="47" grpId="0"/>
      <p:bldP spid="48" grpId="0"/>
      <p:bldP spid="51" grpId="0"/>
      <p:bldP spid="53" grpId="0" animBg="1"/>
      <p:bldP spid="54" grpId="0" animBg="1"/>
      <p:bldP spid="62" grpId="0" animBg="1"/>
      <p:bldP spid="63" grpId="0" animBg="1"/>
      <p:bldP spid="66" grpId="0" animBg="1"/>
      <p:bldP spid="60" grpId="0" animBg="1"/>
      <p:bldP spid="7" grpId="0"/>
      <p:bldP spid="10" grpId="0"/>
      <p:bldP spid="23" grpId="0"/>
      <p:bldP spid="19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857250"/>
            <a:ext cx="5689478" cy="519522"/>
          </a:xfrm>
        </p:spPr>
        <p:txBody>
          <a:bodyPr>
            <a:normAutofit fontScale="90000"/>
          </a:bodyPr>
          <a:lstStyle/>
          <a:p>
            <a:r>
              <a:rPr lang="en-AU" dirty="0"/>
              <a:t>Doing calculations using BIMDAS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8119" y="1304630"/>
            <a:ext cx="2195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2800" b="1" dirty="0">
                <a:solidFill>
                  <a:srgbClr val="7030A0"/>
                </a:solidFill>
                <a:latin typeface="Calibri"/>
                <a:cs typeface="+mn-cs"/>
              </a:rPr>
              <a:t>9 + 2 x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2395" y="1340669"/>
            <a:ext cx="2195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2800" b="1" dirty="0">
                <a:solidFill>
                  <a:srgbClr val="7030A0"/>
                </a:solidFill>
                <a:latin typeface="Calibri"/>
                <a:cs typeface="+mn-cs"/>
              </a:rPr>
              <a:t>(8 - 3) x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4101" y="2679375"/>
            <a:ext cx="2034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2800" b="1" dirty="0">
                <a:solidFill>
                  <a:srgbClr val="7030A0"/>
                </a:solidFill>
                <a:latin typeface="Calibri"/>
                <a:cs typeface="+mn-cs"/>
              </a:rPr>
              <a:t>4 + 5 x 6 - 7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703" y="2664297"/>
            <a:ext cx="25383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2400" b="1" dirty="0">
                <a:solidFill>
                  <a:srgbClr val="7030A0"/>
                </a:solidFill>
                <a:latin typeface="Calibri"/>
                <a:cs typeface="+mn-cs"/>
              </a:rPr>
              <a:t>(5 – 1)</a:t>
            </a:r>
            <a:r>
              <a:rPr lang="en-AU" sz="2400" b="1" baseline="30000" dirty="0">
                <a:solidFill>
                  <a:srgbClr val="7030A0"/>
                </a:solidFill>
                <a:latin typeface="Calibri"/>
                <a:cs typeface="+mn-cs"/>
              </a:rPr>
              <a:t>2</a:t>
            </a:r>
            <a:r>
              <a:rPr lang="en-AU" sz="2400" b="1" dirty="0">
                <a:solidFill>
                  <a:srgbClr val="7030A0"/>
                </a:solidFill>
                <a:latin typeface="Calibri"/>
                <a:cs typeface="+mn-cs"/>
              </a:rPr>
              <a:t> x (5 - 3) ÷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2393" y="2881085"/>
            <a:ext cx="58496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1350" b="1" dirty="0">
                <a:solidFill>
                  <a:srgbClr val="FF0000"/>
                </a:solidFill>
                <a:latin typeface="Calibri"/>
                <a:cs typeface="+mn-cs"/>
              </a:rPr>
              <a:t>Write</a:t>
            </a:r>
            <a:endParaRPr lang="en-AU" sz="135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02392" y="3236659"/>
            <a:ext cx="89800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1350" b="1" dirty="0">
                <a:ln>
                  <a:solidFill>
                    <a:prstClr val="black"/>
                  </a:solidFill>
                </a:ln>
                <a:solidFill>
                  <a:srgbClr val="FFFF00"/>
                </a:solidFill>
                <a:latin typeface="Calibri"/>
                <a:cs typeface="+mn-cs"/>
              </a:rPr>
              <a:t>Underline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22932" y="4021918"/>
            <a:ext cx="7418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1350" b="1" dirty="0">
                <a:solidFill>
                  <a:srgbClr val="0070C0"/>
                </a:solidFill>
                <a:latin typeface="Calibri"/>
                <a:cs typeface="+mn-cs"/>
              </a:rPr>
              <a:t>Rewrite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9951" y="3641731"/>
            <a:ext cx="74635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1350" b="1" dirty="0">
                <a:solidFill>
                  <a:srgbClr val="00B050"/>
                </a:solidFill>
                <a:latin typeface="Calibri"/>
                <a:cs typeface="+mn-cs"/>
              </a:rPr>
              <a:t>Replace</a:t>
            </a:r>
          </a:p>
        </p:txBody>
      </p:sp>
      <p:pic>
        <p:nvPicPr>
          <p:cNvPr id="3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479" y="865800"/>
            <a:ext cx="1167368" cy="186778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407892" y="2532859"/>
            <a:ext cx="23764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887320" y="2541630"/>
            <a:ext cx="24350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1332311" y="4153793"/>
            <a:ext cx="2484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1560" y="4225310"/>
            <a:ext cx="3205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2400" b="1" dirty="0">
                <a:solidFill>
                  <a:srgbClr val="7030A0"/>
                </a:solidFill>
                <a:latin typeface="Calibri"/>
                <a:cs typeface="+mn-cs"/>
              </a:rPr>
              <a:t>8 x (3+7) - (35 - 3) ÷ 2</a:t>
            </a:r>
            <a:r>
              <a:rPr lang="en-AU" sz="2400" b="1" baseline="30000" dirty="0">
                <a:solidFill>
                  <a:srgbClr val="7030A0"/>
                </a:solidFill>
                <a:latin typeface="Calibri"/>
                <a:cs typeface="+mn-cs"/>
              </a:rPr>
              <a:t>3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3987739" y="4171959"/>
            <a:ext cx="24842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6823465" y="2798277"/>
            <a:ext cx="966248" cy="16155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459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he Maths Magpie: Posters for BODMAS / BIDMAS Misconception">
            <a:extLst>
              <a:ext uri="{FF2B5EF4-FFF2-40B4-BE49-F238E27FC236}">
                <a16:creationId xmlns:a16="http://schemas.microsoft.com/office/drawing/2014/main" id="{67061E1A-1068-4CB0-A63D-92A1BF1AD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0" t="6147" r="7594" b="79634"/>
          <a:stretch/>
        </p:blipFill>
        <p:spPr bwMode="auto">
          <a:xfrm>
            <a:off x="2549660" y="857251"/>
            <a:ext cx="3492733" cy="90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23DCA8-715F-4475-BF68-4F4844895E78}"/>
              </a:ext>
            </a:extLst>
          </p:cNvPr>
          <p:cNvSpPr txBox="1"/>
          <p:nvPr/>
        </p:nvSpPr>
        <p:spPr>
          <a:xfrm>
            <a:off x="328175" y="1984822"/>
            <a:ext cx="857039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2100" dirty="0">
                <a:solidFill>
                  <a:prstClr val="black"/>
                </a:solidFill>
                <a:latin typeface="Calibri" panose="020F0502020204030204"/>
                <a:cs typeface="+mn-cs"/>
              </a:rPr>
              <a:t>Determine if the following equations are 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5AB294-3541-4EE3-A39A-97DB5F3D6ECF}"/>
                  </a:ext>
                </a:extLst>
              </p:cNvPr>
              <p:cNvSpPr txBox="1"/>
              <p:nvPr/>
            </p:nvSpPr>
            <p:spPr>
              <a:xfrm>
                <a:off x="328175" y="2399813"/>
                <a:ext cx="365549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AU" sz="2100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a) </a:t>
                </a:r>
                <a14:m>
                  <m:oMath xmlns:m="http://schemas.openxmlformats.org/officeDocument/2006/math">
                    <m:r>
                      <a:rPr lang="en-AU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6+5</m:t>
                    </m:r>
                    <m:r>
                      <a:rPr lang="en-AU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×2=2×10−4</m:t>
                    </m:r>
                  </m:oMath>
                </a14:m>
                <a:endParaRPr lang="en-AU" sz="2100" dirty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5AB294-3541-4EE3-A39A-97DB5F3D6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75" y="2399813"/>
                <a:ext cx="3655496" cy="415498"/>
              </a:xfrm>
              <a:prstGeom prst="rect">
                <a:avLst/>
              </a:prstGeom>
              <a:blipFill>
                <a:blip r:embed="rId3"/>
                <a:stretch>
                  <a:fillRect t="-10294" b="-27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091DC-64CF-4016-ACE7-5F8DFBFA3161}"/>
                  </a:ext>
                </a:extLst>
              </p:cNvPr>
              <p:cNvSpPr txBox="1"/>
              <p:nvPr/>
            </p:nvSpPr>
            <p:spPr>
              <a:xfrm>
                <a:off x="328175" y="3869565"/>
                <a:ext cx="365549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AU" sz="2100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b) </a:t>
                </a:r>
                <a14:m>
                  <m:oMath xmlns:m="http://schemas.openxmlformats.org/officeDocument/2006/math">
                    <m:r>
                      <a:rPr lang="en-AU" sz="2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−3</m:t>
                    </m:r>
                    <m:r>
                      <a:rPr lang="en-AU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×4−6=−6+6×6</m:t>
                    </m:r>
                  </m:oMath>
                </a14:m>
                <a:endParaRPr lang="en-AU" sz="2100" dirty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7091DC-64CF-4016-ACE7-5F8DFBFA3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75" y="3869565"/>
                <a:ext cx="3655496" cy="415498"/>
              </a:xfrm>
              <a:prstGeom prst="rect">
                <a:avLst/>
              </a:prstGeom>
              <a:blipFill>
                <a:blip r:embed="rId4"/>
                <a:stretch>
                  <a:fillRect t="-8824" b="-27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3E0EC-7F57-4964-B3B8-0A606DD5A991}"/>
                  </a:ext>
                </a:extLst>
              </p:cNvPr>
              <p:cNvSpPr txBox="1"/>
              <p:nvPr/>
            </p:nvSpPr>
            <p:spPr>
              <a:xfrm>
                <a:off x="4704532" y="2399813"/>
                <a:ext cx="3655496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AU" sz="2100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c) </a:t>
                </a:r>
                <a14:m>
                  <m:oMath xmlns:m="http://schemas.openxmlformats.org/officeDocument/2006/math">
                    <m:r>
                      <a:rPr lang="en-AU" sz="210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15</m:t>
                    </m:r>
                    <m:r>
                      <a:rPr lang="en-AU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×8=4(8+7)</m:t>
                    </m:r>
                  </m:oMath>
                </a14:m>
                <a:endParaRPr lang="en-AU" sz="2100" dirty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93E0EC-7F57-4964-B3B8-0A606DD5A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532" y="2399813"/>
                <a:ext cx="3655496" cy="415498"/>
              </a:xfrm>
              <a:prstGeom prst="rect">
                <a:avLst/>
              </a:prstGeom>
              <a:blipFill>
                <a:blip r:embed="rId5"/>
                <a:stretch>
                  <a:fillRect t="-10294" b="-279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5449E8-87F9-4FD0-AEB4-734308DC3858}"/>
                  </a:ext>
                </a:extLst>
              </p:cNvPr>
              <p:cNvSpPr txBox="1"/>
              <p:nvPr/>
            </p:nvSpPr>
            <p:spPr>
              <a:xfrm>
                <a:off x="4658251" y="3788365"/>
                <a:ext cx="3655496" cy="565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85800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AU" sz="2100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lang="en-AU" sz="2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2(3+2)</m:t>
                        </m:r>
                      </m:num>
                      <m:den>
                        <m:r>
                          <a:rPr lang="en-AU" sz="21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5</m:t>
                        </m:r>
                      </m:den>
                    </m:f>
                    <m:r>
                      <a:rPr lang="en-AU" sz="21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lang="en-AU" sz="2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lang="en-AU" sz="2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6×4</m:t>
                        </m:r>
                      </m:num>
                      <m:den>
                        <m:r>
                          <a:rPr lang="en-AU" sz="2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4</m:t>
                        </m:r>
                      </m:den>
                    </m:f>
                  </m:oMath>
                </a14:m>
                <a:endParaRPr lang="en-AU" sz="2100" dirty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5449E8-87F9-4FD0-AEB4-734308DC3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251" y="3788365"/>
                <a:ext cx="3655496" cy="565668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370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196"/>
            <a:ext cx="9144000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we work Forwards</a:t>
            </a:r>
            <a:br>
              <a:rPr lang="en-AU" dirty="0"/>
            </a:br>
            <a:r>
              <a:rPr lang="en-AU" dirty="0"/>
              <a:t>BIMDAS Practice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504" y="1916832"/>
            <a:ext cx="2736304" cy="4941168"/>
          </a:xfrm>
          <a:prstGeom prst="roundRect">
            <a:avLst/>
          </a:prstGeom>
          <a:ln w="762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0192" y="1917204"/>
            <a:ext cx="2736304" cy="4940796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3848" y="1909589"/>
            <a:ext cx="2736304" cy="4940796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72" y="2042649"/>
            <a:ext cx="1649638" cy="50405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1198" t="2809" r="72555" b="83520"/>
          <a:stretch/>
        </p:blipFill>
        <p:spPr>
          <a:xfrm>
            <a:off x="3309447" y="2204865"/>
            <a:ext cx="2272569" cy="4778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1220" t="80715" r="72533" b="5614"/>
          <a:stretch/>
        </p:blipFill>
        <p:spPr>
          <a:xfrm>
            <a:off x="3309447" y="4587996"/>
            <a:ext cx="2272569" cy="47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71910" t="80991" r="1843" b="5338"/>
          <a:stretch/>
        </p:blipFill>
        <p:spPr>
          <a:xfrm>
            <a:off x="3366487" y="3514098"/>
            <a:ext cx="2272569" cy="4778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71079" t="4425" r="2674" b="81904"/>
          <a:stretch/>
        </p:blipFill>
        <p:spPr>
          <a:xfrm>
            <a:off x="3366487" y="5703919"/>
            <a:ext cx="2272569" cy="47787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-2020" t="93133" r="67874" b="608"/>
          <a:stretch/>
        </p:blipFill>
        <p:spPr>
          <a:xfrm>
            <a:off x="6414450" y="2317535"/>
            <a:ext cx="2483082" cy="36520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/>
          <a:srcRect l="66794" t="47145" r="-940" b="46596"/>
          <a:stretch/>
        </p:blipFill>
        <p:spPr>
          <a:xfrm>
            <a:off x="6524959" y="3802130"/>
            <a:ext cx="2286769" cy="3363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/>
          <a:srcRect l="-422" t="46945" r="66276" b="46796"/>
          <a:stretch/>
        </p:blipFill>
        <p:spPr>
          <a:xfrm>
            <a:off x="6559958" y="5375524"/>
            <a:ext cx="2286769" cy="3363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D50C0E-B378-F19B-6B27-0FB92936231C}"/>
                  </a:ext>
                </a:extLst>
              </p:cNvPr>
              <p:cNvSpPr txBox="1"/>
              <p:nvPr/>
            </p:nvSpPr>
            <p:spPr>
              <a:xfrm>
                <a:off x="453754" y="3485945"/>
                <a:ext cx="204380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2+3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ED50C0E-B378-F19B-6B27-0FB929362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54" y="3485945"/>
                <a:ext cx="204380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687B38-D957-2129-EAF9-8ED8CE756866}"/>
                  </a:ext>
                </a:extLst>
              </p:cNvPr>
              <p:cNvSpPr txBox="1"/>
              <p:nvPr/>
            </p:nvSpPr>
            <p:spPr>
              <a:xfrm>
                <a:off x="395536" y="4604205"/>
                <a:ext cx="204380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10−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B687B38-D957-2129-EAF9-8ED8CE756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604205"/>
                <a:ext cx="204380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D4EEE1-F589-E1F9-15A6-6AB396192036}"/>
                  </a:ext>
                </a:extLst>
              </p:cNvPr>
              <p:cNvSpPr txBox="1"/>
              <p:nvPr/>
            </p:nvSpPr>
            <p:spPr>
              <a:xfrm>
                <a:off x="314889" y="5673513"/>
                <a:ext cx="204380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(9−5)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ED4EEE1-F589-E1F9-15A6-6AB396192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89" y="5673513"/>
                <a:ext cx="2043804" cy="461665"/>
              </a:xfrm>
              <a:prstGeom prst="rect">
                <a:avLst/>
              </a:prstGeom>
              <a:blipFill>
                <a:blip r:embed="rId8"/>
                <a:stretch>
                  <a:fillRect b="-2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78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92196"/>
            <a:ext cx="9144000" cy="692696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we work Forwards</a:t>
            </a:r>
            <a:br>
              <a:rPr lang="en-AU" dirty="0"/>
            </a:br>
            <a:r>
              <a:rPr lang="en-AU" dirty="0"/>
              <a:t>BIMDAS Practice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504" y="1916832"/>
            <a:ext cx="2736304" cy="4941168"/>
          </a:xfrm>
          <a:prstGeom prst="roundRect">
            <a:avLst/>
          </a:prstGeom>
          <a:ln w="762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0192" y="1917204"/>
            <a:ext cx="2736304" cy="4940796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03848" y="1909589"/>
            <a:ext cx="2736304" cy="4940796"/>
          </a:xfrm>
          <a:prstGeom prst="round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72" y="2042649"/>
            <a:ext cx="1649638" cy="50405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t="29898" r="78314" b="63110"/>
          <a:stretch/>
        </p:blipFill>
        <p:spPr>
          <a:xfrm>
            <a:off x="341113" y="3226066"/>
            <a:ext cx="1654523" cy="5760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l="-1657" t="62601" r="79971" b="30407"/>
          <a:stretch/>
        </p:blipFill>
        <p:spPr>
          <a:xfrm>
            <a:off x="341113" y="4538580"/>
            <a:ext cx="1654523" cy="5760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76680" t="93839" r="1634" b="-831"/>
          <a:stretch/>
        </p:blipFill>
        <p:spPr>
          <a:xfrm>
            <a:off x="341113" y="5631789"/>
            <a:ext cx="1654523" cy="57606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1198" t="2809" r="72555" b="83520"/>
          <a:stretch/>
        </p:blipFill>
        <p:spPr>
          <a:xfrm>
            <a:off x="3309447" y="2204865"/>
            <a:ext cx="2272569" cy="4778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l="1220" t="80715" r="72533" b="5614"/>
          <a:stretch/>
        </p:blipFill>
        <p:spPr>
          <a:xfrm>
            <a:off x="3309447" y="4587996"/>
            <a:ext cx="2272569" cy="47787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71910" t="80991" r="1843" b="5338"/>
          <a:stretch/>
        </p:blipFill>
        <p:spPr>
          <a:xfrm>
            <a:off x="3366487" y="3514098"/>
            <a:ext cx="2272569" cy="47787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/>
          <a:srcRect l="71079" t="4425" r="2674" b="81904"/>
          <a:stretch/>
        </p:blipFill>
        <p:spPr>
          <a:xfrm>
            <a:off x="3366487" y="5703919"/>
            <a:ext cx="2272569" cy="47787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5"/>
          <a:srcRect l="-2020" t="93133" r="67874" b="608"/>
          <a:stretch/>
        </p:blipFill>
        <p:spPr>
          <a:xfrm>
            <a:off x="6414450" y="2317535"/>
            <a:ext cx="2483082" cy="36520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5"/>
          <a:srcRect l="66794" t="47145" r="-940" b="46596"/>
          <a:stretch/>
        </p:blipFill>
        <p:spPr>
          <a:xfrm>
            <a:off x="6524959" y="3802130"/>
            <a:ext cx="2286769" cy="33633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/>
          <a:srcRect l="-422" t="46945" r="66276" b="46796"/>
          <a:stretch/>
        </p:blipFill>
        <p:spPr>
          <a:xfrm>
            <a:off x="6559958" y="5375524"/>
            <a:ext cx="2286769" cy="336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36611" y="2779096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826" y="3949063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571" y="5242254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558" y="6328373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43537" y="3111736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0395" y="422882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2683" y="5287573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2767" y="6374165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15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74503" y="3101407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4109" y="4504194"/>
            <a:ext cx="7184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4109" y="6207853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033" y="2443802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 x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597" y="3625106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 + 24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6" y="4844378"/>
            <a:ext cx="1106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10 - 9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033" y="5967819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 x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9023" y="2701317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3 x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8083" y="3890163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12 ÷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4685" y="5741971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24 ÷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45639" y="6094671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75 ÷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77313" y="5026991"/>
            <a:ext cx="11448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20 x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9224" y="2695196"/>
            <a:ext cx="14574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 ÷ 4 + 3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5556" y="4113849"/>
            <a:ext cx="11657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= 40 ÷ 4</a:t>
            </a:r>
          </a:p>
        </p:txBody>
      </p:sp>
    </p:spTree>
    <p:extLst>
      <p:ext uri="{BB962C8B-B14F-4D97-AF65-F5344CB8AC3E}">
        <p14:creationId xmlns:p14="http://schemas.microsoft.com/office/powerpoint/2010/main" val="5739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verse Operations">
            <a:extLst>
              <a:ext uri="{FF2B5EF4-FFF2-40B4-BE49-F238E27FC236}">
                <a16:creationId xmlns:a16="http://schemas.microsoft.com/office/drawing/2014/main" id="{FE7181A4-5511-441A-8DDA-4E071502B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338" y="2058496"/>
            <a:ext cx="5198828" cy="292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8E7C40-3A38-43CF-A863-DD8B27B13510}"/>
              </a:ext>
            </a:extLst>
          </p:cNvPr>
          <p:cNvSpPr txBox="1"/>
          <p:nvPr/>
        </p:nvSpPr>
        <p:spPr>
          <a:xfrm>
            <a:off x="340796" y="1064083"/>
            <a:ext cx="796032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sz="3300" b="1" u="sng" dirty="0">
                <a:solidFill>
                  <a:prstClr val="black"/>
                </a:solidFill>
                <a:latin typeface="Calibri" panose="020F0502020204030204"/>
                <a:cs typeface="+mn-cs"/>
              </a:rPr>
              <a:t>Inverse Operation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E9AEA2-BB83-C340-A968-6029DA7A54FB}"/>
              </a:ext>
            </a:extLst>
          </p:cNvPr>
          <p:cNvSpPr/>
          <p:nvPr/>
        </p:nvSpPr>
        <p:spPr>
          <a:xfrm>
            <a:off x="4932040" y="2058496"/>
            <a:ext cx="1944216" cy="6001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B2AE2-DF5F-9E84-4EFA-0404135141FF}"/>
              </a:ext>
            </a:extLst>
          </p:cNvPr>
          <p:cNvSpPr/>
          <p:nvPr/>
        </p:nvSpPr>
        <p:spPr>
          <a:xfrm>
            <a:off x="1547664" y="2828836"/>
            <a:ext cx="1944216" cy="6001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ABEC9-B5A8-CEF7-6187-63F71913F560}"/>
              </a:ext>
            </a:extLst>
          </p:cNvPr>
          <p:cNvSpPr/>
          <p:nvPr/>
        </p:nvSpPr>
        <p:spPr>
          <a:xfrm>
            <a:off x="4937504" y="3599177"/>
            <a:ext cx="2272662" cy="6001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3EC5E9-A1B5-7CB9-5C3A-AD6673B87608}"/>
              </a:ext>
            </a:extLst>
          </p:cNvPr>
          <p:cNvSpPr/>
          <p:nvPr/>
        </p:nvSpPr>
        <p:spPr>
          <a:xfrm>
            <a:off x="1578239" y="4382173"/>
            <a:ext cx="1944216" cy="6001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17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2DE9E8-02ED-47F6-AD21-D00F6C1050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55" t="25333" r="23607"/>
          <a:stretch/>
        </p:blipFill>
        <p:spPr>
          <a:xfrm>
            <a:off x="1973253" y="1774455"/>
            <a:ext cx="4152666" cy="20536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4CDC3-D965-45C9-8B2A-653D436B4470}"/>
              </a:ext>
            </a:extLst>
          </p:cNvPr>
          <p:cNvSpPr txBox="1"/>
          <p:nvPr/>
        </p:nvSpPr>
        <p:spPr>
          <a:xfrm>
            <a:off x="1443126" y="3970698"/>
            <a:ext cx="573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  <a:cs typeface="+mn-cs"/>
              </a:rPr>
              <a:t>Constance are sometimes referred to as number terms</a:t>
            </a:r>
          </a:p>
        </p:txBody>
      </p:sp>
    </p:spTree>
    <p:extLst>
      <p:ext uri="{BB962C8B-B14F-4D97-AF65-F5344CB8AC3E}">
        <p14:creationId xmlns:p14="http://schemas.microsoft.com/office/powerpoint/2010/main" val="3679028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94C5B-0275-4966-BE30-654D62545590}"/>
                  </a:ext>
                </a:extLst>
              </p:cNvPr>
              <p:cNvSpPr txBox="1"/>
              <p:nvPr/>
            </p:nvSpPr>
            <p:spPr>
              <a:xfrm>
                <a:off x="255247" y="1190491"/>
                <a:ext cx="5315300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14313" indent="-214313" defTabSz="685800"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GB" b="1" u="sng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A variable </a:t>
                </a:r>
                <a:r>
                  <a:rPr lang="en-GB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is a letter used to represent an unknown number.</a:t>
                </a:r>
              </a:p>
              <a:p>
                <a:pPr marL="214313" indent="-214313" defTabSz="685800"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GB" b="1" u="sng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A Constant </a:t>
                </a:r>
                <a:r>
                  <a:rPr lang="en-GB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is a number term.</a:t>
                </a:r>
              </a:p>
              <a:p>
                <a:pPr marL="214313" indent="-214313" defTabSz="685800"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GB" b="1" u="sng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Coefficient </a:t>
                </a:r>
                <a:r>
                  <a:rPr lang="en-GB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the number in front of a variable.</a:t>
                </a:r>
              </a:p>
              <a:p>
                <a:pPr marL="214313" indent="-214313" defTabSz="685800"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GB" b="1" u="sng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Terms</a:t>
                </a:r>
                <a:r>
                  <a:rPr lang="en-GB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 are the values on which the mathematical operations take place in an expression. A term can be a constant or a variable or both in an expression. </a:t>
                </a:r>
              </a:p>
              <a:p>
                <a:pPr marL="214313" indent="-214313" defTabSz="685800"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GB" b="1" u="sng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An Expression </a:t>
                </a:r>
                <a:r>
                  <a:rPr lang="en-GB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is a set of terms.</a:t>
                </a:r>
              </a:p>
              <a:p>
                <a:pPr marL="214313" indent="-214313" defTabSz="685800"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GB" b="1" u="sng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An Equation </a:t>
                </a:r>
                <a:r>
                  <a:rPr lang="en-GB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is a mathematical statement with an equals sign between 2 expressions.</a:t>
                </a:r>
              </a:p>
              <a:p>
                <a:pPr marL="214313" indent="-214313" defTabSz="685800"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GB" b="1" u="sng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Like Terms </a:t>
                </a:r>
                <a:r>
                  <a:rPr lang="en-GB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are terms with the same variables at the same exponent (power). E.g.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, 5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𝑎𝑟𝑒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𝑙𝑖𝑘𝑒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𝑡𝑒𝑟𝑚𝑠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.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, 2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𝑎𝑥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𝑎𝑛𝑑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sSup>
                      <m:sSupPr>
                        <m:ctrlP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𝑎𝑟𝑒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𝑢𝑛𝑙𝑖𝑘𝑒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𝑡𝑒𝑟𝑚𝑠</m:t>
                    </m:r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. </m:t>
                    </m:r>
                  </m:oMath>
                </a14:m>
                <a:endParaRPr lang="en-AU" i="1" dirty="0">
                  <a:solidFill>
                    <a:prstClr val="black"/>
                  </a:solidFill>
                  <a:latin typeface="Cambria Math" panose="02040503050406030204" pitchFamily="18" charset="0"/>
                  <a:cs typeface="+mn-cs"/>
                </a:endParaRPr>
              </a:p>
              <a:p>
                <a:pPr marL="214313" indent="-214313" defTabSz="685800" fontAlgn="auto">
                  <a:spcBef>
                    <a:spcPts val="0"/>
                  </a:spcBef>
                  <a:spcAft>
                    <a:spcPts val="0"/>
                  </a:spcAft>
                  <a:buFont typeface="Arial" panose="020B0604020202020204" pitchFamily="34" charset="0"/>
                  <a:buChar char="•"/>
                  <a:defRPr/>
                </a:pPr>
                <a:r>
                  <a:rPr lang="en-AU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Like terms can be collected (e.g. </a:t>
                </a:r>
                <a14:m>
                  <m:oMath xmlns:m="http://schemas.openxmlformats.org/officeDocument/2006/math">
                    <m:r>
                      <a:rPr lang="en-AU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lang="en-AU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lang="en-AU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+3</m:t>
                    </m:r>
                    <m:r>
                      <a:rPr lang="en-AU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lang="en-AU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−</m:t>
                    </m:r>
                    <m:r>
                      <a:rPr lang="en-AU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lang="en-AU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=4</m:t>
                    </m:r>
                    <m:r>
                      <a:rPr lang="en-AU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lang="en-AU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lang="en-AU" dirty="0">
                    <a:solidFill>
                      <a:prstClr val="black"/>
                    </a:solidFill>
                    <a:latin typeface="Calibri" panose="020F0502020204030204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endParaRPr lang="en-AU" dirty="0">
                  <a:solidFill>
                    <a:prstClr val="black"/>
                  </a:solidFill>
                  <a:latin typeface="Calibri" panose="020F0502020204030204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94C5B-0275-4966-BE30-654D62545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47" y="1190491"/>
                <a:ext cx="5315300" cy="4247317"/>
              </a:xfrm>
              <a:prstGeom prst="rect">
                <a:avLst/>
              </a:prstGeom>
              <a:blipFill>
                <a:blip r:embed="rId2"/>
                <a:stretch>
                  <a:fillRect l="-803" t="-717" r="-105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4675A61-1AC8-447D-B828-E4AC1CA62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47" y="1714385"/>
            <a:ext cx="3534185" cy="290355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1F0C7-1AD4-49D6-8213-46960CDA405C}"/>
              </a:ext>
            </a:extLst>
          </p:cNvPr>
          <p:cNvSpPr/>
          <p:nvPr/>
        </p:nvSpPr>
        <p:spPr>
          <a:xfrm>
            <a:off x="7783620" y="1017988"/>
            <a:ext cx="1203306" cy="3197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1350" dirty="0">
                <a:solidFill>
                  <a:prstClr val="white"/>
                </a:solidFill>
                <a:latin typeface="Calibri" panose="020F0502020204030204"/>
              </a:rPr>
              <a:t>Reteach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B4535-A238-4CA4-9E51-5154FC40F47D}"/>
              </a:ext>
            </a:extLst>
          </p:cNvPr>
          <p:cNvSpPr/>
          <p:nvPr/>
        </p:nvSpPr>
        <p:spPr>
          <a:xfrm>
            <a:off x="525920" y="1538843"/>
            <a:ext cx="949736" cy="2524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8D0975-C54F-4F08-9DB8-AC55DAA300E9}"/>
              </a:ext>
            </a:extLst>
          </p:cNvPr>
          <p:cNvSpPr/>
          <p:nvPr/>
        </p:nvSpPr>
        <p:spPr>
          <a:xfrm>
            <a:off x="2750562" y="1791285"/>
            <a:ext cx="669310" cy="25244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CEB57D-2FC8-49A5-B890-8CC156FE4BDF}"/>
              </a:ext>
            </a:extLst>
          </p:cNvPr>
          <p:cNvSpPr/>
          <p:nvPr/>
        </p:nvSpPr>
        <p:spPr>
          <a:xfrm>
            <a:off x="3895162" y="2043727"/>
            <a:ext cx="892862" cy="2868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B654E-DCF2-4C07-9056-4BC14E9F1048}"/>
              </a:ext>
            </a:extLst>
          </p:cNvPr>
          <p:cNvSpPr/>
          <p:nvPr/>
        </p:nvSpPr>
        <p:spPr>
          <a:xfrm>
            <a:off x="3071221" y="2596293"/>
            <a:ext cx="1065318" cy="300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2F8F00-E294-4455-B538-2D3CC61FD48E}"/>
              </a:ext>
            </a:extLst>
          </p:cNvPr>
          <p:cNvSpPr/>
          <p:nvPr/>
        </p:nvSpPr>
        <p:spPr>
          <a:xfrm>
            <a:off x="2827896" y="3164107"/>
            <a:ext cx="808000" cy="2854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C40C1-243A-47BB-BB45-6732E45F6FBA}"/>
              </a:ext>
            </a:extLst>
          </p:cNvPr>
          <p:cNvSpPr/>
          <p:nvPr/>
        </p:nvSpPr>
        <p:spPr>
          <a:xfrm>
            <a:off x="467545" y="3724388"/>
            <a:ext cx="681066" cy="2777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769A2C-FEBE-4EF0-8A92-BE62BC1DBF56}"/>
              </a:ext>
            </a:extLst>
          </p:cNvPr>
          <p:cNvSpPr/>
          <p:nvPr/>
        </p:nvSpPr>
        <p:spPr>
          <a:xfrm>
            <a:off x="3895162" y="3961038"/>
            <a:ext cx="1065318" cy="2935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</a:pPr>
            <a:endParaRPr lang="en-AU" sz="1350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8314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F72A48A-D437-4AE7-A7F0-CF4A675AFE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How to solve a linear equation;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1D64AAA4-82AF-44AF-8292-F8D8E24208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114800"/>
          </a:xfrm>
        </p:spPr>
        <p:txBody>
          <a:bodyPr/>
          <a:lstStyle/>
          <a:p>
            <a:r>
              <a:rPr lang="en-GB" altLang="en-US" dirty="0"/>
              <a:t>Solving the equation means getting the variable by itself (preferably on the left hand side</a:t>
            </a:r>
          </a:p>
          <a:p>
            <a:r>
              <a:rPr lang="en-GB" altLang="en-US" dirty="0"/>
              <a:t>To solve an equation you need to work backwards. Remember to ‘undo’ what has been done to the unknown value.</a:t>
            </a:r>
          </a:p>
          <a:p>
            <a:r>
              <a:rPr lang="en-GB" altLang="en-US" dirty="0"/>
              <a:t>Always work downwards showing your working out as you go.</a:t>
            </a:r>
          </a:p>
          <a:p>
            <a:r>
              <a:rPr lang="en-GB" altLang="en-US" dirty="0"/>
              <a:t>Keep going until you have got a value for the letter.</a:t>
            </a:r>
          </a:p>
        </p:txBody>
      </p:sp>
    </p:spTree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30000">
                                          <p:val>
                                            <p:strVal val="#ppt_h/2"/>
                                          </p:val>
                                        </p:tav>
                                        <p:tav tm="40000">
                                          <p:val>
                                            <p:strVal val="#ppt_h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"/>
                                          </p:val>
                                        </p:tav>
                                        <p:tav tm="60000">
                                          <p:val>
                                            <p:strVal val="#ppt_h"/>
                                          </p:val>
                                        </p:tav>
                                        <p:tav tm="69900">
                                          <p:val>
                                            <p:strVal val="#ppt_h/2"/>
                                          </p:val>
                                        </p:tav>
                                        <p:tav tm="8000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5"/>
                                          </p:val>
                                        </p:tav>
                                        <p:tav tm="20000">
                                          <p:val>
                                            <p:strVal val="#ppt_y-.2"/>
                                          </p:val>
                                        </p:tav>
                                        <p:tav tm="30000">
                                          <p:val>
                                            <p:strVal val="#ppt_y"/>
                                          </p:val>
                                        </p:tav>
                                        <p:tav tm="40000">
                                          <p:val>
                                            <p:strVal val="#ppt_y-.15"/>
                                          </p:val>
                                        </p:tav>
                                        <p:tav tm="50000">
                                          <p:val>
                                            <p:strVal val="#ppt_y"/>
                                          </p:val>
                                        </p:tav>
                                        <p:tav tm="60000">
                                          <p:val>
                                            <p:strVal val="#ppt_y-.1"/>
                                          </p:val>
                                        </p:tav>
                                        <p:tav tm="69900">
                                          <p:val>
                                            <p:strVal val="#ppt_y"/>
                                          </p:val>
                                        </p:tav>
                                        <p:tav tm="8000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14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Rectangle 9">
            <a:extLst>
              <a:ext uri="{FF2B5EF4-FFF2-40B4-BE49-F238E27FC236}">
                <a16:creationId xmlns:a16="http://schemas.microsoft.com/office/drawing/2014/main" id="{8D40119D-7819-4CDC-BCF0-56039D213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2x + 6 =32</a:t>
            </a: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7ACBB23A-C0A1-4F48-BFE9-56C2780D1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‘undo’ the +6 by taking 6 away from 32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2x = 32-6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2x = 26</a:t>
            </a:r>
          </a:p>
          <a:p>
            <a:pPr>
              <a:lnSpc>
                <a:spcPct val="90000"/>
              </a:lnSpc>
            </a:pPr>
            <a:r>
              <a:rPr lang="en-GB" altLang="en-US"/>
              <a:t>‘undo’ the multiply by 2 by dividing by 2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x = 26/2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X = 13</a:t>
            </a:r>
          </a:p>
          <a:p>
            <a:pPr>
              <a:lnSpc>
                <a:spcPct val="90000"/>
              </a:lnSpc>
            </a:pPr>
            <a:r>
              <a:rPr lang="en-GB" altLang="en-US"/>
              <a:t>The unknown value is 13, check that this works 2 x 13 = 26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/>
              <a:t>			26 + 6 = 32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7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7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7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98" decel="100000" fill="hold"/>
                                        <p:tgtEl>
                                          <p:spTgt spid="7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98" decel="100000" fill="hold"/>
                                        <p:tgtEl>
                                          <p:spTgt spid="7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98" decel="100000" fill="hold"/>
                                        <p:tgtEl>
                                          <p:spTgt spid="7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98" decel="100000" fill="hold"/>
                                        <p:tgtEl>
                                          <p:spTgt spid="7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98" decel="100000" fill="hold"/>
                                        <p:tgtEl>
                                          <p:spTgt spid="7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7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/>
      <p:bldP spid="7178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B4AF2-F17F-0458-8773-9EF7F560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Year 7 review 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248E3-7B49-817E-F6E6-6DE7A2BEF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Year 7 method 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F325B8-8289-DB42-2B89-5E320A8634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3x + 7 = 19 </a:t>
            </a:r>
          </a:p>
          <a:p>
            <a:pPr marL="514350" indent="-514350">
              <a:buAutoNum type="alphaLcParenR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buAutoNum type="alphaLcParenR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buAutoNum type="alphaLcParenR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8f + 2 = 26 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9C760A-D7E1-1A55-10F2-302B16534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Year 8 method 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C08FA5-EE28-DABC-7812-DACC343B826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3x + 7 = 19 </a:t>
            </a:r>
          </a:p>
          <a:p>
            <a:pPr marL="514350" indent="-514350">
              <a:buAutoNum type="alphaLcParenR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buAutoNum type="alphaLcParenR"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514350" indent="-514350">
              <a:buAutoNum type="alphaLcParenR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8f + 2 = 26 </a:t>
            </a:r>
            <a:endParaRPr lang="en-AU" dirty="0">
              <a:solidFill>
                <a:schemeClr val="bg1">
                  <a:lumMod val="50000"/>
                </a:schemeClr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190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55874C2-8B50-B2F0-E529-B59BD664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21734"/>
            <a:ext cx="8178799" cy="1135737"/>
          </a:xfrm>
        </p:spPr>
        <p:txBody>
          <a:bodyPr>
            <a:normAutofit/>
          </a:bodyPr>
          <a:lstStyle/>
          <a:p>
            <a:r>
              <a:rPr lang="en-US" sz="3100" dirty="0"/>
              <a:t>Steps </a:t>
            </a:r>
            <a:endParaRPr lang="en-AU" sz="31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6B5F55-3C96-ED56-55B3-04D3F8A24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782981"/>
            <a:ext cx="8178799" cy="4393982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US" dirty="0">
                <a:solidFill>
                  <a:srgbClr val="00B0F0"/>
                </a:solidFill>
              </a:rPr>
              <a:t>“Undo” the constant by doing the opposite operation to both sides </a:t>
            </a:r>
          </a:p>
          <a:p>
            <a:pPr>
              <a:buAutoNum type="arabicPeriod"/>
            </a:pPr>
            <a:endParaRPr lang="en-AU" dirty="0">
              <a:solidFill>
                <a:srgbClr val="00B0F0"/>
              </a:solidFill>
            </a:endParaRPr>
          </a:p>
          <a:p>
            <a:pPr>
              <a:buAutoNum type="arabicPeriod"/>
            </a:pPr>
            <a:r>
              <a:rPr lang="en-AU" dirty="0">
                <a:solidFill>
                  <a:srgbClr val="00B0F0"/>
                </a:solidFill>
              </a:rPr>
              <a:t>“Undo” the coefficient by doing the opposite operation to both sides 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08801" y="2200695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00197" y="1502156"/>
            <a:ext cx="2532832" cy="954774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28518" y="5230015"/>
            <a:ext cx="2017580" cy="760545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60240" y="5789405"/>
            <a:ext cx="485578" cy="364184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93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B222C5F-595A-8690-2792-577E44038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I do 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8EA314A-5D26-9F27-9786-D4DC232A63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4c + 8 = 16 </a:t>
            </a:r>
          </a:p>
          <a:p>
            <a:pPr marL="0" indent="0" algn="ctr">
              <a:buNone/>
            </a:pPr>
            <a:endParaRPr lang="en-US" sz="36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3600" dirty="0">
                <a:solidFill>
                  <a:srgbClr val="FF0000"/>
                </a:solidFill>
              </a:rPr>
              <a:t>5f – 10 = 15 </a:t>
            </a:r>
            <a:endParaRPr lang="en-AU" sz="3600" dirty="0">
              <a:solidFill>
                <a:srgbClr val="FF0000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C93E36-8940-B74E-80D7-FDCF9AACE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We do </a:t>
            </a:r>
            <a:endParaRPr lang="en-AU" dirty="0">
              <a:solidFill>
                <a:srgbClr val="FFFF00"/>
              </a:solidFill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7C0E0818-F7ED-15B7-E05D-7D9E52D7630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00"/>
                </a:solidFill>
              </a:rPr>
              <a:t>9d + 3 = 30 </a:t>
            </a:r>
          </a:p>
          <a:p>
            <a:pPr marL="0" indent="0" algn="ctr">
              <a:buNone/>
            </a:pPr>
            <a:endParaRPr lang="en-US" sz="3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endParaRPr lang="en-AU" sz="3600" dirty="0">
              <a:solidFill>
                <a:srgbClr val="FFFF00"/>
              </a:solidFill>
            </a:endParaRPr>
          </a:p>
          <a:p>
            <a:pPr marL="0" indent="0" algn="ctr">
              <a:buNone/>
            </a:pPr>
            <a:r>
              <a:rPr lang="en-AU" sz="3600" dirty="0">
                <a:solidFill>
                  <a:srgbClr val="FFFF00"/>
                </a:solidFill>
              </a:rPr>
              <a:t>3d – 5 = 25 </a:t>
            </a:r>
            <a:endParaRPr lang="en-US" sz="3600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8E9A54-12C9-4D38-56BA-7F299B872CD0}"/>
              </a:ext>
            </a:extLst>
          </p:cNvPr>
          <p:cNvSpPr txBox="1"/>
          <p:nvPr/>
        </p:nvSpPr>
        <p:spPr>
          <a:xfrm>
            <a:off x="2267744" y="260648"/>
            <a:ext cx="5544616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AutoNum type="arabicPeriod"/>
            </a:pPr>
            <a:r>
              <a:rPr lang="en-US" sz="2000" b="1" dirty="0">
                <a:solidFill>
                  <a:srgbClr val="00B0F0"/>
                </a:solidFill>
              </a:rPr>
              <a:t>Undo” the constant by doing the opposite operation to both sides </a:t>
            </a:r>
          </a:p>
          <a:p>
            <a:pPr>
              <a:buAutoNum type="arabicPeriod"/>
            </a:pPr>
            <a:endParaRPr lang="en-AU" sz="2000" b="1" dirty="0">
              <a:solidFill>
                <a:srgbClr val="00B0F0"/>
              </a:solidFill>
            </a:endParaRPr>
          </a:p>
          <a:p>
            <a:pPr>
              <a:buAutoNum type="arabicPeriod"/>
            </a:pPr>
            <a:r>
              <a:rPr lang="en-AU" sz="2000" b="1" dirty="0">
                <a:solidFill>
                  <a:srgbClr val="00B0F0"/>
                </a:solidFill>
              </a:rPr>
              <a:t>“Undo” the coefficient by doing the opposite operation to both sides </a:t>
            </a:r>
            <a:endParaRPr lang="en-US" sz="2000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038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88CBA55-4ED9-4DB1-AEAB-3C8D09E98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/>
              <a:t> </a:t>
            </a:r>
            <a:r>
              <a:rPr lang="en-GB" altLang="en-US" dirty="0">
                <a:solidFill>
                  <a:srgbClr val="92D050"/>
                </a:solidFill>
              </a:rPr>
              <a:t>Try these equations;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>
                <a:extLst>
                  <a:ext uri="{FF2B5EF4-FFF2-40B4-BE49-F238E27FC236}">
                    <a16:creationId xmlns:a16="http://schemas.microsoft.com/office/drawing/2014/main" id="{5F5A1B6A-2123-4304-ABEC-BEEA202D8369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dirty="0"/>
                  <a:t>3</a:t>
                </a:r>
                <a:r>
                  <a:rPr lang="en-GB" altLang="en-US" i="0" dirty="0">
                    <a:latin typeface="+mj-lt"/>
                  </a:rPr>
                  <a:t>x</a:t>
                </a:r>
                <a:r>
                  <a:rPr lang="en-GB" altLang="en-US" dirty="0"/>
                  <a:t> + 5 = 35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dirty="0"/>
                  <a:t>7x – 4 = 80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AU" alt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alt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GB" altLang="en-US" dirty="0"/>
                  <a:t>+ 1 = 4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dirty="0"/>
                  <a:t>24 – 5x = 9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dirty="0"/>
                  <a:t>62 = 7x + 6</a:t>
                </a:r>
              </a:p>
              <a:p>
                <a:pPr marL="609600" indent="-609600">
                  <a:buFont typeface="Wingdings" panose="05000000000000000000" pitchFamily="2" charset="2"/>
                  <a:buAutoNum type="arabicPeriod"/>
                </a:pPr>
                <a:r>
                  <a:rPr lang="en-GB" altLang="en-US" dirty="0"/>
                  <a:t>185 = 4x – 15</a:t>
                </a:r>
              </a:p>
            </p:txBody>
          </p:sp>
        </mc:Choice>
        <mc:Fallback xmlns="">
          <p:sp>
            <p:nvSpPr>
              <p:cNvPr id="10243" name="Rectangle 3">
                <a:extLst>
                  <a:ext uri="{FF2B5EF4-FFF2-40B4-BE49-F238E27FC236}">
                    <a16:creationId xmlns:a16="http://schemas.microsoft.com/office/drawing/2014/main" id="{5F5A1B6A-2123-4304-ABEC-BEEA202D83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963" t="-20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9241601-0509-4E0F-AE30-0AEA0D3963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744538"/>
          </a:xfrm>
        </p:spPr>
        <p:txBody>
          <a:bodyPr/>
          <a:lstStyle/>
          <a:p>
            <a:r>
              <a:rPr lang="en-GB" altLang="en-US" sz="4000"/>
              <a:t>Answers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8B4E18FE-CB9E-4969-841C-9B8FBF07A09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25538"/>
            <a:ext cx="4259263" cy="497046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3x + 5 = 35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7x – 4 = 80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x/3 + 1 = 4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24 – 5x = 9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62 = 7x + 6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185 = 4x – 15</a:t>
            </a:r>
          </a:p>
          <a:p>
            <a:pPr marL="533400" indent="-533400"/>
            <a:endParaRPr lang="en-GB" altLang="en-US" sz="3600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DA06D020-736C-4BE1-AF00-BAE3D086406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125538"/>
            <a:ext cx="4038600" cy="4970462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10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12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9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3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8</a:t>
            </a:r>
          </a:p>
          <a:p>
            <a:pPr marL="533400" indent="-533400">
              <a:buFont typeface="Wingdings" panose="05000000000000000000" pitchFamily="2" charset="2"/>
              <a:buAutoNum type="arabicPeriod"/>
            </a:pPr>
            <a:r>
              <a:rPr lang="en-GB" altLang="en-US" sz="3600"/>
              <a:t>x =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636F3E-36B6-8DDA-EF81-8D85856C84C6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7FD176A-C6D1-1DCB-4897-FA4205E38A99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sz="2800" dirty="0"/>
              <a:t>Complete task sheet “What problem did the dumb gangster have when the boss told him to blow up a car?”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676222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12B1EBA-A78F-45AC-BB50-11BB9CF59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4000"/>
              <a:t>If the equation is more complicated;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0870046-32E9-4219-A6B9-8467CDF61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/>
              <a:t>Simplify the equation, collect like terms, if there are brackets multiply them out first.</a:t>
            </a:r>
          </a:p>
          <a:p>
            <a:r>
              <a:rPr lang="en-GB" altLang="en-US"/>
              <a:t>If there is more then one unknown value on either side of the equals sign collect them together on one side and collect the numbers on the other. </a:t>
            </a:r>
          </a:p>
          <a:p>
            <a:endParaRPr lang="en-GB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84B407B-B9C5-4FA1-BAA8-615316720A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2x + 4 = 3x - 2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410D9BA-252F-4676-A2BD-6983BEC17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/>
              <a:t>Collect the x’s together, it is better to try and keep the x values positive.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Get rid of the 2x by subtracting it from both sides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2x-2x + 4 = 3x – 2x – 2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4 = x – 2</a:t>
            </a:r>
          </a:p>
          <a:p>
            <a:pPr>
              <a:lnSpc>
                <a:spcPct val="90000"/>
              </a:lnSpc>
            </a:pPr>
            <a:r>
              <a:rPr lang="en-GB" altLang="en-US"/>
              <a:t>Collect the numbers together on the other side of the equals.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Get rid of the  - 2 by adding 2 to both sides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4 + 2 = x - 2 + 2</a:t>
            </a:r>
          </a:p>
          <a:p>
            <a:pPr lvl="4">
              <a:lnSpc>
                <a:spcPct val="90000"/>
              </a:lnSpc>
            </a:pPr>
            <a:r>
              <a:rPr lang="en-GB" altLang="en-US"/>
              <a:t>6 = x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278CDBE-EE0C-40D7-84E1-9DE645082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Try the following equations;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512215-2ECE-45C2-80EB-CD5291552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/>
              <a:t>4x + 10 = 2x  + 26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/>
              <a:t>5x – 6 = 10x – 16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/>
              <a:t>20x + 4 = 15x + 34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/>
              <a:t>3(x + 1 ) = 15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GB" altLang="en-US"/>
              <a:t>2(3x + 2) + 3(x – 1)  =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0BB58FB-26CF-421F-B4BD-78FDBBFCC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229600" cy="455613"/>
          </a:xfrm>
        </p:spPr>
        <p:txBody>
          <a:bodyPr/>
          <a:lstStyle/>
          <a:p>
            <a:r>
              <a:rPr lang="en-GB" altLang="en-US" sz="4000"/>
              <a:t>Answers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9F74785-04A7-4A91-9FAF-E7C2019D88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81075"/>
            <a:ext cx="4402138" cy="5543550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1)   4x + 10 = 2x  + 26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2x +10 = 26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  2x = 16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     </a:t>
            </a:r>
            <a:r>
              <a:rPr lang="en-GB" altLang="en-US" sz="2400">
                <a:solidFill>
                  <a:srgbClr val="FF0000"/>
                </a:solidFill>
              </a:rPr>
              <a:t>x=8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GB" altLang="en-US" sz="2400">
              <a:solidFill>
                <a:srgbClr val="FF0000"/>
              </a:solidFill>
            </a:endParaRP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2)   5x – 6 = 10x – 16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- 6 = 5x -16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10 = 5x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   </a:t>
            </a:r>
            <a:r>
              <a:rPr lang="en-GB" altLang="en-US" sz="2400">
                <a:solidFill>
                  <a:srgbClr val="FF0000"/>
                </a:solidFill>
              </a:rPr>
              <a:t>2=x</a:t>
            </a:r>
          </a:p>
          <a:p>
            <a:pPr marL="609600" indent="-609600">
              <a:lnSpc>
                <a:spcPct val="80000"/>
              </a:lnSpc>
            </a:pPr>
            <a:endParaRPr lang="en-GB" altLang="en-US" sz="2400"/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3) 20x + 4 = 15x + 34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5x + 4 = 34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5x = 30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 </a:t>
            </a:r>
            <a:r>
              <a:rPr lang="en-GB" altLang="en-US" sz="2400">
                <a:solidFill>
                  <a:srgbClr val="FF0000"/>
                </a:solidFill>
              </a:rPr>
              <a:t>x = 6</a:t>
            </a: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GB" altLang="en-US" sz="2400">
              <a:solidFill>
                <a:srgbClr val="FF0000"/>
              </a:solidFill>
            </a:endParaRP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BAD2E99-D247-44A1-BA31-C15AE48AF6F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140200" y="981075"/>
            <a:ext cx="4711700" cy="547370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4)   3(x + 1 ) = 15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3x + 3 = 15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   3x = 12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>
                <a:solidFill>
                  <a:srgbClr val="FF0000"/>
                </a:solidFill>
              </a:rPr>
              <a:t>                 x = 4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GB" altLang="en-US" sz="2400">
              <a:solidFill>
                <a:srgbClr val="FF0000"/>
              </a:solidFill>
            </a:endParaRP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5)  2(3x + 2) + 3(x – 1)  = 28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 6x + 4 + 3x – 3 = 28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              9x + 1 = 28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/>
              <a:t>                                9x = 27</a:t>
            </a:r>
          </a:p>
          <a:p>
            <a:pPr marL="457200" indent="-4572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 sz="2400">
                <a:solidFill>
                  <a:srgbClr val="FF0000"/>
                </a:solidFill>
              </a:rPr>
              <a:t>                                  x = 3</a:t>
            </a:r>
          </a:p>
          <a:p>
            <a:pPr marL="457200" indent="-457200">
              <a:lnSpc>
                <a:spcPct val="80000"/>
              </a:lnSpc>
            </a:pPr>
            <a:endParaRPr lang="en-GB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xtured">
  <a:themeElements>
    <a:clrScheme name="Textured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ed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Textured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173</TotalTime>
  <Words>1160</Words>
  <Application>Microsoft Office PowerPoint</Application>
  <PresentationFormat>On-screen Show (4:3)</PresentationFormat>
  <Paragraphs>194</Paragraphs>
  <Slides>22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Tahoma</vt:lpstr>
      <vt:lpstr>Wingdings</vt:lpstr>
      <vt:lpstr>Textured</vt:lpstr>
      <vt:lpstr>Office Theme</vt:lpstr>
      <vt:lpstr>1_Office Theme</vt:lpstr>
      <vt:lpstr>2_Office Theme</vt:lpstr>
      <vt:lpstr>PowerPoint Presentation</vt:lpstr>
      <vt:lpstr>PowerPoint Presentation</vt:lpstr>
      <vt:lpstr>Doing calculations using BIMDAS</vt:lpstr>
      <vt:lpstr>Doing calculations using BIMDAS</vt:lpstr>
      <vt:lpstr>PowerPoint Presentation</vt:lpstr>
      <vt:lpstr>How do we work Forwards BIMDAS Practice 1</vt:lpstr>
      <vt:lpstr>How do we work Forwards BIMDAS Practice 1</vt:lpstr>
      <vt:lpstr>PowerPoint Presentation</vt:lpstr>
      <vt:lpstr>PowerPoint Presentation</vt:lpstr>
      <vt:lpstr>PowerPoint Presentation</vt:lpstr>
      <vt:lpstr>How to solve a linear equation;</vt:lpstr>
      <vt:lpstr>2x + 6 =32</vt:lpstr>
      <vt:lpstr>Year 7 review </vt:lpstr>
      <vt:lpstr>Steps </vt:lpstr>
      <vt:lpstr>PowerPoint Presentation</vt:lpstr>
      <vt:lpstr> Try these equations;</vt:lpstr>
      <vt:lpstr>Answers</vt:lpstr>
      <vt:lpstr>Individual practice </vt:lpstr>
      <vt:lpstr>If the equation is more complicated;</vt:lpstr>
      <vt:lpstr>2x + 4 = 3x - 2</vt:lpstr>
      <vt:lpstr>Try the following equations;</vt:lpstr>
      <vt:lpstr>Answers</vt:lpstr>
    </vt:vector>
  </TitlesOfParts>
  <Company>Kirklees LEA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Are Learning To:</dc:title>
  <dc:creator>Elaine Moorcroft</dc:creator>
  <cp:lastModifiedBy>DAVIES Rhys [Busselton Senior High School]</cp:lastModifiedBy>
  <cp:revision>15</cp:revision>
  <cp:lastPrinted>2022-08-11T00:02:22Z</cp:lastPrinted>
  <dcterms:created xsi:type="dcterms:W3CDTF">2003-10-01T21:43:31Z</dcterms:created>
  <dcterms:modified xsi:type="dcterms:W3CDTF">2022-08-11T00:04:40Z</dcterms:modified>
</cp:coreProperties>
</file>
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5"/>
  </p:notesMasterIdLst>
  <p:sldIdLst>
    <p:sldId id="256" r:id="rId2"/>
    <p:sldId id="278" r:id="rId3"/>
    <p:sldId id="279" r:id="rId4"/>
    <p:sldId id="280" r:id="rId5"/>
    <p:sldId id="261" r:id="rId6"/>
    <p:sldId id="262" r:id="rId7"/>
    <p:sldId id="263" r:id="rId8"/>
    <p:sldId id="281" r:id="rId9"/>
    <p:sldId id="282" r:id="rId10"/>
    <p:sldId id="283" r:id="rId11"/>
    <p:sldId id="274" r:id="rId12"/>
    <p:sldId id="276" r:id="rId13"/>
    <p:sldId id="284" r:id="rId14"/>
  </p:sldIdLst>
  <p:sldSz cx="9144000" cy="6858000" type="screen4x3"/>
  <p:notesSz cx="6645275" cy="9174163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7113" y="687388"/>
            <a:ext cx="4591050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357688"/>
            <a:ext cx="5314950" cy="412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fld id="{E8B0DEE2-DDC1-4DEB-BA56-F1EB45B65C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208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3261-4F50-471A-8035-018620427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23555-871D-4BA4-A5C5-89713B874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FA2AC-8017-4BDA-A841-BB9806E2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A8C8D-D56D-4716-810F-DD7DC973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E3E8-23F0-43DD-85DE-A2FA9FF6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94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FA33-4AE6-4305-8700-A7EDD202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C46B-7753-4B3B-AF4C-0121CB20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6428-9F59-4CD1-BE5D-096F5E6F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C0C2-EA24-4428-971A-7580EC09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518BD-6270-4BD4-BD25-F787758B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44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94D9-3AA2-4EE3-A081-A6812AE1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88EA5-8350-4720-93E6-779F956AE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471C-9D35-4349-8223-12EE390F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DA11-662C-4ADD-92A9-D4CDDDBC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ECB3-6962-4A4E-870E-D56D9514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4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D04C-E15F-408A-A9B7-24B2521B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3B729-3BE6-40E5-B976-B7B19592C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3E58A-675F-40F1-A430-2B7D6126E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B9D36-0A2F-4355-BBE7-B94F2909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BD8D8-6124-4C5F-9073-1D9FF9DA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C26DD-EA50-4208-9C6F-61B9524B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2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6CE9-B553-4294-B73B-E88F4EF9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20B63-E6CE-4D0F-9F71-0BEFB30E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6971A-4E49-4249-AAF2-A9AECD629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05230-F54D-4495-83E2-0138C590A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AEB9E-8588-4AF3-A8D7-BB5C7FB4C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BA6F8-1BED-4D81-A52B-0905DA45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A562C-E599-40B2-A9FB-A5FC80AA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3B571-8013-4F1D-92E4-29395EC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702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0FF8-41CA-4280-8628-A4CD50BB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E3968-63A5-446E-8E06-F48027F8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E3996-736E-42B4-8F85-352D148D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55CDD-B5FB-4311-8CDA-53EDABA3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39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B6046-3470-47A6-B75C-20D9F179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03D1B-D98C-4B11-873A-3A41DBE7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DCB1B-0D7D-4622-A51A-C4D5D306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02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E2DF-2C47-48FD-B986-E8AD6622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B74A-4733-4AD7-AE33-67CFB15D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9E084-4373-4B79-B4D7-AF61B313C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B51FA-93D2-4598-87B9-73457CD1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31C29-4314-4970-8346-61B6E604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31F96-788F-4D7A-AC9B-1C10977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76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0EDB-65B5-46CA-8653-F5462FE0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1B9D0-F227-4FB1-9310-0F1352906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7F3F-D2C1-45BF-BAA3-9DD1DD3D0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22990-ABAF-4DE8-B2C1-B493A9D6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E8E70-28B9-4B6C-83DE-B90526E5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A63B-544F-4D71-85E6-368B0A6E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8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C063-97B3-407C-8EEE-181C9338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C976C-D76B-4440-94F9-928A52EC6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63C2-A6A0-4ADD-879C-5BBF957A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E3558-2306-43C4-B24E-DFE2FD4F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D6D9-09D2-4382-8E8B-1BF884ED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24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95246-E8ED-4CE6-8046-DDCAB5E76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62BFD-2BE6-4A95-8877-91168BF7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4DDE7-6AD9-4ADD-B225-FCC0B5A7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C2C8-84EB-4406-920D-2D3FA5F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4750-4C38-480B-B6C0-9433284C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92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6768D-532E-4EF6-8F8E-F377CFC8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7F47-8212-41F1-847A-EBD57D68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039B-5ACA-4BC6-93D9-6393D0CBF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08FD3-D213-4E3C-B5FD-2ED61DD53376}" type="datetimeFigureOut">
              <a:rPr lang="en-AU" smtClean="0"/>
              <a:t>18/09/2022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CE78-D4B8-481D-AA77-552B5F38C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B94F-997E-48FA-9B6C-D5CB1291B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96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E00A8-168A-4915-8D1F-0D2BBFC0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CBC49-32ED-4C10-90C6-9FFE1EF98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/>
              <a:t>Title: </a:t>
            </a:r>
            <a:r>
              <a:rPr lang="en-AU" sz="2800" b="1" dirty="0">
                <a:solidFill>
                  <a:srgbClr val="00B0F0"/>
                </a:solidFill>
              </a:rPr>
              <a:t>Increase and decrease percentages</a:t>
            </a:r>
          </a:p>
          <a:p>
            <a:pPr marL="0" indent="0">
              <a:buNone/>
            </a:pPr>
            <a:endParaRPr lang="en-AU" sz="28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Calculate the percent of an amount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Increase by a percent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Review percent of amounts </a:t>
            </a:r>
          </a:p>
          <a:p>
            <a:pPr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Increasing with percentages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FA6699-624B-4639-40A2-5BFFBB3E9D87}"/>
              </a:ext>
            </a:extLst>
          </p:cNvPr>
          <p:cNvSpPr txBox="1"/>
          <p:nvPr/>
        </p:nvSpPr>
        <p:spPr>
          <a:xfrm>
            <a:off x="4788024" y="365126"/>
            <a:ext cx="3600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pPr>
              <a:buNone/>
            </a:pPr>
            <a:r>
              <a:rPr lang="en-US" sz="2000" b="1" dirty="0">
                <a:highlight>
                  <a:srgbClr val="00FF00"/>
                </a:highlight>
              </a:rPr>
              <a:t>Respect (hand up)</a:t>
            </a:r>
          </a:p>
          <a:p>
            <a:pPr>
              <a:buNone/>
            </a:pPr>
            <a:r>
              <a:rPr lang="en-US" sz="2000" b="1" dirty="0">
                <a:highlight>
                  <a:srgbClr val="00FF00"/>
                </a:highlight>
              </a:rPr>
              <a:t>Learn (pride in our work)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9888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1CAF-B3BA-1825-498F-B515166A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Re-teach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75E8C-A0F6-8EBF-A813-99C1EC5E6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Finding 10%, 5% and 20%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AU" sz="2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22776A-EB6D-826C-62CD-EADAB82C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88077"/>
              </p:ext>
            </p:extLst>
          </p:nvPr>
        </p:nvGraphicFramePr>
        <p:xfrm>
          <a:off x="1177405" y="3506116"/>
          <a:ext cx="6624740" cy="1368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474">
                  <a:extLst>
                    <a:ext uri="{9D8B030D-6E8A-4147-A177-3AD203B41FA5}">
                      <a16:colId xmlns:a16="http://schemas.microsoft.com/office/drawing/2014/main" val="298492916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868558422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30779945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1085689559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74207041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777999894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311985996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678894477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3444613430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4236061612"/>
                    </a:ext>
                  </a:extLst>
                </a:gridCol>
              </a:tblGrid>
              <a:tr h="1368152"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82499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74BA62DE-8DD2-6AD8-F60D-5666CBAF5EBA}"/>
              </a:ext>
            </a:extLst>
          </p:cNvPr>
          <p:cNvSpPr/>
          <p:nvPr/>
        </p:nvSpPr>
        <p:spPr>
          <a:xfrm rot="5400000">
            <a:off x="3995936" y="1772815"/>
            <a:ext cx="936104" cy="69847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223D4F1-DF2C-6EA0-00E9-DBA7EC7249D2}"/>
              </a:ext>
            </a:extLst>
          </p:cNvPr>
          <p:cNvSpPr/>
          <p:nvPr/>
        </p:nvSpPr>
        <p:spPr>
          <a:xfrm rot="16200000">
            <a:off x="3995936" y="-243408"/>
            <a:ext cx="936104" cy="69847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E71A4-BDAD-3723-BF96-86CFB25ACF87}"/>
              </a:ext>
            </a:extLst>
          </p:cNvPr>
          <p:cNvSpPr txBox="1"/>
          <p:nvPr/>
        </p:nvSpPr>
        <p:spPr>
          <a:xfrm>
            <a:off x="3887924" y="2281592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$250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5D38C-EB07-6961-FC85-2857355F4811}"/>
              </a:ext>
            </a:extLst>
          </p:cNvPr>
          <p:cNvSpPr txBox="1"/>
          <p:nvPr/>
        </p:nvSpPr>
        <p:spPr>
          <a:xfrm>
            <a:off x="3888953" y="572712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100%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24999-CBE1-D704-F889-0C7C85058E87}"/>
              </a:ext>
            </a:extLst>
          </p:cNvPr>
          <p:cNvSpPr txBox="1"/>
          <p:nvPr/>
        </p:nvSpPr>
        <p:spPr>
          <a:xfrm>
            <a:off x="1187624" y="3651583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4212B-A01A-A0FF-29E9-D3C40BF298FE}"/>
              </a:ext>
            </a:extLst>
          </p:cNvPr>
          <p:cNvSpPr txBox="1"/>
          <p:nvPr/>
        </p:nvSpPr>
        <p:spPr>
          <a:xfrm>
            <a:off x="190770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B3292-1CAF-E0BE-103B-C726BCE8598F}"/>
              </a:ext>
            </a:extLst>
          </p:cNvPr>
          <p:cNvSpPr txBox="1"/>
          <p:nvPr/>
        </p:nvSpPr>
        <p:spPr>
          <a:xfrm>
            <a:off x="2555776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72A9B-04A9-EC7F-1EE7-44D9EEB3A022}"/>
              </a:ext>
            </a:extLst>
          </p:cNvPr>
          <p:cNvSpPr txBox="1"/>
          <p:nvPr/>
        </p:nvSpPr>
        <p:spPr>
          <a:xfrm>
            <a:off x="3203848" y="3647926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22EDC-5849-7F44-F063-4E718C36B682}"/>
              </a:ext>
            </a:extLst>
          </p:cNvPr>
          <p:cNvSpPr txBox="1"/>
          <p:nvPr/>
        </p:nvSpPr>
        <p:spPr>
          <a:xfrm>
            <a:off x="3851920" y="3647926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33029E-0AFE-C21B-EB13-3E781EB685F4}"/>
              </a:ext>
            </a:extLst>
          </p:cNvPr>
          <p:cNvSpPr txBox="1"/>
          <p:nvPr/>
        </p:nvSpPr>
        <p:spPr>
          <a:xfrm>
            <a:off x="4499992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1FAB8-0729-9AF2-40E0-1F0F7B507663}"/>
              </a:ext>
            </a:extLst>
          </p:cNvPr>
          <p:cNvSpPr txBox="1"/>
          <p:nvPr/>
        </p:nvSpPr>
        <p:spPr>
          <a:xfrm>
            <a:off x="514806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9A508-56E6-1C3C-29D7-B82F030B4957}"/>
              </a:ext>
            </a:extLst>
          </p:cNvPr>
          <p:cNvSpPr txBox="1"/>
          <p:nvPr/>
        </p:nvSpPr>
        <p:spPr>
          <a:xfrm>
            <a:off x="586814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B6730-1767-A38F-1DFB-82ED41A67D47}"/>
              </a:ext>
            </a:extLst>
          </p:cNvPr>
          <p:cNvSpPr txBox="1"/>
          <p:nvPr/>
        </p:nvSpPr>
        <p:spPr>
          <a:xfrm>
            <a:off x="6516216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A7234-F60D-B058-1B48-F60A7C1DDEEB}"/>
              </a:ext>
            </a:extLst>
          </p:cNvPr>
          <p:cNvSpPr txBox="1"/>
          <p:nvPr/>
        </p:nvSpPr>
        <p:spPr>
          <a:xfrm>
            <a:off x="7164288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98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68AA-B990-A9B0-CFAF-A5A354D5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math percentages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207F-78D6-C07A-014B-84C77591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To find 10% - divide by 10 (move 1 </a:t>
            </a:r>
            <a:r>
              <a:rPr lang="en-US" sz="2800" dirty="0" err="1"/>
              <a:t>dp</a:t>
            </a:r>
            <a:r>
              <a:rPr lang="en-US" sz="2800" dirty="0"/>
              <a:t> left)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To find 5% - half the 10%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To find 20% - double the 10%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40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2416-DABF-7A63-EFF7-0CE87B2C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– you do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67F58-10E2-6BF1-D6B3-046FA3B99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I do (5, 10 and 20) </a:t>
            </a:r>
            <a:endParaRPr lang="en-AU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AB6BAE-5458-F222-BCE3-EC3D9BAA1F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b="1" dirty="0"/>
              <a:t>600L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56cm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$90</a:t>
            </a:r>
            <a:endParaRPr lang="en-AU" sz="28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4B8EC-CCED-AD9C-45C2-3E51C631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You do (5, 10 and 20) </a:t>
            </a:r>
            <a:endParaRPr lang="en-AU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0ECF7F-3BCD-7399-BB73-0CA2B33091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b="1" dirty="0"/>
              <a:t>500L 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48cm 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$240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58219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5E4F-80F4-687C-3063-1815A23B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8E71-184C-6B10-0B17-7ED5A4A9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AU" dirty="0"/>
              <a:t>25% of 5400L  </a:t>
            </a:r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r>
              <a:rPr lang="en-AU" dirty="0"/>
              <a:t>87% of $876 </a:t>
            </a:r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r>
              <a:rPr lang="en-AU" dirty="0"/>
              <a:t>45% of 98m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07490-D177-1BF7-85A7-25A2B4C1E704}"/>
              </a:ext>
            </a:extLst>
          </p:cNvPr>
          <p:cNvSpPr txBox="1"/>
          <p:nvPr/>
        </p:nvSpPr>
        <p:spPr>
          <a:xfrm>
            <a:off x="6451846" y="1363277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1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7213" indent="-557213">
              <a:buAutoNum type="alphaLcParenR"/>
            </a:pPr>
            <a:r>
              <a:rPr lang="en-US" sz="2700" dirty="0"/>
              <a:t>43% of 560L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95% of 350m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32% of $76.40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150% of 230 </a:t>
            </a:r>
            <a:endParaRPr lang="en-AU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6431872" y="1230113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7213" indent="-557213">
              <a:buAutoNum type="alphaLcParenR"/>
            </a:pPr>
            <a:r>
              <a:rPr lang="en-US" sz="2700" b="1" dirty="0"/>
              <a:t>30 % of 560L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21% of 87m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92% of $70 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400% of 58cm 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2.5% of 320mm </a:t>
            </a:r>
            <a:endParaRPr lang="en-AU" sz="27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6431872" y="1230113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99AB-1C8A-6F2A-11B7-5A2B9F40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by an amount – I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5961D-C2AA-60A9-4736-6518247B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 a business owner, you often increase the price of items so your business can make money.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E.g. A fishing rod may cost a store $150. If the store wants to make a profit, they will need to sell it for more.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What is the selling price of the rod if we want to increase the cost by 10%?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6897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C866-D5D2-C450-26D1-F038708D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by percent –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F6B8-372E-0814-5610-149A77D7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Increase the following amounts by 10%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$210 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450L 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$21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784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B8AA-D121-9829-3A72-8D756499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by percent – 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60E9-8866-EFEF-C9E3-DF548CF4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Increase the following by 10% 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245L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endParaRPr lang="en-AU" sz="3200" dirty="0"/>
          </a:p>
          <a:p>
            <a:pPr marL="514350" indent="-514350">
              <a:buAutoNum type="alphaLcParenR"/>
            </a:pPr>
            <a:r>
              <a:rPr lang="en-AU" sz="3200" dirty="0"/>
              <a:t>$430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132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1320-8FD0-4FD3-8BB6-CD099FAE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A72-3D07-48D4-A6ED-1262D025D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Increase 240 by 10%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Increase 180 by 10%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Increase 95 by 90%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656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375-B7A5-49DD-BA8F-2A3187AF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805C-8387-4D81-B132-D43B9F80A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Complete “percentage increase” task sheet. </a:t>
            </a:r>
          </a:p>
        </p:txBody>
      </p:sp>
    </p:spTree>
    <p:extLst>
      <p:ext uri="{BB962C8B-B14F-4D97-AF65-F5344CB8AC3E}">
        <p14:creationId xmlns:p14="http://schemas.microsoft.com/office/powerpoint/2010/main" val="970615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97C0-82AB-055E-4AAB-82BE051C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Decrease by a percent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F8AF9-A48A-987D-469F-BB05DB7B6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702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617</TotalTime>
  <Words>401</Words>
  <Application>Microsoft Office PowerPoint</Application>
  <PresentationFormat>On-screen Show (4:3)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Lesson objective </vt:lpstr>
      <vt:lpstr>Re-teach </vt:lpstr>
      <vt:lpstr>Mental math percentages </vt:lpstr>
      <vt:lpstr>I do – you do </vt:lpstr>
      <vt:lpstr>I do </vt:lpstr>
      <vt:lpstr>We do </vt:lpstr>
      <vt:lpstr>Whiteboards </vt:lpstr>
      <vt:lpstr>Increasing by an amount – I do  </vt:lpstr>
      <vt:lpstr>Increase by percent – I do </vt:lpstr>
      <vt:lpstr>Increasing by percent – we do </vt:lpstr>
      <vt:lpstr>White boards</vt:lpstr>
      <vt:lpstr>Individual practice </vt:lpstr>
      <vt:lpstr>Decrease by a percent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tu cang</dc:creator>
  <cp:lastModifiedBy>DAVIES Rhys [Busselton Senior High School]</cp:lastModifiedBy>
  <cp:revision>84</cp:revision>
  <dcterms:created xsi:type="dcterms:W3CDTF">2005-06-21T10:20:30Z</dcterms:created>
  <dcterms:modified xsi:type="dcterms:W3CDTF">2022-09-18T11:45:28Z</dcterms:modified>
</cp:coreProperties>
</file>
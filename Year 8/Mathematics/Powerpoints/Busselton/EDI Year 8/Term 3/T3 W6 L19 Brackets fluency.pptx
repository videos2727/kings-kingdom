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90" r:id="rId2"/>
  </p:sldMasterIdLst>
  <p:notesMasterIdLst>
    <p:notesMasterId r:id="rId9"/>
  </p:notesMasterIdLst>
  <p:sldIdLst>
    <p:sldId id="263" r:id="rId3"/>
    <p:sldId id="273" r:id="rId4"/>
    <p:sldId id="256" r:id="rId5"/>
    <p:sldId id="274" r:id="rId6"/>
    <p:sldId id="270" r:id="rId7"/>
    <p:sldId id="27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725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F205AB-EE00-418C-BDB2-7B03555880E1}" type="datetimeFigureOut">
              <a:rPr lang="en-AU" smtClean="0"/>
              <a:t>24/08/2022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D3F583-DB0B-4B38-B6ED-02CD068DDB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528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Run through one at a time. Remember to review whiteboard etiquette.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D3F583-DB0B-4B38-B6ED-02CD068DDBB8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284814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Run through one at a time. Remember to review whiteboard etiquette.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D3F583-DB0B-4B38-B6ED-02CD068DDBB8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02742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Run through one at a time. Remember to review whiteboard etiquette.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D3F583-DB0B-4B38-B6ED-02CD068DDBB8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47566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Run through one at a time. Remember to review whiteboard etiquette.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D3F583-DB0B-4B38-B6ED-02CD068DDBB8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09754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Run through one at a time. Remember to review whiteboard etiquette.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D3F583-DB0B-4B38-B6ED-02CD068DDBB8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55367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6ABB-A39E-42EB-A550-4D6CB065C2E4}" type="datetimeFigureOut">
              <a:rPr lang="en-AU" smtClean="0"/>
              <a:t>24/08/2022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70A0-9451-423B-918C-F3DAEDA9A9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0087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6ABB-A39E-42EB-A550-4D6CB065C2E4}" type="datetimeFigureOut">
              <a:rPr lang="en-AU" smtClean="0"/>
              <a:t>24/08/2022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70A0-9451-423B-918C-F3DAEDA9A9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2514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6ABB-A39E-42EB-A550-4D6CB065C2E4}" type="datetimeFigureOut">
              <a:rPr lang="en-AU" smtClean="0"/>
              <a:t>24/08/2022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70A0-9451-423B-918C-F3DAEDA9A9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2937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6ABB-A39E-42EB-A550-4D6CB065C2E4}" type="datetimeFigureOut">
              <a:rPr lang="en-AU" smtClean="0"/>
              <a:t>24/08/2022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70A0-9451-423B-918C-F3DAEDA9A9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5394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6ABB-A39E-42EB-A550-4D6CB065C2E4}" type="datetimeFigureOut">
              <a:rPr lang="en-AU" smtClean="0"/>
              <a:t>24/08/2022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70A0-9451-423B-918C-F3DAEDA9A9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7436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6ABB-A39E-42EB-A550-4D6CB065C2E4}" type="datetimeFigureOut">
              <a:rPr lang="en-AU" smtClean="0"/>
              <a:t>24/08/2022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70A0-9451-423B-918C-F3DAEDA9A9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5250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6ABB-A39E-42EB-A550-4D6CB065C2E4}" type="datetimeFigureOut">
              <a:rPr lang="en-AU" smtClean="0"/>
              <a:t>24/08/2022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70A0-9451-423B-918C-F3DAEDA9A9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0981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6ABB-A39E-42EB-A550-4D6CB065C2E4}" type="datetimeFigureOut">
              <a:rPr lang="en-AU" smtClean="0"/>
              <a:t>24/08/2022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70A0-9451-423B-918C-F3DAEDA9A9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00507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6ABB-A39E-42EB-A550-4D6CB065C2E4}" type="datetimeFigureOut">
              <a:rPr lang="en-AU" smtClean="0"/>
              <a:t>24/08/2022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70A0-9451-423B-918C-F3DAEDA9A9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5379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6ABB-A39E-42EB-A550-4D6CB065C2E4}" type="datetimeFigureOut">
              <a:rPr lang="en-AU" smtClean="0"/>
              <a:t>24/08/2022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70A0-9451-423B-918C-F3DAEDA9A9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4716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6ABB-A39E-42EB-A550-4D6CB065C2E4}" type="datetimeFigureOut">
              <a:rPr lang="en-AU" smtClean="0"/>
              <a:t>24/08/2022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70A0-9451-423B-918C-F3DAEDA9A9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78369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6ABB-A39E-42EB-A550-4D6CB065C2E4}" type="datetimeFigureOut">
              <a:rPr lang="en-AU" smtClean="0"/>
              <a:t>24/08/2022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70A0-9451-423B-918C-F3DAEDA9A9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64907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6ABB-A39E-42EB-A550-4D6CB065C2E4}" type="datetimeFigureOut">
              <a:rPr lang="en-AU" smtClean="0"/>
              <a:t>24/08/2022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70A0-9451-423B-918C-F3DAEDA9A9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02076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6ABB-A39E-42EB-A550-4D6CB065C2E4}" type="datetimeFigureOut">
              <a:rPr lang="en-AU" smtClean="0"/>
              <a:t>24/08/2022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70A0-9451-423B-918C-F3DAEDA9A9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65136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6ABB-A39E-42EB-A550-4D6CB065C2E4}" type="datetimeFigureOut">
              <a:rPr lang="en-AU" smtClean="0"/>
              <a:t>24/08/2022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70A0-9451-423B-918C-F3DAEDA9A9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35945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6ABB-A39E-42EB-A550-4D6CB065C2E4}" type="datetimeFigureOut">
              <a:rPr lang="en-AU" smtClean="0"/>
              <a:t>24/08/2022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70A0-9451-423B-918C-F3DAEDA9A9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848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6ABB-A39E-42EB-A550-4D6CB065C2E4}" type="datetimeFigureOut">
              <a:rPr lang="en-AU" smtClean="0"/>
              <a:t>24/08/2022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70A0-9451-423B-918C-F3DAEDA9A9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944748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6ABB-A39E-42EB-A550-4D6CB065C2E4}" type="datetimeFigureOut">
              <a:rPr lang="en-AU" smtClean="0"/>
              <a:t>24/08/2022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70A0-9451-423B-918C-F3DAEDA9A9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32747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6ABB-A39E-42EB-A550-4D6CB065C2E4}" type="datetimeFigureOut">
              <a:rPr lang="en-AU" smtClean="0"/>
              <a:t>24/08/2022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70A0-9451-423B-918C-F3DAEDA9A9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62780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6ABB-A39E-42EB-A550-4D6CB065C2E4}" type="datetimeFigureOut">
              <a:rPr lang="en-AU" smtClean="0"/>
              <a:t>24/08/2022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70A0-9451-423B-918C-F3DAEDA9A9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86467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6ABB-A39E-42EB-A550-4D6CB065C2E4}" type="datetimeFigureOut">
              <a:rPr lang="en-AU" smtClean="0"/>
              <a:t>24/08/2022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70A0-9451-423B-918C-F3DAEDA9A9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64927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6ABB-A39E-42EB-A550-4D6CB065C2E4}" type="datetimeFigureOut">
              <a:rPr lang="en-AU" smtClean="0"/>
              <a:t>24/08/2022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70A0-9451-423B-918C-F3DAEDA9A9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48100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6ABB-A39E-42EB-A550-4D6CB065C2E4}" type="datetimeFigureOut">
              <a:rPr lang="en-AU" smtClean="0"/>
              <a:t>24/08/2022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70A0-9451-423B-918C-F3DAEDA9A951}" type="slidenum">
              <a:rPr lang="en-AU" smtClean="0"/>
              <a:t>‹#›</a:t>
            </a:fld>
            <a:endParaRPr lang="en-AU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2868958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6ABB-A39E-42EB-A550-4D6CB065C2E4}" type="datetimeFigureOut">
              <a:rPr lang="en-AU" smtClean="0"/>
              <a:t>24/08/2022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70A0-9451-423B-918C-F3DAEDA9A9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53829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6ABB-A39E-42EB-A550-4D6CB065C2E4}" type="datetimeFigureOut">
              <a:rPr lang="en-AU" smtClean="0"/>
              <a:t>24/08/2022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70A0-9451-423B-918C-F3DAEDA9A9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11937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6ABB-A39E-42EB-A550-4D6CB065C2E4}" type="datetimeFigureOut">
              <a:rPr lang="en-AU" smtClean="0"/>
              <a:t>24/08/2022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70A0-9451-423B-918C-F3DAEDA9A9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235603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6ABB-A39E-42EB-A550-4D6CB065C2E4}" type="datetimeFigureOut">
              <a:rPr lang="en-AU" smtClean="0"/>
              <a:t>24/08/2022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70A0-9451-423B-918C-F3DAEDA9A9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732927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6ABB-A39E-42EB-A550-4D6CB065C2E4}" type="datetimeFigureOut">
              <a:rPr lang="en-AU" smtClean="0"/>
              <a:t>24/08/2022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70A0-9451-423B-918C-F3DAEDA9A9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51362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346ABB-A39E-42EB-A550-4D6CB065C2E4}" type="datetimeFigureOut">
              <a:rPr lang="en-AU" smtClean="0"/>
              <a:t>24/08/2022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0870A0-9451-423B-918C-F3DAEDA9A9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5952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7D346ABB-A39E-42EB-A550-4D6CB065C2E4}" type="datetimeFigureOut">
              <a:rPr lang="en-AU" smtClean="0"/>
              <a:t>24/08/2022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60870A0-9451-423B-918C-F3DAEDA9A9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6268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F824BA-EDF9-4DF9-A27B-19C11A6A5737}"/>
              </a:ext>
            </a:extLst>
          </p:cNvPr>
          <p:cNvSpPr txBox="1"/>
          <p:nvPr/>
        </p:nvSpPr>
        <p:spPr>
          <a:xfrm>
            <a:off x="1271464" y="620688"/>
            <a:ext cx="10801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>
                <a:solidFill>
                  <a:srgbClr val="00B0F0"/>
                </a:solidFill>
              </a:rPr>
              <a:t>LO:</a:t>
            </a:r>
            <a:r>
              <a:rPr lang="en-AU" sz="3600" dirty="0">
                <a:solidFill>
                  <a:srgbClr val="00B0F0"/>
                </a:solidFill>
              </a:rPr>
              <a:t>	</a:t>
            </a:r>
          </a:p>
          <a:p>
            <a:pPr marL="447675" indent="-447675"/>
            <a:r>
              <a:rPr lang="en-AU" sz="3600" dirty="0">
                <a:solidFill>
                  <a:srgbClr val="00B0F0"/>
                </a:solidFill>
              </a:rPr>
              <a:t>	To be able to solve linear equations involving bracket and variables on both sides.</a:t>
            </a:r>
          </a:p>
          <a:p>
            <a:pPr marL="447675" indent="-447675"/>
            <a:r>
              <a:rPr lang="en-AU" sz="3600" b="1" dirty="0">
                <a:solidFill>
                  <a:srgbClr val="FF0000"/>
                </a:solidFill>
              </a:rPr>
              <a:t>PBS Focus: </a:t>
            </a:r>
            <a:r>
              <a:rPr lang="en-AU" sz="3600" dirty="0">
                <a:solidFill>
                  <a:srgbClr val="002060"/>
                </a:solidFill>
              </a:rPr>
              <a:t> </a:t>
            </a:r>
          </a:p>
          <a:p>
            <a:pPr>
              <a:tabLst>
                <a:tab pos="714375" algn="l"/>
              </a:tabLst>
            </a:pPr>
            <a:r>
              <a:rPr lang="en-AU" sz="2400" dirty="0">
                <a:solidFill>
                  <a:srgbClr val="002060"/>
                </a:solidFill>
              </a:rPr>
              <a:t>	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85646" y="3068961"/>
            <a:ext cx="8318866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rgbClr val="00B0F0"/>
                </a:solidFill>
              </a:rPr>
              <a:t>Plan:</a:t>
            </a:r>
            <a:r>
              <a:rPr lang="en-AU" sz="3200" dirty="0">
                <a:solidFill>
                  <a:srgbClr val="00B0F0"/>
                </a:solidFill>
              </a:rPr>
              <a:t>	</a:t>
            </a:r>
          </a:p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00B0F0"/>
                </a:solidFill>
              </a:rPr>
              <a:t>PBS</a:t>
            </a:r>
          </a:p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00B0F0"/>
                </a:solidFill>
              </a:rPr>
              <a:t>Daily review solving equations brackets and variables both sides</a:t>
            </a:r>
          </a:p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00B0F0"/>
                </a:solidFill>
              </a:rPr>
              <a:t>Complete all questions on worksheet</a:t>
            </a:r>
          </a:p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AU" sz="3200" dirty="0">
              <a:solidFill>
                <a:srgbClr val="002060"/>
              </a:solidFill>
            </a:endParaRPr>
          </a:p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AU" sz="3200" dirty="0">
              <a:solidFill>
                <a:srgbClr val="002060"/>
              </a:solidFill>
            </a:endParaRP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43324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>
            <a:alpha val="12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BBB7365-CFCF-4F6E-9B60-3D84FCCA18F6}"/>
                  </a:ext>
                </a:extLst>
              </p:cNvPr>
              <p:cNvSpPr txBox="1"/>
              <p:nvPr/>
            </p:nvSpPr>
            <p:spPr>
              <a:xfrm>
                <a:off x="1343472" y="62226"/>
                <a:ext cx="6096912" cy="43242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  <a:buClr>
                    <a:srgbClr val="FF0000"/>
                  </a:buClr>
                  <a:defRPr/>
                </a:pPr>
                <a:r>
                  <a:rPr lang="en-AU" sz="2800" dirty="0">
                    <a:solidFill>
                      <a:srgbClr val="002060"/>
                    </a:solidFill>
                  </a:rPr>
                  <a:t>Solve:</a:t>
                </a:r>
                <a:r>
                  <a:rPr lang="en-AU" sz="2800" dirty="0"/>
                  <a:t> (exercise books)   </a:t>
                </a:r>
                <a:endParaRPr lang="en-AU" sz="2800" i="1" dirty="0">
                  <a:latin typeface="Cambria Math" panose="02040503050406030204" pitchFamily="18" charset="0"/>
                </a:endParaRPr>
              </a:p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tabLst/>
                  <a:defRPr/>
                </a:pPr>
                <a:r>
                  <a:rPr kumimoji="0" lang="en-AU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endParaRPr kumimoji="0" lang="en-AU" sz="2800" b="0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514350" marR="0" lvl="0" indent="-5143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 typeface="+mj-lt"/>
                  <a:buAutoNum type="arabicPeriod" startAt="3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AU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𝟑</m:t>
                    </m:r>
                    <m:r>
                      <a:rPr kumimoji="0" lang="en-AU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𝒙</m:t>
                    </m:r>
                    <m:r>
                      <a:rPr kumimoji="0" lang="en-AU" sz="3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r>
                      <a:rPr kumimoji="0" lang="en-AU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𝟕</m:t>
                    </m:r>
                    <m:r>
                      <a:rPr kumimoji="0" lang="en-AU" sz="3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kumimoji="0" lang="en-AU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𝟗</m:t>
                    </m:r>
                    <m:r>
                      <a:rPr kumimoji="0" lang="en-AU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r>
                      <a:rPr kumimoji="0" lang="en-AU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𝟓</m:t>
                    </m:r>
                    <m:r>
                      <a:rPr kumimoji="0" lang="en-AU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𝒙</m:t>
                    </m:r>
                  </m:oMath>
                </a14:m>
                <a:endParaRPr kumimoji="0" lang="en-AU" sz="3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514350" marR="0" lvl="0" indent="-5143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 typeface="+mj-lt"/>
                  <a:buAutoNum type="arabicPeriod" startAt="3"/>
                  <a:tabLst/>
                  <a:defRPr/>
                </a:pPr>
                <a:endParaRPr lang="en-AU" sz="2800" dirty="0">
                  <a:solidFill>
                    <a:schemeClr val="tx1"/>
                  </a:solidFill>
                  <a:latin typeface="Calibri"/>
                </a:endParaRPr>
              </a:p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tabLst/>
                  <a:defRPr/>
                </a:pPr>
                <a:endParaRPr lang="en-AU" sz="2800" dirty="0">
                  <a:solidFill>
                    <a:schemeClr val="tx1"/>
                  </a:solidFill>
                  <a:latin typeface="Calibri"/>
                </a:endParaRPr>
              </a:p>
              <a:p>
                <a:pPr marL="514350" marR="0" lvl="0" indent="-5143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 typeface="+mj-lt"/>
                  <a:buAutoNum type="arabicPeriod" startAt="3"/>
                  <a:tabLst/>
                  <a:defRPr/>
                </a:pPr>
                <a:endParaRPr kumimoji="0" lang="en-AU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514350" marR="0" lvl="0" indent="-5143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 typeface="+mj-lt"/>
                  <a:buAutoNum type="arabicPeriod" startAt="3"/>
                  <a:tabLst/>
                  <a:defRPr/>
                </a:pPr>
                <a:endParaRPr kumimoji="0" lang="en-AU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514350" marR="0" lvl="0" indent="-5143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 typeface="+mj-lt"/>
                  <a:buAutoNum type="arabicPeriod" startAt="4"/>
                  <a:tabLst/>
                  <a:defRPr/>
                </a:pPr>
                <a:r>
                  <a:rPr kumimoji="0" lang="en-AU" sz="36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AU" sz="3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𝟓</m:t>
                    </m:r>
                    <m:r>
                      <a:rPr kumimoji="0" lang="en-AU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r>
                      <a:rPr kumimoji="0" lang="en-AU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𝟑</m:t>
                    </m:r>
                    <m:r>
                      <a:rPr kumimoji="0" lang="en-AU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𝒙</m:t>
                    </m:r>
                    <m:r>
                      <a:rPr kumimoji="0" lang="en-AU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kumimoji="0" lang="en-AU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𝟒</m:t>
                    </m:r>
                    <m:r>
                      <a:rPr kumimoji="0" lang="en-AU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𝒙</m:t>
                    </m:r>
                    <m:r>
                      <a:rPr kumimoji="0" lang="en-AU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r>
                      <a:rPr kumimoji="0" lang="en-AU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𝟏𝟐</m:t>
                    </m:r>
                  </m:oMath>
                </a14:m>
                <a:endParaRPr kumimoji="0" lang="en-AU" sz="3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BBB7365-CFCF-4F6E-9B60-3D84FCCA18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3472" y="62226"/>
                <a:ext cx="6096912" cy="4324261"/>
              </a:xfrm>
              <a:prstGeom prst="rect">
                <a:avLst/>
              </a:prstGeom>
              <a:blipFill>
                <a:blip r:embed="rId3"/>
                <a:stretch>
                  <a:fillRect l="-3097" t="-1268" b="-450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042E52E8-41C2-4DAA-9265-3E70710CB7CB}"/>
              </a:ext>
            </a:extLst>
          </p:cNvPr>
          <p:cNvSpPr txBox="1"/>
          <p:nvPr/>
        </p:nvSpPr>
        <p:spPr>
          <a:xfrm>
            <a:off x="6960096" y="764704"/>
            <a:ext cx="4608512" cy="490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AU" sz="3200" u="sng" dirty="0">
                <a:solidFill>
                  <a:srgbClr val="0070C0"/>
                </a:solidFill>
              </a:rPr>
              <a:t>Equation solving steps</a:t>
            </a:r>
            <a:r>
              <a:rPr lang="en-AU" sz="3200" dirty="0">
                <a:solidFill>
                  <a:srgbClr val="0070C0"/>
                </a:solidFill>
              </a:rPr>
              <a:t>: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3200" dirty="0">
                <a:solidFill>
                  <a:srgbClr val="0070C0"/>
                </a:solidFill>
              </a:rPr>
              <a:t>Simplify both sides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3200" dirty="0">
                <a:solidFill>
                  <a:srgbClr val="0070C0"/>
                </a:solidFill>
              </a:rPr>
              <a:t>Collect variable terms to left and numbers to right – swap sides swap signs.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3200" dirty="0">
                <a:solidFill>
                  <a:srgbClr val="0070C0"/>
                </a:solidFill>
              </a:rPr>
              <a:t>Simplify both sides 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3200" dirty="0">
                <a:solidFill>
                  <a:srgbClr val="0070C0"/>
                </a:solidFill>
              </a:rPr>
              <a:t>Divide both sides by coefficient.</a:t>
            </a:r>
          </a:p>
        </p:txBody>
      </p:sp>
    </p:spTree>
    <p:extLst>
      <p:ext uri="{BB962C8B-B14F-4D97-AF65-F5344CB8AC3E}">
        <p14:creationId xmlns:p14="http://schemas.microsoft.com/office/powerpoint/2010/main" val="539207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>
            <a:alpha val="12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80EC863-DF68-4B48-87A9-DD95AF777C1B}"/>
                  </a:ext>
                </a:extLst>
              </p:cNvPr>
              <p:cNvSpPr txBox="1"/>
              <p:nvPr/>
            </p:nvSpPr>
            <p:spPr>
              <a:xfrm>
                <a:off x="1271499" y="105549"/>
                <a:ext cx="6552728" cy="62016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AU" sz="4000" dirty="0">
                    <a:solidFill>
                      <a:srgbClr val="002060"/>
                    </a:solidFill>
                  </a:rPr>
                  <a:t>Solve: white boards</a:t>
                </a:r>
                <a:endParaRPr lang="en-AU" sz="4000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spcAft>
                    <a:spcPts val="600"/>
                  </a:spcAft>
                  <a:buClr>
                    <a:srgbClr val="FF0000"/>
                  </a:buClr>
                  <a:buAutoNum type="arabicPeriod"/>
                </a:pPr>
                <a:r>
                  <a:rPr lang="en-AU" sz="4000" dirty="0"/>
                  <a:t> </a:t>
                </a:r>
                <a14:m>
                  <m:oMath xmlns:m="http://schemas.openxmlformats.org/officeDocument/2006/math">
                    <m:r>
                      <a:rPr lang="en-AU" sz="4000" i="1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sz="4000" b="0" i="1" smtClean="0">
                        <a:latin typeface="Cambria Math" panose="02040503050406030204" pitchFamily="18" charset="0"/>
                      </a:rPr>
                      <m:t>(2</m:t>
                    </m:r>
                    <m:r>
                      <a:rPr lang="en-AU" sz="4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4000" i="1">
                        <a:latin typeface="Cambria Math" panose="02040503050406030204" pitchFamily="18" charset="0"/>
                      </a:rPr>
                      <m:t>−4)=6 </m:t>
                    </m:r>
                  </m:oMath>
                </a14:m>
                <a:endParaRPr lang="en-AU" sz="4000" dirty="0"/>
              </a:p>
              <a:p>
                <a:pPr marL="514350" indent="-514350">
                  <a:spcAft>
                    <a:spcPts val="600"/>
                  </a:spcAft>
                  <a:buClr>
                    <a:srgbClr val="FF0000"/>
                  </a:buClr>
                  <a:buAutoNum type="arabicPeriod"/>
                </a:pPr>
                <a:endParaRPr lang="en-AU" sz="4000" dirty="0"/>
              </a:p>
              <a:p>
                <a:pPr marL="514350" indent="-514350">
                  <a:spcAft>
                    <a:spcPts val="600"/>
                  </a:spcAft>
                  <a:buClr>
                    <a:srgbClr val="FF0000"/>
                  </a:buClr>
                  <a:buAutoNum type="arabicPeriod"/>
                </a:pPr>
                <a:endParaRPr lang="en-AU" sz="4000" dirty="0"/>
              </a:p>
              <a:p>
                <a:pPr marL="514350" indent="-514350">
                  <a:spcAft>
                    <a:spcPts val="600"/>
                  </a:spcAft>
                  <a:buClr>
                    <a:srgbClr val="FF0000"/>
                  </a:buClr>
                  <a:buAutoNum type="arabicPeriod"/>
                </a:pPr>
                <a:endParaRPr lang="en-AU" sz="4000" dirty="0"/>
              </a:p>
              <a:p>
                <a:pPr marL="514350" indent="-514350">
                  <a:spcAft>
                    <a:spcPts val="600"/>
                  </a:spcAft>
                  <a:buClr>
                    <a:srgbClr val="FF0000"/>
                  </a:buClr>
                  <a:buAutoNum type="arabicPeriod"/>
                </a:pPr>
                <a:r>
                  <a:rPr lang="en-AU" sz="4000" dirty="0"/>
                  <a:t> </a:t>
                </a:r>
                <a14:m>
                  <m:oMath xmlns:m="http://schemas.openxmlformats.org/officeDocument/2006/math">
                    <m:r>
                      <a:rPr lang="en-AU" sz="4000" i="1">
                        <a:latin typeface="Cambria Math" panose="02040503050406030204" pitchFamily="18" charset="0"/>
                      </a:rPr>
                      <m:t>7</m:t>
                    </m:r>
                    <m:r>
                      <a:rPr lang="en-AU" sz="4000" b="0" i="1" smtClean="0">
                        <a:latin typeface="Cambria Math" panose="02040503050406030204" pitchFamily="18" charset="0"/>
                      </a:rPr>
                      <m:t>(4−3</m:t>
                    </m:r>
                    <m:r>
                      <a:rPr lang="en-AU" sz="4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4000" b="0" i="1" smtClean="0">
                        <a:latin typeface="Cambria Math" panose="02040503050406030204" pitchFamily="18" charset="0"/>
                      </a:rPr>
                      <m:t>)=11</m:t>
                    </m:r>
                  </m:oMath>
                </a14:m>
                <a:endParaRPr lang="en-AU" sz="4000" dirty="0"/>
              </a:p>
              <a:p>
                <a:pPr marL="514350" indent="-514350">
                  <a:spcAft>
                    <a:spcPts val="600"/>
                  </a:spcAft>
                  <a:buClr>
                    <a:srgbClr val="FF0000"/>
                  </a:buClr>
                  <a:buAutoNum type="arabicPeriod"/>
                </a:pPr>
                <a:endParaRPr lang="en-AU" sz="2800" dirty="0"/>
              </a:p>
              <a:p>
                <a:pPr marL="514350" indent="-514350">
                  <a:spcAft>
                    <a:spcPts val="600"/>
                  </a:spcAft>
                  <a:buClr>
                    <a:srgbClr val="FF0000"/>
                  </a:buClr>
                  <a:buAutoNum type="arabicPeriod"/>
                </a:pPr>
                <a:endParaRPr lang="en-AU" sz="2800" dirty="0"/>
              </a:p>
              <a:p>
                <a:pPr marL="514350" indent="-514350">
                  <a:spcAft>
                    <a:spcPts val="600"/>
                  </a:spcAft>
                  <a:buClr>
                    <a:srgbClr val="FF0000"/>
                  </a:buClr>
                  <a:buAutoNum type="arabicPeriod"/>
                </a:pPr>
                <a:endParaRPr lang="en-AU" sz="2800" dirty="0"/>
              </a:p>
              <a:p>
                <a:endParaRPr lang="en-AU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80EC863-DF68-4B48-87A9-DD95AF777C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1499" y="105549"/>
                <a:ext cx="6552728" cy="6201698"/>
              </a:xfrm>
              <a:prstGeom prst="rect">
                <a:avLst/>
              </a:prstGeom>
              <a:blipFill>
                <a:blip r:embed="rId3"/>
                <a:stretch>
                  <a:fillRect l="-3349" t="-167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C72D3061-FC57-42F4-8906-9E4E0B7E362C}"/>
              </a:ext>
            </a:extLst>
          </p:cNvPr>
          <p:cNvSpPr txBox="1"/>
          <p:nvPr/>
        </p:nvSpPr>
        <p:spPr>
          <a:xfrm>
            <a:off x="6960096" y="764704"/>
            <a:ext cx="4608512" cy="490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AU" sz="3200" u="sng" dirty="0">
                <a:solidFill>
                  <a:srgbClr val="0070C0"/>
                </a:solidFill>
              </a:rPr>
              <a:t>Equation solving steps</a:t>
            </a:r>
            <a:r>
              <a:rPr lang="en-AU" sz="3200" dirty="0">
                <a:solidFill>
                  <a:srgbClr val="0070C0"/>
                </a:solidFill>
              </a:rPr>
              <a:t>: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3200" dirty="0">
                <a:solidFill>
                  <a:srgbClr val="0070C0"/>
                </a:solidFill>
              </a:rPr>
              <a:t>Simplify both sides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3200" dirty="0">
                <a:solidFill>
                  <a:srgbClr val="0070C0"/>
                </a:solidFill>
              </a:rPr>
              <a:t>Collect variable terms to left and numbers to right – swap sides swap signs.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3200" dirty="0">
                <a:solidFill>
                  <a:srgbClr val="0070C0"/>
                </a:solidFill>
              </a:rPr>
              <a:t>Simplify both sides 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3200" dirty="0">
                <a:solidFill>
                  <a:srgbClr val="0070C0"/>
                </a:solidFill>
              </a:rPr>
              <a:t>Divide both sides by coefficient.</a:t>
            </a:r>
          </a:p>
        </p:txBody>
      </p:sp>
    </p:spTree>
    <p:extLst>
      <p:ext uri="{BB962C8B-B14F-4D97-AF65-F5344CB8AC3E}">
        <p14:creationId xmlns:p14="http://schemas.microsoft.com/office/powerpoint/2010/main" val="1553781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>
            <a:alpha val="12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BBB7365-CFCF-4F6E-9B60-3D84FCCA18F6}"/>
                  </a:ext>
                </a:extLst>
              </p:cNvPr>
              <p:cNvSpPr txBox="1"/>
              <p:nvPr/>
            </p:nvSpPr>
            <p:spPr>
              <a:xfrm>
                <a:off x="263352" y="188640"/>
                <a:ext cx="6096912" cy="33085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  <a:buClr>
                    <a:srgbClr val="FF0000"/>
                  </a:buClr>
                  <a:defRPr/>
                </a:pPr>
                <a:r>
                  <a:rPr lang="en-AU" sz="2800" dirty="0">
                    <a:solidFill>
                      <a:srgbClr val="002060"/>
                    </a:solidFill>
                  </a:rPr>
                  <a:t>Solve:</a:t>
                </a:r>
                <a:r>
                  <a:rPr lang="en-AU" sz="2800" dirty="0"/>
                  <a:t> (exercise books)   </a:t>
                </a:r>
                <a:endParaRPr lang="en-AU" sz="2800" i="1" dirty="0">
                  <a:latin typeface="Cambria Math" panose="02040503050406030204" pitchFamily="18" charset="0"/>
                </a:endParaRP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 typeface="+mj-lt"/>
                  <a:buAutoNum type="arabicPeriod" startAt="5"/>
                  <a:tabLst/>
                  <a:defRPr/>
                </a:pPr>
                <a:r>
                  <a:rPr kumimoji="0" lang="en-AU" sz="3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 </a:t>
                </a:r>
                <a14:m>
                  <m:oMath xmlns:m="http://schemas.openxmlformats.org/officeDocument/2006/math">
                    <m:r>
                      <a:rPr kumimoji="0" lang="en-AU" sz="36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𝟑</m:t>
                    </m:r>
                    <m:r>
                      <a:rPr kumimoji="0" lang="en-AU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kumimoji="0" lang="en-AU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𝟐</m:t>
                    </m:r>
                    <m:r>
                      <a:rPr kumimoji="0" lang="en-AU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𝒙</m:t>
                    </m:r>
                    <m:r>
                      <a:rPr kumimoji="0" lang="en-AU" sz="3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r>
                      <a:rPr kumimoji="0" lang="en-AU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𝟏</m:t>
                    </m:r>
                    <m:r>
                      <a:rPr kumimoji="0" lang="en-AU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)=</m:t>
                    </m:r>
                    <m:r>
                      <a:rPr kumimoji="0" lang="en-AU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𝟒</m:t>
                    </m:r>
                    <m:r>
                      <a:rPr kumimoji="0" lang="en-AU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kumimoji="0" lang="en-AU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𝟐</m:t>
                    </m:r>
                    <m:r>
                      <a:rPr kumimoji="0" lang="en-AU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𝒙</m:t>
                    </m:r>
                    <m:r>
                      <a:rPr kumimoji="0" lang="en-AU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r>
                      <a:rPr kumimoji="0" lang="en-AU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𝟓</m:t>
                    </m:r>
                    <m:r>
                      <a:rPr kumimoji="0" lang="en-AU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endParaRPr kumimoji="0" lang="en-AU" sz="3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514350" marR="0" lvl="0" indent="-5143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 typeface="+mj-lt"/>
                  <a:buAutoNum type="arabicPeriod" startAt="3"/>
                  <a:tabLst/>
                  <a:defRPr/>
                </a:pPr>
                <a:endParaRPr lang="en-AU" sz="2800" dirty="0">
                  <a:solidFill>
                    <a:prstClr val="black"/>
                  </a:solidFill>
                  <a:latin typeface="Calibri"/>
                </a:endParaRPr>
              </a:p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tabLst/>
                  <a:defRPr/>
                </a:pPr>
                <a:endParaRPr lang="en-AU" sz="2800" dirty="0">
                  <a:solidFill>
                    <a:prstClr val="black"/>
                  </a:solidFill>
                  <a:latin typeface="Calibri"/>
                </a:endParaRPr>
              </a:p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tabLst/>
                  <a:defRPr/>
                </a:pPr>
                <a:endParaRPr kumimoji="0" lang="en-AU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 typeface="+mj-lt"/>
                  <a:buAutoNum type="arabicPeriod" startAt="6"/>
                  <a:tabLst/>
                  <a:defRPr/>
                </a:pPr>
                <a:r>
                  <a:rPr kumimoji="0" lang="en-AU" sz="3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AU" sz="36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r>
                      <a:rPr kumimoji="0" lang="en-AU" sz="36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𝟑</m:t>
                    </m:r>
                    <m:d>
                      <m:dPr>
                        <m:ctrlPr>
                          <a:rPr kumimoji="0" lang="en-AU" sz="3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AU" sz="3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𝟐</m:t>
                        </m:r>
                        <m:r>
                          <a:rPr kumimoji="0" lang="en-AU" sz="3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𝒙</m:t>
                        </m:r>
                        <m:r>
                          <a:rPr kumimoji="0" lang="en-AU" sz="3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  <m:r>
                          <a:rPr kumimoji="0" lang="en-AU" sz="3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𝟏</m:t>
                        </m:r>
                      </m:e>
                    </m:d>
                    <m:r>
                      <a:rPr kumimoji="0" lang="en-AU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kumimoji="0" lang="en-AU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𝟐</m:t>
                    </m:r>
                    <m:r>
                      <a:rPr kumimoji="0" lang="en-AU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kumimoji="0" lang="en-AU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𝟑</m:t>
                    </m:r>
                    <m:r>
                      <a:rPr kumimoji="0" lang="en-AU" sz="3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r>
                      <a:rPr kumimoji="0" lang="en-AU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𝟒</m:t>
                    </m:r>
                    <m:r>
                      <a:rPr kumimoji="0" lang="en-AU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𝒙</m:t>
                    </m:r>
                    <m:r>
                      <a:rPr kumimoji="0" lang="en-AU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endParaRPr kumimoji="0" lang="en-AU" sz="3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BBB7365-CFCF-4F6E-9B60-3D84FCCA18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352" y="188640"/>
                <a:ext cx="6096912" cy="3308598"/>
              </a:xfrm>
              <a:prstGeom prst="rect">
                <a:avLst/>
              </a:prstGeom>
              <a:blipFill>
                <a:blip r:embed="rId3"/>
                <a:stretch>
                  <a:fillRect l="-3100" t="-1842" b="-607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042E52E8-41C2-4DAA-9265-3E70710CB7CB}"/>
              </a:ext>
            </a:extLst>
          </p:cNvPr>
          <p:cNvSpPr txBox="1"/>
          <p:nvPr/>
        </p:nvSpPr>
        <p:spPr>
          <a:xfrm>
            <a:off x="6960096" y="764704"/>
            <a:ext cx="4608512" cy="490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AU" sz="3200" u="sng" dirty="0">
                <a:solidFill>
                  <a:srgbClr val="0070C0"/>
                </a:solidFill>
              </a:rPr>
              <a:t>Equation solving steps</a:t>
            </a:r>
            <a:r>
              <a:rPr lang="en-AU" sz="3200" dirty="0">
                <a:solidFill>
                  <a:srgbClr val="0070C0"/>
                </a:solidFill>
              </a:rPr>
              <a:t>: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3200" dirty="0">
                <a:solidFill>
                  <a:srgbClr val="0070C0"/>
                </a:solidFill>
              </a:rPr>
              <a:t>Simplify both sides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3200" dirty="0">
                <a:solidFill>
                  <a:srgbClr val="0070C0"/>
                </a:solidFill>
              </a:rPr>
              <a:t>Collect variable terms to left and numbers to right – swap sides swap signs.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3200" dirty="0">
                <a:solidFill>
                  <a:srgbClr val="0070C0"/>
                </a:solidFill>
              </a:rPr>
              <a:t>Simplify both sides 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3200" dirty="0">
                <a:solidFill>
                  <a:srgbClr val="0070C0"/>
                </a:solidFill>
              </a:rPr>
              <a:t>Divide both sides by coefficient.</a:t>
            </a:r>
          </a:p>
        </p:txBody>
      </p:sp>
    </p:spTree>
    <p:extLst>
      <p:ext uri="{BB962C8B-B14F-4D97-AF65-F5344CB8AC3E}">
        <p14:creationId xmlns:p14="http://schemas.microsoft.com/office/powerpoint/2010/main" val="3772899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>
            <a:alpha val="12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80EC863-DF68-4B48-87A9-DD95AF777C1B}"/>
                  </a:ext>
                </a:extLst>
              </p:cNvPr>
              <p:cNvSpPr txBox="1"/>
              <p:nvPr/>
            </p:nvSpPr>
            <p:spPr>
              <a:xfrm>
                <a:off x="335360" y="1124744"/>
                <a:ext cx="6552728" cy="1600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AU" sz="2800" dirty="0">
                    <a:solidFill>
                      <a:srgbClr val="002060"/>
                    </a:solidFill>
                  </a:rPr>
                  <a:t>Solve:</a:t>
                </a:r>
                <a:r>
                  <a:rPr lang="en-AU" sz="2800" dirty="0"/>
                  <a:t>    </a:t>
                </a:r>
                <a:endParaRPr lang="en-AU" sz="2800" i="1" dirty="0">
                  <a:latin typeface="Cambria Math" panose="02040503050406030204" pitchFamily="18" charset="0"/>
                </a:endParaRPr>
              </a:p>
              <a:p>
                <a:pPr algn="ctr">
                  <a:spcAft>
                    <a:spcPts val="600"/>
                  </a:spcAft>
                  <a:buClr>
                    <a:srgbClr val="FF0000"/>
                  </a:buClr>
                </a:pPr>
                <a:r>
                  <a:rPr lang="en-AU" sz="2800" b="1" dirty="0"/>
                  <a:t> </a:t>
                </a:r>
                <a14:m>
                  <m:oMath xmlns:m="http://schemas.openxmlformats.org/officeDocument/2006/math">
                    <m:r>
                      <a:rPr lang="en-AU" sz="32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3200" b="1" i="1">
                        <a:latin typeface="Cambria Math" panose="02040503050406030204" pitchFamily="18" charset="0"/>
                      </a:rPr>
                      <m:t>𝟐</m:t>
                    </m:r>
                    <m:d>
                      <m:dPr>
                        <m:ctrlPr>
                          <a:rPr lang="en-AU" sz="3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3200" b="1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AU" sz="3200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AU" sz="32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AU" sz="3200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AU" sz="32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3200" b="1" i="1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AU" sz="32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32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AU" sz="32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3200" b="1" i="1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AU" sz="32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32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3200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AU" sz="32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sz="3200" b="1" dirty="0"/>
              </a:p>
              <a:p>
                <a:pPr>
                  <a:spcAft>
                    <a:spcPts val="600"/>
                  </a:spcAft>
                  <a:buClr>
                    <a:srgbClr val="FF0000"/>
                  </a:buClr>
                </a:pPr>
                <a:endParaRPr lang="en-AU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80EC863-DF68-4B48-87A9-DD95AF777C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360" y="1124744"/>
                <a:ext cx="6552728" cy="1600438"/>
              </a:xfrm>
              <a:prstGeom prst="rect">
                <a:avLst/>
              </a:prstGeom>
              <a:blipFill>
                <a:blip r:embed="rId3"/>
                <a:stretch>
                  <a:fillRect l="-1860" t="-38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1919536" y="404665"/>
            <a:ext cx="5436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Year 8 A grade – brackets both sides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48730" y="1295341"/>
            <a:ext cx="4608512" cy="490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AU" sz="3200" dirty="0">
                <a:solidFill>
                  <a:srgbClr val="0070C0"/>
                </a:solidFill>
              </a:rPr>
              <a:t>Equation solving steps: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3200" dirty="0">
                <a:solidFill>
                  <a:srgbClr val="0070C0"/>
                </a:solidFill>
              </a:rPr>
              <a:t>Simplify both sides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3200" dirty="0">
                <a:solidFill>
                  <a:srgbClr val="0070C0"/>
                </a:solidFill>
              </a:rPr>
              <a:t>Collect variable terms to left and numbers to right – swap sides swap signs.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3200" dirty="0">
                <a:solidFill>
                  <a:srgbClr val="0070C0"/>
                </a:solidFill>
              </a:rPr>
              <a:t>Simplify both sides 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3200" dirty="0">
                <a:solidFill>
                  <a:srgbClr val="0070C0"/>
                </a:solidFill>
              </a:rPr>
              <a:t>Divide both sides by coefficient.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CDCC1DD-F1AA-4E3A-BE73-9972294BEE39}"/>
                  </a:ext>
                </a:extLst>
              </p:cNvPr>
              <p:cNvSpPr txBox="1"/>
              <p:nvPr/>
            </p:nvSpPr>
            <p:spPr>
              <a:xfrm>
                <a:off x="839416" y="2213118"/>
                <a:ext cx="5544616" cy="40114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d>
                        <m:dPr>
                          <m:ctrlPr>
                            <a:rPr lang="en-AU" sz="3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AU" sz="3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AU" sz="3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3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AU" sz="32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200" b="1" i="1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32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d>
                        <m:dPr>
                          <m:ctrlPr>
                            <a:rPr lang="en-AU" sz="3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AU" sz="3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AU" sz="3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3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AU" sz="32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32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AU" sz="32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32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AU" sz="32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3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sz="3200" b="1" i="1" smtClean="0">
                              <a:latin typeface="Cambria Math" panose="02040503050406030204" pitchFamily="18" charset="0"/>
                            </a:rPr>
                            <m:t>𝟏𝟐</m:t>
                          </m:r>
                        </m:den>
                      </m:f>
                    </m:oMath>
                  </m:oMathPara>
                </a14:m>
                <a:endParaRPr lang="en-AU" sz="3200" b="1" dirty="0"/>
              </a:p>
              <a:p>
                <a:endParaRPr lang="en-AU" sz="32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CDCC1DD-F1AA-4E3A-BE73-9972294BEE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416" y="2213118"/>
                <a:ext cx="5544616" cy="401141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9782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>
            <a:alpha val="12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1664" y="355431"/>
            <a:ext cx="9005431" cy="63367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6205" y="355431"/>
            <a:ext cx="3456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Independent practice</a:t>
            </a:r>
          </a:p>
        </p:txBody>
      </p:sp>
    </p:spTree>
    <p:extLst>
      <p:ext uri="{BB962C8B-B14F-4D97-AF65-F5344CB8AC3E}">
        <p14:creationId xmlns:p14="http://schemas.microsoft.com/office/powerpoint/2010/main" val="707950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1535</TotalTime>
  <Words>372</Words>
  <Application>Microsoft Office PowerPoint</Application>
  <PresentationFormat>Widescreen</PresentationFormat>
  <Paragraphs>71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Cambria Math</vt:lpstr>
      <vt:lpstr>Tw Cen MT</vt:lpstr>
      <vt:lpstr>Office Theme</vt:lpstr>
      <vt:lpstr>Droplet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Equation solving</dc:title>
  <dc:creator>WALL Kevin</dc:creator>
  <cp:lastModifiedBy>DAVIES Rhys [Busselton Senior High School]</cp:lastModifiedBy>
  <cp:revision>37</cp:revision>
  <dcterms:created xsi:type="dcterms:W3CDTF">2018-03-09T00:06:32Z</dcterms:created>
  <dcterms:modified xsi:type="dcterms:W3CDTF">2022-08-24T08:57:18Z</dcterms:modified>
</cp:coreProperties>
</file>
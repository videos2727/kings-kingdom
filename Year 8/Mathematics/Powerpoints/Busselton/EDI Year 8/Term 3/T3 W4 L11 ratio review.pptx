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2" r:id="rId5"/>
    <p:sldId id="258" r:id="rId6"/>
    <p:sldId id="263" r:id="rId7"/>
    <p:sldId id="264" r:id="rId8"/>
    <p:sldId id="259" r:id="rId9"/>
    <p:sldId id="260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F8919-3EA7-411C-8958-E06D3AC98309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A050A-7E1C-4944-BDB8-290ABFF137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15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many triangles if there were 64 squares?</a:t>
            </a:r>
          </a:p>
          <a:p>
            <a:r>
              <a:rPr lang="en-US" dirty="0"/>
              <a:t>How many squares if there were 110 triangles?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A050A-7E1C-4944-BDB8-290ABFF1379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407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248B-B818-C2AE-13C5-390A9D2DD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E8339-276F-A3F7-5085-D61924229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81660-A49F-3E60-F697-BF655762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362FA-403D-2313-7DF0-F9C33A1C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263AD-53A7-4532-6CDE-A321969E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61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FCCA-1075-B50B-73F5-F6C3D02B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09B3D-FA4F-3E6D-DEC9-176757A00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E6BE1-E944-0502-10D2-3D123C00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BFBE8-3A2B-D492-4DDC-EDAF8821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262C8-3393-BA96-3453-10311E3F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797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BD01-69F6-BE85-26F4-3F46D915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CAE0D-A2AB-D7D5-E035-50E1157A6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6B92B-0678-5DCC-4589-85CE50F9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66DF-6592-FB60-09A1-2394D25F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0654-D07D-723B-08BF-C124CBED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66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762-9080-6246-EDFB-14CA4C1D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0B64-4DA7-987F-6FA1-D7063355A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3C11A-1D43-A5D7-084E-17AE817BB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5BDF9-2A43-3EE4-35EA-CFC44DFC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084C7-EC15-E59C-B04E-2E53DBCE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6AB17-9D47-D00F-A1FF-36E08C91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6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C66A-C67F-E642-74CC-AFBBDE4A9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6F142-1A2E-EA03-421D-F9F01004C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5EF39-39C2-67FF-C341-B70C218B4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5C6FD-9255-0C1D-3CCC-FE998063C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B6AF7-D82F-5660-DA13-8F6F80EC4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5D965-4726-69E6-5443-A5D17686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381E9C-BC03-377C-8CB0-39708A47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9A3D3-50A1-7B39-9D03-604ED880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71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FB64-3B3A-BE8D-9373-EB1AEB6E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B78C1-0CEE-3CD1-8623-B7A5FBE1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EA5DC-C6C1-DE8B-DDCF-00AF5C67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27261-66DD-AE26-0091-54FD20F7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1077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080DC-A843-1029-FD78-F28E7291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8035A-378C-8DA3-09FF-8831480BE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DA4A2-10A5-D71A-52D8-694D1156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419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476C-0314-E72D-B882-5CBD9E1F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79470-9566-915A-B447-9FACD98C6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6C0AE-AB48-EDA5-F71D-2DC5BAF41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6FEE1-1280-2167-F465-53CB4BA6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66F3F-DF7A-C88A-6B08-AE42EEE3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B60B8-9EFC-A3CE-E2B0-B9B7AD2A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42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8732-74C5-531B-8832-86F9F12D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41537-1B5E-A14F-E51C-33ECF25D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DC7FC-00DA-5B8F-4B49-C06C37DD8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BB8B2-9AA8-E4D9-9969-4176F69F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83D07-E838-CCF7-6505-3D087BCF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47CB-AFC2-F0BE-EF91-62F08264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594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CBC9-670D-B034-A5B1-07F2C061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D6DCB-9A50-9AB7-E22C-162E93198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6B2F2-8597-F337-C1AF-F0A61A60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168DA-12CD-588C-0641-B51E4A7B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A1C93-5BF1-4697-2428-A489F157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77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354AA-0C60-E2A5-6160-079D6E4A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F8C95-6216-3A50-A2F5-637E9CE51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7A7CD-023A-B050-16E3-177D426F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2196A-EFCF-3468-309B-B7E4956FE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F4157-46D2-93D6-9204-66E08330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48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4084F-68AA-2829-6455-3A5F51F2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EBA94-2A4F-843B-E467-3002C4AD7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AD413-CBD9-C6EE-5936-CB22E528C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3F46-68CE-4D20-9BCF-B46FC414FE65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6CD2E-C173-DB48-1BF7-9ED4723C6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87EE0-919E-7C43-41EF-81307E297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1D33A-6E2E-46E9-BFE7-6E4A7CB1E1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7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B3FA43-080F-9931-EC4E-9DEFAE08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36E077-33D8-3BED-067A-F370FB48F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Ratio in patterns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Identify ratios in patterns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Calculate speed, distance and time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ratios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Speed, distance and time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4E318-76C7-33D6-A310-EA7743311B83}"/>
              </a:ext>
            </a:extLst>
          </p:cNvPr>
          <p:cNvSpPr txBox="1"/>
          <p:nvPr/>
        </p:nvSpPr>
        <p:spPr>
          <a:xfrm>
            <a:off x="7022237" y="674703"/>
            <a:ext cx="3710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highlight>
                  <a:srgbClr val="00FF00"/>
                </a:highlight>
              </a:rPr>
              <a:t>PBiS</a:t>
            </a:r>
            <a:r>
              <a:rPr lang="en-US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b="1" dirty="0">
                <a:highlight>
                  <a:srgbClr val="00FF00"/>
                </a:highlight>
              </a:rPr>
              <a:t>Respect – follow instruction </a:t>
            </a:r>
          </a:p>
          <a:p>
            <a:r>
              <a:rPr lang="en-AU" b="1" dirty="0">
                <a:highlight>
                  <a:srgbClr val="00FF00"/>
                </a:highlight>
              </a:rPr>
              <a:t>Achieve – complete all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EF06B-A6A1-27DF-3BC6-3C0AB2531A94}"/>
              </a:ext>
            </a:extLst>
          </p:cNvPr>
          <p:cNvSpPr txBox="1"/>
          <p:nvPr/>
        </p:nvSpPr>
        <p:spPr>
          <a:xfrm>
            <a:off x="6096000" y="2283727"/>
            <a:ext cx="2512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331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FEE7-EE95-2928-9A3E-C8DAEB57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Simplify ratios – I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2124E-E139-7617-745D-323AC00AB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Simplify these ratios:</a:t>
            </a:r>
          </a:p>
          <a:p>
            <a:pPr marL="0" indent="0">
              <a:buNone/>
            </a:pPr>
            <a:r>
              <a:rPr lang="en-US" sz="3600" dirty="0"/>
              <a:t>a)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b) 15 : 25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45F07-1FFB-AE38-664A-06A6EE3110D6}"/>
              </a:ext>
            </a:extLst>
          </p:cNvPr>
          <p:cNvSpPr txBox="1"/>
          <p:nvPr/>
        </p:nvSpPr>
        <p:spPr>
          <a:xfrm>
            <a:off x="7305773" y="2042442"/>
            <a:ext cx="4374037" cy="193899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Simplifying ratios (NO DECIMALS)</a:t>
            </a: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e.g. 		7 : 21</a:t>
            </a:r>
          </a:p>
          <a:p>
            <a:pPr eaLnBrk="1" hangingPunct="1">
              <a:buNone/>
              <a:defRPr/>
            </a:pPr>
            <a:endParaRPr lang="en-GB" sz="24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So		1 : 3		</a:t>
            </a:r>
            <a:endParaRPr lang="en-GB" sz="2000" dirty="0">
              <a:solidFill>
                <a:srgbClr val="002060"/>
              </a:solidFill>
            </a:endParaRPr>
          </a:p>
          <a:p>
            <a:pPr algn="ctr"/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7226E-7EAE-F406-45EC-04AA53A3EF7C}"/>
              </a:ext>
            </a:extLst>
          </p:cNvPr>
          <p:cNvSpPr txBox="1"/>
          <p:nvPr/>
        </p:nvSpPr>
        <p:spPr>
          <a:xfrm>
            <a:off x="10225627" y="2596439"/>
            <a:ext cx="2040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1600" b="1" dirty="0">
              <a:highlight>
                <a:srgbClr val="FFFF00"/>
              </a:highlight>
            </a:endParaRPr>
          </a:p>
        </p:txBody>
      </p:sp>
      <p:pic>
        <p:nvPicPr>
          <p:cNvPr id="6" name="Picture 2" descr="Lesson Explainer: Equivalent Ratios | Nagwa">
            <a:extLst>
              <a:ext uri="{FF2B5EF4-FFF2-40B4-BE49-F238E27FC236}">
                <a16:creationId xmlns:a16="http://schemas.microsoft.com/office/drawing/2014/main" id="{A0D0D18D-F0CC-899A-CC40-7B92732B5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1052" y="2448833"/>
            <a:ext cx="2400711" cy="195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64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FEE7-EE95-2928-9A3E-C8DAEB57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Simplify ratios – 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2124E-E139-7617-745D-323AC00AB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Simplify these ratios:</a:t>
            </a:r>
          </a:p>
          <a:p>
            <a:pPr marL="742950" indent="-742950">
              <a:buAutoNum type="alphaLcParenR"/>
            </a:pPr>
            <a:r>
              <a:rPr lang="en-US" sz="3600" dirty="0"/>
              <a:t>12 : 4 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15 : 3 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81 : 27 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45F07-1FFB-AE38-664A-06A6EE3110D6}"/>
              </a:ext>
            </a:extLst>
          </p:cNvPr>
          <p:cNvSpPr txBox="1"/>
          <p:nvPr/>
        </p:nvSpPr>
        <p:spPr>
          <a:xfrm>
            <a:off x="7305773" y="2042442"/>
            <a:ext cx="4374037" cy="193899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Simplifying ratios (NO DECIMALS)</a:t>
            </a: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e.g. 		7 : 21</a:t>
            </a:r>
          </a:p>
          <a:p>
            <a:pPr eaLnBrk="1" hangingPunct="1">
              <a:buNone/>
              <a:defRPr/>
            </a:pPr>
            <a:endParaRPr lang="en-GB" sz="24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So		1 : 3		</a:t>
            </a:r>
            <a:endParaRPr lang="en-GB" sz="2000" dirty="0">
              <a:solidFill>
                <a:srgbClr val="002060"/>
              </a:solidFill>
            </a:endParaRPr>
          </a:p>
          <a:p>
            <a:pPr algn="ctr"/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7226E-7EAE-F406-45EC-04AA53A3EF7C}"/>
              </a:ext>
            </a:extLst>
          </p:cNvPr>
          <p:cNvSpPr txBox="1"/>
          <p:nvPr/>
        </p:nvSpPr>
        <p:spPr>
          <a:xfrm>
            <a:off x="10225627" y="2596439"/>
            <a:ext cx="2040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16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3857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FEE7-EE95-2928-9A3E-C8DAEB57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you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2124E-E139-7617-745D-323AC00AB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Simplify these ratios </a:t>
            </a:r>
          </a:p>
          <a:p>
            <a:pPr marL="0" indent="0">
              <a:buNone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20 : 5 </a:t>
            </a:r>
          </a:p>
          <a:p>
            <a:pPr marL="742950" indent="-742950">
              <a:buAutoNum type="alphaLcParenR"/>
            </a:pPr>
            <a:r>
              <a:rPr lang="en-US" sz="3600" dirty="0"/>
              <a:t>16 : 12 </a:t>
            </a:r>
          </a:p>
          <a:p>
            <a:pPr marL="742950" indent="-742950">
              <a:buAutoNum type="alphaLcParenR"/>
            </a:pPr>
            <a:r>
              <a:rPr lang="en-US" sz="3600" dirty="0"/>
              <a:t>8 : 24 </a:t>
            </a:r>
          </a:p>
          <a:p>
            <a:pPr marL="742950" indent="-742950">
              <a:buAutoNum type="alphaLcParenR"/>
            </a:pPr>
            <a:r>
              <a:rPr lang="en-US" sz="3600" dirty="0"/>
              <a:t>9 : 6 </a:t>
            </a:r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45F07-1FFB-AE38-664A-06A6EE3110D6}"/>
              </a:ext>
            </a:extLst>
          </p:cNvPr>
          <p:cNvSpPr txBox="1"/>
          <p:nvPr/>
        </p:nvSpPr>
        <p:spPr>
          <a:xfrm>
            <a:off x="7305773" y="2042442"/>
            <a:ext cx="4374037" cy="193899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Simplifying ratios (NO DECIMALS)</a:t>
            </a: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e.g. 		7 : 21</a:t>
            </a:r>
          </a:p>
          <a:p>
            <a:pPr eaLnBrk="1" hangingPunct="1">
              <a:buNone/>
              <a:defRPr/>
            </a:pPr>
            <a:endParaRPr lang="en-GB" sz="24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So		1 : 3		</a:t>
            </a:r>
            <a:endParaRPr lang="en-GB" sz="2000" dirty="0">
              <a:solidFill>
                <a:srgbClr val="002060"/>
              </a:solidFill>
            </a:endParaRPr>
          </a:p>
          <a:p>
            <a:pPr algn="ctr"/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7226E-7EAE-F406-45EC-04AA53A3EF7C}"/>
              </a:ext>
            </a:extLst>
          </p:cNvPr>
          <p:cNvSpPr txBox="1"/>
          <p:nvPr/>
        </p:nvSpPr>
        <p:spPr>
          <a:xfrm>
            <a:off x="10225627" y="2596439"/>
            <a:ext cx="2040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16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5220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A1F7B-E219-1C75-BFF8-7B30A5A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ratios – 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4A4EF-B31B-12BB-1F43-B58D29848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6476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Share $100 into the ratio 2 : 3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Tom and sally split their 30 lollies into the ratio of 4 : 2. How many lollies does Tom get?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John’s garden needs to be trimmed, weeded and watered, it the ratio of 1 : 3 : 2. If he spends 12hrs in total, how long was he weeding?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05FDC-9DFE-9826-4183-39B22CDF4AB4}"/>
              </a:ext>
            </a:extLst>
          </p:cNvPr>
          <p:cNvSpPr txBox="1">
            <a:spLocks/>
          </p:cNvSpPr>
          <p:nvPr/>
        </p:nvSpPr>
        <p:spPr>
          <a:xfrm>
            <a:off x="5463375" y="107110"/>
            <a:ext cx="6816365" cy="233910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GB" sz="1600" b="1" dirty="0">
                <a:solidFill>
                  <a:srgbClr val="00B0F0"/>
                </a:solidFill>
                <a:latin typeface="Calibri"/>
              </a:rPr>
              <a:t>SHARING with ratio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  <a:latin typeface="Calibri"/>
              </a:rPr>
              <a:t>Add together the total number of parts of the ratio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endParaRPr lang="en-GB" sz="1600" b="1" dirty="0">
              <a:solidFill>
                <a:srgbClr val="00B0F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  <a:latin typeface="Calibri"/>
              </a:rPr>
              <a:t>Divide the given amount by the total number of parts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endParaRPr lang="en-GB" sz="1600" b="1" dirty="0">
              <a:solidFill>
                <a:srgbClr val="00B0F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  <a:latin typeface="Calibri"/>
              </a:rPr>
              <a:t>Multiply the answer by each ratio amount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endParaRPr lang="en-GB" sz="1600" b="1" dirty="0">
              <a:solidFill>
                <a:srgbClr val="00B0F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600" b="1" dirty="0">
                <a:solidFill>
                  <a:srgbClr val="00B0F0"/>
                </a:solidFill>
                <a:latin typeface="Calibri"/>
              </a:rPr>
              <a:t>Check that your answers add up to the same total given in the question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AU" sz="18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2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FDF7-3E47-98A6-0962-7C4AEB82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ratio – 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84133-DFD2-A4E6-5862-A8472FCA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Share 55cm into the ratio of 5 : 6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Sally and joe split their $500 rent into the ratio of 3 : 7, how much does joe spend on rent?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Tim splits his training into 3 activities, swimming, running and cycling into the ration of 1 : 3 : 4. If he trains for 88 days, how many days did he run for? 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EF867-6BA7-B395-0746-718819B331CD}"/>
              </a:ext>
            </a:extLst>
          </p:cNvPr>
          <p:cNvSpPr txBox="1">
            <a:spLocks/>
          </p:cNvSpPr>
          <p:nvPr/>
        </p:nvSpPr>
        <p:spPr>
          <a:xfrm>
            <a:off x="6990334" y="104576"/>
            <a:ext cx="5287483" cy="184665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GB" sz="1200" b="1" dirty="0">
                <a:solidFill>
                  <a:srgbClr val="00B0F0"/>
                </a:solidFill>
                <a:latin typeface="Calibri"/>
              </a:rPr>
              <a:t>SHARING with ratio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200" b="1" dirty="0">
                <a:solidFill>
                  <a:srgbClr val="00B0F0"/>
                </a:solidFill>
                <a:latin typeface="Calibri"/>
              </a:rPr>
              <a:t>Add together the total number of parts of the ratio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endParaRPr lang="en-GB" sz="1200" b="1" dirty="0">
              <a:solidFill>
                <a:srgbClr val="00B0F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200" b="1" dirty="0">
                <a:solidFill>
                  <a:srgbClr val="00B0F0"/>
                </a:solidFill>
                <a:latin typeface="Calibri"/>
              </a:rPr>
              <a:t>Divide the given amount by the total number of parts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endParaRPr lang="en-GB" sz="1200" b="1" dirty="0">
              <a:solidFill>
                <a:srgbClr val="00B0F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200" b="1" dirty="0">
                <a:solidFill>
                  <a:srgbClr val="00B0F0"/>
                </a:solidFill>
                <a:latin typeface="Calibri"/>
              </a:rPr>
              <a:t>Multiply the answer by each ratio amount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endParaRPr lang="en-GB" sz="1200" b="1" dirty="0">
              <a:solidFill>
                <a:srgbClr val="00B0F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GB" sz="1200" b="1" dirty="0">
                <a:solidFill>
                  <a:srgbClr val="00B0F0"/>
                </a:solidFill>
                <a:latin typeface="Calibri"/>
              </a:rPr>
              <a:t>Check that your answers add up to the same total given in the question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AU" sz="18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131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F631-77EF-1005-BF82-479ACCF3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you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B77B2-0092-E0D2-D9C2-07777CE68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Share $45 into the ratio 2 : 3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Bill shares 32 </a:t>
            </a:r>
            <a:r>
              <a:rPr lang="en-US" dirty="0" err="1"/>
              <a:t>lollies</a:t>
            </a:r>
            <a:r>
              <a:rPr lang="en-US" dirty="0"/>
              <a:t> with Jane in the ratio of 5 : 3, how many </a:t>
            </a:r>
            <a:r>
              <a:rPr lang="en-US" dirty="0" err="1"/>
              <a:t>lollies</a:t>
            </a:r>
            <a:r>
              <a:rPr lang="en-US" dirty="0"/>
              <a:t> does Jane get?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Joe has a 12-week strength, hypertrophy and cardio program split into  the ratio of 1 : 4 : 2. How many weeks does he focus on cardio? </a:t>
            </a:r>
          </a:p>
        </p:txBody>
      </p:sp>
    </p:spTree>
    <p:extLst>
      <p:ext uri="{BB962C8B-B14F-4D97-AF65-F5344CB8AC3E}">
        <p14:creationId xmlns:p14="http://schemas.microsoft.com/office/powerpoint/2010/main" val="106831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FA54-7CA8-DF3F-08CA-8C0869A9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Patterns in ratios </a:t>
            </a:r>
            <a:endParaRPr lang="en-AU" dirty="0"/>
          </a:p>
        </p:txBody>
      </p:sp>
      <p:pic>
        <p:nvPicPr>
          <p:cNvPr id="1028" name="Picture 4" descr="How to Simplify Ratios - Maths with Mum">
            <a:extLst>
              <a:ext uri="{FF2B5EF4-FFF2-40B4-BE49-F238E27FC236}">
                <a16:creationId xmlns:a16="http://schemas.microsoft.com/office/drawing/2014/main" id="{72EA41C8-5A18-18E1-104C-EA369DE88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933575"/>
            <a:ext cx="5323198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910555-6ED5-FF1F-04D5-EE613ED2EBE2}"/>
              </a:ext>
            </a:extLst>
          </p:cNvPr>
          <p:cNvSpPr txBox="1"/>
          <p:nvPr/>
        </p:nvSpPr>
        <p:spPr>
          <a:xfrm>
            <a:off x="5876925" y="2105025"/>
            <a:ext cx="6124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How many triangles would there be if there were 81 rectangles? </a:t>
            </a:r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How many squares would there be if there were 21 triangles?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173047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6F639-F7BE-B266-01C1-37D6274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Ratio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2" descr="Lesson Explainer: Equivalent Ratios | Nagwa">
            <a:extLst>
              <a:ext uri="{FF2B5EF4-FFF2-40B4-BE49-F238E27FC236}">
                <a16:creationId xmlns:a16="http://schemas.microsoft.com/office/drawing/2014/main" id="{D1BBE85D-71E4-2F67-EEB0-6B6F334658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663815"/>
            <a:ext cx="6780700" cy="552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6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72F2-683B-A4CA-42B7-D6A6FAD7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Speed, distance, time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D2C0-43F3-0D42-3485-4009C00DA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for success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Label the question SDT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Select formula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Solve </a:t>
            </a:r>
            <a:endParaRPr lang="en-AU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BC8332-C14A-F46F-41D6-B33586A2BE68}"/>
                  </a:ext>
                </a:extLst>
              </p:cNvPr>
              <p:cNvSpPr txBox="1"/>
              <p:nvPr/>
            </p:nvSpPr>
            <p:spPr>
              <a:xfrm>
                <a:off x="5759777" y="2539426"/>
                <a:ext cx="5486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𝑫𝒊𝒔𝒕𝒂𝒏𝒄𝒆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𝒔𝒑𝒆𝒆𝒅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sz="32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𝑺𝒑𝒆𝒆𝒅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𝒅𝒊𝒔𝒕𝒂𝒏𝒄𝒆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sz="32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𝑻𝒊𝒎𝒆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𝒅𝒊𝒔𝒕𝒂𝒏𝒄𝒆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32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𝒔𝒑𝒆𝒆𝒅</m:t>
                      </m:r>
                    </m:oMath>
                  </m:oMathPara>
                </a14:m>
                <a:endParaRPr lang="en-AU" sz="32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BC8332-C14A-F46F-41D6-B33586A2B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777" y="2539426"/>
                <a:ext cx="5486400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62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5358-3B61-EB65-2DF6-0FB7A353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46009-5F18-A933-78B4-3FC815802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 travels at 25km/p for 5 hours. How far will Tim travel?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Joe travelled 450km in 9 hours. What was his average speed?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Sally is traveling at 65km/h, how long will it take her to travel 487.5 km?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95DAA-9F59-FD5A-C23A-68BDD775DE27}"/>
              </a:ext>
            </a:extLst>
          </p:cNvPr>
          <p:cNvSpPr txBox="1"/>
          <p:nvPr/>
        </p:nvSpPr>
        <p:spPr>
          <a:xfrm>
            <a:off x="9360816" y="197963"/>
            <a:ext cx="29062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Label the question SDT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Select formula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Solve </a:t>
            </a:r>
            <a:endParaRPr lang="en-AU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21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5358-3B61-EB65-2DF6-0FB7A353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46009-5F18-A933-78B4-3FC815802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drives for 6 hours at 55km/h, how far has she travelled?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water tank can hold 2500L, if it is filling up at 125L per minute, how long will it take to fill?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Joe ran 500m in 63 seconds. How fast was he going in meters per second?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95DAA-9F59-FD5A-C23A-68BDD775DE27}"/>
              </a:ext>
            </a:extLst>
          </p:cNvPr>
          <p:cNvSpPr txBox="1"/>
          <p:nvPr/>
        </p:nvSpPr>
        <p:spPr>
          <a:xfrm>
            <a:off x="9360816" y="197963"/>
            <a:ext cx="29062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Label the question SDT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Select formula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Solve </a:t>
            </a:r>
            <a:endParaRPr lang="en-AU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930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0BB2-43D8-9A04-AFB7-A0357A88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you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06474-0969-8EAE-4A63-259BE3B99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Joe travels 560km in 8 hours, what was his average speed? 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Sally runs at 8m per second. How far will she travel after 45 seconds? 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A cheetah runs at 22m/s, how long will it take to run 902m?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24386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752</Words>
  <Application>Microsoft Office PowerPoint</Application>
  <PresentationFormat>Widescreen</PresentationFormat>
  <Paragraphs>133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Simplify ratios – I do  </vt:lpstr>
      <vt:lpstr>Simplify ratios – we do  </vt:lpstr>
      <vt:lpstr>Whiteboards – you do</vt:lpstr>
      <vt:lpstr>Sharing ratios – I do </vt:lpstr>
      <vt:lpstr>Sharing ratio – we do </vt:lpstr>
      <vt:lpstr>Whiteboards – you do </vt:lpstr>
      <vt:lpstr>Patterns in ratios </vt:lpstr>
      <vt:lpstr>Ratio </vt:lpstr>
      <vt:lpstr>Speed, distance, time </vt:lpstr>
      <vt:lpstr>I do </vt:lpstr>
      <vt:lpstr>We do  </vt:lpstr>
      <vt:lpstr>Whiteboards – you 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4</cp:revision>
  <dcterms:created xsi:type="dcterms:W3CDTF">2022-08-08T07:54:43Z</dcterms:created>
  <dcterms:modified xsi:type="dcterms:W3CDTF">2022-08-08T08:31:24Z</dcterms:modified>
</cp:coreProperties>
</file>
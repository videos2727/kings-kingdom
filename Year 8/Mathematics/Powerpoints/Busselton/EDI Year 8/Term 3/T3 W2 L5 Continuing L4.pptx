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414" r:id="rId3"/>
    <p:sldId id="415" r:id="rId4"/>
    <p:sldId id="361" r:id="rId5"/>
    <p:sldId id="329" r:id="rId6"/>
    <p:sldId id="363" r:id="rId7"/>
    <p:sldId id="331" r:id="rId8"/>
    <p:sldId id="416" r:id="rId9"/>
    <p:sldId id="412" r:id="rId10"/>
    <p:sldId id="41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AD1243-6836-4B68-9DAD-327FE93721A0}" type="datetimeFigureOut">
              <a:rPr lang="en-AU" smtClean="0"/>
              <a:t>28/07/2022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4C50D-5C6B-48CB-AE4D-3CE7FE8CF4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0855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</a:t>
            </a:r>
          </a:p>
          <a:p>
            <a:r>
              <a:rPr lang="en-US" dirty="0"/>
              <a:t>P: K</a:t>
            </a:r>
          </a:p>
          <a:p>
            <a:r>
              <a:rPr lang="en-US" dirty="0"/>
              <a:t>3: 8</a:t>
            </a:r>
          </a:p>
          <a:p>
            <a:r>
              <a:rPr lang="en-US" dirty="0"/>
              <a:t>?: 32</a:t>
            </a:r>
          </a:p>
          <a:p>
            <a:endParaRPr lang="en-US" dirty="0"/>
          </a:p>
          <a:p>
            <a:r>
              <a:rPr lang="en-US" dirty="0"/>
              <a:t>X4</a:t>
            </a:r>
            <a:r>
              <a:rPr lang="en-US" baseline="0" dirty="0"/>
              <a:t> so = 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FCD158-57C5-F143-BD30-9669EF409EA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46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FCD158-57C5-F143-BD30-9669EF409EA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00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FCD158-57C5-F143-BD30-9669EF409EA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4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FCD158-57C5-F143-BD30-9669EF409EA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93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DCAE9-555C-0F6A-352D-0A396DB7B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C4FAF-E9B7-5253-6BCC-5D85DCB748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02A05-9C6C-58E3-B8FB-335BE4EB8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9077-6A58-4703-9A58-C5EB13A86C2B}" type="datetimeFigureOut">
              <a:rPr lang="en-AU" smtClean="0"/>
              <a:t>28/07/2022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53E70-9831-38A7-2C88-09C70E09F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42894-9FE4-D109-8B9F-53D65C280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427FB-0A92-4945-9A8A-35B38356CF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109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59A35-0821-1AA4-976C-586B8E782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273CC-2291-4FF7-C63F-9FD48A1BA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3EA54-ABE9-4B02-ADFA-45B55431B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9077-6A58-4703-9A58-C5EB13A86C2B}" type="datetimeFigureOut">
              <a:rPr lang="en-AU" smtClean="0"/>
              <a:t>28/07/2022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761AE-7B56-CBAB-480D-0D977F69E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19169-BD8C-7B58-7824-BE95A313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427FB-0A92-4945-9A8A-35B38356CF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8313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15A5F-1ADF-E307-6E35-C7592FE55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EB186-6F66-DCE9-1C27-FDA517B29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02F75-3B08-F61B-76E5-8383899FC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9077-6A58-4703-9A58-C5EB13A86C2B}" type="datetimeFigureOut">
              <a:rPr lang="en-AU" smtClean="0"/>
              <a:t>28/07/2022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487F9-A21C-FDC5-DDE0-2077FD86C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E7E7D-A6B2-86B8-1843-A278F35F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427FB-0A92-4945-9A8A-35B38356CF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9903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E432F-45AF-F7C2-CAA0-D5C5D4B03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88976-B7F5-0DE2-3243-06DCA97A27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CEEDD-740E-014C-5407-97AC46AFC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C711B-6FB3-501C-8D3F-4981A9421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9077-6A58-4703-9A58-C5EB13A86C2B}" type="datetimeFigureOut">
              <a:rPr lang="en-AU" smtClean="0"/>
              <a:t>28/07/2022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2A50C-9A31-611F-AC84-65E6B76E7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92539-271C-1FE9-45E7-A7B48CB1E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427FB-0A92-4945-9A8A-35B38356CF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1627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6B24A-9999-69E5-EA16-4C4E6622C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2C3EF-D601-B69F-A767-0378B6506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BA865-F946-D1D2-6105-8D15BFBF4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DB0B12-2245-CB1C-DA4D-9582DEBB7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5CC54D-21F6-0FF6-5979-2EAA7F79C8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C0C4AD-E3CA-A850-E6C0-55B1C9001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9077-6A58-4703-9A58-C5EB13A86C2B}" type="datetimeFigureOut">
              <a:rPr lang="en-AU" smtClean="0"/>
              <a:t>28/07/2022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A75437-FB71-1A50-B6A8-DE5E29DD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49FD50-0C66-D260-9EB1-3830ADAD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427FB-0A92-4945-9A8A-35B38356CF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3971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E90B-72FA-7AC7-7C22-9C1E0EB73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B68D16-3F8D-6EA0-5E4F-1B520916C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9077-6A58-4703-9A58-C5EB13A86C2B}" type="datetimeFigureOut">
              <a:rPr lang="en-AU" smtClean="0"/>
              <a:t>28/07/2022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2448B8-A22E-E966-1620-D8DB7354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682CF3-C356-847C-C653-3CBE135E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427FB-0A92-4945-9A8A-35B38356CF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0357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226984-3675-D4A8-3D59-493E9D5EE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9077-6A58-4703-9A58-C5EB13A86C2B}" type="datetimeFigureOut">
              <a:rPr lang="en-AU" smtClean="0"/>
              <a:t>28/07/2022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39F65-3C0D-A970-D0C8-0E336D51C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57893-5B1F-D470-2B69-CC135DA68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427FB-0A92-4945-9A8A-35B38356CF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1158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31BEE-492D-EBA2-7C0F-61BADDDCF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E0A7E-B661-EB83-F3FF-30F6C9484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F7183F-D6C0-CAFA-33AF-BF03C1723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DFDC8A-B49A-7BD4-5C2E-17013F0D3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9077-6A58-4703-9A58-C5EB13A86C2B}" type="datetimeFigureOut">
              <a:rPr lang="en-AU" smtClean="0"/>
              <a:t>28/07/2022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C820C-B1AA-1517-DD5D-BCA004731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D8F6A-3539-B515-D5F2-D4294F01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427FB-0A92-4945-9A8A-35B38356CF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2323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A1326-0E54-0132-E5B2-0BDEAB79C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405E87-1FAA-3106-7DE8-ACD1E6C02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91E7CE-C45E-CDF1-B4D1-4AF38299F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FE197-13A6-650F-B6B6-7CCB36C0F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9077-6A58-4703-9A58-C5EB13A86C2B}" type="datetimeFigureOut">
              <a:rPr lang="en-AU" smtClean="0"/>
              <a:t>28/07/2022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2E160-2FE8-F72D-AEB7-5C048BDD7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34654-3868-F06B-721A-F3B9912C2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427FB-0A92-4945-9A8A-35B38356CF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0174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EB0A4-A711-0079-A15D-438C2395D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35E20-E89C-2BB2-5F56-782D80032B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763F2-1294-BB3E-F231-5C13DE0D2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9077-6A58-4703-9A58-C5EB13A86C2B}" type="datetimeFigureOut">
              <a:rPr lang="en-AU" smtClean="0"/>
              <a:t>28/07/2022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CFB73-76CD-02E4-ABBC-73447A935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386FC-3A7C-8777-C09A-2553A6155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427FB-0A92-4945-9A8A-35B38356CF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2434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9B1DE6-7754-711F-8D0A-45CB795843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14C6B-C25C-6222-0646-623EE0C056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5E8FF-25D9-BBC3-0C34-6C76196A2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49077-6A58-4703-9A58-C5EB13A86C2B}" type="datetimeFigureOut">
              <a:rPr lang="en-AU" smtClean="0"/>
              <a:t>28/07/2022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0F3E9-C921-9D2A-D569-744438F3A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95C1C-F933-BDF3-1E13-55F438C61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427FB-0A92-4945-9A8A-35B38356CF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076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C5C0CE-696A-0259-27DA-93F1B145E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1FE15-C137-A41B-6B5C-31758A29C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B4AAA-67B0-E44B-4F3C-73FED04BC4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49077-6A58-4703-9A58-C5EB13A86C2B}" type="datetimeFigureOut">
              <a:rPr lang="en-AU" smtClean="0"/>
              <a:t>28/07/2022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9CB28-C576-CC63-282E-9FC8AAE95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90462-5112-7466-074D-A28834DDF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427FB-0A92-4945-9A8A-35B38356CF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0876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0F446C-176D-613F-B2DC-F9FCB9087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13BD5F-6BA7-69A0-172D-F27625885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Continuing yesterday’s lesson. </a:t>
            </a:r>
          </a:p>
          <a:p>
            <a:pPr marL="0" indent="0">
              <a:buNone/>
            </a:pPr>
            <a:endParaRPr lang="en-US" dirty="0"/>
          </a:p>
          <a:p>
            <a:pPr algn="l"/>
            <a:r>
              <a:rPr lang="en-US" dirty="0"/>
              <a:t>Aim: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/>
              <a:t>Divide a given quantity into two parts in a given part : part or part : whole ratio.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dirty="0"/>
              <a:t>Express the division of a quantity into two parts as a ratio</a:t>
            </a:r>
            <a:endParaRPr lang="en-GB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143FE0-FCE3-EA5F-41F4-279BF8BFD50D}"/>
              </a:ext>
            </a:extLst>
          </p:cNvPr>
          <p:cNvSpPr txBox="1"/>
          <p:nvPr/>
        </p:nvSpPr>
        <p:spPr>
          <a:xfrm>
            <a:off x="7803471" y="520074"/>
            <a:ext cx="30627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highlight>
                  <a:srgbClr val="FFFF00"/>
                </a:highlight>
              </a:rPr>
              <a:t>PBiS</a:t>
            </a:r>
            <a:r>
              <a:rPr lang="en-US" sz="2000" b="1" dirty="0">
                <a:highlight>
                  <a:srgbClr val="FFFF00"/>
                </a:highlight>
              </a:rPr>
              <a:t> Focus </a:t>
            </a:r>
          </a:p>
          <a:p>
            <a:r>
              <a:rPr lang="en-US" sz="2000" b="1" dirty="0">
                <a:highlight>
                  <a:srgbClr val="FFFF00"/>
                </a:highlight>
              </a:rPr>
              <a:t>Respect (hands up)</a:t>
            </a:r>
          </a:p>
          <a:p>
            <a:r>
              <a:rPr lang="en-US" sz="2000" b="1" dirty="0">
                <a:highlight>
                  <a:srgbClr val="FFFF00"/>
                </a:highlight>
              </a:rPr>
              <a:t>Achieve (stay on task) 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30904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623B7-FDEA-4A07-73BA-B84E42BA9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CA6E16-D691-1655-3307-2C4E5328E2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075" y="365125"/>
            <a:ext cx="11430000" cy="3525266"/>
          </a:xfrm>
        </p:spPr>
      </p:pic>
    </p:spTree>
    <p:extLst>
      <p:ext uri="{BB962C8B-B14F-4D97-AF65-F5344CB8AC3E}">
        <p14:creationId xmlns:p14="http://schemas.microsoft.com/office/powerpoint/2010/main" val="224798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20BDE-C051-B29A-2CE4-17F02B48C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2B4AA3-A782-ABAE-DE87-10D5DCB857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83840"/>
            <a:ext cx="10515600" cy="3825207"/>
          </a:xfrm>
        </p:spPr>
      </p:pic>
    </p:spTree>
    <p:extLst>
      <p:ext uri="{BB962C8B-B14F-4D97-AF65-F5344CB8AC3E}">
        <p14:creationId xmlns:p14="http://schemas.microsoft.com/office/powerpoint/2010/main" val="883229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alphaModFix amt="49000"/>
          </a:blip>
          <a:srcRect b="80981"/>
          <a:stretch/>
        </p:blipFill>
        <p:spPr>
          <a:xfrm>
            <a:off x="2097980" y="1386516"/>
            <a:ext cx="7739740" cy="10940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97981" y="1320294"/>
            <a:ext cx="8679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Paul and Katie share some sweets in the ratio 3:8</a:t>
            </a:r>
          </a:p>
          <a:p>
            <a:r>
              <a:rPr lang="en-US" sz="2400" dirty="0"/>
              <a:t>Katie gets 32 sweets.</a:t>
            </a:r>
          </a:p>
          <a:p>
            <a:r>
              <a:rPr lang="en-US" sz="2400" dirty="0"/>
              <a:t>How many sweets does Paul get?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28143" y="2798857"/>
            <a:ext cx="17054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00FF"/>
                </a:solidFill>
              </a:rPr>
              <a:t>P :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64429" y="3549631"/>
            <a:ext cx="17054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00FF"/>
                </a:solidFill>
              </a:rPr>
              <a:t>3 :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118" y="4337031"/>
            <a:ext cx="17054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00FF"/>
                </a:solidFill>
              </a:rPr>
              <a:t>: 32</a:t>
            </a:r>
          </a:p>
        </p:txBody>
      </p:sp>
      <p:sp>
        <p:nvSpPr>
          <p:cNvPr id="8" name="Curved Left Arrow 7"/>
          <p:cNvSpPr/>
          <p:nvPr/>
        </p:nvSpPr>
        <p:spPr>
          <a:xfrm rot="10800000" flipH="1" flipV="1">
            <a:off x="5754826" y="4061237"/>
            <a:ext cx="504056" cy="1008112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90233" y="3017433"/>
            <a:ext cx="11829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rgbClr val="0000FF"/>
                </a:solidFill>
              </a:rPr>
              <a:t>32</a:t>
            </a:r>
          </a:p>
          <a:p>
            <a:pPr algn="ctr"/>
            <a:r>
              <a:rPr lang="en-US" sz="6000" b="1" dirty="0">
                <a:solidFill>
                  <a:srgbClr val="0000FF"/>
                </a:solidFill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3144" y="3364910"/>
            <a:ext cx="1034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00FF"/>
                </a:solidFill>
              </a:rPr>
              <a:t>=4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6971" y="5352694"/>
            <a:ext cx="327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00FF"/>
                </a:solidFill>
              </a:rPr>
              <a:t>3 x 4 = 12</a:t>
            </a:r>
          </a:p>
        </p:txBody>
      </p:sp>
      <p:sp>
        <p:nvSpPr>
          <p:cNvPr id="12" name="Curved Left Arrow 11"/>
          <p:cNvSpPr/>
          <p:nvPr/>
        </p:nvSpPr>
        <p:spPr>
          <a:xfrm flipH="1">
            <a:off x="3229307" y="4157771"/>
            <a:ext cx="504056" cy="1008112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38489" y="4356029"/>
            <a:ext cx="9646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b="1" dirty="0">
                <a:solidFill>
                  <a:srgbClr val="FF0000"/>
                </a:solidFill>
                <a:latin typeface="+mj-lt"/>
              </a:rPr>
              <a:t>12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524000" y="1"/>
            <a:ext cx="78867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latin typeface="+mn-lt"/>
              </a:rPr>
              <a:t>Ratio sharing </a:t>
            </a:r>
            <a:r>
              <a:rPr lang="en-GB" b="1" dirty="0" err="1">
                <a:latin typeface="+mn-lt"/>
              </a:rPr>
              <a:t>contexualised</a:t>
            </a:r>
            <a:r>
              <a:rPr lang="en-GB" b="1" dirty="0">
                <a:latin typeface="+mn-lt"/>
              </a:rPr>
              <a:t> question</a:t>
            </a:r>
          </a:p>
        </p:txBody>
      </p:sp>
    </p:spTree>
    <p:extLst>
      <p:ext uri="{BB962C8B-B14F-4D97-AF65-F5344CB8AC3E}">
        <p14:creationId xmlns:p14="http://schemas.microsoft.com/office/powerpoint/2010/main" val="172067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 animBg="1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160" y="1780592"/>
            <a:ext cx="1679778" cy="12503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9824" y="1417512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Sandra has a piece of string 150cm long.</a:t>
            </a:r>
          </a:p>
          <a:p>
            <a:endParaRPr lang="en-US" sz="2400" dirty="0"/>
          </a:p>
          <a:p>
            <a:r>
              <a:rPr lang="en-US" sz="2400" dirty="0"/>
              <a:t>She cuts the string into three lengths in the ratio 5:2:3</a:t>
            </a:r>
          </a:p>
          <a:p>
            <a:endParaRPr lang="en-US" sz="2400" dirty="0"/>
          </a:p>
          <a:p>
            <a:r>
              <a:rPr lang="en-US" sz="2400" dirty="0"/>
              <a:t>Work out the length, in cm, of each piece of string.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75857" y="3489521"/>
            <a:ext cx="2775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00FF"/>
                </a:solidFill>
              </a:rPr>
              <a:t>5 : 2 :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94828" y="3429062"/>
            <a:ext cx="29369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00FF"/>
                </a:solidFill>
              </a:rPr>
              <a:t>=10 </a:t>
            </a:r>
            <a:r>
              <a:rPr lang="en-US" sz="2000" b="1" dirty="0">
                <a:solidFill>
                  <a:srgbClr val="FF0000"/>
                </a:solidFill>
              </a:rPr>
              <a:t>parts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4828" y="4432665"/>
            <a:ext cx="22800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00FF"/>
                </a:solidFill>
              </a:rPr>
              <a:t>=150</a:t>
            </a:r>
            <a:r>
              <a:rPr lang="en-US" b="1" dirty="0">
                <a:solidFill>
                  <a:srgbClr val="FF0000"/>
                </a:solidFill>
              </a:rPr>
              <a:t>cm</a:t>
            </a:r>
            <a:endParaRPr lang="en-US" b="1" dirty="0">
              <a:solidFill>
                <a:srgbClr val="0000FF"/>
              </a:solidFill>
            </a:endParaRPr>
          </a:p>
        </p:txBody>
      </p:sp>
      <p:sp>
        <p:nvSpPr>
          <p:cNvPr id="8" name="Curved Left Arrow 7"/>
          <p:cNvSpPr/>
          <p:nvPr/>
        </p:nvSpPr>
        <p:spPr>
          <a:xfrm rot="10800000" flipH="1" flipV="1">
            <a:off x="7779312" y="4058001"/>
            <a:ext cx="504056" cy="1008112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85335" y="3649436"/>
            <a:ext cx="11742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rgbClr val="0000FF"/>
                </a:solidFill>
              </a:rPr>
              <a:t>150</a:t>
            </a:r>
          </a:p>
          <a:p>
            <a:pPr algn="ctr"/>
            <a:r>
              <a:rPr lang="en-US" sz="4000" b="1" dirty="0">
                <a:solidFill>
                  <a:srgbClr val="0000FF"/>
                </a:solidFill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56054" y="3883163"/>
            <a:ext cx="12877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00FF"/>
                </a:solidFill>
              </a:rPr>
              <a:t>= 15</a:t>
            </a:r>
          </a:p>
        </p:txBody>
      </p:sp>
      <p:sp>
        <p:nvSpPr>
          <p:cNvPr id="11" name="Curved Left Arrow 10"/>
          <p:cNvSpPr/>
          <p:nvPr/>
        </p:nvSpPr>
        <p:spPr>
          <a:xfrm flipH="1">
            <a:off x="2271800" y="4249589"/>
            <a:ext cx="504056" cy="1008112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74852" y="5862389"/>
            <a:ext cx="26689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00FF"/>
                </a:solidFill>
              </a:rPr>
              <a:t> 5 x 15 = 75</a:t>
            </a:r>
          </a:p>
        </p:txBody>
      </p:sp>
      <p:sp>
        <p:nvSpPr>
          <p:cNvPr id="13" name="Curved Left Arrow 12"/>
          <p:cNvSpPr/>
          <p:nvPr/>
        </p:nvSpPr>
        <p:spPr>
          <a:xfrm flipH="1">
            <a:off x="3296185" y="4326157"/>
            <a:ext cx="504056" cy="1008112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Curved Left Arrow 13"/>
          <p:cNvSpPr/>
          <p:nvPr/>
        </p:nvSpPr>
        <p:spPr>
          <a:xfrm flipH="1">
            <a:off x="4168922" y="4307199"/>
            <a:ext cx="504056" cy="1008112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75857" y="4740441"/>
            <a:ext cx="27758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00FF"/>
                </a:solidFill>
              </a:rPr>
              <a:t>75 : 30 : 45</a:t>
            </a: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1524000" y="1"/>
            <a:ext cx="78867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latin typeface="+mn-lt"/>
              </a:rPr>
              <a:t>Ratio sharing </a:t>
            </a:r>
            <a:r>
              <a:rPr lang="en-GB" b="1" dirty="0" err="1">
                <a:latin typeface="+mn-lt"/>
              </a:rPr>
              <a:t>contexualised</a:t>
            </a:r>
            <a:r>
              <a:rPr lang="en-GB" b="1" dirty="0">
                <a:latin typeface="+mn-lt"/>
              </a:rPr>
              <a:t> question</a:t>
            </a:r>
          </a:p>
        </p:txBody>
      </p:sp>
    </p:spTree>
    <p:extLst>
      <p:ext uri="{BB962C8B-B14F-4D97-AF65-F5344CB8AC3E}">
        <p14:creationId xmlns:p14="http://schemas.microsoft.com/office/powerpoint/2010/main" val="2042086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 animBg="1"/>
      <p:bldP spid="14" grpId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4597" y="1250875"/>
            <a:ext cx="2614073" cy="17336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4000" y="1316465"/>
            <a:ext cx="88578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Pat and Julie share some money in the ratio 2:5</a:t>
            </a:r>
          </a:p>
          <a:p>
            <a:endParaRPr lang="en-US" sz="2400" dirty="0"/>
          </a:p>
          <a:p>
            <a:r>
              <a:rPr lang="en-US" sz="2400" dirty="0"/>
              <a:t>Julie gets £45 more than Pat.</a:t>
            </a:r>
          </a:p>
          <a:p>
            <a:endParaRPr lang="en-US" sz="2400" dirty="0"/>
          </a:p>
          <a:p>
            <a:r>
              <a:rPr lang="en-US" sz="2400" dirty="0"/>
              <a:t>How much money did Pat get?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28143" y="3970382"/>
            <a:ext cx="17054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00FF"/>
                </a:solidFill>
              </a:rPr>
              <a:t>P :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64429" y="4721156"/>
            <a:ext cx="17054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00FF"/>
                </a:solidFill>
              </a:rPr>
              <a:t>2 :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5891" y="5508556"/>
            <a:ext cx="17054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30 </a:t>
            </a:r>
            <a:r>
              <a:rPr lang="en-US" sz="6000" b="1" dirty="0">
                <a:solidFill>
                  <a:srgbClr val="0000FF"/>
                </a:solidFill>
              </a:rP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90233" y="3720608"/>
            <a:ext cx="11829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u="sng" dirty="0">
                <a:solidFill>
                  <a:srgbClr val="0000FF"/>
                </a:solidFill>
              </a:rPr>
              <a:t>45</a:t>
            </a:r>
          </a:p>
          <a:p>
            <a:pPr algn="ctr"/>
            <a:r>
              <a:rPr lang="en-US" sz="6000" b="1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3143" y="4068085"/>
            <a:ext cx="18420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00FF"/>
                </a:solidFill>
              </a:rPr>
              <a:t>=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6971" y="6055868"/>
            <a:ext cx="327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00FF"/>
                </a:solidFill>
              </a:rPr>
              <a:t>2 x 15 = 30</a:t>
            </a:r>
          </a:p>
        </p:txBody>
      </p:sp>
      <p:sp>
        <p:nvSpPr>
          <p:cNvPr id="12" name="Curved Left Arrow 11"/>
          <p:cNvSpPr/>
          <p:nvPr/>
        </p:nvSpPr>
        <p:spPr>
          <a:xfrm flipH="1">
            <a:off x="3077659" y="5234506"/>
            <a:ext cx="504056" cy="1008112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93728" y="2882094"/>
            <a:ext cx="28519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00FF"/>
                </a:solidFill>
              </a:rPr>
              <a:t>5 – 2 = 3  </a:t>
            </a: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1524000" y="1"/>
            <a:ext cx="78867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latin typeface="+mn-lt"/>
              </a:rPr>
              <a:t>Ratio sharing </a:t>
            </a:r>
            <a:r>
              <a:rPr lang="en-GB" b="1" dirty="0" err="1">
                <a:latin typeface="+mn-lt"/>
              </a:rPr>
              <a:t>contexualised</a:t>
            </a:r>
            <a:r>
              <a:rPr lang="en-GB" b="1" dirty="0">
                <a:latin typeface="+mn-lt"/>
              </a:rPr>
              <a:t> question</a:t>
            </a:r>
          </a:p>
        </p:txBody>
      </p:sp>
    </p:spTree>
    <p:extLst>
      <p:ext uri="{BB962C8B-B14F-4D97-AF65-F5344CB8AC3E}">
        <p14:creationId xmlns:p14="http://schemas.microsoft.com/office/powerpoint/2010/main" val="197703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1" grpId="0"/>
      <p:bldP spid="12" grpId="0" animBg="1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4796" y="1109445"/>
            <a:ext cx="875320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Talil</a:t>
            </a:r>
            <a:r>
              <a:rPr lang="en-US" sz="1600" dirty="0"/>
              <a:t> is going to make some concrete mix.</a:t>
            </a:r>
          </a:p>
          <a:p>
            <a:r>
              <a:rPr lang="en-US" sz="1600" dirty="0"/>
              <a:t>He needs to mix cement, sand and gravel in the ratio 1:3:5 by weight.</a:t>
            </a:r>
          </a:p>
          <a:p>
            <a:endParaRPr lang="en-US" sz="1600" dirty="0"/>
          </a:p>
          <a:p>
            <a:r>
              <a:rPr lang="en-US" sz="1600" dirty="0" err="1"/>
              <a:t>Talil</a:t>
            </a:r>
            <a:r>
              <a:rPr lang="en-US" sz="1600" dirty="0"/>
              <a:t> wants to make 180 kg of concrete mix.</a:t>
            </a:r>
          </a:p>
          <a:p>
            <a:endParaRPr lang="en-US" sz="1600" dirty="0"/>
          </a:p>
          <a:p>
            <a:r>
              <a:rPr lang="en-US" sz="1600" dirty="0" err="1"/>
              <a:t>Talil</a:t>
            </a:r>
            <a:r>
              <a:rPr lang="en-US" sz="1600" dirty="0"/>
              <a:t> has 15kg of cement, 85kg of sand, 100kg of gravel</a:t>
            </a:r>
          </a:p>
          <a:p>
            <a:endParaRPr lang="en-US" sz="1600" dirty="0"/>
          </a:p>
          <a:p>
            <a:r>
              <a:rPr lang="en-US" sz="1600" dirty="0"/>
              <a:t>Does he have enough cement, sand and gravel?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610" y="1669001"/>
            <a:ext cx="1976596" cy="8854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75857" y="3103995"/>
            <a:ext cx="2255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00FF"/>
                </a:solidFill>
              </a:rPr>
              <a:t>C : S :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9856" y="3060991"/>
            <a:ext cx="2951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00FF"/>
                </a:solidFill>
              </a:rPr>
              <a:t>= concrete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94814" y="3874796"/>
            <a:ext cx="2255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00FF"/>
                </a:solidFill>
              </a:rPr>
              <a:t>1 : 3 :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8520" y="3812834"/>
            <a:ext cx="24635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00FF"/>
                </a:solidFill>
              </a:rPr>
              <a:t>= 9 </a:t>
            </a:r>
            <a:r>
              <a:rPr lang="en-US" sz="2000" b="1" dirty="0">
                <a:solidFill>
                  <a:srgbClr val="FF0000"/>
                </a:solidFill>
              </a:rPr>
              <a:t>parts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5388" y="4801865"/>
            <a:ext cx="2406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00FF"/>
                </a:solidFill>
              </a:rPr>
              <a:t>= 180 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0884" y="3230268"/>
            <a:ext cx="11829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rgbClr val="0000FF"/>
                </a:solidFill>
              </a:rPr>
              <a:t>180</a:t>
            </a:r>
          </a:p>
          <a:p>
            <a:pPr algn="ctr"/>
            <a:r>
              <a:rPr lang="en-US" sz="2800" b="1" dirty="0">
                <a:solidFill>
                  <a:srgbClr val="0000FF"/>
                </a:solidFill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3794" y="3577743"/>
            <a:ext cx="1842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= 20</a:t>
            </a:r>
          </a:p>
        </p:txBody>
      </p:sp>
      <p:sp>
        <p:nvSpPr>
          <p:cNvPr id="12" name="Curved Left Arrow 11"/>
          <p:cNvSpPr/>
          <p:nvPr/>
        </p:nvSpPr>
        <p:spPr>
          <a:xfrm rot="10800000" flipH="1" flipV="1">
            <a:off x="7483611" y="4184374"/>
            <a:ext cx="504056" cy="1008112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" name="Curved Left Arrow 12"/>
          <p:cNvSpPr/>
          <p:nvPr/>
        </p:nvSpPr>
        <p:spPr>
          <a:xfrm flipH="1">
            <a:off x="2299266" y="4537398"/>
            <a:ext cx="504056" cy="1008112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1640" y="4643831"/>
            <a:ext cx="2186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1 x 20 = 20</a:t>
            </a:r>
          </a:p>
          <a:p>
            <a:r>
              <a:rPr lang="en-US" sz="2800" b="1" dirty="0">
                <a:solidFill>
                  <a:srgbClr val="0000FF"/>
                </a:solidFill>
              </a:rPr>
              <a:t>3 x 20 = 60</a:t>
            </a:r>
          </a:p>
          <a:p>
            <a:r>
              <a:rPr lang="en-US" sz="2800" b="1" dirty="0">
                <a:solidFill>
                  <a:srgbClr val="0000FF"/>
                </a:solidFill>
              </a:rPr>
              <a:t>5 x 20 =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6461" y="4982662"/>
            <a:ext cx="2008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20 : 60 : 100</a:t>
            </a:r>
          </a:p>
        </p:txBody>
      </p:sp>
      <p:sp>
        <p:nvSpPr>
          <p:cNvPr id="16" name="Oval 15"/>
          <p:cNvSpPr/>
          <p:nvPr/>
        </p:nvSpPr>
        <p:spPr>
          <a:xfrm>
            <a:off x="2599035" y="2337389"/>
            <a:ext cx="569722" cy="340507"/>
          </a:xfrm>
          <a:prstGeom prst="ellipse">
            <a:avLst/>
          </a:prstGeom>
          <a:noFill/>
          <a:ln w="38100" cmpd="sng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ultiply 16"/>
          <p:cNvSpPr/>
          <p:nvPr/>
        </p:nvSpPr>
        <p:spPr>
          <a:xfrm>
            <a:off x="2946462" y="5462471"/>
            <a:ext cx="587643" cy="566354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970100" y="2325695"/>
            <a:ext cx="588931" cy="366867"/>
          </a:xfrm>
          <a:prstGeom prst="ellipse">
            <a:avLst/>
          </a:prstGeom>
          <a:noFill/>
          <a:ln w="38100" cmpd="sng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5057720" y="2315489"/>
            <a:ext cx="650065" cy="362406"/>
          </a:xfrm>
          <a:prstGeom prst="ellipse">
            <a:avLst/>
          </a:prstGeom>
          <a:noFill/>
          <a:ln w="38100" cmpd="sng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9929" y="5482915"/>
            <a:ext cx="473159" cy="44269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444" y="5467966"/>
            <a:ext cx="473159" cy="44269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946462" y="6079562"/>
            <a:ext cx="4339519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00FF"/>
                </a:solidFill>
              </a:rPr>
              <a:t>No </a:t>
            </a:r>
            <a:r>
              <a:rPr lang="en-US" sz="2000" b="1" i="1" dirty="0" err="1">
                <a:solidFill>
                  <a:srgbClr val="0000FF"/>
                </a:solidFill>
              </a:rPr>
              <a:t>Talil</a:t>
            </a:r>
            <a:r>
              <a:rPr lang="en-US" sz="2000" b="1" i="1" dirty="0">
                <a:solidFill>
                  <a:srgbClr val="0000FF"/>
                </a:solidFill>
              </a:rPr>
              <a:t> does not have enough cement</a:t>
            </a:r>
          </a:p>
        </p:txBody>
      </p:sp>
      <p:sp>
        <p:nvSpPr>
          <p:cNvPr id="25" name="Title 1"/>
          <p:cNvSpPr txBox="1">
            <a:spLocks/>
          </p:cNvSpPr>
          <p:nvPr/>
        </p:nvSpPr>
        <p:spPr>
          <a:xfrm>
            <a:off x="1524000" y="1"/>
            <a:ext cx="7886700" cy="132556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latin typeface="+mn-lt"/>
              </a:rPr>
              <a:t>Ratio sharing </a:t>
            </a:r>
            <a:r>
              <a:rPr lang="en-GB" b="1" dirty="0" err="1">
                <a:latin typeface="+mn-lt"/>
              </a:rPr>
              <a:t>contexualised</a:t>
            </a:r>
            <a:r>
              <a:rPr lang="en-GB" b="1" dirty="0">
                <a:latin typeface="+mn-lt"/>
              </a:rPr>
              <a:t> question</a:t>
            </a:r>
          </a:p>
        </p:txBody>
      </p:sp>
    </p:spTree>
    <p:extLst>
      <p:ext uri="{BB962C8B-B14F-4D97-AF65-F5344CB8AC3E}">
        <p14:creationId xmlns:p14="http://schemas.microsoft.com/office/powerpoint/2010/main" val="1003376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C26E8-2BF0-8FA2-7B56-8F433C7F1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9EB58-DCEB-1CF1-DCDD-B01E7A127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Dividing </a:t>
            </a:r>
            <a:r>
              <a:rPr lang="en-US"/>
              <a:t>a quantity </a:t>
            </a:r>
            <a:r>
              <a:rPr lang="en-US" dirty="0"/>
              <a:t>in </a:t>
            </a:r>
            <a:r>
              <a:rPr lang="en-US"/>
              <a:t>a given ratio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10233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73CD0-BB0E-2831-6776-81857595A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D2CEC0-3A6C-751D-A91E-DB9CBDD18E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5486" y="0"/>
            <a:ext cx="9983764" cy="5262547"/>
          </a:xfrm>
        </p:spPr>
      </p:pic>
    </p:spTree>
    <p:extLst>
      <p:ext uri="{BB962C8B-B14F-4D97-AF65-F5344CB8AC3E}">
        <p14:creationId xmlns:p14="http://schemas.microsoft.com/office/powerpoint/2010/main" val="1681184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8E61F-8E63-7BC9-6B7F-0E68B89C1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26D88A-5909-13DA-3FAB-DA47235723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10515600" cy="3819736"/>
          </a:xfrm>
        </p:spPr>
      </p:pic>
    </p:spTree>
    <p:extLst>
      <p:ext uri="{BB962C8B-B14F-4D97-AF65-F5344CB8AC3E}">
        <p14:creationId xmlns:p14="http://schemas.microsoft.com/office/powerpoint/2010/main" val="3961252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350</Words>
  <Application>Microsoft Office PowerPoint</Application>
  <PresentationFormat>Widescreen</PresentationFormat>
  <Paragraphs>86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Lesson objective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Individual practice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4</cp:revision>
  <dcterms:created xsi:type="dcterms:W3CDTF">2022-07-27T07:40:25Z</dcterms:created>
  <dcterms:modified xsi:type="dcterms:W3CDTF">2022-07-28T03:23:17Z</dcterms:modified>
</cp:coreProperties>
</file>
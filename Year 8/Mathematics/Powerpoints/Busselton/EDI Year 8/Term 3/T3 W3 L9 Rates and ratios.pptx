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98" r:id="rId5"/>
    <p:sldId id="300" r:id="rId6"/>
    <p:sldId id="313" r:id="rId7"/>
    <p:sldId id="316" r:id="rId8"/>
    <p:sldId id="276" r:id="rId9"/>
    <p:sldId id="277" r:id="rId10"/>
    <p:sldId id="278" r:id="rId11"/>
    <p:sldId id="279" r:id="rId12"/>
    <p:sldId id="284" r:id="rId13"/>
    <p:sldId id="285" r:id="rId14"/>
    <p:sldId id="261" r:id="rId15"/>
    <p:sldId id="263" r:id="rId16"/>
    <p:sldId id="264" r:id="rId17"/>
    <p:sldId id="257" r:id="rId18"/>
    <p:sldId id="258" r:id="rId19"/>
    <p:sldId id="265" r:id="rId20"/>
    <p:sldId id="266" r:id="rId21"/>
    <p:sldId id="31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8CE4-F92E-2DA5-31E5-04F837C1B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4BD393-0032-A569-8E3D-4DDA01EE0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F68A3-99B1-0BEE-8BB0-C90C4839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5E665-7912-F022-8DDD-E0881D42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31F2A-6BC5-012C-42AE-3D502C60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9338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58EF-9A30-DDD0-DFE3-606D1500B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A9DB8-71F6-AB75-16EF-3E0D4A063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1C876-C841-6089-6535-1B0BB00B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58C07-A42F-3E5A-2C38-6937241E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F15AC-8751-E517-9F4D-CB3F692C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810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4FE6-1F16-536A-5030-0935547B4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C312E-ECE3-7963-D094-67F8A4987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DF3DF-C1A2-D8DA-8050-B0F674418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E096B-3326-8250-485C-97248DEE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E161C-EF59-F5E7-A514-70C880312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0285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8FF6-D069-9DD3-CD0B-81641573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212AB-AEE6-6CA6-4E55-F65CAF3C9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AAB97-8556-4A0D-BBD1-1BA46427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7804C-76E7-92FD-2F5A-A33D2A1B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4B373-A004-688F-65E9-298F0A89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6CB97-AFED-6146-7D3B-1BA7E848A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26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8768-942E-C972-2F99-1F5C2395E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79307-87BD-471F-337C-4B0BA38D2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B4AD4-3B62-B386-D7A2-498726DC8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89461-C177-137F-517E-54BCFE768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A434B-3FED-A7A6-5BBB-7FA4C0154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F6BC2-53E3-4730-65CF-B233A113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E4963C-B570-D6C0-FFC2-F188D1D97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04C20-11FA-0D2B-2B39-4CD98FD0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164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F3F1-1AB2-9B16-0E91-2448CBEC8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C3A410-6F28-609E-77C7-AE953860C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6BDCB-5E27-895E-0C26-D14CB0BA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8BB92-014A-8C44-03D7-B3B650EF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1149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73BDB-602D-9A8C-9ABB-74FB8505D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4AEA-5365-8E8F-4A9E-69F9EE34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03E50-F1D1-EF7E-BBBB-64126632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8603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ECB4-882B-65F6-78C2-C328F57AB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E3E95-E793-5ACC-E0E5-49856DA30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E8967-459B-D44B-0BB9-7982DBDE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C5C0A-BC02-D54F-3317-ECEB2C9F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7060E-68FD-E5FA-1D3F-1D5D19BD5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5AA3D-B8FE-473F-7480-1C756D97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64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7F94-F3FC-0C85-BC78-21CA88C34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ED619-7E2D-85C4-C426-9C3E0B9C4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C94EC-223A-45A4-0593-72DB616D9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0A73B-49C7-2669-1933-026FD1901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322E0-23E9-3C15-E8D3-41A4C9BCE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7ABD8-4C50-02D7-D583-AD5FB9A6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200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0A6E-BD4A-D4DE-89D3-B7F81401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3CF13-75BD-8F69-6BE6-01ED55646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97BD8-CB4F-7330-2A54-EFA360E9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58CF3-9360-B05C-C89D-19BED2E5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FA72E-EA46-6B34-1707-6083711F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013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DE051-BE58-4C44-087D-06AF3D421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2EC06-9E79-027F-48E0-287F03835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8DC29-6D4E-6585-657F-DED10DF6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5FEC0-FC0E-7F03-8923-70886033C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3F27C-C8D4-9C4E-8A42-428B8E2A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00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657A1-72C7-43EE-894D-316823711CDA}" type="datetime1">
              <a:rPr lang="en-GB" smtClean="0"/>
              <a:t>04/08/2022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3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8B450-9A8B-4371-B5D4-1917177A86AD}" type="datetime1">
              <a:rPr lang="en-GB" smtClean="0"/>
              <a:t>04/08/2022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06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AFCD-8411-489E-8B60-C1E16883DE63}" type="datetime1">
              <a:rPr lang="en-GB" smtClean="0"/>
              <a:t>04/08/2022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86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84C8-170E-49B6-AED3-414C741AD8C6}" type="datetime1">
              <a:rPr lang="en-GB" smtClean="0"/>
              <a:t>04/08/2022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22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235C-020C-4BD4-B94B-B30D621D2AA9}" type="datetime1">
              <a:rPr lang="en-GB" smtClean="0"/>
              <a:t>04/08/2022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32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4E78-1599-4070-A5EB-4D81A9957252}" type="datetime1">
              <a:rPr lang="en-GB" smtClean="0"/>
              <a:t>04/08/2022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64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953C0-9F72-454F-AD1F-B9D559866ABE}" type="datetime1">
              <a:rPr lang="en-GB" smtClean="0"/>
              <a:t>04/08/2022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8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2B5D-3903-4036-970D-603AFDD45257}" type="datetime1">
              <a:rPr lang="en-GB" smtClean="0"/>
              <a:t>04/08/2022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13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FE469-6606-46DD-B5DC-B2C1D7EB00E6}" type="datetime1">
              <a:rPr lang="en-GB" smtClean="0"/>
              <a:t>04/08/2022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87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CB6A0-CC0C-4B1F-8D31-13EE98CD0CBE}" type="datetime1">
              <a:rPr lang="en-GB" smtClean="0"/>
              <a:t>04/08/2022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27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D0C55-CCF4-47A6-82FF-51C63334DAD5}" type="datetime1">
              <a:rPr lang="en-GB" smtClean="0"/>
              <a:t>04/08/2022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8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321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4898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3129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8654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7428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254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6811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3867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84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9415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78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F2097-7D57-9F75-0437-A67D7D816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95E9-4BAA-5B32-8AC5-FFE91395E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917A7-CE24-0E2F-15D2-D917BF9DC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380A0-7A9D-4063-A949-80CDA8CBAA5E}" type="datetimeFigureOut">
              <a:rPr lang="en-AU" smtClean="0"/>
              <a:t>4/08/2022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90A28-E515-B86B-6B03-7F6E07DB3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537BF-3159-EA83-1009-E85855A65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A94BB-F177-4DDB-9D47-D904BB5CA2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651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70B84-DF89-4234-B6EC-49CA88D6A4D2}" type="datetime1">
              <a:rPr lang="en-GB" smtClean="0"/>
              <a:t>04/08/2022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5B661-9A84-4AAA-876B-BA9D5D18E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6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7194B-F1F1-4957-9BE3-08B82D161F58}" type="datetimeFigureOut">
              <a:rPr lang="en-GB" smtClean="0"/>
              <a:t>04/08/2022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5F964-0E0D-4A94-A314-BB270316C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7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31D596-7E8D-81A8-25BE-858B508E1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B3F46F-8179-2548-3878-41EA01EC1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sz="3600" b="1" dirty="0">
                <a:solidFill>
                  <a:srgbClr val="00B0F0"/>
                </a:solidFill>
              </a:rPr>
              <a:t>Rates and ratios</a:t>
            </a:r>
          </a:p>
          <a:p>
            <a:pPr marL="0" indent="0">
              <a:buNone/>
            </a:pPr>
            <a:endParaRPr lang="en-US" sz="36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00B0F0"/>
                </a:solidFill>
              </a:rPr>
              <a:t>Aim – be able to: </a:t>
            </a:r>
          </a:p>
          <a:p>
            <a:pPr>
              <a:buFontTx/>
              <a:buChar char="-"/>
            </a:pPr>
            <a:r>
              <a:rPr lang="en-US" sz="3600" b="1" dirty="0">
                <a:solidFill>
                  <a:srgbClr val="00B0F0"/>
                </a:solidFill>
              </a:rPr>
              <a:t>Calculate speed, distance and time </a:t>
            </a:r>
          </a:p>
          <a:p>
            <a:pPr>
              <a:buFontTx/>
              <a:buChar char="-"/>
            </a:pPr>
            <a:r>
              <a:rPr lang="en-US" sz="3600" b="1" dirty="0">
                <a:solidFill>
                  <a:srgbClr val="00B0F0"/>
                </a:solidFill>
              </a:rPr>
              <a:t>Use bar modelling method to share amounts using a ratio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D7D80-C9C7-1BAA-A26B-DD4D47950F1E}"/>
              </a:ext>
            </a:extLst>
          </p:cNvPr>
          <p:cNvSpPr txBox="1"/>
          <p:nvPr/>
        </p:nvSpPr>
        <p:spPr>
          <a:xfrm>
            <a:off x="6569476" y="2381980"/>
            <a:ext cx="3240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Calculators required.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334EC-886E-6DA3-6DB2-E160F6207D4F}"/>
              </a:ext>
            </a:extLst>
          </p:cNvPr>
          <p:cNvSpPr txBox="1"/>
          <p:nvPr/>
        </p:nvSpPr>
        <p:spPr>
          <a:xfrm>
            <a:off x="7298924" y="681037"/>
            <a:ext cx="3949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Focus: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Respect (Resp 4 actions)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Learn (work whole lesson)</a:t>
            </a:r>
            <a:endParaRPr lang="en-AU" sz="24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16867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7696"/>
            <a:ext cx="8229600" cy="1143000"/>
          </a:xfr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How the method works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43510"/>
          </a:xfrm>
          <a:ln w="38100">
            <a:solidFill>
              <a:srgbClr val="7030A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4000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99606" y="1588536"/>
            <a:ext cx="8028843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Share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25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lollies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into a ratio of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2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: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3</a:t>
            </a: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pPr marL="742950" indent="-742950" algn="ctr">
              <a:buFontTx/>
              <a:buAutoNum type="arabicParenR"/>
            </a:pP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2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+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3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</a:p>
          <a:p>
            <a:pPr marL="742950" indent="-742950" algn="ctr">
              <a:buFontTx/>
              <a:buAutoNum type="arabicParenR"/>
            </a:pP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25  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÷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</a:p>
          <a:p>
            <a:pPr marL="742950" indent="-742950" algn="ctr">
              <a:buFontTx/>
              <a:buAutoNum type="arabicParenR" startAt="3"/>
            </a:pP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2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x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10</a:t>
            </a:r>
          </a:p>
          <a:p>
            <a:pPr algn="ctr"/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     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3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x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15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       </a:t>
            </a:r>
            <a:endParaRPr lang="en-GB" sz="36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97603" y="2996952"/>
          <a:ext cx="7632846" cy="78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8977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537995" y="2040781"/>
            <a:ext cx="111601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79574" y="2996952"/>
          <a:ext cx="7650875" cy="78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0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977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>
            <a:off x="2297603" y="2854121"/>
            <a:ext cx="7632846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279576" y="3934241"/>
            <a:ext cx="1512169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340247" y="4092844"/>
            <a:ext cx="80342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</a:t>
            </a:r>
            <a:r>
              <a:rPr lang="en-US" sz="4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3CCF-FD0C-DCCD-A688-0F0FB696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CDFB1-70CD-47C3-A991-8A80C3755E78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04/08/2022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27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7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7696"/>
            <a:ext cx="8229600" cy="1143000"/>
          </a:xfr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How the method works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43510"/>
          </a:xfrm>
          <a:ln w="38100">
            <a:solidFill>
              <a:srgbClr val="7030A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4000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99606" y="1588536"/>
            <a:ext cx="8028843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Share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45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lollies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into a ratio of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: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4</a:t>
            </a: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pPr marL="742950" indent="-742950" algn="ctr">
              <a:buFontTx/>
              <a:buAutoNum type="arabicParenR"/>
            </a:pP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+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4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9</a:t>
            </a:r>
          </a:p>
          <a:p>
            <a:pPr marL="742950" indent="-742950" algn="ctr">
              <a:buFontTx/>
              <a:buAutoNum type="arabicParenR"/>
            </a:pP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45  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÷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9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</a:p>
          <a:p>
            <a:pPr marL="742950" indent="-742950" algn="ctr">
              <a:buFontTx/>
              <a:buAutoNum type="arabicParenR" startAt="3"/>
            </a:pP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x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25</a:t>
            </a:r>
          </a:p>
          <a:p>
            <a:pPr algn="ctr"/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     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4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x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20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       </a:t>
            </a:r>
            <a:endParaRPr lang="en-GB" sz="36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97603" y="2996952"/>
          <a:ext cx="7632846" cy="78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8977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537995" y="2040781"/>
            <a:ext cx="111601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=45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79576" y="2996952"/>
          <a:ext cx="7632846" cy="78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8977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>
            <a:off x="2297603" y="2854121"/>
            <a:ext cx="7632846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279575" y="3934241"/>
            <a:ext cx="864096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340247" y="4092844"/>
            <a:ext cx="80342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</a:t>
            </a:r>
            <a:r>
              <a:rPr lang="en-US" sz="4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F4F91-ADD0-1E87-E7DD-7FA68ED4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CDC46-6B5A-4156-9E96-93AE7E1834C9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04/08/2022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549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7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How the method works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43510"/>
          </a:xfrm>
          <a:ln w="38100">
            <a:solidFill>
              <a:srgbClr val="7030A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4000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99606" y="1588536"/>
            <a:ext cx="8028843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Share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36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lollies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into a ratio of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1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: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pPr marL="742950" indent="-742950" algn="ctr">
              <a:buFontTx/>
              <a:buAutoNum type="arabicParenR"/>
            </a:pP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1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+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6</a:t>
            </a:r>
          </a:p>
          <a:p>
            <a:pPr marL="742950" indent="-742950" algn="ctr">
              <a:buFontTx/>
              <a:buAutoNum type="arabicParenR"/>
            </a:pP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36  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÷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6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6</a:t>
            </a:r>
          </a:p>
          <a:p>
            <a:pPr marL="742950" indent="-742950" algn="ctr">
              <a:buFontTx/>
              <a:buAutoNum type="arabicParenR" startAt="3"/>
            </a:pP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1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x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6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6</a:t>
            </a:r>
          </a:p>
          <a:p>
            <a:pPr algn="ctr"/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     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x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6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30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       </a:t>
            </a:r>
            <a:endParaRPr lang="en-GB" sz="36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79508" y="3212976"/>
          <a:ext cx="7632846" cy="78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0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8977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537994" y="2132857"/>
            <a:ext cx="111601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79575" y="3212976"/>
          <a:ext cx="7632846" cy="78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977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>
            <a:off x="2279575" y="2963853"/>
            <a:ext cx="7632846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279574" y="4141248"/>
            <a:ext cx="1224137" cy="7449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489929" y="4293097"/>
            <a:ext cx="80342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</a:t>
            </a:r>
            <a:r>
              <a:rPr lang="en-US" sz="4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1C1E2-F62C-E932-090C-EDC37E26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66265-F1E4-4E12-B244-B0B7B85AA93D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04/08/2022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79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7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How the method works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43510"/>
          </a:xfrm>
          <a:ln w="38100">
            <a:solidFill>
              <a:srgbClr val="7030A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4000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99606" y="1588536"/>
            <a:ext cx="8028843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Share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20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lollies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into a ratio of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1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: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3</a:t>
            </a: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endParaRPr lang="en-US" sz="320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  <a:p>
            <a:pPr marL="742950" indent="-742950" algn="ctr">
              <a:buFontTx/>
              <a:buAutoNum type="arabicParenR"/>
            </a:pP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1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+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3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4</a:t>
            </a:r>
          </a:p>
          <a:p>
            <a:pPr marL="742950" indent="-742950" algn="ctr">
              <a:buFontTx/>
              <a:buAutoNum type="arabicParenR"/>
            </a:pP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20  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÷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4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</a:p>
          <a:p>
            <a:pPr marL="742950" indent="-742950" algn="ctr">
              <a:buFontTx/>
              <a:buAutoNum type="arabicParenR" startAt="3"/>
            </a:pP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1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x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5</a:t>
            </a:r>
          </a:p>
          <a:p>
            <a:pPr algn="ctr"/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     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3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x </a:t>
            </a:r>
            <a:r>
              <a:rPr lang="en-US" sz="32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  <a:r>
              <a:rPr lang="en-US" sz="32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= 15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         </a:t>
            </a:r>
            <a:endParaRPr lang="en-GB" sz="36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79508" y="3212976"/>
          <a:ext cx="7632846" cy="78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0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80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8977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537994" y="2132857"/>
            <a:ext cx="111601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79575" y="3212976"/>
          <a:ext cx="7632848" cy="78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977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>
            <a:off x="2279575" y="2963853"/>
            <a:ext cx="7632846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279574" y="4127691"/>
            <a:ext cx="1872211" cy="13556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489929" y="4293097"/>
            <a:ext cx="80342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=</a:t>
            </a:r>
            <a:r>
              <a:rPr lang="en-US" sz="48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B2171-D3A2-1CA7-A35A-EB0BA866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14E24-0BB4-4F35-A69B-5183521819ED}" type="datetime1"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04/08/2022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456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7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Just with numbers…….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43510"/>
          </a:xfrm>
          <a:ln w="38100">
            <a:solidFill>
              <a:srgbClr val="7030A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4000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99606" y="1588535"/>
            <a:ext cx="8028843" cy="541686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Method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Share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lollies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 a ratio of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  <a:p>
            <a:pPr marL="742950" indent="-742950">
              <a:buAutoNum type="arabicParenR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up the ratios.    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  <a:p>
            <a:pPr marL="742950" indent="-742950">
              <a:buAutoNum type="arabicParenR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one share. We divide our amount by the last answer.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  ÷ 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  <a:p>
            <a:pPr marL="742950" indent="-742950">
              <a:buAutoNum type="arabicParenR" startAt="3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Multiply our ratios by this answer.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7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3</a:t>
            </a:r>
          </a:p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</a:t>
            </a:r>
            <a:endParaRPr lang="en-GB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21ABD-AAD4-A519-4474-C2236FEB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2CD-5878-4611-BD18-DA8F7DBDFC61}" type="datetime1">
              <a:rPr lang="en-GB" smtClean="0"/>
              <a:t>04/08/2022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0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Example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43510"/>
          </a:xfrm>
          <a:ln w="38100">
            <a:solidFill>
              <a:srgbClr val="7030A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4000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99606" y="1588536"/>
            <a:ext cx="8028843" cy="45858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Share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lollies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into a ratio of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  <a:p>
            <a:pPr marL="742950" indent="-742950">
              <a:buAutoNum type="arabicParenR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up the ratios.    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  <a:p>
            <a:pPr marL="742950" indent="-742950">
              <a:buAutoNum type="arabicParenR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one share. We divide our amount by the last answer.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 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÷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  <a:p>
            <a:pPr marL="742950" indent="-742950">
              <a:buAutoNum type="arabicParenR" startAt="3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Multiply our ratios by this answer.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12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8</a:t>
            </a:r>
          </a:p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</a:t>
            </a:r>
            <a:endParaRPr lang="en-GB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A40AA-8866-9A1E-6EBD-8DEF2599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8A70-AB23-4DAC-97C7-BACA0099714B}" type="datetime1">
              <a:rPr lang="en-GB" smtClean="0"/>
              <a:t>04/08/2022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We do……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43510"/>
          </a:xfrm>
          <a:ln w="38100">
            <a:solidFill>
              <a:srgbClr val="7030A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4000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99606" y="1588536"/>
            <a:ext cx="8028843" cy="45858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Share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lollies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into a ratio of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  <a:p>
            <a:pPr marL="742950" indent="-742950">
              <a:buAutoNum type="arabicParenR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up the ratios.    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  <a:p>
            <a:pPr marL="742950" indent="-742950">
              <a:buAutoNum type="arabicParenR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one share. We divide our amount by the last answer.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 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÷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  <a:p>
            <a:pPr marL="742950" indent="-742950">
              <a:buAutoNum type="arabicParenR" startAt="3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Multiply our ratios by this answer.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24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6</a:t>
            </a:r>
          </a:p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</a:t>
            </a:r>
            <a:endParaRPr lang="en-GB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02BF8-D679-2B46-DD34-9F76F359B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AFD33-54E2-40B7-B931-A6C6885E4EAE}" type="datetime1">
              <a:rPr lang="en-GB" smtClean="0"/>
              <a:t>04/08/2022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4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Your go……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43510"/>
          </a:xfrm>
          <a:ln w="38100">
            <a:solidFill>
              <a:srgbClr val="7030A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4000" dirty="0">
              <a:latin typeface="Comic Sans MS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itchFamily="66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99606" y="1588536"/>
            <a:ext cx="8028843" cy="45858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Share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45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lollies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into a ratio of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  <a:p>
            <a:pPr marL="742950" indent="-742950">
              <a:buAutoNum type="arabicParenR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up the ratios.    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  <a:p>
            <a:pPr marL="742950" indent="-742950">
              <a:buAutoNum type="arabicParenR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one share. We divide our amount by the last answer.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45 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÷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n-US" sz="3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  <a:p>
            <a:pPr marL="742950" indent="-742950">
              <a:buAutoNum type="arabicParenR" startAt="3"/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Multiply our ratios by this answer.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25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sz="32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</a:t>
            </a:r>
            <a:r>
              <a:rPr lang="en-US" sz="32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20</a:t>
            </a:r>
          </a:p>
          <a:p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</a:t>
            </a:r>
            <a:endParaRPr lang="en-GB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5CCDD-CBE5-D370-7F3D-5491C957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C390-A24F-49E9-A898-6022A30F5821}" type="datetime1">
              <a:rPr lang="en-GB" smtClean="0"/>
              <a:t>04/08/2022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0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600" y="116632"/>
            <a:ext cx="7776864" cy="1143000"/>
          </a:xfrm>
          <a:solidFill>
            <a:srgbClr val="00206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Questions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75520" y="1484784"/>
          <a:ext cx="8496944" cy="5112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1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8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1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2319">
                <a:tc>
                  <a:txBody>
                    <a:bodyPr/>
                    <a:lstStyle/>
                    <a:p>
                      <a:pPr algn="ctr"/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Bronze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BC31">
                        <a:alpha val="854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32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Share</a:t>
                      </a:r>
                      <a:r>
                        <a:rPr lang="en-GB" sz="2000" baseline="0" dirty="0"/>
                        <a:t> </a:t>
                      </a:r>
                      <a:r>
                        <a:rPr lang="en-GB" sz="2400" b="1" baseline="0" dirty="0"/>
                        <a:t>24</a:t>
                      </a:r>
                      <a:r>
                        <a:rPr lang="en-GB" sz="2000" b="1" baseline="0" dirty="0"/>
                        <a:t> </a:t>
                      </a:r>
                      <a:r>
                        <a:rPr lang="en-GB" sz="2000" baseline="0" dirty="0"/>
                        <a:t>into the following ratios: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Share</a:t>
                      </a:r>
                      <a:r>
                        <a:rPr lang="en-GB" sz="2000" baseline="0" dirty="0"/>
                        <a:t> </a:t>
                      </a:r>
                      <a:r>
                        <a:rPr lang="en-GB" sz="2400" b="1" baseline="0" dirty="0"/>
                        <a:t>$36 </a:t>
                      </a:r>
                      <a:r>
                        <a:rPr lang="en-GB" sz="2000" baseline="0" dirty="0"/>
                        <a:t>into the following ratios: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Share</a:t>
                      </a:r>
                      <a:r>
                        <a:rPr lang="en-GB" sz="2000" baseline="0" dirty="0"/>
                        <a:t> </a:t>
                      </a:r>
                      <a:r>
                        <a:rPr lang="en-GB" sz="2400" b="1" baseline="0" dirty="0"/>
                        <a:t>48cm</a:t>
                      </a:r>
                      <a:r>
                        <a:rPr lang="en-GB" sz="2000" b="1" baseline="0" dirty="0"/>
                        <a:t> </a:t>
                      </a:r>
                      <a:r>
                        <a:rPr lang="en-GB" sz="2000" baseline="0" dirty="0"/>
                        <a:t>into the following ratios: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BC31">
                        <a:alpha val="854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982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bg1"/>
                          </a:solidFill>
                        </a:rPr>
                        <a:t>a)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2:1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8480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2:1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49960">
                        <a:alpha val="6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4:2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3BC31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982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bg1"/>
                          </a:solidFill>
                        </a:rPr>
                        <a:t>b)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3:1</a:t>
                      </a:r>
                    </a:p>
                  </a:txBody>
                  <a:tcPr anchor="ctr">
                    <a:solidFill>
                      <a:srgbClr val="98480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3:1</a:t>
                      </a:r>
                    </a:p>
                  </a:txBody>
                  <a:tcPr anchor="ctr">
                    <a:solidFill>
                      <a:srgbClr val="A49960">
                        <a:alpha val="6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3:5</a:t>
                      </a:r>
                    </a:p>
                  </a:txBody>
                  <a:tcPr anchor="ctr">
                    <a:solidFill>
                      <a:srgbClr val="D3BC31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982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bg1"/>
                          </a:solidFill>
                        </a:rPr>
                        <a:t>c)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5:1</a:t>
                      </a:r>
                    </a:p>
                  </a:txBody>
                  <a:tcPr anchor="ctr">
                    <a:solidFill>
                      <a:srgbClr val="98480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1:5</a:t>
                      </a:r>
                    </a:p>
                  </a:txBody>
                  <a:tcPr anchor="ctr">
                    <a:solidFill>
                      <a:srgbClr val="A49960">
                        <a:alpha val="6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1:7</a:t>
                      </a:r>
                    </a:p>
                  </a:txBody>
                  <a:tcPr anchor="ctr">
                    <a:solidFill>
                      <a:srgbClr val="D3BC31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982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bg1"/>
                          </a:solidFill>
                        </a:rPr>
                        <a:t>d)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2:4</a:t>
                      </a:r>
                    </a:p>
                  </a:txBody>
                  <a:tcPr anchor="ctr">
                    <a:solidFill>
                      <a:srgbClr val="98480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7:5</a:t>
                      </a:r>
                    </a:p>
                  </a:txBody>
                  <a:tcPr anchor="ctr">
                    <a:solidFill>
                      <a:srgbClr val="A49960">
                        <a:alpha val="6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1:5:6</a:t>
                      </a:r>
                    </a:p>
                  </a:txBody>
                  <a:tcPr anchor="ctr">
                    <a:solidFill>
                      <a:srgbClr val="D3BC31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5DF7E6-92B8-10DC-889C-6236AFA7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F046-66EB-4058-929D-CBA718303DBC}" type="datetime1">
              <a:rPr lang="en-GB" smtClean="0"/>
              <a:t>04/08/2022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98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116632"/>
            <a:ext cx="8229600" cy="1143000"/>
          </a:xfrm>
          <a:solidFill>
            <a:srgbClr val="002060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Comic Sans MS" pitchFamily="66" charset="0"/>
              </a:rPr>
              <a:t>Answers</a:t>
            </a:r>
            <a:endParaRPr lang="en-US" dirty="0">
              <a:solidFill>
                <a:schemeClr val="bg1"/>
              </a:solidFill>
              <a:latin typeface="Comic Sans MS" pitchFamily="66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00314" y="1484786"/>
          <a:ext cx="8220828" cy="5112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0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2319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Bronze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8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9960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BC31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321">
                <a:tc>
                  <a:txBody>
                    <a:bodyPr/>
                    <a:lstStyle/>
                    <a:p>
                      <a:r>
                        <a:rPr lang="en-GB" sz="2000" dirty="0"/>
                        <a:t>Share</a:t>
                      </a:r>
                      <a:r>
                        <a:rPr lang="en-GB" sz="2000" baseline="0" dirty="0"/>
                        <a:t> </a:t>
                      </a:r>
                      <a:r>
                        <a:rPr lang="en-GB" sz="2000" b="1" baseline="0" dirty="0"/>
                        <a:t>24 </a:t>
                      </a:r>
                      <a:r>
                        <a:rPr lang="en-GB" sz="2000" baseline="0" dirty="0"/>
                        <a:t>into the following ratios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8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Share</a:t>
                      </a:r>
                      <a:r>
                        <a:rPr lang="en-GB" sz="2000" baseline="0" dirty="0"/>
                        <a:t> </a:t>
                      </a:r>
                      <a:r>
                        <a:rPr lang="en-GB" sz="2000" b="1" baseline="0" dirty="0"/>
                        <a:t>$36 </a:t>
                      </a:r>
                      <a:r>
                        <a:rPr lang="en-GB" sz="2000" baseline="0" dirty="0"/>
                        <a:t>into the following ratios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9960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Share</a:t>
                      </a:r>
                      <a:r>
                        <a:rPr lang="en-GB" sz="2000" baseline="0" dirty="0"/>
                        <a:t> </a:t>
                      </a:r>
                      <a:r>
                        <a:rPr lang="en-GB" sz="2000" b="1" baseline="0" dirty="0"/>
                        <a:t>48cm </a:t>
                      </a:r>
                      <a:r>
                        <a:rPr lang="en-GB" sz="2000" baseline="0" dirty="0"/>
                        <a:t>into the following ratios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BC31">
                        <a:alpha val="8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982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16:8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8480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$24:$12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49960">
                        <a:alpha val="6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32cm:16cm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3BC31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982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18:6</a:t>
                      </a:r>
                    </a:p>
                  </a:txBody>
                  <a:tcPr anchor="ctr">
                    <a:solidFill>
                      <a:srgbClr val="98480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$27:$9</a:t>
                      </a:r>
                    </a:p>
                  </a:txBody>
                  <a:tcPr anchor="ctr">
                    <a:solidFill>
                      <a:srgbClr val="A49960">
                        <a:alpha val="6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18cm:30cm</a:t>
                      </a:r>
                    </a:p>
                  </a:txBody>
                  <a:tcPr anchor="ctr">
                    <a:solidFill>
                      <a:srgbClr val="D3BC31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982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20:4</a:t>
                      </a:r>
                    </a:p>
                  </a:txBody>
                  <a:tcPr anchor="ctr">
                    <a:solidFill>
                      <a:srgbClr val="98480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$6:$30</a:t>
                      </a:r>
                    </a:p>
                  </a:txBody>
                  <a:tcPr anchor="ctr">
                    <a:solidFill>
                      <a:srgbClr val="A49960">
                        <a:alpha val="6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6cm:42cm</a:t>
                      </a:r>
                    </a:p>
                  </a:txBody>
                  <a:tcPr anchor="ctr">
                    <a:solidFill>
                      <a:srgbClr val="D3BC31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982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8:16</a:t>
                      </a:r>
                    </a:p>
                  </a:txBody>
                  <a:tcPr anchor="ctr">
                    <a:solidFill>
                      <a:srgbClr val="984807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$21:$15</a:t>
                      </a:r>
                    </a:p>
                  </a:txBody>
                  <a:tcPr anchor="ctr">
                    <a:solidFill>
                      <a:srgbClr val="A49960">
                        <a:alpha val="6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4cm:20cm:24cm</a:t>
                      </a:r>
                    </a:p>
                  </a:txBody>
                  <a:tcPr anchor="ctr">
                    <a:solidFill>
                      <a:srgbClr val="D3BC31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B77113-BE09-CE27-5794-8CC0DCAF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F935C-8D54-4FC3-AE83-B5920E7430EF}" type="datetime1">
              <a:rPr lang="en-GB" smtClean="0"/>
              <a:t>04/08/2022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28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 drive 120km, and it takes me 2 hours.</a:t>
            </a:r>
          </a:p>
          <a:p>
            <a:endParaRPr lang="en-GB" dirty="0"/>
          </a:p>
          <a:p>
            <a:r>
              <a:rPr lang="en-GB" dirty="0"/>
              <a:t>How fast was I driving in km/h?</a:t>
            </a:r>
          </a:p>
          <a:p>
            <a:endParaRPr lang="en-GB" dirty="0"/>
          </a:p>
          <a:p>
            <a:r>
              <a:rPr lang="en-GB" dirty="0"/>
              <a:t>SPEED = DISTANCE ÷ TIME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273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 run 30km and I run at 6km/h. </a:t>
            </a:r>
          </a:p>
          <a:p>
            <a:endParaRPr lang="en-GB" dirty="0"/>
          </a:p>
          <a:p>
            <a:r>
              <a:rPr lang="en-GB" dirty="0"/>
              <a:t>How long does it take me to run the 30km?</a:t>
            </a:r>
          </a:p>
          <a:p>
            <a:endParaRPr lang="en-GB" dirty="0"/>
          </a:p>
          <a:p>
            <a:r>
              <a:rPr lang="en-GB" dirty="0"/>
              <a:t>TIME = DISTANCE ÷ SPEED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43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 run at 7m/s for 6 seconds. </a:t>
            </a:r>
          </a:p>
          <a:p>
            <a:endParaRPr lang="en-GB" dirty="0"/>
          </a:p>
          <a:p>
            <a:r>
              <a:rPr lang="en-GB" dirty="0"/>
              <a:t>How far do I run?</a:t>
            </a:r>
          </a:p>
          <a:p>
            <a:endParaRPr lang="en-GB" dirty="0"/>
          </a:p>
          <a:p>
            <a:r>
              <a:rPr lang="en-GB" dirty="0"/>
              <a:t>DISTANCE = SPEED x TIME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998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Speed, Distance,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Distance = speed x time</a:t>
            </a:r>
          </a:p>
          <a:p>
            <a:endParaRPr lang="en-GB" dirty="0"/>
          </a:p>
          <a:p>
            <a:r>
              <a:rPr lang="en-GB" dirty="0"/>
              <a:t>Time = distance ÷ speed</a:t>
            </a:r>
          </a:p>
          <a:p>
            <a:endParaRPr lang="en-GB" dirty="0"/>
          </a:p>
          <a:p>
            <a:r>
              <a:rPr lang="en-GB" dirty="0"/>
              <a:t>Speed = distance ÷ time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7968208" y="1340768"/>
            <a:ext cx="2088232" cy="18002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>
            <a:stCxn id="4" idx="1"/>
            <a:endCxn id="4" idx="5"/>
          </p:cNvCxnSpPr>
          <p:nvPr/>
        </p:nvCxnSpPr>
        <p:spPr>
          <a:xfrm>
            <a:off x="8490266" y="2240868"/>
            <a:ext cx="10441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60296" y="1484785"/>
            <a:ext cx="576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prstClr val="black"/>
                </a:solidFill>
                <a:latin typeface="Calibri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8248" y="2299520"/>
            <a:ext cx="576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prstClr val="black"/>
                </a:solidFill>
                <a:latin typeface="Calibri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0336" y="2299520"/>
            <a:ext cx="576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prstClr val="black"/>
                </a:solidFill>
                <a:latin typeface="Calibri"/>
              </a:rPr>
              <a:t>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CCC7A2-F0A8-4864-A1E4-FF56AD365522}"/>
              </a:ext>
            </a:extLst>
          </p:cNvPr>
          <p:cNvSpPr/>
          <p:nvPr/>
        </p:nvSpPr>
        <p:spPr>
          <a:xfrm>
            <a:off x="2849729" y="1669002"/>
            <a:ext cx="2157274" cy="497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B0ACE5-1F1E-ECE7-E18D-D2E7C186A269}"/>
              </a:ext>
            </a:extLst>
          </p:cNvPr>
          <p:cNvSpPr/>
          <p:nvPr/>
        </p:nvSpPr>
        <p:spPr>
          <a:xfrm>
            <a:off x="2274159" y="2820386"/>
            <a:ext cx="2803867" cy="497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791AD9-7BC5-F7C9-A914-86E275FEBD4F}"/>
              </a:ext>
            </a:extLst>
          </p:cNvPr>
          <p:cNvSpPr/>
          <p:nvPr/>
        </p:nvSpPr>
        <p:spPr>
          <a:xfrm>
            <a:off x="2433957" y="4007280"/>
            <a:ext cx="2573045" cy="497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726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9" grpId="0"/>
      <p:bldP spid="5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Speed, distance,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car travelling at 50mph takes 4 hours to </a:t>
            </a:r>
          </a:p>
          <a:p>
            <a:pPr marL="0" indent="0">
              <a:buNone/>
            </a:pPr>
            <a:r>
              <a:rPr lang="en-GB" dirty="0"/>
              <a:t>    complete a journey. How far does it </a:t>
            </a:r>
          </a:p>
          <a:p>
            <a:pPr marL="0" indent="0">
              <a:buNone/>
            </a:pPr>
            <a:r>
              <a:rPr lang="en-GB" dirty="0"/>
              <a:t>    travel?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distance from Dover to Calais is 36km. Ships from Dover sail at an average speed of 24km/h. How long does the ferry crossing take?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Isosceles Triangle 3"/>
          <p:cNvSpPr/>
          <p:nvPr/>
        </p:nvSpPr>
        <p:spPr>
          <a:xfrm>
            <a:off x="8459805" y="1842485"/>
            <a:ext cx="2088232" cy="18002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/>
          <p:cNvCxnSpPr>
            <a:stCxn id="4" idx="1"/>
            <a:endCxn id="4" idx="5"/>
          </p:cNvCxnSpPr>
          <p:nvPr/>
        </p:nvCxnSpPr>
        <p:spPr>
          <a:xfrm>
            <a:off x="8981863" y="2742585"/>
            <a:ext cx="10441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251893" y="1986502"/>
            <a:ext cx="576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19845" y="2801237"/>
            <a:ext cx="576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11933" y="2801237"/>
            <a:ext cx="576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397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Speed, distance,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ball travelled 92 metres (!!) in 5.4 seconds. What was the ball’s average speed?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8778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Speed, distance,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 Farah winning gold at the London Olympics.</a:t>
            </a:r>
          </a:p>
          <a:p>
            <a:endParaRPr lang="en-GB" dirty="0"/>
          </a:p>
          <a:p>
            <a:r>
              <a:rPr lang="en-GB" dirty="0"/>
              <a:t>Given he ran the 10,000m in 27 mins, 30 seconds, what was his average speed during the race?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953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9E96-0224-FFB3-536A-A776E1FB58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task</a:t>
            </a:r>
            <a:endParaRPr lang="en-AU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5C4FCAC-CF87-DD4E-9876-F2FBB71C8F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Complete the revision task booklet</a:t>
            </a:r>
          </a:p>
          <a:p>
            <a:r>
              <a:rPr lang="en-US" dirty="0"/>
              <a:t>Unfinished work </a:t>
            </a:r>
            <a:r>
              <a:rPr lang="en-US" dirty="0">
                <a:sym typeface="Wingdings" panose="05000000000000000000" pitchFamily="2" charset="2"/>
              </a:rPr>
              <a:t> homework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07370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776</Words>
  <Application>Microsoft Office PowerPoint</Application>
  <PresentationFormat>Widescreen</PresentationFormat>
  <Paragraphs>198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Comic Sans MS</vt:lpstr>
      <vt:lpstr>Office Theme</vt:lpstr>
      <vt:lpstr>1_Office Theme</vt:lpstr>
      <vt:lpstr>2_Office Theme</vt:lpstr>
      <vt:lpstr>Lesson objective </vt:lpstr>
      <vt:lpstr>How the method works</vt:lpstr>
      <vt:lpstr>How the method works</vt:lpstr>
      <vt:lpstr>How the method works</vt:lpstr>
      <vt:lpstr>How the method works</vt:lpstr>
      <vt:lpstr>Just with numbers…….</vt:lpstr>
      <vt:lpstr>Example</vt:lpstr>
      <vt:lpstr>We do……</vt:lpstr>
      <vt:lpstr>Your go……</vt:lpstr>
      <vt:lpstr>Questions</vt:lpstr>
      <vt:lpstr>Answers</vt:lpstr>
      <vt:lpstr>Speed</vt:lpstr>
      <vt:lpstr>TIME</vt:lpstr>
      <vt:lpstr>DISTANCE</vt:lpstr>
      <vt:lpstr>Speed, Distance, Time</vt:lpstr>
      <vt:lpstr>Speed, distance, time</vt:lpstr>
      <vt:lpstr>Speed, distance, time</vt:lpstr>
      <vt:lpstr>Speed, distance, time</vt:lpstr>
      <vt:lpstr>Individual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7</cp:revision>
  <dcterms:created xsi:type="dcterms:W3CDTF">2022-08-03T23:59:53Z</dcterms:created>
  <dcterms:modified xsi:type="dcterms:W3CDTF">2022-08-04T04:36:57Z</dcterms:modified>
</cp:coreProperties>
</file>
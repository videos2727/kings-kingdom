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3" r:id="rId2"/>
    <p:sldId id="304" r:id="rId3"/>
    <p:sldId id="305" r:id="rId4"/>
    <p:sldId id="260" r:id="rId5"/>
    <p:sldId id="261" r:id="rId6"/>
    <p:sldId id="262" r:id="rId7"/>
    <p:sldId id="263" r:id="rId8"/>
    <p:sldId id="30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0965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1300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4255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7176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2606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5851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789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785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0974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089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3015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1632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6476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4030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73933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6269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17/08/2022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294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C706B-AC35-DFE9-02C3-65E30AF4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6ECF3-C2CA-B5F6-6FBA-1EE7B629D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34" y="1473693"/>
            <a:ext cx="9729078" cy="44375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Title: </a:t>
            </a:r>
            <a:r>
              <a:rPr lang="en-US" sz="2400" b="1" dirty="0">
                <a:solidFill>
                  <a:srgbClr val="00B0F0"/>
                </a:solidFill>
              </a:rPr>
              <a:t>Variables on both</a:t>
            </a:r>
          </a:p>
          <a:p>
            <a:pPr marL="0" indent="0">
              <a:buNone/>
            </a:pPr>
            <a:endParaRPr lang="en-US" sz="24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B0F0"/>
                </a:solidFill>
              </a:rPr>
              <a:t> Solve linear equations with variables on both sides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>
                <a:solidFill>
                  <a:srgbClr val="00B0F0"/>
                </a:solidFill>
              </a:rPr>
              <a:t> Solve </a:t>
            </a:r>
            <a:r>
              <a:rPr lang="en-US" sz="2400" b="1" dirty="0">
                <a:solidFill>
                  <a:srgbClr val="00B0F0"/>
                </a:solidFill>
              </a:rPr>
              <a:t>linear equations with answers in decimals or fractions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sz="2400" b="1" dirty="0">
                <a:solidFill>
                  <a:srgbClr val="00B0F0"/>
                </a:solidFill>
              </a:rPr>
              <a:t>Review 2 step equations </a:t>
            </a:r>
          </a:p>
          <a:p>
            <a:pPr>
              <a:buFontTx/>
              <a:buChar char="-"/>
            </a:pPr>
            <a:r>
              <a:rPr lang="en-US" sz="2400" b="1" dirty="0">
                <a:solidFill>
                  <a:srgbClr val="00B0F0"/>
                </a:solidFill>
              </a:rPr>
              <a:t>Answers with decimals </a:t>
            </a:r>
          </a:p>
          <a:p>
            <a:pPr>
              <a:buFontTx/>
              <a:buChar char="-"/>
            </a:pPr>
            <a:r>
              <a:rPr lang="en-US" sz="2400" b="1" dirty="0">
                <a:solidFill>
                  <a:srgbClr val="00B0F0"/>
                </a:solidFill>
              </a:rPr>
              <a:t>Variables on both sides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CFB4A9-56F9-B7C7-ED11-B7111B430725}"/>
              </a:ext>
            </a:extLst>
          </p:cNvPr>
          <p:cNvSpPr txBox="1"/>
          <p:nvPr/>
        </p:nvSpPr>
        <p:spPr>
          <a:xfrm>
            <a:off x="5397521" y="2175030"/>
            <a:ext cx="3302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calculators.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C25F1E-4A28-2C34-B2CE-6C95898E6E2F}"/>
              </a:ext>
            </a:extLst>
          </p:cNvPr>
          <p:cNvSpPr txBox="1"/>
          <p:nvPr/>
        </p:nvSpPr>
        <p:spPr>
          <a:xfrm>
            <a:off x="7270813" y="239522"/>
            <a:ext cx="423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highlight>
                  <a:srgbClr val="00FF00"/>
                </a:highlight>
              </a:rPr>
              <a:t>PBiS</a:t>
            </a:r>
            <a:r>
              <a:rPr lang="en-US" sz="2400" b="1" dirty="0">
                <a:highlight>
                  <a:srgbClr val="00FF00"/>
                </a:highlight>
              </a:rPr>
              <a:t> focus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Empathy – let other work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Achieve – try all tasks</a:t>
            </a:r>
            <a:endParaRPr lang="en-AU" sz="24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0050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88CBA55-4ED9-4DB1-AEAB-3C8D09E98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 </a:t>
            </a:r>
            <a:r>
              <a:rPr lang="en-GB" altLang="en-US" dirty="0">
                <a:solidFill>
                  <a:srgbClr val="92D050"/>
                </a:solidFill>
              </a:rPr>
              <a:t>Try these equations;</a:t>
            </a:r>
            <a:br>
              <a:rPr lang="en-GB" altLang="en-US" dirty="0">
                <a:solidFill>
                  <a:srgbClr val="92D050"/>
                </a:solidFill>
              </a:rPr>
            </a:br>
            <a:r>
              <a:rPr lang="en-GB" altLang="en-US" dirty="0">
                <a:solidFill>
                  <a:srgbClr val="92D050"/>
                </a:solidFill>
              </a:rPr>
              <a:t>We do: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F5A1B6A-2123-4304-ABEC-BEEA202D8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62393" y="1905000"/>
            <a:ext cx="8915400" cy="4783757"/>
          </a:xfrm>
        </p:spPr>
        <p:txBody>
          <a:bodyPr>
            <a:noAutofit/>
          </a:bodyPr>
          <a:lstStyle/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7f + 6 = 23.5 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GB" altLang="en-US" sz="3200" b="1" dirty="0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7 – 4f = 29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GB" altLang="en-US" sz="3200" b="1" dirty="0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4f + (-5) = 9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GB" altLang="en-US" sz="3200" b="1" dirty="0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-3 + 4f = 21.8 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GB" altLang="en-US" sz="3200" dirty="0"/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GB" altLang="en-US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C31DEC-6350-4024-79E9-E030EF997022}"/>
              </a:ext>
            </a:extLst>
          </p:cNvPr>
          <p:cNvSpPr txBox="1"/>
          <p:nvPr/>
        </p:nvSpPr>
        <p:spPr>
          <a:xfrm>
            <a:off x="7554897" y="266330"/>
            <a:ext cx="4500979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Simplify both sides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Collect variable terms to left and numbers to right – </a:t>
            </a:r>
            <a:r>
              <a:rPr kumimoji="0" lang="en-AU" sz="1800" b="1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swap sides swap signs.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Simplify both sides 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Divide both sides by coefficient.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State answer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313E80-CEFB-6DEB-6721-BE0F5BC2AFB7}"/>
                  </a:ext>
                </a:extLst>
              </p:cNvPr>
              <p:cNvSpPr txBox="1"/>
              <p:nvPr/>
            </p:nvSpPr>
            <p:spPr>
              <a:xfrm>
                <a:off x="6471821" y="3329126"/>
                <a:ext cx="3869816" cy="666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5.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</m:num>
                      <m:den>
                        <m:r>
                          <a:rPr kumimoji="0" lang="en-US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𝟑</m:t>
                        </m:r>
                      </m:den>
                    </m:f>
                    <m:r>
                      <a:rPr kumimoji="0" lang="en-US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</m:t>
                    </m:r>
                    <m:r>
                      <a:rPr kumimoji="0" lang="en-US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𝟕</m:t>
                    </m:r>
                    <m:r>
                      <a:rPr kumimoji="0" lang="en-US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</m:t>
                    </m:r>
                  </m:oMath>
                </a14:m>
                <a:endParaRPr kumimoji="0" lang="en-AU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313E80-CEFB-6DEB-6721-BE0F5BC2A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821" y="3329126"/>
                <a:ext cx="3869816" cy="666529"/>
              </a:xfrm>
              <a:prstGeom prst="rect">
                <a:avLst/>
              </a:prstGeom>
              <a:blipFill>
                <a:blip r:embed="rId2"/>
                <a:stretch>
                  <a:fillRect l="-3312" t="-2752" b="-100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51509-8871-95D2-6F80-57F639228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ED3F3-7FCE-6C75-593B-9C9A6E000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76039"/>
            <a:ext cx="8915400" cy="4535183"/>
          </a:xfrm>
        </p:spPr>
        <p:txBody>
          <a:bodyPr>
            <a:normAutofit/>
          </a:bodyPr>
          <a:lstStyle/>
          <a:p>
            <a:pPr marL="514350" indent="-514350">
              <a:buAutoNum type="alphaLcParenR"/>
            </a:pPr>
            <a:r>
              <a:rPr lang="en-US" sz="3200" b="1" dirty="0"/>
              <a:t>4s + 8 = 23 </a:t>
            </a:r>
          </a:p>
          <a:p>
            <a:pPr marL="514350" indent="-514350">
              <a:buAutoNum type="alphaLcParenR"/>
            </a:pPr>
            <a:endParaRPr lang="en-US" sz="3200" b="1" dirty="0"/>
          </a:p>
          <a:p>
            <a:pPr marL="514350" indent="-514350">
              <a:buAutoNum type="alphaLcParenR"/>
            </a:pPr>
            <a:r>
              <a:rPr lang="en-US" sz="3200" b="1" dirty="0"/>
              <a:t>8x - 20 = 36</a:t>
            </a:r>
          </a:p>
          <a:p>
            <a:pPr marL="514350" indent="-514350">
              <a:buAutoNum type="alphaLcParenR"/>
            </a:pPr>
            <a:endParaRPr lang="en-US" sz="3200" b="1" dirty="0"/>
          </a:p>
          <a:p>
            <a:pPr marL="514350" indent="-514350">
              <a:buAutoNum type="alphaLcParenR"/>
            </a:pPr>
            <a:r>
              <a:rPr lang="en-US" sz="3200" b="1" dirty="0"/>
              <a:t>10 – 4x = 4  </a:t>
            </a:r>
          </a:p>
          <a:p>
            <a:pPr marL="514350" indent="-514350">
              <a:buAutoNum type="alphaLcParenR"/>
            </a:pPr>
            <a:endParaRPr lang="en-US" sz="3200" b="1" dirty="0"/>
          </a:p>
          <a:p>
            <a:pPr marL="514350" indent="-514350">
              <a:buAutoNum type="alphaLcParenR"/>
            </a:pPr>
            <a:r>
              <a:rPr lang="en-US" sz="3200" b="1" dirty="0"/>
              <a:t>9x – 6 = 21 </a:t>
            </a:r>
          </a:p>
          <a:p>
            <a:pPr marL="514350" indent="-514350">
              <a:buAutoNum type="alphaLcParenR"/>
            </a:pPr>
            <a:endParaRPr lang="en-US" sz="3200" dirty="0"/>
          </a:p>
          <a:p>
            <a:pPr marL="514350" indent="-514350">
              <a:buAutoNum type="alphaLcParenR"/>
            </a:pP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ED84DD-D27F-2D12-BA72-1709F205542F}"/>
                  </a:ext>
                </a:extLst>
              </p:cNvPr>
              <p:cNvSpPr txBox="1"/>
              <p:nvPr/>
            </p:nvSpPr>
            <p:spPr>
              <a:xfrm>
                <a:off x="7190912" y="3711304"/>
                <a:ext cx="3869816" cy="666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e)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</m:num>
                      <m:den>
                        <m:r>
                          <a:rPr kumimoji="0" lang="en-US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𝟑</m:t>
                        </m:r>
                      </m:den>
                    </m:f>
                    <m:r>
                      <a:rPr kumimoji="0" lang="en-US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</m:t>
                    </m:r>
                    <m:r>
                      <a:rPr kumimoji="0" lang="en-US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𝟔</m:t>
                    </m:r>
                    <m:r>
                      <a:rPr kumimoji="0" lang="en-US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</m:t>
                    </m:r>
                  </m:oMath>
                </a14:m>
                <a:endParaRPr kumimoji="0" lang="en-AU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ED84DD-D27F-2D12-BA72-1709F2055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0912" y="3711304"/>
                <a:ext cx="3869816" cy="666529"/>
              </a:xfrm>
              <a:prstGeom prst="rect">
                <a:avLst/>
              </a:prstGeom>
              <a:blipFill>
                <a:blip r:embed="rId2"/>
                <a:stretch>
                  <a:fillRect l="-3312" t="-3670" b="-100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3B2AE49-63FB-DA0B-81AD-7826FE90CA8B}"/>
              </a:ext>
            </a:extLst>
          </p:cNvPr>
          <p:cNvSpPr txBox="1"/>
          <p:nvPr/>
        </p:nvSpPr>
        <p:spPr>
          <a:xfrm>
            <a:off x="7554897" y="266330"/>
            <a:ext cx="4500979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Simplify both sides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Collect variable terms to left and numbers to right – </a:t>
            </a:r>
            <a:r>
              <a:rPr kumimoji="0" lang="en-AU" sz="1800" b="1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swap sides swap signs.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Simplify both sides 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Divide both sides by coefficient.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State answer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21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12B1EBA-A78F-45AC-BB50-11BB9CF59A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sz="4000"/>
              <a:t>If the equation is more complicated;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0870046-32E9-4219-A6B9-8467CDF619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47060" y="2133600"/>
            <a:ext cx="10057552" cy="3777622"/>
          </a:xfrm>
        </p:spPr>
        <p:txBody>
          <a:bodyPr/>
          <a:lstStyle/>
          <a:p>
            <a:pPr marL="0" indent="0">
              <a:buNone/>
            </a:pPr>
            <a:endParaRPr lang="en-GB" altLang="en-US" sz="2400" dirty="0"/>
          </a:p>
          <a:p>
            <a:r>
              <a:rPr lang="en-GB" altLang="en-US" sz="2800" b="1" dirty="0"/>
              <a:t>If there is more then one unknown value on either side of the equals sign collect them together on one side and collect the numbers on the other. </a:t>
            </a:r>
          </a:p>
          <a:p>
            <a:endParaRPr lang="en-GB" altLang="en-US" dirty="0"/>
          </a:p>
          <a:p>
            <a:pPr marL="0" indent="0">
              <a:buNone/>
            </a:pPr>
            <a:r>
              <a:rPr lang="en-GB" altLang="en-US" sz="2800" b="1" dirty="0"/>
              <a:t>	THINK: switch sides, switch signs </a:t>
            </a:r>
          </a:p>
          <a:p>
            <a:pPr marL="0" indent="0">
              <a:buNone/>
            </a:pPr>
            <a:endParaRPr lang="en-GB" altLang="en-US" sz="28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84B407B-B9C5-4FA1-BAA8-615316720A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99891" y="1769329"/>
            <a:ext cx="8911687" cy="1280890"/>
          </a:xfrm>
        </p:spPr>
        <p:txBody>
          <a:bodyPr>
            <a:normAutofit/>
          </a:bodyPr>
          <a:lstStyle/>
          <a:p>
            <a:r>
              <a:rPr lang="en-GB" altLang="en-US" sz="4000" b="1" dirty="0"/>
              <a:t>2x + 4 = 3x - 2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410D9BA-252F-4676-A2BD-6983BEC17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91449" y="372862"/>
            <a:ext cx="10128573" cy="62565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2000" b="1" dirty="0"/>
              <a:t>Collect the x’s together, it is better to try and keep the x values positive.</a:t>
            </a:r>
          </a:p>
          <a:p>
            <a:pPr>
              <a:lnSpc>
                <a:spcPct val="90000"/>
              </a:lnSpc>
            </a:pPr>
            <a:r>
              <a:rPr lang="en-GB" altLang="en-US" sz="2000" b="1" dirty="0"/>
              <a:t>Collect the numbers together on the other side of the equals.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FD27861-6993-6028-9C66-07692DBAF510}"/>
              </a:ext>
            </a:extLst>
          </p:cNvPr>
          <p:cNvSpPr txBox="1">
            <a:spLocks noChangeArrowheads="1"/>
          </p:cNvSpPr>
          <p:nvPr/>
        </p:nvSpPr>
        <p:spPr>
          <a:xfrm>
            <a:off x="1919701" y="3429000"/>
            <a:ext cx="8911687" cy="29096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4x + 2 = 10x – 16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entury Gothic" panose="020B0502020202020204"/>
              <a:ea typeface="+mj-ea"/>
              <a:cs typeface="+mj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2x + 8 = 10 + 3x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278CDBE-EE0C-40D7-84E1-9DE6450827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Try the following equations;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512215-2ECE-45C2-80EB-CD5291552A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4x + 10 = 2x  + 26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5x – 6 = 10x – 16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20x + 4 = 15x + 34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3x + 8 = 16 + x 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6x + 4 – 3  = 7 + 3x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0BB58FB-26CF-421F-B4BD-78FDBBFCC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1"/>
            <a:ext cx="8229600" cy="455613"/>
          </a:xfrm>
        </p:spPr>
        <p:txBody>
          <a:bodyPr>
            <a:normAutofit fontScale="90000"/>
          </a:bodyPr>
          <a:lstStyle/>
          <a:p>
            <a:r>
              <a:rPr lang="en-GB" altLang="en-US" sz="4000"/>
              <a:t>Answers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9F74785-04A7-4A91-9FAF-E7C2019D883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981075"/>
            <a:ext cx="4402138" cy="5543550"/>
          </a:xfrm>
        </p:spPr>
        <p:txBody>
          <a:bodyPr>
            <a:normAutofit/>
          </a:bodyPr>
          <a:lstStyle/>
          <a:p>
            <a:pPr marL="609600" indent="-609600">
              <a:lnSpc>
                <a:spcPct val="80000"/>
              </a:lnSpc>
              <a:buNone/>
            </a:pPr>
            <a:r>
              <a:rPr lang="en-GB" altLang="en-US" sz="3200" b="1" dirty="0"/>
              <a:t>1) </a:t>
            </a:r>
            <a:r>
              <a:rPr lang="en-GB" altLang="en-US" sz="3200" b="1" dirty="0">
                <a:solidFill>
                  <a:srgbClr val="FF0000"/>
                </a:solidFill>
              </a:rPr>
              <a:t>x=8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GB" altLang="en-US" sz="3200" b="1" dirty="0">
              <a:solidFill>
                <a:srgbClr val="FF0000"/>
              </a:solidFill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3200" b="1" dirty="0"/>
              <a:t>2) </a:t>
            </a:r>
            <a:r>
              <a:rPr lang="en-GB" altLang="en-US" sz="3200" b="1" dirty="0">
                <a:solidFill>
                  <a:srgbClr val="FF0000"/>
                </a:solidFill>
              </a:rPr>
              <a:t>2=x</a:t>
            </a:r>
          </a:p>
          <a:p>
            <a:pPr marL="609600" indent="-609600">
              <a:lnSpc>
                <a:spcPct val="80000"/>
              </a:lnSpc>
            </a:pPr>
            <a:endParaRPr lang="en-GB" altLang="en-US" sz="3200" b="1" dirty="0"/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3200" b="1" dirty="0"/>
              <a:t>3) </a:t>
            </a:r>
            <a:r>
              <a:rPr lang="en-GB" altLang="en-US" sz="3200" b="1" dirty="0">
                <a:solidFill>
                  <a:srgbClr val="FF0000"/>
                </a:solidFill>
              </a:rPr>
              <a:t>x = 6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GB" altLang="en-US" sz="3200" b="1" dirty="0">
              <a:solidFill>
                <a:srgbClr val="FF0000"/>
              </a:solidFill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3200" b="1" dirty="0"/>
              <a:t>4) </a:t>
            </a:r>
            <a:r>
              <a:rPr lang="en-GB" altLang="en-US" sz="3200" b="1" dirty="0">
                <a:solidFill>
                  <a:srgbClr val="FF0000"/>
                </a:solidFill>
              </a:rPr>
              <a:t>x = 4 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GB" altLang="en-US" sz="3200" b="1" dirty="0">
              <a:solidFill>
                <a:srgbClr val="FF0000"/>
              </a:solidFill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3200" b="1" dirty="0"/>
              <a:t>5) </a:t>
            </a:r>
            <a:r>
              <a:rPr lang="en-GB" altLang="en-US" sz="3200" b="1" dirty="0">
                <a:solidFill>
                  <a:srgbClr val="FF0000"/>
                </a:solidFill>
              </a:rPr>
              <a:t>x = 2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GB" altLang="en-US" sz="3200" b="1" dirty="0">
              <a:solidFill>
                <a:srgbClr val="FF0000"/>
              </a:solidFill>
            </a:endParaRPr>
          </a:p>
          <a:p>
            <a:pPr marL="609600" indent="-609600">
              <a:lnSpc>
                <a:spcPct val="80000"/>
              </a:lnSpc>
              <a:buNone/>
            </a:pPr>
            <a:endParaRPr lang="en-GB" altLang="en-US" sz="2400" dirty="0">
              <a:solidFill>
                <a:srgbClr val="FF0000"/>
              </a:solidFill>
            </a:endParaRP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BAD2E99-D247-44A1-BA31-C15AE48AF6F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664200" y="981075"/>
            <a:ext cx="4711700" cy="547370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GB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D8F14A-81C5-3502-8D59-0D7D920E56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E433D7-0048-6DD5-A6BC-A7926A92D5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 the back of our notes page is a puzzle sheet.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842568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362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Cambria Math</vt:lpstr>
      <vt:lpstr>Century Gothic</vt:lpstr>
      <vt:lpstr>Wingdings</vt:lpstr>
      <vt:lpstr>Wingdings 3</vt:lpstr>
      <vt:lpstr>Wisp</vt:lpstr>
      <vt:lpstr>Lesson objective </vt:lpstr>
      <vt:lpstr> Try these equations; We do:</vt:lpstr>
      <vt:lpstr>Whiteboards </vt:lpstr>
      <vt:lpstr>If the equation is more complicated;</vt:lpstr>
      <vt:lpstr>2x + 4 = 3x - 2</vt:lpstr>
      <vt:lpstr>Try the following equations;</vt:lpstr>
      <vt:lpstr>Answers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8</cp:revision>
  <dcterms:created xsi:type="dcterms:W3CDTF">2022-08-16T03:46:03Z</dcterms:created>
  <dcterms:modified xsi:type="dcterms:W3CDTF">2022-08-17T00:29:51Z</dcterms:modified>
</cp:coreProperties>
</file>
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8" r:id="rId4"/>
    <p:sldId id="280" r:id="rId5"/>
    <p:sldId id="281" r:id="rId6"/>
    <p:sldId id="274" r:id="rId7"/>
    <p:sldId id="275" r:id="rId8"/>
    <p:sldId id="276" r:id="rId9"/>
    <p:sldId id="277" r:id="rId10"/>
    <p:sldId id="282" r:id="rId11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F4D3A-50C0-44DF-832B-F915DE26B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539C90-3F22-496A-BC3F-1AFA13567A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BB774-6B46-4EC5-AD99-A5B693A24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15/08/2022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25A66-41E1-4254-A554-3337C6A36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AD15D-DB66-4046-9D08-D2CA4D40D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555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944F6-F843-49C2-A84D-E1372DED7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B23CA-3E45-4345-8FD7-8622111CE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0721C-8B80-4443-9245-C89C8AAA6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15/08/2022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35197-18DE-4DBF-ACA9-AC760D2A7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42FB9-7596-4C3B-A9A8-7B9D0DAE6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6772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E1FB-D075-460F-A9D8-2A4A0CC03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5BE28-7F66-46FE-BE92-633C59C90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42DC7-78D1-4577-9EF6-C9D40C197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15/08/2022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95F84-6B17-4355-BC0F-B726791CA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7F312-CD57-4A58-9A4C-384703408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4512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7E217-76E0-4A55-B1D8-B39C9BAF5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B773A-2EAD-42A2-8D45-EB369292E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BA63E-40B8-41EC-9AEC-C563F904D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9700B-43BF-414E-9B9A-EE7A55657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15/08/2022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E60C5-D757-4F63-8FFE-334D0EAD1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722336-E1F8-4E3C-AFFE-FC95E1CA9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1960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4481C-701B-40C8-A56C-7235F4F00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83B4E-586C-4FB1-81D0-4AA5FE2D2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C61EC-F36F-4D1C-B6A3-73D7D1108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BC23A2-0B05-4B38-92C5-A8D14352DA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83E69A-BB74-422C-9BE2-C9D1B01286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7DD1D3-18C9-4DBB-8D4B-0ED05512B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15/08/2022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55F90B-5BB7-4DDC-9DD0-381F92609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4321A5-9EB8-430B-AFAD-39BA7495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4033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B5C68-A4FE-4B56-A6D1-74B0EE75D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1B32BC-76E2-494B-84EA-810433B59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15/08/2022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E57573-34EE-40D6-A45A-7801B682A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7E3348-58A2-4E1E-8916-EDB5C4CBB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0562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9DE1F0-CAA2-4199-96AF-584893829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15/08/2022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B5C3D7-4187-43B0-B68F-7761F43E6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4A1E7-D62C-407E-B8FF-B0A14446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5126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C6A88-F676-4ED7-98D9-C6DA821D6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BCDED-6ED0-4E4C-B74E-C39D8821D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113A06-C675-463B-AC56-B2F3EC0DD0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8E15D-767E-4EFE-9B02-C914B679A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15/08/2022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4586E-EE20-4F98-AF9E-2BF983071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275C4-88C0-4B30-8C5A-615CADC82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7347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B5ABC-4487-4499-898F-63976F8DC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5DB0FF-E23D-47B0-9F6D-F0A4F8494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5814BD-3F8C-4794-B9DF-4988E5552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33447-8A69-4DCF-BA31-848CF70DD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15/08/2022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79386-1720-4CDE-9278-329F01C91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67E03-25B1-4021-8640-163831105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1614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24C44-0319-4AA1-B93D-BF7AAB819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43E9BC-1FCF-4264-9D1D-10A026144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13262-6835-4D26-B53E-78010317E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15/08/2022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068F2-6249-4A72-ACCF-0F99B35D1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527EA-4E08-4D64-B9C9-0F11205A5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9445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860C07-C942-45CB-BB7E-53273752F0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EED66-877B-4B9C-8B82-1A410A779E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DB268-D751-48EA-BD1F-908BF3126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B264A-1A4E-4851-A8F2-F3B53172A0C5}" type="datetimeFigureOut">
              <a:rPr lang="en-AU" smtClean="0"/>
              <a:t>15/08/2022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A9357-5840-4C3A-B273-424AD4B65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E44E9-655E-439D-B20B-B7ABA9D45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227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71B750-5D28-4F89-996B-37A3E0A22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0AD77-9CAB-4484-94CD-F17F9240F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C5EBA-40D6-40D7-BEE8-6620624694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B264A-1A4E-4851-A8F2-F3B53172A0C5}" type="datetimeFigureOut">
              <a:rPr lang="en-AU" smtClean="0"/>
              <a:t>15/08/2022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415A9-5E8F-47E7-B9AC-FBB27D6295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85B8B-B165-4024-99C2-6DF0638859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43E756-EB11-465F-84FC-A3FD46B57E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3584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10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163B2B-0B1E-4036-91E9-5BBBD4D6A56B}"/>
                  </a:ext>
                </a:extLst>
              </p:cNvPr>
              <p:cNvSpPr txBox="1"/>
              <p:nvPr/>
            </p:nvSpPr>
            <p:spPr>
              <a:xfrm>
                <a:off x="1166843" y="661959"/>
                <a:ext cx="10232304" cy="58748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600" b="1" u="sng" dirty="0"/>
                  <a:t>Title:</a:t>
                </a:r>
                <a:r>
                  <a:rPr lang="en-AU" sz="3600" dirty="0"/>
                  <a:t> </a:t>
                </a:r>
                <a:r>
                  <a:rPr lang="en-AU" sz="3600" dirty="0">
                    <a:solidFill>
                      <a:srgbClr val="00B0F0"/>
                    </a:solidFill>
                  </a:rPr>
                  <a:t>Two step equations </a:t>
                </a:r>
                <a:endParaRPr lang="en-AU" sz="3600" b="1" u="sng" dirty="0">
                  <a:solidFill>
                    <a:srgbClr val="00B0F0"/>
                  </a:solidFill>
                </a:endParaRPr>
              </a:p>
              <a:p>
                <a:endParaRPr lang="en-AU" sz="3600" b="1" u="sng" dirty="0">
                  <a:solidFill>
                    <a:srgbClr val="00B0F0"/>
                  </a:solidFill>
                </a:endParaRPr>
              </a:p>
              <a:p>
                <a:r>
                  <a:rPr lang="en-AU" sz="3600" b="1" u="sng" dirty="0">
                    <a:solidFill>
                      <a:srgbClr val="00B0F0"/>
                    </a:solidFill>
                  </a:rPr>
                  <a:t>Aim</a:t>
                </a:r>
                <a:r>
                  <a:rPr lang="en-AU" sz="3600" dirty="0">
                    <a:solidFill>
                      <a:srgbClr val="00B0F0"/>
                    </a:solidFill>
                  </a:rPr>
                  <a:t>: </a:t>
                </a:r>
              </a:p>
              <a:p>
                <a:pPr marL="571500" indent="-571500">
                  <a:buFont typeface="Wingdings" panose="05000000000000000000" pitchFamily="2" charset="2"/>
                  <a:buChar char="q"/>
                </a:pPr>
                <a:r>
                  <a:rPr lang="en-AU" sz="3600" dirty="0">
                    <a:solidFill>
                      <a:srgbClr val="00B0F0"/>
                    </a:solidFill>
                  </a:rPr>
                  <a:t>Use algebraic manipulation to solve two step equations. </a:t>
                </a:r>
              </a:p>
              <a:p>
                <a:pPr algn="ctr"/>
                <a:endParaRPr lang="en-AU" sz="3600" dirty="0"/>
              </a:p>
              <a:p>
                <a:r>
                  <a:rPr lang="en-AU" sz="2800" b="0" dirty="0"/>
                  <a:t>Be able to solve: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+6=111</m:t>
                      </m:r>
                    </m:oMath>
                  </m:oMathPara>
                </a14:m>
                <a:endParaRPr lang="en-AU" sz="2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AU" sz="28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AU" sz="28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−7=113</m:t>
                      </m:r>
                    </m:oMath>
                  </m:oMathPara>
                </a14:m>
                <a:endParaRPr lang="en-AU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800" b="0" i="1" smtClean="0"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0163B2B-0B1E-4036-91E9-5BBBD4D6A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843" y="661959"/>
                <a:ext cx="10232304" cy="5874813"/>
              </a:xfrm>
              <a:prstGeom prst="rect">
                <a:avLst/>
              </a:prstGeom>
              <a:blipFill>
                <a:blip r:embed="rId2"/>
                <a:stretch>
                  <a:fillRect l="-1787" t="-16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277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nverse Operations">
            <a:extLst>
              <a:ext uri="{FF2B5EF4-FFF2-40B4-BE49-F238E27FC236}">
                <a16:creationId xmlns:a16="http://schemas.microsoft.com/office/drawing/2014/main" id="{FE7181A4-5511-441A-8DDA-4E071502B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783" y="1601660"/>
            <a:ext cx="6931771" cy="3895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8E7C40-3A38-43CF-A863-DD8B27B13510}"/>
              </a:ext>
            </a:extLst>
          </p:cNvPr>
          <p:cNvSpPr txBox="1"/>
          <p:nvPr/>
        </p:nvSpPr>
        <p:spPr>
          <a:xfrm>
            <a:off x="454395" y="275777"/>
            <a:ext cx="106137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u="sng" dirty="0"/>
              <a:t>Inverse Operation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F1FC70-6F48-5A5B-C9EA-3A514540F79D}"/>
              </a:ext>
            </a:extLst>
          </p:cNvPr>
          <p:cNvSpPr/>
          <p:nvPr/>
        </p:nvSpPr>
        <p:spPr>
          <a:xfrm>
            <a:off x="2681783" y="1645207"/>
            <a:ext cx="1872462" cy="6946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DFDB28-4FD4-2350-5858-12BE73D638B4}"/>
              </a:ext>
            </a:extLst>
          </p:cNvPr>
          <p:cNvSpPr/>
          <p:nvPr/>
        </p:nvSpPr>
        <p:spPr>
          <a:xfrm>
            <a:off x="2681783" y="2734322"/>
            <a:ext cx="1872462" cy="6946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D90797-96E9-96BD-93D5-B082D85637E8}"/>
              </a:ext>
            </a:extLst>
          </p:cNvPr>
          <p:cNvSpPr/>
          <p:nvPr/>
        </p:nvSpPr>
        <p:spPr>
          <a:xfrm>
            <a:off x="2681783" y="3823437"/>
            <a:ext cx="1872462" cy="6946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FF563D-162E-FBC2-FACF-EB4B370D7AEF}"/>
              </a:ext>
            </a:extLst>
          </p:cNvPr>
          <p:cNvSpPr/>
          <p:nvPr/>
        </p:nvSpPr>
        <p:spPr>
          <a:xfrm>
            <a:off x="6590163" y="4802941"/>
            <a:ext cx="2589348" cy="6946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17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2DE9E8-02ED-47F6-AD21-D00F6C1050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55" t="25333" r="23607"/>
          <a:stretch/>
        </p:blipFill>
        <p:spPr>
          <a:xfrm>
            <a:off x="2631004" y="1222940"/>
            <a:ext cx="5536888" cy="27381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14CDC3-D965-45C9-8B2A-653D436B4470}"/>
              </a:ext>
            </a:extLst>
          </p:cNvPr>
          <p:cNvSpPr txBox="1"/>
          <p:nvPr/>
        </p:nvSpPr>
        <p:spPr>
          <a:xfrm>
            <a:off x="1924167" y="4151264"/>
            <a:ext cx="7640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/>
              <a:t>Constance are sometimes referred to as number terms</a:t>
            </a:r>
          </a:p>
        </p:txBody>
      </p:sp>
    </p:spTree>
    <p:extLst>
      <p:ext uri="{BB962C8B-B14F-4D97-AF65-F5344CB8AC3E}">
        <p14:creationId xmlns:p14="http://schemas.microsoft.com/office/powerpoint/2010/main" val="3679028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B94C5B-0275-4966-BE30-654D62545590}"/>
                  </a:ext>
                </a:extLst>
              </p:cNvPr>
              <p:cNvSpPr txBox="1"/>
              <p:nvPr/>
            </p:nvSpPr>
            <p:spPr>
              <a:xfrm>
                <a:off x="340329" y="444320"/>
                <a:ext cx="7087067" cy="52629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2400" b="1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 variable </a:t>
                </a: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is a letter used to represent an unknown number.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2400" b="1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 Constant </a:t>
                </a: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is a number term.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2400" b="1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Coefficient </a:t>
                </a: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the number in front of a variable.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2400" b="1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Terms</a:t>
                </a: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are the values on which the mathematical operations take place in an expression. A term can be a constant or a variable or both in an expression. 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2400" b="1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An Expression </a:t>
                </a: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is a set of terms.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2400" b="1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An Equation </a:t>
                </a: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is a mathematical statement with an equals sign between 2 expressions.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2400" b="1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Like Terms </a:t>
                </a: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are terms with the same variables at the same exponent (power). E.g.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5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𝑎𝑟𝑒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𝑙𝑖𝑘𝑒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𝑡𝑒𝑟𝑚𝑠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 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2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𝑎𝑥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𝑎𝑛𝑑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sSup>
                      <m:sSupPr>
                        <m:ctrlP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</m:e>
                      <m:sup>
                        <m:r>
                          <a:rPr kumimoji="0" lang="en-AU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𝑎𝑟𝑒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𝑢𝑛𝑙𝑖𝑘𝑒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𝑡𝑒𝑟𝑚𝑠</m:t>
                    </m:r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 </m:t>
                    </m:r>
                  </m:oMath>
                </a14:m>
                <a:endParaRPr kumimoji="0" lang="en-AU" sz="24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Like terms can be collected (e.g.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2</m:t>
                    </m:r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+3</m:t>
                    </m:r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=4</m:t>
                    </m:r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AU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r>
                  <a:rPr kumimoji="0" lang="en-AU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AU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endParaRPr kumimoji="0" lang="en-AU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EB94C5B-0275-4966-BE30-654D62545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29" y="444320"/>
                <a:ext cx="7087067" cy="5262979"/>
              </a:xfrm>
              <a:prstGeom prst="rect">
                <a:avLst/>
              </a:prstGeom>
              <a:blipFill>
                <a:blip r:embed="rId2"/>
                <a:stretch>
                  <a:fillRect l="-1205" t="-927" r="-9811" b="-17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4675A61-1AC8-447D-B828-E4AC1CA62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395" y="1142847"/>
            <a:ext cx="4712247" cy="3871400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7B1F0C7-1AD4-49D6-8213-46960CDA405C}"/>
              </a:ext>
            </a:extLst>
          </p:cNvPr>
          <p:cNvSpPr/>
          <p:nvPr/>
        </p:nvSpPr>
        <p:spPr>
          <a:xfrm>
            <a:off x="10378160" y="214317"/>
            <a:ext cx="1604408" cy="42634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Reteach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CB4535-A238-4CA4-9E51-5154FC40F47D}"/>
              </a:ext>
            </a:extLst>
          </p:cNvPr>
          <p:cNvSpPr/>
          <p:nvPr/>
        </p:nvSpPr>
        <p:spPr>
          <a:xfrm>
            <a:off x="701227" y="908790"/>
            <a:ext cx="987328" cy="3365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8D0975-C54F-4F08-9DB8-AC55DAA300E9}"/>
              </a:ext>
            </a:extLst>
          </p:cNvPr>
          <p:cNvSpPr/>
          <p:nvPr/>
        </p:nvSpPr>
        <p:spPr>
          <a:xfrm>
            <a:off x="3667415" y="1245379"/>
            <a:ext cx="593707" cy="3365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CEB57D-2FC8-49A5-B890-8CC156FE4BDF}"/>
              </a:ext>
            </a:extLst>
          </p:cNvPr>
          <p:cNvSpPr/>
          <p:nvPr/>
        </p:nvSpPr>
        <p:spPr>
          <a:xfrm>
            <a:off x="5193549" y="1627782"/>
            <a:ext cx="971639" cy="3365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6B654E-DCF2-4C07-9056-4BC14E9F1048}"/>
              </a:ext>
            </a:extLst>
          </p:cNvPr>
          <p:cNvSpPr/>
          <p:nvPr/>
        </p:nvSpPr>
        <p:spPr>
          <a:xfrm>
            <a:off x="4094961" y="2318724"/>
            <a:ext cx="1318511" cy="3365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2F8F00-E294-4455-B538-2D3CC61FD48E}"/>
              </a:ext>
            </a:extLst>
          </p:cNvPr>
          <p:cNvSpPr/>
          <p:nvPr/>
        </p:nvSpPr>
        <p:spPr>
          <a:xfrm>
            <a:off x="3770528" y="3075809"/>
            <a:ext cx="706104" cy="3365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CC40C1-243A-47BB-BB45-6732E45F6FBA}"/>
              </a:ext>
            </a:extLst>
          </p:cNvPr>
          <p:cNvSpPr/>
          <p:nvPr/>
        </p:nvSpPr>
        <p:spPr>
          <a:xfrm>
            <a:off x="732548" y="3822850"/>
            <a:ext cx="798932" cy="3365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769A2C-FEBE-4EF0-8A92-BE62BC1DBF56}"/>
              </a:ext>
            </a:extLst>
          </p:cNvPr>
          <p:cNvSpPr/>
          <p:nvPr/>
        </p:nvSpPr>
        <p:spPr>
          <a:xfrm>
            <a:off x="5193549" y="4193128"/>
            <a:ext cx="1420424" cy="3365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3146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520A0D4-D06C-426D-B4CE-11DC7888902E}"/>
              </a:ext>
            </a:extLst>
          </p:cNvPr>
          <p:cNvSpPr/>
          <p:nvPr/>
        </p:nvSpPr>
        <p:spPr>
          <a:xfrm>
            <a:off x="235612" y="145855"/>
            <a:ext cx="1604408" cy="8583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Pair and share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DBF4D3-D757-489D-BAD8-3940623C0C2C}"/>
                  </a:ext>
                </a:extLst>
              </p:cNvPr>
              <p:cNvSpPr txBox="1"/>
              <p:nvPr/>
            </p:nvSpPr>
            <p:spPr>
              <a:xfrm>
                <a:off x="2277585" y="723666"/>
                <a:ext cx="749471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5</m:t>
                      </m:r>
                      <m:r>
                        <a:rPr kumimoji="0" lang="en-AU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AU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+2</m:t>
                      </m:r>
                      <m:r>
                        <a:rPr kumimoji="0" lang="en-AU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AU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+3</m:t>
                      </m:r>
                      <m:r>
                        <a:rPr kumimoji="0" lang="en-AU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  <m:r>
                        <a:rPr kumimoji="0" lang="en-AU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−3</m:t>
                      </m:r>
                      <m:r>
                        <a:rPr kumimoji="0" lang="en-AU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AU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sSup>
                        <m:sSupPr>
                          <m:ctrlPr>
                            <a:rPr kumimoji="0" lang="en-AU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AU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𝑦</m:t>
                          </m:r>
                        </m:e>
                        <m:sup>
                          <m:r>
                            <a:rPr kumimoji="0" lang="en-AU" sz="3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AU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+1</m:t>
                      </m:r>
                    </m:oMath>
                  </m:oMathPara>
                </a14:m>
                <a:endParaRPr kumimoji="0" lang="en-AU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DBF4D3-D757-489D-BAD8-3940623C0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585" y="723666"/>
                <a:ext cx="7494714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F8247C6-0838-43F4-BB00-8B7C3707222D}"/>
              </a:ext>
            </a:extLst>
          </p:cNvPr>
          <p:cNvSpPr txBox="1"/>
          <p:nvPr/>
        </p:nvSpPr>
        <p:spPr>
          <a:xfrm>
            <a:off x="807813" y="1666116"/>
            <a:ext cx="9985472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many expressions are there?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many terms are there?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is the sum of the coefficients?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many like terms are their?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If the like terms are collected what will they equal?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27A8FF-5BF3-4498-8DEB-2135128A184F}"/>
                  </a:ext>
                </a:extLst>
              </p:cNvPr>
              <p:cNvSpPr txBox="1"/>
              <p:nvPr/>
            </p:nvSpPr>
            <p:spPr>
              <a:xfrm>
                <a:off x="7831303" y="1666116"/>
                <a:ext cx="3680039" cy="29694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6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5+2+3-3+1+1=9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AU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Three (</a:t>
                </a:r>
                <a14:m>
                  <m:oMath xmlns:m="http://schemas.openxmlformats.org/officeDocument/2006/math">
                    <m:r>
                      <a:rPr kumimoji="0" lang="en-AU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5</m:t>
                    </m:r>
                    <m:r>
                      <a:rPr kumimoji="0" lang="en-AU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AU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2</m:t>
                    </m:r>
                    <m:r>
                      <a:rPr kumimoji="0" lang="en-AU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AU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−3</m:t>
                    </m:r>
                    <m:r>
                      <a:rPr kumimoji="0" lang="en-AU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𝑥</m:t>
                    </m:r>
                    <m:r>
                      <a:rPr kumimoji="0" lang="en-AU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)</m:t>
                    </m:r>
                  </m:oMath>
                </a14:m>
                <a:endParaRPr kumimoji="0" lang="en-AU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27A8FF-5BF3-4498-8DEB-2135128A1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1303" y="1666116"/>
                <a:ext cx="3680039" cy="2969403"/>
              </a:xfrm>
              <a:prstGeom prst="rect">
                <a:avLst/>
              </a:prstGeom>
              <a:blipFill>
                <a:blip r:embed="rId3"/>
                <a:stretch>
                  <a:fillRect l="-4312" b="-595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3A5D03-8018-451D-AB12-A5BB5B015EB7}"/>
                  </a:ext>
                </a:extLst>
              </p:cNvPr>
              <p:cNvSpPr txBox="1"/>
              <p:nvPr/>
            </p:nvSpPr>
            <p:spPr>
              <a:xfrm>
                <a:off x="3484631" y="5379640"/>
                <a:ext cx="368003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AU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5</m:t>
                      </m:r>
                      <m:r>
                        <a:rPr kumimoji="0" lang="en-AU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AU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+2</m:t>
                      </m:r>
                      <m:r>
                        <a:rPr kumimoji="0" lang="en-AU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AU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−3</m:t>
                      </m:r>
                      <m:r>
                        <a:rPr kumimoji="0" lang="en-AU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  <m:r>
                        <a:rPr kumimoji="0" lang="en-AU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=4</m:t>
                      </m:r>
                      <m:r>
                        <a:rPr kumimoji="0" lang="en-AU" sz="3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0" lang="en-AU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23A5D03-8018-451D-AB12-A5BB5B015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4631" y="5379640"/>
                <a:ext cx="3680039" cy="8309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8887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50AA1F-F7DE-4D16-9CC3-EDB79C885AEC}"/>
              </a:ext>
            </a:extLst>
          </p:cNvPr>
          <p:cNvSpPr txBox="1"/>
          <p:nvPr/>
        </p:nvSpPr>
        <p:spPr>
          <a:xfrm>
            <a:off x="-1429568" y="-50007"/>
            <a:ext cx="1184232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Solving one step equations:</a:t>
            </a:r>
          </a:p>
          <a:p>
            <a:pPr algn="ctr"/>
            <a:r>
              <a:rPr lang="en-AU" sz="3200" dirty="0"/>
              <a:t>What you do to one side you do to the other.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A910B4-F613-4EB7-B0AB-96810189C656}"/>
                  </a:ext>
                </a:extLst>
              </p:cNvPr>
              <p:cNvSpPr txBox="1"/>
              <p:nvPr/>
            </p:nvSpPr>
            <p:spPr>
              <a:xfrm>
                <a:off x="-936839" y="1144402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+2=5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A910B4-F613-4EB7-B0AB-96810189C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36839" y="1144402"/>
                <a:ext cx="5088103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C06A46-4673-40B3-B3B8-6EF16AC33E5D}"/>
                  </a:ext>
                </a:extLst>
              </p:cNvPr>
              <p:cNvSpPr txBox="1"/>
              <p:nvPr/>
            </p:nvSpPr>
            <p:spPr>
              <a:xfrm>
                <a:off x="-768544" y="3507069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−6=11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C06A46-4673-40B3-B3B8-6EF16AC33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8544" y="3507069"/>
                <a:ext cx="5088103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3CD04-747F-43D2-B919-84D6E10B5030}"/>
                  </a:ext>
                </a:extLst>
              </p:cNvPr>
              <p:cNvSpPr txBox="1"/>
              <p:nvPr/>
            </p:nvSpPr>
            <p:spPr>
              <a:xfrm>
                <a:off x="3170481" y="1158092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3CD04-747F-43D2-B919-84D6E10B5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0481" y="1158092"/>
                <a:ext cx="508810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B05E98-8B4C-4FEA-A1CC-E4032CC2F44F}"/>
                  </a:ext>
                </a:extLst>
              </p:cNvPr>
              <p:cNvSpPr txBox="1"/>
              <p:nvPr/>
            </p:nvSpPr>
            <p:spPr>
              <a:xfrm>
                <a:off x="3288287" y="4489546"/>
                <a:ext cx="5088103" cy="9325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=9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B05E98-8B4C-4FEA-A1CC-E4032CC2F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8287" y="4489546"/>
                <a:ext cx="5088103" cy="9325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A3AADE-55D8-43AE-9213-4220757ED3D3}"/>
                  </a:ext>
                </a:extLst>
              </p:cNvPr>
              <p:cNvSpPr txBox="1"/>
              <p:nvPr/>
            </p:nvSpPr>
            <p:spPr>
              <a:xfrm>
                <a:off x="3220970" y="2699132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=12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A3AADE-55D8-43AE-9213-4220757ED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970" y="2699132"/>
                <a:ext cx="5088103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BBC8809-D348-4B26-8E53-43566C799FFA}"/>
              </a:ext>
            </a:extLst>
          </p:cNvPr>
          <p:cNvSpPr txBox="1"/>
          <p:nvPr/>
        </p:nvSpPr>
        <p:spPr>
          <a:xfrm>
            <a:off x="7459370" y="793342"/>
            <a:ext cx="4608512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2800" u="sng" dirty="0">
                <a:solidFill>
                  <a:srgbClr val="0070C0"/>
                </a:solidFill>
              </a:rPr>
              <a:t>Equation solving steps</a:t>
            </a:r>
            <a:r>
              <a:rPr lang="en-AU" sz="2800" dirty="0">
                <a:solidFill>
                  <a:srgbClr val="0070C0"/>
                </a:solidFill>
              </a:rPr>
              <a:t>: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Divide both sides by coefficient.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Tx/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Substitute back into original question to verify </a:t>
            </a:r>
          </a:p>
        </p:txBody>
      </p:sp>
    </p:spTree>
    <p:extLst>
      <p:ext uri="{BB962C8B-B14F-4D97-AF65-F5344CB8AC3E}">
        <p14:creationId xmlns:p14="http://schemas.microsoft.com/office/powerpoint/2010/main" val="3654719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50AA1F-F7DE-4D16-9CC3-EDB79C885AEC}"/>
              </a:ext>
            </a:extLst>
          </p:cNvPr>
          <p:cNvSpPr txBox="1"/>
          <p:nvPr/>
        </p:nvSpPr>
        <p:spPr>
          <a:xfrm>
            <a:off x="-987328" y="159517"/>
            <a:ext cx="118423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Solving one step equations:</a:t>
            </a:r>
          </a:p>
          <a:p>
            <a:pPr algn="ctr"/>
            <a:r>
              <a:rPr lang="en-AU" sz="3200" dirty="0"/>
              <a:t>What you do to one side you do to the other.</a:t>
            </a:r>
          </a:p>
          <a:p>
            <a:pPr algn="ctr"/>
            <a:endParaRPr lang="en-AU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A910B4-F613-4EB7-B0AB-96810189C656}"/>
                  </a:ext>
                </a:extLst>
              </p:cNvPr>
              <p:cNvSpPr txBox="1"/>
              <p:nvPr/>
            </p:nvSpPr>
            <p:spPr>
              <a:xfrm>
                <a:off x="-277686" y="1777171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+4=9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A910B4-F613-4EB7-B0AB-96810189C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7686" y="1777171"/>
                <a:ext cx="5088103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C06A46-4673-40B3-B3B8-6EF16AC33E5D}"/>
                  </a:ext>
                </a:extLst>
              </p:cNvPr>
              <p:cNvSpPr txBox="1"/>
              <p:nvPr/>
            </p:nvSpPr>
            <p:spPr>
              <a:xfrm>
                <a:off x="2909397" y="2345877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−7=15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C06A46-4673-40B3-B3B8-6EF16AC33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397" y="2345877"/>
                <a:ext cx="5088103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3CD04-747F-43D2-B919-84D6E10B5030}"/>
                  </a:ext>
                </a:extLst>
              </p:cNvPr>
              <p:cNvSpPr txBox="1"/>
              <p:nvPr/>
            </p:nvSpPr>
            <p:spPr>
              <a:xfrm>
                <a:off x="3061215" y="4401103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3CD04-747F-43D2-B919-84D6E10B5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215" y="4401103"/>
                <a:ext cx="508810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B05E98-8B4C-4FEA-A1CC-E4032CC2F44F}"/>
                  </a:ext>
                </a:extLst>
              </p:cNvPr>
              <p:cNvSpPr txBox="1"/>
              <p:nvPr/>
            </p:nvSpPr>
            <p:spPr>
              <a:xfrm>
                <a:off x="-568161" y="5335876"/>
                <a:ext cx="5088103" cy="9325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AU" sz="3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B05E98-8B4C-4FEA-A1CC-E4032CC2F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8161" y="5335876"/>
                <a:ext cx="5088103" cy="9325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B3A6AF44-42C3-4582-B77F-643FA39D0BB5}"/>
              </a:ext>
            </a:extLst>
          </p:cNvPr>
          <p:cNvSpPr/>
          <p:nvPr/>
        </p:nvSpPr>
        <p:spPr>
          <a:xfrm>
            <a:off x="78538" y="28049"/>
            <a:ext cx="2187828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Your Turn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C1A6221-CEFE-4238-8E7D-8858FDFBE4DC}"/>
                  </a:ext>
                </a:extLst>
              </p:cNvPr>
              <p:cNvSpPr txBox="1"/>
              <p:nvPr/>
            </p:nvSpPr>
            <p:spPr>
              <a:xfrm>
                <a:off x="-479386" y="3621063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=24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C1A6221-CEFE-4238-8E7D-8858FDFBE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9386" y="3621063"/>
                <a:ext cx="5088103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8586000-0357-4577-964F-2972151DF65F}"/>
              </a:ext>
            </a:extLst>
          </p:cNvPr>
          <p:cNvSpPr txBox="1"/>
          <p:nvPr/>
        </p:nvSpPr>
        <p:spPr>
          <a:xfrm>
            <a:off x="7504975" y="1247737"/>
            <a:ext cx="4608512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2800" u="sng" dirty="0">
                <a:solidFill>
                  <a:srgbClr val="0070C0"/>
                </a:solidFill>
              </a:rPr>
              <a:t>Equation solving steps</a:t>
            </a:r>
            <a:r>
              <a:rPr lang="en-AU" sz="2800" dirty="0">
                <a:solidFill>
                  <a:srgbClr val="0070C0"/>
                </a:solidFill>
              </a:rPr>
              <a:t>: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Divide both sides by coefficient.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Tx/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Substitute back into original question to verify</a:t>
            </a:r>
          </a:p>
        </p:txBody>
      </p:sp>
    </p:spTree>
    <p:extLst>
      <p:ext uri="{BB962C8B-B14F-4D97-AF65-F5344CB8AC3E}">
        <p14:creationId xmlns:p14="http://schemas.microsoft.com/office/powerpoint/2010/main" val="2957039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50AA1F-F7DE-4D16-9CC3-EDB79C885AEC}"/>
              </a:ext>
            </a:extLst>
          </p:cNvPr>
          <p:cNvSpPr txBox="1"/>
          <p:nvPr/>
        </p:nvSpPr>
        <p:spPr>
          <a:xfrm>
            <a:off x="-880741" y="-78537"/>
            <a:ext cx="118423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Solving two step equations:</a:t>
            </a:r>
          </a:p>
          <a:p>
            <a:pPr algn="ctr"/>
            <a:r>
              <a:rPr lang="en-AU" sz="3200" dirty="0"/>
              <a:t>What you do to one side you do to the other.</a:t>
            </a:r>
          </a:p>
          <a:p>
            <a:pPr algn="ctr"/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A910B4-F613-4EB7-B0AB-96810189C656}"/>
                  </a:ext>
                </a:extLst>
              </p:cNvPr>
              <p:cNvSpPr txBox="1"/>
              <p:nvPr/>
            </p:nvSpPr>
            <p:spPr>
              <a:xfrm>
                <a:off x="-1250988" y="1080252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+2=9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A910B4-F613-4EB7-B0AB-96810189C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50988" y="1080252"/>
                <a:ext cx="5088103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C06A46-4673-40B3-B3B8-6EF16AC33E5D}"/>
                  </a:ext>
                </a:extLst>
              </p:cNvPr>
              <p:cNvSpPr txBox="1"/>
              <p:nvPr/>
            </p:nvSpPr>
            <p:spPr>
              <a:xfrm>
                <a:off x="-1105133" y="3507069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5−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C06A46-4673-40B3-B3B8-6EF16AC33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05133" y="3507069"/>
                <a:ext cx="5088103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3CD04-747F-43D2-B919-84D6E10B5030}"/>
                  </a:ext>
                </a:extLst>
              </p:cNvPr>
              <p:cNvSpPr txBox="1"/>
              <p:nvPr/>
            </p:nvSpPr>
            <p:spPr>
              <a:xfrm>
                <a:off x="2912430" y="1080252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−8=13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3CD04-747F-43D2-B919-84D6E10B5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430" y="1080252"/>
                <a:ext cx="508810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B05E98-8B4C-4FEA-A1CC-E4032CC2F44F}"/>
                  </a:ext>
                </a:extLst>
              </p:cNvPr>
              <p:cNvSpPr txBox="1"/>
              <p:nvPr/>
            </p:nvSpPr>
            <p:spPr>
              <a:xfrm>
                <a:off x="3019015" y="3536521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+(−2)=10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B05E98-8B4C-4FEA-A1CC-E4032CC2F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9015" y="3536521"/>
                <a:ext cx="5088103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1762661-8BAC-48D2-B05F-3092476A53E7}"/>
              </a:ext>
            </a:extLst>
          </p:cNvPr>
          <p:cNvSpPr txBox="1"/>
          <p:nvPr/>
        </p:nvSpPr>
        <p:spPr>
          <a:xfrm>
            <a:off x="7459370" y="793342"/>
            <a:ext cx="4608512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2800" u="sng" dirty="0">
                <a:solidFill>
                  <a:srgbClr val="0070C0"/>
                </a:solidFill>
              </a:rPr>
              <a:t>Equation solving steps</a:t>
            </a:r>
            <a:r>
              <a:rPr lang="en-AU" sz="2800" dirty="0">
                <a:solidFill>
                  <a:srgbClr val="0070C0"/>
                </a:solidFill>
              </a:rPr>
              <a:t>: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Divide both sides by coefficient.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Tx/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Substitute back into original question to verify</a:t>
            </a:r>
          </a:p>
        </p:txBody>
      </p:sp>
    </p:spTree>
    <p:extLst>
      <p:ext uri="{BB962C8B-B14F-4D97-AF65-F5344CB8AC3E}">
        <p14:creationId xmlns:p14="http://schemas.microsoft.com/office/powerpoint/2010/main" val="3553207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50AA1F-F7DE-4D16-9CC3-EDB79C885AEC}"/>
              </a:ext>
            </a:extLst>
          </p:cNvPr>
          <p:cNvSpPr txBox="1"/>
          <p:nvPr/>
        </p:nvSpPr>
        <p:spPr>
          <a:xfrm>
            <a:off x="-897571" y="176154"/>
            <a:ext cx="1184232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Solving two step equations:</a:t>
            </a:r>
          </a:p>
          <a:p>
            <a:pPr algn="ctr"/>
            <a:r>
              <a:rPr lang="en-AU" sz="3200" dirty="0"/>
              <a:t>What you do to one side you do to the other.</a:t>
            </a:r>
          </a:p>
          <a:p>
            <a:pPr algn="ctr"/>
            <a:endParaRPr lang="en-A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A910B4-F613-4EB7-B0AB-96810189C656}"/>
                  </a:ext>
                </a:extLst>
              </p:cNvPr>
              <p:cNvSpPr txBox="1"/>
              <p:nvPr/>
            </p:nvSpPr>
            <p:spPr>
              <a:xfrm>
                <a:off x="-510493" y="1138792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+6=30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1A910B4-F613-4EB7-B0AB-96810189C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10493" y="1138792"/>
                <a:ext cx="5088103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C06A46-4673-40B3-B3B8-6EF16AC33E5D}"/>
                  </a:ext>
                </a:extLst>
              </p:cNvPr>
              <p:cNvSpPr txBox="1"/>
              <p:nvPr/>
            </p:nvSpPr>
            <p:spPr>
              <a:xfrm>
                <a:off x="-673178" y="3479019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5−3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=−3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C06A46-4673-40B3-B3B8-6EF16AC33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73178" y="3479019"/>
                <a:ext cx="5088103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3CD04-747F-43D2-B919-84D6E10B5030}"/>
                  </a:ext>
                </a:extLst>
              </p:cNvPr>
              <p:cNvSpPr txBox="1"/>
              <p:nvPr/>
            </p:nvSpPr>
            <p:spPr>
              <a:xfrm>
                <a:off x="3322414" y="1161039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−3=12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D3CD04-747F-43D2-B919-84D6E10B5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414" y="1161039"/>
                <a:ext cx="5088103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B05E98-8B4C-4FEA-A1CC-E4032CC2F44F}"/>
                  </a:ext>
                </a:extLst>
              </p:cNvPr>
              <p:cNvSpPr txBox="1"/>
              <p:nvPr/>
            </p:nvSpPr>
            <p:spPr>
              <a:xfrm>
                <a:off x="3322414" y="3456772"/>
                <a:ext cx="508810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3200" b="0" i="1" smtClean="0">
                          <a:latin typeface="Cambria Math" panose="02040503050406030204" pitchFamily="18" charset="0"/>
                        </a:rPr>
                        <m:t>+(−4)=10</m:t>
                      </m:r>
                    </m:oMath>
                  </m:oMathPara>
                </a14:m>
                <a:endParaRPr lang="en-AU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BB05E98-8B4C-4FEA-A1CC-E4032CC2F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414" y="3456772"/>
                <a:ext cx="5088103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C8583F34-CDED-4E42-B192-E78FDBB4082B}"/>
              </a:ext>
            </a:extLst>
          </p:cNvPr>
          <p:cNvSpPr/>
          <p:nvPr/>
        </p:nvSpPr>
        <p:spPr>
          <a:xfrm>
            <a:off x="78538" y="28049"/>
            <a:ext cx="2187828" cy="5847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dirty="0"/>
              <a:t>Your Turn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BCF962-3CF1-4208-BBF2-02213B108533}"/>
              </a:ext>
            </a:extLst>
          </p:cNvPr>
          <p:cNvSpPr txBox="1"/>
          <p:nvPr/>
        </p:nvSpPr>
        <p:spPr>
          <a:xfrm>
            <a:off x="7373378" y="1264567"/>
            <a:ext cx="4608512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2800" u="sng" dirty="0">
                <a:solidFill>
                  <a:srgbClr val="0070C0"/>
                </a:solidFill>
              </a:rPr>
              <a:t>Equation solving steps</a:t>
            </a:r>
            <a:r>
              <a:rPr lang="en-AU" sz="2800" dirty="0">
                <a:solidFill>
                  <a:srgbClr val="0070C0"/>
                </a:solidFill>
              </a:rPr>
              <a:t>: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Collect variable terms to left and numbers to right – swap sides swap signs.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Divide both sides by coefficient.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FontTx/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Simplify both sides </a:t>
            </a:r>
          </a:p>
          <a:p>
            <a:pPr marL="342900" indent="-342900" defTabSz="360363">
              <a:spcAft>
                <a:spcPts val="600"/>
              </a:spcAft>
              <a:buClr>
                <a:srgbClr val="FF0000"/>
              </a:buClr>
              <a:buAutoNum type="arabicPeriod"/>
            </a:pPr>
            <a:r>
              <a:rPr lang="en-AU" sz="2800" dirty="0">
                <a:solidFill>
                  <a:srgbClr val="0070C0"/>
                </a:solidFill>
              </a:rPr>
              <a:t>Substitute back into original question </a:t>
            </a:r>
            <a:r>
              <a:rPr lang="en-AU" sz="2800">
                <a:solidFill>
                  <a:srgbClr val="0070C0"/>
                </a:solidFill>
              </a:rPr>
              <a:t>to verify </a:t>
            </a:r>
            <a:endParaRPr lang="en-AU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5958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4238-96CB-FCE9-4073-85E88BF936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F084E-8F4D-EA0D-9EC3-FE6042BE7B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Calculated colouring 23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89124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587</Words>
  <Application>Microsoft Office PowerPoint</Application>
  <PresentationFormat>Widescreen</PresentationFormat>
  <Paragraphs>91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Individual 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GALE Denham [Busselton Senior High School]</dc:creator>
  <cp:lastModifiedBy>DAVIES Rhys [Busselton Senior High School]</cp:lastModifiedBy>
  <cp:revision>7</cp:revision>
  <cp:lastPrinted>2021-08-25T01:43:03Z</cp:lastPrinted>
  <dcterms:created xsi:type="dcterms:W3CDTF">2021-08-24T09:26:40Z</dcterms:created>
  <dcterms:modified xsi:type="dcterms:W3CDTF">2022-08-15T02:18:18Z</dcterms:modified>
</cp:coreProperties>
</file>
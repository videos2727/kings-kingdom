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93" r:id="rId2"/>
    <p:sldId id="294" r:id="rId3"/>
    <p:sldId id="295" r:id="rId4"/>
    <p:sldId id="296" r:id="rId5"/>
    <p:sldId id="299" r:id="rId6"/>
    <p:sldId id="276" r:id="rId7"/>
    <p:sldId id="300" r:id="rId8"/>
    <p:sldId id="301" r:id="rId9"/>
    <p:sldId id="304" r:id="rId10"/>
    <p:sldId id="303" r:id="rId11"/>
    <p:sldId id="259" r:id="rId12"/>
    <p:sldId id="264" r:id="rId13"/>
    <p:sldId id="260" r:id="rId14"/>
    <p:sldId id="261" r:id="rId15"/>
    <p:sldId id="262" r:id="rId16"/>
    <p:sldId id="263" r:id="rId17"/>
    <p:sldId id="30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CE002-DDFF-4914-9AF0-8647096937D9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F58F5-98B0-45AD-BDFC-C2855F83E4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3588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677B09-D6A7-4EAC-A5D0-717D82F0B45E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243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8627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9020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4428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0718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2164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6724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1676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3001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8571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3115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2179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1640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5098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1138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33271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0676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2678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8195" y="348891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1" b="1" dirty="0">
                <a:solidFill>
                  <a:srgbClr val="FF0000"/>
                </a:solidFill>
                <a:latin typeface="Century Gothic" panose="020B0502020202020204"/>
              </a:rPr>
              <a:t>16/08</a:t>
            </a: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8195" y="2354557"/>
            <a:ext cx="820493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 to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Use the DPM/A to expand bracketed terms.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800" b="1" dirty="0">
                <a:solidFill>
                  <a:srgbClr val="00B0F0"/>
                </a:solidFill>
                <a:latin typeface="Century Gothic" panose="020B0502020202020204"/>
              </a:rPr>
              <a:t>Solve two-step linear equations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07016" y="4235706"/>
            <a:ext cx="85486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review: </a:t>
            </a:r>
          </a:p>
          <a:p>
            <a:pPr marL="901700" marR="0" lvl="0" indent="-5429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Expanding brackets.</a:t>
            </a:r>
          </a:p>
          <a:p>
            <a:pPr marL="357188" marR="0" lvl="0" indent="-357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Solving equations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91176-778F-4CBB-666E-C33F909494C6}"/>
              </a:ext>
            </a:extLst>
          </p:cNvPr>
          <p:cNvSpPr txBox="1"/>
          <p:nvPr/>
        </p:nvSpPr>
        <p:spPr>
          <a:xfrm>
            <a:off x="2725445" y="1518082"/>
            <a:ext cx="3497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Title: </a:t>
            </a:r>
            <a:r>
              <a:rPr lang="en-US" sz="2400" b="1" dirty="0">
                <a:solidFill>
                  <a:srgbClr val="00B0F0"/>
                </a:solidFill>
              </a:rPr>
              <a:t>Linear equations</a:t>
            </a:r>
            <a:endParaRPr lang="en-AU" sz="24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F668A-DEB0-8EF3-8F10-A4B8A7EC9F8D}"/>
              </a:ext>
            </a:extLst>
          </p:cNvPr>
          <p:cNvSpPr txBox="1"/>
          <p:nvPr/>
        </p:nvSpPr>
        <p:spPr>
          <a:xfrm>
            <a:off x="4722479" y="2399445"/>
            <a:ext cx="5317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whiteboards and calculators</a:t>
            </a:r>
            <a:endParaRPr lang="en-AU" sz="20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FB3882-C88A-BC48-EAFF-E50BB24FE4D3}"/>
              </a:ext>
            </a:extLst>
          </p:cNvPr>
          <p:cNvSpPr txBox="1"/>
          <p:nvPr/>
        </p:nvSpPr>
        <p:spPr>
          <a:xfrm>
            <a:off x="7211376" y="298580"/>
            <a:ext cx="53177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highlight>
                  <a:srgbClr val="00FF00"/>
                </a:highlight>
              </a:rPr>
              <a:t>PBiS</a:t>
            </a:r>
            <a:r>
              <a:rPr lang="en-US" sz="2000" b="1" dirty="0">
                <a:highlight>
                  <a:srgbClr val="00FF00"/>
                </a:highlight>
              </a:rPr>
              <a:t> focus: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Achieve – complete tasks 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Learn – participation </a:t>
            </a:r>
            <a:endParaRPr lang="en-AU" sz="20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3999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35C3C-6590-9810-FD8C-EEEADF82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Choral response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0FBBF-C341-CD34-D279-AE7C76D8A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155" y="2133600"/>
            <a:ext cx="10821880" cy="4009748"/>
          </a:xfrm>
        </p:spPr>
        <p:txBody>
          <a:bodyPr/>
          <a:lstStyle/>
          <a:p>
            <a:pPr marL="0" indent="0">
              <a:buNone/>
            </a:pPr>
            <a:r>
              <a:rPr lang="en-AU" sz="2800" dirty="0">
                <a:solidFill>
                  <a:srgbClr val="FF0000"/>
                </a:solidFill>
              </a:rPr>
              <a:t>The term outside the brackets multiplies to </a:t>
            </a:r>
            <a:r>
              <a:rPr lang="en-AU" sz="2800" b="1" i="1" u="sng" dirty="0">
                <a:solidFill>
                  <a:srgbClr val="FF0000"/>
                </a:solidFill>
              </a:rPr>
              <a:t>EVERY</a:t>
            </a:r>
            <a:r>
              <a:rPr lang="en-AU" sz="2800" u="sng" dirty="0">
                <a:solidFill>
                  <a:srgbClr val="FF0000"/>
                </a:solidFill>
              </a:rPr>
              <a:t> term </a:t>
            </a:r>
            <a:r>
              <a:rPr lang="en-AU" sz="2800" dirty="0">
                <a:solidFill>
                  <a:srgbClr val="FF0000"/>
                </a:solidFill>
              </a:rPr>
              <a:t>inside the brackets.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18B99-086C-374D-9E7A-F25050C898A2}"/>
              </a:ext>
            </a:extLst>
          </p:cNvPr>
          <p:cNvSpPr txBox="1"/>
          <p:nvPr/>
        </p:nvSpPr>
        <p:spPr>
          <a:xfrm>
            <a:off x="3188563" y="4500979"/>
            <a:ext cx="5814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4(3 + x) </a:t>
            </a:r>
            <a:endParaRPr lang="en-AU" sz="4800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1A3CA2F-3CEC-0C79-2F7A-88836BEB9931}"/>
              </a:ext>
            </a:extLst>
          </p:cNvPr>
          <p:cNvCxnSpPr/>
          <p:nvPr/>
        </p:nvCxnSpPr>
        <p:spPr>
          <a:xfrm>
            <a:off x="3719744" y="2610035"/>
            <a:ext cx="1358283" cy="202410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196A4A0-C3DE-3844-C65D-E2A1F8B6A9E7}"/>
              </a:ext>
            </a:extLst>
          </p:cNvPr>
          <p:cNvCxnSpPr/>
          <p:nvPr/>
        </p:nvCxnSpPr>
        <p:spPr>
          <a:xfrm flipH="1">
            <a:off x="5823751" y="2574524"/>
            <a:ext cx="2734323" cy="199747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127FA3-CA6E-FF4E-202D-F30304A8C46C}"/>
              </a:ext>
            </a:extLst>
          </p:cNvPr>
          <p:cNvCxnSpPr/>
          <p:nvPr/>
        </p:nvCxnSpPr>
        <p:spPr>
          <a:xfrm flipH="1">
            <a:off x="6889072" y="2574524"/>
            <a:ext cx="1669002" cy="205962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52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B6554-7A14-C8C4-92CC-EB05D0DB6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DPM/A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1CE91-7964-70AB-6368-2CA270223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AU" sz="2800" dirty="0"/>
              <a:t>3(3 + f) </a:t>
            </a:r>
          </a:p>
          <a:p>
            <a:pPr marL="0" indent="0" algn="ctr">
              <a:buNone/>
            </a:pPr>
            <a:endParaRPr lang="en-AU" sz="2800" dirty="0"/>
          </a:p>
          <a:p>
            <a:pPr marL="0" indent="0" algn="ctr">
              <a:buNone/>
            </a:pPr>
            <a:r>
              <a:rPr lang="en-AU" sz="2800" dirty="0"/>
              <a:t>2x(x + 8) </a:t>
            </a:r>
          </a:p>
          <a:p>
            <a:pPr marL="0" indent="0" algn="ctr">
              <a:buNone/>
            </a:pPr>
            <a:endParaRPr lang="en-AU" sz="2800" dirty="0"/>
          </a:p>
          <a:p>
            <a:pPr marL="0" indent="0" algn="ctr">
              <a:buNone/>
            </a:pPr>
            <a:r>
              <a:rPr lang="en-AU" sz="2800" dirty="0"/>
              <a:t>3(d – 5)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DC513-C8D3-1C57-5082-B8D4A620B979}"/>
              </a:ext>
            </a:extLst>
          </p:cNvPr>
          <p:cNvSpPr txBox="1"/>
          <p:nvPr/>
        </p:nvSpPr>
        <p:spPr>
          <a:xfrm>
            <a:off x="1455938" y="221942"/>
            <a:ext cx="1713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I do, you copy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1658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F9087-330F-5749-5EC2-A1DDB1E0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– expanding brackets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A1B81-1EA1-C5A9-177E-46487C5F0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637" y="1414508"/>
            <a:ext cx="8915400" cy="5208233"/>
          </a:xfrm>
        </p:spPr>
        <p:txBody>
          <a:bodyPr>
            <a:noAutofit/>
          </a:bodyPr>
          <a:lstStyle/>
          <a:p>
            <a:pPr marL="514350" indent="-514350" algn="ctr">
              <a:buAutoNum type="alphaLcParenR"/>
            </a:pPr>
            <a:r>
              <a:rPr lang="en-US" sz="3600" b="1" dirty="0"/>
              <a:t>     4(2 + x) </a:t>
            </a:r>
          </a:p>
          <a:p>
            <a:pPr marL="514350" indent="-514350" algn="ctr">
              <a:buAutoNum type="alphaLcParenR"/>
            </a:pPr>
            <a:endParaRPr lang="en-US" sz="3600" b="1" dirty="0"/>
          </a:p>
          <a:p>
            <a:pPr marL="514350" indent="-514350" algn="ctr">
              <a:buAutoNum type="alphaLcParenR"/>
            </a:pPr>
            <a:r>
              <a:rPr lang="en-US" sz="3600" b="1" dirty="0"/>
              <a:t>    5(3x – 4) </a:t>
            </a:r>
          </a:p>
          <a:p>
            <a:pPr marL="514350" indent="-514350" algn="ctr">
              <a:buAutoNum type="alphaLcParenR"/>
            </a:pPr>
            <a:endParaRPr lang="en-US" sz="3600" b="1" dirty="0"/>
          </a:p>
          <a:p>
            <a:pPr marL="514350" indent="-514350" algn="ctr">
              <a:buAutoNum type="alphaLcParenR"/>
            </a:pPr>
            <a:r>
              <a:rPr lang="en-US" sz="3600" b="1" dirty="0"/>
              <a:t>     9(2 – x )</a:t>
            </a:r>
          </a:p>
          <a:p>
            <a:pPr marL="514350" indent="-514350" algn="ctr">
              <a:buAutoNum type="alphaLcParenR"/>
            </a:pPr>
            <a:endParaRPr lang="en-US" sz="3600" b="1" dirty="0"/>
          </a:p>
          <a:p>
            <a:pPr marL="514350" indent="-514350" algn="ctr">
              <a:buAutoNum type="alphaLcParenR"/>
            </a:pPr>
            <a:r>
              <a:rPr lang="en-US" sz="3600" b="1" dirty="0"/>
              <a:t>       3(2x + d + 3) </a:t>
            </a:r>
            <a:endParaRPr lang="en-AU" sz="3600" b="1" dirty="0"/>
          </a:p>
        </p:txBody>
      </p:sp>
    </p:spTree>
    <p:extLst>
      <p:ext uri="{BB962C8B-B14F-4D97-AF65-F5344CB8AC3E}">
        <p14:creationId xmlns:p14="http://schemas.microsoft.com/office/powerpoint/2010/main" val="55545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559267" y="606009"/>
                <a:ext cx="9227127" cy="3570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The Distributive Property of Multiplication over Addition.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b="1" dirty="0">
                    <a:solidFill>
                      <a:srgbClr val="FF0000"/>
                    </a:solidFill>
                  </a:rPr>
                  <a:t>The term outside the brackets multiplies to EVERY term inside the brackets.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Expand the following 													    1.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AU" sz="2400" b="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	</a:t>
                </a:r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= 12 + 3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400" b="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  <a:p>
                <a:pPr marL="457200" lvl="0" indent="-457200" defTabSz="457200">
                  <a:spcAft>
                    <a:spcPts val="800"/>
                  </a:spcAft>
                  <a:buAutoNum type="arabicPeriod" startAt="2"/>
                  <a:defRPr/>
                </a:pP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AU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AU" sz="2400" b="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	= 4</a:t>
                </a:r>
                <a14:m>
                  <m:oMath xmlns:m="http://schemas.openxmlformats.org/officeDocument/2006/math"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b="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+ 8	</a:t>
                </a:r>
              </a:p>
              <a:p>
                <a:pPr marL="457200" lvl="0" indent="-457200" defTabSz="457200">
                  <a:spcAft>
                    <a:spcPts val="800"/>
                  </a:spcAft>
                  <a:buAutoNum type="arabicPeriod" startAt="2"/>
                  <a:defRPr/>
                </a:pP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AU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+10</m:t>
                        </m:r>
                      </m:e>
                    </m:d>
                  </m:oMath>
                </a14:m>
                <a:r>
                  <a:rPr lang="en-AU" sz="2400" b="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= 2</a:t>
                </a:r>
                <a14:m>
                  <m:oMath xmlns:m="http://schemas.openxmlformats.org/officeDocument/2006/math"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b="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+ 20</a:t>
                </a:r>
              </a:p>
              <a:p>
                <a:pPr marL="457200" indent="-457200" defTabSz="457200">
                  <a:spcAft>
                    <a:spcPts val="800"/>
                  </a:spcAft>
                  <a:buFontTx/>
                  <a:buAutoNum type="arabicPeriod" startAt="2"/>
                  <a:defRPr/>
                </a:pP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3(6−2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)	</m:t>
                    </m:r>
                  </m:oMath>
                </a14:m>
                <a:r>
                  <a:rPr lang="en-AU" sz="2400" dirty="0"/>
                  <a:t>		= 18 – 6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AU" sz="2400" dirty="0"/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AU" sz="2400" dirty="0">
                    <a:solidFill>
                      <a:prstClr val="black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267" y="606009"/>
                <a:ext cx="9227127" cy="3570208"/>
              </a:xfrm>
              <a:prstGeom prst="rect">
                <a:avLst/>
              </a:prstGeom>
              <a:blipFill>
                <a:blip r:embed="rId3"/>
                <a:stretch>
                  <a:fillRect l="-1058" t="-13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5633023" y="3290117"/>
            <a:ext cx="1598121" cy="3507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33023" y="2821104"/>
            <a:ext cx="1598121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33023" y="2365097"/>
            <a:ext cx="1930651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33023" y="1888661"/>
            <a:ext cx="1876927" cy="3578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25219" y="65490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sp>
        <p:nvSpPr>
          <p:cNvPr id="16" name="Rounded Rectangle 15"/>
          <p:cNvSpPr/>
          <p:nvPr/>
        </p:nvSpPr>
        <p:spPr>
          <a:xfrm>
            <a:off x="3583076" y="1108640"/>
            <a:ext cx="877713" cy="30003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25220" y="1063007"/>
            <a:ext cx="719030" cy="3912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54141" y="1144278"/>
            <a:ext cx="699924" cy="26439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3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2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10437" y="802186"/>
                <a:ext cx="10801200" cy="4216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3200" dirty="0"/>
                  <a:t>Collecting like terms:</a:t>
                </a:r>
              </a:p>
              <a:p>
                <a:pPr algn="ctr"/>
                <a:r>
                  <a:rPr lang="en-AU" sz="3200" dirty="0"/>
                  <a:t>Terms are considered like terms if they have the same variable to the same exponent (power)</a:t>
                </a:r>
              </a:p>
              <a:p>
                <a:pPr algn="ctr"/>
                <a:r>
                  <a:rPr lang="en-AU" sz="3200" dirty="0"/>
                  <a:t>e.g. </a:t>
                </a:r>
                <a14:m>
                  <m:oMath xmlns:m="http://schemas.openxmlformats.org/officeDocument/2006/math">
                    <m:r>
                      <a:rPr lang="en-AU" sz="3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1, 2, 3, 4</m:t>
                    </m:r>
                    <m:r>
                      <a:rPr lang="en-AU" sz="3200" b="0" i="0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, 2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, 3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, 4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   </m:t>
                    </m:r>
                    <m:sSup>
                      <m:sSupPr>
                        <m:ctrlPr>
                          <a:rPr lang="en-AU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  2</m:t>
                    </m:r>
                    <m:sSup>
                      <m:sSupPr>
                        <m:ctrlPr>
                          <a:rPr lang="en-AU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,</m:t>
                    </m:r>
                    <m:sSup>
                      <m:sSupPr>
                        <m:ctrlPr>
                          <a:rPr lang="en-AU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3200" dirty="0"/>
              </a:p>
              <a:p>
                <a:pPr algn="ctr"/>
                <a:endParaRPr lang="en-AU" sz="3200" dirty="0"/>
              </a:p>
              <a:p>
                <a:pPr algn="ctr"/>
                <a:r>
                  <a:rPr lang="fr-FR" sz="3600" b="1" dirty="0" err="1">
                    <a:solidFill>
                      <a:srgbClr val="FF0000"/>
                    </a:solidFill>
                    <a:latin typeface="ReithSans"/>
                  </a:rPr>
                  <a:t>Terms</a:t>
                </a:r>
                <a:r>
                  <a:rPr lang="fr-FR" sz="3600" b="1" dirty="0">
                    <a:solidFill>
                      <a:srgbClr val="FF0000"/>
                    </a:solidFill>
                    <a:latin typeface="ReithSans"/>
                  </a:rPr>
                  <a:t> can only </a:t>
                </a:r>
                <a:r>
                  <a:rPr lang="fr-FR" sz="3600" b="1" dirty="0" err="1">
                    <a:solidFill>
                      <a:srgbClr val="FF0000"/>
                    </a:solidFill>
                    <a:latin typeface="ReithSans"/>
                  </a:rPr>
                  <a:t>be</a:t>
                </a:r>
                <a:r>
                  <a:rPr lang="fr-FR" sz="3600" b="1" dirty="0">
                    <a:solidFill>
                      <a:srgbClr val="FF0000"/>
                    </a:solidFill>
                    <a:latin typeface="ReithSans"/>
                  </a:rPr>
                  <a:t> added or subtracted if they are like</a:t>
                </a:r>
                <a:endParaRPr lang="fr-FR" sz="3600" b="1" i="0" dirty="0">
                  <a:solidFill>
                    <a:srgbClr val="FF0000"/>
                  </a:solidFill>
                  <a:effectLst/>
                  <a:latin typeface="ReithSans"/>
                </a:endParaRPr>
              </a:p>
              <a:p>
                <a:pPr algn="ctr"/>
                <a:endParaRPr lang="fr-FR" sz="3200" dirty="0">
                  <a:solidFill>
                    <a:srgbClr val="FF0000"/>
                  </a:solidFill>
                  <a:latin typeface="ReithSans"/>
                </a:endParaRPr>
              </a:p>
              <a:p>
                <a:pPr algn="ctr"/>
                <a:r>
                  <a:rPr lang="fr-FR" sz="4000" b="1" i="0" dirty="0">
                    <a:solidFill>
                      <a:srgbClr val="FF0000"/>
                    </a:solidFill>
                    <a:effectLst/>
                    <a:latin typeface="ReithSans"/>
                  </a:rPr>
                  <a:t>3t</a:t>
                </a:r>
                <a:r>
                  <a:rPr lang="fr-FR" sz="4000" b="1" i="0" dirty="0">
                    <a:solidFill>
                      <a:srgbClr val="231F20"/>
                    </a:solidFill>
                    <a:effectLst/>
                    <a:latin typeface="ReithSans"/>
                  </a:rPr>
                  <a:t> - 2y </a:t>
                </a:r>
                <a:r>
                  <a:rPr lang="fr-FR" sz="4000" b="1" i="0" dirty="0">
                    <a:solidFill>
                      <a:srgbClr val="FF0000"/>
                    </a:solidFill>
                    <a:effectLst/>
                    <a:latin typeface="ReithSans"/>
                  </a:rPr>
                  <a:t>+ 10t </a:t>
                </a:r>
                <a:r>
                  <a:rPr lang="fr-FR" sz="4000" b="1" i="0" dirty="0">
                    <a:solidFill>
                      <a:srgbClr val="231F20"/>
                    </a:solidFill>
                    <a:effectLst/>
                    <a:latin typeface="ReithSans"/>
                  </a:rPr>
                  <a:t>- y </a:t>
                </a:r>
                <a:r>
                  <a:rPr lang="fr-FR" sz="4000" b="1" i="0" dirty="0">
                    <a:solidFill>
                      <a:srgbClr val="0070C0"/>
                    </a:solidFill>
                    <a:effectLst/>
                    <a:latin typeface="ReithSans"/>
                  </a:rPr>
                  <a:t>- 12</a:t>
                </a:r>
                <a:endParaRPr lang="en-AU" sz="4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437" y="802186"/>
                <a:ext cx="10801200" cy="4216539"/>
              </a:xfrm>
              <a:prstGeom prst="rect">
                <a:avLst/>
              </a:prstGeom>
              <a:blipFill>
                <a:blip r:embed="rId2"/>
                <a:stretch>
                  <a:fillRect l="-959" t="-1881" r="-1919" b="-54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2989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3078" y="338288"/>
            <a:ext cx="1080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Collecting like terms:</a:t>
            </a:r>
          </a:p>
          <a:p>
            <a:pPr algn="ctr"/>
            <a:endParaRPr lang="en-AU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9926A8-EBAE-4F9E-978C-E35F70A7314D}"/>
              </a:ext>
            </a:extLst>
          </p:cNvPr>
          <p:cNvSpPr txBox="1"/>
          <p:nvPr/>
        </p:nvSpPr>
        <p:spPr>
          <a:xfrm>
            <a:off x="1847528" y="3297215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5y+3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FBA665-05E4-4908-A3A6-CE27784DF7CF}"/>
              </a:ext>
            </a:extLst>
          </p:cNvPr>
          <p:cNvSpPr txBox="1"/>
          <p:nvPr/>
        </p:nvSpPr>
        <p:spPr>
          <a:xfrm>
            <a:off x="5303912" y="3239373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2w+5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146939-6D51-4E08-9F00-578F94E3EC5F}"/>
              </a:ext>
            </a:extLst>
          </p:cNvPr>
          <p:cNvSpPr txBox="1"/>
          <p:nvPr/>
        </p:nvSpPr>
        <p:spPr>
          <a:xfrm>
            <a:off x="8893568" y="3197409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6s+3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B01E6C-6B52-4C28-B9C4-79847F668C96}"/>
              </a:ext>
            </a:extLst>
          </p:cNvPr>
          <p:cNvSpPr txBox="1"/>
          <p:nvPr/>
        </p:nvSpPr>
        <p:spPr>
          <a:xfrm>
            <a:off x="1271464" y="5379228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8x+4y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7B4C16-7A85-417A-A189-75BAE7DE58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633"/>
          <a:stretch/>
        </p:blipFill>
        <p:spPr>
          <a:xfrm>
            <a:off x="335360" y="4278408"/>
            <a:ext cx="10801200" cy="5898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FB7B01-221B-414F-9544-921F82300B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878" b="50000"/>
          <a:stretch/>
        </p:blipFill>
        <p:spPr>
          <a:xfrm>
            <a:off x="657827" y="2521242"/>
            <a:ext cx="10261899" cy="6229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298318-EE3C-4B3D-B6A2-EDA205976515}"/>
              </a:ext>
            </a:extLst>
          </p:cNvPr>
          <p:cNvSpPr txBox="1"/>
          <p:nvPr/>
        </p:nvSpPr>
        <p:spPr>
          <a:xfrm>
            <a:off x="5015880" y="5426060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7m+9s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2C361E-35C5-4294-9693-AB3072DBF895}"/>
              </a:ext>
            </a:extLst>
          </p:cNvPr>
          <p:cNvSpPr txBox="1"/>
          <p:nvPr/>
        </p:nvSpPr>
        <p:spPr>
          <a:xfrm>
            <a:off x="8754281" y="5426060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3a+6b+2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871F05-5EAD-366F-986B-CAB4988EFDEA}"/>
              </a:ext>
            </a:extLst>
          </p:cNvPr>
          <p:cNvSpPr txBox="1"/>
          <p:nvPr/>
        </p:nvSpPr>
        <p:spPr>
          <a:xfrm>
            <a:off x="907479" y="1926453"/>
            <a:ext cx="1187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We do </a:t>
            </a:r>
            <a:endParaRPr lang="en-AU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6CC39E-F5FE-7D38-66F7-B83FEDA5851D}"/>
              </a:ext>
            </a:extLst>
          </p:cNvPr>
          <p:cNvSpPr txBox="1"/>
          <p:nvPr/>
        </p:nvSpPr>
        <p:spPr>
          <a:xfrm>
            <a:off x="483078" y="3818589"/>
            <a:ext cx="1364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You do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89287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1114-034E-E469-4BA5-023880969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4718" y="73695"/>
            <a:ext cx="2272685" cy="111591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Steps to solve equations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DEB99-B324-9411-9309-CD28FC0E77C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905633" y="336081"/>
            <a:ext cx="8915400" cy="5627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3600" b="1" u="sng" dirty="0">
                <a:solidFill>
                  <a:srgbClr val="00B0F0"/>
                </a:solidFill>
              </a:rPr>
              <a:t>Equation solving steps</a:t>
            </a:r>
            <a:r>
              <a:rPr lang="en-AU" sz="3600" b="1" dirty="0">
                <a:solidFill>
                  <a:srgbClr val="00B0F0"/>
                </a:solidFill>
              </a:rPr>
              <a:t>: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State answer </a:t>
            </a:r>
          </a:p>
        </p:txBody>
      </p:sp>
    </p:spTree>
    <p:extLst>
      <p:ext uri="{BB962C8B-B14F-4D97-AF65-F5344CB8AC3E}">
        <p14:creationId xmlns:p14="http://schemas.microsoft.com/office/powerpoint/2010/main" val="2115106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88CBA55-4ED9-4DB1-AEAB-3C8D09E98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 </a:t>
            </a:r>
            <a:r>
              <a:rPr lang="en-GB" altLang="en-US" dirty="0">
                <a:solidFill>
                  <a:srgbClr val="92D050"/>
                </a:solidFill>
              </a:rPr>
              <a:t>Try these equations;</a:t>
            </a:r>
            <a:br>
              <a:rPr lang="en-GB" altLang="en-US" dirty="0">
                <a:solidFill>
                  <a:srgbClr val="92D050"/>
                </a:solidFill>
              </a:rPr>
            </a:br>
            <a:r>
              <a:rPr lang="en-GB" altLang="en-US" dirty="0">
                <a:solidFill>
                  <a:srgbClr val="92D050"/>
                </a:solidFill>
              </a:rPr>
              <a:t>We do: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F5A1B6A-2123-4304-ABEC-BEEA202D83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6237" y="1704513"/>
            <a:ext cx="8915400" cy="4783757"/>
          </a:xfrm>
        </p:spPr>
        <p:txBody>
          <a:bodyPr>
            <a:noAutofit/>
          </a:bodyPr>
          <a:lstStyle/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5f + 4 = 24 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GB" altLang="en-US" sz="3200" b="1" dirty="0"/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2d – 8 = 12 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GB" altLang="en-US" sz="3200" b="1" dirty="0"/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4f + (-5) = 7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GB" altLang="en-US" sz="3200" b="1" dirty="0"/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4x - 3 = 21  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GB" altLang="en-US" sz="3200" dirty="0"/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GB" altLang="en-US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C31DEC-6350-4024-79E9-E030EF997022}"/>
              </a:ext>
            </a:extLst>
          </p:cNvPr>
          <p:cNvSpPr txBox="1"/>
          <p:nvPr/>
        </p:nvSpPr>
        <p:spPr>
          <a:xfrm>
            <a:off x="7554897" y="266330"/>
            <a:ext cx="4500979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State answer 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313E80-CEFB-6DEB-6721-BE0F5BC2AFB7}"/>
                  </a:ext>
                </a:extLst>
              </p:cNvPr>
              <p:cNvSpPr txBox="1"/>
              <p:nvPr/>
            </p:nvSpPr>
            <p:spPr>
              <a:xfrm>
                <a:off x="6471821" y="3329126"/>
                <a:ext cx="3869816" cy="666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5.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AU" sz="2800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313E80-CEFB-6DEB-6721-BE0F5BC2A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821" y="3329126"/>
                <a:ext cx="3869816" cy="666529"/>
              </a:xfrm>
              <a:prstGeom prst="rect">
                <a:avLst/>
              </a:prstGeom>
              <a:blipFill>
                <a:blip r:embed="rId2"/>
                <a:stretch>
                  <a:fillRect l="-3312" t="-2752" b="-100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51509-8871-95D2-6F80-57F639228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ED3F3-7FCE-6C75-593B-9C9A6E000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76039"/>
            <a:ext cx="8915400" cy="4535183"/>
          </a:xfrm>
        </p:spPr>
        <p:txBody>
          <a:bodyPr>
            <a:normAutofit/>
          </a:bodyPr>
          <a:lstStyle/>
          <a:p>
            <a:pPr marL="514350" indent="-514350">
              <a:buAutoNum type="alphaLcParenR"/>
            </a:pPr>
            <a:r>
              <a:rPr lang="en-US" sz="3200" b="1" dirty="0"/>
              <a:t>3s + 8 = 23 </a:t>
            </a:r>
          </a:p>
          <a:p>
            <a:pPr marL="514350" indent="-514350">
              <a:buAutoNum type="alphaLcParenR"/>
            </a:pPr>
            <a:endParaRPr lang="en-US" sz="3200" b="1" dirty="0"/>
          </a:p>
          <a:p>
            <a:pPr marL="514350" indent="-514350">
              <a:buAutoNum type="alphaLcParenR"/>
            </a:pPr>
            <a:r>
              <a:rPr lang="en-US" sz="3200" b="1" dirty="0"/>
              <a:t>10x - 20 = 30</a:t>
            </a:r>
          </a:p>
          <a:p>
            <a:pPr marL="514350" indent="-514350">
              <a:buAutoNum type="alphaLcParenR"/>
            </a:pPr>
            <a:endParaRPr lang="en-US" sz="3200" b="1" dirty="0"/>
          </a:p>
          <a:p>
            <a:pPr marL="514350" indent="-514350">
              <a:buAutoNum type="alphaLcParenR"/>
            </a:pPr>
            <a:r>
              <a:rPr lang="en-US" sz="3200" b="1" dirty="0"/>
              <a:t>10 – 3x = 4  </a:t>
            </a:r>
          </a:p>
          <a:p>
            <a:pPr marL="514350" indent="-514350">
              <a:buAutoNum type="alphaLcParenR"/>
            </a:pPr>
            <a:endParaRPr lang="en-US" sz="3200" b="1" dirty="0"/>
          </a:p>
          <a:p>
            <a:pPr marL="514350" indent="-514350">
              <a:buAutoNum type="alphaLcParenR"/>
            </a:pPr>
            <a:r>
              <a:rPr lang="en-US" sz="3200" b="1" dirty="0"/>
              <a:t>9x – 6 = 21 </a:t>
            </a:r>
          </a:p>
          <a:p>
            <a:pPr marL="514350" indent="-514350">
              <a:buAutoNum type="alphaLcParenR"/>
            </a:pPr>
            <a:endParaRPr lang="en-US" sz="3200" dirty="0"/>
          </a:p>
          <a:p>
            <a:pPr marL="514350" indent="-514350">
              <a:buAutoNum type="alphaLcParenR"/>
            </a:pP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ED84DD-D27F-2D12-BA72-1709F205542F}"/>
                  </a:ext>
                </a:extLst>
              </p:cNvPr>
              <p:cNvSpPr txBox="1"/>
              <p:nvPr/>
            </p:nvSpPr>
            <p:spPr>
              <a:xfrm>
                <a:off x="7634796" y="2656929"/>
                <a:ext cx="3869816" cy="666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e)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AU" sz="2800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ED84DD-D27F-2D12-BA72-1709F2055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4796" y="2656929"/>
                <a:ext cx="3869816" cy="666529"/>
              </a:xfrm>
              <a:prstGeom prst="rect">
                <a:avLst/>
              </a:prstGeom>
              <a:blipFill>
                <a:blip r:embed="rId2"/>
                <a:stretch>
                  <a:fillRect l="-3150" t="-3670" b="-100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21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88CBA55-4ED9-4DB1-AEAB-3C8D09E98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 </a:t>
            </a:r>
            <a:r>
              <a:rPr lang="en-GB" altLang="en-US" dirty="0">
                <a:solidFill>
                  <a:srgbClr val="92D050"/>
                </a:solidFill>
              </a:rPr>
              <a:t>Try these equations;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>
                <a:extLst>
                  <a:ext uri="{FF2B5EF4-FFF2-40B4-BE49-F238E27FC236}">
                    <a16:creationId xmlns:a16="http://schemas.microsoft.com/office/drawing/2014/main" id="{5F5A1B6A-2123-4304-ABEC-BEEA202D8369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426237" y="2710648"/>
                <a:ext cx="8915400" cy="3777622"/>
              </a:xfrm>
            </p:spPr>
            <p:txBody>
              <a:bodyPr>
                <a:noAutofit/>
              </a:bodyPr>
              <a:lstStyle/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:r>
                  <a:rPr lang="en-GB" altLang="en-US" sz="3200" dirty="0"/>
                  <a:t>3</a:t>
                </a:r>
                <a:r>
                  <a:rPr lang="en-GB" altLang="en-US" sz="3200" i="0" dirty="0">
                    <a:latin typeface="+mj-lt"/>
                  </a:rPr>
                  <a:t>x</a:t>
                </a:r>
                <a:r>
                  <a:rPr lang="en-GB" altLang="en-US" sz="3200" dirty="0"/>
                  <a:t> + 5 = 35</a:t>
                </a:r>
              </a:p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:r>
                  <a:rPr lang="en-GB" altLang="en-US" sz="3200" dirty="0"/>
                  <a:t>7x – 4 = 80</a:t>
                </a:r>
              </a:p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alt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AU" alt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altLang="en-US" sz="32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altLang="en-US" sz="3200" dirty="0"/>
                  <a:t>+ 1 = 4</a:t>
                </a:r>
              </a:p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:r>
                  <a:rPr lang="en-GB" altLang="en-US" sz="3200" dirty="0"/>
                  <a:t>24 – 5x = 9</a:t>
                </a:r>
              </a:p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:r>
                  <a:rPr lang="en-GB" altLang="en-US" sz="3200" dirty="0"/>
                  <a:t>62 = 7x + 6</a:t>
                </a:r>
              </a:p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:r>
                  <a:rPr lang="en-GB" altLang="en-US" sz="3200" dirty="0"/>
                  <a:t>185 = 4x – 15</a:t>
                </a:r>
              </a:p>
            </p:txBody>
          </p:sp>
        </mc:Choice>
        <mc:Fallback xmlns="">
          <p:sp>
            <p:nvSpPr>
              <p:cNvPr id="10243" name="Rectangle 3">
                <a:extLst>
                  <a:ext uri="{FF2B5EF4-FFF2-40B4-BE49-F238E27FC236}">
                    <a16:creationId xmlns:a16="http://schemas.microsoft.com/office/drawing/2014/main" id="{5F5A1B6A-2123-4304-ABEC-BEEA202D83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426237" y="2710648"/>
                <a:ext cx="8915400" cy="3777622"/>
              </a:xfrm>
              <a:blipFill>
                <a:blip r:embed="rId2"/>
                <a:stretch>
                  <a:fillRect l="-1778" t="-2100" b="-64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0C31DEC-6350-4024-79E9-E030EF997022}"/>
              </a:ext>
            </a:extLst>
          </p:cNvPr>
          <p:cNvSpPr txBox="1"/>
          <p:nvPr/>
        </p:nvSpPr>
        <p:spPr>
          <a:xfrm>
            <a:off x="7554897" y="266330"/>
            <a:ext cx="4500979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State answer 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9241601-0509-4E0F-AE30-0AEA0D396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8229600" cy="744538"/>
          </a:xfrm>
        </p:spPr>
        <p:txBody>
          <a:bodyPr/>
          <a:lstStyle/>
          <a:p>
            <a:r>
              <a:rPr lang="en-GB" altLang="en-US" sz="4000"/>
              <a:t>Answers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8B4E18FE-CB9E-4969-841C-9B8FBF07A09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125538"/>
            <a:ext cx="4259263" cy="4970462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3x + 5 = 35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7x – 4 = 80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x/3 + 1 = 4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24 – 5x = 9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62 = 7x + 6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185 = 4x – 15</a:t>
            </a:r>
          </a:p>
          <a:p>
            <a:pPr marL="533400" indent="-533400"/>
            <a:endParaRPr lang="en-GB" altLang="en-US" sz="3600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DA06D020-736C-4BE1-AF00-BAE3D086406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172200" y="1125538"/>
            <a:ext cx="4038600" cy="4970462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 = 10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 = 12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 = 9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 = 3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 = 8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 =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12B1EBA-A78F-45AC-BB50-11BB9CF59A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sz="4000"/>
              <a:t>If the equation is more complicated;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0870046-32E9-4219-A6B9-8467CDF619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47060" y="2133600"/>
            <a:ext cx="10057552" cy="3777622"/>
          </a:xfrm>
        </p:spPr>
        <p:txBody>
          <a:bodyPr/>
          <a:lstStyle/>
          <a:p>
            <a:r>
              <a:rPr lang="en-GB" altLang="en-US" sz="2400" dirty="0"/>
              <a:t>Simplify the equation, collect like terms, if there are brackets multiply them out first.</a:t>
            </a:r>
          </a:p>
          <a:p>
            <a:pPr marL="0" indent="0">
              <a:buNone/>
            </a:pPr>
            <a:endParaRPr lang="en-GB" altLang="en-US" sz="2400" dirty="0"/>
          </a:p>
          <a:p>
            <a:r>
              <a:rPr lang="en-GB" altLang="en-US" sz="2400" dirty="0"/>
              <a:t>If there is more then one unknown value on either side of the equals sign collect them together on one side and collect the numbers on the other. </a:t>
            </a:r>
          </a:p>
          <a:p>
            <a:endParaRPr lang="en-GB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84B407B-B9C5-4FA1-BAA8-615316720A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2x + 4 = 3x - 2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410D9BA-252F-4676-A2BD-6983BEC174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91449" y="1905000"/>
            <a:ext cx="10128573" cy="4724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sz="2000" b="1" dirty="0"/>
              <a:t>Collect the x’s together, it is better to try and keep the x values positive.</a:t>
            </a:r>
          </a:p>
          <a:p>
            <a:pPr>
              <a:lnSpc>
                <a:spcPct val="90000"/>
              </a:lnSpc>
            </a:pPr>
            <a:r>
              <a:rPr lang="en-GB" altLang="en-US" sz="2000" b="1" dirty="0"/>
              <a:t>Collect the numbers together on the other side of the equals.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FD27861-6993-6028-9C66-07692DBAF510}"/>
              </a:ext>
            </a:extLst>
          </p:cNvPr>
          <p:cNvSpPr txBox="1">
            <a:spLocks noChangeArrowheads="1"/>
          </p:cNvSpPr>
          <p:nvPr/>
        </p:nvSpPr>
        <p:spPr>
          <a:xfrm>
            <a:off x="1919701" y="3429000"/>
            <a:ext cx="8911687" cy="29096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altLang="en-US" sz="4000" b="1" dirty="0"/>
              <a:t>4x + 2 = 10x – 16</a:t>
            </a:r>
          </a:p>
          <a:p>
            <a:endParaRPr lang="en-GB" altLang="en-US" sz="4000" b="1" dirty="0"/>
          </a:p>
          <a:p>
            <a:r>
              <a:rPr lang="en-GB" altLang="en-US" sz="4000" b="1" dirty="0"/>
              <a:t> </a:t>
            </a:r>
          </a:p>
          <a:p>
            <a:r>
              <a:rPr lang="en-GB" altLang="en-US" sz="4000" b="1" dirty="0"/>
              <a:t>2x + 8 = 10 + 3x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278CDBE-EE0C-40D7-84E1-9DE6450827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Try the following equations;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512215-2ECE-45C2-80EB-CD5291552A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4x + 10 = 2x  + 26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5x – 6 = 10x – 16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20x + 4 = 15x + 34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3(x + 1 ) = 15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2(3x + 2) + 3(x – 1)  =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0BB58FB-26CF-421F-B4BD-78FDBBFCC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1001"/>
            <a:ext cx="8229600" cy="455613"/>
          </a:xfrm>
        </p:spPr>
        <p:txBody>
          <a:bodyPr>
            <a:normAutofit fontScale="90000"/>
          </a:bodyPr>
          <a:lstStyle/>
          <a:p>
            <a:r>
              <a:rPr lang="en-GB" altLang="en-US" sz="4000"/>
              <a:t>Answers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9F74785-04A7-4A91-9FAF-E7C2019D883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981075"/>
            <a:ext cx="4402138" cy="5543550"/>
          </a:xfrm>
        </p:spPr>
        <p:txBody>
          <a:bodyPr>
            <a:normAutofit lnSpcReduction="10000"/>
          </a:bodyPr>
          <a:lstStyle/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1)   4x + 10 = 2x  + 26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       2x +10 = 26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              2x = 16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                 </a:t>
            </a:r>
            <a:r>
              <a:rPr lang="en-GB" altLang="en-US" sz="2400">
                <a:solidFill>
                  <a:srgbClr val="FF0000"/>
                </a:solidFill>
              </a:rPr>
              <a:t>x=8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GB" altLang="en-US" sz="2400">
              <a:solidFill>
                <a:srgbClr val="FF0000"/>
              </a:solidFill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2)   5x – 6 = 10x – 16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           - 6 = 5x -16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            10 = 5x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               </a:t>
            </a:r>
            <a:r>
              <a:rPr lang="en-GB" altLang="en-US" sz="2400">
                <a:solidFill>
                  <a:srgbClr val="FF0000"/>
                </a:solidFill>
              </a:rPr>
              <a:t>2=x</a:t>
            </a:r>
          </a:p>
          <a:p>
            <a:pPr marL="609600" indent="-609600">
              <a:lnSpc>
                <a:spcPct val="80000"/>
              </a:lnSpc>
            </a:pPr>
            <a:endParaRPr lang="en-GB" altLang="en-US" sz="2400"/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3) 20x + 4 = 15x + 34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      5x + 4 = 34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            5x = 30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             </a:t>
            </a:r>
            <a:r>
              <a:rPr lang="en-GB" altLang="en-US" sz="2400">
                <a:solidFill>
                  <a:srgbClr val="FF0000"/>
                </a:solidFill>
              </a:rPr>
              <a:t>x = 6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GB" altLang="en-US" sz="2400">
              <a:solidFill>
                <a:srgbClr val="FF0000"/>
              </a:solidFill>
            </a:endParaRP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BAD2E99-D247-44A1-BA31-C15AE48AF6F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664200" y="981075"/>
            <a:ext cx="4711700" cy="5473700"/>
          </a:xfrm>
        </p:spPr>
        <p:txBody>
          <a:bodyPr/>
          <a:lstStyle/>
          <a:p>
            <a:pPr marL="457200" indent="-457200">
              <a:lnSpc>
                <a:spcPct val="80000"/>
              </a:lnSpc>
              <a:buNone/>
            </a:pPr>
            <a:r>
              <a:rPr lang="en-GB" altLang="en-US" sz="2400"/>
              <a:t>4)   3(x + 1 ) = 15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GB" altLang="en-US" sz="2400"/>
              <a:t>         3x + 3 = 15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GB" altLang="en-US" sz="2400"/>
              <a:t>               3x = 12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GB" altLang="en-US" sz="2400">
                <a:solidFill>
                  <a:srgbClr val="FF0000"/>
                </a:solidFill>
              </a:rPr>
              <a:t>                 x = 4</a:t>
            </a:r>
          </a:p>
          <a:p>
            <a:pPr marL="457200" indent="-457200">
              <a:lnSpc>
                <a:spcPct val="80000"/>
              </a:lnSpc>
              <a:buNone/>
            </a:pPr>
            <a:endParaRPr lang="en-GB" altLang="en-US" sz="2400">
              <a:solidFill>
                <a:srgbClr val="FF0000"/>
              </a:solidFill>
            </a:endParaRPr>
          </a:p>
          <a:p>
            <a:pPr marL="457200" indent="-457200">
              <a:lnSpc>
                <a:spcPct val="80000"/>
              </a:lnSpc>
              <a:buNone/>
            </a:pPr>
            <a:r>
              <a:rPr lang="en-GB" altLang="en-US" sz="2400"/>
              <a:t>5)  2(3x + 2) + 3(x – 1)  = 28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GB" altLang="en-US" sz="2400"/>
              <a:t>             6x + 4 + 3x – 3 = 28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GB" altLang="en-US" sz="2400"/>
              <a:t>                          9x + 1 = 28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GB" altLang="en-US" sz="2400"/>
              <a:t>                                9x = 27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GB" altLang="en-US" sz="2400">
                <a:solidFill>
                  <a:srgbClr val="FF0000"/>
                </a:solidFill>
              </a:rPr>
              <a:t>                                  x = 3</a:t>
            </a:r>
          </a:p>
          <a:p>
            <a:pPr marL="457200" indent="-457200">
              <a:lnSpc>
                <a:spcPct val="80000"/>
              </a:lnSpc>
            </a:pPr>
            <a:endParaRPr lang="en-GB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D8F14A-81C5-3502-8D59-0D7D920E56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E433D7-0048-6DD5-A6BC-A7926A92D5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On the back of our notes page is a puzzle sheet.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8842568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851</Words>
  <Application>Microsoft Office PowerPoint</Application>
  <PresentationFormat>Widescreen</PresentationFormat>
  <Paragraphs>157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Cambria Math</vt:lpstr>
      <vt:lpstr>Century Gothic</vt:lpstr>
      <vt:lpstr>ReithSans</vt:lpstr>
      <vt:lpstr>Wingdings</vt:lpstr>
      <vt:lpstr>Wingdings 3</vt:lpstr>
      <vt:lpstr>Wisp</vt:lpstr>
      <vt:lpstr>PowerPoint Presentation</vt:lpstr>
      <vt:lpstr>Choral response </vt:lpstr>
      <vt:lpstr>DPM/A</vt:lpstr>
      <vt:lpstr>Whiteboards – expanding brackets </vt:lpstr>
      <vt:lpstr>PowerPoint Presentation</vt:lpstr>
      <vt:lpstr>PowerPoint Presentation</vt:lpstr>
      <vt:lpstr>PowerPoint Presentation</vt:lpstr>
      <vt:lpstr>Steps to solve equations </vt:lpstr>
      <vt:lpstr> Try these equations; We do:</vt:lpstr>
      <vt:lpstr>Whiteboards </vt:lpstr>
      <vt:lpstr> Try these equations;</vt:lpstr>
      <vt:lpstr>Answers</vt:lpstr>
      <vt:lpstr>If the equation is more complicated;</vt:lpstr>
      <vt:lpstr>2x + 4 = 3x - 2</vt:lpstr>
      <vt:lpstr>Try the following equations;</vt:lpstr>
      <vt:lpstr>Answers</vt:lpstr>
      <vt:lpstr>Individual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DAVIES Rhys [Busselton Senior High School]</dc:creator>
  <cp:lastModifiedBy>DAVIES Rhys [Busselton Senior High School]</cp:lastModifiedBy>
  <cp:revision>11</cp:revision>
  <dcterms:created xsi:type="dcterms:W3CDTF">2022-08-15T09:01:01Z</dcterms:created>
  <dcterms:modified xsi:type="dcterms:W3CDTF">2022-08-16T00:05:03Z</dcterms:modified>
</cp:coreProperties>
</file>
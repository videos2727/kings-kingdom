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sldIdLst>
    <p:sldId id="257" r:id="rId4"/>
    <p:sldId id="258" r:id="rId5"/>
    <p:sldId id="283" r:id="rId6"/>
    <p:sldId id="310" r:id="rId7"/>
    <p:sldId id="284" r:id="rId8"/>
    <p:sldId id="285" r:id="rId9"/>
    <p:sldId id="286" r:id="rId10"/>
    <p:sldId id="290" r:id="rId11"/>
    <p:sldId id="291" r:id="rId12"/>
    <p:sldId id="296" r:id="rId13"/>
    <p:sldId id="297" r:id="rId14"/>
    <p:sldId id="311" r:id="rId15"/>
    <p:sldId id="266" r:id="rId16"/>
    <p:sldId id="267" r:id="rId17"/>
    <p:sldId id="268" r:id="rId18"/>
    <p:sldId id="312" r:id="rId1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B85A-97E0-492A-A930-6B53B2CD8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DBBA3-1CD8-4B12-9BDF-AF3ED118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3117-145E-483F-BFE1-86474D50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C047B-4B44-4141-B16C-8113AD25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E8F69-2EFB-416E-983E-2B46C9CD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059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BCA5-C277-48C3-BB4E-7DEAB6E3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FCB0-241A-4788-B4B0-5CBD1159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27DE-F7F7-48DF-8DFD-B9537211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DF3AA-C1D0-4E95-B3D3-953DF9E6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839F-1850-4389-8958-D34FD6B0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981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8D90-6792-47A6-911F-BAA792AA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EDA16-BBD5-415D-925B-04798BFA7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F2645-0126-4D0F-8FAC-F1604967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AD2A8-35F2-410E-9189-87F406D7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F36C-C7CE-421E-910A-80DC636D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39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40F5-920E-42BF-A2C0-A6F94676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534B4-2CAE-4038-BD5C-F0D162C7F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DD9D6-115E-4F9B-8209-3A325BEE4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B201F-CEB2-418A-82E0-69D57654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8E5AB-B6B3-4549-A9A6-B4931C74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D6AA-1052-44B6-BAB3-0BE4CD96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18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DBB8-7B0B-4DF4-B5CB-5110B852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5730E-DC13-46E5-80F8-40F4D52CD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C88DE-D22F-49C9-9E1E-53DCDAAD8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DAC4F-199E-4099-99C9-FA816F659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00619-67FD-4B6D-99A3-3E81B0E5D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2DB91-1A51-49B6-8DE1-2C6BB8A5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772F08-5818-4169-84D9-355C041D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F6FAF-FC3C-4BAD-ABF3-F59D4D74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511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CB40-9B62-4724-B05C-3A48FD3D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D6D90-D2D8-4BB2-9F5B-BFFBAEBF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B93FA-77EF-4261-BABD-E3E11C67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4A979-3A61-441A-9148-0378D80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665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22867-FA2E-41C6-A6CB-B33DBC19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742F4-AC2A-4AC0-A263-5090EE4C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C26DF-989C-4394-913A-4BD9264F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32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123C-1F0A-4048-B979-7636EBA1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4E93-B0B9-4636-817C-577E01D22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3DE66-2A97-4185-B4CD-33633B8E6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45AE8-82E3-4EF7-AEBA-5086A000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201EB-02C3-4CE4-ADCB-D3969A78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7E6B-E768-437D-B08C-FF029165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73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556C-99AF-440D-9F82-170F5E69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586BE-F6BE-4E0B-A4C9-4FFBD5A1D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0A7E0-2939-45AA-A460-B0113BFC5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F9820-588E-46E2-96AE-EB7BFED4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8B8BA-D103-494F-AB6B-10869194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55266-CFE9-44C3-A5A1-D64CD839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17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A2FA-69B6-43B2-87C5-C9756FE0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8AE71-A399-4C86-A2C7-FBE558A3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BEDB-788F-4725-B3B1-95023CB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799A-D716-4F60-9074-1F8BF880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C8BF-1D4C-4878-BB95-6C4E666E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57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EFEAE-B3F3-4717-ACF0-62D2002D6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331A9-A535-48A0-9373-E9140ECC7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83E6C-E7D7-49E7-9100-87084D12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929CF-EA66-460C-915E-CAE2CC43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E28D8-94A4-4C62-BFB6-E3956A88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00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DBF936-F40A-4721-91BB-9166982731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712A6D-AA2D-400C-A86F-C304BFACA7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ADC865-0F1B-4657-A2B4-F57B2CA17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23EC8-9D4E-471B-9956-46A1EC69076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4493652"/>
      </p:ext>
    </p:extLst>
  </p:cSld>
  <p:clrMapOvr>
    <a:masterClrMapping/>
  </p:clrMapOvr>
  <p:transition spd="med" advClick="0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2DD4B5-5612-47FF-A8C8-56031CD9E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49DBCB-278A-47F3-93B7-60B6839D65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5FF3C5-7B61-492A-849E-366FA6051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6A7151-E58B-426C-8E98-02D63658D97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848783"/>
      </p:ext>
    </p:extLst>
  </p:cSld>
  <p:clrMapOvr>
    <a:masterClrMapping/>
  </p:clrMapOvr>
  <p:transition spd="med" advClick="0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3AB4AD-E107-467E-A971-DBB6A2F7B0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EBF063-8B83-4472-8C6B-86E72F6CB7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1367A6-39C4-431C-9A43-F438C77104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CBB9D-1364-4847-A22C-7018D93CA59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9033852"/>
      </p:ext>
    </p:extLst>
  </p:cSld>
  <p:clrMapOvr>
    <a:masterClrMapping/>
  </p:clrMapOvr>
  <p:transition spd="med" advClick="0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6E4E8-0623-4862-A8EB-537E2EB40A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D15A76-037F-4010-A17E-C9930B6365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E0B3E-388C-49F0-98DC-D092CA9372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4CD1C2-FC46-45DA-8F00-2503FE0E2CB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1252747"/>
      </p:ext>
    </p:extLst>
  </p:cSld>
  <p:clrMapOvr>
    <a:masterClrMapping/>
  </p:clrMapOvr>
  <p:transition spd="med" advClick="0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1D4DEB2-68B8-4125-A391-D00687F211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D373279-4A84-45AE-8CA1-37057A8654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0CBD55-090F-42A4-AB02-548C6A4F56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E9C1F-DA91-469D-8D25-D508197D756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6616897"/>
      </p:ext>
    </p:extLst>
  </p:cSld>
  <p:clrMapOvr>
    <a:masterClrMapping/>
  </p:clrMapOvr>
  <p:transition spd="med" advClick="0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087F6B1-332D-4B3D-A7C6-DC28F4E06F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FEA41B3-FFB8-4048-A5EB-FE2C0D2AE4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DC0B0-2185-42E2-9BFA-0A4A27647D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BB93C-B548-4246-9D4E-23A8A061242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3755657"/>
      </p:ext>
    </p:extLst>
  </p:cSld>
  <p:clrMapOvr>
    <a:masterClrMapping/>
  </p:clrMapOvr>
  <p:transition spd="med" advClick="0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6C05E3-8246-4CB9-8E5E-5F16A0696F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4336EE-E572-47AC-8A42-3FC0A69C8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904423-47DA-43D8-9861-4859CE869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118571-8CE4-4D8B-BE30-D4B4BF18F6A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8321658"/>
      </p:ext>
    </p:extLst>
  </p:cSld>
  <p:clrMapOvr>
    <a:masterClrMapping/>
  </p:clrMapOvr>
  <p:transition spd="med" advClick="0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533D5-3EB9-4EDD-BBA2-B838BBF8E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C5968-A9A9-4EA7-A5FF-522467B85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BF49A-652B-4109-91C3-334459A809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EA8DAD-5A17-4DFD-8565-B79A65CA88A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0804460"/>
      </p:ext>
    </p:extLst>
  </p:cSld>
  <p:clrMapOvr>
    <a:masterClrMapping/>
  </p:clrMapOvr>
  <p:transition spd="med" advClick="0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1B603-C29D-4311-A177-AE13920735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29B5F-F1D7-4A39-9673-76769EB00E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368C3-5030-4D1E-8458-21EFCBD651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96CA2-615D-4DA1-95EB-D4A12172612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93336792"/>
      </p:ext>
    </p:extLst>
  </p:cSld>
  <p:clrMapOvr>
    <a:masterClrMapping/>
  </p:clrMapOvr>
  <p:transition spd="med" advClick="0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B45E97-AA29-4598-B354-3822653CA6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BE3C78-68E8-4617-8922-BA1DEC97D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320826-D119-4B09-A416-C80625DD7E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0A009-5FB2-4077-99C5-6AF83C8696F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7861707"/>
      </p:ext>
    </p:extLst>
  </p:cSld>
  <p:clrMapOvr>
    <a:masterClrMapping/>
  </p:clrMapOvr>
  <p:transition spd="med" advClick="0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8F7686-508F-4CC6-B709-A1E89E9E9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795B26-84E8-435C-924A-F0357D5C05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5EE6B7-51B6-4499-9121-A52E27DC0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4CE0A-7099-4F78-9C84-3F538E9B52D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37141100"/>
      </p:ext>
    </p:extLst>
  </p:cSld>
  <p:clrMapOvr>
    <a:masterClrMapping/>
  </p:clrMapOvr>
  <p:transition spd="med" advClick="0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2BA1C3-7A5D-4DF3-AC8F-BFA51CA1E9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2E32E0-D138-4973-9913-CAEF789491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40166B-FA8D-4653-8715-1DBDA97CD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EF5FF2-4051-48F3-9C87-BE98816FA01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658534"/>
      </p:ext>
    </p:extLst>
  </p:cSld>
  <p:clrMapOvr>
    <a:masterClrMapping/>
  </p:clrMapOvr>
  <p:transition spd="med" advClick="0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297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6457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3576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999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230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3604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1405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4023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105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6908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19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0C5E7-31B7-46F8-9B65-FC521771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B61C8-3A35-4E43-A929-E9AEB134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FDECC-9B47-4B2A-9C21-DD6DA92AA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56981-E960-44A9-B5AB-C04919AC2307}" type="datetimeFigureOut">
              <a:rPr lang="en-AU" smtClean="0"/>
              <a:t>30/08/2022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6D2E0-1687-4982-BAC6-2E9042E60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33349-B0A1-4748-A2DB-9932870FD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D427-94E6-40EE-B159-7DBC6104AB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51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34D683-B508-4A40-A0E6-69E35A572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6FFB1-1D06-4D25-857B-E59B43F57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32E3A6-1B55-48D0-862E-B743C5F08A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B70970-0FC6-4153-BE65-9D63D4DCA2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GB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410420-1AB3-4380-A312-FA6F7405A0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fld id="{7D084A88-C2EF-4A50-AF86-CE987DCE4E0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653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 advClick="0"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0585D-59B0-4A1F-B831-F80CC4276C0E}" type="datetimeFigureOut">
              <a:rPr lang="en-GB" smtClean="0"/>
              <a:t>30/08/2022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2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B87B-C916-4338-B93D-BE093D2A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615B-6566-4F0F-B3D2-B78D38C7D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Plotting simple graphs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T o be able to determine the Gradient, Y-intercept and Plot line graphs.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review: equations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Intro to linear equations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Plotting graphs  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804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97A7-50E4-44F8-B53A-55DF13D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review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E95CF-9A98-4E96-B964-352C9EB7F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4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5−3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=4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2800" i="1" dirty="0">
                  <a:latin typeface="Calibri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5"/>
                  <a:tabLst/>
                  <a:defRPr/>
                </a:pPr>
                <a:r>
                  <a:rPr kumimoji="0" lang="en-AU" sz="2800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3(2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28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1)=4(2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endParaRPr lang="en-AU" sz="2800" i="1" dirty="0">
                  <a:solidFill>
                    <a:prstClr val="black"/>
                  </a:solidFill>
                  <a:latin typeface="Calibri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6"/>
                  <a:tabLst/>
                  <a:defRPr/>
                </a:pPr>
                <a:r>
                  <a:rPr kumimoji="0" lang="en-AU" sz="2800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−3</m:t>
                    </m:r>
                    <m:d>
                      <m:dPr>
                        <m:ctrlPr>
                          <a:rPr kumimoji="0" lang="en-AU" sz="280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AU" sz="2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AU" sz="2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AU" sz="2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=2(3</m:t>
                    </m:r>
                    <m:r>
                      <a:rPr kumimoji="0" lang="en-AU" sz="28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4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2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E95CF-9A98-4E96-B964-352C9EB7F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A61B976-784F-E2E1-DAEB-3A04024B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750" y="85725"/>
            <a:ext cx="4400550" cy="6772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187BE7-B441-780A-4597-01A6E937D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920" y="1970088"/>
            <a:ext cx="15525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9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2EECE92-EAD1-4491-9A9B-33BEE53A2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x-none" sz="4800" u="sng">
                <a:latin typeface="Arial" charset="0"/>
              </a:rPr>
              <a:t>y = mx + c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A300D480-3288-4F01-93B9-3918B81E8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676401"/>
            <a:ext cx="8305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dirty="0">
                <a:solidFill>
                  <a:srgbClr val="000000"/>
                </a:solidFill>
                <a:latin typeface="Arial" charset="0"/>
              </a:rPr>
              <a:t>Every straight line can be written in this form. To do this the values for m and c must be found.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dirty="0">
                <a:solidFill>
                  <a:srgbClr val="000000"/>
                </a:solidFill>
                <a:latin typeface="Arial" charset="0"/>
              </a:rPr>
              <a:t>Where y is a </a:t>
            </a:r>
            <a:r>
              <a:rPr lang="en-GB" altLang="x-none" sz="2400" i="1" dirty="0">
                <a:solidFill>
                  <a:srgbClr val="000000"/>
                </a:solidFill>
                <a:latin typeface="Arial" charset="0"/>
              </a:rPr>
              <a:t>function</a:t>
            </a:r>
            <a:r>
              <a:rPr lang="en-GB" altLang="x-none" sz="2400" dirty="0">
                <a:solidFill>
                  <a:srgbClr val="000000"/>
                </a:solidFill>
                <a:latin typeface="Arial" charset="0"/>
              </a:rPr>
              <a:t> of x (might see f(x) = mx + c) 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7CC766CF-420C-4FAE-9E2C-0A9F15FD9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810000"/>
            <a:ext cx="3352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5400">
                <a:solidFill>
                  <a:srgbClr val="000000"/>
                </a:solidFill>
                <a:latin typeface="Arial" charset="0"/>
              </a:rPr>
              <a:t>y = mx + c</a:t>
            </a: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E2A72A6A-797B-420F-85E6-4C4A1A045D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581400"/>
            <a:ext cx="4572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2775" name="Line 7">
            <a:extLst>
              <a:ext uri="{FF2B5EF4-FFF2-40B4-BE49-F238E27FC236}">
                <a16:creationId xmlns:a16="http://schemas.microsoft.com/office/drawing/2014/main" id="{45B3DB34-97C7-4BEF-9792-701650D1D7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4648200"/>
            <a:ext cx="3048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ABDAB7D9-A662-4FE0-8A40-E087B3A2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242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 dirty="0">
                <a:solidFill>
                  <a:srgbClr val="000000"/>
                </a:solidFill>
                <a:latin typeface="Arial" charset="0"/>
              </a:rPr>
              <a:t>c</a:t>
            </a:r>
            <a:r>
              <a:rPr lang="en-GB" altLang="x-none" sz="2400" dirty="0">
                <a:solidFill>
                  <a:srgbClr val="000000"/>
                </a:solidFill>
                <a:latin typeface="Arial" charset="0"/>
              </a:rPr>
              <a:t> is known as the y-intercept</a:t>
            </a:r>
          </a:p>
        </p:txBody>
      </p:sp>
      <p:sp>
        <p:nvSpPr>
          <p:cNvPr id="32777" name="Text Box 9">
            <a:extLst>
              <a:ext uri="{FF2B5EF4-FFF2-40B4-BE49-F238E27FC236}">
                <a16:creationId xmlns:a16="http://schemas.microsoft.com/office/drawing/2014/main" id="{B74FC664-5EA8-48EE-8FFD-AB9018070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334000"/>
            <a:ext cx="510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 dirty="0">
                <a:solidFill>
                  <a:srgbClr val="000000"/>
                </a:solidFill>
                <a:latin typeface="Arial" charset="0"/>
              </a:rPr>
              <a:t>m</a:t>
            </a:r>
            <a:r>
              <a:rPr lang="en-GB" altLang="x-none" sz="2400" dirty="0">
                <a:solidFill>
                  <a:srgbClr val="000000"/>
                </a:solidFill>
                <a:latin typeface="Arial" charset="0"/>
              </a:rPr>
              <a:t> is known as the gradient (or slope) A rate of change</a:t>
            </a:r>
          </a:p>
        </p:txBody>
      </p:sp>
      <p:sp>
        <p:nvSpPr>
          <p:cNvPr id="32778" name="Text Box 10">
            <a:extLst>
              <a:ext uri="{FF2B5EF4-FFF2-40B4-BE49-F238E27FC236}">
                <a16:creationId xmlns:a16="http://schemas.microsoft.com/office/drawing/2014/main" id="{31D969F9-9FBF-4F97-A26E-84C2606E3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770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Arial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 advClick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9663-205B-4A7F-BE16-CC16174C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BDCEA8-39EE-4045-9F37-E99486E4E9C3}"/>
                  </a:ext>
                </a:extLst>
              </p:cNvPr>
              <p:cNvSpPr txBox="1"/>
              <p:nvPr/>
            </p:nvSpPr>
            <p:spPr>
              <a:xfrm>
                <a:off x="2441359" y="1970843"/>
                <a:ext cx="7803472" cy="3668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00B0F0"/>
                    </a:solidFill>
                  </a:rPr>
                  <a:t>Slope/Gradient “m” </a:t>
                </a:r>
                <a:r>
                  <a:rPr lang="en-US" sz="3600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𝑅𝑖𝑠𝑒</m:t>
                        </m:r>
                        <m:r>
                          <a:rPr lang="en-US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𝑅𝑢𝑛</m:t>
                        </m:r>
                      </m:den>
                    </m:f>
                  </m:oMath>
                </a14:m>
                <a:r>
                  <a:rPr lang="en-AU" sz="3600" dirty="0">
                    <a:solidFill>
                      <a:srgbClr val="00B0F0"/>
                    </a:solidFill>
                  </a:rPr>
                  <a:t> </a:t>
                </a:r>
                <a:endParaRPr lang="en-AU" sz="3600" dirty="0">
                  <a:solidFill>
                    <a:srgbClr val="00B0F0"/>
                  </a:solidFill>
                  <a:sym typeface="Wingdings" panose="05000000000000000000" pitchFamily="2" charset="2"/>
                </a:endParaRPr>
              </a:p>
              <a:p>
                <a:endParaRPr lang="en-AU" sz="3600" dirty="0">
                  <a:solidFill>
                    <a:srgbClr val="00B0F0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3600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Y – intercept  (when x = 0) where the line crosses the y (vertical) axis “c”.</a:t>
                </a:r>
              </a:p>
              <a:p>
                <a:endParaRPr lang="en-AU" sz="3600" dirty="0">
                  <a:solidFill>
                    <a:srgbClr val="00B0F0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3600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Rule format: 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𝑚𝑥</m:t>
                    </m:r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sz="3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3600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 </a:t>
                </a:r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BDCEA8-39EE-4045-9F37-E99486E4E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359" y="1970843"/>
                <a:ext cx="7803472" cy="3668312"/>
              </a:xfrm>
              <a:prstGeom prst="rect">
                <a:avLst/>
              </a:prstGeom>
              <a:blipFill>
                <a:blip r:embed="rId2"/>
                <a:stretch>
                  <a:fillRect l="-2342" r="-312" b="-51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445162"/>
      </p:ext>
    </p:extLst>
  </p:cSld>
  <p:clrMapOvr>
    <a:masterClrMapping/>
  </p:clrMapOvr>
  <p:transition spd="med" advClick="0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>
            <a:extLst>
              <a:ext uri="{FF2B5EF4-FFF2-40B4-BE49-F238E27FC236}">
                <a16:creationId xmlns:a16="http://schemas.microsoft.com/office/drawing/2014/main" id="{4FC7887C-E9E3-4E76-960A-40F1635AB7C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41313"/>
            <a:ext cx="6484938" cy="6553200"/>
            <a:chOff x="263" y="192"/>
            <a:chExt cx="4085" cy="4128"/>
          </a:xfrm>
        </p:grpSpPr>
        <p:grpSp>
          <p:nvGrpSpPr>
            <p:cNvPr id="12304" name="Group 3">
              <a:extLst>
                <a:ext uri="{FF2B5EF4-FFF2-40B4-BE49-F238E27FC236}">
                  <a16:creationId xmlns:a16="http://schemas.microsoft.com/office/drawing/2014/main" id="{EF8FB2BB-5AB2-4C11-A1B2-4D98B48ED4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2312" name="Group 4">
                <a:extLst>
                  <a:ext uri="{FF2B5EF4-FFF2-40B4-BE49-F238E27FC236}">
                    <a16:creationId xmlns:a16="http://schemas.microsoft.com/office/drawing/2014/main" id="{59B5D402-8615-43FD-B9A0-610867660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2314" name="Group 5">
                  <a:extLst>
                    <a:ext uri="{FF2B5EF4-FFF2-40B4-BE49-F238E27FC236}">
                      <a16:creationId xmlns:a16="http://schemas.microsoft.com/office/drawing/2014/main" id="{68DC31D8-F7C1-499C-A818-DCE0B1D142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2324" name="Group 6">
                    <a:extLst>
                      <a:ext uri="{FF2B5EF4-FFF2-40B4-BE49-F238E27FC236}">
                        <a16:creationId xmlns:a16="http://schemas.microsoft.com/office/drawing/2014/main" id="{16B99C95-1113-4D76-B6BA-B541D423AD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2326" name="Text Box 7">
                      <a:extLst>
                        <a:ext uri="{FF2B5EF4-FFF2-40B4-BE49-F238E27FC236}">
                          <a16:creationId xmlns:a16="http://schemas.microsoft.com/office/drawing/2014/main" id="{206B977A-177D-4DBE-9CB8-E29FD0F663A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p:txBody>
                </p:sp>
                <p:grpSp>
                  <p:nvGrpSpPr>
                    <p:cNvPr id="12327" name="Group 8">
                      <a:extLst>
                        <a:ext uri="{FF2B5EF4-FFF2-40B4-BE49-F238E27FC236}">
                          <a16:creationId xmlns:a16="http://schemas.microsoft.com/office/drawing/2014/main" id="{B019D964-C1B0-46B5-B9E4-38024711C26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2331" name="Group 9">
                        <a:extLst>
                          <a:ext uri="{FF2B5EF4-FFF2-40B4-BE49-F238E27FC236}">
                            <a16:creationId xmlns:a16="http://schemas.microsoft.com/office/drawing/2014/main" id="{2C62AB84-BF37-4C3E-AC23-86021E4AB4E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73" name="Line 10">
                          <a:extLst>
                            <a:ext uri="{FF2B5EF4-FFF2-40B4-BE49-F238E27FC236}">
                              <a16:creationId xmlns:a16="http://schemas.microsoft.com/office/drawing/2014/main" id="{7CF81619-E687-4C47-840C-F727E73B75A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4" name="Line 11">
                          <a:extLst>
                            <a:ext uri="{FF2B5EF4-FFF2-40B4-BE49-F238E27FC236}">
                              <a16:creationId xmlns:a16="http://schemas.microsoft.com/office/drawing/2014/main" id="{5FC1A39D-811C-40B0-B7AF-BE141FDAF2D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5" name="Line 12">
                          <a:extLst>
                            <a:ext uri="{FF2B5EF4-FFF2-40B4-BE49-F238E27FC236}">
                              <a16:creationId xmlns:a16="http://schemas.microsoft.com/office/drawing/2014/main" id="{568699E7-1F22-4D0C-93F0-2898D24864C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6" name="Line 13">
                          <a:extLst>
                            <a:ext uri="{FF2B5EF4-FFF2-40B4-BE49-F238E27FC236}">
                              <a16:creationId xmlns:a16="http://schemas.microsoft.com/office/drawing/2014/main" id="{39E196DC-0B5C-4ECC-AA21-B13810EB44F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2" name="Group 14">
                        <a:extLst>
                          <a:ext uri="{FF2B5EF4-FFF2-40B4-BE49-F238E27FC236}">
                            <a16:creationId xmlns:a16="http://schemas.microsoft.com/office/drawing/2014/main" id="{EC3C6030-7EB8-4485-912D-8387313D466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9" name="Line 15">
                          <a:extLst>
                            <a:ext uri="{FF2B5EF4-FFF2-40B4-BE49-F238E27FC236}">
                              <a16:creationId xmlns:a16="http://schemas.microsoft.com/office/drawing/2014/main" id="{A57072F7-FF06-4CD0-B01E-D1CF0CF7979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0" name="Line 16">
                          <a:extLst>
                            <a:ext uri="{FF2B5EF4-FFF2-40B4-BE49-F238E27FC236}">
                              <a16:creationId xmlns:a16="http://schemas.microsoft.com/office/drawing/2014/main" id="{81C7E156-2D9C-4663-82ED-AAE1C1EFCBD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1" name="Line 17">
                          <a:extLst>
                            <a:ext uri="{FF2B5EF4-FFF2-40B4-BE49-F238E27FC236}">
                              <a16:creationId xmlns:a16="http://schemas.microsoft.com/office/drawing/2014/main" id="{63F44765-284E-4D6F-9133-1FD4EECA99A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72" name="Line 18">
                          <a:extLst>
                            <a:ext uri="{FF2B5EF4-FFF2-40B4-BE49-F238E27FC236}">
                              <a16:creationId xmlns:a16="http://schemas.microsoft.com/office/drawing/2014/main" id="{A5B44017-E9AF-46C1-B8F0-07812939A64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3" name="Group 19">
                        <a:extLst>
                          <a:ext uri="{FF2B5EF4-FFF2-40B4-BE49-F238E27FC236}">
                            <a16:creationId xmlns:a16="http://schemas.microsoft.com/office/drawing/2014/main" id="{8E766EE1-D08F-4A13-8248-92896C31BC2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5" name="Line 20">
                          <a:extLst>
                            <a:ext uri="{FF2B5EF4-FFF2-40B4-BE49-F238E27FC236}">
                              <a16:creationId xmlns:a16="http://schemas.microsoft.com/office/drawing/2014/main" id="{193ECD97-DF46-46ED-BD31-623BFA51071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6" name="Line 21">
                          <a:extLst>
                            <a:ext uri="{FF2B5EF4-FFF2-40B4-BE49-F238E27FC236}">
                              <a16:creationId xmlns:a16="http://schemas.microsoft.com/office/drawing/2014/main" id="{54FAD10E-AF1E-48A8-8E1F-09F4A0DE1F1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7" name="Line 22">
                          <a:extLst>
                            <a:ext uri="{FF2B5EF4-FFF2-40B4-BE49-F238E27FC236}">
                              <a16:creationId xmlns:a16="http://schemas.microsoft.com/office/drawing/2014/main" id="{CBD68EDA-FD21-4C4C-B60B-D70EFBC5D33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8" name="Line 23">
                          <a:extLst>
                            <a:ext uri="{FF2B5EF4-FFF2-40B4-BE49-F238E27FC236}">
                              <a16:creationId xmlns:a16="http://schemas.microsoft.com/office/drawing/2014/main" id="{8F66B869-59C2-47A1-9C09-45CF3417C36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4" name="Group 24">
                        <a:extLst>
                          <a:ext uri="{FF2B5EF4-FFF2-40B4-BE49-F238E27FC236}">
                            <a16:creationId xmlns:a16="http://schemas.microsoft.com/office/drawing/2014/main" id="{0BF62586-C249-4399-A5DB-F005DF75E33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1" name="Line 25">
                          <a:extLst>
                            <a:ext uri="{FF2B5EF4-FFF2-40B4-BE49-F238E27FC236}">
                              <a16:creationId xmlns:a16="http://schemas.microsoft.com/office/drawing/2014/main" id="{A6E55ADC-7827-4D69-8C44-49A5F6F9203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2" name="Line 26">
                          <a:extLst>
                            <a:ext uri="{FF2B5EF4-FFF2-40B4-BE49-F238E27FC236}">
                              <a16:creationId xmlns:a16="http://schemas.microsoft.com/office/drawing/2014/main" id="{35002E59-255D-45EB-90BB-2E396C82FA5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3" name="Line 27">
                          <a:extLst>
                            <a:ext uri="{FF2B5EF4-FFF2-40B4-BE49-F238E27FC236}">
                              <a16:creationId xmlns:a16="http://schemas.microsoft.com/office/drawing/2014/main" id="{A1CA8691-FD87-4744-844E-CCC2B683B73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4" name="Line 28">
                          <a:extLst>
                            <a:ext uri="{FF2B5EF4-FFF2-40B4-BE49-F238E27FC236}">
                              <a16:creationId xmlns:a16="http://schemas.microsoft.com/office/drawing/2014/main" id="{16606CAD-D4D2-44CE-A8F4-683A0BD4A8F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5" name="Group 29">
                        <a:extLst>
                          <a:ext uri="{FF2B5EF4-FFF2-40B4-BE49-F238E27FC236}">
                            <a16:creationId xmlns:a16="http://schemas.microsoft.com/office/drawing/2014/main" id="{4EFB0C9E-245F-45D4-ACB5-BEE66868B69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57" name="Line 30">
                          <a:extLst>
                            <a:ext uri="{FF2B5EF4-FFF2-40B4-BE49-F238E27FC236}">
                              <a16:creationId xmlns:a16="http://schemas.microsoft.com/office/drawing/2014/main" id="{C15DDB9C-1B4C-4D00-B5E8-B2E188AD79E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8" name="Line 31">
                          <a:extLst>
                            <a:ext uri="{FF2B5EF4-FFF2-40B4-BE49-F238E27FC236}">
                              <a16:creationId xmlns:a16="http://schemas.microsoft.com/office/drawing/2014/main" id="{DF0BED57-1B03-47E2-B800-FC131D865C3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9" name="Line 32">
                          <a:extLst>
                            <a:ext uri="{FF2B5EF4-FFF2-40B4-BE49-F238E27FC236}">
                              <a16:creationId xmlns:a16="http://schemas.microsoft.com/office/drawing/2014/main" id="{CDDE8A12-F25E-4B21-A5DD-AFA1C2A4BD9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60" name="Line 33">
                          <a:extLst>
                            <a:ext uri="{FF2B5EF4-FFF2-40B4-BE49-F238E27FC236}">
                              <a16:creationId xmlns:a16="http://schemas.microsoft.com/office/drawing/2014/main" id="{6798DE20-1749-4DD2-812A-BA32A47BC6C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6" name="Group 34">
                        <a:extLst>
                          <a:ext uri="{FF2B5EF4-FFF2-40B4-BE49-F238E27FC236}">
                            <a16:creationId xmlns:a16="http://schemas.microsoft.com/office/drawing/2014/main" id="{33E5EC94-8EB5-4036-B823-DA24D2A59EE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53" name="Line 35">
                          <a:extLst>
                            <a:ext uri="{FF2B5EF4-FFF2-40B4-BE49-F238E27FC236}">
                              <a16:creationId xmlns:a16="http://schemas.microsoft.com/office/drawing/2014/main" id="{91FBD892-AB4F-4230-AB5B-60D09C19406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4" name="Line 36">
                          <a:extLst>
                            <a:ext uri="{FF2B5EF4-FFF2-40B4-BE49-F238E27FC236}">
                              <a16:creationId xmlns:a16="http://schemas.microsoft.com/office/drawing/2014/main" id="{9F90A6D1-66A0-44B5-AE8E-7051127EF25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5" name="Line 37">
                          <a:extLst>
                            <a:ext uri="{FF2B5EF4-FFF2-40B4-BE49-F238E27FC236}">
                              <a16:creationId xmlns:a16="http://schemas.microsoft.com/office/drawing/2014/main" id="{0A39334D-F780-4F4A-9566-18444F36DD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6" name="Line 38">
                          <a:extLst>
                            <a:ext uri="{FF2B5EF4-FFF2-40B4-BE49-F238E27FC236}">
                              <a16:creationId xmlns:a16="http://schemas.microsoft.com/office/drawing/2014/main" id="{57268F4B-CE6B-4477-A288-10924E2A837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7" name="Group 39">
                        <a:extLst>
                          <a:ext uri="{FF2B5EF4-FFF2-40B4-BE49-F238E27FC236}">
                            <a16:creationId xmlns:a16="http://schemas.microsoft.com/office/drawing/2014/main" id="{BCFD0B35-C680-4509-ADBF-354A8598360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9" name="Line 40">
                          <a:extLst>
                            <a:ext uri="{FF2B5EF4-FFF2-40B4-BE49-F238E27FC236}">
                              <a16:creationId xmlns:a16="http://schemas.microsoft.com/office/drawing/2014/main" id="{8B436117-8C85-48F0-8737-E008201D613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0" name="Line 41">
                          <a:extLst>
                            <a:ext uri="{FF2B5EF4-FFF2-40B4-BE49-F238E27FC236}">
                              <a16:creationId xmlns:a16="http://schemas.microsoft.com/office/drawing/2014/main" id="{70822DF3-2CA9-4669-B423-4FA7BECA282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1" name="Line 42">
                          <a:extLst>
                            <a:ext uri="{FF2B5EF4-FFF2-40B4-BE49-F238E27FC236}">
                              <a16:creationId xmlns:a16="http://schemas.microsoft.com/office/drawing/2014/main" id="{1C1406A2-826E-4C4E-AAC8-95D531A4934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52" name="Line 43">
                          <a:extLst>
                            <a:ext uri="{FF2B5EF4-FFF2-40B4-BE49-F238E27FC236}">
                              <a16:creationId xmlns:a16="http://schemas.microsoft.com/office/drawing/2014/main" id="{F26290D2-C6A0-4D28-9867-6403C221D5B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8" name="Group 44">
                        <a:extLst>
                          <a:ext uri="{FF2B5EF4-FFF2-40B4-BE49-F238E27FC236}">
                            <a16:creationId xmlns:a16="http://schemas.microsoft.com/office/drawing/2014/main" id="{09595E99-D495-4F3B-8033-12B020DB293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5" name="Line 45">
                          <a:extLst>
                            <a:ext uri="{FF2B5EF4-FFF2-40B4-BE49-F238E27FC236}">
                              <a16:creationId xmlns:a16="http://schemas.microsoft.com/office/drawing/2014/main" id="{FCFFA31F-0E87-49EB-9C69-1445E8E496A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6" name="Line 46">
                          <a:extLst>
                            <a:ext uri="{FF2B5EF4-FFF2-40B4-BE49-F238E27FC236}">
                              <a16:creationId xmlns:a16="http://schemas.microsoft.com/office/drawing/2014/main" id="{61F1F535-D34F-4334-ACB3-D5C76301BB0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7" name="Line 47">
                          <a:extLst>
                            <a:ext uri="{FF2B5EF4-FFF2-40B4-BE49-F238E27FC236}">
                              <a16:creationId xmlns:a16="http://schemas.microsoft.com/office/drawing/2014/main" id="{E4EB6BDB-F464-4342-A215-7556050A95D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8" name="Line 48">
                          <a:extLst>
                            <a:ext uri="{FF2B5EF4-FFF2-40B4-BE49-F238E27FC236}">
                              <a16:creationId xmlns:a16="http://schemas.microsoft.com/office/drawing/2014/main" id="{B5AC284C-ADFF-4F64-A8F7-628FF08EB9F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2339" name="Group 49">
                        <a:extLst>
                          <a:ext uri="{FF2B5EF4-FFF2-40B4-BE49-F238E27FC236}">
                            <a16:creationId xmlns:a16="http://schemas.microsoft.com/office/drawing/2014/main" id="{89EDEAD9-4D3F-4868-B2B2-2E1644055B1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1" name="Line 50">
                          <a:extLst>
                            <a:ext uri="{FF2B5EF4-FFF2-40B4-BE49-F238E27FC236}">
                              <a16:creationId xmlns:a16="http://schemas.microsoft.com/office/drawing/2014/main" id="{0D20BD99-E069-439E-A20B-B41DE6CB69E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2" name="Line 51">
                          <a:extLst>
                            <a:ext uri="{FF2B5EF4-FFF2-40B4-BE49-F238E27FC236}">
                              <a16:creationId xmlns:a16="http://schemas.microsoft.com/office/drawing/2014/main" id="{06DDBC4C-51D8-431A-AAB2-0E76C55635F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3" name="Line 52">
                          <a:extLst>
                            <a:ext uri="{FF2B5EF4-FFF2-40B4-BE49-F238E27FC236}">
                              <a16:creationId xmlns:a16="http://schemas.microsoft.com/office/drawing/2014/main" id="{63D63C80-6122-4148-B973-B518EA671E3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2344" name="Line 53">
                          <a:extLst>
                            <a:ext uri="{FF2B5EF4-FFF2-40B4-BE49-F238E27FC236}">
                              <a16:creationId xmlns:a16="http://schemas.microsoft.com/office/drawing/2014/main" id="{CFDBCF7E-FE6A-4D99-AE24-F2F5E568EE9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2340" name="Line 54">
                        <a:extLst>
                          <a:ext uri="{FF2B5EF4-FFF2-40B4-BE49-F238E27FC236}">
                            <a16:creationId xmlns:a16="http://schemas.microsoft.com/office/drawing/2014/main" id="{B0FD2C8A-B1E0-4B8E-9A24-0C4B9DD293D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AU" sz="240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endParaRPr>
                      </a:p>
                    </p:txBody>
                  </p:sp>
                </p:grpSp>
                <p:sp>
                  <p:nvSpPr>
                    <p:cNvPr id="12328" name="Line 55">
                      <a:extLst>
                        <a:ext uri="{FF2B5EF4-FFF2-40B4-BE49-F238E27FC236}">
                          <a16:creationId xmlns:a16="http://schemas.microsoft.com/office/drawing/2014/main" id="{372AE76C-D426-44AA-909E-0778E75E83A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2329" name="Line 56">
                      <a:extLst>
                        <a:ext uri="{FF2B5EF4-FFF2-40B4-BE49-F238E27FC236}">
                          <a16:creationId xmlns:a16="http://schemas.microsoft.com/office/drawing/2014/main" id="{B7AF672A-4DFE-4C74-A2E5-618113280FE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2330" name="Text Box 57">
                      <a:extLst>
                        <a:ext uri="{FF2B5EF4-FFF2-40B4-BE49-F238E27FC236}">
                          <a16:creationId xmlns:a16="http://schemas.microsoft.com/office/drawing/2014/main" id="{F0B92BB1-F675-4BBF-8891-AD140E71CA4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4874" name="Text Box 58">
                    <a:extLst>
                      <a:ext uri="{FF2B5EF4-FFF2-40B4-BE49-F238E27FC236}">
                        <a16:creationId xmlns:a16="http://schemas.microsoft.com/office/drawing/2014/main" id="{D2A2DA3B-2AE8-4F1F-A1F5-8451107025E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2315" name="Group 59">
                  <a:extLst>
                    <a:ext uri="{FF2B5EF4-FFF2-40B4-BE49-F238E27FC236}">
                      <a16:creationId xmlns:a16="http://schemas.microsoft.com/office/drawing/2014/main" id="{607FCE13-F19D-4E74-8681-85F08B7F65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4876" name="Text Box 60">
                    <a:extLst>
                      <a:ext uri="{FF2B5EF4-FFF2-40B4-BE49-F238E27FC236}">
                        <a16:creationId xmlns:a16="http://schemas.microsoft.com/office/drawing/2014/main" id="{DE32FDD3-1BE7-43EF-B31E-868C6108D2A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1</a:t>
                    </a:r>
                  </a:p>
                </p:txBody>
              </p:sp>
              <p:sp>
                <p:nvSpPr>
                  <p:cNvPr id="34877" name="Text Box 61">
                    <a:extLst>
                      <a:ext uri="{FF2B5EF4-FFF2-40B4-BE49-F238E27FC236}">
                        <a16:creationId xmlns:a16="http://schemas.microsoft.com/office/drawing/2014/main" id="{BB2C5319-5A4F-4CF0-8A85-EDCE06CCAA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2</a:t>
                    </a:r>
                  </a:p>
                </p:txBody>
              </p:sp>
              <p:sp>
                <p:nvSpPr>
                  <p:cNvPr id="34878" name="Text Box 62">
                    <a:extLst>
                      <a:ext uri="{FF2B5EF4-FFF2-40B4-BE49-F238E27FC236}">
                        <a16:creationId xmlns:a16="http://schemas.microsoft.com/office/drawing/2014/main" id="{89418E09-F0BE-45C7-B4CF-68A18345CF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3</a:t>
                    </a:r>
                  </a:p>
                </p:txBody>
              </p:sp>
              <p:sp>
                <p:nvSpPr>
                  <p:cNvPr id="34879" name="Text Box 63">
                    <a:extLst>
                      <a:ext uri="{FF2B5EF4-FFF2-40B4-BE49-F238E27FC236}">
                        <a16:creationId xmlns:a16="http://schemas.microsoft.com/office/drawing/2014/main" id="{EC072BA5-76C9-4531-861B-596A5B4A6D2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4</a:t>
                    </a:r>
                  </a:p>
                </p:txBody>
              </p:sp>
              <p:sp>
                <p:nvSpPr>
                  <p:cNvPr id="34880" name="Text Box 64">
                    <a:extLst>
                      <a:ext uri="{FF2B5EF4-FFF2-40B4-BE49-F238E27FC236}">
                        <a16:creationId xmlns:a16="http://schemas.microsoft.com/office/drawing/2014/main" id="{AB82F838-2684-423A-8B36-EEBCE2C93C4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5</a:t>
                    </a:r>
                  </a:p>
                </p:txBody>
              </p:sp>
              <p:sp>
                <p:nvSpPr>
                  <p:cNvPr id="34881" name="Text Box 65">
                    <a:extLst>
                      <a:ext uri="{FF2B5EF4-FFF2-40B4-BE49-F238E27FC236}">
                        <a16:creationId xmlns:a16="http://schemas.microsoft.com/office/drawing/2014/main" id="{99938CC7-6097-4264-8A41-256125ECDE4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6</a:t>
                    </a:r>
                  </a:p>
                </p:txBody>
              </p:sp>
              <p:sp>
                <p:nvSpPr>
                  <p:cNvPr id="34882" name="Text Box 66">
                    <a:extLst>
                      <a:ext uri="{FF2B5EF4-FFF2-40B4-BE49-F238E27FC236}">
                        <a16:creationId xmlns:a16="http://schemas.microsoft.com/office/drawing/2014/main" id="{CC58F727-4FA0-4055-9E57-870132A1DA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7</a:t>
                    </a:r>
                  </a:p>
                </p:txBody>
              </p:sp>
              <p:sp>
                <p:nvSpPr>
                  <p:cNvPr id="34883" name="Text Box 67">
                    <a:extLst>
                      <a:ext uri="{FF2B5EF4-FFF2-40B4-BE49-F238E27FC236}">
                        <a16:creationId xmlns:a16="http://schemas.microsoft.com/office/drawing/2014/main" id="{E02A87F4-2C4A-451E-B858-E6D7CF8A3D9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4884" name="Text Box 68">
                <a:extLst>
                  <a:ext uri="{FF2B5EF4-FFF2-40B4-BE49-F238E27FC236}">
                    <a16:creationId xmlns:a16="http://schemas.microsoft.com/office/drawing/2014/main" id="{C2B3FC62-373E-45F0-8FBA-03F05C69E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 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7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 </a:t>
                </a:r>
              </a:p>
            </p:txBody>
          </p:sp>
        </p:grpSp>
        <p:grpSp>
          <p:nvGrpSpPr>
            <p:cNvPr id="12305" name="Group 69">
              <a:extLst>
                <a:ext uri="{FF2B5EF4-FFF2-40B4-BE49-F238E27FC236}">
                  <a16:creationId xmlns:a16="http://schemas.microsoft.com/office/drawing/2014/main" id="{7C83547A-7138-4C25-87FD-41619AC5A0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4886" name="Text Box 70">
                <a:extLst>
                  <a:ext uri="{FF2B5EF4-FFF2-40B4-BE49-F238E27FC236}">
                    <a16:creationId xmlns:a16="http://schemas.microsoft.com/office/drawing/2014/main" id="{457F1C64-E3F1-48E3-BC03-FC6EFBA399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34887" name="Text Box 71">
                <a:extLst>
                  <a:ext uri="{FF2B5EF4-FFF2-40B4-BE49-F238E27FC236}">
                    <a16:creationId xmlns:a16="http://schemas.microsoft.com/office/drawing/2014/main" id="{7BD380A6-E181-42F9-B3D8-75259CB53E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34888" name="Text Box 72">
                <a:extLst>
                  <a:ext uri="{FF2B5EF4-FFF2-40B4-BE49-F238E27FC236}">
                    <a16:creationId xmlns:a16="http://schemas.microsoft.com/office/drawing/2014/main" id="{C0BFB001-16C6-44E0-AF8C-49DC10EF5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</a:t>
                </a:r>
              </a:p>
            </p:txBody>
          </p:sp>
          <p:sp>
            <p:nvSpPr>
              <p:cNvPr id="34889" name="Text Box 73">
                <a:extLst>
                  <a:ext uri="{FF2B5EF4-FFF2-40B4-BE49-F238E27FC236}">
                    <a16:creationId xmlns:a16="http://schemas.microsoft.com/office/drawing/2014/main" id="{D8E5FB3F-109B-41C5-A549-4E2F584131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</a:t>
                </a:r>
              </a:p>
            </p:txBody>
          </p:sp>
          <p:sp>
            <p:nvSpPr>
              <p:cNvPr id="34890" name="Text Box 74">
                <a:extLst>
                  <a:ext uri="{FF2B5EF4-FFF2-40B4-BE49-F238E27FC236}">
                    <a16:creationId xmlns:a16="http://schemas.microsoft.com/office/drawing/2014/main" id="{C86341B8-355A-43B8-9585-88CEF9A7D5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</a:t>
                </a:r>
              </a:p>
            </p:txBody>
          </p:sp>
          <p:sp>
            <p:nvSpPr>
              <p:cNvPr id="34891" name="Text Box 75">
                <a:extLst>
                  <a:ext uri="{FF2B5EF4-FFF2-40B4-BE49-F238E27FC236}">
                    <a16:creationId xmlns:a16="http://schemas.microsoft.com/office/drawing/2014/main" id="{AA9C6ED8-AD93-4FBD-8D8D-D9ADAFD0B6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</a:t>
                </a:r>
              </a:p>
            </p:txBody>
          </p:sp>
        </p:grpSp>
      </p:grpSp>
      <p:sp>
        <p:nvSpPr>
          <p:cNvPr id="34892" name="Line 76">
            <a:extLst>
              <a:ext uri="{FF2B5EF4-FFF2-40B4-BE49-F238E27FC236}">
                <a16:creationId xmlns:a16="http://schemas.microsoft.com/office/drawing/2014/main" id="{30F4EF65-422D-42D7-B528-C51CD32166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9413" y="1041401"/>
            <a:ext cx="2711450" cy="54006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4894" name="Text Box 78">
            <a:extLst>
              <a:ext uri="{FF2B5EF4-FFF2-40B4-BE49-F238E27FC236}">
                <a16:creationId xmlns:a16="http://schemas.microsoft.com/office/drawing/2014/main" id="{5F2E79CC-6FDC-4D4C-97D6-F7F62868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524001"/>
            <a:ext cx="2895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 u="sng">
                <a:solidFill>
                  <a:srgbClr val="000000"/>
                </a:solidFill>
                <a:latin typeface="Arial" charset="0"/>
              </a:rPr>
              <a:t>Find the Value of c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This is the point at which the line crosses the y-axis.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895" name="Oval 79">
            <a:extLst>
              <a:ext uri="{FF2B5EF4-FFF2-40B4-BE49-F238E27FC236}">
                <a16:creationId xmlns:a16="http://schemas.microsoft.com/office/drawing/2014/main" id="{980709B9-F290-4D59-9EAE-41EF15AC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6" y="3205163"/>
            <a:ext cx="157163" cy="17621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4897" name="Text Box 81">
            <a:extLst>
              <a:ext uri="{FF2B5EF4-FFF2-40B4-BE49-F238E27FC236}">
                <a16:creationId xmlns:a16="http://schemas.microsoft.com/office/drawing/2014/main" id="{BB5ED509-7E10-4FB1-874F-FD8C96AEF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505201"/>
            <a:ext cx="2667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 u="sng">
                <a:solidFill>
                  <a:srgbClr val="000000"/>
                </a:solidFill>
                <a:latin typeface="Arial" charset="0"/>
              </a:rPr>
              <a:t>Find the Value of m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The gradient means the rate at which the line is climbing.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Each time the lines moves 1 place to the right, it climbs up by 2 places.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898" name="Line 82">
            <a:extLst>
              <a:ext uri="{FF2B5EF4-FFF2-40B4-BE49-F238E27FC236}">
                <a16:creationId xmlns:a16="http://schemas.microsoft.com/office/drawing/2014/main" id="{AA08976D-3F7E-4EE4-A0DE-EDDFB29A1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1564" y="2573338"/>
            <a:ext cx="35877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4899" name="Line 83">
            <a:extLst>
              <a:ext uri="{FF2B5EF4-FFF2-40B4-BE49-F238E27FC236}">
                <a16:creationId xmlns:a16="http://schemas.microsoft.com/office/drawing/2014/main" id="{9CACDE13-9A02-4BC1-8508-3149964B15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0338" y="1849438"/>
            <a:ext cx="0" cy="7223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4902" name="Rectangle 86">
            <a:extLst>
              <a:ext uri="{FF2B5EF4-FFF2-40B4-BE49-F238E27FC236}">
                <a16:creationId xmlns:a16="http://schemas.microsoft.com/office/drawing/2014/main" id="{A5453CAD-221A-4187-AA5B-869128798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86400" y="-76200"/>
            <a:ext cx="441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x-none">
                <a:latin typeface="Arial" charset="0"/>
              </a:rPr>
              <a:t>Finding m and c</a:t>
            </a:r>
          </a:p>
        </p:txBody>
      </p:sp>
      <p:sp>
        <p:nvSpPr>
          <p:cNvPr id="34903" name="Line 87">
            <a:extLst>
              <a:ext uri="{FF2B5EF4-FFF2-40B4-BE49-F238E27FC236}">
                <a16:creationId xmlns:a16="http://schemas.microsoft.com/office/drawing/2014/main" id="{E0FA7CEB-772D-4DB1-8B0B-09C36505F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114" y="5276851"/>
            <a:ext cx="1709737" cy="7270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4904" name="Text Box 88">
            <a:extLst>
              <a:ext uri="{FF2B5EF4-FFF2-40B4-BE49-F238E27FC236}">
                <a16:creationId xmlns:a16="http://schemas.microsoft.com/office/drawing/2014/main" id="{8B749ED8-8470-46B6-B2C1-A1E81BD4A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5786438"/>
            <a:ext cx="1439862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>
                <a:solidFill>
                  <a:srgbClr val="3333CC"/>
                </a:solidFill>
                <a:latin typeface="Arial" charset="0"/>
              </a:rPr>
              <a:t>y = 2x +3</a:t>
            </a:r>
          </a:p>
        </p:txBody>
      </p:sp>
      <p:sp>
        <p:nvSpPr>
          <p:cNvPr id="34905" name="Text Box 89">
            <a:extLst>
              <a:ext uri="{FF2B5EF4-FFF2-40B4-BE49-F238E27FC236}">
                <a16:creationId xmlns:a16="http://schemas.microsoft.com/office/drawing/2014/main" id="{5F3A5FBC-4F1E-4C43-A7C8-BB37633B4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5786438"/>
            <a:ext cx="1439862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>
                <a:solidFill>
                  <a:srgbClr val="3333CC"/>
                </a:solidFill>
                <a:latin typeface="Arial" charset="0"/>
              </a:rPr>
              <a:t>y = mx +c</a:t>
            </a:r>
          </a:p>
        </p:txBody>
      </p:sp>
      <p:sp>
        <p:nvSpPr>
          <p:cNvPr id="34907" name="Text Box 91">
            <a:extLst>
              <a:ext uri="{FF2B5EF4-FFF2-40B4-BE49-F238E27FC236}">
                <a16:creationId xmlns:a16="http://schemas.microsoft.com/office/drawing/2014/main" id="{8E4B482C-BE62-4C4B-9AA2-991BEE8D4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0" y="2997201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So </a:t>
            </a:r>
            <a:r>
              <a:rPr lang="en-GB" altLang="x-none" sz="2000" b="1">
                <a:solidFill>
                  <a:srgbClr val="000000"/>
                </a:solidFill>
                <a:latin typeface="Arial" charset="0"/>
              </a:rPr>
              <a:t>c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= 3</a:t>
            </a:r>
          </a:p>
        </p:txBody>
      </p:sp>
      <p:sp>
        <p:nvSpPr>
          <p:cNvPr id="34908" name="Text Box 92">
            <a:extLst>
              <a:ext uri="{FF2B5EF4-FFF2-40B4-BE49-F238E27FC236}">
                <a16:creationId xmlns:a16="http://schemas.microsoft.com/office/drawing/2014/main" id="{B83DDE26-0367-456C-8C61-DF6EB683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5943601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So </a:t>
            </a:r>
            <a:r>
              <a:rPr lang="en-GB" altLang="x-none" sz="2000" b="1">
                <a:solidFill>
                  <a:srgbClr val="000000"/>
                </a:solidFill>
                <a:latin typeface="Arial" charset="0"/>
              </a:rPr>
              <a:t>m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= 2</a:t>
            </a:r>
          </a:p>
        </p:txBody>
      </p:sp>
      <p:sp>
        <p:nvSpPr>
          <p:cNvPr id="34911" name="Text Box 95">
            <a:extLst>
              <a:ext uri="{FF2B5EF4-FFF2-40B4-BE49-F238E27FC236}">
                <a16:creationId xmlns:a16="http://schemas.microsoft.com/office/drawing/2014/main" id="{6F180B18-106C-4015-BD05-96344AF3C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770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Verdana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Verdana" charset="0"/>
            </a:endParaRPr>
          </a:p>
        </p:txBody>
      </p:sp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94" grpId="0" autoUpdateAnimBg="0"/>
      <p:bldP spid="34895" grpId="0" animBg="1"/>
      <p:bldP spid="34897" grpId="0" autoUpdateAnimBg="0"/>
      <p:bldP spid="34902" grpId="0" autoUpdateAnimBg="0"/>
      <p:bldP spid="34904" grpId="0" animBg="1" autoUpdateAnimBg="0"/>
      <p:bldP spid="34905" grpId="0" animBg="1" autoUpdateAnimBg="0"/>
      <p:bldP spid="34907" grpId="0" animBg="1" autoUpdateAnimBg="0"/>
      <p:bldP spid="3490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>
            <a:extLst>
              <a:ext uri="{FF2B5EF4-FFF2-40B4-BE49-F238E27FC236}">
                <a16:creationId xmlns:a16="http://schemas.microsoft.com/office/drawing/2014/main" id="{9026622F-557C-4176-AE83-2370B5E7929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41313"/>
            <a:ext cx="6484938" cy="6553200"/>
            <a:chOff x="263" y="192"/>
            <a:chExt cx="4085" cy="4128"/>
          </a:xfrm>
        </p:grpSpPr>
        <p:grpSp>
          <p:nvGrpSpPr>
            <p:cNvPr id="13328" name="Group 3">
              <a:extLst>
                <a:ext uri="{FF2B5EF4-FFF2-40B4-BE49-F238E27FC236}">
                  <a16:creationId xmlns:a16="http://schemas.microsoft.com/office/drawing/2014/main" id="{CB8138A8-ABFC-44F8-945D-E690CE710D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3336" name="Group 4">
                <a:extLst>
                  <a:ext uri="{FF2B5EF4-FFF2-40B4-BE49-F238E27FC236}">
                    <a16:creationId xmlns:a16="http://schemas.microsoft.com/office/drawing/2014/main" id="{128EF7F0-1300-484A-97EA-C3F0EEBB2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3338" name="Group 5">
                  <a:extLst>
                    <a:ext uri="{FF2B5EF4-FFF2-40B4-BE49-F238E27FC236}">
                      <a16:creationId xmlns:a16="http://schemas.microsoft.com/office/drawing/2014/main" id="{8C544801-8BD8-4C01-B6E8-F4DB2A9040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3348" name="Group 6">
                    <a:extLst>
                      <a:ext uri="{FF2B5EF4-FFF2-40B4-BE49-F238E27FC236}">
                        <a16:creationId xmlns:a16="http://schemas.microsoft.com/office/drawing/2014/main" id="{38FBD0F4-5778-4725-91B1-653BDEA5196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3350" name="Text Box 7">
                      <a:extLst>
                        <a:ext uri="{FF2B5EF4-FFF2-40B4-BE49-F238E27FC236}">
                          <a16:creationId xmlns:a16="http://schemas.microsoft.com/office/drawing/2014/main" id="{F59594D9-C993-4BE0-A4FD-EB3B6DA56AA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</a:rPr>
                        <a:t>y</a:t>
                      </a:r>
                    </a:p>
                  </p:txBody>
                </p:sp>
                <p:grpSp>
                  <p:nvGrpSpPr>
                    <p:cNvPr id="13351" name="Group 8">
                      <a:extLst>
                        <a:ext uri="{FF2B5EF4-FFF2-40B4-BE49-F238E27FC236}">
                          <a16:creationId xmlns:a16="http://schemas.microsoft.com/office/drawing/2014/main" id="{921D06E8-F5F6-48B2-9A6A-5D1D9912C4E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3355" name="Group 9">
                        <a:extLst>
                          <a:ext uri="{FF2B5EF4-FFF2-40B4-BE49-F238E27FC236}">
                            <a16:creationId xmlns:a16="http://schemas.microsoft.com/office/drawing/2014/main" id="{B67574D1-E09D-4C91-82E1-39ADF404A13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97" name="Line 10">
                          <a:extLst>
                            <a:ext uri="{FF2B5EF4-FFF2-40B4-BE49-F238E27FC236}">
                              <a16:creationId xmlns:a16="http://schemas.microsoft.com/office/drawing/2014/main" id="{7827FDE0-6437-479A-BEF4-0E0872AB7D8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8" name="Line 11">
                          <a:extLst>
                            <a:ext uri="{FF2B5EF4-FFF2-40B4-BE49-F238E27FC236}">
                              <a16:creationId xmlns:a16="http://schemas.microsoft.com/office/drawing/2014/main" id="{7679077D-9A8C-483E-91E1-29C9CB80EFF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9" name="Line 12">
                          <a:extLst>
                            <a:ext uri="{FF2B5EF4-FFF2-40B4-BE49-F238E27FC236}">
                              <a16:creationId xmlns:a16="http://schemas.microsoft.com/office/drawing/2014/main" id="{7F35543F-ED6A-4212-B22C-09E84DC09A8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400" name="Line 13">
                          <a:extLst>
                            <a:ext uri="{FF2B5EF4-FFF2-40B4-BE49-F238E27FC236}">
                              <a16:creationId xmlns:a16="http://schemas.microsoft.com/office/drawing/2014/main" id="{65D3C075-86BA-4365-A4D9-76E92A8495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56" name="Group 14">
                        <a:extLst>
                          <a:ext uri="{FF2B5EF4-FFF2-40B4-BE49-F238E27FC236}">
                            <a16:creationId xmlns:a16="http://schemas.microsoft.com/office/drawing/2014/main" id="{AA59AADE-9919-474A-9461-05B0B7A68EC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93" name="Line 15">
                          <a:extLst>
                            <a:ext uri="{FF2B5EF4-FFF2-40B4-BE49-F238E27FC236}">
                              <a16:creationId xmlns:a16="http://schemas.microsoft.com/office/drawing/2014/main" id="{1A10321C-1784-4384-82A8-4BEE3FD2672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4" name="Line 16">
                          <a:extLst>
                            <a:ext uri="{FF2B5EF4-FFF2-40B4-BE49-F238E27FC236}">
                              <a16:creationId xmlns:a16="http://schemas.microsoft.com/office/drawing/2014/main" id="{3C7B6A80-6475-478D-A688-A1FDAA5B6F7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5" name="Line 17">
                          <a:extLst>
                            <a:ext uri="{FF2B5EF4-FFF2-40B4-BE49-F238E27FC236}">
                              <a16:creationId xmlns:a16="http://schemas.microsoft.com/office/drawing/2014/main" id="{38D68CE0-6CFD-4185-B30D-A4ADD95AED8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6" name="Line 18">
                          <a:extLst>
                            <a:ext uri="{FF2B5EF4-FFF2-40B4-BE49-F238E27FC236}">
                              <a16:creationId xmlns:a16="http://schemas.microsoft.com/office/drawing/2014/main" id="{71CC36CA-CF3F-4D94-AA82-3EFC5E6221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57" name="Group 19">
                        <a:extLst>
                          <a:ext uri="{FF2B5EF4-FFF2-40B4-BE49-F238E27FC236}">
                            <a16:creationId xmlns:a16="http://schemas.microsoft.com/office/drawing/2014/main" id="{EB693898-4D3A-4F46-A7F6-176A87896E1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9" name="Line 20">
                          <a:extLst>
                            <a:ext uri="{FF2B5EF4-FFF2-40B4-BE49-F238E27FC236}">
                              <a16:creationId xmlns:a16="http://schemas.microsoft.com/office/drawing/2014/main" id="{0CD1E5E7-98A7-4E73-A7BD-35B1F5506BC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0" name="Line 21">
                          <a:extLst>
                            <a:ext uri="{FF2B5EF4-FFF2-40B4-BE49-F238E27FC236}">
                              <a16:creationId xmlns:a16="http://schemas.microsoft.com/office/drawing/2014/main" id="{0F269036-AE05-4108-8B21-26F52E90908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1" name="Line 22">
                          <a:extLst>
                            <a:ext uri="{FF2B5EF4-FFF2-40B4-BE49-F238E27FC236}">
                              <a16:creationId xmlns:a16="http://schemas.microsoft.com/office/drawing/2014/main" id="{D3481891-28FD-4DB5-94E5-26368EB9383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92" name="Line 23">
                          <a:extLst>
                            <a:ext uri="{FF2B5EF4-FFF2-40B4-BE49-F238E27FC236}">
                              <a16:creationId xmlns:a16="http://schemas.microsoft.com/office/drawing/2014/main" id="{339E39AD-C6A9-4536-86CC-7515E0EB403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58" name="Group 24">
                        <a:extLst>
                          <a:ext uri="{FF2B5EF4-FFF2-40B4-BE49-F238E27FC236}">
                            <a16:creationId xmlns:a16="http://schemas.microsoft.com/office/drawing/2014/main" id="{9A0039E4-F5C8-43C9-A405-5CA4BE85659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5" name="Line 25">
                          <a:extLst>
                            <a:ext uri="{FF2B5EF4-FFF2-40B4-BE49-F238E27FC236}">
                              <a16:creationId xmlns:a16="http://schemas.microsoft.com/office/drawing/2014/main" id="{4C74472C-A29F-400B-8F2F-53FC60537FC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6" name="Line 26">
                          <a:extLst>
                            <a:ext uri="{FF2B5EF4-FFF2-40B4-BE49-F238E27FC236}">
                              <a16:creationId xmlns:a16="http://schemas.microsoft.com/office/drawing/2014/main" id="{3F1F0BE8-1977-4642-B10A-A8078317F5E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7" name="Line 27">
                          <a:extLst>
                            <a:ext uri="{FF2B5EF4-FFF2-40B4-BE49-F238E27FC236}">
                              <a16:creationId xmlns:a16="http://schemas.microsoft.com/office/drawing/2014/main" id="{F908B7BB-3C7B-484B-8F6C-663335AA7CB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8" name="Line 28">
                          <a:extLst>
                            <a:ext uri="{FF2B5EF4-FFF2-40B4-BE49-F238E27FC236}">
                              <a16:creationId xmlns:a16="http://schemas.microsoft.com/office/drawing/2014/main" id="{45DD4B8C-A9F6-49DC-9619-F05BD5E5D1D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59" name="Group 29">
                        <a:extLst>
                          <a:ext uri="{FF2B5EF4-FFF2-40B4-BE49-F238E27FC236}">
                            <a16:creationId xmlns:a16="http://schemas.microsoft.com/office/drawing/2014/main" id="{656C41A1-5402-46F9-82CE-1A1B723FA27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1" name="Line 30">
                          <a:extLst>
                            <a:ext uri="{FF2B5EF4-FFF2-40B4-BE49-F238E27FC236}">
                              <a16:creationId xmlns:a16="http://schemas.microsoft.com/office/drawing/2014/main" id="{D0B5DA81-9D8E-4571-8231-D813276531F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2" name="Line 31">
                          <a:extLst>
                            <a:ext uri="{FF2B5EF4-FFF2-40B4-BE49-F238E27FC236}">
                              <a16:creationId xmlns:a16="http://schemas.microsoft.com/office/drawing/2014/main" id="{2A9993B6-06DC-496B-A939-0369E678EE0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3" name="Line 32">
                          <a:extLst>
                            <a:ext uri="{FF2B5EF4-FFF2-40B4-BE49-F238E27FC236}">
                              <a16:creationId xmlns:a16="http://schemas.microsoft.com/office/drawing/2014/main" id="{FA2F0BF5-D841-43BD-838D-CFFAB419E11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4" name="Line 33">
                          <a:extLst>
                            <a:ext uri="{FF2B5EF4-FFF2-40B4-BE49-F238E27FC236}">
                              <a16:creationId xmlns:a16="http://schemas.microsoft.com/office/drawing/2014/main" id="{62DC4423-15AC-4E8D-BA36-8E1081C2CE5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60" name="Group 34">
                        <a:extLst>
                          <a:ext uri="{FF2B5EF4-FFF2-40B4-BE49-F238E27FC236}">
                            <a16:creationId xmlns:a16="http://schemas.microsoft.com/office/drawing/2014/main" id="{C34E9931-BFD1-4443-9BBF-3792E4C9A88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77" name="Line 35">
                          <a:extLst>
                            <a:ext uri="{FF2B5EF4-FFF2-40B4-BE49-F238E27FC236}">
                              <a16:creationId xmlns:a16="http://schemas.microsoft.com/office/drawing/2014/main" id="{381622EB-20EF-4B5B-A86A-B7DE3D36AE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8" name="Line 36">
                          <a:extLst>
                            <a:ext uri="{FF2B5EF4-FFF2-40B4-BE49-F238E27FC236}">
                              <a16:creationId xmlns:a16="http://schemas.microsoft.com/office/drawing/2014/main" id="{E95FB89F-08F0-47C9-A1C3-E62B3B26AF6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9" name="Line 37">
                          <a:extLst>
                            <a:ext uri="{FF2B5EF4-FFF2-40B4-BE49-F238E27FC236}">
                              <a16:creationId xmlns:a16="http://schemas.microsoft.com/office/drawing/2014/main" id="{F199E2B8-D491-4B15-8D7E-23A5B2DB503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80" name="Line 38">
                          <a:extLst>
                            <a:ext uri="{FF2B5EF4-FFF2-40B4-BE49-F238E27FC236}">
                              <a16:creationId xmlns:a16="http://schemas.microsoft.com/office/drawing/2014/main" id="{B466B3FA-5C28-4829-9007-432C6696F2E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61" name="Group 39">
                        <a:extLst>
                          <a:ext uri="{FF2B5EF4-FFF2-40B4-BE49-F238E27FC236}">
                            <a16:creationId xmlns:a16="http://schemas.microsoft.com/office/drawing/2014/main" id="{6B9E0F6B-B0DB-4CEF-8E40-FE55B9C527D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73" name="Line 40">
                          <a:extLst>
                            <a:ext uri="{FF2B5EF4-FFF2-40B4-BE49-F238E27FC236}">
                              <a16:creationId xmlns:a16="http://schemas.microsoft.com/office/drawing/2014/main" id="{0F9607C0-5BCA-443A-AFD8-B62D7910EA0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4" name="Line 41">
                          <a:extLst>
                            <a:ext uri="{FF2B5EF4-FFF2-40B4-BE49-F238E27FC236}">
                              <a16:creationId xmlns:a16="http://schemas.microsoft.com/office/drawing/2014/main" id="{DD2EEA9B-34B6-411A-B84B-3D9192A4FFE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5" name="Line 42">
                          <a:extLst>
                            <a:ext uri="{FF2B5EF4-FFF2-40B4-BE49-F238E27FC236}">
                              <a16:creationId xmlns:a16="http://schemas.microsoft.com/office/drawing/2014/main" id="{D64DC534-18FE-48EE-8D71-8E3B5CF4184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6" name="Line 43">
                          <a:extLst>
                            <a:ext uri="{FF2B5EF4-FFF2-40B4-BE49-F238E27FC236}">
                              <a16:creationId xmlns:a16="http://schemas.microsoft.com/office/drawing/2014/main" id="{0A7F66AD-CF55-4A9D-8C18-0268C1A6A82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62" name="Group 44">
                        <a:extLst>
                          <a:ext uri="{FF2B5EF4-FFF2-40B4-BE49-F238E27FC236}">
                            <a16:creationId xmlns:a16="http://schemas.microsoft.com/office/drawing/2014/main" id="{494DB380-EB24-4A5E-9224-03639170F4C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69" name="Line 45">
                          <a:extLst>
                            <a:ext uri="{FF2B5EF4-FFF2-40B4-BE49-F238E27FC236}">
                              <a16:creationId xmlns:a16="http://schemas.microsoft.com/office/drawing/2014/main" id="{4F3E8901-1D1B-4CCA-8839-35F17976D0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0" name="Line 46">
                          <a:extLst>
                            <a:ext uri="{FF2B5EF4-FFF2-40B4-BE49-F238E27FC236}">
                              <a16:creationId xmlns:a16="http://schemas.microsoft.com/office/drawing/2014/main" id="{0B5C820C-32BC-4C9C-9DB2-92A527B4678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1" name="Line 47">
                          <a:extLst>
                            <a:ext uri="{FF2B5EF4-FFF2-40B4-BE49-F238E27FC236}">
                              <a16:creationId xmlns:a16="http://schemas.microsoft.com/office/drawing/2014/main" id="{8C07CA41-B869-4AD8-B126-73F1F4B086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72" name="Line 48">
                          <a:extLst>
                            <a:ext uri="{FF2B5EF4-FFF2-40B4-BE49-F238E27FC236}">
                              <a16:creationId xmlns:a16="http://schemas.microsoft.com/office/drawing/2014/main" id="{4E3A8AD1-4D9C-4B0B-92FF-F885E2D2FEB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3363" name="Group 49">
                        <a:extLst>
                          <a:ext uri="{FF2B5EF4-FFF2-40B4-BE49-F238E27FC236}">
                            <a16:creationId xmlns:a16="http://schemas.microsoft.com/office/drawing/2014/main" id="{CF811F5D-B1E9-4408-BEEF-D3DB8C37440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65" name="Line 50">
                          <a:extLst>
                            <a:ext uri="{FF2B5EF4-FFF2-40B4-BE49-F238E27FC236}">
                              <a16:creationId xmlns:a16="http://schemas.microsoft.com/office/drawing/2014/main" id="{F8064E4F-F692-4FFC-82F5-D09DD7B6C66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66" name="Line 51">
                          <a:extLst>
                            <a:ext uri="{FF2B5EF4-FFF2-40B4-BE49-F238E27FC236}">
                              <a16:creationId xmlns:a16="http://schemas.microsoft.com/office/drawing/2014/main" id="{67AACE4A-D945-4348-B9F9-0057C46DBCD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67" name="Line 52">
                          <a:extLst>
                            <a:ext uri="{FF2B5EF4-FFF2-40B4-BE49-F238E27FC236}">
                              <a16:creationId xmlns:a16="http://schemas.microsoft.com/office/drawing/2014/main" id="{8CC933BF-4DB8-47A4-ACE3-FB8AF61B070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3368" name="Line 53">
                          <a:extLst>
                            <a:ext uri="{FF2B5EF4-FFF2-40B4-BE49-F238E27FC236}">
                              <a16:creationId xmlns:a16="http://schemas.microsoft.com/office/drawing/2014/main" id="{406CC628-6AD6-4358-A137-F2E6C738F86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364" name="Line 54">
                        <a:extLst>
                          <a:ext uri="{FF2B5EF4-FFF2-40B4-BE49-F238E27FC236}">
                            <a16:creationId xmlns:a16="http://schemas.microsoft.com/office/drawing/2014/main" id="{AB865F8C-AD8A-4DFE-9214-66E33DF2990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AU" sz="240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endParaRPr>
                      </a:p>
                    </p:txBody>
                  </p:sp>
                </p:grpSp>
                <p:sp>
                  <p:nvSpPr>
                    <p:cNvPr id="13352" name="Line 55">
                      <a:extLst>
                        <a:ext uri="{FF2B5EF4-FFF2-40B4-BE49-F238E27FC236}">
                          <a16:creationId xmlns:a16="http://schemas.microsoft.com/office/drawing/2014/main" id="{26689FF8-4651-42F6-AA25-D4A7A83D7B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3353" name="Line 56">
                      <a:extLst>
                        <a:ext uri="{FF2B5EF4-FFF2-40B4-BE49-F238E27FC236}">
                          <a16:creationId xmlns:a16="http://schemas.microsoft.com/office/drawing/2014/main" id="{59355752-2243-43DF-89A5-D3480A99EAB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3354" name="Text Box 57">
                      <a:extLst>
                        <a:ext uri="{FF2B5EF4-FFF2-40B4-BE49-F238E27FC236}">
                          <a16:creationId xmlns:a16="http://schemas.microsoft.com/office/drawing/2014/main" id="{8D9C6619-6A80-4083-928B-C811B611DC0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5898" name="Text Box 58">
                    <a:extLst>
                      <a:ext uri="{FF2B5EF4-FFF2-40B4-BE49-F238E27FC236}">
                        <a16:creationId xmlns:a16="http://schemas.microsoft.com/office/drawing/2014/main" id="{9A14D730-2C4D-4F44-9AFB-EFC9392D85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3339" name="Group 59">
                  <a:extLst>
                    <a:ext uri="{FF2B5EF4-FFF2-40B4-BE49-F238E27FC236}">
                      <a16:creationId xmlns:a16="http://schemas.microsoft.com/office/drawing/2014/main" id="{92FDC6C4-B592-47D6-B6EB-33B5C739AA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5900" name="Text Box 60">
                    <a:extLst>
                      <a:ext uri="{FF2B5EF4-FFF2-40B4-BE49-F238E27FC236}">
                        <a16:creationId xmlns:a16="http://schemas.microsoft.com/office/drawing/2014/main" id="{1FBBD37F-CA94-435F-BCCB-4A645BB59FF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1</a:t>
                    </a:r>
                  </a:p>
                </p:txBody>
              </p:sp>
              <p:sp>
                <p:nvSpPr>
                  <p:cNvPr id="35901" name="Text Box 61">
                    <a:extLst>
                      <a:ext uri="{FF2B5EF4-FFF2-40B4-BE49-F238E27FC236}">
                        <a16:creationId xmlns:a16="http://schemas.microsoft.com/office/drawing/2014/main" id="{C22AD49A-B207-4C5B-9E65-599309EE862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2</a:t>
                    </a:r>
                  </a:p>
                </p:txBody>
              </p:sp>
              <p:sp>
                <p:nvSpPr>
                  <p:cNvPr id="35902" name="Text Box 62">
                    <a:extLst>
                      <a:ext uri="{FF2B5EF4-FFF2-40B4-BE49-F238E27FC236}">
                        <a16:creationId xmlns:a16="http://schemas.microsoft.com/office/drawing/2014/main" id="{FA9F2A4E-BCBC-486F-855C-21409CFDA4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3</a:t>
                    </a:r>
                  </a:p>
                </p:txBody>
              </p:sp>
              <p:sp>
                <p:nvSpPr>
                  <p:cNvPr id="35903" name="Text Box 63">
                    <a:extLst>
                      <a:ext uri="{FF2B5EF4-FFF2-40B4-BE49-F238E27FC236}">
                        <a16:creationId xmlns:a16="http://schemas.microsoft.com/office/drawing/2014/main" id="{C29F138A-5551-4A09-8D94-036753CD99A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4</a:t>
                    </a:r>
                  </a:p>
                </p:txBody>
              </p:sp>
              <p:sp>
                <p:nvSpPr>
                  <p:cNvPr id="35904" name="Text Box 64">
                    <a:extLst>
                      <a:ext uri="{FF2B5EF4-FFF2-40B4-BE49-F238E27FC236}">
                        <a16:creationId xmlns:a16="http://schemas.microsoft.com/office/drawing/2014/main" id="{0A50AAC7-B0F4-40D7-B89C-CDD7113CF8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5</a:t>
                    </a:r>
                  </a:p>
                </p:txBody>
              </p:sp>
              <p:sp>
                <p:nvSpPr>
                  <p:cNvPr id="35905" name="Text Box 65">
                    <a:extLst>
                      <a:ext uri="{FF2B5EF4-FFF2-40B4-BE49-F238E27FC236}">
                        <a16:creationId xmlns:a16="http://schemas.microsoft.com/office/drawing/2014/main" id="{928AEA67-9125-4B6F-8EA6-3CC012660E1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6</a:t>
                    </a:r>
                  </a:p>
                </p:txBody>
              </p:sp>
              <p:sp>
                <p:nvSpPr>
                  <p:cNvPr id="35906" name="Text Box 66">
                    <a:extLst>
                      <a:ext uri="{FF2B5EF4-FFF2-40B4-BE49-F238E27FC236}">
                        <a16:creationId xmlns:a16="http://schemas.microsoft.com/office/drawing/2014/main" id="{8D5497AF-C163-4CCD-BD3F-725AFB10DE0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7</a:t>
                    </a:r>
                  </a:p>
                </p:txBody>
              </p:sp>
              <p:sp>
                <p:nvSpPr>
                  <p:cNvPr id="35907" name="Text Box 67">
                    <a:extLst>
                      <a:ext uri="{FF2B5EF4-FFF2-40B4-BE49-F238E27FC236}">
                        <a16:creationId xmlns:a16="http://schemas.microsoft.com/office/drawing/2014/main" id="{16D45794-AD0D-4401-871C-15D9206652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5908" name="Text Box 68">
                <a:extLst>
                  <a:ext uri="{FF2B5EF4-FFF2-40B4-BE49-F238E27FC236}">
                    <a16:creationId xmlns:a16="http://schemas.microsoft.com/office/drawing/2014/main" id="{1653A4E6-6DF6-4641-B14B-338F54F92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 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7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 </a:t>
                </a:r>
              </a:p>
            </p:txBody>
          </p:sp>
        </p:grpSp>
        <p:grpSp>
          <p:nvGrpSpPr>
            <p:cNvPr id="13329" name="Group 69">
              <a:extLst>
                <a:ext uri="{FF2B5EF4-FFF2-40B4-BE49-F238E27FC236}">
                  <a16:creationId xmlns:a16="http://schemas.microsoft.com/office/drawing/2014/main" id="{ADF7A5EE-CC57-4278-9BAB-47A0C6410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5910" name="Text Box 70">
                <a:extLst>
                  <a:ext uri="{FF2B5EF4-FFF2-40B4-BE49-F238E27FC236}">
                    <a16:creationId xmlns:a16="http://schemas.microsoft.com/office/drawing/2014/main" id="{A69461D1-F57F-4F62-A050-C86F9B6268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35911" name="Text Box 71">
                <a:extLst>
                  <a:ext uri="{FF2B5EF4-FFF2-40B4-BE49-F238E27FC236}">
                    <a16:creationId xmlns:a16="http://schemas.microsoft.com/office/drawing/2014/main" id="{BA44FD3E-1F91-432B-993A-089E70E66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35912" name="Text Box 72">
                <a:extLst>
                  <a:ext uri="{FF2B5EF4-FFF2-40B4-BE49-F238E27FC236}">
                    <a16:creationId xmlns:a16="http://schemas.microsoft.com/office/drawing/2014/main" id="{2B471DB1-FE45-4FF6-9893-14F53C358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</a:t>
                </a:r>
              </a:p>
            </p:txBody>
          </p:sp>
          <p:sp>
            <p:nvSpPr>
              <p:cNvPr id="35913" name="Text Box 73">
                <a:extLst>
                  <a:ext uri="{FF2B5EF4-FFF2-40B4-BE49-F238E27FC236}">
                    <a16:creationId xmlns:a16="http://schemas.microsoft.com/office/drawing/2014/main" id="{9348421B-E311-49C9-912A-F8F9F6452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</a:t>
                </a:r>
              </a:p>
            </p:txBody>
          </p:sp>
          <p:sp>
            <p:nvSpPr>
              <p:cNvPr id="35914" name="Text Box 74">
                <a:extLst>
                  <a:ext uri="{FF2B5EF4-FFF2-40B4-BE49-F238E27FC236}">
                    <a16:creationId xmlns:a16="http://schemas.microsoft.com/office/drawing/2014/main" id="{62F6AC56-4C70-4947-B57B-48BBBE4E1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</a:t>
                </a:r>
              </a:p>
            </p:txBody>
          </p:sp>
          <p:sp>
            <p:nvSpPr>
              <p:cNvPr id="35915" name="Text Box 75">
                <a:extLst>
                  <a:ext uri="{FF2B5EF4-FFF2-40B4-BE49-F238E27FC236}">
                    <a16:creationId xmlns:a16="http://schemas.microsoft.com/office/drawing/2014/main" id="{ADC45A6D-95E7-4C50-85E2-C41CEBB9D2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</a:t>
                </a:r>
              </a:p>
            </p:txBody>
          </p:sp>
        </p:grpSp>
      </p:grpSp>
      <p:sp>
        <p:nvSpPr>
          <p:cNvPr id="35916" name="Line 76">
            <a:extLst>
              <a:ext uri="{FF2B5EF4-FFF2-40B4-BE49-F238E27FC236}">
                <a16:creationId xmlns:a16="http://schemas.microsoft.com/office/drawing/2014/main" id="{69CD5397-C3E5-4A0D-AA14-AD8D82C537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143000"/>
            <a:ext cx="5410200" cy="51562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5917" name="Text Box 77">
            <a:extLst>
              <a:ext uri="{FF2B5EF4-FFF2-40B4-BE49-F238E27FC236}">
                <a16:creationId xmlns:a16="http://schemas.microsoft.com/office/drawing/2014/main" id="{45BCB9E1-344D-46D6-A21B-FF452732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524001"/>
            <a:ext cx="2895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 u="sng">
                <a:solidFill>
                  <a:srgbClr val="000000"/>
                </a:solidFill>
                <a:latin typeface="Arial" charset="0"/>
              </a:rPr>
              <a:t>Find the Value of c</a:t>
            </a:r>
            <a:r>
              <a:rPr lang="en-GB" altLang="x-none" sz="2000" b="1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This is the point at which the line crosses the y-axis.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5918" name="Oval 78">
            <a:extLst>
              <a:ext uri="{FF2B5EF4-FFF2-40B4-BE49-F238E27FC236}">
                <a16:creationId xmlns:a16="http://schemas.microsoft.com/office/drawing/2014/main" id="{5550B86C-8DDA-44B9-9EF1-91E592A31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6" y="3557588"/>
            <a:ext cx="157163" cy="17621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5919" name="Text Box 79">
            <a:extLst>
              <a:ext uri="{FF2B5EF4-FFF2-40B4-BE49-F238E27FC236}">
                <a16:creationId xmlns:a16="http://schemas.microsoft.com/office/drawing/2014/main" id="{4736DF24-88A9-4190-B227-987A6040D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505201"/>
            <a:ext cx="2667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 u="sng">
                <a:solidFill>
                  <a:srgbClr val="000000"/>
                </a:solidFill>
                <a:latin typeface="Arial" charset="0"/>
              </a:rPr>
              <a:t>Find the Value of m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The gradient means the rate at which the line is climbing.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Each time the line moves 1 place to the right, it moves down by 1 place.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5920" name="Line 80">
            <a:extLst>
              <a:ext uri="{FF2B5EF4-FFF2-40B4-BE49-F238E27FC236}">
                <a16:creationId xmlns:a16="http://schemas.microsoft.com/office/drawing/2014/main" id="{7B4CB6BD-8E41-4408-8904-347506E15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657600"/>
            <a:ext cx="3810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5921" name="Line 81">
            <a:extLst>
              <a:ext uri="{FF2B5EF4-FFF2-40B4-BE49-F238E27FC236}">
                <a16:creationId xmlns:a16="http://schemas.microsoft.com/office/drawing/2014/main" id="{2AD25C96-BC4D-438F-9B68-8ABDF99B7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617914"/>
            <a:ext cx="0" cy="3444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5922" name="Rectangle 82">
            <a:extLst>
              <a:ext uri="{FF2B5EF4-FFF2-40B4-BE49-F238E27FC236}">
                <a16:creationId xmlns:a16="http://schemas.microsoft.com/office/drawing/2014/main" id="{9BF0F76B-E5E0-44F8-A09F-D9BBBA601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9514" y="0"/>
            <a:ext cx="499268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x-none">
                <a:latin typeface="Arial" charset="0"/>
              </a:rPr>
              <a:t>Finding m and c</a:t>
            </a:r>
          </a:p>
        </p:txBody>
      </p:sp>
      <p:sp>
        <p:nvSpPr>
          <p:cNvPr id="35923" name="Line 83">
            <a:extLst>
              <a:ext uri="{FF2B5EF4-FFF2-40B4-BE49-F238E27FC236}">
                <a16:creationId xmlns:a16="http://schemas.microsoft.com/office/drawing/2014/main" id="{2B4AF70A-7684-4007-8458-3830962E6C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936876"/>
            <a:ext cx="1524000" cy="1101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5924" name="Text Box 84">
            <a:extLst>
              <a:ext uri="{FF2B5EF4-FFF2-40B4-BE49-F238E27FC236}">
                <a16:creationId xmlns:a16="http://schemas.microsoft.com/office/drawing/2014/main" id="{A60F2A21-0280-4549-B5F4-708BE360F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2514600"/>
            <a:ext cx="143986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>
                <a:solidFill>
                  <a:srgbClr val="3333CC"/>
                </a:solidFill>
                <a:latin typeface="Arial" charset="0"/>
              </a:rPr>
              <a:t>y = 2x +3</a:t>
            </a:r>
          </a:p>
        </p:txBody>
      </p:sp>
      <p:sp>
        <p:nvSpPr>
          <p:cNvPr id="35925" name="Text Box 85">
            <a:extLst>
              <a:ext uri="{FF2B5EF4-FFF2-40B4-BE49-F238E27FC236}">
                <a16:creationId xmlns:a16="http://schemas.microsoft.com/office/drawing/2014/main" id="{EB3E68DF-419C-43DF-BB33-A6A1FA3A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2514600"/>
            <a:ext cx="143986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b="1">
                <a:solidFill>
                  <a:srgbClr val="3333CC"/>
                </a:solidFill>
                <a:latin typeface="Arial" charset="0"/>
              </a:rPr>
              <a:t>y = mx +c</a:t>
            </a:r>
          </a:p>
        </p:txBody>
      </p:sp>
      <p:sp>
        <p:nvSpPr>
          <p:cNvPr id="35926" name="Text Box 86">
            <a:extLst>
              <a:ext uri="{FF2B5EF4-FFF2-40B4-BE49-F238E27FC236}">
                <a16:creationId xmlns:a16="http://schemas.microsoft.com/office/drawing/2014/main" id="{1B9A9B51-0E65-403C-A2F1-FD7D06877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895601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So </a:t>
            </a:r>
            <a:r>
              <a:rPr lang="en-GB" altLang="x-none" sz="2000" b="1">
                <a:solidFill>
                  <a:srgbClr val="000000"/>
                </a:solidFill>
                <a:latin typeface="Arial" charset="0"/>
              </a:rPr>
              <a:t>c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= 2</a:t>
            </a:r>
          </a:p>
        </p:txBody>
      </p:sp>
      <p:sp>
        <p:nvSpPr>
          <p:cNvPr id="35927" name="Text Box 87">
            <a:extLst>
              <a:ext uri="{FF2B5EF4-FFF2-40B4-BE49-F238E27FC236}">
                <a16:creationId xmlns:a16="http://schemas.microsoft.com/office/drawing/2014/main" id="{A09C785E-8DEA-4CAC-94FE-86895D1FA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867401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So </a:t>
            </a:r>
            <a:r>
              <a:rPr lang="en-GB" altLang="x-none" sz="2000" b="1">
                <a:solidFill>
                  <a:srgbClr val="000000"/>
                </a:solidFill>
                <a:latin typeface="Arial" charset="0"/>
              </a:rPr>
              <a:t>m</a:t>
            </a:r>
            <a:r>
              <a:rPr lang="en-GB" altLang="x-none" sz="2000">
                <a:solidFill>
                  <a:srgbClr val="000000"/>
                </a:solidFill>
                <a:latin typeface="Arial" charset="0"/>
              </a:rPr>
              <a:t> = -1</a:t>
            </a:r>
          </a:p>
        </p:txBody>
      </p:sp>
      <p:sp>
        <p:nvSpPr>
          <p:cNvPr id="35928" name="Text Box 88">
            <a:extLst>
              <a:ext uri="{FF2B5EF4-FFF2-40B4-BE49-F238E27FC236}">
                <a16:creationId xmlns:a16="http://schemas.microsoft.com/office/drawing/2014/main" id="{691C36AD-F2A4-4EDD-A29C-940EBA61F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770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Verdana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Verdana" charset="0"/>
            </a:endParaRPr>
          </a:p>
        </p:txBody>
      </p:sp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5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5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5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7" grpId="0" autoUpdateAnimBg="0"/>
      <p:bldP spid="35918" grpId="0" animBg="1"/>
      <p:bldP spid="35919" grpId="0" autoUpdateAnimBg="0"/>
      <p:bldP spid="35922" grpId="0" autoUpdateAnimBg="0"/>
      <p:bldP spid="35924" grpId="0" animBg="1" autoUpdateAnimBg="0"/>
      <p:bldP spid="35925" grpId="0" animBg="1" autoUpdateAnimBg="0"/>
      <p:bldP spid="35926" grpId="0" animBg="1" autoUpdateAnimBg="0"/>
      <p:bldP spid="3592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>
            <a:extLst>
              <a:ext uri="{FF2B5EF4-FFF2-40B4-BE49-F238E27FC236}">
                <a16:creationId xmlns:a16="http://schemas.microsoft.com/office/drawing/2014/main" id="{936E6302-B463-4098-9841-CC3C775BA77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41313"/>
            <a:ext cx="6484938" cy="6553200"/>
            <a:chOff x="263" y="192"/>
            <a:chExt cx="4085" cy="4128"/>
          </a:xfrm>
        </p:grpSpPr>
        <p:grpSp>
          <p:nvGrpSpPr>
            <p:cNvPr id="14356" name="Group 3">
              <a:extLst>
                <a:ext uri="{FF2B5EF4-FFF2-40B4-BE49-F238E27FC236}">
                  <a16:creationId xmlns:a16="http://schemas.microsoft.com/office/drawing/2014/main" id="{5F953E10-0F5E-449B-9902-EAABE502D5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4364" name="Group 4">
                <a:extLst>
                  <a:ext uri="{FF2B5EF4-FFF2-40B4-BE49-F238E27FC236}">
                    <a16:creationId xmlns:a16="http://schemas.microsoft.com/office/drawing/2014/main" id="{DEDE0CA3-328C-475C-81E0-7FB5C1A2D5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4366" name="Group 5">
                  <a:extLst>
                    <a:ext uri="{FF2B5EF4-FFF2-40B4-BE49-F238E27FC236}">
                      <a16:creationId xmlns:a16="http://schemas.microsoft.com/office/drawing/2014/main" id="{E0962A2C-F4CD-4C22-9A06-88B351D1C0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4376" name="Group 6">
                    <a:extLst>
                      <a:ext uri="{FF2B5EF4-FFF2-40B4-BE49-F238E27FC236}">
                        <a16:creationId xmlns:a16="http://schemas.microsoft.com/office/drawing/2014/main" id="{EB34AB16-24BD-4925-8EB8-828B2AC62EC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4378" name="Text Box 7">
                      <a:extLst>
                        <a:ext uri="{FF2B5EF4-FFF2-40B4-BE49-F238E27FC236}">
                          <a16:creationId xmlns:a16="http://schemas.microsoft.com/office/drawing/2014/main" id="{08A1A2B2-5344-49FA-A3A8-93D078DB655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y</a:t>
                      </a:r>
                    </a:p>
                  </p:txBody>
                </p:sp>
                <p:grpSp>
                  <p:nvGrpSpPr>
                    <p:cNvPr id="14379" name="Group 8">
                      <a:extLst>
                        <a:ext uri="{FF2B5EF4-FFF2-40B4-BE49-F238E27FC236}">
                          <a16:creationId xmlns:a16="http://schemas.microsoft.com/office/drawing/2014/main" id="{96B5A8E6-9D74-4A23-A802-8C594F17189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4383" name="Group 9">
                        <a:extLst>
                          <a:ext uri="{FF2B5EF4-FFF2-40B4-BE49-F238E27FC236}">
                            <a16:creationId xmlns:a16="http://schemas.microsoft.com/office/drawing/2014/main" id="{1B732214-0909-463B-AB02-D18CD4DD4F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25" name="Line 10">
                          <a:extLst>
                            <a:ext uri="{FF2B5EF4-FFF2-40B4-BE49-F238E27FC236}">
                              <a16:creationId xmlns:a16="http://schemas.microsoft.com/office/drawing/2014/main" id="{164920D0-D890-486E-B594-1EA68642A24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6" name="Line 11">
                          <a:extLst>
                            <a:ext uri="{FF2B5EF4-FFF2-40B4-BE49-F238E27FC236}">
                              <a16:creationId xmlns:a16="http://schemas.microsoft.com/office/drawing/2014/main" id="{71609198-5081-4DB1-A8F2-2C7FEF19381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7" name="Line 12">
                          <a:extLst>
                            <a:ext uri="{FF2B5EF4-FFF2-40B4-BE49-F238E27FC236}">
                              <a16:creationId xmlns:a16="http://schemas.microsoft.com/office/drawing/2014/main" id="{66F367DD-E83D-466F-AC74-EF1B3982AE5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8" name="Line 13">
                          <a:extLst>
                            <a:ext uri="{FF2B5EF4-FFF2-40B4-BE49-F238E27FC236}">
                              <a16:creationId xmlns:a16="http://schemas.microsoft.com/office/drawing/2014/main" id="{290EFF65-FDD0-43AF-8A34-64A6BFC6BCE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4" name="Group 14">
                        <a:extLst>
                          <a:ext uri="{FF2B5EF4-FFF2-40B4-BE49-F238E27FC236}">
                            <a16:creationId xmlns:a16="http://schemas.microsoft.com/office/drawing/2014/main" id="{779D111E-BEFA-4839-8BE7-5EA3DFCFD7C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21" name="Line 15">
                          <a:extLst>
                            <a:ext uri="{FF2B5EF4-FFF2-40B4-BE49-F238E27FC236}">
                              <a16:creationId xmlns:a16="http://schemas.microsoft.com/office/drawing/2014/main" id="{5F037F52-D0BC-48E1-8E27-FFC0D5FA2A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2" name="Line 16">
                          <a:extLst>
                            <a:ext uri="{FF2B5EF4-FFF2-40B4-BE49-F238E27FC236}">
                              <a16:creationId xmlns:a16="http://schemas.microsoft.com/office/drawing/2014/main" id="{09E202BD-3302-442A-917A-847241D3BF2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3" name="Line 17">
                          <a:extLst>
                            <a:ext uri="{FF2B5EF4-FFF2-40B4-BE49-F238E27FC236}">
                              <a16:creationId xmlns:a16="http://schemas.microsoft.com/office/drawing/2014/main" id="{0DBF8243-E08A-45AE-9705-DC55B90A287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4" name="Line 18">
                          <a:extLst>
                            <a:ext uri="{FF2B5EF4-FFF2-40B4-BE49-F238E27FC236}">
                              <a16:creationId xmlns:a16="http://schemas.microsoft.com/office/drawing/2014/main" id="{4091EB0B-67B6-40DE-808D-2F9C62CDB99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5" name="Group 19">
                        <a:extLst>
                          <a:ext uri="{FF2B5EF4-FFF2-40B4-BE49-F238E27FC236}">
                            <a16:creationId xmlns:a16="http://schemas.microsoft.com/office/drawing/2014/main" id="{3DB2CB74-E46A-457C-A0D5-978E7CEF4C9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17" name="Line 20">
                          <a:extLst>
                            <a:ext uri="{FF2B5EF4-FFF2-40B4-BE49-F238E27FC236}">
                              <a16:creationId xmlns:a16="http://schemas.microsoft.com/office/drawing/2014/main" id="{EA22BA70-AB82-4BC8-9237-F9939A34BCC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8" name="Line 21">
                          <a:extLst>
                            <a:ext uri="{FF2B5EF4-FFF2-40B4-BE49-F238E27FC236}">
                              <a16:creationId xmlns:a16="http://schemas.microsoft.com/office/drawing/2014/main" id="{784262BC-F651-4735-A37C-25DBB5D7371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9" name="Line 22">
                          <a:extLst>
                            <a:ext uri="{FF2B5EF4-FFF2-40B4-BE49-F238E27FC236}">
                              <a16:creationId xmlns:a16="http://schemas.microsoft.com/office/drawing/2014/main" id="{08E03EE4-8585-4AE4-AB98-044E6F99F81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20" name="Line 23">
                          <a:extLst>
                            <a:ext uri="{FF2B5EF4-FFF2-40B4-BE49-F238E27FC236}">
                              <a16:creationId xmlns:a16="http://schemas.microsoft.com/office/drawing/2014/main" id="{DDCAE89D-6F3A-4E68-9AC2-30E93458811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6" name="Group 24">
                        <a:extLst>
                          <a:ext uri="{FF2B5EF4-FFF2-40B4-BE49-F238E27FC236}">
                            <a16:creationId xmlns:a16="http://schemas.microsoft.com/office/drawing/2014/main" id="{93DE8D50-62B8-4482-BAC7-A94F8C678EA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13" name="Line 25">
                          <a:extLst>
                            <a:ext uri="{FF2B5EF4-FFF2-40B4-BE49-F238E27FC236}">
                              <a16:creationId xmlns:a16="http://schemas.microsoft.com/office/drawing/2014/main" id="{38CCCBE7-9A7C-44D1-B710-2F3D725F62C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4" name="Line 26">
                          <a:extLst>
                            <a:ext uri="{FF2B5EF4-FFF2-40B4-BE49-F238E27FC236}">
                              <a16:creationId xmlns:a16="http://schemas.microsoft.com/office/drawing/2014/main" id="{D4E20120-9443-4CDA-93C2-CA0A0B7B8F7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5" name="Line 27">
                          <a:extLst>
                            <a:ext uri="{FF2B5EF4-FFF2-40B4-BE49-F238E27FC236}">
                              <a16:creationId xmlns:a16="http://schemas.microsoft.com/office/drawing/2014/main" id="{CD1BD441-E7FD-4BDB-82BE-FADBECFE757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6" name="Line 28">
                          <a:extLst>
                            <a:ext uri="{FF2B5EF4-FFF2-40B4-BE49-F238E27FC236}">
                              <a16:creationId xmlns:a16="http://schemas.microsoft.com/office/drawing/2014/main" id="{3C995881-D2F2-48C6-A286-AA00CBF9625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7" name="Group 29">
                        <a:extLst>
                          <a:ext uri="{FF2B5EF4-FFF2-40B4-BE49-F238E27FC236}">
                            <a16:creationId xmlns:a16="http://schemas.microsoft.com/office/drawing/2014/main" id="{D2D40762-4574-4BC5-B56A-95507C07BD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09" name="Line 30">
                          <a:extLst>
                            <a:ext uri="{FF2B5EF4-FFF2-40B4-BE49-F238E27FC236}">
                              <a16:creationId xmlns:a16="http://schemas.microsoft.com/office/drawing/2014/main" id="{C23CAE39-D0CC-4335-8751-4263EFA75AE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0" name="Line 31">
                          <a:extLst>
                            <a:ext uri="{FF2B5EF4-FFF2-40B4-BE49-F238E27FC236}">
                              <a16:creationId xmlns:a16="http://schemas.microsoft.com/office/drawing/2014/main" id="{C609909B-4778-4D20-B307-A76F6AB838B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1" name="Line 32">
                          <a:extLst>
                            <a:ext uri="{FF2B5EF4-FFF2-40B4-BE49-F238E27FC236}">
                              <a16:creationId xmlns:a16="http://schemas.microsoft.com/office/drawing/2014/main" id="{4F9AEBD8-CB16-491C-848B-B783E37728D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12" name="Line 33">
                          <a:extLst>
                            <a:ext uri="{FF2B5EF4-FFF2-40B4-BE49-F238E27FC236}">
                              <a16:creationId xmlns:a16="http://schemas.microsoft.com/office/drawing/2014/main" id="{CF472F6A-63DD-422F-B051-123B58DDEBA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8" name="Group 34">
                        <a:extLst>
                          <a:ext uri="{FF2B5EF4-FFF2-40B4-BE49-F238E27FC236}">
                            <a16:creationId xmlns:a16="http://schemas.microsoft.com/office/drawing/2014/main" id="{E55D0ED5-4097-47CF-9DC4-819FBB221C4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05" name="Line 35">
                          <a:extLst>
                            <a:ext uri="{FF2B5EF4-FFF2-40B4-BE49-F238E27FC236}">
                              <a16:creationId xmlns:a16="http://schemas.microsoft.com/office/drawing/2014/main" id="{141F4313-9E9D-4E03-BBCE-2935275D826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6" name="Line 36">
                          <a:extLst>
                            <a:ext uri="{FF2B5EF4-FFF2-40B4-BE49-F238E27FC236}">
                              <a16:creationId xmlns:a16="http://schemas.microsoft.com/office/drawing/2014/main" id="{FBB97FD8-3B6E-481D-A3B0-C37E2F999FA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7" name="Line 37">
                          <a:extLst>
                            <a:ext uri="{FF2B5EF4-FFF2-40B4-BE49-F238E27FC236}">
                              <a16:creationId xmlns:a16="http://schemas.microsoft.com/office/drawing/2014/main" id="{F82B9CBC-E279-4076-87A5-761D1B87C07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8" name="Line 38">
                          <a:extLst>
                            <a:ext uri="{FF2B5EF4-FFF2-40B4-BE49-F238E27FC236}">
                              <a16:creationId xmlns:a16="http://schemas.microsoft.com/office/drawing/2014/main" id="{1B1EFA9C-269A-4E65-B590-7C133D4539F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89" name="Group 39">
                        <a:extLst>
                          <a:ext uri="{FF2B5EF4-FFF2-40B4-BE49-F238E27FC236}">
                            <a16:creationId xmlns:a16="http://schemas.microsoft.com/office/drawing/2014/main" id="{9AD1F1B7-1FD9-493E-91B0-9D21C9F0F12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401" name="Line 40">
                          <a:extLst>
                            <a:ext uri="{FF2B5EF4-FFF2-40B4-BE49-F238E27FC236}">
                              <a16:creationId xmlns:a16="http://schemas.microsoft.com/office/drawing/2014/main" id="{16C400B1-AB1E-4C22-99F3-701CE81682C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2" name="Line 41">
                          <a:extLst>
                            <a:ext uri="{FF2B5EF4-FFF2-40B4-BE49-F238E27FC236}">
                              <a16:creationId xmlns:a16="http://schemas.microsoft.com/office/drawing/2014/main" id="{EBD34BDC-3215-4891-8A7E-73FF077A921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3" name="Line 42">
                          <a:extLst>
                            <a:ext uri="{FF2B5EF4-FFF2-40B4-BE49-F238E27FC236}">
                              <a16:creationId xmlns:a16="http://schemas.microsoft.com/office/drawing/2014/main" id="{EC13AD94-CF6A-477F-B7B3-3957C25ED34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4" name="Line 43">
                          <a:extLst>
                            <a:ext uri="{FF2B5EF4-FFF2-40B4-BE49-F238E27FC236}">
                              <a16:creationId xmlns:a16="http://schemas.microsoft.com/office/drawing/2014/main" id="{3E0AC427-F310-4199-A601-78F4D3A0DD9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90" name="Group 44">
                        <a:extLst>
                          <a:ext uri="{FF2B5EF4-FFF2-40B4-BE49-F238E27FC236}">
                            <a16:creationId xmlns:a16="http://schemas.microsoft.com/office/drawing/2014/main" id="{7F87C9E9-64A0-4D19-BCB4-B8E07A6034B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397" name="Line 45">
                          <a:extLst>
                            <a:ext uri="{FF2B5EF4-FFF2-40B4-BE49-F238E27FC236}">
                              <a16:creationId xmlns:a16="http://schemas.microsoft.com/office/drawing/2014/main" id="{05FCC254-BEF3-455B-BC7B-2E359298361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398" name="Line 46">
                          <a:extLst>
                            <a:ext uri="{FF2B5EF4-FFF2-40B4-BE49-F238E27FC236}">
                              <a16:creationId xmlns:a16="http://schemas.microsoft.com/office/drawing/2014/main" id="{8F391E46-F3F5-4CFD-9974-AAC55FB9166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399" name="Line 47">
                          <a:extLst>
                            <a:ext uri="{FF2B5EF4-FFF2-40B4-BE49-F238E27FC236}">
                              <a16:creationId xmlns:a16="http://schemas.microsoft.com/office/drawing/2014/main" id="{8A7B651B-1B4D-4DC4-A4C9-2BC328D2FA4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400" name="Line 48">
                          <a:extLst>
                            <a:ext uri="{FF2B5EF4-FFF2-40B4-BE49-F238E27FC236}">
                              <a16:creationId xmlns:a16="http://schemas.microsoft.com/office/drawing/2014/main" id="{414E54DD-8A16-4979-8838-47EFD54A4A4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4391" name="Group 49">
                        <a:extLst>
                          <a:ext uri="{FF2B5EF4-FFF2-40B4-BE49-F238E27FC236}">
                            <a16:creationId xmlns:a16="http://schemas.microsoft.com/office/drawing/2014/main" id="{DDC4BC85-D6C8-47B9-8D34-5653EBB6C40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4393" name="Line 50">
                          <a:extLst>
                            <a:ext uri="{FF2B5EF4-FFF2-40B4-BE49-F238E27FC236}">
                              <a16:creationId xmlns:a16="http://schemas.microsoft.com/office/drawing/2014/main" id="{304ABB4E-9894-438C-A118-ACEF3CA0879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394" name="Line 51">
                          <a:extLst>
                            <a:ext uri="{FF2B5EF4-FFF2-40B4-BE49-F238E27FC236}">
                              <a16:creationId xmlns:a16="http://schemas.microsoft.com/office/drawing/2014/main" id="{ECB75910-7F78-48CE-80C9-4B613015F2D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395" name="Line 52">
                          <a:extLst>
                            <a:ext uri="{FF2B5EF4-FFF2-40B4-BE49-F238E27FC236}">
                              <a16:creationId xmlns:a16="http://schemas.microsoft.com/office/drawing/2014/main" id="{C8FC5C24-24F4-4460-A6F2-F6799A70E41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4396" name="Line 53">
                          <a:extLst>
                            <a:ext uri="{FF2B5EF4-FFF2-40B4-BE49-F238E27FC236}">
                              <a16:creationId xmlns:a16="http://schemas.microsoft.com/office/drawing/2014/main" id="{D3B13DB9-5F8B-4FBE-A48C-264ABFB6531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4392" name="Line 54">
                        <a:extLst>
                          <a:ext uri="{FF2B5EF4-FFF2-40B4-BE49-F238E27FC236}">
                            <a16:creationId xmlns:a16="http://schemas.microsoft.com/office/drawing/2014/main" id="{9BA3A362-6AA8-4195-AEBE-1AC7638214C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AU" sz="240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endParaRPr>
                      </a:p>
                    </p:txBody>
                  </p:sp>
                </p:grpSp>
                <p:sp>
                  <p:nvSpPr>
                    <p:cNvPr id="14380" name="Line 55">
                      <a:extLst>
                        <a:ext uri="{FF2B5EF4-FFF2-40B4-BE49-F238E27FC236}">
                          <a16:creationId xmlns:a16="http://schemas.microsoft.com/office/drawing/2014/main" id="{893BC392-FC3A-490C-9DF1-5FA55B2498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4381" name="Line 56">
                      <a:extLst>
                        <a:ext uri="{FF2B5EF4-FFF2-40B4-BE49-F238E27FC236}">
                          <a16:creationId xmlns:a16="http://schemas.microsoft.com/office/drawing/2014/main" id="{9BAB82F8-03BF-4C45-A7B7-D44DBA1444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4382" name="Text Box 57">
                      <a:extLst>
                        <a:ext uri="{FF2B5EF4-FFF2-40B4-BE49-F238E27FC236}">
                          <a16:creationId xmlns:a16="http://schemas.microsoft.com/office/drawing/2014/main" id="{7F057C92-5DFF-440B-BA03-07100F78CDD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6922" name="Text Box 58">
                    <a:extLst>
                      <a:ext uri="{FF2B5EF4-FFF2-40B4-BE49-F238E27FC236}">
                        <a16:creationId xmlns:a16="http://schemas.microsoft.com/office/drawing/2014/main" id="{FEA61252-F73A-4989-BBC1-4D1F01A1E9C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4367" name="Group 59">
                  <a:extLst>
                    <a:ext uri="{FF2B5EF4-FFF2-40B4-BE49-F238E27FC236}">
                      <a16:creationId xmlns:a16="http://schemas.microsoft.com/office/drawing/2014/main" id="{8D2B59CB-D360-4D26-BCBB-1B5DD45692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6924" name="Text Box 60">
                    <a:extLst>
                      <a:ext uri="{FF2B5EF4-FFF2-40B4-BE49-F238E27FC236}">
                        <a16:creationId xmlns:a16="http://schemas.microsoft.com/office/drawing/2014/main" id="{73E5B3C9-EE1D-4594-B911-8C8C63A7862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1</a:t>
                    </a:r>
                  </a:p>
                </p:txBody>
              </p:sp>
              <p:sp>
                <p:nvSpPr>
                  <p:cNvPr id="36925" name="Text Box 61">
                    <a:extLst>
                      <a:ext uri="{FF2B5EF4-FFF2-40B4-BE49-F238E27FC236}">
                        <a16:creationId xmlns:a16="http://schemas.microsoft.com/office/drawing/2014/main" id="{71D07FF5-EEF6-432E-A7F5-891DE5117C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2</a:t>
                    </a:r>
                  </a:p>
                </p:txBody>
              </p:sp>
              <p:sp>
                <p:nvSpPr>
                  <p:cNvPr id="36926" name="Text Box 62">
                    <a:extLst>
                      <a:ext uri="{FF2B5EF4-FFF2-40B4-BE49-F238E27FC236}">
                        <a16:creationId xmlns:a16="http://schemas.microsoft.com/office/drawing/2014/main" id="{0AC2810C-4A96-4267-B963-487C1F0D29A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3</a:t>
                    </a:r>
                  </a:p>
                </p:txBody>
              </p:sp>
              <p:sp>
                <p:nvSpPr>
                  <p:cNvPr id="36927" name="Text Box 63">
                    <a:extLst>
                      <a:ext uri="{FF2B5EF4-FFF2-40B4-BE49-F238E27FC236}">
                        <a16:creationId xmlns:a16="http://schemas.microsoft.com/office/drawing/2014/main" id="{601D251B-B495-4815-9C88-6F451474183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4</a:t>
                    </a:r>
                  </a:p>
                </p:txBody>
              </p:sp>
              <p:sp>
                <p:nvSpPr>
                  <p:cNvPr id="36928" name="Text Box 64">
                    <a:extLst>
                      <a:ext uri="{FF2B5EF4-FFF2-40B4-BE49-F238E27FC236}">
                        <a16:creationId xmlns:a16="http://schemas.microsoft.com/office/drawing/2014/main" id="{46EAEB0A-27AC-4ADF-877E-BA6447E5BF5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5</a:t>
                    </a:r>
                  </a:p>
                </p:txBody>
              </p:sp>
              <p:sp>
                <p:nvSpPr>
                  <p:cNvPr id="36929" name="Text Box 65">
                    <a:extLst>
                      <a:ext uri="{FF2B5EF4-FFF2-40B4-BE49-F238E27FC236}">
                        <a16:creationId xmlns:a16="http://schemas.microsoft.com/office/drawing/2014/main" id="{A5925E70-BE37-4510-9FE1-E5BEF85CE2E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6</a:t>
                    </a:r>
                  </a:p>
                </p:txBody>
              </p:sp>
              <p:sp>
                <p:nvSpPr>
                  <p:cNvPr id="36930" name="Text Box 66">
                    <a:extLst>
                      <a:ext uri="{FF2B5EF4-FFF2-40B4-BE49-F238E27FC236}">
                        <a16:creationId xmlns:a16="http://schemas.microsoft.com/office/drawing/2014/main" id="{B0ED9A63-B25E-4A1C-A4C3-12EBB20F4C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7</a:t>
                    </a:r>
                  </a:p>
                </p:txBody>
              </p:sp>
              <p:sp>
                <p:nvSpPr>
                  <p:cNvPr id="36931" name="Text Box 67">
                    <a:extLst>
                      <a:ext uri="{FF2B5EF4-FFF2-40B4-BE49-F238E27FC236}">
                        <a16:creationId xmlns:a16="http://schemas.microsoft.com/office/drawing/2014/main" id="{6626CCE4-CC54-42A8-9E88-A5C59E3C2CA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6932" name="Text Box 68">
                <a:extLst>
                  <a:ext uri="{FF2B5EF4-FFF2-40B4-BE49-F238E27FC236}">
                    <a16:creationId xmlns:a16="http://schemas.microsoft.com/office/drawing/2014/main" id="{929080FC-5316-4C19-BF9B-7B5A995B3F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 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7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 </a:t>
                </a:r>
              </a:p>
            </p:txBody>
          </p:sp>
        </p:grpSp>
        <p:grpSp>
          <p:nvGrpSpPr>
            <p:cNvPr id="14357" name="Group 69">
              <a:extLst>
                <a:ext uri="{FF2B5EF4-FFF2-40B4-BE49-F238E27FC236}">
                  <a16:creationId xmlns:a16="http://schemas.microsoft.com/office/drawing/2014/main" id="{4D4C6CC0-09DE-4167-B517-23BA6645B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6934" name="Text Box 70">
                <a:extLst>
                  <a:ext uri="{FF2B5EF4-FFF2-40B4-BE49-F238E27FC236}">
                    <a16:creationId xmlns:a16="http://schemas.microsoft.com/office/drawing/2014/main" id="{A1A5E131-6F15-4EB7-9A11-47351CAE60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36935" name="Text Box 71">
                <a:extLst>
                  <a:ext uri="{FF2B5EF4-FFF2-40B4-BE49-F238E27FC236}">
                    <a16:creationId xmlns:a16="http://schemas.microsoft.com/office/drawing/2014/main" id="{5F387711-B1E2-4CD2-AE1C-652DCA4E6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36936" name="Text Box 72">
                <a:extLst>
                  <a:ext uri="{FF2B5EF4-FFF2-40B4-BE49-F238E27FC236}">
                    <a16:creationId xmlns:a16="http://schemas.microsoft.com/office/drawing/2014/main" id="{E9272ECA-25FB-41E3-A4EB-DC5CB1957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</a:t>
                </a:r>
              </a:p>
            </p:txBody>
          </p:sp>
          <p:sp>
            <p:nvSpPr>
              <p:cNvPr id="36937" name="Text Box 73">
                <a:extLst>
                  <a:ext uri="{FF2B5EF4-FFF2-40B4-BE49-F238E27FC236}">
                    <a16:creationId xmlns:a16="http://schemas.microsoft.com/office/drawing/2014/main" id="{C2DA8449-E119-498C-8AE6-BC29DDCF1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</a:t>
                </a:r>
              </a:p>
            </p:txBody>
          </p:sp>
          <p:sp>
            <p:nvSpPr>
              <p:cNvPr id="36938" name="Text Box 74">
                <a:extLst>
                  <a:ext uri="{FF2B5EF4-FFF2-40B4-BE49-F238E27FC236}">
                    <a16:creationId xmlns:a16="http://schemas.microsoft.com/office/drawing/2014/main" id="{2A7AA66C-DCEC-4DD2-9F33-E5D86785DB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</a:t>
                </a:r>
              </a:p>
            </p:txBody>
          </p:sp>
          <p:sp>
            <p:nvSpPr>
              <p:cNvPr id="36939" name="Text Box 75">
                <a:extLst>
                  <a:ext uri="{FF2B5EF4-FFF2-40B4-BE49-F238E27FC236}">
                    <a16:creationId xmlns:a16="http://schemas.microsoft.com/office/drawing/2014/main" id="{4246D5B5-01AE-474B-A851-05BE276A44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</a:t>
                </a:r>
              </a:p>
            </p:txBody>
          </p:sp>
        </p:grpSp>
      </p:grpSp>
      <p:sp>
        <p:nvSpPr>
          <p:cNvPr id="36940" name="Line 76">
            <a:extLst>
              <a:ext uri="{FF2B5EF4-FFF2-40B4-BE49-F238E27FC236}">
                <a16:creationId xmlns:a16="http://schemas.microsoft.com/office/drawing/2014/main" id="{BE870412-EAF7-4A7F-82B4-AA3CCFAC27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549526"/>
            <a:ext cx="4243388" cy="42322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6941" name="Text Box 77">
            <a:extLst>
              <a:ext uri="{FF2B5EF4-FFF2-40B4-BE49-F238E27FC236}">
                <a16:creationId xmlns:a16="http://schemas.microsoft.com/office/drawing/2014/main" id="{FBAB5AF8-889C-4602-A5D9-A671B5522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990601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u="sng">
                <a:solidFill>
                  <a:srgbClr val="3333CC"/>
                </a:solidFill>
                <a:latin typeface="Arial" charset="0"/>
              </a:rPr>
              <a:t>Line 1</a:t>
            </a:r>
            <a:r>
              <a:rPr lang="en-GB" altLang="x-none" sz="2000">
                <a:solidFill>
                  <a:srgbClr val="3333CC"/>
                </a:solidFill>
                <a:latin typeface="Arial" charset="0"/>
              </a:rPr>
              <a:t>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3333CC"/>
                </a:solidFill>
                <a:latin typeface="Arial" charset="0"/>
              </a:rPr>
              <a:t>m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3333CC"/>
                </a:solidFill>
                <a:latin typeface="Arial" charset="0"/>
              </a:rPr>
              <a:t>c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u="sng">
                <a:solidFill>
                  <a:srgbClr val="3333CC"/>
                </a:solidFill>
                <a:latin typeface="Arial" charset="0"/>
              </a:rPr>
              <a:t>Equation:</a:t>
            </a:r>
          </a:p>
        </p:txBody>
      </p:sp>
      <p:sp>
        <p:nvSpPr>
          <p:cNvPr id="36946" name="Rectangle 82">
            <a:extLst>
              <a:ext uri="{FF2B5EF4-FFF2-40B4-BE49-F238E27FC236}">
                <a16:creationId xmlns:a16="http://schemas.microsoft.com/office/drawing/2014/main" id="{7B344083-38F1-456C-887F-FF509D70D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-228600"/>
            <a:ext cx="7239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x-none">
                <a:latin typeface="Arial" charset="0"/>
              </a:rPr>
              <a:t>Some Lines to Identify</a:t>
            </a:r>
          </a:p>
        </p:txBody>
      </p:sp>
      <p:sp>
        <p:nvSpPr>
          <p:cNvPr id="36952" name="Text Box 88">
            <a:extLst>
              <a:ext uri="{FF2B5EF4-FFF2-40B4-BE49-F238E27FC236}">
                <a16:creationId xmlns:a16="http://schemas.microsoft.com/office/drawing/2014/main" id="{F3375BE9-923B-4B9E-84E1-B24684B88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879726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u="sng">
                <a:solidFill>
                  <a:srgbClr val="FF0000"/>
                </a:solidFill>
                <a:latin typeface="Arial" charset="0"/>
              </a:rPr>
              <a:t>Line 2</a:t>
            </a:r>
            <a:r>
              <a:rPr lang="en-GB" altLang="x-none" sz="2000">
                <a:solidFill>
                  <a:srgbClr val="FF0000"/>
                </a:solidFill>
                <a:latin typeface="Arial" charset="0"/>
              </a:rPr>
              <a:t>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FF0000"/>
                </a:solidFill>
                <a:latin typeface="Arial" charset="0"/>
              </a:rPr>
              <a:t>m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FF0000"/>
                </a:solidFill>
                <a:latin typeface="Arial" charset="0"/>
              </a:rPr>
              <a:t>c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FF0000"/>
                </a:solidFill>
                <a:latin typeface="Arial" charset="0"/>
              </a:rPr>
              <a:t>  </a:t>
            </a:r>
            <a:r>
              <a:rPr lang="en-GB" altLang="x-none" sz="2000" u="sng">
                <a:solidFill>
                  <a:srgbClr val="FF0000"/>
                </a:solidFill>
                <a:latin typeface="Arial" charset="0"/>
              </a:rPr>
              <a:t>Equation:</a:t>
            </a:r>
          </a:p>
        </p:txBody>
      </p:sp>
      <p:sp>
        <p:nvSpPr>
          <p:cNvPr id="36954" name="Text Box 90">
            <a:extLst>
              <a:ext uri="{FF2B5EF4-FFF2-40B4-BE49-F238E27FC236}">
                <a16:creationId xmlns:a16="http://schemas.microsoft.com/office/drawing/2014/main" id="{53F118FC-2AFF-4DFE-B0FD-72BC933B0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397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3333CC"/>
                </a:solidFill>
                <a:latin typeface="Arial" charset="0"/>
              </a:rPr>
              <a:t>1</a:t>
            </a:r>
          </a:p>
        </p:txBody>
      </p:sp>
      <p:sp>
        <p:nvSpPr>
          <p:cNvPr id="36955" name="Text Box 91">
            <a:extLst>
              <a:ext uri="{FF2B5EF4-FFF2-40B4-BE49-F238E27FC236}">
                <a16:creationId xmlns:a16="http://schemas.microsoft.com/office/drawing/2014/main" id="{54CA2C9B-0017-4BA9-A21A-43CCEBB0F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9900" y="18415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3333CC"/>
                </a:solidFill>
                <a:latin typeface="Arial" charset="0"/>
              </a:rPr>
              <a:t>2</a:t>
            </a:r>
          </a:p>
        </p:txBody>
      </p:sp>
      <p:sp>
        <p:nvSpPr>
          <p:cNvPr id="36956" name="Text Box 92">
            <a:extLst>
              <a:ext uri="{FF2B5EF4-FFF2-40B4-BE49-F238E27FC236}">
                <a16:creationId xmlns:a16="http://schemas.microsoft.com/office/drawing/2014/main" id="{06FCCE9F-8360-41BB-9347-A57EA6ABE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23241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3333CC"/>
                </a:solidFill>
                <a:latin typeface="Arial" charset="0"/>
              </a:rPr>
              <a:t>y = x + 2</a:t>
            </a:r>
          </a:p>
        </p:txBody>
      </p:sp>
      <p:sp>
        <p:nvSpPr>
          <p:cNvPr id="36957" name="Text Box 93">
            <a:extLst>
              <a:ext uri="{FF2B5EF4-FFF2-40B4-BE49-F238E27FC236}">
                <a16:creationId xmlns:a16="http://schemas.microsoft.com/office/drawing/2014/main" id="{356E13AA-92A4-4EEB-B846-329ABA412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784726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u="sng">
                <a:solidFill>
                  <a:srgbClr val="008000"/>
                </a:solidFill>
                <a:latin typeface="Arial" charset="0"/>
              </a:rPr>
              <a:t>Line 3</a:t>
            </a:r>
            <a:r>
              <a:rPr lang="en-GB" altLang="x-none" sz="2000">
                <a:solidFill>
                  <a:srgbClr val="008000"/>
                </a:solidFill>
                <a:latin typeface="Arial" charset="0"/>
              </a:rPr>
              <a:t>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8000"/>
                </a:solidFill>
                <a:latin typeface="Arial" charset="0"/>
              </a:rPr>
              <a:t>m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>
                <a:solidFill>
                  <a:srgbClr val="008000"/>
                </a:solidFill>
                <a:latin typeface="Arial" charset="0"/>
              </a:rPr>
              <a:t>c =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000" u="sng">
                <a:solidFill>
                  <a:srgbClr val="008000"/>
                </a:solidFill>
                <a:latin typeface="Arial" charset="0"/>
              </a:rPr>
              <a:t>Equation:</a:t>
            </a:r>
          </a:p>
        </p:txBody>
      </p:sp>
      <p:sp>
        <p:nvSpPr>
          <p:cNvPr id="36958" name="Line 94">
            <a:extLst>
              <a:ext uri="{FF2B5EF4-FFF2-40B4-BE49-F238E27FC236}">
                <a16:creationId xmlns:a16="http://schemas.microsoft.com/office/drawing/2014/main" id="{4DCF0A58-368D-4CC7-914A-885E6E9A0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676400"/>
            <a:ext cx="2743200" cy="49530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6960" name="Line 96">
            <a:extLst>
              <a:ext uri="{FF2B5EF4-FFF2-40B4-BE49-F238E27FC236}">
                <a16:creationId xmlns:a16="http://schemas.microsoft.com/office/drawing/2014/main" id="{453F50B7-692B-458A-A8AD-C5EE8E4ADA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1343026"/>
            <a:ext cx="4243388" cy="42322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6961" name="Text Box 97">
            <a:extLst>
              <a:ext uri="{FF2B5EF4-FFF2-40B4-BE49-F238E27FC236}">
                <a16:creationId xmlns:a16="http://schemas.microsoft.com/office/drawing/2014/main" id="{B307967D-DC54-456F-9C9C-66729EC22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36962" name="Text Box 98">
            <a:extLst>
              <a:ext uri="{FF2B5EF4-FFF2-40B4-BE49-F238E27FC236}">
                <a16:creationId xmlns:a16="http://schemas.microsoft.com/office/drawing/2014/main" id="{EE4B0A9D-6224-4153-887B-19DDFCBFA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-1</a:t>
            </a:r>
          </a:p>
        </p:txBody>
      </p:sp>
      <p:sp>
        <p:nvSpPr>
          <p:cNvPr id="36963" name="Text Box 99">
            <a:extLst>
              <a:ext uri="{FF2B5EF4-FFF2-40B4-BE49-F238E27FC236}">
                <a16:creationId xmlns:a16="http://schemas.microsoft.com/office/drawing/2014/main" id="{74F4728B-5F14-4231-B82A-CEDEBD8C4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4191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y = x - 1</a:t>
            </a:r>
          </a:p>
        </p:txBody>
      </p:sp>
      <p:sp>
        <p:nvSpPr>
          <p:cNvPr id="36964" name="Text Box 100">
            <a:extLst>
              <a:ext uri="{FF2B5EF4-FFF2-40B4-BE49-F238E27FC236}">
                <a16:creationId xmlns:a16="http://schemas.microsoft.com/office/drawing/2014/main" id="{D36C0D65-B50C-4BFA-8BA1-A2D5F36EC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181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8000"/>
                </a:solidFill>
                <a:latin typeface="Arial" charset="0"/>
              </a:rPr>
              <a:t>-2</a:t>
            </a:r>
          </a:p>
        </p:txBody>
      </p:sp>
      <p:sp>
        <p:nvSpPr>
          <p:cNvPr id="36965" name="Text Box 101">
            <a:extLst>
              <a:ext uri="{FF2B5EF4-FFF2-40B4-BE49-F238E27FC236}">
                <a16:creationId xmlns:a16="http://schemas.microsoft.com/office/drawing/2014/main" id="{150A5644-EF33-4EE7-AB24-7CDBFFC05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5638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36966" name="Text Box 102">
            <a:extLst>
              <a:ext uri="{FF2B5EF4-FFF2-40B4-BE49-F238E27FC236}">
                <a16:creationId xmlns:a16="http://schemas.microsoft.com/office/drawing/2014/main" id="{AAD0A7E7-C234-4FC6-9FDA-59C7C38E6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6096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8000"/>
                </a:solidFill>
                <a:latin typeface="Arial" charset="0"/>
              </a:rPr>
              <a:t>y = -2x + 1</a:t>
            </a:r>
          </a:p>
        </p:txBody>
      </p:sp>
      <p:sp>
        <p:nvSpPr>
          <p:cNvPr id="36967" name="Text Box 103">
            <a:extLst>
              <a:ext uri="{FF2B5EF4-FFF2-40B4-BE49-F238E27FC236}">
                <a16:creationId xmlns:a16="http://schemas.microsoft.com/office/drawing/2014/main" id="{68B76EB3-2694-4509-98F4-144BFACBC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Arial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41" grpId="0" autoUpdateAnimBg="0"/>
      <p:bldP spid="36946" grpId="0" autoUpdateAnimBg="0"/>
      <p:bldP spid="36952" grpId="0" autoUpdateAnimBg="0"/>
      <p:bldP spid="36954" grpId="0" autoUpdateAnimBg="0"/>
      <p:bldP spid="36955" grpId="0" autoUpdateAnimBg="0"/>
      <p:bldP spid="36956" grpId="0" autoUpdateAnimBg="0"/>
      <p:bldP spid="36957" grpId="0" autoUpdateAnimBg="0"/>
      <p:bldP spid="36961" grpId="0" autoUpdateAnimBg="0"/>
      <p:bldP spid="36962" grpId="0" autoUpdateAnimBg="0"/>
      <p:bldP spid="36963" grpId="0" autoUpdateAnimBg="0"/>
      <p:bldP spid="36964" grpId="0" autoUpdateAnimBg="0"/>
      <p:bldP spid="36965" grpId="0" autoUpdateAnimBg="0"/>
      <p:bldP spid="3696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A7C1A10B-F08E-4C3A-9F87-7F6522B13C9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41313"/>
            <a:ext cx="6484938" cy="6553200"/>
            <a:chOff x="263" y="192"/>
            <a:chExt cx="4085" cy="4128"/>
          </a:xfrm>
        </p:grpSpPr>
        <p:grpSp>
          <p:nvGrpSpPr>
            <p:cNvPr id="15382" name="Group 3">
              <a:extLst>
                <a:ext uri="{FF2B5EF4-FFF2-40B4-BE49-F238E27FC236}">
                  <a16:creationId xmlns:a16="http://schemas.microsoft.com/office/drawing/2014/main" id="{27DF7265-828A-453C-8F96-509B6C2C9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5390" name="Group 4">
                <a:extLst>
                  <a:ext uri="{FF2B5EF4-FFF2-40B4-BE49-F238E27FC236}">
                    <a16:creationId xmlns:a16="http://schemas.microsoft.com/office/drawing/2014/main" id="{9AACB5B8-453C-41A3-AA49-85B77386E9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5392" name="Group 5">
                  <a:extLst>
                    <a:ext uri="{FF2B5EF4-FFF2-40B4-BE49-F238E27FC236}">
                      <a16:creationId xmlns:a16="http://schemas.microsoft.com/office/drawing/2014/main" id="{861DED2C-4680-4992-9161-9940FE17F7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5402" name="Group 6">
                    <a:extLst>
                      <a:ext uri="{FF2B5EF4-FFF2-40B4-BE49-F238E27FC236}">
                        <a16:creationId xmlns:a16="http://schemas.microsoft.com/office/drawing/2014/main" id="{D1D308BD-00DC-4E42-8873-37C5F36F67A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5404" name="Text Box 7">
                      <a:extLst>
                        <a:ext uri="{FF2B5EF4-FFF2-40B4-BE49-F238E27FC236}">
                          <a16:creationId xmlns:a16="http://schemas.microsoft.com/office/drawing/2014/main" id="{1C11CBA0-050D-4A44-B3CB-71E60B49A47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y</a:t>
                      </a:r>
                    </a:p>
                  </p:txBody>
                </p:sp>
                <p:grpSp>
                  <p:nvGrpSpPr>
                    <p:cNvPr id="15405" name="Group 8">
                      <a:extLst>
                        <a:ext uri="{FF2B5EF4-FFF2-40B4-BE49-F238E27FC236}">
                          <a16:creationId xmlns:a16="http://schemas.microsoft.com/office/drawing/2014/main" id="{672EC788-D08B-4E3A-A47D-98DAC5A890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5409" name="Group 9">
                        <a:extLst>
                          <a:ext uri="{FF2B5EF4-FFF2-40B4-BE49-F238E27FC236}">
                            <a16:creationId xmlns:a16="http://schemas.microsoft.com/office/drawing/2014/main" id="{868E9B78-AAEF-46B5-AB6B-5EA46E2C726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51" name="Line 10">
                          <a:extLst>
                            <a:ext uri="{FF2B5EF4-FFF2-40B4-BE49-F238E27FC236}">
                              <a16:creationId xmlns:a16="http://schemas.microsoft.com/office/drawing/2014/main" id="{7075E28A-AE28-4105-A31E-246C42E8D62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52" name="Line 11">
                          <a:extLst>
                            <a:ext uri="{FF2B5EF4-FFF2-40B4-BE49-F238E27FC236}">
                              <a16:creationId xmlns:a16="http://schemas.microsoft.com/office/drawing/2014/main" id="{ADC18D39-0122-45F4-B0FB-9E1FEF644E0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53" name="Line 12">
                          <a:extLst>
                            <a:ext uri="{FF2B5EF4-FFF2-40B4-BE49-F238E27FC236}">
                              <a16:creationId xmlns:a16="http://schemas.microsoft.com/office/drawing/2014/main" id="{365F4FF4-DFFE-4781-A499-7BE2F1C3D22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54" name="Line 13">
                          <a:extLst>
                            <a:ext uri="{FF2B5EF4-FFF2-40B4-BE49-F238E27FC236}">
                              <a16:creationId xmlns:a16="http://schemas.microsoft.com/office/drawing/2014/main" id="{B128F1D5-3039-4044-AE60-ACF1363B641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0" name="Group 14">
                        <a:extLst>
                          <a:ext uri="{FF2B5EF4-FFF2-40B4-BE49-F238E27FC236}">
                            <a16:creationId xmlns:a16="http://schemas.microsoft.com/office/drawing/2014/main" id="{3ABF2BCB-1810-49BB-8E69-8EE4DBE1DE5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47" name="Line 15">
                          <a:extLst>
                            <a:ext uri="{FF2B5EF4-FFF2-40B4-BE49-F238E27FC236}">
                              <a16:creationId xmlns:a16="http://schemas.microsoft.com/office/drawing/2014/main" id="{1F832F4E-06E0-4390-A3C6-C6623912E99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8" name="Line 16">
                          <a:extLst>
                            <a:ext uri="{FF2B5EF4-FFF2-40B4-BE49-F238E27FC236}">
                              <a16:creationId xmlns:a16="http://schemas.microsoft.com/office/drawing/2014/main" id="{A4E1F7C3-9CFD-4497-9C29-C09F130C532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9" name="Line 17">
                          <a:extLst>
                            <a:ext uri="{FF2B5EF4-FFF2-40B4-BE49-F238E27FC236}">
                              <a16:creationId xmlns:a16="http://schemas.microsoft.com/office/drawing/2014/main" id="{F4336D8F-60F3-4A87-8347-489E50A42CD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50" name="Line 18">
                          <a:extLst>
                            <a:ext uri="{FF2B5EF4-FFF2-40B4-BE49-F238E27FC236}">
                              <a16:creationId xmlns:a16="http://schemas.microsoft.com/office/drawing/2014/main" id="{EEB67DB1-DE1A-4A0A-8B49-3212AAFD576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1" name="Group 19">
                        <a:extLst>
                          <a:ext uri="{FF2B5EF4-FFF2-40B4-BE49-F238E27FC236}">
                            <a16:creationId xmlns:a16="http://schemas.microsoft.com/office/drawing/2014/main" id="{BAD19A8E-7AB9-43BE-A8A5-463EDFF6CCB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43" name="Line 20">
                          <a:extLst>
                            <a:ext uri="{FF2B5EF4-FFF2-40B4-BE49-F238E27FC236}">
                              <a16:creationId xmlns:a16="http://schemas.microsoft.com/office/drawing/2014/main" id="{2BB74CB7-06D3-4382-A470-2EF270393D9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4" name="Line 21">
                          <a:extLst>
                            <a:ext uri="{FF2B5EF4-FFF2-40B4-BE49-F238E27FC236}">
                              <a16:creationId xmlns:a16="http://schemas.microsoft.com/office/drawing/2014/main" id="{72ED1B4B-7514-43DB-A006-A48BF9C278C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5" name="Line 22">
                          <a:extLst>
                            <a:ext uri="{FF2B5EF4-FFF2-40B4-BE49-F238E27FC236}">
                              <a16:creationId xmlns:a16="http://schemas.microsoft.com/office/drawing/2014/main" id="{316CF6FF-9C33-4511-A78E-A319A20633A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6" name="Line 23">
                          <a:extLst>
                            <a:ext uri="{FF2B5EF4-FFF2-40B4-BE49-F238E27FC236}">
                              <a16:creationId xmlns:a16="http://schemas.microsoft.com/office/drawing/2014/main" id="{87CED3BE-F69C-4F20-A11D-F8777198E6C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2" name="Group 24">
                        <a:extLst>
                          <a:ext uri="{FF2B5EF4-FFF2-40B4-BE49-F238E27FC236}">
                            <a16:creationId xmlns:a16="http://schemas.microsoft.com/office/drawing/2014/main" id="{6E9BE811-87CC-4179-8D94-5E7BAAFD9CE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39" name="Line 25">
                          <a:extLst>
                            <a:ext uri="{FF2B5EF4-FFF2-40B4-BE49-F238E27FC236}">
                              <a16:creationId xmlns:a16="http://schemas.microsoft.com/office/drawing/2014/main" id="{82F89FAE-DF95-4D34-9635-7AB7044A1E0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0" name="Line 26">
                          <a:extLst>
                            <a:ext uri="{FF2B5EF4-FFF2-40B4-BE49-F238E27FC236}">
                              <a16:creationId xmlns:a16="http://schemas.microsoft.com/office/drawing/2014/main" id="{16E2D4CF-1C0A-472D-9172-BA63435ADB1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1" name="Line 27">
                          <a:extLst>
                            <a:ext uri="{FF2B5EF4-FFF2-40B4-BE49-F238E27FC236}">
                              <a16:creationId xmlns:a16="http://schemas.microsoft.com/office/drawing/2014/main" id="{D923279D-7BC7-43CC-9F92-E082C652FE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42" name="Line 28">
                          <a:extLst>
                            <a:ext uri="{FF2B5EF4-FFF2-40B4-BE49-F238E27FC236}">
                              <a16:creationId xmlns:a16="http://schemas.microsoft.com/office/drawing/2014/main" id="{9F1048E4-45F8-42DE-8079-C61C5BAF62E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3" name="Group 29">
                        <a:extLst>
                          <a:ext uri="{FF2B5EF4-FFF2-40B4-BE49-F238E27FC236}">
                            <a16:creationId xmlns:a16="http://schemas.microsoft.com/office/drawing/2014/main" id="{277C1F63-496C-41AC-8A3F-3C4EE61D209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35" name="Line 30">
                          <a:extLst>
                            <a:ext uri="{FF2B5EF4-FFF2-40B4-BE49-F238E27FC236}">
                              <a16:creationId xmlns:a16="http://schemas.microsoft.com/office/drawing/2014/main" id="{69576691-62A1-4914-8A59-A97311BEF8A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6" name="Line 31">
                          <a:extLst>
                            <a:ext uri="{FF2B5EF4-FFF2-40B4-BE49-F238E27FC236}">
                              <a16:creationId xmlns:a16="http://schemas.microsoft.com/office/drawing/2014/main" id="{5F03D336-E65E-4733-8833-836714B02BF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7" name="Line 32">
                          <a:extLst>
                            <a:ext uri="{FF2B5EF4-FFF2-40B4-BE49-F238E27FC236}">
                              <a16:creationId xmlns:a16="http://schemas.microsoft.com/office/drawing/2014/main" id="{45177586-808A-4906-A83D-440CD9C6A2C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8" name="Line 33">
                          <a:extLst>
                            <a:ext uri="{FF2B5EF4-FFF2-40B4-BE49-F238E27FC236}">
                              <a16:creationId xmlns:a16="http://schemas.microsoft.com/office/drawing/2014/main" id="{190200FE-DA0D-44E0-A113-C0B70A69BEC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4" name="Group 34">
                        <a:extLst>
                          <a:ext uri="{FF2B5EF4-FFF2-40B4-BE49-F238E27FC236}">
                            <a16:creationId xmlns:a16="http://schemas.microsoft.com/office/drawing/2014/main" id="{ACE1E244-5EF8-4546-9F23-4CDF06579B3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31" name="Line 35">
                          <a:extLst>
                            <a:ext uri="{FF2B5EF4-FFF2-40B4-BE49-F238E27FC236}">
                              <a16:creationId xmlns:a16="http://schemas.microsoft.com/office/drawing/2014/main" id="{98AB9770-0463-4EA9-AA9E-13799D8D9A9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2" name="Line 36">
                          <a:extLst>
                            <a:ext uri="{FF2B5EF4-FFF2-40B4-BE49-F238E27FC236}">
                              <a16:creationId xmlns:a16="http://schemas.microsoft.com/office/drawing/2014/main" id="{2A233932-46F0-4FDF-9395-B2AD38C85C3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3" name="Line 37">
                          <a:extLst>
                            <a:ext uri="{FF2B5EF4-FFF2-40B4-BE49-F238E27FC236}">
                              <a16:creationId xmlns:a16="http://schemas.microsoft.com/office/drawing/2014/main" id="{2AD37CC7-5C52-43B4-AC1F-18FD6CBC1D3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4" name="Line 38">
                          <a:extLst>
                            <a:ext uri="{FF2B5EF4-FFF2-40B4-BE49-F238E27FC236}">
                              <a16:creationId xmlns:a16="http://schemas.microsoft.com/office/drawing/2014/main" id="{44E0D516-8EC8-4BC8-AF72-BB18B36D7A3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5" name="Group 39">
                        <a:extLst>
                          <a:ext uri="{FF2B5EF4-FFF2-40B4-BE49-F238E27FC236}">
                            <a16:creationId xmlns:a16="http://schemas.microsoft.com/office/drawing/2014/main" id="{F547534D-F3F5-4D85-8CDC-9F6AE1B88EF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27" name="Line 40">
                          <a:extLst>
                            <a:ext uri="{FF2B5EF4-FFF2-40B4-BE49-F238E27FC236}">
                              <a16:creationId xmlns:a16="http://schemas.microsoft.com/office/drawing/2014/main" id="{03028734-2991-481F-B25F-CB4333CB2DE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8" name="Line 41">
                          <a:extLst>
                            <a:ext uri="{FF2B5EF4-FFF2-40B4-BE49-F238E27FC236}">
                              <a16:creationId xmlns:a16="http://schemas.microsoft.com/office/drawing/2014/main" id="{67FEE8F3-9E84-40F2-8EA7-BCC682FF819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9" name="Line 42">
                          <a:extLst>
                            <a:ext uri="{FF2B5EF4-FFF2-40B4-BE49-F238E27FC236}">
                              <a16:creationId xmlns:a16="http://schemas.microsoft.com/office/drawing/2014/main" id="{24A96AC7-8C34-4FF7-A8FB-7EF1F481D76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30" name="Line 43">
                          <a:extLst>
                            <a:ext uri="{FF2B5EF4-FFF2-40B4-BE49-F238E27FC236}">
                              <a16:creationId xmlns:a16="http://schemas.microsoft.com/office/drawing/2014/main" id="{A8278EA8-8C9A-4A8C-B6F9-10CCDBF8B4F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6" name="Group 44">
                        <a:extLst>
                          <a:ext uri="{FF2B5EF4-FFF2-40B4-BE49-F238E27FC236}">
                            <a16:creationId xmlns:a16="http://schemas.microsoft.com/office/drawing/2014/main" id="{D49CA452-0E0C-4B70-A393-17EE5D0A418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23" name="Line 45">
                          <a:extLst>
                            <a:ext uri="{FF2B5EF4-FFF2-40B4-BE49-F238E27FC236}">
                              <a16:creationId xmlns:a16="http://schemas.microsoft.com/office/drawing/2014/main" id="{9047744D-893C-4C08-AFCD-DBC7BF9D828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4" name="Line 46">
                          <a:extLst>
                            <a:ext uri="{FF2B5EF4-FFF2-40B4-BE49-F238E27FC236}">
                              <a16:creationId xmlns:a16="http://schemas.microsoft.com/office/drawing/2014/main" id="{0C19A773-C5A6-4BD7-B37F-1F9FA74072E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5" name="Line 47">
                          <a:extLst>
                            <a:ext uri="{FF2B5EF4-FFF2-40B4-BE49-F238E27FC236}">
                              <a16:creationId xmlns:a16="http://schemas.microsoft.com/office/drawing/2014/main" id="{18F37435-A951-44B9-8EC5-E3065E9AC54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6" name="Line 48">
                          <a:extLst>
                            <a:ext uri="{FF2B5EF4-FFF2-40B4-BE49-F238E27FC236}">
                              <a16:creationId xmlns:a16="http://schemas.microsoft.com/office/drawing/2014/main" id="{F1D77549-5DF2-40BA-9A68-D00B3852841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17" name="Group 49">
                        <a:extLst>
                          <a:ext uri="{FF2B5EF4-FFF2-40B4-BE49-F238E27FC236}">
                            <a16:creationId xmlns:a16="http://schemas.microsoft.com/office/drawing/2014/main" id="{EC76C077-187F-42B0-8FA2-8E5BB57E7F8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5419" name="Line 50">
                          <a:extLst>
                            <a:ext uri="{FF2B5EF4-FFF2-40B4-BE49-F238E27FC236}">
                              <a16:creationId xmlns:a16="http://schemas.microsoft.com/office/drawing/2014/main" id="{20D292A3-0406-4845-8499-283013D0CDD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0" name="Line 51">
                          <a:extLst>
                            <a:ext uri="{FF2B5EF4-FFF2-40B4-BE49-F238E27FC236}">
                              <a16:creationId xmlns:a16="http://schemas.microsoft.com/office/drawing/2014/main" id="{9818E9A2-5C5B-4469-9F77-F0926FB60C0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1" name="Line 52">
                          <a:extLst>
                            <a:ext uri="{FF2B5EF4-FFF2-40B4-BE49-F238E27FC236}">
                              <a16:creationId xmlns:a16="http://schemas.microsoft.com/office/drawing/2014/main" id="{3667CF67-6134-4CF7-8BD3-CE8AA048518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  <p:sp>
                      <p:nvSpPr>
                        <p:cNvPr id="15422" name="Line 53">
                          <a:extLst>
                            <a:ext uri="{FF2B5EF4-FFF2-40B4-BE49-F238E27FC236}">
                              <a16:creationId xmlns:a16="http://schemas.microsoft.com/office/drawing/2014/main" id="{84010019-F95B-4772-9998-651D4D59F0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AU" sz="2400">
                            <a:solidFill>
                              <a:srgbClr val="000000"/>
                            </a:solidFill>
                            <a:latin typeface="Verdana" panose="020B060403050404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5418" name="Line 54">
                        <a:extLst>
                          <a:ext uri="{FF2B5EF4-FFF2-40B4-BE49-F238E27FC236}">
                            <a16:creationId xmlns:a16="http://schemas.microsoft.com/office/drawing/2014/main" id="{B1D737A2-4265-4584-B9A8-F49138E6406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AU" sz="240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endParaRPr>
                      </a:p>
                    </p:txBody>
                  </p:sp>
                </p:grpSp>
                <p:sp>
                  <p:nvSpPr>
                    <p:cNvPr id="15406" name="Line 55">
                      <a:extLst>
                        <a:ext uri="{FF2B5EF4-FFF2-40B4-BE49-F238E27FC236}">
                          <a16:creationId xmlns:a16="http://schemas.microsoft.com/office/drawing/2014/main" id="{8D589C69-9ABC-4BFD-8B3D-657139DE38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5407" name="Line 56">
                      <a:extLst>
                        <a:ext uri="{FF2B5EF4-FFF2-40B4-BE49-F238E27FC236}">
                          <a16:creationId xmlns:a16="http://schemas.microsoft.com/office/drawing/2014/main" id="{805E995C-B0ED-4576-94EA-E90A601590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AU" sz="2400">
                        <a:solidFill>
                          <a:srgbClr val="000000"/>
                        </a:solidFill>
                        <a:latin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5408" name="Text Box 57">
                      <a:extLst>
                        <a:ext uri="{FF2B5EF4-FFF2-40B4-BE49-F238E27FC236}">
                          <a16:creationId xmlns:a16="http://schemas.microsoft.com/office/drawing/2014/main" id="{C34BB59A-5E62-4500-8C4A-EBDE7C779E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en-US" sz="480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42042" name="Text Box 58">
                    <a:extLst>
                      <a:ext uri="{FF2B5EF4-FFF2-40B4-BE49-F238E27FC236}">
                        <a16:creationId xmlns:a16="http://schemas.microsoft.com/office/drawing/2014/main" id="{4F345054-DCED-4295-8FF5-4AF9372C49B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5393" name="Group 59">
                  <a:extLst>
                    <a:ext uri="{FF2B5EF4-FFF2-40B4-BE49-F238E27FC236}">
                      <a16:creationId xmlns:a16="http://schemas.microsoft.com/office/drawing/2014/main" id="{8A181502-2520-413C-A897-F3CD7AA13E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42044" name="Text Box 60">
                    <a:extLst>
                      <a:ext uri="{FF2B5EF4-FFF2-40B4-BE49-F238E27FC236}">
                        <a16:creationId xmlns:a16="http://schemas.microsoft.com/office/drawing/2014/main" id="{CC5FC5E2-889C-4D4D-8EF9-FEA80442F50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1</a:t>
                    </a:r>
                  </a:p>
                </p:txBody>
              </p:sp>
              <p:sp>
                <p:nvSpPr>
                  <p:cNvPr id="42045" name="Text Box 61">
                    <a:extLst>
                      <a:ext uri="{FF2B5EF4-FFF2-40B4-BE49-F238E27FC236}">
                        <a16:creationId xmlns:a16="http://schemas.microsoft.com/office/drawing/2014/main" id="{D19B66E5-6B50-40AB-95A4-1E4B99B33C5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2</a:t>
                    </a:r>
                  </a:p>
                </p:txBody>
              </p:sp>
              <p:sp>
                <p:nvSpPr>
                  <p:cNvPr id="42046" name="Text Box 62">
                    <a:extLst>
                      <a:ext uri="{FF2B5EF4-FFF2-40B4-BE49-F238E27FC236}">
                        <a16:creationId xmlns:a16="http://schemas.microsoft.com/office/drawing/2014/main" id="{480F7B77-9536-458B-A259-C220882427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3</a:t>
                    </a:r>
                  </a:p>
                </p:txBody>
              </p:sp>
              <p:sp>
                <p:nvSpPr>
                  <p:cNvPr id="42047" name="Text Box 63">
                    <a:extLst>
                      <a:ext uri="{FF2B5EF4-FFF2-40B4-BE49-F238E27FC236}">
                        <a16:creationId xmlns:a16="http://schemas.microsoft.com/office/drawing/2014/main" id="{EA4A32A4-0AD4-4B6F-AB08-AD31867AF9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4</a:t>
                    </a:r>
                  </a:p>
                </p:txBody>
              </p:sp>
              <p:sp>
                <p:nvSpPr>
                  <p:cNvPr id="42048" name="Text Box 64">
                    <a:extLst>
                      <a:ext uri="{FF2B5EF4-FFF2-40B4-BE49-F238E27FC236}">
                        <a16:creationId xmlns:a16="http://schemas.microsoft.com/office/drawing/2014/main" id="{C59715BD-A7AF-4AF4-B7C0-920DA3B238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5</a:t>
                    </a:r>
                  </a:p>
                </p:txBody>
              </p:sp>
              <p:sp>
                <p:nvSpPr>
                  <p:cNvPr id="42049" name="Text Box 65">
                    <a:extLst>
                      <a:ext uri="{FF2B5EF4-FFF2-40B4-BE49-F238E27FC236}">
                        <a16:creationId xmlns:a16="http://schemas.microsoft.com/office/drawing/2014/main" id="{C6E9CE97-30DA-4028-84C4-538C309B181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6</a:t>
                    </a:r>
                  </a:p>
                </p:txBody>
              </p:sp>
              <p:sp>
                <p:nvSpPr>
                  <p:cNvPr id="42050" name="Text Box 66">
                    <a:extLst>
                      <a:ext uri="{FF2B5EF4-FFF2-40B4-BE49-F238E27FC236}">
                        <a16:creationId xmlns:a16="http://schemas.microsoft.com/office/drawing/2014/main" id="{3FE7A411-F16D-434A-8AB4-AE3C50A9400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7</a:t>
                    </a:r>
                  </a:p>
                </p:txBody>
              </p:sp>
              <p:sp>
                <p:nvSpPr>
                  <p:cNvPr id="42051" name="Text Box 67">
                    <a:extLst>
                      <a:ext uri="{FF2B5EF4-FFF2-40B4-BE49-F238E27FC236}">
                        <a16:creationId xmlns:a16="http://schemas.microsoft.com/office/drawing/2014/main" id="{F248B00B-4C36-4E85-84E4-4DD1707F5A6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/>
                    </a:pPr>
                    <a:r>
                      <a:rPr lang="en-GB" altLang="x-none" b="1">
                        <a:solidFill>
                          <a:srgbClr val="000000"/>
                        </a:solidFill>
                        <a:latin typeface="Arial" charset="0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42052" name="Text Box 68">
                <a:extLst>
                  <a:ext uri="{FF2B5EF4-FFF2-40B4-BE49-F238E27FC236}">
                    <a16:creationId xmlns:a16="http://schemas.microsoft.com/office/drawing/2014/main" id="{F09A6C8F-3F21-4C7D-BA7B-AB4F024319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 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7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 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  </a:t>
                </a: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–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 </a:t>
                </a:r>
              </a:p>
            </p:txBody>
          </p:sp>
        </p:grpSp>
        <p:grpSp>
          <p:nvGrpSpPr>
            <p:cNvPr id="15383" name="Group 69">
              <a:extLst>
                <a:ext uri="{FF2B5EF4-FFF2-40B4-BE49-F238E27FC236}">
                  <a16:creationId xmlns:a16="http://schemas.microsoft.com/office/drawing/2014/main" id="{4598ADCB-ADC2-4D9C-B002-9450CF1949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42054" name="Text Box 70">
                <a:extLst>
                  <a:ext uri="{FF2B5EF4-FFF2-40B4-BE49-F238E27FC236}">
                    <a16:creationId xmlns:a16="http://schemas.microsoft.com/office/drawing/2014/main" id="{3CB1F79F-F7C6-47B3-BE5D-03F5C129E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42055" name="Text Box 71">
                <a:extLst>
                  <a:ext uri="{FF2B5EF4-FFF2-40B4-BE49-F238E27FC236}">
                    <a16:creationId xmlns:a16="http://schemas.microsoft.com/office/drawing/2014/main" id="{EFE32D3E-40AF-4211-9EBE-77F8A22A9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42056" name="Text Box 72">
                <a:extLst>
                  <a:ext uri="{FF2B5EF4-FFF2-40B4-BE49-F238E27FC236}">
                    <a16:creationId xmlns:a16="http://schemas.microsoft.com/office/drawing/2014/main" id="{FB1765D8-6FBF-4AE0-8BBE-AADE852CC0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3</a:t>
                </a:r>
              </a:p>
            </p:txBody>
          </p:sp>
          <p:sp>
            <p:nvSpPr>
              <p:cNvPr id="42057" name="Text Box 73">
                <a:extLst>
                  <a:ext uri="{FF2B5EF4-FFF2-40B4-BE49-F238E27FC236}">
                    <a16:creationId xmlns:a16="http://schemas.microsoft.com/office/drawing/2014/main" id="{3379A700-19F0-4E50-AFA7-048C9FA8C1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4</a:t>
                </a:r>
              </a:p>
            </p:txBody>
          </p:sp>
          <p:sp>
            <p:nvSpPr>
              <p:cNvPr id="42058" name="Text Box 74">
                <a:extLst>
                  <a:ext uri="{FF2B5EF4-FFF2-40B4-BE49-F238E27FC236}">
                    <a16:creationId xmlns:a16="http://schemas.microsoft.com/office/drawing/2014/main" id="{7BEBA892-BC80-4845-9282-CDE2B5B40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5</a:t>
                </a:r>
              </a:p>
            </p:txBody>
          </p:sp>
          <p:sp>
            <p:nvSpPr>
              <p:cNvPr id="42059" name="Text Box 75">
                <a:extLst>
                  <a:ext uri="{FF2B5EF4-FFF2-40B4-BE49-F238E27FC236}">
                    <a16:creationId xmlns:a16="http://schemas.microsoft.com/office/drawing/2014/main" id="{5FCABE56-DCB2-4239-B24D-CEEF2724A0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GB" altLang="x-none" b="1" baseline="30000">
                    <a:solidFill>
                      <a:srgbClr val="000000"/>
                    </a:solidFill>
                    <a:latin typeface="Arial" charset="0"/>
                  </a:rPr>
                  <a:t>-</a:t>
                </a:r>
                <a:r>
                  <a:rPr lang="en-GB" altLang="x-none" b="1">
                    <a:solidFill>
                      <a:srgbClr val="000000"/>
                    </a:solidFill>
                    <a:latin typeface="Arial" charset="0"/>
                  </a:rPr>
                  <a:t>6</a:t>
                </a:r>
              </a:p>
            </p:txBody>
          </p:sp>
        </p:grpSp>
      </p:grpSp>
      <p:sp>
        <p:nvSpPr>
          <p:cNvPr id="42060" name="Line 76">
            <a:extLst>
              <a:ext uri="{FF2B5EF4-FFF2-40B4-BE49-F238E27FC236}">
                <a16:creationId xmlns:a16="http://schemas.microsoft.com/office/drawing/2014/main" id="{DBF0E404-FCAC-4FE8-92D4-DAC6A45CB6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4" y="2524126"/>
            <a:ext cx="4243387" cy="42322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2062" name="Rectangle 78">
            <a:extLst>
              <a:ext uri="{FF2B5EF4-FFF2-40B4-BE49-F238E27FC236}">
                <a16:creationId xmlns:a16="http://schemas.microsoft.com/office/drawing/2014/main" id="{EA550A8F-9496-47C6-91D1-B151AA6FF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228600"/>
            <a:ext cx="72390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GB" altLang="x-none" u="sng">
                <a:latin typeface="Arial" charset="0"/>
              </a:rPr>
              <a:t>Exercise</a:t>
            </a:r>
          </a:p>
        </p:txBody>
      </p:sp>
      <p:sp>
        <p:nvSpPr>
          <p:cNvPr id="42068" name="Line 84">
            <a:extLst>
              <a:ext uri="{FF2B5EF4-FFF2-40B4-BE49-F238E27FC236}">
                <a16:creationId xmlns:a16="http://schemas.microsoft.com/office/drawing/2014/main" id="{AEF1538D-A5C6-4E56-A380-D38B2703C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447800"/>
            <a:ext cx="4114800" cy="42672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2069" name="Line 85">
            <a:extLst>
              <a:ext uri="{FF2B5EF4-FFF2-40B4-BE49-F238E27FC236}">
                <a16:creationId xmlns:a16="http://schemas.microsoft.com/office/drawing/2014/main" id="{DE598275-861A-4872-B845-7BC8EC11CD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46400" y="1892300"/>
            <a:ext cx="2514600" cy="48006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2076" name="Text Box 92">
            <a:extLst>
              <a:ext uri="{FF2B5EF4-FFF2-40B4-BE49-F238E27FC236}">
                <a16:creationId xmlns:a16="http://schemas.microsoft.com/office/drawing/2014/main" id="{CD9AB3A3-AF7D-4228-9BD1-701A37BB9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Arial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2078" name="Text Box 94">
            <a:extLst>
              <a:ext uri="{FF2B5EF4-FFF2-40B4-BE49-F238E27FC236}">
                <a16:creationId xmlns:a16="http://schemas.microsoft.com/office/drawing/2014/main" id="{04711DDD-1E1D-487E-AD36-993D5F153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9906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Click for Answers</a:t>
            </a:r>
          </a:p>
        </p:txBody>
      </p:sp>
      <p:sp>
        <p:nvSpPr>
          <p:cNvPr id="42083" name="Line 99">
            <a:extLst>
              <a:ext uri="{FF2B5EF4-FFF2-40B4-BE49-F238E27FC236}">
                <a16:creationId xmlns:a16="http://schemas.microsoft.com/office/drawing/2014/main" id="{6C425CAE-46C8-4A09-A737-E44948E4B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524000"/>
            <a:ext cx="2819400" cy="533400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2084" name="Line 100">
            <a:extLst>
              <a:ext uri="{FF2B5EF4-FFF2-40B4-BE49-F238E27FC236}">
                <a16:creationId xmlns:a16="http://schemas.microsoft.com/office/drawing/2014/main" id="{E9012188-24C4-4D05-84FC-21161EF413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1066800"/>
            <a:ext cx="5867400" cy="312420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2085" name="Text Box 101">
            <a:extLst>
              <a:ext uri="{FF2B5EF4-FFF2-40B4-BE49-F238E27FC236}">
                <a16:creationId xmlns:a16="http://schemas.microsoft.com/office/drawing/2014/main" id="{E4E03CAE-4E5A-477A-89BB-5391E2A9C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943600"/>
            <a:ext cx="457200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42086" name="Text Box 102">
            <a:extLst>
              <a:ext uri="{FF2B5EF4-FFF2-40B4-BE49-F238E27FC236}">
                <a16:creationId xmlns:a16="http://schemas.microsoft.com/office/drawing/2014/main" id="{85F354D2-98C7-4AE5-9D83-3327D91DA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562600"/>
            <a:ext cx="457200" cy="4572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42087" name="Text Box 103">
            <a:extLst>
              <a:ext uri="{FF2B5EF4-FFF2-40B4-BE49-F238E27FC236}">
                <a16:creationId xmlns:a16="http://schemas.microsoft.com/office/drawing/2014/main" id="{AB147850-666F-4F87-9C21-8D766C5AB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524000"/>
            <a:ext cx="457200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42088" name="Text Box 104">
            <a:extLst>
              <a:ext uri="{FF2B5EF4-FFF2-40B4-BE49-F238E27FC236}">
                <a16:creationId xmlns:a16="http://schemas.microsoft.com/office/drawing/2014/main" id="{3D818AB7-53B5-4970-9F44-908752469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762000"/>
            <a:ext cx="457200" cy="4572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42089" name="Text Box 105">
            <a:extLst>
              <a:ext uri="{FF2B5EF4-FFF2-40B4-BE49-F238E27FC236}">
                <a16:creationId xmlns:a16="http://schemas.microsoft.com/office/drawing/2014/main" id="{58D2B848-B2D1-4562-AE57-C8440924B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6400800"/>
            <a:ext cx="457200" cy="457200"/>
          </a:xfrm>
          <a:prstGeom prst="rect">
            <a:avLst/>
          </a:prstGeom>
          <a:solidFill>
            <a:srgbClr val="FF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42090" name="Text Box 106">
            <a:extLst>
              <a:ext uri="{FF2B5EF4-FFF2-40B4-BE49-F238E27FC236}">
                <a16:creationId xmlns:a16="http://schemas.microsoft.com/office/drawing/2014/main" id="{5031DE5A-337B-41E8-B8BE-C76E3CCE5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4" y="1484313"/>
            <a:ext cx="2232025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Arial" charset="0"/>
              </a:rPr>
              <a:t>1)    y = x - 2</a:t>
            </a:r>
          </a:p>
        </p:txBody>
      </p:sp>
      <p:sp>
        <p:nvSpPr>
          <p:cNvPr id="42091" name="Text Box 107">
            <a:extLst>
              <a:ext uri="{FF2B5EF4-FFF2-40B4-BE49-F238E27FC236}">
                <a16:creationId xmlns:a16="http://schemas.microsoft.com/office/drawing/2014/main" id="{D787ABAC-9854-416D-B99F-59B14FA14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4" y="2133600"/>
            <a:ext cx="2232025" cy="457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Arial" charset="0"/>
              </a:rPr>
              <a:t>2)    y = -x + 3</a:t>
            </a:r>
          </a:p>
        </p:txBody>
      </p:sp>
      <p:sp>
        <p:nvSpPr>
          <p:cNvPr id="42092" name="Text Box 108">
            <a:extLst>
              <a:ext uri="{FF2B5EF4-FFF2-40B4-BE49-F238E27FC236}">
                <a16:creationId xmlns:a16="http://schemas.microsoft.com/office/drawing/2014/main" id="{BEF5F5DD-8BF2-4FF5-AC74-DEE50C7EE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4" y="2781300"/>
            <a:ext cx="2232025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Arial" charset="0"/>
              </a:rPr>
              <a:t>3)    y = 2x + 2</a:t>
            </a:r>
          </a:p>
        </p:txBody>
      </p:sp>
      <p:sp>
        <p:nvSpPr>
          <p:cNvPr id="42093" name="Text Box 109">
            <a:extLst>
              <a:ext uri="{FF2B5EF4-FFF2-40B4-BE49-F238E27FC236}">
                <a16:creationId xmlns:a16="http://schemas.microsoft.com/office/drawing/2014/main" id="{27B5F41A-01B0-4656-A361-7E7DFC482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4" y="3429000"/>
            <a:ext cx="2232025" cy="457200"/>
          </a:xfrm>
          <a:prstGeom prst="rect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Arial" charset="0"/>
              </a:rPr>
              <a:t>4)    y = -2x - 1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094" name="Text Box 110">
                <a:extLst>
                  <a:ext uri="{FF2B5EF4-FFF2-40B4-BE49-F238E27FC236}">
                    <a16:creationId xmlns:a16="http://schemas.microsoft.com/office/drawing/2014/main" id="{CF936AC9-50BE-4DB9-992A-D855B4FA60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67664" y="4076701"/>
                <a:ext cx="2534466" cy="647357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buFontTx/>
                  <a:buAutoNum type="arabicParenR" startAt="5"/>
                  <a:defRPr/>
                </a:pPr>
                <a:r>
                  <a:rPr lang="en-GB" altLang="x-none" b="1" dirty="0">
                    <a:solidFill>
                      <a:srgbClr val="000000"/>
                    </a:solidFill>
                    <a:latin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x-none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altLang="x-none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x-none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x-none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x-none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x-none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x-none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x-none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GB" altLang="x-none" b="1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mc:Choice>
        <mc:Fallback>
          <p:sp>
            <p:nvSpPr>
              <p:cNvPr id="42094" name="Text Box 110">
                <a:extLst>
                  <a:ext uri="{FF2B5EF4-FFF2-40B4-BE49-F238E27FC236}">
                    <a16:creationId xmlns:a16="http://schemas.microsoft.com/office/drawing/2014/main" id="{CF936AC9-50BE-4DB9-992A-D855B4FA6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7664" y="4076701"/>
                <a:ext cx="2534466" cy="647357"/>
              </a:xfrm>
              <a:prstGeom prst="rect">
                <a:avLst/>
              </a:prstGeom>
              <a:blipFill>
                <a:blip r:embed="rId3"/>
                <a:stretch>
                  <a:fillRect l="-3125" b="-1887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0" grpId="0" animBg="1"/>
      <p:bldP spid="42091" grpId="0" animBg="1"/>
      <p:bldP spid="42092" grpId="0" animBg="1"/>
      <p:bldP spid="42093" grpId="0" animBg="1"/>
      <p:bldP spid="4209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E78E380-BBBA-4ECF-96E8-094298E6A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40481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x-none">
                <a:latin typeface="Arial" charset="0"/>
              </a:rPr>
              <a:t>The Table Method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C4663A4-1760-45D1-BAF3-14B3B948F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524000"/>
            <a:ext cx="8534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We can use an equation of a line to plot a graph by substituting values of x into it.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u="sng">
                <a:solidFill>
                  <a:srgbClr val="000000"/>
                </a:solidFill>
                <a:latin typeface="Arial" charset="0"/>
              </a:rPr>
              <a:t>Example</a:t>
            </a:r>
            <a:endParaRPr lang="en-GB" altLang="x-none" sz="240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Arial" charset="0"/>
              </a:rPr>
              <a:t>y = 2x + 1</a:t>
            </a:r>
            <a:endParaRPr lang="en-GB" altLang="x-none" sz="2400" b="1">
              <a:solidFill>
                <a:srgbClr val="FF0000"/>
              </a:solidFill>
              <a:latin typeface="Arial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400" u="sng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40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40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x-none" sz="2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3050" name="Text Box 42">
            <a:extLst>
              <a:ext uri="{FF2B5EF4-FFF2-40B4-BE49-F238E27FC236}">
                <a16:creationId xmlns:a16="http://schemas.microsoft.com/office/drawing/2014/main" id="{9B92C61D-2CE6-48F2-8C57-C9DFE995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3505200"/>
            <a:ext cx="4430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x = 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0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      y = 2(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0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)</a:t>
            </a: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+1      y = </a:t>
            </a:r>
            <a:r>
              <a:rPr lang="en-GB" altLang="x-none" sz="2400" b="1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43051" name="Text Box 43">
            <a:extLst>
              <a:ext uri="{FF2B5EF4-FFF2-40B4-BE49-F238E27FC236}">
                <a16:creationId xmlns:a16="http://schemas.microsoft.com/office/drawing/2014/main" id="{E957089C-A7E7-4CAF-9C48-4AA234D40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038600"/>
            <a:ext cx="450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x = 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1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      y = 2(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1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)</a:t>
            </a: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+1      y = </a:t>
            </a:r>
            <a:r>
              <a:rPr lang="en-GB" altLang="x-none" sz="2400" b="1">
                <a:solidFill>
                  <a:srgbClr val="0000FF"/>
                </a:solidFill>
                <a:latin typeface="Arial" charset="0"/>
              </a:rPr>
              <a:t>3</a:t>
            </a:r>
          </a:p>
        </p:txBody>
      </p:sp>
      <p:sp>
        <p:nvSpPr>
          <p:cNvPr id="43052" name="Text Box 44">
            <a:extLst>
              <a:ext uri="{FF2B5EF4-FFF2-40B4-BE49-F238E27FC236}">
                <a16:creationId xmlns:a16="http://schemas.microsoft.com/office/drawing/2014/main" id="{F77441D4-1120-4318-AC06-961C5A082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4648200"/>
            <a:ext cx="4430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x = 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2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      y = 2(</a:t>
            </a:r>
            <a:r>
              <a:rPr lang="en-GB" altLang="x-none" sz="2400" b="1">
                <a:solidFill>
                  <a:srgbClr val="008000"/>
                </a:solidFill>
                <a:latin typeface="Arial" charset="0"/>
              </a:rPr>
              <a:t>2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)</a:t>
            </a:r>
            <a:r>
              <a:rPr lang="en-GB" altLang="x-none" sz="24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+1      y = </a:t>
            </a:r>
            <a:r>
              <a:rPr lang="en-GB" altLang="x-none" sz="2400" b="1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43054" name="Text Box 46">
            <a:extLst>
              <a:ext uri="{FF2B5EF4-FFF2-40B4-BE49-F238E27FC236}">
                <a16:creationId xmlns:a16="http://schemas.microsoft.com/office/drawing/2014/main" id="{511A4AB8-284C-4E86-ABC1-343652078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Now you just have to plot the points on to a graph!</a:t>
            </a:r>
          </a:p>
        </p:txBody>
      </p:sp>
      <p:sp>
        <p:nvSpPr>
          <p:cNvPr id="43055" name="Text Box 47">
            <a:extLst>
              <a:ext uri="{FF2B5EF4-FFF2-40B4-BE49-F238E27FC236}">
                <a16:creationId xmlns:a16="http://schemas.microsoft.com/office/drawing/2014/main" id="{F308CD8F-27BF-4C68-BDB4-47AC9AEFF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770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Arial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Arial" charset="0"/>
            </a:endParaRPr>
          </a:p>
        </p:txBody>
      </p:sp>
      <p:graphicFrame>
        <p:nvGraphicFramePr>
          <p:cNvPr id="43075" name="Group 67">
            <a:extLst>
              <a:ext uri="{FF2B5EF4-FFF2-40B4-BE49-F238E27FC236}">
                <a16:creationId xmlns:a16="http://schemas.microsoft.com/office/drawing/2014/main" id="{07589C49-7325-407C-8D51-896646B49F18}"/>
              </a:ext>
            </a:extLst>
          </p:cNvPr>
          <p:cNvGraphicFramePr>
            <a:graphicFrameLocks noGrp="1"/>
          </p:cNvGraphicFramePr>
          <p:nvPr/>
        </p:nvGraphicFramePr>
        <p:xfrm>
          <a:off x="1847850" y="3716338"/>
          <a:ext cx="2743200" cy="1574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50" grpId="0" autoUpdateAnimBg="0"/>
      <p:bldP spid="43051" grpId="0" autoUpdateAnimBg="0"/>
      <p:bldP spid="43052" grpId="0" autoUpdateAnimBg="0"/>
      <p:bldP spid="4305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28D99F0-FA75-48F1-AF46-8C1C85DA8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x-none" u="sng">
                <a:latin typeface="Arial" charset="0"/>
              </a:rPr>
              <a:t>The Table Method</a:t>
            </a:r>
          </a:p>
        </p:txBody>
      </p:sp>
      <p:grpSp>
        <p:nvGrpSpPr>
          <p:cNvPr id="18435" name="Group 472">
            <a:extLst>
              <a:ext uri="{FF2B5EF4-FFF2-40B4-BE49-F238E27FC236}">
                <a16:creationId xmlns:a16="http://schemas.microsoft.com/office/drawing/2014/main" id="{B3BE72FC-7704-4F0A-B8FD-1CF9D0CB3A37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609600"/>
            <a:ext cx="6858000" cy="6172200"/>
            <a:chOff x="576" y="240"/>
            <a:chExt cx="4608" cy="3888"/>
          </a:xfrm>
        </p:grpSpPr>
        <p:sp>
          <p:nvSpPr>
            <p:cNvPr id="48601" name="Line 473">
              <a:extLst>
                <a:ext uri="{FF2B5EF4-FFF2-40B4-BE49-F238E27FC236}">
                  <a16:creationId xmlns:a16="http://schemas.microsoft.com/office/drawing/2014/main" id="{F077FE35-E754-41BD-9DFA-77B296B8A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40"/>
              <a:ext cx="0" cy="38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Verdana" charset="0"/>
              </a:endParaRPr>
            </a:p>
          </p:txBody>
        </p:sp>
        <p:sp>
          <p:nvSpPr>
            <p:cNvPr id="48602" name="Line 474">
              <a:extLst>
                <a:ext uri="{FF2B5EF4-FFF2-40B4-BE49-F238E27FC236}">
                  <a16:creationId xmlns:a16="http://schemas.microsoft.com/office/drawing/2014/main" id="{B0029A1A-69DB-49F8-87B1-E49929DF9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208"/>
              <a:ext cx="460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Verdana" charset="0"/>
              </a:endParaRPr>
            </a:p>
          </p:txBody>
        </p:sp>
      </p:grpSp>
      <p:graphicFrame>
        <p:nvGraphicFramePr>
          <p:cNvPr id="48870" name="Group 742">
            <a:extLst>
              <a:ext uri="{FF2B5EF4-FFF2-40B4-BE49-F238E27FC236}">
                <a16:creationId xmlns:a16="http://schemas.microsoft.com/office/drawing/2014/main" id="{B36F3A41-D904-4CC1-BFAF-209113BD4C02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609600"/>
          <a:ext cx="6692900" cy="6248400"/>
        </p:xfrm>
        <a:graphic>
          <a:graphicData uri="http://schemas.openxmlformats.org/drawingml/2006/table">
            <a:tbl>
              <a:tblPr/>
              <a:tblGrid>
                <a:gridCol w="4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8819" name="Text Box 691">
            <a:extLst>
              <a:ext uri="{FF2B5EF4-FFF2-40B4-BE49-F238E27FC236}">
                <a16:creationId xmlns:a16="http://schemas.microsoft.com/office/drawing/2014/main" id="{3A70E5C2-0E8F-40C0-90AD-ADEA3545E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632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48820" name="Text Box 692">
            <a:extLst>
              <a:ext uri="{FF2B5EF4-FFF2-40B4-BE49-F238E27FC236}">
                <a16:creationId xmlns:a16="http://schemas.microsoft.com/office/drawing/2014/main" id="{C07E3271-F802-4860-A970-D2E6EAFA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4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48821" name="Text Box 693">
            <a:extLst>
              <a:ext uri="{FF2B5EF4-FFF2-40B4-BE49-F238E27FC236}">
                <a16:creationId xmlns:a16="http://schemas.microsoft.com/office/drawing/2014/main" id="{EA6A5021-26F5-41AA-B9F7-8DA7A2329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-1</a:t>
            </a:r>
          </a:p>
        </p:txBody>
      </p:sp>
      <p:sp>
        <p:nvSpPr>
          <p:cNvPr id="48822" name="Text Box 694">
            <a:extLst>
              <a:ext uri="{FF2B5EF4-FFF2-40B4-BE49-F238E27FC236}">
                <a16:creationId xmlns:a16="http://schemas.microsoft.com/office/drawing/2014/main" id="{30650755-B436-49AD-A964-0DC69607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29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48823" name="Text Box 695">
            <a:extLst>
              <a:ext uri="{FF2B5EF4-FFF2-40B4-BE49-F238E27FC236}">
                <a16:creationId xmlns:a16="http://schemas.microsoft.com/office/drawing/2014/main" id="{5F48B34B-3EF3-4FB0-A401-1C2EBF2B9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48824" name="Text Box 696">
            <a:extLst>
              <a:ext uri="{FF2B5EF4-FFF2-40B4-BE49-F238E27FC236}">
                <a16:creationId xmlns:a16="http://schemas.microsoft.com/office/drawing/2014/main" id="{99AB63EE-CEDC-46BF-83EB-8C8D691E6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48825" name="Text Box 697">
            <a:extLst>
              <a:ext uri="{FF2B5EF4-FFF2-40B4-BE49-F238E27FC236}">
                <a16:creationId xmlns:a16="http://schemas.microsoft.com/office/drawing/2014/main" id="{2AF8EE3F-F5A9-4547-8242-1783FA45E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-2</a:t>
            </a:r>
          </a:p>
        </p:txBody>
      </p:sp>
      <p:sp>
        <p:nvSpPr>
          <p:cNvPr id="48826" name="Text Box 698">
            <a:extLst>
              <a:ext uri="{FF2B5EF4-FFF2-40B4-BE49-F238E27FC236}">
                <a16:creationId xmlns:a16="http://schemas.microsoft.com/office/drawing/2014/main" id="{11ED0585-F648-461D-ADF8-A39A30BF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-3</a:t>
            </a:r>
          </a:p>
        </p:txBody>
      </p:sp>
      <p:sp>
        <p:nvSpPr>
          <p:cNvPr id="48827" name="Text Box 699">
            <a:extLst>
              <a:ext uri="{FF2B5EF4-FFF2-40B4-BE49-F238E27FC236}">
                <a16:creationId xmlns:a16="http://schemas.microsoft.com/office/drawing/2014/main" id="{04CE358B-CA27-4649-9C1F-1FAC023F3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-4</a:t>
            </a:r>
          </a:p>
        </p:txBody>
      </p:sp>
      <p:sp>
        <p:nvSpPr>
          <p:cNvPr id="48828" name="Text Box 700">
            <a:extLst>
              <a:ext uri="{FF2B5EF4-FFF2-40B4-BE49-F238E27FC236}">
                <a16:creationId xmlns:a16="http://schemas.microsoft.com/office/drawing/2014/main" id="{CA7612D4-4747-478E-8796-DBD0D0ABA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038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-1</a:t>
            </a:r>
          </a:p>
        </p:txBody>
      </p:sp>
      <p:sp>
        <p:nvSpPr>
          <p:cNvPr id="48829" name="Text Box 701">
            <a:extLst>
              <a:ext uri="{FF2B5EF4-FFF2-40B4-BE49-F238E27FC236}">
                <a16:creationId xmlns:a16="http://schemas.microsoft.com/office/drawing/2014/main" id="{1EB4844F-04FE-4964-89EF-DC1FB813C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572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-2</a:t>
            </a:r>
          </a:p>
        </p:txBody>
      </p:sp>
      <p:sp>
        <p:nvSpPr>
          <p:cNvPr id="48830" name="Text Box 702">
            <a:extLst>
              <a:ext uri="{FF2B5EF4-FFF2-40B4-BE49-F238E27FC236}">
                <a16:creationId xmlns:a16="http://schemas.microsoft.com/office/drawing/2014/main" id="{CC98CE32-5284-4928-A051-86F4D02C5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029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-3</a:t>
            </a:r>
          </a:p>
        </p:txBody>
      </p:sp>
      <p:sp>
        <p:nvSpPr>
          <p:cNvPr id="48831" name="Text Box 703">
            <a:extLst>
              <a:ext uri="{FF2B5EF4-FFF2-40B4-BE49-F238E27FC236}">
                <a16:creationId xmlns:a16="http://schemas.microsoft.com/office/drawing/2014/main" id="{122CD61D-D197-40B0-82D0-7D2E6368B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562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-4</a:t>
            </a:r>
          </a:p>
        </p:txBody>
      </p:sp>
      <p:sp>
        <p:nvSpPr>
          <p:cNvPr id="48832" name="Text Box 704">
            <a:extLst>
              <a:ext uri="{FF2B5EF4-FFF2-40B4-BE49-F238E27FC236}">
                <a16:creationId xmlns:a16="http://schemas.microsoft.com/office/drawing/2014/main" id="{C91C2168-5C1B-4348-BB13-1D78118B7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971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48833" name="Text Box 705">
            <a:extLst>
              <a:ext uri="{FF2B5EF4-FFF2-40B4-BE49-F238E27FC236}">
                <a16:creationId xmlns:a16="http://schemas.microsoft.com/office/drawing/2014/main" id="{72045C58-9626-4994-91B3-4819BF480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200" y="2438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48834" name="Text Box 706">
            <a:extLst>
              <a:ext uri="{FF2B5EF4-FFF2-40B4-BE49-F238E27FC236}">
                <a16:creationId xmlns:a16="http://schemas.microsoft.com/office/drawing/2014/main" id="{C9678D52-2AC9-4309-BAA9-83CCCBE6E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1955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48835" name="Text Box 707">
            <a:extLst>
              <a:ext uri="{FF2B5EF4-FFF2-40B4-BE49-F238E27FC236}">
                <a16:creationId xmlns:a16="http://schemas.microsoft.com/office/drawing/2014/main" id="{F43315A9-80CE-4851-A1A5-C3DCF436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14351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48844" name="Oval 716">
            <a:extLst>
              <a:ext uri="{FF2B5EF4-FFF2-40B4-BE49-F238E27FC236}">
                <a16:creationId xmlns:a16="http://schemas.microsoft.com/office/drawing/2014/main" id="{8517535A-350F-4641-BEC7-DA0CF2655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1242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8845" name="Oval 717">
            <a:extLst>
              <a:ext uri="{FF2B5EF4-FFF2-40B4-BE49-F238E27FC236}">
                <a16:creationId xmlns:a16="http://schemas.microsoft.com/office/drawing/2014/main" id="{BAC14796-EDC9-4BD9-B1AE-1A1CA7E41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1100" y="20955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8846" name="Oval 718">
            <a:extLst>
              <a:ext uri="{FF2B5EF4-FFF2-40B4-BE49-F238E27FC236}">
                <a16:creationId xmlns:a16="http://schemas.microsoft.com/office/drawing/2014/main" id="{CE5A5CE1-BFA3-41E1-A6DD-F083AD34C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00" y="10414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8847" name="Line 719">
            <a:extLst>
              <a:ext uri="{FF2B5EF4-FFF2-40B4-BE49-F238E27FC236}">
                <a16:creationId xmlns:a16="http://schemas.microsoft.com/office/drawing/2014/main" id="{92C70462-B49D-4EEA-8412-59829AF1B9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533400"/>
            <a:ext cx="3124200" cy="5791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8849" name="Text Box 721">
            <a:extLst>
              <a:ext uri="{FF2B5EF4-FFF2-40B4-BE49-F238E27FC236}">
                <a16:creationId xmlns:a16="http://schemas.microsoft.com/office/drawing/2014/main" id="{A6069C36-DF4A-409C-BB1E-2973E6CFC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953000"/>
            <a:ext cx="1981200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b="1">
                <a:solidFill>
                  <a:srgbClr val="000000"/>
                </a:solidFill>
                <a:latin typeface="Verdana" charset="0"/>
              </a:rPr>
              <a:t>y = 2x + 1</a:t>
            </a:r>
          </a:p>
        </p:txBody>
      </p:sp>
      <p:sp>
        <p:nvSpPr>
          <p:cNvPr id="48850" name="Line 722">
            <a:extLst>
              <a:ext uri="{FF2B5EF4-FFF2-40B4-BE49-F238E27FC236}">
                <a16:creationId xmlns:a16="http://schemas.microsoft.com/office/drawing/2014/main" id="{004BC5C7-DF88-4E71-A1DB-D0E2B73B9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334000"/>
            <a:ext cx="1905000" cy="3810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48851" name="Text Box 723">
            <a:extLst>
              <a:ext uri="{FF2B5EF4-FFF2-40B4-BE49-F238E27FC236}">
                <a16:creationId xmlns:a16="http://schemas.microsoft.com/office/drawing/2014/main" id="{A7F2DE19-BAF2-4D39-A222-C09AE534D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Verdana" charset="0"/>
                <a:hlinkClick r:id="rId2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Verdana" charset="0"/>
            </a:endParaRPr>
          </a:p>
        </p:txBody>
      </p:sp>
      <p:graphicFrame>
        <p:nvGraphicFramePr>
          <p:cNvPr id="48853" name="Group 725">
            <a:extLst>
              <a:ext uri="{FF2B5EF4-FFF2-40B4-BE49-F238E27FC236}">
                <a16:creationId xmlns:a16="http://schemas.microsoft.com/office/drawing/2014/main" id="{5F201F05-5862-49F5-B193-1FACE6C3840C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295400"/>
          <a:ext cx="2743200" cy="1574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162" name="Text Box 34">
            <a:extLst>
              <a:ext uri="{FF2B5EF4-FFF2-40B4-BE49-F238E27FC236}">
                <a16:creationId xmlns:a16="http://schemas.microsoft.com/office/drawing/2014/main" id="{B76080A9-815D-4EA4-8762-27638ECB1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2098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800" b="1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48161" name="Text Box 33">
            <a:extLst>
              <a:ext uri="{FF2B5EF4-FFF2-40B4-BE49-F238E27FC236}">
                <a16:creationId xmlns:a16="http://schemas.microsoft.com/office/drawing/2014/main" id="{1484DE45-D7B7-48F2-A831-950C33A16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2098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800" b="1">
                <a:solidFill>
                  <a:srgbClr val="0000FF"/>
                </a:solidFill>
                <a:latin typeface="Arial" charset="0"/>
              </a:rPr>
              <a:t>3</a:t>
            </a:r>
          </a:p>
        </p:txBody>
      </p:sp>
      <p:sp>
        <p:nvSpPr>
          <p:cNvPr id="48160" name="Text Box 32">
            <a:extLst>
              <a:ext uri="{FF2B5EF4-FFF2-40B4-BE49-F238E27FC236}">
                <a16:creationId xmlns:a16="http://schemas.microsoft.com/office/drawing/2014/main" id="{C7CAF930-A5F5-4E48-ABBF-512BF126D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800" b="1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4" grpId="0" animBg="1"/>
      <p:bldP spid="48845" grpId="0" animBg="1"/>
      <p:bldP spid="48846" grpId="0" animBg="1"/>
      <p:bldP spid="48849" grpId="0" animBg="1" autoUpdateAnimBg="0"/>
      <p:bldP spid="48162" grpId="0" autoUpdateAnimBg="0"/>
      <p:bldP spid="48161" grpId="0" autoUpdateAnimBg="0"/>
      <p:bldP spid="4816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2EDC92B-91CC-4906-90A9-6B2F2E6AB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x-none" u="sng" dirty="0">
                <a:latin typeface="Arial" charset="0"/>
              </a:rPr>
              <a:t>The Table Method: whiteboards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A1151587-04B5-4455-8C4F-BD7C3C9A1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00"/>
            <a:ext cx="8839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dirty="0">
                <a:solidFill>
                  <a:srgbClr val="000000"/>
                </a:solidFill>
                <a:latin typeface="Arial" charset="0"/>
              </a:rPr>
              <a:t>Draw the table of values and complete for each function of x: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b="1" dirty="0">
                <a:solidFill>
                  <a:srgbClr val="000000"/>
                </a:solidFill>
                <a:latin typeface="Arial" charset="0"/>
              </a:rPr>
              <a:t>1)</a:t>
            </a:r>
            <a:r>
              <a:rPr lang="en-GB" altLang="x-none" dirty="0">
                <a:solidFill>
                  <a:srgbClr val="000000"/>
                </a:solidFill>
                <a:latin typeface="Arial" charset="0"/>
              </a:rPr>
              <a:t>    y = x + 3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b="1" dirty="0">
                <a:solidFill>
                  <a:srgbClr val="000000"/>
                </a:solidFill>
                <a:latin typeface="Arial" charset="0"/>
              </a:rPr>
              <a:t>2)</a:t>
            </a:r>
            <a:r>
              <a:rPr lang="en-GB" altLang="x-none" dirty="0">
                <a:solidFill>
                  <a:srgbClr val="000000"/>
                </a:solidFill>
                <a:latin typeface="Arial" charset="0"/>
              </a:rPr>
              <a:t>    y = 2x – 3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b="1" dirty="0">
                <a:solidFill>
                  <a:srgbClr val="000000"/>
                </a:solidFill>
                <a:latin typeface="Arial" charset="0"/>
              </a:rPr>
              <a:t>3)</a:t>
            </a:r>
            <a:r>
              <a:rPr lang="en-GB" altLang="x-none" dirty="0">
                <a:solidFill>
                  <a:srgbClr val="000000"/>
                </a:solidFill>
                <a:latin typeface="Arial" charset="0"/>
              </a:rPr>
              <a:t>    y = 2 – x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b="1" dirty="0">
                <a:solidFill>
                  <a:srgbClr val="000000"/>
                </a:solidFill>
                <a:latin typeface="Arial" charset="0"/>
              </a:rPr>
              <a:t>4)</a:t>
            </a:r>
            <a:r>
              <a:rPr lang="en-GB" altLang="x-none" dirty="0">
                <a:solidFill>
                  <a:srgbClr val="000000"/>
                </a:solidFill>
                <a:latin typeface="Arial" charset="0"/>
              </a:rPr>
              <a:t>   y = 3 – 2x</a:t>
            </a:r>
          </a:p>
        </p:txBody>
      </p:sp>
      <p:sp>
        <p:nvSpPr>
          <p:cNvPr id="49179" name="Text Box 27">
            <a:hlinkClick r:id="rId2" action="ppaction://hlinksldjump"/>
            <a:extLst>
              <a:ext uri="{FF2B5EF4-FFF2-40B4-BE49-F238E27FC236}">
                <a16:creationId xmlns:a16="http://schemas.microsoft.com/office/drawing/2014/main" id="{357FCF16-1B66-41E6-924E-1D4A9739F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8674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2400" u="sng">
                <a:solidFill>
                  <a:srgbClr val="000000"/>
                </a:solidFill>
                <a:latin typeface="Arial" charset="0"/>
              </a:rPr>
              <a:t>Click to reveal plotted lines</a:t>
            </a:r>
          </a:p>
        </p:txBody>
      </p:sp>
      <p:sp>
        <p:nvSpPr>
          <p:cNvPr id="49180" name="Text Box 28">
            <a:extLst>
              <a:ext uri="{FF2B5EF4-FFF2-40B4-BE49-F238E27FC236}">
                <a16:creationId xmlns:a16="http://schemas.microsoft.com/office/drawing/2014/main" id="{96847AD2-7924-44B8-B1E8-C8E99EF3B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x-none" sz="1400">
                <a:solidFill>
                  <a:srgbClr val="000000"/>
                </a:solidFill>
                <a:latin typeface="Verdana" charset="0"/>
                <a:hlinkClick r:id="rId3" action="ppaction://hlinksldjump"/>
              </a:rPr>
              <a:t>Back to Main Page</a:t>
            </a:r>
            <a:endParaRPr lang="en-GB" altLang="x-none" sz="1400">
              <a:solidFill>
                <a:srgbClr val="000000"/>
              </a:solidFill>
              <a:latin typeface="Verdana" charset="0"/>
            </a:endParaRPr>
          </a:p>
        </p:txBody>
      </p:sp>
      <p:graphicFrame>
        <p:nvGraphicFramePr>
          <p:cNvPr id="49216" name="Group 64">
            <a:extLst>
              <a:ext uri="{FF2B5EF4-FFF2-40B4-BE49-F238E27FC236}">
                <a16:creationId xmlns:a16="http://schemas.microsoft.com/office/drawing/2014/main" id="{5D2D6155-7A48-43C5-9C59-B45B380B2E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2039" y="2349501"/>
          <a:ext cx="2879725" cy="16557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3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C163C6-F3A4-4602-8490-3289D9247BCB}"/>
              </a:ext>
            </a:extLst>
          </p:cNvPr>
          <p:cNvCxnSpPr/>
          <p:nvPr/>
        </p:nvCxnSpPr>
        <p:spPr>
          <a:xfrm>
            <a:off x="3364637" y="1908699"/>
            <a:ext cx="1358283" cy="4408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AE4B-9A19-440C-8B15-8A1A3011D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on a graph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5D2C-9847-46B9-90F2-83BDAA65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using a table of values, we create coordinates that follow the function. By plotting these coordinates, we create our linear graph.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732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Plotting Line Graphs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0" y="1397000"/>
          <a:ext cx="6096000" cy="10363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67608" y="2636912"/>
            <a:ext cx="29523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the line y = x + 2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x = -2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-2 + 2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9776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4032" y="2636912"/>
            <a:ext cx="2952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x =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-1 + 2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7888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112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2224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4032" y="4728304"/>
            <a:ext cx="2952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x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0 + 2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2</a:t>
            </a:r>
          </a:p>
        </p:txBody>
      </p:sp>
    </p:spTree>
    <p:extLst>
      <p:ext uri="{BB962C8B-B14F-4D97-AF65-F5344CB8AC3E}">
        <p14:creationId xmlns:p14="http://schemas.microsoft.com/office/powerpoint/2010/main" val="208638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Plotting Line Graphs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1" y="1397000"/>
          <a:ext cx="6640195" cy="15544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6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Co-ordinates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5840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3952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2064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176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8288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11824" y="2440052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(-2,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7700" y="244423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(-1,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048" y="244423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(0, 2)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8672" y="244423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(1, 3)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6280" y="244423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(2, 4)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1584" y="3356992"/>
            <a:ext cx="76328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we have some co-ordinates, we can plot them to draw the line!</a:t>
            </a:r>
          </a:p>
        </p:txBody>
      </p:sp>
    </p:spTree>
    <p:extLst>
      <p:ext uri="{BB962C8B-B14F-4D97-AF65-F5344CB8AC3E}">
        <p14:creationId xmlns:p14="http://schemas.microsoft.com/office/powerpoint/2010/main" val="52493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524000" y="1"/>
            <a:ext cx="9144000" cy="6858001"/>
            <a:chOff x="0" y="0"/>
            <a:chExt cx="9144000" cy="6858001"/>
          </a:xfrm>
        </p:grpSpPr>
        <p:pic>
          <p:nvPicPr>
            <p:cNvPr id="33" name="Picture 2" descr="http://people.rit.edu/andpph/misc/graph-paper-v-7x9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38600" cy="5181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http://people.rit.edu/andpph/misc/graph-paper-v-7x9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4745" y="0"/>
              <a:ext cx="4038600" cy="5181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http://people.rit.edu/andpph/misc/graph-paper-v-7x9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868"/>
            <a:stretch/>
          </p:blipFill>
          <p:spPr bwMode="auto">
            <a:xfrm>
              <a:off x="8048242" y="0"/>
              <a:ext cx="1095758" cy="5181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http://people.rit.edu/andpph/misc/graph-paper-v-7x9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380"/>
            <a:stretch/>
          </p:blipFill>
          <p:spPr bwMode="auto">
            <a:xfrm>
              <a:off x="0" y="5167747"/>
              <a:ext cx="4038600" cy="1690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http://people.rit.edu/andpph/misc/graph-paper-v-7x9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380"/>
            <a:stretch/>
          </p:blipFill>
          <p:spPr bwMode="auto">
            <a:xfrm>
              <a:off x="4024745" y="5167747"/>
              <a:ext cx="4038600" cy="1690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://people.rit.edu/andpph/misc/graph-paper-v-7x9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868" b="67380"/>
            <a:stretch/>
          </p:blipFill>
          <p:spPr bwMode="auto">
            <a:xfrm>
              <a:off x="8048242" y="5167746"/>
              <a:ext cx="1095758" cy="16902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" name="Straight Arrow Connector 3"/>
          <p:cNvCxnSpPr/>
          <p:nvPr/>
        </p:nvCxnSpPr>
        <p:spPr>
          <a:xfrm flipV="1">
            <a:off x="4983565" y="251520"/>
            <a:ext cx="0" cy="641784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926514" y="3441960"/>
            <a:ext cx="6329727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00138" y="3401856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6953" y="5021703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6953" y="436438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6953" y="378904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5470" y="3399504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953" y="265878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953" y="2082716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6953" y="152215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639" y="-36512"/>
            <a:ext cx="531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0808" y="6052284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0808" y="5435932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9023" y="956102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827" y="395536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3512" y="3418602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7780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3844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96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8705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5960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4083" y="342900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0147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3035" y="3419510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6022" y="3212977"/>
            <a:ext cx="3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0497" y="2642738"/>
            <a:ext cx="3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0216" y="3229608"/>
            <a:ext cx="531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9856" y="2060849"/>
            <a:ext cx="3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1172" y="1499533"/>
            <a:ext cx="3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7236" y="923469"/>
            <a:ext cx="3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735960" y="2060848"/>
          <a:ext cx="4824538" cy="111252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1566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Co-ordinates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7392147" y="2434704"/>
            <a:ext cx="4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2137" y="2440319"/>
            <a:ext cx="4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22645" y="2451103"/>
            <a:ext cx="4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7695" y="2440319"/>
            <a:ext cx="4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5712" y="2451103"/>
            <a:ext cx="4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093" y="2811287"/>
            <a:ext cx="74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(-2, 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9634" y="2820435"/>
            <a:ext cx="74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(-1, 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3771" y="2811287"/>
            <a:ext cx="74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(0, 2)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8821" y="2809651"/>
            <a:ext cx="74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(1, 3)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2855" y="2810133"/>
            <a:ext cx="74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(2, 4)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2079588" y="1"/>
            <a:ext cx="5168540" cy="5181601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32104" y="44625"/>
            <a:ext cx="2340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x + 2</a:t>
            </a:r>
          </a:p>
        </p:txBody>
      </p:sp>
    </p:spTree>
    <p:extLst>
      <p:ext uri="{BB962C8B-B14F-4D97-AF65-F5344CB8AC3E}">
        <p14:creationId xmlns:p14="http://schemas.microsoft.com/office/powerpoint/2010/main" val="285373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3" grpId="0"/>
      <p:bldP spid="44" grpId="0"/>
      <p:bldP spid="45" grpId="0"/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680E3F-7477-4557-BE33-D6DA2E41A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99452-D9FE-4F78-A69C-896300057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Continue with yesterday’s graphing </a:t>
            </a:r>
          </a:p>
          <a:p>
            <a:pPr marL="0" indent="0" algn="ctr">
              <a:buNone/>
            </a:pPr>
            <a:r>
              <a:rPr lang="en-US" dirty="0"/>
              <a:t>Write your rules**</a:t>
            </a:r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1708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00"/>
      </a:hlink>
      <a:folHlink>
        <a:srgbClr val="008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1074</Words>
  <Application>Microsoft Office PowerPoint</Application>
  <PresentationFormat>Widescreen</PresentationFormat>
  <Paragraphs>318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Default Design</vt:lpstr>
      <vt:lpstr>1_Office Theme</vt:lpstr>
      <vt:lpstr>Lesson objective </vt:lpstr>
      <vt:lpstr>Daily review </vt:lpstr>
      <vt:lpstr>y = mx + c</vt:lpstr>
      <vt:lpstr>Notes </vt:lpstr>
      <vt:lpstr>Finding m and c</vt:lpstr>
      <vt:lpstr>Finding m and c</vt:lpstr>
      <vt:lpstr>Some Lines to Identify</vt:lpstr>
      <vt:lpstr>Exercise</vt:lpstr>
      <vt:lpstr>The Table Method</vt:lpstr>
      <vt:lpstr>The Table Method</vt:lpstr>
      <vt:lpstr>The Table Method: whiteboards</vt:lpstr>
      <vt:lpstr>Plotting on a graph</vt:lpstr>
      <vt:lpstr>Plotting Line Graphs</vt:lpstr>
      <vt:lpstr>Plotting Line Graphs</vt:lpstr>
      <vt:lpstr>PowerPoint Presentation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cp:lastPrinted>2021-08-30T09:15:45Z</cp:lastPrinted>
  <dcterms:created xsi:type="dcterms:W3CDTF">2021-08-30T07:30:41Z</dcterms:created>
  <dcterms:modified xsi:type="dcterms:W3CDTF">2022-08-30T00:51:59Z</dcterms:modified>
</cp:coreProperties>
</file>
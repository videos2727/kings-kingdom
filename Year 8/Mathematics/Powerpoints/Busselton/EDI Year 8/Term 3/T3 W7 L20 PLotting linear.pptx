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78" r:id="rId4"/>
    <p:sldId id="277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B3E86-43E7-408A-9CEA-77B6A5F9A8E6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ADE51-4CC1-4DE8-87ED-C395804FA31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521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3F583-DB0B-4B38-B6ED-02CD068DDBB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274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A25B-B2D8-63F2-D0BB-FBE700238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9F7B3-1705-D576-4DC4-972C34B85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82D5-B53A-94FF-B128-3CA097D1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92437-1546-ED63-131E-1EFF95D8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60890-DB7C-AC36-7F27-D9334484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27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29C3-C0BA-11D1-D775-0B8BBE6B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4F08E-85A2-A840-EF12-3A74A9992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69812-ED89-4E98-8190-F188FF17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6B7F6-6ECA-2B00-79C6-2B3F5254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B563-E131-E955-144F-D7DCBC13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933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6B46-157B-44FD-278D-402C0856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669BC-C729-9181-C17F-4A7493F6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C541E-BAC2-A688-998E-8CEB4723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CF869-C5B7-C645-F55D-3DE38E0C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F80C-495B-D763-6762-B61A9AE7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93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EAD7-6AC9-9951-DB74-03920814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32EB-634E-B89E-878C-E5C885E4C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01A68-4FCC-21E2-AE0C-7FC160D6A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5BDCF-00DF-273C-E6FF-D9DD3349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08E4A-04FD-7184-18EA-9ED9B50A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6068B-A9DD-5BE9-5672-CE3F6C1E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7532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F7AD-E960-FC49-A39F-268FF0E7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9484A-AC48-29A9-B474-A84F4532A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8A0B6-8748-B469-386B-CB3DE7B6E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B3A33-E41A-B23B-54C1-6ACD23BE8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D4C7E-DC15-5B56-5CB6-545DCE4E5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02AEC-FF8A-7BDB-643E-13FBA954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BBFB6-F506-3004-BC59-364BA120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A58AF-2DD0-4D78-33E6-8678F626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3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4E94-F176-FB9A-40DC-D7F2D234A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4CF3D-F32E-6175-03A0-646B6EA0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919AF-7807-9C8C-F731-82101A2A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77EF8-DD87-9630-5DFF-CB45B532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107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A825F-0914-A0A4-1272-BE010BC55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6496D-4F50-5E39-45BF-FC31FDBD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D0290-5677-7A43-76CC-FDD3E0D9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155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3A03-3EE7-6527-97DF-277C3596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2CE4F-AE12-CFF4-7AC2-7907D101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64A81-6227-FFC4-8B5A-4643B5645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673BC-9AB1-2E59-48A0-FC175A88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EE3ED-4FF4-0EBA-DCB3-33E93EB8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86B96-09DA-07B9-1474-85D6A23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25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1B73-E64E-515B-2507-D2FC7FF1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977E8-92DB-57FC-DA15-113CE0984E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2B320-A253-46CD-D4A2-00DC7B6D0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C2736-274E-960B-E352-2A5DDB4B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956DB-9B76-E928-939E-64022FE7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9E3D9-F040-65F4-A8C1-4344EF71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71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530C-F932-B9EE-F5BB-B84F9F8B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174D2-19B7-EB4B-C8CB-AFCDC20DC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74B50-2D25-4E06-7083-90B97266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45C8C-2C49-C43F-D0F6-AA6E4C6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FA3C9-E3F5-A628-E394-43766D07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925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5007E-727B-15AE-7FEC-DA0F03CF9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26F4A-91F0-585A-A343-C0081F3D1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FFCB4-F88D-EFA2-2272-188F479D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13558-CB7E-75B0-385A-68EF87C4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EF1B-C953-25F3-FF4D-5D364BD3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55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43942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2551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8616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430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5324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394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174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83334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0924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8749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17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A866F-C29E-E651-46DE-078C60C1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F5997-226C-FC83-5DF7-FDDCB4EF7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873DE-F89B-BC2D-D0BC-7B6048A90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FB17-9C3B-40D3-ADEE-5B6836855DB0}" type="datetimeFigureOut">
              <a:rPr lang="en-AU" smtClean="0"/>
              <a:t>29/08/2022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1BADF-E3FE-C356-DE5A-A1153BA62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3818E-0F85-1466-45AB-AC41CBA5E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A0371-FB02-407C-8DCE-A99A16DDE8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1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C9AD3AD-C2B5-0D89-8922-4ED1B42CD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266E476-D0C2-6781-ABD7-B7FEAD629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64FF73A-4955-51FB-BA82-9FE4690AF3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00" y="6629400"/>
            <a:ext cx="1016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 sz="1800"/>
          </a:p>
        </p:txBody>
      </p:sp>
      <p:sp>
        <p:nvSpPr>
          <p:cNvPr id="1029" name="Rectangl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C88320-8C0B-CDFD-693E-072CEE1E335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737600" y="6629400"/>
            <a:ext cx="1016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 sz="1800"/>
          </a:p>
        </p:txBody>
      </p:sp>
      <p:sp>
        <p:nvSpPr>
          <p:cNvPr id="1030" name="Rectangle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C320CEF-F9D6-2A3E-7529-B45C881AFF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55200" y="6629400"/>
            <a:ext cx="1016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 sz="1800"/>
          </a:p>
        </p:txBody>
      </p:sp>
      <p:sp>
        <p:nvSpPr>
          <p:cNvPr id="1031" name="Rectangle 7">
            <a:hlinkClick r:id="" action="ppaction://hlinkshowjump?jump=endshow"/>
            <a:extLst>
              <a:ext uri="{FF2B5EF4-FFF2-40B4-BE49-F238E27FC236}">
                <a16:creationId xmlns:a16="http://schemas.microsoft.com/office/drawing/2014/main" id="{C1BEAB05-F34B-E72D-E185-C0507979C3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72800" y="6629400"/>
            <a:ext cx="1016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en-US" altLang="en-US" sz="1800"/>
          </a:p>
        </p:txBody>
      </p:sp>
      <p:sp>
        <p:nvSpPr>
          <p:cNvPr id="1032" name="Text Box 9">
            <a:extLst>
              <a:ext uri="{FF2B5EF4-FFF2-40B4-BE49-F238E27FC236}">
                <a16:creationId xmlns:a16="http://schemas.microsoft.com/office/drawing/2014/main" id="{B7B33E82-FB4A-F081-3C2F-F632A5CBA6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1" y="89407"/>
            <a:ext cx="1477712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3200">
                <a:latin typeface="Arial Black" panose="020B0A04020102020204" pitchFamily="34" charset="0"/>
              </a:rPr>
              <a:t>Rates</a:t>
            </a:r>
          </a:p>
        </p:txBody>
      </p:sp>
    </p:spTree>
    <p:extLst>
      <p:ext uri="{BB962C8B-B14F-4D97-AF65-F5344CB8AC3E}">
        <p14:creationId xmlns:p14="http://schemas.microsoft.com/office/powerpoint/2010/main" val="4570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CDB5D7-67DF-F75C-56FD-D0FC403D9F23}"/>
              </a:ext>
            </a:extLst>
          </p:cNvPr>
          <p:cNvSpPr txBox="1"/>
          <p:nvPr/>
        </p:nvSpPr>
        <p:spPr>
          <a:xfrm>
            <a:off x="151465" y="489472"/>
            <a:ext cx="1197695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3200" dirty="0">
                <a:solidFill>
                  <a:srgbClr val="000000"/>
                </a:solidFill>
                <a:latin typeface="Arial" panose="020B0604020202020204" pitchFamily="34" charset="0"/>
              </a:rPr>
              <a:t>Lesson objective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3200" b="1" dirty="0">
                <a:solidFill>
                  <a:srgbClr val="00B0F0"/>
                </a:solidFill>
                <a:latin typeface="Arial" panose="020B0604020202020204" pitchFamily="34" charset="0"/>
              </a:rPr>
              <a:t>Title: Linear plotting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3200" b="1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3200" b="1" dirty="0">
                <a:solidFill>
                  <a:srgbClr val="00B0F0"/>
                </a:solidFill>
                <a:latin typeface="Arial" panose="020B0604020202020204" pitchFamily="34" charset="0"/>
              </a:rPr>
              <a:t>Aim: 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GB" sz="32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sz="3200" b="1" dirty="0">
                <a:solidFill>
                  <a:srgbClr val="00B0F0"/>
                </a:solidFill>
                <a:latin typeface="Arial" panose="020B0604020202020204" pitchFamily="34" charset="0"/>
              </a:rPr>
              <a:t>plot real life linear relationships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3200" b="1" dirty="0">
                <a:solidFill>
                  <a:srgbClr val="00B0F0"/>
                </a:solidFill>
                <a:latin typeface="Arial" panose="020B0604020202020204" pitchFamily="34" charset="0"/>
              </a:rPr>
              <a:t>Plan: </a:t>
            </a:r>
          </a:p>
          <a:p>
            <a:pPr marL="514350" indent="-51435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3200" b="1" dirty="0">
                <a:solidFill>
                  <a:srgbClr val="00B0F0"/>
                </a:solidFill>
                <a:latin typeface="Arial" panose="020B0604020202020204" pitchFamily="34" charset="0"/>
              </a:rPr>
              <a:t>Review plotting on the cartesian plane.</a:t>
            </a:r>
            <a:endParaRPr lang="en-AU" sz="2000" b="1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marL="514350" indent="-51435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AU" sz="3200" b="1" dirty="0">
                <a:solidFill>
                  <a:srgbClr val="00B0F0"/>
                </a:solidFill>
                <a:latin typeface="Arial" panose="020B0604020202020204" pitchFamily="34" charset="0"/>
              </a:rPr>
              <a:t>Review rates</a:t>
            </a:r>
          </a:p>
          <a:p>
            <a:pPr marL="514350" indent="-51435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3200" b="1" dirty="0">
                <a:solidFill>
                  <a:srgbClr val="00B0F0"/>
                </a:solidFill>
                <a:latin typeface="Arial" panose="020B0604020202020204" pitchFamily="34" charset="0"/>
              </a:rPr>
              <a:t>Activity plot real life linear relationships</a:t>
            </a:r>
          </a:p>
          <a:p>
            <a:pPr marL="514350" indent="-51435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GB" sz="3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FA2144-E0CF-AB87-6997-D66CCB01C48C}"/>
              </a:ext>
            </a:extLst>
          </p:cNvPr>
          <p:cNvSpPr txBox="1"/>
          <p:nvPr/>
        </p:nvSpPr>
        <p:spPr>
          <a:xfrm>
            <a:off x="8087557" y="1296140"/>
            <a:ext cx="4003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 err="1">
                <a:highlight>
                  <a:srgbClr val="FFFF00"/>
                </a:highlight>
                <a:latin typeface="Arial" panose="020B0604020202020204" pitchFamily="34" charset="0"/>
              </a:rPr>
              <a:t>PBiS</a:t>
            </a:r>
            <a:r>
              <a:rPr lang="en-GB" sz="1800" b="1" dirty="0">
                <a:highlight>
                  <a:srgbClr val="FFFF00"/>
                </a:highlight>
                <a:latin typeface="Arial" panose="020B0604020202020204" pitchFamily="34" charset="0"/>
              </a:rPr>
              <a:t> Focus: Achieve, plan for success by practicing as much as possible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25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27DF-006A-863C-B09A-A34A4709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Expanding brackets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5310E-D69F-0805-00E1-9BA92378B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The leading term multiplies into EVERYTHING inside the brackets 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>
                <a:sym typeface="Wingdings" panose="05000000000000000000" pitchFamily="2" charset="2"/>
              </a:rPr>
              <a:t> This is “simplifying” for our first step 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190000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/>
              <p:nvPr/>
            </p:nvSpPr>
            <p:spPr>
              <a:xfrm>
                <a:off x="1271499" y="105549"/>
                <a:ext cx="6552728" cy="601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4000" dirty="0">
                    <a:solidFill>
                      <a:srgbClr val="002060"/>
                    </a:solidFill>
                  </a:rPr>
                  <a:t>Solve: Exercise books</a:t>
                </a:r>
                <a:endParaRPr lang="en-AU" sz="40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3600" i="1" dirty="0"/>
                  <a:t> </a:t>
                </a:r>
                <a14:m>
                  <m:oMath xmlns:m="http://schemas.openxmlformats.org/officeDocument/2006/math">
                    <m:r>
                      <a:rPr lang="en-AU" sz="3600" b="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AU" sz="36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600" b="0" i="1">
                        <a:latin typeface="Cambria Math" panose="02040503050406030204" pitchFamily="18" charset="0"/>
                      </a:rPr>
                      <m:t>−4)=6 </m:t>
                    </m:r>
                  </m:oMath>
                </a14:m>
                <a:endParaRPr lang="en-AU" sz="3600" i="1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3600" i="1" dirty="0"/>
                  <a:t> </a:t>
                </a:r>
                <a14:m>
                  <m:oMath xmlns:m="http://schemas.openxmlformats.org/officeDocument/2006/math">
                    <m:r>
                      <a:rPr lang="en-AU" sz="3600" b="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(4−3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)=11</m:t>
                    </m:r>
                  </m:oMath>
                </a14:m>
                <a:endParaRPr kumimoji="0" lang="en-AU" sz="3600" i="1" u="none" strike="noStrike" kern="1200" cap="none" spc="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3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3600" b="0" i="1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7</m:t>
                    </m:r>
                    <m:r>
                      <a:rPr kumimoji="0" lang="en-AU" sz="3600" b="0" i="1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9−5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0" lang="en-AU" sz="3600" i="1" u="none" strike="noStrike" kern="1200" cap="none" spc="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4"/>
                  <a:tabLst/>
                  <a:defRPr/>
                </a:pPr>
                <a:r>
                  <a:rPr kumimoji="0" lang="en-AU" sz="3600" i="1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600" b="0" i="1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5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−3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=4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endParaRPr lang="en-AU" sz="3600" i="1" dirty="0">
                  <a:latin typeface="Calibri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5"/>
                  <a:tabLst/>
                  <a:defRPr/>
                </a:pPr>
                <a:r>
                  <a:rPr kumimoji="0" lang="en-AU" sz="3600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3(2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3600" b="0" i="1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1)=4(2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+5)</m:t>
                    </m:r>
                  </m:oMath>
                </a14:m>
                <a:endParaRPr lang="en-AU" sz="3600" i="1" dirty="0">
                  <a:solidFill>
                    <a:prstClr val="black"/>
                  </a:solidFill>
                  <a:latin typeface="Calibri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6"/>
                  <a:tabLst/>
                  <a:defRPr/>
                </a:pPr>
                <a:r>
                  <a:rPr kumimoji="0" lang="en-AU" sz="3600" i="1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−3</m:t>
                    </m:r>
                    <m:d>
                      <m:dPr>
                        <m:ctrlPr>
                          <a:rPr kumimoji="0" lang="en-AU" sz="360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AU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0" lang="en-AU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0" lang="en-AU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=2(3</m:t>
                    </m:r>
                    <m:r>
                      <a:rPr kumimoji="0" lang="en-AU" sz="3600" b="0" i="1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4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AU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600" i="1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2800" dirty="0"/>
              </a:p>
              <a:p>
                <a:pPr marL="514350" indent="-514350">
                  <a:spcAft>
                    <a:spcPts val="600"/>
                  </a:spcAft>
                  <a:buClr>
                    <a:srgbClr val="FF0000"/>
                  </a:buClr>
                  <a:buAutoNum type="arabicPeriod"/>
                </a:pPr>
                <a:endParaRPr lang="en-AU" sz="2800" dirty="0"/>
              </a:p>
              <a:p>
                <a:endParaRPr lang="en-AU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99" y="105549"/>
                <a:ext cx="6552728" cy="6017032"/>
              </a:xfrm>
              <a:prstGeom prst="rect">
                <a:avLst/>
              </a:prstGeom>
              <a:blipFill>
                <a:blip r:embed="rId3"/>
                <a:stretch>
                  <a:fillRect l="-3349" t="-17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72D3061-FC57-42F4-8906-9E4E0B7E362C}"/>
              </a:ext>
            </a:extLst>
          </p:cNvPr>
          <p:cNvSpPr txBox="1"/>
          <p:nvPr/>
        </p:nvSpPr>
        <p:spPr>
          <a:xfrm>
            <a:off x="7688065" y="77488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200" u="sng" dirty="0">
                <a:solidFill>
                  <a:srgbClr val="0070C0"/>
                </a:solidFill>
              </a:rPr>
              <a:t>Equation solving steps</a:t>
            </a:r>
            <a:r>
              <a:rPr lang="en-AU" sz="32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200" dirty="0">
                <a:solidFill>
                  <a:srgbClr val="0070C0"/>
                </a:solidFill>
              </a:rPr>
              <a:t>Divide both sides by coefficient.</a:t>
            </a:r>
          </a:p>
        </p:txBody>
      </p:sp>
    </p:spTree>
    <p:extLst>
      <p:ext uri="{BB962C8B-B14F-4D97-AF65-F5344CB8AC3E}">
        <p14:creationId xmlns:p14="http://schemas.microsoft.com/office/powerpoint/2010/main" val="155378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CDB5D7-67DF-F75C-56FD-D0FC403D9F23}"/>
                  </a:ext>
                </a:extLst>
              </p:cNvPr>
              <p:cNvSpPr txBox="1"/>
              <p:nvPr/>
            </p:nvSpPr>
            <p:spPr>
              <a:xfrm>
                <a:off x="151465" y="489472"/>
                <a:ext cx="11976957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Coordinates on the cartesian plan are expresses in terms of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in the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AU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GB" sz="3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What are the coordinates of: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3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A: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B: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C: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32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D: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CDB5D7-67DF-F75C-56FD-D0FC403D9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5" y="489472"/>
                <a:ext cx="11976957" cy="4031873"/>
              </a:xfrm>
              <a:prstGeom prst="rect">
                <a:avLst/>
              </a:prstGeom>
              <a:blipFill>
                <a:blip r:embed="rId2"/>
                <a:stretch>
                  <a:fillRect l="-1323" t="-1964" b="-39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848213A2-4E33-D2D1-FC7B-DD5709F4BCC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096473" y="-2126122"/>
            <a:ext cx="5933219" cy="52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BCE51D1-09ED-B1B3-959C-7FFB02A860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853062"/>
              </p:ext>
            </p:extLst>
          </p:nvPr>
        </p:nvGraphicFramePr>
        <p:xfrm>
          <a:off x="5789864" y="1155784"/>
          <a:ext cx="5126838" cy="5212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3" imgW="7103993" imgH="7223876" progId="FXDraw.Graphic">
                  <p:embed/>
                </p:oleObj>
              </mc:Choice>
              <mc:Fallback>
                <p:oleObj name="FX Draw" r:id="rId3" imgW="7103993" imgH="7223876" progId="FXDraw.Graphic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864" y="1155784"/>
                        <a:ext cx="5126838" cy="52127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CF0E43B-3AEB-8F92-5AE3-0C2BEB73D8AD}"/>
              </a:ext>
            </a:extLst>
          </p:cNvPr>
          <p:cNvSpPr txBox="1"/>
          <p:nvPr/>
        </p:nvSpPr>
        <p:spPr>
          <a:xfrm>
            <a:off x="611470" y="2397948"/>
            <a:ext cx="28666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(-8,9)</a:t>
            </a:r>
          </a:p>
          <a:p>
            <a:r>
              <a:rPr lang="en-AU" sz="3200" dirty="0">
                <a:solidFill>
                  <a:srgbClr val="FF0000"/>
                </a:solidFill>
              </a:rPr>
              <a:t>(3,5)</a:t>
            </a:r>
          </a:p>
          <a:p>
            <a:r>
              <a:rPr lang="en-AU" sz="3200" dirty="0">
                <a:solidFill>
                  <a:srgbClr val="FF0000"/>
                </a:solidFill>
              </a:rPr>
              <a:t>(-2,-7)</a:t>
            </a:r>
          </a:p>
          <a:p>
            <a:r>
              <a:rPr lang="en-AU" sz="3200" dirty="0">
                <a:solidFill>
                  <a:srgbClr val="FF0000"/>
                </a:solidFill>
              </a:rPr>
              <a:t>(2,-6)</a:t>
            </a:r>
          </a:p>
        </p:txBody>
      </p:sp>
    </p:spTree>
    <p:extLst>
      <p:ext uri="{BB962C8B-B14F-4D97-AF65-F5344CB8AC3E}">
        <p14:creationId xmlns:p14="http://schemas.microsoft.com/office/powerpoint/2010/main" val="365164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F690C-2443-791C-72FF-45DA1EFCB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771944"/>
              </p:ext>
            </p:extLst>
          </p:nvPr>
        </p:nvGraphicFramePr>
        <p:xfrm>
          <a:off x="330980" y="547369"/>
          <a:ext cx="11393536" cy="1723131"/>
        </p:xfrm>
        <a:graphic>
          <a:graphicData uri="http://schemas.openxmlformats.org/drawingml/2006/table">
            <a:tbl>
              <a:tblPr firstRow="1" firstCol="1" bandRow="1"/>
              <a:tblGrid>
                <a:gridCol w="2259964">
                  <a:extLst>
                    <a:ext uri="{9D8B030D-6E8A-4147-A177-3AD203B41FA5}">
                      <a16:colId xmlns:a16="http://schemas.microsoft.com/office/drawing/2014/main" val="629302862"/>
                    </a:ext>
                  </a:extLst>
                </a:gridCol>
                <a:gridCol w="749690">
                  <a:extLst>
                    <a:ext uri="{9D8B030D-6E8A-4147-A177-3AD203B41FA5}">
                      <a16:colId xmlns:a16="http://schemas.microsoft.com/office/drawing/2014/main" val="4006393652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2083041246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3516873722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051359718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229385221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603938905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531434077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46411472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418527110"/>
                    </a:ext>
                  </a:extLst>
                </a:gridCol>
              </a:tblGrid>
              <a:tr h="967796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want to take a taxi to Perth. The taxi has a standard charge of $3 and charges me $2 for each Kilometre I travel. What does a graph of this equation look like? How do I calculate the total cost of a journey? 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67323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KM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81479"/>
                  </a:ext>
                </a:extLst>
              </a:tr>
              <a:tr h="443447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17799"/>
                  </a:ext>
                </a:extLst>
              </a:tr>
            </a:tbl>
          </a:graphicData>
        </a:graphic>
      </p:graphicFrame>
      <p:pic>
        <p:nvPicPr>
          <p:cNvPr id="11266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DEAEFBA3-429E-5C01-73D7-206890B1A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064" y="560066"/>
            <a:ext cx="1033082" cy="74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ED0481-E4E6-A776-F860-910FB4304FBC}"/>
              </a:ext>
            </a:extLst>
          </p:cNvPr>
          <p:cNvSpPr txBox="1"/>
          <p:nvPr/>
        </p:nvSpPr>
        <p:spPr>
          <a:xfrm>
            <a:off x="4113052" y="190734"/>
            <a:ext cx="71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Plotting Linear Relationships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EE83D6E-6D94-92E9-3DA8-DE4D175B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903" y="2282278"/>
            <a:ext cx="154650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B713BDE-5362-5A8D-3059-641440BBBD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709980"/>
              </p:ext>
            </p:extLst>
          </p:nvPr>
        </p:nvGraphicFramePr>
        <p:xfrm>
          <a:off x="533400" y="2327997"/>
          <a:ext cx="8334375" cy="424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3" imgW="4874040" imgH="4480560" progId="FXDraw.Graphic">
                  <p:embed/>
                </p:oleObj>
              </mc:Choice>
              <mc:Fallback>
                <p:oleObj name="FX Draw" r:id="rId3" imgW="4874040" imgH="4480560" progId="FXDraw.Graphic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327997"/>
                        <a:ext cx="8334375" cy="4243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FC143F-5281-FC6F-D0D9-45D090A20C24}"/>
              </a:ext>
            </a:extLst>
          </p:cNvPr>
          <p:cNvSpPr txBox="1"/>
          <p:nvPr/>
        </p:nvSpPr>
        <p:spPr>
          <a:xfrm>
            <a:off x="3420120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DC5E3-146D-290E-EA51-D07055FDB020}"/>
              </a:ext>
            </a:extLst>
          </p:cNvPr>
          <p:cNvSpPr txBox="1"/>
          <p:nvPr/>
        </p:nvSpPr>
        <p:spPr>
          <a:xfrm>
            <a:off x="5534085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369DA-FC9F-0CE9-74C5-3404C8DEDD09}"/>
              </a:ext>
            </a:extLst>
          </p:cNvPr>
          <p:cNvSpPr txBox="1"/>
          <p:nvPr/>
        </p:nvSpPr>
        <p:spPr>
          <a:xfrm>
            <a:off x="4523381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64F18-1CA5-BE56-F4F7-A600069BA487}"/>
              </a:ext>
            </a:extLst>
          </p:cNvPr>
          <p:cNvSpPr txBox="1"/>
          <p:nvPr/>
        </p:nvSpPr>
        <p:spPr>
          <a:xfrm>
            <a:off x="6559742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BFB74-7D8A-4FCB-96A5-1C3771205BEA}"/>
              </a:ext>
            </a:extLst>
          </p:cNvPr>
          <p:cNvSpPr txBox="1"/>
          <p:nvPr/>
        </p:nvSpPr>
        <p:spPr>
          <a:xfrm>
            <a:off x="7639165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52B8F2-C434-8014-3ABB-2399DED13E96}"/>
              </a:ext>
            </a:extLst>
          </p:cNvPr>
          <p:cNvSpPr txBox="1"/>
          <p:nvPr/>
        </p:nvSpPr>
        <p:spPr>
          <a:xfrm>
            <a:off x="8718588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B24F0-355B-6232-C568-867B3DB601F2}"/>
              </a:ext>
            </a:extLst>
          </p:cNvPr>
          <p:cNvSpPr txBox="1"/>
          <p:nvPr/>
        </p:nvSpPr>
        <p:spPr>
          <a:xfrm>
            <a:off x="9726486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D56A4-E4E0-74E1-85EC-E815F7161751}"/>
              </a:ext>
            </a:extLst>
          </p:cNvPr>
          <p:cNvSpPr txBox="1"/>
          <p:nvPr/>
        </p:nvSpPr>
        <p:spPr>
          <a:xfrm>
            <a:off x="10754949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57</a:t>
            </a:r>
          </a:p>
        </p:txBody>
      </p:sp>
      <p:pic>
        <p:nvPicPr>
          <p:cNvPr id="11265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FBD665B3-1995-58F3-E28A-989FE3F7A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450"/>
            <a:ext cx="63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02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F690C-2443-791C-72FF-45DA1EFCB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44228"/>
              </p:ext>
            </p:extLst>
          </p:nvPr>
        </p:nvGraphicFramePr>
        <p:xfrm>
          <a:off x="325370" y="425429"/>
          <a:ext cx="11393536" cy="1723131"/>
        </p:xfrm>
        <a:graphic>
          <a:graphicData uri="http://schemas.openxmlformats.org/drawingml/2006/table">
            <a:tbl>
              <a:tblPr firstRow="1" firstCol="1" bandRow="1"/>
              <a:tblGrid>
                <a:gridCol w="2259964">
                  <a:extLst>
                    <a:ext uri="{9D8B030D-6E8A-4147-A177-3AD203B41FA5}">
                      <a16:colId xmlns:a16="http://schemas.microsoft.com/office/drawing/2014/main" val="629302862"/>
                    </a:ext>
                  </a:extLst>
                </a:gridCol>
                <a:gridCol w="749690">
                  <a:extLst>
                    <a:ext uri="{9D8B030D-6E8A-4147-A177-3AD203B41FA5}">
                      <a16:colId xmlns:a16="http://schemas.microsoft.com/office/drawing/2014/main" val="4006393652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2083041246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3516873722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051359718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229385221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603938905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531434077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46411472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418527110"/>
                    </a:ext>
                  </a:extLst>
                </a:gridCol>
              </a:tblGrid>
              <a:tr h="967796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want to take a taxi to Perth. The taxi has a standard charge of $3 and charges me $2 for each Kilometre I travel. What does a graph of this equation look like? How do I calculate the total cost of a journey? 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67323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KM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81479"/>
                  </a:ext>
                </a:extLst>
              </a:tr>
              <a:tr h="443447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17799"/>
                  </a:ext>
                </a:extLst>
              </a:tr>
            </a:tbl>
          </a:graphicData>
        </a:graphic>
      </p:graphicFrame>
      <p:pic>
        <p:nvPicPr>
          <p:cNvPr id="11266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DEAEFBA3-429E-5C01-73D7-206890B1A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064" y="560066"/>
            <a:ext cx="1033082" cy="74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ED0481-E4E6-A776-F860-910FB4304FBC}"/>
              </a:ext>
            </a:extLst>
          </p:cNvPr>
          <p:cNvSpPr txBox="1"/>
          <p:nvPr/>
        </p:nvSpPr>
        <p:spPr>
          <a:xfrm>
            <a:off x="4101832" y="101950"/>
            <a:ext cx="71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Plotting Linear Relationships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EE83D6E-6D94-92E9-3DA8-DE4D175B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903" y="2282278"/>
            <a:ext cx="154650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B713BDE-5362-5A8D-3059-641440BBBD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325690"/>
              </p:ext>
            </p:extLst>
          </p:nvPr>
        </p:nvGraphicFramePr>
        <p:xfrm>
          <a:off x="384213" y="2327997"/>
          <a:ext cx="8334375" cy="424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3" imgW="4874040" imgH="4480560" progId="FXDraw.Graphic">
                  <p:embed/>
                </p:oleObj>
              </mc:Choice>
              <mc:Fallback>
                <p:oleObj name="FX Draw" r:id="rId3" imgW="4874040" imgH="4480560" progId="FXDraw.Graphic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B713BDE-5362-5A8D-3059-641440BBB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13" y="2327997"/>
                        <a:ext cx="8334375" cy="4243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FC143F-5281-FC6F-D0D9-45D090A20C24}"/>
              </a:ext>
            </a:extLst>
          </p:cNvPr>
          <p:cNvSpPr txBox="1"/>
          <p:nvPr/>
        </p:nvSpPr>
        <p:spPr>
          <a:xfrm>
            <a:off x="3427598" y="173904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DC5E3-146D-290E-EA51-D07055FDB020}"/>
              </a:ext>
            </a:extLst>
          </p:cNvPr>
          <p:cNvSpPr txBox="1"/>
          <p:nvPr/>
        </p:nvSpPr>
        <p:spPr>
          <a:xfrm>
            <a:off x="5534085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369DA-FC9F-0CE9-74C5-3404C8DEDD09}"/>
              </a:ext>
            </a:extLst>
          </p:cNvPr>
          <p:cNvSpPr txBox="1"/>
          <p:nvPr/>
        </p:nvSpPr>
        <p:spPr>
          <a:xfrm>
            <a:off x="4520577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64F18-1CA5-BE56-F4F7-A600069BA487}"/>
              </a:ext>
            </a:extLst>
          </p:cNvPr>
          <p:cNvSpPr txBox="1"/>
          <p:nvPr/>
        </p:nvSpPr>
        <p:spPr>
          <a:xfrm>
            <a:off x="6559745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BFB74-7D8A-4FCB-96A5-1C3771205BEA}"/>
              </a:ext>
            </a:extLst>
          </p:cNvPr>
          <p:cNvSpPr txBox="1"/>
          <p:nvPr/>
        </p:nvSpPr>
        <p:spPr>
          <a:xfrm>
            <a:off x="7622805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52B8F2-C434-8014-3ABB-2399DED13E96}"/>
              </a:ext>
            </a:extLst>
          </p:cNvPr>
          <p:cNvSpPr txBox="1"/>
          <p:nvPr/>
        </p:nvSpPr>
        <p:spPr>
          <a:xfrm>
            <a:off x="8718588" y="174845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B24F0-355B-6232-C568-867B3DB601F2}"/>
              </a:ext>
            </a:extLst>
          </p:cNvPr>
          <p:cNvSpPr txBox="1"/>
          <p:nvPr/>
        </p:nvSpPr>
        <p:spPr>
          <a:xfrm>
            <a:off x="9736770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D56A4-E4E0-74E1-85EC-E815F7161751}"/>
              </a:ext>
            </a:extLst>
          </p:cNvPr>
          <p:cNvSpPr txBox="1"/>
          <p:nvPr/>
        </p:nvSpPr>
        <p:spPr>
          <a:xfrm>
            <a:off x="10754952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665199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F690C-2443-791C-72FF-45DA1EFCB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107610"/>
              </p:ext>
            </p:extLst>
          </p:nvPr>
        </p:nvGraphicFramePr>
        <p:xfrm>
          <a:off x="325370" y="425429"/>
          <a:ext cx="11393536" cy="1723131"/>
        </p:xfrm>
        <a:graphic>
          <a:graphicData uri="http://schemas.openxmlformats.org/drawingml/2006/table">
            <a:tbl>
              <a:tblPr firstRow="1" firstCol="1" bandRow="1"/>
              <a:tblGrid>
                <a:gridCol w="2259964">
                  <a:extLst>
                    <a:ext uri="{9D8B030D-6E8A-4147-A177-3AD203B41FA5}">
                      <a16:colId xmlns:a16="http://schemas.microsoft.com/office/drawing/2014/main" val="629302862"/>
                    </a:ext>
                  </a:extLst>
                </a:gridCol>
                <a:gridCol w="749690">
                  <a:extLst>
                    <a:ext uri="{9D8B030D-6E8A-4147-A177-3AD203B41FA5}">
                      <a16:colId xmlns:a16="http://schemas.microsoft.com/office/drawing/2014/main" val="4006393652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2083041246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3516873722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051359718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229385221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603938905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531434077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46411472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418527110"/>
                    </a:ext>
                  </a:extLst>
                </a:gridCol>
              </a:tblGrid>
              <a:tr h="967796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want to take a taxi to Perth. The taxi has a standard charge of $3 and charges me $2 for each Kilometre I travel. What does a graph of this equation look like? How do I calculate the total cost of a journey? 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67323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KM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81479"/>
                  </a:ext>
                </a:extLst>
              </a:tr>
              <a:tr h="443447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17799"/>
                  </a:ext>
                </a:extLst>
              </a:tr>
            </a:tbl>
          </a:graphicData>
        </a:graphic>
      </p:graphicFrame>
      <p:pic>
        <p:nvPicPr>
          <p:cNvPr id="11266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DEAEFBA3-429E-5C01-73D7-206890B1A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064" y="560066"/>
            <a:ext cx="1033082" cy="74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ED0481-E4E6-A776-F860-910FB4304FBC}"/>
              </a:ext>
            </a:extLst>
          </p:cNvPr>
          <p:cNvSpPr txBox="1"/>
          <p:nvPr/>
        </p:nvSpPr>
        <p:spPr>
          <a:xfrm>
            <a:off x="4118662" y="88384"/>
            <a:ext cx="71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Plotting Linear Relationships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EE83D6E-6D94-92E9-3DA8-DE4D175B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903" y="2282278"/>
            <a:ext cx="154650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B713BDE-5362-5A8D-3059-641440BBBD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744638"/>
              </p:ext>
            </p:extLst>
          </p:nvPr>
        </p:nvGraphicFramePr>
        <p:xfrm>
          <a:off x="325370" y="2327997"/>
          <a:ext cx="8334375" cy="424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3" imgW="4874040" imgH="4480560" progId="FXDraw.Graphic">
                  <p:embed/>
                </p:oleObj>
              </mc:Choice>
              <mc:Fallback>
                <p:oleObj name="FX Draw" r:id="rId3" imgW="4874040" imgH="4480560" progId="FXDraw.Graphic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B713BDE-5362-5A8D-3059-641440BBB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70" y="2327997"/>
                        <a:ext cx="8334375" cy="4243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FC143F-5281-FC6F-D0D9-45D090A20C24}"/>
              </a:ext>
            </a:extLst>
          </p:cNvPr>
          <p:cNvSpPr txBox="1"/>
          <p:nvPr/>
        </p:nvSpPr>
        <p:spPr>
          <a:xfrm>
            <a:off x="3427598" y="173904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DC5E3-146D-290E-EA51-D07055FDB020}"/>
              </a:ext>
            </a:extLst>
          </p:cNvPr>
          <p:cNvSpPr txBox="1"/>
          <p:nvPr/>
        </p:nvSpPr>
        <p:spPr>
          <a:xfrm>
            <a:off x="5534085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369DA-FC9F-0CE9-74C5-3404C8DEDD09}"/>
              </a:ext>
            </a:extLst>
          </p:cNvPr>
          <p:cNvSpPr txBox="1"/>
          <p:nvPr/>
        </p:nvSpPr>
        <p:spPr>
          <a:xfrm>
            <a:off x="4520577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64F18-1CA5-BE56-F4F7-A600069BA487}"/>
              </a:ext>
            </a:extLst>
          </p:cNvPr>
          <p:cNvSpPr txBox="1"/>
          <p:nvPr/>
        </p:nvSpPr>
        <p:spPr>
          <a:xfrm>
            <a:off x="6559745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BFB74-7D8A-4FCB-96A5-1C3771205BEA}"/>
              </a:ext>
            </a:extLst>
          </p:cNvPr>
          <p:cNvSpPr txBox="1"/>
          <p:nvPr/>
        </p:nvSpPr>
        <p:spPr>
          <a:xfrm>
            <a:off x="7622805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52B8F2-C434-8014-3ABB-2399DED13E96}"/>
              </a:ext>
            </a:extLst>
          </p:cNvPr>
          <p:cNvSpPr txBox="1"/>
          <p:nvPr/>
        </p:nvSpPr>
        <p:spPr>
          <a:xfrm>
            <a:off x="8718588" y="174845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B24F0-355B-6232-C568-867B3DB601F2}"/>
              </a:ext>
            </a:extLst>
          </p:cNvPr>
          <p:cNvSpPr txBox="1"/>
          <p:nvPr/>
        </p:nvSpPr>
        <p:spPr>
          <a:xfrm>
            <a:off x="9736770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D56A4-E4E0-74E1-85EC-E815F7161751}"/>
              </a:ext>
            </a:extLst>
          </p:cNvPr>
          <p:cNvSpPr txBox="1"/>
          <p:nvPr/>
        </p:nvSpPr>
        <p:spPr>
          <a:xfrm>
            <a:off x="10754952" y="1727833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57</a:t>
            </a:r>
          </a:p>
        </p:txBody>
      </p:sp>
      <p:pic>
        <p:nvPicPr>
          <p:cNvPr id="12290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4DAB3471-B0C0-B605-1E3B-7A49F131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450"/>
            <a:ext cx="63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461B04-3561-04DF-F83B-ABAA4B890C60}"/>
              </a:ext>
            </a:extLst>
          </p:cNvPr>
          <p:cNvSpPr txBox="1"/>
          <p:nvPr/>
        </p:nvSpPr>
        <p:spPr>
          <a:xfrm>
            <a:off x="8560579" y="2518807"/>
            <a:ext cx="358467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How much will it cost if you go: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AU" sz="2000" b="1" dirty="0"/>
              <a:t>5km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AU" sz="2000" b="1" dirty="0"/>
              <a:t>9km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AU" sz="2000" b="1" dirty="0"/>
              <a:t>7.5km</a:t>
            </a:r>
          </a:p>
          <a:p>
            <a:endParaRPr lang="en-AU" sz="2000" b="1" dirty="0"/>
          </a:p>
          <a:p>
            <a:r>
              <a:rPr lang="en-AU" sz="2000" b="1" dirty="0"/>
              <a:t>What is the function used to calculate the cost of the journey?</a:t>
            </a: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28DAD-9E0A-A542-84E4-8A7064729C09}"/>
              </a:ext>
            </a:extLst>
          </p:cNvPr>
          <p:cNvSpPr txBox="1"/>
          <p:nvPr/>
        </p:nvSpPr>
        <p:spPr>
          <a:xfrm>
            <a:off x="9653876" y="2923658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AU" sz="20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D6333-DF1B-4516-57F8-F467ACADFFB6}"/>
              </a:ext>
            </a:extLst>
          </p:cNvPr>
          <p:cNvSpPr txBox="1"/>
          <p:nvPr/>
        </p:nvSpPr>
        <p:spPr>
          <a:xfrm>
            <a:off x="9653876" y="3368755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B05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AU" sz="2000" b="1" dirty="0">
                <a:solidFill>
                  <a:srgbClr val="00B050"/>
                </a:solidFill>
              </a:rPr>
              <a:t>21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C232A42-D1BB-EB28-5C94-2B1BCC4514BE}"/>
              </a:ext>
            </a:extLst>
          </p:cNvPr>
          <p:cNvCxnSpPr>
            <a:cxnSpLocks/>
          </p:cNvCxnSpPr>
          <p:nvPr/>
        </p:nvCxnSpPr>
        <p:spPr>
          <a:xfrm flipV="1">
            <a:off x="7332029" y="3281742"/>
            <a:ext cx="0" cy="2984422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BE9CB1-CFBE-EA86-8555-7512BBA2B5CA}"/>
              </a:ext>
            </a:extLst>
          </p:cNvPr>
          <p:cNvCxnSpPr/>
          <p:nvPr/>
        </p:nvCxnSpPr>
        <p:spPr>
          <a:xfrm flipH="1">
            <a:off x="891961" y="3236864"/>
            <a:ext cx="6440068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10C416-3026-7A4C-72D6-AD2C887B1C0D}"/>
              </a:ext>
            </a:extLst>
          </p:cNvPr>
          <p:cNvSpPr txBox="1"/>
          <p:nvPr/>
        </p:nvSpPr>
        <p:spPr>
          <a:xfrm>
            <a:off x="9653876" y="3849525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AU" sz="2000" b="1" dirty="0">
                <a:solidFill>
                  <a:srgbClr val="0070C0"/>
                </a:solidFill>
              </a:rPr>
              <a:t>18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6E8167-A8E6-D985-5120-C92DCA3B7A06}"/>
              </a:ext>
            </a:extLst>
          </p:cNvPr>
          <p:cNvCxnSpPr>
            <a:cxnSpLocks/>
          </p:cNvCxnSpPr>
          <p:nvPr/>
        </p:nvCxnSpPr>
        <p:spPr>
          <a:xfrm flipV="1">
            <a:off x="6267099" y="3680039"/>
            <a:ext cx="0" cy="2586125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4F622A-0454-6C5C-B211-43BCBEE73AFB}"/>
              </a:ext>
            </a:extLst>
          </p:cNvPr>
          <p:cNvCxnSpPr>
            <a:cxnSpLocks/>
          </p:cNvCxnSpPr>
          <p:nvPr/>
        </p:nvCxnSpPr>
        <p:spPr>
          <a:xfrm flipH="1">
            <a:off x="891961" y="3680039"/>
            <a:ext cx="5375138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DE2F3C3-3FE9-F870-E80B-2AD6F71727B6}"/>
                  </a:ext>
                </a:extLst>
              </p:cNvPr>
              <p:cNvSpPr txBox="1"/>
              <p:nvPr/>
            </p:nvSpPr>
            <p:spPr>
              <a:xfrm>
                <a:off x="9131874" y="5602716"/>
                <a:ext cx="23233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DE2F3C3-3FE9-F870-E80B-2AD6F7172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874" y="5602716"/>
                <a:ext cx="2323369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64F3A7DE-1563-ED39-073A-C00173E6EA16}"/>
              </a:ext>
            </a:extLst>
          </p:cNvPr>
          <p:cNvSpPr txBox="1"/>
          <p:nvPr/>
        </p:nvSpPr>
        <p:spPr>
          <a:xfrm>
            <a:off x="9378995" y="6328528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Rate</a:t>
            </a:r>
            <a:endParaRPr lang="en-AU" sz="20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731FAC-99B7-0697-D5CF-3600C247B10D}"/>
              </a:ext>
            </a:extLst>
          </p:cNvPr>
          <p:cNvSpPr txBox="1"/>
          <p:nvPr/>
        </p:nvSpPr>
        <p:spPr>
          <a:xfrm>
            <a:off x="10500958" y="6144888"/>
            <a:ext cx="1060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Starting value</a:t>
            </a:r>
            <a:endParaRPr lang="en-AU" sz="2000" b="1" dirty="0">
              <a:solidFill>
                <a:srgbClr val="FF0000"/>
              </a:solidFill>
            </a:endParaRPr>
          </a:p>
        </p:txBody>
      </p:sp>
      <p:cxnSp>
        <p:nvCxnSpPr>
          <p:cNvPr id="11264" name="Straight Arrow Connector 11263">
            <a:extLst>
              <a:ext uri="{FF2B5EF4-FFF2-40B4-BE49-F238E27FC236}">
                <a16:creationId xmlns:a16="http://schemas.microsoft.com/office/drawing/2014/main" id="{8F82A469-1F4E-385A-FB7A-FD72D9E676B0}"/>
              </a:ext>
            </a:extLst>
          </p:cNvPr>
          <p:cNvCxnSpPr>
            <a:stCxn id="29" idx="0"/>
          </p:cNvCxnSpPr>
          <p:nvPr/>
        </p:nvCxnSpPr>
        <p:spPr>
          <a:xfrm flipV="1">
            <a:off x="9802536" y="5974403"/>
            <a:ext cx="216595" cy="3541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67" name="Straight Arrow Connector 11266">
            <a:extLst>
              <a:ext uri="{FF2B5EF4-FFF2-40B4-BE49-F238E27FC236}">
                <a16:creationId xmlns:a16="http://schemas.microsoft.com/office/drawing/2014/main" id="{A633103E-AE83-C449-AD36-5E42AFC1242B}"/>
              </a:ext>
            </a:extLst>
          </p:cNvPr>
          <p:cNvCxnSpPr>
            <a:cxnSpLocks/>
          </p:cNvCxnSpPr>
          <p:nvPr/>
        </p:nvCxnSpPr>
        <p:spPr>
          <a:xfrm flipH="1" flipV="1">
            <a:off x="11034508" y="5884697"/>
            <a:ext cx="127414" cy="2601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42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23" grpId="0" build="p"/>
      <p:bldP spid="28" grpId="0" build="p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F690C-2443-791C-72FF-45DA1EFCB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310985"/>
              </p:ext>
            </p:extLst>
          </p:nvPr>
        </p:nvGraphicFramePr>
        <p:xfrm>
          <a:off x="330980" y="547369"/>
          <a:ext cx="11393536" cy="1723131"/>
        </p:xfrm>
        <a:graphic>
          <a:graphicData uri="http://schemas.openxmlformats.org/drawingml/2006/table">
            <a:tbl>
              <a:tblPr firstRow="1" firstCol="1" bandRow="1"/>
              <a:tblGrid>
                <a:gridCol w="2259964">
                  <a:extLst>
                    <a:ext uri="{9D8B030D-6E8A-4147-A177-3AD203B41FA5}">
                      <a16:colId xmlns:a16="http://schemas.microsoft.com/office/drawing/2014/main" val="629302862"/>
                    </a:ext>
                  </a:extLst>
                </a:gridCol>
                <a:gridCol w="749690">
                  <a:extLst>
                    <a:ext uri="{9D8B030D-6E8A-4147-A177-3AD203B41FA5}">
                      <a16:colId xmlns:a16="http://schemas.microsoft.com/office/drawing/2014/main" val="4006393652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2083041246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3516873722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051359718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229385221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603938905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531434077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46411472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418527110"/>
                    </a:ext>
                  </a:extLst>
                </a:gridCol>
              </a:tblGrid>
              <a:tr h="967796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mobile phone company charges $10 per month connection fee. It charges $3 per MB of mobile internet data used. Plot a graph for this equation? </a:t>
                      </a:r>
                      <a:r>
                        <a:rPr lang="en-AU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an equation for the total charge for using mobile data?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67323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Mb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81479"/>
                  </a:ext>
                </a:extLst>
              </a:tr>
              <a:tr h="443447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177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ED0481-E4E6-A776-F860-910FB4304FBC}"/>
              </a:ext>
            </a:extLst>
          </p:cNvPr>
          <p:cNvSpPr txBox="1"/>
          <p:nvPr/>
        </p:nvSpPr>
        <p:spPr>
          <a:xfrm>
            <a:off x="4113052" y="190734"/>
            <a:ext cx="71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Plotting Linear Relationships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EE83D6E-6D94-92E9-3DA8-DE4D175B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903" y="2282278"/>
            <a:ext cx="154650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C143F-5281-FC6F-D0D9-45D090A20C24}"/>
              </a:ext>
            </a:extLst>
          </p:cNvPr>
          <p:cNvSpPr txBox="1"/>
          <p:nvPr/>
        </p:nvSpPr>
        <p:spPr>
          <a:xfrm>
            <a:off x="3420120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DC5E3-146D-290E-EA51-D07055FDB020}"/>
              </a:ext>
            </a:extLst>
          </p:cNvPr>
          <p:cNvSpPr txBox="1"/>
          <p:nvPr/>
        </p:nvSpPr>
        <p:spPr>
          <a:xfrm>
            <a:off x="5534085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369DA-FC9F-0CE9-74C5-3404C8DEDD09}"/>
              </a:ext>
            </a:extLst>
          </p:cNvPr>
          <p:cNvSpPr txBox="1"/>
          <p:nvPr/>
        </p:nvSpPr>
        <p:spPr>
          <a:xfrm>
            <a:off x="4523381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64F18-1CA5-BE56-F4F7-A600069BA487}"/>
              </a:ext>
            </a:extLst>
          </p:cNvPr>
          <p:cNvSpPr txBox="1"/>
          <p:nvPr/>
        </p:nvSpPr>
        <p:spPr>
          <a:xfrm>
            <a:off x="6559742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BFB74-7D8A-4FCB-96A5-1C3771205BEA}"/>
              </a:ext>
            </a:extLst>
          </p:cNvPr>
          <p:cNvSpPr txBox="1"/>
          <p:nvPr/>
        </p:nvSpPr>
        <p:spPr>
          <a:xfrm>
            <a:off x="7639165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52B8F2-C434-8014-3ABB-2399DED13E96}"/>
              </a:ext>
            </a:extLst>
          </p:cNvPr>
          <p:cNvSpPr txBox="1"/>
          <p:nvPr/>
        </p:nvSpPr>
        <p:spPr>
          <a:xfrm>
            <a:off x="8718588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B24F0-355B-6232-C568-867B3DB601F2}"/>
              </a:ext>
            </a:extLst>
          </p:cNvPr>
          <p:cNvSpPr txBox="1"/>
          <p:nvPr/>
        </p:nvSpPr>
        <p:spPr>
          <a:xfrm>
            <a:off x="9726486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D56A4-E4E0-74E1-85EC-E815F7161751}"/>
              </a:ext>
            </a:extLst>
          </p:cNvPr>
          <p:cNvSpPr txBox="1"/>
          <p:nvPr/>
        </p:nvSpPr>
        <p:spPr>
          <a:xfrm>
            <a:off x="10754949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64</a:t>
            </a:r>
          </a:p>
        </p:txBody>
      </p:sp>
      <p:pic>
        <p:nvPicPr>
          <p:cNvPr id="13314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BBCA1759-04B1-016B-E64E-44ED80DA3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450"/>
            <a:ext cx="63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CC7BE4-A235-6200-0FCB-F7B16C138DB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889" y="658100"/>
            <a:ext cx="1100722" cy="688255"/>
          </a:xfrm>
          <a:prstGeom prst="rect">
            <a:avLst/>
          </a:prstGeom>
          <a:noFill/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0FABBD19-445E-F079-4FDE-157D85134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0267" y="263970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20F534F-3461-EF75-CA62-6259E8684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280498"/>
              </p:ext>
            </p:extLst>
          </p:nvPr>
        </p:nvGraphicFramePr>
        <p:xfrm>
          <a:off x="419100" y="2563813"/>
          <a:ext cx="6565900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4" imgW="5770800" imgH="4300200" progId="FXDraw.Graphic">
                  <p:embed/>
                </p:oleObj>
              </mc:Choice>
              <mc:Fallback>
                <p:oleObj name="FX Draw" r:id="rId4" imgW="5770800" imgH="4300200" progId="FXDraw.Graphic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563813"/>
                        <a:ext cx="6565900" cy="3997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355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F690C-2443-791C-72FF-45DA1EFCB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624605"/>
              </p:ext>
            </p:extLst>
          </p:nvPr>
        </p:nvGraphicFramePr>
        <p:xfrm>
          <a:off x="330980" y="547369"/>
          <a:ext cx="11393536" cy="1723131"/>
        </p:xfrm>
        <a:graphic>
          <a:graphicData uri="http://schemas.openxmlformats.org/drawingml/2006/table">
            <a:tbl>
              <a:tblPr firstRow="1" firstCol="1" bandRow="1"/>
              <a:tblGrid>
                <a:gridCol w="2259964">
                  <a:extLst>
                    <a:ext uri="{9D8B030D-6E8A-4147-A177-3AD203B41FA5}">
                      <a16:colId xmlns:a16="http://schemas.microsoft.com/office/drawing/2014/main" val="629302862"/>
                    </a:ext>
                  </a:extLst>
                </a:gridCol>
                <a:gridCol w="749690">
                  <a:extLst>
                    <a:ext uri="{9D8B030D-6E8A-4147-A177-3AD203B41FA5}">
                      <a16:colId xmlns:a16="http://schemas.microsoft.com/office/drawing/2014/main" val="4006393652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2083041246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3516873722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051359718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229385221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603938905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531434077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46411472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418527110"/>
                    </a:ext>
                  </a:extLst>
                </a:gridCol>
              </a:tblGrid>
              <a:tr h="967796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mobile phone company charges £10 per month connection fee. It charges £3 per MB of mobile internet data used. Plot a graph for this equation? </a:t>
                      </a:r>
                      <a:r>
                        <a:rPr lang="en-AU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an equation for the total charge for using mobile data?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67323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Mb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81479"/>
                  </a:ext>
                </a:extLst>
              </a:tr>
              <a:tr h="443447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177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ED0481-E4E6-A776-F860-910FB4304FBC}"/>
              </a:ext>
            </a:extLst>
          </p:cNvPr>
          <p:cNvSpPr txBox="1"/>
          <p:nvPr/>
        </p:nvSpPr>
        <p:spPr>
          <a:xfrm>
            <a:off x="4113052" y="190734"/>
            <a:ext cx="71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Plotting Linear Relationships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EE83D6E-6D94-92E9-3DA8-DE4D175B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903" y="2282278"/>
            <a:ext cx="154650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C143F-5281-FC6F-D0D9-45D090A20C24}"/>
              </a:ext>
            </a:extLst>
          </p:cNvPr>
          <p:cNvSpPr txBox="1"/>
          <p:nvPr/>
        </p:nvSpPr>
        <p:spPr>
          <a:xfrm>
            <a:off x="3420120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DC5E3-146D-290E-EA51-D07055FDB020}"/>
              </a:ext>
            </a:extLst>
          </p:cNvPr>
          <p:cNvSpPr txBox="1"/>
          <p:nvPr/>
        </p:nvSpPr>
        <p:spPr>
          <a:xfrm>
            <a:off x="5534085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369DA-FC9F-0CE9-74C5-3404C8DEDD09}"/>
              </a:ext>
            </a:extLst>
          </p:cNvPr>
          <p:cNvSpPr txBox="1"/>
          <p:nvPr/>
        </p:nvSpPr>
        <p:spPr>
          <a:xfrm>
            <a:off x="4523381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64F18-1CA5-BE56-F4F7-A600069BA487}"/>
              </a:ext>
            </a:extLst>
          </p:cNvPr>
          <p:cNvSpPr txBox="1"/>
          <p:nvPr/>
        </p:nvSpPr>
        <p:spPr>
          <a:xfrm>
            <a:off x="6559742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BFB74-7D8A-4FCB-96A5-1C3771205BEA}"/>
              </a:ext>
            </a:extLst>
          </p:cNvPr>
          <p:cNvSpPr txBox="1"/>
          <p:nvPr/>
        </p:nvSpPr>
        <p:spPr>
          <a:xfrm>
            <a:off x="7639165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52B8F2-C434-8014-3ABB-2399DED13E96}"/>
              </a:ext>
            </a:extLst>
          </p:cNvPr>
          <p:cNvSpPr txBox="1"/>
          <p:nvPr/>
        </p:nvSpPr>
        <p:spPr>
          <a:xfrm>
            <a:off x="8718588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B24F0-355B-6232-C568-867B3DB601F2}"/>
              </a:ext>
            </a:extLst>
          </p:cNvPr>
          <p:cNvSpPr txBox="1"/>
          <p:nvPr/>
        </p:nvSpPr>
        <p:spPr>
          <a:xfrm>
            <a:off x="9726486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D56A4-E4E0-74E1-85EC-E815F7161751}"/>
              </a:ext>
            </a:extLst>
          </p:cNvPr>
          <p:cNvSpPr txBox="1"/>
          <p:nvPr/>
        </p:nvSpPr>
        <p:spPr>
          <a:xfrm>
            <a:off x="10754949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64</a:t>
            </a:r>
          </a:p>
        </p:txBody>
      </p:sp>
      <p:pic>
        <p:nvPicPr>
          <p:cNvPr id="13314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BBCA1759-04B1-016B-E64E-44ED80DA3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450"/>
            <a:ext cx="63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EBB6EC-94E8-610F-5182-D069436F9FC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889" y="658100"/>
            <a:ext cx="1100722" cy="688255"/>
          </a:xfrm>
          <a:prstGeom prst="rect">
            <a:avLst/>
          </a:prstGeom>
          <a:noFill/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BF7FC75-21B2-6ABF-5480-CC6DB9B54D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274719"/>
              </p:ext>
            </p:extLst>
          </p:nvPr>
        </p:nvGraphicFramePr>
        <p:xfrm>
          <a:off x="419100" y="2563813"/>
          <a:ext cx="6565900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4" imgW="5770800" imgH="4300200" progId="FXDraw.Graphic">
                  <p:embed/>
                </p:oleObj>
              </mc:Choice>
              <mc:Fallback>
                <p:oleObj name="FX Draw" r:id="rId4" imgW="5770800" imgH="4300200" progId="FXDraw.Graphi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20F534F-3461-EF75-CA62-6259E8684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563813"/>
                        <a:ext cx="6565900" cy="3997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5720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2F690C-2443-791C-72FF-45DA1EFCB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254936"/>
              </p:ext>
            </p:extLst>
          </p:nvPr>
        </p:nvGraphicFramePr>
        <p:xfrm>
          <a:off x="330980" y="547369"/>
          <a:ext cx="11393536" cy="1723131"/>
        </p:xfrm>
        <a:graphic>
          <a:graphicData uri="http://schemas.openxmlformats.org/drawingml/2006/table">
            <a:tbl>
              <a:tblPr firstRow="1" firstCol="1" bandRow="1"/>
              <a:tblGrid>
                <a:gridCol w="2259964">
                  <a:extLst>
                    <a:ext uri="{9D8B030D-6E8A-4147-A177-3AD203B41FA5}">
                      <a16:colId xmlns:a16="http://schemas.microsoft.com/office/drawing/2014/main" val="629302862"/>
                    </a:ext>
                  </a:extLst>
                </a:gridCol>
                <a:gridCol w="749690">
                  <a:extLst>
                    <a:ext uri="{9D8B030D-6E8A-4147-A177-3AD203B41FA5}">
                      <a16:colId xmlns:a16="http://schemas.microsoft.com/office/drawing/2014/main" val="4006393652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2083041246"/>
                    </a:ext>
                  </a:extLst>
                </a:gridCol>
                <a:gridCol w="1047167">
                  <a:extLst>
                    <a:ext uri="{9D8B030D-6E8A-4147-A177-3AD203B41FA5}">
                      <a16:colId xmlns:a16="http://schemas.microsoft.com/office/drawing/2014/main" val="3516873722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051359718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229385221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603938905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531434077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1464114724"/>
                    </a:ext>
                  </a:extLst>
                </a:gridCol>
                <a:gridCol w="1048258">
                  <a:extLst>
                    <a:ext uri="{9D8B030D-6E8A-4147-A177-3AD203B41FA5}">
                      <a16:colId xmlns:a16="http://schemas.microsoft.com/office/drawing/2014/main" val="3418527110"/>
                    </a:ext>
                  </a:extLst>
                </a:gridCol>
              </a:tblGrid>
              <a:tr h="967796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mobile phone company charges £10 per month connection fee. It charges £3 per MB of mobile internet data used. Plot a graph for this equation? </a:t>
                      </a:r>
                      <a:r>
                        <a:rPr lang="en-AU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 an equation for the total charge for using mobile data?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67323"/>
                  </a:ext>
                </a:extLst>
              </a:tr>
              <a:tr h="311888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MB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181479"/>
                  </a:ext>
                </a:extLst>
              </a:tr>
              <a:tr h="443447"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177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ED0481-E4E6-A776-F860-910FB4304FBC}"/>
              </a:ext>
            </a:extLst>
          </p:cNvPr>
          <p:cNvSpPr txBox="1"/>
          <p:nvPr/>
        </p:nvSpPr>
        <p:spPr>
          <a:xfrm>
            <a:off x="4113052" y="190734"/>
            <a:ext cx="715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Plotting Linear Relationships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EE83D6E-6D94-92E9-3DA8-DE4D175B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903" y="2282278"/>
            <a:ext cx="1546502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C143F-5281-FC6F-D0D9-45D090A20C24}"/>
              </a:ext>
            </a:extLst>
          </p:cNvPr>
          <p:cNvSpPr txBox="1"/>
          <p:nvPr/>
        </p:nvSpPr>
        <p:spPr>
          <a:xfrm>
            <a:off x="3420120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DC5E3-146D-290E-EA51-D07055FDB020}"/>
              </a:ext>
            </a:extLst>
          </p:cNvPr>
          <p:cNvSpPr txBox="1"/>
          <p:nvPr/>
        </p:nvSpPr>
        <p:spPr>
          <a:xfrm>
            <a:off x="5534085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369DA-FC9F-0CE9-74C5-3404C8DEDD09}"/>
              </a:ext>
            </a:extLst>
          </p:cNvPr>
          <p:cNvSpPr txBox="1"/>
          <p:nvPr/>
        </p:nvSpPr>
        <p:spPr>
          <a:xfrm>
            <a:off x="4523381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564F18-1CA5-BE56-F4F7-A600069BA487}"/>
              </a:ext>
            </a:extLst>
          </p:cNvPr>
          <p:cNvSpPr txBox="1"/>
          <p:nvPr/>
        </p:nvSpPr>
        <p:spPr>
          <a:xfrm>
            <a:off x="6559742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BFB74-7D8A-4FCB-96A5-1C3771205BEA}"/>
              </a:ext>
            </a:extLst>
          </p:cNvPr>
          <p:cNvSpPr txBox="1"/>
          <p:nvPr/>
        </p:nvSpPr>
        <p:spPr>
          <a:xfrm>
            <a:off x="7639165" y="1853420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52B8F2-C434-8014-3ABB-2399DED13E96}"/>
              </a:ext>
            </a:extLst>
          </p:cNvPr>
          <p:cNvSpPr txBox="1"/>
          <p:nvPr/>
        </p:nvSpPr>
        <p:spPr>
          <a:xfrm>
            <a:off x="8718588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B24F0-355B-6232-C568-867B3DB601F2}"/>
              </a:ext>
            </a:extLst>
          </p:cNvPr>
          <p:cNvSpPr txBox="1"/>
          <p:nvPr/>
        </p:nvSpPr>
        <p:spPr>
          <a:xfrm>
            <a:off x="9726486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28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1D56A4-E4E0-74E1-85EC-E815F7161751}"/>
              </a:ext>
            </a:extLst>
          </p:cNvPr>
          <p:cNvSpPr txBox="1"/>
          <p:nvPr/>
        </p:nvSpPr>
        <p:spPr>
          <a:xfrm>
            <a:off x="10754949" y="1844241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</a:rPr>
              <a:t>64</a:t>
            </a:r>
          </a:p>
        </p:txBody>
      </p:sp>
      <p:pic>
        <p:nvPicPr>
          <p:cNvPr id="13314" name="Picture 10" descr="http://us.123rf.com/400wm/400/400/yupiramos/yupiramos1112/yupiramos111200109/11549323-black-taxi-cartoon-with-tranparency-vector-illustration.jpg">
            <a:extLst>
              <a:ext uri="{FF2B5EF4-FFF2-40B4-BE49-F238E27FC236}">
                <a16:creationId xmlns:a16="http://schemas.microsoft.com/office/drawing/2014/main" id="{BBCA1759-04B1-016B-E64E-44ED80DA3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450"/>
            <a:ext cx="63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EBB6EC-94E8-610F-5182-D069436F9FC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889" y="658100"/>
            <a:ext cx="1100722" cy="688255"/>
          </a:xfrm>
          <a:prstGeom prst="rect">
            <a:avLst/>
          </a:prstGeom>
          <a:noFill/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BF7FC75-21B2-6ABF-5480-CC6DB9B54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" y="2563813"/>
          <a:ext cx="6565900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X Draw" r:id="rId4" imgW="5770800" imgH="4300200" progId="FXDraw.Graphic">
                  <p:embed/>
                </p:oleObj>
              </mc:Choice>
              <mc:Fallback>
                <p:oleObj name="FX Draw" r:id="rId4" imgW="5770800" imgH="4300200" progId="FXDraw.Graphi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BF7FC75-21B2-6ABF-5480-CC6DB9B54D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563813"/>
                        <a:ext cx="6565900" cy="3997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4814197-A863-C2EE-B264-166F46A4A342}"/>
              </a:ext>
            </a:extLst>
          </p:cNvPr>
          <p:cNvSpPr txBox="1"/>
          <p:nvPr/>
        </p:nvSpPr>
        <p:spPr>
          <a:xfrm>
            <a:off x="7773333" y="2524417"/>
            <a:ext cx="358467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How much will it cost if you go: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AU" sz="2000" b="1" dirty="0"/>
              <a:t>6MB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AU" sz="2000" b="1" dirty="0"/>
              <a:t>8MB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AU" sz="2000" b="1" dirty="0"/>
              <a:t>4.666MBkm</a:t>
            </a:r>
          </a:p>
          <a:p>
            <a:endParaRPr lang="en-AU" sz="2000" b="1" dirty="0"/>
          </a:p>
          <a:p>
            <a:r>
              <a:rPr lang="en-AU" sz="2000" b="1" dirty="0"/>
              <a:t>What is the function used to calculate the cost of the journey?</a:t>
            </a:r>
          </a:p>
          <a:p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6950C-2C35-71EF-55EC-147F62B3F65F}"/>
              </a:ext>
            </a:extLst>
          </p:cNvPr>
          <p:cNvSpPr txBox="1"/>
          <p:nvPr/>
        </p:nvSpPr>
        <p:spPr>
          <a:xfrm>
            <a:off x="9653876" y="2923658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AU" sz="2000" b="1" dirty="0">
                <a:solidFill>
                  <a:srgbClr val="FF0000"/>
                </a:solidFill>
              </a:rPr>
              <a:t>28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9A6511-5A4F-3046-5894-274917E9AC35}"/>
              </a:ext>
            </a:extLst>
          </p:cNvPr>
          <p:cNvCxnSpPr>
            <a:cxnSpLocks/>
          </p:cNvCxnSpPr>
          <p:nvPr/>
        </p:nvCxnSpPr>
        <p:spPr>
          <a:xfrm flipV="1">
            <a:off x="5420956" y="3522964"/>
            <a:ext cx="0" cy="274320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DAB095-B67C-B7B5-87B2-ED6C4AD2BA31}"/>
              </a:ext>
            </a:extLst>
          </p:cNvPr>
          <p:cNvCxnSpPr>
            <a:cxnSpLocks/>
          </p:cNvCxnSpPr>
          <p:nvPr/>
        </p:nvCxnSpPr>
        <p:spPr>
          <a:xfrm flipH="1">
            <a:off x="835863" y="3522964"/>
            <a:ext cx="4534600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54BD3C-F7D8-A4CD-8B7E-3AF3F6C1E987}"/>
              </a:ext>
            </a:extLst>
          </p:cNvPr>
          <p:cNvSpPr txBox="1"/>
          <p:nvPr/>
        </p:nvSpPr>
        <p:spPr>
          <a:xfrm>
            <a:off x="9653876" y="3368755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B05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AU" sz="2000" b="1" dirty="0">
                <a:solidFill>
                  <a:srgbClr val="00B050"/>
                </a:solidFill>
              </a:rPr>
              <a:t>24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12D18F-E950-AE81-B66C-83FE4BC9C193}"/>
              </a:ext>
            </a:extLst>
          </p:cNvPr>
          <p:cNvCxnSpPr>
            <a:cxnSpLocks/>
          </p:cNvCxnSpPr>
          <p:nvPr/>
        </p:nvCxnSpPr>
        <p:spPr>
          <a:xfrm flipV="1">
            <a:off x="3521097" y="4594439"/>
            <a:ext cx="0" cy="1671725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50FAAC-7D5B-19AA-3475-1C5A8A6E04F7}"/>
              </a:ext>
            </a:extLst>
          </p:cNvPr>
          <p:cNvCxnSpPr>
            <a:cxnSpLocks/>
          </p:cNvCxnSpPr>
          <p:nvPr/>
        </p:nvCxnSpPr>
        <p:spPr>
          <a:xfrm flipH="1">
            <a:off x="835863" y="4549561"/>
            <a:ext cx="2685234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364437-B95F-EB97-B4AC-7CDEF87E991E}"/>
              </a:ext>
            </a:extLst>
          </p:cNvPr>
          <p:cNvSpPr txBox="1"/>
          <p:nvPr/>
        </p:nvSpPr>
        <p:spPr>
          <a:xfrm>
            <a:off x="9653876" y="3849525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AU" sz="2000" b="1" dirty="0">
                <a:solidFill>
                  <a:srgbClr val="0070C0"/>
                </a:solidFill>
              </a:rPr>
              <a:t>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3" name="TextBox 13312">
                <a:extLst>
                  <a:ext uri="{FF2B5EF4-FFF2-40B4-BE49-F238E27FC236}">
                    <a16:creationId xmlns:a16="http://schemas.microsoft.com/office/drawing/2014/main" id="{BDBD5746-5E83-8E3E-EF60-0E1D31584516}"/>
                  </a:ext>
                </a:extLst>
              </p:cNvPr>
              <p:cNvSpPr txBox="1"/>
              <p:nvPr/>
            </p:nvSpPr>
            <p:spPr>
              <a:xfrm>
                <a:off x="8522954" y="5462503"/>
                <a:ext cx="23233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313" name="TextBox 13312">
                <a:extLst>
                  <a:ext uri="{FF2B5EF4-FFF2-40B4-BE49-F238E27FC236}">
                    <a16:creationId xmlns:a16="http://schemas.microsoft.com/office/drawing/2014/main" id="{BDBD5746-5E83-8E3E-EF60-0E1D31584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954" y="5462503"/>
                <a:ext cx="2323369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5" name="TextBox 13314">
            <a:extLst>
              <a:ext uri="{FF2B5EF4-FFF2-40B4-BE49-F238E27FC236}">
                <a16:creationId xmlns:a16="http://schemas.microsoft.com/office/drawing/2014/main" id="{87043F1C-D359-D269-B10A-74232AEEC8D5}"/>
              </a:ext>
            </a:extLst>
          </p:cNvPr>
          <p:cNvSpPr txBox="1"/>
          <p:nvPr/>
        </p:nvSpPr>
        <p:spPr>
          <a:xfrm>
            <a:off x="8770075" y="6188315"/>
            <a:ext cx="84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Rate</a:t>
            </a:r>
            <a:endParaRPr lang="en-AU" sz="2000" b="1" dirty="0">
              <a:solidFill>
                <a:srgbClr val="FF0000"/>
              </a:solidFill>
            </a:endParaRPr>
          </a:p>
        </p:txBody>
      </p:sp>
      <p:sp>
        <p:nvSpPr>
          <p:cNvPr id="13316" name="TextBox 13315">
            <a:extLst>
              <a:ext uri="{FF2B5EF4-FFF2-40B4-BE49-F238E27FC236}">
                <a16:creationId xmlns:a16="http://schemas.microsoft.com/office/drawing/2014/main" id="{4373904F-F33F-F828-259C-EDDD0423C180}"/>
              </a:ext>
            </a:extLst>
          </p:cNvPr>
          <p:cNvSpPr txBox="1"/>
          <p:nvPr/>
        </p:nvSpPr>
        <p:spPr>
          <a:xfrm>
            <a:off x="9892038" y="6004675"/>
            <a:ext cx="1060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Starting value</a:t>
            </a:r>
            <a:endParaRPr lang="en-AU" sz="2000" b="1" dirty="0">
              <a:solidFill>
                <a:srgbClr val="FF0000"/>
              </a:solidFill>
            </a:endParaRPr>
          </a:p>
        </p:txBody>
      </p:sp>
      <p:cxnSp>
        <p:nvCxnSpPr>
          <p:cNvPr id="13317" name="Straight Arrow Connector 13316">
            <a:extLst>
              <a:ext uri="{FF2B5EF4-FFF2-40B4-BE49-F238E27FC236}">
                <a16:creationId xmlns:a16="http://schemas.microsoft.com/office/drawing/2014/main" id="{25E6B10B-D688-04C1-ADC9-7B8D78D4A9ED}"/>
              </a:ext>
            </a:extLst>
          </p:cNvPr>
          <p:cNvCxnSpPr>
            <a:stCxn id="13315" idx="0"/>
          </p:cNvCxnSpPr>
          <p:nvPr/>
        </p:nvCxnSpPr>
        <p:spPr>
          <a:xfrm flipV="1">
            <a:off x="9193616" y="5834190"/>
            <a:ext cx="216595" cy="3541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18" name="Straight Arrow Connector 13317">
            <a:extLst>
              <a:ext uri="{FF2B5EF4-FFF2-40B4-BE49-F238E27FC236}">
                <a16:creationId xmlns:a16="http://schemas.microsoft.com/office/drawing/2014/main" id="{B4F0947B-4B24-8ECC-2BD8-1B3415A3AAB3}"/>
              </a:ext>
            </a:extLst>
          </p:cNvPr>
          <p:cNvCxnSpPr>
            <a:cxnSpLocks/>
          </p:cNvCxnSpPr>
          <p:nvPr/>
        </p:nvCxnSpPr>
        <p:spPr>
          <a:xfrm flipH="1" flipV="1">
            <a:off x="10425588" y="5744484"/>
            <a:ext cx="127414" cy="2601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56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8" grpId="0" build="p"/>
      <p:bldP spid="13313" grpId="0" build="p"/>
      <p:bldP spid="13315" grpId="0"/>
      <p:bldP spid="133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1_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Lucida Sans Unicode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770</Words>
  <Application>Microsoft Office PowerPoint</Application>
  <PresentationFormat>Widescreen</PresentationFormat>
  <Paragraphs>253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Cambria Math</vt:lpstr>
      <vt:lpstr>Times New Roman</vt:lpstr>
      <vt:lpstr>Wingdings</vt:lpstr>
      <vt:lpstr>Office Theme</vt:lpstr>
      <vt:lpstr>1_Default Design</vt:lpstr>
      <vt:lpstr>FX Draw</vt:lpstr>
      <vt:lpstr>PowerPoint Presentation</vt:lpstr>
      <vt:lpstr>Expanding brackets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7</cp:revision>
  <dcterms:created xsi:type="dcterms:W3CDTF">2022-08-22T05:20:20Z</dcterms:created>
  <dcterms:modified xsi:type="dcterms:W3CDTF">2022-08-29T03:00:42Z</dcterms:modified>
</cp:coreProperties>
</file>
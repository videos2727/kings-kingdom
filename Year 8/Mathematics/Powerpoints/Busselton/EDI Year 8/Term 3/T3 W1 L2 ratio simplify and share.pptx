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6"/>
  </p:notesMasterIdLst>
  <p:sldIdLst>
    <p:sldId id="257" r:id="rId5"/>
    <p:sldId id="362" r:id="rId6"/>
    <p:sldId id="350" r:id="rId7"/>
    <p:sldId id="259" r:id="rId8"/>
    <p:sldId id="376" r:id="rId9"/>
    <p:sldId id="338" r:id="rId10"/>
    <p:sldId id="348" r:id="rId11"/>
    <p:sldId id="371" r:id="rId12"/>
    <p:sldId id="372" r:id="rId13"/>
    <p:sldId id="373" r:id="rId14"/>
    <p:sldId id="364" r:id="rId15"/>
    <p:sldId id="341" r:id="rId16"/>
    <p:sldId id="342" r:id="rId17"/>
    <p:sldId id="343" r:id="rId18"/>
    <p:sldId id="369" r:id="rId19"/>
    <p:sldId id="370" r:id="rId20"/>
    <p:sldId id="374" r:id="rId21"/>
    <p:sldId id="367" r:id="rId22"/>
    <p:sldId id="368" r:id="rId23"/>
    <p:sldId id="365" r:id="rId24"/>
    <p:sldId id="3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2699D-D38E-4B40-B817-BFDE7C93D3EF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9E3E5-2FB2-4291-9452-26898C255A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05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D2769-D43E-4332-8490-A01931B09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407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D2769-D43E-4332-8490-A01931B09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7843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D2769-D43E-4332-8490-A01931B09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86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D2769-D43E-4332-8490-A01931B09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700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D2769-D43E-4332-8490-A01931B09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403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D2769-D43E-4332-8490-A01931B09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81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2BEB-F7C7-35B7-3E9D-F5E0F34FD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F28D-83D4-6BB9-83E6-6CA776B22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1EA3-8C42-B65C-34B0-E8DF176B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95B9-C007-48CA-CEFD-10E56CE5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01346-5A20-7D75-A1F8-766763E2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480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47AA-6F3B-9CE4-5F8B-26B7A8D3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DB0D6-EDCE-2E00-FB0A-0DA879796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6F1A6-347B-FD3E-71B3-CB6F79B7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FC0E8-C716-16B4-1E34-BD54FF48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BA464-ED69-1E2F-B20D-B00FD785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95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4A60-BBBC-F4D2-015C-8EF63C71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22D8F-7906-E73A-D548-A83A08A73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40046-0B82-7A7D-AC23-C2F88BBE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8443E-12AF-604B-0039-DAF36135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2847-81C1-1CFB-267F-743CCBDA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44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34F9-49DC-56A0-CC59-29959D1F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2B4C5-39D1-9FDD-B787-9EC512CB5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FD75D-6CFD-EC73-1ACB-1F2E607A7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41EAA-6327-0BDF-D67C-1538784A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9B1CC-EE8E-BB41-6CA6-EF7321A5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3EA14-6107-D809-2216-3527761D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18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A569-5253-FFB4-6537-A0995D15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C7C51-FEB3-CBFE-7337-DD08F612F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D650F-0B07-66EE-3085-9C26047A6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C0874-2C5A-9220-4D43-557ECECF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AB726-4ABD-16CC-6E72-6C093B4C8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3ED3D-4D54-E569-6DF5-7BAFAF6B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9C8B4-94D1-0385-3179-B1BAF7CD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9B6BD-796A-DAA4-2817-035AABBC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420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97E6-C25C-0867-20CD-F0B8284C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09CC2-9D5E-D9AA-868E-9A6D19AF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267D0-3624-1A6D-EF32-E5769E69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764AC-5F90-7E6D-F138-447E7639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555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C64697-8F3E-95F3-8E9B-E54BAF29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F0709-1D94-0071-FF8A-4235625C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5AB1B-352F-4EA8-F40B-76B31CDA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685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BCD3-1293-E2EA-17A8-64EA4F35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7F294-39EE-3C4C-B716-6040186C4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7DAF-5456-6D60-DA3E-F5E1D9AD7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CDE6-E6E4-F12C-CA6D-BE7EF3E0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E31AF-F04A-9AA8-DE1E-E7FC5F26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A0982-01F9-9C12-A83F-F028F99D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598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1C4B-4E15-9C93-2F67-33D479F4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E1623-ECF1-ED5E-0EEC-02404C3B3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64665-6C20-A6CA-B2A2-AC659E358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DC900-D399-D215-1E8E-CE03ED99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FE1F4-DC12-CA0A-3A00-FB77AB2A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57299-DD0D-EE1E-2BD5-F8BD3C34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5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AA14-4006-A444-B5C4-CBFEA86B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924A2-E6DD-62CC-B799-9FE31707C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181DD-B0C4-248A-6293-38947D10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DD91B-E9D9-2BC9-8162-736E1517D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6B9D-5005-3AB7-E608-561319D7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422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38E98-E7F9-225B-5301-361DD5BA7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3B087-2B45-1556-8C53-2F85300B5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7E3C-4913-1EE3-3EE1-38B21FD2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C24CE-DDAC-B60B-A40F-58B74A84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233AA-5687-80CE-3852-519BC728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254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grpSp>
        <p:nvGrpSpPr>
          <p:cNvPr id="5" name="Group 43"/>
          <p:cNvGrpSpPr>
            <a:grpSpLocks/>
          </p:cNvGrpSpPr>
          <p:nvPr userDrawn="1"/>
        </p:nvGrpSpPr>
        <p:grpSpPr bwMode="auto">
          <a:xfrm>
            <a:off x="0" y="2268538"/>
            <a:ext cx="5588000" cy="4589462"/>
            <a:chOff x="-1" y="1600199"/>
            <a:chExt cx="4501019" cy="5257801"/>
          </a:xfrm>
        </p:grpSpPr>
        <p:sp>
          <p:nvSpPr>
            <p:cNvPr id="6" name="Freeform 7"/>
            <p:cNvSpPr>
              <a:spLocks/>
            </p:cNvSpPr>
            <p:nvPr userDrawn="1"/>
          </p:nvSpPr>
          <p:spPr bwMode="auto">
            <a:xfrm>
              <a:off x="-1" y="1600199"/>
              <a:ext cx="4127640" cy="25152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7" name="Freeform 8"/>
            <p:cNvSpPr>
              <a:spLocks/>
            </p:cNvSpPr>
            <p:nvPr userDrawn="1"/>
          </p:nvSpPr>
          <p:spPr bwMode="auto">
            <a:xfrm>
              <a:off x="-1" y="3580740"/>
              <a:ext cx="1600931" cy="3277260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8" name="Freeform 9"/>
            <p:cNvSpPr>
              <a:spLocks/>
            </p:cNvSpPr>
            <p:nvPr userDrawn="1"/>
          </p:nvSpPr>
          <p:spPr bwMode="auto">
            <a:xfrm>
              <a:off x="-1" y="2438610"/>
              <a:ext cx="2894974" cy="2153316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9" name="Freeform 10"/>
            <p:cNvSpPr>
              <a:spLocks/>
            </p:cNvSpPr>
            <p:nvPr userDrawn="1"/>
          </p:nvSpPr>
          <p:spPr bwMode="auto">
            <a:xfrm>
              <a:off x="1224140" y="3886278"/>
              <a:ext cx="3276878" cy="2971722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0" name="Freeform 11"/>
            <p:cNvSpPr>
              <a:spLocks/>
            </p:cNvSpPr>
            <p:nvPr userDrawn="1"/>
          </p:nvSpPr>
          <p:spPr bwMode="auto">
            <a:xfrm>
              <a:off x="876334" y="3993581"/>
              <a:ext cx="1720276" cy="2864419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  <p:sp>
        <p:nvSpPr>
          <p:cNvPr id="11" name="Freeform 46"/>
          <p:cNvSpPr>
            <a:spLocks/>
          </p:cNvSpPr>
          <p:nvPr userDrawn="1"/>
        </p:nvSpPr>
        <p:spPr bwMode="auto">
          <a:xfrm>
            <a:off x="10058400" y="0"/>
            <a:ext cx="2133600" cy="2209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32" y="0"/>
              </a:cxn>
              <a:cxn ang="0">
                <a:pos x="1432" y="3492"/>
              </a:cxn>
              <a:cxn ang="0">
                <a:pos x="1419" y="3252"/>
              </a:cxn>
              <a:cxn ang="0">
                <a:pos x="1406" y="3024"/>
              </a:cxn>
              <a:cxn ang="0">
                <a:pos x="1393" y="2807"/>
              </a:cxn>
              <a:cxn ang="0">
                <a:pos x="1379" y="2601"/>
              </a:cxn>
              <a:cxn ang="0">
                <a:pos x="1364" y="2407"/>
              </a:cxn>
              <a:cxn ang="0">
                <a:pos x="1348" y="2222"/>
              </a:cxn>
              <a:cxn ang="0">
                <a:pos x="1330" y="2047"/>
              </a:cxn>
              <a:cxn ang="0">
                <a:pos x="1311" y="1881"/>
              </a:cxn>
              <a:cxn ang="0">
                <a:pos x="1291" y="1726"/>
              </a:cxn>
              <a:cxn ang="0">
                <a:pos x="1268" y="1580"/>
              </a:cxn>
              <a:cxn ang="0">
                <a:pos x="1245" y="1442"/>
              </a:cxn>
              <a:cxn ang="0">
                <a:pos x="1218" y="1313"/>
              </a:cxn>
              <a:cxn ang="0">
                <a:pos x="1190" y="1192"/>
              </a:cxn>
              <a:cxn ang="0">
                <a:pos x="1158" y="1078"/>
              </a:cxn>
              <a:cxn ang="0">
                <a:pos x="1125" y="973"/>
              </a:cxn>
              <a:cxn ang="0">
                <a:pos x="1089" y="873"/>
              </a:cxn>
              <a:cxn ang="0">
                <a:pos x="1049" y="781"/>
              </a:cxn>
              <a:cxn ang="0">
                <a:pos x="1007" y="696"/>
              </a:cxn>
              <a:cxn ang="0">
                <a:pos x="962" y="617"/>
              </a:cxn>
              <a:cxn ang="0">
                <a:pos x="913" y="544"/>
              </a:cxn>
              <a:cxn ang="0">
                <a:pos x="860" y="475"/>
              </a:cxn>
              <a:cxn ang="0">
                <a:pos x="804" y="413"/>
              </a:cxn>
              <a:cxn ang="0">
                <a:pos x="744" y="354"/>
              </a:cxn>
              <a:cxn ang="0">
                <a:pos x="680" y="301"/>
              </a:cxn>
              <a:cxn ang="0">
                <a:pos x="611" y="252"/>
              </a:cxn>
              <a:cxn ang="0">
                <a:pos x="539" y="206"/>
              </a:cxn>
              <a:cxn ang="0">
                <a:pos x="461" y="165"/>
              </a:cxn>
              <a:cxn ang="0">
                <a:pos x="379" y="128"/>
              </a:cxn>
              <a:cxn ang="0">
                <a:pos x="292" y="92"/>
              </a:cxn>
              <a:cxn ang="0">
                <a:pos x="200" y="59"/>
              </a:cxn>
              <a:cxn ang="0">
                <a:pos x="103" y="28"/>
              </a:cxn>
              <a:cxn ang="0">
                <a:pos x="0" y="0"/>
              </a:cxn>
            </a:cxnLst>
            <a:rect l="0" t="0" r="r" b="b"/>
            <a:pathLst>
              <a:path w="1432" h="3492">
                <a:moveTo>
                  <a:pt x="0" y="0"/>
                </a:moveTo>
                <a:lnTo>
                  <a:pt x="1432" y="0"/>
                </a:lnTo>
                <a:lnTo>
                  <a:pt x="1432" y="3492"/>
                </a:lnTo>
                <a:lnTo>
                  <a:pt x="1419" y="3252"/>
                </a:lnTo>
                <a:lnTo>
                  <a:pt x="1406" y="3024"/>
                </a:lnTo>
                <a:lnTo>
                  <a:pt x="1393" y="2807"/>
                </a:lnTo>
                <a:lnTo>
                  <a:pt x="1379" y="2601"/>
                </a:lnTo>
                <a:lnTo>
                  <a:pt x="1364" y="2407"/>
                </a:lnTo>
                <a:lnTo>
                  <a:pt x="1348" y="2222"/>
                </a:lnTo>
                <a:lnTo>
                  <a:pt x="1330" y="2047"/>
                </a:lnTo>
                <a:lnTo>
                  <a:pt x="1311" y="1881"/>
                </a:lnTo>
                <a:lnTo>
                  <a:pt x="1291" y="1726"/>
                </a:lnTo>
                <a:lnTo>
                  <a:pt x="1268" y="1580"/>
                </a:lnTo>
                <a:lnTo>
                  <a:pt x="1245" y="1442"/>
                </a:lnTo>
                <a:lnTo>
                  <a:pt x="1218" y="1313"/>
                </a:lnTo>
                <a:lnTo>
                  <a:pt x="1190" y="1192"/>
                </a:lnTo>
                <a:lnTo>
                  <a:pt x="1158" y="1078"/>
                </a:lnTo>
                <a:lnTo>
                  <a:pt x="1125" y="973"/>
                </a:lnTo>
                <a:lnTo>
                  <a:pt x="1089" y="873"/>
                </a:lnTo>
                <a:lnTo>
                  <a:pt x="1049" y="781"/>
                </a:lnTo>
                <a:lnTo>
                  <a:pt x="1007" y="696"/>
                </a:lnTo>
                <a:lnTo>
                  <a:pt x="962" y="617"/>
                </a:lnTo>
                <a:lnTo>
                  <a:pt x="913" y="544"/>
                </a:lnTo>
                <a:lnTo>
                  <a:pt x="860" y="475"/>
                </a:lnTo>
                <a:lnTo>
                  <a:pt x="804" y="413"/>
                </a:lnTo>
                <a:lnTo>
                  <a:pt x="744" y="354"/>
                </a:lnTo>
                <a:lnTo>
                  <a:pt x="680" y="301"/>
                </a:lnTo>
                <a:lnTo>
                  <a:pt x="611" y="252"/>
                </a:lnTo>
                <a:lnTo>
                  <a:pt x="539" y="206"/>
                </a:lnTo>
                <a:lnTo>
                  <a:pt x="461" y="165"/>
                </a:lnTo>
                <a:lnTo>
                  <a:pt x="379" y="128"/>
                </a:lnTo>
                <a:lnTo>
                  <a:pt x="292" y="92"/>
                </a:lnTo>
                <a:lnTo>
                  <a:pt x="200" y="59"/>
                </a:lnTo>
                <a:lnTo>
                  <a:pt x="103" y="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sp>
        <p:nvSpPr>
          <p:cNvPr id="12" name="Freeform 47"/>
          <p:cNvSpPr>
            <a:spLocks/>
          </p:cNvSpPr>
          <p:nvPr userDrawn="1"/>
        </p:nvSpPr>
        <p:spPr bwMode="auto">
          <a:xfrm>
            <a:off x="4978400" y="5715000"/>
            <a:ext cx="6705600" cy="762000"/>
          </a:xfrm>
          <a:custGeom>
            <a:avLst/>
            <a:gdLst/>
            <a:ahLst/>
            <a:cxnLst>
              <a:cxn ang="0">
                <a:pos x="17264" y="180"/>
              </a:cxn>
              <a:cxn ang="0">
                <a:pos x="16706" y="689"/>
              </a:cxn>
              <a:cxn ang="0">
                <a:pos x="15959" y="1141"/>
              </a:cxn>
              <a:cxn ang="0">
                <a:pos x="15050" y="1535"/>
              </a:cxn>
              <a:cxn ang="0">
                <a:pos x="14003" y="1871"/>
              </a:cxn>
              <a:cxn ang="0">
                <a:pos x="12844" y="2151"/>
              </a:cxn>
              <a:cxn ang="0">
                <a:pos x="11599" y="2374"/>
              </a:cxn>
              <a:cxn ang="0">
                <a:pos x="10294" y="2540"/>
              </a:cxn>
              <a:cxn ang="0">
                <a:pos x="8951" y="2649"/>
              </a:cxn>
              <a:cxn ang="0">
                <a:pos x="7599" y="2704"/>
              </a:cxn>
              <a:cxn ang="0">
                <a:pos x="6264" y="2702"/>
              </a:cxn>
              <a:cxn ang="0">
                <a:pos x="4968" y="2645"/>
              </a:cxn>
              <a:cxn ang="0">
                <a:pos x="3740" y="2534"/>
              </a:cxn>
              <a:cxn ang="0">
                <a:pos x="2603" y="2367"/>
              </a:cxn>
              <a:cxn ang="0">
                <a:pos x="1584" y="2147"/>
              </a:cxn>
              <a:cxn ang="0">
                <a:pos x="708" y="1871"/>
              </a:cxn>
              <a:cxn ang="0">
                <a:pos x="0" y="1543"/>
              </a:cxn>
              <a:cxn ang="0">
                <a:pos x="341" y="1635"/>
              </a:cxn>
              <a:cxn ang="0">
                <a:pos x="1155" y="1920"/>
              </a:cxn>
              <a:cxn ang="0">
                <a:pos x="2121" y="2151"/>
              </a:cxn>
              <a:cxn ang="0">
                <a:pos x="3215" y="2331"/>
              </a:cxn>
              <a:cxn ang="0">
                <a:pos x="4413" y="2457"/>
              </a:cxn>
              <a:cxn ang="0">
                <a:pos x="5686" y="2531"/>
              </a:cxn>
              <a:cxn ang="0">
                <a:pos x="7011" y="2550"/>
              </a:cxn>
              <a:cxn ang="0">
                <a:pos x="8361" y="2515"/>
              </a:cxn>
              <a:cxn ang="0">
                <a:pos x="9712" y="2426"/>
              </a:cxn>
              <a:cxn ang="0">
                <a:pos x="11037" y="2283"/>
              </a:cxn>
              <a:cxn ang="0">
                <a:pos x="12311" y="2084"/>
              </a:cxn>
              <a:cxn ang="0">
                <a:pos x="13509" y="1831"/>
              </a:cxn>
              <a:cxn ang="0">
                <a:pos x="14604" y="1522"/>
              </a:cxn>
              <a:cxn ang="0">
                <a:pos x="15571" y="1158"/>
              </a:cxn>
              <a:cxn ang="0">
                <a:pos x="16386" y="737"/>
              </a:cxn>
              <a:cxn ang="0">
                <a:pos x="17021" y="260"/>
              </a:cxn>
            </a:cxnLst>
            <a:rect l="0" t="0" r="r" b="b"/>
            <a:pathLst>
              <a:path w="17264" h="2710">
                <a:moveTo>
                  <a:pt x="17264" y="0"/>
                </a:moveTo>
                <a:lnTo>
                  <a:pt x="17264" y="180"/>
                </a:lnTo>
                <a:lnTo>
                  <a:pt x="17010" y="442"/>
                </a:lnTo>
                <a:lnTo>
                  <a:pt x="16706" y="689"/>
                </a:lnTo>
                <a:lnTo>
                  <a:pt x="16354" y="923"/>
                </a:lnTo>
                <a:lnTo>
                  <a:pt x="15959" y="1141"/>
                </a:lnTo>
                <a:lnTo>
                  <a:pt x="15524" y="1345"/>
                </a:lnTo>
                <a:lnTo>
                  <a:pt x="15050" y="1535"/>
                </a:lnTo>
                <a:lnTo>
                  <a:pt x="14543" y="1710"/>
                </a:lnTo>
                <a:lnTo>
                  <a:pt x="14003" y="1871"/>
                </a:lnTo>
                <a:lnTo>
                  <a:pt x="13437" y="2018"/>
                </a:lnTo>
                <a:lnTo>
                  <a:pt x="12844" y="2151"/>
                </a:lnTo>
                <a:lnTo>
                  <a:pt x="12232" y="2269"/>
                </a:lnTo>
                <a:lnTo>
                  <a:pt x="11599" y="2374"/>
                </a:lnTo>
                <a:lnTo>
                  <a:pt x="10952" y="2464"/>
                </a:lnTo>
                <a:lnTo>
                  <a:pt x="10294" y="2540"/>
                </a:lnTo>
                <a:lnTo>
                  <a:pt x="9625" y="2602"/>
                </a:lnTo>
                <a:lnTo>
                  <a:pt x="8951" y="2649"/>
                </a:lnTo>
                <a:lnTo>
                  <a:pt x="8275" y="2684"/>
                </a:lnTo>
                <a:lnTo>
                  <a:pt x="7599" y="2704"/>
                </a:lnTo>
                <a:lnTo>
                  <a:pt x="6928" y="2710"/>
                </a:lnTo>
                <a:lnTo>
                  <a:pt x="6264" y="2702"/>
                </a:lnTo>
                <a:lnTo>
                  <a:pt x="5609" y="2681"/>
                </a:lnTo>
                <a:lnTo>
                  <a:pt x="4968" y="2645"/>
                </a:lnTo>
                <a:lnTo>
                  <a:pt x="4344" y="2597"/>
                </a:lnTo>
                <a:lnTo>
                  <a:pt x="3740" y="2534"/>
                </a:lnTo>
                <a:lnTo>
                  <a:pt x="3158" y="2457"/>
                </a:lnTo>
                <a:lnTo>
                  <a:pt x="2603" y="2367"/>
                </a:lnTo>
                <a:lnTo>
                  <a:pt x="2077" y="2264"/>
                </a:lnTo>
                <a:lnTo>
                  <a:pt x="1584" y="2147"/>
                </a:lnTo>
                <a:lnTo>
                  <a:pt x="1126" y="2016"/>
                </a:lnTo>
                <a:lnTo>
                  <a:pt x="708" y="1871"/>
                </a:lnTo>
                <a:lnTo>
                  <a:pt x="331" y="1714"/>
                </a:lnTo>
                <a:lnTo>
                  <a:pt x="0" y="1543"/>
                </a:lnTo>
                <a:lnTo>
                  <a:pt x="0" y="1474"/>
                </a:lnTo>
                <a:lnTo>
                  <a:pt x="341" y="1635"/>
                </a:lnTo>
                <a:lnTo>
                  <a:pt x="727" y="1784"/>
                </a:lnTo>
                <a:lnTo>
                  <a:pt x="1155" y="1920"/>
                </a:lnTo>
                <a:lnTo>
                  <a:pt x="1621" y="2042"/>
                </a:lnTo>
                <a:lnTo>
                  <a:pt x="2121" y="2151"/>
                </a:lnTo>
                <a:lnTo>
                  <a:pt x="2654" y="2249"/>
                </a:lnTo>
                <a:lnTo>
                  <a:pt x="3215" y="2331"/>
                </a:lnTo>
                <a:lnTo>
                  <a:pt x="3803" y="2401"/>
                </a:lnTo>
                <a:lnTo>
                  <a:pt x="4413" y="2457"/>
                </a:lnTo>
                <a:lnTo>
                  <a:pt x="5041" y="2500"/>
                </a:lnTo>
                <a:lnTo>
                  <a:pt x="5686" y="2531"/>
                </a:lnTo>
                <a:lnTo>
                  <a:pt x="6343" y="2547"/>
                </a:lnTo>
                <a:lnTo>
                  <a:pt x="7011" y="2550"/>
                </a:lnTo>
                <a:lnTo>
                  <a:pt x="7685" y="2539"/>
                </a:lnTo>
                <a:lnTo>
                  <a:pt x="8361" y="2515"/>
                </a:lnTo>
                <a:lnTo>
                  <a:pt x="9039" y="2478"/>
                </a:lnTo>
                <a:lnTo>
                  <a:pt x="9712" y="2426"/>
                </a:lnTo>
                <a:lnTo>
                  <a:pt x="10379" y="2361"/>
                </a:lnTo>
                <a:lnTo>
                  <a:pt x="11037" y="2283"/>
                </a:lnTo>
                <a:lnTo>
                  <a:pt x="11682" y="2190"/>
                </a:lnTo>
                <a:lnTo>
                  <a:pt x="12311" y="2084"/>
                </a:lnTo>
                <a:lnTo>
                  <a:pt x="12921" y="1964"/>
                </a:lnTo>
                <a:lnTo>
                  <a:pt x="13509" y="1831"/>
                </a:lnTo>
                <a:lnTo>
                  <a:pt x="14070" y="1683"/>
                </a:lnTo>
                <a:lnTo>
                  <a:pt x="14604" y="1522"/>
                </a:lnTo>
                <a:lnTo>
                  <a:pt x="15105" y="1347"/>
                </a:lnTo>
                <a:lnTo>
                  <a:pt x="15571" y="1158"/>
                </a:lnTo>
                <a:lnTo>
                  <a:pt x="15999" y="954"/>
                </a:lnTo>
                <a:lnTo>
                  <a:pt x="16386" y="737"/>
                </a:lnTo>
                <a:lnTo>
                  <a:pt x="16728" y="506"/>
                </a:lnTo>
                <a:lnTo>
                  <a:pt x="17021" y="260"/>
                </a:lnTo>
                <a:lnTo>
                  <a:pt x="17264" y="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0800" y="1116449"/>
            <a:ext cx="9144000" cy="707886"/>
          </a:xfrm>
        </p:spPr>
        <p:txBody>
          <a:bodyPr>
            <a:spAutoFit/>
          </a:bodyPr>
          <a:lstStyle>
            <a:lvl1pPr algn="r">
              <a:defRPr sz="40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800" y="1900536"/>
            <a:ext cx="9144000" cy="461665"/>
          </a:xfrm>
        </p:spPr>
        <p:txBody>
          <a:bodyPr>
            <a:spAutoFit/>
          </a:bodyPr>
          <a:lstStyle>
            <a:lvl1pPr marL="0" indent="0" algn="r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7BA0B-9252-4FBE-BEBB-F784A800E35B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3F818-B5E7-4B7E-AC3B-A3D7E4AEEC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1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72AFA-B383-46A1-A071-856405D474E6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90714-EC3D-426A-AD5F-B39FDE6A6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04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E2692-DC9A-4944-B368-D087482A9AC2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C5C7A-26D8-4D23-90F9-08B58CCD2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50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56A10-8223-4129-B006-6B2A541426F4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634F6-BF2D-4840-8053-EE953BCB1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6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CF7A1-6901-4D4A-B846-B42E09FFDA45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638E6-29A6-428A-9CAA-7452CF004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56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EECFA-1705-4FA1-A880-2B2304D846ED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FDB9C-AA16-4345-A8F1-B6F025C66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55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52947-379C-4F5B-94E6-0095A53D3B2E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945C7-00DE-43DE-A48C-707956EF5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47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5E991-9CB0-4CF7-8926-578E090B8061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93954-688C-4086-869C-E1B2837AC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56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606C3-537F-46EC-A4DC-2ACF362D9B60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8F7C8-6141-462F-B59D-68ADD7CA2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02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45150-EBF6-43DB-A720-017A3BEEEF25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46AF-174A-4CC9-B9E4-70E13BBE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14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0125F-2886-4CBB-B7DB-D98E4E08ED81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5AD3A-3ED2-4444-8278-355DAF3BAD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02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7934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817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118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1457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8790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989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5343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910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083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5671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7369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25637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4"/>
            <a:ext cx="12192000" cy="6194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9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90643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0755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7372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0060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4711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7532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07195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074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9229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45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BC7CA6-16A6-E7BE-6C40-F3AE06873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7EDA0-1C25-460F-5B8B-ECD727D24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791C3-BA16-2EEC-44DA-4C3EF20E5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3B71-ED8B-4DD0-AAA2-A7869A557AC2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5E2DD-9AE2-B93E-C787-C76EDCC14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D7FE-10B2-15F4-24DE-C18C45753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70AE0-408D-4C31-8C86-82622BDBB5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467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97729D9-196D-4A7C-B513-BD67DBBE1DB8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16388" name="Group 3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144001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1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7543801" y="0"/>
              <a:ext cx="1600200" cy="2209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2" y="0"/>
                </a:cxn>
                <a:cxn ang="0">
                  <a:pos x="1432" y="3492"/>
                </a:cxn>
                <a:cxn ang="0">
                  <a:pos x="1419" y="3252"/>
                </a:cxn>
                <a:cxn ang="0">
                  <a:pos x="1406" y="3024"/>
                </a:cxn>
                <a:cxn ang="0">
                  <a:pos x="1393" y="2807"/>
                </a:cxn>
                <a:cxn ang="0">
                  <a:pos x="1379" y="2601"/>
                </a:cxn>
                <a:cxn ang="0">
                  <a:pos x="1364" y="2407"/>
                </a:cxn>
                <a:cxn ang="0">
                  <a:pos x="1348" y="2222"/>
                </a:cxn>
                <a:cxn ang="0">
                  <a:pos x="1330" y="2047"/>
                </a:cxn>
                <a:cxn ang="0">
                  <a:pos x="1311" y="1881"/>
                </a:cxn>
                <a:cxn ang="0">
                  <a:pos x="1291" y="1726"/>
                </a:cxn>
                <a:cxn ang="0">
                  <a:pos x="1268" y="1580"/>
                </a:cxn>
                <a:cxn ang="0">
                  <a:pos x="1245" y="1442"/>
                </a:cxn>
                <a:cxn ang="0">
                  <a:pos x="1218" y="1313"/>
                </a:cxn>
                <a:cxn ang="0">
                  <a:pos x="1190" y="1192"/>
                </a:cxn>
                <a:cxn ang="0">
                  <a:pos x="1158" y="1078"/>
                </a:cxn>
                <a:cxn ang="0">
                  <a:pos x="1125" y="973"/>
                </a:cxn>
                <a:cxn ang="0">
                  <a:pos x="1089" y="873"/>
                </a:cxn>
                <a:cxn ang="0">
                  <a:pos x="1049" y="781"/>
                </a:cxn>
                <a:cxn ang="0">
                  <a:pos x="1007" y="696"/>
                </a:cxn>
                <a:cxn ang="0">
                  <a:pos x="962" y="617"/>
                </a:cxn>
                <a:cxn ang="0">
                  <a:pos x="913" y="544"/>
                </a:cxn>
                <a:cxn ang="0">
                  <a:pos x="860" y="475"/>
                </a:cxn>
                <a:cxn ang="0">
                  <a:pos x="804" y="413"/>
                </a:cxn>
                <a:cxn ang="0">
                  <a:pos x="744" y="354"/>
                </a:cxn>
                <a:cxn ang="0">
                  <a:pos x="680" y="301"/>
                </a:cxn>
                <a:cxn ang="0">
                  <a:pos x="611" y="252"/>
                </a:cxn>
                <a:cxn ang="0">
                  <a:pos x="539" y="206"/>
                </a:cxn>
                <a:cxn ang="0">
                  <a:pos x="461" y="165"/>
                </a:cxn>
                <a:cxn ang="0">
                  <a:pos x="379" y="128"/>
                </a:cxn>
                <a:cxn ang="0">
                  <a:pos x="292" y="92"/>
                </a:cxn>
                <a:cxn ang="0">
                  <a:pos x="200" y="59"/>
                </a:cxn>
                <a:cxn ang="0">
                  <a:pos x="103" y="28"/>
                </a:cxn>
                <a:cxn ang="0">
                  <a:pos x="0" y="0"/>
                </a:cxn>
              </a:cxnLst>
              <a:rect l="0" t="0" r="r" b="b"/>
              <a:pathLst>
                <a:path w="1432" h="3492">
                  <a:moveTo>
                    <a:pt x="0" y="0"/>
                  </a:moveTo>
                  <a:lnTo>
                    <a:pt x="1432" y="0"/>
                  </a:lnTo>
                  <a:lnTo>
                    <a:pt x="1432" y="3492"/>
                  </a:lnTo>
                  <a:lnTo>
                    <a:pt x="1419" y="3252"/>
                  </a:lnTo>
                  <a:lnTo>
                    <a:pt x="1406" y="3024"/>
                  </a:lnTo>
                  <a:lnTo>
                    <a:pt x="1393" y="2807"/>
                  </a:lnTo>
                  <a:lnTo>
                    <a:pt x="1379" y="2601"/>
                  </a:lnTo>
                  <a:lnTo>
                    <a:pt x="1364" y="2407"/>
                  </a:lnTo>
                  <a:lnTo>
                    <a:pt x="1348" y="2222"/>
                  </a:lnTo>
                  <a:lnTo>
                    <a:pt x="1330" y="2047"/>
                  </a:lnTo>
                  <a:lnTo>
                    <a:pt x="1311" y="1881"/>
                  </a:lnTo>
                  <a:lnTo>
                    <a:pt x="1291" y="1726"/>
                  </a:lnTo>
                  <a:lnTo>
                    <a:pt x="1268" y="1580"/>
                  </a:lnTo>
                  <a:lnTo>
                    <a:pt x="1245" y="1442"/>
                  </a:lnTo>
                  <a:lnTo>
                    <a:pt x="1218" y="1313"/>
                  </a:lnTo>
                  <a:lnTo>
                    <a:pt x="1190" y="1192"/>
                  </a:lnTo>
                  <a:lnTo>
                    <a:pt x="1158" y="1078"/>
                  </a:lnTo>
                  <a:lnTo>
                    <a:pt x="1125" y="973"/>
                  </a:lnTo>
                  <a:lnTo>
                    <a:pt x="1089" y="873"/>
                  </a:lnTo>
                  <a:lnTo>
                    <a:pt x="1049" y="781"/>
                  </a:lnTo>
                  <a:lnTo>
                    <a:pt x="1007" y="696"/>
                  </a:lnTo>
                  <a:lnTo>
                    <a:pt x="962" y="617"/>
                  </a:lnTo>
                  <a:lnTo>
                    <a:pt x="913" y="544"/>
                  </a:lnTo>
                  <a:lnTo>
                    <a:pt x="860" y="475"/>
                  </a:lnTo>
                  <a:lnTo>
                    <a:pt x="804" y="413"/>
                  </a:lnTo>
                  <a:lnTo>
                    <a:pt x="744" y="354"/>
                  </a:lnTo>
                  <a:lnTo>
                    <a:pt x="680" y="301"/>
                  </a:lnTo>
                  <a:lnTo>
                    <a:pt x="611" y="252"/>
                  </a:lnTo>
                  <a:lnTo>
                    <a:pt x="539" y="206"/>
                  </a:lnTo>
                  <a:lnTo>
                    <a:pt x="461" y="165"/>
                  </a:lnTo>
                  <a:lnTo>
                    <a:pt x="379" y="128"/>
                  </a:lnTo>
                  <a:lnTo>
                    <a:pt x="292" y="92"/>
                  </a:lnTo>
                  <a:lnTo>
                    <a:pt x="200" y="59"/>
                  </a:lnTo>
                  <a:lnTo>
                    <a:pt x="10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3733800" y="5715000"/>
              <a:ext cx="5029201" cy="762000"/>
            </a:xfrm>
            <a:custGeom>
              <a:avLst/>
              <a:gdLst/>
              <a:ahLst/>
              <a:cxnLst>
                <a:cxn ang="0">
                  <a:pos x="17264" y="180"/>
                </a:cxn>
                <a:cxn ang="0">
                  <a:pos x="16706" y="689"/>
                </a:cxn>
                <a:cxn ang="0">
                  <a:pos x="15959" y="1141"/>
                </a:cxn>
                <a:cxn ang="0">
                  <a:pos x="15050" y="1535"/>
                </a:cxn>
                <a:cxn ang="0">
                  <a:pos x="14003" y="1871"/>
                </a:cxn>
                <a:cxn ang="0">
                  <a:pos x="12844" y="2151"/>
                </a:cxn>
                <a:cxn ang="0">
                  <a:pos x="11599" y="2374"/>
                </a:cxn>
                <a:cxn ang="0">
                  <a:pos x="10294" y="2540"/>
                </a:cxn>
                <a:cxn ang="0">
                  <a:pos x="8951" y="2649"/>
                </a:cxn>
                <a:cxn ang="0">
                  <a:pos x="7599" y="2704"/>
                </a:cxn>
                <a:cxn ang="0">
                  <a:pos x="6264" y="2702"/>
                </a:cxn>
                <a:cxn ang="0">
                  <a:pos x="4968" y="2645"/>
                </a:cxn>
                <a:cxn ang="0">
                  <a:pos x="3740" y="2534"/>
                </a:cxn>
                <a:cxn ang="0">
                  <a:pos x="2603" y="2367"/>
                </a:cxn>
                <a:cxn ang="0">
                  <a:pos x="1584" y="2147"/>
                </a:cxn>
                <a:cxn ang="0">
                  <a:pos x="708" y="1871"/>
                </a:cxn>
                <a:cxn ang="0">
                  <a:pos x="0" y="1543"/>
                </a:cxn>
                <a:cxn ang="0">
                  <a:pos x="341" y="1635"/>
                </a:cxn>
                <a:cxn ang="0">
                  <a:pos x="1155" y="1920"/>
                </a:cxn>
                <a:cxn ang="0">
                  <a:pos x="2121" y="2151"/>
                </a:cxn>
                <a:cxn ang="0">
                  <a:pos x="3215" y="2331"/>
                </a:cxn>
                <a:cxn ang="0">
                  <a:pos x="4413" y="2457"/>
                </a:cxn>
                <a:cxn ang="0">
                  <a:pos x="5686" y="2531"/>
                </a:cxn>
                <a:cxn ang="0">
                  <a:pos x="7011" y="2550"/>
                </a:cxn>
                <a:cxn ang="0">
                  <a:pos x="8361" y="2515"/>
                </a:cxn>
                <a:cxn ang="0">
                  <a:pos x="9712" y="2426"/>
                </a:cxn>
                <a:cxn ang="0">
                  <a:pos x="11037" y="2283"/>
                </a:cxn>
                <a:cxn ang="0">
                  <a:pos x="12311" y="2084"/>
                </a:cxn>
                <a:cxn ang="0">
                  <a:pos x="13509" y="1831"/>
                </a:cxn>
                <a:cxn ang="0">
                  <a:pos x="14604" y="1522"/>
                </a:cxn>
                <a:cxn ang="0">
                  <a:pos x="15571" y="1158"/>
                </a:cxn>
                <a:cxn ang="0">
                  <a:pos x="16386" y="737"/>
                </a:cxn>
                <a:cxn ang="0">
                  <a:pos x="17021" y="260"/>
                </a:cxn>
              </a:cxnLst>
              <a:rect l="0" t="0" r="r" b="b"/>
              <a:pathLst>
                <a:path w="17264" h="2710">
                  <a:moveTo>
                    <a:pt x="17264" y="0"/>
                  </a:moveTo>
                  <a:lnTo>
                    <a:pt x="17264" y="180"/>
                  </a:lnTo>
                  <a:lnTo>
                    <a:pt x="17010" y="442"/>
                  </a:lnTo>
                  <a:lnTo>
                    <a:pt x="16706" y="689"/>
                  </a:lnTo>
                  <a:lnTo>
                    <a:pt x="16354" y="923"/>
                  </a:lnTo>
                  <a:lnTo>
                    <a:pt x="15959" y="1141"/>
                  </a:lnTo>
                  <a:lnTo>
                    <a:pt x="15524" y="1345"/>
                  </a:lnTo>
                  <a:lnTo>
                    <a:pt x="15050" y="1535"/>
                  </a:lnTo>
                  <a:lnTo>
                    <a:pt x="14543" y="1710"/>
                  </a:lnTo>
                  <a:lnTo>
                    <a:pt x="14003" y="1871"/>
                  </a:lnTo>
                  <a:lnTo>
                    <a:pt x="13437" y="2018"/>
                  </a:lnTo>
                  <a:lnTo>
                    <a:pt x="12844" y="2151"/>
                  </a:lnTo>
                  <a:lnTo>
                    <a:pt x="12232" y="2269"/>
                  </a:lnTo>
                  <a:lnTo>
                    <a:pt x="11599" y="2374"/>
                  </a:lnTo>
                  <a:lnTo>
                    <a:pt x="10952" y="2464"/>
                  </a:lnTo>
                  <a:lnTo>
                    <a:pt x="10294" y="2540"/>
                  </a:lnTo>
                  <a:lnTo>
                    <a:pt x="9625" y="2602"/>
                  </a:lnTo>
                  <a:lnTo>
                    <a:pt x="8951" y="2649"/>
                  </a:lnTo>
                  <a:lnTo>
                    <a:pt x="8275" y="2684"/>
                  </a:lnTo>
                  <a:lnTo>
                    <a:pt x="7599" y="2704"/>
                  </a:lnTo>
                  <a:lnTo>
                    <a:pt x="6928" y="2710"/>
                  </a:lnTo>
                  <a:lnTo>
                    <a:pt x="6264" y="2702"/>
                  </a:lnTo>
                  <a:lnTo>
                    <a:pt x="5609" y="2681"/>
                  </a:lnTo>
                  <a:lnTo>
                    <a:pt x="4968" y="2645"/>
                  </a:lnTo>
                  <a:lnTo>
                    <a:pt x="4344" y="2597"/>
                  </a:lnTo>
                  <a:lnTo>
                    <a:pt x="3740" y="2534"/>
                  </a:lnTo>
                  <a:lnTo>
                    <a:pt x="3158" y="2457"/>
                  </a:lnTo>
                  <a:lnTo>
                    <a:pt x="2603" y="2367"/>
                  </a:lnTo>
                  <a:lnTo>
                    <a:pt x="2077" y="2264"/>
                  </a:lnTo>
                  <a:lnTo>
                    <a:pt x="1584" y="2147"/>
                  </a:lnTo>
                  <a:lnTo>
                    <a:pt x="1126" y="2016"/>
                  </a:lnTo>
                  <a:lnTo>
                    <a:pt x="708" y="1871"/>
                  </a:lnTo>
                  <a:lnTo>
                    <a:pt x="331" y="1714"/>
                  </a:lnTo>
                  <a:lnTo>
                    <a:pt x="0" y="1543"/>
                  </a:lnTo>
                  <a:lnTo>
                    <a:pt x="0" y="1474"/>
                  </a:lnTo>
                  <a:lnTo>
                    <a:pt x="341" y="1635"/>
                  </a:lnTo>
                  <a:lnTo>
                    <a:pt x="727" y="1784"/>
                  </a:lnTo>
                  <a:lnTo>
                    <a:pt x="1155" y="1920"/>
                  </a:lnTo>
                  <a:lnTo>
                    <a:pt x="1621" y="2042"/>
                  </a:lnTo>
                  <a:lnTo>
                    <a:pt x="2121" y="2151"/>
                  </a:lnTo>
                  <a:lnTo>
                    <a:pt x="2654" y="2249"/>
                  </a:lnTo>
                  <a:lnTo>
                    <a:pt x="3215" y="2331"/>
                  </a:lnTo>
                  <a:lnTo>
                    <a:pt x="3803" y="2401"/>
                  </a:lnTo>
                  <a:lnTo>
                    <a:pt x="4413" y="2457"/>
                  </a:lnTo>
                  <a:lnTo>
                    <a:pt x="5041" y="2500"/>
                  </a:lnTo>
                  <a:lnTo>
                    <a:pt x="5686" y="2531"/>
                  </a:lnTo>
                  <a:lnTo>
                    <a:pt x="6343" y="2547"/>
                  </a:lnTo>
                  <a:lnTo>
                    <a:pt x="7011" y="2550"/>
                  </a:lnTo>
                  <a:lnTo>
                    <a:pt x="7685" y="2539"/>
                  </a:lnTo>
                  <a:lnTo>
                    <a:pt x="8361" y="2515"/>
                  </a:lnTo>
                  <a:lnTo>
                    <a:pt x="9039" y="2478"/>
                  </a:lnTo>
                  <a:lnTo>
                    <a:pt x="9712" y="2426"/>
                  </a:lnTo>
                  <a:lnTo>
                    <a:pt x="10379" y="2361"/>
                  </a:lnTo>
                  <a:lnTo>
                    <a:pt x="11037" y="2283"/>
                  </a:lnTo>
                  <a:lnTo>
                    <a:pt x="11682" y="2190"/>
                  </a:lnTo>
                  <a:lnTo>
                    <a:pt x="12311" y="2084"/>
                  </a:lnTo>
                  <a:lnTo>
                    <a:pt x="12921" y="1964"/>
                  </a:lnTo>
                  <a:lnTo>
                    <a:pt x="13509" y="1831"/>
                  </a:lnTo>
                  <a:lnTo>
                    <a:pt x="14070" y="1683"/>
                  </a:lnTo>
                  <a:lnTo>
                    <a:pt x="14604" y="1522"/>
                  </a:lnTo>
                  <a:lnTo>
                    <a:pt x="15105" y="1347"/>
                  </a:lnTo>
                  <a:lnTo>
                    <a:pt x="15571" y="1158"/>
                  </a:lnTo>
                  <a:lnTo>
                    <a:pt x="15999" y="954"/>
                  </a:lnTo>
                  <a:lnTo>
                    <a:pt x="16386" y="737"/>
                  </a:lnTo>
                  <a:lnTo>
                    <a:pt x="16728" y="506"/>
                  </a:lnTo>
                  <a:lnTo>
                    <a:pt x="17021" y="260"/>
                  </a:lnTo>
                  <a:lnTo>
                    <a:pt x="1726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20D49C2-E30F-46A5-925C-3B4BB57A1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39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392" name="Group 11"/>
          <p:cNvGrpSpPr>
            <a:grpSpLocks/>
          </p:cNvGrpSpPr>
          <p:nvPr/>
        </p:nvGrpSpPr>
        <p:grpSpPr bwMode="auto">
          <a:xfrm>
            <a:off x="0" y="2854326"/>
            <a:ext cx="4775200" cy="4003675"/>
            <a:chOff x="0" y="2533588"/>
            <a:chExt cx="8022336" cy="8966516"/>
          </a:xfrm>
        </p:grpSpPr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0" y="2533588"/>
              <a:ext cx="4128517" cy="2513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0" y="4979648"/>
              <a:ext cx="3182621" cy="6520456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0" y="3372643"/>
              <a:ext cx="2894584" cy="2154524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1504189" y="5587609"/>
              <a:ext cx="6518147" cy="5912495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1155701" y="5800928"/>
              <a:ext cx="3420872" cy="5699176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121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768D5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AF973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AF9738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rgbClr val="AF9738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rgbClr val="AF9738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rgbClr val="AF97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02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933B1-4D7D-443F-8C1F-9DEEE3E2CC9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509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CD13DF-5A71-483E-93D5-AD2D3FFE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2228D6-7CFA-457E-BD33-AA56225F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Simplifying ratios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B0F0"/>
                </a:solidFill>
              </a:rPr>
              <a:t>R</a:t>
            </a:r>
            <a:r>
              <a:rPr lang="en-GB" sz="2800" dirty="0">
                <a:solidFill>
                  <a:srgbClr val="00B0F0"/>
                </a:solidFill>
              </a:rPr>
              <a:t>educe a ratio to its simplest form 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en-GB" sz="2800" dirty="0">
                <a:solidFill>
                  <a:srgbClr val="00B0F0"/>
                </a:solidFill>
              </a:rPr>
              <a:t>Able to divide a quantity into two or more parts in a given ratio </a:t>
            </a:r>
            <a:endParaRPr lang="en-US" sz="2800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F7EFB-A012-6891-A4D4-777ED535AF74}"/>
              </a:ext>
            </a:extLst>
          </p:cNvPr>
          <p:cNvSpPr txBox="1"/>
          <p:nvPr/>
        </p:nvSpPr>
        <p:spPr>
          <a:xfrm>
            <a:off x="8696325" y="2124075"/>
            <a:ext cx="2657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20844-E2B6-4DA2-915E-1BF0DC5BE46A}"/>
              </a:ext>
            </a:extLst>
          </p:cNvPr>
          <p:cNvSpPr txBox="1"/>
          <p:nvPr/>
        </p:nvSpPr>
        <p:spPr>
          <a:xfrm>
            <a:off x="9144000" y="220248"/>
            <a:ext cx="220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highlight>
                  <a:srgbClr val="00FF00"/>
                </a:highlight>
              </a:rPr>
              <a:t>PBiS</a:t>
            </a:r>
            <a:r>
              <a:rPr lang="en-US" b="1" dirty="0">
                <a:highlight>
                  <a:srgbClr val="00FF00"/>
                </a:highlight>
              </a:rPr>
              <a:t> Focus</a:t>
            </a:r>
          </a:p>
          <a:p>
            <a:r>
              <a:rPr lang="en-US" b="1" dirty="0">
                <a:highlight>
                  <a:srgbClr val="00FF00"/>
                </a:highlight>
              </a:rPr>
              <a:t>Respect (listening) </a:t>
            </a:r>
          </a:p>
          <a:p>
            <a:r>
              <a:rPr lang="en-US" b="1" dirty="0">
                <a:highlight>
                  <a:srgbClr val="00FF00"/>
                </a:highlight>
              </a:rPr>
              <a:t>Learn (Participation) </a:t>
            </a:r>
            <a:endParaRPr lang="en-AU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321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1544" y="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dirty="0">
                <a:solidFill>
                  <a:prstClr val="black"/>
                </a:solidFill>
                <a:latin typeface="Arial Black" pitchFamily="34" charset="0"/>
              </a:rPr>
              <a:t>Where are you now?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1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1834" y="3046894"/>
            <a:ext cx="5216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I know quite a bit about ratio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615" y="5157193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23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1834" y="5396538"/>
            <a:ext cx="45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Not sure what ratio is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51834" y="4196210"/>
            <a:ext cx="564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I’ve seen or heard of ratio before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295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4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Intro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44072" y="113379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u="sng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Learning Objectives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To be able to simplify ratios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To be able to divide an amount by a given ratio</a:t>
            </a:r>
          </a:p>
        </p:txBody>
      </p:sp>
      <p:sp>
        <p:nvSpPr>
          <p:cNvPr id="2" name="Rectangle 1"/>
          <p:cNvSpPr/>
          <p:nvPr/>
        </p:nvSpPr>
        <p:spPr>
          <a:xfrm>
            <a:off x="1981200" y="1490008"/>
            <a:ext cx="78488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3600" dirty="0">
                <a:solidFill>
                  <a:srgbClr val="002060"/>
                </a:solidFill>
                <a:latin typeface="Calibri"/>
              </a:rPr>
              <a:t>A ratio compares values. It says how much of one thing there is compared to another thing.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5509" y="4683303"/>
            <a:ext cx="9877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3600" b="1">
                <a:solidFill>
                  <a:srgbClr val="002060"/>
                </a:solidFill>
                <a:latin typeface="Calibri"/>
              </a:rPr>
              <a:t>1 : 3</a:t>
            </a:r>
            <a:endParaRPr lang="en-GB" sz="36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15881" y="3757037"/>
            <a:ext cx="12654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3600" b="1" dirty="0">
                <a:solidFill>
                  <a:srgbClr val="002060"/>
                </a:solidFill>
                <a:latin typeface="Calibri"/>
              </a:rPr>
              <a:t>1 to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53" y="0"/>
            <a:ext cx="9252520" cy="619474"/>
          </a:xfrm>
        </p:spPr>
        <p:txBody>
          <a:bodyPr>
            <a:noAutofit/>
          </a:bodyPr>
          <a:lstStyle/>
          <a:p>
            <a:r>
              <a:rPr lang="en-AU" sz="2800" b="1" dirty="0"/>
              <a:t>Ratios compare the size of different things against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308" y="669101"/>
            <a:ext cx="5770984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Cordial	:	Water</a:t>
            </a:r>
          </a:p>
          <a:p>
            <a:pPr marL="0" indent="0">
              <a:buNone/>
            </a:pPr>
            <a:r>
              <a:rPr lang="en-AU" dirty="0"/>
              <a:t>    1		:	   4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Red 		:	Green</a:t>
            </a:r>
          </a:p>
          <a:p>
            <a:pPr marL="0" indent="0">
              <a:buNone/>
            </a:pPr>
            <a:r>
              <a:rPr lang="en-AU" dirty="0"/>
              <a:t>  5		:	   3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Green	:	Yellow</a:t>
            </a:r>
          </a:p>
          <a:p>
            <a:pPr marL="0" indent="0">
              <a:buNone/>
            </a:pPr>
            <a:r>
              <a:rPr lang="en-AU" dirty="0"/>
              <a:t>    3		:	    7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7" t="20156" r="19688" b="2435"/>
          <a:stretch/>
        </p:blipFill>
        <p:spPr bwMode="auto">
          <a:xfrm rot="5400000">
            <a:off x="8350487" y="614570"/>
            <a:ext cx="2411284" cy="2223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726" y="2947214"/>
            <a:ext cx="25908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ular Callout 4"/>
          <p:cNvSpPr/>
          <p:nvPr/>
        </p:nvSpPr>
        <p:spPr>
          <a:xfrm>
            <a:off x="5705079" y="1137414"/>
            <a:ext cx="2341239" cy="1142522"/>
          </a:xfrm>
          <a:prstGeom prst="wedgeRoundRectCallout">
            <a:avLst>
              <a:gd name="adj1" fmla="val -60269"/>
              <a:gd name="adj2" fmla="val -435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“Cordial to water”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“One to four”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864094" y="2734508"/>
            <a:ext cx="2341239" cy="1080120"/>
          </a:xfrm>
          <a:prstGeom prst="wedgeRoundRectCallout">
            <a:avLst>
              <a:gd name="adj1" fmla="val -60269"/>
              <a:gd name="adj2" fmla="val -435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“Red to green”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“Five to three”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5890731" y="4246676"/>
            <a:ext cx="2341239" cy="864096"/>
          </a:xfrm>
          <a:prstGeom prst="wedgeRoundRectCallout">
            <a:avLst>
              <a:gd name="adj1" fmla="val -60269"/>
              <a:gd name="adj2" fmla="val -435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“Green to yellow”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“Three to seven”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9777" y="5213097"/>
            <a:ext cx="348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Always write column headings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9778" y="5901810"/>
            <a:ext cx="1485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9778" y="6226728"/>
            <a:ext cx="1593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excuses!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9778" y="5567901"/>
            <a:ext cx="297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Always line up the colons</a:t>
            </a:r>
          </a:p>
        </p:txBody>
      </p:sp>
    </p:spTree>
    <p:extLst>
      <p:ext uri="{BB962C8B-B14F-4D97-AF65-F5344CB8AC3E}">
        <p14:creationId xmlns:p14="http://schemas.microsoft.com/office/powerpoint/2010/main" val="298692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  <p:bldP spid="9" grpId="0" animBg="1"/>
      <p:bldP spid="6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D09DB-1124-FE0F-E792-48B03535F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Defining factors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3DBB-D836-840B-906F-2D52F006C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number or quantity that multiplies to produce another number.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</a:t>
            </a:r>
            <a:r>
              <a:rPr lang="en-US" sz="5400" dirty="0"/>
              <a:t>4 x 5 = 20 </a:t>
            </a:r>
          </a:p>
          <a:p>
            <a:pPr marL="0" indent="0">
              <a:buNone/>
            </a:pPr>
            <a:r>
              <a:rPr lang="en-US" sz="5400" dirty="0"/>
              <a:t>4 and 5 are </a:t>
            </a:r>
            <a:r>
              <a:rPr lang="en-US" sz="5400" i="1" dirty="0"/>
              <a:t>factors</a:t>
            </a:r>
            <a:r>
              <a:rPr lang="en-US" sz="5400" dirty="0"/>
              <a:t> of 20. </a:t>
            </a:r>
          </a:p>
          <a:p>
            <a:pPr marL="0" indent="0">
              <a:buNone/>
            </a:pPr>
            <a:r>
              <a:rPr lang="en-US" sz="5400" dirty="0"/>
              <a:t>Can you think of other factors for 20? </a:t>
            </a:r>
          </a:p>
          <a:p>
            <a:pPr marL="0" indent="0">
              <a:buNone/>
            </a:pPr>
            <a:r>
              <a:rPr lang="en-US" sz="2000" b="1" dirty="0">
                <a:highlight>
                  <a:srgbClr val="FFFF00"/>
                </a:highlight>
              </a:rPr>
              <a:t>THINK: What numbers also fit evenly into 20?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291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1981200" y="1412777"/>
            <a:ext cx="807524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Ratios can be simplified by dividing each part by the highest common factor.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e.g. 		7 : 21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So		1 : 3		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68008" y="3284985"/>
            <a:ext cx="41044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3600" b="1" dirty="0">
                <a:solidFill>
                  <a:srgbClr val="AF9738"/>
                </a:solidFill>
                <a:latin typeface="Calibri"/>
              </a:rPr>
              <a:t>7 is the highest common factor</a:t>
            </a:r>
            <a:endParaRPr lang="en-US" sz="3600" b="1" dirty="0">
              <a:solidFill>
                <a:srgbClr val="AF9738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44072" y="113379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u="sng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Learning Objectives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dirty="0">
                <a:solidFill>
                  <a:srgbClr val="FF0000"/>
                </a:solidFill>
                <a:latin typeface="Calibri"/>
              </a:rPr>
              <a:t>To be able to simplify ratios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To be able to divide an amount by a given ratio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1981200" y="1412777"/>
            <a:ext cx="807524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Remember that units are important as is order.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e.g.	30mm : 4cm  We need to convert so 	both sides are in the same unit, so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		30mm : 40mm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		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	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4072" y="113379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u="sng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Learning Objectives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dirty="0">
                <a:solidFill>
                  <a:srgbClr val="FF0000"/>
                </a:solidFill>
                <a:latin typeface="Calibri"/>
              </a:rPr>
              <a:t>To be able to simplify ratios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To be able to divide an amount by a given ratio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11BA-F4E3-BA69-9F88-5DC0AFCD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32A6-3066-0CA6-6815-FBD8D69B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/>
              <a:t>Simplify </a:t>
            </a:r>
          </a:p>
          <a:p>
            <a:pPr marL="0" indent="0">
              <a:buNone/>
            </a:pPr>
            <a:endParaRPr lang="en-US" sz="4400" dirty="0"/>
          </a:p>
          <a:p>
            <a:pPr marL="742950" indent="-742950">
              <a:buAutoNum type="alphaLcParenR"/>
            </a:pPr>
            <a:r>
              <a:rPr lang="en-US" sz="4400" dirty="0"/>
              <a:t>10 : 5 </a:t>
            </a:r>
          </a:p>
          <a:p>
            <a:pPr marL="742950" indent="-742950">
              <a:buAutoNum type="alphaLcParenR"/>
            </a:pPr>
            <a:r>
              <a:rPr lang="en-AU" sz="4400" dirty="0"/>
              <a:t>32 : 8 </a:t>
            </a:r>
          </a:p>
          <a:p>
            <a:pPr marL="742950" indent="-742950">
              <a:buAutoNum type="alphaLcParenR"/>
            </a:pPr>
            <a:r>
              <a:rPr lang="en-AU" sz="4400" dirty="0"/>
              <a:t>14 : 7 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2326F-1C63-1996-C841-18B40416E8A2}"/>
              </a:ext>
            </a:extLst>
          </p:cNvPr>
          <p:cNvSpPr txBox="1"/>
          <p:nvPr/>
        </p:nvSpPr>
        <p:spPr>
          <a:xfrm>
            <a:off x="7839075" y="742950"/>
            <a:ext cx="3952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THINK: what number goes into both numbers?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0656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11BA-F4E3-BA69-9F88-5DC0AFCD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32A6-3066-0CA6-6815-FBD8D69B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/>
              <a:t>Simplify </a:t>
            </a:r>
          </a:p>
          <a:p>
            <a:pPr marL="0" indent="0">
              <a:buNone/>
            </a:pPr>
            <a:endParaRPr lang="en-US" sz="4400" dirty="0"/>
          </a:p>
          <a:p>
            <a:pPr marL="742950" indent="-742950">
              <a:buAutoNum type="alphaLcParenR"/>
            </a:pPr>
            <a:r>
              <a:rPr lang="en-US" sz="4400" dirty="0"/>
              <a:t>15 : 5  </a:t>
            </a:r>
          </a:p>
          <a:p>
            <a:pPr marL="742950" indent="-742950">
              <a:buAutoNum type="alphaLcParenR"/>
            </a:pPr>
            <a:r>
              <a:rPr lang="en-AU" sz="4400" dirty="0"/>
              <a:t>9 : 3 </a:t>
            </a:r>
          </a:p>
          <a:p>
            <a:pPr marL="742950" indent="-742950">
              <a:buAutoNum type="alphaLcParenR"/>
            </a:pPr>
            <a:r>
              <a:rPr lang="en-AU" sz="4400" dirty="0"/>
              <a:t>18 : 2 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2326F-1C63-1996-C841-18B40416E8A2}"/>
              </a:ext>
            </a:extLst>
          </p:cNvPr>
          <p:cNvSpPr txBox="1"/>
          <p:nvPr/>
        </p:nvSpPr>
        <p:spPr>
          <a:xfrm>
            <a:off x="7839075" y="742950"/>
            <a:ext cx="3952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THINK: what number goes into both numbers?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5977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1EE6-FF7D-1916-E032-3F62E193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 – 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F31A-9F6C-5CD8-19EF-AFB22E900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/>
              <a:t>Simplify </a:t>
            </a:r>
          </a:p>
          <a:p>
            <a:pPr marL="0" indent="0">
              <a:buNone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US" sz="4000" dirty="0"/>
              <a:t>12 : 6 </a:t>
            </a:r>
          </a:p>
          <a:p>
            <a:pPr marL="742950" indent="-742950">
              <a:buAutoNum type="alphaLcParenR"/>
            </a:pPr>
            <a:r>
              <a:rPr lang="en-US" sz="4000" dirty="0"/>
              <a:t>4 : 12 </a:t>
            </a:r>
          </a:p>
          <a:p>
            <a:pPr marL="742950" indent="-742950">
              <a:buAutoNum type="alphaLcParenR"/>
            </a:pPr>
            <a:r>
              <a:rPr lang="en-US" sz="4000" dirty="0"/>
              <a:t>9 : 3 </a:t>
            </a:r>
          </a:p>
          <a:p>
            <a:pPr marL="742950" indent="-742950">
              <a:buAutoNum type="alphaLcParenR"/>
            </a:pPr>
            <a:r>
              <a:rPr lang="en-US" sz="4000" dirty="0"/>
              <a:t>25: 15 </a:t>
            </a:r>
            <a:endParaRPr lang="en-AU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E2379-86E3-3252-94D9-818D85670969}"/>
              </a:ext>
            </a:extLst>
          </p:cNvPr>
          <p:cNvSpPr txBox="1"/>
          <p:nvPr/>
        </p:nvSpPr>
        <p:spPr>
          <a:xfrm>
            <a:off x="7839075" y="742950"/>
            <a:ext cx="3952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THINK: what number goes into both numbers?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1969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1544" y="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dirty="0">
                <a:solidFill>
                  <a:prstClr val="black"/>
                </a:solidFill>
                <a:latin typeface="Arial Black" pitchFamily="34" charset="0"/>
              </a:rPr>
              <a:t>How did you 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1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1834" y="3046894"/>
            <a:ext cx="5216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All or almost all answers correct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615" y="5157193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23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1834" y="5396538"/>
            <a:ext cx="45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Majority of answers incorrect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51834" y="4196210"/>
            <a:ext cx="564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Most answers correct, some errors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295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72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1981200" y="1412777"/>
            <a:ext cx="7859216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Often we might need to divide an amount by a ratio.</a:t>
            </a:r>
          </a:p>
          <a:p>
            <a:pPr marL="6350" indent="-6350" eaLnBrk="1" hangingPunct="1">
              <a:buNone/>
              <a:defRPr/>
            </a:pPr>
            <a:endParaRPr lang="en-GB" sz="3600" dirty="0">
              <a:solidFill>
                <a:srgbClr val="002060"/>
              </a:solidFill>
            </a:endParaRPr>
          </a:p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e.g. Divide £50 into the ratio 2 : 3</a:t>
            </a:r>
          </a:p>
          <a:p>
            <a:pPr marL="6350" indent="-6350" eaLnBrk="1" hangingPunct="1">
              <a:buNone/>
              <a:defRPr/>
            </a:pPr>
            <a:endParaRPr lang="en-GB" sz="3600" dirty="0">
              <a:solidFill>
                <a:srgbClr val="002060"/>
              </a:solidFill>
            </a:endParaRPr>
          </a:p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There are some common steps to allow us to work this out</a:t>
            </a:r>
            <a:endParaRPr lang="en-GB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72064" y="113379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u="sng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Learning Objectives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To be able to simplify ratios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dirty="0">
                <a:solidFill>
                  <a:srgbClr val="FF0000"/>
                </a:solidFill>
                <a:latin typeface="Calibri"/>
              </a:rPr>
              <a:t>To be able to divide an amount by a given ratio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8058160" y="2223767"/>
            <a:ext cx="1297816" cy="6851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8210560" y="2376167"/>
            <a:ext cx="1297816" cy="6851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8507628" y="2284002"/>
            <a:ext cx="1297816" cy="6851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8802070" y="2207801"/>
            <a:ext cx="1297816" cy="6851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9146905" y="2247938"/>
            <a:ext cx="1297816" cy="6851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1981200" y="1412777"/>
            <a:ext cx="868680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Steps to Success</a:t>
            </a: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Add together the total number of parts of the ratio 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Divide the given amount by the total number of parts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Multiply the answer by each ratio amount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Check that your answers add up to the same total given in the question</a:t>
            </a: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2064" y="113379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u="sng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Learning Objectives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To be able to simplify ratios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dirty="0">
                <a:solidFill>
                  <a:srgbClr val="FF0000"/>
                </a:solidFill>
                <a:latin typeface="Calibri"/>
              </a:rPr>
              <a:t>To be able to divide an amount by a given ratio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1981200" y="1412777"/>
            <a:ext cx="7859216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Divide £50 into the ratio 2 : 3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Add together the total number of parts of the ratio 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Divide the given amount by the total number of parts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Multiply the answer by each ratio amount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GB" sz="2800" dirty="0">
              <a:solidFill>
                <a:srgbClr val="002060"/>
              </a:solidFill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Check that your answers add up to the same total given in the question</a:t>
            </a: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Rectangle 3"/>
          <p:cNvSpPr txBox="1">
            <a:spLocks/>
          </p:cNvSpPr>
          <p:nvPr/>
        </p:nvSpPr>
        <p:spPr bwMode="auto">
          <a:xfrm>
            <a:off x="3503712" y="2492896"/>
            <a:ext cx="245861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2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2800" dirty="0">
                <a:solidFill>
                  <a:srgbClr val="FF0000"/>
                </a:solidFill>
                <a:latin typeface="Calibri"/>
              </a:rPr>
              <a:t>(2 + 3 = 5)</a:t>
            </a:r>
          </a:p>
          <a:p>
            <a:pPr marL="1200150" lvl="2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GB" sz="2800" dirty="0">
              <a:solidFill>
                <a:srgbClr val="AF9738"/>
              </a:solidFill>
              <a:latin typeface="Calibri"/>
            </a:endParaRPr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3503712" y="3429000"/>
            <a:ext cx="245861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2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2800" dirty="0">
                <a:solidFill>
                  <a:srgbClr val="FF0000"/>
                </a:solidFill>
                <a:latin typeface="Calibri"/>
              </a:rPr>
              <a:t>(50 ÷ 5 = 10)</a:t>
            </a:r>
          </a:p>
          <a:p>
            <a:pPr marL="1200150" lvl="2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GB" sz="2800" dirty="0">
              <a:solidFill>
                <a:srgbClr val="AF9738"/>
              </a:solidFill>
              <a:latin typeface="Calibri"/>
            </a:endParaRPr>
          </a:p>
        </p:txBody>
      </p:sp>
      <p:sp>
        <p:nvSpPr>
          <p:cNvPr id="11" name="Rectangle 3"/>
          <p:cNvSpPr txBox="1">
            <a:spLocks/>
          </p:cNvSpPr>
          <p:nvPr/>
        </p:nvSpPr>
        <p:spPr bwMode="auto">
          <a:xfrm>
            <a:off x="2495600" y="4437112"/>
            <a:ext cx="464400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2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2800" dirty="0">
                <a:solidFill>
                  <a:srgbClr val="FF0000"/>
                </a:solidFill>
                <a:latin typeface="Calibri"/>
              </a:rPr>
              <a:t>(10 x 2 = 20 and 10 x 3 = 30)</a:t>
            </a:r>
          </a:p>
          <a:p>
            <a:pPr marL="1200150" lvl="2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GB" sz="2800" dirty="0">
              <a:solidFill>
                <a:srgbClr val="AF9738"/>
              </a:solidFill>
              <a:latin typeface="Calibri"/>
            </a:endParaRPr>
          </a:p>
        </p:txBody>
      </p:sp>
      <p:sp>
        <p:nvSpPr>
          <p:cNvPr id="12" name="Rectangle 3"/>
          <p:cNvSpPr txBox="1">
            <a:spLocks/>
          </p:cNvSpPr>
          <p:nvPr/>
        </p:nvSpPr>
        <p:spPr bwMode="auto">
          <a:xfrm>
            <a:off x="6528048" y="5373216"/>
            <a:ext cx="2915816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2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2800" dirty="0">
                <a:solidFill>
                  <a:srgbClr val="FF0000"/>
                </a:solidFill>
                <a:latin typeface="Calibri"/>
              </a:rPr>
              <a:t>(20 + 30 = 50 </a:t>
            </a:r>
            <a:r>
              <a:rPr lang="en-GB" sz="2800" b="1" dirty="0">
                <a:solidFill>
                  <a:srgbClr val="00B050"/>
                </a:solidFill>
                <a:latin typeface="Arial" charset="0"/>
                <a:sym typeface="Wingdings"/>
              </a:rPr>
              <a:t></a:t>
            </a:r>
            <a:r>
              <a:rPr lang="en-GB" sz="2800" dirty="0">
                <a:solidFill>
                  <a:srgbClr val="FF0000"/>
                </a:solidFill>
                <a:latin typeface="Calibri"/>
              </a:rPr>
              <a:t>)</a:t>
            </a:r>
          </a:p>
          <a:p>
            <a:pPr marL="1200150" lvl="2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GB" sz="2800" dirty="0">
              <a:solidFill>
                <a:srgbClr val="AF9738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72064" y="113379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u="sng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Learning Objectives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To be able to simplify ratios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GB" sz="1400" b="1" dirty="0">
                <a:solidFill>
                  <a:srgbClr val="FF0000"/>
                </a:solidFill>
                <a:latin typeface="Calibri"/>
              </a:rPr>
              <a:t>To be able to divide an amount by a given ratio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94CE-6A21-A7FA-8C35-8B5796CB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19EB-4F20-771B-20E2-399DD1B2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2828926"/>
            <a:ext cx="10972800" cy="4525963"/>
          </a:xfrm>
        </p:spPr>
        <p:txBody>
          <a:bodyPr/>
          <a:lstStyle/>
          <a:p>
            <a:pPr marL="514350" indent="-514350">
              <a:buAutoNum type="alphaLcParenR"/>
            </a:pPr>
            <a:r>
              <a:rPr lang="en-US" sz="3200" dirty="0"/>
              <a:t>Share 100 in the ratio of 4 : 6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36 in the ratio of 4 : 5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44 in the ratio 9 : 2 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B7C59-1607-7D6C-B97F-583879095B59}"/>
              </a:ext>
            </a:extLst>
          </p:cNvPr>
          <p:cNvSpPr txBox="1"/>
          <p:nvPr/>
        </p:nvSpPr>
        <p:spPr>
          <a:xfrm>
            <a:off x="6724650" y="596348"/>
            <a:ext cx="521017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Add together the total number of parts of the ratio </a:t>
            </a:r>
          </a:p>
          <a:p>
            <a:pPr marL="457200" indent="-457200" eaLnBrk="1" hangingPunct="1">
              <a:buAutoNum type="arabicPeriod"/>
              <a:defRPr/>
            </a:pPr>
            <a:endParaRPr lang="en-GB" sz="16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Divide the given amount by the total number of parts</a:t>
            </a:r>
          </a:p>
          <a:p>
            <a:pPr marL="457200" indent="-457200" eaLnBrk="1" hangingPunct="1">
              <a:buAutoNum type="arabicPeriod"/>
              <a:defRPr/>
            </a:pPr>
            <a:endParaRPr lang="en-GB" sz="16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Multiply the answer by each ratio amount</a:t>
            </a:r>
          </a:p>
          <a:p>
            <a:pPr marL="457200" indent="-457200" eaLnBrk="1" hangingPunct="1">
              <a:buAutoNum type="arabicPeriod"/>
              <a:defRPr/>
            </a:pPr>
            <a:endParaRPr lang="en-GB" sz="16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Check that your answers add up to the same total given in the question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1385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94CE-6A21-A7FA-8C35-8B5796CB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19EB-4F20-771B-20E2-399DD1B2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2828926"/>
            <a:ext cx="10972800" cy="4525963"/>
          </a:xfrm>
        </p:spPr>
        <p:txBody>
          <a:bodyPr/>
          <a:lstStyle/>
          <a:p>
            <a:pPr marL="514350" indent="-514350">
              <a:buAutoNum type="alphaLcParenR"/>
            </a:pPr>
            <a:r>
              <a:rPr lang="en-US" sz="3200" dirty="0"/>
              <a:t>Share 99 in the ratio of 5 : 6 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21 in the ratio of 1 : 2 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24 in the ratio 4 : 3 : 1  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B7C59-1607-7D6C-B97F-583879095B59}"/>
              </a:ext>
            </a:extLst>
          </p:cNvPr>
          <p:cNvSpPr txBox="1"/>
          <p:nvPr/>
        </p:nvSpPr>
        <p:spPr>
          <a:xfrm>
            <a:off x="6724650" y="596348"/>
            <a:ext cx="521017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Add together the total number of parts of the ratio </a:t>
            </a:r>
          </a:p>
          <a:p>
            <a:pPr marL="457200" indent="-457200" eaLnBrk="1" hangingPunct="1">
              <a:buAutoNum type="arabicPeriod"/>
              <a:defRPr/>
            </a:pPr>
            <a:endParaRPr lang="en-GB" sz="16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Divide the given amount by the total number of parts</a:t>
            </a:r>
          </a:p>
          <a:p>
            <a:pPr marL="457200" indent="-457200" eaLnBrk="1" hangingPunct="1">
              <a:buAutoNum type="arabicPeriod"/>
              <a:defRPr/>
            </a:pPr>
            <a:endParaRPr lang="en-GB" sz="16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Multiply the answer by each ratio amount</a:t>
            </a:r>
          </a:p>
          <a:p>
            <a:pPr marL="457200" indent="-457200" eaLnBrk="1" hangingPunct="1">
              <a:buAutoNum type="arabicPeriod"/>
              <a:defRPr/>
            </a:pPr>
            <a:endParaRPr lang="en-GB" sz="16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</a:rPr>
              <a:t>Check that your answers add up to the same total given in the question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736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A33A-896B-A64D-F7BB-04247DFD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90768-85B3-948D-FDF7-A4EBBF8E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AU" sz="3600" dirty="0"/>
              <a:t>Share 20 into the ratio 2 : 8 </a:t>
            </a:r>
          </a:p>
          <a:p>
            <a:pPr marL="742950" indent="-742950">
              <a:buAutoNum type="alphaLcParenR"/>
            </a:pPr>
            <a:endParaRPr lang="en-AU" sz="3600" dirty="0"/>
          </a:p>
          <a:p>
            <a:pPr marL="742950" indent="-742950">
              <a:buAutoNum type="alphaLcParenR"/>
            </a:pPr>
            <a:r>
              <a:rPr lang="en-AU" sz="3600" dirty="0"/>
              <a:t>Share 40 into the ratio 5 : 3 </a:t>
            </a:r>
          </a:p>
          <a:p>
            <a:pPr marL="742950" indent="-742950">
              <a:buAutoNum type="alphaLcParenR"/>
            </a:pPr>
            <a:endParaRPr lang="en-AU" sz="3600" dirty="0"/>
          </a:p>
          <a:p>
            <a:pPr marL="742950" indent="-742950">
              <a:buAutoNum type="alphaLcParenR"/>
            </a:pPr>
            <a:r>
              <a:rPr lang="en-AU" sz="3600" dirty="0"/>
              <a:t>Share 25 into the ratio 2 : 3 </a:t>
            </a:r>
          </a:p>
        </p:txBody>
      </p:sp>
    </p:spTree>
    <p:extLst>
      <p:ext uri="{BB962C8B-B14F-4D97-AF65-F5344CB8AC3E}">
        <p14:creationId xmlns:p14="http://schemas.microsoft.com/office/powerpoint/2010/main" val="348873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EC3EC-D31B-D0E8-7B7C-88DDD326C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50" y="1935926"/>
            <a:ext cx="10972800" cy="33782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A9BDB-8C9D-DF7D-5364-D3A4FFFCA928}"/>
              </a:ext>
            </a:extLst>
          </p:cNvPr>
          <p:cNvSpPr txBox="1"/>
          <p:nvPr/>
        </p:nvSpPr>
        <p:spPr>
          <a:xfrm>
            <a:off x="1428750" y="549518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You do – exercise books 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584652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C477-FBD2-23C3-FE63-5444F335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1A30A5-982F-4A5E-B5E7-0327D8006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053540"/>
            <a:ext cx="10972800" cy="4009143"/>
          </a:xfrm>
        </p:spPr>
      </p:pic>
    </p:spTree>
    <p:extLst>
      <p:ext uri="{BB962C8B-B14F-4D97-AF65-F5344CB8AC3E}">
        <p14:creationId xmlns:p14="http://schemas.microsoft.com/office/powerpoint/2010/main" val="3920238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1544" y="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dirty="0">
                <a:solidFill>
                  <a:prstClr val="black"/>
                </a:solidFill>
                <a:latin typeface="Arial Black" pitchFamily="34" charset="0"/>
              </a:rPr>
              <a:t>How did you 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1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1834" y="3046894"/>
            <a:ext cx="5216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All or almost all answers correct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615" y="5157193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23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1834" y="5396538"/>
            <a:ext cx="45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Majority of answers incorrect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51834" y="4196210"/>
            <a:ext cx="564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Calibri"/>
              </a:rPr>
              <a:t>Most answers correct, some errors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295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35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7347-81D3-E823-6311-FB5B3511F9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1674-9760-7058-84B7-56A32BA31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“Ratio worksheet”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246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385378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911</Words>
  <Application>Microsoft Office PowerPoint</Application>
  <PresentationFormat>Widescreen</PresentationFormat>
  <Paragraphs>190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Wingdings</vt:lpstr>
      <vt:lpstr>Office Theme</vt:lpstr>
      <vt:lpstr>10385378</vt:lpstr>
      <vt:lpstr>1_Office Theme</vt:lpstr>
      <vt:lpstr>2_Office Theme</vt:lpstr>
      <vt:lpstr>Lesson objective </vt:lpstr>
      <vt:lpstr>PowerPoint Presentation</vt:lpstr>
      <vt:lpstr>Intro</vt:lpstr>
      <vt:lpstr>Ratios compare the size of different things against each other</vt:lpstr>
      <vt:lpstr>Defining factors </vt:lpstr>
      <vt:lpstr>Simplifying Ratios</vt:lpstr>
      <vt:lpstr>Simplifying Ratios</vt:lpstr>
      <vt:lpstr>I do </vt:lpstr>
      <vt:lpstr>We do </vt:lpstr>
      <vt:lpstr>You do – Whiteboards </vt:lpstr>
      <vt:lpstr>PowerPoint Presentation</vt:lpstr>
      <vt:lpstr>Dividing by a ratio</vt:lpstr>
      <vt:lpstr>Dividing by a ratio</vt:lpstr>
      <vt:lpstr>Dividing by a ratio</vt:lpstr>
      <vt:lpstr>I do </vt:lpstr>
      <vt:lpstr>We do  </vt:lpstr>
      <vt:lpstr>Whiteboards </vt:lpstr>
      <vt:lpstr>PowerPoint Presentation</vt:lpstr>
      <vt:lpstr>PowerPoint Presentation</vt:lpstr>
      <vt:lpstr>PowerPoint Presentation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11</cp:revision>
  <dcterms:created xsi:type="dcterms:W3CDTF">2022-07-19T12:53:25Z</dcterms:created>
  <dcterms:modified xsi:type="dcterms:W3CDTF">2022-07-20T00:31:53Z</dcterms:modified>
</cp:coreProperties>
</file>
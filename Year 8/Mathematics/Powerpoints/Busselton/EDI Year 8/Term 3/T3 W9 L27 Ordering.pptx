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sldIdLst>
    <p:sldId id="271" r:id="rId3"/>
    <p:sldId id="309" r:id="rId4"/>
    <p:sldId id="256" r:id="rId5"/>
    <p:sldId id="257" r:id="rId6"/>
    <p:sldId id="258" r:id="rId7"/>
    <p:sldId id="260" r:id="rId8"/>
    <p:sldId id="262" r:id="rId9"/>
    <p:sldId id="259" r:id="rId10"/>
    <p:sldId id="264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FFED5A"/>
    <a:srgbClr val="FFADCE"/>
    <a:srgbClr val="66FF66"/>
    <a:srgbClr val="FF0066"/>
    <a:srgbClr val="FFCC00"/>
    <a:srgbClr val="0E08FE"/>
    <a:srgbClr val="005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E6D04C9-8EFE-76F5-66F6-E68D59DBE0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BDAB05-66F5-59A7-84CE-4F63AAA39B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DB4D8C-EAA2-1A21-9A2B-3577D98E11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9CB1B0-7AE5-4169-BC97-2228E6DB65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695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1589BC-0EAA-5509-E542-62CC4AE4D6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41D96B-AA4B-EE9B-4694-A5933544C5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6285AE-E572-040D-825C-D2D2C1C9D5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EF5DB6-4720-4486-8B70-F173215B44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6666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89EB11-A38D-0BBD-CA32-CE9734A3E7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DD1A89-387F-A958-641E-084CCA360E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68FEAF-712F-7A7F-0C46-3BF06F3D9F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616612-211A-4E97-85E6-56D81502D0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75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D134D-5DBD-CF9D-4C44-A84B2C8241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7A825-CB09-22A1-7293-13752BE4B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4F608-D1AB-7DC1-D630-22B594B630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5C70F-0703-4FE7-8960-3A2A697BD6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7257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F230340-99A4-C9F9-F2C5-E806B3DA80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4D93BCC-8E93-03C3-AFDC-2262DEC085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F6B68C2-2076-FC99-0AE6-71A6D1185A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5483BD-C88D-4045-AB75-6DE6247448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96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32C431-FD76-C1E5-5720-BC23ADC76F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9A87A6C-89B7-6767-F219-29B57221DF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71DB27-31C1-4B46-F225-717F739104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7CF58-6130-4FC7-99F4-6AE7155979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921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C5B7853-DBE7-8C50-9DB8-C52FB18615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7C0709A-2124-03B2-DC76-72A0B3F9D3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58F004C-6F5B-36F7-B648-A6A70F839D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541AE3-CF12-4BA0-8F77-C734A2EDE4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348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B3A65C-B0A1-2C41-3076-A4F0DD1093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D7449-3DB3-3994-489D-B959C4C7B5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6D61-0429-AAD8-2A52-660B20818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A8E880-795F-4A32-8F9F-9B5E0AC784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559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48AD82-FA1C-A090-9E37-67BBDE7771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6C6D2-DB8B-5A55-E353-3CA53EC52B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AF307-7DBA-AE96-1FDE-63CE4BBC7C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ECCE0D-93F6-41AB-8019-456897D40D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35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14B427-4E0B-175D-6554-78A2904DB8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50144B-0771-F8A1-E580-8D0BA84242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7EA03F-C5B7-596B-745B-86965055C4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19FE4B-9C2D-497E-9BC3-29BE1D83DC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74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9EB333-B89D-CC8A-BDA3-B135ED778E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AE644A-BD83-36BA-D546-D5A4F91009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D91BB4-0542-1390-7B47-E695BA4603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EC5E00-4AFE-4554-838E-9D8FA517B6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5509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C408F-2089-27D7-2C31-D65233C87A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AD8436-F861-CBD1-7CCD-63420548D2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1C9C34-616F-1C76-430C-9DB572C736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C7A482-A598-4C50-9E1F-F505D0DFB5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502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C9B4FF-985C-4DB3-4309-2953E6C83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1EEFCB-23D7-4FB6-30EC-1172599069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DAF73A-F0CB-0420-C38F-FBAB4907A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86F0B0-1D48-4E13-B533-806C430F1C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3652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937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222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700868"/>
            <a:ext cx="6447501" cy="1826581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8604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754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2160589"/>
            <a:ext cx="3138026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2160590"/>
            <a:ext cx="3138026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718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2160983"/>
            <a:ext cx="3139217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737246"/>
            <a:ext cx="31392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2160983"/>
            <a:ext cx="313921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737246"/>
            <a:ext cx="313921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1160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112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776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281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800600"/>
            <a:ext cx="6447500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609600"/>
            <a:ext cx="6447501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5367338"/>
            <a:ext cx="6447500" cy="67402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828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3403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294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632200"/>
            <a:ext cx="541839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59123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931988"/>
            <a:ext cx="6447501" cy="2595460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64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55261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6441152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066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7526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609600"/>
            <a:ext cx="978557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609600"/>
            <a:ext cx="5295113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6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 shadeToTitle="1">
        <a:gradFill rotWithShape="0">
          <a:gsLst>
            <a:gs pos="0">
              <a:schemeClr val="bg1"/>
            </a:gs>
            <a:gs pos="100000">
              <a:schemeClr val="accent1">
                <a:alpha val="95998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9607B1B-9AE0-8B7B-4547-AE2985843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701541B-A529-637E-CF74-A83B51B4C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ED12BDC-050C-9EF3-5DE0-9BFAFAB802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3408923-954C-E23B-5247-448B6C1CE3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B067634-5FE5-1FCD-092F-C52742F85F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fld id="{FF785F5D-D494-404B-9901-D298607049E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6041363"/>
            <a:ext cx="68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6041363"/>
            <a:ext cx="4723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6041363"/>
            <a:ext cx="512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931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B20B-A38D-DBB8-BC75-BB9DFD67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CFE82D-898F-4F8B-7BD9-1C65D1E79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11386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Order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order Fractions, Decimals and Percentages FDP's by using our converting knowledge</a:t>
            </a:r>
          </a:p>
        </p:txBody>
      </p:sp>
    </p:spTree>
    <p:extLst>
      <p:ext uri="{BB962C8B-B14F-4D97-AF65-F5344CB8AC3E}">
        <p14:creationId xmlns:p14="http://schemas.microsoft.com/office/powerpoint/2010/main" val="326477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840" y="986039"/>
            <a:ext cx="6447501" cy="9906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0" y="1481339"/>
            <a:ext cx="8995565" cy="4321399"/>
          </a:xfrm>
        </p:spPr>
      </p:pic>
      <p:sp>
        <p:nvSpPr>
          <p:cNvPr id="3" name="TextBox 2"/>
          <p:cNvSpPr txBox="1"/>
          <p:nvPr/>
        </p:nvSpPr>
        <p:spPr>
          <a:xfrm>
            <a:off x="2385720" y="4815229"/>
            <a:ext cx="2182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350" dirty="0">
                <a:solidFill>
                  <a:prstClr val="black"/>
                </a:solidFill>
                <a:latin typeface="Trebuchet MS" panose="020B0603020202020204"/>
                <a:cs typeface="+mn-cs"/>
              </a:rPr>
              <a:t>Put over 100 and then simplify</a:t>
            </a:r>
            <a:r>
              <a:rPr lang="en-GB" sz="1350" dirty="0">
                <a:solidFill>
                  <a:srgbClr val="FF0000"/>
                </a:solidFill>
                <a:latin typeface="Trebuchet MS" panose="020B0603020202020204"/>
                <a:cs typeface="+mn-cs"/>
              </a:rPr>
              <a:t> and then simplify then simplify by dividing by common factors</a:t>
            </a:r>
            <a:endParaRPr lang="en-GB" sz="1350" dirty="0">
              <a:solidFill>
                <a:prstClr val="black"/>
              </a:solidFill>
              <a:latin typeface="Trebuchet MS" panose="020B0603020202020204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90126" y="2777813"/>
            <a:ext cx="21829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0125" y="3800073"/>
            <a:ext cx="21829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  <a:t>X 100</a:t>
            </a:r>
            <a:b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</a:br>
            <a:b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</a:br>
            <a: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5312" y="4787137"/>
            <a:ext cx="21829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  <a:t>÷ 100</a:t>
            </a:r>
            <a:b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</a:br>
            <a:b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</a:br>
            <a:r>
              <a:rPr lang="en-GB" sz="1650" dirty="0">
                <a:solidFill>
                  <a:prstClr val="black"/>
                </a:solidFill>
                <a:latin typeface="Trebuchet MS" panose="020B0603020202020204"/>
                <a:cs typeface="+mn-cs"/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0373" y="2777813"/>
            <a:ext cx="21829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650" dirty="0">
                <a:solidFill>
                  <a:srgbClr val="FF0000"/>
                </a:solidFill>
                <a:latin typeface="Trebuchet MS" panose="020B0603020202020204"/>
                <a:cs typeface="+mn-cs"/>
              </a:rPr>
              <a:t>Numerator ÷ Denominator</a:t>
            </a:r>
            <a:br>
              <a:rPr lang="en-GB" sz="1650" dirty="0">
                <a:solidFill>
                  <a:srgbClr val="FF0000"/>
                </a:solidFill>
                <a:latin typeface="Trebuchet MS" panose="020B0603020202020204"/>
                <a:cs typeface="+mn-cs"/>
              </a:rPr>
            </a:br>
            <a:r>
              <a:rPr lang="en-GB" sz="1650" dirty="0">
                <a:solidFill>
                  <a:srgbClr val="FF0000"/>
                </a:solidFill>
                <a:latin typeface="Trebuchet MS" panose="020B0603020202020204"/>
                <a:cs typeface="+mn-cs"/>
              </a:rPr>
              <a:t>(Bus-stop method)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392343" y="3782474"/>
                <a:ext cx="226337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3429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1350" b="1" dirty="0">
                    <a:solidFill>
                      <a:schemeClr val="bg1"/>
                    </a:solidFill>
                    <a:latin typeface="Trebuchet MS" panose="020B0603020202020204"/>
                    <a:cs typeface="+mn-cs"/>
                  </a:rPr>
                  <a:t>Use knowledge of place value.</a:t>
                </a:r>
                <a:br>
                  <a:rPr lang="en-GB" sz="1350" b="1" dirty="0">
                    <a:solidFill>
                      <a:schemeClr val="bg1"/>
                    </a:solidFill>
                    <a:latin typeface="Trebuchet MS" panose="020B0603020202020204"/>
                    <a:cs typeface="+mn-cs"/>
                  </a:rPr>
                </a:br>
                <a:r>
                  <a:rPr lang="en-GB" sz="1350" b="1" dirty="0">
                    <a:solidFill>
                      <a:schemeClr val="bg1"/>
                    </a:solidFill>
                    <a:latin typeface="Trebuchet MS" panose="020B0603020202020204"/>
                    <a:cs typeface="+mn-cs"/>
                  </a:rPr>
                  <a:t>0.23 (the 3 is 3 hundredths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35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lang="en-GB" sz="135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𝟐𝟑</m:t>
                        </m:r>
                      </m:num>
                      <m:den>
                        <m:r>
                          <a:rPr lang="en-GB" sz="135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𝟏𝟎𝟎</m:t>
                        </m:r>
                      </m:den>
                    </m:f>
                    <m:r>
                      <a:rPr lang="en-GB" sz="135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lang="en-GB" sz="1350" b="1" dirty="0">
                  <a:solidFill>
                    <a:srgbClr val="00B0F0"/>
                  </a:solidFill>
                  <a:latin typeface="Trebuchet MS" panose="020B0603020202020204"/>
                  <a:cs typeface="+mn-cs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343" y="3782474"/>
                <a:ext cx="2263370" cy="1015663"/>
              </a:xfrm>
              <a:prstGeom prst="rect">
                <a:avLst/>
              </a:prstGeom>
              <a:blipFill>
                <a:blip r:embed="rId3"/>
                <a:stretch>
                  <a:fillRect l="-538" t="-11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BDB98852-7F7C-CD3F-6048-CF097E7835F4}"/>
              </a:ext>
            </a:extLst>
          </p:cNvPr>
          <p:cNvSpPr/>
          <p:nvPr/>
        </p:nvSpPr>
        <p:spPr>
          <a:xfrm>
            <a:off x="4817097" y="2777813"/>
            <a:ext cx="1715678" cy="854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8767B2-56AF-334B-D2CC-7D604DA40CAF}"/>
              </a:ext>
            </a:extLst>
          </p:cNvPr>
          <p:cNvSpPr/>
          <p:nvPr/>
        </p:nvSpPr>
        <p:spPr>
          <a:xfrm>
            <a:off x="6885742" y="2738412"/>
            <a:ext cx="2069553" cy="9328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D5596D-D497-52BE-DA3F-9F9C4A3C90AB}"/>
              </a:ext>
            </a:extLst>
          </p:cNvPr>
          <p:cNvSpPr/>
          <p:nvPr/>
        </p:nvSpPr>
        <p:spPr>
          <a:xfrm>
            <a:off x="2385720" y="3765382"/>
            <a:ext cx="2078979" cy="949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B71648-0188-04B8-98F2-3142EF2784DC}"/>
              </a:ext>
            </a:extLst>
          </p:cNvPr>
          <p:cNvSpPr/>
          <p:nvPr/>
        </p:nvSpPr>
        <p:spPr>
          <a:xfrm>
            <a:off x="7123770" y="3805720"/>
            <a:ext cx="1715678" cy="854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6E722E-B64A-B510-FD16-F644FA8F57BD}"/>
              </a:ext>
            </a:extLst>
          </p:cNvPr>
          <p:cNvSpPr/>
          <p:nvPr/>
        </p:nvSpPr>
        <p:spPr>
          <a:xfrm>
            <a:off x="2471392" y="4819309"/>
            <a:ext cx="2078979" cy="936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CEDD20-585A-9976-7ECA-E43EABFEA397}"/>
              </a:ext>
            </a:extLst>
          </p:cNvPr>
          <p:cNvSpPr/>
          <p:nvPr/>
        </p:nvSpPr>
        <p:spPr>
          <a:xfrm>
            <a:off x="4868257" y="4860439"/>
            <a:ext cx="1715678" cy="854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10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Group 4">
            <a:extLst>
              <a:ext uri="{FF2B5EF4-FFF2-40B4-BE49-F238E27FC236}">
                <a16:creationId xmlns:a16="http://schemas.microsoft.com/office/drawing/2014/main" id="{D02A60C1-7549-2E4D-718F-9235607000B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3254565"/>
              </p:ext>
            </p:extLst>
          </p:nvPr>
        </p:nvGraphicFramePr>
        <p:xfrm>
          <a:off x="1339850" y="1419225"/>
          <a:ext cx="6464300" cy="5168904"/>
        </p:xfrm>
        <a:graphic>
          <a:graphicData uri="http://schemas.openxmlformats.org/drawingml/2006/table">
            <a:tbl>
              <a:tblPr/>
              <a:tblGrid>
                <a:gridCol w="2154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Fraction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Decimal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Percentage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3/4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75%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0.125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12.5%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93/100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93%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6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60" name="AutoShape 88">
            <a:extLst>
              <a:ext uri="{FF2B5EF4-FFF2-40B4-BE49-F238E27FC236}">
                <a16:creationId xmlns:a16="http://schemas.microsoft.com/office/drawing/2014/main" id="{AABC98D7-2394-6048-F3D4-1874696BD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12" y="2787650"/>
            <a:ext cx="1933575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C</a:t>
            </a:r>
          </a:p>
        </p:txBody>
      </p:sp>
      <p:sp>
        <p:nvSpPr>
          <p:cNvPr id="3161" name="AutoShape 89">
            <a:extLst>
              <a:ext uri="{FF2B5EF4-FFF2-40B4-BE49-F238E27FC236}">
                <a16:creationId xmlns:a16="http://schemas.microsoft.com/office/drawing/2014/main" id="{F7BB88ED-6F6A-2B5C-DA6A-92CED3A77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2" y="2787650"/>
            <a:ext cx="1931988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/>
              <a:t>D</a:t>
            </a:r>
          </a:p>
        </p:txBody>
      </p:sp>
      <p:sp>
        <p:nvSpPr>
          <p:cNvPr id="3162" name="AutoShape 90">
            <a:extLst>
              <a:ext uri="{FF2B5EF4-FFF2-40B4-BE49-F238E27FC236}">
                <a16:creationId xmlns:a16="http://schemas.microsoft.com/office/drawing/2014/main" id="{F9D54DBB-4D70-6A6E-6E26-86273BDAE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3441700"/>
            <a:ext cx="1933575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F</a:t>
            </a:r>
          </a:p>
        </p:txBody>
      </p:sp>
      <p:sp>
        <p:nvSpPr>
          <p:cNvPr id="3163" name="AutoShape 91">
            <a:extLst>
              <a:ext uri="{FF2B5EF4-FFF2-40B4-BE49-F238E27FC236}">
                <a16:creationId xmlns:a16="http://schemas.microsoft.com/office/drawing/2014/main" id="{0A139A48-F1C9-3BB4-884B-AFF4EADAB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12" y="3441700"/>
            <a:ext cx="1933575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E</a:t>
            </a:r>
          </a:p>
        </p:txBody>
      </p:sp>
      <p:sp>
        <p:nvSpPr>
          <p:cNvPr id="3164" name="AutoShape 92">
            <a:extLst>
              <a:ext uri="{FF2B5EF4-FFF2-40B4-BE49-F238E27FC236}">
                <a16:creationId xmlns:a16="http://schemas.microsoft.com/office/drawing/2014/main" id="{8E75682B-D803-2EB0-6511-CEC4D33FD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2" y="4065588"/>
            <a:ext cx="1931988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H</a:t>
            </a:r>
          </a:p>
        </p:txBody>
      </p:sp>
      <p:sp>
        <p:nvSpPr>
          <p:cNvPr id="3165" name="AutoShape 93">
            <a:extLst>
              <a:ext uri="{FF2B5EF4-FFF2-40B4-BE49-F238E27FC236}">
                <a16:creationId xmlns:a16="http://schemas.microsoft.com/office/drawing/2014/main" id="{52EB2199-2B81-1CBE-2904-BC22CF03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7" y="4092575"/>
            <a:ext cx="1931988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G</a:t>
            </a:r>
          </a:p>
        </p:txBody>
      </p:sp>
      <p:sp>
        <p:nvSpPr>
          <p:cNvPr id="3166" name="AutoShape 94">
            <a:extLst>
              <a:ext uri="{FF2B5EF4-FFF2-40B4-BE49-F238E27FC236}">
                <a16:creationId xmlns:a16="http://schemas.microsoft.com/office/drawing/2014/main" id="{993C4D17-C016-7340-7924-76766EAD5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837" y="4714875"/>
            <a:ext cx="1933575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J</a:t>
            </a:r>
          </a:p>
        </p:txBody>
      </p:sp>
      <p:sp>
        <p:nvSpPr>
          <p:cNvPr id="3167" name="AutoShape 95">
            <a:extLst>
              <a:ext uri="{FF2B5EF4-FFF2-40B4-BE49-F238E27FC236}">
                <a16:creationId xmlns:a16="http://schemas.microsoft.com/office/drawing/2014/main" id="{EDFCD1A4-596A-A196-5599-4FB0DDF14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12" y="4714875"/>
            <a:ext cx="1933575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I</a:t>
            </a:r>
          </a:p>
        </p:txBody>
      </p:sp>
      <p:sp>
        <p:nvSpPr>
          <p:cNvPr id="3168" name="AutoShape 96">
            <a:extLst>
              <a:ext uri="{FF2B5EF4-FFF2-40B4-BE49-F238E27FC236}">
                <a16:creationId xmlns:a16="http://schemas.microsoft.com/office/drawing/2014/main" id="{72074713-FABC-1797-F5EE-EAC2BBD0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837" y="5376863"/>
            <a:ext cx="1933575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L</a:t>
            </a:r>
          </a:p>
        </p:txBody>
      </p:sp>
      <p:sp>
        <p:nvSpPr>
          <p:cNvPr id="3169" name="AutoShape 97">
            <a:extLst>
              <a:ext uri="{FF2B5EF4-FFF2-40B4-BE49-F238E27FC236}">
                <a16:creationId xmlns:a16="http://schemas.microsoft.com/office/drawing/2014/main" id="{2D04962E-EC7F-398B-6AF7-30A9194E8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7" y="5376863"/>
            <a:ext cx="1931988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K</a:t>
            </a:r>
          </a:p>
        </p:txBody>
      </p:sp>
      <p:sp>
        <p:nvSpPr>
          <p:cNvPr id="3170" name="AutoShape 98">
            <a:extLst>
              <a:ext uri="{FF2B5EF4-FFF2-40B4-BE49-F238E27FC236}">
                <a16:creationId xmlns:a16="http://schemas.microsoft.com/office/drawing/2014/main" id="{E9E0DA19-6849-0A77-6CAE-EC4C20EFB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212" y="6045200"/>
            <a:ext cx="1933575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M</a:t>
            </a:r>
          </a:p>
        </p:txBody>
      </p:sp>
      <p:sp>
        <p:nvSpPr>
          <p:cNvPr id="3171" name="AutoShape 99">
            <a:extLst>
              <a:ext uri="{FF2B5EF4-FFF2-40B4-BE49-F238E27FC236}">
                <a16:creationId xmlns:a16="http://schemas.microsoft.com/office/drawing/2014/main" id="{02E7D2E1-636E-6D80-53B8-7431B92BD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7" y="6045200"/>
            <a:ext cx="1931988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N</a:t>
            </a:r>
          </a:p>
        </p:txBody>
      </p:sp>
      <p:sp>
        <p:nvSpPr>
          <p:cNvPr id="3172" name="AutoShape 100">
            <a:extLst>
              <a:ext uri="{FF2B5EF4-FFF2-40B4-BE49-F238E27FC236}">
                <a16:creationId xmlns:a16="http://schemas.microsoft.com/office/drawing/2014/main" id="{0790059F-7698-1C13-21EA-C6B0068E3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2" y="2116138"/>
            <a:ext cx="1931988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B</a:t>
            </a:r>
          </a:p>
        </p:txBody>
      </p:sp>
      <p:sp>
        <p:nvSpPr>
          <p:cNvPr id="3173" name="AutoShape 101">
            <a:extLst>
              <a:ext uri="{FF2B5EF4-FFF2-40B4-BE49-F238E27FC236}">
                <a16:creationId xmlns:a16="http://schemas.microsoft.com/office/drawing/2014/main" id="{21102C44-76EF-59B0-65AA-A36F6B90B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116138"/>
            <a:ext cx="1933575" cy="48895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dirty="0"/>
              <a:t>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DC0A8B-70D5-4274-316E-C06A269429FF}"/>
              </a:ext>
            </a:extLst>
          </p:cNvPr>
          <p:cNvSpPr txBox="1"/>
          <p:nvPr/>
        </p:nvSpPr>
        <p:spPr>
          <a:xfrm>
            <a:off x="1687398" y="179109"/>
            <a:ext cx="527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Exercise books A - N</a:t>
            </a:r>
            <a:endParaRPr lang="en-AU" sz="4000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0" grpId="0" animBg="1"/>
      <p:bldP spid="3161" grpId="0" animBg="1"/>
      <p:bldP spid="3162" grpId="0" animBg="1"/>
      <p:bldP spid="3163" grpId="0" animBg="1"/>
      <p:bldP spid="3164" grpId="0" animBg="1"/>
      <p:bldP spid="3165" grpId="0" animBg="1"/>
      <p:bldP spid="3166" grpId="0" animBg="1"/>
      <p:bldP spid="3167" grpId="0" animBg="1"/>
      <p:bldP spid="3168" grpId="0" animBg="1"/>
      <p:bldP spid="3169" grpId="0" animBg="1"/>
      <p:bldP spid="3170" grpId="0" animBg="1"/>
      <p:bldP spid="3171" grpId="0" animBg="1"/>
      <p:bldP spid="3172" grpId="0" animBg="1"/>
      <p:bldP spid="317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>
            <a:extLst>
              <a:ext uri="{FF2B5EF4-FFF2-40B4-BE49-F238E27FC236}">
                <a16:creationId xmlns:a16="http://schemas.microsoft.com/office/drawing/2014/main" id="{750348C2-18A0-CAE1-CD1E-7671B27B6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31773"/>
            <a:ext cx="8496300" cy="2519363"/>
          </a:xfrm>
          <a:custGeom>
            <a:avLst/>
            <a:gdLst>
              <a:gd name="connsiteX0" fmla="*/ 0 w 8496300"/>
              <a:gd name="connsiteY0" fmla="*/ 419894 h 2519363"/>
              <a:gd name="connsiteX1" fmla="*/ 419894 w 8496300"/>
              <a:gd name="connsiteY1" fmla="*/ 0 h 2519363"/>
              <a:gd name="connsiteX2" fmla="*/ 932291 w 8496300"/>
              <a:gd name="connsiteY2" fmla="*/ 0 h 2519363"/>
              <a:gd name="connsiteX3" fmla="*/ 1444689 w 8496300"/>
              <a:gd name="connsiteY3" fmla="*/ 0 h 2519363"/>
              <a:gd name="connsiteX4" fmla="*/ 2110216 w 8496300"/>
              <a:gd name="connsiteY4" fmla="*/ 0 h 2519363"/>
              <a:gd name="connsiteX5" fmla="*/ 2622614 w 8496300"/>
              <a:gd name="connsiteY5" fmla="*/ 0 h 2519363"/>
              <a:gd name="connsiteX6" fmla="*/ 3364706 w 8496300"/>
              <a:gd name="connsiteY6" fmla="*/ 0 h 2519363"/>
              <a:gd name="connsiteX7" fmla="*/ 3723973 w 8496300"/>
              <a:gd name="connsiteY7" fmla="*/ 0 h 2519363"/>
              <a:gd name="connsiteX8" fmla="*/ 4312936 w 8496300"/>
              <a:gd name="connsiteY8" fmla="*/ 0 h 2519363"/>
              <a:gd name="connsiteX9" fmla="*/ 5055029 w 8496300"/>
              <a:gd name="connsiteY9" fmla="*/ 0 h 2519363"/>
              <a:gd name="connsiteX10" fmla="*/ 5797121 w 8496300"/>
              <a:gd name="connsiteY10" fmla="*/ 0 h 2519363"/>
              <a:gd name="connsiteX11" fmla="*/ 6462649 w 8496300"/>
              <a:gd name="connsiteY11" fmla="*/ 0 h 2519363"/>
              <a:gd name="connsiteX12" fmla="*/ 7051611 w 8496300"/>
              <a:gd name="connsiteY12" fmla="*/ 0 h 2519363"/>
              <a:gd name="connsiteX13" fmla="*/ 7564009 w 8496300"/>
              <a:gd name="connsiteY13" fmla="*/ 0 h 2519363"/>
              <a:gd name="connsiteX14" fmla="*/ 8076406 w 8496300"/>
              <a:gd name="connsiteY14" fmla="*/ 0 h 2519363"/>
              <a:gd name="connsiteX15" fmla="*/ 8496300 w 8496300"/>
              <a:gd name="connsiteY15" fmla="*/ 419894 h 2519363"/>
              <a:gd name="connsiteX16" fmla="*/ 8496300 w 8496300"/>
              <a:gd name="connsiteY16" fmla="*/ 996548 h 2519363"/>
              <a:gd name="connsiteX17" fmla="*/ 8496300 w 8496300"/>
              <a:gd name="connsiteY17" fmla="*/ 1506019 h 2519363"/>
              <a:gd name="connsiteX18" fmla="*/ 8496300 w 8496300"/>
              <a:gd name="connsiteY18" fmla="*/ 2099469 h 2519363"/>
              <a:gd name="connsiteX19" fmla="*/ 8076406 w 8496300"/>
              <a:gd name="connsiteY19" fmla="*/ 2519363 h 2519363"/>
              <a:gd name="connsiteX20" fmla="*/ 7410878 w 8496300"/>
              <a:gd name="connsiteY20" fmla="*/ 2519363 h 2519363"/>
              <a:gd name="connsiteX21" fmla="*/ 6745351 w 8496300"/>
              <a:gd name="connsiteY21" fmla="*/ 2519363 h 2519363"/>
              <a:gd name="connsiteX22" fmla="*/ 6003258 w 8496300"/>
              <a:gd name="connsiteY22" fmla="*/ 2519363 h 2519363"/>
              <a:gd name="connsiteX23" fmla="*/ 5643991 w 8496300"/>
              <a:gd name="connsiteY23" fmla="*/ 2519363 h 2519363"/>
              <a:gd name="connsiteX24" fmla="*/ 5208159 w 8496300"/>
              <a:gd name="connsiteY24" fmla="*/ 2519363 h 2519363"/>
              <a:gd name="connsiteX25" fmla="*/ 4695761 w 8496300"/>
              <a:gd name="connsiteY25" fmla="*/ 2519363 h 2519363"/>
              <a:gd name="connsiteX26" fmla="*/ 3953669 w 8496300"/>
              <a:gd name="connsiteY26" fmla="*/ 2519363 h 2519363"/>
              <a:gd name="connsiteX27" fmla="*/ 3364706 w 8496300"/>
              <a:gd name="connsiteY27" fmla="*/ 2519363 h 2519363"/>
              <a:gd name="connsiteX28" fmla="*/ 2928874 w 8496300"/>
              <a:gd name="connsiteY28" fmla="*/ 2519363 h 2519363"/>
              <a:gd name="connsiteX29" fmla="*/ 2263347 w 8496300"/>
              <a:gd name="connsiteY29" fmla="*/ 2519363 h 2519363"/>
              <a:gd name="connsiteX30" fmla="*/ 1827514 w 8496300"/>
              <a:gd name="connsiteY30" fmla="*/ 2519363 h 2519363"/>
              <a:gd name="connsiteX31" fmla="*/ 1468247 w 8496300"/>
              <a:gd name="connsiteY31" fmla="*/ 2519363 h 2519363"/>
              <a:gd name="connsiteX32" fmla="*/ 1108980 w 8496300"/>
              <a:gd name="connsiteY32" fmla="*/ 2519363 h 2519363"/>
              <a:gd name="connsiteX33" fmla="*/ 419894 w 8496300"/>
              <a:gd name="connsiteY33" fmla="*/ 2519363 h 2519363"/>
              <a:gd name="connsiteX34" fmla="*/ 0 w 8496300"/>
              <a:gd name="connsiteY34" fmla="*/ 2099469 h 2519363"/>
              <a:gd name="connsiteX35" fmla="*/ 0 w 8496300"/>
              <a:gd name="connsiteY35" fmla="*/ 1522815 h 2519363"/>
              <a:gd name="connsiteX36" fmla="*/ 0 w 8496300"/>
              <a:gd name="connsiteY36" fmla="*/ 929365 h 2519363"/>
              <a:gd name="connsiteX37" fmla="*/ 0 w 8496300"/>
              <a:gd name="connsiteY37" fmla="*/ 419894 h 251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496300" h="2519363" fill="none" extrusionOk="0">
                <a:moveTo>
                  <a:pt x="0" y="419894"/>
                </a:moveTo>
                <a:cubicBezTo>
                  <a:pt x="52593" y="189177"/>
                  <a:pt x="181524" y="7354"/>
                  <a:pt x="419894" y="0"/>
                </a:cubicBezTo>
                <a:cubicBezTo>
                  <a:pt x="591847" y="-49669"/>
                  <a:pt x="702033" y="2418"/>
                  <a:pt x="932291" y="0"/>
                </a:cubicBezTo>
                <a:cubicBezTo>
                  <a:pt x="1162549" y="-2418"/>
                  <a:pt x="1286370" y="48131"/>
                  <a:pt x="1444689" y="0"/>
                </a:cubicBezTo>
                <a:cubicBezTo>
                  <a:pt x="1603008" y="-48131"/>
                  <a:pt x="1832638" y="30625"/>
                  <a:pt x="2110216" y="0"/>
                </a:cubicBezTo>
                <a:cubicBezTo>
                  <a:pt x="2387794" y="-30625"/>
                  <a:pt x="2503116" y="27749"/>
                  <a:pt x="2622614" y="0"/>
                </a:cubicBezTo>
                <a:cubicBezTo>
                  <a:pt x="2742112" y="-27749"/>
                  <a:pt x="3115444" y="21013"/>
                  <a:pt x="3364706" y="0"/>
                </a:cubicBezTo>
                <a:cubicBezTo>
                  <a:pt x="3613968" y="-21013"/>
                  <a:pt x="3588054" y="34630"/>
                  <a:pt x="3723973" y="0"/>
                </a:cubicBezTo>
                <a:cubicBezTo>
                  <a:pt x="3859892" y="-34630"/>
                  <a:pt x="4128746" y="61387"/>
                  <a:pt x="4312936" y="0"/>
                </a:cubicBezTo>
                <a:cubicBezTo>
                  <a:pt x="4497126" y="-61387"/>
                  <a:pt x="4811908" y="63628"/>
                  <a:pt x="5055029" y="0"/>
                </a:cubicBezTo>
                <a:cubicBezTo>
                  <a:pt x="5298150" y="-63628"/>
                  <a:pt x="5442356" y="33290"/>
                  <a:pt x="5797121" y="0"/>
                </a:cubicBezTo>
                <a:cubicBezTo>
                  <a:pt x="6151886" y="-33290"/>
                  <a:pt x="6133077" y="53159"/>
                  <a:pt x="6462649" y="0"/>
                </a:cubicBezTo>
                <a:cubicBezTo>
                  <a:pt x="6792221" y="-53159"/>
                  <a:pt x="6904511" y="5293"/>
                  <a:pt x="7051611" y="0"/>
                </a:cubicBezTo>
                <a:cubicBezTo>
                  <a:pt x="7198711" y="-5293"/>
                  <a:pt x="7320136" y="12413"/>
                  <a:pt x="7564009" y="0"/>
                </a:cubicBezTo>
                <a:cubicBezTo>
                  <a:pt x="7807882" y="-12413"/>
                  <a:pt x="7901559" y="10659"/>
                  <a:pt x="8076406" y="0"/>
                </a:cubicBezTo>
                <a:cubicBezTo>
                  <a:pt x="8353361" y="7390"/>
                  <a:pt x="8523432" y="223134"/>
                  <a:pt x="8496300" y="419894"/>
                </a:cubicBezTo>
                <a:cubicBezTo>
                  <a:pt x="8558622" y="651832"/>
                  <a:pt x="8481862" y="714456"/>
                  <a:pt x="8496300" y="996548"/>
                </a:cubicBezTo>
                <a:cubicBezTo>
                  <a:pt x="8510738" y="1278640"/>
                  <a:pt x="8477630" y="1254757"/>
                  <a:pt x="8496300" y="1506019"/>
                </a:cubicBezTo>
                <a:cubicBezTo>
                  <a:pt x="8514970" y="1757281"/>
                  <a:pt x="8464851" y="1920446"/>
                  <a:pt x="8496300" y="2099469"/>
                </a:cubicBezTo>
                <a:cubicBezTo>
                  <a:pt x="8497432" y="2341985"/>
                  <a:pt x="8269800" y="2507209"/>
                  <a:pt x="8076406" y="2519363"/>
                </a:cubicBezTo>
                <a:cubicBezTo>
                  <a:pt x="7793331" y="2537255"/>
                  <a:pt x="7612905" y="2460968"/>
                  <a:pt x="7410878" y="2519363"/>
                </a:cubicBezTo>
                <a:cubicBezTo>
                  <a:pt x="7208851" y="2577758"/>
                  <a:pt x="6890219" y="2481290"/>
                  <a:pt x="6745351" y="2519363"/>
                </a:cubicBezTo>
                <a:cubicBezTo>
                  <a:pt x="6600483" y="2557436"/>
                  <a:pt x="6256079" y="2435828"/>
                  <a:pt x="6003258" y="2519363"/>
                </a:cubicBezTo>
                <a:cubicBezTo>
                  <a:pt x="5750437" y="2602898"/>
                  <a:pt x="5729346" y="2514438"/>
                  <a:pt x="5643991" y="2519363"/>
                </a:cubicBezTo>
                <a:cubicBezTo>
                  <a:pt x="5558636" y="2524288"/>
                  <a:pt x="5401276" y="2491740"/>
                  <a:pt x="5208159" y="2519363"/>
                </a:cubicBezTo>
                <a:cubicBezTo>
                  <a:pt x="5015042" y="2546986"/>
                  <a:pt x="4879106" y="2507445"/>
                  <a:pt x="4695761" y="2519363"/>
                </a:cubicBezTo>
                <a:cubicBezTo>
                  <a:pt x="4512416" y="2531281"/>
                  <a:pt x="4174864" y="2472264"/>
                  <a:pt x="3953669" y="2519363"/>
                </a:cubicBezTo>
                <a:cubicBezTo>
                  <a:pt x="3732474" y="2566462"/>
                  <a:pt x="3514716" y="2484540"/>
                  <a:pt x="3364706" y="2519363"/>
                </a:cubicBezTo>
                <a:cubicBezTo>
                  <a:pt x="3214696" y="2554186"/>
                  <a:pt x="3037339" y="2496123"/>
                  <a:pt x="2928874" y="2519363"/>
                </a:cubicBezTo>
                <a:cubicBezTo>
                  <a:pt x="2820409" y="2542603"/>
                  <a:pt x="2433775" y="2515672"/>
                  <a:pt x="2263347" y="2519363"/>
                </a:cubicBezTo>
                <a:cubicBezTo>
                  <a:pt x="2092919" y="2523054"/>
                  <a:pt x="1946254" y="2490946"/>
                  <a:pt x="1827514" y="2519363"/>
                </a:cubicBezTo>
                <a:cubicBezTo>
                  <a:pt x="1708774" y="2547780"/>
                  <a:pt x="1611356" y="2505212"/>
                  <a:pt x="1468247" y="2519363"/>
                </a:cubicBezTo>
                <a:cubicBezTo>
                  <a:pt x="1325138" y="2533514"/>
                  <a:pt x="1192963" y="2481268"/>
                  <a:pt x="1108980" y="2519363"/>
                </a:cubicBezTo>
                <a:cubicBezTo>
                  <a:pt x="1024997" y="2557458"/>
                  <a:pt x="722220" y="2480240"/>
                  <a:pt x="419894" y="2519363"/>
                </a:cubicBezTo>
                <a:cubicBezTo>
                  <a:pt x="178134" y="2512484"/>
                  <a:pt x="21066" y="2363549"/>
                  <a:pt x="0" y="2099469"/>
                </a:cubicBezTo>
                <a:cubicBezTo>
                  <a:pt x="-16593" y="1964078"/>
                  <a:pt x="8143" y="1786583"/>
                  <a:pt x="0" y="1522815"/>
                </a:cubicBezTo>
                <a:cubicBezTo>
                  <a:pt x="-8143" y="1259047"/>
                  <a:pt x="7230" y="1081887"/>
                  <a:pt x="0" y="929365"/>
                </a:cubicBezTo>
                <a:cubicBezTo>
                  <a:pt x="-7230" y="776843"/>
                  <a:pt x="8173" y="550847"/>
                  <a:pt x="0" y="419894"/>
                </a:cubicBezTo>
                <a:close/>
              </a:path>
              <a:path w="8496300" h="2519363" stroke="0" extrusionOk="0">
                <a:moveTo>
                  <a:pt x="0" y="419894"/>
                </a:moveTo>
                <a:cubicBezTo>
                  <a:pt x="28507" y="205761"/>
                  <a:pt x="182773" y="28544"/>
                  <a:pt x="419894" y="0"/>
                </a:cubicBezTo>
                <a:cubicBezTo>
                  <a:pt x="553710" y="-20465"/>
                  <a:pt x="754799" y="30803"/>
                  <a:pt x="855726" y="0"/>
                </a:cubicBezTo>
                <a:cubicBezTo>
                  <a:pt x="956653" y="-30803"/>
                  <a:pt x="1197597" y="2857"/>
                  <a:pt x="1368124" y="0"/>
                </a:cubicBezTo>
                <a:cubicBezTo>
                  <a:pt x="1538651" y="-2857"/>
                  <a:pt x="1754006" y="51685"/>
                  <a:pt x="2033651" y="0"/>
                </a:cubicBezTo>
                <a:cubicBezTo>
                  <a:pt x="2313296" y="-51685"/>
                  <a:pt x="2328892" y="21906"/>
                  <a:pt x="2469483" y="0"/>
                </a:cubicBezTo>
                <a:cubicBezTo>
                  <a:pt x="2610074" y="-21906"/>
                  <a:pt x="2773394" y="19939"/>
                  <a:pt x="2905316" y="0"/>
                </a:cubicBezTo>
                <a:cubicBezTo>
                  <a:pt x="3037238" y="-19939"/>
                  <a:pt x="3371837" y="14767"/>
                  <a:pt x="3570843" y="0"/>
                </a:cubicBezTo>
                <a:cubicBezTo>
                  <a:pt x="3769849" y="-14767"/>
                  <a:pt x="4036647" y="23427"/>
                  <a:pt x="4236371" y="0"/>
                </a:cubicBezTo>
                <a:cubicBezTo>
                  <a:pt x="4436095" y="-23427"/>
                  <a:pt x="4665066" y="30807"/>
                  <a:pt x="4901898" y="0"/>
                </a:cubicBezTo>
                <a:cubicBezTo>
                  <a:pt x="5138730" y="-30807"/>
                  <a:pt x="5183683" y="17158"/>
                  <a:pt x="5414296" y="0"/>
                </a:cubicBezTo>
                <a:cubicBezTo>
                  <a:pt x="5644909" y="-17158"/>
                  <a:pt x="5728051" y="10746"/>
                  <a:pt x="5926693" y="0"/>
                </a:cubicBezTo>
                <a:cubicBezTo>
                  <a:pt x="6125335" y="-10746"/>
                  <a:pt x="6269139" y="44183"/>
                  <a:pt x="6439090" y="0"/>
                </a:cubicBezTo>
                <a:cubicBezTo>
                  <a:pt x="6609041" y="-44183"/>
                  <a:pt x="7032270" y="2710"/>
                  <a:pt x="7181183" y="0"/>
                </a:cubicBezTo>
                <a:cubicBezTo>
                  <a:pt x="7330096" y="-2710"/>
                  <a:pt x="7364226" y="22765"/>
                  <a:pt x="7540450" y="0"/>
                </a:cubicBezTo>
                <a:cubicBezTo>
                  <a:pt x="7716674" y="-22765"/>
                  <a:pt x="7848194" y="37997"/>
                  <a:pt x="8076406" y="0"/>
                </a:cubicBezTo>
                <a:cubicBezTo>
                  <a:pt x="8330990" y="36873"/>
                  <a:pt x="8538300" y="196771"/>
                  <a:pt x="8496300" y="419894"/>
                </a:cubicBezTo>
                <a:cubicBezTo>
                  <a:pt x="8523072" y="659464"/>
                  <a:pt x="8470846" y="810262"/>
                  <a:pt x="8496300" y="1013344"/>
                </a:cubicBezTo>
                <a:cubicBezTo>
                  <a:pt x="8521754" y="1216426"/>
                  <a:pt x="8481594" y="1403069"/>
                  <a:pt x="8496300" y="1539611"/>
                </a:cubicBezTo>
                <a:cubicBezTo>
                  <a:pt x="8511006" y="1676153"/>
                  <a:pt x="8475977" y="1969993"/>
                  <a:pt x="8496300" y="2099469"/>
                </a:cubicBezTo>
                <a:cubicBezTo>
                  <a:pt x="8539424" y="2281256"/>
                  <a:pt x="8344447" y="2563905"/>
                  <a:pt x="8076406" y="2519363"/>
                </a:cubicBezTo>
                <a:cubicBezTo>
                  <a:pt x="7981984" y="2548409"/>
                  <a:pt x="7742222" y="2484475"/>
                  <a:pt x="7640574" y="2519363"/>
                </a:cubicBezTo>
                <a:cubicBezTo>
                  <a:pt x="7538926" y="2554251"/>
                  <a:pt x="7201233" y="2476966"/>
                  <a:pt x="6975046" y="2519363"/>
                </a:cubicBezTo>
                <a:cubicBezTo>
                  <a:pt x="6748859" y="2561760"/>
                  <a:pt x="6682199" y="2468411"/>
                  <a:pt x="6539214" y="2519363"/>
                </a:cubicBezTo>
                <a:cubicBezTo>
                  <a:pt x="6396229" y="2570315"/>
                  <a:pt x="6275549" y="2497718"/>
                  <a:pt x="6103382" y="2519363"/>
                </a:cubicBezTo>
                <a:cubicBezTo>
                  <a:pt x="5931215" y="2541008"/>
                  <a:pt x="5602018" y="2440555"/>
                  <a:pt x="5437854" y="2519363"/>
                </a:cubicBezTo>
                <a:cubicBezTo>
                  <a:pt x="5273690" y="2598171"/>
                  <a:pt x="5174953" y="2507164"/>
                  <a:pt x="5002022" y="2519363"/>
                </a:cubicBezTo>
                <a:cubicBezTo>
                  <a:pt x="4829091" y="2531562"/>
                  <a:pt x="4543502" y="2468207"/>
                  <a:pt x="4336494" y="2519363"/>
                </a:cubicBezTo>
                <a:cubicBezTo>
                  <a:pt x="4129486" y="2570519"/>
                  <a:pt x="3934660" y="2483970"/>
                  <a:pt x="3670967" y="2519363"/>
                </a:cubicBezTo>
                <a:cubicBezTo>
                  <a:pt x="3407274" y="2554756"/>
                  <a:pt x="3200974" y="2461740"/>
                  <a:pt x="3005439" y="2519363"/>
                </a:cubicBezTo>
                <a:cubicBezTo>
                  <a:pt x="2809904" y="2576986"/>
                  <a:pt x="2645675" y="2515386"/>
                  <a:pt x="2339912" y="2519363"/>
                </a:cubicBezTo>
                <a:cubicBezTo>
                  <a:pt x="2034149" y="2523340"/>
                  <a:pt x="2080450" y="2480623"/>
                  <a:pt x="1904079" y="2519363"/>
                </a:cubicBezTo>
                <a:cubicBezTo>
                  <a:pt x="1727708" y="2558103"/>
                  <a:pt x="1561960" y="2466204"/>
                  <a:pt x="1391682" y="2519363"/>
                </a:cubicBezTo>
                <a:cubicBezTo>
                  <a:pt x="1221404" y="2572522"/>
                  <a:pt x="710624" y="2488143"/>
                  <a:pt x="419894" y="2519363"/>
                </a:cubicBezTo>
                <a:cubicBezTo>
                  <a:pt x="238353" y="2512684"/>
                  <a:pt x="-12699" y="2365926"/>
                  <a:pt x="0" y="2099469"/>
                </a:cubicBezTo>
                <a:cubicBezTo>
                  <a:pt x="-4538" y="1948920"/>
                  <a:pt x="50021" y="1684213"/>
                  <a:pt x="0" y="1556406"/>
                </a:cubicBezTo>
                <a:cubicBezTo>
                  <a:pt x="-50021" y="1428599"/>
                  <a:pt x="59172" y="1259126"/>
                  <a:pt x="0" y="962957"/>
                </a:cubicBezTo>
                <a:cubicBezTo>
                  <a:pt x="-59172" y="666788"/>
                  <a:pt x="26495" y="591023"/>
                  <a:pt x="0" y="419894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00B0F0"/>
            </a:solidFill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71080385">
                  <a:prstGeom prst="flowChartAlternateProcess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5F4760F-CF2B-4F9F-6FC2-7D70B9C5C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Ordering Fractions</a:t>
            </a:r>
            <a:endParaRPr lang="en-US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5D56813-96B7-C45E-F36D-B741EA0A7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46138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>
                <a:solidFill>
                  <a:srgbClr val="00B0F0"/>
                </a:solidFill>
              </a:rPr>
              <a:t>Ordering fractions: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>
                <a:solidFill>
                  <a:srgbClr val="00B0F0"/>
                </a:solidFill>
              </a:rPr>
              <a:t>1) Convert everything into decimals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>
                <a:solidFill>
                  <a:srgbClr val="00B0F0"/>
                </a:solidFill>
              </a:rPr>
              <a:t>2) Order the decimals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>
                <a:solidFill>
                  <a:srgbClr val="00B0F0"/>
                </a:solidFill>
              </a:rPr>
              <a:t>3) Re-write the original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0C8144-1990-F579-FB62-6EBE7A4EA533}"/>
                  </a:ext>
                </a:extLst>
              </p:cNvPr>
              <p:cNvSpPr txBox="1"/>
              <p:nvPr/>
            </p:nvSpPr>
            <p:spPr>
              <a:xfrm>
                <a:off x="1018095" y="4562573"/>
                <a:ext cx="6429080" cy="1826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0C8144-1990-F579-FB62-6EBE7A4EA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95" y="4562573"/>
                <a:ext cx="642908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100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B797961-B1A4-850A-2BFA-61D3967EB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Ordering Decimals - Recap</a:t>
            </a: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94E22F8-C780-B53D-45A2-FC813A42C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/>
              <a:t>It is easier to put decimals in order if we have the same number of digits after the decimal point.</a:t>
            </a:r>
          </a:p>
          <a:p>
            <a:pPr algn="ctr" eaLnBrk="1" hangingPunct="1">
              <a:buFontTx/>
              <a:buNone/>
            </a:pPr>
            <a:r>
              <a:rPr lang="en-GB" altLang="en-US"/>
              <a:t>0.12  0.302  0.5  0.06</a:t>
            </a: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</p:txBody>
      </p:sp>
      <p:grpSp>
        <p:nvGrpSpPr>
          <p:cNvPr id="5124" name="Group 28">
            <a:extLst>
              <a:ext uri="{FF2B5EF4-FFF2-40B4-BE49-F238E27FC236}">
                <a16:creationId xmlns:a16="http://schemas.microsoft.com/office/drawing/2014/main" id="{CA43A8E0-64D7-8650-3527-907054B7FBC8}"/>
              </a:ext>
            </a:extLst>
          </p:cNvPr>
          <p:cNvGrpSpPr>
            <a:grpSpLocks/>
          </p:cNvGrpSpPr>
          <p:nvPr/>
        </p:nvGrpSpPr>
        <p:grpSpPr bwMode="auto">
          <a:xfrm>
            <a:off x="266700" y="4084638"/>
            <a:ext cx="4408488" cy="831850"/>
            <a:chOff x="0" y="0"/>
            <a:chExt cx="4409185" cy="830997"/>
          </a:xfrm>
        </p:grpSpPr>
        <p:sp>
          <p:nvSpPr>
            <p:cNvPr id="4122" name="Rounded Rectangle 23">
              <a:extLst>
                <a:ext uri="{FF2B5EF4-FFF2-40B4-BE49-F238E27FC236}">
                  <a16:creationId xmlns:a16="http://schemas.microsoft.com/office/drawing/2014/main" id="{96F1F903-B2C2-44C9-2996-667CC3F01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972" y="0"/>
              <a:ext cx="3383213" cy="83099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4B6BC"/>
                </a:gs>
                <a:gs pos="51999">
                  <a:srgbClr val="EE99A2"/>
                </a:gs>
                <a:gs pos="100000">
                  <a:srgbClr val="EB838F"/>
                </a:gs>
              </a:gsLst>
              <a:lin ang="5400000" scaled="1"/>
            </a:gra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123" name="TextBox 33">
              <a:extLst>
                <a:ext uri="{FF2B5EF4-FFF2-40B4-BE49-F238E27FC236}">
                  <a16:creationId xmlns:a16="http://schemas.microsoft.com/office/drawing/2014/main" id="{2333216C-E4AA-C242-B59A-D624AC72B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0650"/>
              <a:ext cx="8736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rgbClr val="000000"/>
                  </a:solidFill>
                  <a:sym typeface="Arial" panose="020B0604020202020204" pitchFamily="34" charset="0"/>
                </a:rPr>
                <a:t>Step 1</a:t>
              </a:r>
            </a:p>
          </p:txBody>
        </p:sp>
        <p:sp>
          <p:nvSpPr>
            <p:cNvPr id="4124" name="TextBox 31">
              <a:extLst>
                <a:ext uri="{FF2B5EF4-FFF2-40B4-BE49-F238E27FC236}">
                  <a16:creationId xmlns:a16="http://schemas.microsoft.com/office/drawing/2014/main" id="{76316632-3982-CC0C-FEC6-B81F0160D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972" y="0"/>
              <a:ext cx="3383213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b="1">
                  <a:solidFill>
                    <a:srgbClr val="000000"/>
                  </a:solidFill>
                  <a:sym typeface="Arial" panose="020B0604020202020204" pitchFamily="34" charset="0"/>
                </a:rPr>
                <a:t>Look at the decimals to find which one has the most number of digits after the decimal point.</a:t>
              </a:r>
            </a:p>
          </p:txBody>
        </p:sp>
      </p:grpSp>
      <p:grpSp>
        <p:nvGrpSpPr>
          <p:cNvPr id="5128" name="Group 34">
            <a:extLst>
              <a:ext uri="{FF2B5EF4-FFF2-40B4-BE49-F238E27FC236}">
                <a16:creationId xmlns:a16="http://schemas.microsoft.com/office/drawing/2014/main" id="{FC4FBBE3-E0D0-FF12-1F0B-6D262F807609}"/>
              </a:ext>
            </a:extLst>
          </p:cNvPr>
          <p:cNvGrpSpPr>
            <a:grpSpLocks/>
          </p:cNvGrpSpPr>
          <p:nvPr/>
        </p:nvGrpSpPr>
        <p:grpSpPr bwMode="auto">
          <a:xfrm>
            <a:off x="266700" y="6162675"/>
            <a:ext cx="4452938" cy="441325"/>
            <a:chOff x="0" y="0"/>
            <a:chExt cx="4453077" cy="441861"/>
          </a:xfrm>
        </p:grpSpPr>
        <p:sp>
          <p:nvSpPr>
            <p:cNvPr id="4119" name="Rounded Rectangle 27">
              <a:extLst>
                <a:ext uri="{FF2B5EF4-FFF2-40B4-BE49-F238E27FC236}">
                  <a16:creationId xmlns:a16="http://schemas.microsoft.com/office/drawing/2014/main" id="{04AD0A7A-5B05-F98F-B13E-265E4AA61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604" y="30778"/>
              <a:ext cx="3442473" cy="41108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1D1F4"/>
                </a:gs>
                <a:gs pos="51999">
                  <a:srgbClr val="A7BEEC"/>
                </a:gs>
                <a:gs pos="100000">
                  <a:srgbClr val="93AFE9"/>
                </a:gs>
              </a:gsLst>
              <a:lin ang="5400000" scaled="1"/>
            </a:gradFill>
            <a:ln w="9525">
              <a:solidFill>
                <a:srgbClr val="588FE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120" name="TextBox 57">
              <a:extLst>
                <a:ext uri="{FF2B5EF4-FFF2-40B4-BE49-F238E27FC236}">
                  <a16:creationId xmlns:a16="http://schemas.microsoft.com/office/drawing/2014/main" id="{073EF559-5666-5416-AE20-8BBBF1B32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8736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rgbClr val="000000"/>
                  </a:solidFill>
                  <a:sym typeface="Arial" panose="020B0604020202020204" pitchFamily="34" charset="0"/>
                </a:rPr>
                <a:t>Step 3</a:t>
              </a:r>
            </a:p>
          </p:txBody>
        </p:sp>
        <p:sp>
          <p:nvSpPr>
            <p:cNvPr id="4121" name="TextBox 55">
              <a:extLst>
                <a:ext uri="{FF2B5EF4-FFF2-40B4-BE49-F238E27FC236}">
                  <a16:creationId xmlns:a16="http://schemas.microsoft.com/office/drawing/2014/main" id="{70473158-ACCB-EF3C-5D3D-8FEE1889D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972" y="30778"/>
              <a:ext cx="338321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b="1">
                  <a:solidFill>
                    <a:srgbClr val="000000"/>
                  </a:solidFill>
                  <a:sym typeface="Arial" panose="020B0604020202020204" pitchFamily="34" charset="0"/>
                </a:rPr>
                <a:t>Put the numbers in order of size.</a:t>
              </a:r>
            </a:p>
          </p:txBody>
        </p:sp>
      </p:grpSp>
      <p:grpSp>
        <p:nvGrpSpPr>
          <p:cNvPr id="5132" name="Group 29">
            <a:extLst>
              <a:ext uri="{FF2B5EF4-FFF2-40B4-BE49-F238E27FC236}">
                <a16:creationId xmlns:a16="http://schemas.microsoft.com/office/drawing/2014/main" id="{2FDFFDD8-A30A-E04C-6D4B-57D1D59CA71D}"/>
              </a:ext>
            </a:extLst>
          </p:cNvPr>
          <p:cNvGrpSpPr>
            <a:grpSpLocks/>
          </p:cNvGrpSpPr>
          <p:nvPr/>
        </p:nvGrpSpPr>
        <p:grpSpPr bwMode="auto">
          <a:xfrm>
            <a:off x="266700" y="5097463"/>
            <a:ext cx="4408488" cy="831850"/>
            <a:chOff x="0" y="0"/>
            <a:chExt cx="4409185" cy="830997"/>
          </a:xfrm>
        </p:grpSpPr>
        <p:sp>
          <p:nvSpPr>
            <p:cNvPr id="4116" name="Rounded Rectangle 25">
              <a:extLst>
                <a:ext uri="{FF2B5EF4-FFF2-40B4-BE49-F238E27FC236}">
                  <a16:creationId xmlns:a16="http://schemas.microsoft.com/office/drawing/2014/main" id="{9E82674C-B2B1-10DC-ADAA-4955AD454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972" y="0"/>
              <a:ext cx="3383213" cy="83099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4C8F8"/>
                </a:gs>
                <a:gs pos="51999">
                  <a:srgbClr val="BEADF2"/>
                </a:gs>
                <a:gs pos="100000">
                  <a:srgbClr val="AE99EF"/>
                </a:gs>
              </a:gsLst>
              <a:lin ang="5400000" scaled="1"/>
            </a:gradFill>
            <a:ln w="9525">
              <a:solidFill>
                <a:srgbClr val="8D65EA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117" name="TextBox 70">
              <a:extLst>
                <a:ext uri="{FF2B5EF4-FFF2-40B4-BE49-F238E27FC236}">
                  <a16:creationId xmlns:a16="http://schemas.microsoft.com/office/drawing/2014/main" id="{99E7AA5E-9691-C710-6977-89D3C4683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0650"/>
              <a:ext cx="8736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rgbClr val="000000"/>
                  </a:solidFill>
                  <a:sym typeface="Arial" panose="020B0604020202020204" pitchFamily="34" charset="0"/>
                </a:rPr>
                <a:t>Step 2</a:t>
              </a:r>
            </a:p>
          </p:txBody>
        </p:sp>
        <p:sp>
          <p:nvSpPr>
            <p:cNvPr id="4118" name="TextBox 68">
              <a:extLst>
                <a:ext uri="{FF2B5EF4-FFF2-40B4-BE49-F238E27FC236}">
                  <a16:creationId xmlns:a16="http://schemas.microsoft.com/office/drawing/2014/main" id="{082788EA-0096-3255-36F1-19DB48F27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972" y="0"/>
              <a:ext cx="3383213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b="1">
                  <a:solidFill>
                    <a:srgbClr val="000000"/>
                  </a:solidFill>
                  <a:sym typeface="Arial" panose="020B0604020202020204" pitchFamily="34" charset="0"/>
                </a:rPr>
                <a:t>Add zeros to the other decimals so that they all have this number of digits after the decimal point.</a:t>
              </a:r>
              <a:endParaRPr lang="en-US" altLang="en-US"/>
            </a:p>
          </p:txBody>
        </p:sp>
      </p:grpSp>
      <p:sp>
        <p:nvSpPr>
          <p:cNvPr id="5136" name="Rounded Rectangle 88">
            <a:extLst>
              <a:ext uri="{FF2B5EF4-FFF2-40B4-BE49-F238E27FC236}">
                <a16:creationId xmlns:a16="http://schemas.microsoft.com/office/drawing/2014/main" id="{558A22CF-C06C-279B-B9A4-958C0522F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413" y="4121150"/>
            <a:ext cx="1008062" cy="5762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D"/>
              </a:gs>
              <a:gs pos="50000">
                <a:srgbClr val="FFFFC3"/>
              </a:gs>
              <a:gs pos="100000">
                <a:srgbClr val="FFFFE3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A7183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37" name="TextBox 77">
            <a:extLst>
              <a:ext uri="{FF2B5EF4-FFF2-40B4-BE49-F238E27FC236}">
                <a16:creationId xmlns:a16="http://schemas.microsoft.com/office/drawing/2014/main" id="{3C034F12-0E95-F4A3-ADC3-C52C0F37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88" y="4203700"/>
            <a:ext cx="1116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0.12</a:t>
            </a:r>
          </a:p>
        </p:txBody>
      </p:sp>
      <p:sp>
        <p:nvSpPr>
          <p:cNvPr id="5138" name="TextBox 82">
            <a:extLst>
              <a:ext uri="{FF2B5EF4-FFF2-40B4-BE49-F238E27FC236}">
                <a16:creationId xmlns:a16="http://schemas.microsoft.com/office/drawing/2014/main" id="{F305F104-92B3-A0EB-5361-944F16F2B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4203700"/>
            <a:ext cx="1116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0.302</a:t>
            </a:r>
          </a:p>
        </p:txBody>
      </p:sp>
      <p:sp>
        <p:nvSpPr>
          <p:cNvPr id="5139" name="TextBox 83">
            <a:extLst>
              <a:ext uri="{FF2B5EF4-FFF2-40B4-BE49-F238E27FC236}">
                <a16:creationId xmlns:a16="http://schemas.microsoft.com/office/drawing/2014/main" id="{D76F5F66-0ACB-8684-7E91-699318EF4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4203700"/>
            <a:ext cx="1116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0.5</a:t>
            </a:r>
          </a:p>
        </p:txBody>
      </p:sp>
      <p:sp>
        <p:nvSpPr>
          <p:cNvPr id="5140" name="TextBox 84">
            <a:extLst>
              <a:ext uri="{FF2B5EF4-FFF2-40B4-BE49-F238E27FC236}">
                <a16:creationId xmlns:a16="http://schemas.microsoft.com/office/drawing/2014/main" id="{1E9C8655-45D0-8C87-00B2-4BDC136E6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938" y="4203700"/>
            <a:ext cx="1116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0.06</a:t>
            </a:r>
          </a:p>
        </p:txBody>
      </p:sp>
      <p:sp>
        <p:nvSpPr>
          <p:cNvPr id="5141" name="TextBox 90">
            <a:extLst>
              <a:ext uri="{FF2B5EF4-FFF2-40B4-BE49-F238E27FC236}">
                <a16:creationId xmlns:a16="http://schemas.microsoft.com/office/drawing/2014/main" id="{B4EEF60A-64CA-3A3B-03CD-D3C37C9BF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88" y="5321300"/>
            <a:ext cx="1116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0.120</a:t>
            </a:r>
          </a:p>
        </p:txBody>
      </p:sp>
      <p:sp>
        <p:nvSpPr>
          <p:cNvPr id="5142" name="TextBox 91">
            <a:extLst>
              <a:ext uri="{FF2B5EF4-FFF2-40B4-BE49-F238E27FC236}">
                <a16:creationId xmlns:a16="http://schemas.microsoft.com/office/drawing/2014/main" id="{55A7DB86-303D-9EF5-F567-A6A898BE5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5321300"/>
            <a:ext cx="1116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0.302</a:t>
            </a:r>
          </a:p>
        </p:txBody>
      </p:sp>
      <p:sp>
        <p:nvSpPr>
          <p:cNvPr id="5143" name="TextBox 92">
            <a:extLst>
              <a:ext uri="{FF2B5EF4-FFF2-40B4-BE49-F238E27FC236}">
                <a16:creationId xmlns:a16="http://schemas.microsoft.com/office/drawing/2014/main" id="{554E3C67-7456-B785-475C-92227DE86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5321300"/>
            <a:ext cx="1116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0.500</a:t>
            </a:r>
          </a:p>
        </p:txBody>
      </p:sp>
      <p:sp>
        <p:nvSpPr>
          <p:cNvPr id="5144" name="TextBox 93">
            <a:extLst>
              <a:ext uri="{FF2B5EF4-FFF2-40B4-BE49-F238E27FC236}">
                <a16:creationId xmlns:a16="http://schemas.microsoft.com/office/drawing/2014/main" id="{2E36E7EA-A2EC-8BFB-D3CB-6AF53E18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938" y="5321300"/>
            <a:ext cx="1116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0.060</a:t>
            </a:r>
          </a:p>
        </p:txBody>
      </p:sp>
      <p:sp>
        <p:nvSpPr>
          <p:cNvPr id="5145" name="TextBox 58">
            <a:extLst>
              <a:ext uri="{FF2B5EF4-FFF2-40B4-BE49-F238E27FC236}">
                <a16:creationId xmlns:a16="http://schemas.microsoft.com/office/drawing/2014/main" id="{5E198E95-C661-EC1F-FAE3-2E4AE2A40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6213475"/>
            <a:ext cx="11160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0.120</a:t>
            </a:r>
          </a:p>
        </p:txBody>
      </p:sp>
      <p:sp>
        <p:nvSpPr>
          <p:cNvPr id="5146" name="TextBox 59">
            <a:extLst>
              <a:ext uri="{FF2B5EF4-FFF2-40B4-BE49-F238E27FC236}">
                <a16:creationId xmlns:a16="http://schemas.microsoft.com/office/drawing/2014/main" id="{C72C4E7C-55EF-BB8E-4537-80BD9B580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6213475"/>
            <a:ext cx="1117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0.302</a:t>
            </a:r>
          </a:p>
        </p:txBody>
      </p:sp>
      <p:sp>
        <p:nvSpPr>
          <p:cNvPr id="5147" name="TextBox 60">
            <a:extLst>
              <a:ext uri="{FF2B5EF4-FFF2-40B4-BE49-F238E27FC236}">
                <a16:creationId xmlns:a16="http://schemas.microsoft.com/office/drawing/2014/main" id="{A3A23ECE-77A7-5564-31D6-FC1FB8530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6213475"/>
            <a:ext cx="11160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0.500</a:t>
            </a:r>
          </a:p>
        </p:txBody>
      </p:sp>
      <p:sp>
        <p:nvSpPr>
          <p:cNvPr id="5148" name="TextBox 61">
            <a:extLst>
              <a:ext uri="{FF2B5EF4-FFF2-40B4-BE49-F238E27FC236}">
                <a16:creationId xmlns:a16="http://schemas.microsoft.com/office/drawing/2014/main" id="{F24BB71C-4A85-19A8-D390-6503A02A1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6213475"/>
            <a:ext cx="11160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00"/>
                </a:solidFill>
                <a:sym typeface="Arial" panose="020B0604020202020204" pitchFamily="34" charset="0"/>
              </a:rPr>
              <a:t>0.060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6" grpId="0" bldLvl="0" animBg="1" autoUpdateAnimBg="0"/>
      <p:bldP spid="5137" grpId="0" bldLvl="0" autoUpdateAnimBg="0"/>
      <p:bldP spid="5138" grpId="0" bldLvl="0" autoUpdateAnimBg="0"/>
      <p:bldP spid="5139" grpId="0" bldLvl="0" autoUpdateAnimBg="0"/>
      <p:bldP spid="5140" grpId="0" bldLvl="0" autoUpdateAnimBg="0"/>
      <p:bldP spid="5141" grpId="0" bldLvl="0" autoUpdateAnimBg="0"/>
      <p:bldP spid="5142" grpId="0" bldLvl="0" autoUpdateAnimBg="0"/>
      <p:bldP spid="5143" grpId="0" bldLvl="0" autoUpdateAnimBg="0"/>
      <p:bldP spid="5144" grpId="0" bldLvl="0" autoUpdateAnimBg="0"/>
      <p:bldP spid="5145" grpId="0" bldLvl="0" autoUpdateAnimBg="0"/>
      <p:bldP spid="5146" grpId="0" bldLvl="0" autoUpdateAnimBg="0"/>
      <p:bldP spid="5147" grpId="0" bldLvl="0" autoUpdateAnimBg="0"/>
      <p:bldP spid="5148" grpId="0" bldLvl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2">
            <a:extLst>
              <a:ext uri="{FF2B5EF4-FFF2-40B4-BE49-F238E27FC236}">
                <a16:creationId xmlns:a16="http://schemas.microsoft.com/office/drawing/2014/main" id="{C79A0F83-0DA3-4512-57F7-C8CC0FB8ED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33488"/>
            <a:ext cx="8658225" cy="56245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Put these decimals in order from highest to lowest: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b)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d)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Challenge: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Can you order to following measurements in ascending order.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12</a:t>
            </a:r>
            <a:r>
              <a:rPr lang="en-GB" altLang="en-US"/>
              <a:t>1</a:t>
            </a:r>
            <a:r>
              <a:rPr lang="en-US" altLang="en-US"/>
              <a:t>cm</a:t>
            </a:r>
            <a:r>
              <a:rPr lang="en-GB" altLang="en-US"/>
              <a:t>        </a:t>
            </a:r>
            <a:r>
              <a:rPr lang="en-US" altLang="en-US"/>
              <a:t>0.</a:t>
            </a:r>
            <a:r>
              <a:rPr lang="en-GB" altLang="en-US"/>
              <a:t>46</a:t>
            </a:r>
            <a:r>
              <a:rPr lang="en-US" altLang="en-US"/>
              <a:t>m		</a:t>
            </a:r>
            <a:r>
              <a:rPr lang="en-GB" altLang="en-US"/>
              <a:t>79</a:t>
            </a:r>
            <a:r>
              <a:rPr lang="en-US" altLang="en-US"/>
              <a:t>mm		1.4</a:t>
            </a:r>
            <a:r>
              <a:rPr lang="en-GB" altLang="en-US"/>
              <a:t>2</a:t>
            </a:r>
            <a:r>
              <a:rPr lang="en-US" altLang="en-US"/>
              <a:t>m		1.</a:t>
            </a:r>
            <a:r>
              <a:rPr lang="en-GB" altLang="en-US"/>
              <a:t>35</a:t>
            </a:r>
            <a:r>
              <a:rPr lang="en-US" altLang="en-US"/>
              <a:t>km</a:t>
            </a:r>
          </a:p>
        </p:txBody>
      </p:sp>
      <p:sp>
        <p:nvSpPr>
          <p:cNvPr id="5123" name="Title 21">
            <a:extLst>
              <a:ext uri="{FF2B5EF4-FFF2-40B4-BE49-F238E27FC236}">
                <a16:creationId xmlns:a16="http://schemas.microsoft.com/office/drawing/2014/main" id="{E6745F4D-D808-053E-BFEB-9E2DD30F5F2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03263" y="241300"/>
            <a:ext cx="7847012" cy="525463"/>
          </a:xfrm>
          <a:noFill/>
        </p:spPr>
        <p:txBody>
          <a:bodyPr/>
          <a:lstStyle/>
          <a:p>
            <a:pPr eaLnBrk="1" hangingPunct="1"/>
            <a:r>
              <a:rPr lang="en-GB" altLang="en-US" sz="3200"/>
              <a:t>Quick Practice Questions!</a:t>
            </a:r>
          </a:p>
        </p:txBody>
      </p:sp>
      <p:sp>
        <p:nvSpPr>
          <p:cNvPr id="5124" name="Oval 36">
            <a:extLst>
              <a:ext uri="{FF2B5EF4-FFF2-40B4-BE49-F238E27FC236}">
                <a16:creationId xmlns:a16="http://schemas.microsoft.com/office/drawing/2014/main" id="{9AADF622-9549-6DC0-1057-1A03F6A8E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1933575"/>
            <a:ext cx="295275" cy="266700"/>
          </a:xfrm>
          <a:prstGeom prst="ellipse">
            <a:avLst/>
          </a:prstGeom>
          <a:solidFill>
            <a:srgbClr val="00B05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125" name="Oval 37">
            <a:extLst>
              <a:ext uri="{FF2B5EF4-FFF2-40B4-BE49-F238E27FC236}">
                <a16:creationId xmlns:a16="http://schemas.microsoft.com/office/drawing/2014/main" id="{671805EB-A202-F981-F49B-6A6900111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3644900"/>
            <a:ext cx="295275" cy="2682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5126" name="Group 38">
            <a:extLst>
              <a:ext uri="{FF2B5EF4-FFF2-40B4-BE49-F238E27FC236}">
                <a16:creationId xmlns:a16="http://schemas.microsoft.com/office/drawing/2014/main" id="{D9E8C45B-7091-604C-C62E-557F150DABF1}"/>
              </a:ext>
            </a:extLst>
          </p:cNvPr>
          <p:cNvGrpSpPr>
            <a:grpSpLocks/>
          </p:cNvGrpSpPr>
          <p:nvPr/>
        </p:nvGrpSpPr>
        <p:grpSpPr bwMode="auto">
          <a:xfrm>
            <a:off x="1911350" y="5318125"/>
            <a:ext cx="295275" cy="268288"/>
            <a:chOff x="0" y="0"/>
            <a:chExt cx="432048" cy="432048"/>
          </a:xfrm>
        </p:grpSpPr>
        <p:sp>
          <p:nvSpPr>
            <p:cNvPr id="5183" name="Oval 39">
              <a:extLst>
                <a:ext uri="{FF2B5EF4-FFF2-40B4-BE49-F238E27FC236}">
                  <a16:creationId xmlns:a16="http://schemas.microsoft.com/office/drawing/2014/main" id="{0C112FB4-C805-12FB-C45E-7F4E3B75E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2048" cy="432048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6152" name="5-Point Star 40">
              <a:extLst>
                <a:ext uri="{FF2B5EF4-FFF2-40B4-BE49-F238E27FC236}">
                  <a16:creationId xmlns:a16="http://schemas.microsoft.com/office/drawing/2014/main" id="{E6857CE5-FBC1-DC67-BA6B-1D948A8FA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09" y="71582"/>
              <a:ext cx="288032" cy="288884"/>
            </a:xfrm>
            <a:prstGeom prst="star5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en-US" altLang="en-US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6153" name="Table 1">
            <a:extLst>
              <a:ext uri="{FF2B5EF4-FFF2-40B4-BE49-F238E27FC236}">
                <a16:creationId xmlns:a16="http://schemas.microsoft.com/office/drawing/2014/main" id="{84884190-3530-9E07-4837-C8116C174CE5}"/>
              </a:ext>
            </a:extLst>
          </p:cNvPr>
          <p:cNvGraphicFramePr>
            <a:graphicFrameLocks noGrp="1"/>
          </p:cNvGraphicFramePr>
          <p:nvPr/>
        </p:nvGraphicFramePr>
        <p:xfrm>
          <a:off x="1633538" y="1731963"/>
          <a:ext cx="5910262" cy="64770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3.45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3.3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3.709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3.9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3.56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67" name="Table 5">
            <a:extLst>
              <a:ext uri="{FF2B5EF4-FFF2-40B4-BE49-F238E27FC236}">
                <a16:creationId xmlns:a16="http://schemas.microsoft.com/office/drawing/2014/main" id="{92E1B5CD-E271-04E9-BCC0-9F09A5F83040}"/>
              </a:ext>
            </a:extLst>
          </p:cNvPr>
          <p:cNvGraphicFramePr>
            <a:graphicFrameLocks noGrp="1"/>
          </p:cNvGraphicFramePr>
          <p:nvPr/>
        </p:nvGraphicFramePr>
        <p:xfrm>
          <a:off x="1614488" y="2530475"/>
          <a:ext cx="5910262" cy="688975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2.3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2.109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2.06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2.329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2.091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81" name="Table 9">
            <a:extLst>
              <a:ext uri="{FF2B5EF4-FFF2-40B4-BE49-F238E27FC236}">
                <a16:creationId xmlns:a16="http://schemas.microsoft.com/office/drawing/2014/main" id="{69586263-D8C5-9F8A-4312-8F7A688549D5}"/>
              </a:ext>
            </a:extLst>
          </p:cNvPr>
          <p:cNvGraphicFramePr>
            <a:graphicFrameLocks noGrp="1"/>
          </p:cNvGraphicFramePr>
          <p:nvPr/>
        </p:nvGraphicFramePr>
        <p:xfrm>
          <a:off x="1595438" y="3444875"/>
          <a:ext cx="5910262" cy="688975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16.7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1.067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167.01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1.78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1.682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95" name="Table 10">
            <a:extLst>
              <a:ext uri="{FF2B5EF4-FFF2-40B4-BE49-F238E27FC236}">
                <a16:creationId xmlns:a16="http://schemas.microsoft.com/office/drawing/2014/main" id="{0CFA8D67-3E6D-B99A-BF48-43C1B6DE32EF}"/>
              </a:ext>
            </a:extLst>
          </p:cNvPr>
          <p:cNvGraphicFramePr>
            <a:graphicFrameLocks noGrp="1"/>
          </p:cNvGraphicFramePr>
          <p:nvPr/>
        </p:nvGraphicFramePr>
        <p:xfrm>
          <a:off x="1576388" y="4283075"/>
          <a:ext cx="5910262" cy="688975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42.6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4.901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4.22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142.04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4.910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22">
            <a:extLst>
              <a:ext uri="{FF2B5EF4-FFF2-40B4-BE49-F238E27FC236}">
                <a16:creationId xmlns:a16="http://schemas.microsoft.com/office/drawing/2014/main" id="{A0B23461-DDA7-B389-F300-2C35F17749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01725"/>
            <a:ext cx="8658225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Put these decimals in order from highest to lowest: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b)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d)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Challenge: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Can you order to following measurements in ascending order.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12</a:t>
            </a:r>
            <a:r>
              <a:rPr lang="en-GB" altLang="en-US"/>
              <a:t>1</a:t>
            </a:r>
            <a:r>
              <a:rPr lang="en-US" altLang="en-US"/>
              <a:t>cm</a:t>
            </a:r>
            <a:r>
              <a:rPr lang="en-GB" altLang="en-US"/>
              <a:t>        </a:t>
            </a:r>
            <a:r>
              <a:rPr lang="en-US" altLang="en-US"/>
              <a:t>0.</a:t>
            </a:r>
            <a:r>
              <a:rPr lang="en-GB" altLang="en-US"/>
              <a:t>46</a:t>
            </a:r>
            <a:r>
              <a:rPr lang="en-US" altLang="en-US"/>
              <a:t>m		</a:t>
            </a:r>
            <a:r>
              <a:rPr lang="en-GB" altLang="en-US"/>
              <a:t>79</a:t>
            </a:r>
            <a:r>
              <a:rPr lang="en-US" altLang="en-US"/>
              <a:t>mm		1.4</a:t>
            </a:r>
            <a:r>
              <a:rPr lang="en-GB" altLang="en-US"/>
              <a:t>2</a:t>
            </a:r>
            <a:r>
              <a:rPr lang="en-US" altLang="en-US"/>
              <a:t>m		1.</a:t>
            </a:r>
            <a:r>
              <a:rPr lang="en-GB" altLang="en-US"/>
              <a:t>35</a:t>
            </a:r>
            <a:r>
              <a:rPr lang="en-US" altLang="en-US"/>
              <a:t>km</a:t>
            </a:r>
          </a:p>
        </p:txBody>
      </p:sp>
      <p:sp>
        <p:nvSpPr>
          <p:cNvPr id="6147" name="Title 21">
            <a:extLst>
              <a:ext uri="{FF2B5EF4-FFF2-40B4-BE49-F238E27FC236}">
                <a16:creationId xmlns:a16="http://schemas.microsoft.com/office/drawing/2014/main" id="{CA88EEE8-611B-ECC1-0AFF-1F83F2A9C5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03263" y="241300"/>
            <a:ext cx="7847012" cy="525463"/>
          </a:xfrm>
          <a:noFill/>
        </p:spPr>
        <p:txBody>
          <a:bodyPr/>
          <a:lstStyle/>
          <a:p>
            <a:pPr eaLnBrk="1" hangingPunct="1"/>
            <a:r>
              <a:rPr lang="en-GB" altLang="en-US" sz="2800"/>
              <a:t>Answers</a:t>
            </a:r>
            <a:endParaRPr lang="en-GB" altLang="en-US" sz="4000"/>
          </a:p>
        </p:txBody>
      </p:sp>
      <p:sp>
        <p:nvSpPr>
          <p:cNvPr id="6148" name="Oval 36">
            <a:extLst>
              <a:ext uri="{FF2B5EF4-FFF2-40B4-BE49-F238E27FC236}">
                <a16:creationId xmlns:a16="http://schemas.microsoft.com/office/drawing/2014/main" id="{2BDC1A6D-BABD-26A9-C6F4-202CE0D3C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1933575"/>
            <a:ext cx="295275" cy="266700"/>
          </a:xfrm>
          <a:prstGeom prst="ellipse">
            <a:avLst/>
          </a:prstGeom>
          <a:solidFill>
            <a:srgbClr val="00B05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149" name="Oval 37">
            <a:extLst>
              <a:ext uri="{FF2B5EF4-FFF2-40B4-BE49-F238E27FC236}">
                <a16:creationId xmlns:a16="http://schemas.microsoft.com/office/drawing/2014/main" id="{DC20F1D5-D21F-34A0-A3F0-C94500847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3644900"/>
            <a:ext cx="295275" cy="2682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6150" name="Group 38">
            <a:extLst>
              <a:ext uri="{FF2B5EF4-FFF2-40B4-BE49-F238E27FC236}">
                <a16:creationId xmlns:a16="http://schemas.microsoft.com/office/drawing/2014/main" id="{B56D3343-521F-ADDA-959D-B91DE712911E}"/>
              </a:ext>
            </a:extLst>
          </p:cNvPr>
          <p:cNvGrpSpPr>
            <a:grpSpLocks/>
          </p:cNvGrpSpPr>
          <p:nvPr/>
        </p:nvGrpSpPr>
        <p:grpSpPr bwMode="auto">
          <a:xfrm>
            <a:off x="1911350" y="5318125"/>
            <a:ext cx="295275" cy="268288"/>
            <a:chOff x="0" y="0"/>
            <a:chExt cx="432048" cy="432048"/>
          </a:xfrm>
        </p:grpSpPr>
        <p:sp>
          <p:nvSpPr>
            <p:cNvPr id="6221" name="Oval 39">
              <a:extLst>
                <a:ext uri="{FF2B5EF4-FFF2-40B4-BE49-F238E27FC236}">
                  <a16:creationId xmlns:a16="http://schemas.microsoft.com/office/drawing/2014/main" id="{71A24F25-4283-D13C-ACD7-4A334042D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2048" cy="432048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7176" name="5-Point Star 40">
              <a:extLst>
                <a:ext uri="{FF2B5EF4-FFF2-40B4-BE49-F238E27FC236}">
                  <a16:creationId xmlns:a16="http://schemas.microsoft.com/office/drawing/2014/main" id="{746288FA-CDF1-575D-018A-76E0804C9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09" y="71582"/>
              <a:ext cx="288032" cy="288884"/>
            </a:xfrm>
            <a:prstGeom prst="star5">
              <a:avLst/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en-US" altLang="en-US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7177" name="Table 1">
            <a:extLst>
              <a:ext uri="{FF2B5EF4-FFF2-40B4-BE49-F238E27FC236}">
                <a16:creationId xmlns:a16="http://schemas.microsoft.com/office/drawing/2014/main" id="{FFC59B93-0526-CCE8-624E-DDA949B2846B}"/>
              </a:ext>
            </a:extLst>
          </p:cNvPr>
          <p:cNvGraphicFramePr>
            <a:graphicFrameLocks noGrp="1"/>
          </p:cNvGraphicFramePr>
          <p:nvPr/>
        </p:nvGraphicFramePr>
        <p:xfrm>
          <a:off x="1633538" y="1731963"/>
          <a:ext cx="5910262" cy="64770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7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3.9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3.709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3.56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3.45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3.3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91" name="Table 5">
            <a:extLst>
              <a:ext uri="{FF2B5EF4-FFF2-40B4-BE49-F238E27FC236}">
                <a16:creationId xmlns:a16="http://schemas.microsoft.com/office/drawing/2014/main" id="{6B9C0579-05C0-E4C7-99CA-9253A9EB2853}"/>
              </a:ext>
            </a:extLst>
          </p:cNvPr>
          <p:cNvGraphicFramePr>
            <a:graphicFrameLocks noGrp="1"/>
          </p:cNvGraphicFramePr>
          <p:nvPr/>
        </p:nvGraphicFramePr>
        <p:xfrm>
          <a:off x="1614488" y="2530475"/>
          <a:ext cx="5910262" cy="688975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2.329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2.3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2.109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2.091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2.06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05" name="Table 9">
            <a:extLst>
              <a:ext uri="{FF2B5EF4-FFF2-40B4-BE49-F238E27FC236}">
                <a16:creationId xmlns:a16="http://schemas.microsoft.com/office/drawing/2014/main" id="{7469541D-1DC7-B3B8-FC9E-5E345FB78987}"/>
              </a:ext>
            </a:extLst>
          </p:cNvPr>
          <p:cNvGraphicFramePr>
            <a:graphicFrameLocks noGrp="1"/>
          </p:cNvGraphicFramePr>
          <p:nvPr/>
        </p:nvGraphicFramePr>
        <p:xfrm>
          <a:off x="1595438" y="3444875"/>
          <a:ext cx="5910262" cy="688975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167.01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16.7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1.78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1.682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1.067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19" name="Table 10">
            <a:extLst>
              <a:ext uri="{FF2B5EF4-FFF2-40B4-BE49-F238E27FC236}">
                <a16:creationId xmlns:a16="http://schemas.microsoft.com/office/drawing/2014/main" id="{40177D35-C8BF-3993-8D67-632D144C564B}"/>
              </a:ext>
            </a:extLst>
          </p:cNvPr>
          <p:cNvGraphicFramePr>
            <a:graphicFrameLocks noGrp="1"/>
          </p:cNvGraphicFramePr>
          <p:nvPr/>
        </p:nvGraphicFramePr>
        <p:xfrm>
          <a:off x="1576388" y="4283075"/>
          <a:ext cx="5910262" cy="688975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8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142.04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42.6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4.910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4.901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4.22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2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33" name="Table 10">
            <a:extLst>
              <a:ext uri="{FF2B5EF4-FFF2-40B4-BE49-F238E27FC236}">
                <a16:creationId xmlns:a16="http://schemas.microsoft.com/office/drawing/2014/main" id="{8FC4B3CE-0B3B-7080-C9B6-873BB015ADA2}"/>
              </a:ext>
            </a:extLst>
          </p:cNvPr>
          <p:cNvGraphicFramePr>
            <a:graphicFrameLocks noGrp="1"/>
          </p:cNvGraphicFramePr>
          <p:nvPr/>
        </p:nvGraphicFramePr>
        <p:xfrm>
          <a:off x="703263" y="5586413"/>
          <a:ext cx="7567612" cy="763587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35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79mm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08F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0.46m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08F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121cm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08F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1.42m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08F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Times New Roman" panose="02020603050405020304" pitchFamily="18" charset="0"/>
                        </a:rPr>
                        <a:t>1.35km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0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A6BD3B5-75BE-B2F5-0762-575FFCF75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Ordering FDP</a:t>
            </a:r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963EB40-8ABD-8CED-C855-FA32445FF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GB" altLang="en-US"/>
              <a:t>We have now practiced converting between FDP and also we have had a recap on ordering decimals.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GB" altLang="en-US"/>
              <a:t>Now we can order Fractions, Decimals and Percentages.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24CC1E46-8CA1-08CB-FFC3-D88AD679F468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Order</a:t>
            </a:r>
            <a:r>
              <a:rPr lang="en-GB" altLang="en-US"/>
              <a:t>ing FDP</a:t>
            </a:r>
            <a:r>
              <a:rPr lang="en-US" altLang="en-US"/>
              <a:t>: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4BD9C883-7FF8-0498-75D1-DB58AB948B0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GB" altLang="en-US"/>
              <a:t>87%      0.871      ½      2/3      0.57</a:t>
            </a:r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DF96A144-EF5B-77DC-6F07-297C6B8A4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5400"/>
            <a:ext cx="5400675" cy="430213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Tahoma" panose="020B0604030504040204" pitchFamily="34" charset="0"/>
                <a:cs typeface="Tahoma" panose="020B0604030504040204" pitchFamily="34" charset="0"/>
              </a:rPr>
              <a:t>Step 1 – turn all the figures into decimals.</a:t>
            </a:r>
          </a:p>
        </p:txBody>
      </p:sp>
      <p:sp>
        <p:nvSpPr>
          <p:cNvPr id="9221" name="TextBox 4">
            <a:extLst>
              <a:ext uri="{FF2B5EF4-FFF2-40B4-BE49-F238E27FC236}">
                <a16:creationId xmlns:a16="http://schemas.microsoft.com/office/drawing/2014/main" id="{51304EFE-5FBF-1D04-9BE9-661376465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2276475"/>
            <a:ext cx="2879725" cy="2462213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Tahoma" panose="020B0604030504040204" pitchFamily="34" charset="0"/>
                <a:cs typeface="Tahoma" panose="020B0604030504040204" pitchFamily="34" charset="0"/>
              </a:rPr>
              <a:t>NOTE: To turn a percentage into a decimal divide by 100 and to turn a fraction into a decimal divide the numerator by the denominator.</a:t>
            </a:r>
          </a:p>
        </p:txBody>
      </p:sp>
      <p:sp>
        <p:nvSpPr>
          <p:cNvPr id="9222" name="Content Placeholder 2">
            <a:extLst>
              <a:ext uri="{FF2B5EF4-FFF2-40B4-BE49-F238E27FC236}">
                <a16:creationId xmlns:a16="http://schemas.microsoft.com/office/drawing/2014/main" id="{48598F0A-4451-FD8D-2AB2-228DC0155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941888"/>
            <a:ext cx="82296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/>
              <a:t>0.87      0.871      0.5      0.67      0.57</a:t>
            </a:r>
          </a:p>
        </p:txBody>
      </p:sp>
      <p:sp>
        <p:nvSpPr>
          <p:cNvPr id="9223" name="TextBox 6">
            <a:extLst>
              <a:ext uri="{FF2B5EF4-FFF2-40B4-BE49-F238E27FC236}">
                <a16:creationId xmlns:a16="http://schemas.microsoft.com/office/drawing/2014/main" id="{A4B1F325-5083-45C1-FC95-4F3C140C4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141663"/>
            <a:ext cx="5400675" cy="7683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Tahoma" panose="020B0604030504040204" pitchFamily="34" charset="0"/>
                <a:cs typeface="Tahoma" panose="020B0604030504040204" pitchFamily="34" charset="0"/>
              </a:rPr>
              <a:t>Step 2 – put the decimals in order from smallest to largest.</a:t>
            </a:r>
          </a:p>
        </p:txBody>
      </p:sp>
      <p:sp>
        <p:nvSpPr>
          <p:cNvPr id="9224" name="Content Placeholder 2">
            <a:extLst>
              <a:ext uri="{FF2B5EF4-FFF2-40B4-BE49-F238E27FC236}">
                <a16:creationId xmlns:a16="http://schemas.microsoft.com/office/drawing/2014/main" id="{F3FE1DBB-0B06-1860-31B1-F876B9C92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516563"/>
            <a:ext cx="8229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/>
              <a:t>0.5      0.57      0.67      0.87      0.871</a:t>
            </a:r>
          </a:p>
        </p:txBody>
      </p:sp>
      <p:sp>
        <p:nvSpPr>
          <p:cNvPr id="9225" name="TextBox 8">
            <a:extLst>
              <a:ext uri="{FF2B5EF4-FFF2-40B4-BE49-F238E27FC236}">
                <a16:creationId xmlns:a16="http://schemas.microsoft.com/office/drawing/2014/main" id="{0051580B-B73B-1BA7-1DB9-A570D4FE8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05263"/>
            <a:ext cx="5400675" cy="769937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Tahoma" panose="020B0604030504040204" pitchFamily="34" charset="0"/>
                <a:cs typeface="Tahoma" panose="020B0604030504040204" pitchFamily="34" charset="0"/>
              </a:rPr>
              <a:t>Step 3 – turn the figures back to their original form.</a:t>
            </a:r>
          </a:p>
        </p:txBody>
      </p:sp>
      <p:sp>
        <p:nvSpPr>
          <p:cNvPr id="9226" name="Content Placeholder 2">
            <a:extLst>
              <a:ext uri="{FF2B5EF4-FFF2-40B4-BE49-F238E27FC236}">
                <a16:creationId xmlns:a16="http://schemas.microsoft.com/office/drawing/2014/main" id="{C5E0073F-354E-66F5-95D4-EA214721D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092825"/>
            <a:ext cx="82296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>
                <a:solidFill>
                  <a:srgbClr val="FF0000"/>
                </a:solidFill>
              </a:rPr>
              <a:t>½       0.57      2/3      87%      0.871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 autoUpdateAnimBg="0"/>
      <p:bldP spid="9221" grpId="0" animBg="1" autoUpdateAnimBg="0"/>
      <p:bldP spid="9222" grpId="0" autoUpdateAnimBg="0"/>
      <p:bldP spid="9223" grpId="0" animBg="1" autoUpdateAnimBg="0"/>
      <p:bldP spid="9224" grpId="0" autoUpdateAnimBg="0"/>
      <p:bldP spid="9225" grpId="0" animBg="1" autoUpdateAnimBg="0"/>
      <p:bldP spid="922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0725749-10FD-3FFE-AE4A-27E0D816122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Class example - Your turn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FED33535-9003-7C38-C805-057CD3A2F5F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GB" altLang="en-US"/>
              <a:t>56%      ¾       0.871      23%      6/7</a:t>
            </a: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4070EA41-4AF5-0942-393D-693F897E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5400"/>
            <a:ext cx="5400675" cy="430213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Tahoma" panose="020B0604030504040204" pitchFamily="34" charset="0"/>
                <a:cs typeface="Tahoma" panose="020B0604030504040204" pitchFamily="34" charset="0"/>
              </a:rPr>
              <a:t>Step 1 – turn all the figures into decimals.</a:t>
            </a:r>
          </a:p>
        </p:txBody>
      </p:sp>
      <p:sp>
        <p:nvSpPr>
          <p:cNvPr id="10245" name="Content Placeholder 2">
            <a:extLst>
              <a:ext uri="{FF2B5EF4-FFF2-40B4-BE49-F238E27FC236}">
                <a16:creationId xmlns:a16="http://schemas.microsoft.com/office/drawing/2014/main" id="{6ECC92DA-DFDE-3C53-EF5B-701EF45C1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437063"/>
            <a:ext cx="8229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/>
              <a:t>0.56      0.75      0.871      0.23      0.86</a:t>
            </a:r>
          </a:p>
        </p:txBody>
      </p:sp>
      <p:sp>
        <p:nvSpPr>
          <p:cNvPr id="10246" name="TextBox 6">
            <a:extLst>
              <a:ext uri="{FF2B5EF4-FFF2-40B4-BE49-F238E27FC236}">
                <a16:creationId xmlns:a16="http://schemas.microsoft.com/office/drawing/2014/main" id="{11BC01E4-6965-2A15-33AA-F9C43A085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141663"/>
            <a:ext cx="7488238" cy="430212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Tahoma" panose="020B0604030504040204" pitchFamily="34" charset="0"/>
                <a:cs typeface="Tahoma" panose="020B0604030504040204" pitchFamily="34" charset="0"/>
              </a:rPr>
              <a:t>Step 2 – put the decimals in order from smallest to largest.</a:t>
            </a:r>
          </a:p>
        </p:txBody>
      </p:sp>
      <p:sp>
        <p:nvSpPr>
          <p:cNvPr id="10247" name="Content Placeholder 2">
            <a:extLst>
              <a:ext uri="{FF2B5EF4-FFF2-40B4-BE49-F238E27FC236}">
                <a16:creationId xmlns:a16="http://schemas.microsoft.com/office/drawing/2014/main" id="{3F1EF6E4-48F0-E4D5-1C73-9C01F4579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013325"/>
            <a:ext cx="82296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/>
              <a:t>0.23      0.56      0.75      0.86      0.871</a:t>
            </a:r>
          </a:p>
        </p:txBody>
      </p:sp>
      <p:sp>
        <p:nvSpPr>
          <p:cNvPr id="10248" name="TextBox 8">
            <a:extLst>
              <a:ext uri="{FF2B5EF4-FFF2-40B4-BE49-F238E27FC236}">
                <a16:creationId xmlns:a16="http://schemas.microsoft.com/office/drawing/2014/main" id="{842AA18B-3183-712D-AE37-E043C7F4F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16338"/>
            <a:ext cx="6624638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Tahoma" panose="020B0604030504040204" pitchFamily="34" charset="0"/>
                <a:cs typeface="Tahoma" panose="020B0604030504040204" pitchFamily="34" charset="0"/>
              </a:rPr>
              <a:t>Step 3 – turn the figures back to their original form.</a:t>
            </a:r>
          </a:p>
        </p:txBody>
      </p:sp>
      <p:sp>
        <p:nvSpPr>
          <p:cNvPr id="10249" name="Content Placeholder 2">
            <a:extLst>
              <a:ext uri="{FF2B5EF4-FFF2-40B4-BE49-F238E27FC236}">
                <a16:creationId xmlns:a16="http://schemas.microsoft.com/office/drawing/2014/main" id="{A9B8A57B-3E1C-F9DB-4071-1DDD18ADC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589588"/>
            <a:ext cx="8229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>
                <a:solidFill>
                  <a:srgbClr val="FF0000"/>
                </a:solidFill>
              </a:rPr>
              <a:t>23%       56%      ¾       6/7      0.871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 autoUpdateAnimBg="0"/>
      <p:bldP spid="10245" grpId="0" autoUpdateAnimBg="0"/>
      <p:bldP spid="10246" grpId="0" animBg="1" autoUpdateAnimBg="0"/>
      <p:bldP spid="10247" grpId="0" autoUpdateAnimBg="0"/>
      <p:bldP spid="10248" grpId="0" animBg="1" autoUpdateAnimBg="0"/>
      <p:bldP spid="1024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D3A758-4F32-1B6B-9D36-C8874E668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200"/>
              <a:t>Activity: Put these numbers into lowest to highest order.</a:t>
            </a:r>
          </a:p>
        </p:txBody>
      </p:sp>
      <p:graphicFrame>
        <p:nvGraphicFramePr>
          <p:cNvPr id="11267" name="Group 3">
            <a:extLst>
              <a:ext uri="{FF2B5EF4-FFF2-40B4-BE49-F238E27FC236}">
                <a16:creationId xmlns:a16="http://schemas.microsoft.com/office/drawing/2014/main" id="{9772CB2A-0513-D76F-7738-D68AD09F6910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87325" y="1600200"/>
          <a:ext cx="8766175" cy="4857752"/>
        </p:xfrm>
        <a:graphic>
          <a:graphicData uri="http://schemas.openxmlformats.org/drawingml/2006/table">
            <a:tbl>
              <a:tblPr/>
              <a:tblGrid>
                <a:gridCol w="15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5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0.22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2/3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0.903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2)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0.507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0.320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7/9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0.12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4/10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4)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0.067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0.601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5)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1.45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142%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3/2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1.024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1.92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7/3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193%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1.899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5/2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Challenge 1: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0.003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3/100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0.03%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0.303%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Challenge 2: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7/4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74%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7.4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4/7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70.4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C51D57-101E-AA17-9710-541655178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200"/>
              <a:t>Answers (Lowest to Highest)</a:t>
            </a:r>
          </a:p>
        </p:txBody>
      </p:sp>
      <p:graphicFrame>
        <p:nvGraphicFramePr>
          <p:cNvPr id="12291" name="Group 3">
            <a:extLst>
              <a:ext uri="{FF2B5EF4-FFF2-40B4-BE49-F238E27FC236}">
                <a16:creationId xmlns:a16="http://schemas.microsoft.com/office/drawing/2014/main" id="{16882272-C557-93D0-258D-F45B5B80C69C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87325" y="1600200"/>
          <a:ext cx="8766175" cy="4857752"/>
        </p:xfrm>
        <a:graphic>
          <a:graphicData uri="http://schemas.openxmlformats.org/drawingml/2006/table">
            <a:tbl>
              <a:tblPr/>
              <a:tblGrid>
                <a:gridCol w="15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5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1/10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2/3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0.903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2)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1/10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0.320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0.507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7/9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Calibri" panose="020F0502020204030204" pitchFamily="34" charset="0"/>
                        </a:rPr>
                        <a:t>4/10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Calibri" panose="020F0502020204030204" pitchFamily="34" charset="0"/>
                        </a:rPr>
                        <a:t>45%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Calibri" panose="020F0502020204030204" pitchFamily="34" charset="0"/>
                        </a:rPr>
                        <a:t>1/2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4)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0.067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0.601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5)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1.024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142%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1.45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3/2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6)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1.899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1.92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193%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7/3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5/2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Challenge 1: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0.03%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0.303%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0.003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3/100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3/10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Challenge 2: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4/7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74%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7/4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7.4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70.4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bevel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E6B88CB-169A-ED5D-5409-F73D63722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Verbal Feedback</a:t>
            </a:r>
            <a:endParaRPr lang="en-US" altLang="en-US"/>
          </a:p>
        </p:txBody>
      </p:sp>
      <p:graphicFrame>
        <p:nvGraphicFramePr>
          <p:cNvPr id="14339" name="Group 3">
            <a:extLst>
              <a:ext uri="{FF2B5EF4-FFF2-40B4-BE49-F238E27FC236}">
                <a16:creationId xmlns:a16="http://schemas.microsoft.com/office/drawing/2014/main" id="{99DD849F-2694-BEF0-0688-487CE4F0D172}"/>
              </a:ext>
            </a:extLst>
          </p:cNvPr>
          <p:cNvGraphicFramePr>
            <a:graphicFrameLocks noGrp="1"/>
          </p:cNvGraphicFramePr>
          <p:nvPr/>
        </p:nvGraphicFramePr>
        <p:xfrm>
          <a:off x="458788" y="1674813"/>
          <a:ext cx="8228012" cy="4652961"/>
        </p:xfrm>
        <a:graphic>
          <a:graphicData uri="http://schemas.openxmlformats.org/drawingml/2006/table">
            <a:tbl>
              <a:tblPr/>
              <a:tblGrid>
                <a:gridCol w="18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09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ADC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75% +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0.75 +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3/4 +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ADC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 can confidently convert Fractions,</a:t>
                      </a:r>
                      <a:b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Decimals and Percentages and I am able</a:t>
                      </a:r>
                      <a:b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to order them.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A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09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5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50 - 75%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0.5 - 0.75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1/2 - 3/4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5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 need practice on converting Fractions, Decimals and Percentages which I can use to order them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09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50% -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0.5 -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1/2 - 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I need to look back at my notes on converting between Fractions, Decimals and Percentages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33" name="AutoShape 37">
            <a:extLst>
              <a:ext uri="{FF2B5EF4-FFF2-40B4-BE49-F238E27FC236}">
                <a16:creationId xmlns:a16="http://schemas.microsoft.com/office/drawing/2014/main" id="{79870039-EA20-9597-854A-8C8214431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63" y="1878013"/>
            <a:ext cx="1047750" cy="1006475"/>
          </a:xfrm>
          <a:prstGeom prst="smileyFace">
            <a:avLst>
              <a:gd name="adj" fmla="val 4653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3334" name="AutoShape 38">
            <a:extLst>
              <a:ext uri="{FF2B5EF4-FFF2-40B4-BE49-F238E27FC236}">
                <a16:creationId xmlns:a16="http://schemas.microsoft.com/office/drawing/2014/main" id="{468F39FB-56C1-A5A5-DA1E-5AB446A4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63" y="3419475"/>
            <a:ext cx="1047750" cy="1006475"/>
          </a:xfrm>
          <a:prstGeom prst="smileyFace">
            <a:avLst>
              <a:gd name="adj" fmla="val 574"/>
            </a:avLst>
          </a:prstGeom>
          <a:solidFill>
            <a:srgbClr val="FF9900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3335" name="AutoShape 39">
            <a:extLst>
              <a:ext uri="{FF2B5EF4-FFF2-40B4-BE49-F238E27FC236}">
                <a16:creationId xmlns:a16="http://schemas.microsoft.com/office/drawing/2014/main" id="{34F384B6-7631-BE55-64DA-439FC7B8E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63" y="4972050"/>
            <a:ext cx="1047750" cy="1006475"/>
          </a:xfrm>
          <a:prstGeom prst="smileyFace">
            <a:avLst>
              <a:gd name="adj" fmla="val -4653"/>
            </a:avLst>
          </a:prstGeom>
          <a:solidFill>
            <a:srgbClr val="00FF00"/>
          </a:solidFill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BFD7F6"/>
      </a:accent5>
      <a:accent6>
        <a:srgbClr val="AE4845"/>
      </a:accent6>
      <a:hlink>
        <a:srgbClr val="0066CC"/>
      </a:hlink>
      <a:folHlink>
        <a:srgbClr val="80008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Pages>0</Pages>
  <Words>825</Words>
  <Characters>0</Characters>
  <Application>Microsoft Office PowerPoint</Application>
  <DocSecurity>0</DocSecurity>
  <PresentationFormat>On-screen Show (4:3)</PresentationFormat>
  <Lines>0</Lines>
  <Paragraphs>285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Cambria Math</vt:lpstr>
      <vt:lpstr>Tahoma</vt:lpstr>
      <vt:lpstr>Trebuchet MS</vt:lpstr>
      <vt:lpstr>Wingdings</vt:lpstr>
      <vt:lpstr>Wingdings 3</vt:lpstr>
      <vt:lpstr>Default Design</vt:lpstr>
      <vt:lpstr>Facet</vt:lpstr>
      <vt:lpstr>Lesson objective </vt:lpstr>
      <vt:lpstr>Conversion help sheet</vt:lpstr>
      <vt:lpstr>PowerPoint Presentation</vt:lpstr>
      <vt:lpstr>Ordering Fractions</vt:lpstr>
      <vt:lpstr>Ordering Decimals - Recap</vt:lpstr>
      <vt:lpstr>Quick Practice Questions!</vt:lpstr>
      <vt:lpstr>Answers</vt:lpstr>
      <vt:lpstr>Ordering FDP</vt:lpstr>
      <vt:lpstr>Ordering FDP:</vt:lpstr>
      <vt:lpstr>Class example - Your turn</vt:lpstr>
      <vt:lpstr>Activity: Put these numbers into lowest to highest order.</vt:lpstr>
      <vt:lpstr>Answers (Lowest to Highest)</vt:lpstr>
      <vt:lpstr>Verbal Feedback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Ordering Fractions, Decimals and Percentages LO: 2ba2 order FDP's by using our converting knowledge.</dc:title>
  <dc:subject/>
  <dc:creator>Bigted22</dc:creator>
  <cp:keywords/>
  <dc:description/>
  <cp:lastModifiedBy>DAVIES Rhys [Busselton Senior High School]</cp:lastModifiedBy>
  <cp:revision>8</cp:revision>
  <dcterms:created xsi:type="dcterms:W3CDTF">2013-11-15T06:11:31Z</dcterms:created>
  <dcterms:modified xsi:type="dcterms:W3CDTF">2022-09-13T00:05:06Z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1033-9.1.0.4758</vt:lpwstr>
  </property>
</Properties>
</file>
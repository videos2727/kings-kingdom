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7" r:id="rId3"/>
    <p:sldMasterId id="2147483689" r:id="rId4"/>
  </p:sldMasterIdLst>
  <p:sldIdLst>
    <p:sldId id="256" r:id="rId5"/>
    <p:sldId id="274" r:id="rId6"/>
    <p:sldId id="275" r:id="rId7"/>
    <p:sldId id="276" r:id="rId8"/>
    <p:sldId id="277" r:id="rId9"/>
    <p:sldId id="261" r:id="rId10"/>
    <p:sldId id="310" r:id="rId11"/>
    <p:sldId id="292" r:id="rId12"/>
    <p:sldId id="311" r:id="rId13"/>
    <p:sldId id="259" r:id="rId14"/>
    <p:sldId id="260" r:id="rId15"/>
    <p:sldId id="273" r:id="rId16"/>
    <p:sldId id="315" r:id="rId17"/>
    <p:sldId id="312" r:id="rId18"/>
    <p:sldId id="264" r:id="rId19"/>
    <p:sldId id="316" r:id="rId20"/>
    <p:sldId id="313" r:id="rId21"/>
    <p:sldId id="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1D19-228A-6713-45E9-047DEE123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201BD-DE0B-6386-9837-F7CA94B9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AA334-5717-517B-D99B-AC396FA0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EA97-61CA-B297-DCE1-49E986A2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AB80A-6DAF-C9C9-DB0A-B4FAE5C1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53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35FC-B367-6D80-FEC5-857AB068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CB3D-B5A6-7C49-6AF4-0A4861B8D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85D56-DFF1-6E36-D616-25AD11B2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75D0-51E5-FB16-4D3E-BE4FBAFD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11D8-464D-A798-0F44-350F91CE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0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1FB4-C348-BBB0-8CA2-CE539DE0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94FF5-6430-688A-0504-45E7E0D6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C2672-8D42-11AA-4EC8-09855DA7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A7DCF-F9C9-AFB0-CC99-E350707D2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78CA0-87FB-DD22-09BC-07986F10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936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EDA2-644A-B5EA-D59B-CBBB9D9C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78F38-A034-13B9-B9B7-7822941FB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45D63-BFB9-E81F-C025-5F59E81D8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17BCC-6AE4-4D79-485D-7E1F2C4A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01D3C-5E3C-0432-B4BE-B2BB61CF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645FE-933A-2D89-409A-1EFEDFCE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11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88CE-15CA-BA24-01FA-D8061A34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0C79E-274B-D434-CF5A-FF743EEC3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187CB-B557-5C55-10FA-87630EA1C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8C30D-78AE-103F-5BB2-DA3855239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EB74B-AEFA-7E6F-E024-82A9D1884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0A494-8C9F-F4E6-532A-7DE4AFEE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D29A6-C4DD-2E12-9007-B1B49CE2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C6177-0394-24AC-F6AF-BED09938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24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9EC0-9FD5-2957-4F16-F6A71924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3BE26-64E8-BF2F-DF49-1A51480F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00E38-91B2-B802-8B43-24E0E419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9D6F-ACBD-70EB-8723-9BD9A3C7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6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47F97-04AA-FBA8-9646-EAED4803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471D6-A4B0-3E20-13FC-16F5ACB3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7016A-4A36-E1CD-7FF6-D5C0D00D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97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CE88-2F7E-F448-95BA-5B650780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CBC54-7224-BE0A-DEC6-B9D7DAEE3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F0F0-7ED8-3FCE-09D4-553644AF6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8D8DA-740F-2327-9698-F4574BCB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C5E5-C860-E133-A4A0-D9E3C9A1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0F490-BDC3-3874-F840-B779F390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25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5187-7E93-04C6-93C3-A9ED3B9B6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A8C9F-C895-463B-2BB2-F9C7EAF6F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E4EB6-371D-C24F-7A8F-747A2EDD8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38D14-3F3F-82FD-0960-0E6C3E96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7BDF7-70B3-5449-DDED-760B485E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6612B-77E1-F59B-DC63-1707FDB8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83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8AF5-325C-BB41-1ADF-3219A115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1CDC5-D72D-F829-3E21-1EAC96961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7DC8-F8CA-E182-FD85-1046C252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93B18-F918-3E27-5A58-BC1FB172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BB3D-5C16-7C4E-1AB4-3BC4381C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37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F8997-2F30-047C-9C0E-F45A4CB03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3D49F-899E-EE2A-83F2-AED930D6D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1714E-BC19-8696-D057-1DD1D3BD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940F-6A50-40FD-7A11-3A7B519A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64634-BF73-1CD0-1FB9-3B3171FA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645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272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251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475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016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24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229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155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443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1564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379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2856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15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0230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516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6909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922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448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5095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467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004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010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0208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882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4388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3833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6940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190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306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3298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78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157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9545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8081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9590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7862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5199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1770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91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F1AEF-FC47-18D5-EE46-374B5E29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C0F8B-BBFD-478F-2373-D33D7FD0F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E542-2217-13D9-581D-BC409E68E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C119B-5EFD-4966-BAF6-40C76BD58B48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F72CC-5E2D-B63A-0B61-63403CF9E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C10C-52C3-0077-F8DB-EB267C226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54018-D266-45EE-8496-34278572CC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33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7/09/2022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3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B5BFB-31C5-4BCE-A275-9F6A028C7FDD}" type="datetimeFigureOut">
              <a:rPr lang="en-GB" smtClean="0"/>
              <a:pPr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68" y="114492"/>
            <a:ext cx="2005032" cy="10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1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0585D-59B0-4A1F-B831-F80CC4276C0E}" type="datetimeFigureOut">
              <a:rPr lang="en-GB" smtClean="0"/>
              <a:t>07/09/2022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78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7346F1-F160-892C-8490-B619EF92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3B9CCD-8F1B-BFB4-C1E6-EBF161901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revision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Solve linear equations with brackets and variables on both sides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Substitute into linear functions to complete a table of values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Solving equations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Table of values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C1EC8-2CAA-985B-75E6-83E2DA89617F}"/>
              </a:ext>
            </a:extLst>
          </p:cNvPr>
          <p:cNvSpPr txBox="1"/>
          <p:nvPr/>
        </p:nvSpPr>
        <p:spPr>
          <a:xfrm>
            <a:off x="4598634" y="2317072"/>
            <a:ext cx="264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5EE2B-4859-506A-EF1A-5EB2CFA15376}"/>
              </a:ext>
            </a:extLst>
          </p:cNvPr>
          <p:cNvSpPr txBox="1"/>
          <p:nvPr/>
        </p:nvSpPr>
        <p:spPr>
          <a:xfrm>
            <a:off x="8089038" y="349168"/>
            <a:ext cx="264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Test tomorrow 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7031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1429568" y="-50007"/>
            <a:ext cx="11842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one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936839" y="114440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+2=5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839" y="114440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768544" y="350706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−6=11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8544" y="350706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170481" y="115809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481" y="1158092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288287" y="4489546"/>
                <a:ext cx="5088103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287" y="4489546"/>
                <a:ext cx="5088103" cy="932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3AADE-55D8-43AE-9213-4220757ED3D3}"/>
                  </a:ext>
                </a:extLst>
              </p:cNvPr>
              <p:cNvSpPr txBox="1"/>
              <p:nvPr/>
            </p:nvSpPr>
            <p:spPr>
              <a:xfrm>
                <a:off x="3220970" y="269913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3AADE-55D8-43AE-9213-4220757ED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970" y="2699132"/>
                <a:ext cx="50881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BBC8809-D348-4B26-8E53-43566C799FFA}"/>
              </a:ext>
            </a:extLst>
          </p:cNvPr>
          <p:cNvSpPr txBox="1"/>
          <p:nvPr/>
        </p:nvSpPr>
        <p:spPr>
          <a:xfrm>
            <a:off x="7459370" y="793342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 </a:t>
            </a:r>
          </a:p>
        </p:txBody>
      </p:sp>
    </p:spTree>
    <p:extLst>
      <p:ext uri="{BB962C8B-B14F-4D97-AF65-F5344CB8AC3E}">
        <p14:creationId xmlns:p14="http://schemas.microsoft.com/office/powerpoint/2010/main" val="365471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987328" y="159517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one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277686" y="1777171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+4=9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686" y="1777171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2909397" y="2345877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−7=15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397" y="2345877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061215" y="4401103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15" y="4401103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-568161" y="5335876"/>
                <a:ext cx="5088103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61" y="5335876"/>
                <a:ext cx="5088103" cy="932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3A6AF44-42C3-4582-B77F-643FA39D0BB5}"/>
              </a:ext>
            </a:extLst>
          </p:cNvPr>
          <p:cNvSpPr/>
          <p:nvPr/>
        </p:nvSpPr>
        <p:spPr>
          <a:xfrm>
            <a:off x="78538" y="28049"/>
            <a:ext cx="2187828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Your 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1A6221-CEFE-4238-8E7D-8858FDFBE4DC}"/>
                  </a:ext>
                </a:extLst>
              </p:cNvPr>
              <p:cNvSpPr txBox="1"/>
              <p:nvPr/>
            </p:nvSpPr>
            <p:spPr>
              <a:xfrm>
                <a:off x="-479386" y="3621063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1A6221-CEFE-4238-8E7D-8858FDFBE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386" y="3621063"/>
                <a:ext cx="50881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586000-0357-4577-964F-2972151DF65F}"/>
              </a:ext>
            </a:extLst>
          </p:cNvPr>
          <p:cNvSpPr txBox="1"/>
          <p:nvPr/>
        </p:nvSpPr>
        <p:spPr>
          <a:xfrm>
            <a:off x="7504975" y="1247737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</a:t>
            </a:r>
          </a:p>
        </p:txBody>
      </p:sp>
    </p:spTree>
    <p:extLst>
      <p:ext uri="{BB962C8B-B14F-4D97-AF65-F5344CB8AC3E}">
        <p14:creationId xmlns:p14="http://schemas.microsoft.com/office/powerpoint/2010/main" val="295703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880741" y="-78537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two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1250988" y="108025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50988" y="108025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1105133" y="350706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5−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5133" y="350706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2912430" y="108025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−8=13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430" y="1080252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019015" y="3536521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+(−2)=10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015" y="3536521"/>
                <a:ext cx="50881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762661-8BAC-48D2-B05F-3092476A53E7}"/>
              </a:ext>
            </a:extLst>
          </p:cNvPr>
          <p:cNvSpPr txBox="1"/>
          <p:nvPr/>
        </p:nvSpPr>
        <p:spPr>
          <a:xfrm>
            <a:off x="7459370" y="793342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</a:t>
            </a:r>
          </a:p>
        </p:txBody>
      </p:sp>
    </p:spTree>
    <p:extLst>
      <p:ext uri="{BB962C8B-B14F-4D97-AF65-F5344CB8AC3E}">
        <p14:creationId xmlns:p14="http://schemas.microsoft.com/office/powerpoint/2010/main" val="355320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897571" y="176154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two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510493" y="113879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+6=30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0493" y="113879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673178" y="347901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5−3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78" y="347901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322414" y="116103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−3=12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414" y="1161039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322414" y="345677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+(−4)=10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414" y="3456772"/>
                <a:ext cx="50881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8583F34-CDED-4E42-B192-E78FDBB4082B}"/>
              </a:ext>
            </a:extLst>
          </p:cNvPr>
          <p:cNvSpPr/>
          <p:nvPr/>
        </p:nvSpPr>
        <p:spPr>
          <a:xfrm>
            <a:off x="78538" y="28049"/>
            <a:ext cx="2187828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Your Turn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CF962-3CF1-4208-BBF2-02213B108533}"/>
              </a:ext>
            </a:extLst>
          </p:cNvPr>
          <p:cNvSpPr txBox="1"/>
          <p:nvPr/>
        </p:nvSpPr>
        <p:spPr>
          <a:xfrm>
            <a:off x="7373378" y="1264567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 </a:t>
            </a:r>
          </a:p>
        </p:txBody>
      </p:sp>
    </p:spTree>
    <p:extLst>
      <p:ext uri="{BB962C8B-B14F-4D97-AF65-F5344CB8AC3E}">
        <p14:creationId xmlns:p14="http://schemas.microsoft.com/office/powerpoint/2010/main" val="405595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84B407B-B9C5-4FA1-BAA8-615316720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2x + 4 = 3x - 2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10D9BA-252F-4676-A2BD-6983BEC17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1449" y="1905000"/>
            <a:ext cx="10128573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000" b="1" dirty="0"/>
              <a:t>Collect the x’s together, it is better to try and keep the x values positive.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/>
              <a:t>Collect the numbers together on the other side of the equals.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D27861-6993-6028-9C66-07692DBAF510}"/>
              </a:ext>
            </a:extLst>
          </p:cNvPr>
          <p:cNvSpPr txBox="1">
            <a:spLocks noChangeArrowheads="1"/>
          </p:cNvSpPr>
          <p:nvPr/>
        </p:nvSpPr>
        <p:spPr>
          <a:xfrm>
            <a:off x="1919701" y="3429000"/>
            <a:ext cx="8911687" cy="2909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4x + 2 = 10x – 16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2x + 8 = 10 + 3x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1791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000" dirty="0">
                <a:solidFill>
                  <a:srgbClr val="70AD47">
                    <a:lumMod val="75000"/>
                  </a:srgbClr>
                </a:solidFill>
                <a:latin typeface="Calibri"/>
              </a:rPr>
              <a:t>When the going gets tough, the tough get going…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2369306" y="2531483"/>
            <a:ext cx="250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None/>
            </a:pP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+ 1 = 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+ 9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2323273" y="3107747"/>
            <a:ext cx="30059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None/>
            </a:pP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+ 5 = 4(x + 5)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2369306" y="3684008"/>
            <a:ext cx="270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None/>
            </a:pP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+ 2 = 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2370510" y="4260272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None/>
            </a:pP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+ 1 = 3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1941975" y="2010784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dirty="0">
                <a:solidFill>
                  <a:srgbClr val="FF0000"/>
                </a:solidFill>
                <a:latin typeface="Calibri"/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1941975" y="2594438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dirty="0">
                <a:solidFill>
                  <a:srgbClr val="FF0000"/>
                </a:solidFill>
                <a:latin typeface="Calibri"/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1941975" y="3178092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dirty="0">
                <a:solidFill>
                  <a:srgbClr val="FF0000"/>
                </a:solidFill>
                <a:latin typeface="Calibri"/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1941975" y="3761746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dirty="0">
                <a:solidFill>
                  <a:srgbClr val="FF0000"/>
                </a:solidFill>
                <a:latin typeface="Calibri"/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1941975" y="434540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dirty="0">
                <a:solidFill>
                  <a:srgbClr val="FF0000"/>
                </a:solidFill>
                <a:latin typeface="Calibri"/>
              </a:rPr>
              <a:t>5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2356935" y="1918498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None/>
            </a:pP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+ 2 = 3</a:t>
            </a:r>
            <a:r>
              <a:rPr lang="en-GB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solidFill>
                  <a:prstClr val="black"/>
                </a:solidFill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5202333" y="2011082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  <a:latin typeface="Calibri"/>
              </a:rPr>
              <a:t> = 3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5202333" y="2594736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  <a:latin typeface="Calibri"/>
              </a:rPr>
              <a:t> = 2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5202333" y="3178390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  <a:latin typeface="Calibri"/>
              </a:rPr>
              <a:t> = 5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5202333" y="3762044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  <a:latin typeface="Calibri"/>
              </a:rPr>
              <a:t> = 4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5202333" y="434569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  <a:latin typeface="Calibri"/>
              </a:rPr>
              <a:t> = 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07256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>
                <a:solidFill>
                  <a:prstClr val="white"/>
                </a:solidFill>
                <a:latin typeface="Calibri"/>
              </a:rPr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91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GB" dirty="0">
                <a:solidFill>
                  <a:prstClr val="white">
                    <a:lumMod val="75000"/>
                  </a:prstClr>
                </a:solidFill>
                <a:latin typeface="Calibri"/>
              </a:rPr>
              <a:t>Click an equation to see the solution, or </a:t>
            </a:r>
          </a:p>
        </p:txBody>
      </p:sp>
      <p:sp>
        <p:nvSpPr>
          <p:cNvPr id="96" name="Oval 95"/>
          <p:cNvSpPr/>
          <p:nvPr/>
        </p:nvSpPr>
        <p:spPr>
          <a:xfrm>
            <a:off x="5482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r>
              <a:rPr lang="en-GB" sz="1600" b="1" dirty="0">
                <a:solidFill>
                  <a:srgbClr val="70AD47">
                    <a:lumMod val="75000"/>
                  </a:srgbClr>
                </a:solidFill>
                <a:latin typeface="Calibri"/>
              </a:rPr>
              <a:t>Show your working out!</a:t>
            </a:r>
          </a:p>
          <a:p>
            <a:pPr algn="ctr" defTabSz="457200"/>
            <a:r>
              <a:rPr lang="en-GB" sz="1600" b="1" dirty="0">
                <a:solidFill>
                  <a:srgbClr val="70AD47">
                    <a:lumMod val="75000"/>
                  </a:srgbClr>
                </a:solidFill>
                <a:latin typeface="Calibri"/>
              </a:rPr>
              <a:t>Make your method clear, and remember that marks are still up for grabs if the answer is wrong!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6303" y="9601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Practice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86944-02C8-809F-42F0-7ED78DB23026}"/>
              </a:ext>
            </a:extLst>
          </p:cNvPr>
          <p:cNvSpPr txBox="1"/>
          <p:nvPr/>
        </p:nvSpPr>
        <p:spPr>
          <a:xfrm>
            <a:off x="6371208" y="150920"/>
            <a:ext cx="3373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 b="1" dirty="0">
                <a:solidFill>
                  <a:srgbClr val="FF0000"/>
                </a:solidFill>
                <a:latin typeface="Calibri"/>
              </a:rPr>
              <a:t>Exercise books </a:t>
            </a:r>
            <a:endParaRPr lang="en-AU" sz="2800" b="1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904644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9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920876" y="1571625"/>
            <a:ext cx="8118475" cy="4605339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dirty="0"/>
              <a:t>4(y + 7) =  6y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5(2x +2) = 3(x – 4)       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                </a:t>
            </a:r>
          </a:p>
        </p:txBody>
      </p:sp>
      <p:sp>
        <p:nvSpPr>
          <p:cNvPr id="18" name="Title 2"/>
          <p:cNvSpPr>
            <a:spLocks noGrp="1"/>
          </p:cNvSpPr>
          <p:nvPr>
            <p:ph type="title"/>
          </p:nvPr>
        </p:nvSpPr>
        <p:spPr>
          <a:xfrm>
            <a:off x="152400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8790F61-027A-DFD2-2E07-71357D4788F2}"/>
              </a:ext>
            </a:extLst>
          </p:cNvPr>
          <p:cNvSpPr txBox="1">
            <a:spLocks/>
          </p:cNvSpPr>
          <p:nvPr/>
        </p:nvSpPr>
        <p:spPr>
          <a:xfrm>
            <a:off x="5195852" y="122221"/>
            <a:ext cx="5339385" cy="207646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  <a:latin typeface="Calibri"/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  <a:latin typeface="Calibri"/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  <a:latin typeface="Calibri"/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  <a:latin typeface="Calibri"/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  <a:latin typeface="Calibri"/>
              </a:rPr>
              <a:t>State answer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A676C-72D1-3A5C-33DB-337B173857FE}"/>
              </a:ext>
            </a:extLst>
          </p:cNvPr>
          <p:cNvSpPr txBox="1"/>
          <p:nvPr/>
        </p:nvSpPr>
        <p:spPr>
          <a:xfrm>
            <a:off x="5980113" y="2913222"/>
            <a:ext cx="32674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srgbClr val="FF0000"/>
                </a:solidFill>
                <a:latin typeface="Calibri"/>
              </a:rPr>
              <a:t>Expanding the brackets is </a:t>
            </a:r>
            <a:r>
              <a:rPr lang="en-US" sz="2800" i="1" u="sng" dirty="0">
                <a:solidFill>
                  <a:srgbClr val="FF0000"/>
                </a:solidFill>
                <a:latin typeface="Calibri"/>
              </a:rPr>
              <a:t>simplifying.</a:t>
            </a:r>
            <a:endParaRPr lang="en-AU" sz="2800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116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9403-F788-FDB5-6CB0-61A6167D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37553-79B1-CEAE-16EE-FCA94386A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4000" dirty="0"/>
              <a:t>2(x + 8) = 22 </a:t>
            </a:r>
          </a:p>
          <a:p>
            <a:pPr marL="742950" indent="-742950">
              <a:buAutoNum type="alphaLcParenR"/>
            </a:pPr>
            <a:r>
              <a:rPr lang="en-US" sz="4000" dirty="0"/>
              <a:t>3(x – 2) = 6x – 21 </a:t>
            </a:r>
          </a:p>
          <a:p>
            <a:pPr marL="742950" indent="-742950">
              <a:buAutoNum type="alphaLcParenR"/>
            </a:pPr>
            <a:r>
              <a:rPr lang="en-US" sz="4000" dirty="0"/>
              <a:t>-2(2x + 4) = 4</a:t>
            </a:r>
          </a:p>
          <a:p>
            <a:pPr marL="742950" indent="-742950">
              <a:buAutoNum type="alphaLcParenR"/>
            </a:pPr>
            <a:r>
              <a:rPr lang="en-US" sz="4000" dirty="0"/>
              <a:t>4(f + 4) = 3(3f – 4) – 2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33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C614-6DDF-4020-B2A2-788EA892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32380" cy="1325563"/>
          </a:xfrm>
        </p:spPr>
        <p:txBody>
          <a:bodyPr/>
          <a:lstStyle/>
          <a:p>
            <a:r>
              <a:rPr lang="en-AU" dirty="0"/>
              <a:t>Rules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55FAD5-C63E-49D6-8829-A3310C44D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4107" y="492460"/>
            <a:ext cx="6039693" cy="5873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56F63-0D6A-49BF-AB44-37F326F1496D}"/>
              </a:ext>
            </a:extLst>
          </p:cNvPr>
          <p:cNvSpPr txBox="1"/>
          <p:nvPr/>
        </p:nvSpPr>
        <p:spPr>
          <a:xfrm>
            <a:off x="269033" y="1408922"/>
            <a:ext cx="37975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 do:</a:t>
            </a:r>
          </a:p>
          <a:p>
            <a:r>
              <a:rPr lang="en-AU" sz="2400" dirty="0"/>
              <a:t>Rule for A </a:t>
            </a:r>
          </a:p>
          <a:p>
            <a:endParaRPr lang="en-AU" sz="2400" dirty="0"/>
          </a:p>
          <a:p>
            <a:r>
              <a:rPr lang="en-AU" sz="2400" dirty="0"/>
              <a:t>Rule for F</a:t>
            </a:r>
          </a:p>
          <a:p>
            <a:endParaRPr lang="en-AU" sz="2400" dirty="0"/>
          </a:p>
          <a:p>
            <a:r>
              <a:rPr lang="en-AU" sz="2400" dirty="0"/>
              <a:t>We do:</a:t>
            </a:r>
          </a:p>
          <a:p>
            <a:r>
              <a:rPr lang="en-AU" sz="2400" dirty="0"/>
              <a:t> Rule for C </a:t>
            </a:r>
          </a:p>
          <a:p>
            <a:endParaRPr lang="en-AU" sz="2400" dirty="0"/>
          </a:p>
          <a:p>
            <a:r>
              <a:rPr lang="en-AU" sz="2400" dirty="0"/>
              <a:t>Rule for D </a:t>
            </a:r>
          </a:p>
          <a:p>
            <a:endParaRPr lang="en-AU" sz="2400" dirty="0"/>
          </a:p>
          <a:p>
            <a:r>
              <a:rPr lang="en-AU" sz="2400" dirty="0"/>
              <a:t>You do:</a:t>
            </a:r>
          </a:p>
          <a:p>
            <a:r>
              <a:rPr lang="en-AU" sz="2400" dirty="0"/>
              <a:t>Rule for E</a:t>
            </a:r>
          </a:p>
          <a:p>
            <a:endParaRPr lang="en-AU" sz="2400" dirty="0"/>
          </a:p>
          <a:p>
            <a:r>
              <a:rPr lang="en-AU" sz="2400" dirty="0"/>
              <a:t>Rule for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E0D6C-1252-523A-B02F-B7672B20C281}"/>
                  </a:ext>
                </a:extLst>
              </p:cNvPr>
              <p:cNvSpPr txBox="1"/>
              <p:nvPr/>
            </p:nvSpPr>
            <p:spPr>
              <a:xfrm>
                <a:off x="2601157" y="1509204"/>
                <a:ext cx="24946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E0D6C-1252-523A-B02F-B7672B20C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157" y="1509204"/>
                <a:ext cx="249462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45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C202-5F8C-4F82-817D-58FCFE95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11" y="376413"/>
            <a:ext cx="3688644" cy="1325563"/>
          </a:xfrm>
        </p:spPr>
        <p:txBody>
          <a:bodyPr/>
          <a:lstStyle/>
          <a:p>
            <a:pPr algn="ctr"/>
            <a:r>
              <a:rPr lang="en-AU" dirty="0"/>
              <a:t>Linear means straight line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74F02F-3ED4-49B4-9DF1-2D22E434F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104" y="101560"/>
            <a:ext cx="6596140" cy="64251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B9A3FA-7EA3-492F-B8BF-45A861316DB1}"/>
              </a:ext>
            </a:extLst>
          </p:cNvPr>
          <p:cNvSpPr/>
          <p:nvPr/>
        </p:nvSpPr>
        <p:spPr>
          <a:xfrm>
            <a:off x="4941104" y="103919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F3F5A-3BB0-4FF8-A3C0-8C8D5A3F7083}"/>
              </a:ext>
            </a:extLst>
          </p:cNvPr>
          <p:cNvSpPr/>
          <p:nvPr/>
        </p:nvSpPr>
        <p:spPr>
          <a:xfrm>
            <a:off x="6605064" y="4934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BF3BF-8768-4D5E-B4C3-ECE84DE9FFA9}"/>
              </a:ext>
            </a:extLst>
          </p:cNvPr>
          <p:cNvSpPr/>
          <p:nvPr/>
        </p:nvSpPr>
        <p:spPr>
          <a:xfrm>
            <a:off x="7594108" y="101560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7159F-1075-49BC-BAA5-0D64A156D151}"/>
              </a:ext>
            </a:extLst>
          </p:cNvPr>
          <p:cNvSpPr/>
          <p:nvPr/>
        </p:nvSpPr>
        <p:spPr>
          <a:xfrm>
            <a:off x="9343828" y="49344"/>
            <a:ext cx="443696" cy="56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2FA1C-08E9-4745-B35F-9DE06CB75E96}"/>
              </a:ext>
            </a:extLst>
          </p:cNvPr>
          <p:cNvSpPr txBox="1"/>
          <p:nvPr/>
        </p:nvSpPr>
        <p:spPr>
          <a:xfrm>
            <a:off x="438539" y="2397967"/>
            <a:ext cx="4805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Linear functions are those whose graph is a straight line.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4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A3C55B-24E8-4832-BB22-B79C49D6C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57" y="2061840"/>
            <a:ext cx="53848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Plot the following graphs:</a:t>
            </a:r>
          </a:p>
          <a:p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x + 3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2x + 4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3x – 2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9 – x 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56396-5840-4B04-B02F-CE56903D6E80}"/>
              </a:ext>
            </a:extLst>
          </p:cNvPr>
          <p:cNvSpPr txBox="1"/>
          <p:nvPr/>
        </p:nvSpPr>
        <p:spPr>
          <a:xfrm>
            <a:off x="275208" y="435006"/>
            <a:ext cx="52822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GRAPHS </a:t>
            </a:r>
            <a:endParaRPr kumimoji="0" lang="en-AU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29879FF-0586-4044-8732-0436AEF2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143222"/>
              </p:ext>
            </p:extLst>
          </p:nvPr>
        </p:nvGraphicFramePr>
        <p:xfrm>
          <a:off x="2916314" y="3160264"/>
          <a:ext cx="4137980" cy="7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95">
                  <a:extLst>
                    <a:ext uri="{9D8B030D-6E8A-4147-A177-3AD203B41FA5}">
                      <a16:colId xmlns:a16="http://schemas.microsoft.com/office/drawing/2014/main" val="322936271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89460223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3919845746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4190568812"/>
                    </a:ext>
                  </a:extLst>
                </a:gridCol>
              </a:tblGrid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38415"/>
                  </a:ext>
                </a:extLst>
              </a:tr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70489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CD3291-2458-47DD-9D89-28A1BAFD1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06503"/>
              </p:ext>
            </p:extLst>
          </p:nvPr>
        </p:nvGraphicFramePr>
        <p:xfrm>
          <a:off x="2916314" y="4790052"/>
          <a:ext cx="4137980" cy="7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95">
                  <a:extLst>
                    <a:ext uri="{9D8B030D-6E8A-4147-A177-3AD203B41FA5}">
                      <a16:colId xmlns:a16="http://schemas.microsoft.com/office/drawing/2014/main" val="322936271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89460223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3919845746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4190568812"/>
                    </a:ext>
                  </a:extLst>
                </a:gridCol>
              </a:tblGrid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38415"/>
                  </a:ext>
                </a:extLst>
              </a:tr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704899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07251F6-0BEB-5DF8-FB1E-58303D09D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712" y="1700772"/>
            <a:ext cx="5706688" cy="492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09DF63-4A75-BEBB-3821-B6A584AD9E2A}"/>
              </a:ext>
            </a:extLst>
          </p:cNvPr>
          <p:cNvSpPr txBox="1"/>
          <p:nvPr/>
        </p:nvSpPr>
        <p:spPr>
          <a:xfrm>
            <a:off x="2759569" y="2698599"/>
            <a:ext cx="463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Sketch </a:t>
            </a:r>
            <a:r>
              <a:rPr lang="en-US" sz="2400" b="1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table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on your whiteboards.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40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8E5074-56EB-1182-0B1C-296CCD341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1381"/>
            <a:ext cx="10515600" cy="3899825"/>
          </a:xfrm>
        </p:spPr>
      </p:pic>
    </p:spTree>
    <p:extLst>
      <p:ext uri="{BB962C8B-B14F-4D97-AF65-F5344CB8AC3E}">
        <p14:creationId xmlns:p14="http://schemas.microsoft.com/office/powerpoint/2010/main" val="16869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1C07-FAF0-4266-BD8E-2D5BEF16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1613" y="-222486"/>
            <a:ext cx="2988733" cy="1325563"/>
          </a:xfrm>
        </p:spPr>
        <p:txBody>
          <a:bodyPr/>
          <a:lstStyle/>
          <a:p>
            <a:pPr algn="ctr"/>
            <a:r>
              <a:rPr lang="en-AU" dirty="0"/>
              <a:t>Graphing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D751F-43A4-4142-BF8A-9C44CDC3A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913" y="662811"/>
            <a:ext cx="10515600" cy="117522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443B9-29EB-4C01-A765-5E50798E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39" y="1838032"/>
            <a:ext cx="5257143" cy="46952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DBE06D-EA46-49F8-8092-40D465C62D52}"/>
              </a:ext>
            </a:extLst>
          </p:cNvPr>
          <p:cNvSpPr/>
          <p:nvPr/>
        </p:nvSpPr>
        <p:spPr>
          <a:xfrm>
            <a:off x="6199339" y="1952978"/>
            <a:ext cx="348217" cy="3928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DF9F225-9618-4DBF-8E7E-B867C4A57841}"/>
              </a:ext>
            </a:extLst>
          </p:cNvPr>
          <p:cNvGraphicFramePr>
            <a:graphicFrameLocks noGrp="1"/>
          </p:cNvGraphicFramePr>
          <p:nvPr/>
        </p:nvGraphicFramePr>
        <p:xfrm>
          <a:off x="847485" y="4753267"/>
          <a:ext cx="48627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58">
                  <a:extLst>
                    <a:ext uri="{9D8B030D-6E8A-4147-A177-3AD203B41FA5}">
                      <a16:colId xmlns:a16="http://schemas.microsoft.com/office/drawing/2014/main" val="3815162323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2300721677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200199966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77579735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567889606"/>
                    </a:ext>
                  </a:extLst>
                </a:gridCol>
              </a:tblGrid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Time in hours (T)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50477"/>
                  </a:ext>
                </a:extLst>
              </a:tr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Cost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7197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80CE55-CF02-4909-823F-E7D9FA737CFD}"/>
              </a:ext>
            </a:extLst>
          </p:cNvPr>
          <p:cNvSpPr txBox="1"/>
          <p:nvPr/>
        </p:nvSpPr>
        <p:spPr>
          <a:xfrm>
            <a:off x="438538" y="2118049"/>
            <a:ext cx="52571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383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11AC7-3B9F-405B-B02A-4D83559EC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825" y="324730"/>
            <a:ext cx="11124657" cy="132556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704997-6E99-4D5B-A8EB-BD7A2C507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39" y="1838032"/>
            <a:ext cx="5257143" cy="4695238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2F55873-D714-469E-B521-32926B1B7BC2}"/>
              </a:ext>
            </a:extLst>
          </p:cNvPr>
          <p:cNvGraphicFramePr>
            <a:graphicFrameLocks noGrp="1"/>
          </p:cNvGraphicFramePr>
          <p:nvPr/>
        </p:nvGraphicFramePr>
        <p:xfrm>
          <a:off x="847485" y="4753267"/>
          <a:ext cx="48627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58">
                  <a:extLst>
                    <a:ext uri="{9D8B030D-6E8A-4147-A177-3AD203B41FA5}">
                      <a16:colId xmlns:a16="http://schemas.microsoft.com/office/drawing/2014/main" val="3815162323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2300721677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200199966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77579735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567889606"/>
                    </a:ext>
                  </a:extLst>
                </a:gridCol>
              </a:tblGrid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Time (H)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50477"/>
                  </a:ext>
                </a:extLst>
              </a:tr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Cost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7197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5E08D4-CC81-407E-B5B1-078BCD52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0814" y="1650293"/>
            <a:ext cx="1464732" cy="617009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We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0952B-5EEF-420F-86EC-14C1CE586586}"/>
              </a:ext>
            </a:extLst>
          </p:cNvPr>
          <p:cNvSpPr txBox="1"/>
          <p:nvPr/>
        </p:nvSpPr>
        <p:spPr>
          <a:xfrm>
            <a:off x="246454" y="1650293"/>
            <a:ext cx="52571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A82B3-9678-4D19-A34D-F4FC2A79526D}"/>
              </a:ext>
            </a:extLst>
          </p:cNvPr>
          <p:cNvSpPr/>
          <p:nvPr/>
        </p:nvSpPr>
        <p:spPr>
          <a:xfrm>
            <a:off x="6199339" y="1958797"/>
            <a:ext cx="348217" cy="3928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17ED0D-F4C5-4EFC-9EC5-0FC3A75A7F94}"/>
              </a:ext>
            </a:extLst>
          </p:cNvPr>
          <p:cNvSpPr/>
          <p:nvPr/>
        </p:nvSpPr>
        <p:spPr>
          <a:xfrm>
            <a:off x="11192889" y="6186195"/>
            <a:ext cx="337774" cy="436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113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704997-6E99-4D5B-A8EB-BD7A2C507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39" y="1838032"/>
            <a:ext cx="5257143" cy="4695238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2F55873-D714-469E-B521-32926B1B7BC2}"/>
              </a:ext>
            </a:extLst>
          </p:cNvPr>
          <p:cNvGraphicFramePr>
            <a:graphicFrameLocks noGrp="1"/>
          </p:cNvGraphicFramePr>
          <p:nvPr/>
        </p:nvGraphicFramePr>
        <p:xfrm>
          <a:off x="847485" y="4753267"/>
          <a:ext cx="486279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558">
                  <a:extLst>
                    <a:ext uri="{9D8B030D-6E8A-4147-A177-3AD203B41FA5}">
                      <a16:colId xmlns:a16="http://schemas.microsoft.com/office/drawing/2014/main" val="3815162323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2300721677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200199966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377579735"/>
                    </a:ext>
                  </a:extLst>
                </a:gridCol>
                <a:gridCol w="972558">
                  <a:extLst>
                    <a:ext uri="{9D8B030D-6E8A-4147-A177-3AD203B41FA5}">
                      <a16:colId xmlns:a16="http://schemas.microsoft.com/office/drawing/2014/main" val="567889606"/>
                    </a:ext>
                  </a:extLst>
                </a:gridCol>
              </a:tblGrid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Time (H)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50477"/>
                  </a:ext>
                </a:extLst>
              </a:tr>
              <a:tr h="357449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Cost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37197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95E08D4-CC81-407E-B5B1-078BCD52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0814" y="1650293"/>
            <a:ext cx="1464732" cy="617009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We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0952B-5EEF-420F-86EC-14C1CE586586}"/>
              </a:ext>
            </a:extLst>
          </p:cNvPr>
          <p:cNvSpPr txBox="1"/>
          <p:nvPr/>
        </p:nvSpPr>
        <p:spPr>
          <a:xfrm>
            <a:off x="246454" y="1650293"/>
            <a:ext cx="52571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16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A82B3-9678-4D19-A34D-F4FC2A79526D}"/>
              </a:ext>
            </a:extLst>
          </p:cNvPr>
          <p:cNvSpPr/>
          <p:nvPr/>
        </p:nvSpPr>
        <p:spPr>
          <a:xfrm>
            <a:off x="6199339" y="1958797"/>
            <a:ext cx="348217" cy="3928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17ED0D-F4C5-4EFC-9EC5-0FC3A75A7F94}"/>
              </a:ext>
            </a:extLst>
          </p:cNvPr>
          <p:cNvSpPr/>
          <p:nvPr/>
        </p:nvSpPr>
        <p:spPr>
          <a:xfrm>
            <a:off x="11192889" y="6186195"/>
            <a:ext cx="337774" cy="436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5FCBB-61B0-964A-8543-7DE0311E6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89" y="130087"/>
            <a:ext cx="10515600" cy="11788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water tank contains 350L. Each day it leaks 35L, how long until the tank is empty?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545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470D-0D97-7326-B2A8-FCBDCB2D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page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E362F-5289-D65B-1831-0355A2CD903F}"/>
              </a:ext>
            </a:extLst>
          </p:cNvPr>
          <p:cNvSpPr txBox="1"/>
          <p:nvPr/>
        </p:nvSpPr>
        <p:spPr>
          <a:xfrm>
            <a:off x="349762" y="1590099"/>
            <a:ext cx="4805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Linear functions are those whose graph is a straight line.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2D0C7-9056-2D5A-12E8-B34FEC8C5128}"/>
              </a:ext>
            </a:extLst>
          </p:cNvPr>
          <p:cNvSpPr txBox="1"/>
          <p:nvPr/>
        </p:nvSpPr>
        <p:spPr>
          <a:xfrm>
            <a:off x="349762" y="2766119"/>
            <a:ext cx="52571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the rule (use letters in context)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Make a table of values, starting at zero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Plot these as coordinates </a:t>
            </a:r>
          </a:p>
          <a:p>
            <a:pPr marL="514350" indent="-514350"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Draw the line (connect the dots) </a:t>
            </a:r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47C74-9A77-A3C7-44AD-305ACFC84879}"/>
              </a:ext>
            </a:extLst>
          </p:cNvPr>
          <p:cNvSpPr txBox="1"/>
          <p:nvPr/>
        </p:nvSpPr>
        <p:spPr>
          <a:xfrm>
            <a:off x="7373378" y="1264567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 </a:t>
            </a:r>
          </a:p>
        </p:txBody>
      </p:sp>
    </p:spTree>
    <p:extLst>
      <p:ext uri="{BB962C8B-B14F-4D97-AF65-F5344CB8AC3E}">
        <p14:creationId xmlns:p14="http://schemas.microsoft.com/office/powerpoint/2010/main" val="697455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0B5F-DF6D-A8FE-5EBC-0D863961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8E5074-56EB-1182-0B1C-296CCD341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1381"/>
            <a:ext cx="10515600" cy="3899825"/>
          </a:xfrm>
        </p:spPr>
      </p:pic>
    </p:spTree>
    <p:extLst>
      <p:ext uri="{BB962C8B-B14F-4D97-AF65-F5344CB8AC3E}">
        <p14:creationId xmlns:p14="http://schemas.microsoft.com/office/powerpoint/2010/main" val="71467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946</Words>
  <Application>Microsoft Office PowerPoint</Application>
  <PresentationFormat>Widescreen</PresentationFormat>
  <Paragraphs>202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Arial</vt:lpstr>
      <vt:lpstr>Calibri</vt:lpstr>
      <vt:lpstr>Calibri Light</vt:lpstr>
      <vt:lpstr>Cambria Math</vt:lpstr>
      <vt:lpstr>Century Gothic</vt:lpstr>
      <vt:lpstr>Times New Roman</vt:lpstr>
      <vt:lpstr>Wingdings</vt:lpstr>
      <vt:lpstr>Wingdings 3</vt:lpstr>
      <vt:lpstr>Office Theme</vt:lpstr>
      <vt:lpstr>Wisp</vt:lpstr>
      <vt:lpstr>1_Office Theme</vt:lpstr>
      <vt:lpstr>2_Office Theme</vt:lpstr>
      <vt:lpstr>Lesson objective</vt:lpstr>
      <vt:lpstr>PowerPoint Presentation</vt:lpstr>
      <vt:lpstr>PowerPoint Presentation</vt:lpstr>
      <vt:lpstr>PowerPoint Presentation</vt:lpstr>
      <vt:lpstr>PowerPoint Presentation</vt:lpstr>
      <vt:lpstr>2x + 4 = 3x - 2</vt:lpstr>
      <vt:lpstr>Practice (1)</vt:lpstr>
      <vt:lpstr>Example </vt:lpstr>
      <vt:lpstr>Exercise books </vt:lpstr>
      <vt:lpstr>Rules </vt:lpstr>
      <vt:lpstr>Linear means straight line </vt:lpstr>
      <vt:lpstr>PowerPoint Presentation</vt:lpstr>
      <vt:lpstr>PowerPoint Presentation</vt:lpstr>
      <vt:lpstr>Graphing </vt:lpstr>
      <vt:lpstr>We do</vt:lpstr>
      <vt:lpstr>We do</vt:lpstr>
      <vt:lpstr>Notes page </vt:lpstr>
      <vt:lpstr>Notes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dcterms:created xsi:type="dcterms:W3CDTF">2022-09-06T13:58:04Z</dcterms:created>
  <dcterms:modified xsi:type="dcterms:W3CDTF">2022-09-07T00:16:59Z</dcterms:modified>
</cp:coreProperties>
</file>
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8"/>
  </p:notesMasterIdLst>
  <p:sldIdLst>
    <p:sldId id="256" r:id="rId3"/>
    <p:sldId id="257" r:id="rId4"/>
    <p:sldId id="307" r:id="rId5"/>
    <p:sldId id="294" r:id="rId6"/>
    <p:sldId id="295" r:id="rId7"/>
    <p:sldId id="296" r:id="rId8"/>
    <p:sldId id="328" r:id="rId9"/>
    <p:sldId id="287" r:id="rId10"/>
    <p:sldId id="291" r:id="rId11"/>
    <p:sldId id="292" r:id="rId12"/>
    <p:sldId id="293" r:id="rId13"/>
    <p:sldId id="310" r:id="rId14"/>
    <p:sldId id="311" r:id="rId15"/>
    <p:sldId id="285" r:id="rId16"/>
    <p:sldId id="32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esson Plan" id="{EAC8BF21-FB25-5546-83D7-5A86A4C870F3}">
          <p14:sldIdLst/>
        </p14:section>
        <p14:section name="Lesson Content" id="{672D9055-BE68-0043-8C92-2E1DFCB659D4}">
          <p14:sldIdLst>
            <p14:sldId id="256"/>
            <p14:sldId id="257"/>
            <p14:sldId id="307"/>
            <p14:sldId id="294"/>
            <p14:sldId id="295"/>
            <p14:sldId id="296"/>
            <p14:sldId id="328"/>
            <p14:sldId id="287"/>
            <p14:sldId id="291"/>
            <p14:sldId id="292"/>
            <p14:sldId id="293"/>
            <p14:sldId id="310"/>
            <p14:sldId id="311"/>
            <p14:sldId id="285"/>
          </p14:sldIdLst>
        </p14:section>
        <p14:section name="Student Resources" id="{E3CD0493-4595-EA4C-BC10-40A78EEC0C2A}">
          <p14:sldIdLst>
            <p14:sldId id="32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3" autoAdjust="0"/>
    <p:restoredTop sz="94660"/>
  </p:normalViewPr>
  <p:slideViewPr>
    <p:cSldViewPr snapToGrid="0">
      <p:cViewPr varScale="1">
        <p:scale>
          <a:sx n="86" d="100"/>
          <a:sy n="86" d="100"/>
        </p:scale>
        <p:origin x="1382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B5816E-9854-4624-9FCC-2BFE8417AB4A}" type="datetimeFigureOut">
              <a:rPr lang="en-GB" smtClean="0"/>
              <a:pPr/>
              <a:t>18/08/2022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2C33D5-DD1B-48A4-8220-07294736B45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9968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B5BFB-31C5-4BCE-A275-9F6A028C7FDD}" type="datetimeFigureOut">
              <a:rPr lang="en-GB" smtClean="0"/>
              <a:pPr/>
              <a:t>18/08/2022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4B555-C9EB-4623-91D5-B1E16899B69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9069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B5BFB-31C5-4BCE-A275-9F6A028C7FDD}" type="datetimeFigureOut">
              <a:rPr lang="en-GB" smtClean="0"/>
              <a:pPr/>
              <a:t>18/08/2022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4B555-C9EB-4623-91D5-B1E16899B69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7446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B5BFB-31C5-4BCE-A275-9F6A028C7FDD}" type="datetimeFigureOut">
              <a:rPr lang="en-GB" smtClean="0"/>
              <a:pPr/>
              <a:t>18/08/2022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4B555-C9EB-4623-91D5-B1E16899B69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2323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B5BFB-31C5-4BCE-A275-9F6A028C7FDD}" type="datetimeFigureOut">
              <a:rPr lang="en-GB" smtClean="0"/>
              <a:pPr/>
              <a:t>18/08/2022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4B555-C9EB-4623-91D5-B1E16899B69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8738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B5BFB-31C5-4BCE-A275-9F6A028C7FDD}" type="datetimeFigureOut">
              <a:rPr lang="en-GB" smtClean="0"/>
              <a:pPr/>
              <a:t>18/08/2022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4B555-C9EB-4623-91D5-B1E16899B69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0085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B5BFB-31C5-4BCE-A275-9F6A028C7FDD}" type="datetimeFigureOut">
              <a:rPr lang="en-GB" smtClean="0"/>
              <a:pPr/>
              <a:t>18/08/2022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4B555-C9EB-4623-91D5-B1E16899B69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7406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B5BFB-31C5-4BCE-A275-9F6A028C7FDD}" type="datetimeFigureOut">
              <a:rPr lang="en-GB" smtClean="0"/>
              <a:pPr/>
              <a:t>18/08/2022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4B555-C9EB-4623-91D5-B1E16899B69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4737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B5BFB-31C5-4BCE-A275-9F6A028C7FDD}" type="datetimeFigureOut">
              <a:rPr lang="en-GB" smtClean="0"/>
              <a:pPr/>
              <a:t>18/08/2022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4B555-C9EB-4623-91D5-B1E16899B69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8143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B5BFB-31C5-4BCE-A275-9F6A028C7FDD}" type="datetimeFigureOut">
              <a:rPr lang="en-GB" smtClean="0"/>
              <a:pPr/>
              <a:t>18/08/2022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4B555-C9EB-4623-91D5-B1E16899B69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9349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B5BFB-31C5-4BCE-A275-9F6A028C7FDD}" type="datetimeFigureOut">
              <a:rPr lang="en-GB" smtClean="0"/>
              <a:pPr/>
              <a:t>18/08/2022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4B555-C9EB-4623-91D5-B1E16899B69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2302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B5BFB-31C5-4BCE-A275-9F6A028C7FDD}" type="datetimeFigureOut">
              <a:rPr lang="en-GB" smtClean="0"/>
              <a:pPr/>
              <a:t>18/08/2022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4B555-C9EB-4623-91D5-B1E16899B69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77669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1910" y="2514601"/>
            <a:ext cx="6686549" cy="2262781"/>
          </a:xfrm>
        </p:spPr>
        <p:txBody>
          <a:bodyPr anchor="b">
            <a:normAutofit/>
          </a:bodyPr>
          <a:lstStyle>
            <a:lvl1pPr>
              <a:defRPr sz="40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1910" y="4777380"/>
            <a:ext cx="668654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18/08/2022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1"/>
            <a:ext cx="1308489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4529541"/>
            <a:ext cx="584825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46541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4694" y="624110"/>
            <a:ext cx="6683765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1909" y="2133600"/>
            <a:ext cx="668655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18/08/2022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714376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474416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2058750"/>
            <a:ext cx="6686549" cy="1468800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530129"/>
            <a:ext cx="6686549" cy="8604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18/08/2022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178176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3244140"/>
            <a:ext cx="584825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495869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1909" y="2133600"/>
            <a:ext cx="3235398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93060" y="2126222"/>
            <a:ext cx="3235398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18/08/2022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3141" y="714376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787783"/>
            <a:ext cx="584825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942952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4530" y="1972703"/>
            <a:ext cx="2994549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1909" y="2548966"/>
            <a:ext cx="3257170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29972" y="1969475"/>
            <a:ext cx="2999251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5218" y="2545738"/>
            <a:ext cx="3254006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18/08/2022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3141" y="714376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787783"/>
            <a:ext cx="584825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089272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18/08/2022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3141" y="714376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709685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18/08/2022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3141" y="714376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595747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46088"/>
            <a:ext cx="2628899" cy="976312"/>
          </a:xfrm>
        </p:spPr>
        <p:txBody>
          <a:bodyPr anchor="b"/>
          <a:lstStyle>
            <a:lvl1pPr algn="l">
              <a:defRPr sz="15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259" y="446089"/>
            <a:ext cx="38862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1598613"/>
            <a:ext cx="2628899" cy="4262436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18/08/2022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714376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817187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800600"/>
            <a:ext cx="6686550" cy="566738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1909" y="634965"/>
            <a:ext cx="668655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5367338"/>
            <a:ext cx="6686550" cy="493712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18/08/2022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4911726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4983088"/>
            <a:ext cx="584825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020406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609600"/>
            <a:ext cx="6686549" cy="311704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4354046"/>
            <a:ext cx="668654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18/08/2022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178176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3244140"/>
            <a:ext cx="584825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492772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7462" y="609600"/>
            <a:ext cx="6295445" cy="28956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56259" y="3505200"/>
            <a:ext cx="5652416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4354046"/>
            <a:ext cx="668654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18/08/2022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3178176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3244140"/>
            <a:ext cx="584825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1850739" y="648005"/>
            <a:ext cx="4572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6139" y="2905306"/>
            <a:ext cx="4572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7200597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2438401"/>
            <a:ext cx="6686550" cy="2724845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5181600"/>
            <a:ext cx="668655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18/08/2022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4911726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4983088"/>
            <a:ext cx="584825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964037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137462" y="609600"/>
            <a:ext cx="6295445" cy="28956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4343400"/>
            <a:ext cx="668655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5181600"/>
            <a:ext cx="668655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18/08/2022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4911726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4983088"/>
            <a:ext cx="584825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  <p:sp>
        <p:nvSpPr>
          <p:cNvPr id="17" name="TextBox 16"/>
          <p:cNvSpPr txBox="1"/>
          <p:nvPr/>
        </p:nvSpPr>
        <p:spPr>
          <a:xfrm>
            <a:off x="1850739" y="648005"/>
            <a:ext cx="4572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6139" y="2905306"/>
            <a:ext cx="4572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1407135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627407"/>
            <a:ext cx="6686549" cy="2880020"/>
          </a:xfrm>
        </p:spPr>
        <p:txBody>
          <a:bodyPr anchor="ctr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4343400"/>
            <a:ext cx="668655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5181600"/>
            <a:ext cx="668655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18/08/2022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4911726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4983088"/>
            <a:ext cx="584825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4171659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18/08/2022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714376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297018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71109" y="627406"/>
            <a:ext cx="16557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1909" y="627406"/>
            <a:ext cx="485775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18/08/2022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714376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7719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FB5BFB-31C5-4BCE-A275-9F6A028C7FDD}" type="datetimeFigureOut">
              <a:rPr lang="en-GB" smtClean="0"/>
              <a:pPr/>
              <a:t>18/08/2022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34B555-C9EB-4623-91D5-B1E16899B696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0226" y="114491"/>
            <a:ext cx="1503774" cy="1092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806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138637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0416" y="-786"/>
            <a:ext cx="1767506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4694" y="624110"/>
            <a:ext cx="6683765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09" y="2133600"/>
            <a:ext cx="668655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1210" y="6130437"/>
            <a:ext cx="859712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DB0986-CC5D-441D-9150-EFAE06F4444F}" type="datetimeFigureOut">
              <a:rPr lang="en-AU" smtClean="0"/>
              <a:t>18/08/2022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1910" y="6135809"/>
            <a:ext cx="571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398860" y="787783"/>
            <a:ext cx="5848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>
                <a:solidFill>
                  <a:srgbClr val="FEFFFF"/>
                </a:solidFill>
              </a:defRPr>
            </a:lvl1pPr>
          </a:lstStyle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7593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7326" y="722172"/>
            <a:ext cx="8172450" cy="1034911"/>
          </a:xfrm>
        </p:spPr>
        <p:txBody>
          <a:bodyPr/>
          <a:lstStyle/>
          <a:p>
            <a:pPr algn="l"/>
            <a:r>
              <a:rPr lang="en-GB" dirty="0"/>
              <a:t>Title: </a:t>
            </a:r>
            <a:r>
              <a:rPr lang="en-GB" dirty="0">
                <a:solidFill>
                  <a:srgbClr val="00B0F0"/>
                </a:solidFill>
              </a:rPr>
              <a:t>Brackets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727" y="2032986"/>
            <a:ext cx="7981049" cy="3719744"/>
          </a:xfrm>
        </p:spPr>
        <p:txBody>
          <a:bodyPr>
            <a:normAutofit/>
          </a:bodyPr>
          <a:lstStyle/>
          <a:p>
            <a:pPr algn="l"/>
            <a:r>
              <a:rPr lang="en-US" sz="2800" b="1" dirty="0">
                <a:solidFill>
                  <a:srgbClr val="00B0F0"/>
                </a:solidFill>
                <a:ea typeface="Calibri"/>
                <a:cs typeface="Calibri"/>
              </a:rPr>
              <a:t>Aim: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rgbClr val="00B0F0"/>
                </a:solidFill>
                <a:ea typeface="Calibri"/>
                <a:cs typeface="Calibri"/>
              </a:rPr>
              <a:t>Solve linear equations with one unknown on both sides and those involving brackets</a:t>
            </a:r>
          </a:p>
          <a:p>
            <a:pPr algn="l"/>
            <a:r>
              <a:rPr lang="en-US" sz="2800" b="1" dirty="0">
                <a:solidFill>
                  <a:srgbClr val="00B0F0"/>
                </a:solidFill>
                <a:cs typeface="Calibri"/>
              </a:rPr>
              <a:t>Plan: </a:t>
            </a:r>
          </a:p>
          <a:p>
            <a:pPr marL="342900" indent="-342900" algn="l">
              <a:buFontTx/>
              <a:buChar char="-"/>
            </a:pPr>
            <a:r>
              <a:rPr lang="en-US" sz="2800" b="1" dirty="0">
                <a:solidFill>
                  <a:srgbClr val="00B0F0"/>
                </a:solidFill>
                <a:cs typeface="Calibri"/>
              </a:rPr>
              <a:t>Review expanding brackets </a:t>
            </a:r>
          </a:p>
          <a:p>
            <a:pPr marL="342900" indent="-342900" algn="l">
              <a:buFontTx/>
              <a:buChar char="-"/>
            </a:pPr>
            <a:r>
              <a:rPr lang="en-US" sz="2800" b="1" dirty="0">
                <a:solidFill>
                  <a:srgbClr val="00B0F0"/>
                </a:solidFill>
                <a:cs typeface="Calibri"/>
              </a:rPr>
              <a:t>Solving equations with brackets</a:t>
            </a:r>
            <a:endParaRPr lang="en-GB" sz="2800" b="1" dirty="0">
              <a:solidFill>
                <a:srgbClr val="00B0F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4AE34B-79C5-EA46-3D58-8508E111F4F0}"/>
              </a:ext>
            </a:extLst>
          </p:cNvPr>
          <p:cNvSpPr txBox="1"/>
          <p:nvPr/>
        </p:nvSpPr>
        <p:spPr>
          <a:xfrm>
            <a:off x="5024761" y="292963"/>
            <a:ext cx="34267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highlight>
                  <a:srgbClr val="00FF00"/>
                </a:highlight>
              </a:rPr>
              <a:t>PBiS</a:t>
            </a:r>
            <a:r>
              <a:rPr lang="en-US" sz="2400" b="1" dirty="0">
                <a:highlight>
                  <a:srgbClr val="00FF00"/>
                </a:highlight>
              </a:rPr>
              <a:t> focus </a:t>
            </a:r>
          </a:p>
          <a:p>
            <a:r>
              <a:rPr lang="en-US" sz="2400" b="1" dirty="0">
                <a:highlight>
                  <a:srgbClr val="00FF00"/>
                </a:highlight>
              </a:rPr>
              <a:t>Respect – listening </a:t>
            </a:r>
          </a:p>
          <a:p>
            <a:r>
              <a:rPr lang="en-US" sz="2400" b="1" dirty="0">
                <a:highlight>
                  <a:srgbClr val="00FF00"/>
                </a:highlight>
              </a:rPr>
              <a:t>Achieve – complete tasks </a:t>
            </a:r>
            <a:endParaRPr lang="en-AU" sz="2400" b="1" dirty="0">
              <a:highlight>
                <a:srgbClr val="00FF00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78675A-C1C1-14E9-30D9-37BB8BAAA4FC}"/>
              </a:ext>
            </a:extLst>
          </p:cNvPr>
          <p:cNvSpPr txBox="1"/>
          <p:nvPr/>
        </p:nvSpPr>
        <p:spPr>
          <a:xfrm>
            <a:off x="3648723" y="1955459"/>
            <a:ext cx="4625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Need calculators</a:t>
            </a:r>
            <a:r>
              <a:rPr lang="en-US" sz="2400" b="1" dirty="0"/>
              <a:t>.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3865656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886700" cy="1325563"/>
          </a:xfrm>
        </p:spPr>
        <p:txBody>
          <a:bodyPr/>
          <a:lstStyle/>
          <a:p>
            <a:r>
              <a:rPr lang="en-GB" b="1">
                <a:latin typeface="+mn-lt"/>
              </a:rPr>
              <a:t>Key vocabulary</a:t>
            </a:r>
            <a:endParaRPr lang="en-GB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68500"/>
            <a:ext cx="78867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Solve</a:t>
            </a:r>
          </a:p>
          <a:p>
            <a:pPr marL="0" indent="0">
              <a:buNone/>
            </a:pPr>
            <a:r>
              <a:rPr lang="en-GB" dirty="0"/>
              <a:t>Linear</a:t>
            </a:r>
          </a:p>
          <a:p>
            <a:pPr marL="0" indent="0">
              <a:buNone/>
            </a:pPr>
            <a:r>
              <a:rPr lang="en-GB" dirty="0"/>
              <a:t>Equations</a:t>
            </a:r>
          </a:p>
          <a:p>
            <a:pPr marL="0" indent="0">
              <a:buNone/>
            </a:pPr>
            <a:r>
              <a:rPr lang="en-GB" dirty="0"/>
              <a:t>Variable</a:t>
            </a:r>
          </a:p>
          <a:p>
            <a:pPr marL="0" indent="0">
              <a:buNone/>
            </a:pPr>
            <a:r>
              <a:rPr lang="en-GB" dirty="0"/>
              <a:t>Solution</a:t>
            </a:r>
          </a:p>
          <a:p>
            <a:pPr marL="0" indent="0">
              <a:buNone/>
            </a:pPr>
            <a:r>
              <a:rPr lang="en-GB" dirty="0"/>
              <a:t>Left hand/right hand side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33527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1217124" y="2319116"/>
            <a:ext cx="20701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dirty="0">
                <a:latin typeface="Times New Roman" panose="02020603050405020304" pitchFamily="18" charset="0"/>
              </a:rPr>
              <a:t>6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+ 5 = 17</a:t>
            </a: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520091" y="2335769"/>
            <a:ext cx="346075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1318724" y="2943004"/>
            <a:ext cx="18669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dirty="0">
                <a:latin typeface="Times New Roman" panose="02020603050405020304" pitchFamily="18" charset="0"/>
              </a:rPr>
              <a:t>5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</a:t>
            </a:r>
            <a:r>
              <a:rPr lang="en-GB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</a:t>
            </a:r>
            <a:r>
              <a:rPr lang="en-GB" altLang="en-US" b="1" dirty="0">
                <a:latin typeface="Times New Roman" panose="02020603050405020304" pitchFamily="18" charset="0"/>
              </a:rPr>
              <a:t> 1 = 9</a:t>
            </a: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520091" y="2955493"/>
            <a:ext cx="346075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</a:t>
            </a: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1217124" y="3566891"/>
            <a:ext cx="20701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dirty="0">
                <a:latin typeface="Times New Roman" panose="02020603050405020304" pitchFamily="18" charset="0"/>
              </a:rPr>
              <a:t>7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+ 5 = 40</a:t>
            </a: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520091" y="3575217"/>
            <a:ext cx="346075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</a:t>
            </a:r>
          </a:p>
        </p:txBody>
      </p:sp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1217124" y="4190779"/>
            <a:ext cx="20701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dirty="0">
                <a:latin typeface="Times New Roman" panose="02020603050405020304" pitchFamily="18" charset="0"/>
              </a:rPr>
              <a:t>3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</a:t>
            </a:r>
            <a:r>
              <a:rPr lang="en-GB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</a:t>
            </a:r>
            <a:r>
              <a:rPr lang="en-GB" altLang="en-US" b="1" dirty="0">
                <a:latin typeface="Times New Roman" panose="02020603050405020304" pitchFamily="18" charset="0"/>
              </a:rPr>
              <a:t> 2 = 10</a:t>
            </a:r>
          </a:p>
        </p:txBody>
      </p:sp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520091" y="4194941"/>
            <a:ext cx="346075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</a:t>
            </a:r>
          </a:p>
        </p:txBody>
      </p: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1217124" y="4814666"/>
            <a:ext cx="20701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dirty="0">
                <a:latin typeface="Times New Roman" panose="02020603050405020304" pitchFamily="18" charset="0"/>
              </a:rPr>
              <a:t>5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+ 1 = 36</a:t>
            </a:r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520091" y="4814666"/>
            <a:ext cx="346075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</a:t>
            </a:r>
          </a:p>
        </p:txBody>
      </p:sp>
      <p:sp>
        <p:nvSpPr>
          <p:cNvPr id="15" name="Text Box 13"/>
          <p:cNvSpPr txBox="1">
            <a:spLocks noChangeArrowheads="1"/>
          </p:cNvSpPr>
          <p:nvPr/>
        </p:nvSpPr>
        <p:spPr bwMode="auto">
          <a:xfrm>
            <a:off x="4859247" y="2335769"/>
            <a:ext cx="346075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6</a:t>
            </a:r>
          </a:p>
        </p:txBody>
      </p:sp>
      <p:sp>
        <p:nvSpPr>
          <p:cNvPr id="17" name="Text Box 15"/>
          <p:cNvSpPr txBox="1">
            <a:spLocks noChangeArrowheads="1"/>
          </p:cNvSpPr>
          <p:nvPr/>
        </p:nvSpPr>
        <p:spPr bwMode="auto">
          <a:xfrm>
            <a:off x="4859247" y="3541881"/>
            <a:ext cx="346075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7</a:t>
            </a:r>
          </a:p>
        </p:txBody>
      </p:sp>
      <p:sp>
        <p:nvSpPr>
          <p:cNvPr id="19" name="Text Box 17"/>
          <p:cNvSpPr txBox="1">
            <a:spLocks noChangeArrowheads="1"/>
          </p:cNvSpPr>
          <p:nvPr/>
        </p:nvSpPr>
        <p:spPr bwMode="auto">
          <a:xfrm>
            <a:off x="4859247" y="4747992"/>
            <a:ext cx="346075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8</a:t>
            </a:r>
          </a:p>
        </p:txBody>
      </p:sp>
      <p:grpSp>
        <p:nvGrpSpPr>
          <p:cNvPr id="45" name="Group 44"/>
          <p:cNvGrpSpPr/>
          <p:nvPr/>
        </p:nvGrpSpPr>
        <p:grpSpPr>
          <a:xfrm>
            <a:off x="5553075" y="3265266"/>
            <a:ext cx="1817688" cy="1084263"/>
            <a:chOff x="5553075" y="3524942"/>
            <a:chExt cx="1817688" cy="1084263"/>
          </a:xfrm>
          <a:solidFill>
            <a:schemeClr val="bg1"/>
          </a:solidFill>
        </p:grpSpPr>
        <p:sp>
          <p:nvSpPr>
            <p:cNvPr id="16" name="Text Box 14"/>
            <p:cNvSpPr txBox="1">
              <a:spLocks noChangeArrowheads="1"/>
            </p:cNvSpPr>
            <p:nvPr/>
          </p:nvSpPr>
          <p:spPr bwMode="auto">
            <a:xfrm>
              <a:off x="6011863" y="3794817"/>
              <a:ext cx="1358900" cy="5794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− 6 = 3</a:t>
              </a:r>
            </a:p>
          </p:txBody>
        </p:sp>
        <p:sp>
          <p:nvSpPr>
            <p:cNvPr id="26" name="Text Box 28"/>
            <p:cNvSpPr txBox="1">
              <a:spLocks noChangeArrowheads="1"/>
            </p:cNvSpPr>
            <p:nvPr/>
          </p:nvSpPr>
          <p:spPr bwMode="auto">
            <a:xfrm>
              <a:off x="5553075" y="3524942"/>
              <a:ext cx="387350" cy="5794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b="1" i="1" dirty="0">
                  <a:latin typeface="Times New Roman" panose="02020603050405020304" pitchFamily="18" charset="0"/>
                </a:rPr>
                <a:t>x</a:t>
              </a:r>
              <a:endParaRPr lang="en-GB" altLang="en-US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" name="Text Box 29"/>
            <p:cNvSpPr txBox="1">
              <a:spLocks noChangeArrowheads="1"/>
            </p:cNvSpPr>
            <p:nvPr/>
          </p:nvSpPr>
          <p:spPr bwMode="auto">
            <a:xfrm>
              <a:off x="5553075" y="4029767"/>
              <a:ext cx="387350" cy="5794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b="1" dirty="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28" name="Line 30"/>
            <p:cNvSpPr>
              <a:spLocks noChangeShapeType="1"/>
            </p:cNvSpPr>
            <p:nvPr/>
          </p:nvSpPr>
          <p:spPr bwMode="auto">
            <a:xfrm>
              <a:off x="5553075" y="4067867"/>
              <a:ext cx="360363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dirty="0"/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5580063" y="4467004"/>
            <a:ext cx="1993900" cy="1084263"/>
            <a:chOff x="5580063" y="4712392"/>
            <a:chExt cx="1993900" cy="1084263"/>
          </a:xfrm>
          <a:solidFill>
            <a:schemeClr val="bg1"/>
          </a:solidFill>
        </p:grpSpPr>
        <p:sp>
          <p:nvSpPr>
            <p:cNvPr id="18" name="Text Box 16"/>
            <p:cNvSpPr txBox="1">
              <a:spLocks noChangeArrowheads="1"/>
            </p:cNvSpPr>
            <p:nvPr/>
          </p:nvSpPr>
          <p:spPr bwMode="auto">
            <a:xfrm>
              <a:off x="6011863" y="4940992"/>
              <a:ext cx="1562100" cy="5794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b="1" dirty="0">
                  <a:latin typeface="Times New Roman" panose="02020603050405020304" pitchFamily="18" charset="0"/>
                </a:rPr>
                <a:t>+ 8 = 14</a:t>
              </a:r>
            </a:p>
          </p:txBody>
        </p:sp>
        <p:sp>
          <p:nvSpPr>
            <p:cNvPr id="29" name="Text Box 31"/>
            <p:cNvSpPr txBox="1">
              <a:spLocks noChangeArrowheads="1"/>
            </p:cNvSpPr>
            <p:nvPr/>
          </p:nvSpPr>
          <p:spPr bwMode="auto">
            <a:xfrm>
              <a:off x="5580063" y="4712392"/>
              <a:ext cx="387350" cy="5794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b="1" i="1" dirty="0">
                  <a:latin typeface="Times New Roman" panose="02020603050405020304" pitchFamily="18" charset="0"/>
                </a:rPr>
                <a:t>x</a:t>
              </a:r>
              <a:endParaRPr lang="en-GB" altLang="en-US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0" name="Text Box 32"/>
            <p:cNvSpPr txBox="1">
              <a:spLocks noChangeArrowheads="1"/>
            </p:cNvSpPr>
            <p:nvPr/>
          </p:nvSpPr>
          <p:spPr bwMode="auto">
            <a:xfrm>
              <a:off x="5580063" y="5217217"/>
              <a:ext cx="387350" cy="5794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b="1" dirty="0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31" name="Line 33"/>
            <p:cNvSpPr>
              <a:spLocks noChangeShapeType="1"/>
            </p:cNvSpPr>
            <p:nvPr/>
          </p:nvSpPr>
          <p:spPr bwMode="auto">
            <a:xfrm>
              <a:off x="5580063" y="5255317"/>
              <a:ext cx="360362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dirty="0"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267419" y="1386550"/>
            <a:ext cx="84350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solidFill>
                  <a:schemeClr val="accent6">
                    <a:lumMod val="75000"/>
                  </a:schemeClr>
                </a:solidFill>
              </a:rPr>
              <a:t>Use any method you like to find the value of </a:t>
            </a:r>
            <a:r>
              <a:rPr lang="en-GB" sz="2000" b="1" i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sz="2000" dirty="0">
                <a:solidFill>
                  <a:schemeClr val="accent6">
                    <a:lumMod val="75000"/>
                  </a:schemeClr>
                </a:solidFill>
              </a:rPr>
              <a:t> in each of these equations </a:t>
            </a:r>
          </a:p>
        </p:txBody>
      </p:sp>
      <p:grpSp>
        <p:nvGrpSpPr>
          <p:cNvPr id="51" name="Group 50"/>
          <p:cNvGrpSpPr/>
          <p:nvPr/>
        </p:nvGrpSpPr>
        <p:grpSpPr>
          <a:xfrm>
            <a:off x="5534265" y="2063529"/>
            <a:ext cx="2039698" cy="1084262"/>
            <a:chOff x="5534265" y="2408930"/>
            <a:chExt cx="2039698" cy="1084262"/>
          </a:xfrm>
        </p:grpSpPr>
        <p:grpSp>
          <p:nvGrpSpPr>
            <p:cNvPr id="46" name="Group 45"/>
            <p:cNvGrpSpPr/>
            <p:nvPr/>
          </p:nvGrpSpPr>
          <p:grpSpPr>
            <a:xfrm>
              <a:off x="5534265" y="2408930"/>
              <a:ext cx="2039698" cy="1084262"/>
              <a:chOff x="5534265" y="2408930"/>
              <a:chExt cx="2039698" cy="1084262"/>
            </a:xfrm>
            <a:solidFill>
              <a:schemeClr val="bg1"/>
            </a:solidFill>
          </p:grpSpPr>
          <p:sp>
            <p:nvSpPr>
              <p:cNvPr id="14" name="Text Box 12"/>
              <p:cNvSpPr txBox="1">
                <a:spLocks noChangeArrowheads="1"/>
              </p:cNvSpPr>
              <p:nvPr/>
            </p:nvSpPr>
            <p:spPr bwMode="auto">
              <a:xfrm>
                <a:off x="6011863" y="2664517"/>
                <a:ext cx="1562100" cy="579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GB" altLang="en-US" b="1" dirty="0">
                    <a:latin typeface="Times New Roman" panose="02020603050405020304" pitchFamily="18" charset="0"/>
                  </a:rPr>
                  <a:t>+ 5 = 13</a:t>
                </a:r>
              </a:p>
            </p:txBody>
          </p:sp>
          <p:sp>
            <p:nvSpPr>
              <p:cNvPr id="24" name="Text Box 26"/>
              <p:cNvSpPr txBox="1">
                <a:spLocks noChangeArrowheads="1"/>
              </p:cNvSpPr>
              <p:nvPr/>
            </p:nvSpPr>
            <p:spPr bwMode="auto">
              <a:xfrm>
                <a:off x="5543550" y="2913755"/>
                <a:ext cx="387350" cy="57943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GB" altLang="en-US" b="1" dirty="0"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25" name="Line 27"/>
              <p:cNvSpPr>
                <a:spLocks noChangeShapeType="1"/>
              </p:cNvSpPr>
              <p:nvPr/>
            </p:nvSpPr>
            <p:spPr bwMode="auto">
              <a:xfrm>
                <a:off x="5543550" y="2951855"/>
                <a:ext cx="360363" cy="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42" name="Text Box 28"/>
              <p:cNvSpPr txBox="1">
                <a:spLocks noChangeArrowheads="1"/>
              </p:cNvSpPr>
              <p:nvPr/>
            </p:nvSpPr>
            <p:spPr bwMode="auto">
              <a:xfrm>
                <a:off x="5534265" y="2408930"/>
                <a:ext cx="387350" cy="5794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GB" altLang="en-US" b="1" i="1" dirty="0">
                    <a:latin typeface="Times New Roman" panose="02020603050405020304" pitchFamily="18" charset="0"/>
                  </a:rPr>
                  <a:t>x</a:t>
                </a:r>
                <a:endParaRPr lang="en-GB" altLang="en-US" b="1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50" name="Line 30"/>
            <p:cNvSpPr>
              <a:spLocks noChangeShapeType="1"/>
            </p:cNvSpPr>
            <p:nvPr/>
          </p:nvSpPr>
          <p:spPr bwMode="auto">
            <a:xfrm>
              <a:off x="5566568" y="2950211"/>
              <a:ext cx="360363" cy="0"/>
            </a:xfrm>
            <a:prstGeom prst="lin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 dirty="0"/>
            </a:p>
          </p:txBody>
        </p:sp>
      </p:grpSp>
      <p:sp>
        <p:nvSpPr>
          <p:cNvPr id="53" name="Text Box 3"/>
          <p:cNvSpPr txBox="1">
            <a:spLocks noChangeArrowheads="1"/>
          </p:cNvSpPr>
          <p:nvPr/>
        </p:nvSpPr>
        <p:spPr bwMode="auto">
          <a:xfrm>
            <a:off x="3566744" y="2335769"/>
            <a:ext cx="78579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sz="2400" dirty="0">
                <a:solidFill>
                  <a:srgbClr val="FF0000"/>
                </a:solidFill>
              </a:rPr>
              <a:t> = 2</a:t>
            </a:r>
          </a:p>
        </p:txBody>
      </p:sp>
      <p:sp>
        <p:nvSpPr>
          <p:cNvPr id="61" name="Text Box 3"/>
          <p:cNvSpPr txBox="1">
            <a:spLocks noChangeArrowheads="1"/>
          </p:cNvSpPr>
          <p:nvPr/>
        </p:nvSpPr>
        <p:spPr bwMode="auto">
          <a:xfrm>
            <a:off x="3566744" y="2959334"/>
            <a:ext cx="78579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sz="2400" dirty="0">
                <a:solidFill>
                  <a:srgbClr val="FF0000"/>
                </a:solidFill>
              </a:rPr>
              <a:t> = 2</a:t>
            </a:r>
          </a:p>
        </p:txBody>
      </p:sp>
      <p:sp>
        <p:nvSpPr>
          <p:cNvPr id="62" name="Text Box 3"/>
          <p:cNvSpPr txBox="1">
            <a:spLocks noChangeArrowheads="1"/>
          </p:cNvSpPr>
          <p:nvPr/>
        </p:nvSpPr>
        <p:spPr bwMode="auto">
          <a:xfrm>
            <a:off x="3566744" y="3582899"/>
            <a:ext cx="78579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sz="2400" dirty="0">
                <a:solidFill>
                  <a:srgbClr val="FF0000"/>
                </a:solidFill>
              </a:rPr>
              <a:t> = 5</a:t>
            </a:r>
          </a:p>
        </p:txBody>
      </p:sp>
      <p:sp>
        <p:nvSpPr>
          <p:cNvPr id="63" name="Text Box 3"/>
          <p:cNvSpPr txBox="1">
            <a:spLocks noChangeArrowheads="1"/>
          </p:cNvSpPr>
          <p:nvPr/>
        </p:nvSpPr>
        <p:spPr bwMode="auto">
          <a:xfrm>
            <a:off x="3566744" y="4206464"/>
            <a:ext cx="78579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sz="2400" dirty="0">
                <a:solidFill>
                  <a:srgbClr val="FF0000"/>
                </a:solidFill>
              </a:rPr>
              <a:t> = 4</a:t>
            </a:r>
          </a:p>
        </p:txBody>
      </p:sp>
      <p:sp>
        <p:nvSpPr>
          <p:cNvPr id="64" name="Text Box 3"/>
          <p:cNvSpPr txBox="1">
            <a:spLocks noChangeArrowheads="1"/>
          </p:cNvSpPr>
          <p:nvPr/>
        </p:nvSpPr>
        <p:spPr bwMode="auto">
          <a:xfrm>
            <a:off x="3566744" y="4830029"/>
            <a:ext cx="78579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sz="2400" dirty="0">
                <a:solidFill>
                  <a:srgbClr val="FF0000"/>
                </a:solidFill>
              </a:rPr>
              <a:t> = 7</a:t>
            </a:r>
          </a:p>
        </p:txBody>
      </p:sp>
      <p:sp>
        <p:nvSpPr>
          <p:cNvPr id="65" name="Text Box 3"/>
          <p:cNvSpPr txBox="1">
            <a:spLocks noChangeArrowheads="1"/>
          </p:cNvSpPr>
          <p:nvPr/>
        </p:nvSpPr>
        <p:spPr bwMode="auto">
          <a:xfrm>
            <a:off x="7761220" y="2342419"/>
            <a:ext cx="94128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sz="2400" dirty="0">
                <a:solidFill>
                  <a:srgbClr val="FF0000"/>
                </a:solidFill>
              </a:rPr>
              <a:t> = 16</a:t>
            </a:r>
          </a:p>
        </p:txBody>
      </p:sp>
      <p:sp>
        <p:nvSpPr>
          <p:cNvPr id="66" name="Text Box 3"/>
          <p:cNvSpPr txBox="1">
            <a:spLocks noChangeArrowheads="1"/>
          </p:cNvSpPr>
          <p:nvPr/>
        </p:nvSpPr>
        <p:spPr bwMode="auto">
          <a:xfrm>
            <a:off x="7761220" y="3545205"/>
            <a:ext cx="94128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sz="2400" dirty="0">
                <a:solidFill>
                  <a:srgbClr val="FF0000"/>
                </a:solidFill>
              </a:rPr>
              <a:t> = 27</a:t>
            </a:r>
          </a:p>
        </p:txBody>
      </p:sp>
      <p:sp>
        <p:nvSpPr>
          <p:cNvPr id="67" name="Text Box 3"/>
          <p:cNvSpPr txBox="1">
            <a:spLocks noChangeArrowheads="1"/>
          </p:cNvSpPr>
          <p:nvPr/>
        </p:nvSpPr>
        <p:spPr bwMode="auto">
          <a:xfrm>
            <a:off x="7761220" y="4747992"/>
            <a:ext cx="94128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sz="2400" dirty="0">
                <a:solidFill>
                  <a:srgbClr val="FF0000"/>
                </a:solidFill>
              </a:rPr>
              <a:t> = 30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883255" y="6339310"/>
            <a:ext cx="985987" cy="32719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show all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67419" y="6323284"/>
            <a:ext cx="7629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Click an equation to see the solution, or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3445" y="-14755"/>
            <a:ext cx="7886700" cy="1325563"/>
          </a:xfrm>
        </p:spPr>
        <p:txBody>
          <a:bodyPr/>
          <a:lstStyle/>
          <a:p>
            <a:r>
              <a:rPr lang="en-US" b="1">
                <a:latin typeface="+mn-lt"/>
              </a:rPr>
              <a:t>Starter</a:t>
            </a:r>
          </a:p>
        </p:txBody>
      </p:sp>
    </p:spTree>
    <p:extLst>
      <p:ext uri="{BB962C8B-B14F-4D97-AF65-F5344CB8AC3E}">
        <p14:creationId xmlns:p14="http://schemas.microsoft.com/office/powerpoint/2010/main" val="1380691534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34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  <p:seq concurrent="1" nextAc="seek">
              <p:cTn id="58" restart="whenNotActive" fill="hold" evtFilter="cancelBubble" nodeType="interactiveSeq">
                <p:stCondLst>
                  <p:cond evt="onClick" delay="0">
                    <p:tgtEl>
                      <p:spTgt spid="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4"/>
                  </p:tgtEl>
                </p:cond>
              </p:nextCondLst>
            </p:seq>
            <p:seq concurrent="1" nextAc="seek">
              <p:cTn id="66" restart="whenNotActive" fill="hold" evtFilter="cancelBubble" nodeType="interactiveSeq">
                <p:stCondLst>
                  <p:cond evt="onClick" delay="0">
                    <p:tgtEl>
                      <p:spTgt spid="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3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8"/>
                  </p:tgtEl>
                </p:cond>
              </p:nextCondLst>
            </p:seq>
          </p:childTnLst>
        </p:cTn>
      </p:par>
    </p:tnLst>
    <p:bldLst>
      <p:bldP spid="53" grpId="0"/>
      <p:bldP spid="53" grpId="1"/>
      <p:bldP spid="61" grpId="0"/>
      <p:bldP spid="61" grpId="1"/>
      <p:bldP spid="62" grpId="0"/>
      <p:bldP spid="62" grpId="1"/>
      <p:bldP spid="63" grpId="0"/>
      <p:bldP spid="63" grpId="1"/>
      <p:bldP spid="64" grpId="0"/>
      <p:bldP spid="64" grpId="1"/>
      <p:bldP spid="65" grpId="0"/>
      <p:bldP spid="65" grpId="1"/>
      <p:bldP spid="66" grpId="0"/>
      <p:bldP spid="66" grpId="1"/>
      <p:bldP spid="67" grpId="0"/>
      <p:bldP spid="67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35C3C-6590-9810-FD8C-EEEADF82B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Choral response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0FBBF-C341-CD34-D279-AE7C76D8A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116" y="2457450"/>
            <a:ext cx="8116410" cy="3007311"/>
          </a:xfrm>
        </p:spPr>
        <p:txBody>
          <a:bodyPr/>
          <a:lstStyle/>
          <a:p>
            <a:pPr marL="0" indent="0">
              <a:buNone/>
            </a:pPr>
            <a:r>
              <a:rPr lang="en-AU" sz="2100" dirty="0">
                <a:solidFill>
                  <a:srgbClr val="FF0000"/>
                </a:solidFill>
              </a:rPr>
              <a:t>The term outside the brackets multiplies to </a:t>
            </a:r>
            <a:r>
              <a:rPr lang="en-AU" sz="2100" b="1" i="1" u="sng" dirty="0">
                <a:solidFill>
                  <a:srgbClr val="FF0000"/>
                </a:solidFill>
              </a:rPr>
              <a:t>EVERY</a:t>
            </a:r>
            <a:r>
              <a:rPr lang="en-AU" sz="2100" u="sng" dirty="0">
                <a:solidFill>
                  <a:srgbClr val="FF0000"/>
                </a:solidFill>
              </a:rPr>
              <a:t> term </a:t>
            </a:r>
            <a:r>
              <a:rPr lang="en-AU" sz="2100" dirty="0">
                <a:solidFill>
                  <a:srgbClr val="FF0000"/>
                </a:solidFill>
              </a:rPr>
              <a:t>inside the brackets.</a:t>
            </a:r>
          </a:p>
          <a:p>
            <a:pPr marL="0" indent="0">
              <a:buNone/>
            </a:pP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518B99-086C-374D-9E7A-F25050C898A2}"/>
              </a:ext>
            </a:extLst>
          </p:cNvPr>
          <p:cNvSpPr txBox="1"/>
          <p:nvPr/>
        </p:nvSpPr>
        <p:spPr>
          <a:xfrm>
            <a:off x="2391422" y="4232985"/>
            <a:ext cx="43611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lang="en-US" sz="3600" b="1" dirty="0">
                <a:solidFill>
                  <a:prstClr val="black"/>
                </a:solidFill>
                <a:latin typeface="Century Gothic" panose="020B0502020202020204"/>
              </a:rPr>
              <a:t>4(3 + x) </a:t>
            </a:r>
            <a:endParaRPr lang="en-AU" sz="3600" b="1" dirty="0">
              <a:solidFill>
                <a:prstClr val="black"/>
              </a:solidFill>
              <a:latin typeface="Century Gothic" panose="020B0502020202020204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1A3CA2F-3CEC-0C79-2F7A-88836BEB9931}"/>
              </a:ext>
            </a:extLst>
          </p:cNvPr>
          <p:cNvCxnSpPr/>
          <p:nvPr/>
        </p:nvCxnSpPr>
        <p:spPr>
          <a:xfrm>
            <a:off x="2789809" y="2814777"/>
            <a:ext cx="1018712" cy="151808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196A4A0-C3DE-3844-C65D-E2A1F8B6A9E7}"/>
              </a:ext>
            </a:extLst>
          </p:cNvPr>
          <p:cNvCxnSpPr/>
          <p:nvPr/>
        </p:nvCxnSpPr>
        <p:spPr>
          <a:xfrm flipH="1">
            <a:off x="4367814" y="2788143"/>
            <a:ext cx="2050742" cy="149810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2127FA3-CA6E-FF4E-202D-F30304A8C46C}"/>
              </a:ext>
            </a:extLst>
          </p:cNvPr>
          <p:cNvCxnSpPr/>
          <p:nvPr/>
        </p:nvCxnSpPr>
        <p:spPr>
          <a:xfrm flipH="1">
            <a:off x="5166804" y="2788143"/>
            <a:ext cx="1251752" cy="154471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042404CE-4896-06A8-C09D-5BBB278A29FE}"/>
              </a:ext>
            </a:extLst>
          </p:cNvPr>
          <p:cNvSpPr/>
          <p:nvPr/>
        </p:nvSpPr>
        <p:spPr>
          <a:xfrm>
            <a:off x="6285391" y="2457450"/>
            <a:ext cx="1447060" cy="3573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2525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B6554-7A14-C8C4-92CC-EB05D0DB6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DPM/A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1CE91-7964-70AB-6368-2CA2702231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2100" dirty="0"/>
          </a:p>
          <a:p>
            <a:pPr marL="0" indent="0" algn="ctr">
              <a:buNone/>
            </a:pPr>
            <a:r>
              <a:rPr lang="en-AU" sz="2100" dirty="0"/>
              <a:t>3(3 + f) </a:t>
            </a:r>
          </a:p>
          <a:p>
            <a:pPr marL="0" indent="0" algn="ctr">
              <a:buNone/>
            </a:pPr>
            <a:endParaRPr lang="en-AU" sz="2100" dirty="0"/>
          </a:p>
          <a:p>
            <a:pPr marL="0" indent="0" algn="ctr">
              <a:buNone/>
            </a:pPr>
            <a:r>
              <a:rPr lang="en-AU" sz="2100" dirty="0"/>
              <a:t>2x(x + 8) </a:t>
            </a:r>
          </a:p>
          <a:p>
            <a:pPr marL="0" indent="0" algn="ctr">
              <a:buNone/>
            </a:pPr>
            <a:endParaRPr lang="en-AU" sz="2100" dirty="0"/>
          </a:p>
          <a:p>
            <a:pPr marL="0" indent="0" algn="ctr">
              <a:buNone/>
            </a:pPr>
            <a:r>
              <a:rPr lang="en-AU" sz="2100" dirty="0"/>
              <a:t>3(d – 5 + 2s)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5DC513-C8D3-1C57-5082-B8D4A620B979}"/>
              </a:ext>
            </a:extLst>
          </p:cNvPr>
          <p:cNvSpPr txBox="1"/>
          <p:nvPr/>
        </p:nvSpPr>
        <p:spPr>
          <a:xfrm>
            <a:off x="1091953" y="1023707"/>
            <a:ext cx="12850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b="1" dirty="0">
                <a:solidFill>
                  <a:prstClr val="black"/>
                </a:solidFill>
                <a:highlight>
                  <a:srgbClr val="FFFF00"/>
                </a:highlight>
                <a:latin typeface="Century Gothic" panose="020B0502020202020204"/>
              </a:rPr>
              <a:t>I do, you copy</a:t>
            </a:r>
            <a:endParaRPr lang="en-AU" b="1" dirty="0">
              <a:solidFill>
                <a:prstClr val="black"/>
              </a:solidFill>
              <a:highlight>
                <a:srgbClr val="FFFF00"/>
              </a:highlight>
              <a:latin typeface="Century Gothic" panose="020B0502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81658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F9087-330F-5749-5EC2-A1DDB1E0F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– expanding brackets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A1B81-1EA1-C5A9-177E-46487C5F04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5478" y="1918131"/>
            <a:ext cx="6686550" cy="3906175"/>
          </a:xfrm>
        </p:spPr>
        <p:txBody>
          <a:bodyPr>
            <a:noAutofit/>
          </a:bodyPr>
          <a:lstStyle/>
          <a:p>
            <a:pPr marL="385763" indent="-385763" algn="ctr">
              <a:buAutoNum type="alphaLcParenR"/>
            </a:pPr>
            <a:r>
              <a:rPr lang="en-US" sz="2700" b="1" dirty="0"/>
              <a:t>     4(2 + 2x) </a:t>
            </a:r>
          </a:p>
          <a:p>
            <a:pPr marL="385763" indent="-385763" algn="ctr">
              <a:buAutoNum type="alphaLcParenR"/>
            </a:pPr>
            <a:endParaRPr lang="en-US" sz="2700" b="1" dirty="0"/>
          </a:p>
          <a:p>
            <a:pPr marL="385763" indent="-385763" algn="ctr">
              <a:buAutoNum type="alphaLcParenR"/>
            </a:pPr>
            <a:r>
              <a:rPr lang="en-US" sz="2700" b="1" dirty="0"/>
              <a:t>    5(3x – 4) </a:t>
            </a:r>
          </a:p>
          <a:p>
            <a:pPr marL="385763" indent="-385763" algn="ctr">
              <a:buAutoNum type="alphaLcParenR"/>
            </a:pPr>
            <a:endParaRPr lang="en-US" sz="2700" b="1" dirty="0"/>
          </a:p>
          <a:p>
            <a:pPr marL="385763" indent="-385763" algn="ctr">
              <a:buAutoNum type="alphaLcParenR"/>
            </a:pPr>
            <a:r>
              <a:rPr lang="en-US" sz="2700" b="1" dirty="0"/>
              <a:t>     9(2 – x)</a:t>
            </a:r>
          </a:p>
          <a:p>
            <a:pPr marL="385763" indent="-385763" algn="ctr">
              <a:buAutoNum type="alphaLcParenR"/>
            </a:pPr>
            <a:endParaRPr lang="en-US" sz="2700" b="1" dirty="0"/>
          </a:p>
          <a:p>
            <a:pPr marL="385763" indent="-385763" algn="ctr">
              <a:buAutoNum type="alphaLcParenR"/>
            </a:pPr>
            <a:r>
              <a:rPr lang="en-US" sz="2700" b="1" dirty="0"/>
              <a:t>       3(2x + d + 3) </a:t>
            </a:r>
            <a:endParaRPr lang="en-AU" sz="2700" b="1" dirty="0"/>
          </a:p>
        </p:txBody>
      </p:sp>
    </p:spTree>
    <p:extLst>
      <p:ext uri="{BB962C8B-B14F-4D97-AF65-F5344CB8AC3E}">
        <p14:creationId xmlns:p14="http://schemas.microsoft.com/office/powerpoint/2010/main" val="555459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4665FC-1663-1F12-52E1-770E2D2A2DD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586406" y="270256"/>
            <a:ext cx="6686550" cy="37782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AU" sz="3600" b="1" u="sng" dirty="0">
                <a:solidFill>
                  <a:srgbClr val="00B0F0"/>
                </a:solidFill>
              </a:rPr>
              <a:t>Equation solving steps</a:t>
            </a:r>
            <a:r>
              <a:rPr lang="en-AU" sz="3600" b="1" dirty="0">
                <a:solidFill>
                  <a:srgbClr val="00B0F0"/>
                </a:solidFill>
              </a:rPr>
              <a:t>: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3600" b="1" dirty="0">
                <a:solidFill>
                  <a:srgbClr val="00B0F0"/>
                </a:solidFill>
              </a:rPr>
              <a:t>Simplify both sides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3600" b="1" dirty="0">
                <a:solidFill>
                  <a:srgbClr val="00B0F0"/>
                </a:solidFill>
              </a:rPr>
              <a:t>Collect variable terms to left and numbers to right – swap sides swap signs.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3600" b="1" dirty="0">
                <a:solidFill>
                  <a:srgbClr val="00B0F0"/>
                </a:solidFill>
              </a:rPr>
              <a:t>Simplify both sides 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3600" b="1" dirty="0">
                <a:solidFill>
                  <a:srgbClr val="00B0F0"/>
                </a:solidFill>
              </a:rPr>
              <a:t>Divide both sides by coefficient.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3600" b="1" dirty="0">
                <a:solidFill>
                  <a:srgbClr val="00B0F0"/>
                </a:solidFill>
              </a:rPr>
              <a:t>State answer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6F2677-31B3-0E99-1491-104A55CC054E}"/>
              </a:ext>
            </a:extLst>
          </p:cNvPr>
          <p:cNvSpPr/>
          <p:nvPr/>
        </p:nvSpPr>
        <p:spPr>
          <a:xfrm>
            <a:off x="3923930" y="1109709"/>
            <a:ext cx="2219418" cy="6214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FA45D9-D7F9-E6E6-C44F-FD3FF97580C3}"/>
              </a:ext>
            </a:extLst>
          </p:cNvPr>
          <p:cNvSpPr/>
          <p:nvPr/>
        </p:nvSpPr>
        <p:spPr>
          <a:xfrm>
            <a:off x="3243921" y="2966024"/>
            <a:ext cx="1194914" cy="6214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9DA4DBD-360A-E9D5-1F95-FB22E4446632}"/>
              </a:ext>
            </a:extLst>
          </p:cNvPr>
          <p:cNvSpPr/>
          <p:nvPr/>
        </p:nvSpPr>
        <p:spPr>
          <a:xfrm>
            <a:off x="5752212" y="2966024"/>
            <a:ext cx="1349924" cy="6214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CF97FE-D322-3143-337A-9496D4801700}"/>
              </a:ext>
            </a:extLst>
          </p:cNvPr>
          <p:cNvSpPr/>
          <p:nvPr/>
        </p:nvSpPr>
        <p:spPr>
          <a:xfrm>
            <a:off x="1883546" y="4896467"/>
            <a:ext cx="2688454" cy="6214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02352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4"/>
          <p:cNvSpPr>
            <a:spLocks noGrp="1"/>
          </p:cNvSpPr>
          <p:nvPr>
            <p:ph idx="1"/>
          </p:nvPr>
        </p:nvSpPr>
        <p:spPr>
          <a:xfrm>
            <a:off x="396875" y="1682750"/>
            <a:ext cx="8118475" cy="4494213"/>
          </a:xfrm>
        </p:spPr>
        <p:txBody>
          <a:bodyPr/>
          <a:lstStyle/>
          <a:p>
            <a:pPr marL="514350" indent="-514350">
              <a:buAutoNum type="arabicParenR"/>
            </a:pPr>
            <a:r>
              <a:rPr lang="en-US" dirty="0"/>
              <a:t>2x + 12 = 7x + 2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     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     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-477"/>
            <a:ext cx="7886700" cy="1325563"/>
          </a:xfrm>
        </p:spPr>
        <p:txBody>
          <a:bodyPr/>
          <a:lstStyle/>
          <a:p>
            <a:r>
              <a:rPr lang="en-US" b="1">
                <a:latin typeface="+mn-lt"/>
              </a:rPr>
              <a:t>Example 1</a:t>
            </a:r>
            <a:endParaRPr lang="en-US" b="1" dirty="0">
              <a:latin typeface="+mn-lt"/>
            </a:endParaRP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51907ED3-DAD5-526E-C2A5-75E3DE5529AD}"/>
              </a:ext>
            </a:extLst>
          </p:cNvPr>
          <p:cNvSpPr txBox="1">
            <a:spLocks/>
          </p:cNvSpPr>
          <p:nvPr/>
        </p:nvSpPr>
        <p:spPr>
          <a:xfrm>
            <a:off x="3671851" y="122221"/>
            <a:ext cx="5339385" cy="207646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Font typeface="Arial" panose="020B0604020202020204" pitchFamily="34" charset="0"/>
              <a:buAutoNum type="arabicPeriod"/>
            </a:pPr>
            <a:r>
              <a:rPr lang="en-AU" sz="1400" b="1" dirty="0">
                <a:solidFill>
                  <a:srgbClr val="00B0F0"/>
                </a:solidFill>
              </a:rPr>
              <a:t>Simplify both sides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Font typeface="Arial" panose="020B0604020202020204" pitchFamily="34" charset="0"/>
              <a:buAutoNum type="arabicPeriod"/>
            </a:pPr>
            <a:r>
              <a:rPr lang="en-AU" sz="1400" b="1" dirty="0">
                <a:solidFill>
                  <a:srgbClr val="00B0F0"/>
                </a:solidFill>
              </a:rPr>
              <a:t>Collect variable terms to left and numbers to right – swap sides swap signs.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Font typeface="Arial" panose="020B0604020202020204" pitchFamily="34" charset="0"/>
              <a:buAutoNum type="arabicPeriod"/>
            </a:pPr>
            <a:r>
              <a:rPr lang="en-AU" sz="1400" b="1" dirty="0">
                <a:solidFill>
                  <a:srgbClr val="00B0F0"/>
                </a:solidFill>
              </a:rPr>
              <a:t>Simplify both sides 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Font typeface="Arial" panose="020B0604020202020204" pitchFamily="34" charset="0"/>
              <a:buAutoNum type="arabicPeriod"/>
            </a:pPr>
            <a:r>
              <a:rPr lang="en-AU" sz="1400" b="1" dirty="0">
                <a:solidFill>
                  <a:srgbClr val="00B0F0"/>
                </a:solidFill>
              </a:rPr>
              <a:t>Divide both sides by coefficient.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Font typeface="Arial" panose="020B0604020202020204" pitchFamily="34" charset="0"/>
              <a:buAutoNum type="arabicPeriod"/>
            </a:pPr>
            <a:r>
              <a:rPr lang="en-AU" sz="1400" b="1" dirty="0">
                <a:solidFill>
                  <a:srgbClr val="00B0F0"/>
                </a:solidFill>
              </a:rPr>
              <a:t>State answer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4"/>
          <p:cNvSpPr>
            <a:spLocks noGrp="1"/>
          </p:cNvSpPr>
          <p:nvPr>
            <p:ph idx="1"/>
          </p:nvPr>
        </p:nvSpPr>
        <p:spPr>
          <a:xfrm>
            <a:off x="396875" y="1682750"/>
            <a:ext cx="8118475" cy="449421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2)   7x + 8 = 9x</a:t>
            </a:r>
          </a:p>
          <a:p>
            <a:pPr marL="514350" indent="-514350">
              <a:buAutoNum type="arabicParenR"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    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     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6125" y="2111375"/>
            <a:ext cx="67552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solidFill>
                  <a:srgbClr val="FF0000"/>
                </a:solidFill>
              </a:rPr>
              <a:t>- 7x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2150" y="2120900"/>
            <a:ext cx="67552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solidFill>
                  <a:srgbClr val="FF0000"/>
                </a:solidFill>
              </a:rPr>
              <a:t>- 7x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3130550"/>
            <a:ext cx="5950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solidFill>
                  <a:srgbClr val="FF0000"/>
                </a:solidFill>
              </a:rPr>
              <a:t>÷ 2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0575" y="3124200"/>
            <a:ext cx="5950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solidFill>
                  <a:srgbClr val="FF0000"/>
                </a:solidFill>
              </a:rPr>
              <a:t>÷ 2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21388" y="2672834"/>
            <a:ext cx="112653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 8 = 2x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84888" y="3609459"/>
            <a:ext cx="9445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 4 = x </a:t>
            </a:r>
          </a:p>
        </p:txBody>
      </p:sp>
      <p:sp>
        <p:nvSpPr>
          <p:cNvPr id="11" name="Title 2"/>
          <p:cNvSpPr>
            <a:spLocks noGrp="1"/>
          </p:cNvSpPr>
          <p:nvPr>
            <p:ph type="title"/>
          </p:nvPr>
        </p:nvSpPr>
        <p:spPr>
          <a:xfrm>
            <a:off x="0" y="-477"/>
            <a:ext cx="7886700" cy="1325563"/>
          </a:xfrm>
        </p:spPr>
        <p:txBody>
          <a:bodyPr/>
          <a:lstStyle/>
          <a:p>
            <a:r>
              <a:rPr lang="en-US" b="1" dirty="0">
                <a:latin typeface="+mn-lt"/>
              </a:rPr>
              <a:t>Example 2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3292DC8A-ECB1-2E71-91C0-A273C0CAE2F4}"/>
              </a:ext>
            </a:extLst>
          </p:cNvPr>
          <p:cNvSpPr txBox="1">
            <a:spLocks/>
          </p:cNvSpPr>
          <p:nvPr/>
        </p:nvSpPr>
        <p:spPr>
          <a:xfrm>
            <a:off x="1521388" y="1169223"/>
            <a:ext cx="5339385" cy="369332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360363">
              <a:spcAft>
                <a:spcPts val="600"/>
              </a:spcAft>
              <a:buClr>
                <a:srgbClr val="FF0000"/>
              </a:buClr>
              <a:buNone/>
            </a:pPr>
            <a:r>
              <a:rPr lang="en-US" sz="2000" b="1" dirty="0">
                <a:solidFill>
                  <a:srgbClr val="FF0000"/>
                </a:solidFill>
              </a:rPr>
              <a:t>Balancing method:</a:t>
            </a:r>
            <a:endParaRPr lang="en-AU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0939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2" grpId="0"/>
      <p:bldP spid="13" grpId="0"/>
      <p:bldP spid="14" grpId="0"/>
      <p:bldP spid="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4"/>
          <p:cNvSpPr>
            <a:spLocks noGrp="1"/>
          </p:cNvSpPr>
          <p:nvPr>
            <p:ph idx="1"/>
          </p:nvPr>
        </p:nvSpPr>
        <p:spPr>
          <a:xfrm>
            <a:off x="396875" y="1571624"/>
            <a:ext cx="8118475" cy="4605339"/>
          </a:xfrm>
        </p:spPr>
        <p:txBody>
          <a:bodyPr/>
          <a:lstStyle/>
          <a:p>
            <a:pPr marL="514350" indent="-514350">
              <a:buAutoNum type="arabicParenR" startAt="3"/>
            </a:pPr>
            <a:r>
              <a:rPr lang="en-US" dirty="0"/>
              <a:t>4 (y + 7) =  6y</a:t>
            </a:r>
          </a:p>
          <a:p>
            <a:pPr marL="0" indent="0">
              <a:buNone/>
            </a:pPr>
            <a:r>
              <a:rPr lang="en-US" dirty="0"/>
              <a:t>       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dirty="0"/>
              <a:t>         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dirty="0"/>
              <a:t>              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2667000"/>
            <a:ext cx="68480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solidFill>
                  <a:srgbClr val="FF0000"/>
                </a:solidFill>
              </a:rPr>
              <a:t>- 4y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4900" y="2644775"/>
            <a:ext cx="68480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solidFill>
                  <a:srgbClr val="FF0000"/>
                </a:solidFill>
              </a:rPr>
              <a:t>- 4y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85925" y="3352800"/>
            <a:ext cx="5950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solidFill>
                  <a:srgbClr val="FF0000"/>
                </a:solidFill>
              </a:rPr>
              <a:t>÷ 2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62200" y="3330575"/>
            <a:ext cx="5950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solidFill>
                  <a:srgbClr val="FF0000"/>
                </a:solidFill>
              </a:rPr>
              <a:t>÷ 2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56388" y="2339459"/>
            <a:ext cx="87716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=  6y</a:t>
            </a:r>
          </a:p>
        </p:txBody>
      </p:sp>
      <p:sp>
        <p:nvSpPr>
          <p:cNvPr id="16" name="Curved Up Arrow 15"/>
          <p:cNvSpPr/>
          <p:nvPr/>
        </p:nvSpPr>
        <p:spPr>
          <a:xfrm>
            <a:off x="1000125" y="2063750"/>
            <a:ext cx="587375" cy="269875"/>
          </a:xfrm>
          <a:prstGeom prst="curved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Curved Up Arrow 16"/>
          <p:cNvSpPr/>
          <p:nvPr/>
        </p:nvSpPr>
        <p:spPr>
          <a:xfrm>
            <a:off x="984250" y="2025649"/>
            <a:ext cx="984250" cy="403225"/>
          </a:xfrm>
          <a:prstGeom prst="curved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759411" y="2999859"/>
            <a:ext cx="13260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28 =  2y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9373" y="3834884"/>
            <a:ext cx="113364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14 =  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9413" y="2317234"/>
            <a:ext cx="53091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4y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19788" y="2333109"/>
            <a:ext cx="80866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+ 28</a:t>
            </a:r>
          </a:p>
        </p:txBody>
      </p:sp>
      <p:sp>
        <p:nvSpPr>
          <p:cNvPr id="18" name="Title 2"/>
          <p:cNvSpPr>
            <a:spLocks noGrp="1"/>
          </p:cNvSpPr>
          <p:nvPr>
            <p:ph type="title"/>
          </p:nvPr>
        </p:nvSpPr>
        <p:spPr>
          <a:xfrm>
            <a:off x="0" y="-477"/>
            <a:ext cx="7886700" cy="1325563"/>
          </a:xfrm>
        </p:spPr>
        <p:txBody>
          <a:bodyPr/>
          <a:lstStyle/>
          <a:p>
            <a:r>
              <a:rPr lang="en-US" b="1" dirty="0">
                <a:latin typeface="+mn-lt"/>
              </a:rPr>
              <a:t>Example 3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F8790F61-027A-DFD2-2E07-71357D4788F2}"/>
              </a:ext>
            </a:extLst>
          </p:cNvPr>
          <p:cNvSpPr txBox="1">
            <a:spLocks/>
          </p:cNvSpPr>
          <p:nvPr/>
        </p:nvSpPr>
        <p:spPr>
          <a:xfrm>
            <a:off x="3671851" y="122221"/>
            <a:ext cx="5339385" cy="207646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Font typeface="Arial" panose="020B0604020202020204" pitchFamily="34" charset="0"/>
              <a:buAutoNum type="arabicPeriod"/>
            </a:pPr>
            <a:r>
              <a:rPr lang="en-AU" sz="1400" b="1" dirty="0">
                <a:solidFill>
                  <a:srgbClr val="00B0F0"/>
                </a:solidFill>
              </a:rPr>
              <a:t>Simplify both sides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Font typeface="Arial" panose="020B0604020202020204" pitchFamily="34" charset="0"/>
              <a:buAutoNum type="arabicPeriod"/>
            </a:pPr>
            <a:r>
              <a:rPr lang="en-AU" sz="1400" b="1" dirty="0">
                <a:solidFill>
                  <a:srgbClr val="00B0F0"/>
                </a:solidFill>
              </a:rPr>
              <a:t>Collect variable terms to left and numbers to right – swap sides swap signs.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Font typeface="Arial" panose="020B0604020202020204" pitchFamily="34" charset="0"/>
              <a:buAutoNum type="arabicPeriod"/>
            </a:pPr>
            <a:r>
              <a:rPr lang="en-AU" sz="1400" b="1" dirty="0">
                <a:solidFill>
                  <a:srgbClr val="00B0F0"/>
                </a:solidFill>
              </a:rPr>
              <a:t>Simplify both sides 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Font typeface="Arial" panose="020B0604020202020204" pitchFamily="34" charset="0"/>
              <a:buAutoNum type="arabicPeriod"/>
            </a:pPr>
            <a:r>
              <a:rPr lang="en-AU" sz="1400" b="1" dirty="0">
                <a:solidFill>
                  <a:srgbClr val="00B0F0"/>
                </a:solidFill>
              </a:rPr>
              <a:t>Divide both sides by coefficient.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Font typeface="Arial" panose="020B0604020202020204" pitchFamily="34" charset="0"/>
              <a:buAutoNum type="arabicPeriod"/>
            </a:pPr>
            <a:r>
              <a:rPr lang="en-AU" sz="1400" b="1" dirty="0">
                <a:solidFill>
                  <a:srgbClr val="00B0F0"/>
                </a:solidFill>
              </a:rPr>
              <a:t>State answer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A676C-72D1-3A5C-33DB-337B173857FE}"/>
              </a:ext>
            </a:extLst>
          </p:cNvPr>
          <p:cNvSpPr txBox="1"/>
          <p:nvPr/>
        </p:nvSpPr>
        <p:spPr>
          <a:xfrm>
            <a:off x="4456112" y="2913221"/>
            <a:ext cx="326746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Expanding the brackets is </a:t>
            </a:r>
            <a:r>
              <a:rPr lang="en-US" sz="2800" i="1" u="sng" dirty="0">
                <a:solidFill>
                  <a:srgbClr val="FF0000"/>
                </a:solidFill>
              </a:rPr>
              <a:t>simplifying.</a:t>
            </a:r>
            <a:endParaRPr lang="en-AU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1169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2" grpId="0"/>
      <p:bldP spid="13" grpId="0"/>
      <p:bldP spid="14" grpId="0"/>
      <p:bldP spid="16" grpId="0" animBg="1"/>
      <p:bldP spid="17" grpId="0" animBg="1"/>
      <p:bldP spid="21" grpId="0"/>
      <p:bldP spid="22" grpId="0"/>
      <p:bldP spid="23" grpId="0"/>
      <p:bldP spid="2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4"/>
          <p:cNvSpPr>
            <a:spLocks noGrp="1"/>
          </p:cNvSpPr>
          <p:nvPr>
            <p:ph idx="1"/>
          </p:nvPr>
        </p:nvSpPr>
        <p:spPr>
          <a:xfrm>
            <a:off x="396875" y="1682750"/>
            <a:ext cx="8118475" cy="4494213"/>
          </a:xfrm>
        </p:spPr>
        <p:txBody>
          <a:bodyPr/>
          <a:lstStyle/>
          <a:p>
            <a:pPr marL="514350" indent="-514350">
              <a:buAutoNum type="arabicParenR" startAt="4"/>
            </a:pPr>
            <a:r>
              <a:rPr lang="en-US" dirty="0"/>
              <a:t>6 (a + 2) =  4 (a + 5)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dirty="0"/>
              <a:t>         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dirty="0"/>
              <a:t>         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dirty="0"/>
              <a:t>            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6125" y="3032125"/>
            <a:ext cx="69082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solidFill>
                  <a:srgbClr val="FF0000"/>
                </a:solidFill>
              </a:rPr>
              <a:t>- 4a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95525" y="3025775"/>
            <a:ext cx="69082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solidFill>
                  <a:srgbClr val="FF0000"/>
                </a:solidFill>
              </a:rPr>
              <a:t>- 4a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1300" y="3924300"/>
            <a:ext cx="70010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solidFill>
                  <a:srgbClr val="FF0000"/>
                </a:solidFill>
              </a:rPr>
              <a:t>- 12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8075" y="3902075"/>
            <a:ext cx="70010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solidFill>
                  <a:srgbClr val="FF0000"/>
                </a:solidFill>
              </a:rPr>
              <a:t>- 12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2175" y="4654550"/>
            <a:ext cx="5950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solidFill>
                  <a:srgbClr val="FF0000"/>
                </a:solidFill>
              </a:rPr>
              <a:t>÷ 2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73325" y="4616450"/>
            <a:ext cx="5950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solidFill>
                  <a:srgbClr val="FF0000"/>
                </a:solidFill>
              </a:rPr>
              <a:t>÷ 2 </a:t>
            </a:r>
          </a:p>
        </p:txBody>
      </p:sp>
      <p:sp>
        <p:nvSpPr>
          <p:cNvPr id="4" name="Curved Up Arrow 3"/>
          <p:cNvSpPr/>
          <p:nvPr/>
        </p:nvSpPr>
        <p:spPr>
          <a:xfrm>
            <a:off x="1000125" y="2111375"/>
            <a:ext cx="587375" cy="269875"/>
          </a:xfrm>
          <a:prstGeom prst="curved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Curved Up Arrow 13"/>
          <p:cNvSpPr/>
          <p:nvPr/>
        </p:nvSpPr>
        <p:spPr>
          <a:xfrm>
            <a:off x="1016000" y="2105024"/>
            <a:ext cx="984250" cy="403225"/>
          </a:xfrm>
          <a:prstGeom prst="curved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Curved Up Arrow 15"/>
          <p:cNvSpPr/>
          <p:nvPr/>
        </p:nvSpPr>
        <p:spPr>
          <a:xfrm>
            <a:off x="2667000" y="2120901"/>
            <a:ext cx="517525" cy="292100"/>
          </a:xfrm>
          <a:prstGeom prst="curved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Curved Up Arrow 16"/>
          <p:cNvSpPr/>
          <p:nvPr/>
        </p:nvSpPr>
        <p:spPr>
          <a:xfrm>
            <a:off x="2682875" y="2114550"/>
            <a:ext cx="914400" cy="393700"/>
          </a:xfrm>
          <a:prstGeom prst="curved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96496" y="2634734"/>
            <a:ext cx="12438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6a + 12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5661" y="3539609"/>
            <a:ext cx="203017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2a + 12  = 20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27124" y="4301609"/>
            <a:ext cx="22383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2a           =  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42621" y="5142984"/>
            <a:ext cx="10438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a  =  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91896" y="2644259"/>
            <a:ext cx="150383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= 4a + 20</a:t>
            </a:r>
          </a:p>
        </p:txBody>
      </p:sp>
      <p:sp>
        <p:nvSpPr>
          <p:cNvPr id="23" name="Title 2"/>
          <p:cNvSpPr>
            <a:spLocks noGrp="1"/>
          </p:cNvSpPr>
          <p:nvPr>
            <p:ph type="title"/>
          </p:nvPr>
        </p:nvSpPr>
        <p:spPr>
          <a:xfrm>
            <a:off x="0" y="-477"/>
            <a:ext cx="7886700" cy="1325563"/>
          </a:xfrm>
        </p:spPr>
        <p:txBody>
          <a:bodyPr/>
          <a:lstStyle/>
          <a:p>
            <a:r>
              <a:rPr lang="en-US" b="1" dirty="0">
                <a:latin typeface="+mn-lt"/>
              </a:rPr>
              <a:t>Example 4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B03859A1-1F11-B724-0773-EB3128A53FB3}"/>
              </a:ext>
            </a:extLst>
          </p:cNvPr>
          <p:cNvSpPr txBox="1">
            <a:spLocks/>
          </p:cNvSpPr>
          <p:nvPr/>
        </p:nvSpPr>
        <p:spPr>
          <a:xfrm>
            <a:off x="3671851" y="122221"/>
            <a:ext cx="5339385" cy="207646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Font typeface="Arial" panose="020B0604020202020204" pitchFamily="34" charset="0"/>
              <a:buAutoNum type="arabicPeriod"/>
            </a:pPr>
            <a:r>
              <a:rPr lang="en-AU" sz="1400" b="1" dirty="0">
                <a:solidFill>
                  <a:srgbClr val="00B0F0"/>
                </a:solidFill>
              </a:rPr>
              <a:t>Simplify both sides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Font typeface="Arial" panose="020B0604020202020204" pitchFamily="34" charset="0"/>
              <a:buAutoNum type="arabicPeriod"/>
            </a:pPr>
            <a:r>
              <a:rPr lang="en-AU" sz="1400" b="1" dirty="0">
                <a:solidFill>
                  <a:srgbClr val="00B0F0"/>
                </a:solidFill>
              </a:rPr>
              <a:t>Collect variable terms to left and numbers to right – swap sides swap signs.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Font typeface="Arial" panose="020B0604020202020204" pitchFamily="34" charset="0"/>
              <a:buAutoNum type="arabicPeriod"/>
            </a:pPr>
            <a:r>
              <a:rPr lang="en-AU" sz="1400" b="1" dirty="0">
                <a:solidFill>
                  <a:srgbClr val="00B0F0"/>
                </a:solidFill>
              </a:rPr>
              <a:t>Simplify both sides 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Font typeface="Arial" panose="020B0604020202020204" pitchFamily="34" charset="0"/>
              <a:buAutoNum type="arabicPeriod"/>
            </a:pPr>
            <a:r>
              <a:rPr lang="en-AU" sz="1400" b="1" dirty="0">
                <a:solidFill>
                  <a:srgbClr val="00B0F0"/>
                </a:solidFill>
              </a:rPr>
              <a:t>Divide both sides by coefficient.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Font typeface="Arial" panose="020B0604020202020204" pitchFamily="34" charset="0"/>
              <a:buAutoNum type="arabicPeriod"/>
            </a:pPr>
            <a:r>
              <a:rPr lang="en-AU" sz="1400" b="1" dirty="0">
                <a:solidFill>
                  <a:srgbClr val="00B0F0"/>
                </a:solidFill>
              </a:rPr>
              <a:t>State answer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C20D999-37E3-2ACA-5593-EFADCBD2E9EF}"/>
              </a:ext>
            </a:extLst>
          </p:cNvPr>
          <p:cNvSpPr txBox="1"/>
          <p:nvPr/>
        </p:nvSpPr>
        <p:spPr>
          <a:xfrm>
            <a:off x="4456112" y="2913221"/>
            <a:ext cx="326746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Expanding the brackets is </a:t>
            </a:r>
            <a:r>
              <a:rPr lang="en-US" sz="2800" i="1" u="sng" dirty="0">
                <a:solidFill>
                  <a:srgbClr val="FF0000"/>
                </a:solidFill>
              </a:rPr>
              <a:t>simplifying.</a:t>
            </a:r>
            <a:endParaRPr lang="en-AU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7694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2" grpId="0"/>
      <p:bldP spid="13" grpId="0"/>
      <p:bldP spid="10" grpId="0"/>
      <p:bldP spid="11" grpId="0"/>
      <p:bldP spid="4" grpId="0" animBg="1"/>
      <p:bldP spid="14" grpId="0" animBg="1"/>
      <p:bldP spid="16" grpId="0" animBg="1"/>
      <p:bldP spid="17" grpId="0" animBg="1"/>
      <p:bldP spid="18" grpId="0"/>
      <p:bldP spid="19" grpId="0"/>
      <p:bldP spid="20" grpId="0"/>
      <p:bldP spid="21" grpId="0"/>
      <p:bldP spid="2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/>
          <p:cNvSpPr txBox="1"/>
          <p:nvPr/>
        </p:nvSpPr>
        <p:spPr>
          <a:xfrm>
            <a:off x="267419" y="1248534"/>
            <a:ext cx="84350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solidFill>
                  <a:schemeClr val="accent6">
                    <a:lumMod val="75000"/>
                  </a:schemeClr>
                </a:solidFill>
              </a:rPr>
              <a:t>When the going gets tough, the tough get going…</a:t>
            </a:r>
          </a:p>
        </p:txBody>
      </p:sp>
      <p:sp>
        <p:nvSpPr>
          <p:cNvPr id="32" name="Text Box 28"/>
          <p:cNvSpPr txBox="1">
            <a:spLocks noChangeArrowheads="1"/>
          </p:cNvSpPr>
          <p:nvPr/>
        </p:nvSpPr>
        <p:spPr bwMode="auto">
          <a:xfrm>
            <a:off x="845305" y="2531483"/>
            <a:ext cx="25050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dirty="0">
                <a:latin typeface="Times New Roman" panose="02020603050405020304" pitchFamily="18" charset="0"/>
              </a:rPr>
              <a:t>5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+ 1 = 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+ 9</a:t>
            </a:r>
          </a:p>
        </p:txBody>
      </p:sp>
      <p:sp>
        <p:nvSpPr>
          <p:cNvPr id="36" name="Text Box 30"/>
          <p:cNvSpPr txBox="1">
            <a:spLocks noChangeArrowheads="1"/>
          </p:cNvSpPr>
          <p:nvPr/>
        </p:nvSpPr>
        <p:spPr bwMode="auto">
          <a:xfrm>
            <a:off x="846509" y="3107746"/>
            <a:ext cx="29114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dirty="0">
                <a:latin typeface="Times New Roman" panose="02020603050405020304" pitchFamily="18" charset="0"/>
              </a:rPr>
              <a:t>7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+ 5 = 4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+ 20</a:t>
            </a:r>
          </a:p>
        </p:txBody>
      </p:sp>
      <p:sp>
        <p:nvSpPr>
          <p:cNvPr id="41" name="Text Box 32"/>
          <p:cNvSpPr txBox="1">
            <a:spLocks noChangeArrowheads="1"/>
          </p:cNvSpPr>
          <p:nvPr/>
        </p:nvSpPr>
        <p:spPr bwMode="auto">
          <a:xfrm>
            <a:off x="845305" y="3684008"/>
            <a:ext cx="27082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dirty="0">
                <a:latin typeface="Times New Roman" panose="02020603050405020304" pitchFamily="18" charset="0"/>
              </a:rPr>
              <a:t>3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+ 2 = 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+ 10</a:t>
            </a:r>
          </a:p>
        </p:txBody>
      </p:sp>
      <p:sp>
        <p:nvSpPr>
          <p:cNvPr id="42" name="Text Box 34"/>
          <p:cNvSpPr txBox="1">
            <a:spLocks noChangeArrowheads="1"/>
          </p:cNvSpPr>
          <p:nvPr/>
        </p:nvSpPr>
        <p:spPr bwMode="auto">
          <a:xfrm>
            <a:off x="846509" y="4260271"/>
            <a:ext cx="29114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dirty="0">
                <a:latin typeface="Times New Roman" panose="02020603050405020304" pitchFamily="18" charset="0"/>
              </a:rPr>
              <a:t>5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+ 1 = 3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+ 13</a:t>
            </a:r>
          </a:p>
        </p:txBody>
      </p:sp>
      <p:sp>
        <p:nvSpPr>
          <p:cNvPr id="69" name="Text Box 5"/>
          <p:cNvSpPr txBox="1">
            <a:spLocks noChangeArrowheads="1"/>
          </p:cNvSpPr>
          <p:nvPr/>
        </p:nvSpPr>
        <p:spPr bwMode="auto">
          <a:xfrm>
            <a:off x="417974" y="2010783"/>
            <a:ext cx="3460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70" name="Text Box 29"/>
          <p:cNvSpPr txBox="1">
            <a:spLocks noChangeArrowheads="1"/>
          </p:cNvSpPr>
          <p:nvPr/>
        </p:nvSpPr>
        <p:spPr bwMode="auto">
          <a:xfrm>
            <a:off x="417974" y="2594437"/>
            <a:ext cx="3460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71" name="Text Box 31"/>
          <p:cNvSpPr txBox="1">
            <a:spLocks noChangeArrowheads="1"/>
          </p:cNvSpPr>
          <p:nvPr/>
        </p:nvSpPr>
        <p:spPr bwMode="auto">
          <a:xfrm>
            <a:off x="417974" y="3178091"/>
            <a:ext cx="3460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72" name="Text Box 33"/>
          <p:cNvSpPr txBox="1">
            <a:spLocks noChangeArrowheads="1"/>
          </p:cNvSpPr>
          <p:nvPr/>
        </p:nvSpPr>
        <p:spPr bwMode="auto">
          <a:xfrm>
            <a:off x="417974" y="3761745"/>
            <a:ext cx="3460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73" name="Text Box 35"/>
          <p:cNvSpPr txBox="1">
            <a:spLocks noChangeArrowheads="1"/>
          </p:cNvSpPr>
          <p:nvPr/>
        </p:nvSpPr>
        <p:spPr bwMode="auto">
          <a:xfrm>
            <a:off x="417974" y="4345400"/>
            <a:ext cx="3460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79" name="Text Box 28"/>
          <p:cNvSpPr txBox="1">
            <a:spLocks noChangeArrowheads="1"/>
          </p:cNvSpPr>
          <p:nvPr/>
        </p:nvSpPr>
        <p:spPr bwMode="auto">
          <a:xfrm>
            <a:off x="832934" y="1918497"/>
            <a:ext cx="293862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dirty="0">
                <a:latin typeface="Times New Roman" panose="02020603050405020304" pitchFamily="18" charset="0"/>
              </a:rPr>
              <a:t>7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+ 2 = 3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+ 14</a:t>
            </a:r>
          </a:p>
        </p:txBody>
      </p:sp>
      <p:sp>
        <p:nvSpPr>
          <p:cNvPr id="80" name="Text Box 3"/>
          <p:cNvSpPr txBox="1">
            <a:spLocks noChangeArrowheads="1"/>
          </p:cNvSpPr>
          <p:nvPr/>
        </p:nvSpPr>
        <p:spPr bwMode="auto">
          <a:xfrm>
            <a:off x="3678332" y="2011081"/>
            <a:ext cx="78579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sz="2400" dirty="0">
                <a:solidFill>
                  <a:srgbClr val="FF0000"/>
                </a:solidFill>
              </a:rPr>
              <a:t> = 3</a:t>
            </a:r>
          </a:p>
        </p:txBody>
      </p:sp>
      <p:sp>
        <p:nvSpPr>
          <p:cNvPr id="81" name="Text Box 3"/>
          <p:cNvSpPr txBox="1">
            <a:spLocks noChangeArrowheads="1"/>
          </p:cNvSpPr>
          <p:nvPr/>
        </p:nvSpPr>
        <p:spPr bwMode="auto">
          <a:xfrm>
            <a:off x="3678332" y="2594735"/>
            <a:ext cx="78579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sz="2400" dirty="0">
                <a:solidFill>
                  <a:srgbClr val="FF0000"/>
                </a:solidFill>
              </a:rPr>
              <a:t> = 2</a:t>
            </a:r>
          </a:p>
        </p:txBody>
      </p:sp>
      <p:sp>
        <p:nvSpPr>
          <p:cNvPr id="82" name="Text Box 3"/>
          <p:cNvSpPr txBox="1">
            <a:spLocks noChangeArrowheads="1"/>
          </p:cNvSpPr>
          <p:nvPr/>
        </p:nvSpPr>
        <p:spPr bwMode="auto">
          <a:xfrm>
            <a:off x="3678332" y="3178389"/>
            <a:ext cx="78579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sz="2400" dirty="0">
                <a:solidFill>
                  <a:srgbClr val="FF0000"/>
                </a:solidFill>
              </a:rPr>
              <a:t> = 5</a:t>
            </a:r>
          </a:p>
        </p:txBody>
      </p:sp>
      <p:sp>
        <p:nvSpPr>
          <p:cNvPr id="83" name="Text Box 3"/>
          <p:cNvSpPr txBox="1">
            <a:spLocks noChangeArrowheads="1"/>
          </p:cNvSpPr>
          <p:nvPr/>
        </p:nvSpPr>
        <p:spPr bwMode="auto">
          <a:xfrm>
            <a:off x="3678332" y="3762043"/>
            <a:ext cx="78579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sz="2400" dirty="0">
                <a:solidFill>
                  <a:srgbClr val="FF0000"/>
                </a:solidFill>
              </a:rPr>
              <a:t> = 4</a:t>
            </a:r>
          </a:p>
        </p:txBody>
      </p:sp>
      <p:sp>
        <p:nvSpPr>
          <p:cNvPr id="84" name="Text Box 3"/>
          <p:cNvSpPr txBox="1">
            <a:spLocks noChangeArrowheads="1"/>
          </p:cNvSpPr>
          <p:nvPr/>
        </p:nvSpPr>
        <p:spPr bwMode="auto">
          <a:xfrm>
            <a:off x="3678332" y="4345698"/>
            <a:ext cx="78579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sz="2400" dirty="0">
                <a:solidFill>
                  <a:srgbClr val="FF0000"/>
                </a:solidFill>
              </a:rPr>
              <a:t> = 6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883255" y="6339310"/>
            <a:ext cx="985987" cy="32719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show all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67419" y="6323284"/>
            <a:ext cx="7629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Click an equation to see the solution, or </a:t>
            </a:r>
          </a:p>
        </p:txBody>
      </p:sp>
      <p:sp>
        <p:nvSpPr>
          <p:cNvPr id="96" name="Oval 95"/>
          <p:cNvSpPr/>
          <p:nvPr/>
        </p:nvSpPr>
        <p:spPr>
          <a:xfrm>
            <a:off x="3958105" y="4980505"/>
            <a:ext cx="4032000" cy="1301058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>
                <a:solidFill>
                  <a:schemeClr val="accent6">
                    <a:lumMod val="75000"/>
                  </a:schemeClr>
                </a:solidFill>
              </a:rPr>
              <a:t>Show your working out!</a:t>
            </a:r>
          </a:p>
          <a:p>
            <a:pPr algn="ctr"/>
            <a:r>
              <a:rPr lang="en-GB" sz="1600" b="1" dirty="0">
                <a:solidFill>
                  <a:schemeClr val="accent6">
                    <a:lumMod val="75000"/>
                  </a:schemeClr>
                </a:solidFill>
              </a:rPr>
              <a:t>Make your method clear, and remember that marks are still up for grabs if the answer is wrong!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7697" y="9600"/>
            <a:ext cx="7886700" cy="1325563"/>
          </a:xfrm>
        </p:spPr>
        <p:txBody>
          <a:bodyPr/>
          <a:lstStyle/>
          <a:p>
            <a:r>
              <a:rPr lang="en-US" b="1">
                <a:latin typeface="+mn-lt"/>
              </a:rPr>
              <a:t>Practice (1)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886944-02C8-809F-42F0-7ED78DB23026}"/>
              </a:ext>
            </a:extLst>
          </p:cNvPr>
          <p:cNvSpPr txBox="1"/>
          <p:nvPr/>
        </p:nvSpPr>
        <p:spPr>
          <a:xfrm>
            <a:off x="4847208" y="150920"/>
            <a:ext cx="33735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</a:rPr>
              <a:t>Exercise books </a:t>
            </a:r>
            <a:endParaRPr lang="en-AU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9046445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8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9"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  <p:seq concurrent="1" nextAc="seek">
              <p:cTn id="70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" fill="hold">
                      <p:stCondLst>
                        <p:cond delay="0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</p:childTnLst>
        </p:cTn>
      </p:par>
    </p:tnLst>
    <p:bldLst>
      <p:bldP spid="80" grpId="0"/>
      <p:bldP spid="80" grpId="1"/>
      <p:bldP spid="81" grpId="0"/>
      <p:bldP spid="81" grpId="1"/>
      <p:bldP spid="82" grpId="0"/>
      <p:bldP spid="82" grpId="1"/>
      <p:bldP spid="83" grpId="0"/>
      <p:bldP spid="83" grpId="1"/>
      <p:bldP spid="84" grpId="0"/>
      <p:bldP spid="84" grpId="1"/>
      <p:bldP spid="9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/>
          <p:cNvSpPr txBox="1"/>
          <p:nvPr/>
        </p:nvSpPr>
        <p:spPr>
          <a:xfrm>
            <a:off x="267419" y="1248534"/>
            <a:ext cx="84350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solidFill>
                  <a:schemeClr val="accent6">
                    <a:lumMod val="75000"/>
                  </a:schemeClr>
                </a:solidFill>
              </a:rPr>
              <a:t>Now with added negative signs…</a:t>
            </a:r>
          </a:p>
        </p:txBody>
      </p:sp>
      <p:sp>
        <p:nvSpPr>
          <p:cNvPr id="32" name="Text Box 28"/>
          <p:cNvSpPr txBox="1">
            <a:spLocks noChangeArrowheads="1"/>
          </p:cNvSpPr>
          <p:nvPr/>
        </p:nvSpPr>
        <p:spPr bwMode="auto">
          <a:xfrm>
            <a:off x="832934" y="2531483"/>
            <a:ext cx="291599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dirty="0">
                <a:latin typeface="Times New Roman" panose="02020603050405020304" pitchFamily="18" charset="0"/>
              </a:rPr>
              <a:t>5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− 4 = 2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+ 11</a:t>
            </a:r>
          </a:p>
        </p:txBody>
      </p:sp>
      <p:sp>
        <p:nvSpPr>
          <p:cNvPr id="36" name="Text Box 30"/>
          <p:cNvSpPr txBox="1">
            <a:spLocks noChangeArrowheads="1"/>
          </p:cNvSpPr>
          <p:nvPr/>
        </p:nvSpPr>
        <p:spPr bwMode="auto">
          <a:xfrm>
            <a:off x="832934" y="3107746"/>
            <a:ext cx="293862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dirty="0">
                <a:latin typeface="Times New Roman" panose="02020603050405020304" pitchFamily="18" charset="0"/>
              </a:rPr>
              <a:t>9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+ 3 = 4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+ 28</a:t>
            </a:r>
          </a:p>
        </p:txBody>
      </p:sp>
      <p:sp>
        <p:nvSpPr>
          <p:cNvPr id="41" name="Text Box 32"/>
          <p:cNvSpPr txBox="1">
            <a:spLocks noChangeArrowheads="1"/>
          </p:cNvSpPr>
          <p:nvPr/>
        </p:nvSpPr>
        <p:spPr bwMode="auto">
          <a:xfrm>
            <a:off x="627538" y="3684008"/>
            <a:ext cx="314381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dirty="0">
                <a:latin typeface="Times New Roman" panose="02020603050405020304" pitchFamily="18" charset="0"/>
              </a:rPr>
              <a:t>3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− 13 = 4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− 17</a:t>
            </a:r>
          </a:p>
        </p:txBody>
      </p:sp>
      <p:sp>
        <p:nvSpPr>
          <p:cNvPr id="42" name="Text Box 34"/>
          <p:cNvSpPr txBox="1">
            <a:spLocks noChangeArrowheads="1"/>
          </p:cNvSpPr>
          <p:nvPr/>
        </p:nvSpPr>
        <p:spPr bwMode="auto">
          <a:xfrm>
            <a:off x="845845" y="4260271"/>
            <a:ext cx="273344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dirty="0">
                <a:latin typeface="Times New Roman" panose="02020603050405020304" pitchFamily="18" charset="0"/>
              </a:rPr>
              <a:t>9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− 8 = 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+ 16</a:t>
            </a:r>
          </a:p>
        </p:txBody>
      </p:sp>
      <p:sp>
        <p:nvSpPr>
          <p:cNvPr id="69" name="Text Box 5"/>
          <p:cNvSpPr txBox="1">
            <a:spLocks noChangeArrowheads="1"/>
          </p:cNvSpPr>
          <p:nvPr/>
        </p:nvSpPr>
        <p:spPr bwMode="auto">
          <a:xfrm>
            <a:off x="417974" y="2010783"/>
            <a:ext cx="3460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70" name="Text Box 29"/>
          <p:cNvSpPr txBox="1">
            <a:spLocks noChangeArrowheads="1"/>
          </p:cNvSpPr>
          <p:nvPr/>
        </p:nvSpPr>
        <p:spPr bwMode="auto">
          <a:xfrm>
            <a:off x="417974" y="2594437"/>
            <a:ext cx="3460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71" name="Text Box 31"/>
          <p:cNvSpPr txBox="1">
            <a:spLocks noChangeArrowheads="1"/>
          </p:cNvSpPr>
          <p:nvPr/>
        </p:nvSpPr>
        <p:spPr bwMode="auto">
          <a:xfrm>
            <a:off x="417974" y="3178091"/>
            <a:ext cx="3460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72" name="Text Box 33"/>
          <p:cNvSpPr txBox="1">
            <a:spLocks noChangeArrowheads="1"/>
          </p:cNvSpPr>
          <p:nvPr/>
        </p:nvSpPr>
        <p:spPr bwMode="auto">
          <a:xfrm>
            <a:off x="417974" y="3761745"/>
            <a:ext cx="3460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73" name="Text Box 35"/>
          <p:cNvSpPr txBox="1">
            <a:spLocks noChangeArrowheads="1"/>
          </p:cNvSpPr>
          <p:nvPr/>
        </p:nvSpPr>
        <p:spPr bwMode="auto">
          <a:xfrm>
            <a:off x="417974" y="4345400"/>
            <a:ext cx="3460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79" name="Text Box 28"/>
          <p:cNvSpPr txBox="1">
            <a:spLocks noChangeArrowheads="1"/>
          </p:cNvSpPr>
          <p:nvPr/>
        </p:nvSpPr>
        <p:spPr bwMode="auto">
          <a:xfrm>
            <a:off x="639910" y="1918497"/>
            <a:ext cx="314381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en-US" b="1" dirty="0">
                <a:latin typeface="Times New Roman" panose="02020603050405020304" pitchFamily="18" charset="0"/>
              </a:rPr>
              <a:t>4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+ 18 = 7</a:t>
            </a:r>
            <a:r>
              <a:rPr lang="en-GB" altLang="en-US" b="1" i="1" dirty="0">
                <a:latin typeface="Times New Roman" panose="02020603050405020304" pitchFamily="18" charset="0"/>
              </a:rPr>
              <a:t>x</a:t>
            </a:r>
            <a:r>
              <a:rPr lang="en-GB" altLang="en-US" b="1" dirty="0">
                <a:latin typeface="Times New Roman" panose="02020603050405020304" pitchFamily="18" charset="0"/>
              </a:rPr>
              <a:t> − 12</a:t>
            </a:r>
          </a:p>
        </p:txBody>
      </p:sp>
      <p:sp>
        <p:nvSpPr>
          <p:cNvPr id="80" name="Text Box 3"/>
          <p:cNvSpPr txBox="1">
            <a:spLocks noChangeArrowheads="1"/>
          </p:cNvSpPr>
          <p:nvPr/>
        </p:nvSpPr>
        <p:spPr bwMode="auto">
          <a:xfrm>
            <a:off x="3678332" y="2011081"/>
            <a:ext cx="94128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sz="2400" dirty="0">
                <a:solidFill>
                  <a:srgbClr val="FF0000"/>
                </a:solidFill>
              </a:rPr>
              <a:t> = 10</a:t>
            </a:r>
          </a:p>
        </p:txBody>
      </p:sp>
      <p:sp>
        <p:nvSpPr>
          <p:cNvPr id="81" name="Text Box 3"/>
          <p:cNvSpPr txBox="1">
            <a:spLocks noChangeArrowheads="1"/>
          </p:cNvSpPr>
          <p:nvPr/>
        </p:nvSpPr>
        <p:spPr bwMode="auto">
          <a:xfrm>
            <a:off x="3678332" y="2594735"/>
            <a:ext cx="78579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sz="2400" dirty="0">
                <a:solidFill>
                  <a:srgbClr val="FF0000"/>
                </a:solidFill>
              </a:rPr>
              <a:t> = 5</a:t>
            </a:r>
          </a:p>
        </p:txBody>
      </p:sp>
      <p:sp>
        <p:nvSpPr>
          <p:cNvPr id="82" name="Text Box 3"/>
          <p:cNvSpPr txBox="1">
            <a:spLocks noChangeArrowheads="1"/>
          </p:cNvSpPr>
          <p:nvPr/>
        </p:nvSpPr>
        <p:spPr bwMode="auto">
          <a:xfrm>
            <a:off x="3678332" y="3178389"/>
            <a:ext cx="78579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sz="2400" dirty="0">
                <a:solidFill>
                  <a:srgbClr val="FF0000"/>
                </a:solidFill>
              </a:rPr>
              <a:t> = 5</a:t>
            </a:r>
          </a:p>
        </p:txBody>
      </p:sp>
      <p:sp>
        <p:nvSpPr>
          <p:cNvPr id="83" name="Text Box 3"/>
          <p:cNvSpPr txBox="1">
            <a:spLocks noChangeArrowheads="1"/>
          </p:cNvSpPr>
          <p:nvPr/>
        </p:nvSpPr>
        <p:spPr bwMode="auto">
          <a:xfrm>
            <a:off x="3678332" y="3762043"/>
            <a:ext cx="78579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sz="2400" dirty="0">
                <a:solidFill>
                  <a:srgbClr val="FF0000"/>
                </a:solidFill>
              </a:rPr>
              <a:t> = 4</a:t>
            </a:r>
          </a:p>
        </p:txBody>
      </p:sp>
      <p:sp>
        <p:nvSpPr>
          <p:cNvPr id="84" name="Text Box 3"/>
          <p:cNvSpPr txBox="1">
            <a:spLocks noChangeArrowheads="1"/>
          </p:cNvSpPr>
          <p:nvPr/>
        </p:nvSpPr>
        <p:spPr bwMode="auto">
          <a:xfrm>
            <a:off x="3678332" y="4345698"/>
            <a:ext cx="78579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sz="2400" dirty="0">
                <a:solidFill>
                  <a:srgbClr val="FF0000"/>
                </a:solidFill>
              </a:rPr>
              <a:t> = 3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883255" y="6339310"/>
            <a:ext cx="985987" cy="32719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show all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67419" y="6323284"/>
            <a:ext cx="7629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Click an equation to see the solution, or </a:t>
            </a:r>
          </a:p>
        </p:txBody>
      </p:sp>
      <p:sp>
        <p:nvSpPr>
          <p:cNvPr id="46" name="Oval 45"/>
          <p:cNvSpPr/>
          <p:nvPr/>
        </p:nvSpPr>
        <p:spPr>
          <a:xfrm>
            <a:off x="417974" y="4980505"/>
            <a:ext cx="4032000" cy="1301058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>
                <a:solidFill>
                  <a:schemeClr val="accent6">
                    <a:lumMod val="75000"/>
                  </a:schemeClr>
                </a:solidFill>
              </a:rPr>
              <a:t>A hint; it is usually easier to rearrange the equation so that x is on the side that already has more.  Why is this?</a:t>
            </a:r>
          </a:p>
        </p:txBody>
      </p:sp>
      <p:sp>
        <p:nvSpPr>
          <p:cNvPr id="48" name="Oval 47"/>
          <p:cNvSpPr/>
          <p:nvPr/>
        </p:nvSpPr>
        <p:spPr>
          <a:xfrm>
            <a:off x="3958105" y="4980505"/>
            <a:ext cx="4032000" cy="1301058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b="1" dirty="0">
                <a:solidFill>
                  <a:schemeClr val="accent6">
                    <a:lumMod val="75000"/>
                  </a:schemeClr>
                </a:solidFill>
              </a:rPr>
              <a:t>Make sure you are careful about the negative signs here.  Keep clear to which term a negative sign “belongs”.</a:t>
            </a:r>
          </a:p>
        </p:txBody>
      </p:sp>
      <p:sp>
        <p:nvSpPr>
          <p:cNvPr id="49" name="Title 1"/>
          <p:cNvSpPr>
            <a:spLocks noGrp="1"/>
          </p:cNvSpPr>
          <p:nvPr>
            <p:ph type="title"/>
          </p:nvPr>
        </p:nvSpPr>
        <p:spPr>
          <a:xfrm>
            <a:off x="-7697" y="9600"/>
            <a:ext cx="7886700" cy="1325563"/>
          </a:xfrm>
        </p:spPr>
        <p:txBody>
          <a:bodyPr/>
          <a:lstStyle/>
          <a:p>
            <a:r>
              <a:rPr lang="en-US" b="1" dirty="0">
                <a:latin typeface="+mn-lt"/>
              </a:rPr>
              <a:t>Practice (2)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F7E5BEA-1476-0194-0B88-231479C19B86}"/>
              </a:ext>
            </a:extLst>
          </p:cNvPr>
          <p:cNvSpPr txBox="1"/>
          <p:nvPr/>
        </p:nvSpPr>
        <p:spPr>
          <a:xfrm>
            <a:off x="4847208" y="150920"/>
            <a:ext cx="33735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</a:rPr>
              <a:t>Exercise books </a:t>
            </a:r>
            <a:endParaRPr lang="en-AU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1042334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8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9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60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" fill="hold">
                      <p:stCondLst>
                        <p:cond delay="0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  <p:seq concurrent="1" nextAc="seek">
              <p:cTn id="76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" fill="hold">
                      <p:stCondLst>
                        <p:cond delay="0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</p:childTnLst>
        </p:cTn>
      </p:par>
    </p:tnLst>
    <p:bldLst>
      <p:bldP spid="80" grpId="0"/>
      <p:bldP spid="80" grpId="1"/>
      <p:bldP spid="81" grpId="0"/>
      <p:bldP spid="81" grpId="1"/>
      <p:bldP spid="82" grpId="0"/>
      <p:bldP spid="82" grpId="1"/>
      <p:bldP spid="83" grpId="0"/>
      <p:bldP spid="83" grpId="1"/>
      <p:bldP spid="84" grpId="0"/>
      <p:bldP spid="84" grpId="1"/>
      <p:bldP spid="46" grpId="0" animBg="1"/>
      <p:bldP spid="4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472"/>
            <a:ext cx="7886700" cy="1325563"/>
          </a:xfrm>
        </p:spPr>
        <p:txBody>
          <a:bodyPr/>
          <a:lstStyle/>
          <a:p>
            <a:r>
              <a:rPr lang="en-GB" b="1">
                <a:latin typeface="+mn-lt"/>
              </a:rPr>
              <a:t>Mixed practice</a:t>
            </a:r>
            <a:endParaRPr lang="en-GB" b="1" dirty="0">
              <a:latin typeface="+mn-lt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48247" y="1305661"/>
            <a:ext cx="3420504" cy="48320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28600" indent="-2286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r>
              <a:rPr lang="en-GB" sz="2800" dirty="0">
                <a:ea typeface="Calibri" pitchFamily="34" charset="0"/>
                <a:cs typeface="Times New Roman" pitchFamily="18" charset="0"/>
              </a:rPr>
              <a:t>2x + 10 = 7x + 5</a:t>
            </a:r>
            <a:endParaRPr kumimoji="0" lang="en-GB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228600" indent="-2286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r>
              <a:rPr lang="en-GB" sz="2800" dirty="0">
                <a:ea typeface="Calibri" pitchFamily="34" charset="0"/>
                <a:cs typeface="Times New Roman" pitchFamily="18" charset="0"/>
              </a:rPr>
              <a:t> 3x + 9 = 6x</a:t>
            </a:r>
            <a:endParaRPr kumimoji="0" lang="en-GB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228600" indent="-2286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r>
              <a:rPr kumimoji="0" lang="en-GB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Times New Roman" pitchFamily="18" charset="0"/>
              </a:rPr>
              <a:t> 3</a:t>
            </a:r>
            <a:r>
              <a:rPr kumimoji="0" lang="en-GB" sz="280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Times New Roman" pitchFamily="18" charset="0"/>
              </a:rPr>
              <a:t> (x + 4) = 6x</a:t>
            </a:r>
            <a:endParaRPr kumimoji="0" lang="en-GB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228600" indent="-2286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r>
              <a:rPr lang="en-GB" sz="2800" dirty="0">
                <a:ea typeface="Calibri" pitchFamily="34" charset="0"/>
                <a:cs typeface="Times New Roman" pitchFamily="18" charset="0"/>
              </a:rPr>
              <a:t> 8y - 6 = 2(y + 9)</a:t>
            </a:r>
            <a:r>
              <a:rPr kumimoji="0" lang="en-GB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Times New Roman" pitchFamily="18" charset="0"/>
              </a:rPr>
              <a:t> </a:t>
            </a:r>
            <a:endParaRPr kumimoji="0" lang="en-GB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228600" indent="-2286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r>
              <a:rPr kumimoji="0" lang="en-GB" sz="280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en-GB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Times New Roman" pitchFamily="18" charset="0"/>
              </a:rPr>
              <a:t>3(a </a:t>
            </a:r>
            <a:r>
              <a:rPr lang="en-GB" sz="2800" dirty="0">
                <a:ea typeface="Calibri" pitchFamily="34" charset="0"/>
                <a:cs typeface="Times New Roman" pitchFamily="18" charset="0"/>
              </a:rPr>
              <a:t>+</a:t>
            </a:r>
            <a:r>
              <a:rPr kumimoji="0" lang="en-GB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Times New Roman" pitchFamily="18" charset="0"/>
              </a:rPr>
              <a:t> </a:t>
            </a:r>
            <a:r>
              <a:rPr lang="en-GB" sz="2800" dirty="0">
                <a:ea typeface="Calibri" pitchFamily="34" charset="0"/>
                <a:cs typeface="Times New Roman" pitchFamily="18" charset="0"/>
              </a:rPr>
              <a:t>4) = 5 (a + 2)</a:t>
            </a:r>
          </a:p>
          <a:p>
            <a:pPr marL="228600" indent="-2286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r>
              <a:rPr lang="en-GB" sz="2800" dirty="0">
                <a:latin typeface="Calibri" pitchFamily="34" charset="0"/>
                <a:ea typeface="Calibri" pitchFamily="34" charset="0"/>
                <a:cs typeface="Times New Roman" pitchFamily="18" charset="0"/>
              </a:rPr>
              <a:t>3x - 8 = x + 2 </a:t>
            </a:r>
          </a:p>
          <a:p>
            <a:pPr marL="228600" indent="-2286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r>
              <a:rPr lang="en-GB" sz="2800" dirty="0">
                <a:latin typeface="Calibri" pitchFamily="34" charset="0"/>
                <a:ea typeface="Calibri" pitchFamily="34" charset="0"/>
                <a:cs typeface="Times New Roman" pitchFamily="18" charset="0"/>
              </a:rPr>
              <a:t> 2x + 12 = 6x</a:t>
            </a:r>
          </a:p>
          <a:p>
            <a:pPr marL="228600" indent="-2286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r>
              <a:rPr lang="en-GB" sz="2800" dirty="0">
                <a:latin typeface="Calibri" pitchFamily="34" charset="0"/>
                <a:ea typeface="Calibri" pitchFamily="34" charset="0"/>
                <a:cs typeface="Times New Roman" pitchFamily="18" charset="0"/>
              </a:rPr>
              <a:t> 5 + 3x = 9x – 4 </a:t>
            </a:r>
          </a:p>
          <a:p>
            <a:pPr marL="228600" indent="-2286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r>
              <a:rPr lang="en-GB" sz="2800" dirty="0">
                <a:latin typeface="Calibri" pitchFamily="34" charset="0"/>
                <a:ea typeface="Calibri" pitchFamily="34" charset="0"/>
                <a:cs typeface="Times New Roman" pitchFamily="18" charset="0"/>
              </a:rPr>
              <a:t> 2 (a + 5) = 6 ( a – 5)</a:t>
            </a:r>
          </a:p>
          <a:p>
            <a:pPr marL="228600" indent="-2286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r>
              <a:rPr lang="en-GB" sz="2800" dirty="0">
                <a:latin typeface="Calibri" pitchFamily="34" charset="0"/>
                <a:ea typeface="Calibri" pitchFamily="34" charset="0"/>
                <a:cs typeface="Times New Roman" pitchFamily="18" charset="0"/>
              </a:rPr>
              <a:t> 5 (y – 6) = 2 ( 6 + y) </a:t>
            </a:r>
          </a:p>
          <a:p>
            <a:pPr marL="228600" indent="-2286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r>
              <a:rPr lang="en-GB" sz="2800" dirty="0">
                <a:latin typeface="Calibri" pitchFamily="34" charset="0"/>
                <a:ea typeface="Calibri" pitchFamily="34" charset="0"/>
                <a:cs typeface="Times New Roman" pitchFamily="18" charset="0"/>
              </a:rPr>
              <a:t> 4b = 6b - 12</a:t>
            </a:r>
            <a:endParaRPr lang="en-GB" sz="2800" dirty="0">
              <a:ea typeface="Calibri" pitchFamily="34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405410" y="1305661"/>
            <a:ext cx="2056393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0070C0"/>
                </a:solidFill>
              </a:rPr>
              <a:t>x = 1 </a:t>
            </a:r>
            <a:endParaRPr lang="en-US" sz="2800" dirty="0">
              <a:solidFill>
                <a:srgbClr val="0070C0"/>
              </a:solidFill>
            </a:endParaRPr>
          </a:p>
          <a:p>
            <a:r>
              <a:rPr lang="en-GB" sz="2800" dirty="0">
                <a:solidFill>
                  <a:srgbClr val="0070C0"/>
                </a:solidFill>
              </a:rPr>
              <a:t>x = 3 </a:t>
            </a:r>
            <a:endParaRPr lang="en-US" sz="2800" dirty="0">
              <a:solidFill>
                <a:srgbClr val="0070C0"/>
              </a:solidFill>
            </a:endParaRPr>
          </a:p>
          <a:p>
            <a:r>
              <a:rPr lang="en-GB" sz="2800" dirty="0">
                <a:solidFill>
                  <a:srgbClr val="0070C0"/>
                </a:solidFill>
              </a:rPr>
              <a:t>x = 4 </a:t>
            </a:r>
            <a:endParaRPr lang="en-US" sz="2800" dirty="0">
              <a:solidFill>
                <a:srgbClr val="0070C0"/>
              </a:solidFill>
            </a:endParaRPr>
          </a:p>
          <a:p>
            <a:r>
              <a:rPr lang="en-GB" sz="2800" dirty="0">
                <a:solidFill>
                  <a:srgbClr val="0070C0"/>
                </a:solidFill>
              </a:rPr>
              <a:t>y = 4 </a:t>
            </a:r>
            <a:endParaRPr lang="en-US" sz="2800" dirty="0">
              <a:solidFill>
                <a:srgbClr val="0070C0"/>
              </a:solidFill>
            </a:endParaRPr>
          </a:p>
          <a:p>
            <a:r>
              <a:rPr lang="en-GB" sz="2800" dirty="0">
                <a:solidFill>
                  <a:srgbClr val="0070C0"/>
                </a:solidFill>
              </a:rPr>
              <a:t>a = 1  </a:t>
            </a:r>
            <a:endParaRPr lang="en-US" sz="2800" dirty="0">
              <a:solidFill>
                <a:srgbClr val="0070C0"/>
              </a:solidFill>
            </a:endParaRPr>
          </a:p>
          <a:p>
            <a:r>
              <a:rPr lang="en-GB" sz="2800" dirty="0">
                <a:solidFill>
                  <a:srgbClr val="0070C0"/>
                </a:solidFill>
              </a:rPr>
              <a:t>x = 5</a:t>
            </a:r>
          </a:p>
          <a:p>
            <a:r>
              <a:rPr lang="en-GB" sz="2800" dirty="0">
                <a:solidFill>
                  <a:srgbClr val="0070C0"/>
                </a:solidFill>
              </a:rPr>
              <a:t>x = 3</a:t>
            </a:r>
          </a:p>
          <a:p>
            <a:r>
              <a:rPr lang="en-GB" sz="2800" dirty="0">
                <a:solidFill>
                  <a:srgbClr val="0070C0"/>
                </a:solidFill>
              </a:rPr>
              <a:t>x = 1.5</a:t>
            </a:r>
          </a:p>
          <a:p>
            <a:r>
              <a:rPr lang="en-GB" sz="2800" dirty="0">
                <a:solidFill>
                  <a:srgbClr val="0070C0"/>
                </a:solidFill>
              </a:rPr>
              <a:t>a = 10</a:t>
            </a:r>
          </a:p>
          <a:p>
            <a:r>
              <a:rPr lang="en-GB" sz="2800" dirty="0">
                <a:solidFill>
                  <a:srgbClr val="0070C0"/>
                </a:solidFill>
              </a:rPr>
              <a:t>y = 14</a:t>
            </a:r>
          </a:p>
          <a:p>
            <a:r>
              <a:rPr lang="en-GB" sz="2800" dirty="0">
                <a:solidFill>
                  <a:srgbClr val="0070C0"/>
                </a:solidFill>
              </a:rPr>
              <a:t>b = 6  </a:t>
            </a:r>
            <a:endParaRPr lang="en-US" sz="28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472"/>
            <a:ext cx="7886700" cy="1325563"/>
          </a:xfrm>
        </p:spPr>
        <p:txBody>
          <a:bodyPr/>
          <a:lstStyle/>
          <a:p>
            <a:r>
              <a:rPr lang="en-GB" b="1">
                <a:latin typeface="+mn-lt"/>
              </a:rPr>
              <a:t>Mixed practice</a:t>
            </a:r>
            <a:endParaRPr lang="en-GB" b="1" dirty="0">
              <a:latin typeface="+mn-lt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522846" y="1508872"/>
            <a:ext cx="3420504" cy="4616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28600" indent="-2286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r>
              <a:rPr lang="en-GB" sz="1400" dirty="0">
                <a:ea typeface="Calibri" pitchFamily="34" charset="0"/>
                <a:cs typeface="Times New Roman" pitchFamily="18" charset="0"/>
              </a:rPr>
              <a:t>2x + 10 = 7x + 5</a:t>
            </a:r>
          </a:p>
          <a:p>
            <a:pPr marL="228600" indent="-2286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endParaRPr kumimoji="0" lang="en-GB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Calibri" pitchFamily="34" charset="0"/>
              <a:cs typeface="Times New Roman" pitchFamily="18" charset="0"/>
            </a:endParaRPr>
          </a:p>
          <a:p>
            <a:pPr marL="228600" indent="-2286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endParaRPr lang="en-GB" sz="1400" dirty="0">
              <a:ea typeface="Calibri" pitchFamily="34" charset="0"/>
              <a:cs typeface="Times New Roman" pitchFamily="18" charset="0"/>
            </a:endParaRPr>
          </a:p>
          <a:p>
            <a:pPr marL="228600" indent="-2286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endParaRPr kumimoji="0" lang="en-GB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Calibri" pitchFamily="34" charset="0"/>
              <a:cs typeface="Times New Roman" pitchFamily="18" charset="0"/>
            </a:endParaRPr>
          </a:p>
          <a:p>
            <a:pPr marL="228600" indent="-2286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endParaRPr kumimoji="0" lang="en-GB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228600" indent="-2286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r>
              <a:rPr lang="en-GB" sz="1400" dirty="0">
                <a:ea typeface="Calibri" pitchFamily="34" charset="0"/>
                <a:cs typeface="Times New Roman" pitchFamily="18" charset="0"/>
              </a:rPr>
              <a:t> 3x + 9 = 6x</a:t>
            </a:r>
            <a:endParaRPr kumimoji="0" lang="en-GB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228600" indent="-2286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endParaRPr lang="en-GB" sz="1400" dirty="0">
              <a:ea typeface="Calibri" pitchFamily="34" charset="0"/>
              <a:cs typeface="Arial" pitchFamily="34" charset="0"/>
            </a:endParaRPr>
          </a:p>
          <a:p>
            <a:pPr marL="228600" indent="-2286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endParaRPr kumimoji="0" lang="en-GB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Calibri" pitchFamily="34" charset="0"/>
              <a:cs typeface="Arial" pitchFamily="34" charset="0"/>
            </a:endParaRPr>
          </a:p>
          <a:p>
            <a:pPr marL="228600" indent="-2286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endParaRPr kumimoji="0" lang="en-GB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Calibri" pitchFamily="34" charset="0"/>
              <a:cs typeface="Arial" pitchFamily="34" charset="0"/>
            </a:endParaRPr>
          </a:p>
          <a:p>
            <a:pPr marL="228600" indent="-2286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endParaRPr kumimoji="0" lang="en-GB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Calibri" pitchFamily="34" charset="0"/>
              <a:cs typeface="Arial" pitchFamily="34" charset="0"/>
            </a:endParaRPr>
          </a:p>
          <a:p>
            <a:pPr marL="228600" indent="-2286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r>
              <a:rPr kumimoji="0" lang="en-GB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Times New Roman" pitchFamily="18" charset="0"/>
              </a:rPr>
              <a:t> 3</a:t>
            </a:r>
            <a:r>
              <a:rPr kumimoji="0" lang="en-GB" sz="140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Times New Roman" pitchFamily="18" charset="0"/>
              </a:rPr>
              <a:t> (x + 4) = 6x</a:t>
            </a:r>
          </a:p>
          <a:p>
            <a:pPr marL="228600" indent="-2286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endParaRPr lang="en-GB" sz="1400" baseline="0" dirty="0">
              <a:ea typeface="Calibri" pitchFamily="34" charset="0"/>
              <a:cs typeface="Times New Roman" pitchFamily="18" charset="0"/>
            </a:endParaRPr>
          </a:p>
          <a:p>
            <a:pPr marL="228600" indent="-2286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endParaRPr kumimoji="0" lang="en-GB" sz="1400" i="0" u="none" strike="noStrike" cap="none" normalizeH="0" dirty="0">
              <a:ln>
                <a:noFill/>
              </a:ln>
              <a:solidFill>
                <a:schemeClr val="tx1"/>
              </a:solidFill>
              <a:effectLst/>
              <a:ea typeface="Calibri" pitchFamily="34" charset="0"/>
              <a:cs typeface="Times New Roman" pitchFamily="18" charset="0"/>
            </a:endParaRPr>
          </a:p>
          <a:p>
            <a:pPr marL="228600" indent="-2286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endParaRPr kumimoji="0" lang="en-GB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228600" indent="-2286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endParaRPr kumimoji="0" lang="en-GB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228600" indent="-2286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r>
              <a:rPr lang="en-GB" sz="1400" dirty="0">
                <a:ea typeface="Calibri" pitchFamily="34" charset="0"/>
                <a:cs typeface="Times New Roman" pitchFamily="18" charset="0"/>
              </a:rPr>
              <a:t> 8y - 6 = 2(y + 9)</a:t>
            </a:r>
            <a:r>
              <a:rPr kumimoji="0" lang="en-GB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Times New Roman" pitchFamily="18" charset="0"/>
              </a:rPr>
              <a:t> </a:t>
            </a:r>
          </a:p>
          <a:p>
            <a:pPr marL="228600" indent="-2286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endParaRPr lang="en-GB" sz="1400" dirty="0">
              <a:ea typeface="Calibri" pitchFamily="34" charset="0"/>
              <a:cs typeface="Times New Roman" pitchFamily="18" charset="0"/>
            </a:endParaRPr>
          </a:p>
          <a:p>
            <a:pPr marL="228600" indent="-2286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endParaRPr kumimoji="0" lang="en-GB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Calibri" pitchFamily="34" charset="0"/>
              <a:cs typeface="Times New Roman" pitchFamily="18" charset="0"/>
            </a:endParaRPr>
          </a:p>
          <a:p>
            <a:pPr marL="228600" indent="-2286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endParaRPr kumimoji="0" lang="en-GB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228600" indent="-2286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endParaRPr kumimoji="0" lang="en-GB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228600" indent="-2286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r>
              <a:rPr kumimoji="0" lang="en-GB" sz="140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en-GB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Times New Roman" pitchFamily="18" charset="0"/>
              </a:rPr>
              <a:t>3(a </a:t>
            </a:r>
            <a:r>
              <a:rPr lang="en-GB" sz="1400" dirty="0">
                <a:ea typeface="Calibri" pitchFamily="34" charset="0"/>
                <a:cs typeface="Times New Roman" pitchFamily="18" charset="0"/>
              </a:rPr>
              <a:t>+</a:t>
            </a:r>
            <a:r>
              <a:rPr kumimoji="0" lang="en-GB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itchFamily="34" charset="0"/>
                <a:cs typeface="Times New Roman" pitchFamily="18" charset="0"/>
              </a:rPr>
              <a:t> </a:t>
            </a:r>
            <a:r>
              <a:rPr lang="en-GB" sz="1400" dirty="0">
                <a:ea typeface="Calibri" pitchFamily="34" charset="0"/>
                <a:cs typeface="Times New Roman" pitchFamily="18" charset="0"/>
              </a:rPr>
              <a:t>4) = 5 (a + 2)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4466196" y="431654"/>
            <a:ext cx="3420504" cy="56938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 startAt="6"/>
            </a:pPr>
            <a:r>
              <a:rPr lang="en-GB" sz="1400" dirty="0">
                <a:latin typeface="Calibri" pitchFamily="34" charset="0"/>
                <a:ea typeface="Calibri" pitchFamily="34" charset="0"/>
                <a:cs typeface="Times New Roman" pitchFamily="18" charset="0"/>
              </a:rPr>
              <a:t>3x - 8 = x + 2</a:t>
            </a: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 startAt="6"/>
            </a:pPr>
            <a:endParaRPr lang="en-GB" sz="1400" dirty="0"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 startAt="6"/>
            </a:pPr>
            <a:endParaRPr lang="en-GB" sz="1400" dirty="0"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 startAt="6"/>
            </a:pPr>
            <a:endParaRPr lang="en-GB" sz="1400" dirty="0"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 startAt="6"/>
            </a:pPr>
            <a:endParaRPr lang="en-GB" sz="1400" dirty="0"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 startAt="6"/>
            </a:pPr>
            <a:r>
              <a:rPr lang="en-GB" sz="1400" dirty="0">
                <a:latin typeface="Calibri" pitchFamily="34" charset="0"/>
                <a:ea typeface="Calibri" pitchFamily="34" charset="0"/>
                <a:cs typeface="Times New Roman" pitchFamily="18" charset="0"/>
              </a:rPr>
              <a:t>2x + 12 = 6x</a:t>
            </a: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 startAt="6"/>
            </a:pPr>
            <a:endParaRPr lang="en-GB" sz="1400" dirty="0"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 startAt="6"/>
            </a:pPr>
            <a:endParaRPr lang="en-GB" sz="1400" dirty="0"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 startAt="6"/>
            </a:pPr>
            <a:endParaRPr lang="en-GB" sz="1400" dirty="0"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 startAt="6"/>
            </a:pPr>
            <a:endParaRPr lang="en-GB" sz="1400" dirty="0"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 startAt="6"/>
            </a:pPr>
            <a:r>
              <a:rPr lang="en-GB" sz="1400" dirty="0">
                <a:latin typeface="Calibri" pitchFamily="34" charset="0"/>
                <a:ea typeface="Calibri" pitchFamily="34" charset="0"/>
                <a:cs typeface="Times New Roman" pitchFamily="18" charset="0"/>
              </a:rPr>
              <a:t>5 + 3x = 9x – 4</a:t>
            </a: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 startAt="6"/>
            </a:pPr>
            <a:endParaRPr lang="en-GB" sz="1400" dirty="0"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 startAt="6"/>
            </a:pPr>
            <a:endParaRPr lang="en-GB" sz="1400" dirty="0"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 startAt="6"/>
            </a:pPr>
            <a:endParaRPr lang="en-GB" sz="1400" dirty="0"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 startAt="6"/>
            </a:pPr>
            <a:endParaRPr lang="en-GB" sz="1400" dirty="0"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 startAt="6"/>
            </a:pPr>
            <a:r>
              <a:rPr lang="en-GB" sz="1400" dirty="0">
                <a:latin typeface="Calibri" pitchFamily="34" charset="0"/>
                <a:ea typeface="Calibri" pitchFamily="34" charset="0"/>
                <a:cs typeface="Times New Roman" pitchFamily="18" charset="0"/>
              </a:rPr>
              <a:t>2 (a + 5) = 6 ( a – 5)</a:t>
            </a: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 startAt="6"/>
            </a:pPr>
            <a:endParaRPr lang="en-GB" sz="1400" dirty="0"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 startAt="6"/>
            </a:pPr>
            <a:endParaRPr lang="en-GB" sz="1400" dirty="0"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 startAt="6"/>
            </a:pPr>
            <a:endParaRPr lang="en-GB" sz="1400" dirty="0"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 startAt="6"/>
            </a:pPr>
            <a:endParaRPr lang="en-GB" sz="1400" dirty="0"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 startAt="6"/>
            </a:pPr>
            <a:r>
              <a:rPr lang="en-GB" sz="1400" dirty="0">
                <a:latin typeface="Calibri" pitchFamily="34" charset="0"/>
                <a:ea typeface="Calibri" pitchFamily="34" charset="0"/>
                <a:cs typeface="Times New Roman" pitchFamily="18" charset="0"/>
              </a:rPr>
              <a:t>5 (y – 6) = 2 ( 6 + y)</a:t>
            </a: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 startAt="6"/>
            </a:pPr>
            <a:endParaRPr lang="en-GB" sz="1400" dirty="0"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 startAt="6"/>
            </a:pPr>
            <a:endParaRPr lang="en-GB" sz="1400" dirty="0"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 startAt="6"/>
            </a:pPr>
            <a:endParaRPr lang="en-GB" sz="1400" dirty="0"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 startAt="6"/>
            </a:pPr>
            <a:endParaRPr lang="en-GB" sz="1400" dirty="0"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 startAt="6"/>
            </a:pPr>
            <a:r>
              <a:rPr lang="en-GB" sz="1400" dirty="0">
                <a:latin typeface="Calibri" pitchFamily="34" charset="0"/>
                <a:ea typeface="Calibri" pitchFamily="34" charset="0"/>
                <a:cs typeface="Times New Roman" pitchFamily="18" charset="0"/>
              </a:rPr>
              <a:t>4b = 6b - 12</a:t>
            </a:r>
            <a:endParaRPr lang="en-GB" sz="1400" dirty="0">
              <a:ea typeface="Calibri" pitchFamily="34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60504" y="6408902"/>
            <a:ext cx="1687961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Student Sheet 6</a:t>
            </a:r>
          </a:p>
        </p:txBody>
      </p:sp>
    </p:spTree>
    <p:extLst>
      <p:ext uri="{BB962C8B-B14F-4D97-AF65-F5344CB8AC3E}">
        <p14:creationId xmlns:p14="http://schemas.microsoft.com/office/powerpoint/2010/main" val="13064727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1084</TotalTime>
  <Words>954</Words>
  <Application>Microsoft Office PowerPoint</Application>
  <PresentationFormat>On-screen Show (4:3)</PresentationFormat>
  <Paragraphs>267</Paragraphs>
  <Slides>15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Arial</vt:lpstr>
      <vt:lpstr>Calibri</vt:lpstr>
      <vt:lpstr>Calibri Light</vt:lpstr>
      <vt:lpstr>Century Gothic</vt:lpstr>
      <vt:lpstr>Times New Roman</vt:lpstr>
      <vt:lpstr>Wingdings</vt:lpstr>
      <vt:lpstr>Wingdings 3</vt:lpstr>
      <vt:lpstr>Office Theme</vt:lpstr>
      <vt:lpstr>Wisp</vt:lpstr>
      <vt:lpstr>Title: Brackets</vt:lpstr>
      <vt:lpstr>Key vocabulary</vt:lpstr>
      <vt:lpstr>Starter</vt:lpstr>
      <vt:lpstr>Choral response </vt:lpstr>
      <vt:lpstr>DPM/A</vt:lpstr>
      <vt:lpstr>Whiteboards – expanding brackets </vt:lpstr>
      <vt:lpstr>PowerPoint Presentation</vt:lpstr>
      <vt:lpstr>Example 1</vt:lpstr>
      <vt:lpstr>Example 2</vt:lpstr>
      <vt:lpstr>Example 3</vt:lpstr>
      <vt:lpstr>Example 4</vt:lpstr>
      <vt:lpstr>Practice (1)</vt:lpstr>
      <vt:lpstr>Practice (2)</vt:lpstr>
      <vt:lpstr>Mixed practice</vt:lpstr>
      <vt:lpstr>Mixed practice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Christina Moody</dc:creator>
  <cp:lastModifiedBy>DAVIES Rhys [Busselton Senior High School]</cp:lastModifiedBy>
  <cp:revision>168</cp:revision>
  <dcterms:created xsi:type="dcterms:W3CDTF">2016-01-18T14:56:17Z</dcterms:created>
  <dcterms:modified xsi:type="dcterms:W3CDTF">2022-08-18T00:09:07Z</dcterms:modified>
</cp:coreProperties>
</file>
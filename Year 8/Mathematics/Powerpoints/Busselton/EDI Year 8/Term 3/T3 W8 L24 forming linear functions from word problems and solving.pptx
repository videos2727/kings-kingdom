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8" r:id="rId5"/>
    <p:sldId id="257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6DA9-60E4-5495-7EA2-47B5D0010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9E23C-6A27-1C84-BB58-9824DEB17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4ECC-0922-5B33-B82B-EB81AB5F9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AB3FF-8303-002C-1CCE-A5C6A34F9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5A543-6D99-1CF8-0E59-4D44176F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162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E74F-ABF3-4340-09F8-7DB699FD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E5F34-8BDC-C9F8-BBEE-57B14935B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E3160-F09F-E531-46F9-B5A6CF83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93A00-FBF5-D7A0-DDC0-F0463553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D17EB-FF7E-B031-5B57-83A6FD3E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823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FA68-21EF-5448-7478-1EF4D110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5846D-4653-B9B9-47C1-EF494CADE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24E9A-07CA-092A-C169-694DF8B0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BDB3A-65C8-3BD1-72AD-64AB190A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4D464-ADAA-2EB8-CBD4-F7DDF75F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966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F3B5-28C2-9DDD-6066-BAEE48B4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2FBB-EE7F-BADB-ED54-6AB30FF84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147AE-049C-48FC-BBF0-EB67EF4A5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F6BAE-76AE-292E-05EB-97148CD2D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B9181-6A79-CC1D-5C0F-A4415346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B48A4-472B-AEFC-E946-01D330BAF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931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15E2-566D-33DA-BA66-52F7FC8F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5199B-AF3A-819B-5D23-26A75ED79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23902-DF9A-E432-479E-DB429C7E5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89E67-0911-2B48-5A3E-DB86F29859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4C7D4-DE26-6BF2-7275-9082848D7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CE31B7-7EFD-6FB6-81BC-07BB4EA3D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73202-8AD7-C945-5A10-CFC24710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D3338-66E5-47BE-E8E6-BB60871B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393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A4B6-64B2-614B-2F30-407601CA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63481-AC2A-7D93-6AE7-F77B84F0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2E2A3-2863-F5DE-893F-83D7B31D8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21895-C3FC-1C2B-04FC-E5EF1600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892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7A99B-23F2-93F9-CA5C-9E44F9DC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5C2B5-6784-B33E-5EEA-6847838EE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D4628-4CD7-3DB7-DFB4-92623DBF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004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D1EF-0AA4-19ED-7BF9-B223A0DD1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A0F3D-8953-83C0-7E85-7F0C9A3F2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34B70-BDB5-E610-5B58-5F0AACFB3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0201B-C49C-428A-05CB-3C74A2B9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7F2B0-E410-C9FC-55A5-5436F82EC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6EEF9-2C92-CC52-5E23-535C5828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82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8D8B-10E6-FC29-88C2-FB0FD65D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BF7D08-D8A6-7947-A007-0C0031F24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72B2E-690E-F6BC-10E0-5BF834F69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0B898-AF2B-3AF1-90BD-8BB360FC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6BB0C-D364-11B0-67FC-F24735FB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31671-5FC8-AA8C-C9F4-09708590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826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A3EA-F205-B97D-F93B-0431B1C1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FF268-36DC-3AEE-E40F-4249A0F5D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1157B-009A-61C1-A6EA-96D2F9350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69435-9709-CFC3-3F68-7D52210F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53B52-33FA-BA2E-506F-FDA606C1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85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372162-A36B-701D-C472-5FBC9C78F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ED4EE-E87C-BD3E-8571-48C4A3919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88FDF-E91B-9DD0-E473-BB8E32B0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78B72-88CC-E0EF-A25E-B79B294B4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05FE0-59C3-EC3E-D598-F2DBE9C8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0589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ceptual Underst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7D535A-6781-4D91-A8AD-4D859137FFC9}"/>
              </a:ext>
            </a:extLst>
          </p:cNvPr>
          <p:cNvSpPr txBox="1"/>
          <p:nvPr userDrawn="1"/>
        </p:nvSpPr>
        <p:spPr>
          <a:xfrm>
            <a:off x="154907" y="141439"/>
            <a:ext cx="3668156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Conceptual Understanding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5104F-6B1E-42E1-9F7F-B855DD9D3D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78934"/>
            <a:ext cx="11697787" cy="58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AU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8245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F41E4B-24F8-87FB-0D8B-3E3B15C9D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24055-8623-157A-C58C-C44FD8E1A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31E1-0C29-A70D-EB93-9D9BA2A13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BA854-0BFD-40BB-B675-B4D5BBB127E8}" type="datetimeFigureOut">
              <a:rPr lang="en-AU" smtClean="0"/>
              <a:t>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82537-0673-3F13-35C4-5D92C825F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7772F-7F1E-FFF6-8D62-0A9447000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D1F3C-4E5C-4704-80C5-D1E151D65C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B2DD9E-399B-1CF2-3688-5531E9973505}"/>
              </a:ext>
            </a:extLst>
          </p:cNvPr>
          <p:cNvSpPr txBox="1"/>
          <p:nvPr/>
        </p:nvSpPr>
        <p:spPr>
          <a:xfrm>
            <a:off x="477769" y="1631655"/>
            <a:ext cx="112364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LO:</a:t>
            </a:r>
          </a:p>
          <a:p>
            <a:r>
              <a:rPr lang="en-AU" sz="2400" dirty="0">
                <a:solidFill>
                  <a:srgbClr val="00B0F0"/>
                </a:solidFill>
              </a:rPr>
              <a:t>Aim - to be able to: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rgbClr val="00B0F0"/>
                </a:solidFill>
              </a:rPr>
              <a:t>Identify linear functions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rgbClr val="00B0F0"/>
                </a:solidFill>
              </a:rPr>
              <a:t>Form linear functions from word problems and related problems algebraically.</a:t>
            </a:r>
          </a:p>
          <a:p>
            <a:endParaRPr lang="en-AU" sz="2400" dirty="0">
              <a:solidFill>
                <a:srgbClr val="00B0F0"/>
              </a:solidFill>
            </a:endParaRPr>
          </a:p>
          <a:p>
            <a:r>
              <a:rPr lang="en-AU" sz="2400" dirty="0">
                <a:solidFill>
                  <a:srgbClr val="00B0F0"/>
                </a:solidFill>
              </a:rPr>
              <a:t>PBS Focus: Achieve, attempt all tasks</a:t>
            </a:r>
          </a:p>
          <a:p>
            <a:endParaRPr lang="en-AU" sz="2400" dirty="0">
              <a:solidFill>
                <a:srgbClr val="00B0F0"/>
              </a:solidFill>
            </a:endParaRPr>
          </a:p>
          <a:p>
            <a:r>
              <a:rPr lang="en-AU" sz="2400" dirty="0">
                <a:solidFill>
                  <a:srgbClr val="00B0F0"/>
                </a:solidFill>
              </a:rPr>
              <a:t>Plan: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Review rules from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Identify linear equations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Forming linear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A5F99-98CB-4D62-A2B3-36C952CD777C}"/>
              </a:ext>
            </a:extLst>
          </p:cNvPr>
          <p:cNvSpPr txBox="1"/>
          <p:nvPr/>
        </p:nvSpPr>
        <p:spPr>
          <a:xfrm>
            <a:off x="4795935" y="1987421"/>
            <a:ext cx="4198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highlight>
                  <a:srgbClr val="FFFF00"/>
                </a:highlight>
              </a:rPr>
              <a:t>Need whiteboards and calculators</a:t>
            </a:r>
          </a:p>
        </p:txBody>
      </p:sp>
    </p:spTree>
    <p:extLst>
      <p:ext uri="{BB962C8B-B14F-4D97-AF65-F5344CB8AC3E}">
        <p14:creationId xmlns:p14="http://schemas.microsoft.com/office/powerpoint/2010/main" val="3399351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C614-6DDF-4020-B2A2-788EA892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32380" cy="1325563"/>
          </a:xfrm>
        </p:spPr>
        <p:txBody>
          <a:bodyPr/>
          <a:lstStyle/>
          <a:p>
            <a:r>
              <a:rPr lang="en-AU" dirty="0"/>
              <a:t>Rules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55FAD5-C63E-49D6-8829-A3310C44D8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4107" y="492460"/>
            <a:ext cx="6039693" cy="58730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F56F63-0D6A-49BF-AB44-37F326F1496D}"/>
              </a:ext>
            </a:extLst>
          </p:cNvPr>
          <p:cNvSpPr txBox="1"/>
          <p:nvPr/>
        </p:nvSpPr>
        <p:spPr>
          <a:xfrm>
            <a:off x="269033" y="1408922"/>
            <a:ext cx="37975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 do:</a:t>
            </a:r>
          </a:p>
          <a:p>
            <a:r>
              <a:rPr lang="en-AU" sz="2400" dirty="0"/>
              <a:t>Rule for A </a:t>
            </a:r>
          </a:p>
          <a:p>
            <a:endParaRPr lang="en-AU" sz="2400" dirty="0"/>
          </a:p>
          <a:p>
            <a:r>
              <a:rPr lang="en-AU" sz="2400" dirty="0"/>
              <a:t>Rule for F</a:t>
            </a:r>
          </a:p>
          <a:p>
            <a:endParaRPr lang="en-AU" sz="2400" dirty="0"/>
          </a:p>
          <a:p>
            <a:r>
              <a:rPr lang="en-AU" sz="2400" dirty="0"/>
              <a:t>We do:</a:t>
            </a:r>
          </a:p>
          <a:p>
            <a:r>
              <a:rPr lang="en-AU" sz="2400" dirty="0"/>
              <a:t> Rule for C </a:t>
            </a:r>
          </a:p>
          <a:p>
            <a:endParaRPr lang="en-AU" sz="2400" dirty="0"/>
          </a:p>
          <a:p>
            <a:r>
              <a:rPr lang="en-AU" sz="2400" dirty="0"/>
              <a:t>Rule for D </a:t>
            </a:r>
          </a:p>
          <a:p>
            <a:endParaRPr lang="en-AU" sz="2400" dirty="0"/>
          </a:p>
          <a:p>
            <a:r>
              <a:rPr lang="en-AU" sz="2400" dirty="0"/>
              <a:t>You do:</a:t>
            </a:r>
          </a:p>
          <a:p>
            <a:r>
              <a:rPr lang="en-AU" sz="2400" dirty="0"/>
              <a:t>Rule for E</a:t>
            </a:r>
          </a:p>
          <a:p>
            <a:endParaRPr lang="en-AU" sz="2400" dirty="0"/>
          </a:p>
          <a:p>
            <a:r>
              <a:rPr lang="en-AU" sz="2400" dirty="0"/>
              <a:t>Rule for B</a:t>
            </a:r>
          </a:p>
        </p:txBody>
      </p:sp>
    </p:spTree>
    <p:extLst>
      <p:ext uri="{BB962C8B-B14F-4D97-AF65-F5344CB8AC3E}">
        <p14:creationId xmlns:p14="http://schemas.microsoft.com/office/powerpoint/2010/main" val="205645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C202-5F8C-4F82-817D-58FCFE95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11" y="376413"/>
            <a:ext cx="3688644" cy="1325563"/>
          </a:xfrm>
        </p:spPr>
        <p:txBody>
          <a:bodyPr/>
          <a:lstStyle/>
          <a:p>
            <a:pPr algn="ctr"/>
            <a:r>
              <a:rPr lang="en-AU" dirty="0"/>
              <a:t>Linear means straight line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74F02F-3ED4-49B4-9DF1-2D22E434F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1104" y="101560"/>
            <a:ext cx="6596140" cy="64251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8B9A3FA-7EA3-492F-B8BF-45A861316DB1}"/>
              </a:ext>
            </a:extLst>
          </p:cNvPr>
          <p:cNvSpPr/>
          <p:nvPr/>
        </p:nvSpPr>
        <p:spPr>
          <a:xfrm>
            <a:off x="4941104" y="1039194"/>
            <a:ext cx="443696" cy="5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FF3F5A-3BB0-4FF8-A3C0-8C8D5A3F7083}"/>
              </a:ext>
            </a:extLst>
          </p:cNvPr>
          <p:cNvSpPr/>
          <p:nvPr/>
        </p:nvSpPr>
        <p:spPr>
          <a:xfrm>
            <a:off x="6605064" y="49344"/>
            <a:ext cx="443696" cy="5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BF3BF-8768-4D5E-B4C3-ECE84DE9FFA9}"/>
              </a:ext>
            </a:extLst>
          </p:cNvPr>
          <p:cNvSpPr/>
          <p:nvPr/>
        </p:nvSpPr>
        <p:spPr>
          <a:xfrm>
            <a:off x="7594108" y="101560"/>
            <a:ext cx="443696" cy="5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B7159F-1075-49BC-BAA5-0D64A156D151}"/>
              </a:ext>
            </a:extLst>
          </p:cNvPr>
          <p:cNvSpPr/>
          <p:nvPr/>
        </p:nvSpPr>
        <p:spPr>
          <a:xfrm>
            <a:off x="9343828" y="49344"/>
            <a:ext cx="443696" cy="5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2FA1C-08E9-4745-B35F-9DE06CB75E96}"/>
              </a:ext>
            </a:extLst>
          </p:cNvPr>
          <p:cNvSpPr txBox="1"/>
          <p:nvPr/>
        </p:nvSpPr>
        <p:spPr>
          <a:xfrm>
            <a:off x="438539" y="2397967"/>
            <a:ext cx="4805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Linear functions are those whose graph is a straight line.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24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6B09B-D440-4F59-B80F-A11825DB6D4F}"/>
                  </a:ext>
                </a:extLst>
              </p:cNvPr>
              <p:cNvSpPr txBox="1"/>
              <p:nvPr/>
            </p:nvSpPr>
            <p:spPr>
              <a:xfrm>
                <a:off x="201386" y="772886"/>
                <a:ext cx="11674928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/>
                  <a:t>Linear relationships: have a constant rate that can be expressed as a line on the cartesian plane.</a:t>
                </a:r>
              </a:p>
              <a:p>
                <a:pPr algn="ctr"/>
                <a:endParaRPr lang="en-AU" dirty="0"/>
              </a:p>
              <a:p>
                <a:pPr algn="ctr"/>
                <a:r>
                  <a:rPr lang="en-AU" dirty="0"/>
                  <a:t>These relationships can be written as an equation using the variable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  <a:p>
                <a:pPr algn="ctr"/>
                <a:r>
                  <a:rPr lang="en-AU" dirty="0"/>
                  <a:t>The equations general format: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6B09B-D440-4F59-B80F-A11825DB6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86" y="772886"/>
                <a:ext cx="11674928" cy="1877437"/>
              </a:xfrm>
              <a:prstGeom prst="rect">
                <a:avLst/>
              </a:prstGeom>
              <a:blipFill>
                <a:blip r:embed="rId2"/>
                <a:stretch>
                  <a:fillRect t="-19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90E513-D29F-4495-ADC9-13698B467CDB}"/>
                  </a:ext>
                </a:extLst>
              </p:cNvPr>
              <p:cNvSpPr txBox="1"/>
              <p:nvPr/>
            </p:nvSpPr>
            <p:spPr>
              <a:xfrm>
                <a:off x="772886" y="3889172"/>
                <a:ext cx="6096000" cy="768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800" dirty="0">
                    <a:solidFill>
                      <a:schemeClr val="accent1"/>
                    </a:solidFill>
                  </a:rPr>
                  <a:t>m</a:t>
                </a:r>
                <a:r>
                  <a:rPr kumimoji="0" lang="en-AU" sz="28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rPr>
                  <a:t>= 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𝐶h𝑎𝑛𝑔𝑒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𝐶h𝑎𝑛𝑔𝑒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kumimoji="0" lang="en-AU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</m:oMath>
                </a14:m>
                <a:endParaRPr lang="en-AU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90E513-D29F-4495-ADC9-13698B467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86" y="3889172"/>
                <a:ext cx="6096000" cy="768224"/>
              </a:xfrm>
              <a:prstGeom prst="rect">
                <a:avLst/>
              </a:prstGeom>
              <a:blipFill>
                <a:blip r:embed="rId3"/>
                <a:stretch>
                  <a:fillRect l="-2100" b="-39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1592B4-B448-4508-9061-31A670040FA9}"/>
              </a:ext>
            </a:extLst>
          </p:cNvPr>
          <p:cNvCxnSpPr/>
          <p:nvPr/>
        </p:nvCxnSpPr>
        <p:spPr>
          <a:xfrm flipV="1">
            <a:off x="1061357" y="2476500"/>
            <a:ext cx="4631872" cy="15675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D5645C-09B2-457A-A1AE-5C7112D24919}"/>
              </a:ext>
            </a:extLst>
          </p:cNvPr>
          <p:cNvCxnSpPr/>
          <p:nvPr/>
        </p:nvCxnSpPr>
        <p:spPr>
          <a:xfrm flipH="1" flipV="1">
            <a:off x="7391400" y="2476500"/>
            <a:ext cx="1322614" cy="161652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8A39E9-0AC3-4C42-83EF-94E2723ACE3C}"/>
              </a:ext>
            </a:extLst>
          </p:cNvPr>
          <p:cNvSpPr txBox="1"/>
          <p:nvPr/>
        </p:nvSpPr>
        <p:spPr>
          <a:xfrm>
            <a:off x="6357257" y="427872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noProof="0" dirty="0">
                <a:solidFill>
                  <a:schemeClr val="accent1"/>
                </a:solidFill>
              </a:rPr>
              <a:t>C</a:t>
            </a:r>
            <a:r>
              <a:rPr kumimoji="0" lang="en-AU" sz="2800" b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=</a:t>
            </a:r>
            <a:r>
              <a:rPr kumimoji="0" lang="en-AU" sz="2800" b="0" u="none" strike="noStrike" kern="1200" cap="none" spc="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 what the y-intercept is (for y)</a:t>
            </a:r>
            <a:endParaRPr lang="en-AU" sz="2800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B780CF-FEE3-422C-6190-C07181A5186B}"/>
              </a:ext>
            </a:extLst>
          </p:cNvPr>
          <p:cNvSpPr txBox="1"/>
          <p:nvPr/>
        </p:nvSpPr>
        <p:spPr>
          <a:xfrm>
            <a:off x="1061357" y="4959726"/>
            <a:ext cx="371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rgbClr val="FF0000"/>
                </a:solidFill>
              </a:rPr>
              <a:t>Which is a </a:t>
            </a:r>
            <a:r>
              <a:rPr lang="en-AU" sz="3600" b="1" u="sng" dirty="0">
                <a:solidFill>
                  <a:srgbClr val="FF0000"/>
                </a:solidFill>
              </a:rPr>
              <a:t>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23F1D-D7F6-BD06-D5CB-6A9A98889007}"/>
              </a:ext>
            </a:extLst>
          </p:cNvPr>
          <p:cNvSpPr txBox="1"/>
          <p:nvPr/>
        </p:nvSpPr>
        <p:spPr>
          <a:xfrm>
            <a:off x="5362984" y="4975305"/>
            <a:ext cx="5912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rgbClr val="FF0000"/>
                </a:solidFill>
              </a:rPr>
              <a:t>Which is the </a:t>
            </a:r>
            <a:r>
              <a:rPr lang="en-AU" sz="3600" b="1" u="sng" dirty="0">
                <a:solidFill>
                  <a:srgbClr val="FF0000"/>
                </a:solidFill>
              </a:rPr>
              <a:t>Starting Value</a:t>
            </a:r>
          </a:p>
        </p:txBody>
      </p:sp>
    </p:spTree>
    <p:extLst>
      <p:ext uri="{BB962C8B-B14F-4D97-AF65-F5344CB8AC3E}">
        <p14:creationId xmlns:p14="http://schemas.microsoft.com/office/powerpoint/2010/main" val="410904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4337E40-C641-8AB3-8D03-052E70DA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94" y="170723"/>
            <a:ext cx="11642806" cy="59533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EF2E7A-4851-4B38-86F6-8A73B1F67E6B}"/>
              </a:ext>
            </a:extLst>
          </p:cNvPr>
          <p:cNvSpPr/>
          <p:nvPr/>
        </p:nvSpPr>
        <p:spPr>
          <a:xfrm>
            <a:off x="569167" y="2491273"/>
            <a:ext cx="11168743" cy="12503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0FF2D-4E06-4A5A-B587-4BEA82E166A1}"/>
              </a:ext>
            </a:extLst>
          </p:cNvPr>
          <p:cNvSpPr txBox="1"/>
          <p:nvPr/>
        </p:nvSpPr>
        <p:spPr>
          <a:xfrm>
            <a:off x="3156855" y="2425959"/>
            <a:ext cx="57912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THINK: what is the rate?</a:t>
            </a:r>
          </a:p>
          <a:p>
            <a:r>
              <a:rPr lang="en-AU" sz="3200" dirty="0"/>
              <a:t>What is the starting value?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A2944-38F1-4528-BB95-6C7D04C25D69}"/>
              </a:ext>
            </a:extLst>
          </p:cNvPr>
          <p:cNvSpPr/>
          <p:nvPr/>
        </p:nvSpPr>
        <p:spPr>
          <a:xfrm>
            <a:off x="468083" y="4797827"/>
            <a:ext cx="11168743" cy="12503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1E87D-13C3-4A4D-B546-4B2BEF3EDBD0}"/>
              </a:ext>
            </a:extLst>
          </p:cNvPr>
          <p:cNvSpPr txBox="1"/>
          <p:nvPr/>
        </p:nvSpPr>
        <p:spPr>
          <a:xfrm>
            <a:off x="817982" y="6048130"/>
            <a:ext cx="5791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Graphing activity </a:t>
            </a:r>
          </a:p>
        </p:txBody>
      </p:sp>
    </p:spTree>
    <p:extLst>
      <p:ext uri="{BB962C8B-B14F-4D97-AF65-F5344CB8AC3E}">
        <p14:creationId xmlns:p14="http://schemas.microsoft.com/office/powerpoint/2010/main" val="389220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C096-93FD-4027-BCF1-9FD2B60C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Graphing from a rule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482DD-08E6-42CF-8E4D-A0D7C8340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Make the rule (use letters in context) 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Make a table of values, starting at zero 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Plot these as coordinates 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Draw the line (connect the dots) </a:t>
            </a:r>
          </a:p>
          <a:p>
            <a:pPr marL="514350" indent="-514350">
              <a:buAutoNum type="arabicPeriod"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89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1C07-FAF0-4266-BD8E-2D5BEF16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1613" y="-222486"/>
            <a:ext cx="2988733" cy="1325563"/>
          </a:xfrm>
        </p:spPr>
        <p:txBody>
          <a:bodyPr/>
          <a:lstStyle/>
          <a:p>
            <a:pPr algn="ctr"/>
            <a:r>
              <a:rPr lang="en-AU" dirty="0"/>
              <a:t>Graphing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CD751F-43A4-4142-BF8A-9C44CDC3A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1913" y="662811"/>
            <a:ext cx="10515600" cy="117522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443B9-29EB-4C01-A765-5E50798EC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339" y="1838032"/>
            <a:ext cx="5257143" cy="46952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DBE06D-EA46-49F8-8092-40D465C62D52}"/>
              </a:ext>
            </a:extLst>
          </p:cNvPr>
          <p:cNvSpPr/>
          <p:nvPr/>
        </p:nvSpPr>
        <p:spPr>
          <a:xfrm>
            <a:off x="6199339" y="1952978"/>
            <a:ext cx="348217" cy="39285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DF9F225-9618-4DBF-8E7E-B867C4A57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650540"/>
              </p:ext>
            </p:extLst>
          </p:nvPr>
        </p:nvGraphicFramePr>
        <p:xfrm>
          <a:off x="847485" y="4753267"/>
          <a:ext cx="486279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558">
                  <a:extLst>
                    <a:ext uri="{9D8B030D-6E8A-4147-A177-3AD203B41FA5}">
                      <a16:colId xmlns:a16="http://schemas.microsoft.com/office/drawing/2014/main" val="3815162323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2300721677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200199966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77579735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567889606"/>
                    </a:ext>
                  </a:extLst>
                </a:gridCol>
              </a:tblGrid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Time in hours (T)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50477"/>
                  </a:ext>
                </a:extLst>
              </a:tr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Cost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37197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80CE55-CF02-4909-823F-E7D9FA737CFD}"/>
              </a:ext>
            </a:extLst>
          </p:cNvPr>
          <p:cNvSpPr txBox="1"/>
          <p:nvPr/>
        </p:nvSpPr>
        <p:spPr>
          <a:xfrm>
            <a:off x="438538" y="2118049"/>
            <a:ext cx="52571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Make the rule (use letters in context)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Make a table of values, starting at zero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Plot these as coordinates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Draw the line (connect the dots)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383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11AC7-3B9F-405B-B02A-4D83559EC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825" y="324730"/>
            <a:ext cx="11124657" cy="1325563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704997-6E99-4D5B-A8EB-BD7A2C507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339" y="1838032"/>
            <a:ext cx="5257143" cy="4695238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2F55873-D714-469E-B521-32926B1B7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082773"/>
              </p:ext>
            </p:extLst>
          </p:nvPr>
        </p:nvGraphicFramePr>
        <p:xfrm>
          <a:off x="847485" y="4753267"/>
          <a:ext cx="486279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558">
                  <a:extLst>
                    <a:ext uri="{9D8B030D-6E8A-4147-A177-3AD203B41FA5}">
                      <a16:colId xmlns:a16="http://schemas.microsoft.com/office/drawing/2014/main" val="3815162323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2300721677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200199966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77579735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567889606"/>
                    </a:ext>
                  </a:extLst>
                </a:gridCol>
              </a:tblGrid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Time (H)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50477"/>
                  </a:ext>
                </a:extLst>
              </a:tr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Cost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37197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95E08D4-CC81-407E-B5B1-078BCD52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0814" y="1650293"/>
            <a:ext cx="1464732" cy="617009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We 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0952B-5EEF-420F-86EC-14C1CE586586}"/>
              </a:ext>
            </a:extLst>
          </p:cNvPr>
          <p:cNvSpPr txBox="1"/>
          <p:nvPr/>
        </p:nvSpPr>
        <p:spPr>
          <a:xfrm>
            <a:off x="246454" y="1650293"/>
            <a:ext cx="525714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Make the rule (use letters in context)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Make a table of values, starting at zero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Plot these as coordinates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Draw the line (connect the dots) </a:t>
            </a:r>
          </a:p>
          <a:p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A82B3-9678-4D19-A34D-F4FC2A79526D}"/>
              </a:ext>
            </a:extLst>
          </p:cNvPr>
          <p:cNvSpPr/>
          <p:nvPr/>
        </p:nvSpPr>
        <p:spPr>
          <a:xfrm>
            <a:off x="6199339" y="1958797"/>
            <a:ext cx="348217" cy="39285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17ED0D-F4C5-4EFC-9EC5-0FC3A75A7F94}"/>
              </a:ext>
            </a:extLst>
          </p:cNvPr>
          <p:cNvSpPr/>
          <p:nvPr/>
        </p:nvSpPr>
        <p:spPr>
          <a:xfrm>
            <a:off x="11192889" y="6186195"/>
            <a:ext cx="337774" cy="436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1130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53C5-DF9A-468A-BFC2-DAF26B0C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You do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5276DE-905D-4C8E-9008-1BDC45074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037" y="2503081"/>
            <a:ext cx="11540851" cy="15212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697F3B-D9C9-4951-98C2-1CE31713D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64" y="4537545"/>
            <a:ext cx="11009002" cy="1829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C2512E-D935-4134-B29C-816D2BAEBCA0}"/>
              </a:ext>
            </a:extLst>
          </p:cNvPr>
          <p:cNvSpPr txBox="1"/>
          <p:nvPr/>
        </p:nvSpPr>
        <p:spPr>
          <a:xfrm>
            <a:off x="1533957" y="1583594"/>
            <a:ext cx="8859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highlight>
                  <a:srgbClr val="FFFF00"/>
                </a:highlight>
              </a:rPr>
              <a:t>Use a ruler and graph paper to draw your graph and table of values. </a:t>
            </a:r>
          </a:p>
        </p:txBody>
      </p:sp>
    </p:spTree>
    <p:extLst>
      <p:ext uri="{BB962C8B-B14F-4D97-AF65-F5344CB8AC3E}">
        <p14:creationId xmlns:p14="http://schemas.microsoft.com/office/powerpoint/2010/main" val="4281008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315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</vt:lpstr>
      <vt:lpstr>Arial Rounded MT Bold</vt:lpstr>
      <vt:lpstr>Calibri</vt:lpstr>
      <vt:lpstr>Calibri Light</vt:lpstr>
      <vt:lpstr>Cambria Math</vt:lpstr>
      <vt:lpstr>Wingdings</vt:lpstr>
      <vt:lpstr>Office Theme</vt:lpstr>
      <vt:lpstr>PowerPoint Presentation</vt:lpstr>
      <vt:lpstr>Rules </vt:lpstr>
      <vt:lpstr>Linear means straight line </vt:lpstr>
      <vt:lpstr>PowerPoint Presentation</vt:lpstr>
      <vt:lpstr>PowerPoint Presentation</vt:lpstr>
      <vt:lpstr>Graphing from a rule </vt:lpstr>
      <vt:lpstr>Graphing </vt:lpstr>
      <vt:lpstr>We do</vt:lpstr>
      <vt:lpstr>You 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GALE Denham [Busselton Senior High School]</dc:creator>
  <cp:lastModifiedBy>DAVIES Rhys [Busselton Senior High School]</cp:lastModifiedBy>
  <cp:revision>9</cp:revision>
  <dcterms:created xsi:type="dcterms:W3CDTF">2022-08-30T00:02:43Z</dcterms:created>
  <dcterms:modified xsi:type="dcterms:W3CDTF">2022-09-05T02:26:06Z</dcterms:modified>
</cp:coreProperties>
</file>
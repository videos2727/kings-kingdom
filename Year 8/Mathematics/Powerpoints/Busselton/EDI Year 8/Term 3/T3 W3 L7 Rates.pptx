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activeX/activeX1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98" r:id="rId5"/>
    <p:sldId id="300" r:id="rId6"/>
    <p:sldId id="304" r:id="rId7"/>
    <p:sldId id="303" r:id="rId8"/>
    <p:sldId id="305" r:id="rId9"/>
    <p:sldId id="306" r:id="rId10"/>
    <p:sldId id="301" r:id="rId11"/>
    <p:sldId id="302" r:id="rId12"/>
    <p:sldId id="286" r:id="rId13"/>
    <p:sldId id="287" r:id="rId14"/>
    <p:sldId id="270" r:id="rId15"/>
    <p:sldId id="292" r:id="rId16"/>
    <p:sldId id="293" r:id="rId17"/>
    <p:sldId id="257" r:id="rId18"/>
    <p:sldId id="294" r:id="rId19"/>
    <p:sldId id="299" r:id="rId20"/>
    <p:sldId id="296" r:id="rId21"/>
    <p:sldId id="29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AC161-B253-48FB-BC83-A06A56120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FED95-05B4-4701-81BF-CE32AF30C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8D890-8181-42DA-9F6B-FE3BA8E1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3338D-96E3-42F6-8D50-F7892F6D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5D46E-73BD-4503-9A10-A2F549EA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7911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10CB-2487-4800-A2B2-4E12F3DAF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6FCED-B08B-437A-85C0-9A5DF124C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1A1CA-88A5-44CA-A7DC-157740F8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1F35A-B858-45B0-B682-9C8746B2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78F75-5EC6-4918-AB1D-E366EC53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914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6D1D-FDC5-4397-919C-7165AB987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E620B-5867-40B3-AF7C-6B74A3951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673C3-51ED-4D44-98C3-2B02D93E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673EF-4661-42D3-9970-05D6B540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7E0BC-A1FF-4C56-AE09-FD6FF713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6150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9BE7-2DCD-4675-867D-E4B94D15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3A93A-3C33-4EDF-AC25-525BEFF5C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31A96-02D5-40BF-B50C-F13360186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C4C10-6ED4-4CDF-8772-0D51DFB9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ECB8C-1CB6-4F6C-9D4C-8E692D31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B8957-5AB6-452D-B590-7CA5CB85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5542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A2B4-D9E1-4577-89F3-4B3653B37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3A9E6-FE40-484C-A10A-19B11C934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D5136-3448-4112-8D30-405300E54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3B985B-820E-4B72-A840-D125C43D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C0B03-03BA-4ADF-80F6-5FF087943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B58CC2-6659-431B-8BF4-9B76FCB1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C87E34-1187-41D4-ABE6-C51C7D89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72D21-947B-4203-8FD5-4B308BEE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940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2114-4F76-4C95-91B3-7FD0E63E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72610-E6D1-45D1-8F50-A1AC49D4E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7436E-FA0A-46E9-8C54-CBCBD8FD1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FFEBD-AF2F-47D7-B42B-FD3D3829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4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922E0-00FF-4B77-A075-5EC9AEA8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2D466-4BB3-499C-B727-CCBC18C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9F40-3E4E-44FC-AFD3-DA697471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6555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5B12A-697D-41D3-B87F-41244995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C8F87-A494-4E06-A5EC-F4DF3E09B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E8461-6362-404E-8FF7-2433AE613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171D3-1BC6-42F6-9B06-0619C4BBB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80173-611B-43BE-BD23-69090A6DC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BC16B-6A13-4E72-96A8-08EBC3FB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798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E02A-7109-4DDF-B5F5-AA67E6C98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9B4731-F7A2-4429-AC82-90F960203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216BE-0B27-4395-B9F2-32EE9E36E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102C5-02B1-422D-8283-BC50B0DF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B2EA6-7A4F-46FB-8F86-B0132DAB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117B7-64DD-499E-AE16-DC399446A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201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25F9-0F7F-481F-B84B-F0A614BD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34B89-AF26-4E2D-90BC-512AE01A5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2883-84A7-4657-B595-A881EA51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482B9-AF2D-404B-8992-8AC7665E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28158-A90E-434A-80CC-76B27B4A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020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11A7DC-26E4-411D-BC2C-E51DA16D6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CD556-2BED-473F-B590-130089957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56569-ADFA-4DA8-9E0E-D6612D6F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87C9B-9EFB-4773-B3DB-B5AC1714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A452D-3BD1-4CF6-979F-2AF54ADE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489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A700C-1534-45D4-80CF-42418CB4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565DB-4641-4C10-A20F-4035CE5E9AB5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072EC-A4C3-4FC7-87E7-8CD6809DF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1C804-6A31-4C24-B3FF-13C03DAC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65308-C99B-4C1C-8B67-84A8B20094F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73649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13BBF-1143-4DF9-AF88-8B559085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7C94D-8A12-4E1F-A5C9-C520098C9048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89AD7-24A3-4991-B0A2-A8980135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51341-1AAA-4C2E-B098-BCCB5375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84BC8B-5CDC-4F4F-9FF2-4CEE31F39F4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95384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32AEC-7392-4F32-8C86-8408F567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57EE3-A9FD-4599-A67D-EE987003203D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71510-A679-44B3-BFEF-7F19620B4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8EC8E-A026-4990-968A-1C347D2E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68887-0186-49E7-927A-07CF49A2F0F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46419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B14ED13-A36B-4127-B6B3-040178EDD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A52D9-1556-49F5-A79E-9D5C369125C9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B2969A9-4D43-438D-BD3F-2D8BA1EA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F95E4B-6FF2-4F38-BCF1-2F959C39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3A7C7-9161-4E41-BE00-86E0550F941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39013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C1D174D-8C85-45FB-929E-3B7E96CA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26C49-58A3-402B-9396-D779580D54D8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516A193-B0FC-4F96-8D87-06A63D6C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EE4F5A7-64CA-46A8-A7D5-53596260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D0CCA-AD2F-45E2-B803-B4B1D010DE7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62698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CA8622-A161-4BDB-ADF9-C2EE6A9C7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6AE3E-9B3E-4AB3-84F0-DE6C6BC35AFD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E017CEF-CF7C-415D-A34D-B6C75C296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1DA61E-278B-4678-ABC2-72E5D43B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D1C66-F059-4CE4-87B8-7FA617488CD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8113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3FD27F9-2EE4-4522-A529-B661475B5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3618AB-C131-4721-975F-8674C97DCFA1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C5FB027-EF5D-4561-A1CB-BBA2B9D4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995E915-AD2E-417F-92C8-2975FE27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D86B3-1172-4E66-97F8-9A4542883F4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615224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3E1B09F-7D10-42A7-A520-78D21E79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A1A10E-6233-440D-B5A4-9E921F680EF7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1487E01-5E81-4A6D-9F95-C983B5D4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F8A8B92-CDAE-44F8-999D-BABFE5F8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1C942F-7E65-4FCA-9EBC-0A5D68D97C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50540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D3F9B20-EB01-4635-B2BD-33811163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84D06-5D2F-461D-92A3-E18FB39349B6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54EA626-5B60-41A2-9C25-3FE905CBE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976DCDC-5B1E-4B23-A142-4AB36324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4AF2A-2ABC-42D2-B7DA-4BB92576C2E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15291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2A20C-2367-4186-B283-BD13A3C47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3C1FE-9CF0-4640-BCCA-23AC4234B68A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3FED5-68CE-403C-8828-7E035765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FD99E-88AB-4893-BAAA-CD4087E3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D5B8F-7175-4B62-9C4E-6C66E1C25A4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430457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66E86-0543-411F-B9C6-07785AC7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C91FF-DC68-41D0-B1DB-299A90BF4B5D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25703-DF28-4C4C-9166-E1F8BC958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C7D64-8630-449C-8A50-A0A79C53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AEAA6-D89B-44CD-A659-AAB46C611BA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78263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15432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245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3186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92104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05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80344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81152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02296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61365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1739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60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1F1B0-D29F-443E-9F60-13F2D8A3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AC73D-5C77-48CE-B491-7074C1926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BAAE9-C6C1-4238-B03A-6DFD6961F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40E31-BD1A-4797-841F-FF7B9ADD0B18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B23DD-C058-4E80-8452-2955B5884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C18C1-EE90-4AC9-BFDE-219E8888C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FC8CB-6CAB-46BF-97F7-E468F2514F5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8741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23B6E4DC-96A4-4920-8F8F-1270D7EFE1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986C9AE-ECDD-4532-9DD9-7DB35EBC75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9C4B0-2320-4916-BF1F-BC1DCE3E36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551C55C-4216-4DC2-96BE-3E58AEC648FD}" type="datetimeFigureOut">
              <a:rPr lang="en-GB"/>
              <a:pPr>
                <a:defRPr/>
              </a:pPr>
              <a:t>01/08/2022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69E93-A53F-4CBF-8FA3-3ADBA97B1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47DEA-EAF3-40A1-9831-4D4E9538D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omic Sans MS" panose="030F0902030302020204" pitchFamily="66" charset="0"/>
              </a:defRPr>
            </a:lvl1pPr>
          </a:lstStyle>
          <a:p>
            <a:pPr>
              <a:defRPr/>
            </a:pPr>
            <a:fld id="{28F7D9B0-ADCD-40AB-AE09-64EC0485B23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57858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933B1-4D7D-443F-8C1F-9DEEE3E2CC90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A73BE-6DD3-4F6A-8C9B-5CEAAAB8A54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677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" Type="http://schemas.openxmlformats.org/officeDocument/2006/relationships/control" Target="../activeX/activeX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A30964-8D4B-4E4D-874E-5CDF79B0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01B380-DCDF-4E6C-954D-B9B15D7EE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25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Rates and ratios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create equivalent ratios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Simplify ratios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Calculate rates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Ratio revision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index laws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Explore rates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976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788A-27BF-48FF-B58B-C951D9F34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C1E05-A48B-4A21-AA38-DE488C92F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45 seconds, tell the person next to you how many…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Seconds in </a:t>
            </a:r>
            <a:r>
              <a:rPr lang="en-US"/>
              <a:t>4 minutes?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Seconds in 1 hour?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time elapsed between 11am – 2:25pm?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Meters travelled after going 50km/h for 3.5 hours?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9807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0485-52C9-85BC-CFE9-D250E90B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Re-teach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076B7-FE47-8D65-3CD7-5C0D06BCE6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endParaRPr lang="en-US" sz="8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8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AU" sz="8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076B7-FE47-8D65-3CD7-5C0D06BCE6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2D3B4CD-7DF2-7201-62E7-5A43FE0B2B80}"/>
              </a:ext>
            </a:extLst>
          </p:cNvPr>
          <p:cNvSpPr txBox="1"/>
          <p:nvPr/>
        </p:nvSpPr>
        <p:spPr>
          <a:xfrm>
            <a:off x="7581530" y="1544715"/>
            <a:ext cx="1997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INDEX NUMBER</a:t>
            </a:r>
            <a:endParaRPr lang="en-AU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925DA-6B95-9801-CBFC-5BD628E82B3B}"/>
              </a:ext>
            </a:extLst>
          </p:cNvPr>
          <p:cNvSpPr txBox="1"/>
          <p:nvPr/>
        </p:nvSpPr>
        <p:spPr>
          <a:xfrm>
            <a:off x="7325557" y="5558902"/>
            <a:ext cx="1997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BASE NUMBER</a:t>
            </a:r>
            <a:endParaRPr lang="en-AU" sz="20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68147F-F049-9FFE-7B24-DD4587E1EC86}"/>
              </a:ext>
            </a:extLst>
          </p:cNvPr>
          <p:cNvCxnSpPr>
            <a:stCxn id="4" idx="1"/>
          </p:cNvCxnSpPr>
          <p:nvPr/>
        </p:nvCxnSpPr>
        <p:spPr>
          <a:xfrm flipH="1">
            <a:off x="6427433" y="1744770"/>
            <a:ext cx="1154097" cy="12203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35DFFB-EB48-9D95-CA57-2B40906DE054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5983550" y="4001294"/>
            <a:ext cx="1342007" cy="17576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30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6B78-5780-7934-315D-B38AEFAC8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Retrieve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B53BEC-4E5F-86F9-0397-D14E0751F9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Identify the base and index number: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3600" dirty="0"/>
              </a:p>
              <a:p>
                <a:pPr marL="742950" indent="-742950">
                  <a:buAutoNum type="alphaLcParenR"/>
                </a:pPr>
                <a:endParaRPr lang="en-AU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sz="3600" dirty="0"/>
              </a:p>
              <a:p>
                <a:pPr marL="742950" indent="-742950">
                  <a:buAutoNum type="alphaLcParenR"/>
                </a:pPr>
                <a:endParaRPr lang="en-AU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B53BEC-4E5F-86F9-0397-D14E0751F9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032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F700-546E-838B-D678-A195CF40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792E5-7567-005F-C6A5-22EFCF9A7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When multiplying indices with the </a:t>
            </a:r>
            <a:r>
              <a:rPr lang="en-US" b="1" i="1" dirty="0">
                <a:solidFill>
                  <a:srgbClr val="FF0000"/>
                </a:solidFill>
              </a:rPr>
              <a:t>same</a:t>
            </a:r>
            <a:r>
              <a:rPr lang="en-US" dirty="0">
                <a:solidFill>
                  <a:srgbClr val="FF0000"/>
                </a:solidFill>
              </a:rPr>
              <a:t> base, </a:t>
            </a:r>
            <a:r>
              <a:rPr lang="en-US" b="1" i="1" dirty="0">
                <a:solidFill>
                  <a:srgbClr val="FF0000"/>
                </a:solidFill>
              </a:rPr>
              <a:t>add</a:t>
            </a:r>
            <a:r>
              <a:rPr lang="en-US" dirty="0">
                <a:solidFill>
                  <a:srgbClr val="FF0000"/>
                </a:solidFill>
              </a:rPr>
              <a:t> index numbers. </a:t>
            </a: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When dividing indices with the </a:t>
            </a:r>
            <a:r>
              <a:rPr lang="en-US" b="1" i="1" dirty="0">
                <a:solidFill>
                  <a:srgbClr val="FF0000"/>
                </a:solidFill>
              </a:rPr>
              <a:t>same</a:t>
            </a:r>
            <a:r>
              <a:rPr lang="en-US" dirty="0">
                <a:solidFill>
                  <a:srgbClr val="FF0000"/>
                </a:solidFill>
              </a:rPr>
              <a:t> base, </a:t>
            </a:r>
            <a:r>
              <a:rPr lang="en-US" b="1" i="1" dirty="0">
                <a:solidFill>
                  <a:srgbClr val="FF0000"/>
                </a:solidFill>
              </a:rPr>
              <a:t>subtract</a:t>
            </a:r>
            <a:r>
              <a:rPr lang="en-US" dirty="0">
                <a:solidFill>
                  <a:srgbClr val="FF0000"/>
                </a:solidFill>
              </a:rPr>
              <a:t> index numbers. 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28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F656-27C4-3368-D5BE-44C98FC4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Visual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DA9D7B-50ED-2DF2-654F-1791DDC9F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AU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×3×3×3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×3×3×3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 ×3</m:t>
                      </m:r>
                    </m:oMath>
                  </m:oMathPara>
                </a14:m>
                <a:endParaRPr lang="en-AU" dirty="0">
                  <a:solidFill>
                    <a:srgbClr val="92D05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92D05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chemeClr val="tx1"/>
                    </a:solidFill>
                  </a:rPr>
                  <a:t>Which we can simply back into index form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AU" dirty="0">
                  <a:solidFill>
                    <a:srgbClr val="92D05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92D05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When multiplying indices with the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____</a:t>
                </a:r>
                <a:r>
                  <a:rPr lang="en-US" dirty="0">
                    <a:solidFill>
                      <a:srgbClr val="FF0000"/>
                    </a:solidFill>
                  </a:rPr>
                  <a:t> base,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___</a:t>
                </a:r>
                <a:r>
                  <a:rPr lang="en-US" dirty="0">
                    <a:solidFill>
                      <a:srgbClr val="FF0000"/>
                    </a:solidFill>
                  </a:rPr>
                  <a:t> index numbers. </a:t>
                </a:r>
              </a:p>
              <a:p>
                <a:pPr marL="0" indent="0">
                  <a:buNone/>
                </a:pPr>
                <a:endParaRPr lang="en-AU" dirty="0">
                  <a:solidFill>
                    <a:srgbClr val="92D05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DA9D7B-50ED-2DF2-654F-1791DDC9F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E81374E-6039-7EAE-5151-F4D529D4134F}"/>
              </a:ext>
            </a:extLst>
          </p:cNvPr>
          <p:cNvSpPr txBox="1"/>
          <p:nvPr/>
        </p:nvSpPr>
        <p:spPr>
          <a:xfrm>
            <a:off x="3888420" y="1341585"/>
            <a:ext cx="244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FORM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8DF6A-EBF8-5862-95B7-125ACC44F5F9}"/>
              </a:ext>
            </a:extLst>
          </p:cNvPr>
          <p:cNvSpPr txBox="1"/>
          <p:nvPr/>
        </p:nvSpPr>
        <p:spPr>
          <a:xfrm>
            <a:off x="6029418" y="1378710"/>
            <a:ext cx="244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EXPANDED FORM</a:t>
            </a:r>
            <a:endParaRPr lang="en-AU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4B2C85D-DA46-A411-E7B8-CE16C307205D}"/>
              </a:ext>
            </a:extLst>
          </p:cNvPr>
          <p:cNvSpPr/>
          <p:nvPr/>
        </p:nvSpPr>
        <p:spPr>
          <a:xfrm rot="16200000">
            <a:off x="4441534" y="1675968"/>
            <a:ext cx="559372" cy="666606"/>
          </a:xfrm>
          <a:prstGeom prst="rightBrace">
            <a:avLst>
              <a:gd name="adj1" fmla="val 8333"/>
              <a:gd name="adj2" fmla="val 31685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9F30876-A9D7-74B8-147A-072C07A80198}"/>
              </a:ext>
            </a:extLst>
          </p:cNvPr>
          <p:cNvSpPr/>
          <p:nvPr/>
        </p:nvSpPr>
        <p:spPr>
          <a:xfrm rot="16200000">
            <a:off x="6236219" y="957654"/>
            <a:ext cx="559372" cy="2113497"/>
          </a:xfrm>
          <a:prstGeom prst="rightBrace">
            <a:avLst>
              <a:gd name="adj1" fmla="val 8333"/>
              <a:gd name="adj2" fmla="val 6972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344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F656-27C4-3368-D5BE-44C98FC4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Visual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DA9D7B-50ED-2DF2-654F-1791DDC9F2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AU" dirty="0">
                  <a:solidFill>
                    <a:srgbClr val="92D05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×7×7×7×7×7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7×7×7</m:t>
                          </m:r>
                        </m:den>
                      </m:f>
                    </m:oMath>
                  </m:oMathPara>
                </a14:m>
                <a:endParaRPr lang="en-AU" dirty="0">
                  <a:solidFill>
                    <a:srgbClr val="92D05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92D05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chemeClr val="tx1"/>
                    </a:solidFill>
                  </a:rPr>
                  <a:t>Which can be simplified into index form: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When dividing indices with the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____</a:t>
                </a:r>
                <a:r>
                  <a:rPr lang="en-US" dirty="0">
                    <a:solidFill>
                      <a:srgbClr val="FF0000"/>
                    </a:solidFill>
                  </a:rPr>
                  <a:t> base, _______ index numbers. </a:t>
                </a:r>
                <a:endParaRPr lang="en-AU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DA9D7B-50ED-2DF2-654F-1791DDC9F2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E81374E-6039-7EAE-5151-F4D529D4134F}"/>
              </a:ext>
            </a:extLst>
          </p:cNvPr>
          <p:cNvSpPr txBox="1"/>
          <p:nvPr/>
        </p:nvSpPr>
        <p:spPr>
          <a:xfrm>
            <a:off x="3506681" y="1385811"/>
            <a:ext cx="244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FORM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8DF6A-EBF8-5862-95B7-125ACC44F5F9}"/>
              </a:ext>
            </a:extLst>
          </p:cNvPr>
          <p:cNvSpPr txBox="1"/>
          <p:nvPr/>
        </p:nvSpPr>
        <p:spPr>
          <a:xfrm>
            <a:off x="6029418" y="1378710"/>
            <a:ext cx="244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EXPANDED FORM</a:t>
            </a:r>
            <a:endParaRPr lang="en-AU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D4B2C85D-DA46-A411-E7B8-CE16C307205D}"/>
              </a:ext>
            </a:extLst>
          </p:cNvPr>
          <p:cNvSpPr/>
          <p:nvPr/>
        </p:nvSpPr>
        <p:spPr>
          <a:xfrm rot="16200000">
            <a:off x="3942037" y="1657300"/>
            <a:ext cx="559372" cy="666606"/>
          </a:xfrm>
          <a:prstGeom prst="rightBrace">
            <a:avLst>
              <a:gd name="adj1" fmla="val 8333"/>
              <a:gd name="adj2" fmla="val 31685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9F30876-A9D7-74B8-147A-072C07A80198}"/>
              </a:ext>
            </a:extLst>
          </p:cNvPr>
          <p:cNvSpPr/>
          <p:nvPr/>
        </p:nvSpPr>
        <p:spPr>
          <a:xfrm rot="16200000">
            <a:off x="6293644" y="411393"/>
            <a:ext cx="525818" cy="3239569"/>
          </a:xfrm>
          <a:prstGeom prst="rightBrace">
            <a:avLst>
              <a:gd name="adj1" fmla="val 8333"/>
              <a:gd name="adj2" fmla="val 6972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451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178A-F026-B0E5-4598-77BA262EE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Retrieve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14F42-7E29-DE3B-A64F-F2752CF25C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AU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×3×3×3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14F42-7E29-DE3B-A64F-F2752CF25C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FB2DC91-1FEB-456D-B75F-7C0250517909}"/>
              </a:ext>
            </a:extLst>
          </p:cNvPr>
          <p:cNvSpPr txBox="1"/>
          <p:nvPr/>
        </p:nvSpPr>
        <p:spPr>
          <a:xfrm>
            <a:off x="3654641" y="1407652"/>
            <a:ext cx="244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 FORM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CE8DF-B46B-59C9-A27A-829F1D3A1407}"/>
              </a:ext>
            </a:extLst>
          </p:cNvPr>
          <p:cNvSpPr txBox="1"/>
          <p:nvPr/>
        </p:nvSpPr>
        <p:spPr>
          <a:xfrm>
            <a:off x="6029418" y="1378710"/>
            <a:ext cx="244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EXPANDED FORM</a:t>
            </a:r>
            <a:endParaRPr lang="en-AU" dirty="0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B3D01A6-251C-C158-730A-5CBD4BB729A2}"/>
              </a:ext>
            </a:extLst>
          </p:cNvPr>
          <p:cNvSpPr/>
          <p:nvPr/>
        </p:nvSpPr>
        <p:spPr>
          <a:xfrm rot="16200000">
            <a:off x="4447674" y="1714654"/>
            <a:ext cx="559372" cy="666606"/>
          </a:xfrm>
          <a:prstGeom prst="rightBrace">
            <a:avLst>
              <a:gd name="adj1" fmla="val 8333"/>
              <a:gd name="adj2" fmla="val 31685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E903613E-8E07-E9FB-F28E-AD13896DE45B}"/>
              </a:ext>
            </a:extLst>
          </p:cNvPr>
          <p:cNvSpPr/>
          <p:nvPr/>
        </p:nvSpPr>
        <p:spPr>
          <a:xfrm rot="16200000">
            <a:off x="6239508" y="928346"/>
            <a:ext cx="559372" cy="2172110"/>
          </a:xfrm>
          <a:prstGeom prst="rightBrace">
            <a:avLst>
              <a:gd name="adj1" fmla="val 8333"/>
              <a:gd name="adj2" fmla="val 6972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F2A55-AE65-BA5F-4B9A-890852F6F2E0}"/>
              </a:ext>
            </a:extLst>
          </p:cNvPr>
          <p:cNvSpPr txBox="1"/>
          <p:nvPr/>
        </p:nvSpPr>
        <p:spPr>
          <a:xfrm>
            <a:off x="2243486" y="2183908"/>
            <a:ext cx="1997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INDEX NUMBER</a:t>
            </a:r>
            <a:endParaRPr lang="en-AU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ADC9D2-9F56-8A62-EC07-DEA926E05C7A}"/>
              </a:ext>
            </a:extLst>
          </p:cNvPr>
          <p:cNvSpPr txBox="1"/>
          <p:nvPr/>
        </p:nvSpPr>
        <p:spPr>
          <a:xfrm>
            <a:off x="1987513" y="6198095"/>
            <a:ext cx="1997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BASE NUMBER</a:t>
            </a:r>
            <a:endParaRPr lang="en-AU" sz="20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F3D9B2-D62E-ABCF-0088-380F8BA6D05C}"/>
              </a:ext>
            </a:extLst>
          </p:cNvPr>
          <p:cNvCxnSpPr>
            <a:stCxn id="14" idx="1"/>
          </p:cNvCxnSpPr>
          <p:nvPr/>
        </p:nvCxnSpPr>
        <p:spPr>
          <a:xfrm flipH="1">
            <a:off x="1089389" y="2383963"/>
            <a:ext cx="1154097" cy="12203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3A8D36-EE92-B1A8-44B0-55D6C67A27BE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645506" y="4640487"/>
            <a:ext cx="1342007" cy="17576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314596DE-4E1D-3CA8-56A0-9FF15989A9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863529" y="3105066"/>
                <a:ext cx="3403457" cy="15354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endParaRPr lang="en-US" sz="8000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8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80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AU" sz="8000" dirty="0"/>
              </a:p>
            </p:txBody>
          </p:sp>
        </mc:Choice>
        <mc:Fallback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314596DE-4E1D-3CA8-56A0-9FF15989A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63529" y="3105066"/>
                <a:ext cx="3403457" cy="15354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42FEC4D-D605-E40B-C2DC-678C133956D0}"/>
              </a:ext>
            </a:extLst>
          </p:cNvPr>
          <p:cNvSpPr txBox="1">
            <a:spLocks/>
          </p:cNvSpPr>
          <p:nvPr/>
        </p:nvSpPr>
        <p:spPr>
          <a:xfrm>
            <a:off x="3689242" y="3213717"/>
            <a:ext cx="7816958" cy="311564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When multiplying indices with the </a:t>
            </a:r>
            <a:r>
              <a:rPr lang="en-US" b="1" i="1" dirty="0">
                <a:solidFill>
                  <a:srgbClr val="FF0000"/>
                </a:solidFill>
              </a:rPr>
              <a:t>____</a:t>
            </a:r>
            <a:r>
              <a:rPr lang="en-US" dirty="0">
                <a:solidFill>
                  <a:srgbClr val="FF0000"/>
                </a:solidFill>
              </a:rPr>
              <a:t> base, </a:t>
            </a:r>
            <a:r>
              <a:rPr lang="en-US" b="1" i="1" dirty="0">
                <a:solidFill>
                  <a:srgbClr val="FF0000"/>
                </a:solidFill>
              </a:rPr>
              <a:t>___</a:t>
            </a:r>
            <a:r>
              <a:rPr lang="en-US" dirty="0">
                <a:solidFill>
                  <a:srgbClr val="FF0000"/>
                </a:solidFill>
              </a:rPr>
              <a:t> index numbers.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When dividing indices with the </a:t>
            </a:r>
            <a:r>
              <a:rPr lang="en-US" b="1" i="1" dirty="0">
                <a:solidFill>
                  <a:srgbClr val="FF0000"/>
                </a:solidFill>
              </a:rPr>
              <a:t>____</a:t>
            </a:r>
            <a:r>
              <a:rPr lang="en-US" dirty="0">
                <a:solidFill>
                  <a:srgbClr val="FF0000"/>
                </a:solidFill>
              </a:rPr>
              <a:t> base, </a:t>
            </a:r>
            <a:r>
              <a:rPr lang="en-US" b="1" i="1" dirty="0">
                <a:solidFill>
                  <a:srgbClr val="FF0000"/>
                </a:solidFill>
              </a:rPr>
              <a:t>_______</a:t>
            </a:r>
            <a:r>
              <a:rPr lang="en-US" dirty="0">
                <a:solidFill>
                  <a:srgbClr val="FF0000"/>
                </a:solidFill>
              </a:rPr>
              <a:t> index numbers. 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65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08063-E078-2A61-34D1-888AA38C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Apply: </a:t>
            </a:r>
            <a:r>
              <a:rPr lang="en-US" b="1" i="1" u="sng" dirty="0"/>
              <a:t>simplify</a:t>
            </a:r>
            <a:r>
              <a:rPr lang="en-US" dirty="0"/>
              <a:t> in exercise books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35570-4DC9-24CB-F8DE-0DE21062A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Adding indices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F478E1B-EB35-FAFA-4236-D2DF37658D0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F478E1B-EB35-FAFA-4236-D2DF37658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984899-F3B5-EED0-2871-E125A984D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Subtracting indices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E9FA46F-0DAA-654B-57D8-481F86985173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E9FA46F-0DAA-654B-57D8-481F86985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52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71002-191E-42B8-BE5C-E21D4AFB2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9" y="549276"/>
            <a:ext cx="8713787" cy="6119813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GB" u="sng" dirty="0">
                <a:solidFill>
                  <a:srgbClr val="FF0000"/>
                </a:solidFill>
              </a:rPr>
              <a:t>Visual Example 1:</a:t>
            </a:r>
          </a:p>
          <a:p>
            <a:pPr marL="0" indent="0">
              <a:buNone/>
              <a:defRPr/>
            </a:pPr>
            <a:r>
              <a:rPr lang="en-GB" sz="2000" dirty="0"/>
              <a:t>Ben the painter needs 6 litres of dark purple, he uses 4 litres of red paint and 2 litres of blue paint.</a:t>
            </a:r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en-GB" sz="2000" dirty="0"/>
              <a:t>Write the ratio of the number of red tins to the number of blue tins in its simplest form.</a:t>
            </a:r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</p:txBody>
      </p:sp>
      <p:grpSp>
        <p:nvGrpSpPr>
          <p:cNvPr id="16386" name="Group 23">
            <a:extLst>
              <a:ext uri="{FF2B5EF4-FFF2-40B4-BE49-F238E27FC236}">
                <a16:creationId xmlns:a16="http://schemas.microsoft.com/office/drawing/2014/main" id="{2198CCFC-470E-49E3-A485-5093DBFC78F8}"/>
              </a:ext>
            </a:extLst>
          </p:cNvPr>
          <p:cNvGrpSpPr>
            <a:grpSpLocks/>
          </p:cNvGrpSpPr>
          <p:nvPr/>
        </p:nvGrpSpPr>
        <p:grpSpPr bwMode="auto">
          <a:xfrm>
            <a:off x="3071814" y="1844676"/>
            <a:ext cx="936625" cy="1152525"/>
            <a:chOff x="1475656" y="3429000"/>
            <a:chExt cx="2594737" cy="3024336"/>
          </a:xfrm>
        </p:grpSpPr>
        <p:sp>
          <p:nvSpPr>
            <p:cNvPr id="20" name="Can 19">
              <a:extLst>
                <a:ext uri="{FF2B5EF4-FFF2-40B4-BE49-F238E27FC236}">
                  <a16:creationId xmlns:a16="http://schemas.microsoft.com/office/drawing/2014/main" id="{7B9B7296-E140-4540-A8A1-ABC1FCC5FA9D}"/>
                </a:ext>
              </a:extLst>
            </p:cNvPr>
            <p:cNvSpPr/>
            <p:nvPr/>
          </p:nvSpPr>
          <p:spPr>
            <a:xfrm>
              <a:off x="1475656" y="3429000"/>
              <a:ext cx="2159348" cy="3024336"/>
            </a:xfrm>
            <a:prstGeom prst="ca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D90C415-9BDC-4D56-B27A-6794CC3A2104}"/>
                </a:ext>
              </a:extLst>
            </p:cNvPr>
            <p:cNvSpPr/>
            <p:nvPr/>
          </p:nvSpPr>
          <p:spPr>
            <a:xfrm>
              <a:off x="1475656" y="4291312"/>
              <a:ext cx="360624" cy="1674632"/>
            </a:xfrm>
            <a:custGeom>
              <a:avLst/>
              <a:gdLst>
                <a:gd name="connsiteX0" fmla="*/ 0 w 355107"/>
                <a:gd name="connsiteY0" fmla="*/ 0 h 1526959"/>
                <a:gd name="connsiteX1" fmla="*/ 355107 w 355107"/>
                <a:gd name="connsiteY1" fmla="*/ 97654 h 1526959"/>
                <a:gd name="connsiteX2" fmla="*/ 355107 w 355107"/>
                <a:gd name="connsiteY2" fmla="*/ 1526959 h 1526959"/>
                <a:gd name="connsiteX3" fmla="*/ 0 w 355107"/>
                <a:gd name="connsiteY3" fmla="*/ 1402672 h 1526959"/>
                <a:gd name="connsiteX4" fmla="*/ 0 w 355107"/>
                <a:gd name="connsiteY4" fmla="*/ 0 h 152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107" h="1526959">
                  <a:moveTo>
                    <a:pt x="0" y="0"/>
                  </a:moveTo>
                  <a:lnTo>
                    <a:pt x="355107" y="97654"/>
                  </a:lnTo>
                  <a:lnTo>
                    <a:pt x="355107" y="1526959"/>
                  </a:lnTo>
                  <a:lnTo>
                    <a:pt x="0" y="1402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4C3F899-D51B-43DA-B259-D0B6BEF8EC79}"/>
                </a:ext>
              </a:extLst>
            </p:cNvPr>
            <p:cNvSpPr/>
            <p:nvPr/>
          </p:nvSpPr>
          <p:spPr>
            <a:xfrm>
              <a:off x="1691150" y="3499819"/>
              <a:ext cx="1798726" cy="36241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E89EA01-BA13-4CAA-AF20-426E742CE8F4}"/>
                </a:ext>
              </a:extLst>
            </p:cNvPr>
            <p:cNvSpPr/>
            <p:nvPr/>
          </p:nvSpPr>
          <p:spPr>
            <a:xfrm rot="14132429">
              <a:off x="2711588" y="4078088"/>
              <a:ext cx="1741284" cy="976325"/>
            </a:xfrm>
            <a:custGeom>
              <a:avLst/>
              <a:gdLst>
                <a:gd name="connsiteX0" fmla="*/ 1669677 w 1669677"/>
                <a:gd name="connsiteY0" fmla="*/ 1262882 h 1262882"/>
                <a:gd name="connsiteX1" fmla="*/ 754789 w 1669677"/>
                <a:gd name="connsiteY1" fmla="*/ 1159651 h 1262882"/>
                <a:gd name="connsiteX2" fmla="*/ 754792 w 1669677"/>
                <a:gd name="connsiteY2" fmla="*/ 103230 h 1262882"/>
                <a:gd name="connsiteX3" fmla="*/ 1669678 w 1669677"/>
                <a:gd name="connsiteY3" fmla="*/ 0 h 1262882"/>
                <a:gd name="connsiteX4" fmla="*/ 234941 w 1669677"/>
                <a:gd name="connsiteY4" fmla="*/ 631443 h 1262882"/>
                <a:gd name="connsiteX5" fmla="*/ 1669679 w 1669677"/>
                <a:gd name="connsiteY5" fmla="*/ 1262882 h 1262882"/>
                <a:gd name="connsiteX6" fmla="*/ 1669677 w 1669677"/>
                <a:gd name="connsiteY6" fmla="*/ 1262882 h 1262882"/>
                <a:gd name="connsiteX0" fmla="*/ 1921274 w 2332337"/>
                <a:gd name="connsiteY0" fmla="*/ 1227005 h 1227005"/>
                <a:gd name="connsiteX1" fmla="*/ 1006386 w 2332337"/>
                <a:gd name="connsiteY1" fmla="*/ 1123774 h 1227005"/>
                <a:gd name="connsiteX2" fmla="*/ 1006389 w 2332337"/>
                <a:gd name="connsiteY2" fmla="*/ 67353 h 1227005"/>
                <a:gd name="connsiteX3" fmla="*/ 2332337 w 2332337"/>
                <a:gd name="connsiteY3" fmla="*/ 246210 h 1227005"/>
                <a:gd name="connsiteX4" fmla="*/ 486538 w 2332337"/>
                <a:gd name="connsiteY4" fmla="*/ 595566 h 1227005"/>
                <a:gd name="connsiteX5" fmla="*/ 1921276 w 2332337"/>
                <a:gd name="connsiteY5" fmla="*/ 1227005 h 1227005"/>
                <a:gd name="connsiteX6" fmla="*/ 1921274 w 2332337"/>
                <a:gd name="connsiteY6" fmla="*/ 1227005 h 1227005"/>
                <a:gd name="connsiteX0" fmla="*/ 2012095 w 2423158"/>
                <a:gd name="connsiteY0" fmla="*/ 1147069 h 1147069"/>
                <a:gd name="connsiteX1" fmla="*/ 1097207 w 2423158"/>
                <a:gd name="connsiteY1" fmla="*/ 1043838 h 1147069"/>
                <a:gd name="connsiteX2" fmla="*/ 1006387 w 2423158"/>
                <a:gd name="connsiteY2" fmla="*/ 67353 h 1147069"/>
                <a:gd name="connsiteX3" fmla="*/ 2423158 w 2423158"/>
                <a:gd name="connsiteY3" fmla="*/ 166274 h 1147069"/>
                <a:gd name="connsiteX4" fmla="*/ 577359 w 2423158"/>
                <a:gd name="connsiteY4" fmla="*/ 515630 h 1147069"/>
                <a:gd name="connsiteX5" fmla="*/ 2012097 w 2423158"/>
                <a:gd name="connsiteY5" fmla="*/ 1147069 h 1147069"/>
                <a:gd name="connsiteX6" fmla="*/ 2012095 w 2423158"/>
                <a:gd name="connsiteY6" fmla="*/ 1147069 h 1147069"/>
                <a:gd name="connsiteX0" fmla="*/ 2193698 w 2604761"/>
                <a:gd name="connsiteY0" fmla="*/ 1009696 h 1009696"/>
                <a:gd name="connsiteX1" fmla="*/ 1278810 w 2604761"/>
                <a:gd name="connsiteY1" fmla="*/ 906465 h 1009696"/>
                <a:gd name="connsiteX2" fmla="*/ 1006387 w 2604761"/>
                <a:gd name="connsiteY2" fmla="*/ 67353 h 1009696"/>
                <a:gd name="connsiteX3" fmla="*/ 2604761 w 2604761"/>
                <a:gd name="connsiteY3" fmla="*/ 28901 h 1009696"/>
                <a:gd name="connsiteX4" fmla="*/ 758962 w 2604761"/>
                <a:gd name="connsiteY4" fmla="*/ 378257 h 1009696"/>
                <a:gd name="connsiteX5" fmla="*/ 2193700 w 2604761"/>
                <a:gd name="connsiteY5" fmla="*/ 1009696 h 1009696"/>
                <a:gd name="connsiteX6" fmla="*/ 2193698 w 2604761"/>
                <a:gd name="connsiteY6" fmla="*/ 1009696 h 1009696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877707 w 2723506"/>
                <a:gd name="connsiteY4" fmla="*/ 459743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721181 w 2723506"/>
                <a:gd name="connsiteY4" fmla="*/ 482960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281829 w 2692892"/>
                <a:gd name="connsiteY0" fmla="*/ 1002722 h 1002722"/>
                <a:gd name="connsiteX1" fmla="*/ 1366941 w 2692892"/>
                <a:gd name="connsiteY1" fmla="*/ 899491 h 1002722"/>
                <a:gd name="connsiteX2" fmla="*/ 1006386 w 2692892"/>
                <a:gd name="connsiteY2" fmla="*/ 67353 h 1002722"/>
                <a:gd name="connsiteX3" fmla="*/ 2692892 w 2692892"/>
                <a:gd name="connsiteY3" fmla="*/ 21927 h 1002722"/>
                <a:gd name="connsiteX4" fmla="*/ 690567 w 2692892"/>
                <a:gd name="connsiteY4" fmla="*/ 394500 h 1002722"/>
                <a:gd name="connsiteX5" fmla="*/ 2281831 w 2692892"/>
                <a:gd name="connsiteY5" fmla="*/ 1002722 h 1002722"/>
                <a:gd name="connsiteX6" fmla="*/ 2281829 w 2692892"/>
                <a:gd name="connsiteY6" fmla="*/ 1002722 h 100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2892" h="1002722">
                  <a:moveTo>
                    <a:pt x="2281829" y="1002722"/>
                  </a:moveTo>
                  <a:cubicBezTo>
                    <a:pt x="1956798" y="1002722"/>
                    <a:pt x="1638834" y="966845"/>
                    <a:pt x="1366941" y="899491"/>
                  </a:cubicBezTo>
                  <a:cubicBezTo>
                    <a:pt x="360555" y="650188"/>
                    <a:pt x="-1" y="316655"/>
                    <a:pt x="1006386" y="67353"/>
                  </a:cubicBezTo>
                  <a:cubicBezTo>
                    <a:pt x="1278279" y="0"/>
                    <a:pt x="2367862" y="21927"/>
                    <a:pt x="2692892" y="21927"/>
                  </a:cubicBezTo>
                  <a:cubicBezTo>
                    <a:pt x="1867787" y="69429"/>
                    <a:pt x="690565" y="78866"/>
                    <a:pt x="690567" y="394500"/>
                  </a:cubicBezTo>
                  <a:cubicBezTo>
                    <a:pt x="690570" y="710133"/>
                    <a:pt x="1456729" y="955221"/>
                    <a:pt x="2281831" y="1002722"/>
                  </a:cubicBezTo>
                  <a:lnTo>
                    <a:pt x="2281829" y="100272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</p:grpSp>
      <p:grpSp>
        <p:nvGrpSpPr>
          <p:cNvPr id="16387" name="Group 24">
            <a:extLst>
              <a:ext uri="{FF2B5EF4-FFF2-40B4-BE49-F238E27FC236}">
                <a16:creationId xmlns:a16="http://schemas.microsoft.com/office/drawing/2014/main" id="{8751410D-788B-4116-80F5-4662024AA1BA}"/>
              </a:ext>
            </a:extLst>
          </p:cNvPr>
          <p:cNvGrpSpPr>
            <a:grpSpLocks/>
          </p:cNvGrpSpPr>
          <p:nvPr/>
        </p:nvGrpSpPr>
        <p:grpSpPr bwMode="auto">
          <a:xfrm>
            <a:off x="4079876" y="1844676"/>
            <a:ext cx="936625" cy="1152525"/>
            <a:chOff x="1475656" y="3429000"/>
            <a:chExt cx="2594737" cy="3024336"/>
          </a:xfrm>
        </p:grpSpPr>
        <p:sp>
          <p:nvSpPr>
            <p:cNvPr id="26" name="Can 25">
              <a:extLst>
                <a:ext uri="{FF2B5EF4-FFF2-40B4-BE49-F238E27FC236}">
                  <a16:creationId xmlns:a16="http://schemas.microsoft.com/office/drawing/2014/main" id="{E425D055-544F-42F9-8B89-BC888DE1FC6E}"/>
                </a:ext>
              </a:extLst>
            </p:cNvPr>
            <p:cNvSpPr/>
            <p:nvPr/>
          </p:nvSpPr>
          <p:spPr>
            <a:xfrm>
              <a:off x="1475656" y="3429000"/>
              <a:ext cx="2159350" cy="3024336"/>
            </a:xfrm>
            <a:prstGeom prst="ca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D67009D-8B7F-4FC2-A0EE-24469E263068}"/>
                </a:ext>
              </a:extLst>
            </p:cNvPr>
            <p:cNvSpPr/>
            <p:nvPr/>
          </p:nvSpPr>
          <p:spPr>
            <a:xfrm>
              <a:off x="1475656" y="4291312"/>
              <a:ext cx="360624" cy="1674632"/>
            </a:xfrm>
            <a:custGeom>
              <a:avLst/>
              <a:gdLst>
                <a:gd name="connsiteX0" fmla="*/ 0 w 355107"/>
                <a:gd name="connsiteY0" fmla="*/ 0 h 1526959"/>
                <a:gd name="connsiteX1" fmla="*/ 355107 w 355107"/>
                <a:gd name="connsiteY1" fmla="*/ 97654 h 1526959"/>
                <a:gd name="connsiteX2" fmla="*/ 355107 w 355107"/>
                <a:gd name="connsiteY2" fmla="*/ 1526959 h 1526959"/>
                <a:gd name="connsiteX3" fmla="*/ 0 w 355107"/>
                <a:gd name="connsiteY3" fmla="*/ 1402672 h 1526959"/>
                <a:gd name="connsiteX4" fmla="*/ 0 w 355107"/>
                <a:gd name="connsiteY4" fmla="*/ 0 h 152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107" h="1526959">
                  <a:moveTo>
                    <a:pt x="0" y="0"/>
                  </a:moveTo>
                  <a:lnTo>
                    <a:pt x="355107" y="97654"/>
                  </a:lnTo>
                  <a:lnTo>
                    <a:pt x="355107" y="1526959"/>
                  </a:lnTo>
                  <a:lnTo>
                    <a:pt x="0" y="1402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B412CB6-E22C-4E3B-A4BF-D24ED783628B}"/>
                </a:ext>
              </a:extLst>
            </p:cNvPr>
            <p:cNvSpPr/>
            <p:nvPr/>
          </p:nvSpPr>
          <p:spPr>
            <a:xfrm>
              <a:off x="1691152" y="3499819"/>
              <a:ext cx="1798723" cy="36241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F369521-26FD-43C2-BD5C-76F6611A9492}"/>
                </a:ext>
              </a:extLst>
            </p:cNvPr>
            <p:cNvSpPr/>
            <p:nvPr/>
          </p:nvSpPr>
          <p:spPr>
            <a:xfrm rot="14132429">
              <a:off x="2711588" y="4078088"/>
              <a:ext cx="1741284" cy="976325"/>
            </a:xfrm>
            <a:custGeom>
              <a:avLst/>
              <a:gdLst>
                <a:gd name="connsiteX0" fmla="*/ 1669677 w 1669677"/>
                <a:gd name="connsiteY0" fmla="*/ 1262882 h 1262882"/>
                <a:gd name="connsiteX1" fmla="*/ 754789 w 1669677"/>
                <a:gd name="connsiteY1" fmla="*/ 1159651 h 1262882"/>
                <a:gd name="connsiteX2" fmla="*/ 754792 w 1669677"/>
                <a:gd name="connsiteY2" fmla="*/ 103230 h 1262882"/>
                <a:gd name="connsiteX3" fmla="*/ 1669678 w 1669677"/>
                <a:gd name="connsiteY3" fmla="*/ 0 h 1262882"/>
                <a:gd name="connsiteX4" fmla="*/ 234941 w 1669677"/>
                <a:gd name="connsiteY4" fmla="*/ 631443 h 1262882"/>
                <a:gd name="connsiteX5" fmla="*/ 1669679 w 1669677"/>
                <a:gd name="connsiteY5" fmla="*/ 1262882 h 1262882"/>
                <a:gd name="connsiteX6" fmla="*/ 1669677 w 1669677"/>
                <a:gd name="connsiteY6" fmla="*/ 1262882 h 1262882"/>
                <a:gd name="connsiteX0" fmla="*/ 1921274 w 2332337"/>
                <a:gd name="connsiteY0" fmla="*/ 1227005 h 1227005"/>
                <a:gd name="connsiteX1" fmla="*/ 1006386 w 2332337"/>
                <a:gd name="connsiteY1" fmla="*/ 1123774 h 1227005"/>
                <a:gd name="connsiteX2" fmla="*/ 1006389 w 2332337"/>
                <a:gd name="connsiteY2" fmla="*/ 67353 h 1227005"/>
                <a:gd name="connsiteX3" fmla="*/ 2332337 w 2332337"/>
                <a:gd name="connsiteY3" fmla="*/ 246210 h 1227005"/>
                <a:gd name="connsiteX4" fmla="*/ 486538 w 2332337"/>
                <a:gd name="connsiteY4" fmla="*/ 595566 h 1227005"/>
                <a:gd name="connsiteX5" fmla="*/ 1921276 w 2332337"/>
                <a:gd name="connsiteY5" fmla="*/ 1227005 h 1227005"/>
                <a:gd name="connsiteX6" fmla="*/ 1921274 w 2332337"/>
                <a:gd name="connsiteY6" fmla="*/ 1227005 h 1227005"/>
                <a:gd name="connsiteX0" fmla="*/ 2012095 w 2423158"/>
                <a:gd name="connsiteY0" fmla="*/ 1147069 h 1147069"/>
                <a:gd name="connsiteX1" fmla="*/ 1097207 w 2423158"/>
                <a:gd name="connsiteY1" fmla="*/ 1043838 h 1147069"/>
                <a:gd name="connsiteX2" fmla="*/ 1006387 w 2423158"/>
                <a:gd name="connsiteY2" fmla="*/ 67353 h 1147069"/>
                <a:gd name="connsiteX3" fmla="*/ 2423158 w 2423158"/>
                <a:gd name="connsiteY3" fmla="*/ 166274 h 1147069"/>
                <a:gd name="connsiteX4" fmla="*/ 577359 w 2423158"/>
                <a:gd name="connsiteY4" fmla="*/ 515630 h 1147069"/>
                <a:gd name="connsiteX5" fmla="*/ 2012097 w 2423158"/>
                <a:gd name="connsiteY5" fmla="*/ 1147069 h 1147069"/>
                <a:gd name="connsiteX6" fmla="*/ 2012095 w 2423158"/>
                <a:gd name="connsiteY6" fmla="*/ 1147069 h 1147069"/>
                <a:gd name="connsiteX0" fmla="*/ 2193698 w 2604761"/>
                <a:gd name="connsiteY0" fmla="*/ 1009696 h 1009696"/>
                <a:gd name="connsiteX1" fmla="*/ 1278810 w 2604761"/>
                <a:gd name="connsiteY1" fmla="*/ 906465 h 1009696"/>
                <a:gd name="connsiteX2" fmla="*/ 1006387 w 2604761"/>
                <a:gd name="connsiteY2" fmla="*/ 67353 h 1009696"/>
                <a:gd name="connsiteX3" fmla="*/ 2604761 w 2604761"/>
                <a:gd name="connsiteY3" fmla="*/ 28901 h 1009696"/>
                <a:gd name="connsiteX4" fmla="*/ 758962 w 2604761"/>
                <a:gd name="connsiteY4" fmla="*/ 378257 h 1009696"/>
                <a:gd name="connsiteX5" fmla="*/ 2193700 w 2604761"/>
                <a:gd name="connsiteY5" fmla="*/ 1009696 h 1009696"/>
                <a:gd name="connsiteX6" fmla="*/ 2193698 w 2604761"/>
                <a:gd name="connsiteY6" fmla="*/ 1009696 h 1009696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877707 w 2723506"/>
                <a:gd name="connsiteY4" fmla="*/ 459743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721181 w 2723506"/>
                <a:gd name="connsiteY4" fmla="*/ 482960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281829 w 2692892"/>
                <a:gd name="connsiteY0" fmla="*/ 1002722 h 1002722"/>
                <a:gd name="connsiteX1" fmla="*/ 1366941 w 2692892"/>
                <a:gd name="connsiteY1" fmla="*/ 899491 h 1002722"/>
                <a:gd name="connsiteX2" fmla="*/ 1006386 w 2692892"/>
                <a:gd name="connsiteY2" fmla="*/ 67353 h 1002722"/>
                <a:gd name="connsiteX3" fmla="*/ 2692892 w 2692892"/>
                <a:gd name="connsiteY3" fmla="*/ 21927 h 1002722"/>
                <a:gd name="connsiteX4" fmla="*/ 690567 w 2692892"/>
                <a:gd name="connsiteY4" fmla="*/ 394500 h 1002722"/>
                <a:gd name="connsiteX5" fmla="*/ 2281831 w 2692892"/>
                <a:gd name="connsiteY5" fmla="*/ 1002722 h 1002722"/>
                <a:gd name="connsiteX6" fmla="*/ 2281829 w 2692892"/>
                <a:gd name="connsiteY6" fmla="*/ 1002722 h 100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2892" h="1002722">
                  <a:moveTo>
                    <a:pt x="2281829" y="1002722"/>
                  </a:moveTo>
                  <a:cubicBezTo>
                    <a:pt x="1956798" y="1002722"/>
                    <a:pt x="1638834" y="966845"/>
                    <a:pt x="1366941" y="899491"/>
                  </a:cubicBezTo>
                  <a:cubicBezTo>
                    <a:pt x="360555" y="650188"/>
                    <a:pt x="-1" y="316655"/>
                    <a:pt x="1006386" y="67353"/>
                  </a:cubicBezTo>
                  <a:cubicBezTo>
                    <a:pt x="1278279" y="0"/>
                    <a:pt x="2367862" y="21927"/>
                    <a:pt x="2692892" y="21927"/>
                  </a:cubicBezTo>
                  <a:cubicBezTo>
                    <a:pt x="1867787" y="69429"/>
                    <a:pt x="690565" y="78866"/>
                    <a:pt x="690567" y="394500"/>
                  </a:cubicBezTo>
                  <a:cubicBezTo>
                    <a:pt x="690570" y="710133"/>
                    <a:pt x="1456729" y="955221"/>
                    <a:pt x="2281831" y="1002722"/>
                  </a:cubicBezTo>
                  <a:lnTo>
                    <a:pt x="2281829" y="100272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</p:grpSp>
      <p:grpSp>
        <p:nvGrpSpPr>
          <p:cNvPr id="16388" name="Group 29">
            <a:extLst>
              <a:ext uri="{FF2B5EF4-FFF2-40B4-BE49-F238E27FC236}">
                <a16:creationId xmlns:a16="http://schemas.microsoft.com/office/drawing/2014/main" id="{1DA83802-D529-4900-AFE3-A6E6BBF5F048}"/>
              </a:ext>
            </a:extLst>
          </p:cNvPr>
          <p:cNvGrpSpPr>
            <a:grpSpLocks/>
          </p:cNvGrpSpPr>
          <p:nvPr/>
        </p:nvGrpSpPr>
        <p:grpSpPr bwMode="auto">
          <a:xfrm>
            <a:off x="2063751" y="1844676"/>
            <a:ext cx="936625" cy="1152525"/>
            <a:chOff x="1475656" y="3429000"/>
            <a:chExt cx="2594737" cy="3024336"/>
          </a:xfrm>
        </p:grpSpPr>
        <p:sp>
          <p:nvSpPr>
            <p:cNvPr id="31" name="Can 30">
              <a:extLst>
                <a:ext uri="{FF2B5EF4-FFF2-40B4-BE49-F238E27FC236}">
                  <a16:creationId xmlns:a16="http://schemas.microsoft.com/office/drawing/2014/main" id="{85EDA7AC-8593-489A-8E5A-53819B6E4933}"/>
                </a:ext>
              </a:extLst>
            </p:cNvPr>
            <p:cNvSpPr/>
            <p:nvPr/>
          </p:nvSpPr>
          <p:spPr>
            <a:xfrm>
              <a:off x="1475656" y="3429000"/>
              <a:ext cx="2159350" cy="3024336"/>
            </a:xfrm>
            <a:prstGeom prst="ca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A240B5B-4F8C-4270-82A4-2E134C2FA801}"/>
                </a:ext>
              </a:extLst>
            </p:cNvPr>
            <p:cNvSpPr/>
            <p:nvPr/>
          </p:nvSpPr>
          <p:spPr>
            <a:xfrm>
              <a:off x="1475656" y="4291312"/>
              <a:ext cx="360624" cy="1674632"/>
            </a:xfrm>
            <a:custGeom>
              <a:avLst/>
              <a:gdLst>
                <a:gd name="connsiteX0" fmla="*/ 0 w 355107"/>
                <a:gd name="connsiteY0" fmla="*/ 0 h 1526959"/>
                <a:gd name="connsiteX1" fmla="*/ 355107 w 355107"/>
                <a:gd name="connsiteY1" fmla="*/ 97654 h 1526959"/>
                <a:gd name="connsiteX2" fmla="*/ 355107 w 355107"/>
                <a:gd name="connsiteY2" fmla="*/ 1526959 h 1526959"/>
                <a:gd name="connsiteX3" fmla="*/ 0 w 355107"/>
                <a:gd name="connsiteY3" fmla="*/ 1402672 h 1526959"/>
                <a:gd name="connsiteX4" fmla="*/ 0 w 355107"/>
                <a:gd name="connsiteY4" fmla="*/ 0 h 152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107" h="1526959">
                  <a:moveTo>
                    <a:pt x="0" y="0"/>
                  </a:moveTo>
                  <a:lnTo>
                    <a:pt x="355107" y="97654"/>
                  </a:lnTo>
                  <a:lnTo>
                    <a:pt x="355107" y="1526959"/>
                  </a:lnTo>
                  <a:lnTo>
                    <a:pt x="0" y="1402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8734FC6-06FF-4C2D-98B4-86858A31B1C1}"/>
                </a:ext>
              </a:extLst>
            </p:cNvPr>
            <p:cNvSpPr/>
            <p:nvPr/>
          </p:nvSpPr>
          <p:spPr>
            <a:xfrm>
              <a:off x="1691152" y="3499819"/>
              <a:ext cx="1798723" cy="36241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3900D0B-A362-4E16-BB9C-D158BD0C4718}"/>
                </a:ext>
              </a:extLst>
            </p:cNvPr>
            <p:cNvSpPr/>
            <p:nvPr/>
          </p:nvSpPr>
          <p:spPr>
            <a:xfrm rot="14132429">
              <a:off x="2711588" y="4078088"/>
              <a:ext cx="1741284" cy="976325"/>
            </a:xfrm>
            <a:custGeom>
              <a:avLst/>
              <a:gdLst>
                <a:gd name="connsiteX0" fmla="*/ 1669677 w 1669677"/>
                <a:gd name="connsiteY0" fmla="*/ 1262882 h 1262882"/>
                <a:gd name="connsiteX1" fmla="*/ 754789 w 1669677"/>
                <a:gd name="connsiteY1" fmla="*/ 1159651 h 1262882"/>
                <a:gd name="connsiteX2" fmla="*/ 754792 w 1669677"/>
                <a:gd name="connsiteY2" fmla="*/ 103230 h 1262882"/>
                <a:gd name="connsiteX3" fmla="*/ 1669678 w 1669677"/>
                <a:gd name="connsiteY3" fmla="*/ 0 h 1262882"/>
                <a:gd name="connsiteX4" fmla="*/ 234941 w 1669677"/>
                <a:gd name="connsiteY4" fmla="*/ 631443 h 1262882"/>
                <a:gd name="connsiteX5" fmla="*/ 1669679 w 1669677"/>
                <a:gd name="connsiteY5" fmla="*/ 1262882 h 1262882"/>
                <a:gd name="connsiteX6" fmla="*/ 1669677 w 1669677"/>
                <a:gd name="connsiteY6" fmla="*/ 1262882 h 1262882"/>
                <a:gd name="connsiteX0" fmla="*/ 1921274 w 2332337"/>
                <a:gd name="connsiteY0" fmla="*/ 1227005 h 1227005"/>
                <a:gd name="connsiteX1" fmla="*/ 1006386 w 2332337"/>
                <a:gd name="connsiteY1" fmla="*/ 1123774 h 1227005"/>
                <a:gd name="connsiteX2" fmla="*/ 1006389 w 2332337"/>
                <a:gd name="connsiteY2" fmla="*/ 67353 h 1227005"/>
                <a:gd name="connsiteX3" fmla="*/ 2332337 w 2332337"/>
                <a:gd name="connsiteY3" fmla="*/ 246210 h 1227005"/>
                <a:gd name="connsiteX4" fmla="*/ 486538 w 2332337"/>
                <a:gd name="connsiteY4" fmla="*/ 595566 h 1227005"/>
                <a:gd name="connsiteX5" fmla="*/ 1921276 w 2332337"/>
                <a:gd name="connsiteY5" fmla="*/ 1227005 h 1227005"/>
                <a:gd name="connsiteX6" fmla="*/ 1921274 w 2332337"/>
                <a:gd name="connsiteY6" fmla="*/ 1227005 h 1227005"/>
                <a:gd name="connsiteX0" fmla="*/ 2012095 w 2423158"/>
                <a:gd name="connsiteY0" fmla="*/ 1147069 h 1147069"/>
                <a:gd name="connsiteX1" fmla="*/ 1097207 w 2423158"/>
                <a:gd name="connsiteY1" fmla="*/ 1043838 h 1147069"/>
                <a:gd name="connsiteX2" fmla="*/ 1006387 w 2423158"/>
                <a:gd name="connsiteY2" fmla="*/ 67353 h 1147069"/>
                <a:gd name="connsiteX3" fmla="*/ 2423158 w 2423158"/>
                <a:gd name="connsiteY3" fmla="*/ 166274 h 1147069"/>
                <a:gd name="connsiteX4" fmla="*/ 577359 w 2423158"/>
                <a:gd name="connsiteY4" fmla="*/ 515630 h 1147069"/>
                <a:gd name="connsiteX5" fmla="*/ 2012097 w 2423158"/>
                <a:gd name="connsiteY5" fmla="*/ 1147069 h 1147069"/>
                <a:gd name="connsiteX6" fmla="*/ 2012095 w 2423158"/>
                <a:gd name="connsiteY6" fmla="*/ 1147069 h 1147069"/>
                <a:gd name="connsiteX0" fmla="*/ 2193698 w 2604761"/>
                <a:gd name="connsiteY0" fmla="*/ 1009696 h 1009696"/>
                <a:gd name="connsiteX1" fmla="*/ 1278810 w 2604761"/>
                <a:gd name="connsiteY1" fmla="*/ 906465 h 1009696"/>
                <a:gd name="connsiteX2" fmla="*/ 1006387 w 2604761"/>
                <a:gd name="connsiteY2" fmla="*/ 67353 h 1009696"/>
                <a:gd name="connsiteX3" fmla="*/ 2604761 w 2604761"/>
                <a:gd name="connsiteY3" fmla="*/ 28901 h 1009696"/>
                <a:gd name="connsiteX4" fmla="*/ 758962 w 2604761"/>
                <a:gd name="connsiteY4" fmla="*/ 378257 h 1009696"/>
                <a:gd name="connsiteX5" fmla="*/ 2193700 w 2604761"/>
                <a:gd name="connsiteY5" fmla="*/ 1009696 h 1009696"/>
                <a:gd name="connsiteX6" fmla="*/ 2193698 w 2604761"/>
                <a:gd name="connsiteY6" fmla="*/ 1009696 h 1009696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877707 w 2723506"/>
                <a:gd name="connsiteY4" fmla="*/ 459743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721181 w 2723506"/>
                <a:gd name="connsiteY4" fmla="*/ 482960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281829 w 2692892"/>
                <a:gd name="connsiteY0" fmla="*/ 1002722 h 1002722"/>
                <a:gd name="connsiteX1" fmla="*/ 1366941 w 2692892"/>
                <a:gd name="connsiteY1" fmla="*/ 899491 h 1002722"/>
                <a:gd name="connsiteX2" fmla="*/ 1006386 w 2692892"/>
                <a:gd name="connsiteY2" fmla="*/ 67353 h 1002722"/>
                <a:gd name="connsiteX3" fmla="*/ 2692892 w 2692892"/>
                <a:gd name="connsiteY3" fmla="*/ 21927 h 1002722"/>
                <a:gd name="connsiteX4" fmla="*/ 690567 w 2692892"/>
                <a:gd name="connsiteY4" fmla="*/ 394500 h 1002722"/>
                <a:gd name="connsiteX5" fmla="*/ 2281831 w 2692892"/>
                <a:gd name="connsiteY5" fmla="*/ 1002722 h 1002722"/>
                <a:gd name="connsiteX6" fmla="*/ 2281829 w 2692892"/>
                <a:gd name="connsiteY6" fmla="*/ 1002722 h 100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2892" h="1002722">
                  <a:moveTo>
                    <a:pt x="2281829" y="1002722"/>
                  </a:moveTo>
                  <a:cubicBezTo>
                    <a:pt x="1956798" y="1002722"/>
                    <a:pt x="1638834" y="966845"/>
                    <a:pt x="1366941" y="899491"/>
                  </a:cubicBezTo>
                  <a:cubicBezTo>
                    <a:pt x="360555" y="650188"/>
                    <a:pt x="-1" y="316655"/>
                    <a:pt x="1006386" y="67353"/>
                  </a:cubicBezTo>
                  <a:cubicBezTo>
                    <a:pt x="1278279" y="0"/>
                    <a:pt x="2367862" y="21927"/>
                    <a:pt x="2692892" y="21927"/>
                  </a:cubicBezTo>
                  <a:cubicBezTo>
                    <a:pt x="1867787" y="69429"/>
                    <a:pt x="690565" y="78866"/>
                    <a:pt x="690567" y="394500"/>
                  </a:cubicBezTo>
                  <a:cubicBezTo>
                    <a:pt x="690570" y="710133"/>
                    <a:pt x="1456729" y="955221"/>
                    <a:pt x="2281831" y="1002722"/>
                  </a:cubicBezTo>
                  <a:lnTo>
                    <a:pt x="2281829" y="100272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</p:grpSp>
      <p:grpSp>
        <p:nvGrpSpPr>
          <p:cNvPr id="16389" name="Group 34">
            <a:extLst>
              <a:ext uri="{FF2B5EF4-FFF2-40B4-BE49-F238E27FC236}">
                <a16:creationId xmlns:a16="http://schemas.microsoft.com/office/drawing/2014/main" id="{F9A71BEE-E9DB-48A4-947A-3F9E7D8812E6}"/>
              </a:ext>
            </a:extLst>
          </p:cNvPr>
          <p:cNvGrpSpPr>
            <a:grpSpLocks/>
          </p:cNvGrpSpPr>
          <p:nvPr/>
        </p:nvGrpSpPr>
        <p:grpSpPr bwMode="auto">
          <a:xfrm>
            <a:off x="5087939" y="1844676"/>
            <a:ext cx="936625" cy="1152525"/>
            <a:chOff x="1475656" y="3429000"/>
            <a:chExt cx="2594737" cy="3024336"/>
          </a:xfrm>
        </p:grpSpPr>
        <p:sp>
          <p:nvSpPr>
            <p:cNvPr id="36" name="Can 35">
              <a:extLst>
                <a:ext uri="{FF2B5EF4-FFF2-40B4-BE49-F238E27FC236}">
                  <a16:creationId xmlns:a16="http://schemas.microsoft.com/office/drawing/2014/main" id="{8B548C01-0313-4017-9DBD-79E5AEF700FB}"/>
                </a:ext>
              </a:extLst>
            </p:cNvPr>
            <p:cNvSpPr/>
            <p:nvPr/>
          </p:nvSpPr>
          <p:spPr>
            <a:xfrm>
              <a:off x="1475656" y="3429000"/>
              <a:ext cx="2159348" cy="3024336"/>
            </a:xfrm>
            <a:prstGeom prst="ca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438F00F-52AC-4569-A083-680D5EEC057C}"/>
                </a:ext>
              </a:extLst>
            </p:cNvPr>
            <p:cNvSpPr/>
            <p:nvPr/>
          </p:nvSpPr>
          <p:spPr>
            <a:xfrm>
              <a:off x="1475656" y="4291312"/>
              <a:ext cx="360624" cy="1674632"/>
            </a:xfrm>
            <a:custGeom>
              <a:avLst/>
              <a:gdLst>
                <a:gd name="connsiteX0" fmla="*/ 0 w 355107"/>
                <a:gd name="connsiteY0" fmla="*/ 0 h 1526959"/>
                <a:gd name="connsiteX1" fmla="*/ 355107 w 355107"/>
                <a:gd name="connsiteY1" fmla="*/ 97654 h 1526959"/>
                <a:gd name="connsiteX2" fmla="*/ 355107 w 355107"/>
                <a:gd name="connsiteY2" fmla="*/ 1526959 h 1526959"/>
                <a:gd name="connsiteX3" fmla="*/ 0 w 355107"/>
                <a:gd name="connsiteY3" fmla="*/ 1402672 h 1526959"/>
                <a:gd name="connsiteX4" fmla="*/ 0 w 355107"/>
                <a:gd name="connsiteY4" fmla="*/ 0 h 152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107" h="1526959">
                  <a:moveTo>
                    <a:pt x="0" y="0"/>
                  </a:moveTo>
                  <a:lnTo>
                    <a:pt x="355107" y="97654"/>
                  </a:lnTo>
                  <a:lnTo>
                    <a:pt x="355107" y="1526959"/>
                  </a:lnTo>
                  <a:lnTo>
                    <a:pt x="0" y="1402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C49C2BB-6706-4E5F-816A-CC0AD0563B1A}"/>
                </a:ext>
              </a:extLst>
            </p:cNvPr>
            <p:cNvSpPr/>
            <p:nvPr/>
          </p:nvSpPr>
          <p:spPr>
            <a:xfrm>
              <a:off x="1691150" y="3499819"/>
              <a:ext cx="1798726" cy="36241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A923F08-16A9-4C92-9244-9DEF875E1FDD}"/>
                </a:ext>
              </a:extLst>
            </p:cNvPr>
            <p:cNvSpPr/>
            <p:nvPr/>
          </p:nvSpPr>
          <p:spPr>
            <a:xfrm rot="14132429">
              <a:off x="2711588" y="4078088"/>
              <a:ext cx="1741284" cy="976325"/>
            </a:xfrm>
            <a:custGeom>
              <a:avLst/>
              <a:gdLst>
                <a:gd name="connsiteX0" fmla="*/ 1669677 w 1669677"/>
                <a:gd name="connsiteY0" fmla="*/ 1262882 h 1262882"/>
                <a:gd name="connsiteX1" fmla="*/ 754789 w 1669677"/>
                <a:gd name="connsiteY1" fmla="*/ 1159651 h 1262882"/>
                <a:gd name="connsiteX2" fmla="*/ 754792 w 1669677"/>
                <a:gd name="connsiteY2" fmla="*/ 103230 h 1262882"/>
                <a:gd name="connsiteX3" fmla="*/ 1669678 w 1669677"/>
                <a:gd name="connsiteY3" fmla="*/ 0 h 1262882"/>
                <a:gd name="connsiteX4" fmla="*/ 234941 w 1669677"/>
                <a:gd name="connsiteY4" fmla="*/ 631443 h 1262882"/>
                <a:gd name="connsiteX5" fmla="*/ 1669679 w 1669677"/>
                <a:gd name="connsiteY5" fmla="*/ 1262882 h 1262882"/>
                <a:gd name="connsiteX6" fmla="*/ 1669677 w 1669677"/>
                <a:gd name="connsiteY6" fmla="*/ 1262882 h 1262882"/>
                <a:gd name="connsiteX0" fmla="*/ 1921274 w 2332337"/>
                <a:gd name="connsiteY0" fmla="*/ 1227005 h 1227005"/>
                <a:gd name="connsiteX1" fmla="*/ 1006386 w 2332337"/>
                <a:gd name="connsiteY1" fmla="*/ 1123774 h 1227005"/>
                <a:gd name="connsiteX2" fmla="*/ 1006389 w 2332337"/>
                <a:gd name="connsiteY2" fmla="*/ 67353 h 1227005"/>
                <a:gd name="connsiteX3" fmla="*/ 2332337 w 2332337"/>
                <a:gd name="connsiteY3" fmla="*/ 246210 h 1227005"/>
                <a:gd name="connsiteX4" fmla="*/ 486538 w 2332337"/>
                <a:gd name="connsiteY4" fmla="*/ 595566 h 1227005"/>
                <a:gd name="connsiteX5" fmla="*/ 1921276 w 2332337"/>
                <a:gd name="connsiteY5" fmla="*/ 1227005 h 1227005"/>
                <a:gd name="connsiteX6" fmla="*/ 1921274 w 2332337"/>
                <a:gd name="connsiteY6" fmla="*/ 1227005 h 1227005"/>
                <a:gd name="connsiteX0" fmla="*/ 2012095 w 2423158"/>
                <a:gd name="connsiteY0" fmla="*/ 1147069 h 1147069"/>
                <a:gd name="connsiteX1" fmla="*/ 1097207 w 2423158"/>
                <a:gd name="connsiteY1" fmla="*/ 1043838 h 1147069"/>
                <a:gd name="connsiteX2" fmla="*/ 1006387 w 2423158"/>
                <a:gd name="connsiteY2" fmla="*/ 67353 h 1147069"/>
                <a:gd name="connsiteX3" fmla="*/ 2423158 w 2423158"/>
                <a:gd name="connsiteY3" fmla="*/ 166274 h 1147069"/>
                <a:gd name="connsiteX4" fmla="*/ 577359 w 2423158"/>
                <a:gd name="connsiteY4" fmla="*/ 515630 h 1147069"/>
                <a:gd name="connsiteX5" fmla="*/ 2012097 w 2423158"/>
                <a:gd name="connsiteY5" fmla="*/ 1147069 h 1147069"/>
                <a:gd name="connsiteX6" fmla="*/ 2012095 w 2423158"/>
                <a:gd name="connsiteY6" fmla="*/ 1147069 h 1147069"/>
                <a:gd name="connsiteX0" fmla="*/ 2193698 w 2604761"/>
                <a:gd name="connsiteY0" fmla="*/ 1009696 h 1009696"/>
                <a:gd name="connsiteX1" fmla="*/ 1278810 w 2604761"/>
                <a:gd name="connsiteY1" fmla="*/ 906465 h 1009696"/>
                <a:gd name="connsiteX2" fmla="*/ 1006387 w 2604761"/>
                <a:gd name="connsiteY2" fmla="*/ 67353 h 1009696"/>
                <a:gd name="connsiteX3" fmla="*/ 2604761 w 2604761"/>
                <a:gd name="connsiteY3" fmla="*/ 28901 h 1009696"/>
                <a:gd name="connsiteX4" fmla="*/ 758962 w 2604761"/>
                <a:gd name="connsiteY4" fmla="*/ 378257 h 1009696"/>
                <a:gd name="connsiteX5" fmla="*/ 2193700 w 2604761"/>
                <a:gd name="connsiteY5" fmla="*/ 1009696 h 1009696"/>
                <a:gd name="connsiteX6" fmla="*/ 2193698 w 2604761"/>
                <a:gd name="connsiteY6" fmla="*/ 1009696 h 1009696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877707 w 2723506"/>
                <a:gd name="connsiteY4" fmla="*/ 459743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721181 w 2723506"/>
                <a:gd name="connsiteY4" fmla="*/ 482960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281829 w 2692892"/>
                <a:gd name="connsiteY0" fmla="*/ 1002722 h 1002722"/>
                <a:gd name="connsiteX1" fmla="*/ 1366941 w 2692892"/>
                <a:gd name="connsiteY1" fmla="*/ 899491 h 1002722"/>
                <a:gd name="connsiteX2" fmla="*/ 1006386 w 2692892"/>
                <a:gd name="connsiteY2" fmla="*/ 67353 h 1002722"/>
                <a:gd name="connsiteX3" fmla="*/ 2692892 w 2692892"/>
                <a:gd name="connsiteY3" fmla="*/ 21927 h 1002722"/>
                <a:gd name="connsiteX4" fmla="*/ 690567 w 2692892"/>
                <a:gd name="connsiteY4" fmla="*/ 394500 h 1002722"/>
                <a:gd name="connsiteX5" fmla="*/ 2281831 w 2692892"/>
                <a:gd name="connsiteY5" fmla="*/ 1002722 h 1002722"/>
                <a:gd name="connsiteX6" fmla="*/ 2281829 w 2692892"/>
                <a:gd name="connsiteY6" fmla="*/ 1002722 h 100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2892" h="1002722">
                  <a:moveTo>
                    <a:pt x="2281829" y="1002722"/>
                  </a:moveTo>
                  <a:cubicBezTo>
                    <a:pt x="1956798" y="1002722"/>
                    <a:pt x="1638834" y="966845"/>
                    <a:pt x="1366941" y="899491"/>
                  </a:cubicBezTo>
                  <a:cubicBezTo>
                    <a:pt x="360555" y="650188"/>
                    <a:pt x="-1" y="316655"/>
                    <a:pt x="1006386" y="67353"/>
                  </a:cubicBezTo>
                  <a:cubicBezTo>
                    <a:pt x="1278279" y="0"/>
                    <a:pt x="2367862" y="21927"/>
                    <a:pt x="2692892" y="21927"/>
                  </a:cubicBezTo>
                  <a:cubicBezTo>
                    <a:pt x="1867787" y="69429"/>
                    <a:pt x="690565" y="78866"/>
                    <a:pt x="690567" y="394500"/>
                  </a:cubicBezTo>
                  <a:cubicBezTo>
                    <a:pt x="690570" y="710133"/>
                    <a:pt x="1456729" y="955221"/>
                    <a:pt x="2281831" y="1002722"/>
                  </a:cubicBezTo>
                  <a:lnTo>
                    <a:pt x="2281829" y="1002722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</p:grpSp>
      <p:grpSp>
        <p:nvGrpSpPr>
          <p:cNvPr id="16390" name="Group 39">
            <a:extLst>
              <a:ext uri="{FF2B5EF4-FFF2-40B4-BE49-F238E27FC236}">
                <a16:creationId xmlns:a16="http://schemas.microsoft.com/office/drawing/2014/main" id="{85DEC2EF-1BC0-49AF-B8AA-EDECD2422348}"/>
              </a:ext>
            </a:extLst>
          </p:cNvPr>
          <p:cNvGrpSpPr>
            <a:grpSpLocks/>
          </p:cNvGrpSpPr>
          <p:nvPr/>
        </p:nvGrpSpPr>
        <p:grpSpPr bwMode="auto">
          <a:xfrm>
            <a:off x="6167439" y="1844676"/>
            <a:ext cx="936625" cy="1152525"/>
            <a:chOff x="1475656" y="3429000"/>
            <a:chExt cx="2594737" cy="3024336"/>
          </a:xfrm>
        </p:grpSpPr>
        <p:sp>
          <p:nvSpPr>
            <p:cNvPr id="41" name="Can 40">
              <a:extLst>
                <a:ext uri="{FF2B5EF4-FFF2-40B4-BE49-F238E27FC236}">
                  <a16:creationId xmlns:a16="http://schemas.microsoft.com/office/drawing/2014/main" id="{94443FBB-678E-40A0-9331-73661236CA6C}"/>
                </a:ext>
              </a:extLst>
            </p:cNvPr>
            <p:cNvSpPr/>
            <p:nvPr/>
          </p:nvSpPr>
          <p:spPr>
            <a:xfrm>
              <a:off x="1475656" y="3429000"/>
              <a:ext cx="2159348" cy="3024336"/>
            </a:xfrm>
            <a:prstGeom prst="ca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9F8A030-7E4F-4141-9A4A-3106ACD98754}"/>
                </a:ext>
              </a:extLst>
            </p:cNvPr>
            <p:cNvSpPr/>
            <p:nvPr/>
          </p:nvSpPr>
          <p:spPr>
            <a:xfrm>
              <a:off x="1475656" y="4291312"/>
              <a:ext cx="360624" cy="1674632"/>
            </a:xfrm>
            <a:custGeom>
              <a:avLst/>
              <a:gdLst>
                <a:gd name="connsiteX0" fmla="*/ 0 w 355107"/>
                <a:gd name="connsiteY0" fmla="*/ 0 h 1526959"/>
                <a:gd name="connsiteX1" fmla="*/ 355107 w 355107"/>
                <a:gd name="connsiteY1" fmla="*/ 97654 h 1526959"/>
                <a:gd name="connsiteX2" fmla="*/ 355107 w 355107"/>
                <a:gd name="connsiteY2" fmla="*/ 1526959 h 1526959"/>
                <a:gd name="connsiteX3" fmla="*/ 0 w 355107"/>
                <a:gd name="connsiteY3" fmla="*/ 1402672 h 1526959"/>
                <a:gd name="connsiteX4" fmla="*/ 0 w 355107"/>
                <a:gd name="connsiteY4" fmla="*/ 0 h 152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107" h="1526959">
                  <a:moveTo>
                    <a:pt x="0" y="0"/>
                  </a:moveTo>
                  <a:lnTo>
                    <a:pt x="355107" y="97654"/>
                  </a:lnTo>
                  <a:lnTo>
                    <a:pt x="355107" y="1526959"/>
                  </a:lnTo>
                  <a:lnTo>
                    <a:pt x="0" y="1402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E300B9-6D5B-4185-A514-974B57121B66}"/>
                </a:ext>
              </a:extLst>
            </p:cNvPr>
            <p:cNvSpPr/>
            <p:nvPr/>
          </p:nvSpPr>
          <p:spPr>
            <a:xfrm>
              <a:off x="1691150" y="3499819"/>
              <a:ext cx="1798726" cy="362419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94AAE991-D167-45F1-8076-EC13FEA1FBFF}"/>
                </a:ext>
              </a:extLst>
            </p:cNvPr>
            <p:cNvSpPr/>
            <p:nvPr/>
          </p:nvSpPr>
          <p:spPr>
            <a:xfrm rot="14132429">
              <a:off x="2711588" y="4078088"/>
              <a:ext cx="1741284" cy="976325"/>
            </a:xfrm>
            <a:custGeom>
              <a:avLst/>
              <a:gdLst>
                <a:gd name="connsiteX0" fmla="*/ 1669677 w 1669677"/>
                <a:gd name="connsiteY0" fmla="*/ 1262882 h 1262882"/>
                <a:gd name="connsiteX1" fmla="*/ 754789 w 1669677"/>
                <a:gd name="connsiteY1" fmla="*/ 1159651 h 1262882"/>
                <a:gd name="connsiteX2" fmla="*/ 754792 w 1669677"/>
                <a:gd name="connsiteY2" fmla="*/ 103230 h 1262882"/>
                <a:gd name="connsiteX3" fmla="*/ 1669678 w 1669677"/>
                <a:gd name="connsiteY3" fmla="*/ 0 h 1262882"/>
                <a:gd name="connsiteX4" fmla="*/ 234941 w 1669677"/>
                <a:gd name="connsiteY4" fmla="*/ 631443 h 1262882"/>
                <a:gd name="connsiteX5" fmla="*/ 1669679 w 1669677"/>
                <a:gd name="connsiteY5" fmla="*/ 1262882 h 1262882"/>
                <a:gd name="connsiteX6" fmla="*/ 1669677 w 1669677"/>
                <a:gd name="connsiteY6" fmla="*/ 1262882 h 1262882"/>
                <a:gd name="connsiteX0" fmla="*/ 1921274 w 2332337"/>
                <a:gd name="connsiteY0" fmla="*/ 1227005 h 1227005"/>
                <a:gd name="connsiteX1" fmla="*/ 1006386 w 2332337"/>
                <a:gd name="connsiteY1" fmla="*/ 1123774 h 1227005"/>
                <a:gd name="connsiteX2" fmla="*/ 1006389 w 2332337"/>
                <a:gd name="connsiteY2" fmla="*/ 67353 h 1227005"/>
                <a:gd name="connsiteX3" fmla="*/ 2332337 w 2332337"/>
                <a:gd name="connsiteY3" fmla="*/ 246210 h 1227005"/>
                <a:gd name="connsiteX4" fmla="*/ 486538 w 2332337"/>
                <a:gd name="connsiteY4" fmla="*/ 595566 h 1227005"/>
                <a:gd name="connsiteX5" fmla="*/ 1921276 w 2332337"/>
                <a:gd name="connsiteY5" fmla="*/ 1227005 h 1227005"/>
                <a:gd name="connsiteX6" fmla="*/ 1921274 w 2332337"/>
                <a:gd name="connsiteY6" fmla="*/ 1227005 h 1227005"/>
                <a:gd name="connsiteX0" fmla="*/ 2012095 w 2423158"/>
                <a:gd name="connsiteY0" fmla="*/ 1147069 h 1147069"/>
                <a:gd name="connsiteX1" fmla="*/ 1097207 w 2423158"/>
                <a:gd name="connsiteY1" fmla="*/ 1043838 h 1147069"/>
                <a:gd name="connsiteX2" fmla="*/ 1006387 w 2423158"/>
                <a:gd name="connsiteY2" fmla="*/ 67353 h 1147069"/>
                <a:gd name="connsiteX3" fmla="*/ 2423158 w 2423158"/>
                <a:gd name="connsiteY3" fmla="*/ 166274 h 1147069"/>
                <a:gd name="connsiteX4" fmla="*/ 577359 w 2423158"/>
                <a:gd name="connsiteY4" fmla="*/ 515630 h 1147069"/>
                <a:gd name="connsiteX5" fmla="*/ 2012097 w 2423158"/>
                <a:gd name="connsiteY5" fmla="*/ 1147069 h 1147069"/>
                <a:gd name="connsiteX6" fmla="*/ 2012095 w 2423158"/>
                <a:gd name="connsiteY6" fmla="*/ 1147069 h 1147069"/>
                <a:gd name="connsiteX0" fmla="*/ 2193698 w 2604761"/>
                <a:gd name="connsiteY0" fmla="*/ 1009696 h 1009696"/>
                <a:gd name="connsiteX1" fmla="*/ 1278810 w 2604761"/>
                <a:gd name="connsiteY1" fmla="*/ 906465 h 1009696"/>
                <a:gd name="connsiteX2" fmla="*/ 1006387 w 2604761"/>
                <a:gd name="connsiteY2" fmla="*/ 67353 h 1009696"/>
                <a:gd name="connsiteX3" fmla="*/ 2604761 w 2604761"/>
                <a:gd name="connsiteY3" fmla="*/ 28901 h 1009696"/>
                <a:gd name="connsiteX4" fmla="*/ 758962 w 2604761"/>
                <a:gd name="connsiteY4" fmla="*/ 378257 h 1009696"/>
                <a:gd name="connsiteX5" fmla="*/ 2193700 w 2604761"/>
                <a:gd name="connsiteY5" fmla="*/ 1009696 h 1009696"/>
                <a:gd name="connsiteX6" fmla="*/ 2193698 w 2604761"/>
                <a:gd name="connsiteY6" fmla="*/ 1009696 h 1009696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877707 w 2723506"/>
                <a:gd name="connsiteY4" fmla="*/ 459743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721181 w 2723506"/>
                <a:gd name="connsiteY4" fmla="*/ 482960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281829 w 2692892"/>
                <a:gd name="connsiteY0" fmla="*/ 1002722 h 1002722"/>
                <a:gd name="connsiteX1" fmla="*/ 1366941 w 2692892"/>
                <a:gd name="connsiteY1" fmla="*/ 899491 h 1002722"/>
                <a:gd name="connsiteX2" fmla="*/ 1006386 w 2692892"/>
                <a:gd name="connsiteY2" fmla="*/ 67353 h 1002722"/>
                <a:gd name="connsiteX3" fmla="*/ 2692892 w 2692892"/>
                <a:gd name="connsiteY3" fmla="*/ 21927 h 1002722"/>
                <a:gd name="connsiteX4" fmla="*/ 690567 w 2692892"/>
                <a:gd name="connsiteY4" fmla="*/ 394500 h 1002722"/>
                <a:gd name="connsiteX5" fmla="*/ 2281831 w 2692892"/>
                <a:gd name="connsiteY5" fmla="*/ 1002722 h 1002722"/>
                <a:gd name="connsiteX6" fmla="*/ 2281829 w 2692892"/>
                <a:gd name="connsiteY6" fmla="*/ 1002722 h 100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2892" h="1002722">
                  <a:moveTo>
                    <a:pt x="2281829" y="1002722"/>
                  </a:moveTo>
                  <a:cubicBezTo>
                    <a:pt x="1956798" y="1002722"/>
                    <a:pt x="1638834" y="966845"/>
                    <a:pt x="1366941" y="899491"/>
                  </a:cubicBezTo>
                  <a:cubicBezTo>
                    <a:pt x="360555" y="650188"/>
                    <a:pt x="-1" y="316655"/>
                    <a:pt x="1006386" y="67353"/>
                  </a:cubicBezTo>
                  <a:cubicBezTo>
                    <a:pt x="1278279" y="0"/>
                    <a:pt x="2367862" y="21927"/>
                    <a:pt x="2692892" y="21927"/>
                  </a:cubicBezTo>
                  <a:cubicBezTo>
                    <a:pt x="1867787" y="69429"/>
                    <a:pt x="690565" y="78866"/>
                    <a:pt x="690567" y="394500"/>
                  </a:cubicBezTo>
                  <a:cubicBezTo>
                    <a:pt x="690570" y="710133"/>
                    <a:pt x="1456729" y="955221"/>
                    <a:pt x="2281831" y="1002722"/>
                  </a:cubicBezTo>
                  <a:lnTo>
                    <a:pt x="2281829" y="1002722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</p:grpSp>
      <p:grpSp>
        <p:nvGrpSpPr>
          <p:cNvPr id="16391" name="Group 44">
            <a:extLst>
              <a:ext uri="{FF2B5EF4-FFF2-40B4-BE49-F238E27FC236}">
                <a16:creationId xmlns:a16="http://schemas.microsoft.com/office/drawing/2014/main" id="{19540298-CE70-4860-868E-EC8DD1822F45}"/>
              </a:ext>
            </a:extLst>
          </p:cNvPr>
          <p:cNvGrpSpPr>
            <a:grpSpLocks/>
          </p:cNvGrpSpPr>
          <p:nvPr/>
        </p:nvGrpSpPr>
        <p:grpSpPr bwMode="auto">
          <a:xfrm>
            <a:off x="7175501" y="1844676"/>
            <a:ext cx="936625" cy="1152525"/>
            <a:chOff x="1475656" y="3429000"/>
            <a:chExt cx="2594737" cy="3024336"/>
          </a:xfrm>
        </p:grpSpPr>
        <p:sp>
          <p:nvSpPr>
            <p:cNvPr id="46" name="Can 45">
              <a:extLst>
                <a:ext uri="{FF2B5EF4-FFF2-40B4-BE49-F238E27FC236}">
                  <a16:creationId xmlns:a16="http://schemas.microsoft.com/office/drawing/2014/main" id="{A850087E-9A29-469E-A847-3EE929EC5D4B}"/>
                </a:ext>
              </a:extLst>
            </p:cNvPr>
            <p:cNvSpPr/>
            <p:nvPr/>
          </p:nvSpPr>
          <p:spPr>
            <a:xfrm>
              <a:off x="1475656" y="3429000"/>
              <a:ext cx="2159350" cy="3024336"/>
            </a:xfrm>
            <a:prstGeom prst="ca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0B12D5E-0671-463B-88DF-D6CA1438D737}"/>
                </a:ext>
              </a:extLst>
            </p:cNvPr>
            <p:cNvSpPr/>
            <p:nvPr/>
          </p:nvSpPr>
          <p:spPr>
            <a:xfrm>
              <a:off x="1475656" y="4291312"/>
              <a:ext cx="360624" cy="1674632"/>
            </a:xfrm>
            <a:custGeom>
              <a:avLst/>
              <a:gdLst>
                <a:gd name="connsiteX0" fmla="*/ 0 w 355107"/>
                <a:gd name="connsiteY0" fmla="*/ 0 h 1526959"/>
                <a:gd name="connsiteX1" fmla="*/ 355107 w 355107"/>
                <a:gd name="connsiteY1" fmla="*/ 97654 h 1526959"/>
                <a:gd name="connsiteX2" fmla="*/ 355107 w 355107"/>
                <a:gd name="connsiteY2" fmla="*/ 1526959 h 1526959"/>
                <a:gd name="connsiteX3" fmla="*/ 0 w 355107"/>
                <a:gd name="connsiteY3" fmla="*/ 1402672 h 1526959"/>
                <a:gd name="connsiteX4" fmla="*/ 0 w 355107"/>
                <a:gd name="connsiteY4" fmla="*/ 0 h 152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107" h="1526959">
                  <a:moveTo>
                    <a:pt x="0" y="0"/>
                  </a:moveTo>
                  <a:lnTo>
                    <a:pt x="355107" y="97654"/>
                  </a:lnTo>
                  <a:lnTo>
                    <a:pt x="355107" y="1526959"/>
                  </a:lnTo>
                  <a:lnTo>
                    <a:pt x="0" y="1402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879E68F-BAAE-458C-B9E6-4F7580227AD9}"/>
                </a:ext>
              </a:extLst>
            </p:cNvPr>
            <p:cNvSpPr/>
            <p:nvPr/>
          </p:nvSpPr>
          <p:spPr>
            <a:xfrm>
              <a:off x="1691152" y="3499819"/>
              <a:ext cx="1798723" cy="362419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0ACD90E-FC72-420A-BFF0-6A8228552E79}"/>
                </a:ext>
              </a:extLst>
            </p:cNvPr>
            <p:cNvSpPr/>
            <p:nvPr/>
          </p:nvSpPr>
          <p:spPr>
            <a:xfrm rot="14132429">
              <a:off x="2711588" y="4078088"/>
              <a:ext cx="1741284" cy="976325"/>
            </a:xfrm>
            <a:custGeom>
              <a:avLst/>
              <a:gdLst>
                <a:gd name="connsiteX0" fmla="*/ 1669677 w 1669677"/>
                <a:gd name="connsiteY0" fmla="*/ 1262882 h 1262882"/>
                <a:gd name="connsiteX1" fmla="*/ 754789 w 1669677"/>
                <a:gd name="connsiteY1" fmla="*/ 1159651 h 1262882"/>
                <a:gd name="connsiteX2" fmla="*/ 754792 w 1669677"/>
                <a:gd name="connsiteY2" fmla="*/ 103230 h 1262882"/>
                <a:gd name="connsiteX3" fmla="*/ 1669678 w 1669677"/>
                <a:gd name="connsiteY3" fmla="*/ 0 h 1262882"/>
                <a:gd name="connsiteX4" fmla="*/ 234941 w 1669677"/>
                <a:gd name="connsiteY4" fmla="*/ 631443 h 1262882"/>
                <a:gd name="connsiteX5" fmla="*/ 1669679 w 1669677"/>
                <a:gd name="connsiteY5" fmla="*/ 1262882 h 1262882"/>
                <a:gd name="connsiteX6" fmla="*/ 1669677 w 1669677"/>
                <a:gd name="connsiteY6" fmla="*/ 1262882 h 1262882"/>
                <a:gd name="connsiteX0" fmla="*/ 1921274 w 2332337"/>
                <a:gd name="connsiteY0" fmla="*/ 1227005 h 1227005"/>
                <a:gd name="connsiteX1" fmla="*/ 1006386 w 2332337"/>
                <a:gd name="connsiteY1" fmla="*/ 1123774 h 1227005"/>
                <a:gd name="connsiteX2" fmla="*/ 1006389 w 2332337"/>
                <a:gd name="connsiteY2" fmla="*/ 67353 h 1227005"/>
                <a:gd name="connsiteX3" fmla="*/ 2332337 w 2332337"/>
                <a:gd name="connsiteY3" fmla="*/ 246210 h 1227005"/>
                <a:gd name="connsiteX4" fmla="*/ 486538 w 2332337"/>
                <a:gd name="connsiteY4" fmla="*/ 595566 h 1227005"/>
                <a:gd name="connsiteX5" fmla="*/ 1921276 w 2332337"/>
                <a:gd name="connsiteY5" fmla="*/ 1227005 h 1227005"/>
                <a:gd name="connsiteX6" fmla="*/ 1921274 w 2332337"/>
                <a:gd name="connsiteY6" fmla="*/ 1227005 h 1227005"/>
                <a:gd name="connsiteX0" fmla="*/ 2012095 w 2423158"/>
                <a:gd name="connsiteY0" fmla="*/ 1147069 h 1147069"/>
                <a:gd name="connsiteX1" fmla="*/ 1097207 w 2423158"/>
                <a:gd name="connsiteY1" fmla="*/ 1043838 h 1147069"/>
                <a:gd name="connsiteX2" fmla="*/ 1006387 w 2423158"/>
                <a:gd name="connsiteY2" fmla="*/ 67353 h 1147069"/>
                <a:gd name="connsiteX3" fmla="*/ 2423158 w 2423158"/>
                <a:gd name="connsiteY3" fmla="*/ 166274 h 1147069"/>
                <a:gd name="connsiteX4" fmla="*/ 577359 w 2423158"/>
                <a:gd name="connsiteY4" fmla="*/ 515630 h 1147069"/>
                <a:gd name="connsiteX5" fmla="*/ 2012097 w 2423158"/>
                <a:gd name="connsiteY5" fmla="*/ 1147069 h 1147069"/>
                <a:gd name="connsiteX6" fmla="*/ 2012095 w 2423158"/>
                <a:gd name="connsiteY6" fmla="*/ 1147069 h 1147069"/>
                <a:gd name="connsiteX0" fmla="*/ 2193698 w 2604761"/>
                <a:gd name="connsiteY0" fmla="*/ 1009696 h 1009696"/>
                <a:gd name="connsiteX1" fmla="*/ 1278810 w 2604761"/>
                <a:gd name="connsiteY1" fmla="*/ 906465 h 1009696"/>
                <a:gd name="connsiteX2" fmla="*/ 1006387 w 2604761"/>
                <a:gd name="connsiteY2" fmla="*/ 67353 h 1009696"/>
                <a:gd name="connsiteX3" fmla="*/ 2604761 w 2604761"/>
                <a:gd name="connsiteY3" fmla="*/ 28901 h 1009696"/>
                <a:gd name="connsiteX4" fmla="*/ 758962 w 2604761"/>
                <a:gd name="connsiteY4" fmla="*/ 378257 h 1009696"/>
                <a:gd name="connsiteX5" fmla="*/ 2193700 w 2604761"/>
                <a:gd name="connsiteY5" fmla="*/ 1009696 h 1009696"/>
                <a:gd name="connsiteX6" fmla="*/ 2193698 w 2604761"/>
                <a:gd name="connsiteY6" fmla="*/ 1009696 h 1009696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877707 w 2723506"/>
                <a:gd name="connsiteY4" fmla="*/ 459743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312443 w 2723506"/>
                <a:gd name="connsiteY0" fmla="*/ 1091182 h 1091182"/>
                <a:gd name="connsiteX1" fmla="*/ 1397555 w 2723506"/>
                <a:gd name="connsiteY1" fmla="*/ 987951 h 1091182"/>
                <a:gd name="connsiteX2" fmla="*/ 1006387 w 2723506"/>
                <a:gd name="connsiteY2" fmla="*/ 67353 h 1091182"/>
                <a:gd name="connsiteX3" fmla="*/ 2723506 w 2723506"/>
                <a:gd name="connsiteY3" fmla="*/ 110387 h 1091182"/>
                <a:gd name="connsiteX4" fmla="*/ 721181 w 2723506"/>
                <a:gd name="connsiteY4" fmla="*/ 482960 h 1091182"/>
                <a:gd name="connsiteX5" fmla="*/ 2312445 w 2723506"/>
                <a:gd name="connsiteY5" fmla="*/ 1091182 h 1091182"/>
                <a:gd name="connsiteX6" fmla="*/ 2312443 w 2723506"/>
                <a:gd name="connsiteY6" fmla="*/ 1091182 h 1091182"/>
                <a:gd name="connsiteX0" fmla="*/ 2281829 w 2692892"/>
                <a:gd name="connsiteY0" fmla="*/ 1002722 h 1002722"/>
                <a:gd name="connsiteX1" fmla="*/ 1366941 w 2692892"/>
                <a:gd name="connsiteY1" fmla="*/ 899491 h 1002722"/>
                <a:gd name="connsiteX2" fmla="*/ 1006386 w 2692892"/>
                <a:gd name="connsiteY2" fmla="*/ 67353 h 1002722"/>
                <a:gd name="connsiteX3" fmla="*/ 2692892 w 2692892"/>
                <a:gd name="connsiteY3" fmla="*/ 21927 h 1002722"/>
                <a:gd name="connsiteX4" fmla="*/ 690567 w 2692892"/>
                <a:gd name="connsiteY4" fmla="*/ 394500 h 1002722"/>
                <a:gd name="connsiteX5" fmla="*/ 2281831 w 2692892"/>
                <a:gd name="connsiteY5" fmla="*/ 1002722 h 1002722"/>
                <a:gd name="connsiteX6" fmla="*/ 2281829 w 2692892"/>
                <a:gd name="connsiteY6" fmla="*/ 1002722 h 100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2892" h="1002722">
                  <a:moveTo>
                    <a:pt x="2281829" y="1002722"/>
                  </a:moveTo>
                  <a:cubicBezTo>
                    <a:pt x="1956798" y="1002722"/>
                    <a:pt x="1638834" y="966845"/>
                    <a:pt x="1366941" y="899491"/>
                  </a:cubicBezTo>
                  <a:cubicBezTo>
                    <a:pt x="360555" y="650188"/>
                    <a:pt x="-1" y="316655"/>
                    <a:pt x="1006386" y="67353"/>
                  </a:cubicBezTo>
                  <a:cubicBezTo>
                    <a:pt x="1278279" y="0"/>
                    <a:pt x="2367862" y="21927"/>
                    <a:pt x="2692892" y="21927"/>
                  </a:cubicBezTo>
                  <a:cubicBezTo>
                    <a:pt x="1867787" y="69429"/>
                    <a:pt x="690565" y="78866"/>
                    <a:pt x="690567" y="394500"/>
                  </a:cubicBezTo>
                  <a:cubicBezTo>
                    <a:pt x="690570" y="710133"/>
                    <a:pt x="1456729" y="955221"/>
                    <a:pt x="2281831" y="1002722"/>
                  </a:cubicBezTo>
                  <a:lnTo>
                    <a:pt x="2281829" y="1002722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E76C46C1-543F-4F73-A566-3A68C43BE92D}"/>
              </a:ext>
            </a:extLst>
          </p:cNvPr>
          <p:cNvSpPr txBox="1"/>
          <p:nvPr/>
        </p:nvSpPr>
        <p:spPr>
          <a:xfrm>
            <a:off x="4584700" y="4738689"/>
            <a:ext cx="2374900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4 : 2</a:t>
            </a:r>
          </a:p>
        </p:txBody>
      </p:sp>
      <p:sp>
        <p:nvSpPr>
          <p:cNvPr id="51" name="Curved Right Arrow 50">
            <a:extLst>
              <a:ext uri="{FF2B5EF4-FFF2-40B4-BE49-F238E27FC236}">
                <a16:creationId xmlns:a16="http://schemas.microsoft.com/office/drawing/2014/main" id="{627B7232-B7AE-4B93-9816-1D9CC69343F9}"/>
              </a:ext>
            </a:extLst>
          </p:cNvPr>
          <p:cNvSpPr/>
          <p:nvPr/>
        </p:nvSpPr>
        <p:spPr>
          <a:xfrm>
            <a:off x="4079428" y="5013944"/>
            <a:ext cx="864096" cy="1368152"/>
          </a:xfrm>
          <a:prstGeom prst="curv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Curved Right Arrow 51">
            <a:extLst>
              <a:ext uri="{FF2B5EF4-FFF2-40B4-BE49-F238E27FC236}">
                <a16:creationId xmlns:a16="http://schemas.microsoft.com/office/drawing/2014/main" id="{713132F3-1F5B-48EB-8A62-F099617AD1EB}"/>
              </a:ext>
            </a:extLst>
          </p:cNvPr>
          <p:cNvSpPr/>
          <p:nvPr/>
        </p:nvSpPr>
        <p:spPr>
          <a:xfrm flipH="1">
            <a:off x="6680100" y="5013944"/>
            <a:ext cx="783704" cy="1368152"/>
          </a:xfrm>
          <a:prstGeom prst="curv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4D88DE-C650-4D73-BE23-99E01A262482}"/>
              </a:ext>
            </a:extLst>
          </p:cNvPr>
          <p:cNvSpPr txBox="1"/>
          <p:nvPr/>
        </p:nvSpPr>
        <p:spPr>
          <a:xfrm>
            <a:off x="4584700" y="5818189"/>
            <a:ext cx="2374900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61B708-0CE2-4E3C-931E-092489071D1D}"/>
              </a:ext>
            </a:extLst>
          </p:cNvPr>
          <p:cNvSpPr txBox="1"/>
          <p:nvPr/>
        </p:nvSpPr>
        <p:spPr>
          <a:xfrm>
            <a:off x="2495550" y="5230814"/>
            <a:ext cx="2376488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÷2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793C66-90AB-430D-A171-481380B4B8C5}"/>
              </a:ext>
            </a:extLst>
          </p:cNvPr>
          <p:cNvSpPr txBox="1"/>
          <p:nvPr/>
        </p:nvSpPr>
        <p:spPr>
          <a:xfrm>
            <a:off x="6672264" y="5314951"/>
            <a:ext cx="2376487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÷2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1E8B44-8954-4DEA-AC36-037162E8E275}"/>
              </a:ext>
            </a:extLst>
          </p:cNvPr>
          <p:cNvSpPr txBox="1"/>
          <p:nvPr/>
        </p:nvSpPr>
        <p:spPr>
          <a:xfrm>
            <a:off x="4943475" y="5891214"/>
            <a:ext cx="2376488" cy="706437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B3C877-42CA-4BC9-B6E0-36D809183E1B}"/>
              </a:ext>
            </a:extLst>
          </p:cNvPr>
          <p:cNvSpPr txBox="1"/>
          <p:nvPr/>
        </p:nvSpPr>
        <p:spPr>
          <a:xfrm>
            <a:off x="4224339" y="5878514"/>
            <a:ext cx="2376487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3ACB34-31C4-490F-A706-7EF854A48B78}"/>
              </a:ext>
            </a:extLst>
          </p:cNvPr>
          <p:cNvSpPr txBox="1"/>
          <p:nvPr/>
        </p:nvSpPr>
        <p:spPr>
          <a:xfrm>
            <a:off x="4013201" y="4076701"/>
            <a:ext cx="3667125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Red : Blue</a:t>
            </a: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1CB9ECF1-4F30-4432-8A1D-38020951A7F9}"/>
              </a:ext>
            </a:extLst>
          </p:cNvPr>
          <p:cNvSpPr txBox="1">
            <a:spLocks/>
          </p:cNvSpPr>
          <p:nvPr/>
        </p:nvSpPr>
        <p:spPr bwMode="auto">
          <a:xfrm>
            <a:off x="1524000" y="-26988"/>
            <a:ext cx="9144000" cy="64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GB" altLang="en-US" sz="4400" b="1" u="sng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Ratios</a:t>
            </a:r>
            <a:endParaRPr lang="en-GB" altLang="en-US" sz="5400" b="1" u="sng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" name="Date Placeholder 3">
            <a:extLst>
              <a:ext uri="{FF2B5EF4-FFF2-40B4-BE49-F238E27FC236}">
                <a16:creationId xmlns:a16="http://schemas.microsoft.com/office/drawing/2014/main" id="{F1F2E631-B552-4D77-BD67-6055A21C81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1524001" y="0"/>
            <a:ext cx="2124075" cy="47625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2B4816-453F-4FE8-AFF6-336E95A4ED62}" type="datetime1">
              <a:rPr lang="en-GB" sz="1800">
                <a:solidFill>
                  <a:schemeClr val="tx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01/08/2022</a:t>
            </a:fld>
            <a:endParaRPr lang="en-GB" sz="1800" dirty="0">
              <a:solidFill>
                <a:schemeClr val="tx1"/>
              </a:solidFill>
            </a:endParaRPr>
          </a:p>
        </p:txBody>
      </p:sp>
      <p:sp>
        <p:nvSpPr>
          <p:cNvPr id="16407" name="Rectangle 4">
            <a:extLst>
              <a:ext uri="{FF2B5EF4-FFF2-40B4-BE49-F238E27FC236}">
                <a16:creationId xmlns:a16="http://schemas.microsoft.com/office/drawing/2014/main" id="{01799325-D3A8-4674-821F-FFBB52357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6408" name="Rectangle 5">
            <a:extLst>
              <a:ext uri="{FF2B5EF4-FFF2-40B4-BE49-F238E27FC236}">
                <a16:creationId xmlns:a16="http://schemas.microsoft.com/office/drawing/2014/main" id="{AAEC724E-4C49-4728-9801-081ADEA73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8840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6409" name="Rectangle 6">
            <a:extLst>
              <a:ext uri="{FF2B5EF4-FFF2-40B4-BE49-F238E27FC236}">
                <a16:creationId xmlns:a16="http://schemas.microsoft.com/office/drawing/2014/main" id="{C409C0C6-5EA2-4484-BA2C-F8B8E7295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011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6410" name="Rectangle 10">
            <a:extLst>
              <a:ext uri="{FF2B5EF4-FFF2-40B4-BE49-F238E27FC236}">
                <a16:creationId xmlns:a16="http://schemas.microsoft.com/office/drawing/2014/main" id="{9098FAD6-4D19-4832-BB3C-7CC423BF3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6411" name="Rectangle 11">
            <a:extLst>
              <a:ext uri="{FF2B5EF4-FFF2-40B4-BE49-F238E27FC236}">
                <a16:creationId xmlns:a16="http://schemas.microsoft.com/office/drawing/2014/main" id="{4BE289CB-FDF4-49DA-870D-1DF19AEF9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8840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6412" name="Rectangle 12">
            <a:extLst>
              <a:ext uri="{FF2B5EF4-FFF2-40B4-BE49-F238E27FC236}">
                <a16:creationId xmlns:a16="http://schemas.microsoft.com/office/drawing/2014/main" id="{F8C20773-9BCE-4959-8073-A30868A66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011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6413" name="Rectangle 15">
            <a:extLst>
              <a:ext uri="{FF2B5EF4-FFF2-40B4-BE49-F238E27FC236}">
                <a16:creationId xmlns:a16="http://schemas.microsoft.com/office/drawing/2014/main" id="{3C10953D-D21D-43FF-9BA6-7214024D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6414" name="Rectangle 16">
            <a:extLst>
              <a:ext uri="{FF2B5EF4-FFF2-40B4-BE49-F238E27FC236}">
                <a16:creationId xmlns:a16="http://schemas.microsoft.com/office/drawing/2014/main" id="{8D81AE1B-216E-4A81-A0FF-344E0F7BF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46940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6415" name="Rectangle 19">
            <a:extLst>
              <a:ext uri="{FF2B5EF4-FFF2-40B4-BE49-F238E27FC236}">
                <a16:creationId xmlns:a16="http://schemas.microsoft.com/office/drawing/2014/main" id="{33B7580F-D2A3-44B5-A938-0C84532FA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6416" name="Rectangle 20">
            <a:extLst>
              <a:ext uri="{FF2B5EF4-FFF2-40B4-BE49-F238E27FC236}">
                <a16:creationId xmlns:a16="http://schemas.microsoft.com/office/drawing/2014/main" id="{A3C28B4C-9B97-47D3-AA42-CF98E2DCA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46940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3" grpId="0"/>
      <p:bldP spid="54" grpId="0"/>
      <p:bldP spid="55" grpId="0"/>
      <p:bldP spid="56" grpId="0"/>
      <p:bldP spid="57" grpId="0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16684-30C8-4195-B1F2-30BE335A4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9" y="549276"/>
            <a:ext cx="8713787" cy="6119813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GB" u="sng" dirty="0">
                <a:solidFill>
                  <a:srgbClr val="FF0000"/>
                </a:solidFill>
              </a:rPr>
              <a:t>Visual Example 2:</a:t>
            </a:r>
          </a:p>
          <a:p>
            <a:pPr marL="0" indent="0">
              <a:buNone/>
              <a:defRPr/>
            </a:pPr>
            <a:r>
              <a:rPr lang="en-GB" sz="2000" dirty="0"/>
              <a:t>Sarah has a number of white and black counters in a bag..</a:t>
            </a:r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marL="0" indent="0">
              <a:buNone/>
              <a:defRPr/>
            </a:pPr>
            <a:r>
              <a:rPr lang="en-GB" sz="2000" dirty="0"/>
              <a:t>Write the ratio of the number of black counters to the number of white counters in its simplest form.</a:t>
            </a:r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  <a:p>
            <a:pPr eaLnBrk="1" hangingPunct="1">
              <a:buFont typeface="Arial" charset="0"/>
              <a:buNone/>
              <a:defRPr/>
            </a:pPr>
            <a:endParaRPr lang="en-GB" sz="2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219A9D-0F97-4B01-BBA4-E9E7CCB9CAD8}"/>
              </a:ext>
            </a:extLst>
          </p:cNvPr>
          <p:cNvSpPr txBox="1"/>
          <p:nvPr/>
        </p:nvSpPr>
        <p:spPr>
          <a:xfrm>
            <a:off x="4584700" y="4738689"/>
            <a:ext cx="2374900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3 : 9</a:t>
            </a:r>
          </a:p>
        </p:txBody>
      </p:sp>
      <p:sp>
        <p:nvSpPr>
          <p:cNvPr id="51" name="Curved Right Arrow 50">
            <a:extLst>
              <a:ext uri="{FF2B5EF4-FFF2-40B4-BE49-F238E27FC236}">
                <a16:creationId xmlns:a16="http://schemas.microsoft.com/office/drawing/2014/main" id="{1E35C1E5-D7A5-4838-B627-A05EA386ADE9}"/>
              </a:ext>
            </a:extLst>
          </p:cNvPr>
          <p:cNvSpPr/>
          <p:nvPr/>
        </p:nvSpPr>
        <p:spPr>
          <a:xfrm>
            <a:off x="4079428" y="5013944"/>
            <a:ext cx="864096" cy="1368152"/>
          </a:xfrm>
          <a:prstGeom prst="curv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Curved Right Arrow 51">
            <a:extLst>
              <a:ext uri="{FF2B5EF4-FFF2-40B4-BE49-F238E27FC236}">
                <a16:creationId xmlns:a16="http://schemas.microsoft.com/office/drawing/2014/main" id="{B2774998-1EF9-4A0E-AC94-0EB5121607FF}"/>
              </a:ext>
            </a:extLst>
          </p:cNvPr>
          <p:cNvSpPr/>
          <p:nvPr/>
        </p:nvSpPr>
        <p:spPr>
          <a:xfrm flipH="1">
            <a:off x="6680100" y="5013944"/>
            <a:ext cx="783704" cy="1368152"/>
          </a:xfrm>
          <a:prstGeom prst="curv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7B61C9-4FF1-43B1-8DE1-C4D00CEBAA60}"/>
              </a:ext>
            </a:extLst>
          </p:cNvPr>
          <p:cNvSpPr txBox="1"/>
          <p:nvPr/>
        </p:nvSpPr>
        <p:spPr>
          <a:xfrm>
            <a:off x="4584700" y="5818189"/>
            <a:ext cx="2374900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6D2413-C88E-4C59-A91D-2C2F1C1B2E53}"/>
              </a:ext>
            </a:extLst>
          </p:cNvPr>
          <p:cNvSpPr txBox="1"/>
          <p:nvPr/>
        </p:nvSpPr>
        <p:spPr>
          <a:xfrm>
            <a:off x="2495550" y="5230814"/>
            <a:ext cx="2376488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÷3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5E3642-9C8B-43C2-A711-FB5A89BDD306}"/>
              </a:ext>
            </a:extLst>
          </p:cNvPr>
          <p:cNvSpPr txBox="1"/>
          <p:nvPr/>
        </p:nvSpPr>
        <p:spPr>
          <a:xfrm>
            <a:off x="6672264" y="5314951"/>
            <a:ext cx="2376487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÷3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43B1F4-A118-42E8-ABBB-6DF37B6FACC3}"/>
              </a:ext>
            </a:extLst>
          </p:cNvPr>
          <p:cNvSpPr txBox="1"/>
          <p:nvPr/>
        </p:nvSpPr>
        <p:spPr>
          <a:xfrm>
            <a:off x="4943475" y="5891214"/>
            <a:ext cx="2376488" cy="706437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164491-B1E1-45D2-A115-E171D5E7333A}"/>
              </a:ext>
            </a:extLst>
          </p:cNvPr>
          <p:cNvSpPr txBox="1"/>
          <p:nvPr/>
        </p:nvSpPr>
        <p:spPr>
          <a:xfrm>
            <a:off x="4224339" y="5878514"/>
            <a:ext cx="2376487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509E2B-86E1-4854-B20E-5F9E10E134AC}"/>
              </a:ext>
            </a:extLst>
          </p:cNvPr>
          <p:cNvSpPr txBox="1"/>
          <p:nvPr/>
        </p:nvSpPr>
        <p:spPr>
          <a:xfrm>
            <a:off x="3792539" y="4076701"/>
            <a:ext cx="3667125" cy="708025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r>
              <a:rPr lang="en-GB" sz="4000" dirty="0">
                <a:cs typeface="Arial" charset="0"/>
              </a:rPr>
              <a:t>Black : White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402CED2-E044-405E-AE91-62B1DD336043}"/>
              </a:ext>
            </a:extLst>
          </p:cNvPr>
          <p:cNvSpPr/>
          <p:nvPr/>
        </p:nvSpPr>
        <p:spPr>
          <a:xfrm>
            <a:off x="3000375" y="2060575"/>
            <a:ext cx="647700" cy="6477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9D9A429-0EAD-4BD6-B8A4-CCFED8F9486C}"/>
              </a:ext>
            </a:extLst>
          </p:cNvPr>
          <p:cNvSpPr/>
          <p:nvPr/>
        </p:nvSpPr>
        <p:spPr>
          <a:xfrm>
            <a:off x="3648075" y="2565400"/>
            <a:ext cx="647700" cy="6477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3B8D71D-7F58-4B95-AD30-68DCE0CFD1DE}"/>
              </a:ext>
            </a:extLst>
          </p:cNvPr>
          <p:cNvSpPr/>
          <p:nvPr/>
        </p:nvSpPr>
        <p:spPr>
          <a:xfrm>
            <a:off x="3790950" y="1700214"/>
            <a:ext cx="649288" cy="64928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641C38B-30A8-4ECE-93DD-40B79CB65000}"/>
              </a:ext>
            </a:extLst>
          </p:cNvPr>
          <p:cNvSpPr/>
          <p:nvPr/>
        </p:nvSpPr>
        <p:spPr>
          <a:xfrm>
            <a:off x="4438650" y="2289175"/>
            <a:ext cx="649288" cy="6492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949BD85-0238-4436-8364-4C62091B4897}"/>
              </a:ext>
            </a:extLst>
          </p:cNvPr>
          <p:cNvSpPr/>
          <p:nvPr/>
        </p:nvSpPr>
        <p:spPr>
          <a:xfrm>
            <a:off x="5014914" y="1557338"/>
            <a:ext cx="649287" cy="6477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31C7203-DEC5-4E0D-80AC-577B417E05A4}"/>
              </a:ext>
            </a:extLst>
          </p:cNvPr>
          <p:cNvSpPr/>
          <p:nvPr/>
        </p:nvSpPr>
        <p:spPr>
          <a:xfrm>
            <a:off x="5340350" y="2528888"/>
            <a:ext cx="647700" cy="6477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61BE273-03E1-4414-A936-08C1B7EEE3A7}"/>
              </a:ext>
            </a:extLst>
          </p:cNvPr>
          <p:cNvSpPr/>
          <p:nvPr/>
        </p:nvSpPr>
        <p:spPr>
          <a:xfrm>
            <a:off x="5915025" y="1744664"/>
            <a:ext cx="649288" cy="64928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761377D-1B99-4A3A-8E2A-A175BBFB8A2E}"/>
              </a:ext>
            </a:extLst>
          </p:cNvPr>
          <p:cNvSpPr/>
          <p:nvPr/>
        </p:nvSpPr>
        <p:spPr>
          <a:xfrm>
            <a:off x="2255839" y="2574925"/>
            <a:ext cx="649287" cy="6492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13341F-508E-42B1-8350-83DE12073A37}"/>
              </a:ext>
            </a:extLst>
          </p:cNvPr>
          <p:cNvSpPr/>
          <p:nvPr/>
        </p:nvSpPr>
        <p:spPr>
          <a:xfrm>
            <a:off x="2255839" y="1622425"/>
            <a:ext cx="649287" cy="6492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E6218F6-FBA8-413A-8424-12B92518D8EA}"/>
              </a:ext>
            </a:extLst>
          </p:cNvPr>
          <p:cNvSpPr/>
          <p:nvPr/>
        </p:nvSpPr>
        <p:spPr>
          <a:xfrm>
            <a:off x="6527800" y="2428875"/>
            <a:ext cx="647700" cy="6477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BA67669-51AF-4645-B591-585765855814}"/>
              </a:ext>
            </a:extLst>
          </p:cNvPr>
          <p:cNvSpPr/>
          <p:nvPr/>
        </p:nvSpPr>
        <p:spPr>
          <a:xfrm>
            <a:off x="6743700" y="1709738"/>
            <a:ext cx="647700" cy="6477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32805AD-F025-4CA2-BEC7-14C70B21F7D0}"/>
              </a:ext>
            </a:extLst>
          </p:cNvPr>
          <p:cNvSpPr/>
          <p:nvPr/>
        </p:nvSpPr>
        <p:spPr>
          <a:xfrm>
            <a:off x="7391400" y="2276475"/>
            <a:ext cx="649288" cy="6477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GB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2B9DA16-A604-4223-8B61-9BB747CC4432}"/>
              </a:ext>
            </a:extLst>
          </p:cNvPr>
          <p:cNvSpPr txBox="1">
            <a:spLocks/>
          </p:cNvSpPr>
          <p:nvPr/>
        </p:nvSpPr>
        <p:spPr bwMode="auto">
          <a:xfrm>
            <a:off x="1524000" y="-26988"/>
            <a:ext cx="9144000" cy="64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GB" altLang="en-US" sz="4400" b="1" u="sng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Ratios</a:t>
            </a:r>
            <a:endParaRPr lang="en-GB" altLang="en-US" sz="5400" b="1" u="sng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3F4CB8B1-E7D7-46A5-BC06-D8D00F42D8C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1524001" y="0"/>
            <a:ext cx="2124075" cy="47625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2B4816-453F-4FE8-AFF6-336E95A4ED62}" type="datetime1">
              <a:rPr lang="en-GB" sz="1800">
                <a:solidFill>
                  <a:schemeClr val="tx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01/08/2022</a:t>
            </a:fld>
            <a:endParaRPr lang="en-GB" sz="1800" dirty="0">
              <a:solidFill>
                <a:schemeClr val="tx1"/>
              </a:solidFill>
            </a:endParaRPr>
          </a:p>
        </p:txBody>
      </p:sp>
      <p:sp>
        <p:nvSpPr>
          <p:cNvPr id="17437" name="Rectangle 4">
            <a:extLst>
              <a:ext uri="{FF2B5EF4-FFF2-40B4-BE49-F238E27FC236}">
                <a16:creationId xmlns:a16="http://schemas.microsoft.com/office/drawing/2014/main" id="{C487898D-71B9-4003-8022-CA6F7E153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7438" name="Rectangle 5">
            <a:extLst>
              <a:ext uri="{FF2B5EF4-FFF2-40B4-BE49-F238E27FC236}">
                <a16:creationId xmlns:a16="http://schemas.microsoft.com/office/drawing/2014/main" id="{E67B6410-2E87-41A1-901A-3DDD286F6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8840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7439" name="Rectangle 6">
            <a:extLst>
              <a:ext uri="{FF2B5EF4-FFF2-40B4-BE49-F238E27FC236}">
                <a16:creationId xmlns:a16="http://schemas.microsoft.com/office/drawing/2014/main" id="{D6FBD60E-E90A-4850-A376-F26AC59AC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011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7440" name="Rectangle 10">
            <a:extLst>
              <a:ext uri="{FF2B5EF4-FFF2-40B4-BE49-F238E27FC236}">
                <a16:creationId xmlns:a16="http://schemas.microsoft.com/office/drawing/2014/main" id="{69806E7B-121D-42BF-BCDB-E700C76D2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7441" name="Rectangle 11">
            <a:extLst>
              <a:ext uri="{FF2B5EF4-FFF2-40B4-BE49-F238E27FC236}">
                <a16:creationId xmlns:a16="http://schemas.microsoft.com/office/drawing/2014/main" id="{1D1C9AF1-A849-403B-BA8D-785982C5B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8840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7442" name="Rectangle 12">
            <a:extLst>
              <a:ext uri="{FF2B5EF4-FFF2-40B4-BE49-F238E27FC236}">
                <a16:creationId xmlns:a16="http://schemas.microsoft.com/office/drawing/2014/main" id="{F5D32BCB-81C3-4E95-9056-7C1A2D189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011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7443" name="Rectangle 15">
            <a:extLst>
              <a:ext uri="{FF2B5EF4-FFF2-40B4-BE49-F238E27FC236}">
                <a16:creationId xmlns:a16="http://schemas.microsoft.com/office/drawing/2014/main" id="{6498465A-2C88-4250-B5A5-E8E295B2C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7444" name="Rectangle 16">
            <a:extLst>
              <a:ext uri="{FF2B5EF4-FFF2-40B4-BE49-F238E27FC236}">
                <a16:creationId xmlns:a16="http://schemas.microsoft.com/office/drawing/2014/main" id="{8289C7B0-D800-4203-8739-9C601B61F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46940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7445" name="Rectangle 19">
            <a:extLst>
              <a:ext uri="{FF2B5EF4-FFF2-40B4-BE49-F238E27FC236}">
                <a16:creationId xmlns:a16="http://schemas.microsoft.com/office/drawing/2014/main" id="{164778D1-2F5F-458F-BEEE-65C7DDEC9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7446" name="Rectangle 20">
            <a:extLst>
              <a:ext uri="{FF2B5EF4-FFF2-40B4-BE49-F238E27FC236}">
                <a16:creationId xmlns:a16="http://schemas.microsoft.com/office/drawing/2014/main" id="{C1C6EEEC-4378-4473-BCA0-13F96902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46940"/>
            <a:ext cx="1847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br>
              <a:rPr lang="en-GB" altLang="en-US" sz="1800">
                <a:latin typeface="Arial" panose="020B0604020202020204" pitchFamily="34" charset="0"/>
              </a:rPr>
            </a:br>
            <a:endParaRPr lang="en-GB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3" grpId="0"/>
      <p:bldP spid="54" grpId="0"/>
      <p:bldP spid="55" grpId="0"/>
      <p:bldP spid="56" grpId="0"/>
      <p:bldP spid="57" grpId="0"/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116632"/>
            <a:ext cx="7273536" cy="1143000"/>
          </a:xfrm>
        </p:spPr>
        <p:txBody>
          <a:bodyPr>
            <a:normAutofit fontScale="90000"/>
          </a:bodyPr>
          <a:lstStyle/>
          <a:p>
            <a:r>
              <a:rPr lang="en-AU" dirty="0"/>
              <a:t>Ratios compare the number of different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28801"/>
            <a:ext cx="9144000" cy="2278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256241" y="2060848"/>
            <a:ext cx="2158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Watermelons : Pears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8369" y="2583326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5 :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223589" y="2988939"/>
                <a:ext cx="926857" cy="616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𝟏𝟒</m:t>
                          </m:r>
                        </m:den>
                      </m:f>
                      <m:r>
                        <a:rPr lang="en-AU" b="1" i="1">
                          <a:solidFill>
                            <a:srgbClr val="FF0000"/>
                          </a:solidFill>
                          <a:latin typeface="Cambria Math"/>
                        </a:rPr>
                        <m:t>:</m:t>
                      </m:r>
                      <m:f>
                        <m:f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𝟗</m:t>
                          </m:r>
                        </m:num>
                        <m:den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𝟏𝟒</m:t>
                          </m:r>
                        </m:den>
                      </m:f>
                    </m:oMath>
                  </m:oMathPara>
                </a14:m>
                <a:endParaRPr lang="en-AU" b="1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589" y="2988939"/>
                <a:ext cx="926857" cy="616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4288932"/>
            <a:ext cx="9144000" cy="2180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874630" y="4696989"/>
            <a:ext cx="1238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Boys : Girls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99431" y="5194463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2 :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9199430" y="5626893"/>
                <a:ext cx="651139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</m:den>
                      </m:f>
                      <m:r>
                        <a:rPr lang="en-AU" b="1" i="1">
                          <a:solidFill>
                            <a:srgbClr val="FF0000"/>
                          </a:solidFill>
                          <a:latin typeface="Cambria Math"/>
                        </a:rPr>
                        <m:t>:</m:t>
                      </m:r>
                      <m:f>
                        <m:fPr>
                          <m:ctrlPr>
                            <a:rPr lang="en-AU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AU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AU" b="1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9430" y="5626893"/>
                <a:ext cx="651139" cy="612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501880" y="4581128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4 :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6551" y="4512323"/>
            <a:ext cx="2681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Always simplify if possible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213498" y="4650528"/>
            <a:ext cx="720080" cy="6880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82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FE25A-EF81-4BFF-B28D-D3A741832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9" y="333376"/>
            <a:ext cx="8713787" cy="633571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GB" u="sng" dirty="0">
                <a:solidFill>
                  <a:srgbClr val="FF0000"/>
                </a:solidFill>
              </a:rPr>
              <a:t>Examples:</a:t>
            </a:r>
            <a:endParaRPr lang="en-GB" sz="20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sz="2000" dirty="0"/>
          </a:p>
          <a:p>
            <a:pPr eaLnBrk="1" fontAlgn="auto" hangingPunct="1">
              <a:spcAft>
                <a:spcPts val="0"/>
              </a:spcAft>
              <a:buNone/>
              <a:defRPr/>
            </a:pPr>
            <a:endParaRPr lang="en-GB" sz="20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F61CE5F0-5EDA-41F7-8C64-CB1B4E1B4AE4}"/>
              </a:ext>
            </a:extLst>
          </p:cNvPr>
          <p:cNvSpPr txBox="1">
            <a:spLocks/>
          </p:cNvSpPr>
          <p:nvPr/>
        </p:nvSpPr>
        <p:spPr bwMode="auto">
          <a:xfrm>
            <a:off x="1524000" y="-26988"/>
            <a:ext cx="9144000" cy="64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4400" b="1" u="sng">
                <a:solidFill>
                  <a:srgbClr val="1F497D"/>
                </a:solidFill>
                <a:latin typeface="Comic Sans MS"/>
                <a:cs typeface="Arial" panose="020B0604020202020204" pitchFamily="34" charset="0"/>
              </a:rPr>
              <a:t>Ratios</a:t>
            </a:r>
            <a:endParaRPr lang="en-GB" altLang="en-US" sz="5400" b="1" u="sng">
              <a:solidFill>
                <a:srgbClr val="1F497D"/>
              </a:solidFill>
              <a:latin typeface="Comic Sans MS"/>
              <a:cs typeface="Arial" panose="020B0604020202020204" pitchFamily="34" charset="0"/>
            </a:endParaRP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861D2DD0-B3C9-4CF0-BB72-F3D02D3A94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1524001" y="0"/>
            <a:ext cx="2124075" cy="47625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2B4816-453F-4FE8-AFF6-336E95A4ED62}" type="datetime1">
              <a:rPr lang="en-GB" sz="1800">
                <a:solidFill>
                  <a:prstClr val="black"/>
                </a:solidFill>
                <a:latin typeface="Comic Sans MS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01/08/2022</a:t>
            </a:fld>
            <a:endParaRPr lang="en-GB" sz="1800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9A09B0-5392-4001-92E7-43E61BA0E108}"/>
              </a:ext>
            </a:extLst>
          </p:cNvPr>
          <p:cNvSpPr/>
          <p:nvPr/>
        </p:nvSpPr>
        <p:spPr>
          <a:xfrm>
            <a:off x="1558926" y="908051"/>
            <a:ext cx="720725" cy="3603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I do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6AC0C8-6E5F-4F57-8A2C-DEE97DBEB85A}"/>
              </a:ext>
            </a:extLst>
          </p:cNvPr>
          <p:cNvSpPr/>
          <p:nvPr/>
        </p:nvSpPr>
        <p:spPr>
          <a:xfrm>
            <a:off x="2351089" y="908050"/>
            <a:ext cx="8137525" cy="4333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Find the missing number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57DDD3B-1D51-471B-AE6F-9681421732AD}"/>
              </a:ext>
            </a:extLst>
          </p:cNvPr>
          <p:cNvSpPr/>
          <p:nvPr/>
        </p:nvSpPr>
        <p:spPr>
          <a:xfrm>
            <a:off x="1558926" y="2205038"/>
            <a:ext cx="720725" cy="4000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We do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2E3D730-49CE-467F-9798-0206502ADB28}"/>
              </a:ext>
            </a:extLst>
          </p:cNvPr>
          <p:cNvSpPr/>
          <p:nvPr/>
        </p:nvSpPr>
        <p:spPr>
          <a:xfrm>
            <a:off x="2351089" y="2205038"/>
            <a:ext cx="8137525" cy="647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The ratio of men to women in a sports club is 7 : 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There are 175 men. How many women are there?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89EB4EF-1284-4E5F-8F09-5233F851B597}"/>
              </a:ext>
            </a:extLst>
          </p:cNvPr>
          <p:cNvSpPr/>
          <p:nvPr/>
        </p:nvSpPr>
        <p:spPr>
          <a:xfrm>
            <a:off x="1558926" y="4437063"/>
            <a:ext cx="720725" cy="4000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You do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86F9A25-4C79-4A60-A1D2-A0B7D7675065}"/>
              </a:ext>
            </a:extLst>
          </p:cNvPr>
          <p:cNvSpPr/>
          <p:nvPr/>
        </p:nvSpPr>
        <p:spPr>
          <a:xfrm>
            <a:off x="2351089" y="4437063"/>
            <a:ext cx="8137525" cy="647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A map has a scale of 1 : 20000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What distance does 8km on the map represent in map?</a:t>
            </a:r>
          </a:p>
        </p:txBody>
      </p:sp>
      <p:sp>
        <p:nvSpPr>
          <p:cNvPr id="20490" name="TextBox 50">
            <a:extLst>
              <a:ext uri="{FF2B5EF4-FFF2-40B4-BE49-F238E27FC236}">
                <a16:creationId xmlns:a16="http://schemas.microsoft.com/office/drawing/2014/main" id="{5D70639E-49D5-4C50-B187-EA381221B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1341438"/>
            <a:ext cx="823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: 7</a:t>
            </a:r>
          </a:p>
        </p:txBody>
      </p:sp>
      <p:sp>
        <p:nvSpPr>
          <p:cNvPr id="20491" name="TextBox 51">
            <a:extLst>
              <a:ext uri="{FF2B5EF4-FFF2-40B4-BE49-F238E27FC236}">
                <a16:creationId xmlns:a16="http://schemas.microsoft.com/office/drawing/2014/main" id="{6F530BDA-E3F6-4D34-95FE-098C89538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1700213"/>
            <a:ext cx="823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 : ?</a:t>
            </a:r>
          </a:p>
        </p:txBody>
      </p:sp>
      <p:sp>
        <p:nvSpPr>
          <p:cNvPr id="53" name="Curved Right Arrow 52">
            <a:extLst>
              <a:ext uri="{FF2B5EF4-FFF2-40B4-BE49-F238E27FC236}">
                <a16:creationId xmlns:a16="http://schemas.microsoft.com/office/drawing/2014/main" id="{71BC7338-5062-489E-9AB0-E9A21BC9DFC2}"/>
              </a:ext>
            </a:extLst>
          </p:cNvPr>
          <p:cNvSpPr/>
          <p:nvPr/>
        </p:nvSpPr>
        <p:spPr>
          <a:xfrm>
            <a:off x="5485062" y="1524854"/>
            <a:ext cx="288032" cy="504056"/>
          </a:xfrm>
          <a:prstGeom prst="curv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200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8B0BD5-1489-403C-A0F8-E39A6D91A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1576" y="1557338"/>
            <a:ext cx="538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3</a:t>
            </a:r>
          </a:p>
        </p:txBody>
      </p:sp>
      <p:sp>
        <p:nvSpPr>
          <p:cNvPr id="55" name="Curved Right Arrow 54">
            <a:extLst>
              <a:ext uri="{FF2B5EF4-FFF2-40B4-BE49-F238E27FC236}">
                <a16:creationId xmlns:a16="http://schemas.microsoft.com/office/drawing/2014/main" id="{AD737CF0-3F10-45D7-A275-1C9F225D0982}"/>
              </a:ext>
            </a:extLst>
          </p:cNvPr>
          <p:cNvSpPr/>
          <p:nvPr/>
        </p:nvSpPr>
        <p:spPr>
          <a:xfrm flipH="1">
            <a:off x="6853214" y="1524854"/>
            <a:ext cx="288032" cy="504056"/>
          </a:xfrm>
          <a:prstGeom prst="curv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200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6A7339-73D5-4560-84CA-8939604B2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8" y="1557338"/>
            <a:ext cx="539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555696-D961-41C5-B86D-D63ACABDFF83}"/>
              </a:ext>
            </a:extLst>
          </p:cNvPr>
          <p:cNvSpPr/>
          <p:nvPr/>
        </p:nvSpPr>
        <p:spPr>
          <a:xfrm>
            <a:off x="6383339" y="1741489"/>
            <a:ext cx="433387" cy="358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21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EF8973-934C-46DB-B937-41EC60033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8" y="2852738"/>
            <a:ext cx="2305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 : women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33359C-64C3-4CCA-A3CD-60CD28CEC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1" y="3173413"/>
            <a:ext cx="2225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: 11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6C69FBC-4F37-4A53-B15A-F53123301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1" y="3460750"/>
            <a:ext cx="14398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175 : ?</a:t>
            </a:r>
          </a:p>
        </p:txBody>
      </p:sp>
      <p:sp>
        <p:nvSpPr>
          <p:cNvPr id="79" name="Curved Right Arrow 78">
            <a:extLst>
              <a:ext uri="{FF2B5EF4-FFF2-40B4-BE49-F238E27FC236}">
                <a16:creationId xmlns:a16="http://schemas.microsoft.com/office/drawing/2014/main" id="{959F87B7-E8AD-4499-8E3A-F8B0E718086D}"/>
              </a:ext>
            </a:extLst>
          </p:cNvPr>
          <p:cNvSpPr/>
          <p:nvPr/>
        </p:nvSpPr>
        <p:spPr>
          <a:xfrm>
            <a:off x="5375920" y="3284984"/>
            <a:ext cx="288032" cy="504056"/>
          </a:xfrm>
          <a:prstGeom prst="curv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200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F48B54-8D40-4AA3-A615-0B13E7825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9" y="3316288"/>
            <a:ext cx="598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x25</a:t>
            </a:r>
          </a:p>
        </p:txBody>
      </p:sp>
      <p:sp>
        <p:nvSpPr>
          <p:cNvPr id="81" name="Curved Right Arrow 80">
            <a:extLst>
              <a:ext uri="{FF2B5EF4-FFF2-40B4-BE49-F238E27FC236}">
                <a16:creationId xmlns:a16="http://schemas.microsoft.com/office/drawing/2014/main" id="{70B7F943-F1B8-419C-BBD1-D9977DDDC95B}"/>
              </a:ext>
            </a:extLst>
          </p:cNvPr>
          <p:cNvSpPr/>
          <p:nvPr/>
        </p:nvSpPr>
        <p:spPr>
          <a:xfrm flipH="1">
            <a:off x="6997230" y="3284984"/>
            <a:ext cx="288032" cy="504056"/>
          </a:xfrm>
          <a:prstGeom prst="curv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200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6CF1DFC-39D9-4EED-BED1-830CAA87E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600" y="3316288"/>
            <a:ext cx="598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x25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D0B51DE-45F9-485B-964A-3E8A128F572D}"/>
              </a:ext>
            </a:extLst>
          </p:cNvPr>
          <p:cNvSpPr/>
          <p:nvPr/>
        </p:nvSpPr>
        <p:spPr>
          <a:xfrm>
            <a:off x="6311900" y="3500438"/>
            <a:ext cx="647700" cy="360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275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85FFAED-E913-4B89-83DE-6ACC78FBC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9" y="3892550"/>
            <a:ext cx="324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275 in the club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0D27B75-72B5-4B2C-9CB0-9A7AF8E76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8" y="5084763"/>
            <a:ext cx="252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 : Real Life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BB178FD-575A-4C0C-B078-4B9EE6571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4651" y="5405438"/>
            <a:ext cx="2297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: 20000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1410BAA-9BB3-4016-9DB3-D9C1FC733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638" y="5692775"/>
            <a:ext cx="2305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: 800000cm</a:t>
            </a:r>
          </a:p>
        </p:txBody>
      </p:sp>
      <p:sp>
        <p:nvSpPr>
          <p:cNvPr id="89" name="Curved Right Arrow 88">
            <a:extLst>
              <a:ext uri="{FF2B5EF4-FFF2-40B4-BE49-F238E27FC236}">
                <a16:creationId xmlns:a16="http://schemas.microsoft.com/office/drawing/2014/main" id="{C43F9A84-8182-4F38-A949-FC5D2794F8D1}"/>
              </a:ext>
            </a:extLst>
          </p:cNvPr>
          <p:cNvSpPr/>
          <p:nvPr/>
        </p:nvSpPr>
        <p:spPr>
          <a:xfrm>
            <a:off x="4727848" y="5517232"/>
            <a:ext cx="288032" cy="504056"/>
          </a:xfrm>
          <a:prstGeom prst="curv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200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A1850E7-AB0B-40AE-BB4D-F369E17F1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5549900"/>
            <a:ext cx="598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x40</a:t>
            </a:r>
          </a:p>
        </p:txBody>
      </p:sp>
      <p:sp>
        <p:nvSpPr>
          <p:cNvPr id="100" name="Curved Right Arrow 99">
            <a:extLst>
              <a:ext uri="{FF2B5EF4-FFF2-40B4-BE49-F238E27FC236}">
                <a16:creationId xmlns:a16="http://schemas.microsoft.com/office/drawing/2014/main" id="{1F7DF0C2-88E4-49CF-A5E4-9BD9900FCE86}"/>
              </a:ext>
            </a:extLst>
          </p:cNvPr>
          <p:cNvSpPr/>
          <p:nvPr/>
        </p:nvSpPr>
        <p:spPr>
          <a:xfrm flipH="1">
            <a:off x="7754882" y="5517232"/>
            <a:ext cx="288032" cy="504056"/>
          </a:xfrm>
          <a:prstGeom prst="curv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 sz="200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1FA2B75-2F59-465C-A62D-4BA344A69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7350" y="5549900"/>
            <a:ext cx="598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x40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6783A4E-7014-4F07-BCBB-0AC9E643F200}"/>
              </a:ext>
            </a:extLst>
          </p:cNvPr>
          <p:cNvSpPr/>
          <p:nvPr/>
        </p:nvSpPr>
        <p:spPr>
          <a:xfrm>
            <a:off x="5016501" y="5732463"/>
            <a:ext cx="1223963" cy="360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40cm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1089A6F-BE0A-4162-B25B-5E8B46597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951" y="6124575"/>
            <a:ext cx="3959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GB" altLang="en-US" sz="20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the map it is 40cm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  <p:bldP spid="57" grpId="0" animBg="1"/>
      <p:bldP spid="58" grpId="0"/>
      <p:bldP spid="59" grpId="0"/>
      <p:bldP spid="78" grpId="0"/>
      <p:bldP spid="80" grpId="0"/>
      <p:bldP spid="82" grpId="0"/>
      <p:bldP spid="83" grpId="0" animBg="1"/>
      <p:bldP spid="84" grpId="0"/>
      <p:bldP spid="86" grpId="0"/>
      <p:bldP spid="87" grpId="0"/>
      <p:bldP spid="88" grpId="0"/>
      <p:bldP spid="99" grpId="0"/>
      <p:bldP spid="101" grpId="0"/>
      <p:bldP spid="102" grpId="0" animBg="1"/>
      <p:bldP spid="10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7136F-8441-4419-916E-CF0200334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389" y="333376"/>
            <a:ext cx="8713787" cy="633571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GB" u="sng" dirty="0">
                <a:solidFill>
                  <a:srgbClr val="FF0000"/>
                </a:solidFill>
              </a:rPr>
              <a:t>Exercise Two:</a:t>
            </a:r>
            <a:endParaRPr lang="en-GB" sz="20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GB" sz="2000" dirty="0"/>
          </a:p>
          <a:p>
            <a:pPr eaLnBrk="1" fontAlgn="auto" hangingPunct="1">
              <a:spcAft>
                <a:spcPts val="0"/>
              </a:spcAft>
              <a:buNone/>
              <a:defRPr/>
            </a:pPr>
            <a:endParaRPr lang="en-GB" sz="20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6C9E1F74-E4C9-4227-9446-ABBF1B7A2E5A}"/>
              </a:ext>
            </a:extLst>
          </p:cNvPr>
          <p:cNvSpPr txBox="1">
            <a:spLocks/>
          </p:cNvSpPr>
          <p:nvPr/>
        </p:nvSpPr>
        <p:spPr bwMode="auto">
          <a:xfrm>
            <a:off x="1524000" y="-26988"/>
            <a:ext cx="9144000" cy="64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4400" b="1" u="sng">
                <a:solidFill>
                  <a:srgbClr val="1F497D"/>
                </a:solidFill>
                <a:latin typeface="Comic Sans MS"/>
                <a:cs typeface="Arial" panose="020B0604020202020204" pitchFamily="34" charset="0"/>
              </a:rPr>
              <a:t>Ratios</a:t>
            </a:r>
            <a:endParaRPr lang="en-GB" altLang="en-US" sz="5400" b="1" u="sng">
              <a:solidFill>
                <a:srgbClr val="1F497D"/>
              </a:solidFill>
              <a:latin typeface="Comic Sans MS"/>
              <a:cs typeface="Arial" panose="020B0604020202020204" pitchFamily="34" charset="0"/>
            </a:endParaRP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F9A55508-789B-49B4-B731-3BE04590E5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1524001" y="0"/>
            <a:ext cx="2124075" cy="47625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2B4816-453F-4FE8-AFF6-336E95A4ED62}" type="datetime1">
              <a:rPr lang="en-GB" sz="1800">
                <a:solidFill>
                  <a:prstClr val="black"/>
                </a:solidFill>
                <a:latin typeface="Comic Sans MS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01/08/2022</a:t>
            </a:fld>
            <a:endParaRPr lang="en-GB" sz="1800" dirty="0">
              <a:solidFill>
                <a:prstClr val="black"/>
              </a:solidFill>
              <a:latin typeface="Comic Sans M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18CD6BB-3D6E-4DB3-A305-6B4C1D17EC9C}"/>
              </a:ext>
            </a:extLst>
          </p:cNvPr>
          <p:cNvSpPr/>
          <p:nvPr/>
        </p:nvSpPr>
        <p:spPr>
          <a:xfrm>
            <a:off x="1558926" y="908051"/>
            <a:ext cx="360363" cy="3603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D05710-623C-4FBE-9661-C3AB66840D6B}"/>
              </a:ext>
            </a:extLst>
          </p:cNvPr>
          <p:cNvSpPr/>
          <p:nvPr/>
        </p:nvSpPr>
        <p:spPr>
          <a:xfrm>
            <a:off x="1992313" y="908050"/>
            <a:ext cx="6407150" cy="4333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Find the missing numbers in the ratios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964B26-1884-4CE9-B3C0-45CAE49F3543}"/>
              </a:ext>
            </a:extLst>
          </p:cNvPr>
          <p:cNvSpPr/>
          <p:nvPr/>
        </p:nvSpPr>
        <p:spPr>
          <a:xfrm>
            <a:off x="1919289" y="1412876"/>
            <a:ext cx="1296987" cy="7921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3 : 2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9 : ?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441B043-ED95-40E8-871C-0966A15508A7}"/>
              </a:ext>
            </a:extLst>
          </p:cNvPr>
          <p:cNvSpPr/>
          <p:nvPr/>
        </p:nvSpPr>
        <p:spPr>
          <a:xfrm>
            <a:off x="1558926" y="1412875"/>
            <a:ext cx="288925" cy="2873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5497EB-E7C5-42EC-A82A-C177960268B2}"/>
              </a:ext>
            </a:extLst>
          </p:cNvPr>
          <p:cNvSpPr/>
          <p:nvPr/>
        </p:nvSpPr>
        <p:spPr>
          <a:xfrm>
            <a:off x="3648075" y="1412876"/>
            <a:ext cx="1295400" cy="7921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7 : 12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? : 96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A5B7396-7DB1-4BC9-8321-C2348FDA2B29}"/>
              </a:ext>
            </a:extLst>
          </p:cNvPr>
          <p:cNvSpPr/>
          <p:nvPr/>
        </p:nvSpPr>
        <p:spPr>
          <a:xfrm>
            <a:off x="3287714" y="1412875"/>
            <a:ext cx="287337" cy="2873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b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1FBF56A-7EC6-4D65-B70C-5D64DB75DB94}"/>
              </a:ext>
            </a:extLst>
          </p:cNvPr>
          <p:cNvSpPr/>
          <p:nvPr/>
        </p:nvSpPr>
        <p:spPr>
          <a:xfrm>
            <a:off x="5375275" y="1412876"/>
            <a:ext cx="1296988" cy="7921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15 : 11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60 :  ?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F54C705-871B-43D2-892C-48BBADC289B7}"/>
              </a:ext>
            </a:extLst>
          </p:cNvPr>
          <p:cNvSpPr/>
          <p:nvPr/>
        </p:nvSpPr>
        <p:spPr>
          <a:xfrm>
            <a:off x="5016500" y="1412875"/>
            <a:ext cx="287338" cy="2873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c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7C17911-A160-4BA6-B539-E406821D4D26}"/>
              </a:ext>
            </a:extLst>
          </p:cNvPr>
          <p:cNvSpPr/>
          <p:nvPr/>
        </p:nvSpPr>
        <p:spPr>
          <a:xfrm>
            <a:off x="7104063" y="1412876"/>
            <a:ext cx="1295400" cy="7921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13 : 14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?  : 84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FF736CD-56C3-496F-8922-3022A62163CC}"/>
              </a:ext>
            </a:extLst>
          </p:cNvPr>
          <p:cNvSpPr/>
          <p:nvPr/>
        </p:nvSpPr>
        <p:spPr>
          <a:xfrm>
            <a:off x="6743701" y="1412875"/>
            <a:ext cx="288925" cy="2873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d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4C4A1EE-C817-459D-A9E7-A11E5645F8C4}"/>
              </a:ext>
            </a:extLst>
          </p:cNvPr>
          <p:cNvSpPr/>
          <p:nvPr/>
        </p:nvSpPr>
        <p:spPr>
          <a:xfrm>
            <a:off x="8832850" y="1412876"/>
            <a:ext cx="1727200" cy="7921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3 : 5 : 7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? : 45 : ?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82A80A5-9185-46D0-8E39-D4AEF9CF74EA}"/>
              </a:ext>
            </a:extLst>
          </p:cNvPr>
          <p:cNvSpPr/>
          <p:nvPr/>
        </p:nvSpPr>
        <p:spPr>
          <a:xfrm>
            <a:off x="8472489" y="1412875"/>
            <a:ext cx="287337" cy="2873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A4066C-70E7-4462-9DC4-88044B1BF0B9}"/>
              </a:ext>
            </a:extLst>
          </p:cNvPr>
          <p:cNvSpPr/>
          <p:nvPr/>
        </p:nvSpPr>
        <p:spPr>
          <a:xfrm>
            <a:off x="2640013" y="1773238"/>
            <a:ext cx="360362" cy="360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6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4BDD7EE-BE8D-4AF9-9EED-4739ECCFFF29}"/>
              </a:ext>
            </a:extLst>
          </p:cNvPr>
          <p:cNvSpPr/>
          <p:nvPr/>
        </p:nvSpPr>
        <p:spPr>
          <a:xfrm>
            <a:off x="3648075" y="1773238"/>
            <a:ext cx="503238" cy="360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56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45A59B0-327E-425A-A73E-51E60D776A55}"/>
              </a:ext>
            </a:extLst>
          </p:cNvPr>
          <p:cNvSpPr/>
          <p:nvPr/>
        </p:nvSpPr>
        <p:spPr>
          <a:xfrm>
            <a:off x="6096001" y="1773238"/>
            <a:ext cx="504825" cy="360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44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30FED04-1355-487A-8241-29B4EF43C1C2}"/>
              </a:ext>
            </a:extLst>
          </p:cNvPr>
          <p:cNvSpPr/>
          <p:nvPr/>
        </p:nvSpPr>
        <p:spPr>
          <a:xfrm>
            <a:off x="7104064" y="1773238"/>
            <a:ext cx="504825" cy="360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78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F658243-CC01-4989-BE91-92AD13721C9D}"/>
              </a:ext>
            </a:extLst>
          </p:cNvPr>
          <p:cNvSpPr/>
          <p:nvPr/>
        </p:nvSpPr>
        <p:spPr>
          <a:xfrm>
            <a:off x="8832850" y="1773238"/>
            <a:ext cx="503238" cy="360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27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DBCBCAF-DC3D-44D3-A9E3-20B737BD577B}"/>
              </a:ext>
            </a:extLst>
          </p:cNvPr>
          <p:cNvSpPr/>
          <p:nvPr/>
        </p:nvSpPr>
        <p:spPr>
          <a:xfrm>
            <a:off x="9983789" y="1773238"/>
            <a:ext cx="504825" cy="360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63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5A0DDB-9B5F-4FD1-830A-7C7DB149C2F3}"/>
              </a:ext>
            </a:extLst>
          </p:cNvPr>
          <p:cNvSpPr/>
          <p:nvPr/>
        </p:nvSpPr>
        <p:spPr>
          <a:xfrm>
            <a:off x="1558926" y="2349501"/>
            <a:ext cx="360363" cy="358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91C59FA-BFE6-4598-B3A2-3175D24C9956}"/>
              </a:ext>
            </a:extLst>
          </p:cNvPr>
          <p:cNvSpPr/>
          <p:nvPr/>
        </p:nvSpPr>
        <p:spPr>
          <a:xfrm>
            <a:off x="1992314" y="2349500"/>
            <a:ext cx="7272337" cy="647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The ratio of men to women in a golf club is 8 : 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There are 64 men in the club. How many women are there?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6911628-5496-4E79-999D-E71E23BB6365}"/>
              </a:ext>
            </a:extLst>
          </p:cNvPr>
          <p:cNvSpPr/>
          <p:nvPr/>
        </p:nvSpPr>
        <p:spPr>
          <a:xfrm>
            <a:off x="9336089" y="2492376"/>
            <a:ext cx="1296987" cy="5048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40 women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86A4545-3BBC-4DEF-815E-BD2660850570}"/>
              </a:ext>
            </a:extLst>
          </p:cNvPr>
          <p:cNvSpPr/>
          <p:nvPr/>
        </p:nvSpPr>
        <p:spPr>
          <a:xfrm>
            <a:off x="1558926" y="3068638"/>
            <a:ext cx="360363" cy="3603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7CC13B7-5979-4683-B0A0-3D1274800D64}"/>
              </a:ext>
            </a:extLst>
          </p:cNvPr>
          <p:cNvSpPr/>
          <p:nvPr/>
        </p:nvSpPr>
        <p:spPr>
          <a:xfrm>
            <a:off x="1992314" y="3068638"/>
            <a:ext cx="7272337" cy="647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srgbClr val="000000"/>
                </a:solidFill>
                <a:latin typeface="Comic Sans MS"/>
                <a:cs typeface="Arial" charset="0"/>
              </a:rPr>
              <a:t>In a school the ratio of teachers to students is 2 : 35.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srgbClr val="000000"/>
                </a:solidFill>
                <a:latin typeface="Comic Sans MS"/>
                <a:cs typeface="Arial" charset="0"/>
              </a:rPr>
              <a:t>There are 1120 students. How many teachers are in the school?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8AE25D3-E12D-4EC4-90A7-501A4565F7F7}"/>
              </a:ext>
            </a:extLst>
          </p:cNvPr>
          <p:cNvSpPr/>
          <p:nvPr/>
        </p:nvSpPr>
        <p:spPr>
          <a:xfrm>
            <a:off x="9336089" y="3068638"/>
            <a:ext cx="1296987" cy="647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64 teachers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FB77F75-79B3-46B1-BB5E-514623C9E9F9}"/>
              </a:ext>
            </a:extLst>
          </p:cNvPr>
          <p:cNvSpPr/>
          <p:nvPr/>
        </p:nvSpPr>
        <p:spPr>
          <a:xfrm>
            <a:off x="1558926" y="3789363"/>
            <a:ext cx="360363" cy="3603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4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EB6D9B7-F433-40C6-A5C6-C82AB209F02A}"/>
              </a:ext>
            </a:extLst>
          </p:cNvPr>
          <p:cNvSpPr/>
          <p:nvPr/>
        </p:nvSpPr>
        <p:spPr>
          <a:xfrm>
            <a:off x="1992314" y="3789363"/>
            <a:ext cx="7272337" cy="647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srgbClr val="000000"/>
                </a:solidFill>
                <a:latin typeface="Comic Sans MS"/>
                <a:cs typeface="Arial" charset="0"/>
              </a:rPr>
              <a:t>Part of a cake is made of sugar and butter in the ratio 2:3. How many grams of sugar do you need when you have 150g of butter?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B564B28-289C-4996-A862-E33435660C01}"/>
              </a:ext>
            </a:extLst>
          </p:cNvPr>
          <p:cNvSpPr/>
          <p:nvPr/>
        </p:nvSpPr>
        <p:spPr>
          <a:xfrm>
            <a:off x="9336089" y="3789363"/>
            <a:ext cx="1296987" cy="647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100g of sugar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1C8B2BE-D415-4B8B-B021-1F90F3227DA3}"/>
              </a:ext>
            </a:extLst>
          </p:cNvPr>
          <p:cNvSpPr/>
          <p:nvPr/>
        </p:nvSpPr>
        <p:spPr>
          <a:xfrm>
            <a:off x="1558926" y="4508501"/>
            <a:ext cx="360363" cy="3603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71154FC-EB75-49B9-8073-FB971A551280}"/>
              </a:ext>
            </a:extLst>
          </p:cNvPr>
          <p:cNvSpPr/>
          <p:nvPr/>
        </p:nvSpPr>
        <p:spPr>
          <a:xfrm>
            <a:off x="1992314" y="4508500"/>
            <a:ext cx="7272337" cy="6492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Lucy, Adam and Alex share money in the ratio 3 : 2 : 5.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If Adam gets $48. How much does Lucy and Alex get?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4068E12-ED15-4A41-9229-F9101357390C}"/>
              </a:ext>
            </a:extLst>
          </p:cNvPr>
          <p:cNvSpPr/>
          <p:nvPr/>
        </p:nvSpPr>
        <p:spPr>
          <a:xfrm>
            <a:off x="9336089" y="4508500"/>
            <a:ext cx="1296987" cy="6492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Lucy $72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Alex $120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63DE4CB-ECE2-4110-A82E-79DD9AF17727}"/>
              </a:ext>
            </a:extLst>
          </p:cNvPr>
          <p:cNvSpPr/>
          <p:nvPr/>
        </p:nvSpPr>
        <p:spPr>
          <a:xfrm>
            <a:off x="1558926" y="5229226"/>
            <a:ext cx="360363" cy="3603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6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2AEEF4C-20E4-4EC0-9470-C2EAEF876634}"/>
              </a:ext>
            </a:extLst>
          </p:cNvPr>
          <p:cNvSpPr/>
          <p:nvPr/>
        </p:nvSpPr>
        <p:spPr>
          <a:xfrm>
            <a:off x="1992314" y="5229225"/>
            <a:ext cx="7272337" cy="647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A map has a scale of 1 : 10000.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What is the real distance if the measurement on the map is 6cm?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9FC0B0A-80B8-40FB-8C60-F4623230D84A}"/>
              </a:ext>
            </a:extLst>
          </p:cNvPr>
          <p:cNvSpPr/>
          <p:nvPr/>
        </p:nvSpPr>
        <p:spPr>
          <a:xfrm>
            <a:off x="9336089" y="5229225"/>
            <a:ext cx="1296987" cy="647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0.6 km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E645D8F-45BB-4C61-9405-88F3AC6E05D3}"/>
              </a:ext>
            </a:extLst>
          </p:cNvPr>
          <p:cNvSpPr/>
          <p:nvPr/>
        </p:nvSpPr>
        <p:spPr>
          <a:xfrm>
            <a:off x="1558926" y="5949951"/>
            <a:ext cx="360363" cy="358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7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AD851F3-CE75-42C0-B799-DB8006D6D2D0}"/>
              </a:ext>
            </a:extLst>
          </p:cNvPr>
          <p:cNvSpPr/>
          <p:nvPr/>
        </p:nvSpPr>
        <p:spPr>
          <a:xfrm>
            <a:off x="1992314" y="5949950"/>
            <a:ext cx="7272337" cy="647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A map has a scale of 1 : 20000.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dirty="0">
                <a:solidFill>
                  <a:prstClr val="black"/>
                </a:solidFill>
                <a:latin typeface="Comic Sans MS"/>
              </a:rPr>
              <a:t>What is the map measurement if the real distance is 5km?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696102E-F9CD-4461-9EED-E8439CCE8C34}"/>
              </a:ext>
            </a:extLst>
          </p:cNvPr>
          <p:cNvSpPr/>
          <p:nvPr/>
        </p:nvSpPr>
        <p:spPr>
          <a:xfrm>
            <a:off x="9336089" y="5949950"/>
            <a:ext cx="1296987" cy="647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600" dirty="0">
                <a:solidFill>
                  <a:prstClr val="black"/>
                </a:solidFill>
                <a:latin typeface="Comic Sans MS"/>
              </a:rPr>
              <a:t>25cm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r:id="rId1" imgW="2050874" imgH="1125298"/>
        </mc:Choice>
        <mc:Fallback>
          <p:control r:id="rId1" imgW="2050874" imgH="1125298">
            <p:pic>
              <p:nvPicPr>
                <p:cNvPr id="21544" name="ShockwaveFlash1">
                  <a:extLst>
                    <a:ext uri="{FF2B5EF4-FFF2-40B4-BE49-F238E27FC236}">
                      <a16:creationId xmlns:a16="http://schemas.microsoft.com/office/drawing/2014/main" id="{6E7D3413-9332-4EE0-A571-0C4B323AE28A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16950" y="0"/>
                  <a:ext cx="2051050" cy="11255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49" grpId="0" animBg="1"/>
      <p:bldP spid="50" grpId="0" animBg="1"/>
      <p:bldP spid="60" grpId="0" animBg="1"/>
      <p:bldP spid="61" grpId="0" animBg="1"/>
      <p:bldP spid="62" grpId="0" animBg="1"/>
      <p:bldP spid="65" grpId="0" animBg="1"/>
      <p:bldP spid="68" grpId="0" animBg="1"/>
      <p:bldP spid="71" grpId="0" animBg="1"/>
      <p:bldP spid="74" grpId="0" animBg="1"/>
      <p:bldP spid="77" grpId="0" animBg="1"/>
      <p:bldP spid="9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1D91-DFB4-4942-8888-EFDC087F9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64" y="755743"/>
            <a:ext cx="10591061" cy="1325563"/>
          </a:xfrm>
        </p:spPr>
        <p:txBody>
          <a:bodyPr/>
          <a:lstStyle/>
          <a:p>
            <a:r>
              <a:rPr lang="en-US" dirty="0"/>
              <a:t>Easy			Medium 			Hard </a:t>
            </a:r>
            <a:endParaRPr lang="en-AU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EF82BDF-932F-4CBF-A7E2-31D2C2C99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03" y="2247900"/>
            <a:ext cx="12028994" cy="3604943"/>
          </a:xfrm>
        </p:spPr>
      </p:pic>
    </p:spTree>
    <p:extLst>
      <p:ext uri="{BB962C8B-B14F-4D97-AF65-F5344CB8AC3E}">
        <p14:creationId xmlns:p14="http://schemas.microsoft.com/office/powerpoint/2010/main" val="3879642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4847-8CB7-4EBE-A902-B8C361253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Rates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7445A-752A-481A-9E16-F6BCCCEF8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Roboto" panose="020B0604020202020204" pitchFamily="2" charset="0"/>
              </a:rPr>
              <a:t>Rates are a </a:t>
            </a:r>
            <a:r>
              <a:rPr lang="en-US" b="1" i="1" dirty="0">
                <a:solidFill>
                  <a:srgbClr val="FF0000"/>
                </a:solidFill>
                <a:effectLst/>
                <a:latin typeface="Roboto" panose="020B0604020202020204" pitchFamily="2" charset="0"/>
              </a:rPr>
              <a:t>measure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B0604020202020204" pitchFamily="2" charset="0"/>
              </a:rPr>
              <a:t> of how one quantity changes for every </a:t>
            </a:r>
            <a:r>
              <a:rPr lang="en-US" b="1" i="1" dirty="0">
                <a:solidFill>
                  <a:srgbClr val="FF0000"/>
                </a:solidFill>
                <a:effectLst/>
                <a:latin typeface="Roboto" panose="020B0604020202020204" pitchFamily="2" charset="0"/>
              </a:rPr>
              <a:t>unit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B0604020202020204" pitchFamily="2" charset="0"/>
              </a:rPr>
              <a:t> of another quantity.</a:t>
            </a:r>
          </a:p>
          <a:p>
            <a:pPr marL="0" indent="0">
              <a:buNone/>
            </a:pPr>
            <a:endParaRPr lang="en-US" dirty="0">
              <a:solidFill>
                <a:srgbClr val="333333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pitchFamily="2" charset="0"/>
              </a:rPr>
              <a:t>Rates are a </a:t>
            </a:r>
            <a:r>
              <a:rPr lang="en-US" b="1" i="1" dirty="0">
                <a:solidFill>
                  <a:srgbClr val="333333"/>
                </a:solidFill>
                <a:effectLst/>
                <a:latin typeface="Roboto" panose="020B0604020202020204" pitchFamily="2" charset="0"/>
              </a:rPr>
              <a:t>_________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pitchFamily="2" charset="0"/>
              </a:rPr>
              <a:t> of how one quantity changes for every </a:t>
            </a:r>
            <a:r>
              <a:rPr lang="en-US" b="1" i="1" dirty="0">
                <a:solidFill>
                  <a:srgbClr val="333333"/>
                </a:solidFill>
                <a:effectLst/>
                <a:latin typeface="Roboto" panose="020B0604020202020204" pitchFamily="2" charset="0"/>
              </a:rPr>
              <a:t>unit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pitchFamily="2" charset="0"/>
              </a:rPr>
              <a:t> of another quantity.</a:t>
            </a:r>
            <a:endParaRPr lang="en-AU" dirty="0"/>
          </a:p>
          <a:p>
            <a:pPr marL="0" indent="0">
              <a:buNone/>
            </a:pPr>
            <a:endParaRPr lang="en-US" dirty="0">
              <a:solidFill>
                <a:srgbClr val="333333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pitchFamily="2" charset="0"/>
              </a:rPr>
              <a:t>Rates are a </a:t>
            </a:r>
            <a:r>
              <a:rPr lang="en-US" b="1" i="1" dirty="0">
                <a:solidFill>
                  <a:srgbClr val="333333"/>
                </a:solidFill>
                <a:effectLst/>
                <a:latin typeface="Roboto" panose="020B0604020202020204" pitchFamily="2" charset="0"/>
              </a:rPr>
              <a:t>_________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pitchFamily="2" charset="0"/>
              </a:rPr>
              <a:t> of how one quantity changes for every </a:t>
            </a:r>
            <a:r>
              <a:rPr lang="en-US" b="1" i="1" dirty="0">
                <a:solidFill>
                  <a:srgbClr val="333333"/>
                </a:solidFill>
                <a:effectLst/>
                <a:latin typeface="Roboto" panose="020B0604020202020204" pitchFamily="2" charset="0"/>
              </a:rPr>
              <a:t>____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pitchFamily="2" charset="0"/>
              </a:rPr>
              <a:t> of another quantity.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433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20698-AFF6-4974-BC6B-FB1783706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Rates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9D1D4-688C-E3D2-97BE-75A9075EB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Big Bass Dam needs 100 000L to fill it up. If the hose pumps in water at 250L per minute, how long until it fills up?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Sally burns 430Kj an hour when running. If she runs for 3.5 hours, how many </a:t>
            </a:r>
            <a:r>
              <a:rPr lang="en-US" dirty="0" err="1"/>
              <a:t>Kjs</a:t>
            </a:r>
            <a:r>
              <a:rPr lang="en-US" dirty="0"/>
              <a:t> will she burn?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32401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A466-DAC0-4CB9-8EB7-5E881699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Speed, distance, time pyramid 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5BA90D4-F637-4CE7-B224-0A8AA7ED979B}"/>
              </a:ext>
            </a:extLst>
          </p:cNvPr>
          <p:cNvSpPr/>
          <p:nvPr/>
        </p:nvSpPr>
        <p:spPr>
          <a:xfrm>
            <a:off x="3018408" y="1721952"/>
            <a:ext cx="5974671" cy="4558683"/>
          </a:xfrm>
          <a:prstGeom prst="triangl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6F1197-4873-4D2A-A40B-574AB87D561C}"/>
              </a:ext>
            </a:extLst>
          </p:cNvPr>
          <p:cNvCxnSpPr>
            <a:stCxn id="4" idx="1"/>
            <a:endCxn id="4" idx="5"/>
          </p:cNvCxnSpPr>
          <p:nvPr/>
        </p:nvCxnSpPr>
        <p:spPr>
          <a:xfrm>
            <a:off x="4512076" y="4001294"/>
            <a:ext cx="29873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79864B-7AC2-4708-A858-02E352AD445C}"/>
              </a:ext>
            </a:extLst>
          </p:cNvPr>
          <p:cNvCxnSpPr>
            <a:stCxn id="4" idx="3"/>
          </p:cNvCxnSpPr>
          <p:nvPr/>
        </p:nvCxnSpPr>
        <p:spPr>
          <a:xfrm flipH="1" flipV="1">
            <a:off x="6005743" y="4001293"/>
            <a:ext cx="1" cy="22793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709D247-9D94-4275-A381-0CB4EF1BB09E}"/>
              </a:ext>
            </a:extLst>
          </p:cNvPr>
          <p:cNvSpPr txBox="1"/>
          <p:nvPr/>
        </p:nvSpPr>
        <p:spPr>
          <a:xfrm>
            <a:off x="4995274" y="3185738"/>
            <a:ext cx="2020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DISTANCE</a:t>
            </a:r>
            <a:endParaRPr lang="en-AU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1E1B6-860E-493A-8E76-C9BA21F4A94C}"/>
              </a:ext>
            </a:extLst>
          </p:cNvPr>
          <p:cNvSpPr txBox="1"/>
          <p:nvPr/>
        </p:nvSpPr>
        <p:spPr>
          <a:xfrm>
            <a:off x="4219113" y="4967485"/>
            <a:ext cx="1423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SPEED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305529-8862-416B-88F5-A17338C5DAE5}"/>
              </a:ext>
            </a:extLst>
          </p:cNvPr>
          <p:cNvSpPr txBox="1"/>
          <p:nvPr/>
        </p:nvSpPr>
        <p:spPr>
          <a:xfrm>
            <a:off x="6556342" y="5043996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TIME </a:t>
            </a:r>
            <a:endParaRPr lang="en-AU" sz="3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5B25A7-6B2B-491D-A628-4B421856AA2C}"/>
              </a:ext>
            </a:extLst>
          </p:cNvPr>
          <p:cNvSpPr txBox="1"/>
          <p:nvPr/>
        </p:nvSpPr>
        <p:spPr>
          <a:xfrm>
            <a:off x="8630236" y="2077375"/>
            <a:ext cx="34700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Speed x Time = Distance </a:t>
            </a:r>
          </a:p>
          <a:p>
            <a:endParaRPr lang="en-US" sz="2400" b="1" dirty="0">
              <a:highlight>
                <a:srgbClr val="FFFF00"/>
              </a:highlight>
            </a:endParaRPr>
          </a:p>
          <a:p>
            <a:r>
              <a:rPr lang="en-US" sz="2400" b="1" dirty="0">
                <a:highlight>
                  <a:srgbClr val="FFFF00"/>
                </a:highlight>
              </a:rPr>
              <a:t>Distance ÷ Time = Speed </a:t>
            </a:r>
          </a:p>
          <a:p>
            <a:endParaRPr lang="en-US" sz="2400" b="1" dirty="0">
              <a:highlight>
                <a:srgbClr val="FFFF00"/>
              </a:highlight>
            </a:endParaRPr>
          </a:p>
          <a:p>
            <a:r>
              <a:rPr lang="en-US" sz="2400" b="1" dirty="0">
                <a:highlight>
                  <a:srgbClr val="FFFF00"/>
                </a:highlight>
              </a:rPr>
              <a:t>Distance ÷ Speed = Time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037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B365-9ECA-4C80-A010-924EAD897F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Complete rates Questions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0A2F8-409A-4ED0-88A7-E673E2B598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Complete “That’s fast” question set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3625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mic San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907</Words>
  <Application>Microsoft Office PowerPoint</Application>
  <PresentationFormat>Widescreen</PresentationFormat>
  <Paragraphs>251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Comic Sans MS</vt:lpstr>
      <vt:lpstr>Roboto</vt:lpstr>
      <vt:lpstr>Wingdings</vt:lpstr>
      <vt:lpstr>Office Theme</vt:lpstr>
      <vt:lpstr>Theme1</vt:lpstr>
      <vt:lpstr>1_Office Theme</vt:lpstr>
      <vt:lpstr>Lesson objective </vt:lpstr>
      <vt:lpstr>Daily review </vt:lpstr>
      <vt:lpstr>Re-teach</vt:lpstr>
      <vt:lpstr>Retrieve </vt:lpstr>
      <vt:lpstr>Choral response </vt:lpstr>
      <vt:lpstr>Visual </vt:lpstr>
      <vt:lpstr>Visual </vt:lpstr>
      <vt:lpstr>Retrieve </vt:lpstr>
      <vt:lpstr>Apply: simplify in exercise books </vt:lpstr>
      <vt:lpstr>PowerPoint Presentation</vt:lpstr>
      <vt:lpstr>PowerPoint Presentation</vt:lpstr>
      <vt:lpstr>Ratios compare the number of different things</vt:lpstr>
      <vt:lpstr>PowerPoint Presentation</vt:lpstr>
      <vt:lpstr>PowerPoint Presentation</vt:lpstr>
      <vt:lpstr>Easy   Medium    Hard </vt:lpstr>
      <vt:lpstr>Rates </vt:lpstr>
      <vt:lpstr>Rates </vt:lpstr>
      <vt:lpstr>Speed, distance, time pyramid </vt:lpstr>
      <vt:lpstr>Complete rates Questions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16</cp:revision>
  <dcterms:created xsi:type="dcterms:W3CDTF">2021-08-09T02:57:30Z</dcterms:created>
  <dcterms:modified xsi:type="dcterms:W3CDTF">2022-08-01T08:45:44Z</dcterms:modified>
</cp:coreProperties>
</file>
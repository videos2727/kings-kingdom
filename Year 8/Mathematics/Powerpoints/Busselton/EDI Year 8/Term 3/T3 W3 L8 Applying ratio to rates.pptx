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74" r:id="rId4"/>
    <p:sldId id="275" r:id="rId5"/>
    <p:sldId id="264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D62CF-D58A-3093-7CCB-3A07FA97D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8A9AE5-BEA3-FBBF-2920-561E8E2AB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82CC5-2C29-2D05-385F-DCB407327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B3748-E47B-4699-B5CC-14594F1B8A75}" type="datetimeFigureOut">
              <a:rPr lang="en-AU" smtClean="0"/>
              <a:t>3/08/2022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7075D-BA7B-23C8-016E-53D0CB352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9FF57-D3EA-6BB1-3DE7-E871C16C4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CE48D-1C09-4823-B01E-1BFCF352D0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6978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C756E-4F7F-F55A-2682-F4E4A8634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9D773-1A9A-E93E-6A9C-1CFE1E86D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724AD-CB6E-5AB2-F9C6-730C0D2BD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B3748-E47B-4699-B5CC-14594F1B8A75}" type="datetimeFigureOut">
              <a:rPr lang="en-AU" smtClean="0"/>
              <a:t>3/08/2022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3354D-43A2-D18E-EC89-73EFA50F3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932AA-F533-36BA-C3C3-A4E55D45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CE48D-1C09-4823-B01E-1BFCF352D0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8974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AB61-845D-12CE-2E5E-4DBD0A6A2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DF91C-F060-59DC-D00A-E10A5697C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471CB-5DA8-FF0A-3BCE-8A2308A0A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B3748-E47B-4699-B5CC-14594F1B8A75}" type="datetimeFigureOut">
              <a:rPr lang="en-AU" smtClean="0"/>
              <a:t>3/08/2022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97B3A-5574-38B3-9A4E-1A35D127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BC2E9-61F1-F92B-FF03-C8B392177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CE48D-1C09-4823-B01E-1BFCF352D0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6571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00B7A-2981-272A-9F5C-43B97BEB0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39ED9-265A-4751-7792-AABBDBD23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C82DA-A0AD-ADAD-A201-79EB3CE6E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33908-9D49-15B2-ADD4-C922B5756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B3748-E47B-4699-B5CC-14594F1B8A75}" type="datetimeFigureOut">
              <a:rPr lang="en-AU" smtClean="0"/>
              <a:t>3/08/2022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F402A-5E1F-2F63-C348-7106B8121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8ACDA9-181F-E210-D6FC-4220C8132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CE48D-1C09-4823-B01E-1BFCF352D0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9453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FDDA1-FFEB-4ECC-8F54-8903745ED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E7086-BF89-F955-9D70-DDD200F57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4EDEA-C417-32CE-0832-DFE294779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D59A84-0943-455A-F0D1-D5F8348AC0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1EA332-5C45-DD5D-058E-C793D6FDAE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A027C-6563-3E3A-F68C-3A0798664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B3748-E47B-4699-B5CC-14594F1B8A75}" type="datetimeFigureOut">
              <a:rPr lang="en-AU" smtClean="0"/>
              <a:t>3/08/2022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AC2D70-6283-DF27-3387-0A9CCDC53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A82347-63F3-B314-4E38-808F5FDD7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CE48D-1C09-4823-B01E-1BFCF352D0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4997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B818E-1107-6064-85F2-7CBEE1C1A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9C8DEE-B53B-55DC-6DE4-D923DED22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B3748-E47B-4699-B5CC-14594F1B8A75}" type="datetimeFigureOut">
              <a:rPr lang="en-AU" smtClean="0"/>
              <a:t>3/08/2022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495E6-DEBA-07AE-3FC4-7CD954BAF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5C7E2C-C9B1-5A4D-23D2-9A6B9E99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CE48D-1C09-4823-B01E-1BFCF352D0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3460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CC216A-25FF-72CA-F2E6-15BDCBB81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B3748-E47B-4699-B5CC-14594F1B8A75}" type="datetimeFigureOut">
              <a:rPr lang="en-AU" smtClean="0"/>
              <a:t>3/08/2022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E50321-9546-D20D-8F35-F6F0EA875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98B45-B121-3EB0-AF2A-0426ADEBF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CE48D-1C09-4823-B01E-1BFCF352D0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20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902FD-E8C1-C619-B295-0ADD05118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72BBD-EADD-F190-836A-DB3146572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8FD1F0-07D5-CC05-BB9F-600695570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C51B3-0384-62EE-B2AD-A414DD5B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B3748-E47B-4699-B5CC-14594F1B8A75}" type="datetimeFigureOut">
              <a:rPr lang="en-AU" smtClean="0"/>
              <a:t>3/08/2022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1E0A0-78FE-B807-8E62-F59F303C8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73CE2-CC3E-CE52-5A14-44E9921EE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CE48D-1C09-4823-B01E-1BFCF352D0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5460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FD3B1-3F79-63ED-8861-C6ABE7B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B4FB4F-DFB2-6F7B-7931-8E76C37971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A92B63-6420-2689-6E5F-1A9A8F7D03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806C4-4502-2C64-C569-326E5F6B1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B3748-E47B-4699-B5CC-14594F1B8A75}" type="datetimeFigureOut">
              <a:rPr lang="en-AU" smtClean="0"/>
              <a:t>3/08/2022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5EC85-B949-EB6B-BF15-4DB04579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23D65-F449-507A-0B79-57899273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CE48D-1C09-4823-B01E-1BFCF352D0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8598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122BD-63D5-8D4B-78DE-E6A8D1C27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3887E-0521-099C-062F-A3AE53514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B5A1D-D9B0-9A16-163B-4C6267247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B3748-E47B-4699-B5CC-14594F1B8A75}" type="datetimeFigureOut">
              <a:rPr lang="en-AU" smtClean="0"/>
              <a:t>3/08/2022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655AF-79C5-987A-F8D1-977BB0269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37DC6-0201-EE26-E949-437D78C7F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CE48D-1C09-4823-B01E-1BFCF352D0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1392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534169-7A2F-3EA6-C7F6-DC02FF17E5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7358D-C6D5-DF18-BB09-B945881D3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6AE22-BAD0-7D41-668E-D6FB68AF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B3748-E47B-4699-B5CC-14594F1B8A75}" type="datetimeFigureOut">
              <a:rPr lang="en-AU" smtClean="0"/>
              <a:t>3/08/2022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A5A4E-04C5-54EA-4FAB-113C7D97E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25BA3-378D-8ED5-9D74-6845F2EC5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CE48D-1C09-4823-B01E-1BFCF352D0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5089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3/08/2022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0819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4"/>
            <a:ext cx="12192000" cy="6194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9"/>
            <a:ext cx="121920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3/08/2022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7019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3/08/2022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7806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3/08/2022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972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3/08/2022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0454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3/08/2022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04457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3/08/2022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62722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3/08/2022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54740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3/08/2022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1379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3/08/2022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72644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3/08/2022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8361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544D89-57A7-70AC-C55C-17C04D111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156FF-D63B-0499-FE89-DA7FC6480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C7DC6-4B79-2333-BD30-D234E49356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B3748-E47B-4699-B5CC-14594F1B8A75}" type="datetimeFigureOut">
              <a:rPr lang="en-AU" smtClean="0"/>
              <a:t>3/08/2022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7A40E-282B-7791-0A87-0EB94A6A6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06532-E41A-3471-B42F-E507D81333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CE48D-1C09-4823-B01E-1BFCF352D0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6531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933B1-4D7D-443F-8C1F-9DEEE3E2CC90}" type="datetimeFigureOut">
              <a:rPr lang="en-AU" smtClean="0"/>
              <a:t>3/08/2022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0750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67959-BF9E-7ADC-0FDB-C889161E5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AE9B8B-68FA-89EC-D45A-26770B4D0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Applying rates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2800" dirty="0">
                <a:solidFill>
                  <a:srgbClr val="00B0F0"/>
                </a:solidFill>
              </a:rPr>
              <a:t> Use ratio techniques to compare two quantities in different units.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Write simplified rates </a:t>
            </a:r>
          </a:p>
          <a:p>
            <a:pPr marL="0" indent="0">
              <a:buNone/>
            </a:pPr>
            <a:r>
              <a:rPr lang="en-AU" sz="2800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AU" sz="2800" dirty="0">
                <a:solidFill>
                  <a:srgbClr val="00B0F0"/>
                </a:solidFill>
              </a:rPr>
              <a:t>Unitary method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Simplified rates </a:t>
            </a:r>
            <a:endParaRPr lang="en-AU" sz="2800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9296C9-8143-F27F-94D5-A7D6AD2BD326}"/>
              </a:ext>
            </a:extLst>
          </p:cNvPr>
          <p:cNvSpPr txBox="1"/>
          <p:nvPr/>
        </p:nvSpPr>
        <p:spPr>
          <a:xfrm>
            <a:off x="7821226" y="550416"/>
            <a:ext cx="33024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highlight>
                  <a:srgbClr val="00FF00"/>
                </a:highlight>
              </a:rPr>
              <a:t>PBiS</a:t>
            </a:r>
            <a:r>
              <a:rPr lang="en-US" sz="2000" b="1" dirty="0">
                <a:highlight>
                  <a:srgbClr val="00FF00"/>
                </a:highlight>
              </a:rPr>
              <a:t> focus </a:t>
            </a:r>
          </a:p>
          <a:p>
            <a:r>
              <a:rPr lang="en-US" sz="2000" b="1" dirty="0">
                <a:highlight>
                  <a:srgbClr val="00FF00"/>
                </a:highlight>
              </a:rPr>
              <a:t>Respect (stay seated)</a:t>
            </a:r>
          </a:p>
          <a:p>
            <a:r>
              <a:rPr lang="en-US" sz="2000" b="1" dirty="0">
                <a:highlight>
                  <a:srgbClr val="00FF00"/>
                </a:highlight>
              </a:rPr>
              <a:t>Achieve (stay on task</a:t>
            </a:r>
            <a:r>
              <a:rPr lang="en-US" b="1" dirty="0">
                <a:highlight>
                  <a:srgbClr val="00FF00"/>
                </a:highlight>
              </a:rPr>
              <a:t>)</a:t>
            </a:r>
            <a:endParaRPr lang="en-AU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57336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FCEEF-9948-DC77-E04A-0247B8F1B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13"/>
            <a:ext cx="12192000" cy="1208461"/>
          </a:xfrm>
        </p:spPr>
        <p:txBody>
          <a:bodyPr>
            <a:normAutofit/>
          </a:bodyPr>
          <a:lstStyle/>
          <a:p>
            <a:r>
              <a:rPr lang="en-US" dirty="0"/>
              <a:t>Simplified rates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A072A-C218-C161-18A7-F044707CA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6539"/>
            <a:ext cx="121920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Calculating an amount per single unit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E.g. </a:t>
            </a:r>
          </a:p>
          <a:p>
            <a:pPr marL="0" indent="0">
              <a:buNone/>
            </a:pPr>
            <a:r>
              <a:rPr lang="en-US" dirty="0"/>
              <a:t>kilometers per hour</a:t>
            </a:r>
          </a:p>
          <a:p>
            <a:pPr marL="0" indent="0">
              <a:buNone/>
            </a:pPr>
            <a:r>
              <a:rPr lang="en-US" dirty="0"/>
              <a:t>Meters per second </a:t>
            </a:r>
          </a:p>
          <a:p>
            <a:pPr marL="0" indent="0">
              <a:buNone/>
            </a:pPr>
            <a:r>
              <a:rPr lang="en-US" dirty="0"/>
              <a:t>Teachers per student </a:t>
            </a:r>
          </a:p>
          <a:p>
            <a:pPr marL="0" indent="0">
              <a:buNone/>
            </a:pPr>
            <a:r>
              <a:rPr lang="en-US" dirty="0"/>
              <a:t>Average points per game </a:t>
            </a:r>
          </a:p>
          <a:p>
            <a:pPr marL="0" indent="0">
              <a:buNone/>
            </a:pPr>
            <a:r>
              <a:rPr lang="en-US" dirty="0"/>
              <a:t>Liters per minute 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21A23A-99BB-B03A-CE65-32CA09390AC6}"/>
              </a:ext>
            </a:extLst>
          </p:cNvPr>
          <p:cNvSpPr txBox="1"/>
          <p:nvPr/>
        </p:nvSpPr>
        <p:spPr>
          <a:xfrm>
            <a:off x="7162800" y="2657475"/>
            <a:ext cx="43815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6km in 3 hours </a:t>
            </a:r>
          </a:p>
          <a:p>
            <a:endParaRPr lang="en-US" sz="2800" dirty="0"/>
          </a:p>
          <a:p>
            <a:r>
              <a:rPr lang="en-US" sz="2800" dirty="0"/>
              <a:t>200m in 12 seconds </a:t>
            </a:r>
          </a:p>
          <a:p>
            <a:endParaRPr lang="en-US" sz="2800" dirty="0"/>
          </a:p>
          <a:p>
            <a:r>
              <a:rPr lang="en-US" sz="2800" dirty="0"/>
              <a:t>12 students for 2 teachers </a:t>
            </a:r>
          </a:p>
          <a:p>
            <a:endParaRPr lang="en-US" sz="2800" dirty="0"/>
          </a:p>
          <a:p>
            <a:r>
              <a:rPr lang="en-US" sz="2800" dirty="0"/>
              <a:t>99 points over 3 games </a:t>
            </a:r>
          </a:p>
          <a:p>
            <a:endParaRPr lang="en-US" sz="2800" dirty="0"/>
          </a:p>
          <a:p>
            <a:r>
              <a:rPr lang="en-US" sz="2800" dirty="0"/>
              <a:t>400L in 90 minutes 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829229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CC92D-E0FE-CB25-3F3F-FCE2F8D21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14"/>
            <a:ext cx="12192000" cy="922064"/>
          </a:xfrm>
        </p:spPr>
        <p:txBody>
          <a:bodyPr>
            <a:normAutofit/>
          </a:bodyPr>
          <a:lstStyle/>
          <a:p>
            <a:r>
              <a:rPr lang="en-US" dirty="0"/>
              <a:t>Simplifying rates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A9A56D-A86E-96D2-53CF-491F43F8061D}"/>
              </a:ext>
            </a:extLst>
          </p:cNvPr>
          <p:cNvSpPr txBox="1"/>
          <p:nvPr/>
        </p:nvSpPr>
        <p:spPr>
          <a:xfrm>
            <a:off x="1197006" y="2089304"/>
            <a:ext cx="489899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6km in 3 hours </a:t>
            </a:r>
            <a:r>
              <a:rPr lang="en-US" sz="2800" dirty="0">
                <a:sym typeface="Wingdings" panose="05000000000000000000" pitchFamily="2" charset="2"/>
              </a:rPr>
              <a:t> Km/h?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200m in 12 seconds </a:t>
            </a:r>
            <a:r>
              <a:rPr lang="en-US" sz="2800" dirty="0">
                <a:sym typeface="Wingdings" panose="05000000000000000000" pitchFamily="2" charset="2"/>
              </a:rPr>
              <a:t> m/s?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12 students for 2 teachers </a:t>
            </a:r>
          </a:p>
          <a:p>
            <a:endParaRPr lang="en-US" sz="2800" dirty="0"/>
          </a:p>
          <a:p>
            <a:r>
              <a:rPr lang="en-US" sz="2800" dirty="0"/>
              <a:t>99 points over 3 games </a:t>
            </a:r>
          </a:p>
          <a:p>
            <a:endParaRPr lang="en-US" sz="2800" dirty="0"/>
          </a:p>
          <a:p>
            <a:r>
              <a:rPr lang="en-US" sz="2800" dirty="0"/>
              <a:t>400L in 90 minutes </a:t>
            </a:r>
            <a:r>
              <a:rPr lang="en-US" sz="2800" dirty="0">
                <a:sym typeface="Wingdings" panose="05000000000000000000" pitchFamily="2" charset="2"/>
              </a:rPr>
              <a:t> L/min</a:t>
            </a:r>
            <a:endParaRPr lang="en-A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343404-E404-6D7F-4BF9-7D7F354C8BF6}"/>
              </a:ext>
            </a:extLst>
          </p:cNvPr>
          <p:cNvSpPr txBox="1"/>
          <p:nvPr/>
        </p:nvSpPr>
        <p:spPr>
          <a:xfrm>
            <a:off x="7004482" y="1961965"/>
            <a:ext cx="4898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COPY: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938001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0"/>
            <a:ext cx="8229600" cy="548680"/>
          </a:xfrm>
        </p:spPr>
        <p:txBody>
          <a:bodyPr>
            <a:normAutofit fontScale="90000"/>
          </a:bodyPr>
          <a:lstStyle/>
          <a:p>
            <a:r>
              <a:rPr lang="en-AU" dirty="0"/>
              <a:t>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548682"/>
            <a:ext cx="8229600" cy="2304255"/>
          </a:xfrm>
        </p:spPr>
        <p:txBody>
          <a:bodyPr>
            <a:normAutofit/>
          </a:bodyPr>
          <a:lstStyle/>
          <a:p>
            <a:r>
              <a:rPr lang="en-AU" sz="2400" dirty="0"/>
              <a:t>Use ratio techniques to compare two quantities in different units</a:t>
            </a:r>
          </a:p>
          <a:p>
            <a:pPr lvl="2"/>
            <a:r>
              <a:rPr lang="en-AU" sz="1800" dirty="0"/>
              <a:t>Kilometres per hour (</a:t>
            </a:r>
            <a:r>
              <a:rPr lang="en-AU" sz="1800" dirty="0" err="1"/>
              <a:t>kph</a:t>
            </a:r>
            <a:r>
              <a:rPr lang="en-AU" sz="1800" dirty="0"/>
              <a:t>)</a:t>
            </a:r>
          </a:p>
          <a:p>
            <a:pPr lvl="2"/>
            <a:r>
              <a:rPr lang="en-AU" sz="1800" dirty="0"/>
              <a:t>Dollars per hour (hourly rate)</a:t>
            </a:r>
          </a:p>
          <a:p>
            <a:pPr lvl="2"/>
            <a:r>
              <a:rPr lang="en-AU" sz="1800" dirty="0"/>
              <a:t>Dollars per 100g (best buy)</a:t>
            </a:r>
          </a:p>
          <a:p>
            <a:r>
              <a:rPr lang="en-AU" sz="2400" dirty="0">
                <a:solidFill>
                  <a:srgbClr val="FF0000"/>
                </a:solidFill>
              </a:rPr>
              <a:t>Find out the value of </a:t>
            </a:r>
            <a:r>
              <a:rPr lang="en-AU" sz="2400" b="1" dirty="0">
                <a:solidFill>
                  <a:srgbClr val="FF0000"/>
                </a:solidFill>
              </a:rPr>
              <a:t>a single unit </a:t>
            </a:r>
            <a:r>
              <a:rPr lang="en-AU" sz="2400" dirty="0">
                <a:solidFill>
                  <a:srgbClr val="FF0000"/>
                </a:solidFill>
              </a:rPr>
              <a:t>then multiply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952253" y="2783037"/>
            <a:ext cx="8229600" cy="3057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15m of fencing wire costs $9</a:t>
            </a:r>
          </a:p>
        </p:txBody>
      </p:sp>
      <p:sp>
        <p:nvSpPr>
          <p:cNvPr id="57" name="Rounded Rectangular Callout 56"/>
          <p:cNvSpPr/>
          <p:nvPr/>
        </p:nvSpPr>
        <p:spPr>
          <a:xfrm>
            <a:off x="6115435" y="2783036"/>
            <a:ext cx="4421435" cy="984910"/>
          </a:xfrm>
          <a:prstGeom prst="wedgeRoundRectCallout">
            <a:avLst>
              <a:gd name="adj1" fmla="val -61604"/>
              <a:gd name="adj2" fmla="val 327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prstClr val="white"/>
                </a:solidFill>
                <a:latin typeface="Calibri"/>
              </a:rPr>
              <a:t>How much is 250m of wire?</a:t>
            </a:r>
          </a:p>
          <a:p>
            <a:pPr algn="ctr"/>
            <a:r>
              <a:rPr lang="en-AU" dirty="0">
                <a:solidFill>
                  <a:prstClr val="white"/>
                </a:solidFill>
                <a:latin typeface="Calibri"/>
              </a:rPr>
              <a:t>How much wire can you get for $420?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85115" y="4582619"/>
            <a:ext cx="1371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Wire  :   Cost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90040" y="4919685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15m   :   $9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98707" y="4191464"/>
            <a:ext cx="3345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prstClr val="black"/>
                </a:solidFill>
                <a:latin typeface="Calibri"/>
              </a:rPr>
              <a:t>How much does 1m of wire cost?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94932" y="4186086"/>
            <a:ext cx="3550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prstClr val="black"/>
                </a:solidFill>
                <a:latin typeface="Calibri"/>
              </a:rPr>
              <a:t>How much wire can you get for $1?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58043" y="4581772"/>
            <a:ext cx="1371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Wire  :   Cost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62968" y="4918838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15m   :   $9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40009" y="5461959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1m    :   …….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94421" y="5455269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……..  :   $1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1780612" y="5033434"/>
            <a:ext cx="809429" cy="598190"/>
            <a:chOff x="938473" y="3645024"/>
            <a:chExt cx="809429" cy="1008112"/>
          </a:xfrm>
        </p:grpSpPr>
        <p:sp>
          <p:nvSpPr>
            <p:cNvPr id="73" name="Curved Right Arrow 72"/>
            <p:cNvSpPr/>
            <p:nvPr/>
          </p:nvSpPr>
          <p:spPr>
            <a:xfrm>
              <a:off x="1459870" y="3645024"/>
              <a:ext cx="288032" cy="1008112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938473" y="3801301"/>
              <a:ext cx="534121" cy="6224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srgbClr val="FF0000"/>
                  </a:solidFill>
                  <a:latin typeface="Calibri"/>
                </a:rPr>
                <a:t>÷15</a:t>
              </a: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3956838" y="5056578"/>
            <a:ext cx="822153" cy="575047"/>
            <a:chOff x="4355976" y="3645024"/>
            <a:chExt cx="822153" cy="1008112"/>
          </a:xfrm>
        </p:grpSpPr>
        <p:sp>
          <p:nvSpPr>
            <p:cNvPr id="76" name="TextBox 75"/>
            <p:cNvSpPr txBox="1"/>
            <p:nvPr/>
          </p:nvSpPr>
          <p:spPr>
            <a:xfrm>
              <a:off x="4644008" y="3805057"/>
              <a:ext cx="534121" cy="6474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srgbClr val="FF0000"/>
                  </a:solidFill>
                  <a:latin typeface="Calibri"/>
                </a:rPr>
                <a:t>÷15</a:t>
              </a:r>
            </a:p>
          </p:txBody>
        </p:sp>
        <p:sp>
          <p:nvSpPr>
            <p:cNvPr id="77" name="Curved Left Arrow 76"/>
            <p:cNvSpPr/>
            <p:nvPr/>
          </p:nvSpPr>
          <p:spPr>
            <a:xfrm>
              <a:off x="4355976" y="3645024"/>
              <a:ext cx="288032" cy="1008112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6548615" y="5028184"/>
            <a:ext cx="809429" cy="598190"/>
            <a:chOff x="938473" y="3645024"/>
            <a:chExt cx="809429" cy="1008112"/>
          </a:xfrm>
        </p:grpSpPr>
        <p:sp>
          <p:nvSpPr>
            <p:cNvPr id="79" name="Curved Right Arrow 78"/>
            <p:cNvSpPr/>
            <p:nvPr/>
          </p:nvSpPr>
          <p:spPr>
            <a:xfrm>
              <a:off x="1459870" y="3645024"/>
              <a:ext cx="288032" cy="1008112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938473" y="3801301"/>
              <a:ext cx="417102" cy="6224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srgbClr val="FF0000"/>
                  </a:solidFill>
                  <a:latin typeface="Calibri"/>
                </a:rPr>
                <a:t>÷9</a:t>
              </a: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8639787" y="5051328"/>
            <a:ext cx="705134" cy="575047"/>
            <a:chOff x="4355976" y="3645024"/>
            <a:chExt cx="705134" cy="1008112"/>
          </a:xfrm>
        </p:grpSpPr>
        <p:sp>
          <p:nvSpPr>
            <p:cNvPr id="82" name="TextBox 81"/>
            <p:cNvSpPr txBox="1"/>
            <p:nvPr/>
          </p:nvSpPr>
          <p:spPr>
            <a:xfrm>
              <a:off x="4644008" y="3805057"/>
              <a:ext cx="417102" cy="6474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srgbClr val="FF0000"/>
                  </a:solidFill>
                  <a:latin typeface="Calibri"/>
                </a:rPr>
                <a:t>÷9</a:t>
              </a:r>
            </a:p>
          </p:txBody>
        </p:sp>
        <p:sp>
          <p:nvSpPr>
            <p:cNvPr id="83" name="Curved Left Arrow 82"/>
            <p:cNvSpPr/>
            <p:nvPr/>
          </p:nvSpPr>
          <p:spPr>
            <a:xfrm>
              <a:off x="4355976" y="3645024"/>
              <a:ext cx="288032" cy="1008112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84" name="TextBox 83"/>
          <p:cNvSpPr txBox="1"/>
          <p:nvPr/>
        </p:nvSpPr>
        <p:spPr>
          <a:xfrm>
            <a:off x="3286982" y="537529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$0.60</a:t>
            </a:r>
          </a:p>
        </p:txBody>
      </p:sp>
      <p:grpSp>
        <p:nvGrpSpPr>
          <p:cNvPr id="85" name="Group 84"/>
          <p:cNvGrpSpPr/>
          <p:nvPr/>
        </p:nvGrpSpPr>
        <p:grpSpPr>
          <a:xfrm>
            <a:off x="7343030" y="5364737"/>
            <a:ext cx="727388" cy="369332"/>
            <a:chOff x="5392345" y="5423808"/>
            <a:chExt cx="727388" cy="369332"/>
          </a:xfrm>
        </p:grpSpPr>
        <p:sp>
          <p:nvSpPr>
            <p:cNvPr id="86" name="TextBox 85"/>
            <p:cNvSpPr txBox="1"/>
            <p:nvPr/>
          </p:nvSpPr>
          <p:spPr>
            <a:xfrm>
              <a:off x="5750721" y="5423808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srgbClr val="FF0000"/>
                  </a:solidFill>
                  <a:latin typeface="Calibri"/>
                </a:rPr>
                <a:t>m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/>
                <p:cNvSpPr txBox="1"/>
                <p:nvPr/>
              </p:nvSpPr>
              <p:spPr>
                <a:xfrm>
                  <a:off x="5392345" y="5445224"/>
                  <a:ext cx="534634" cy="347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6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1.</m:t>
                        </m:r>
                        <m:acc>
                          <m:accPr>
                            <m:chr m:val="̇"/>
                            <m:ctrlPr>
                              <a:rPr lang="en-AU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AU" sz="16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6</m:t>
                            </m:r>
                          </m:e>
                        </m:acc>
                      </m:oMath>
                    </m:oMathPara>
                  </a14:m>
                  <a:endParaRPr lang="en-AU" sz="1600" dirty="0">
                    <a:solidFill>
                      <a:srgbClr val="FF0000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2345" y="5445224"/>
                  <a:ext cx="534634" cy="347916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8" name="TextBox 87"/>
          <p:cNvSpPr txBox="1"/>
          <p:nvPr/>
        </p:nvSpPr>
        <p:spPr>
          <a:xfrm>
            <a:off x="1829575" y="3845098"/>
            <a:ext cx="3579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prstClr val="black"/>
                </a:solidFill>
                <a:latin typeface="Calibri"/>
              </a:rPr>
              <a:t>How much does 250m of wire cost?</a:t>
            </a:r>
          </a:p>
        </p:txBody>
      </p:sp>
      <p:grpSp>
        <p:nvGrpSpPr>
          <p:cNvPr id="89" name="Group 88"/>
          <p:cNvGrpSpPr/>
          <p:nvPr/>
        </p:nvGrpSpPr>
        <p:grpSpPr>
          <a:xfrm>
            <a:off x="1809013" y="5687203"/>
            <a:ext cx="809429" cy="598190"/>
            <a:chOff x="938473" y="3645024"/>
            <a:chExt cx="809429" cy="1008112"/>
          </a:xfrm>
        </p:grpSpPr>
        <p:sp>
          <p:nvSpPr>
            <p:cNvPr id="90" name="Curved Right Arrow 89"/>
            <p:cNvSpPr/>
            <p:nvPr/>
          </p:nvSpPr>
          <p:spPr>
            <a:xfrm>
              <a:off x="1459870" y="3645024"/>
              <a:ext cx="288032" cy="1008112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938473" y="3801301"/>
              <a:ext cx="635110" cy="6224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srgbClr val="FF0000"/>
                  </a:solidFill>
                  <a:latin typeface="Calibri"/>
                </a:rPr>
                <a:t>x250</a:t>
              </a:r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3985238" y="5710347"/>
            <a:ext cx="923142" cy="575047"/>
            <a:chOff x="4355976" y="3645024"/>
            <a:chExt cx="923142" cy="1008112"/>
          </a:xfrm>
        </p:grpSpPr>
        <p:sp>
          <p:nvSpPr>
            <p:cNvPr id="93" name="TextBox 92"/>
            <p:cNvSpPr txBox="1"/>
            <p:nvPr/>
          </p:nvSpPr>
          <p:spPr>
            <a:xfrm>
              <a:off x="4644008" y="3805057"/>
              <a:ext cx="635110" cy="6474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srgbClr val="FF0000"/>
                  </a:solidFill>
                  <a:latin typeface="Calibri"/>
                </a:rPr>
                <a:t>x250</a:t>
              </a:r>
            </a:p>
          </p:txBody>
        </p:sp>
        <p:sp>
          <p:nvSpPr>
            <p:cNvPr id="94" name="Curved Left Arrow 93"/>
            <p:cNvSpPr/>
            <p:nvPr/>
          </p:nvSpPr>
          <p:spPr>
            <a:xfrm>
              <a:off x="4355976" y="3645024"/>
              <a:ext cx="288032" cy="1008112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95" name="TextBox 94"/>
          <p:cNvSpPr txBox="1"/>
          <p:nvPr/>
        </p:nvSpPr>
        <p:spPr>
          <a:xfrm>
            <a:off x="2598540" y="6000831"/>
            <a:ext cx="137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250m :  ……..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13791" y="591606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$150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00021" y="3851719"/>
            <a:ext cx="3785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prstClr val="black"/>
                </a:solidFill>
                <a:latin typeface="Calibri"/>
              </a:rPr>
              <a:t>How much wire can you get for $420?</a:t>
            </a:r>
          </a:p>
        </p:txBody>
      </p:sp>
      <p:grpSp>
        <p:nvGrpSpPr>
          <p:cNvPr id="98" name="Group 97"/>
          <p:cNvGrpSpPr/>
          <p:nvPr/>
        </p:nvGrpSpPr>
        <p:grpSpPr>
          <a:xfrm>
            <a:off x="6441202" y="5706807"/>
            <a:ext cx="875168" cy="598190"/>
            <a:chOff x="872734" y="3645024"/>
            <a:chExt cx="875168" cy="1008112"/>
          </a:xfrm>
        </p:grpSpPr>
        <p:sp>
          <p:nvSpPr>
            <p:cNvPr id="99" name="Curved Right Arrow 98"/>
            <p:cNvSpPr/>
            <p:nvPr/>
          </p:nvSpPr>
          <p:spPr>
            <a:xfrm>
              <a:off x="1459870" y="3645024"/>
              <a:ext cx="288032" cy="1008112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872734" y="3801301"/>
              <a:ext cx="635110" cy="6224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srgbClr val="FF0000"/>
                  </a:solidFill>
                  <a:latin typeface="Calibri"/>
                </a:rPr>
                <a:t>x420</a:t>
              </a: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8683142" y="5720427"/>
            <a:ext cx="923142" cy="575047"/>
            <a:chOff x="4355976" y="3645024"/>
            <a:chExt cx="923142" cy="1008112"/>
          </a:xfrm>
        </p:grpSpPr>
        <p:sp>
          <p:nvSpPr>
            <p:cNvPr id="102" name="TextBox 101"/>
            <p:cNvSpPr txBox="1"/>
            <p:nvPr/>
          </p:nvSpPr>
          <p:spPr>
            <a:xfrm>
              <a:off x="4644008" y="3805057"/>
              <a:ext cx="635110" cy="6474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srgbClr val="FF0000"/>
                  </a:solidFill>
                  <a:latin typeface="Calibri"/>
                </a:rPr>
                <a:t>x420</a:t>
              </a:r>
            </a:p>
          </p:txBody>
        </p:sp>
        <p:sp>
          <p:nvSpPr>
            <p:cNvPr id="103" name="Curved Left Arrow 102"/>
            <p:cNvSpPr/>
            <p:nvPr/>
          </p:nvSpPr>
          <p:spPr>
            <a:xfrm>
              <a:off x="4355976" y="3645024"/>
              <a:ext cx="288032" cy="1008112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04" name="TextBox 103"/>
          <p:cNvSpPr txBox="1"/>
          <p:nvPr/>
        </p:nvSpPr>
        <p:spPr>
          <a:xfrm>
            <a:off x="7316516" y="5984204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………  :  $420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306731" y="5898770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700m</a:t>
            </a:r>
          </a:p>
        </p:txBody>
      </p:sp>
      <p:sp>
        <p:nvSpPr>
          <p:cNvPr id="106" name="Flowchart: Alternate Process 105"/>
          <p:cNvSpPr/>
          <p:nvPr/>
        </p:nvSpPr>
        <p:spPr>
          <a:xfrm>
            <a:off x="9367554" y="4878179"/>
            <a:ext cx="1126441" cy="612068"/>
          </a:xfrm>
          <a:prstGeom prst="flowChartAlternateProces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prstClr val="white"/>
                </a:solidFill>
                <a:latin typeface="Calibri"/>
              </a:rPr>
              <a:t>Leave it in your calculator!</a:t>
            </a:r>
          </a:p>
        </p:txBody>
      </p:sp>
    </p:spTree>
    <p:extLst>
      <p:ext uri="{BB962C8B-B14F-4D97-AF65-F5344CB8AC3E}">
        <p14:creationId xmlns:p14="http://schemas.microsoft.com/office/powerpoint/2010/main" val="2562737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7" grpId="0" animBg="1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84" grpId="0"/>
      <p:bldP spid="88" grpId="0"/>
      <p:bldP spid="95" grpId="0"/>
      <p:bldP spid="96" grpId="0"/>
      <p:bldP spid="97" grpId="0"/>
      <p:bldP spid="104" grpId="0"/>
      <p:bldP spid="105" grpId="0"/>
      <p:bldP spid="10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0"/>
            <a:ext cx="8229600" cy="548680"/>
          </a:xfrm>
        </p:spPr>
        <p:txBody>
          <a:bodyPr>
            <a:normAutofit fontScale="90000"/>
          </a:bodyPr>
          <a:lstStyle/>
          <a:p>
            <a:r>
              <a:rPr lang="en-AU" dirty="0"/>
              <a:t>Speed as a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548682"/>
            <a:ext cx="8229600" cy="1800199"/>
          </a:xfrm>
        </p:spPr>
        <p:txBody>
          <a:bodyPr>
            <a:normAutofit/>
          </a:bodyPr>
          <a:lstStyle/>
          <a:p>
            <a:r>
              <a:rPr lang="en-AU" sz="2400" dirty="0"/>
              <a:t>Use ratio techniques to compare distance and time</a:t>
            </a:r>
          </a:p>
          <a:p>
            <a:r>
              <a:rPr lang="en-AU" sz="2400" dirty="0">
                <a:solidFill>
                  <a:srgbClr val="FF0000"/>
                </a:solidFill>
              </a:rPr>
              <a:t>Speed is the distance covered </a:t>
            </a:r>
            <a:r>
              <a:rPr lang="en-AU" sz="2400" b="1" dirty="0">
                <a:solidFill>
                  <a:srgbClr val="FF0000"/>
                </a:solidFill>
              </a:rPr>
              <a:t>per unit </a:t>
            </a:r>
            <a:r>
              <a:rPr lang="en-AU" sz="2400" dirty="0">
                <a:solidFill>
                  <a:srgbClr val="FF0000"/>
                </a:solidFill>
              </a:rPr>
              <a:t>time</a:t>
            </a:r>
          </a:p>
          <a:p>
            <a:pPr lvl="2"/>
            <a:r>
              <a:rPr lang="en-AU" sz="1800" dirty="0"/>
              <a:t>Kilometres per hour (</a:t>
            </a:r>
            <a:r>
              <a:rPr lang="en-AU" sz="1800" dirty="0" err="1"/>
              <a:t>kph</a:t>
            </a:r>
            <a:r>
              <a:rPr lang="en-AU" sz="1800" dirty="0"/>
              <a:t>)</a:t>
            </a:r>
          </a:p>
          <a:p>
            <a:pPr lvl="2"/>
            <a:r>
              <a:rPr lang="en-AU" sz="1800" dirty="0"/>
              <a:t>Metres per second (m/s)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952253" y="2085432"/>
            <a:ext cx="8229600" cy="983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A vehicle leaves Leeds at 8.00am and arrives in Newcastle at 10.30am. If the distance is 140km, what was the average speed of the vehicle?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09493" y="2952488"/>
            <a:ext cx="1831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Distance   :  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1485" y="3298121"/>
            <a:ext cx="1783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140km   :   2.5hrs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60688" y="3631394"/>
            <a:ext cx="2802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  <a:latin typeface="Calibri"/>
              </a:rPr>
              <a:t>The average speed is 56kph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8642" y="3757438"/>
            <a:ext cx="143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………..  :   1hr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803009" y="3447389"/>
            <a:ext cx="809429" cy="598190"/>
            <a:chOff x="938473" y="3645024"/>
            <a:chExt cx="809429" cy="1008112"/>
          </a:xfrm>
        </p:grpSpPr>
        <p:sp>
          <p:nvSpPr>
            <p:cNvPr id="14" name="Curved Right Arrow 13"/>
            <p:cNvSpPr/>
            <p:nvPr/>
          </p:nvSpPr>
          <p:spPr>
            <a:xfrm>
              <a:off x="1459870" y="3645024"/>
              <a:ext cx="288032" cy="1008112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38473" y="3801301"/>
              <a:ext cx="591829" cy="6224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srgbClr val="FF0000"/>
                  </a:solidFill>
                  <a:latin typeface="Calibri"/>
                </a:rPr>
                <a:t>÷2.5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453351" y="3454285"/>
            <a:ext cx="879861" cy="575047"/>
            <a:chOff x="4355976" y="3645024"/>
            <a:chExt cx="879861" cy="1008112"/>
          </a:xfrm>
        </p:grpSpPr>
        <p:sp>
          <p:nvSpPr>
            <p:cNvPr id="17" name="TextBox 16"/>
            <p:cNvSpPr txBox="1"/>
            <p:nvPr/>
          </p:nvSpPr>
          <p:spPr>
            <a:xfrm>
              <a:off x="4644008" y="3805057"/>
              <a:ext cx="591829" cy="6474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srgbClr val="FF0000"/>
                  </a:solidFill>
                  <a:latin typeface="Calibri"/>
                </a:rPr>
                <a:t>÷2.5</a:t>
              </a:r>
            </a:p>
          </p:txBody>
        </p:sp>
        <p:sp>
          <p:nvSpPr>
            <p:cNvPr id="18" name="Curved Left Arrow 17"/>
            <p:cNvSpPr/>
            <p:nvPr/>
          </p:nvSpPr>
          <p:spPr>
            <a:xfrm>
              <a:off x="4355976" y="3645024"/>
              <a:ext cx="288032" cy="1008112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809704" y="3663918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56km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3168" y="5365260"/>
            <a:ext cx="140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75km    :  1hr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1814453" y="5482152"/>
            <a:ext cx="809429" cy="598190"/>
            <a:chOff x="938473" y="3645024"/>
            <a:chExt cx="809429" cy="1008112"/>
          </a:xfrm>
        </p:grpSpPr>
        <p:sp>
          <p:nvSpPr>
            <p:cNvPr id="35" name="Curved Right Arrow 34"/>
            <p:cNvSpPr/>
            <p:nvPr/>
          </p:nvSpPr>
          <p:spPr>
            <a:xfrm>
              <a:off x="1459870" y="3645024"/>
              <a:ext cx="288032" cy="1008112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38473" y="3801301"/>
              <a:ext cx="401072" cy="6224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srgbClr val="FF0000"/>
                  </a:solidFill>
                  <a:latin typeface="Calibri"/>
                </a:rPr>
                <a:t>x9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211119" y="5493725"/>
            <a:ext cx="689104" cy="575047"/>
            <a:chOff x="4355976" y="3645024"/>
            <a:chExt cx="689104" cy="1008112"/>
          </a:xfrm>
        </p:grpSpPr>
        <p:sp>
          <p:nvSpPr>
            <p:cNvPr id="38" name="TextBox 37"/>
            <p:cNvSpPr txBox="1"/>
            <p:nvPr/>
          </p:nvSpPr>
          <p:spPr>
            <a:xfrm>
              <a:off x="4644008" y="3805057"/>
              <a:ext cx="401072" cy="6474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srgbClr val="FF0000"/>
                  </a:solidFill>
                  <a:latin typeface="Calibri"/>
                </a:rPr>
                <a:t>x9</a:t>
              </a:r>
            </a:p>
          </p:txBody>
        </p:sp>
        <p:sp>
          <p:nvSpPr>
            <p:cNvPr id="39" name="Curved Left Arrow 38"/>
            <p:cNvSpPr/>
            <p:nvPr/>
          </p:nvSpPr>
          <p:spPr>
            <a:xfrm>
              <a:off x="4355976" y="3645024"/>
              <a:ext cx="288032" cy="1008112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2751193" y="5679594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675km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09687" y="6230882"/>
            <a:ext cx="356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  <a:latin typeface="Calibri"/>
              </a:rPr>
              <a:t>It is 675km from London to Dundee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71856" y="5781248"/>
            <a:ext cx="1339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………  :  9hrs</a:t>
            </a:r>
          </a:p>
        </p:txBody>
      </p:sp>
      <p:sp>
        <p:nvSpPr>
          <p:cNvPr id="57" name="Rounded Rectangular Callout 56"/>
          <p:cNvSpPr/>
          <p:nvPr/>
        </p:nvSpPr>
        <p:spPr>
          <a:xfrm>
            <a:off x="8970015" y="2852936"/>
            <a:ext cx="1524857" cy="984910"/>
          </a:xfrm>
          <a:prstGeom prst="wedgeRoundRectCallout">
            <a:avLst>
              <a:gd name="adj1" fmla="val -69100"/>
              <a:gd name="adj2" fmla="val -6731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prstClr val="white"/>
                </a:solidFill>
                <a:latin typeface="Calibri"/>
              </a:rPr>
              <a:t>Speed over the whole journey</a:t>
            </a:r>
          </a:p>
        </p:txBody>
      </p:sp>
      <p:sp>
        <p:nvSpPr>
          <p:cNvPr id="60" name="Content Placeholder 2"/>
          <p:cNvSpPr txBox="1">
            <a:spLocks/>
          </p:cNvSpPr>
          <p:nvPr/>
        </p:nvSpPr>
        <p:spPr>
          <a:xfrm>
            <a:off x="1992139" y="4102162"/>
            <a:ext cx="8229600" cy="98302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David leaves London by car at 8.30am and arrives in Dundee at 5.30pm. If the car was travelling at an average speed of 75km/h, what is the distance from London to Dundee?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59834" y="4962281"/>
            <a:ext cx="1831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Distance   :  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373251" y="1141979"/>
                <a:ext cx="2209644" cy="62966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AU" sz="2400" dirty="0">
                    <a:solidFill>
                      <a:prstClr val="black"/>
                    </a:solidFill>
                    <a:latin typeface="Calibri"/>
                  </a:rPr>
                  <a:t>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𝑑𝑖𝑠𝑡𝑎𝑛𝑐𝑒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𝑡𝑖𝑚𝑒</m:t>
                        </m:r>
                      </m:den>
                    </m:f>
                  </m:oMath>
                </a14:m>
                <a:endParaRPr lang="en-AU" sz="24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3251" y="1141979"/>
                <a:ext cx="2209644" cy="629660"/>
              </a:xfrm>
              <a:prstGeom prst="rect">
                <a:avLst/>
              </a:prstGeom>
              <a:blipFill>
                <a:blip r:embed="rId2"/>
                <a:stretch>
                  <a:fillRect l="-3825" b="-64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729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8" grpId="0"/>
      <p:bldP spid="12" grpId="0"/>
      <p:bldP spid="25" grpId="0"/>
      <p:bldP spid="33" grpId="0"/>
      <p:bldP spid="42" grpId="0"/>
      <p:bldP spid="43" grpId="0"/>
      <p:bldP spid="56" grpId="0"/>
      <p:bldP spid="57" grpId="0" animBg="1"/>
      <p:bldP spid="60" grpId="0"/>
      <p:bldP spid="6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61D39-AE87-6471-61A3-5D3DF8C71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Rates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D41A9-97E4-DDC1-23C6-64EADC8AE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Kilometers per hour (km/h)</a:t>
            </a:r>
          </a:p>
          <a:p>
            <a:pPr marL="0" indent="0">
              <a:buNone/>
            </a:pPr>
            <a:r>
              <a:rPr lang="en-AU" dirty="0"/>
              <a:t>Trevor travels 231km in 3 hours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US" dirty="0"/>
              <a:t>How long will it take him to travel 40km?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far will he go in 5 hours?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334E67-EF5B-0A48-C53D-E74F63A25CC5}"/>
              </a:ext>
            </a:extLst>
          </p:cNvPr>
          <p:cNvSpPr txBox="1"/>
          <p:nvPr/>
        </p:nvSpPr>
        <p:spPr>
          <a:xfrm>
            <a:off x="5051394" y="4048217"/>
            <a:ext cx="3089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Km : hours </a:t>
            </a:r>
            <a:endParaRPr lang="en-A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EA2A9-A66C-25D0-1704-601938E84BF5}"/>
              </a:ext>
            </a:extLst>
          </p:cNvPr>
          <p:cNvSpPr txBox="1"/>
          <p:nvPr/>
        </p:nvSpPr>
        <p:spPr>
          <a:xfrm>
            <a:off x="9102571" y="4048217"/>
            <a:ext cx="3089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Km : hours 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905362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9C86F-1AA1-49CB-BDB0-339DF54FF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13"/>
            <a:ext cx="12192000" cy="984207"/>
          </a:xfrm>
        </p:spPr>
        <p:txBody>
          <a:bodyPr>
            <a:normAutofit/>
          </a:bodyPr>
          <a:lstStyle/>
          <a:p>
            <a:r>
              <a:rPr lang="en-US" dirty="0"/>
              <a:t>Notes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6338E-AD91-819E-9696-53D88682C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48153"/>
            <a:ext cx="12192000" cy="452596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4000" b="1" dirty="0">
                <a:solidFill>
                  <a:srgbClr val="00B0F0"/>
                </a:solidFill>
              </a:rPr>
              <a:t>Title of ratios </a:t>
            </a:r>
          </a:p>
          <a:p>
            <a:pPr marL="514350" indent="-514350">
              <a:buAutoNum type="arabicPeriod"/>
            </a:pPr>
            <a:r>
              <a:rPr lang="en-US" sz="4000" b="1" dirty="0">
                <a:solidFill>
                  <a:srgbClr val="00B0F0"/>
                </a:solidFill>
              </a:rPr>
              <a:t>Given ratio (in order) </a:t>
            </a:r>
          </a:p>
          <a:p>
            <a:pPr marL="514350" indent="-514350">
              <a:buAutoNum type="arabicPeriod"/>
            </a:pPr>
            <a:r>
              <a:rPr lang="en-US" sz="4000" b="1" dirty="0">
                <a:solidFill>
                  <a:srgbClr val="00B0F0"/>
                </a:solidFill>
              </a:rPr>
              <a:t>Find single unit and multiply </a:t>
            </a:r>
            <a:endParaRPr lang="en-AU" sz="40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809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9C86F-1AA1-49CB-BDB0-339DF54FF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13"/>
            <a:ext cx="12192000" cy="984207"/>
          </a:xfrm>
        </p:spPr>
        <p:txBody>
          <a:bodyPr>
            <a:normAutofit/>
          </a:bodyPr>
          <a:lstStyle/>
          <a:p>
            <a:r>
              <a:rPr lang="en-US" dirty="0"/>
              <a:t>I do 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A6338E-AD91-819E-9696-53D88682C7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748153"/>
                <a:ext cx="12192000" cy="4525963"/>
              </a:xfrm>
            </p:spPr>
            <p:txBody>
              <a:bodyPr>
                <a:normAutofit/>
              </a:bodyPr>
              <a:lstStyle/>
              <a:p>
                <a:pPr marL="742950" indent="-742950">
                  <a:buAutoNum type="arabicPeriod"/>
                </a:pPr>
                <a:r>
                  <a:rPr lang="en-US" sz="4000" b="1" dirty="0"/>
                  <a:t>Carpet costs $56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sz="40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4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4000" b="1" dirty="0"/>
              </a:p>
              <a:p>
                <a:pPr marL="0" indent="0">
                  <a:buNone/>
                </a:pPr>
                <a:r>
                  <a:rPr lang="en-AU" sz="4000" b="1" dirty="0"/>
                  <a:t>How much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4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1" i="1" smtClean="0">
                            <a:latin typeface="Cambria Math" panose="02040503050406030204" pitchFamily="18" charset="0"/>
                          </a:rPr>
                          <m:t>𝟐𝟐</m:t>
                        </m:r>
                        <m:r>
                          <a:rPr lang="en-US" sz="40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4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000" b="1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sz="4000" b="1" dirty="0"/>
              </a:p>
              <a:p>
                <a:pPr marL="0" indent="0">
                  <a:buNone/>
                </a:pPr>
                <a:endParaRPr lang="en-AU" sz="4000" b="1" dirty="0"/>
              </a:p>
              <a:p>
                <a:pPr marL="0" indent="0">
                  <a:buNone/>
                </a:pPr>
                <a:r>
                  <a:rPr lang="en-AU" sz="4000" b="1" dirty="0"/>
                  <a:t>How much carpet can I get for $882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A6338E-AD91-819E-9696-53D88682C7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748153"/>
                <a:ext cx="12192000" cy="4525963"/>
              </a:xfrm>
              <a:blipFill>
                <a:blip r:embed="rId2"/>
                <a:stretch>
                  <a:fillRect l="-1800" t="-21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15A5C94-5E42-2DD1-8C0F-5DD5F2E24E35}"/>
              </a:ext>
            </a:extLst>
          </p:cNvPr>
          <p:cNvSpPr txBox="1"/>
          <p:nvPr/>
        </p:nvSpPr>
        <p:spPr>
          <a:xfrm>
            <a:off x="8948737" y="270825"/>
            <a:ext cx="29432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1800" b="1" dirty="0">
                <a:solidFill>
                  <a:srgbClr val="00B0F0"/>
                </a:solidFill>
              </a:rPr>
              <a:t>Title of ratios </a:t>
            </a:r>
          </a:p>
          <a:p>
            <a:pPr marL="514350" indent="-514350">
              <a:buAutoNum type="arabicPeriod"/>
            </a:pPr>
            <a:r>
              <a:rPr lang="en-US" sz="1800" b="1" dirty="0">
                <a:solidFill>
                  <a:srgbClr val="00B0F0"/>
                </a:solidFill>
              </a:rPr>
              <a:t>Given ratio (in order) </a:t>
            </a:r>
          </a:p>
          <a:p>
            <a:pPr marL="514350" indent="-514350">
              <a:buAutoNum type="arabicPeriod"/>
            </a:pPr>
            <a:r>
              <a:rPr lang="en-US" sz="1800" b="1" dirty="0">
                <a:solidFill>
                  <a:srgbClr val="00B0F0"/>
                </a:solidFill>
              </a:rPr>
              <a:t>Find single unit and multiply </a:t>
            </a:r>
            <a:endParaRPr lang="en-AU" sz="1800" b="1" dirty="0">
              <a:solidFill>
                <a:srgbClr val="00B0F0"/>
              </a:solidFill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2184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9C86F-1AA1-49CB-BDB0-339DF54FF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13"/>
            <a:ext cx="12192000" cy="984207"/>
          </a:xfrm>
        </p:spPr>
        <p:txBody>
          <a:bodyPr>
            <a:normAutofit/>
          </a:bodyPr>
          <a:lstStyle/>
          <a:p>
            <a:r>
              <a:rPr lang="en-US" dirty="0"/>
              <a:t>We do 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6338E-AD91-819E-9696-53D88682C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48153"/>
            <a:ext cx="12192000" cy="4525963"/>
          </a:xfrm>
        </p:spPr>
        <p:txBody>
          <a:bodyPr>
            <a:normAutofit/>
          </a:bodyPr>
          <a:lstStyle/>
          <a:p>
            <a:pPr marL="742950" indent="-742950">
              <a:buAutoNum type="arabicPeriod"/>
            </a:pPr>
            <a:r>
              <a:rPr lang="en-US" sz="4000" b="1" dirty="0"/>
              <a:t>A sparky costs $650 for 8 hours of work.</a:t>
            </a:r>
          </a:p>
          <a:p>
            <a:pPr marL="0" indent="0">
              <a:buNone/>
            </a:pPr>
            <a:r>
              <a:rPr lang="en-AU" sz="4000" b="1" dirty="0"/>
              <a:t>How much would 3 hours cost? </a:t>
            </a:r>
          </a:p>
          <a:p>
            <a:pPr marL="0" indent="0">
              <a:buNone/>
            </a:pPr>
            <a:endParaRPr lang="en-AU" sz="4000" b="1" dirty="0"/>
          </a:p>
          <a:p>
            <a:pPr marL="0" indent="0">
              <a:buNone/>
            </a:pPr>
            <a:r>
              <a:rPr lang="en-AU" sz="4000" b="1" dirty="0"/>
              <a:t>How long with they work for $1137.50?</a:t>
            </a:r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047E0B-CC82-B836-6DCD-8D07B3074541}"/>
              </a:ext>
            </a:extLst>
          </p:cNvPr>
          <p:cNvSpPr txBox="1"/>
          <p:nvPr/>
        </p:nvSpPr>
        <p:spPr>
          <a:xfrm>
            <a:off x="8948737" y="270825"/>
            <a:ext cx="29432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1800" b="1" dirty="0">
                <a:solidFill>
                  <a:srgbClr val="00B0F0"/>
                </a:solidFill>
              </a:rPr>
              <a:t>Title of ratios </a:t>
            </a:r>
          </a:p>
          <a:p>
            <a:pPr marL="514350" indent="-514350">
              <a:buAutoNum type="arabicPeriod"/>
            </a:pPr>
            <a:r>
              <a:rPr lang="en-US" sz="1800" b="1" dirty="0">
                <a:solidFill>
                  <a:srgbClr val="00B0F0"/>
                </a:solidFill>
              </a:rPr>
              <a:t>Given ratio (in order) </a:t>
            </a:r>
          </a:p>
          <a:p>
            <a:pPr marL="514350" indent="-514350">
              <a:buAutoNum type="arabicPeriod"/>
            </a:pPr>
            <a:r>
              <a:rPr lang="en-US" sz="1800" b="1" dirty="0">
                <a:solidFill>
                  <a:srgbClr val="00B0F0"/>
                </a:solidFill>
              </a:rPr>
              <a:t>Find single unit and multiply </a:t>
            </a:r>
            <a:endParaRPr lang="en-AU" sz="1800" b="1" dirty="0">
              <a:solidFill>
                <a:srgbClr val="00B0F0"/>
              </a:solidFill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479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9C86F-1AA1-49CB-BDB0-339DF54FF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13"/>
            <a:ext cx="12192000" cy="984207"/>
          </a:xfrm>
        </p:spPr>
        <p:txBody>
          <a:bodyPr>
            <a:normAutofit/>
          </a:bodyPr>
          <a:lstStyle/>
          <a:p>
            <a:r>
              <a:rPr lang="en-US" dirty="0"/>
              <a:t>You do 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6338E-AD91-819E-9696-53D88682C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48153"/>
            <a:ext cx="12192000" cy="452596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4000" b="1" dirty="0"/>
              <a:t>Sprite costs $18 for 3.6L </a:t>
            </a:r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r>
              <a:rPr lang="en-US" sz="4000" b="1" dirty="0"/>
              <a:t>How much for 17L?</a:t>
            </a:r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r>
              <a:rPr lang="en-US" sz="4000" b="1" dirty="0"/>
              <a:t>How many L will you get with $210? </a:t>
            </a:r>
            <a:endParaRPr lang="en-AU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5DD88E-7C38-9A8F-9637-F7885D0B0DA3}"/>
              </a:ext>
            </a:extLst>
          </p:cNvPr>
          <p:cNvSpPr txBox="1"/>
          <p:nvPr/>
        </p:nvSpPr>
        <p:spPr>
          <a:xfrm>
            <a:off x="8948737" y="270825"/>
            <a:ext cx="29432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1800" b="1" dirty="0">
                <a:solidFill>
                  <a:srgbClr val="00B0F0"/>
                </a:solidFill>
              </a:rPr>
              <a:t>Title of ratios </a:t>
            </a:r>
          </a:p>
          <a:p>
            <a:pPr marL="514350" indent="-514350">
              <a:buAutoNum type="arabicPeriod"/>
            </a:pPr>
            <a:r>
              <a:rPr lang="en-US" sz="1800" b="1" dirty="0">
                <a:solidFill>
                  <a:srgbClr val="00B0F0"/>
                </a:solidFill>
              </a:rPr>
              <a:t>Given ratio (in order) </a:t>
            </a:r>
          </a:p>
          <a:p>
            <a:pPr marL="514350" indent="-514350">
              <a:buAutoNum type="arabicPeriod"/>
            </a:pPr>
            <a:r>
              <a:rPr lang="en-US" sz="1800" b="1" dirty="0">
                <a:solidFill>
                  <a:srgbClr val="00B0F0"/>
                </a:solidFill>
              </a:rPr>
              <a:t>Find single unit and multiply </a:t>
            </a:r>
            <a:endParaRPr lang="en-AU" sz="1800" b="1" dirty="0">
              <a:solidFill>
                <a:srgbClr val="00B0F0"/>
              </a:solidFill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8123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22A7C-DA32-DB12-C625-593A1CDC2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5 in 5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9BF78-E4FE-FF01-2114-D1B74199B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4139"/>
            <a:ext cx="12192000" cy="4525963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A car travels 400km in 5 hours. How far will it travel in 7 hours?</a:t>
            </a:r>
          </a:p>
          <a:p>
            <a:pPr marL="514350" indent="-514350">
              <a:buAutoNum type="arabicPeriod"/>
            </a:pPr>
            <a:r>
              <a:rPr lang="en-US" dirty="0"/>
              <a:t>Gary was paid $98 for 5 hours. How much will he be paid after 7hrs?</a:t>
            </a:r>
          </a:p>
          <a:p>
            <a:pPr marL="514350" indent="-514350">
              <a:buAutoNum type="arabicPeriod"/>
            </a:pPr>
            <a:r>
              <a:rPr lang="en-US" dirty="0"/>
              <a:t>A tree grew 9cm in 3 months. What will it grow in 17 months?</a:t>
            </a:r>
          </a:p>
          <a:p>
            <a:pPr marL="514350" indent="-514350">
              <a:buAutoNum type="arabicPeriod"/>
            </a:pPr>
            <a:r>
              <a:rPr lang="en-US" dirty="0"/>
              <a:t>Max rode 350km in a week. How far will he travel in 9 days? </a:t>
            </a:r>
          </a:p>
          <a:p>
            <a:pPr marL="514350" indent="-514350">
              <a:buAutoNum type="arabicPeriod"/>
            </a:pPr>
            <a:r>
              <a:rPr lang="en-US" dirty="0"/>
              <a:t>John charges $430 for 6 hours. What would he charge for 11 hours?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94686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C35590-0A2D-285B-04A3-9413EC084F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D6C47F8-B574-1A33-A40D-2075FEEA7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Page 276 </a:t>
            </a:r>
          </a:p>
          <a:p>
            <a:r>
              <a:rPr lang="en-US" dirty="0"/>
              <a:t>Questions 4 – 10 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94076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703</Words>
  <Application>Microsoft Office PowerPoint</Application>
  <PresentationFormat>Widescreen</PresentationFormat>
  <Paragraphs>146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Wingdings</vt:lpstr>
      <vt:lpstr>Office Theme</vt:lpstr>
      <vt:lpstr>1_Office Theme</vt:lpstr>
      <vt:lpstr>Lesson objective </vt:lpstr>
      <vt:lpstr>Simplified rates </vt:lpstr>
      <vt:lpstr>Simplifying rates </vt:lpstr>
      <vt:lpstr>Rates</vt:lpstr>
      <vt:lpstr>Speed as a rate</vt:lpstr>
      <vt:lpstr>Rates </vt:lpstr>
      <vt:lpstr>Notes </vt:lpstr>
      <vt:lpstr>I do  </vt:lpstr>
      <vt:lpstr>We do  </vt:lpstr>
      <vt:lpstr>You do  </vt:lpstr>
      <vt:lpstr>5 in 5 </vt:lpstr>
      <vt:lpstr>Individual 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13</cp:revision>
  <dcterms:created xsi:type="dcterms:W3CDTF">2022-08-02T09:04:14Z</dcterms:created>
  <dcterms:modified xsi:type="dcterms:W3CDTF">2022-08-03T00:02:59Z</dcterms:modified>
</cp:coreProperties>
</file>
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1" r:id="rId3"/>
    <p:sldId id="272" r:id="rId4"/>
    <p:sldId id="320" r:id="rId5"/>
    <p:sldId id="321" r:id="rId6"/>
    <p:sldId id="322" r:id="rId7"/>
    <p:sldId id="323" r:id="rId8"/>
    <p:sldId id="32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12:27:43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 60 24575,'-67'-1'0,"-75"2"0,116 3 0,1 0 0,-1 2 0,-26 10 0,42-13 0,0 1 0,1 1 0,0 0 0,0 0 0,0 0 0,0 1 0,1 1 0,0-1 0,0 1 0,1 1 0,0-1 0,0 1 0,1 1 0,0-1 0,0 1 0,1 0 0,-7 17 0,4-8 0,1 0 0,0 0 0,2 0 0,0 1 0,1-1 0,1 1 0,0 0 0,1 35 0,2 56 0,3 95 0,-1-194 0,-1 1 0,2-1 0,-1 0 0,2 1 0,-1-1 0,2 0 0,-1-1 0,1 1 0,1-1 0,0 0 0,0-1 0,1 1 0,9 8 0,0-1 0,1 0 0,1-2 0,1 0 0,0-1 0,31 16 0,-28-18 0,1 0 0,0-1 0,1-2 0,0 0 0,0-2 0,47 9 0,-22-7 0,-38-6 0,0-1 0,1 0 0,-1-1 0,0 0 0,1 0 0,-1-1 0,0-1 0,20-3 0,-13-1 0,0-1 0,0 0 0,0-1 0,-1-1 0,-1-1 0,1 0 0,-1-1 0,-1-1 0,0 0 0,0-2 0,-1 1 0,-1-2 0,21-25 0,-26 27 0,-1 0 0,-1 0 0,0 0 0,-1-1 0,0 0 0,-1 0 0,0 0 0,-1-1 0,2-17 0,-1-14 0,-3-66 0,-2 82 0,0 18 0,0 0 0,0 1 0,-1-1 0,-1 1 0,1-1 0,-2 1 0,0 0 0,-5-11 0,-8-9 0,-23-35 0,-2 0 0,3-7 0,18 31 0,-2 1 0,-31-41 0,42 68-111,-1 1 1,0 1-1,0 0 0,-1 0 0,-1 2 0,-25-14 1,28 16-480,-9-5-6236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12:27:47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559 8 24575,'-343'0'0,"324"2"0,0 0 0,0 1 0,1 0 0,-1 2 0,1 0 0,-27 12 0,42-15 0,-1 0 0,0 0 0,1 0 0,-1 1 0,1 0 0,0-1 0,0 1 0,0 0 0,0 1 0,0-1 0,1 0 0,0 1 0,-1 0 0,1-1 0,1 1 0,-1 0 0,0 0 0,1 0 0,0 0 0,0 0 0,0 0 0,0 6 0,-1 11 0,1 0 0,1 0 0,3 29 0,0-8 0,-3-23 0,1 1 0,1-1 0,5 24 0,-5-36 0,0-1 0,0 1 0,1-1 0,0 1 0,0-1 0,0 0 0,1 0 0,0-1 0,0 1 0,0-1 0,1 0 0,9 8 0,-6-5 0,0-2 0,0 1 0,1-1 0,0-1 0,0 1 0,1-2 0,-1 1 0,1-1 0,0-1 0,0 1 0,1-2 0,-1 0 0,0 0 0,1 0 0,10-1 0,228-4 0,-169-9 0,-52 6 0,47-2 0,-68 8 0,0-1 0,1 1 0,-1-2 0,0 1 0,0-1 0,1 0 0,-1 0 0,-1-1 0,1 0 0,0 0 0,-1-1 0,1 0 0,-1 0 0,0 0 0,0-1 0,8-8 0,-10 8 0,0 0 0,-1 0 0,1 0 0,-1-1 0,0 0 0,-1 1 0,1-1 0,-1 0 0,0 0 0,0 0 0,-1-1 0,0 1 0,0 0 0,-1-1 0,1 1 0,-1 0 0,-1-1 0,1 1 0,-3-11 0,0 5 0,0 1 0,-1 0 0,0 0 0,-1 0 0,0 0 0,-1 1 0,0 0 0,-13-16 0,-7-5 0,-36-32 0,17 18 0,39 40 17,1 0 0,-1 1-1,0 0 1,0 0 0,-1 0 0,1 1-1,-10-4 1,7 4-392,1-1 0,0 0 1,-13-10-1,9 4-6451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12:27:50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752 78 24575,'-11'1'0,"0"0"0,1 1 0,0 0 0,0 1 0,-1 1 0,2-1 0,-1 1 0,0 1 0,-14 9 0,13-7 0,0-1 0,-1-1 0,1 0 0,-1 0 0,0-1 0,-16 3 0,-103 21 0,28-4 0,98-23 0,0 0 0,0 1 0,0-1 0,0 1 0,0 0 0,1 1 0,-1-1 0,1 1 0,-1 0 0,1 0 0,0 0 0,0 1 0,0-1 0,1 1 0,-1 0 0,1 0 0,-5 8 0,-1 4 0,1 1 0,1 0 0,-9 31 0,-4 8 0,-10 18 0,-52 113 0,71-164 0,3-7 0,0 0 0,1 0 0,-9 31 0,16-42 0,-1 1 0,1 0 0,0-1 0,1 1 0,-1 0 0,1-1 0,0 1 0,1 0 0,-1-1 0,1 0 0,0 1 0,1-1 0,-1 0 0,1 0 0,0 0 0,0 0 0,0-1 0,1 1 0,7 6 0,-5-5 0,0 0 0,0 0 0,1-1 0,0 0 0,0 0 0,0-1 0,0 0 0,1 0 0,0-1 0,0 0 0,0 0 0,14 2 0,77 8 0,141-2 0,-190-12 0,0-2 0,0-3 0,0-2 0,82-24 0,-76 14 0,-1-2 0,-1-3 0,-2-2 0,98-62 0,-142 81 0,-1-1 0,1-1 0,-1 1 0,0-1 0,-1 0 0,0-1 0,9-14 0,-5 4 0,-1 1 0,12-37 0,-18 45 0,-1 0 0,0-1 0,0 1 0,-1 0 0,-1-1 0,1 1 0,-2-1 0,0 1 0,0-1 0,0 1 0,-2 0 0,1 0 0,-1 0 0,-1 0 0,1 0 0,-8-11 0,-2-2 0,-1 1 0,-1 0 0,-1 1 0,-1 1 0,-23-22 0,15 17 0,-101-93 0,110 105 0,-1 1 0,0 1 0,0 0 0,-1 2 0,-1 0 0,-27-10 0,6 5 17,-30-9-1399,50 20-5444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12:28:12.3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630 110 24575,'-94'-2'0,"-100"5"0,179-1 0,1 2 0,0-1 0,0 2 0,0 0 0,1 0 0,-23 14 0,-24 9 0,46-23 0,1 0 0,1 1 0,-1 0 0,1 1 0,0 1 0,-18 14 0,25-17 0,0 0 0,0 0 0,1 1 0,-1-1 0,1 1 0,0 1 0,1-1 0,0 0 0,0 1 0,0-1 0,1 1 0,-1 0 0,2 0 0,-3 12 0,2 15 0,2 0 0,1 0 0,2-1 0,10 52 0,-1 0 0,-8-64 0,1 0 0,0-1 0,10 24 0,6 20 0,-17-54 0,0-1 0,0 1 0,1-1 0,0 0 0,1 0 0,12 15 0,5 7 0,-5-3 0,1-1 0,1 0 0,2-1 0,0-2 0,52 44 0,-60-59 0,1-1 0,0-1 0,0 0 0,26 7 0,15 7 0,-21-7 0,1-1 0,0-2 0,70 12 0,-64-18 0,1-2 0,0-3 0,56-5 0,-89 3 0,0 0 0,0 0 0,0-1 0,-1-1 0,1 0 0,-1 0 0,0-1 0,13-9 0,-9 6 0,1 1 0,23-11 0,-19 13 0,-1-2 0,0-1 0,19-10 0,-31 14 0,0 1 0,0-1 0,0-1 0,0 1 0,0-1 0,-1 1 0,0-1 0,0-1 0,0 1 0,-1 0 0,1-1 0,3-9 0,0-5 0,-1 0 0,-1 0 0,0-1 0,-2 0 0,2-29 0,-5 44 0,12-78 0,-6 50 0,2-58 0,-12-93 0,1 153 0,-1 1 0,-1 0 0,-18-56 0,18 76 0,0-1 0,-1 2 0,0-1 0,-1 1 0,0 0 0,-1 0 0,-16-15 0,-13-18 0,27 33 0,1 0 0,-1 1 0,-1 0 0,-22-15 0,-13-10 0,28 17 0,-2 2 0,0 0 0,-30-16 0,41 26 0,1 1 0,-2 0 0,1 1 0,0 0 0,0 0 0,-1 1 0,0 0 0,1 1 0,-1 0 0,0 1 0,-16 1 0,20 0-1,0 1-1,0 0 0,0 0 0,1 1 1,-1 0-1,1 0 0,0 0 0,0 1 1,0-1-1,0 1 0,-8 9 0,-11 7-1342,11-11-5482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12:28:22.6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688 29 24575,'-16'1'0,"1"0"0,0 1 0,0 0 0,0 1 0,1 1 0,-1 0 0,1 1 0,0 1 0,-26 13 0,3 5 0,0 1 0,-34 32 0,40-33 0,0-2 0,-53 29 0,47-30 0,-40 30 0,67-44 0,0 1 0,1 0 0,0 1 0,0 0 0,1 1 0,1 0 0,-1 0 0,-7 16 0,10-16 0,1 0 0,1 1 0,0-1 0,0 1 0,1 0 0,0-1 0,0 14 0,3 79 0,1-50 0,0-17 0,2 1 0,14 67 0,31 67 0,5 26 0,-50-180 0,0 0 0,1-1 0,0 0 0,2 0 0,0 0 0,0-1 0,2 0 0,0 0 0,0-1 0,2 0 0,-1-1 0,2 0 0,0-1 0,0 0 0,1-1 0,1 0 0,0-1 0,0-1 0,23 12 0,111 57 0,-137-74 0,-1 0 0,1 0 0,0 0 0,0-2 0,0 1 0,0-2 0,23 2 0,-11-3 0,1-1 0,43-7 0,-28-1 0,1-3 0,-2-1 0,47-22 0,35-13 0,70-32 0,-51 18 0,15-6 0,-122 54 0,0-2 0,-2-1 0,55-41 0,-38 25 0,19-12 0,-1-2 0,-3-4 0,-2-2 0,66-76 0,-116 117 0,-1-1 0,0 0 0,0 0 0,-1-1 0,9-24 0,-14 31 0,0-1 0,-1 0 0,0 0 0,-1-1 0,1 1 0,-2 0 0,1-1 0,-1 1 0,0 0 0,-1 0 0,0-1 0,-3-10 0,-1 1 0,-1-1 0,-1 1 0,0 0 0,-1 1 0,-1-1 0,-1 2 0,0-1 0,-2 2 0,1-1 0,-2 2 0,0-1 0,-1 2 0,-15-13 0,-25-16 0,-2 2 0,-2 2 0,-89-43 0,-55-1 0,173 73 0,-1 1 0,0 2 0,0 0 0,0 3 0,-36-1 0,38 2 0,0-1 0,0-1 0,-46-14 0,45 11 0,0 0 0,0 2 0,-37-2 0,-196 8-1365,239-1-5461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8-07T12:28:25.6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289 26 24575,'-5'2'0,"0"1"0,1 0 0,-1 0 0,1 0 0,0 1 0,0-1 0,0 1 0,0 0 0,0 0 0,-2 5 0,-8 11 0,1 0 0,0 1 0,2 1 0,1 0 0,-15 44 0,17-43 0,-52 110 0,51-111 0,-21 39 0,20-43 0,1 0 0,-10 29 0,17-40 0,0 1 0,0 0 0,1 0 0,0 0 0,0-1 0,1 1 0,0 0 0,1 0 0,-1 0 0,3 8 0,1 3 0,1 7 0,1-1 0,11 28 0,-14-46 0,0 1 0,0-1 0,1 0 0,0-1 0,1 1 0,0-1 0,0 0 0,0 0 0,0 0 0,1 0 0,8 5 0,2 0 0,-1-2 0,1 0 0,1 0 0,-1-2 0,1 0 0,1-1 0,22 5 0,-10-5 0,0-2 0,1-1 0,47-2 0,-35-1 0,-8 0 0,1-1 0,52-9 0,-77 7 0,1 1 0,-1-2 0,0 0 0,0 0 0,0-1 0,-1 0 0,1-1 0,-1 0 0,-1 0 0,1-1 0,13-14 0,-12 10 0,0 0 0,-1-1 0,0-1 0,-2 0 0,1 0 0,-1-1 0,-1 0 0,8-22 0,-11 26 0,-2 0 0,1 0 0,-1 0 0,-1 0 0,0 0 0,0-1 0,-1 1 0,0 0 0,-1 0 0,0 0 0,-1-1 0,0 1 0,0 0 0,-5-10 0,-29-59 0,-3 2 0,-89-132 0,63 108 0,62 96 0,1 0 0,-1 0 0,0 0 0,-1 1 0,1-1 0,-1 1 0,0 0 0,0 0 0,0 0 0,0 0 0,-1 1 0,1 0 0,-1 0 0,0 0 0,0 1 0,0-1 0,0 1 0,-11-2 0,-4-1-116,6 0-23,0 2 0,-1-1 0,0 2 1,0 0-1,0 1 0,0 0 0,0 1 1,-23 4-1,21 1-6687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5B48C-1B9E-4039-ACFA-9EBF58EAF5BF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C6136-F20A-43B9-92FC-D15CB53B40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165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Probability of blue eyes are brown hair </a:t>
            </a:r>
          </a:p>
          <a:p>
            <a:r>
              <a:rPr lang="en-US" dirty="0"/>
              <a:t>Probability of blue eyes or brown hair </a:t>
            </a:r>
          </a:p>
          <a:p>
            <a:r>
              <a:rPr lang="en-US" dirty="0"/>
              <a:t>Probability of not having brown hair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21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Probability of blue eyes are brown hair </a:t>
            </a:r>
          </a:p>
          <a:p>
            <a:r>
              <a:rPr lang="en-US" dirty="0"/>
              <a:t>Probability of blue eyes or brown hair </a:t>
            </a:r>
          </a:p>
          <a:p>
            <a:r>
              <a:rPr lang="en-US" dirty="0"/>
              <a:t>Probability of not having brown hair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5721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A1E5-543A-ADE5-FF02-8F54B5237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3B4D3-33BE-636E-B3B8-6D163A372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52B9D-8F6A-DDE9-7ED8-ADDACBDE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8FD53-6C52-3B7D-17E0-AE57C1DF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59C09-4AF2-D82E-4AE5-0BE01AC0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53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C0E7-26DC-F197-1931-07D11DC7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DD121-6371-E359-F1D1-C574E2A3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B31B4-33A0-AE0E-9C31-C5899377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F6E91-82A1-22BA-FDC1-47E7F318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0A3D-60BA-F43E-1FED-FBC33FAE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93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05B0-3CE3-8DAE-5F13-872D7FA8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4DDAA-6BFB-1916-8345-5DA737F88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518ED-7071-3EEC-0ED1-4508FE06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88EA4-D819-42F0-7C62-F02C8802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F0643-5742-F8D7-E1EF-70B78F254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49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B486-B274-7715-5E2F-9101F764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93694-25DA-D49D-6A30-58692F2AE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6DEAB-7E1A-9DFC-E4A1-3181E697C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C0766-0942-5816-3281-A402AFBA7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A2442-8CA5-9CBA-54C1-BF128CFD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77655-C35C-04E4-092E-98FDE8E7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75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E6C3-DC53-5EED-2E01-75639E995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1DEC7-789C-FA4A-6E35-EACCBB72A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3A305-1360-9D4D-7A60-31B4BB496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396A0-9DAB-EE67-7C1C-29D400A1D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830C5-3979-6CB6-A507-479A9B5F4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B22BB8-47B4-5BAA-3D6F-0BDAAD91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7585F-366B-B5DA-DA00-8BF71F3E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092E3-957B-9A5A-220C-D58E7D4C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050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D157-F5CD-A512-F3DF-E2104626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81B5F-FF3B-7FFA-9CE2-8AE4204D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111D2-1536-8760-51DC-04C016AD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5B6AF-9E26-8877-219E-3F436B58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877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7E02D-59A2-5C71-693D-3C8893951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855F9-D24E-A8C9-D2E2-C13267D2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562B2-C615-9444-8EA0-702153F6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27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7FBE-9F7F-8161-605B-8126F40E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B91FB-6EC7-3C8D-6E4B-A66B872F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8D991-6E6A-AE5B-30C7-71B221480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A773C-59EF-22AE-C20A-055C9E7F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74A21-233F-5E79-9ED1-0E8EF009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4D352-FA20-4F43-A611-E4747BB3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08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3A86-C634-C3A8-A510-42901BC8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DAE09-4D93-506D-800D-04028393B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286CC-7802-7D83-2C76-7B08D1CBC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A3474-028E-7D82-B958-10B33BEE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BC98D-8FBD-A20E-A278-06FDE4FA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AB020-4526-AF20-CDFF-20685434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90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92FE-5A26-D54B-EA93-94FBD20C2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FCE04-56F6-36C4-FB1A-DFA6F846E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493B7-26EF-7B30-5CAC-E3CCA718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A33FF-9814-0C03-A66F-97BFDE89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A948-29F9-7887-BCF6-EED04A89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3867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54628-B296-499D-C89D-2176D71F7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DCA8D-251E-566A-9AA2-C4A17E824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403FC-1BFB-E29E-38E4-169BF420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672F4-3C69-0E38-1DC0-91ED7F40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6AE56-7FD9-47A6-CDA6-AD4A0227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963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13BC91-F6D0-4DC8-B0B8-6E7E7FAB6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55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F0A66-97FC-7192-A3F3-89F9330A3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2F8A4-EA5B-B99F-FDC8-23922A1E5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9487B-7F14-13B3-5709-5E129D2A4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6B0EC-CE37-466D-BEFA-681C4CB1BD37}" type="datetimeFigureOut">
              <a:rPr lang="en-AU" smtClean="0"/>
              <a:t>8/08/2022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3F617-F5E5-9A44-24D4-1F7B00D55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C9D2E-C63E-DA95-3F34-BA4A0F328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D782E-FD4C-41E9-9B1C-53B8EFC4E7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47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9418EB-52E1-A515-67C4-2D46E0D0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3B9E3C-729C-77B4-3D44-63AE6009E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Time revision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Use written strategies to determine periods of time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Venn diagrams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Time strategies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Notes page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1AA04-4013-FB65-8409-A4379F4939C7}"/>
              </a:ext>
            </a:extLst>
          </p:cNvPr>
          <p:cNvSpPr txBox="1"/>
          <p:nvPr/>
        </p:nvSpPr>
        <p:spPr>
          <a:xfrm>
            <a:off x="7202077" y="593889"/>
            <a:ext cx="38744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Respect – listening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Learn – seek help when needed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706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767-7501-43FB-A85A-F5F6C3C8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Venn diagram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7ED5F-9AD9-48BF-A714-6170761F63F9}"/>
              </a:ext>
            </a:extLst>
          </p:cNvPr>
          <p:cNvSpPr/>
          <p:nvPr/>
        </p:nvSpPr>
        <p:spPr>
          <a:xfrm>
            <a:off x="1452979" y="226380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F8159-4B82-4300-A724-C6522FD8D51C}"/>
              </a:ext>
            </a:extLst>
          </p:cNvPr>
          <p:cNvSpPr/>
          <p:nvPr/>
        </p:nvSpPr>
        <p:spPr>
          <a:xfrm>
            <a:off x="5467165" y="2170083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0AFB-52DE-4EDC-9F76-3F6A795B0570}"/>
              </a:ext>
            </a:extLst>
          </p:cNvPr>
          <p:cNvSpPr txBox="1"/>
          <p:nvPr/>
        </p:nvSpPr>
        <p:spPr>
          <a:xfrm>
            <a:off x="3606291" y="2352583"/>
            <a:ext cx="107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Blue eyes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DF30-556E-4F67-A90C-EFE8CE4DD23C}"/>
              </a:ext>
            </a:extLst>
          </p:cNvPr>
          <p:cNvSpPr txBox="1"/>
          <p:nvPr/>
        </p:nvSpPr>
        <p:spPr>
          <a:xfrm>
            <a:off x="7766696" y="2263805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Brown hair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1E5BE-4500-4A0E-9432-3D16A339512F}"/>
              </a:ext>
            </a:extLst>
          </p:cNvPr>
          <p:cNvSpPr txBox="1"/>
          <p:nvPr/>
        </p:nvSpPr>
        <p:spPr>
          <a:xfrm>
            <a:off x="5761798" y="324433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Both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8EFA5-E445-4FE1-AB5D-86B9CA08EC9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CAEE4-694A-480B-A11D-C06C466A6B43}"/>
              </a:ext>
            </a:extLst>
          </p:cNvPr>
          <p:cNvSpPr txBox="1"/>
          <p:nvPr/>
        </p:nvSpPr>
        <p:spPr>
          <a:xfrm>
            <a:off x="284843" y="1060373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________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A3C03-726E-4E42-8F6B-A827B7435E6E}"/>
              </a:ext>
            </a:extLst>
          </p:cNvPr>
          <p:cNvSpPr txBox="1"/>
          <p:nvPr/>
        </p:nvSpPr>
        <p:spPr>
          <a:xfrm>
            <a:off x="3606290" y="3497344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E32C0-AFAD-49E9-9F48-F6358F963E07}"/>
              </a:ext>
            </a:extLst>
          </p:cNvPr>
          <p:cNvSpPr txBox="1"/>
          <p:nvPr/>
        </p:nvSpPr>
        <p:spPr>
          <a:xfrm>
            <a:off x="5868846" y="4078821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1F4F47-0123-4103-A71F-C8D3B321403B}"/>
              </a:ext>
            </a:extLst>
          </p:cNvPr>
          <p:cNvSpPr txBox="1"/>
          <p:nvPr/>
        </p:nvSpPr>
        <p:spPr>
          <a:xfrm>
            <a:off x="7910727" y="3429000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51D56-185D-44BC-B041-37106B5BC36E}"/>
              </a:ext>
            </a:extLst>
          </p:cNvPr>
          <p:cNvSpPr txBox="1"/>
          <p:nvPr/>
        </p:nvSpPr>
        <p:spPr>
          <a:xfrm>
            <a:off x="731750" y="6030452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7B0E5-EC30-4151-935E-45C3BC80AF3E}"/>
              </a:ext>
            </a:extLst>
          </p:cNvPr>
          <p:cNvSpPr txBox="1"/>
          <p:nvPr/>
        </p:nvSpPr>
        <p:spPr>
          <a:xfrm>
            <a:off x="914697" y="851256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87EBA-107D-4032-A274-32D3DC26FEC4}"/>
              </a:ext>
            </a:extLst>
          </p:cNvPr>
          <p:cNvSpPr txBox="1"/>
          <p:nvPr/>
        </p:nvSpPr>
        <p:spPr>
          <a:xfrm>
            <a:off x="213267" y="1616780"/>
            <a:ext cx="2605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people had blue eyes</a:t>
            </a:r>
          </a:p>
          <a:p>
            <a:r>
              <a:rPr lang="en-US" dirty="0"/>
              <a:t>27 people had brown hair</a:t>
            </a:r>
          </a:p>
          <a:p>
            <a:r>
              <a:rPr lang="en-US" dirty="0"/>
              <a:t>12 had both</a:t>
            </a:r>
          </a:p>
          <a:p>
            <a:r>
              <a:rPr lang="en-US" dirty="0"/>
              <a:t>5 had neither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869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767-7501-43FB-A85A-F5F6C3C8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Venn diagram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7ED5F-9AD9-48BF-A714-6170761F63F9}"/>
              </a:ext>
            </a:extLst>
          </p:cNvPr>
          <p:cNvSpPr/>
          <p:nvPr/>
        </p:nvSpPr>
        <p:spPr>
          <a:xfrm>
            <a:off x="1452979" y="226380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F8159-4B82-4300-A724-C6522FD8D51C}"/>
              </a:ext>
            </a:extLst>
          </p:cNvPr>
          <p:cNvSpPr/>
          <p:nvPr/>
        </p:nvSpPr>
        <p:spPr>
          <a:xfrm>
            <a:off x="5467165" y="2170083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0AFB-52DE-4EDC-9F76-3F6A795B0570}"/>
              </a:ext>
            </a:extLst>
          </p:cNvPr>
          <p:cNvSpPr txBox="1"/>
          <p:nvPr/>
        </p:nvSpPr>
        <p:spPr>
          <a:xfrm>
            <a:off x="3606291" y="2352583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AU" dirty="0" err="1">
                <a:solidFill>
                  <a:prstClr val="black"/>
                </a:solidFill>
                <a:latin typeface="Calibri" panose="020F0502020204030204"/>
              </a:rPr>
              <a:t>ishing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DF30-556E-4F67-A90C-EFE8CE4DD23C}"/>
              </a:ext>
            </a:extLst>
          </p:cNvPr>
          <p:cNvSpPr txBox="1"/>
          <p:nvPr/>
        </p:nvSpPr>
        <p:spPr>
          <a:xfrm>
            <a:off x="7766696" y="2263805"/>
            <a:ext cx="1021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A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rabbing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1E5BE-4500-4A0E-9432-3D16A339512F}"/>
              </a:ext>
            </a:extLst>
          </p:cNvPr>
          <p:cNvSpPr txBox="1"/>
          <p:nvPr/>
        </p:nvSpPr>
        <p:spPr>
          <a:xfrm>
            <a:off x="5761798" y="324433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Both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8EFA5-E445-4FE1-AB5D-86B9CA08EC9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CAEE4-694A-480B-A11D-C06C466A6B43}"/>
              </a:ext>
            </a:extLst>
          </p:cNvPr>
          <p:cNvSpPr txBox="1"/>
          <p:nvPr/>
        </p:nvSpPr>
        <p:spPr>
          <a:xfrm>
            <a:off x="284843" y="1060373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________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A3C03-726E-4E42-8F6B-A827B7435E6E}"/>
              </a:ext>
            </a:extLst>
          </p:cNvPr>
          <p:cNvSpPr txBox="1"/>
          <p:nvPr/>
        </p:nvSpPr>
        <p:spPr>
          <a:xfrm>
            <a:off x="3606290" y="3497344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</a:t>
            </a:r>
            <a:r>
              <a:rPr lang="en-AU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E32C0-AFAD-49E9-9F48-F6358F963E07}"/>
              </a:ext>
            </a:extLst>
          </p:cNvPr>
          <p:cNvSpPr txBox="1"/>
          <p:nvPr/>
        </p:nvSpPr>
        <p:spPr>
          <a:xfrm>
            <a:off x="5868846" y="4078821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19</a:t>
            </a:r>
            <a:endParaRPr lang="en-AU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1F4F47-0123-4103-A71F-C8D3B321403B}"/>
              </a:ext>
            </a:extLst>
          </p:cNvPr>
          <p:cNvSpPr txBox="1"/>
          <p:nvPr/>
        </p:nvSpPr>
        <p:spPr>
          <a:xfrm>
            <a:off x="7910727" y="3429000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51D56-185D-44BC-B041-37106B5BC36E}"/>
              </a:ext>
            </a:extLst>
          </p:cNvPr>
          <p:cNvSpPr txBox="1"/>
          <p:nvPr/>
        </p:nvSpPr>
        <p:spPr>
          <a:xfrm>
            <a:off x="731750" y="6030452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14</a:t>
            </a:r>
            <a:endParaRPr lang="en-AU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7B0E5-EC30-4151-935E-45C3BC80AF3E}"/>
              </a:ext>
            </a:extLst>
          </p:cNvPr>
          <p:cNvSpPr txBox="1"/>
          <p:nvPr/>
        </p:nvSpPr>
        <p:spPr>
          <a:xfrm>
            <a:off x="914697" y="851256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</a:t>
            </a:r>
            <a:r>
              <a:rPr lang="en-AU" sz="3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2991F-B832-012D-C7BC-29E3B11F8721}"/>
              </a:ext>
            </a:extLst>
          </p:cNvPr>
          <p:cNvSpPr txBox="1"/>
          <p:nvPr/>
        </p:nvSpPr>
        <p:spPr>
          <a:xfrm>
            <a:off x="386498" y="1866507"/>
            <a:ext cx="2780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(fishing and crabbing)</a:t>
            </a:r>
          </a:p>
          <a:p>
            <a:r>
              <a:rPr lang="en-US" dirty="0"/>
              <a:t>P (Fishing or crabbing)</a:t>
            </a:r>
          </a:p>
          <a:p>
            <a:r>
              <a:rPr lang="en-US" dirty="0"/>
              <a:t>P (Not fishing)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432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E74A6-68F5-04F0-E952-A7D3DF0A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4" y="393734"/>
            <a:ext cx="8004388" cy="58979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F1B215-958D-B119-1385-FA8E468395D3}"/>
              </a:ext>
            </a:extLst>
          </p:cNvPr>
          <p:cNvSpPr txBox="1"/>
          <p:nvPr/>
        </p:nvSpPr>
        <p:spPr>
          <a:xfrm>
            <a:off x="8191893" y="754144"/>
            <a:ext cx="35821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long does it take for Route 71 to get from Diagon Alley to Hogsmeade? </a:t>
            </a:r>
          </a:p>
          <a:p>
            <a:endParaRPr lang="en-US" sz="2400" b="1" dirty="0"/>
          </a:p>
          <a:p>
            <a:r>
              <a:rPr lang="en-US" sz="2400" b="1" dirty="0"/>
              <a:t>How long does it take Route 61? 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How much faster is Route 61?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52556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26DB9-5721-2EA5-2D4A-D444DD15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questions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D00E-0BE1-79EA-DD23-A00541FD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Jack works for 7 and a half hours. If he starts at 6:25am, what time does he finish?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Jane catches a train at 0840 and arrives at her station at 1530. How long was the train trip?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The Simpsons movie runs for 87 minutes. If we start watching it at 2:40pm, when will it finish?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158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637CE-8ED0-F31D-1EB6-06276FF8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013B0-435B-39D2-98F2-977C84B42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What time is it 2 and a half hours after 4:45pm?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Mr. Davies gets to school at 7:45am, he leaves at 5:25pm. How long was he at school? 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How much time has passed between 0950 and 1435?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80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CE86-A39F-F881-81DD-B197D8E5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359E6-2EEC-FB9F-1305-F98F1E7F1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6" y="1205303"/>
            <a:ext cx="6096528" cy="34292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3C84DB-6BB4-7E2C-6B45-9613DD536A23}"/>
              </a:ext>
            </a:extLst>
          </p:cNvPr>
          <p:cNvSpPr txBox="1"/>
          <p:nvPr/>
        </p:nvSpPr>
        <p:spPr>
          <a:xfrm>
            <a:off x="533400" y="4953000"/>
            <a:ext cx="3876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 (blue eyes or brown hair) = 35/40</a:t>
            </a:r>
          </a:p>
          <a:p>
            <a:r>
              <a:rPr lang="en-US" dirty="0">
                <a:solidFill>
                  <a:srgbClr val="92D050"/>
                </a:solidFill>
              </a:rPr>
              <a:t>P (blue eyes and brown hair) = 12/40</a:t>
            </a:r>
          </a:p>
          <a:p>
            <a:r>
              <a:rPr lang="en-US" dirty="0">
                <a:solidFill>
                  <a:srgbClr val="00B0F0"/>
                </a:solidFill>
              </a:rPr>
              <a:t>P (not blue eyes) = 20/40 </a:t>
            </a:r>
            <a:endParaRPr lang="en-AU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CA9290A-0FE9-542A-8DEB-1D3FC6A1EE8E}"/>
                  </a:ext>
                </a:extLst>
              </p14:cNvPr>
              <p14:cNvContentPartPr/>
              <p14:nvPr/>
            </p14:nvContentPartPr>
            <p14:xfrm>
              <a:off x="1846032" y="2966612"/>
              <a:ext cx="322560" cy="39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CA9290A-0FE9-542A-8DEB-1D3FC6A1EE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7392" y="2957612"/>
                <a:ext cx="34020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D41218B-04BF-8B05-AB1C-CA9EB08C3090}"/>
                  </a:ext>
                </a:extLst>
              </p14:cNvPr>
              <p14:cNvContentPartPr/>
              <p14:nvPr/>
            </p14:nvContentPartPr>
            <p14:xfrm>
              <a:off x="3032232" y="3296372"/>
              <a:ext cx="296640" cy="19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D41218B-04BF-8B05-AB1C-CA9EB08C30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23592" y="3287372"/>
                <a:ext cx="3142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70752C4-B16E-BFA2-8E97-C05C040E3340}"/>
                  </a:ext>
                </a:extLst>
              </p14:cNvPr>
              <p14:cNvContentPartPr/>
              <p14:nvPr/>
            </p14:nvContentPartPr>
            <p14:xfrm>
              <a:off x="4008912" y="2903612"/>
              <a:ext cx="468720" cy="357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70752C4-B16E-BFA2-8E97-C05C040E33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99912" y="2894612"/>
                <a:ext cx="4863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399B335-6215-D90A-87F0-F25C4BFEA63B}"/>
                  </a:ext>
                </a:extLst>
              </p14:cNvPr>
              <p14:cNvContentPartPr/>
              <p14:nvPr/>
            </p14:nvContentPartPr>
            <p14:xfrm>
              <a:off x="2930712" y="3174692"/>
              <a:ext cx="463680" cy="456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399B335-6215-D90A-87F0-F25C4BFEA6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21712" y="3166052"/>
                <a:ext cx="48132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AB979EC-61C4-7251-3DDF-4899F76BF8A4}"/>
                  </a:ext>
                </a:extLst>
              </p14:cNvPr>
              <p14:cNvContentPartPr/>
              <p14:nvPr/>
            </p14:nvContentPartPr>
            <p14:xfrm>
              <a:off x="3937992" y="2836292"/>
              <a:ext cx="793440" cy="587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AB979EC-61C4-7251-3DDF-4899F76BF8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29352" y="2827652"/>
                <a:ext cx="81108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5334CE8-965A-8611-0332-574659B26BB8}"/>
                  </a:ext>
                </a:extLst>
              </p14:cNvPr>
              <p14:cNvContentPartPr/>
              <p14:nvPr/>
            </p14:nvContentPartPr>
            <p14:xfrm>
              <a:off x="451752" y="4175852"/>
              <a:ext cx="312480" cy="340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5334CE8-965A-8611-0332-574659B26BB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2752" y="4166852"/>
                <a:ext cx="330120" cy="35784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68A5222-4818-8302-E4F5-9305571CE6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4925" y="4752729"/>
            <a:ext cx="7077075" cy="19716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E0785C-47AC-FECB-B9F0-FF0AC4E21D9B}"/>
              </a:ext>
            </a:extLst>
          </p:cNvPr>
          <p:cNvSpPr txBox="1"/>
          <p:nvPr/>
        </p:nvSpPr>
        <p:spPr>
          <a:xfrm>
            <a:off x="6956981" y="1690688"/>
            <a:ext cx="47832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Ratio</a:t>
            </a:r>
          </a:p>
          <a:p>
            <a:r>
              <a:rPr lang="en-US" sz="2400" dirty="0"/>
              <a:t>Title		</a:t>
            </a: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	boy : girls </a:t>
            </a:r>
          </a:p>
          <a:p>
            <a:r>
              <a:rPr lang="en-US" sz="2400" dirty="0"/>
              <a:t>Ratio 		   </a:t>
            </a: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        12 : 18</a:t>
            </a:r>
          </a:p>
          <a:p>
            <a:r>
              <a:rPr lang="en-US" sz="2400" dirty="0"/>
              <a:t>Simplified 	</a:t>
            </a:r>
            <a:r>
              <a:rPr lang="en-US" sz="2400" dirty="0">
                <a:sym typeface="Wingdings" panose="05000000000000000000" pitchFamily="2" charset="2"/>
              </a:rPr>
              <a:t></a:t>
            </a:r>
            <a:r>
              <a:rPr lang="en-US" sz="2400" dirty="0"/>
              <a:t>	     2 : 3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44822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DAA8-5A50-3262-A93E-889CEF5A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continued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C02AC-95BC-5761-E85E-B63F8A3833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4629" y="2042442"/>
            <a:ext cx="68163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SHARING with ratio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together the total number of parts of the ratio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Divide the given amount by the total number of parts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Multiply the answer by each ratio amount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 that your answers add up to the same total given in the question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05CAFB-92D6-5A8C-06C5-6DEFE1A384FF}"/>
                  </a:ext>
                </a:extLst>
              </p:cNvPr>
              <p:cNvSpPr txBox="1"/>
              <p:nvPr/>
            </p:nvSpPr>
            <p:spPr>
              <a:xfrm>
                <a:off x="1451728" y="5003141"/>
                <a:ext cx="543926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E.g. Share 100 into the ratio of </a:t>
                </a:r>
                <a:r>
                  <a:rPr lang="en-US" dirty="0">
                    <a:solidFill>
                      <a:srgbClr val="FF0000"/>
                    </a:solidFill>
                  </a:rPr>
                  <a:t>4</a:t>
                </a:r>
                <a:r>
                  <a:rPr lang="en-US" dirty="0"/>
                  <a:t> : </a:t>
                </a:r>
                <a:r>
                  <a:rPr lang="en-US" dirty="0">
                    <a:solidFill>
                      <a:srgbClr val="00B0F0"/>
                    </a:solidFill>
                  </a:rPr>
                  <a:t>6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342900" indent="-342900"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4</a:t>
                </a:r>
                <a:r>
                  <a:rPr lang="en-US" dirty="0"/>
                  <a:t> + </a:t>
                </a:r>
                <a:r>
                  <a:rPr lang="en-US" dirty="0">
                    <a:solidFill>
                      <a:srgbClr val="00B0F0"/>
                    </a:solidFill>
                  </a:rPr>
                  <a:t>6</a:t>
                </a:r>
                <a:r>
                  <a:rPr lang="en-US" dirty="0"/>
                  <a:t> = 10 </a:t>
                </a: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÷10=10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             10 ×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 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05CAFB-92D6-5A8C-06C5-6DEFE1A38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728" y="5003141"/>
                <a:ext cx="5439266" cy="1477328"/>
              </a:xfrm>
              <a:prstGeom prst="rect">
                <a:avLst/>
              </a:prstGeom>
              <a:blipFill>
                <a:blip r:embed="rId2"/>
                <a:stretch>
                  <a:fillRect l="-897" t="-2479"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AB9C786-4B21-7718-B6A2-8561F192BD98}"/>
              </a:ext>
            </a:extLst>
          </p:cNvPr>
          <p:cNvSpPr txBox="1"/>
          <p:nvPr/>
        </p:nvSpPr>
        <p:spPr>
          <a:xfrm>
            <a:off x="7305773" y="2042442"/>
            <a:ext cx="4374037" cy="193899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Simplifying ratios (NO DECIMALS)</a:t>
            </a: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e.g. 		7 : 21</a:t>
            </a:r>
          </a:p>
          <a:p>
            <a:pPr eaLnBrk="1" hangingPunct="1">
              <a:buNone/>
              <a:defRPr/>
            </a:pPr>
            <a:endParaRPr lang="en-GB" sz="24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2400" b="1" dirty="0">
                <a:solidFill>
                  <a:srgbClr val="002060"/>
                </a:solidFill>
              </a:rPr>
              <a:t>So		1 : 3		</a:t>
            </a:r>
            <a:endParaRPr lang="en-GB" sz="2000" dirty="0">
              <a:solidFill>
                <a:srgbClr val="002060"/>
              </a:solidFill>
            </a:endParaRPr>
          </a:p>
          <a:p>
            <a:pPr algn="ctr"/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FF36D-4D15-B5C8-16CE-D7458D5105EC}"/>
              </a:ext>
            </a:extLst>
          </p:cNvPr>
          <p:cNvSpPr txBox="1"/>
          <p:nvPr/>
        </p:nvSpPr>
        <p:spPr>
          <a:xfrm>
            <a:off x="10225627" y="2596439"/>
            <a:ext cx="2040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THINK: what number goes into both numbers? </a:t>
            </a:r>
            <a:endParaRPr lang="en-AU" sz="1600" b="1" dirty="0">
              <a:highlight>
                <a:srgbClr val="FFFF00"/>
              </a:highligh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C89CBDB-618C-0298-F69E-85A420AE01D7}"/>
              </a:ext>
            </a:extLst>
          </p:cNvPr>
          <p:cNvSpPr/>
          <p:nvPr/>
        </p:nvSpPr>
        <p:spPr>
          <a:xfrm>
            <a:off x="8748074" y="2642883"/>
            <a:ext cx="348792" cy="704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B67B328-2AD2-D809-1858-CF81360E2264}"/>
              </a:ext>
            </a:extLst>
          </p:cNvPr>
          <p:cNvSpPr/>
          <p:nvPr/>
        </p:nvSpPr>
        <p:spPr>
          <a:xfrm>
            <a:off x="9933396" y="2642882"/>
            <a:ext cx="348792" cy="7040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372D4A-D15C-24B3-3589-032E6D1BBD59}"/>
                  </a:ext>
                </a:extLst>
              </p:cNvPr>
              <p:cNvSpPr txBox="1"/>
              <p:nvPr/>
            </p:nvSpPr>
            <p:spPr>
              <a:xfrm>
                <a:off x="8567736" y="2764832"/>
                <a:ext cx="12820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372D4A-D15C-24B3-3589-032E6D1BB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736" y="2764832"/>
                <a:ext cx="128204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483615-5D12-0211-61A6-B64CA638193F}"/>
                  </a:ext>
                </a:extLst>
              </p:cNvPr>
              <p:cNvSpPr txBox="1"/>
              <p:nvPr/>
            </p:nvSpPr>
            <p:spPr>
              <a:xfrm>
                <a:off x="9107323" y="2787010"/>
                <a:ext cx="12820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483615-5D12-0211-61A6-B64CA6381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323" y="2787010"/>
                <a:ext cx="128204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346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452</Words>
  <Application>Microsoft Office PowerPoint</Application>
  <PresentationFormat>Widescreen</PresentationFormat>
  <Paragraphs>98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Venn diagram </vt:lpstr>
      <vt:lpstr>Venn diagram </vt:lpstr>
      <vt:lpstr>PowerPoint Presentation</vt:lpstr>
      <vt:lpstr>Time questions </vt:lpstr>
      <vt:lpstr>Exercise book </vt:lpstr>
      <vt:lpstr>Notes </vt:lpstr>
      <vt:lpstr>Notes continued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9</cp:revision>
  <dcterms:created xsi:type="dcterms:W3CDTF">2022-08-07T11:50:10Z</dcterms:created>
  <dcterms:modified xsi:type="dcterms:W3CDTF">2022-08-08T02:52:36Z</dcterms:modified>
</cp:coreProperties>
</file>
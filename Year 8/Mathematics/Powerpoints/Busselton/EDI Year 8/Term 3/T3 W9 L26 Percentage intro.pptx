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12" r:id="rId2"/>
    <p:sldId id="258" r:id="rId3"/>
    <p:sldId id="259" r:id="rId4"/>
    <p:sldId id="304" r:id="rId5"/>
    <p:sldId id="260" r:id="rId6"/>
    <p:sldId id="261" r:id="rId7"/>
    <p:sldId id="305" r:id="rId8"/>
    <p:sldId id="262" r:id="rId9"/>
    <p:sldId id="263" r:id="rId10"/>
    <p:sldId id="306" r:id="rId11"/>
    <p:sldId id="264" r:id="rId12"/>
    <p:sldId id="265" r:id="rId13"/>
    <p:sldId id="307" r:id="rId14"/>
    <p:sldId id="266" r:id="rId15"/>
    <p:sldId id="267" r:id="rId16"/>
    <p:sldId id="308" r:id="rId17"/>
    <p:sldId id="268" r:id="rId18"/>
    <p:sldId id="269" r:id="rId19"/>
    <p:sldId id="309" r:id="rId20"/>
    <p:sldId id="270" r:id="rId21"/>
    <p:sldId id="271" r:id="rId22"/>
    <p:sldId id="272" r:id="rId23"/>
    <p:sldId id="310" r:id="rId24"/>
    <p:sldId id="273" r:id="rId25"/>
    <p:sldId id="311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FA12-5D57-8EDC-944D-98887C5541E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381F-6B37-EB9B-7779-30CAA928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Title: Fraction, decimal and percent </a:t>
            </a:r>
          </a:p>
          <a:p>
            <a:pPr marL="0" indent="0">
              <a:buNone/>
            </a:pP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Aim – to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00B0F0"/>
                </a:solidFill>
              </a:rPr>
              <a:t>convert Fractions Decimals and Percentages using appropriate methods.</a:t>
            </a:r>
          </a:p>
          <a:p>
            <a:pPr marL="0" indent="0">
              <a:buNone/>
            </a:pPr>
            <a:endParaRPr lang="en-GB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sz="2400" b="1" dirty="0" err="1">
                <a:solidFill>
                  <a:srgbClr val="00B0F0"/>
                </a:solidFill>
              </a:rPr>
              <a:t>PBiS</a:t>
            </a:r>
            <a:r>
              <a:rPr lang="en-GB" sz="2400" b="1" dirty="0">
                <a:solidFill>
                  <a:srgbClr val="00B0F0"/>
                </a:solidFill>
              </a:rPr>
              <a:t> focus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00B0F0"/>
                </a:solidFill>
              </a:rPr>
              <a:t>- Being appropriate in class.</a:t>
            </a:r>
            <a:endParaRPr lang="en-A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92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 – notes page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2991CF-1522-B893-7E5D-468DADC423CB}"/>
              </a:ext>
            </a:extLst>
          </p:cNvPr>
          <p:cNvSpPr/>
          <p:nvPr/>
        </p:nvSpPr>
        <p:spPr>
          <a:xfrm>
            <a:off x="103373" y="832118"/>
            <a:ext cx="11985254" cy="5844147"/>
          </a:xfrm>
          <a:custGeom>
            <a:avLst/>
            <a:gdLst>
              <a:gd name="connsiteX0" fmla="*/ 0 w 11985254"/>
              <a:gd name="connsiteY0" fmla="*/ 0 h 5844147"/>
              <a:gd name="connsiteX1" fmla="*/ 239705 w 11985254"/>
              <a:gd name="connsiteY1" fmla="*/ 0 h 5844147"/>
              <a:gd name="connsiteX2" fmla="*/ 1078673 w 11985254"/>
              <a:gd name="connsiteY2" fmla="*/ 0 h 5844147"/>
              <a:gd name="connsiteX3" fmla="*/ 1318378 w 11985254"/>
              <a:gd name="connsiteY3" fmla="*/ 0 h 5844147"/>
              <a:gd name="connsiteX4" fmla="*/ 1917641 w 11985254"/>
              <a:gd name="connsiteY4" fmla="*/ 0 h 5844147"/>
              <a:gd name="connsiteX5" fmla="*/ 2277198 w 11985254"/>
              <a:gd name="connsiteY5" fmla="*/ 0 h 5844147"/>
              <a:gd name="connsiteX6" fmla="*/ 2516903 w 11985254"/>
              <a:gd name="connsiteY6" fmla="*/ 0 h 5844147"/>
              <a:gd name="connsiteX7" fmla="*/ 2756608 w 11985254"/>
              <a:gd name="connsiteY7" fmla="*/ 0 h 5844147"/>
              <a:gd name="connsiteX8" fmla="*/ 3595576 w 11985254"/>
              <a:gd name="connsiteY8" fmla="*/ 0 h 5844147"/>
              <a:gd name="connsiteX9" fmla="*/ 4074986 w 11985254"/>
              <a:gd name="connsiteY9" fmla="*/ 0 h 5844147"/>
              <a:gd name="connsiteX10" fmla="*/ 4434544 w 11985254"/>
              <a:gd name="connsiteY10" fmla="*/ 0 h 5844147"/>
              <a:gd name="connsiteX11" fmla="*/ 4674249 w 11985254"/>
              <a:gd name="connsiteY11" fmla="*/ 0 h 5844147"/>
              <a:gd name="connsiteX12" fmla="*/ 5393364 w 11985254"/>
              <a:gd name="connsiteY12" fmla="*/ 0 h 5844147"/>
              <a:gd name="connsiteX13" fmla="*/ 5752922 w 11985254"/>
              <a:gd name="connsiteY13" fmla="*/ 0 h 5844147"/>
              <a:gd name="connsiteX14" fmla="*/ 6472037 w 11985254"/>
              <a:gd name="connsiteY14" fmla="*/ 0 h 5844147"/>
              <a:gd name="connsiteX15" fmla="*/ 6951447 w 11985254"/>
              <a:gd name="connsiteY15" fmla="*/ 0 h 5844147"/>
              <a:gd name="connsiteX16" fmla="*/ 7191152 w 11985254"/>
              <a:gd name="connsiteY16" fmla="*/ 0 h 5844147"/>
              <a:gd name="connsiteX17" fmla="*/ 8030120 w 11985254"/>
              <a:gd name="connsiteY17" fmla="*/ 0 h 5844147"/>
              <a:gd name="connsiteX18" fmla="*/ 8509530 w 11985254"/>
              <a:gd name="connsiteY18" fmla="*/ 0 h 5844147"/>
              <a:gd name="connsiteX19" fmla="*/ 9108793 w 11985254"/>
              <a:gd name="connsiteY19" fmla="*/ 0 h 5844147"/>
              <a:gd name="connsiteX20" fmla="*/ 9588203 w 11985254"/>
              <a:gd name="connsiteY20" fmla="*/ 0 h 5844147"/>
              <a:gd name="connsiteX21" fmla="*/ 10307318 w 11985254"/>
              <a:gd name="connsiteY21" fmla="*/ 0 h 5844147"/>
              <a:gd name="connsiteX22" fmla="*/ 10547024 w 11985254"/>
              <a:gd name="connsiteY22" fmla="*/ 0 h 5844147"/>
              <a:gd name="connsiteX23" fmla="*/ 11266139 w 11985254"/>
              <a:gd name="connsiteY23" fmla="*/ 0 h 5844147"/>
              <a:gd name="connsiteX24" fmla="*/ 11985254 w 11985254"/>
              <a:gd name="connsiteY24" fmla="*/ 0 h 5844147"/>
              <a:gd name="connsiteX25" fmla="*/ 11985254 w 11985254"/>
              <a:gd name="connsiteY25" fmla="*/ 642856 h 5844147"/>
              <a:gd name="connsiteX26" fmla="*/ 11985254 w 11985254"/>
              <a:gd name="connsiteY26" fmla="*/ 1344154 h 5844147"/>
              <a:gd name="connsiteX27" fmla="*/ 11985254 w 11985254"/>
              <a:gd name="connsiteY27" fmla="*/ 1928569 h 5844147"/>
              <a:gd name="connsiteX28" fmla="*/ 11985254 w 11985254"/>
              <a:gd name="connsiteY28" fmla="*/ 2396100 h 5844147"/>
              <a:gd name="connsiteX29" fmla="*/ 11985254 w 11985254"/>
              <a:gd name="connsiteY29" fmla="*/ 2980515 h 5844147"/>
              <a:gd name="connsiteX30" fmla="*/ 11985254 w 11985254"/>
              <a:gd name="connsiteY30" fmla="*/ 3564930 h 5844147"/>
              <a:gd name="connsiteX31" fmla="*/ 11985254 w 11985254"/>
              <a:gd name="connsiteY31" fmla="*/ 4266227 h 5844147"/>
              <a:gd name="connsiteX32" fmla="*/ 11985254 w 11985254"/>
              <a:gd name="connsiteY32" fmla="*/ 4792201 h 5844147"/>
              <a:gd name="connsiteX33" fmla="*/ 11985254 w 11985254"/>
              <a:gd name="connsiteY33" fmla="*/ 5318174 h 5844147"/>
              <a:gd name="connsiteX34" fmla="*/ 11985254 w 11985254"/>
              <a:gd name="connsiteY34" fmla="*/ 5844147 h 5844147"/>
              <a:gd name="connsiteX35" fmla="*/ 11385991 w 11985254"/>
              <a:gd name="connsiteY35" fmla="*/ 5844147 h 5844147"/>
              <a:gd name="connsiteX36" fmla="*/ 10666876 w 11985254"/>
              <a:gd name="connsiteY36" fmla="*/ 5844147 h 5844147"/>
              <a:gd name="connsiteX37" fmla="*/ 9827908 w 11985254"/>
              <a:gd name="connsiteY37" fmla="*/ 5844147 h 5844147"/>
              <a:gd name="connsiteX38" fmla="*/ 9348498 w 11985254"/>
              <a:gd name="connsiteY38" fmla="*/ 5844147 h 5844147"/>
              <a:gd name="connsiteX39" fmla="*/ 8509530 w 11985254"/>
              <a:gd name="connsiteY39" fmla="*/ 5844147 h 5844147"/>
              <a:gd name="connsiteX40" fmla="*/ 7790415 w 11985254"/>
              <a:gd name="connsiteY40" fmla="*/ 5844147 h 5844147"/>
              <a:gd name="connsiteX41" fmla="*/ 7071300 w 11985254"/>
              <a:gd name="connsiteY41" fmla="*/ 5844147 h 5844147"/>
              <a:gd name="connsiteX42" fmla="*/ 6472037 w 11985254"/>
              <a:gd name="connsiteY42" fmla="*/ 5844147 h 5844147"/>
              <a:gd name="connsiteX43" fmla="*/ 5872774 w 11985254"/>
              <a:gd name="connsiteY43" fmla="*/ 5844147 h 5844147"/>
              <a:gd name="connsiteX44" fmla="*/ 5633069 w 11985254"/>
              <a:gd name="connsiteY44" fmla="*/ 5844147 h 5844147"/>
              <a:gd name="connsiteX45" fmla="*/ 4913954 w 11985254"/>
              <a:gd name="connsiteY45" fmla="*/ 5844147 h 5844147"/>
              <a:gd name="connsiteX46" fmla="*/ 4434544 w 11985254"/>
              <a:gd name="connsiteY46" fmla="*/ 5844147 h 5844147"/>
              <a:gd name="connsiteX47" fmla="*/ 3835281 w 11985254"/>
              <a:gd name="connsiteY47" fmla="*/ 5844147 h 5844147"/>
              <a:gd name="connsiteX48" fmla="*/ 3595576 w 11985254"/>
              <a:gd name="connsiteY48" fmla="*/ 5844147 h 5844147"/>
              <a:gd name="connsiteX49" fmla="*/ 2996313 w 11985254"/>
              <a:gd name="connsiteY49" fmla="*/ 5844147 h 5844147"/>
              <a:gd name="connsiteX50" fmla="*/ 2157346 w 11985254"/>
              <a:gd name="connsiteY50" fmla="*/ 5844147 h 5844147"/>
              <a:gd name="connsiteX51" fmla="*/ 1438230 w 11985254"/>
              <a:gd name="connsiteY51" fmla="*/ 5844147 h 5844147"/>
              <a:gd name="connsiteX52" fmla="*/ 1198525 w 11985254"/>
              <a:gd name="connsiteY52" fmla="*/ 5844147 h 5844147"/>
              <a:gd name="connsiteX53" fmla="*/ 719115 w 11985254"/>
              <a:gd name="connsiteY53" fmla="*/ 5844147 h 5844147"/>
              <a:gd name="connsiteX54" fmla="*/ 0 w 11985254"/>
              <a:gd name="connsiteY54" fmla="*/ 5844147 h 5844147"/>
              <a:gd name="connsiteX55" fmla="*/ 0 w 11985254"/>
              <a:gd name="connsiteY55" fmla="*/ 5201291 h 5844147"/>
              <a:gd name="connsiteX56" fmla="*/ 0 w 11985254"/>
              <a:gd name="connsiteY56" fmla="*/ 4733759 h 5844147"/>
              <a:gd name="connsiteX57" fmla="*/ 0 w 11985254"/>
              <a:gd name="connsiteY57" fmla="*/ 4090903 h 5844147"/>
              <a:gd name="connsiteX58" fmla="*/ 0 w 11985254"/>
              <a:gd name="connsiteY58" fmla="*/ 3681813 h 5844147"/>
              <a:gd name="connsiteX59" fmla="*/ 0 w 11985254"/>
              <a:gd name="connsiteY59" fmla="*/ 2980515 h 5844147"/>
              <a:gd name="connsiteX60" fmla="*/ 0 w 11985254"/>
              <a:gd name="connsiteY60" fmla="*/ 2337659 h 5844147"/>
              <a:gd name="connsiteX61" fmla="*/ 0 w 11985254"/>
              <a:gd name="connsiteY61" fmla="*/ 1636361 h 5844147"/>
              <a:gd name="connsiteX62" fmla="*/ 0 w 11985254"/>
              <a:gd name="connsiteY62" fmla="*/ 1227271 h 5844147"/>
              <a:gd name="connsiteX63" fmla="*/ 0 w 11985254"/>
              <a:gd name="connsiteY63" fmla="*/ 701298 h 5844147"/>
              <a:gd name="connsiteX64" fmla="*/ 0 w 11985254"/>
              <a:gd name="connsiteY64" fmla="*/ 0 h 5844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985254" h="5844147" extrusionOk="0">
                <a:moveTo>
                  <a:pt x="0" y="0"/>
                </a:moveTo>
                <a:cubicBezTo>
                  <a:pt x="55222" y="-4179"/>
                  <a:pt x="160972" y="8831"/>
                  <a:pt x="239705" y="0"/>
                </a:cubicBezTo>
                <a:cubicBezTo>
                  <a:pt x="318438" y="-8831"/>
                  <a:pt x="761458" y="44062"/>
                  <a:pt x="1078673" y="0"/>
                </a:cubicBezTo>
                <a:cubicBezTo>
                  <a:pt x="1395888" y="-44062"/>
                  <a:pt x="1255188" y="16078"/>
                  <a:pt x="1318378" y="0"/>
                </a:cubicBezTo>
                <a:cubicBezTo>
                  <a:pt x="1381569" y="-16078"/>
                  <a:pt x="1648621" y="70281"/>
                  <a:pt x="1917641" y="0"/>
                </a:cubicBezTo>
                <a:cubicBezTo>
                  <a:pt x="2186661" y="-70281"/>
                  <a:pt x="2145565" y="6413"/>
                  <a:pt x="2277198" y="0"/>
                </a:cubicBezTo>
                <a:cubicBezTo>
                  <a:pt x="2408831" y="-6413"/>
                  <a:pt x="2457720" y="26880"/>
                  <a:pt x="2516903" y="0"/>
                </a:cubicBezTo>
                <a:cubicBezTo>
                  <a:pt x="2576087" y="-26880"/>
                  <a:pt x="2696606" y="10473"/>
                  <a:pt x="2756608" y="0"/>
                </a:cubicBezTo>
                <a:cubicBezTo>
                  <a:pt x="2816610" y="-10473"/>
                  <a:pt x="3198323" y="4925"/>
                  <a:pt x="3595576" y="0"/>
                </a:cubicBezTo>
                <a:cubicBezTo>
                  <a:pt x="3992829" y="-4925"/>
                  <a:pt x="3930793" y="1998"/>
                  <a:pt x="4074986" y="0"/>
                </a:cubicBezTo>
                <a:cubicBezTo>
                  <a:pt x="4219179" y="-1998"/>
                  <a:pt x="4261228" y="42432"/>
                  <a:pt x="4434544" y="0"/>
                </a:cubicBezTo>
                <a:cubicBezTo>
                  <a:pt x="4607860" y="-42432"/>
                  <a:pt x="4581687" y="7255"/>
                  <a:pt x="4674249" y="0"/>
                </a:cubicBezTo>
                <a:cubicBezTo>
                  <a:pt x="4766811" y="-7255"/>
                  <a:pt x="5189243" y="17957"/>
                  <a:pt x="5393364" y="0"/>
                </a:cubicBezTo>
                <a:cubicBezTo>
                  <a:pt x="5597485" y="-17957"/>
                  <a:pt x="5598749" y="11211"/>
                  <a:pt x="5752922" y="0"/>
                </a:cubicBezTo>
                <a:cubicBezTo>
                  <a:pt x="5907095" y="-11211"/>
                  <a:pt x="6120658" y="55932"/>
                  <a:pt x="6472037" y="0"/>
                </a:cubicBezTo>
                <a:cubicBezTo>
                  <a:pt x="6823417" y="-55932"/>
                  <a:pt x="6779074" y="45282"/>
                  <a:pt x="6951447" y="0"/>
                </a:cubicBezTo>
                <a:cubicBezTo>
                  <a:pt x="7123820" y="-45282"/>
                  <a:pt x="7134367" y="9669"/>
                  <a:pt x="7191152" y="0"/>
                </a:cubicBezTo>
                <a:cubicBezTo>
                  <a:pt x="7247937" y="-9669"/>
                  <a:pt x="7822415" y="33827"/>
                  <a:pt x="8030120" y="0"/>
                </a:cubicBezTo>
                <a:cubicBezTo>
                  <a:pt x="8237825" y="-33827"/>
                  <a:pt x="8397909" y="20930"/>
                  <a:pt x="8509530" y="0"/>
                </a:cubicBezTo>
                <a:cubicBezTo>
                  <a:pt x="8621151" y="-20930"/>
                  <a:pt x="8905391" y="35320"/>
                  <a:pt x="9108793" y="0"/>
                </a:cubicBezTo>
                <a:cubicBezTo>
                  <a:pt x="9312195" y="-35320"/>
                  <a:pt x="9462840" y="21559"/>
                  <a:pt x="9588203" y="0"/>
                </a:cubicBezTo>
                <a:cubicBezTo>
                  <a:pt x="9713566" y="-21559"/>
                  <a:pt x="10031066" y="6923"/>
                  <a:pt x="10307318" y="0"/>
                </a:cubicBezTo>
                <a:cubicBezTo>
                  <a:pt x="10583570" y="-6923"/>
                  <a:pt x="10428201" y="28078"/>
                  <a:pt x="10547024" y="0"/>
                </a:cubicBezTo>
                <a:cubicBezTo>
                  <a:pt x="10665847" y="-28078"/>
                  <a:pt x="11069227" y="70099"/>
                  <a:pt x="11266139" y="0"/>
                </a:cubicBezTo>
                <a:cubicBezTo>
                  <a:pt x="11463052" y="-70099"/>
                  <a:pt x="11736149" y="33013"/>
                  <a:pt x="11985254" y="0"/>
                </a:cubicBezTo>
                <a:cubicBezTo>
                  <a:pt x="12030724" y="169595"/>
                  <a:pt x="11931514" y="418175"/>
                  <a:pt x="11985254" y="642856"/>
                </a:cubicBezTo>
                <a:cubicBezTo>
                  <a:pt x="12038994" y="867537"/>
                  <a:pt x="11923376" y="1160824"/>
                  <a:pt x="11985254" y="1344154"/>
                </a:cubicBezTo>
                <a:cubicBezTo>
                  <a:pt x="12047132" y="1527484"/>
                  <a:pt x="11945932" y="1759893"/>
                  <a:pt x="11985254" y="1928569"/>
                </a:cubicBezTo>
                <a:cubicBezTo>
                  <a:pt x="12024576" y="2097245"/>
                  <a:pt x="11956995" y="2186094"/>
                  <a:pt x="11985254" y="2396100"/>
                </a:cubicBezTo>
                <a:cubicBezTo>
                  <a:pt x="12013513" y="2606106"/>
                  <a:pt x="11935591" y="2718110"/>
                  <a:pt x="11985254" y="2980515"/>
                </a:cubicBezTo>
                <a:cubicBezTo>
                  <a:pt x="12034917" y="3242921"/>
                  <a:pt x="11935959" y="3338630"/>
                  <a:pt x="11985254" y="3564930"/>
                </a:cubicBezTo>
                <a:cubicBezTo>
                  <a:pt x="12034549" y="3791231"/>
                  <a:pt x="11936159" y="3987242"/>
                  <a:pt x="11985254" y="4266227"/>
                </a:cubicBezTo>
                <a:cubicBezTo>
                  <a:pt x="12034349" y="4545212"/>
                  <a:pt x="11949758" y="4601811"/>
                  <a:pt x="11985254" y="4792201"/>
                </a:cubicBezTo>
                <a:cubicBezTo>
                  <a:pt x="12020750" y="4982591"/>
                  <a:pt x="11956758" y="5197093"/>
                  <a:pt x="11985254" y="5318174"/>
                </a:cubicBezTo>
                <a:cubicBezTo>
                  <a:pt x="12013750" y="5439255"/>
                  <a:pt x="11928538" y="5714315"/>
                  <a:pt x="11985254" y="5844147"/>
                </a:cubicBezTo>
                <a:cubicBezTo>
                  <a:pt x="11810252" y="5873574"/>
                  <a:pt x="11511438" y="5802723"/>
                  <a:pt x="11385991" y="5844147"/>
                </a:cubicBezTo>
                <a:cubicBezTo>
                  <a:pt x="11260544" y="5885571"/>
                  <a:pt x="10829306" y="5809820"/>
                  <a:pt x="10666876" y="5844147"/>
                </a:cubicBezTo>
                <a:cubicBezTo>
                  <a:pt x="10504446" y="5878474"/>
                  <a:pt x="10166802" y="5820017"/>
                  <a:pt x="9827908" y="5844147"/>
                </a:cubicBezTo>
                <a:cubicBezTo>
                  <a:pt x="9489014" y="5868277"/>
                  <a:pt x="9473050" y="5794631"/>
                  <a:pt x="9348498" y="5844147"/>
                </a:cubicBezTo>
                <a:cubicBezTo>
                  <a:pt x="9223946" y="5893663"/>
                  <a:pt x="8886721" y="5783514"/>
                  <a:pt x="8509530" y="5844147"/>
                </a:cubicBezTo>
                <a:cubicBezTo>
                  <a:pt x="8132339" y="5904780"/>
                  <a:pt x="8130397" y="5831108"/>
                  <a:pt x="7790415" y="5844147"/>
                </a:cubicBezTo>
                <a:cubicBezTo>
                  <a:pt x="7450433" y="5857186"/>
                  <a:pt x="7428782" y="5814276"/>
                  <a:pt x="7071300" y="5844147"/>
                </a:cubicBezTo>
                <a:cubicBezTo>
                  <a:pt x="6713819" y="5874018"/>
                  <a:pt x="6762620" y="5808991"/>
                  <a:pt x="6472037" y="5844147"/>
                </a:cubicBezTo>
                <a:cubicBezTo>
                  <a:pt x="6181454" y="5879303"/>
                  <a:pt x="6161851" y="5826999"/>
                  <a:pt x="5872774" y="5844147"/>
                </a:cubicBezTo>
                <a:cubicBezTo>
                  <a:pt x="5583697" y="5861295"/>
                  <a:pt x="5734615" y="5843239"/>
                  <a:pt x="5633069" y="5844147"/>
                </a:cubicBezTo>
                <a:cubicBezTo>
                  <a:pt x="5531524" y="5845055"/>
                  <a:pt x="5099054" y="5826098"/>
                  <a:pt x="4913954" y="5844147"/>
                </a:cubicBezTo>
                <a:cubicBezTo>
                  <a:pt x="4728855" y="5862196"/>
                  <a:pt x="4651159" y="5792721"/>
                  <a:pt x="4434544" y="5844147"/>
                </a:cubicBezTo>
                <a:cubicBezTo>
                  <a:pt x="4217929" y="5895573"/>
                  <a:pt x="4075286" y="5789618"/>
                  <a:pt x="3835281" y="5844147"/>
                </a:cubicBezTo>
                <a:cubicBezTo>
                  <a:pt x="3595276" y="5898676"/>
                  <a:pt x="3683109" y="5832777"/>
                  <a:pt x="3595576" y="5844147"/>
                </a:cubicBezTo>
                <a:cubicBezTo>
                  <a:pt x="3508044" y="5855517"/>
                  <a:pt x="3230016" y="5811920"/>
                  <a:pt x="2996313" y="5844147"/>
                </a:cubicBezTo>
                <a:cubicBezTo>
                  <a:pt x="2762610" y="5876374"/>
                  <a:pt x="2457651" y="5834775"/>
                  <a:pt x="2157346" y="5844147"/>
                </a:cubicBezTo>
                <a:cubicBezTo>
                  <a:pt x="1857041" y="5853519"/>
                  <a:pt x="1646512" y="5796147"/>
                  <a:pt x="1438230" y="5844147"/>
                </a:cubicBezTo>
                <a:cubicBezTo>
                  <a:pt x="1229948" y="5892147"/>
                  <a:pt x="1288646" y="5833211"/>
                  <a:pt x="1198525" y="5844147"/>
                </a:cubicBezTo>
                <a:cubicBezTo>
                  <a:pt x="1108405" y="5855083"/>
                  <a:pt x="953320" y="5792581"/>
                  <a:pt x="719115" y="5844147"/>
                </a:cubicBezTo>
                <a:cubicBezTo>
                  <a:pt x="484910" y="5895713"/>
                  <a:pt x="181680" y="5814417"/>
                  <a:pt x="0" y="5844147"/>
                </a:cubicBezTo>
                <a:cubicBezTo>
                  <a:pt x="-10869" y="5549041"/>
                  <a:pt x="53366" y="5398262"/>
                  <a:pt x="0" y="5201291"/>
                </a:cubicBezTo>
                <a:cubicBezTo>
                  <a:pt x="-53366" y="5004320"/>
                  <a:pt x="52527" y="4881642"/>
                  <a:pt x="0" y="4733759"/>
                </a:cubicBezTo>
                <a:cubicBezTo>
                  <a:pt x="-52527" y="4585876"/>
                  <a:pt x="1973" y="4408316"/>
                  <a:pt x="0" y="4090903"/>
                </a:cubicBezTo>
                <a:cubicBezTo>
                  <a:pt x="-1973" y="3773490"/>
                  <a:pt x="21599" y="3839153"/>
                  <a:pt x="0" y="3681813"/>
                </a:cubicBezTo>
                <a:cubicBezTo>
                  <a:pt x="-21599" y="3524473"/>
                  <a:pt x="25792" y="3275831"/>
                  <a:pt x="0" y="2980515"/>
                </a:cubicBezTo>
                <a:cubicBezTo>
                  <a:pt x="-25792" y="2685199"/>
                  <a:pt x="15872" y="2601620"/>
                  <a:pt x="0" y="2337659"/>
                </a:cubicBezTo>
                <a:cubicBezTo>
                  <a:pt x="-15872" y="2073698"/>
                  <a:pt x="74345" y="1798581"/>
                  <a:pt x="0" y="1636361"/>
                </a:cubicBezTo>
                <a:cubicBezTo>
                  <a:pt x="-74345" y="1474141"/>
                  <a:pt x="28547" y="1371490"/>
                  <a:pt x="0" y="1227271"/>
                </a:cubicBezTo>
                <a:cubicBezTo>
                  <a:pt x="-28547" y="1083052"/>
                  <a:pt x="30176" y="956274"/>
                  <a:pt x="0" y="701298"/>
                </a:cubicBezTo>
                <a:cubicBezTo>
                  <a:pt x="-30176" y="446322"/>
                  <a:pt x="15534" y="274702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0094396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904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Percentages to Fractions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" y="1529653"/>
            <a:ext cx="11057476" cy="447190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3" y="3133789"/>
            <a:ext cx="1504778" cy="13609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4C1DD2-611A-4B92-9247-005C1BA2E55F}"/>
                  </a:ext>
                </a:extLst>
              </p:cNvPr>
              <p:cNvSpPr txBox="1"/>
              <p:nvPr/>
            </p:nvSpPr>
            <p:spPr>
              <a:xfrm>
                <a:off x="8632371" y="3017912"/>
                <a:ext cx="2220686" cy="147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4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sz="4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4C1DD2-611A-4B92-9247-005C1BA2E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371" y="3017912"/>
                <a:ext cx="2220686" cy="1475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91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5375" y="5191412"/>
            <a:ext cx="2910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</a:rPr>
              <a:t>Put over 100 and then simplify by dividing by common factors</a:t>
            </a:r>
          </a:p>
        </p:txBody>
      </p:sp>
    </p:spTree>
    <p:extLst>
      <p:ext uri="{BB962C8B-B14F-4D97-AF65-F5344CB8AC3E}">
        <p14:creationId xmlns:p14="http://schemas.microsoft.com/office/powerpoint/2010/main" val="60469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89" y="396167"/>
            <a:ext cx="9860795" cy="6081906"/>
          </a:xfrm>
        </p:spPr>
      </p:pic>
    </p:spTree>
    <p:extLst>
      <p:ext uri="{BB962C8B-B14F-4D97-AF65-F5344CB8AC3E}">
        <p14:creationId xmlns:p14="http://schemas.microsoft.com/office/powerpoint/2010/main" val="22357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4" y="1803279"/>
            <a:ext cx="11089082" cy="3296754"/>
          </a:xfrm>
        </p:spPr>
      </p:pic>
    </p:spTree>
    <p:extLst>
      <p:ext uri="{BB962C8B-B14F-4D97-AF65-F5344CB8AC3E}">
        <p14:creationId xmlns:p14="http://schemas.microsoft.com/office/powerpoint/2010/main" val="151194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5375" y="5256727"/>
            <a:ext cx="2910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Put over 100 and then simplify </a:t>
            </a:r>
            <a:r>
              <a:rPr lang="en-GB" dirty="0">
                <a:solidFill>
                  <a:srgbClr val="FF0000"/>
                </a:solidFill>
              </a:rPr>
              <a:t>and then simplify then simplify by dividing by common factors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00B0F0"/>
                </a:solidFill>
              </a:rPr>
              <a:t>Create an equivalent fraction with a denominator of 100</a:t>
            </a:r>
          </a:p>
        </p:txBody>
      </p:sp>
    </p:spTree>
    <p:extLst>
      <p:ext uri="{BB962C8B-B14F-4D97-AF65-F5344CB8AC3E}">
        <p14:creationId xmlns:p14="http://schemas.microsoft.com/office/powerpoint/2010/main" val="429017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73" y="469210"/>
            <a:ext cx="9559403" cy="5789923"/>
          </a:xfrm>
        </p:spPr>
      </p:pic>
    </p:spTree>
    <p:extLst>
      <p:ext uri="{BB962C8B-B14F-4D97-AF65-F5344CB8AC3E}">
        <p14:creationId xmlns:p14="http://schemas.microsoft.com/office/powerpoint/2010/main" val="267799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8" y="2107938"/>
            <a:ext cx="10975509" cy="2090573"/>
          </a:xfrm>
        </p:spPr>
      </p:pic>
    </p:spTree>
    <p:extLst>
      <p:ext uri="{BB962C8B-B14F-4D97-AF65-F5344CB8AC3E}">
        <p14:creationId xmlns:p14="http://schemas.microsoft.com/office/powerpoint/2010/main" val="109894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5375" y="5234956"/>
            <a:ext cx="2910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Put over 100 and then simplify</a:t>
            </a:r>
            <a:r>
              <a:rPr lang="en-GB" dirty="0">
                <a:solidFill>
                  <a:srgbClr val="FF0000"/>
                </a:solidFill>
              </a:rPr>
              <a:t> and then simplify then simplify by dividing by common factors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00B0F0"/>
                </a:solidFill>
              </a:rPr>
              <a:t>X 100</a:t>
            </a:r>
            <a:br>
              <a:rPr lang="en-GB" sz="2200" dirty="0">
                <a:solidFill>
                  <a:srgbClr val="00B0F0"/>
                </a:solidFill>
              </a:rPr>
            </a:br>
            <a:br>
              <a:rPr lang="en-GB" sz="2200" dirty="0">
                <a:solidFill>
                  <a:srgbClr val="00B0F0"/>
                </a:solidFill>
              </a:rPr>
            </a:br>
            <a:r>
              <a:rPr lang="en-GB" sz="2200" dirty="0">
                <a:solidFill>
                  <a:srgbClr val="00B0F0"/>
                </a:solidFill>
              </a:rPr>
              <a:t>(Multiply by 100)</a:t>
            </a:r>
          </a:p>
        </p:txBody>
      </p:sp>
    </p:spTree>
    <p:extLst>
      <p:ext uri="{BB962C8B-B14F-4D97-AF65-F5344CB8AC3E}">
        <p14:creationId xmlns:p14="http://schemas.microsoft.com/office/powerpoint/2010/main" val="9126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64" y="854298"/>
            <a:ext cx="8542543" cy="5147256"/>
          </a:xfrm>
        </p:spPr>
      </p:pic>
    </p:spTree>
    <p:extLst>
      <p:ext uri="{BB962C8B-B14F-4D97-AF65-F5344CB8AC3E}">
        <p14:creationId xmlns:p14="http://schemas.microsoft.com/office/powerpoint/2010/main" val="2808204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57387"/>
            <a:ext cx="10608435" cy="2247941"/>
          </a:xfrm>
        </p:spPr>
      </p:pic>
    </p:spTree>
    <p:extLst>
      <p:ext uri="{BB962C8B-B14F-4D97-AF65-F5344CB8AC3E}">
        <p14:creationId xmlns:p14="http://schemas.microsoft.com/office/powerpoint/2010/main" val="183376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270585"/>
            <a:ext cx="2910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Put over 100 and then simplify</a:t>
            </a:r>
            <a:r>
              <a:rPr lang="en-GB" dirty="0">
                <a:solidFill>
                  <a:srgbClr val="FF0000"/>
                </a:solidFill>
              </a:rPr>
              <a:t> and then simplify then simplify by dividing by common factors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solidFill>
                  <a:srgbClr val="00B0F0"/>
                </a:solidFill>
              </a:rPr>
              <a:t>÷ 100</a:t>
            </a:r>
            <a:br>
              <a:rPr lang="en-GB" sz="2200" b="1" dirty="0">
                <a:solidFill>
                  <a:srgbClr val="00B0F0"/>
                </a:solidFill>
              </a:rPr>
            </a:br>
            <a:br>
              <a:rPr lang="en-GB" sz="2200" b="1" dirty="0">
                <a:solidFill>
                  <a:srgbClr val="00B0F0"/>
                </a:solidFill>
              </a:rPr>
            </a:br>
            <a:r>
              <a:rPr lang="en-GB" sz="2200" b="1" dirty="0">
                <a:solidFill>
                  <a:srgbClr val="00B0F0"/>
                </a:solidFill>
              </a:rPr>
              <a:t>(Divide by 100)</a:t>
            </a:r>
          </a:p>
        </p:txBody>
      </p:sp>
    </p:spTree>
    <p:extLst>
      <p:ext uri="{BB962C8B-B14F-4D97-AF65-F5344CB8AC3E}">
        <p14:creationId xmlns:p14="http://schemas.microsoft.com/office/powerpoint/2010/main" val="141400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0" y="400583"/>
            <a:ext cx="8612751" cy="5948701"/>
          </a:xfrm>
        </p:spPr>
      </p:pic>
    </p:spTree>
    <p:extLst>
      <p:ext uri="{BB962C8B-B14F-4D97-AF65-F5344CB8AC3E}">
        <p14:creationId xmlns:p14="http://schemas.microsoft.com/office/powerpoint/2010/main" val="293888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67" y="1752112"/>
            <a:ext cx="10887822" cy="3399438"/>
          </a:xfrm>
        </p:spPr>
      </p:pic>
    </p:spTree>
    <p:extLst>
      <p:ext uri="{BB962C8B-B14F-4D97-AF65-F5344CB8AC3E}">
        <p14:creationId xmlns:p14="http://schemas.microsoft.com/office/powerpoint/2010/main" val="3494798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56538" y="5305713"/>
            <a:ext cx="2910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Put over 100 and then simplify</a:t>
            </a:r>
            <a:r>
              <a:rPr lang="en-GB" dirty="0">
                <a:solidFill>
                  <a:srgbClr val="FF0000"/>
                </a:solidFill>
              </a:rPr>
              <a:t> and then simplify then simplify by dividing by common factors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00B0F0"/>
                </a:solidFill>
              </a:rPr>
              <a:t>Numerator ÷ Denominator</a:t>
            </a:r>
            <a:br>
              <a:rPr lang="en-GB" sz="2200" dirty="0">
                <a:solidFill>
                  <a:srgbClr val="00B0F0"/>
                </a:solidFill>
              </a:rPr>
            </a:br>
            <a:r>
              <a:rPr lang="en-GB" sz="2200" dirty="0">
                <a:solidFill>
                  <a:srgbClr val="00B0F0"/>
                </a:solidFill>
              </a:rPr>
              <a:t>(Bus-stop method)</a:t>
            </a:r>
          </a:p>
        </p:txBody>
      </p:sp>
    </p:spTree>
    <p:extLst>
      <p:ext uri="{BB962C8B-B14F-4D97-AF65-F5344CB8AC3E}">
        <p14:creationId xmlns:p14="http://schemas.microsoft.com/office/powerpoint/2010/main" val="161379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32" y="609600"/>
            <a:ext cx="8302874" cy="5833672"/>
          </a:xfrm>
        </p:spPr>
      </p:pic>
    </p:spTree>
    <p:extLst>
      <p:ext uri="{BB962C8B-B14F-4D97-AF65-F5344CB8AC3E}">
        <p14:creationId xmlns:p14="http://schemas.microsoft.com/office/powerpoint/2010/main" val="363274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Fraction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14" y="1497759"/>
            <a:ext cx="9274881" cy="4928798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936" y="5018597"/>
            <a:ext cx="943107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3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0960" y="5277305"/>
            <a:ext cx="2910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Put over 100 and then simplify</a:t>
            </a:r>
            <a:r>
              <a:rPr lang="en-GB" dirty="0">
                <a:solidFill>
                  <a:srgbClr val="FF0000"/>
                </a:solidFill>
              </a:rPr>
              <a:t> and then simplify then simplify by dividing by common factors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B0F0"/>
                    </a:solidFill>
                  </a:rPr>
                  <a:t>Use knowledge of place value.</a:t>
                </a:r>
                <a:br>
                  <a:rPr lang="en-GB" b="1" dirty="0">
                    <a:solidFill>
                      <a:srgbClr val="00B0F0"/>
                    </a:solidFill>
                  </a:rPr>
                </a:br>
                <a:r>
                  <a:rPr lang="en-GB" b="1" dirty="0">
                    <a:solidFill>
                      <a:srgbClr val="00B0F0"/>
                    </a:solidFill>
                  </a:rPr>
                  <a:t>0.23 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𝟐𝟑</m:t>
                        </m:r>
                      </m:num>
                      <m:den>
                        <m:r>
                          <a:rPr lang="en-GB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a:rPr lang="en-GB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>
                <a:blip r:embed="rId3"/>
                <a:stretch>
                  <a:fillRect l="-1616" t="-3241" b="-18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102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126" y="609600"/>
            <a:ext cx="8851865" cy="5430592"/>
          </a:xfrm>
        </p:spPr>
      </p:pic>
    </p:spTree>
    <p:extLst>
      <p:ext uri="{BB962C8B-B14F-4D97-AF65-F5344CB8AC3E}">
        <p14:creationId xmlns:p14="http://schemas.microsoft.com/office/powerpoint/2010/main" val="312023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Percentages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33" y="2737942"/>
            <a:ext cx="11734387" cy="2194667"/>
          </a:xfrm>
        </p:spPr>
      </p:pic>
    </p:spTree>
    <p:extLst>
      <p:ext uri="{BB962C8B-B14F-4D97-AF65-F5344CB8AC3E}">
        <p14:creationId xmlns:p14="http://schemas.microsoft.com/office/powerpoint/2010/main" val="1936611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94" y="486335"/>
            <a:ext cx="7453718" cy="5953102"/>
          </a:xfrm>
        </p:spPr>
      </p:pic>
    </p:spTree>
    <p:extLst>
      <p:ext uri="{BB962C8B-B14F-4D97-AF65-F5344CB8AC3E}">
        <p14:creationId xmlns:p14="http://schemas.microsoft.com/office/powerpoint/2010/main" val="1962360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Fractions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" y="2376637"/>
            <a:ext cx="11785693" cy="3367340"/>
          </a:xfrm>
        </p:spPr>
      </p:pic>
    </p:spTree>
    <p:extLst>
      <p:ext uri="{BB962C8B-B14F-4D97-AF65-F5344CB8AC3E}">
        <p14:creationId xmlns:p14="http://schemas.microsoft.com/office/powerpoint/2010/main" val="1836607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96" y="1399657"/>
            <a:ext cx="11231258" cy="5052658"/>
          </a:xfrm>
        </p:spPr>
      </p:pic>
    </p:spTree>
    <p:extLst>
      <p:ext uri="{BB962C8B-B14F-4D97-AF65-F5344CB8AC3E}">
        <p14:creationId xmlns:p14="http://schemas.microsoft.com/office/powerpoint/2010/main" val="469074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Decimals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2" y="2371158"/>
            <a:ext cx="11550484" cy="2226599"/>
          </a:xfrm>
        </p:spPr>
      </p:pic>
    </p:spTree>
    <p:extLst>
      <p:ext uri="{BB962C8B-B14F-4D97-AF65-F5344CB8AC3E}">
        <p14:creationId xmlns:p14="http://schemas.microsoft.com/office/powerpoint/2010/main" val="3598307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515" y="421939"/>
            <a:ext cx="7937946" cy="6069013"/>
          </a:xfrm>
        </p:spPr>
      </p:pic>
    </p:spTree>
    <p:extLst>
      <p:ext uri="{BB962C8B-B14F-4D97-AF65-F5344CB8AC3E}">
        <p14:creationId xmlns:p14="http://schemas.microsoft.com/office/powerpoint/2010/main" val="83158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Worded Questions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1" y="1609731"/>
            <a:ext cx="11265197" cy="3039542"/>
          </a:xfrm>
        </p:spPr>
      </p:pic>
    </p:spTree>
    <p:extLst>
      <p:ext uri="{BB962C8B-B14F-4D97-AF65-F5344CB8AC3E}">
        <p14:creationId xmlns:p14="http://schemas.microsoft.com/office/powerpoint/2010/main" val="1594112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9" y="2255781"/>
            <a:ext cx="10157569" cy="2238946"/>
          </a:xfrm>
        </p:spPr>
      </p:pic>
    </p:spTree>
    <p:extLst>
      <p:ext uri="{BB962C8B-B14F-4D97-AF65-F5344CB8AC3E}">
        <p14:creationId xmlns:p14="http://schemas.microsoft.com/office/powerpoint/2010/main" val="24039892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</TotalTime>
  <Words>371</Words>
  <Application>Microsoft Office PowerPoint</Application>
  <PresentationFormat>Widescreen</PresentationFormat>
  <Paragraphs>51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Cambria Math</vt:lpstr>
      <vt:lpstr>Trebuchet MS</vt:lpstr>
      <vt:lpstr>Wingdings</vt:lpstr>
      <vt:lpstr>Wingdings 3</vt:lpstr>
      <vt:lpstr>Facet</vt:lpstr>
      <vt:lpstr>Lesson objective </vt:lpstr>
      <vt:lpstr>Conversion help sheet – notes page</vt:lpstr>
      <vt:lpstr>Percentages to Fractions</vt:lpstr>
      <vt:lpstr>Conversion help sheet</vt:lpstr>
      <vt:lpstr>PowerPoint Presentation</vt:lpstr>
      <vt:lpstr>Fraction to a Percentage</vt:lpstr>
      <vt:lpstr>Conversion help sheet</vt:lpstr>
      <vt:lpstr>PowerPoint Presentation</vt:lpstr>
      <vt:lpstr>Decimal to a Percentage</vt:lpstr>
      <vt:lpstr>Conversion help sheet</vt:lpstr>
      <vt:lpstr>PowerPoint Presentation</vt:lpstr>
      <vt:lpstr>Percentage to a Decimal</vt:lpstr>
      <vt:lpstr>Conversion help sheet</vt:lpstr>
      <vt:lpstr>PowerPoint Presentation</vt:lpstr>
      <vt:lpstr>Fraction to a Decimal</vt:lpstr>
      <vt:lpstr>Conversion help sheet</vt:lpstr>
      <vt:lpstr>PowerPoint Presentation</vt:lpstr>
      <vt:lpstr>Decimal to a Fraction</vt:lpstr>
      <vt:lpstr>Conversion help sheet</vt:lpstr>
      <vt:lpstr>PowerPoint Presentation</vt:lpstr>
      <vt:lpstr>Percentages Conversions i) Turn into a decimal ii) Turn into a fraction and simplify</vt:lpstr>
      <vt:lpstr>Answers</vt:lpstr>
      <vt:lpstr>Fractions Conversions i) Turn into a decimal ii) Turn into a percentage</vt:lpstr>
      <vt:lpstr>Answers</vt:lpstr>
      <vt:lpstr>Decimals Conversions i) Turn into a percentage ii) Turn into a fraction and simplify</vt:lpstr>
      <vt:lpstr>Answers</vt:lpstr>
      <vt:lpstr>Worded Questions</vt:lpstr>
      <vt:lpstr>Answers</vt:lpstr>
    </vt:vector>
  </TitlesOfParts>
  <Company>Horndean Technology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Welch, Ross</dc:creator>
  <cp:lastModifiedBy>DAVIES Rhys [Busselton Senior High School]</cp:lastModifiedBy>
  <cp:revision>19</cp:revision>
  <dcterms:created xsi:type="dcterms:W3CDTF">2016-11-21T19:15:24Z</dcterms:created>
  <dcterms:modified xsi:type="dcterms:W3CDTF">2022-09-12T01:32:00Z</dcterms:modified>
  <cp:contentStatus/>
</cp:coreProperties>
</file>
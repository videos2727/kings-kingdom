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5" r:id="rId4"/>
    <p:sldId id="257" r:id="rId5"/>
    <p:sldId id="315" r:id="rId6"/>
    <p:sldId id="316" r:id="rId7"/>
    <p:sldId id="317" r:id="rId8"/>
    <p:sldId id="318" r:id="rId9"/>
    <p:sldId id="260" r:id="rId10"/>
    <p:sldId id="264" r:id="rId11"/>
    <p:sldId id="262" r:id="rId12"/>
    <p:sldId id="322" r:id="rId13"/>
    <p:sldId id="319" r:id="rId14"/>
    <p:sldId id="320" r:id="rId15"/>
    <p:sldId id="258" r:id="rId16"/>
    <p:sldId id="259" r:id="rId17"/>
    <p:sldId id="32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 varScale="1">
        <p:scale>
          <a:sx n="83" d="100"/>
          <a:sy n="83" d="100"/>
        </p:scale>
        <p:origin x="4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8E321-2B63-4BE3-9D05-45AC1EEE99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655F9-989D-4AE8-AC08-FFF72EEA82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F8C91-24CD-49E1-914F-43F2B31FA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101E4-5C06-4F05-9B37-DABDB727392A}" type="datetimeFigureOut">
              <a:rPr lang="en-AU" smtClean="0"/>
              <a:t>19/09/2022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8CA32-87B4-4048-941D-476BD1D47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5BE81-8330-4790-8C61-E7824DED3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04F3B-EC1F-48B1-B1BA-BBEA9B4D30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2679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E2672-E635-40B5-9AED-B75BA89A8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20DE8-5399-4A36-8091-A7C7E36DE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801F3-8044-4880-A122-EF271AC80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101E4-5C06-4F05-9B37-DABDB727392A}" type="datetimeFigureOut">
              <a:rPr lang="en-AU" smtClean="0"/>
              <a:t>19/09/2022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5F7D5-2A38-46FE-AA62-48FF2337B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5A8E1-1913-4251-A2F1-DAC893626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04F3B-EC1F-48B1-B1BA-BBEA9B4D30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1901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083D1-5B91-4D14-9CEE-3449F80B1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B8151-04A8-4369-854E-10AC9085B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A24EC-B57E-4DCC-8925-3C547DDDB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101E4-5C06-4F05-9B37-DABDB727392A}" type="datetimeFigureOut">
              <a:rPr lang="en-AU" smtClean="0"/>
              <a:t>19/09/2022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468CD-56B5-4A64-A674-40D674639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D5A28-3C2E-4F5F-902F-3E64E6C8F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04F3B-EC1F-48B1-B1BA-BBEA9B4D30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1537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48C9-1902-4B71-A146-D87419CA3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A8032-6257-4B02-A747-3F40B91F0F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DF2D3B-9D70-4347-B490-797E6C4CE7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D64D9-8DF7-4FD3-8E1C-86177D61C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101E4-5C06-4F05-9B37-DABDB727392A}" type="datetimeFigureOut">
              <a:rPr lang="en-AU" smtClean="0"/>
              <a:t>19/09/2022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3AC8B-DF4D-4ACC-A6DE-B2FF274C7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D2EE72-1CDA-4827-B71C-190AEFAD9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04F3B-EC1F-48B1-B1BA-BBEA9B4D30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5847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AE39E-3C6E-47C6-9E27-D685B7BAB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8D1B0-CA20-4591-A8EE-4477ACBDB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B76949-121C-45C3-A0E4-930C96B7E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5260F1-C51D-4B53-ADE5-44B83EF71B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8A2EF4-C046-42B0-B34F-98F406AC9A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C8F00C-99C9-4B99-BDC0-F1EEDD878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101E4-5C06-4F05-9B37-DABDB727392A}" type="datetimeFigureOut">
              <a:rPr lang="en-AU" smtClean="0"/>
              <a:t>19/09/2022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CF234-57EC-4398-92AE-3ACD9BD6C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A4CFBE-0EDF-4351-BCD6-43A7A23F9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04F3B-EC1F-48B1-B1BA-BBEA9B4D30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1869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65C64-A10D-43CC-BE34-38F710D76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12CC78-749C-493F-BF9F-407AAC57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101E4-5C06-4F05-9B37-DABDB727392A}" type="datetimeFigureOut">
              <a:rPr lang="en-AU" smtClean="0"/>
              <a:t>19/09/2022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886A1-7B75-4D30-AF12-E062823F1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9E07D-A667-49B8-895F-140016437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04F3B-EC1F-48B1-B1BA-BBEA9B4D30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6188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6A13BA-FA90-45E3-A45E-BC8B8441F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101E4-5C06-4F05-9B37-DABDB727392A}" type="datetimeFigureOut">
              <a:rPr lang="en-AU" smtClean="0"/>
              <a:t>19/09/2022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602496-B9C2-4A8D-80F3-08586ED65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B53DD-13A2-4548-98CA-36D91AB68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04F3B-EC1F-48B1-B1BA-BBEA9B4D30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8121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5F6B1-18B6-40FF-8380-91B69215D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51F16-28C3-40D9-810A-6850C3545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19F1D7-D577-49DA-8A87-0067DDFA5A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8F474E-D037-4CF4-81EB-F78DF14D9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101E4-5C06-4F05-9B37-DABDB727392A}" type="datetimeFigureOut">
              <a:rPr lang="en-AU" smtClean="0"/>
              <a:t>19/09/2022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11306-1A44-4AA6-B49C-065E8BBEF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F32AD-8DA3-4A6E-B468-4ED996F7B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04F3B-EC1F-48B1-B1BA-BBEA9B4D30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086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BAF82-11F9-4D8A-A4D0-530319485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1CCF65-7971-4356-AE95-0C1BF0E002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AEB0D4-EC37-4176-AD0D-C40F99952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184A4-E7BC-4869-8A76-D135DA375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101E4-5C06-4F05-9B37-DABDB727392A}" type="datetimeFigureOut">
              <a:rPr lang="en-AU" smtClean="0"/>
              <a:t>19/09/2022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71E418-97E8-4839-A011-3D0A964DC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DCA9A8-66A2-49C0-8240-BFAC4477E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04F3B-EC1F-48B1-B1BA-BBEA9B4D30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9476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1E8CF-F590-4F70-9C59-77705519E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391409-A8AE-4E4E-B867-56096AC86D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0F84E-98B3-4356-B20E-27A530CB4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101E4-5C06-4F05-9B37-DABDB727392A}" type="datetimeFigureOut">
              <a:rPr lang="en-AU" smtClean="0"/>
              <a:t>19/09/2022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B5BFC-21D7-4494-8103-9F58B86B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46AD8-2A52-40F6-888C-E2C04868A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04F3B-EC1F-48B1-B1BA-BBEA9B4D30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5540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4F25CA-30FE-456C-BB18-53961A8AF8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4EFBAF-A36D-4173-A2E7-15727AD3D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4751D-E15E-46C6-8AB6-32FC38FEA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101E4-5C06-4F05-9B37-DABDB727392A}" type="datetimeFigureOut">
              <a:rPr lang="en-AU" smtClean="0"/>
              <a:t>19/09/2022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608C9-EFAC-4E13-957B-C800A230C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DDD36-3BBC-4872-89E7-06E8476A1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04F3B-EC1F-48B1-B1BA-BBEA9B4D30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50770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348A6-981F-41CD-A5DF-7B00E3056832}" type="datetimeFigureOut">
              <a:rPr lang="en-AU" smtClean="0"/>
              <a:t>19/09/2022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2DE21D0B-415E-4202-AA3D-514DA32A6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1560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348A6-981F-41CD-A5DF-7B00E3056832}" type="datetimeFigureOut">
              <a:rPr lang="en-AU" smtClean="0"/>
              <a:t>19/09/2022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21D0B-415E-4202-AA3D-514DA32A6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1715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A0C348A6-981F-41CD-A5DF-7B00E3056832}" type="datetimeFigureOut">
              <a:rPr lang="en-AU" smtClean="0"/>
              <a:t>19/09/2022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AU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2DE21D0B-415E-4202-AA3D-514DA32A6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0712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348A6-981F-41CD-A5DF-7B00E3056832}" type="datetimeFigureOut">
              <a:rPr lang="en-AU" smtClean="0"/>
              <a:t>19/09/2022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21D0B-415E-4202-AA3D-514DA32A6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5244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348A6-981F-41CD-A5DF-7B00E3056832}" type="datetimeFigureOut">
              <a:rPr lang="en-AU" smtClean="0"/>
              <a:t>19/09/2022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21D0B-415E-4202-AA3D-514DA32A6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20739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348A6-981F-41CD-A5DF-7B00E3056832}" type="datetimeFigureOut">
              <a:rPr lang="en-AU" smtClean="0"/>
              <a:t>19/09/2022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21D0B-415E-4202-AA3D-514DA32A6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01239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348A6-981F-41CD-A5DF-7B00E3056832}" type="datetimeFigureOut">
              <a:rPr lang="en-AU" smtClean="0"/>
              <a:t>19/09/2022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21D0B-415E-4202-AA3D-514DA32A6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55861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348A6-981F-41CD-A5DF-7B00E3056832}" type="datetimeFigureOut">
              <a:rPr lang="en-AU" smtClean="0"/>
              <a:t>19/09/2022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21D0B-415E-4202-AA3D-514DA32A6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60882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348A6-981F-41CD-A5DF-7B00E3056832}" type="datetimeFigureOut">
              <a:rPr lang="en-AU" smtClean="0"/>
              <a:t>19/09/2022</a:t>
            </a:fld>
            <a:endParaRPr lang="en-AU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21D0B-415E-4202-AA3D-514DA32A6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28523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348A6-981F-41CD-A5DF-7B00E3056832}" type="datetimeFigureOut">
              <a:rPr lang="en-AU" smtClean="0"/>
              <a:t>19/09/2022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21D0B-415E-4202-AA3D-514DA32A6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32461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348A6-981F-41CD-A5DF-7B00E3056832}" type="datetimeFigureOut">
              <a:rPr lang="en-AU" smtClean="0"/>
              <a:t>19/09/2022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21D0B-415E-4202-AA3D-514DA32A6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39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77A947-8E93-4901-889C-5646EE431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FFA46-1FF4-457F-9782-3900CB91F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058C7-A6CC-4DE9-9DD7-F08DF657CE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4101E4-5C06-4F05-9B37-DABDB727392A}" type="datetimeFigureOut">
              <a:rPr lang="en-AU" smtClean="0"/>
              <a:t>19/09/2022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CCC83-DAD9-4305-9243-A1E684AADB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D62CA-9E4F-4096-9C30-AF9A62C1F8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04F3B-EC1F-48B1-B1BA-BBEA9B4D30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0054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A0C348A6-981F-41CD-A5DF-7B00E3056832}" type="datetimeFigureOut">
              <a:rPr lang="en-AU" smtClean="0"/>
              <a:t>19/09/2022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2DE21D0B-415E-4202-AA3D-514DA32A6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6854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9AD809-FBD6-4261-80D2-A52D3E98F6B9}"/>
              </a:ext>
            </a:extLst>
          </p:cNvPr>
          <p:cNvSpPr txBox="1"/>
          <p:nvPr/>
        </p:nvSpPr>
        <p:spPr>
          <a:xfrm>
            <a:off x="235612" y="151465"/>
            <a:ext cx="11836712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u="sng" dirty="0">
                <a:solidFill>
                  <a:srgbClr val="00B0F0"/>
                </a:solidFill>
              </a:rPr>
              <a:t>Percentage Increase and Decrease</a:t>
            </a:r>
          </a:p>
          <a:p>
            <a:r>
              <a:rPr lang="en-AU" sz="3200" b="1" u="sng" dirty="0">
                <a:solidFill>
                  <a:srgbClr val="00B0F0"/>
                </a:solidFill>
              </a:rPr>
              <a:t>Aim – Be able to: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AU" sz="3200" b="1" dirty="0">
                <a:solidFill>
                  <a:srgbClr val="00B0F0"/>
                </a:solidFill>
              </a:rPr>
              <a:t>Calculate the </a:t>
            </a:r>
            <a:r>
              <a:rPr lang="en-AU" sz="3200" b="1" u="sng" dirty="0">
                <a:solidFill>
                  <a:srgbClr val="00B0F0"/>
                </a:solidFill>
              </a:rPr>
              <a:t>multiplier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AU" sz="3200" b="1" dirty="0">
                <a:solidFill>
                  <a:srgbClr val="00B0F0"/>
                </a:solidFill>
              </a:rPr>
              <a:t>Calculate a percentage increase or decrease of an amount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AU" sz="3200" b="1" dirty="0">
                <a:solidFill>
                  <a:srgbClr val="00B0F0"/>
                </a:solidFill>
              </a:rPr>
              <a:t>Understand profit and loss</a:t>
            </a:r>
          </a:p>
          <a:p>
            <a:endParaRPr lang="en-AU" sz="3200" b="1" dirty="0">
              <a:solidFill>
                <a:srgbClr val="00B0F0"/>
              </a:solidFill>
            </a:endParaRPr>
          </a:p>
          <a:p>
            <a:r>
              <a:rPr lang="en-AU" sz="3200" b="1" dirty="0"/>
              <a:t>PBS Focus: keeping the volume appropriate.</a:t>
            </a:r>
          </a:p>
          <a:p>
            <a:endParaRPr lang="en-AU" sz="3200" b="1" dirty="0"/>
          </a:p>
          <a:p>
            <a:r>
              <a:rPr lang="en-AU" sz="3200" b="1" dirty="0">
                <a:solidFill>
                  <a:srgbClr val="00B0F0"/>
                </a:solidFill>
              </a:rPr>
              <a:t>Plan: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3200" b="1" dirty="0">
                <a:solidFill>
                  <a:srgbClr val="00B0F0"/>
                </a:solidFill>
              </a:rPr>
              <a:t>Convert   FDP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3200" b="1" dirty="0">
                <a:solidFill>
                  <a:srgbClr val="00B0F0"/>
                </a:solidFill>
              </a:rPr>
              <a:t>Percentage increase and decrease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3200" b="1" dirty="0">
                <a:solidFill>
                  <a:srgbClr val="00B0F0"/>
                </a:solidFill>
              </a:rPr>
              <a:t>Profit loss questions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3200" b="1" dirty="0">
                <a:solidFill>
                  <a:srgbClr val="00B0F0"/>
                </a:solidFill>
              </a:rPr>
              <a:t>worksheet</a:t>
            </a:r>
          </a:p>
        </p:txBody>
      </p:sp>
    </p:spTree>
    <p:extLst>
      <p:ext uri="{BB962C8B-B14F-4D97-AF65-F5344CB8AC3E}">
        <p14:creationId xmlns:p14="http://schemas.microsoft.com/office/powerpoint/2010/main" val="1401802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9AD809-FBD6-4261-80D2-A52D3E98F6B9}"/>
              </a:ext>
            </a:extLst>
          </p:cNvPr>
          <p:cNvSpPr txBox="1"/>
          <p:nvPr/>
        </p:nvSpPr>
        <p:spPr>
          <a:xfrm>
            <a:off x="235612" y="151465"/>
            <a:ext cx="11836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/>
              <a:t>Converting percentages to fractions: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92D83296-21AA-4437-A569-BD47CE006A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010697"/>
                  </p:ext>
                </p:extLst>
              </p:nvPr>
            </p:nvGraphicFramePr>
            <p:xfrm>
              <a:off x="527322" y="719665"/>
              <a:ext cx="10927920" cy="598719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731980">
                      <a:extLst>
                        <a:ext uri="{9D8B030D-6E8A-4147-A177-3AD203B41FA5}">
                          <a16:colId xmlns:a16="http://schemas.microsoft.com/office/drawing/2014/main" val="2226430610"/>
                        </a:ext>
                      </a:extLst>
                    </a:gridCol>
                    <a:gridCol w="2731980">
                      <a:extLst>
                        <a:ext uri="{9D8B030D-6E8A-4147-A177-3AD203B41FA5}">
                          <a16:colId xmlns:a16="http://schemas.microsoft.com/office/drawing/2014/main" val="2789449632"/>
                        </a:ext>
                      </a:extLst>
                    </a:gridCol>
                    <a:gridCol w="2731980">
                      <a:extLst>
                        <a:ext uri="{9D8B030D-6E8A-4147-A177-3AD203B41FA5}">
                          <a16:colId xmlns:a16="http://schemas.microsoft.com/office/drawing/2014/main" val="4030961029"/>
                        </a:ext>
                      </a:extLst>
                    </a:gridCol>
                    <a:gridCol w="2731980">
                      <a:extLst>
                        <a:ext uri="{9D8B030D-6E8A-4147-A177-3AD203B41FA5}">
                          <a16:colId xmlns:a16="http://schemas.microsoft.com/office/drawing/2014/main" val="3678872961"/>
                        </a:ext>
                      </a:extLst>
                    </a:gridCol>
                  </a:tblGrid>
                  <a:tr h="11081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Percentage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Put Percentage over 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Divide denominate an numerate by highest common factor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Fraction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3173244"/>
                      </a:ext>
                    </a:extLst>
                  </a:tr>
                  <a:tr h="11081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dirty="0"/>
                            <a:t>30%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00025717"/>
                      </a:ext>
                    </a:extLst>
                  </a:tr>
                  <a:tr h="11081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dirty="0"/>
                            <a:t>20%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04538993"/>
                      </a:ext>
                    </a:extLst>
                  </a:tr>
                  <a:tr h="11081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dirty="0"/>
                            <a:t>55%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168850"/>
                      </a:ext>
                    </a:extLst>
                  </a:tr>
                  <a:tr h="11081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dirty="0"/>
                            <a:t>66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AU" sz="3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</m:oMath>
                          </a14:m>
                          <a:endParaRPr lang="en-AU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071812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92D83296-21AA-4437-A569-BD47CE006A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010697"/>
                  </p:ext>
                </p:extLst>
              </p:nvPr>
            </p:nvGraphicFramePr>
            <p:xfrm>
              <a:off x="527322" y="719665"/>
              <a:ext cx="10927920" cy="598719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731980">
                      <a:extLst>
                        <a:ext uri="{9D8B030D-6E8A-4147-A177-3AD203B41FA5}">
                          <a16:colId xmlns:a16="http://schemas.microsoft.com/office/drawing/2014/main" val="2226430610"/>
                        </a:ext>
                      </a:extLst>
                    </a:gridCol>
                    <a:gridCol w="2731980">
                      <a:extLst>
                        <a:ext uri="{9D8B030D-6E8A-4147-A177-3AD203B41FA5}">
                          <a16:colId xmlns:a16="http://schemas.microsoft.com/office/drawing/2014/main" val="2789449632"/>
                        </a:ext>
                      </a:extLst>
                    </a:gridCol>
                    <a:gridCol w="2731980">
                      <a:extLst>
                        <a:ext uri="{9D8B030D-6E8A-4147-A177-3AD203B41FA5}">
                          <a16:colId xmlns:a16="http://schemas.microsoft.com/office/drawing/2014/main" val="4030961029"/>
                        </a:ext>
                      </a:extLst>
                    </a:gridCol>
                    <a:gridCol w="2731980">
                      <a:extLst>
                        <a:ext uri="{9D8B030D-6E8A-4147-A177-3AD203B41FA5}">
                          <a16:colId xmlns:a16="http://schemas.microsoft.com/office/drawing/2014/main" val="3678872961"/>
                        </a:ext>
                      </a:extLst>
                    </a:gridCol>
                  </a:tblGrid>
                  <a:tr h="1554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Percentage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Put Percentage over 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Divide denominate an numerate by highest common factor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Fraction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3173244"/>
                      </a:ext>
                    </a:extLst>
                  </a:tr>
                  <a:tr h="11081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dirty="0"/>
                            <a:t>30%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00025717"/>
                      </a:ext>
                    </a:extLst>
                  </a:tr>
                  <a:tr h="11081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dirty="0"/>
                            <a:t>20%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04538993"/>
                      </a:ext>
                    </a:extLst>
                  </a:tr>
                  <a:tr h="11081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dirty="0"/>
                            <a:t>55%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168850"/>
                      </a:ext>
                    </a:extLst>
                  </a:tr>
                  <a:tr h="11081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3" t="-444505" r="-300000" b="-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0718127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64777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3 Minute Timer">
            <a:hlinkClick r:id="" action="ppaction://media"/>
            <a:extLst>
              <a:ext uri="{FF2B5EF4-FFF2-40B4-BE49-F238E27FC236}">
                <a16:creationId xmlns:a16="http://schemas.microsoft.com/office/drawing/2014/main" id="{4C617B79-B9A7-4438-9CA0-99873154DC3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436846" y="0"/>
            <a:ext cx="2755154" cy="15497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8D205691-A13B-471F-8310-FDA5736CE9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6144790"/>
                  </p:ext>
                </p:extLst>
              </p:nvPr>
            </p:nvGraphicFramePr>
            <p:xfrm>
              <a:off x="727635" y="470895"/>
              <a:ext cx="8490324" cy="59500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6411">
                      <a:extLst>
                        <a:ext uri="{9D8B030D-6E8A-4147-A177-3AD203B41FA5}">
                          <a16:colId xmlns:a16="http://schemas.microsoft.com/office/drawing/2014/main" val="350639099"/>
                        </a:ext>
                      </a:extLst>
                    </a:gridCol>
                    <a:gridCol w="3518751">
                      <a:extLst>
                        <a:ext uri="{9D8B030D-6E8A-4147-A177-3AD203B41FA5}">
                          <a16:colId xmlns:a16="http://schemas.microsoft.com/office/drawing/2014/main" val="1389336558"/>
                        </a:ext>
                      </a:extLst>
                    </a:gridCol>
                    <a:gridCol w="858377">
                      <a:extLst>
                        <a:ext uri="{9D8B030D-6E8A-4147-A177-3AD203B41FA5}">
                          <a16:colId xmlns:a16="http://schemas.microsoft.com/office/drawing/2014/main" val="1832755160"/>
                        </a:ext>
                      </a:extLst>
                    </a:gridCol>
                    <a:gridCol w="3386785">
                      <a:extLst>
                        <a:ext uri="{9D8B030D-6E8A-4147-A177-3AD203B41FA5}">
                          <a16:colId xmlns:a16="http://schemas.microsoft.com/office/drawing/2014/main" val="2923906420"/>
                        </a:ext>
                      </a:extLst>
                    </a:gridCol>
                  </a:tblGrid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10%=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num>
                                <m:den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den>
                              </m:f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lang="en-AU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11%=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77322227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latin typeface="Cambria Math" panose="02040503050406030204" pitchFamily="18" charset="0"/>
                                  </a:rPr>
                                  <m:t>75%=</m:t>
                                </m:r>
                              </m:oMath>
                            </m:oMathPara>
                          </a14:m>
                          <a:endParaRPr lang="en-AU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2%=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68499737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AU" sz="2800" b="0" i="1" dirty="0" smtClean="0">
                                    <a:latin typeface="Cambria Math" panose="02040503050406030204" pitchFamily="18" charset="0"/>
                                  </a:rPr>
                                  <m:t>20%</m:t>
                                </m:r>
                                <m:r>
                                  <a:rPr lang="en-AU" sz="28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AU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16%=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41104938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latin typeface="Cambria Math" panose="02040503050406030204" pitchFamily="18" charset="0"/>
                                  </a:rPr>
                                  <m:t>35%=</m:t>
                                </m:r>
                              </m:oMath>
                            </m:oMathPara>
                          </a14:m>
                          <a:endParaRPr lang="en-AU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33</m:t>
                              </m:r>
                              <m:f>
                                <m:fPr>
                                  <m:ctrlP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</m:oMath>
                          </a14:m>
                          <a:r>
                            <a:rPr lang="en-AU" sz="2800" dirty="0"/>
                            <a:t>=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39230188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AU" sz="28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AU" sz="28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AU" sz="2800" i="1" dirty="0" smtClean="0">
                                    <a:latin typeface="Cambria Math" panose="02040503050406030204" pitchFamily="18" charset="0"/>
                                  </a:rPr>
                                  <m:t>%=</m:t>
                                </m:r>
                              </m:oMath>
                            </m:oMathPara>
                          </a14:m>
                          <a:endParaRPr lang="en-AU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85%=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734721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8D205691-A13B-471F-8310-FDA5736CE9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6144790"/>
                  </p:ext>
                </p:extLst>
              </p:nvPr>
            </p:nvGraphicFramePr>
            <p:xfrm>
              <a:off x="727635" y="470895"/>
              <a:ext cx="8490324" cy="59500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6411">
                      <a:extLst>
                        <a:ext uri="{9D8B030D-6E8A-4147-A177-3AD203B41FA5}">
                          <a16:colId xmlns:a16="http://schemas.microsoft.com/office/drawing/2014/main" val="350639099"/>
                        </a:ext>
                      </a:extLst>
                    </a:gridCol>
                    <a:gridCol w="3518751">
                      <a:extLst>
                        <a:ext uri="{9D8B030D-6E8A-4147-A177-3AD203B41FA5}">
                          <a16:colId xmlns:a16="http://schemas.microsoft.com/office/drawing/2014/main" val="1389336558"/>
                        </a:ext>
                      </a:extLst>
                    </a:gridCol>
                    <a:gridCol w="858377">
                      <a:extLst>
                        <a:ext uri="{9D8B030D-6E8A-4147-A177-3AD203B41FA5}">
                          <a16:colId xmlns:a16="http://schemas.microsoft.com/office/drawing/2014/main" val="1832755160"/>
                        </a:ext>
                      </a:extLst>
                    </a:gridCol>
                    <a:gridCol w="3386785">
                      <a:extLst>
                        <a:ext uri="{9D8B030D-6E8A-4147-A177-3AD203B41FA5}">
                          <a16:colId xmlns:a16="http://schemas.microsoft.com/office/drawing/2014/main" val="2923906420"/>
                        </a:ext>
                      </a:extLst>
                    </a:gridCol>
                  </a:tblGrid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761" t="-513" r="-120934" b="-4020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11%=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77322227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761" t="-100000" r="-12093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2%=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68499737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761" t="-201026" r="-120934" b="-2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16%=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41104938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761" t="-299490" r="-120934" b="-100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50899" t="-299490" r="-360" b="-100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9230188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761" t="-401538" r="-120934" b="-10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85%=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734721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E7FAEB6-90B6-4EB3-83A7-2BABC58D8BFD}"/>
              </a:ext>
            </a:extLst>
          </p:cNvPr>
          <p:cNvSpPr txBox="1"/>
          <p:nvPr/>
        </p:nvSpPr>
        <p:spPr>
          <a:xfrm>
            <a:off x="9565481" y="1558915"/>
            <a:ext cx="23717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u="sng" dirty="0"/>
              <a:t>Convert to fractions</a:t>
            </a:r>
          </a:p>
        </p:txBody>
      </p:sp>
    </p:spTree>
    <p:extLst>
      <p:ext uri="{BB962C8B-B14F-4D97-AF65-F5344CB8AC3E}">
        <p14:creationId xmlns:p14="http://schemas.microsoft.com/office/powerpoint/2010/main" val="3774962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612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8D205691-A13B-471F-8310-FDA5736CE9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3793162"/>
                  </p:ext>
                </p:extLst>
              </p:nvPr>
            </p:nvGraphicFramePr>
            <p:xfrm>
              <a:off x="727635" y="470895"/>
              <a:ext cx="8490324" cy="59500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6411">
                      <a:extLst>
                        <a:ext uri="{9D8B030D-6E8A-4147-A177-3AD203B41FA5}">
                          <a16:colId xmlns:a16="http://schemas.microsoft.com/office/drawing/2014/main" val="350639099"/>
                        </a:ext>
                      </a:extLst>
                    </a:gridCol>
                    <a:gridCol w="3518751">
                      <a:extLst>
                        <a:ext uri="{9D8B030D-6E8A-4147-A177-3AD203B41FA5}">
                          <a16:colId xmlns:a16="http://schemas.microsoft.com/office/drawing/2014/main" val="1389336558"/>
                        </a:ext>
                      </a:extLst>
                    </a:gridCol>
                    <a:gridCol w="858377">
                      <a:extLst>
                        <a:ext uri="{9D8B030D-6E8A-4147-A177-3AD203B41FA5}">
                          <a16:colId xmlns:a16="http://schemas.microsoft.com/office/drawing/2014/main" val="1832755160"/>
                        </a:ext>
                      </a:extLst>
                    </a:gridCol>
                    <a:gridCol w="3386785">
                      <a:extLst>
                        <a:ext uri="{9D8B030D-6E8A-4147-A177-3AD203B41FA5}">
                          <a16:colId xmlns:a16="http://schemas.microsoft.com/office/drawing/2014/main" val="2923906420"/>
                        </a:ext>
                      </a:extLst>
                    </a:gridCol>
                  </a:tblGrid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10%=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num>
                                <m:den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den>
                              </m:f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lang="en-AU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11%=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lang="en-AU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77322227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latin typeface="Cambria Math" panose="02040503050406030204" pitchFamily="18" charset="0"/>
                                  </a:rPr>
                                  <m:t>75%=</m:t>
                                </m:r>
                                <m:f>
                                  <m:fPr>
                                    <m:ctrlPr>
                                      <a:rPr lang="en-AU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AU" sz="28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2%=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lang="en-AU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68499737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AU" sz="2800" b="0" i="1" dirty="0" smtClean="0">
                                    <a:latin typeface="Cambria Math" panose="02040503050406030204" pitchFamily="18" charset="0"/>
                                  </a:rPr>
                                  <m:t>20%</m:t>
                                </m:r>
                                <m:r>
                                  <a:rPr lang="en-AU" sz="28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28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16%=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lang="en-AU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41104938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latin typeface="Cambria Math" panose="02040503050406030204" pitchFamily="18" charset="0"/>
                                  </a:rPr>
                                  <m:t>35%=</m:t>
                                </m:r>
                                <m:f>
                                  <m:fPr>
                                    <m:ctrlPr>
                                      <a:rPr lang="en-AU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AU" sz="2800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33</m:t>
                              </m:r>
                              <m:f>
                                <m:fPr>
                                  <m:ctrlP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</m:oMath>
                          </a14:m>
                          <a:r>
                            <a:rPr lang="en-AU" sz="2800" dirty="0"/>
                            <a:t>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endParaRPr lang="en-AU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39230188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AU" sz="28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AU" sz="28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AU" sz="2800" i="1" dirty="0" smtClean="0">
                                    <a:latin typeface="Cambria Math" panose="02040503050406030204" pitchFamily="18" charset="0"/>
                                  </a:rPr>
                                  <m:t>%=</m:t>
                                </m:r>
                                <m:f>
                                  <m:fPr>
                                    <m:ctrlPr>
                                      <a:rPr lang="en-AU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AU" sz="28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85%=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17</m:t>
                                  </m:r>
                                </m:num>
                                <m:den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lang="en-AU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734721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8D205691-A13B-471F-8310-FDA5736CE9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3793162"/>
                  </p:ext>
                </p:extLst>
              </p:nvPr>
            </p:nvGraphicFramePr>
            <p:xfrm>
              <a:off x="727635" y="470895"/>
              <a:ext cx="8490324" cy="59500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6411">
                      <a:extLst>
                        <a:ext uri="{9D8B030D-6E8A-4147-A177-3AD203B41FA5}">
                          <a16:colId xmlns:a16="http://schemas.microsoft.com/office/drawing/2014/main" val="350639099"/>
                        </a:ext>
                      </a:extLst>
                    </a:gridCol>
                    <a:gridCol w="3518751">
                      <a:extLst>
                        <a:ext uri="{9D8B030D-6E8A-4147-A177-3AD203B41FA5}">
                          <a16:colId xmlns:a16="http://schemas.microsoft.com/office/drawing/2014/main" val="1389336558"/>
                        </a:ext>
                      </a:extLst>
                    </a:gridCol>
                    <a:gridCol w="858377">
                      <a:extLst>
                        <a:ext uri="{9D8B030D-6E8A-4147-A177-3AD203B41FA5}">
                          <a16:colId xmlns:a16="http://schemas.microsoft.com/office/drawing/2014/main" val="1832755160"/>
                        </a:ext>
                      </a:extLst>
                    </a:gridCol>
                    <a:gridCol w="3386785">
                      <a:extLst>
                        <a:ext uri="{9D8B030D-6E8A-4147-A177-3AD203B41FA5}">
                          <a16:colId xmlns:a16="http://schemas.microsoft.com/office/drawing/2014/main" val="2923906420"/>
                        </a:ext>
                      </a:extLst>
                    </a:gridCol>
                  </a:tblGrid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761" t="-513" r="-120934" b="-4020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0899" t="-513" r="-360" b="-4020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7322227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761" t="-100000" r="-12093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0899" t="-100000" r="-360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8499737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761" t="-201026" r="-120934" b="-2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0899" t="-201026" r="-360" b="-20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1104938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761" t="-299490" r="-120934" b="-100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0899" t="-299490" r="-360" b="-100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9230188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761" t="-401538" r="-120934" b="-10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0899" t="-401538" r="-360" b="-10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34721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64458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9AD809-FBD6-4261-80D2-A52D3E98F6B9}"/>
              </a:ext>
            </a:extLst>
          </p:cNvPr>
          <p:cNvSpPr txBox="1"/>
          <p:nvPr/>
        </p:nvSpPr>
        <p:spPr>
          <a:xfrm>
            <a:off x="235612" y="151465"/>
            <a:ext cx="11836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Converting percentages to fractions: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92D83296-21AA-4437-A569-BD47CE006A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4456482"/>
                  </p:ext>
                </p:extLst>
              </p:nvPr>
            </p:nvGraphicFramePr>
            <p:xfrm>
              <a:off x="2055998" y="798246"/>
              <a:ext cx="8195940" cy="554089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731980">
                      <a:extLst>
                        <a:ext uri="{9D8B030D-6E8A-4147-A177-3AD203B41FA5}">
                          <a16:colId xmlns:a16="http://schemas.microsoft.com/office/drawing/2014/main" val="2226430610"/>
                        </a:ext>
                      </a:extLst>
                    </a:gridCol>
                    <a:gridCol w="2731980">
                      <a:extLst>
                        <a:ext uri="{9D8B030D-6E8A-4147-A177-3AD203B41FA5}">
                          <a16:colId xmlns:a16="http://schemas.microsoft.com/office/drawing/2014/main" val="2789449632"/>
                        </a:ext>
                      </a:extLst>
                    </a:gridCol>
                    <a:gridCol w="2731980">
                      <a:extLst>
                        <a:ext uri="{9D8B030D-6E8A-4147-A177-3AD203B41FA5}">
                          <a16:colId xmlns:a16="http://schemas.microsoft.com/office/drawing/2014/main" val="3678872961"/>
                        </a:ext>
                      </a:extLst>
                    </a:gridCol>
                  </a:tblGrid>
                  <a:tr h="11081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Percentage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Divide by 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Decimal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3173244"/>
                      </a:ext>
                    </a:extLst>
                  </a:tr>
                  <a:tr h="11081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dirty="0"/>
                            <a:t>30%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00025717"/>
                      </a:ext>
                    </a:extLst>
                  </a:tr>
                  <a:tr h="11081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dirty="0"/>
                            <a:t>20%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04538993"/>
                      </a:ext>
                    </a:extLst>
                  </a:tr>
                  <a:tr h="11081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dirty="0"/>
                            <a:t>55%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168850"/>
                      </a:ext>
                    </a:extLst>
                  </a:tr>
                  <a:tr h="11081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dirty="0"/>
                            <a:t>66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AU" sz="3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</m:oMath>
                          </a14:m>
                          <a:endParaRPr lang="en-AU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071812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92D83296-21AA-4437-A569-BD47CE006A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4456482"/>
                  </p:ext>
                </p:extLst>
              </p:nvPr>
            </p:nvGraphicFramePr>
            <p:xfrm>
              <a:off x="2055998" y="798246"/>
              <a:ext cx="8195940" cy="554089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731980">
                      <a:extLst>
                        <a:ext uri="{9D8B030D-6E8A-4147-A177-3AD203B41FA5}">
                          <a16:colId xmlns:a16="http://schemas.microsoft.com/office/drawing/2014/main" val="2226430610"/>
                        </a:ext>
                      </a:extLst>
                    </a:gridCol>
                    <a:gridCol w="2731980">
                      <a:extLst>
                        <a:ext uri="{9D8B030D-6E8A-4147-A177-3AD203B41FA5}">
                          <a16:colId xmlns:a16="http://schemas.microsoft.com/office/drawing/2014/main" val="2789449632"/>
                        </a:ext>
                      </a:extLst>
                    </a:gridCol>
                    <a:gridCol w="2731980">
                      <a:extLst>
                        <a:ext uri="{9D8B030D-6E8A-4147-A177-3AD203B41FA5}">
                          <a16:colId xmlns:a16="http://schemas.microsoft.com/office/drawing/2014/main" val="3678872961"/>
                        </a:ext>
                      </a:extLst>
                    </a:gridCol>
                  </a:tblGrid>
                  <a:tr h="11081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Percentage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Divide by 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Decimal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3173244"/>
                      </a:ext>
                    </a:extLst>
                  </a:tr>
                  <a:tr h="11081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dirty="0"/>
                            <a:t>30%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00025717"/>
                      </a:ext>
                    </a:extLst>
                  </a:tr>
                  <a:tr h="11081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dirty="0"/>
                            <a:t>20%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04538993"/>
                      </a:ext>
                    </a:extLst>
                  </a:tr>
                  <a:tr h="11081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dirty="0"/>
                            <a:t>55%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168850"/>
                      </a:ext>
                    </a:extLst>
                  </a:tr>
                  <a:tr h="11081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3" t="-403846" r="-200670" b="-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3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0718127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94984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3 Minute Timer">
            <a:hlinkClick r:id="" action="ppaction://media"/>
            <a:extLst>
              <a:ext uri="{FF2B5EF4-FFF2-40B4-BE49-F238E27FC236}">
                <a16:creationId xmlns:a16="http://schemas.microsoft.com/office/drawing/2014/main" id="{4C617B79-B9A7-4438-9CA0-99873154DC3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436846" y="0"/>
            <a:ext cx="2755154" cy="15497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8D205691-A13B-471F-8310-FDA5736CE9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4395235"/>
                  </p:ext>
                </p:extLst>
              </p:nvPr>
            </p:nvGraphicFramePr>
            <p:xfrm>
              <a:off x="727635" y="470895"/>
              <a:ext cx="8490324" cy="59500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6411">
                      <a:extLst>
                        <a:ext uri="{9D8B030D-6E8A-4147-A177-3AD203B41FA5}">
                          <a16:colId xmlns:a16="http://schemas.microsoft.com/office/drawing/2014/main" val="350639099"/>
                        </a:ext>
                      </a:extLst>
                    </a:gridCol>
                    <a:gridCol w="3518751">
                      <a:extLst>
                        <a:ext uri="{9D8B030D-6E8A-4147-A177-3AD203B41FA5}">
                          <a16:colId xmlns:a16="http://schemas.microsoft.com/office/drawing/2014/main" val="1389336558"/>
                        </a:ext>
                      </a:extLst>
                    </a:gridCol>
                    <a:gridCol w="858377">
                      <a:extLst>
                        <a:ext uri="{9D8B030D-6E8A-4147-A177-3AD203B41FA5}">
                          <a16:colId xmlns:a16="http://schemas.microsoft.com/office/drawing/2014/main" val="1832755160"/>
                        </a:ext>
                      </a:extLst>
                    </a:gridCol>
                    <a:gridCol w="3386785">
                      <a:extLst>
                        <a:ext uri="{9D8B030D-6E8A-4147-A177-3AD203B41FA5}">
                          <a16:colId xmlns:a16="http://schemas.microsoft.com/office/drawing/2014/main" val="2923906420"/>
                        </a:ext>
                      </a:extLst>
                    </a:gridCol>
                  </a:tblGrid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10%=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num>
                                <m:den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den>
                              </m:f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=0.1</m:t>
                              </m:r>
                            </m:oMath>
                          </a14:m>
                          <a:endParaRPr lang="en-AU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11%=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77322227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latin typeface="Cambria Math" panose="02040503050406030204" pitchFamily="18" charset="0"/>
                                  </a:rPr>
                                  <m:t>75%=</m:t>
                                </m:r>
                              </m:oMath>
                            </m:oMathPara>
                          </a14:m>
                          <a:endParaRPr lang="en-AU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2%=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68499737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AU" sz="2800" b="0" i="1" dirty="0" smtClean="0">
                                    <a:latin typeface="Cambria Math" panose="02040503050406030204" pitchFamily="18" charset="0"/>
                                  </a:rPr>
                                  <m:t>20%</m:t>
                                </m:r>
                                <m:r>
                                  <a:rPr lang="en-AU" sz="28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AU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16%=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41104938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latin typeface="Cambria Math" panose="02040503050406030204" pitchFamily="18" charset="0"/>
                                  </a:rPr>
                                  <m:t>35%=</m:t>
                                </m:r>
                              </m:oMath>
                            </m:oMathPara>
                          </a14:m>
                          <a:endParaRPr lang="en-AU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33</m:t>
                              </m:r>
                              <m:f>
                                <m:fPr>
                                  <m:ctrlP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</m:oMath>
                          </a14:m>
                          <a:r>
                            <a:rPr lang="en-AU" sz="2800" dirty="0"/>
                            <a:t>=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39230188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AU" sz="28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AU" sz="28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AU" sz="2800" i="1" dirty="0" smtClean="0">
                                    <a:latin typeface="Cambria Math" panose="02040503050406030204" pitchFamily="18" charset="0"/>
                                  </a:rPr>
                                  <m:t>%=</m:t>
                                </m:r>
                              </m:oMath>
                            </m:oMathPara>
                          </a14:m>
                          <a:endParaRPr lang="en-AU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85%=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734721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8D205691-A13B-471F-8310-FDA5736CE9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4395235"/>
                  </p:ext>
                </p:extLst>
              </p:nvPr>
            </p:nvGraphicFramePr>
            <p:xfrm>
              <a:off x="727635" y="470895"/>
              <a:ext cx="8490324" cy="59500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6411">
                      <a:extLst>
                        <a:ext uri="{9D8B030D-6E8A-4147-A177-3AD203B41FA5}">
                          <a16:colId xmlns:a16="http://schemas.microsoft.com/office/drawing/2014/main" val="350639099"/>
                        </a:ext>
                      </a:extLst>
                    </a:gridCol>
                    <a:gridCol w="3518751">
                      <a:extLst>
                        <a:ext uri="{9D8B030D-6E8A-4147-A177-3AD203B41FA5}">
                          <a16:colId xmlns:a16="http://schemas.microsoft.com/office/drawing/2014/main" val="1389336558"/>
                        </a:ext>
                      </a:extLst>
                    </a:gridCol>
                    <a:gridCol w="858377">
                      <a:extLst>
                        <a:ext uri="{9D8B030D-6E8A-4147-A177-3AD203B41FA5}">
                          <a16:colId xmlns:a16="http://schemas.microsoft.com/office/drawing/2014/main" val="1832755160"/>
                        </a:ext>
                      </a:extLst>
                    </a:gridCol>
                    <a:gridCol w="3386785">
                      <a:extLst>
                        <a:ext uri="{9D8B030D-6E8A-4147-A177-3AD203B41FA5}">
                          <a16:colId xmlns:a16="http://schemas.microsoft.com/office/drawing/2014/main" val="2923906420"/>
                        </a:ext>
                      </a:extLst>
                    </a:gridCol>
                  </a:tblGrid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761" t="-513" r="-120934" b="-4020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11%=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77322227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761" t="-100000" r="-12093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 smtClean="0"/>
                            <a:t>2%=</a:t>
                          </a:r>
                          <a:endParaRPr lang="en-AU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68499737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761" t="-201026" r="-120934" b="-2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16%=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41104938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761" t="-299490" r="-120934" b="-100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50899" t="-299490" r="-360" b="-100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9230188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761" t="-401538" r="-120934" b="-10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85%=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734721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E7FAEB6-90B6-4EB3-83A7-2BABC58D8BFD}"/>
              </a:ext>
            </a:extLst>
          </p:cNvPr>
          <p:cNvSpPr txBox="1"/>
          <p:nvPr/>
        </p:nvSpPr>
        <p:spPr>
          <a:xfrm>
            <a:off x="9565481" y="1558915"/>
            <a:ext cx="23717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Convert to Decimals</a:t>
            </a:r>
          </a:p>
        </p:txBody>
      </p:sp>
    </p:spTree>
    <p:extLst>
      <p:ext uri="{BB962C8B-B14F-4D97-AF65-F5344CB8AC3E}">
        <p14:creationId xmlns:p14="http://schemas.microsoft.com/office/powerpoint/2010/main" val="3319234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612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8D205691-A13B-471F-8310-FDA5736CE9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1442961"/>
                  </p:ext>
                </p:extLst>
              </p:nvPr>
            </p:nvGraphicFramePr>
            <p:xfrm>
              <a:off x="727635" y="470895"/>
              <a:ext cx="8490324" cy="59500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6411">
                      <a:extLst>
                        <a:ext uri="{9D8B030D-6E8A-4147-A177-3AD203B41FA5}">
                          <a16:colId xmlns:a16="http://schemas.microsoft.com/office/drawing/2014/main" val="350639099"/>
                        </a:ext>
                      </a:extLst>
                    </a:gridCol>
                    <a:gridCol w="3518751">
                      <a:extLst>
                        <a:ext uri="{9D8B030D-6E8A-4147-A177-3AD203B41FA5}">
                          <a16:colId xmlns:a16="http://schemas.microsoft.com/office/drawing/2014/main" val="1389336558"/>
                        </a:ext>
                      </a:extLst>
                    </a:gridCol>
                    <a:gridCol w="858377">
                      <a:extLst>
                        <a:ext uri="{9D8B030D-6E8A-4147-A177-3AD203B41FA5}">
                          <a16:colId xmlns:a16="http://schemas.microsoft.com/office/drawing/2014/main" val="1832755160"/>
                        </a:ext>
                      </a:extLst>
                    </a:gridCol>
                    <a:gridCol w="3386785">
                      <a:extLst>
                        <a:ext uri="{9D8B030D-6E8A-4147-A177-3AD203B41FA5}">
                          <a16:colId xmlns:a16="http://schemas.microsoft.com/office/drawing/2014/main" val="2923906420"/>
                        </a:ext>
                      </a:extLst>
                    </a:gridCol>
                  </a:tblGrid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10%=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num>
                                <m:den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den>
                              </m:f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=0.1</m:t>
                              </m:r>
                            </m:oMath>
                          </a14:m>
                          <a:endParaRPr lang="en-AU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11%=0.11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77322227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75%=</m:t>
                              </m:r>
                            </m:oMath>
                          </a14:m>
                          <a:r>
                            <a:rPr lang="en-AU" sz="2800" dirty="0"/>
                            <a:t>0.75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2%=0.02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68499737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AU" sz="2800" b="0" i="1" dirty="0" smtClean="0">
                                    <a:latin typeface="Cambria Math" panose="02040503050406030204" pitchFamily="18" charset="0"/>
                                  </a:rPr>
                                  <m:t>20%</m:t>
                                </m:r>
                                <m:r>
                                  <a:rPr lang="en-AU" sz="28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2800" b="0" i="1" dirty="0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oMath>
                            </m:oMathPara>
                          </a14:m>
                          <a:endParaRPr lang="en-AU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16%=0.16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41104938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latin typeface="Cambria Math" panose="02040503050406030204" pitchFamily="18" charset="0"/>
                                  </a:rPr>
                                  <m:t>35%=0.35</m:t>
                                </m:r>
                              </m:oMath>
                            </m:oMathPara>
                          </a14:m>
                          <a:endParaRPr lang="en-AU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33</m:t>
                              </m:r>
                              <m:f>
                                <m:fPr>
                                  <m:ctrlP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2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</m:oMath>
                          </a14:m>
                          <a:r>
                            <a:rPr lang="en-AU" sz="2800" dirty="0"/>
                            <a:t>=0.333 (3dp)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39230188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AU" sz="28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AU" sz="28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AU" sz="2800" i="1" dirty="0" smtClean="0">
                                    <a:latin typeface="Cambria Math" panose="02040503050406030204" pitchFamily="18" charset="0"/>
                                  </a:rPr>
                                  <m:t>%=</m:t>
                                </m:r>
                                <m:r>
                                  <a:rPr lang="en-AU" sz="2800" b="0" i="1" dirty="0" smtClean="0"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</m:oMath>
                            </m:oMathPara>
                          </a14:m>
                          <a:endParaRPr lang="en-AU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85%=0.85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734721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8D205691-A13B-471F-8310-FDA5736CE9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1442961"/>
                  </p:ext>
                </p:extLst>
              </p:nvPr>
            </p:nvGraphicFramePr>
            <p:xfrm>
              <a:off x="727635" y="470895"/>
              <a:ext cx="8490324" cy="59500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6411">
                      <a:extLst>
                        <a:ext uri="{9D8B030D-6E8A-4147-A177-3AD203B41FA5}">
                          <a16:colId xmlns:a16="http://schemas.microsoft.com/office/drawing/2014/main" val="350639099"/>
                        </a:ext>
                      </a:extLst>
                    </a:gridCol>
                    <a:gridCol w="3518751">
                      <a:extLst>
                        <a:ext uri="{9D8B030D-6E8A-4147-A177-3AD203B41FA5}">
                          <a16:colId xmlns:a16="http://schemas.microsoft.com/office/drawing/2014/main" val="1389336558"/>
                        </a:ext>
                      </a:extLst>
                    </a:gridCol>
                    <a:gridCol w="858377">
                      <a:extLst>
                        <a:ext uri="{9D8B030D-6E8A-4147-A177-3AD203B41FA5}">
                          <a16:colId xmlns:a16="http://schemas.microsoft.com/office/drawing/2014/main" val="1832755160"/>
                        </a:ext>
                      </a:extLst>
                    </a:gridCol>
                    <a:gridCol w="3386785">
                      <a:extLst>
                        <a:ext uri="{9D8B030D-6E8A-4147-A177-3AD203B41FA5}">
                          <a16:colId xmlns:a16="http://schemas.microsoft.com/office/drawing/2014/main" val="2923906420"/>
                        </a:ext>
                      </a:extLst>
                    </a:gridCol>
                  </a:tblGrid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761" t="-513" r="-120934" b="-4020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11%=0.11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77322227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761" t="-100000" r="-12093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2%=0.02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68499737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761" t="-201026" r="-120934" b="-2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16%=0.16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41104938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761" t="-299490" r="-120934" b="-100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0899" t="-299490" r="-360" b="-100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9230188"/>
                      </a:ext>
                    </a:extLst>
                  </a:tr>
                  <a:tr h="1190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761" t="-401538" r="-120934" b="-10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2800" dirty="0"/>
                            <a:t>85%=0.85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734721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E7FAEB6-90B6-4EB3-83A7-2BABC58D8BFD}"/>
              </a:ext>
            </a:extLst>
          </p:cNvPr>
          <p:cNvSpPr txBox="1"/>
          <p:nvPr/>
        </p:nvSpPr>
        <p:spPr>
          <a:xfrm>
            <a:off x="9565481" y="1558915"/>
            <a:ext cx="23717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Convert to Decimals</a:t>
            </a:r>
          </a:p>
        </p:txBody>
      </p:sp>
    </p:spTree>
    <p:extLst>
      <p:ext uri="{BB962C8B-B14F-4D97-AF65-F5344CB8AC3E}">
        <p14:creationId xmlns:p14="http://schemas.microsoft.com/office/powerpoint/2010/main" val="3215010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>
            <a:alpha val="2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15453" y="529389"/>
            <a:ext cx="6144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Increase / decrease by a percentage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232" y="1288642"/>
            <a:ext cx="1036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Due to an open immigration policy a country managed to increase its population by 4.6%. If the original population was 34 890 400, determine the new population.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239" y="2664879"/>
            <a:ext cx="78050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Steps: 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Calculate percentage of amount.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Add /subtract to original amount depending increase or decrease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Answer 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50232" y="4630238"/>
                <a:ext cx="7749307" cy="1355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2060"/>
                  </a:buClr>
                  <a:buSzTx/>
                  <a:buFontTx/>
                  <a:buAutoNum type="arabicPeriod"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AU" sz="24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4.6</m:t>
                        </m:r>
                      </m:num>
                      <m:den>
                        <m:r>
                          <a:rPr kumimoji="0" lang="en-AU" sz="24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100</m:t>
                        </m:r>
                      </m:den>
                    </m:f>
                    <m:r>
                      <a:rPr kumimoji="0" lang="en-AU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AU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/>
                    <a:ea typeface="+mn-ea"/>
                    <a:cs typeface="+mn-cs"/>
                  </a:rPr>
                  <a:t> 34 890 400 = 1 604 958</a:t>
                </a:r>
              </a:p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206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ckwell" panose="02060603020205020403"/>
                    <a:ea typeface="+mn-ea"/>
                    <a:cs typeface="+mn-cs"/>
                  </a:rPr>
                  <a:t>1 604 958 </a:t>
                </a: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/>
                    <a:ea typeface="+mn-ea"/>
                    <a:cs typeface="+mn-cs"/>
                  </a:rPr>
                  <a:t>+ 34 890 400 = 36 495 358</a:t>
                </a:r>
              </a:p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2060"/>
                  </a:buClr>
                  <a:buSzTx/>
                  <a:buFontTx/>
                  <a:buAutoNum type="arabicPeriod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AU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∴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ckwell" panose="02060603020205020403"/>
                    <a:ea typeface="+mn-ea"/>
                    <a:cs typeface="+mn-cs"/>
                  </a:rPr>
                  <a:t> new population is 36 495 358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232" y="4630238"/>
                <a:ext cx="7749307" cy="1355628"/>
              </a:xfrm>
              <a:prstGeom prst="rect">
                <a:avLst/>
              </a:prstGeom>
              <a:blipFill>
                <a:blip r:embed="rId2"/>
                <a:stretch>
                  <a:fillRect l="-1179" b="-94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980600" y="2664879"/>
            <a:ext cx="3015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Amateur-Increase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770D13-2190-45E8-A643-0F6194C8CE43}"/>
              </a:ext>
            </a:extLst>
          </p:cNvPr>
          <p:cNvSpPr txBox="1"/>
          <p:nvPr/>
        </p:nvSpPr>
        <p:spPr>
          <a:xfrm>
            <a:off x="7558214" y="2678063"/>
            <a:ext cx="78050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Expert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-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Increase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1" i="0" u="sng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Add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 100 to the % value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Divide by 100 (multiplier)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Multiply by original amount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Answer the question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AF6A92-6594-4259-A1FD-4036B2D56E12}"/>
                  </a:ext>
                </a:extLst>
              </p:cNvPr>
              <p:cNvSpPr txBox="1"/>
              <p:nvPr/>
            </p:nvSpPr>
            <p:spPr>
              <a:xfrm>
                <a:off x="7558214" y="4776124"/>
                <a:ext cx="462674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206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/>
                    <a:ea typeface="+mn-ea"/>
                    <a:cs typeface="+mn-cs"/>
                  </a:rPr>
                  <a:t>100 + 4.6 = 104.6</a:t>
                </a:r>
              </a:p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206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ckwell" panose="02060603020205020403"/>
                    <a:ea typeface="+mn-ea"/>
                    <a:cs typeface="+mn-cs"/>
                  </a:rPr>
                  <a:t>104.6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÷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/>
                    <a:ea typeface="+mn-ea"/>
                    <a:cs typeface="+mn-cs"/>
                  </a:rPr>
                  <a:t> 100 = 1.046</a:t>
                </a:r>
              </a:p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206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/>
                    <a:ea typeface="+mn-ea"/>
                    <a:cs typeface="+mn-cs"/>
                  </a:rPr>
                  <a:t>1.046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/>
                    <a:ea typeface="+mn-ea"/>
                    <a:cs typeface="+mn-cs"/>
                  </a:rPr>
                  <a:t> 34 890 400 =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2060"/>
                  </a:buClr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AU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∴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ckwell" panose="02060603020205020403"/>
                    <a:ea typeface="+mn-ea"/>
                    <a:cs typeface="+mn-cs"/>
                  </a:rPr>
                  <a:t> new population is 36 495 358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AF6A92-6594-4259-A1FD-4036B2D56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8214" y="4776124"/>
                <a:ext cx="4626741" cy="1569660"/>
              </a:xfrm>
              <a:prstGeom prst="rect">
                <a:avLst/>
              </a:prstGeom>
              <a:blipFill>
                <a:blip r:embed="rId3"/>
                <a:stretch>
                  <a:fillRect l="-1976" t="-3488" b="-736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935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>
            <a:alpha val="2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15453" y="529389"/>
            <a:ext cx="6144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Increase / decrease by a percentage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232" y="1288642"/>
            <a:ext cx="10363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Due to </a:t>
            </a:r>
            <a:r>
              <a:rPr lang="en-AU" sz="2400" dirty="0">
                <a:solidFill>
                  <a:srgbClr val="002060"/>
                </a:solidFill>
                <a:latin typeface="Rockwell" panose="02060603020205020403"/>
              </a:rPr>
              <a:t>covid the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population decreased by 3.5%. If the original population was 42,360,000 determine the new population.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F8D506-4D85-4CBC-8A48-93987E20D9C6}"/>
              </a:ext>
            </a:extLst>
          </p:cNvPr>
          <p:cNvSpPr txBox="1"/>
          <p:nvPr/>
        </p:nvSpPr>
        <p:spPr>
          <a:xfrm>
            <a:off x="6962404" y="2572010"/>
            <a:ext cx="51978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Expert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-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Decrease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100 </a:t>
            </a:r>
            <a:r>
              <a:rPr kumimoji="0" lang="en-AU" sz="2400" b="1" i="0" u="sng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take away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the % value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Divide by 100 (multiplier) 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Multiply by original amount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Answer the question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53E0A2-00B9-4B5C-89FB-567C6D7A4FC0}"/>
              </a:ext>
            </a:extLst>
          </p:cNvPr>
          <p:cNvSpPr txBox="1"/>
          <p:nvPr/>
        </p:nvSpPr>
        <p:spPr>
          <a:xfrm>
            <a:off x="343027" y="2572010"/>
            <a:ext cx="78050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Steps: 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Calculate percentage of amount.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subtract from</a:t>
            </a:r>
            <a:r>
              <a:rPr kumimoji="0" lang="en-AU" sz="2400" b="0" i="0" u="none" strike="noStrike" kern="1200" cap="none" spc="0" normalizeH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 the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 original amount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Answer 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8ED825-D44F-45D0-B441-CE56CF71E726}"/>
                  </a:ext>
                </a:extLst>
              </p:cNvPr>
              <p:cNvSpPr txBox="1"/>
              <p:nvPr/>
            </p:nvSpPr>
            <p:spPr>
              <a:xfrm>
                <a:off x="512862" y="4725403"/>
                <a:ext cx="7749307" cy="1360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0" indent="-342900" defTabSz="457200">
                  <a:buClr>
                    <a:srgbClr val="002060"/>
                  </a:buClr>
                  <a:buFontTx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AU" sz="24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3.5</m:t>
                        </m:r>
                      </m:num>
                      <m:den>
                        <m:r>
                          <a:rPr kumimoji="0" lang="en-AU" sz="24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100</m:t>
                        </m:r>
                      </m:den>
                    </m:f>
                    <m:r>
                      <a:rPr kumimoji="0" lang="en-AU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AU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/>
                    <a:ea typeface="+mn-ea"/>
                    <a:cs typeface="+mn-cs"/>
                  </a:rPr>
                  <a:t> </a:t>
                </a:r>
                <a:r>
                  <a:rPr lang="en-AU" sz="2400" dirty="0">
                    <a:solidFill>
                      <a:srgbClr val="FF0000"/>
                    </a:solidFill>
                    <a:latin typeface="Rockwell" panose="02060603020205020403"/>
                  </a:rPr>
                  <a:t>42 360 000</a:t>
                </a:r>
                <a:r>
                  <a:rPr lang="en-AU" sz="2400" dirty="0">
                    <a:solidFill>
                      <a:srgbClr val="FF0000"/>
                    </a:solidFill>
                  </a:rPr>
                  <a:t> = 1 482 600 </a:t>
                </a:r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ckwell" panose="02060603020205020403"/>
                  <a:ea typeface="+mn-ea"/>
                  <a:cs typeface="+mn-cs"/>
                </a:endParaRPr>
              </a:p>
              <a:p>
                <a:pPr marL="342900" lvl="0" indent="-342900" defTabSz="457200">
                  <a:buClr>
                    <a:srgbClr val="002060"/>
                  </a:buClr>
                  <a:buFontTx/>
                  <a:buAutoNum type="arabicPeriod"/>
                </a:pPr>
                <a:r>
                  <a:rPr lang="en-AU" sz="2400" dirty="0">
                    <a:solidFill>
                      <a:srgbClr val="FF0000"/>
                    </a:solidFill>
                  </a:rPr>
                  <a:t>42 360 000-1 482 600  </a:t>
                </a: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/>
                    <a:ea typeface="+mn-ea"/>
                    <a:cs typeface="+mn-cs"/>
                  </a:rPr>
                  <a:t>= 40</a:t>
                </a:r>
                <a:r>
                  <a:rPr kumimoji="0" lang="en-AU" sz="2400" b="0" i="0" u="none" strike="noStrike" kern="1200" cap="none" spc="0" normalizeH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/>
                    <a:ea typeface="+mn-ea"/>
                    <a:cs typeface="+mn-cs"/>
                  </a:rPr>
                  <a:t> 877 400</a:t>
                </a:r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ckwell" panose="02060603020205020403"/>
                  <a:ea typeface="+mn-ea"/>
                  <a:cs typeface="+mn-cs"/>
                </a:endParaRPr>
              </a:p>
              <a:p>
                <a:pPr marL="342900" lvl="0" indent="-342900" defTabSz="457200">
                  <a:buClr>
                    <a:srgbClr val="002060"/>
                  </a:buClr>
                  <a:buFontTx/>
                  <a:buAutoNum type="arabicPeriod"/>
                </a:pPr>
                <a14:m>
                  <m:oMath xmlns:m="http://schemas.openxmlformats.org/officeDocument/2006/math">
                    <m:r>
                      <a:rPr kumimoji="0" lang="en-AU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∴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ckwell" panose="02060603020205020403"/>
                    <a:ea typeface="+mn-ea"/>
                    <a:cs typeface="+mn-cs"/>
                  </a:rPr>
                  <a:t> new population is </a:t>
                </a:r>
                <a:r>
                  <a:rPr lang="en-AU" sz="2400" dirty="0">
                    <a:solidFill>
                      <a:srgbClr val="FF0000"/>
                    </a:solidFill>
                  </a:rPr>
                  <a:t>40 877 400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8ED825-D44F-45D0-B441-CE56CF71E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862" y="4725403"/>
                <a:ext cx="7749307" cy="1360885"/>
              </a:xfrm>
              <a:prstGeom prst="rect">
                <a:avLst/>
              </a:prstGeom>
              <a:blipFill>
                <a:blip r:embed="rId2"/>
                <a:stretch>
                  <a:fillRect l="-1180" b="-89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724758F-310F-432C-8D33-53DBAEBDBEB2}"/>
              </a:ext>
            </a:extLst>
          </p:cNvPr>
          <p:cNvSpPr txBox="1"/>
          <p:nvPr/>
        </p:nvSpPr>
        <p:spPr>
          <a:xfrm>
            <a:off x="1580550" y="2637691"/>
            <a:ext cx="3015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Amateur- Decrease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74A2966-028A-4201-BC85-DAD1F6927976}"/>
                  </a:ext>
                </a:extLst>
              </p:cNvPr>
              <p:cNvSpPr txBox="1"/>
              <p:nvPr/>
            </p:nvSpPr>
            <p:spPr>
              <a:xfrm>
                <a:off x="7179596" y="4784528"/>
                <a:ext cx="4626741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206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/>
                    <a:ea typeface="+mn-ea"/>
                    <a:cs typeface="+mn-cs"/>
                  </a:rPr>
                  <a:t>100 </a:t>
                </a:r>
                <a:r>
                  <a:rPr lang="en-AU" sz="2400" dirty="0">
                    <a:solidFill>
                      <a:srgbClr val="FF0000"/>
                    </a:solidFill>
                    <a:latin typeface="Rockwell" panose="02060603020205020403"/>
                  </a:rPr>
                  <a:t>– 3.5</a:t>
                </a: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/>
                    <a:ea typeface="+mn-ea"/>
                    <a:cs typeface="+mn-cs"/>
                  </a:rPr>
                  <a:t> = </a:t>
                </a:r>
                <a:r>
                  <a:rPr lang="en-AU" sz="2400" dirty="0">
                    <a:solidFill>
                      <a:srgbClr val="FF0000"/>
                    </a:solidFill>
                    <a:latin typeface="Rockwell" panose="02060603020205020403"/>
                  </a:rPr>
                  <a:t>96.5</a:t>
                </a:r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ckwell" panose="02060603020205020403"/>
                  <a:ea typeface="+mn-ea"/>
                  <a:cs typeface="+mn-cs"/>
                </a:endParaRPr>
              </a:p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206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lang="en-AU" sz="2400" dirty="0">
                    <a:solidFill>
                      <a:prstClr val="black"/>
                    </a:solidFill>
                    <a:latin typeface="Rockwell" panose="02060603020205020403"/>
                  </a:rPr>
                  <a:t>M=96.5</a:t>
                </a: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ckwell" panose="02060603020205020403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÷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/>
                    <a:ea typeface="+mn-ea"/>
                    <a:cs typeface="+mn-cs"/>
                  </a:rPr>
                  <a:t> 100 = </a:t>
                </a:r>
                <a:r>
                  <a:rPr lang="en-AU" sz="2400" dirty="0">
                    <a:solidFill>
                      <a:srgbClr val="FF0000"/>
                    </a:solidFill>
                    <a:latin typeface="Rockwell" panose="02060603020205020403"/>
                  </a:rPr>
                  <a:t>0.965</a:t>
                </a:r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ckwell" panose="02060603020205020403"/>
                  <a:ea typeface="+mn-ea"/>
                  <a:cs typeface="+mn-cs"/>
                </a:endParaRPr>
              </a:p>
              <a:p>
                <a:pPr marL="342900" lvl="0" indent="-342900" defTabSz="457200">
                  <a:buClr>
                    <a:srgbClr val="002060"/>
                  </a:buClr>
                  <a:buFontTx/>
                  <a:buAutoNum type="arabicPeriod"/>
                </a:pPr>
                <a:r>
                  <a:rPr kumimoji="0" lang="en-AU" sz="24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ea typeface="Cambria Math" panose="02040503050406030204" pitchFamily="18" charset="0"/>
                    <a:cs typeface="+mn-cs"/>
                  </a:rPr>
                  <a:t>0.965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/>
                    <a:ea typeface="+mn-ea"/>
                    <a:cs typeface="+mn-cs"/>
                  </a:rPr>
                  <a:t> </a:t>
                </a:r>
                <a:r>
                  <a:rPr lang="en-AU" sz="2400" dirty="0">
                    <a:solidFill>
                      <a:srgbClr val="FF0000"/>
                    </a:solidFill>
                  </a:rPr>
                  <a:t>42 360 000 </a:t>
                </a: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/>
                    <a:ea typeface="+mn-ea"/>
                    <a:cs typeface="+mn-cs"/>
                  </a:rPr>
                  <a:t>= </a:t>
                </a:r>
              </a:p>
              <a:p>
                <a:pPr marL="342900" lvl="0" indent="-342900" defTabSz="457200">
                  <a:buClr>
                    <a:srgbClr val="002060"/>
                  </a:buClr>
                  <a:buFontTx/>
                  <a:buAutoNum type="arabicPeriod"/>
                </a:pPr>
                <a14:m>
                  <m:oMath xmlns:m="http://schemas.openxmlformats.org/officeDocument/2006/math">
                    <m:r>
                      <a:rPr kumimoji="0" lang="en-AU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∴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ckwell" panose="02060603020205020403"/>
                    <a:ea typeface="+mn-ea"/>
                    <a:cs typeface="+mn-cs"/>
                  </a:rPr>
                  <a:t> new population is </a:t>
                </a:r>
              </a:p>
              <a:p>
                <a:pPr lvl="0" defTabSz="457200">
                  <a:buClr>
                    <a:srgbClr val="002060"/>
                  </a:buClr>
                </a:pPr>
                <a:r>
                  <a:rPr lang="en-AU" sz="2400" dirty="0">
                    <a:solidFill>
                      <a:srgbClr val="FF0000"/>
                    </a:solidFill>
                  </a:rPr>
                  <a:t>40 877 400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74A2966-028A-4201-BC85-DAD1F6927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9596" y="4784528"/>
                <a:ext cx="4626741" cy="1938992"/>
              </a:xfrm>
              <a:prstGeom prst="rect">
                <a:avLst/>
              </a:prstGeom>
              <a:blipFill>
                <a:blip r:embed="rId3"/>
                <a:stretch>
                  <a:fillRect l="-2108" t="-2830" b="-59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4065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>
            <a:alpha val="2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8812" y="679034"/>
            <a:ext cx="9657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Copy and complete the following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483475"/>
              </p:ext>
            </p:extLst>
          </p:nvPr>
        </p:nvGraphicFramePr>
        <p:xfrm>
          <a:off x="1191084" y="1628192"/>
          <a:ext cx="10174620" cy="3983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924">
                  <a:extLst>
                    <a:ext uri="{9D8B030D-6E8A-4147-A177-3AD203B41FA5}">
                      <a16:colId xmlns:a16="http://schemas.microsoft.com/office/drawing/2014/main" val="1545583993"/>
                    </a:ext>
                  </a:extLst>
                </a:gridCol>
                <a:gridCol w="2034924">
                  <a:extLst>
                    <a:ext uri="{9D8B030D-6E8A-4147-A177-3AD203B41FA5}">
                      <a16:colId xmlns:a16="http://schemas.microsoft.com/office/drawing/2014/main" val="2975976321"/>
                    </a:ext>
                  </a:extLst>
                </a:gridCol>
                <a:gridCol w="2034924">
                  <a:extLst>
                    <a:ext uri="{9D8B030D-6E8A-4147-A177-3AD203B41FA5}">
                      <a16:colId xmlns:a16="http://schemas.microsoft.com/office/drawing/2014/main" val="2274413782"/>
                    </a:ext>
                  </a:extLst>
                </a:gridCol>
                <a:gridCol w="2034924">
                  <a:extLst>
                    <a:ext uri="{9D8B030D-6E8A-4147-A177-3AD203B41FA5}">
                      <a16:colId xmlns:a16="http://schemas.microsoft.com/office/drawing/2014/main" val="1066278378"/>
                    </a:ext>
                  </a:extLst>
                </a:gridCol>
                <a:gridCol w="2034924">
                  <a:extLst>
                    <a:ext uri="{9D8B030D-6E8A-4147-A177-3AD203B41FA5}">
                      <a16:colId xmlns:a16="http://schemas.microsoft.com/office/drawing/2014/main" val="106669518"/>
                    </a:ext>
                  </a:extLst>
                </a:gridCol>
              </a:tblGrid>
              <a:tr h="1006162">
                <a:tc>
                  <a:txBody>
                    <a:bodyPr/>
                    <a:lstStyle/>
                    <a:p>
                      <a:pPr algn="ct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Original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% Increase /decrease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Increase</a:t>
                      </a:r>
                      <a:r>
                        <a:rPr lang="en-AU" sz="24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/</a:t>
                      </a:r>
                    </a:p>
                    <a:p>
                      <a:pPr algn="ct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Decrease</a:t>
                      </a:r>
                    </a:p>
                    <a:p>
                      <a:pPr algn="ct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amount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Final amount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What is the multiplier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68555"/>
                  </a:ext>
                </a:extLst>
              </a:tr>
              <a:tr h="558979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45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8% </a:t>
                      </a:r>
                      <a:r>
                        <a:rPr lang="en-AU" sz="2400" dirty="0" err="1"/>
                        <a:t>inc</a:t>
                      </a:r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3299390"/>
                  </a:ext>
                </a:extLst>
              </a:tr>
              <a:tr h="558979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105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2.5% </a:t>
                      </a:r>
                      <a:r>
                        <a:rPr lang="en-AU" sz="2400" dirty="0" err="1"/>
                        <a:t>inc</a:t>
                      </a:r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497439"/>
                  </a:ext>
                </a:extLst>
              </a:tr>
              <a:tr h="558979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16.6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3% </a:t>
                      </a:r>
                      <a:r>
                        <a:rPr lang="en-AU" sz="2400" dirty="0" err="1"/>
                        <a:t>dec</a:t>
                      </a:r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984424"/>
                  </a:ext>
                </a:extLst>
              </a:tr>
              <a:tr h="558979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56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18% </a:t>
                      </a:r>
                      <a:r>
                        <a:rPr lang="en-AU" sz="2400" dirty="0" err="1"/>
                        <a:t>dec</a:t>
                      </a:r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0732087"/>
                  </a:ext>
                </a:extLst>
              </a:tr>
              <a:tr h="558979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80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200 % </a:t>
                      </a:r>
                      <a:r>
                        <a:rPr lang="en-AU" sz="2400" dirty="0" err="1"/>
                        <a:t>inc</a:t>
                      </a:r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7841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2376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F45717A-4787-4463-B4C7-94F8600E7B7A}"/>
              </a:ext>
            </a:extLst>
          </p:cNvPr>
          <p:cNvSpPr txBox="1"/>
          <p:nvPr/>
        </p:nvSpPr>
        <p:spPr>
          <a:xfrm>
            <a:off x="269271" y="190734"/>
            <a:ext cx="117862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2800" b="1" u="sng" dirty="0">
                <a:solidFill>
                  <a:prstClr val="black"/>
                </a:solidFill>
                <a:latin typeface="Calibri" panose="020F0502020204030204"/>
              </a:rPr>
              <a:t>Profit: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Definition: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financial gain, especially the difference between the amount earned and the amount spent in buying, operating, or producing something.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Percentage                         Increase          or          Decrease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sz="28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Loss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Definition: amount </a:t>
            </a:r>
            <a:r>
              <a:rPr lang="en-GB" sz="2800" dirty="0">
                <a:solidFill>
                  <a:prstClr val="black"/>
                </a:solidFill>
                <a:latin typeface="Calibri" panose="020F0502020204030204"/>
              </a:rPr>
              <a:t>that has been taken away or cannot be recovered.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Percentage                         Increase          or          Decrease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BE0C07-6C64-A886-7403-C65205EE0145}"/>
              </a:ext>
            </a:extLst>
          </p:cNvPr>
          <p:cNvSpPr/>
          <p:nvPr/>
        </p:nvSpPr>
        <p:spPr>
          <a:xfrm>
            <a:off x="6984221" y="1559529"/>
            <a:ext cx="1705384" cy="415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E4F27E-C235-BDC6-84B2-D1E619446941}"/>
              </a:ext>
            </a:extLst>
          </p:cNvPr>
          <p:cNvSpPr/>
          <p:nvPr/>
        </p:nvSpPr>
        <p:spPr>
          <a:xfrm>
            <a:off x="3838050" y="3288287"/>
            <a:ext cx="1705384" cy="415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1501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F45717A-4787-4463-B4C7-94F8600E7B7A}"/>
              </a:ext>
            </a:extLst>
          </p:cNvPr>
          <p:cNvSpPr txBox="1"/>
          <p:nvPr/>
        </p:nvSpPr>
        <p:spPr>
          <a:xfrm>
            <a:off x="269271" y="190734"/>
            <a:ext cx="54583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boat’s price was increased from $1200 by 12%. What is its new price?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C6712D-6707-4179-BE19-6A41B815402D}"/>
              </a:ext>
            </a:extLst>
          </p:cNvPr>
          <p:cNvSpPr txBox="1"/>
          <p:nvPr/>
        </p:nvSpPr>
        <p:spPr>
          <a:xfrm>
            <a:off x="7446018" y="0"/>
            <a:ext cx="78050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Expert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-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Increase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1" i="0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Add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 100 to the % value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Divide by 100 (multiplier)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Multiply by original amount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Answer the question 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9B8866-AFC8-4C93-A9C5-3FDB635C1E72}"/>
                  </a:ext>
                </a:extLst>
              </p:cNvPr>
              <p:cNvSpPr txBox="1"/>
              <p:nvPr/>
            </p:nvSpPr>
            <p:spPr>
              <a:xfrm>
                <a:off x="1688555" y="2255146"/>
                <a:ext cx="6440068" cy="24994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M=1.12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$</a:t>
                </a:r>
                <a:r>
                  <a:rPr kumimoji="0" lang="en-AU" sz="3600" b="1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1200</a:t>
                </a:r>
                <a14:m>
                  <m:oMath xmlns:m="http://schemas.openxmlformats.org/officeDocument/2006/math">
                    <m:r>
                      <a:rPr kumimoji="0" lang="en-AU" sz="3600" b="1" i="1" u="sng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</m:oMath>
                </a14:m>
                <a:r>
                  <a:rPr kumimoji="0" lang="en-AU" sz="3600" b="1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1.12</a:t>
                </a:r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 $1344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Boats new price is $1344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9B8866-AFC8-4C93-A9C5-3FDB635C1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555" y="2255146"/>
                <a:ext cx="6440068" cy="2499467"/>
              </a:xfrm>
              <a:prstGeom prst="rect">
                <a:avLst/>
              </a:prstGeom>
              <a:blipFill>
                <a:blip r:embed="rId2"/>
                <a:stretch>
                  <a:fillRect b="-82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C0C9318-3C44-41F6-9F36-18E5251C4BE4}"/>
              </a:ext>
            </a:extLst>
          </p:cNvPr>
          <p:cNvSpPr txBox="1"/>
          <p:nvPr/>
        </p:nvSpPr>
        <p:spPr>
          <a:xfrm>
            <a:off x="1274363" y="1068270"/>
            <a:ext cx="5458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is its new price?</a:t>
            </a:r>
          </a:p>
        </p:txBody>
      </p:sp>
    </p:spTree>
    <p:extLst>
      <p:ext uri="{BB962C8B-B14F-4D97-AF65-F5344CB8AC3E}">
        <p14:creationId xmlns:p14="http://schemas.microsoft.com/office/powerpoint/2010/main" val="3826744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FA7336-84C6-48C1-9C46-DA2C6A1F2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25" y="189110"/>
            <a:ext cx="5245080" cy="14713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806F35-149A-45E0-A077-04C668039749}"/>
              </a:ext>
            </a:extLst>
          </p:cNvPr>
          <p:cNvSpPr txBox="1"/>
          <p:nvPr/>
        </p:nvSpPr>
        <p:spPr>
          <a:xfrm>
            <a:off x="7422409" y="70032"/>
            <a:ext cx="51978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Expert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-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Decrease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100 </a:t>
            </a:r>
            <a:r>
              <a:rPr kumimoji="0" lang="en-AU" sz="2400" b="1" i="0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take away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the % value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Divide by 100 (multiplier) 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Multiply by original amount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Answer the question 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77A52B3-C886-473D-9B56-EB2CE87D709D}"/>
                  </a:ext>
                </a:extLst>
              </p:cNvPr>
              <p:cNvSpPr txBox="1"/>
              <p:nvPr/>
            </p:nvSpPr>
            <p:spPr>
              <a:xfrm>
                <a:off x="1688555" y="2255146"/>
                <a:ext cx="6440068" cy="3330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M=0.84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$</a:t>
                </a:r>
                <a:r>
                  <a:rPr kumimoji="0" lang="en-AU" sz="3600" b="1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1231.99</a:t>
                </a:r>
                <a14:m>
                  <m:oMath xmlns:m="http://schemas.openxmlformats.org/officeDocument/2006/math">
                    <m:r>
                      <a:rPr kumimoji="0" lang="en-AU" sz="3600" b="1" i="1" u="sng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r>
                      <a:rPr kumimoji="0" lang="en-AU" sz="3600" b="1" i="0" u="sng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𝟎</m:t>
                    </m:r>
                    <m:r>
                      <a:rPr kumimoji="0" lang="en-AU" sz="3600" b="1" i="0" u="sng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en-AU" sz="3600" b="1" i="0" u="sng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𝟖𝟒</m:t>
                    </m:r>
                  </m:oMath>
                </a14:m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 $1034.87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The diamond Ring’s new price is $1034.87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77A52B3-C886-473D-9B56-EB2CE87D7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555" y="2255146"/>
                <a:ext cx="6440068" cy="3330464"/>
              </a:xfrm>
              <a:prstGeom prst="rect">
                <a:avLst/>
              </a:prstGeom>
              <a:blipFill>
                <a:blip r:embed="rId3"/>
                <a:stretch>
                  <a:fillRect l="-1610" r="-3220" b="-60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D4F8DC6-67EB-4733-81AB-E9D5F3EE7A66}"/>
              </a:ext>
            </a:extLst>
          </p:cNvPr>
          <p:cNvSpPr txBox="1"/>
          <p:nvPr/>
        </p:nvSpPr>
        <p:spPr>
          <a:xfrm>
            <a:off x="258986" y="1010780"/>
            <a:ext cx="5458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is its new price?</a:t>
            </a:r>
          </a:p>
        </p:txBody>
      </p:sp>
    </p:spTree>
    <p:extLst>
      <p:ext uri="{BB962C8B-B14F-4D97-AF65-F5344CB8AC3E}">
        <p14:creationId xmlns:p14="http://schemas.microsoft.com/office/powerpoint/2010/main" val="1100241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D36FB89-9412-4649-B22D-728BF73C6AD0}"/>
              </a:ext>
            </a:extLst>
          </p:cNvPr>
          <p:cNvSpPr txBox="1"/>
          <p:nvPr/>
        </p:nvSpPr>
        <p:spPr>
          <a:xfrm>
            <a:off x="269271" y="190734"/>
            <a:ext cx="54583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car bought for $560 was sold to receive a 23% profit.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D5375A-0454-4EF9-847E-D975B818561D}"/>
              </a:ext>
            </a:extLst>
          </p:cNvPr>
          <p:cNvSpPr txBox="1"/>
          <p:nvPr/>
        </p:nvSpPr>
        <p:spPr>
          <a:xfrm>
            <a:off x="7446018" y="0"/>
            <a:ext cx="78050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Expert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-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Increase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1" i="0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Add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 100 to the % value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Divide by 100 (multiplier)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Multiply by original amount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Answer the question 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AE2BCC-74DA-44FF-A34E-B0BCDDA189FF}"/>
                  </a:ext>
                </a:extLst>
              </p:cNvPr>
              <p:cNvSpPr txBox="1"/>
              <p:nvPr/>
            </p:nvSpPr>
            <p:spPr>
              <a:xfrm>
                <a:off x="1688555" y="2255146"/>
                <a:ext cx="6440068" cy="3330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M=1.23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$</a:t>
                </a:r>
                <a:r>
                  <a:rPr kumimoji="0" lang="en-AU" sz="3600" b="1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560</a:t>
                </a:r>
                <a14:m>
                  <m:oMath xmlns:m="http://schemas.openxmlformats.org/officeDocument/2006/math">
                    <m:r>
                      <a:rPr kumimoji="0" lang="en-AU" sz="3600" b="1" i="1" u="sng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</m:oMath>
                </a14:m>
                <a:r>
                  <a:rPr kumimoji="0" lang="en-AU" sz="3600" b="1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1.23</a:t>
                </a:r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 $688.80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The cars new price is $688.80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AE2BCC-74DA-44FF-A34E-B0BCDDA18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555" y="2255146"/>
                <a:ext cx="6440068" cy="33304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0ED5D12-A1DD-4B05-AF6C-B10FC4EC5795}"/>
              </a:ext>
            </a:extLst>
          </p:cNvPr>
          <p:cNvSpPr txBox="1"/>
          <p:nvPr/>
        </p:nvSpPr>
        <p:spPr>
          <a:xfrm>
            <a:off x="230081" y="1144841"/>
            <a:ext cx="5458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is its new price?</a:t>
            </a:r>
          </a:p>
        </p:txBody>
      </p:sp>
    </p:spTree>
    <p:extLst>
      <p:ext uri="{BB962C8B-B14F-4D97-AF65-F5344CB8AC3E}">
        <p14:creationId xmlns:p14="http://schemas.microsoft.com/office/powerpoint/2010/main" val="3648321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1C817E-41D8-4BC7-A39B-80953BCC7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67" y="214963"/>
            <a:ext cx="4939706" cy="13456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C65817-1C1C-4080-9CA9-FFE2ED552972}"/>
              </a:ext>
            </a:extLst>
          </p:cNvPr>
          <p:cNvSpPr txBox="1"/>
          <p:nvPr/>
        </p:nvSpPr>
        <p:spPr>
          <a:xfrm>
            <a:off x="7590703" y="0"/>
            <a:ext cx="51978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Expert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-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Decrease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100 </a:t>
            </a:r>
            <a:r>
              <a:rPr kumimoji="0" lang="en-AU" sz="2400" b="1" i="0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take away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the % value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Divide by 100 (multiplier) 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Multiply by original amount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Answer the question 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BD751F-32E1-4C33-A87B-20BA50E50CD4}"/>
                  </a:ext>
                </a:extLst>
              </p:cNvPr>
              <p:cNvSpPr txBox="1"/>
              <p:nvPr/>
            </p:nvSpPr>
            <p:spPr>
              <a:xfrm>
                <a:off x="1688555" y="2255146"/>
                <a:ext cx="6440068" cy="4161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M=0.915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$</a:t>
                </a:r>
                <a:r>
                  <a:rPr kumimoji="0" lang="en-AU" sz="3600" b="1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1800</a:t>
                </a:r>
                <a14:m>
                  <m:oMath xmlns:m="http://schemas.openxmlformats.org/officeDocument/2006/math">
                    <m:r>
                      <a:rPr kumimoji="0" lang="en-AU" sz="3600" b="1" i="1" u="sng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r>
                      <a:rPr kumimoji="0" lang="en-AU" sz="3600" b="1" i="0" u="sng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𝟎</m:t>
                    </m:r>
                    <m:r>
                      <a:rPr kumimoji="0" lang="en-AU" sz="3600" b="1" i="0" u="sng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en-AU" sz="3600" b="1" i="0" u="sng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𝟗𝟏𝟓</m:t>
                    </m:r>
                  </m:oMath>
                </a14:m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 $1647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The disc player new price is $1647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BD751F-32E1-4C33-A87B-20BA50E50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555" y="2255146"/>
                <a:ext cx="6440068" cy="4161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1DA60A1-40AC-4545-83A6-3F3A68B05FD5}"/>
              </a:ext>
            </a:extLst>
          </p:cNvPr>
          <p:cNvSpPr txBox="1"/>
          <p:nvPr/>
        </p:nvSpPr>
        <p:spPr>
          <a:xfrm>
            <a:off x="1408998" y="887794"/>
            <a:ext cx="5458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is its new price?</a:t>
            </a:r>
          </a:p>
        </p:txBody>
      </p:sp>
    </p:spTree>
    <p:extLst>
      <p:ext uri="{BB962C8B-B14F-4D97-AF65-F5344CB8AC3E}">
        <p14:creationId xmlns:p14="http://schemas.microsoft.com/office/powerpoint/2010/main" val="1049238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E9357B-C9A5-4AD8-A5BE-578DEA3461AA}"/>
              </a:ext>
            </a:extLst>
          </p:cNvPr>
          <p:cNvSpPr txBox="1"/>
          <p:nvPr/>
        </p:nvSpPr>
        <p:spPr>
          <a:xfrm>
            <a:off x="637649" y="611470"/>
            <a:ext cx="54583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Rob sold his $63 AFL ticket for a 36% profit.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044443-A4A0-42A8-894F-578E6D01B62B}"/>
              </a:ext>
            </a:extLst>
          </p:cNvPr>
          <p:cNvSpPr txBox="1"/>
          <p:nvPr/>
        </p:nvSpPr>
        <p:spPr>
          <a:xfrm>
            <a:off x="7446018" y="0"/>
            <a:ext cx="78050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Expert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-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Increase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1" i="0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Add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 100 to the % value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Divide by 100 (multiplier)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Multiply by original amount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Answer the question 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24EF40-C8BE-41B2-AB2E-DD3D5BD5A996}"/>
                  </a:ext>
                </a:extLst>
              </p:cNvPr>
              <p:cNvSpPr txBox="1"/>
              <p:nvPr/>
            </p:nvSpPr>
            <p:spPr>
              <a:xfrm>
                <a:off x="1688555" y="2255146"/>
                <a:ext cx="6440068" cy="4161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M=1.36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$</a:t>
                </a:r>
                <a:r>
                  <a:rPr kumimoji="0" lang="en-AU" sz="3600" b="1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63</a:t>
                </a:r>
                <a14:m>
                  <m:oMath xmlns:m="http://schemas.openxmlformats.org/officeDocument/2006/math">
                    <m:r>
                      <a:rPr kumimoji="0" lang="en-AU" sz="3600" b="1" i="1" u="sng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</m:oMath>
                </a14:m>
                <a:r>
                  <a:rPr kumimoji="0" lang="en-AU" sz="3600" b="1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1.36</a:t>
                </a:r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 $85.68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The AFL tickets new price is $85.68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24EF40-C8BE-41B2-AB2E-DD3D5BD5A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555" y="2255146"/>
                <a:ext cx="6440068" cy="41614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96048E5-C36D-4531-BC62-FE385C3D11B1}"/>
              </a:ext>
            </a:extLst>
          </p:cNvPr>
          <p:cNvSpPr txBox="1"/>
          <p:nvPr/>
        </p:nvSpPr>
        <p:spPr>
          <a:xfrm>
            <a:off x="1734368" y="1042357"/>
            <a:ext cx="5458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is its new price?</a:t>
            </a:r>
          </a:p>
        </p:txBody>
      </p:sp>
    </p:spTree>
    <p:extLst>
      <p:ext uri="{BB962C8B-B14F-4D97-AF65-F5344CB8AC3E}">
        <p14:creationId xmlns:p14="http://schemas.microsoft.com/office/powerpoint/2010/main" val="381724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864</Words>
  <Application>Microsoft Office PowerPoint</Application>
  <PresentationFormat>Widescreen</PresentationFormat>
  <Paragraphs>226</Paragraphs>
  <Slides>16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Rockwell</vt:lpstr>
      <vt:lpstr>Rockwell Condensed</vt:lpstr>
      <vt:lpstr>Wingdings</vt:lpstr>
      <vt:lpstr>Office Theme</vt:lpstr>
      <vt:lpstr>Wood 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GALE Denham [Busselton Senior High School]</dc:creator>
  <cp:lastModifiedBy>DAVIES Rhys [Busselton Senior High School]</cp:lastModifiedBy>
  <cp:revision>7</cp:revision>
  <dcterms:created xsi:type="dcterms:W3CDTF">2021-11-04T02:13:36Z</dcterms:created>
  <dcterms:modified xsi:type="dcterms:W3CDTF">2022-09-19T00:25:04Z</dcterms:modified>
</cp:coreProperties>
</file>
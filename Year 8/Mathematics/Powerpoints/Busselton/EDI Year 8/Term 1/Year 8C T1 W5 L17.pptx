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92" r:id="rId3"/>
    <p:sldId id="282" r:id="rId4"/>
    <p:sldId id="276" r:id="rId5"/>
    <p:sldId id="283" r:id="rId6"/>
    <p:sldId id="290" r:id="rId7"/>
    <p:sldId id="289" r:id="rId8"/>
    <p:sldId id="284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2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93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3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658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62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401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08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218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192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90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76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462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207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540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706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5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11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5" y="2032295"/>
            <a:ext cx="82049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Know and be able to use the second law of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6207" y="4200785"/>
            <a:ext cx="85486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Law #1. 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Law #2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6ABE7-6A4F-4722-99AB-82C27AEDB375}"/>
              </a:ext>
            </a:extLst>
          </p:cNvPr>
          <p:cNvSpPr txBox="1"/>
          <p:nvPr/>
        </p:nvSpPr>
        <p:spPr>
          <a:xfrm>
            <a:off x="2626207" y="971800"/>
            <a:ext cx="8204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First and second law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79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/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2ED93-C9CF-4FEA-ACF4-E94DD58F3541}"/>
              </a:ext>
            </a:extLst>
          </p:cNvPr>
          <p:cNvSpPr txBox="1"/>
          <p:nvPr/>
        </p:nvSpPr>
        <p:spPr>
          <a:xfrm>
            <a:off x="5439051" y="4525859"/>
            <a:ext cx="304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  8 x 8 x 8 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AEAE-66DF-49C9-88FE-E4AC1724A448}"/>
              </a:ext>
            </a:extLst>
          </p:cNvPr>
          <p:cNvSpPr txBox="1"/>
          <p:nvPr/>
        </p:nvSpPr>
        <p:spPr>
          <a:xfrm>
            <a:off x="2068497" y="958788"/>
            <a:ext cx="1908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BASE</a:t>
            </a:r>
            <a:r>
              <a:rPr lang="en-US" dirty="0"/>
              <a:t> number </a:t>
            </a:r>
            <a:r>
              <a:rPr lang="en-US" b="1" dirty="0"/>
              <a:t>(BIG IS BASE) </a:t>
            </a:r>
          </a:p>
          <a:p>
            <a:r>
              <a:rPr lang="en-US" dirty="0"/>
              <a:t>It is the number that is repeated in the multiplication.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EE7BE-57B4-4A62-9286-F00B443398FD}"/>
              </a:ext>
            </a:extLst>
          </p:cNvPr>
          <p:cNvSpPr txBox="1"/>
          <p:nvPr/>
        </p:nvSpPr>
        <p:spPr>
          <a:xfrm>
            <a:off x="8611340" y="506027"/>
            <a:ext cx="3258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index number </a:t>
            </a:r>
            <a:r>
              <a:rPr lang="en-US" dirty="0"/>
              <a:t>(or exponent, indices or power)</a:t>
            </a:r>
          </a:p>
          <a:p>
            <a:endParaRPr lang="en-US" dirty="0"/>
          </a:p>
          <a:p>
            <a:r>
              <a:rPr lang="en-US" dirty="0"/>
              <a:t>How many of the Base number we need in the multiplication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AB458C-F61E-4AAE-A25D-60435A4ADFCA}"/>
              </a:ext>
            </a:extLst>
          </p:cNvPr>
          <p:cNvCxnSpPr/>
          <p:nvPr/>
        </p:nvCxnSpPr>
        <p:spPr>
          <a:xfrm>
            <a:off x="3861786" y="1438183"/>
            <a:ext cx="1577265" cy="1099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C0F867-5A06-4C7E-9783-B9D833D6E613}"/>
              </a:ext>
            </a:extLst>
          </p:cNvPr>
          <p:cNvCxnSpPr/>
          <p:nvPr/>
        </p:nvCxnSpPr>
        <p:spPr>
          <a:xfrm flipH="1">
            <a:off x="7137647" y="861134"/>
            <a:ext cx="1562468" cy="8966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14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0781" y="518652"/>
            <a:ext cx="624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First Law of Indices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78805" y="1318459"/>
            <a:ext cx="8087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terms with the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same base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are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together then the powers can be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added.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41689" y="2193030"/>
                <a:ext cx="46879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p>
                      </m:sSup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0" lang="en-A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89" y="2193030"/>
                <a:ext cx="468791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47739" y="3115166"/>
                <a:ext cx="3348507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Examples: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39" y="3115166"/>
                <a:ext cx="3348507" cy="1877437"/>
              </a:xfrm>
              <a:prstGeom prst="rect">
                <a:avLst/>
              </a:prstGeom>
              <a:blipFill>
                <a:blip r:embed="rId3"/>
                <a:stretch>
                  <a:fillRect l="-2914" t="-2597" b="-64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08867" y="3595349"/>
                <a:ext cx="330987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(−3)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(−3)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0" lang="en-AU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(−3)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(−3)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867" y="3595349"/>
                <a:ext cx="3309870" cy="1354217"/>
              </a:xfrm>
              <a:prstGeom prst="rect">
                <a:avLst/>
              </a:prstGeom>
              <a:blipFill>
                <a:blip r:embed="rId4"/>
                <a:stretch>
                  <a:fillRect l="-2762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18737" y="3595348"/>
                <a:ext cx="3048000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0" lang="en-AU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3+4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2+6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737" y="3595348"/>
                <a:ext cx="3048000" cy="1354217"/>
              </a:xfrm>
              <a:prstGeom prst="rect">
                <a:avLst/>
              </a:prstGeom>
              <a:blipFill>
                <a:blip r:embed="rId5"/>
                <a:stretch>
                  <a:fillRect l="-3000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2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p"/>
      <p:bldP spid="6" grpId="0" build="p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8704" y="318045"/>
            <a:ext cx="796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Simplifying expressions using indices - multiplication.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762652" y="968008"/>
                <a:ext cx="1418220" cy="135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3+2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652" y="968008"/>
                <a:ext cx="1418220" cy="1358385"/>
              </a:xfrm>
              <a:prstGeom prst="rect">
                <a:avLst/>
              </a:prstGeom>
              <a:blipFill>
                <a:blip r:embed="rId2"/>
                <a:stretch>
                  <a:fillRect l="-6438" b="-9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891517" y="995109"/>
                <a:ext cx="3510231" cy="135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= 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2 </a:t>
                </a:r>
                <a14:m>
                  <m:oMath xmlns:m="http://schemas.openxmlformats.org/officeDocument/2006/math">
                    <m:r>
                      <a:rPr kumimoji="0" lang="en-AU" sz="2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2 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517" y="995109"/>
                <a:ext cx="3510231" cy="1358385"/>
              </a:xfrm>
              <a:prstGeom prst="rect">
                <a:avLst/>
              </a:prstGeom>
              <a:blipFill>
                <a:blip r:embed="rId3"/>
                <a:stretch>
                  <a:fillRect l="-2604" b="-9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293864" y="2726135"/>
                <a:ext cx="3931822" cy="4456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Simplify – leaving answers in index form.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×3 ×2 ×3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×2 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2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×2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2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3 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2 ×3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64" y="2726135"/>
                <a:ext cx="3931822" cy="4456156"/>
              </a:xfrm>
              <a:prstGeom prst="rect">
                <a:avLst/>
              </a:prstGeom>
              <a:blipFill>
                <a:blip r:embed="rId4"/>
                <a:stretch>
                  <a:fillRect l="-2326" t="-10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D8D80-1A17-4651-BE6E-CF0B7A6A0A46}"/>
                  </a:ext>
                </a:extLst>
              </p:cNvPr>
              <p:cNvSpPr txBox="1"/>
              <p:nvPr/>
            </p:nvSpPr>
            <p:spPr>
              <a:xfrm>
                <a:off x="8409677" y="968008"/>
                <a:ext cx="1418220" cy="1385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D8D80-1A17-4651-BE6E-CF0B7A6A0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677" y="968008"/>
                <a:ext cx="1418220" cy="1385829"/>
              </a:xfrm>
              <a:prstGeom prst="rect">
                <a:avLst/>
              </a:prstGeom>
              <a:blipFill>
                <a:blip r:embed="rId5"/>
                <a:stretch>
                  <a:fillRect l="-6897" b="-70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91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271" y="657968"/>
            <a:ext cx="6954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Simplifying expressions using indices - division.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F2E07B-0778-4DA8-8F93-E71763794FC3}"/>
                  </a:ext>
                </a:extLst>
              </p:cNvPr>
              <p:cNvSpPr txBox="1"/>
              <p:nvPr/>
            </p:nvSpPr>
            <p:spPr>
              <a:xfrm>
                <a:off x="2519313" y="1914663"/>
                <a:ext cx="4591639" cy="2655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×2×2×2×2×2×2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×2×2×2</m:t>
                        </m:r>
                      </m:den>
                    </m:f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×2×2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den>
                    </m:f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answer left in index form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F2E07B-0778-4DA8-8F93-E7176379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313" y="1914663"/>
                <a:ext cx="4591639" cy="2655086"/>
              </a:xfrm>
              <a:prstGeom prst="rect">
                <a:avLst/>
              </a:prstGeom>
              <a:blipFill>
                <a:blip r:embed="rId2"/>
                <a:stretch>
                  <a:fillRect l="-1992" b="-41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3FFAA0-6015-472D-926F-AD4D6FAB540C}"/>
                  </a:ext>
                </a:extLst>
              </p:cNvPr>
              <p:cNvSpPr txBox="1"/>
              <p:nvPr/>
            </p:nvSpPr>
            <p:spPr>
              <a:xfrm>
                <a:off x="7900899" y="3413492"/>
                <a:ext cx="1990075" cy="1559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7−4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3FFAA0-6015-472D-926F-AD4D6FAB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899" y="3413492"/>
                <a:ext cx="1990075" cy="1559658"/>
              </a:xfrm>
              <a:prstGeom prst="rect">
                <a:avLst/>
              </a:prstGeom>
              <a:blipFill>
                <a:blip r:embed="rId3"/>
                <a:stretch>
                  <a:fillRect l="-4587" b="-7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792539" y="1357545"/>
                <a:ext cx="3928056" cy="704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Cancel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18</m:t>
                        </m:r>
                      </m:den>
                    </m:f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539" y="1357545"/>
                <a:ext cx="3928056" cy="704552"/>
              </a:xfrm>
              <a:prstGeom prst="rect">
                <a:avLst/>
              </a:prstGeom>
              <a:blipFill>
                <a:blip r:embed="rId4"/>
                <a:stretch>
                  <a:fillRect l="-2326" b="-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38997" y="193183"/>
            <a:ext cx="1880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Whiteboards: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957477" y="1467023"/>
                <a:ext cx="2904476" cy="181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18</m:t>
                        </m:r>
                      </m:den>
                    </m:f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×2×3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×3×3</m:t>
                        </m:r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477" y="1467023"/>
                <a:ext cx="2904476" cy="1819409"/>
              </a:xfrm>
              <a:prstGeom prst="rect">
                <a:avLst/>
              </a:prstGeom>
              <a:blipFill>
                <a:blip r:embed="rId5"/>
                <a:stretch>
                  <a:fillRect l="-3145" b="-2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08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build="p"/>
      <p:bldP spid="3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1689" y="299300"/>
            <a:ext cx="624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Second Law of Indices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78805" y="912034"/>
            <a:ext cx="8087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terms with the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same base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are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divided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then the powers can be </a:t>
            </a:r>
            <a:r>
              <a:rPr kumimoji="0" lang="en-AU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subtracted.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71986" y="1757689"/>
                <a:ext cx="2511381" cy="1823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p>
                    </m:sSup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 </m:t>
                    </m:r>
                    <m:sSup>
                      <m:sSup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986" y="1757689"/>
                <a:ext cx="2511381" cy="1823000"/>
              </a:xfrm>
              <a:prstGeom prst="rect">
                <a:avLst/>
              </a:prstGeom>
              <a:blipFill>
                <a:blip r:embed="rId2"/>
                <a:stretch>
                  <a:fillRect l="-60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34860" y="3746230"/>
                <a:ext cx="3348507" cy="2085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Examples: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11−5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860" y="3746230"/>
                <a:ext cx="3348507" cy="2085507"/>
              </a:xfrm>
              <a:prstGeom prst="rect">
                <a:avLst/>
              </a:prstGeom>
              <a:blipFill>
                <a:blip r:embed="rId3"/>
                <a:stretch>
                  <a:fillRect l="-2914" t="-2339" b="-5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67067" y="4269450"/>
                <a:ext cx="1257838" cy="1562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5−11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067" y="4269450"/>
                <a:ext cx="1257838" cy="1562287"/>
              </a:xfrm>
              <a:prstGeom prst="rect">
                <a:avLst/>
              </a:prstGeom>
              <a:blipFill>
                <a:blip r:embed="rId4"/>
                <a:stretch>
                  <a:fillRect l="-7767" b="-77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338292" y="2438356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63046" y="1652511"/>
                <a:ext cx="2511381" cy="2182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p>
                    </m:sSup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 </m:t>
                    </m:r>
                    <m:sSup>
                      <m:sSup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AU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AU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046" y="1652511"/>
                <a:ext cx="2511381" cy="2182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93594" y="4788983"/>
            <a:ext cx="938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12663" y="4278052"/>
                <a:ext cx="1257838" cy="1867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11−5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663" y="4278052"/>
                <a:ext cx="1257838" cy="1867434"/>
              </a:xfrm>
              <a:prstGeom prst="rect">
                <a:avLst/>
              </a:prstGeom>
              <a:blipFill>
                <a:blip r:embed="rId6"/>
                <a:stretch>
                  <a:fillRect l="-7767" b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858259" y="4430625"/>
                <a:ext cx="1684986" cy="1558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11−11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59" y="4430625"/>
                <a:ext cx="1684986" cy="1558119"/>
              </a:xfrm>
              <a:prstGeom prst="rect">
                <a:avLst/>
              </a:prstGeom>
              <a:blipFill>
                <a:blip r:embed="rId7"/>
                <a:stretch>
                  <a:fillRect l="-5435" b="-8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31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5" grpId="0" build="p"/>
      <p:bldP spid="6" grpId="0" build="p"/>
      <p:bldP spid="8" grpId="0"/>
      <p:bldP spid="9" grpId="0" build="p"/>
      <p:bldP spid="11" grpId="0" build="p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1674" y="218941"/>
            <a:ext cx="475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White-boards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28045" y="888643"/>
            <a:ext cx="484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613435" y="2024010"/>
                <a:ext cx="649985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435" y="2024010"/>
                <a:ext cx="649985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20937" y="2027107"/>
                <a:ext cx="649985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37" y="2027107"/>
                <a:ext cx="649985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28439" y="2024010"/>
                <a:ext cx="649985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439" y="2024010"/>
                <a:ext cx="649985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35941" y="2024010"/>
                <a:ext cx="1431930" cy="956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kumimoji="0" lang="en-AU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AU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kumimoji="0" lang="en-AU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  <m: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×</m:t>
                          </m:r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941" y="2024010"/>
                <a:ext cx="1431930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728753" y="2024010"/>
                <a:ext cx="794576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AU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</m:t>
                              </m:r>
                            </m:e>
                            <m:sup>
                              <m:r>
                                <a:rPr kumimoji="0" lang="en-AU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753" y="2024010"/>
                <a:ext cx="794576" cy="9541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98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22097A-98CC-42F6-BDB0-19C8408C481D}"/>
                  </a:ext>
                </a:extLst>
              </p:cNvPr>
              <p:cNvSpPr txBox="1"/>
              <p:nvPr/>
            </p:nvSpPr>
            <p:spPr>
              <a:xfrm>
                <a:off x="3632341" y="1253746"/>
                <a:ext cx="6567728" cy="455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Simplify – leaving answers in index form.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× </m:t>
                            </m:r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2 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×5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3 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22097A-98CC-42F6-BDB0-19C8408C4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341" y="1253746"/>
                <a:ext cx="6567728" cy="4556888"/>
              </a:xfrm>
              <a:prstGeom prst="rect">
                <a:avLst/>
              </a:prstGeom>
              <a:blipFill>
                <a:blip r:embed="rId2"/>
                <a:stretch>
                  <a:fillRect l="-1486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640169" y="373488"/>
            <a:ext cx="6928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 and complete in exercise books.</a:t>
            </a:r>
          </a:p>
        </p:txBody>
      </p:sp>
    </p:spTree>
    <p:extLst>
      <p:ext uri="{BB962C8B-B14F-4D97-AF65-F5344CB8AC3E}">
        <p14:creationId xmlns:p14="http://schemas.microsoft.com/office/powerpoint/2010/main" val="157343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CEDD-A8C2-4E98-AFEC-3886262F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2521-F1BD-4905-BBC7-2B80C84A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the task sheet </a:t>
            </a:r>
            <a:r>
              <a:rPr lang="en-AU"/>
              <a:t>from yesterday. </a:t>
            </a:r>
          </a:p>
        </p:txBody>
      </p:sp>
    </p:spTree>
    <p:extLst>
      <p:ext uri="{BB962C8B-B14F-4D97-AF65-F5344CB8AC3E}">
        <p14:creationId xmlns:p14="http://schemas.microsoft.com/office/powerpoint/2010/main" val="391470215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372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8</cp:revision>
  <dcterms:created xsi:type="dcterms:W3CDTF">2022-02-28T08:02:44Z</dcterms:created>
  <dcterms:modified xsi:type="dcterms:W3CDTF">2022-02-28T23:57:23Z</dcterms:modified>
</cp:coreProperties>
</file>
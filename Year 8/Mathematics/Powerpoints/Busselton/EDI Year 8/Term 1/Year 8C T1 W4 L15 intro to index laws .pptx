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472" r:id="rId4"/>
    <p:sldId id="473" r:id="rId5"/>
    <p:sldId id="474" r:id="rId6"/>
    <p:sldId id="475" r:id="rId7"/>
    <p:sldId id="258" r:id="rId8"/>
    <p:sldId id="259" r:id="rId9"/>
    <p:sldId id="260" r:id="rId10"/>
    <p:sldId id="261" r:id="rId11"/>
    <p:sldId id="262" r:id="rId12"/>
    <p:sldId id="263" r:id="rId13"/>
    <p:sldId id="471" r:id="rId14"/>
    <p:sldId id="264" r:id="rId15"/>
    <p:sldId id="476" r:id="rId16"/>
    <p:sldId id="4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2DCD-F01A-4A39-A213-CD6950ADC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5D9F92-DEE2-4CFA-A587-D5587B031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BA06C-7292-4F5E-ADE1-28A9B01D7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1D50C-AA07-46D4-A718-FB5F2336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60516-061A-435F-B466-502F3615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8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2F373-5D68-4875-BE78-51C08A83F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C69BF-EB6E-4065-9CCC-0D0F51FD9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D1A68-0B1C-497B-9AD5-67046AB6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84F1D-08B1-414A-B941-9BF0C628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9592F-7D6F-449D-AAD4-21D21266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955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C555-064B-4CDB-BEED-6F2573EA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BF733-1D04-4CC3-8BFB-945244E8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2C59D-95C6-4668-8AC4-FDB96D51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968F8-6FEA-431F-8EE2-A667F53A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3DEAB-F501-4AAE-9A53-03591C19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8981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06FB-42A7-4D49-8BB4-13ABA049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6166D-C1C2-4642-9A30-0624365DD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4A61E-0C7B-44ED-9A8C-160E174E9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E3FBC-1F96-44C7-AED8-3CD8D8CB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8CFDD-9A14-48DA-855F-5081E858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48E23-E1D6-4095-94F1-A794D18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557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F68E-FB1D-4F39-8CF2-13433F810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61E44-0C93-44AE-A4AA-05149297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B49E8-4FF7-4C71-9DFA-C3A7B8651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4745-F4CC-4657-8A7B-297B57FB4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23430-233F-4A52-88B0-EA85C8539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AD879-3BF2-4137-9923-B5F3E424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BA977-8F14-43BC-B897-61B3B8544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0FE8C3-0278-4607-9F2E-A07985E4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69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04FE-5006-4D5A-ADA9-5A9807B3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2BFAB-48B8-4EA1-9446-4CD46EE6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99B21-ED76-4F89-83F5-DF49B0A3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DDC80-73E3-4849-9295-05BDB1E6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131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3FFCA0-1CB9-4796-8C63-0A0B7E44F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629AC9-DBD9-4990-9B5C-F575AFE04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BFA6A-16D0-45A3-9C14-BF85CA20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26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C77E7-10FE-4B6A-A061-2569FECF6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DA7B-72C6-4CBC-B517-0F85687ED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50DAD-0DC3-4C54-8F2F-F25C0546B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5AEB7-6AE2-4492-9F7D-8A102BFD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3E658-982E-4A76-95A6-7840C4A9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A0A44-3EBE-4B86-A733-DF7C38E8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8090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F43A4-D253-4548-A9B7-D97DEDF2D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73323C-35E9-4239-9767-DD4182FBE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A9C61-AD7E-4173-9592-606ABFC39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7BB2E-EE6F-4E9A-A604-F37548A7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6EC0-E17A-412D-ACCA-489662EB5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BCB3E-C6A5-4505-B388-07B72715D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1243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E9FDC-2282-4338-8CA2-82CFA874D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629BE-A9D5-4D2D-AC84-908F74BF4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87CF-FC8B-48FA-A7D2-7FE97DDB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AD64-5465-44BA-99DD-730E2675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FF207-9745-46C5-ABF3-36D74873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522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667F2A-6388-4909-9521-CA8236CC2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0EDB9-C473-4E67-A4CC-FCD361B02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4D7D5-22C7-4421-9046-7CC02759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F9B57-C68C-4294-AEB7-08AF8632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0CCC3-B224-48B1-BE2F-E919E5E5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504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71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971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028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478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49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749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319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51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270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6119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37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FB68F7-7BF1-46ED-AC83-62485E4FE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D6C97-3F39-4F15-B452-F47EBF80F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16CC-B71D-497B-81DC-7C4182D5F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F22C4-2CDF-4CC7-9A3F-73FEFF17256E}" type="datetimeFigureOut">
              <a:rPr lang="en-AU" smtClean="0"/>
              <a:t>24/02/2022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1D210-08A8-4542-B899-8EA5DE602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E679D-FAB4-4720-8ACB-A1D8426AB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C8D83-30B9-483C-B056-C37585A5B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9952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70871-8CD3-4AC4-8435-4030390FE5B2}" type="datetimeFigureOut">
              <a:rPr lang="en-GB" smtClean="0"/>
              <a:t>24/02/2022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ABEE5-FB37-4047-81B3-BD54020F7E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41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F94F7C-47F2-45BA-8D18-CDDE2E2C8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8D1B90-AFC1-4D0C-A8B9-88BFAAEC6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Index notation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Expand and simplify indices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Apply index laws to numerical expressions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Reteach </a:t>
            </a:r>
          </a:p>
          <a:p>
            <a:pPr lvl="1"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Indices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Exploring laws </a:t>
            </a:r>
          </a:p>
          <a:p>
            <a:pPr>
              <a:buFontTx/>
              <a:buChar char="-"/>
            </a:pP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C0B5CA-B12C-4148-998C-BD74BE3891AC}"/>
              </a:ext>
            </a:extLst>
          </p:cNvPr>
          <p:cNvSpPr txBox="1"/>
          <p:nvPr/>
        </p:nvSpPr>
        <p:spPr>
          <a:xfrm>
            <a:off x="7723573" y="4616388"/>
            <a:ext cx="22904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Need whiteboards.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105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813A0-1A95-41A9-83EE-3452EB70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Indices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F2879E-2928-4A45-A697-40B4BAC801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Repeated addition is the same as multiplication </a:t>
                </a:r>
              </a:p>
              <a:p>
                <a:pPr marL="0" indent="0" algn="ctr">
                  <a:buNone/>
                </a:pPr>
                <a:r>
                  <a:rPr lang="en-US" dirty="0"/>
                  <a:t>5 + 5 + 5 + 5 + 5 + 5 = 30 </a:t>
                </a:r>
              </a:p>
              <a:p>
                <a:pPr marL="0" indent="0" algn="ctr">
                  <a:buNone/>
                </a:pPr>
                <a:r>
                  <a:rPr lang="en-US" dirty="0"/>
                  <a:t>Same as: 5 x 6 = 30 </a:t>
                </a:r>
              </a:p>
              <a:p>
                <a:pPr marL="0" indent="0">
                  <a:buNone/>
                </a:pPr>
                <a:r>
                  <a:rPr lang="en-US" dirty="0"/>
                  <a:t>Repeated multiplication is where indices come in.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4 x 4 x 4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8 x 8 x 8 x 8 x 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6 x 6 x 6 x 6 x 6 x 6 x 6 x 6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F2879E-2928-4A45-A697-40B4BAC801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4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0302DA41-FFD4-4A60-9AA4-8D0BB61F9A30}"/>
              </a:ext>
            </a:extLst>
          </p:cNvPr>
          <p:cNvSpPr/>
          <p:nvPr/>
        </p:nvSpPr>
        <p:spPr>
          <a:xfrm>
            <a:off x="4145872" y="2322274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9AC346-2976-40AF-9F5A-33DB86368C8D}"/>
              </a:ext>
            </a:extLst>
          </p:cNvPr>
          <p:cNvSpPr/>
          <p:nvPr/>
        </p:nvSpPr>
        <p:spPr>
          <a:xfrm>
            <a:off x="4722921" y="2322274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3A1C88-C784-4653-B90E-E5D93CA62E69}"/>
              </a:ext>
            </a:extLst>
          </p:cNvPr>
          <p:cNvSpPr/>
          <p:nvPr/>
        </p:nvSpPr>
        <p:spPr>
          <a:xfrm>
            <a:off x="5237827" y="2322274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B3824D-2C98-49A8-9B06-1BE05A3CF87D}"/>
              </a:ext>
            </a:extLst>
          </p:cNvPr>
          <p:cNvSpPr/>
          <p:nvPr/>
        </p:nvSpPr>
        <p:spPr>
          <a:xfrm>
            <a:off x="5636948" y="2300396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279B3A-4924-4A23-AA6F-5D3B6457EC9C}"/>
              </a:ext>
            </a:extLst>
          </p:cNvPr>
          <p:cNvSpPr/>
          <p:nvPr/>
        </p:nvSpPr>
        <p:spPr>
          <a:xfrm>
            <a:off x="6213997" y="2300396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71F3EB-1DE4-4969-A96C-CDA382A6CDB4}"/>
              </a:ext>
            </a:extLst>
          </p:cNvPr>
          <p:cNvSpPr/>
          <p:nvPr/>
        </p:nvSpPr>
        <p:spPr>
          <a:xfrm>
            <a:off x="6728903" y="2300396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481B72-D6C7-4788-A268-C1E172FC161D}"/>
              </a:ext>
            </a:extLst>
          </p:cNvPr>
          <p:cNvSpPr/>
          <p:nvPr/>
        </p:nvSpPr>
        <p:spPr>
          <a:xfrm>
            <a:off x="6439270" y="2817204"/>
            <a:ext cx="514905" cy="4949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0E0D05-9544-4360-89F9-AA836E019F2B}"/>
              </a:ext>
            </a:extLst>
          </p:cNvPr>
          <p:cNvSpPr txBox="1"/>
          <p:nvPr/>
        </p:nvSpPr>
        <p:spPr>
          <a:xfrm>
            <a:off x="7474998" y="4536489"/>
            <a:ext cx="2787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is a lot easier and takes less room… it’s the “simplified” version.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89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31FE-788F-4D73-8878-D9636F25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B31F1-C2F1-4792-82F3-542569032A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Simplifying multiplication.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 x 2 x 2 x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9 x 9 x 9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:endParaRPr lang="en-AU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:r>
                  <a:rPr lang="en-AU" dirty="0"/>
                  <a:t>10 x 10 x 10 x 10 x 10 x 10 x 10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B31F1-C2F1-4792-82F3-542569032A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059B4-2B64-4959-B759-A603C9FD1834}"/>
                  </a:ext>
                </a:extLst>
              </p:cNvPr>
              <p:cNvSpPr txBox="1"/>
              <p:nvPr/>
            </p:nvSpPr>
            <p:spPr>
              <a:xfrm>
                <a:off x="6454066" y="2638466"/>
                <a:ext cx="29740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5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5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</m:t>
                          </m:r>
                        </m:e>
                        <m:sup>
                          <m:r>
                            <a:rPr kumimoji="0" lang="en-US" sz="5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kumimoji="0" lang="en-AU" sz="5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059B4-2B64-4959-B759-A603C9FD1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066" y="2638466"/>
                <a:ext cx="2974019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9745EF2-04DA-4139-9D00-28756D80A2DF}"/>
              </a:ext>
            </a:extLst>
          </p:cNvPr>
          <p:cNvSpPr txBox="1"/>
          <p:nvPr/>
        </p:nvSpPr>
        <p:spPr>
          <a:xfrm>
            <a:off x="8957568" y="4098143"/>
            <a:ext cx="20063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 number (number being multiplied)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6A16D-6196-40A0-BB05-7822B0CC4ECF}"/>
              </a:ext>
            </a:extLst>
          </p:cNvPr>
          <p:cNvSpPr txBox="1"/>
          <p:nvPr/>
        </p:nvSpPr>
        <p:spPr>
          <a:xfrm>
            <a:off x="9118846" y="1961863"/>
            <a:ext cx="20063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Index number (number of repeats for base number) 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C2CBA7-EDE0-4B0A-A8AE-9FA5FCCA026C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7941075" y="3420239"/>
            <a:ext cx="1016493" cy="11857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119A8F-AA4D-4F82-9465-F017ADECACD2}"/>
              </a:ext>
            </a:extLst>
          </p:cNvPr>
          <p:cNvCxnSpPr/>
          <p:nvPr/>
        </p:nvCxnSpPr>
        <p:spPr>
          <a:xfrm flipH="1">
            <a:off x="8256233" y="2227035"/>
            <a:ext cx="932155" cy="6049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0C2DDD73-E214-4B96-8AA1-16F93BD88826}"/>
              </a:ext>
            </a:extLst>
          </p:cNvPr>
          <p:cNvSpPr/>
          <p:nvPr/>
        </p:nvSpPr>
        <p:spPr>
          <a:xfrm rot="5400000">
            <a:off x="2644948" y="3446885"/>
            <a:ext cx="923330" cy="4536827"/>
          </a:xfrm>
          <a:prstGeom prst="rightBrace">
            <a:avLst>
              <a:gd name="adj1" fmla="val 818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97EF9B-E1C7-4543-B3E5-6C370754461F}"/>
              </a:ext>
            </a:extLst>
          </p:cNvPr>
          <p:cNvSpPr txBox="1"/>
          <p:nvPr/>
        </p:nvSpPr>
        <p:spPr>
          <a:xfrm>
            <a:off x="2184645" y="6201648"/>
            <a:ext cx="2006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Expanded form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0CABDDD9-A810-4B00-9DBC-FB970B16978B}"/>
              </a:ext>
            </a:extLst>
          </p:cNvPr>
          <p:cNvSpPr/>
          <p:nvPr/>
        </p:nvSpPr>
        <p:spPr>
          <a:xfrm rot="5400000">
            <a:off x="5511241" y="5393936"/>
            <a:ext cx="923330" cy="642724"/>
          </a:xfrm>
          <a:prstGeom prst="rightBrace">
            <a:avLst>
              <a:gd name="adj1" fmla="val 1781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1B5A8A-A1FF-4639-BCE6-D323ED347E90}"/>
              </a:ext>
            </a:extLst>
          </p:cNvPr>
          <p:cNvSpPr txBox="1"/>
          <p:nvPr/>
        </p:nvSpPr>
        <p:spPr>
          <a:xfrm>
            <a:off x="5291091" y="6245081"/>
            <a:ext cx="2006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Simplified form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253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5456-6000-4C25-8896-14E98BCA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D417-5616-4991-B48B-21B0FF4FE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Simplify: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2 x 2 x 2 x 2 x 2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8 x 8 x 8 x 8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12 x 12 x 12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3 x 3 x 3 x 3 x 3 x 3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5901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5456-6000-4C25-8896-14E98BCA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2D417-5616-4991-B48B-21B0FF4FE8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Expand: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2D417-5616-4991-B48B-21B0FF4FE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92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can I simplify:	4</a:t>
            </a:r>
            <a:r>
              <a:rPr lang="en-GB" baseline="30000" dirty="0"/>
              <a:t>5</a:t>
            </a:r>
            <a:r>
              <a:rPr lang="en-GB" dirty="0"/>
              <a:t> x 4</a:t>
            </a:r>
            <a:r>
              <a:rPr lang="en-GB" baseline="30000" dirty="0"/>
              <a:t>3</a:t>
            </a:r>
            <a:r>
              <a:rPr lang="en-GB" dirty="0"/>
              <a:t>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How can I simplify:  7</a:t>
            </a:r>
            <a:r>
              <a:rPr lang="en-GB" baseline="30000" dirty="0"/>
              <a:t>9</a:t>
            </a:r>
            <a:r>
              <a:rPr lang="en-GB" dirty="0"/>
              <a:t> x 7</a:t>
            </a:r>
            <a:r>
              <a:rPr lang="en-GB" baseline="30000" dirty="0"/>
              <a:t>6</a:t>
            </a:r>
            <a:r>
              <a:rPr lang="en-GB"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71664" y="2564905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x 4 x 4 x 4 x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2564905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x 4 x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5960" y="2556194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176" y="2556194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5520" y="4805864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x 7 x 7 x 7 x 7 x 7 x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976" y="4805864"/>
            <a:ext cx="3384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x 7 x 7 x 7 x 7 x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9936" y="4797153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4352" y="4797153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7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82013B-375D-4A8E-8004-FB3900ABE7F0}"/>
              </a:ext>
            </a:extLst>
          </p:cNvPr>
          <p:cNvSpPr txBox="1"/>
          <p:nvPr/>
        </p:nvSpPr>
        <p:spPr>
          <a:xfrm>
            <a:off x="2273170" y="5734765"/>
            <a:ext cx="7645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pattern do we notice about the pattern of the index number? 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796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Law 1 : Multiplication</a:t>
            </a:r>
            <a:endParaRPr lang="en-US" dirty="0"/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4477990" y="1404938"/>
            <a:ext cx="15039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6443316" y="1439863"/>
            <a:ext cx="11608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4425603" y="2144713"/>
            <a:ext cx="15039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6390929" y="2179638"/>
            <a:ext cx="9877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4425603" y="2936875"/>
            <a:ext cx="15039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 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6390929" y="2971800"/>
            <a:ext cx="11608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1524000" y="3752850"/>
            <a:ext cx="889248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 Rule: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multiplying terms with the same base, you add the indices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 a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GB" sz="3200" b="0" i="0" u="none" strike="noStrike" kern="1200" cap="none" spc="0" normalizeH="0" baseline="3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m+n</a:t>
            </a:r>
            <a:endParaRPr kumimoji="0" lang="en-US" sz="32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43872" y="5733257"/>
            <a:ext cx="5724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 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7+5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2146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/>
      <p:bldP spid="11274" grpId="0"/>
      <p:bldP spid="11276" grpId="0"/>
      <p:bldP spid="11277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Laws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can I simplify 9</a:t>
            </a:r>
            <a:r>
              <a:rPr lang="en-GB" baseline="30000" dirty="0"/>
              <a:t>5</a:t>
            </a:r>
            <a:r>
              <a:rPr lang="en-GB" dirty="0"/>
              <a:t> ÷ 9</a:t>
            </a:r>
            <a:r>
              <a:rPr lang="en-GB" baseline="30000" dirty="0"/>
              <a:t>3</a:t>
            </a:r>
            <a:r>
              <a:rPr lang="en-GB" dirty="0"/>
              <a:t>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How can I simplify 11</a:t>
            </a:r>
            <a:r>
              <a:rPr lang="en-GB" baseline="30000" dirty="0"/>
              <a:t>7</a:t>
            </a:r>
            <a:r>
              <a:rPr lang="en-GB" dirty="0"/>
              <a:t> ÷ 11</a:t>
            </a:r>
            <a:r>
              <a:rPr lang="en-GB" baseline="30000" dirty="0"/>
              <a:t>2</a:t>
            </a:r>
            <a:r>
              <a:rPr lang="en-GB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47728" y="2348881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 x 9 x 9 x 9 x 9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89293" y="2852936"/>
            <a:ext cx="25922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47729" y="2852937"/>
            <a:ext cx="26338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 x 9 x 9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4856642" y="2492897"/>
            <a:ext cx="231246" cy="35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432706" y="2492897"/>
            <a:ext cx="231246" cy="35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008770" y="2492897"/>
            <a:ext cx="231246" cy="35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280578" y="2960948"/>
            <a:ext cx="231246" cy="35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856642" y="2960948"/>
            <a:ext cx="231246" cy="35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432706" y="2960948"/>
            <a:ext cx="231246" cy="35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00056" y="2556194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9 x 9 = 9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7608" y="4725145"/>
            <a:ext cx="525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9966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 x 11 x 11 x 11 x 11 x 11 x 11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4536" y="5364506"/>
            <a:ext cx="525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 x 11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690842" y="5292497"/>
            <a:ext cx="514027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7392144" y="4841867"/>
            <a:ext cx="231246" cy="35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670350" y="5409219"/>
            <a:ext cx="231246" cy="35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5432706" y="5409220"/>
            <a:ext cx="231246" cy="35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6628449" y="4841867"/>
            <a:ext cx="231246" cy="35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68208" y="5017532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11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32CE21-6A38-450D-BD18-5A99F0FBD5C0}"/>
              </a:ext>
            </a:extLst>
          </p:cNvPr>
          <p:cNvSpPr txBox="1"/>
          <p:nvPr/>
        </p:nvSpPr>
        <p:spPr>
          <a:xfrm>
            <a:off x="2301563" y="6012582"/>
            <a:ext cx="7645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pattern do we notice about the pattern of the index number? 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773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8" grpId="0"/>
      <p:bldP spid="16" grpId="0"/>
      <p:bldP spid="17" grpId="0"/>
      <p:bldP spid="18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Law 2 : Division</a:t>
            </a:r>
            <a:endParaRPr lang="en-US" dirty="0"/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524520" y="1457325"/>
            <a:ext cx="156324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rPr>
              <a:t>÷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489846" y="1492250"/>
            <a:ext cx="9877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</a:t>
            </a:r>
            <a:r>
              <a:rPr kumimoji="0" lang="en-GB" sz="4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472133" y="2197100"/>
            <a:ext cx="153599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÷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6437459" y="2232025"/>
            <a:ext cx="9877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4472133" y="2933700"/>
            <a:ext cx="153599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÷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6437458" y="2968625"/>
            <a:ext cx="109196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-2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1596008" y="3789040"/>
            <a:ext cx="903649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 Rule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dividing terms with the same base, you subtract the indices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rPr>
              <a:t>÷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a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m-n</a:t>
            </a:r>
            <a:endParaRPr kumimoji="0" lang="en-US" sz="32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43872" y="5733257"/>
            <a:ext cx="5724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 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÷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7-5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5331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/>
      <p:bldP spid="16392" grpId="0"/>
      <p:bldP spid="16394" grpId="0"/>
      <p:bldP spid="16395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can I simplify (4</a:t>
            </a:r>
            <a:r>
              <a:rPr lang="en-GB" baseline="30000" dirty="0"/>
              <a:t>3</a:t>
            </a:r>
            <a:r>
              <a:rPr lang="en-GB" dirty="0"/>
              <a:t>)</a:t>
            </a:r>
            <a:r>
              <a:rPr lang="en-GB" baseline="60000" dirty="0"/>
              <a:t>4</a:t>
            </a:r>
            <a:r>
              <a:rPr lang="en-GB" dirty="0"/>
              <a:t>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How can I simplify (7</a:t>
            </a:r>
            <a:r>
              <a:rPr lang="en-GB" baseline="30000" dirty="0"/>
              <a:t>2</a:t>
            </a:r>
            <a:r>
              <a:rPr lang="en-GB" dirty="0"/>
              <a:t>)</a:t>
            </a:r>
            <a:r>
              <a:rPr lang="en-GB" baseline="60000" dirty="0"/>
              <a:t>5</a:t>
            </a:r>
            <a:r>
              <a:rPr lang="en-GB"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1544" y="2780929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x 4 x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5760" y="2780929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x 4 x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79976" y="2780929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x 4 x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24192" y="2780929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 x 4 x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5720" y="2772218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9936" y="2772217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4152" y="2757411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780929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1544" y="5085185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x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2104" y="5085185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x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7968" y="5085185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x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1824" y="5097597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x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5437" y="5085185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x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7648" y="5097597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8068" y="5085182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2355" y="5085183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788" y="5085184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0216" y="5085181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7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888FAB-BF82-4A18-9563-34EFADE4F0D7}"/>
              </a:ext>
            </a:extLst>
          </p:cNvPr>
          <p:cNvSpPr txBox="1"/>
          <p:nvPr/>
        </p:nvSpPr>
        <p:spPr>
          <a:xfrm>
            <a:off x="2157760" y="5947950"/>
            <a:ext cx="7645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pattern do we notice about the pattern of the index number? 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04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Law 3 : Brackets</a:t>
            </a:r>
            <a:endParaRPr lang="en-US" dirty="0"/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3123331" y="2115592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3123331" y="1556792"/>
            <a:ext cx="11015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4655270" y="1591717"/>
            <a:ext cx="18742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6815857" y="1591717"/>
            <a:ext cx="11608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3143969" y="2583904"/>
            <a:ext cx="11015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4675906" y="2618829"/>
            <a:ext cx="272222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x 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 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7906470" y="2618829"/>
            <a:ext cx="11608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3</a:t>
            </a:r>
            <a:r>
              <a:rPr kumimoji="0" lang="en-GB" sz="4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</a:t>
            </a:r>
            <a:endParaRPr kumimoji="0" lang="en-US" sz="4000" b="0" i="0" u="none" strike="noStrike" kern="1200" cap="none" spc="0" normalizeH="0" baseline="30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1703512" y="3752850"/>
            <a:ext cx="885698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 Rule: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raising a power to another power, you multiply the powers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a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 x n</a:t>
            </a:r>
            <a:endParaRPr kumimoji="0" lang="en-US" sz="32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43872" y="5984439"/>
            <a:ext cx="5724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  (4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GB" sz="3200" b="0" i="0" u="none" strike="noStrike" kern="1200" cap="none" spc="0" normalizeH="0" baseline="6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4</a:t>
            </a:r>
            <a:r>
              <a:rPr kumimoji="0" lang="en-GB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21453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/>
      <p:bldP spid="18440" grpId="0"/>
      <p:bldP spid="18442" grpId="0"/>
      <p:bldP spid="18443" grpId="0"/>
      <p:bldP spid="18447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C345-DEEA-4B73-80F8-68AA9044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BDDF5-D8D0-46A7-919E-60A89CEC24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>
                <a:solidFill>
                  <a:srgbClr val="00B0F0"/>
                </a:solidFill>
                <a:latin typeface="Calibri"/>
              </a:rPr>
              <a:t>a</a:t>
            </a:r>
            <a:r>
              <a:rPr lang="en-GB" sz="4000" baseline="30000" dirty="0">
                <a:solidFill>
                  <a:srgbClr val="00B0F0"/>
                </a:solidFill>
                <a:latin typeface="Calibri"/>
              </a:rPr>
              <a:t>m</a:t>
            </a:r>
            <a:r>
              <a:rPr lang="en-GB" sz="4000" dirty="0">
                <a:solidFill>
                  <a:srgbClr val="00B0F0"/>
                </a:solidFill>
                <a:latin typeface="Calibri"/>
              </a:rPr>
              <a:t> x a</a:t>
            </a:r>
            <a:r>
              <a:rPr lang="en-GB" sz="4000" baseline="30000" dirty="0">
                <a:solidFill>
                  <a:srgbClr val="00B0F0"/>
                </a:solidFill>
                <a:latin typeface="Calibri"/>
              </a:rPr>
              <a:t>n</a:t>
            </a:r>
            <a:r>
              <a:rPr lang="en-GB" sz="4000" dirty="0">
                <a:solidFill>
                  <a:srgbClr val="00B0F0"/>
                </a:solidFill>
                <a:latin typeface="Calibri"/>
              </a:rPr>
              <a:t> = a</a:t>
            </a:r>
            <a:r>
              <a:rPr lang="en-GB" sz="4000" baseline="30000" dirty="0">
                <a:solidFill>
                  <a:srgbClr val="00B0F0"/>
                </a:solidFill>
                <a:latin typeface="Calibri"/>
              </a:rPr>
              <a:t>m+n	</a:t>
            </a:r>
          </a:p>
          <a:p>
            <a:pPr marL="0" indent="0">
              <a:buNone/>
            </a:pPr>
            <a:endParaRPr lang="en-GB" sz="4000" baseline="30000" dirty="0">
              <a:solidFill>
                <a:srgbClr val="00B0F0"/>
              </a:solidFill>
              <a:latin typeface="Calibri"/>
            </a:endParaRPr>
          </a:p>
          <a:p>
            <a:pPr marL="0" indent="0">
              <a:buNone/>
            </a:pPr>
            <a:r>
              <a:rPr lang="en-GB" sz="4000" dirty="0">
                <a:solidFill>
                  <a:srgbClr val="00B0F0"/>
                </a:solidFill>
                <a:latin typeface="Calibri"/>
              </a:rPr>
              <a:t>a</a:t>
            </a:r>
            <a:r>
              <a:rPr lang="en-GB" sz="4000" baseline="30000" dirty="0">
                <a:solidFill>
                  <a:srgbClr val="00B0F0"/>
                </a:solidFill>
                <a:latin typeface="Calibri"/>
              </a:rPr>
              <a:t>m</a:t>
            </a:r>
            <a:r>
              <a:rPr lang="en-GB" sz="4000" dirty="0">
                <a:solidFill>
                  <a:srgbClr val="00B0F0"/>
                </a:solidFill>
                <a:latin typeface="Calibri"/>
              </a:rPr>
              <a:t> </a:t>
            </a:r>
            <a:r>
              <a:rPr lang="en-US" sz="4000" dirty="0">
                <a:solidFill>
                  <a:srgbClr val="00B0F0"/>
                </a:solidFill>
                <a:latin typeface="Calibri"/>
                <a:cs typeface="Arial" charset="0"/>
              </a:rPr>
              <a:t>÷</a:t>
            </a:r>
            <a:r>
              <a:rPr lang="en-GB" sz="4000" dirty="0">
                <a:solidFill>
                  <a:srgbClr val="00B0F0"/>
                </a:solidFill>
                <a:latin typeface="Calibri"/>
              </a:rPr>
              <a:t> a</a:t>
            </a:r>
            <a:r>
              <a:rPr lang="en-GB" sz="4000" baseline="30000" dirty="0">
                <a:solidFill>
                  <a:srgbClr val="00B0F0"/>
                </a:solidFill>
                <a:latin typeface="Calibri"/>
              </a:rPr>
              <a:t>n</a:t>
            </a:r>
            <a:r>
              <a:rPr lang="en-GB" sz="4000" dirty="0">
                <a:solidFill>
                  <a:srgbClr val="00B0F0"/>
                </a:solidFill>
                <a:latin typeface="Calibri"/>
              </a:rPr>
              <a:t> = a</a:t>
            </a:r>
            <a:r>
              <a:rPr lang="en-GB" sz="4000" baseline="30000" dirty="0">
                <a:solidFill>
                  <a:srgbClr val="00B0F0"/>
                </a:solidFill>
                <a:latin typeface="Calibri"/>
              </a:rPr>
              <a:t>m-n</a:t>
            </a:r>
            <a:endParaRPr lang="en-US" sz="4000" baseline="30000" dirty="0">
              <a:solidFill>
                <a:srgbClr val="00B0F0"/>
              </a:solidFill>
              <a:latin typeface="Calibri"/>
            </a:endParaRPr>
          </a:p>
          <a:p>
            <a:pPr marL="0" indent="0">
              <a:buNone/>
            </a:pPr>
            <a:endParaRPr lang="en-GB" sz="4000" baseline="30000" dirty="0">
              <a:solidFill>
                <a:srgbClr val="00B0F0"/>
              </a:solidFill>
              <a:latin typeface="Calibri"/>
            </a:endParaRPr>
          </a:p>
          <a:p>
            <a:pPr marL="0" indent="0">
              <a:buNone/>
            </a:pPr>
            <a:r>
              <a:rPr lang="en-GB" sz="4000" dirty="0">
                <a:solidFill>
                  <a:srgbClr val="00B0F0"/>
                </a:solidFill>
                <a:latin typeface="Calibri"/>
              </a:rPr>
              <a:t>(a</a:t>
            </a:r>
            <a:r>
              <a:rPr lang="en-GB" sz="4000" baseline="30000" dirty="0">
                <a:solidFill>
                  <a:srgbClr val="00B0F0"/>
                </a:solidFill>
                <a:latin typeface="Calibri"/>
              </a:rPr>
              <a:t>m</a:t>
            </a:r>
            <a:r>
              <a:rPr lang="en-GB" sz="4000" dirty="0">
                <a:solidFill>
                  <a:srgbClr val="00B0F0"/>
                </a:solidFill>
                <a:latin typeface="Calibri"/>
              </a:rPr>
              <a:t>)</a:t>
            </a:r>
            <a:r>
              <a:rPr lang="en-GB" sz="4000" baseline="30000" dirty="0">
                <a:solidFill>
                  <a:srgbClr val="00B0F0"/>
                </a:solidFill>
                <a:latin typeface="Calibri"/>
              </a:rPr>
              <a:t>n</a:t>
            </a:r>
            <a:r>
              <a:rPr lang="en-GB" sz="4000" dirty="0">
                <a:solidFill>
                  <a:srgbClr val="00B0F0"/>
                </a:solidFill>
                <a:latin typeface="Calibri"/>
              </a:rPr>
              <a:t> = a</a:t>
            </a:r>
            <a:r>
              <a:rPr lang="en-GB" sz="4000" baseline="30000" dirty="0">
                <a:solidFill>
                  <a:srgbClr val="00B0F0"/>
                </a:solidFill>
                <a:latin typeface="Calibri"/>
              </a:rPr>
              <a:t>m x n</a:t>
            </a:r>
          </a:p>
          <a:p>
            <a:pPr marL="0" indent="0">
              <a:buNone/>
            </a:pPr>
            <a:endParaRPr lang="en-US" sz="3200" baseline="30000" dirty="0">
              <a:solidFill>
                <a:srgbClr val="FF0000"/>
              </a:solidFill>
              <a:latin typeface="Calibri"/>
            </a:endParaRP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6CE8C0-CD78-4D5F-B661-A99170D1AB89}"/>
                  </a:ext>
                </a:extLst>
              </p:cNvPr>
              <p:cNvSpPr txBox="1"/>
              <p:nvPr/>
            </p:nvSpPr>
            <p:spPr>
              <a:xfrm>
                <a:off x="6400800" y="2876364"/>
                <a:ext cx="1429306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8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8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AU" sz="8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6CE8C0-CD78-4D5F-B661-A99170D1A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876364"/>
                <a:ext cx="1429306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F191C30-46F4-4B29-85D9-64F7D7518B6D}"/>
              </a:ext>
            </a:extLst>
          </p:cNvPr>
          <p:cNvSpPr txBox="1"/>
          <p:nvPr/>
        </p:nvSpPr>
        <p:spPr>
          <a:xfrm>
            <a:off x="4607511" y="4650012"/>
            <a:ext cx="733295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000" b="0" i="0" u="none" strike="noStrike" kern="1200" cap="none" spc="0" normalizeH="0" baseline="3000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30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 is the letter or number being used in repeated multiplication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5C433-BB7D-473D-ACE8-47B0F066289F}"/>
              </a:ext>
            </a:extLst>
          </p:cNvPr>
          <p:cNvSpPr txBox="1"/>
          <p:nvPr/>
        </p:nvSpPr>
        <p:spPr>
          <a:xfrm>
            <a:off x="8566951" y="1686295"/>
            <a:ext cx="3592498" cy="201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30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is the number of times the base is involved in repeated multiplication</a:t>
            </a:r>
            <a:endParaRPr kumimoji="0" lang="en-US" sz="4000" b="0" i="0" u="none" strike="noStrike" kern="1200" cap="none" spc="0" normalizeH="0" baseline="3000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370578-43F0-417F-B1C2-A0C48F61B543}"/>
              </a:ext>
            </a:extLst>
          </p:cNvPr>
          <p:cNvCxnSpPr>
            <a:cxnSpLocks/>
          </p:cNvCxnSpPr>
          <p:nvPr/>
        </p:nvCxnSpPr>
        <p:spPr>
          <a:xfrm flipV="1">
            <a:off x="7581530" y="1837678"/>
            <a:ext cx="887767" cy="127838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1C4C33-2B00-4EC8-8A8B-623756CB0D0C}"/>
              </a:ext>
            </a:extLst>
          </p:cNvPr>
          <p:cNvCxnSpPr>
            <a:cxnSpLocks/>
          </p:cNvCxnSpPr>
          <p:nvPr/>
        </p:nvCxnSpPr>
        <p:spPr>
          <a:xfrm flipH="1">
            <a:off x="5273336" y="3986183"/>
            <a:ext cx="1269507" cy="103857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553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/>
          <a:p>
            <a:r>
              <a:rPr lang="en-GB" dirty="0"/>
              <a:t>Index Laws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1E84AA-B0C1-4D39-A9DD-B4020698E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DE718-FB9E-4EC7-8F83-1281E2F0F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3655"/>
            <a:ext cx="12192000" cy="521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13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94F8-47EE-41E1-BC56-8A5CDA63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36D6F-ABE3-41D6-94AB-FDF2E8A98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309B4D-6877-4743-B675-AFDB96C1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0515"/>
            <a:ext cx="12192000" cy="402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03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9898-5DAF-4190-A257-D46BD3AF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DD31D-A096-4CAC-91CA-6E07E0C1F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4000" b="1" dirty="0"/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4000" b="1" dirty="0"/>
              <a:t> Expand and simplify indices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4000" b="1" dirty="0"/>
              <a:t>Apply index laws to numerical expressions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0305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653</Words>
  <Application>Microsoft Office PowerPoint</Application>
  <PresentationFormat>Widescreen</PresentationFormat>
  <Paragraphs>160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Wingdings</vt:lpstr>
      <vt:lpstr>Office Theme</vt:lpstr>
      <vt:lpstr>2_Office Theme</vt:lpstr>
      <vt:lpstr>Lesson objective </vt:lpstr>
      <vt:lpstr>Indices  </vt:lpstr>
      <vt:lpstr>Example </vt:lpstr>
      <vt:lpstr>Whiteboards </vt:lpstr>
      <vt:lpstr>Whiteboards </vt:lpstr>
      <vt:lpstr>Index Laws</vt:lpstr>
      <vt:lpstr>Law 1 : Multiplication</vt:lpstr>
      <vt:lpstr>Index Laws</vt:lpstr>
      <vt:lpstr>Law 2 : Division</vt:lpstr>
      <vt:lpstr>Index Laws</vt:lpstr>
      <vt:lpstr>Law 3 : Brackets</vt:lpstr>
      <vt:lpstr>NOTES</vt:lpstr>
      <vt:lpstr>Index Laws</vt:lpstr>
      <vt:lpstr>Answers 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5</cp:revision>
  <dcterms:created xsi:type="dcterms:W3CDTF">2022-02-23T12:42:22Z</dcterms:created>
  <dcterms:modified xsi:type="dcterms:W3CDTF">2022-02-24T03:24:54Z</dcterms:modified>
</cp:coreProperties>
</file>
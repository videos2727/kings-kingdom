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8" r:id="rId2"/>
    <p:sldId id="273" r:id="rId3"/>
    <p:sldId id="278" r:id="rId4"/>
    <p:sldId id="277" r:id="rId5"/>
    <p:sldId id="279" r:id="rId6"/>
    <p:sldId id="261" r:id="rId7"/>
    <p:sldId id="280" r:id="rId8"/>
    <p:sldId id="281" r:id="rId9"/>
    <p:sldId id="282" r:id="rId10"/>
    <p:sldId id="283" r:id="rId11"/>
    <p:sldId id="284" r:id="rId12"/>
    <p:sldId id="285" r:id="rId13"/>
    <p:sldId id="286" r:id="rId14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 autoAdjust="0"/>
    <p:restoredTop sz="95025" autoAdjust="0"/>
  </p:normalViewPr>
  <p:slideViewPr>
    <p:cSldViewPr snapToGrid="0">
      <p:cViewPr varScale="1">
        <p:scale>
          <a:sx n="81" d="100"/>
          <a:sy n="81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99" y="0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BC259-60D2-4733-A23A-0DAE2D1D1938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671"/>
            <a:ext cx="5438140" cy="39081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403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99" y="9428403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8AB65-6270-4CF6-8170-70BAAF2482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5606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914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151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050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1631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3 Discuss commutative property of multiplication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9373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77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9982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Finish with random draws before displaying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5247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Discuss how multiplication and division are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5874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496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72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77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68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948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22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554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74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476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948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5870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741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3244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239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3979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913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924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8195" y="348891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1" b="1" dirty="0">
                <a:solidFill>
                  <a:srgbClr val="FF0000"/>
                </a:solidFill>
              </a:rPr>
              <a:t>03/02/2022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7971" y="2228671"/>
            <a:ext cx="83636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</a:rPr>
              <a:t>Aim:</a:t>
            </a:r>
          </a:p>
          <a:p>
            <a:pPr marL="342909" indent="-342909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AU" sz="2400" dirty="0">
                <a:solidFill>
                  <a:srgbClr val="00B0F0"/>
                </a:solidFill>
              </a:rPr>
              <a:t>Know, and be able to apply, the rules for multiplying and dividing integers.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17971" y="3916410"/>
            <a:ext cx="75041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</a:rPr>
              <a:t>Plan:</a:t>
            </a:r>
          </a:p>
          <a:p>
            <a:pPr marL="342909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Daily review:	</a:t>
            </a:r>
          </a:p>
          <a:p>
            <a:pPr marL="984250" lvl="3" indent="-447675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Addition and subtraction of integers.</a:t>
            </a:r>
          </a:p>
          <a:p>
            <a:pPr marL="342909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Multiplication and division of integers.</a:t>
            </a:r>
          </a:p>
          <a:p>
            <a:pPr marL="342909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Independent practice – mixed operations.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2B3E6F-AD68-40F0-BA10-AC5BFFE4445B}"/>
              </a:ext>
            </a:extLst>
          </p:cNvPr>
          <p:cNvSpPr txBox="1"/>
          <p:nvPr/>
        </p:nvSpPr>
        <p:spPr>
          <a:xfrm>
            <a:off x="3317971" y="873346"/>
            <a:ext cx="83636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Title: </a:t>
            </a:r>
            <a:r>
              <a:rPr lang="en-AU" sz="3200" b="1" dirty="0">
                <a:solidFill>
                  <a:srgbClr val="00B0F0"/>
                </a:solidFill>
              </a:rPr>
              <a:t>Operations with negative numbers </a:t>
            </a:r>
            <a:endParaRPr lang="en-AU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13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0263" y="744394"/>
            <a:ext cx="8597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Addition and Subtraction: A number-line approach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E0A17-5836-4F2D-8CC6-7718C646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61" y="1456589"/>
            <a:ext cx="11022172" cy="382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C38420-D709-42A7-ACD5-ACFF39D7C395}"/>
              </a:ext>
            </a:extLst>
          </p:cNvPr>
          <p:cNvSpPr txBox="1"/>
          <p:nvPr/>
        </p:nvSpPr>
        <p:spPr>
          <a:xfrm>
            <a:off x="2694007" y="2161260"/>
            <a:ext cx="8810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use the number line you need a                        , a </a:t>
            </a:r>
          </a:p>
          <a:p>
            <a:r>
              <a:rPr lang="en-AU" sz="2400" dirty="0"/>
              <a:t>                and a                                to move.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164428" y="2884868"/>
            <a:ext cx="244800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694007" y="2884868"/>
            <a:ext cx="134178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975600" y="2534402"/>
            <a:ext cx="1896533" cy="648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65C0ED-AE82-4B6B-8B18-7930FB2FF220}"/>
              </a:ext>
            </a:extLst>
          </p:cNvPr>
          <p:cNvSpPr txBox="1"/>
          <p:nvPr/>
        </p:nvSpPr>
        <p:spPr>
          <a:xfrm>
            <a:off x="2596896" y="3347063"/>
            <a:ext cx="9409574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AU" sz="2400" u="sng" dirty="0"/>
              <a:t>Double signs:</a:t>
            </a:r>
          </a:p>
          <a:p>
            <a:r>
              <a:rPr lang="en-AU" sz="2400" dirty="0"/>
              <a:t>Adding a negative number is the same as                        .</a:t>
            </a:r>
          </a:p>
          <a:p>
            <a:r>
              <a:rPr lang="en-AU" sz="2400" dirty="0"/>
              <a:t>Subtracting a negative number is the same as                       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FF50D-9D05-4583-B594-04207A459D02}"/>
              </a:ext>
            </a:extLst>
          </p:cNvPr>
          <p:cNvSpPr txBox="1"/>
          <p:nvPr/>
        </p:nvSpPr>
        <p:spPr>
          <a:xfrm>
            <a:off x="2569464" y="5111496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-3 + (-2) can be written as -3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B549A9-DED6-40F0-8483-1FB948AC1A83}"/>
              </a:ext>
            </a:extLst>
          </p:cNvPr>
          <p:cNvSpPr txBox="1"/>
          <p:nvPr/>
        </p:nvSpPr>
        <p:spPr>
          <a:xfrm>
            <a:off x="526360" y="197659"/>
            <a:ext cx="667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Daily review: Addition and subtraction of integers.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713962-F2DB-4AF4-B3F6-2947C812935A}"/>
              </a:ext>
            </a:extLst>
          </p:cNvPr>
          <p:cNvCxnSpPr>
            <a:cxnSpLocks/>
          </p:cNvCxnSpPr>
          <p:nvPr/>
        </p:nvCxnSpPr>
        <p:spPr>
          <a:xfrm flipV="1">
            <a:off x="192024" y="3186423"/>
            <a:ext cx="11999976" cy="53253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9E3277C-3A93-4314-B79E-7ABD035B485E}"/>
              </a:ext>
            </a:extLst>
          </p:cNvPr>
          <p:cNvCxnSpPr/>
          <p:nvPr/>
        </p:nvCxnSpPr>
        <p:spPr>
          <a:xfrm>
            <a:off x="8923866" y="4172345"/>
            <a:ext cx="1896533" cy="648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F74B35-C789-4B55-BC2E-914878B37A16}"/>
              </a:ext>
            </a:extLst>
          </p:cNvPr>
          <p:cNvCxnSpPr/>
          <p:nvPr/>
        </p:nvCxnSpPr>
        <p:spPr>
          <a:xfrm>
            <a:off x="9501631" y="4650264"/>
            <a:ext cx="1896533" cy="648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968DBD5-C039-4E34-9253-4AA2B85418E0}"/>
              </a:ext>
            </a:extLst>
          </p:cNvPr>
          <p:cNvCxnSpPr>
            <a:cxnSpLocks/>
          </p:cNvCxnSpPr>
          <p:nvPr/>
        </p:nvCxnSpPr>
        <p:spPr>
          <a:xfrm>
            <a:off x="6845131" y="5497820"/>
            <a:ext cx="9272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2B43348-2777-443C-A006-FE79B3A4A07A}"/>
              </a:ext>
            </a:extLst>
          </p:cNvPr>
          <p:cNvSpPr txBox="1"/>
          <p:nvPr/>
        </p:nvSpPr>
        <p:spPr>
          <a:xfrm>
            <a:off x="2596896" y="5672441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-3 – (-2) can be written as -3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1ECE06-4817-4312-8615-F0834A070EFD}"/>
              </a:ext>
            </a:extLst>
          </p:cNvPr>
          <p:cNvCxnSpPr>
            <a:cxnSpLocks/>
          </p:cNvCxnSpPr>
          <p:nvPr/>
        </p:nvCxnSpPr>
        <p:spPr>
          <a:xfrm>
            <a:off x="6872563" y="6058765"/>
            <a:ext cx="9272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111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0263" y="744394"/>
            <a:ext cx="8597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Addition and Subtraction: A number-line approach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E0A17-5836-4F2D-8CC6-7718C646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61" y="1456589"/>
            <a:ext cx="11022172" cy="382096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5164428" y="2884868"/>
            <a:ext cx="244800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694007" y="2884868"/>
            <a:ext cx="134178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975600" y="2534402"/>
            <a:ext cx="1896533" cy="648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65C0ED-AE82-4B6B-8B18-7930FB2FF220}"/>
              </a:ext>
            </a:extLst>
          </p:cNvPr>
          <p:cNvSpPr txBox="1"/>
          <p:nvPr/>
        </p:nvSpPr>
        <p:spPr>
          <a:xfrm>
            <a:off x="2596896" y="3347063"/>
            <a:ext cx="8695944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AU" sz="2400" u="sng" dirty="0"/>
              <a:t>Double signs:</a:t>
            </a:r>
          </a:p>
          <a:p>
            <a:r>
              <a:rPr lang="en-AU" sz="2400" dirty="0"/>
              <a:t>Adding a negative number is the same as subtracting.</a:t>
            </a:r>
          </a:p>
          <a:p>
            <a:r>
              <a:rPr lang="en-AU" sz="2400" dirty="0"/>
              <a:t>Subtracting a negative number is the same as adding.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FF50D-9D05-4583-B594-04207A459D02}"/>
              </a:ext>
            </a:extLst>
          </p:cNvPr>
          <p:cNvSpPr txBox="1"/>
          <p:nvPr/>
        </p:nvSpPr>
        <p:spPr>
          <a:xfrm>
            <a:off x="2569464" y="5111496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-3 + (-2) can be written as -3 – 2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B549A9-DED6-40F0-8483-1FB948AC1A83}"/>
              </a:ext>
            </a:extLst>
          </p:cNvPr>
          <p:cNvSpPr txBox="1"/>
          <p:nvPr/>
        </p:nvSpPr>
        <p:spPr>
          <a:xfrm>
            <a:off x="526360" y="197659"/>
            <a:ext cx="667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Daily review: Addition and subtraction of integers.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713962-F2DB-4AF4-B3F6-2947C812935A}"/>
              </a:ext>
            </a:extLst>
          </p:cNvPr>
          <p:cNvCxnSpPr>
            <a:cxnSpLocks/>
          </p:cNvCxnSpPr>
          <p:nvPr/>
        </p:nvCxnSpPr>
        <p:spPr>
          <a:xfrm flipV="1">
            <a:off x="192024" y="3186423"/>
            <a:ext cx="11999976" cy="53253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07F78A5-9749-4F68-BBAD-4D9209FE1D41}"/>
              </a:ext>
            </a:extLst>
          </p:cNvPr>
          <p:cNvSpPr txBox="1"/>
          <p:nvPr/>
        </p:nvSpPr>
        <p:spPr>
          <a:xfrm>
            <a:off x="2596896" y="2068726"/>
            <a:ext cx="8810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use the number line you need a starting point, a direction and a number of places to move.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E93736D-CF56-42BD-BCD4-E575D62CE917}"/>
              </a:ext>
            </a:extLst>
          </p:cNvPr>
          <p:cNvSpPr/>
          <p:nvPr/>
        </p:nvSpPr>
        <p:spPr>
          <a:xfrm>
            <a:off x="7861252" y="2164337"/>
            <a:ext cx="2090098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4D8C197-C1F7-483B-B4D8-D37F202B8E56}"/>
              </a:ext>
            </a:extLst>
          </p:cNvPr>
          <p:cNvSpPr/>
          <p:nvPr/>
        </p:nvSpPr>
        <p:spPr>
          <a:xfrm>
            <a:off x="2596896" y="2534425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50E04F-B840-44F3-BE43-822227FA918E}"/>
              </a:ext>
            </a:extLst>
          </p:cNvPr>
          <p:cNvSpPr/>
          <p:nvPr/>
        </p:nvSpPr>
        <p:spPr>
          <a:xfrm>
            <a:off x="5013839" y="2536573"/>
            <a:ext cx="2681327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3B0596-1CDD-4F0B-9156-DFAF5B4DA2FF}"/>
              </a:ext>
            </a:extLst>
          </p:cNvPr>
          <p:cNvSpPr/>
          <p:nvPr/>
        </p:nvSpPr>
        <p:spPr>
          <a:xfrm>
            <a:off x="8955790" y="3917494"/>
            <a:ext cx="1738713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0C2551-5699-4108-B851-5AD4D206DA34}"/>
              </a:ext>
            </a:extLst>
          </p:cNvPr>
          <p:cNvSpPr/>
          <p:nvPr/>
        </p:nvSpPr>
        <p:spPr>
          <a:xfrm>
            <a:off x="9521157" y="4279301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9C7A22D-10AA-4840-BDA9-190372EAF1B0}"/>
              </a:ext>
            </a:extLst>
          </p:cNvPr>
          <p:cNvSpPr/>
          <p:nvPr/>
        </p:nvSpPr>
        <p:spPr>
          <a:xfrm>
            <a:off x="6817979" y="5188271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8870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06F833-3005-4662-8EC5-03CBCEFA0191}"/>
              </a:ext>
            </a:extLst>
          </p:cNvPr>
          <p:cNvSpPr txBox="1"/>
          <p:nvPr/>
        </p:nvSpPr>
        <p:spPr>
          <a:xfrm>
            <a:off x="2713383" y="367749"/>
            <a:ext cx="3707295" cy="6288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AU" sz="2400" dirty="0"/>
              <a:t>Independent practice:</a:t>
            </a:r>
            <a:endParaRPr lang="en-AU" dirty="0"/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>
                <a:solidFill>
                  <a:srgbClr val="FF0000"/>
                </a:solidFill>
              </a:rPr>
              <a:t>1.</a:t>
            </a:r>
            <a:r>
              <a:rPr lang="en-AU" sz="2400" dirty="0"/>
              <a:t>	-2 – (- 3)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</a:t>
            </a:r>
          </a:p>
          <a:p>
            <a:pPr marL="457200" indent="-457200">
              <a:spcAft>
                <a:spcPts val="600"/>
              </a:spcAft>
              <a:buClr>
                <a:srgbClr val="FF0000"/>
              </a:buClr>
              <a:buAutoNum type="arabicPeriod" startAt="2"/>
            </a:pPr>
            <a:r>
              <a:rPr lang="en-AU" sz="2400" dirty="0"/>
              <a:t>-3 + (- 8)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</a:t>
            </a:r>
          </a:p>
          <a:p>
            <a:pPr marL="457200" indent="-457200">
              <a:spcAft>
                <a:spcPts val="600"/>
              </a:spcAft>
              <a:buClr>
                <a:srgbClr val="FF0000"/>
              </a:buClr>
              <a:buAutoNum type="arabicPeriod" startAt="3"/>
            </a:pPr>
            <a:r>
              <a:rPr lang="en-AU" sz="2400" dirty="0"/>
              <a:t>4 – (- 7)</a:t>
            </a:r>
          </a:p>
          <a:p>
            <a:pPr lvl="1"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=</a:t>
            </a:r>
          </a:p>
          <a:p>
            <a:pPr lvl="1"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=</a:t>
            </a:r>
          </a:p>
          <a:p>
            <a:pPr marL="457200" indent="-457200">
              <a:spcAft>
                <a:spcPts val="600"/>
              </a:spcAft>
              <a:buClr>
                <a:srgbClr val="FF0000"/>
              </a:buClr>
              <a:buAutoNum type="arabicPeriod" startAt="4"/>
            </a:pPr>
            <a:r>
              <a:rPr lang="en-AU" sz="2400" dirty="0"/>
              <a:t>-8 + (-5)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851DE-9E36-4F4E-8643-44E78D99AEC3}"/>
              </a:ext>
            </a:extLst>
          </p:cNvPr>
          <p:cNvSpPr txBox="1"/>
          <p:nvPr/>
        </p:nvSpPr>
        <p:spPr>
          <a:xfrm>
            <a:off x="6950766" y="496958"/>
            <a:ext cx="3707295" cy="5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>
                <a:solidFill>
                  <a:srgbClr val="FF0000"/>
                </a:solidFill>
              </a:rPr>
              <a:t>5.</a:t>
            </a:r>
            <a:r>
              <a:rPr lang="en-AU" sz="2400" dirty="0"/>
              <a:t>	-2 + (– 6) – (-2)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>
                <a:solidFill>
                  <a:srgbClr val="FF0000"/>
                </a:solidFill>
              </a:rPr>
              <a:t>6.</a:t>
            </a:r>
            <a:r>
              <a:rPr lang="en-AU" sz="2400" dirty="0"/>
              <a:t>	3 – (- 3) + (-3) – (-3)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>
                <a:solidFill>
                  <a:srgbClr val="FF0000"/>
                </a:solidFill>
              </a:rPr>
              <a:t>7.</a:t>
            </a:r>
            <a:r>
              <a:rPr lang="en-AU" sz="2400" dirty="0"/>
              <a:t>	43 + (– 52)</a:t>
            </a:r>
          </a:p>
          <a:p>
            <a:pPr lvl="1"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=</a:t>
            </a:r>
          </a:p>
          <a:p>
            <a:pPr lvl="1"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=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>
                <a:solidFill>
                  <a:srgbClr val="FF0000"/>
                </a:solidFill>
              </a:rPr>
              <a:t>8.</a:t>
            </a:r>
            <a:r>
              <a:rPr lang="en-AU" sz="2400" dirty="0"/>
              <a:t>	- 28 – (-25)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</a:t>
            </a:r>
          </a:p>
        </p:txBody>
      </p:sp>
    </p:spTree>
    <p:extLst>
      <p:ext uri="{BB962C8B-B14F-4D97-AF65-F5344CB8AC3E}">
        <p14:creationId xmlns:p14="http://schemas.microsoft.com/office/powerpoint/2010/main" val="154487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06F833-3005-4662-8EC5-03CBCEFA0191}"/>
              </a:ext>
            </a:extLst>
          </p:cNvPr>
          <p:cNvSpPr txBox="1"/>
          <p:nvPr/>
        </p:nvSpPr>
        <p:spPr>
          <a:xfrm>
            <a:off x="2713383" y="367749"/>
            <a:ext cx="3707295" cy="5842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AU" sz="2400" dirty="0"/>
              <a:t>Independent practice:</a:t>
            </a:r>
            <a:endParaRPr lang="en-AU" dirty="0"/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>
                <a:solidFill>
                  <a:srgbClr val="FF0000"/>
                </a:solidFill>
              </a:rPr>
              <a:t>1.</a:t>
            </a:r>
            <a:r>
              <a:rPr lang="en-AU" sz="2400" dirty="0"/>
              <a:t>	-2 – (- 3)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 -2 + 3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 1</a:t>
            </a:r>
          </a:p>
          <a:p>
            <a:pPr marL="457200" indent="-457200">
              <a:spcAft>
                <a:spcPts val="600"/>
              </a:spcAft>
              <a:buClr>
                <a:srgbClr val="FF0000"/>
              </a:buClr>
              <a:buAutoNum type="arabicPeriod" startAt="2"/>
            </a:pPr>
            <a:r>
              <a:rPr lang="en-AU" sz="2400" dirty="0"/>
              <a:t>-3 + (- 8)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 -3 – 8 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 -11 </a:t>
            </a:r>
          </a:p>
          <a:p>
            <a:pPr marL="457200" indent="-457200">
              <a:spcAft>
                <a:spcPts val="600"/>
              </a:spcAft>
              <a:buClr>
                <a:srgbClr val="FF0000"/>
              </a:buClr>
              <a:buAutoNum type="arabicPeriod" startAt="3"/>
            </a:pPr>
            <a:r>
              <a:rPr lang="en-AU" sz="2400" dirty="0"/>
              <a:t>4 – (- 7)</a:t>
            </a:r>
          </a:p>
          <a:p>
            <a:pPr lvl="1"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= 4 + 7</a:t>
            </a:r>
          </a:p>
          <a:p>
            <a:pPr lvl="1"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= 11</a:t>
            </a:r>
          </a:p>
          <a:p>
            <a:pPr marL="457200" indent="-457200">
              <a:spcAft>
                <a:spcPts val="600"/>
              </a:spcAft>
              <a:buClr>
                <a:srgbClr val="FF0000"/>
              </a:buClr>
              <a:buAutoNum type="arabicPeriod" startAt="4"/>
            </a:pPr>
            <a:r>
              <a:rPr lang="en-AU" sz="2400" dirty="0"/>
              <a:t>-8 + (-5)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 -8 – 5 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 -13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851DE-9E36-4F4E-8643-44E78D99AEC3}"/>
              </a:ext>
            </a:extLst>
          </p:cNvPr>
          <p:cNvSpPr txBox="1"/>
          <p:nvPr/>
        </p:nvSpPr>
        <p:spPr>
          <a:xfrm>
            <a:off x="6950766" y="496958"/>
            <a:ext cx="3707295" cy="5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>
                <a:solidFill>
                  <a:srgbClr val="FF0000"/>
                </a:solidFill>
              </a:rPr>
              <a:t>5.</a:t>
            </a:r>
            <a:r>
              <a:rPr lang="en-AU" sz="2400" dirty="0"/>
              <a:t>	-2 + (– 6) – (-2)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 -2 – 6 + 2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 -6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>
                <a:solidFill>
                  <a:srgbClr val="FF0000"/>
                </a:solidFill>
              </a:rPr>
              <a:t>6.</a:t>
            </a:r>
            <a:r>
              <a:rPr lang="en-AU" sz="2400" dirty="0"/>
              <a:t>	3 – (- 3) + (-3) – (-3)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 3 + 3 – 3 + 3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 6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>
                <a:solidFill>
                  <a:srgbClr val="FF0000"/>
                </a:solidFill>
              </a:rPr>
              <a:t>7.</a:t>
            </a:r>
            <a:r>
              <a:rPr lang="en-AU" sz="2400" dirty="0"/>
              <a:t>	43 + (– 52)</a:t>
            </a:r>
          </a:p>
          <a:p>
            <a:pPr lvl="1"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= 43 – 52 </a:t>
            </a:r>
          </a:p>
          <a:p>
            <a:pPr lvl="1"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= - 9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>
                <a:solidFill>
                  <a:srgbClr val="FF0000"/>
                </a:solidFill>
              </a:rPr>
              <a:t>8.</a:t>
            </a:r>
            <a:r>
              <a:rPr lang="en-AU" sz="2400" dirty="0"/>
              <a:t>	- 28 – (-25)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 -28 + 25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AU" sz="2400" dirty="0"/>
              <a:t>	= -3</a:t>
            </a:r>
          </a:p>
        </p:txBody>
      </p:sp>
    </p:spTree>
    <p:extLst>
      <p:ext uri="{BB962C8B-B14F-4D97-AF65-F5344CB8AC3E}">
        <p14:creationId xmlns:p14="http://schemas.microsoft.com/office/powerpoint/2010/main" val="225746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6D41F-A7F2-402D-AD08-D923BCE2F7B0}"/>
              </a:ext>
            </a:extLst>
          </p:cNvPr>
          <p:cNvSpPr txBox="1"/>
          <p:nvPr/>
        </p:nvSpPr>
        <p:spPr>
          <a:xfrm>
            <a:off x="2714218" y="192577"/>
            <a:ext cx="928572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Multiplication of integers: 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Using patterns to develop understanding and create rules.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165776" y="1100518"/>
                <a:ext cx="3612317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3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2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1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0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(-1)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(-2)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(-3)	=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776" y="1100518"/>
                <a:ext cx="3612317" cy="3139321"/>
              </a:xfrm>
              <a:prstGeom prst="rect">
                <a:avLst/>
              </a:prstGeom>
              <a:blipFill>
                <a:blip r:embed="rId3"/>
                <a:stretch>
                  <a:fillRect l="-2530" t="-1553" b="-34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289867" y="4316783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positive number by a negative number will always give a ___________  result.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DED5F-3198-40BA-B9EF-AE1FF71E1ACF}"/>
              </a:ext>
            </a:extLst>
          </p:cNvPr>
          <p:cNvSpPr txBox="1"/>
          <p:nvPr/>
        </p:nvSpPr>
        <p:spPr>
          <a:xfrm>
            <a:off x="2289866" y="5341983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positive number will always give a ___________  result.</a:t>
            </a:r>
          </a:p>
        </p:txBody>
      </p:sp>
    </p:spTree>
    <p:extLst>
      <p:ext uri="{BB962C8B-B14F-4D97-AF65-F5344CB8AC3E}">
        <p14:creationId xmlns:p14="http://schemas.microsoft.com/office/powerpoint/2010/main" val="1506948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6D41F-A7F2-402D-AD08-D923BCE2F7B0}"/>
              </a:ext>
            </a:extLst>
          </p:cNvPr>
          <p:cNvSpPr txBox="1"/>
          <p:nvPr/>
        </p:nvSpPr>
        <p:spPr>
          <a:xfrm>
            <a:off x="2485618" y="125949"/>
            <a:ext cx="928572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Multiplication of integers: 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Using patterns to develop understanding and create rules.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248612" y="1079578"/>
                <a:ext cx="2288572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3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2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1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0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(-1)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(-2)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(-3)	=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612" y="1079578"/>
                <a:ext cx="2288572" cy="3139321"/>
              </a:xfrm>
              <a:prstGeom prst="rect">
                <a:avLst/>
              </a:prstGeom>
              <a:blipFill>
                <a:blip r:embed="rId2"/>
                <a:stretch>
                  <a:fillRect l="-4267" t="-1553" b="-34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069276" y="4264587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positive number by a negative number will always give a                  result.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208855" y="4633919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negative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C97BE2-8691-482A-B69C-29E74B29753B}"/>
              </a:ext>
            </a:extLst>
          </p:cNvPr>
          <p:cNvSpPr txBox="1"/>
          <p:nvPr/>
        </p:nvSpPr>
        <p:spPr>
          <a:xfrm>
            <a:off x="6084036" y="1056495"/>
            <a:ext cx="12118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18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12		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0		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-6	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-12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-18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EE91C3-D140-4761-B2B2-A2D4F1C4AC85}"/>
              </a:ext>
            </a:extLst>
          </p:cNvPr>
          <p:cNvSpPr txBox="1"/>
          <p:nvPr/>
        </p:nvSpPr>
        <p:spPr>
          <a:xfrm>
            <a:off x="2069276" y="5251874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positive number will always give a                  result.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AD6B0C-CF7F-4329-887F-5E0C94ABA46A}"/>
              </a:ext>
            </a:extLst>
          </p:cNvPr>
          <p:cNvSpPr txBox="1"/>
          <p:nvPr/>
        </p:nvSpPr>
        <p:spPr>
          <a:xfrm>
            <a:off x="4208855" y="5621206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negative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779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6D41F-A7F2-402D-AD08-D923BCE2F7B0}"/>
              </a:ext>
            </a:extLst>
          </p:cNvPr>
          <p:cNvSpPr txBox="1"/>
          <p:nvPr/>
        </p:nvSpPr>
        <p:spPr>
          <a:xfrm>
            <a:off x="2714218" y="192577"/>
            <a:ext cx="928572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Multiplication of integers: 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Using patterns to develop understanding and create rules.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165774" y="1346739"/>
                <a:ext cx="3612317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3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2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1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0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(-1)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(-2)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(-3)	=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774" y="1346739"/>
                <a:ext cx="3612317" cy="3139321"/>
              </a:xfrm>
              <a:prstGeom prst="rect">
                <a:avLst/>
              </a:prstGeom>
              <a:blipFill>
                <a:blip r:embed="rId3"/>
                <a:stretch>
                  <a:fillRect l="-2530" t="-1553" b="-34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289867" y="4732281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negative number will always give a ___________  result.</a:t>
            </a:r>
          </a:p>
        </p:txBody>
      </p:sp>
    </p:spTree>
    <p:extLst>
      <p:ext uri="{BB962C8B-B14F-4D97-AF65-F5344CB8AC3E}">
        <p14:creationId xmlns:p14="http://schemas.microsoft.com/office/powerpoint/2010/main" val="235033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6D41F-A7F2-402D-AD08-D923BCE2F7B0}"/>
              </a:ext>
            </a:extLst>
          </p:cNvPr>
          <p:cNvSpPr txBox="1"/>
          <p:nvPr/>
        </p:nvSpPr>
        <p:spPr>
          <a:xfrm>
            <a:off x="2714218" y="192577"/>
            <a:ext cx="928572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Multiplication of integers: 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Using patterns to develop understanding and create rules.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165774" y="1346739"/>
                <a:ext cx="3612317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3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2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1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0	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(-1)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(-2)	=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-6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(-3)	=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774" y="1346739"/>
                <a:ext cx="3612317" cy="3139321"/>
              </a:xfrm>
              <a:prstGeom prst="rect">
                <a:avLst/>
              </a:prstGeom>
              <a:blipFill>
                <a:blip r:embed="rId3"/>
                <a:stretch>
                  <a:fillRect l="-2530" t="-1553" b="-34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289867" y="4732281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negative number will always give a ___________  result.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1016C-1D08-4A37-B784-5942B2512206}"/>
              </a:ext>
            </a:extLst>
          </p:cNvPr>
          <p:cNvSpPr txBox="1"/>
          <p:nvPr/>
        </p:nvSpPr>
        <p:spPr>
          <a:xfrm>
            <a:off x="6971932" y="1346738"/>
            <a:ext cx="36123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-18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-12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-6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0		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12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18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2D5D3-3F51-4B01-956D-C5361D7A9248}"/>
              </a:ext>
            </a:extLst>
          </p:cNvPr>
          <p:cNvSpPr txBox="1"/>
          <p:nvPr/>
        </p:nvSpPr>
        <p:spPr>
          <a:xfrm>
            <a:off x="4714461" y="5049596"/>
            <a:ext cx="1381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positive</a:t>
            </a:r>
          </a:p>
        </p:txBody>
      </p:sp>
    </p:spTree>
    <p:extLst>
      <p:ext uri="{BB962C8B-B14F-4D97-AF65-F5344CB8AC3E}">
        <p14:creationId xmlns:p14="http://schemas.microsoft.com/office/powerpoint/2010/main" val="273841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9926CF-3665-4913-806E-627971843059}"/>
              </a:ext>
            </a:extLst>
          </p:cNvPr>
          <p:cNvSpPr txBox="1"/>
          <p:nvPr/>
        </p:nvSpPr>
        <p:spPr>
          <a:xfrm>
            <a:off x="695739" y="213185"/>
            <a:ext cx="7374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Choral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670745-B5C8-4D63-AA38-D06E93E03C4D}"/>
              </a:ext>
            </a:extLst>
          </p:cNvPr>
          <p:cNvSpPr txBox="1"/>
          <p:nvPr/>
        </p:nvSpPr>
        <p:spPr>
          <a:xfrm>
            <a:off x="1851990" y="899347"/>
            <a:ext cx="10233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A negative multiplied to a positive will always give a negative result.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90C883-C886-4929-AC22-1DB730E8BA99}"/>
              </a:ext>
            </a:extLst>
          </p:cNvPr>
          <p:cNvSpPr txBox="1"/>
          <p:nvPr/>
        </p:nvSpPr>
        <p:spPr>
          <a:xfrm>
            <a:off x="1851990" y="1677842"/>
            <a:ext cx="10233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A negative multiplied to a negative will always give a positive result.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380C42-4CCD-403B-BCD5-76C97A25ACBE}"/>
              </a:ext>
            </a:extLst>
          </p:cNvPr>
          <p:cNvSpPr txBox="1"/>
          <p:nvPr/>
        </p:nvSpPr>
        <p:spPr>
          <a:xfrm>
            <a:off x="1851990" y="2456337"/>
            <a:ext cx="10233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A positive multiplied to a negative will always give a negative result.</a:t>
            </a:r>
          </a:p>
        </p:txBody>
      </p:sp>
    </p:spTree>
    <p:extLst>
      <p:ext uri="{BB962C8B-B14F-4D97-AF65-F5344CB8AC3E}">
        <p14:creationId xmlns:p14="http://schemas.microsoft.com/office/powerpoint/2010/main" val="421294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9926CF-3665-4913-806E-627971843059}"/>
              </a:ext>
            </a:extLst>
          </p:cNvPr>
          <p:cNvSpPr txBox="1"/>
          <p:nvPr/>
        </p:nvSpPr>
        <p:spPr>
          <a:xfrm>
            <a:off x="2819400" y="322516"/>
            <a:ext cx="7374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 pairs – label person A and person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670745-B5C8-4D63-AA38-D06E93E03C4D}"/>
              </a:ext>
            </a:extLst>
          </p:cNvPr>
          <p:cNvSpPr txBox="1"/>
          <p:nvPr/>
        </p:nvSpPr>
        <p:spPr>
          <a:xfrm>
            <a:off x="1603512" y="1958008"/>
            <a:ext cx="10233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A negative multiplied to a positive will always give a negative result.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90C883-C886-4929-AC22-1DB730E8BA99}"/>
              </a:ext>
            </a:extLst>
          </p:cNvPr>
          <p:cNvSpPr txBox="1"/>
          <p:nvPr/>
        </p:nvSpPr>
        <p:spPr>
          <a:xfrm>
            <a:off x="1603512" y="2967335"/>
            <a:ext cx="10233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A negative multiplied to a negative will always give a positive result.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380C42-4CCD-403B-BCD5-76C97A25ACBE}"/>
              </a:ext>
            </a:extLst>
          </p:cNvPr>
          <p:cNvSpPr txBox="1"/>
          <p:nvPr/>
        </p:nvSpPr>
        <p:spPr>
          <a:xfrm>
            <a:off x="1603512" y="3976663"/>
            <a:ext cx="10233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A positive multiplied to a negative will always give a negative result.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3E176A-8063-443F-A7B2-E035EDA45033}"/>
              </a:ext>
            </a:extLst>
          </p:cNvPr>
          <p:cNvSpPr/>
          <p:nvPr/>
        </p:nvSpPr>
        <p:spPr>
          <a:xfrm>
            <a:off x="9422296" y="2087217"/>
            <a:ext cx="1331844" cy="2782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F9AD36-0CEF-407B-A167-72E50B3B7A2A}"/>
              </a:ext>
            </a:extLst>
          </p:cNvPr>
          <p:cNvSpPr/>
          <p:nvPr/>
        </p:nvSpPr>
        <p:spPr>
          <a:xfrm>
            <a:off x="9634331" y="3059019"/>
            <a:ext cx="1119809" cy="2782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BEC185-39B5-4669-BB08-3B48B892E38D}"/>
              </a:ext>
            </a:extLst>
          </p:cNvPr>
          <p:cNvSpPr/>
          <p:nvPr/>
        </p:nvSpPr>
        <p:spPr>
          <a:xfrm>
            <a:off x="9422296" y="4104000"/>
            <a:ext cx="1331844" cy="2904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51D68E-013F-4451-ABF7-878F9395B6F7}"/>
              </a:ext>
            </a:extLst>
          </p:cNvPr>
          <p:cNvSpPr txBox="1"/>
          <p:nvPr/>
        </p:nvSpPr>
        <p:spPr>
          <a:xfrm>
            <a:off x="2932044" y="948680"/>
            <a:ext cx="649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 states 3 sentences to B then B to A</a:t>
            </a:r>
          </a:p>
        </p:txBody>
      </p:sp>
    </p:spTree>
    <p:extLst>
      <p:ext uri="{BB962C8B-B14F-4D97-AF65-F5344CB8AC3E}">
        <p14:creationId xmlns:p14="http://schemas.microsoft.com/office/powerpoint/2010/main" val="330486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41980C7-099B-4CCB-97CE-6DB578398CBA}"/>
                  </a:ext>
                </a:extLst>
              </p:cNvPr>
              <p:cNvSpPr txBox="1"/>
              <p:nvPr/>
            </p:nvSpPr>
            <p:spPr>
              <a:xfrm>
                <a:off x="3506857" y="450075"/>
                <a:ext cx="7782339" cy="5401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Independent practice: </a:t>
                </a:r>
                <a:r>
                  <a:rPr lang="en-AU" sz="2400" dirty="0">
                    <a:solidFill>
                      <a:srgbClr val="FF0000"/>
                    </a:solidFill>
                  </a:rPr>
                  <a:t>exercise books.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pPr marL="715963" indent="-715963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-2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6</a:t>
                </a:r>
              </a:p>
              <a:p>
                <a:pPr marL="715963" indent="-715963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-3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(-8)</a:t>
                </a:r>
              </a:p>
              <a:p>
                <a:pPr marL="715963" indent="-715963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4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(-7)</a:t>
                </a:r>
              </a:p>
              <a:p>
                <a:pPr marL="715963" indent="-715963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-8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(-5)</a:t>
                </a:r>
              </a:p>
              <a:p>
                <a:pPr marL="715963" indent="-715963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-5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8</a:t>
                </a:r>
              </a:p>
              <a:p>
                <a:pPr marL="715963" indent="-715963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-2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3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(-1)</a:t>
                </a:r>
              </a:p>
              <a:p>
                <a:pPr marL="715963" indent="-715963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5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(-2)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(-3)</a:t>
                </a:r>
              </a:p>
              <a:p>
                <a:pPr marL="715963" indent="-715963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-5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(-2)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3</a:t>
                </a:r>
              </a:p>
              <a:p>
                <a:pPr marL="715963" indent="-715963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24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(-32)</a:t>
                </a:r>
              </a:p>
              <a:p>
                <a:pPr marL="715963" indent="-715963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-3.2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(-4.6)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41980C7-099B-4CCB-97CE-6DB578398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857" y="450075"/>
                <a:ext cx="7782339" cy="5401479"/>
              </a:xfrm>
              <a:prstGeom prst="rect">
                <a:avLst/>
              </a:prstGeom>
              <a:blipFill>
                <a:blip r:embed="rId2"/>
                <a:stretch>
                  <a:fillRect l="-1175" t="-903" b="-15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8D24EDB-426E-45BB-8655-BE301523B86A}"/>
              </a:ext>
            </a:extLst>
          </p:cNvPr>
          <p:cNvSpPr txBox="1"/>
          <p:nvPr/>
        </p:nvSpPr>
        <p:spPr>
          <a:xfrm>
            <a:off x="6947452" y="2862470"/>
            <a:ext cx="4123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Check answers with your calculator.</a:t>
            </a:r>
          </a:p>
        </p:txBody>
      </p:sp>
    </p:spTree>
    <p:extLst>
      <p:ext uri="{BB962C8B-B14F-4D97-AF65-F5344CB8AC3E}">
        <p14:creationId xmlns:p14="http://schemas.microsoft.com/office/powerpoint/2010/main" val="271892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9B07AA0-FB0D-410E-B243-A68D6B8228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691878"/>
              </p:ext>
            </p:extLst>
          </p:nvPr>
        </p:nvGraphicFramePr>
        <p:xfrm>
          <a:off x="6815346" y="301694"/>
          <a:ext cx="4316482" cy="6107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Acrobat Document" r:id="rId4" imgW="5667120" imgH="8019903" progId="AcroExch.Document.DC">
                  <p:embed/>
                </p:oleObj>
              </mc:Choice>
              <mc:Fallback>
                <p:oleObj name="Acrobat Document" r:id="rId4" imgW="5667120" imgH="8019903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15346" y="301694"/>
                        <a:ext cx="4316482" cy="6107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3E25C60-96C7-40D3-BD29-0395F1D26BA9}"/>
              </a:ext>
            </a:extLst>
          </p:cNvPr>
          <p:cNvSpPr txBox="1"/>
          <p:nvPr/>
        </p:nvSpPr>
        <p:spPr>
          <a:xfrm>
            <a:off x="2319130" y="1441174"/>
            <a:ext cx="411148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400" dirty="0">
                <a:solidFill>
                  <a:srgbClr val="FF0000"/>
                </a:solidFill>
              </a:rPr>
              <a:t>Mixed operations.</a:t>
            </a:r>
          </a:p>
          <a:p>
            <a:r>
              <a:rPr lang="en-AU" sz="2400" dirty="0">
                <a:solidFill>
                  <a:srgbClr val="FF0000"/>
                </a:solidFill>
              </a:rPr>
              <a:t>Answers in exercise books,</a:t>
            </a:r>
          </a:p>
          <a:p>
            <a:r>
              <a:rPr lang="en-AU" sz="2400" dirty="0">
                <a:solidFill>
                  <a:srgbClr val="FF0000"/>
                </a:solidFill>
              </a:rPr>
              <a:t>with correct setting out. 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Title and question reference in exercise book required.</a:t>
            </a:r>
          </a:p>
        </p:txBody>
      </p:sp>
    </p:spTree>
    <p:extLst>
      <p:ext uri="{BB962C8B-B14F-4D97-AF65-F5344CB8AC3E}">
        <p14:creationId xmlns:p14="http://schemas.microsoft.com/office/powerpoint/2010/main" val="348564687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684</TotalTime>
  <Words>1062</Words>
  <Application>Microsoft Office PowerPoint</Application>
  <PresentationFormat>Widescreen</PresentationFormat>
  <Paragraphs>179</Paragraphs>
  <Slides>13</Slides>
  <Notes>9</Notes>
  <HiddenSlides>4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WALL Kevin [Busselton Senior High School]</dc:creator>
  <cp:lastModifiedBy>DAVIES Rhys [Busselton Senior High School]</cp:lastModifiedBy>
  <cp:revision>34</cp:revision>
  <cp:lastPrinted>2022-02-03T00:03:21Z</cp:lastPrinted>
  <dcterms:created xsi:type="dcterms:W3CDTF">2022-01-30T08:07:54Z</dcterms:created>
  <dcterms:modified xsi:type="dcterms:W3CDTF">2022-02-03T03:20:48Z</dcterms:modified>
</cp:coreProperties>
</file>
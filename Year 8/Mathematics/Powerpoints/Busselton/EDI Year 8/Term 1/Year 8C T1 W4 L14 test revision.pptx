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7" r:id="rId2"/>
    <p:sldId id="299" r:id="rId3"/>
    <p:sldId id="306" r:id="rId4"/>
    <p:sldId id="307" r:id="rId5"/>
    <p:sldId id="263" r:id="rId6"/>
    <p:sldId id="264" r:id="rId7"/>
    <p:sldId id="308" r:id="rId8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86" d="100"/>
          <a:sy n="86" d="100"/>
        </p:scale>
        <p:origin x="33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82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C65904-6D69-415D-9EC0-ACF45774F635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19100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9486"/>
            <a:ext cx="5435600" cy="3910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7"/>
            <a:ext cx="2944283" cy="49829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AECE7-7722-49A5-B115-3EA0A35DE3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3043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Show process manually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C0753-0B2E-422D-ADAB-A49118212793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1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151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760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7358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0115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2534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994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7723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084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5245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904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6854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522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834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8106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1063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0271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22/02/2022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9937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15174" y="160375"/>
            <a:ext cx="3022601" cy="369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1" b="1" dirty="0">
                <a:solidFill>
                  <a:srgbClr val="FF0000"/>
                </a:solidFill>
                <a:latin typeface="Century Gothic" panose="020B0502020202020204"/>
              </a:rPr>
              <a:t>22</a:t>
            </a:r>
            <a:r>
              <a:rPr kumimoji="0" lang="en-AU" sz="1801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/02/2022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85751" y="1858284"/>
            <a:ext cx="94768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Aim: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Be able to use ‘same sides add – different signs subtract’ with all operations.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11029" y="3681351"/>
            <a:ext cx="7504145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Plan: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Daily review:	</a:t>
            </a:r>
          </a:p>
          <a:p>
            <a:pPr marL="984250" marR="0" lvl="0" indent="-4413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Decimal division.</a:t>
            </a:r>
          </a:p>
          <a:p>
            <a:pPr marL="984250" marR="0" lvl="0" indent="-4413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2400" b="1" dirty="0">
                <a:solidFill>
                  <a:srgbClr val="00B0F0"/>
                </a:solidFill>
                <a:latin typeface="Century Gothic" panose="020B0502020202020204"/>
              </a:rPr>
              <a:t>Irrational numbers.</a:t>
            </a:r>
          </a:p>
          <a:p>
            <a:pPr marL="984250" marR="0" lvl="0" indent="-4413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Addition  / subtraction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Test revision.</a:t>
            </a:r>
          </a:p>
          <a:p>
            <a:pPr marL="342909" marR="0" lvl="0" indent="-342909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Cheat sheets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53A6D9-29AF-453C-98AC-AD70969C3FD8}"/>
              </a:ext>
            </a:extLst>
          </p:cNvPr>
          <p:cNvSpPr txBox="1"/>
          <p:nvPr/>
        </p:nvSpPr>
        <p:spPr>
          <a:xfrm>
            <a:off x="2385750" y="750055"/>
            <a:ext cx="94768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Title: </a:t>
            </a: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Test review </a:t>
            </a:r>
          </a:p>
        </p:txBody>
      </p:sp>
    </p:spTree>
    <p:extLst>
      <p:ext uri="{BB962C8B-B14F-4D97-AF65-F5344CB8AC3E}">
        <p14:creationId xmlns:p14="http://schemas.microsoft.com/office/powerpoint/2010/main" val="3143057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864735" y="327765"/>
            <a:ext cx="34323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57200">
              <a:buClr>
                <a:srgbClr val="FF0000"/>
              </a:buClr>
              <a:defRPr/>
            </a:pPr>
            <a:r>
              <a:rPr lang="en-AU" sz="2400" dirty="0">
                <a:solidFill>
                  <a:prstClr val="black"/>
                </a:solidFill>
              </a:rPr>
              <a:t>Division by a decimal.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442449" y="1134400"/>
                <a:ext cx="39784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449263"/>
                <a:r>
                  <a:rPr lang="en-AU" sz="2400" dirty="0"/>
                  <a:t>	eg:   4.53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0.3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449" y="1134400"/>
                <a:ext cx="3978443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810285" y="4224548"/>
                <a:ext cx="2196137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/>
                  <a:t>4.53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0.3 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= 45.3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3. </a:t>
                </a:r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285" y="4224548"/>
                <a:ext cx="2196137" cy="1354217"/>
              </a:xfrm>
              <a:prstGeom prst="rect">
                <a:avLst/>
              </a:prstGeom>
              <a:blipFill>
                <a:blip r:embed="rId4"/>
                <a:stretch>
                  <a:fillRect l="-4167" t="-3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4A5FE7A-45B7-486B-9B4A-54D62C30C7DA}"/>
              </a:ext>
            </a:extLst>
          </p:cNvPr>
          <p:cNvSpPr txBox="1"/>
          <p:nvPr/>
        </p:nvSpPr>
        <p:spPr>
          <a:xfrm>
            <a:off x="2723733" y="1929642"/>
            <a:ext cx="544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Rule #1: You can’t divide by a decimal.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20CEE2-78C0-4782-AE61-6087B80D4501}"/>
              </a:ext>
            </a:extLst>
          </p:cNvPr>
          <p:cNvSpPr txBox="1"/>
          <p:nvPr/>
        </p:nvSpPr>
        <p:spPr>
          <a:xfrm>
            <a:off x="7175860" y="908268"/>
            <a:ext cx="4810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That is, this number cannot be a decimal.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7D5D8F-79DA-4760-93BA-6EBD82DA471F}"/>
              </a:ext>
            </a:extLst>
          </p:cNvPr>
          <p:cNvCxnSpPr/>
          <p:nvPr/>
        </p:nvCxnSpPr>
        <p:spPr>
          <a:xfrm flipH="1">
            <a:off x="5242087" y="1250232"/>
            <a:ext cx="1793966" cy="1197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183AD67-A4D0-43C1-995A-3BE0CDE809A9}"/>
              </a:ext>
            </a:extLst>
          </p:cNvPr>
          <p:cNvSpPr txBox="1"/>
          <p:nvPr/>
        </p:nvSpPr>
        <p:spPr>
          <a:xfrm>
            <a:off x="2723733" y="2477684"/>
            <a:ext cx="80942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Method: increase the value of the decimal by multiplying by 10, 100, 1000, etc</a:t>
            </a:r>
          </a:p>
          <a:p>
            <a:r>
              <a:rPr lang="en-AU" dirty="0"/>
              <a:t>BUT</a:t>
            </a:r>
          </a:p>
          <a:p>
            <a:r>
              <a:rPr lang="en-AU" dirty="0"/>
              <a:t>If you multiply one of the numbers by 10, 100, 1000 then you must multiply the other number by 10, 100, 1000.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17E23EA-DFB5-4AF0-A14F-0D6BE71DAF75}"/>
                  </a:ext>
                </a:extLst>
              </p:cNvPr>
              <p:cNvSpPr txBox="1"/>
              <p:nvPr/>
            </p:nvSpPr>
            <p:spPr>
              <a:xfrm>
                <a:off x="5199017" y="4224547"/>
                <a:ext cx="2196137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/>
                  <a:t>4.53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0.03 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= 453.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3. </a:t>
                </a:r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17E23EA-DFB5-4AF0-A14F-0D6BE71DA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017" y="4224547"/>
                <a:ext cx="2196137" cy="1354217"/>
              </a:xfrm>
              <a:prstGeom prst="rect">
                <a:avLst/>
              </a:prstGeom>
              <a:blipFill>
                <a:blip r:embed="rId5"/>
                <a:stretch>
                  <a:fillRect l="-4444" t="-3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131F3E1-1B0B-4C96-8C13-B113ABE59A50}"/>
                  </a:ext>
                </a:extLst>
              </p:cNvPr>
              <p:cNvSpPr txBox="1"/>
              <p:nvPr/>
            </p:nvSpPr>
            <p:spPr>
              <a:xfrm>
                <a:off x="7819507" y="4187054"/>
                <a:ext cx="2196137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AU" sz="2400" dirty="0"/>
                  <a:t>4.53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0.003 </a:t>
                </a:r>
              </a:p>
              <a:p>
                <a:pPr>
                  <a:spcAft>
                    <a:spcPts val="600"/>
                  </a:spcAft>
                </a:pPr>
                <a:r>
                  <a:rPr lang="en-AU" sz="2400" dirty="0"/>
                  <a:t>= 4530.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3. </a:t>
                </a:r>
              </a:p>
              <a:p>
                <a:endParaRPr lang="en-AU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131F3E1-1B0B-4C96-8C13-B113ABE59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9507" y="4187054"/>
                <a:ext cx="2196137" cy="1354217"/>
              </a:xfrm>
              <a:prstGeom prst="rect">
                <a:avLst/>
              </a:prstGeom>
              <a:blipFill>
                <a:blip r:embed="rId6"/>
                <a:stretch>
                  <a:fillRect l="-4444" t="-360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B085F5-9537-4D4E-A161-CE499D782904}"/>
                  </a:ext>
                </a:extLst>
              </p:cNvPr>
              <p:cNvSpPr txBox="1"/>
              <p:nvPr/>
            </p:nvSpPr>
            <p:spPr>
              <a:xfrm>
                <a:off x="2544417" y="5352635"/>
                <a:ext cx="79910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Standard algorithm: </a:t>
                </a:r>
                <a14:m>
                  <m:oMath xmlns:m="http://schemas.openxmlformats.org/officeDocument/2006/math">
                    <m:r>
                      <a:rPr lang="en-AU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a:rPr lang="en-AU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AU" b="1" dirty="0">
                    <a:solidFill>
                      <a:srgbClr val="FF0000"/>
                    </a:solidFill>
                  </a:rPr>
                  <a:t> line up the decimal points</a:t>
                </a:r>
                <a:r>
                  <a:rPr lang="en-AU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∗∗</m:t>
                    </m:r>
                  </m:oMath>
                </a14:m>
                <a:r>
                  <a:rPr lang="en-AU" b="1" dirty="0">
                    <a:solidFill>
                      <a:srgbClr val="FF0000"/>
                    </a:solidFill>
                  </a:rPr>
                  <a:t>  </a:t>
                </a:r>
                <a:endParaRPr lang="en-AU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B085F5-9537-4D4E-A161-CE499D782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4417" y="5352635"/>
                <a:ext cx="7991061" cy="369332"/>
              </a:xfrm>
              <a:prstGeom prst="rect">
                <a:avLst/>
              </a:prstGeom>
              <a:blipFill>
                <a:blip r:embed="rId7"/>
                <a:stretch>
                  <a:fillRect l="-610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085C8A5-E7D6-41AE-B53B-6550854FFCDD}"/>
              </a:ext>
            </a:extLst>
          </p:cNvPr>
          <p:cNvSpPr/>
          <p:nvPr/>
        </p:nvSpPr>
        <p:spPr>
          <a:xfrm>
            <a:off x="3105978" y="4757365"/>
            <a:ext cx="720587" cy="28857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D9CBAFA-A8DF-4CF2-8BF2-CB22A398705C}"/>
              </a:ext>
            </a:extLst>
          </p:cNvPr>
          <p:cNvSpPr/>
          <p:nvPr/>
        </p:nvSpPr>
        <p:spPr>
          <a:xfrm>
            <a:off x="5499590" y="4713968"/>
            <a:ext cx="639480" cy="300388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47B7223-7888-40C6-BEA5-622536CA541B}"/>
              </a:ext>
            </a:extLst>
          </p:cNvPr>
          <p:cNvSpPr/>
          <p:nvPr/>
        </p:nvSpPr>
        <p:spPr>
          <a:xfrm>
            <a:off x="8166591" y="4729394"/>
            <a:ext cx="798506" cy="269536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04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833800" y="349890"/>
                <a:ext cx="6497053" cy="4237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800"/>
                  </a:spcAft>
                  <a:buClr>
                    <a:srgbClr val="FF0000"/>
                  </a:buClr>
                  <a:tabLst>
                    <a:tab pos="893763" algn="l"/>
                  </a:tabLst>
                </a:pPr>
                <a:r>
                  <a:rPr lang="en-AU" sz="2400" dirty="0">
                    <a:solidFill>
                      <a:srgbClr val="FF0000"/>
                    </a:solidFill>
                  </a:rPr>
                  <a:t>1.</a:t>
                </a:r>
                <a:r>
                  <a:rPr lang="en-AU" sz="2400" dirty="0"/>
                  <a:t>	34.26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0.5</a:t>
                </a:r>
              </a:p>
              <a:p>
                <a:pPr defTabSz="715963">
                  <a:spcAft>
                    <a:spcPts val="800"/>
                  </a:spcAft>
                  <a:buClr>
                    <a:srgbClr val="FF0000"/>
                  </a:buClr>
                  <a:tabLst>
                    <a:tab pos="893763" algn="l"/>
                  </a:tabLst>
                </a:pPr>
                <a:r>
                  <a:rPr lang="en-AU" sz="2400" dirty="0"/>
                  <a:t>	= 342.6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5</a:t>
                </a:r>
              </a:p>
              <a:p>
                <a:pPr defTabSz="715963">
                  <a:spcAft>
                    <a:spcPts val="800"/>
                  </a:spcAft>
                  <a:buClr>
                    <a:srgbClr val="FF0000"/>
                  </a:buClr>
                  <a:tabLst>
                    <a:tab pos="893763" algn="l"/>
                  </a:tabLst>
                </a:pPr>
                <a:r>
                  <a:rPr lang="en-AU" sz="2400" dirty="0"/>
                  <a:t>	= 68.52</a:t>
                </a:r>
              </a:p>
              <a:p>
                <a:pPr defTabSz="715963">
                  <a:spcAft>
                    <a:spcPts val="800"/>
                  </a:spcAft>
                  <a:buClr>
                    <a:srgbClr val="FF0000"/>
                  </a:buClr>
                  <a:tabLst>
                    <a:tab pos="893763" algn="l"/>
                  </a:tabLst>
                </a:pPr>
                <a:endParaRPr lang="en-AU" sz="2400" dirty="0"/>
              </a:p>
              <a:p>
                <a:pPr defTabSz="715963">
                  <a:spcAft>
                    <a:spcPts val="800"/>
                  </a:spcAft>
                  <a:buClr>
                    <a:srgbClr val="FF0000"/>
                  </a:buClr>
                  <a:tabLst>
                    <a:tab pos="893763" algn="l"/>
                  </a:tabLst>
                </a:pPr>
                <a:r>
                  <a:rPr lang="en-AU" sz="2400" dirty="0">
                    <a:solidFill>
                      <a:srgbClr val="FF0000"/>
                    </a:solidFill>
                  </a:rPr>
                  <a:t>2.</a:t>
                </a:r>
                <a:r>
                  <a:rPr lang="en-AU" sz="2400" dirty="0"/>
                  <a:t>	-13.76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0.004</a:t>
                </a:r>
              </a:p>
              <a:p>
                <a:pPr defTabSz="715963">
                  <a:spcAft>
                    <a:spcPts val="800"/>
                  </a:spcAft>
                  <a:buClr>
                    <a:srgbClr val="FF0000"/>
                  </a:buClr>
                  <a:tabLst>
                    <a:tab pos="893763" algn="l"/>
                  </a:tabLst>
                </a:pPr>
                <a:r>
                  <a:rPr lang="en-AU" sz="2400" dirty="0"/>
                  <a:t>	= -13760.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4</a:t>
                </a:r>
              </a:p>
              <a:p>
                <a:pPr defTabSz="715963">
                  <a:spcAft>
                    <a:spcPts val="800"/>
                  </a:spcAft>
                  <a:buClr>
                    <a:srgbClr val="FF0000"/>
                  </a:buClr>
                  <a:tabLst>
                    <a:tab pos="893763" algn="l"/>
                  </a:tabLst>
                </a:pPr>
                <a:r>
                  <a:rPr lang="en-AU" sz="2400" dirty="0"/>
                  <a:t>	=</a:t>
                </a:r>
              </a:p>
              <a:p>
                <a:pPr defTabSz="715963">
                  <a:spcAft>
                    <a:spcPts val="800"/>
                  </a:spcAft>
                  <a:buClr>
                    <a:srgbClr val="FF0000"/>
                  </a:buClr>
                  <a:tabLst>
                    <a:tab pos="893763" algn="l"/>
                  </a:tabLst>
                </a:pPr>
                <a:endParaRPr lang="en-AU" sz="2400" dirty="0"/>
              </a:p>
              <a:p>
                <a:pPr>
                  <a:spcAft>
                    <a:spcPts val="800"/>
                  </a:spcAft>
                  <a:buClr>
                    <a:srgbClr val="FF0000"/>
                  </a:buClr>
                  <a:tabLst>
                    <a:tab pos="893763" algn="l"/>
                  </a:tabLst>
                </a:pPr>
                <a:r>
                  <a:rPr lang="en-AU" sz="2400" dirty="0"/>
                  <a:t>	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800" y="349890"/>
                <a:ext cx="6497053" cy="4237057"/>
              </a:xfrm>
              <a:prstGeom prst="rect">
                <a:avLst/>
              </a:prstGeom>
              <a:blipFill>
                <a:blip r:embed="rId2"/>
                <a:stretch>
                  <a:fillRect l="-1501" t="-1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617161D-E3DA-4AD0-A83F-382858F63A33}"/>
              </a:ext>
            </a:extLst>
          </p:cNvPr>
          <p:cNvSpPr/>
          <p:nvPr/>
        </p:nvSpPr>
        <p:spPr>
          <a:xfrm>
            <a:off x="3997786" y="903240"/>
            <a:ext cx="874643" cy="32799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/>
          <p:cNvSpPr txBox="1"/>
          <p:nvPr/>
        </p:nvSpPr>
        <p:spPr>
          <a:xfrm>
            <a:off x="658269" y="165224"/>
            <a:ext cx="3506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Whiteboards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328079" y="721217"/>
                <a:ext cx="24598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5 ) 3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AU" sz="2400" dirty="0"/>
                  <a:t>2 </a:t>
                </a:r>
                <a14:m>
                  <m:oMath xmlns:m="http://schemas.openxmlformats.org/officeDocument/2006/math">
                    <m:r>
                      <a:rPr lang="en-AU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AU" sz="2400" dirty="0"/>
                  <a:t> 6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8079" y="721217"/>
                <a:ext cx="2459865" cy="461665"/>
              </a:xfrm>
              <a:prstGeom prst="rect">
                <a:avLst/>
              </a:prstGeom>
              <a:blipFill>
                <a:blip r:embed="rId3"/>
                <a:stretch>
                  <a:fillRect l="-3713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/>
          <p:nvPr/>
        </p:nvCxnSpPr>
        <p:spPr>
          <a:xfrm>
            <a:off x="7785279" y="721217"/>
            <a:ext cx="11047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942210" y="259551"/>
                <a:ext cx="23029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68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n-AU" sz="2400" dirty="0"/>
                  <a:t> 52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2210" y="259551"/>
                <a:ext cx="2302934" cy="461665"/>
              </a:xfrm>
              <a:prstGeom prst="rect">
                <a:avLst/>
              </a:prstGeom>
              <a:blipFill>
                <a:blip r:embed="rId4"/>
                <a:stretch>
                  <a:fillRect l="-4233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833800" y="3884190"/>
                <a:ext cx="4951479" cy="1405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715963">
                  <a:spcAft>
                    <a:spcPts val="800"/>
                  </a:spcAft>
                  <a:buClr>
                    <a:srgbClr val="FF0000"/>
                  </a:buClr>
                  <a:tabLst>
                    <a:tab pos="893763" algn="l"/>
                  </a:tabLst>
                </a:pPr>
                <a:r>
                  <a:rPr lang="en-AU" sz="2400" dirty="0">
                    <a:solidFill>
                      <a:srgbClr val="FF0000"/>
                    </a:solidFill>
                  </a:rPr>
                  <a:t>3.</a:t>
                </a:r>
                <a:r>
                  <a:rPr lang="en-AU" sz="2400" dirty="0"/>
                  <a:t>	-51.76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(-0.03)</a:t>
                </a:r>
              </a:p>
              <a:p>
                <a:pPr defTabSz="715963">
                  <a:spcAft>
                    <a:spcPts val="800"/>
                  </a:spcAft>
                  <a:buClr>
                    <a:srgbClr val="FF0000"/>
                  </a:buClr>
                  <a:tabLst>
                    <a:tab pos="893763" algn="l"/>
                  </a:tabLst>
                </a:pPr>
                <a:r>
                  <a:rPr lang="en-AU" sz="2400" dirty="0"/>
                  <a:t>	= -5176.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</m:t>
                    </m:r>
                  </m:oMath>
                </a14:m>
                <a:r>
                  <a:rPr lang="en-AU" sz="2400" dirty="0"/>
                  <a:t> -3</a:t>
                </a:r>
              </a:p>
              <a:p>
                <a:pPr defTabSz="715963">
                  <a:spcAft>
                    <a:spcPts val="800"/>
                  </a:spcAft>
                  <a:buClr>
                    <a:srgbClr val="FF0000"/>
                  </a:buClr>
                  <a:tabLst>
                    <a:tab pos="893763" algn="l"/>
                  </a:tabLst>
                </a:pPr>
                <a:r>
                  <a:rPr lang="en-AU" sz="2400" dirty="0"/>
                  <a:t>	=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800" y="3884190"/>
                <a:ext cx="4951479" cy="1405513"/>
              </a:xfrm>
              <a:prstGeom prst="rect">
                <a:avLst/>
              </a:prstGeom>
              <a:blipFill>
                <a:blip r:embed="rId5"/>
                <a:stretch>
                  <a:fillRect l="-1970" t="-3463" b="-86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3338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/>
      <p:bldP spid="16" grpId="0"/>
      <p:bldP spid="1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48267" y="220134"/>
            <a:ext cx="3572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Pair share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183466" y="1253067"/>
                <a:ext cx="7738534" cy="5002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/>
                  <a:t>Explain why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AU" sz="2400" dirty="0"/>
                  <a:t> is an irrational number.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466" y="1253067"/>
                <a:ext cx="7738534" cy="500202"/>
              </a:xfrm>
              <a:prstGeom prst="rect">
                <a:avLst/>
              </a:prstGeom>
              <a:blipFill>
                <a:blip r:embed="rId2"/>
                <a:stretch>
                  <a:fillRect l="-1181" t="-2439" b="-268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099732" y="1982103"/>
                <a:ext cx="8822268" cy="8695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>
                    <a:solidFill>
                      <a:srgbClr val="FF0000"/>
                    </a:solidFill>
                  </a:rPr>
                  <a:t>If we try to convert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AU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AU" sz="2400" dirty="0">
                    <a:solidFill>
                      <a:srgbClr val="FF0000"/>
                    </a:solidFill>
                  </a:rPr>
                  <a:t> to a decimal, the decimal does not terminate or recur. This makes it irrational.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732" y="1982103"/>
                <a:ext cx="8822268" cy="869533"/>
              </a:xfrm>
              <a:prstGeom prst="rect">
                <a:avLst/>
              </a:prstGeom>
              <a:blipFill>
                <a:blip r:embed="rId3"/>
                <a:stretch>
                  <a:fillRect l="-1036" t="-1399" r="-829" b="-1468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159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75734" y="237067"/>
            <a:ext cx="6163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Daily review – addition / subtraction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0467" y="948267"/>
            <a:ext cx="939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600" dirty="0"/>
              <a:t>Same signs add different signs subtract.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9734" y="2337860"/>
            <a:ext cx="2404534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-4 + (-3)</a:t>
            </a:r>
          </a:p>
          <a:p>
            <a:r>
              <a:rPr lang="en-AU" sz="2400" dirty="0"/>
              <a:t>= -4 – 3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10933" y="2335225"/>
            <a:ext cx="2404534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4 – (-3)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4 + 3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0467" y="1761291"/>
            <a:ext cx="4699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 deal with the double 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9734" y="3465858"/>
            <a:ext cx="80094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Can also be used for addition and subtraction</a:t>
            </a:r>
          </a:p>
          <a:p>
            <a:endParaRPr lang="en-AU" sz="2400" dirty="0"/>
          </a:p>
          <a:p>
            <a:r>
              <a:rPr lang="en-AU" sz="2400" dirty="0"/>
              <a:t>	-2 – 5 </a:t>
            </a:r>
          </a:p>
          <a:p>
            <a:r>
              <a:rPr lang="en-AU" sz="2400" dirty="0"/>
              <a:t>	= -7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0133" y="4250688"/>
            <a:ext cx="5621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Same signs add (but negative answer)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5300" y="5163241"/>
            <a:ext cx="25823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-2 + 5</a:t>
            </a:r>
          </a:p>
          <a:p>
            <a:r>
              <a:rPr lang="en-AU" sz="2400" dirty="0"/>
              <a:t>= 3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4268" y="5255575"/>
            <a:ext cx="4732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Different signs subtract (highest number positive so positive answer</a:t>
            </a:r>
          </a:p>
        </p:txBody>
      </p:sp>
    </p:spTree>
    <p:extLst>
      <p:ext uri="{BB962C8B-B14F-4D97-AF65-F5344CB8AC3E}">
        <p14:creationId xmlns:p14="http://schemas.microsoft.com/office/powerpoint/2010/main" val="426070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61733" y="643467"/>
            <a:ext cx="3522133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   -23.456 + (-5.68)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 -23.456 – 5.68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- 29.136</a:t>
            </a:r>
          </a:p>
          <a:p>
            <a:pPr>
              <a:spcAft>
                <a:spcPts val="600"/>
              </a:spcAft>
            </a:pP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5723466" y="658611"/>
            <a:ext cx="431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rgbClr val="FF0000"/>
                </a:solidFill>
              </a:rPr>
              <a:t>Double signs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81066" y="1582184"/>
            <a:ext cx="26415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   23 . 456</a:t>
            </a:r>
          </a:p>
          <a:p>
            <a:r>
              <a:rPr lang="en-AU" sz="2000" dirty="0"/>
              <a:t>+   5 . 680</a:t>
            </a:r>
          </a:p>
          <a:p>
            <a:r>
              <a:rPr lang="en-AU" sz="2000" dirty="0"/>
              <a:t>   2 9 . 136</a:t>
            </a:r>
          </a:p>
        </p:txBody>
      </p:sp>
      <p:cxnSp>
        <p:nvCxnSpPr>
          <p:cNvPr id="15" name="Straight Connector 14"/>
          <p:cNvCxnSpPr/>
          <p:nvPr/>
        </p:nvCxnSpPr>
        <p:spPr>
          <a:xfrm flipV="1">
            <a:off x="9567332" y="2229957"/>
            <a:ext cx="1270001" cy="33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861733" y="2313154"/>
            <a:ext cx="3522133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   -59.28 - (-84.93)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 -59.28 + 84.93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 25.65</a:t>
            </a:r>
          </a:p>
          <a:p>
            <a:pPr>
              <a:spcAft>
                <a:spcPts val="600"/>
              </a:spcAft>
            </a:pP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5604933" y="2348462"/>
            <a:ext cx="431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rgbClr val="FF0000"/>
                </a:solidFill>
              </a:rPr>
              <a:t>Double signs 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1465" y="2819836"/>
            <a:ext cx="2235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   84 . 93</a:t>
            </a:r>
          </a:p>
          <a:p>
            <a:r>
              <a:rPr lang="en-AU" sz="2000" dirty="0"/>
              <a:t>– 59 . 28</a:t>
            </a:r>
          </a:p>
          <a:p>
            <a:r>
              <a:rPr lang="en-AU" sz="2000" dirty="0"/>
              <a:t>   25 . 65</a:t>
            </a: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10227730" y="3448221"/>
            <a:ext cx="1074617" cy="532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97200" y="4210743"/>
            <a:ext cx="3522133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400" dirty="0"/>
              <a:t>   -59.28 - (-34.93)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 -59.28 + 34.93</a:t>
            </a:r>
          </a:p>
          <a:p>
            <a:pPr>
              <a:spcAft>
                <a:spcPts val="600"/>
              </a:spcAft>
            </a:pPr>
            <a:r>
              <a:rPr lang="en-AU" sz="2400" dirty="0"/>
              <a:t>=  - 24.35</a:t>
            </a:r>
          </a:p>
          <a:p>
            <a:pPr>
              <a:spcAft>
                <a:spcPts val="600"/>
              </a:spcAft>
            </a:pPr>
            <a:endParaRPr lang="en-A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5604933" y="4258409"/>
            <a:ext cx="431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solidFill>
                  <a:srgbClr val="FF0000"/>
                </a:solidFill>
              </a:rPr>
              <a:t>Double signs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38265" y="4995573"/>
            <a:ext cx="26415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   59 . 28</a:t>
            </a:r>
          </a:p>
          <a:p>
            <a:r>
              <a:rPr lang="en-AU" sz="2000" dirty="0"/>
              <a:t>– 34 . 93</a:t>
            </a:r>
          </a:p>
          <a:p>
            <a:r>
              <a:rPr lang="en-AU" sz="2000" dirty="0"/>
              <a:t>   24 . 35</a:t>
            </a:r>
          </a:p>
        </p:txBody>
      </p:sp>
      <p:cxnSp>
        <p:nvCxnSpPr>
          <p:cNvPr id="24" name="Straight Connector 23"/>
          <p:cNvCxnSpPr/>
          <p:nvPr/>
        </p:nvCxnSpPr>
        <p:spPr>
          <a:xfrm flipV="1">
            <a:off x="9889064" y="5611126"/>
            <a:ext cx="1270001" cy="338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35599" y="1097436"/>
            <a:ext cx="56218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Same signs add (but negative answer)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69465" y="2752370"/>
            <a:ext cx="47328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Different signs subtract (highest number positive so positive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6032" y="4701120"/>
            <a:ext cx="47328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rgbClr val="FF0000"/>
                </a:solidFill>
              </a:rPr>
              <a:t>Different signs subtract (highest number negative so negative answer.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63DE64-86E8-4F00-9EAD-2E92E7C5643A}"/>
              </a:ext>
            </a:extLst>
          </p:cNvPr>
          <p:cNvSpPr txBox="1"/>
          <p:nvPr/>
        </p:nvSpPr>
        <p:spPr>
          <a:xfrm>
            <a:off x="1207363" y="84706"/>
            <a:ext cx="4693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Examples into our notes page </a:t>
            </a:r>
            <a:endParaRPr lang="en-AU" sz="24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ADB3A6-A9DF-4840-A5DB-4617E5A769C4}"/>
              </a:ext>
            </a:extLst>
          </p:cNvPr>
          <p:cNvSpPr/>
          <p:nvPr/>
        </p:nvSpPr>
        <p:spPr>
          <a:xfrm>
            <a:off x="2728570" y="556593"/>
            <a:ext cx="8756835" cy="356727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851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8" grpId="0"/>
      <p:bldP spid="19" grpId="0"/>
      <p:bldP spid="22" grpId="0"/>
      <p:bldP spid="23" grpId="0"/>
      <p:bldP spid="25" grpId="0"/>
      <p:bldP spid="26" grpId="0"/>
      <p:bldP spid="28" grpId="0"/>
      <p:bldP spid="2" grpId="0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0773753"/>
              </p:ext>
            </p:extLst>
          </p:nvPr>
        </p:nvGraphicFramePr>
        <p:xfrm>
          <a:off x="2128837" y="575732"/>
          <a:ext cx="9752293" cy="58758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Document" r:id="rId3" imgW="8850513" imgH="5332332" progId="Word.Document.12">
                  <p:embed/>
                </p:oleObj>
              </mc:Choice>
              <mc:Fallback>
                <p:oleObj name="Document" r:id="rId3" imgW="8850513" imgH="53323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8837" y="575732"/>
                        <a:ext cx="9752293" cy="58758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8134" y="206400"/>
            <a:ext cx="238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Test revision</a:t>
            </a:r>
          </a:p>
        </p:txBody>
      </p:sp>
    </p:spTree>
    <p:extLst>
      <p:ext uri="{BB962C8B-B14F-4D97-AF65-F5344CB8AC3E}">
        <p14:creationId xmlns:p14="http://schemas.microsoft.com/office/powerpoint/2010/main" val="391311511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461</Words>
  <Application>Microsoft Office PowerPoint</Application>
  <PresentationFormat>Widescreen</PresentationFormat>
  <Paragraphs>86</Paragraphs>
  <Slides>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Cambria Math</vt:lpstr>
      <vt:lpstr>Century Gothic</vt:lpstr>
      <vt:lpstr>Wingdings 3</vt:lpstr>
      <vt:lpstr>Wisp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WALL Kevin [Busselton Senior High School]</dc:creator>
  <cp:lastModifiedBy>DAVIES Rhys [Busselton Senior High School]</cp:lastModifiedBy>
  <cp:revision>23</cp:revision>
  <cp:lastPrinted>2022-02-14T23:49:09Z</cp:lastPrinted>
  <dcterms:created xsi:type="dcterms:W3CDTF">2022-02-14T04:55:53Z</dcterms:created>
  <dcterms:modified xsi:type="dcterms:W3CDTF">2022-02-22T00:44:44Z</dcterms:modified>
</cp:coreProperties>
</file>
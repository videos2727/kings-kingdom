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93" r:id="rId2"/>
    <p:sldId id="294" r:id="rId3"/>
    <p:sldId id="295" r:id="rId4"/>
    <p:sldId id="279" r:id="rId5"/>
    <p:sldId id="285" r:id="rId6"/>
    <p:sldId id="286" r:id="rId7"/>
    <p:sldId id="287" r:id="rId8"/>
    <p:sldId id="29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8173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0487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9160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728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2/03/2022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1442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2/03/2022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3975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2/03/2022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6237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2630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6368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6046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168799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81291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184270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07951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61496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4137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B0986-CC5D-441D-9150-EFAE06F4444F}" type="datetimeFigureOut">
              <a:rPr lang="en-AU" smtClean="0"/>
              <a:t>2/03/2022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1738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5.png"/><Relationship Id="rId7" Type="http://schemas.openxmlformats.org/officeDocument/2006/relationships/image" Target="../media/image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969197" y="270609"/>
            <a:ext cx="3022601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1" b="1" dirty="0">
                <a:solidFill>
                  <a:srgbClr val="FF0000"/>
                </a:solidFill>
                <a:latin typeface="Century Gothic" panose="020B0502020202020204"/>
              </a:rPr>
              <a:t>02</a:t>
            </a:r>
            <a:r>
              <a:rPr kumimoji="0" lang="en-AU" sz="1801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/03/2022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8195" y="2598003"/>
            <a:ext cx="82049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Aims: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Know and be able to use the third law of indices.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8195" y="3702634"/>
            <a:ext cx="85486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Plan:</a:t>
            </a:r>
          </a:p>
          <a:p>
            <a:pPr marL="342909" marR="0" lvl="0" indent="-34290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Daily review: </a:t>
            </a:r>
          </a:p>
          <a:p>
            <a:pPr marL="895350" marR="0" lvl="0" indent="-5381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Index Law #1, #2. </a:t>
            </a:r>
          </a:p>
          <a:p>
            <a:pPr marL="357188" marR="0" lvl="0" indent="-35718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Index Law #3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6C08B7-09FE-4C77-A078-F5A5B01803E3}"/>
              </a:ext>
            </a:extLst>
          </p:cNvPr>
          <p:cNvSpPr txBox="1"/>
          <p:nvPr/>
        </p:nvSpPr>
        <p:spPr>
          <a:xfrm>
            <a:off x="2518195" y="1630189"/>
            <a:ext cx="8204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Title: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Index 3</a:t>
            </a:r>
            <a:r>
              <a:rPr kumimoji="0" lang="en-AU" sz="2400" b="1" i="0" u="none" strike="noStrike" kern="1200" cap="none" spc="0" normalizeH="0" baseline="3000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rd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law </a:t>
            </a:r>
          </a:p>
        </p:txBody>
      </p:sp>
    </p:spTree>
    <p:extLst>
      <p:ext uri="{BB962C8B-B14F-4D97-AF65-F5344CB8AC3E}">
        <p14:creationId xmlns:p14="http://schemas.microsoft.com/office/powerpoint/2010/main" val="3839991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1684" y="208548"/>
            <a:ext cx="5678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Daily review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222500" y="981501"/>
                <a:ext cx="77216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If index numbers with the same base are multiplied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AU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eg</m:t>
                    </m:r>
                    <m:r>
                      <a:rPr kumimoji="0" lang="en-AU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  </m:t>
                    </m:r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4</m:t>
                        </m:r>
                      </m:sup>
                    </m:sSup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3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10</m:t>
                        </m:r>
                      </m:sup>
                    </m:sSup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),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then powers are added.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2500" y="981501"/>
                <a:ext cx="7721600" cy="830997"/>
              </a:xfrm>
              <a:prstGeom prst="rect">
                <a:avLst/>
              </a:prstGeom>
              <a:blipFill>
                <a:blip r:embed="rId2"/>
                <a:stretch>
                  <a:fillRect l="-1264" t="-5882" r="-1501" b="-161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222500" y="2114519"/>
                <a:ext cx="7721600" cy="10380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If index numbers with the same base are divided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AU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eg</m:t>
                    </m:r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f>
                      <m:f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5</m:t>
                            </m:r>
                          </m:e>
                          <m:sup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10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5</m:t>
                            </m:r>
                          </m:e>
                          <m:sup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6</m:t>
                            </m:r>
                          </m:sup>
                        </m:sSup>
                      </m:den>
                    </m:f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 </m:t>
                    </m:r>
                    <m:f>
                      <m:fPr>
                        <m:ctrlPr>
                          <a:rPr kumimoji="0" lang="en-AU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AU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e>
                          <m:sup>
                            <m:r>
                              <a:rPr kumimoji="0" lang="en-AU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kumimoji="0" lang="en-AU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e>
                          <m:sup>
                            <m:r>
                              <a:rPr kumimoji="0" lang="en-AU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7</m:t>
                            </m:r>
                          </m:sup>
                        </m:sSup>
                      </m:den>
                    </m:f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),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then powers are subtracted.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2500" y="2114519"/>
                <a:ext cx="7721600" cy="1038041"/>
              </a:xfrm>
              <a:prstGeom prst="rect">
                <a:avLst/>
              </a:prstGeom>
              <a:blipFill>
                <a:blip r:embed="rId3"/>
                <a:stretch>
                  <a:fillRect l="-1264" t="-4706" b="-41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8211589" y="2574157"/>
            <a:ext cx="292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But which way?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04000" y="1453023"/>
            <a:ext cx="1598121" cy="33739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44000" y="2676754"/>
            <a:ext cx="1767589" cy="35906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4173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8" grpId="0" animBg="1"/>
      <p:bldP spid="8" grpId="1" animBg="1"/>
      <p:bldP spid="9" grpId="0" animBg="1"/>
      <p:bldP spid="9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6911" y="168625"/>
            <a:ext cx="32111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Daily review: white-boards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089862" y="720836"/>
                <a:ext cx="6450676" cy="39733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Simplify each of the following</a:t>
                </a:r>
              </a:p>
              <a:p>
                <a:pPr marL="457200" marR="0" lvl="0" indent="-4572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>
                    <a:srgbClr val="FF000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5</m:t>
                            </m:r>
                          </m:e>
                          <m:sup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8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5</m:t>
                            </m:r>
                          </m:e>
                          <m:sup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457200" marR="0" lvl="0" indent="-4572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>
                    <a:srgbClr val="FF000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6</m:t>
                        </m:r>
                      </m:sup>
                    </m:sSup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3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2</m:t>
                        </m:r>
                      </m:sup>
                    </m:sSup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3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4</m:t>
                        </m:r>
                      </m:sup>
                    </m:sSup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Cambria Math" panose="02040503050406030204" pitchFamily="18" charset="0"/>
                  <a:cs typeface="+mn-cs"/>
                </a:endParaRPr>
              </a:p>
              <a:p>
                <a:pPr marL="457200" marR="0" lvl="0" indent="-4572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>
                    <a:srgbClr val="FF000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AU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e>
                          <m:sup>
                            <m:r>
                              <a:rPr kumimoji="0" lang="en-AU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8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kumimoji="0" lang="en-AU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e>
                          <m:sup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10</m:t>
                            </m:r>
                          </m:sup>
                        </m:sSup>
                      </m:den>
                    </m:f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457200" marR="0" lvl="0" indent="-4572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>
                    <a:srgbClr val="FF000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7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  <m:r>
                      <a:rPr kumimoji="0" lang="en-AU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  <m:sSup>
                      <m:sSupPr>
                        <m:ctrlP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7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5</m:t>
                        </m:r>
                      </m:sup>
                    </m:sSup>
                    <m:r>
                      <a:rPr kumimoji="0" lang="en-AU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  <m:sSup>
                      <m:sSupPr>
                        <m:ctrlP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7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−</m:t>
                        </m:r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4</m:t>
                        </m:r>
                      </m:sup>
                    </m:sSup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457200" marR="0" lvl="0" indent="-4572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>
                    <a:srgbClr val="FF000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AU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e>
                          <m:sup>
                            <m:r>
                              <a:rPr kumimoji="0" lang="en-AU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8</m:t>
                            </m:r>
                          </m:sup>
                        </m:s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×</m:t>
                        </m:r>
                        <m:sSup>
                          <m:sSupPr>
                            <m:ctrlP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e>
                          <m:sup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5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kumimoji="0" lang="en-AU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e>
                          <m:sup>
                            <m:r>
                              <a:rPr kumimoji="0" lang="en-AU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10</m:t>
                            </m:r>
                          </m:sup>
                        </m:sSup>
                      </m:den>
                    </m:f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457200" marR="0" lvl="0" indent="-4572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5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sup>
                    </m:sSup>
                    <m:r>
                      <a:rPr kumimoji="0" lang="en-AU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  <m:sSup>
                      <m:sSupPr>
                        <m:ctrlP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5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−</m:t>
                        </m:r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5</m:t>
                        </m:r>
                      </m:sup>
                    </m:sSup>
                    <m:r>
                      <a:rPr kumimoji="0" lang="en-AU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  <m:sSup>
                      <m:sSupPr>
                        <m:ctrlP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5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2</m:t>
                        </m:r>
                      </m:sup>
                    </m:sSup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9862" y="720836"/>
                <a:ext cx="6450676" cy="3973395"/>
              </a:xfrm>
              <a:prstGeom prst="rect">
                <a:avLst/>
              </a:prstGeom>
              <a:blipFill>
                <a:blip r:embed="rId2"/>
                <a:stretch>
                  <a:fillRect l="-1512" t="-1227" b="-245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7370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18704" y="678654"/>
            <a:ext cx="79676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Simplifying expressions using indices - powers.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953686" y="1460894"/>
                <a:ext cx="2112135" cy="14055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(3</m:t>
                            </m:r>
                          </m:e>
                          <m:sup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4</m:t>
                            </m:r>
                          </m:sup>
                        </m:s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4</m:t>
                        </m:r>
                      </m:sup>
                    </m:sSup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×</m:t>
                        </m:r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4</m:t>
                        </m:r>
                      </m:sup>
                    </m:sSup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8</m:t>
                        </m:r>
                      </m:sup>
                    </m:sSup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3686" y="1460894"/>
                <a:ext cx="2112135" cy="1405513"/>
              </a:xfrm>
              <a:prstGeom prst="rect">
                <a:avLst/>
              </a:prstGeom>
              <a:blipFill>
                <a:blip r:embed="rId2"/>
                <a:stretch>
                  <a:fillRect l="-4323" b="-91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638997" y="193183"/>
            <a:ext cx="2819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Exercise books: Notes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474262" y="1589134"/>
                <a:ext cx="2112135" cy="14055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(5</m:t>
                            </m:r>
                          </m:e>
                          <m:sup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4</m:t>
                            </m:r>
                          </m:sup>
                        </m:s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10</m:t>
                        </m:r>
                      </m:sup>
                    </m:sSup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5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4</m:t>
                        </m:r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×10</m:t>
                        </m:r>
                      </m:sup>
                    </m:sSup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5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40</m:t>
                        </m:r>
                      </m:sup>
                    </m:sSup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262" y="1589134"/>
                <a:ext cx="2112135" cy="1405513"/>
              </a:xfrm>
              <a:prstGeom prst="rect">
                <a:avLst/>
              </a:prstGeom>
              <a:blipFill>
                <a:blip r:embed="rId3"/>
                <a:stretch>
                  <a:fillRect l="-4323" b="-91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559160" y="1553355"/>
                <a:ext cx="2895600" cy="14412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Century Gothic" panose="020B0502020202020204"/>
                    <a:cs typeface="+mn-cs"/>
                  </a:rPr>
                  <a:t>    </a:t>
                </a:r>
                <a14:m>
                  <m:oMath xmlns:m="http://schemas.openxmlformats.org/officeDocument/2006/math">
                    <m:r>
                      <a:rPr kumimoji="0" lang="en-AU" sz="24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sSup>
                      <m:sSupPr>
                        <m:ctrlPr>
                          <a:rPr kumimoji="0" lang="en-AU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kumimoji="0" lang="en-AU" sz="2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B0F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B0F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𝟐</m:t>
                            </m:r>
                          </m:e>
                          <m:sup>
                            <m:r>
                              <a:rPr kumimoji="0" lang="en-AU" sz="2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B0F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𝟓</m:t>
                            </m:r>
                          </m:sup>
                        </m:sSup>
                        <m:r>
                          <a:rPr kumimoji="0" lang="en-AU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)</m:t>
                        </m:r>
                      </m:e>
                      <m:sup>
                        <m:r>
                          <a:rPr kumimoji="0" lang="en-AU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𝟑</m:t>
                        </m:r>
                      </m:sup>
                    </m:sSup>
                  </m:oMath>
                </a14:m>
                <a:endParaRPr kumimoji="0" lang="en-AU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Century Gothic" panose="020B0502020202020204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Century Gothic" panose="020B0502020202020204"/>
                    <a:cs typeface="+mn-cs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𝟐</m:t>
                        </m:r>
                      </m:e>
                      <m:sup>
                        <m:r>
                          <a:rPr kumimoji="0" lang="en-AU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𝟓</m:t>
                        </m:r>
                      </m:sup>
                    </m:sSup>
                    <m:sSup>
                      <m:sSupPr>
                        <m:ctrlPr>
                          <a:rPr kumimoji="0" lang="en-AU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 </m:t>
                        </m:r>
                        <m:r>
                          <a:rPr kumimoji="0" lang="en-AU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×</m:t>
                        </m:r>
                        <m:r>
                          <a:rPr kumimoji="0" lang="en-AU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𝟐</m:t>
                        </m:r>
                      </m:e>
                      <m:sup>
                        <m:r>
                          <a:rPr kumimoji="0" lang="en-AU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𝟓</m:t>
                        </m:r>
                      </m:sup>
                    </m:sSup>
                    <m:r>
                      <a:rPr kumimoji="0" lang="en-AU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  <m:sSup>
                      <m:sSupPr>
                        <m:ctrlPr>
                          <a:rPr kumimoji="0" lang="en-AU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𝟐</m:t>
                        </m:r>
                      </m:e>
                      <m:sup>
                        <m:r>
                          <a:rPr kumimoji="0" lang="en-AU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𝟓</m:t>
                        </m:r>
                      </m:sup>
                    </m:sSup>
                  </m:oMath>
                </a14:m>
                <a:endParaRPr kumimoji="0" lang="en-AU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Century Gothic" panose="020B0502020202020204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Century Gothic" panose="020B0502020202020204"/>
                    <a:cs typeface="+mn-cs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𝟐</m:t>
                        </m:r>
                      </m:e>
                      <m:sup>
                        <m:r>
                          <a:rPr kumimoji="0" lang="en-AU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𝟏𝟓</m:t>
                        </m:r>
                      </m:sup>
                    </m:sSup>
                  </m:oMath>
                </a14:m>
                <a:r>
                  <a:rPr kumimoji="0" lang="en-AU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Century Gothic" panose="020B0502020202020204"/>
                    <a:cs typeface="+mn-cs"/>
                  </a:rPr>
                  <a:t> 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9160" y="1553355"/>
                <a:ext cx="2895600" cy="1441292"/>
              </a:xfrm>
              <a:prstGeom prst="rect">
                <a:avLst/>
              </a:prstGeom>
              <a:blipFill>
                <a:blip r:embed="rId4"/>
                <a:stretch>
                  <a:fillRect l="-3368" b="-93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ED01450-4B22-496B-91EF-82DC51FA4F17}"/>
                  </a:ext>
                </a:extLst>
              </p:cNvPr>
              <p:cNvSpPr txBox="1"/>
              <p:nvPr/>
            </p:nvSpPr>
            <p:spPr>
              <a:xfrm>
                <a:off x="1953686" y="3279443"/>
                <a:ext cx="8869123" cy="83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If an index number is </a:t>
                </a:r>
                <a:r>
                  <a:rPr kumimoji="0" lang="en-AU" sz="2400" b="1" i="1" u="sng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raised</a:t>
                </a:r>
                <a:r>
                  <a:rPr kumimoji="0" lang="en-AU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to another </a:t>
                </a:r>
                <a:r>
                  <a:rPr kumimoji="0" lang="en-AU" sz="2400" b="1" i="1" u="sng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power</a:t>
                </a:r>
                <a:r>
                  <a:rPr kumimoji="0" lang="en-AU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AU" sz="24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(eg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kumimoji="0" lang="en-AU" sz="240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(3</m:t>
                            </m:r>
                          </m:e>
                          <m:sup>
                            <m:r>
                              <a:rPr kumimoji="0" lang="en-AU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4</m:t>
                            </m:r>
                          </m:sup>
                        </m:sSup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0" lang="en-AU" sz="24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) </a:t>
                </a:r>
                <a:r>
                  <a:rPr kumimoji="0" lang="en-AU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then the powers can be </a:t>
                </a:r>
                <a:r>
                  <a:rPr kumimoji="0" lang="en-AU" sz="2400" b="1" i="1" u="sng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multiplied</a:t>
                </a: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kumimoji="0" lang="en-AU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(3</m:t>
                            </m:r>
                          </m:e>
                          <m:sup>
                            <m:r>
                              <a:rPr kumimoji="0" lang="en-AU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4</m:t>
                            </m:r>
                          </m:sup>
                        </m:sSup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 </m:t>
                    </m:r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8</m:t>
                        </m:r>
                      </m:sup>
                    </m:sSup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ED01450-4B22-496B-91EF-82DC51FA4F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3686" y="3279443"/>
                <a:ext cx="8869123" cy="839332"/>
              </a:xfrm>
              <a:prstGeom prst="rect">
                <a:avLst/>
              </a:prstGeom>
              <a:blipFill>
                <a:blip r:embed="rId5"/>
                <a:stretch>
                  <a:fillRect l="-1031" t="-5797" b="-1449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4065821" y="4426880"/>
                <a:ext cx="6096000" cy="150810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Third law of indices.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kumimoji="0" lang="en-AU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(</m:t>
                            </m:r>
                            <m:r>
                              <a:rPr kumimoji="0" lang="en-AU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𝑎</m:t>
                            </m:r>
                          </m:e>
                          <m:sup>
                            <m:r>
                              <a:rPr kumimoji="0" lang="en-AU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𝑚</m:t>
                            </m:r>
                          </m:sup>
                        </m:sSup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sup>
                    </m:sSup>
                  </m:oMath>
                </a14:m>
                <a:r>
                  <a:rPr kumimoji="0" lang="en-AU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 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</m:t>
                    </m:r>
                    <m:sSup>
                      <m:sSupPr>
                        <m:ctrlP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𝑎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𝑚</m:t>
                        </m:r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×</m:t>
                        </m:r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𝑛</m:t>
                        </m:r>
                      </m:sup>
                    </m:sSup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5821" y="4426880"/>
                <a:ext cx="6096000" cy="1508105"/>
              </a:xfrm>
              <a:prstGeom prst="rect">
                <a:avLst/>
              </a:prstGeom>
              <a:blipFill>
                <a:blip r:embed="rId6"/>
                <a:stretch>
                  <a:fillRect l="-900" t="-32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A0B0669-CFB5-4D39-8968-52E5D97C74D9}"/>
                  </a:ext>
                </a:extLst>
              </p:cNvPr>
              <p:cNvSpPr txBox="1"/>
              <p:nvPr/>
            </p:nvSpPr>
            <p:spPr>
              <a:xfrm>
                <a:off x="1932820" y="1460894"/>
                <a:ext cx="2112135" cy="14055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B0F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B0F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(3</m:t>
                            </m:r>
                          </m:e>
                          <m:sup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B0F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4</m:t>
                            </m:r>
                          </m:sup>
                        </m:s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4</m:t>
                        </m:r>
                      </m:sup>
                    </m:sSup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×</m:t>
                        </m:r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4</m:t>
                        </m:r>
                      </m:sup>
                    </m:sSup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8</m:t>
                        </m:r>
                      </m:sup>
                    </m:sSup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A0B0669-CFB5-4D39-8968-52E5D97C74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2820" y="1460894"/>
                <a:ext cx="2112135" cy="1405513"/>
              </a:xfrm>
              <a:prstGeom prst="rect">
                <a:avLst/>
              </a:prstGeom>
              <a:blipFill>
                <a:blip r:embed="rId7"/>
                <a:stretch>
                  <a:fillRect l="-4323" b="-91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D9A3EB5-CB09-448A-9A06-606464474C82}"/>
                  </a:ext>
                </a:extLst>
              </p:cNvPr>
              <p:cNvSpPr txBox="1"/>
              <p:nvPr/>
            </p:nvSpPr>
            <p:spPr>
              <a:xfrm>
                <a:off x="8453396" y="1589134"/>
                <a:ext cx="2112135" cy="14055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B0F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B0F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(5</m:t>
                            </m:r>
                          </m:e>
                          <m:sup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B0F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4</m:t>
                            </m:r>
                          </m:sup>
                        </m:s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10</m:t>
                        </m:r>
                      </m:sup>
                    </m:sSup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5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4</m:t>
                        </m:r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×10</m:t>
                        </m:r>
                      </m:sup>
                    </m:sSup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5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40</m:t>
                        </m:r>
                      </m:sup>
                    </m:sSup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D9A3EB5-CB09-448A-9A06-606464474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3396" y="1589134"/>
                <a:ext cx="2112135" cy="1405513"/>
              </a:xfrm>
              <a:prstGeom prst="rect">
                <a:avLst/>
              </a:prstGeom>
              <a:blipFill>
                <a:blip r:embed="rId8"/>
                <a:stretch>
                  <a:fillRect l="-4624" b="-91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254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  <p:bldP spid="6" grpId="0" build="p"/>
      <p:bldP spid="7" grpId="0"/>
      <p:bldP spid="8" grpId="0"/>
      <p:bldP spid="9" grpId="0" build="p"/>
      <p:bldP spid="10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18704" y="678654"/>
            <a:ext cx="79676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Simplifying expressions using indices - powers.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519313" y="1460894"/>
                <a:ext cx="2112135" cy="14055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(3</m:t>
                            </m:r>
                          </m:e>
                          <m:sup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4</m:t>
                            </m:r>
                          </m:sup>
                        </m:s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8</m:t>
                        </m:r>
                      </m:sup>
                    </m:sSup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4</m:t>
                        </m:r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×8</m:t>
                        </m:r>
                      </m:sup>
                    </m:sSup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32</m:t>
                        </m:r>
                      </m:sup>
                    </m:sSup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9313" y="1460894"/>
                <a:ext cx="2112135" cy="1405513"/>
              </a:xfrm>
              <a:prstGeom prst="rect">
                <a:avLst/>
              </a:prstGeom>
              <a:blipFill>
                <a:blip r:embed="rId2"/>
                <a:stretch>
                  <a:fillRect l="-4323" b="-91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638997" y="193183"/>
            <a:ext cx="3733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exercise books: I do, we 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490415" y="1460893"/>
                <a:ext cx="2112135" cy="14055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   </a:t>
                </a:r>
                <a14:m>
                  <m:oMath xmlns:m="http://schemas.openxmlformats.org/officeDocument/2006/math">
                    <m:r>
                      <a:rPr kumimoji="0" lang="en-AU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5</m:t>
                            </m:r>
                          </m:e>
                          <m:sup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15</m:t>
                        </m:r>
                      </m:sup>
                    </m:sSup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5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×15</m:t>
                        </m:r>
                      </m:sup>
                    </m:sSup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5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30</m:t>
                        </m:r>
                      </m:sup>
                    </m:sSup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0415" y="1460893"/>
                <a:ext cx="2112135" cy="1405513"/>
              </a:xfrm>
              <a:prstGeom prst="rect">
                <a:avLst/>
              </a:prstGeom>
              <a:blipFill>
                <a:blip r:embed="rId3"/>
                <a:stretch>
                  <a:fillRect l="-4624" b="-10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986477" y="1460893"/>
                <a:ext cx="2895600" cy="205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   </a:t>
                </a:r>
                <a14:m>
                  <m:oMath xmlns:m="http://schemas.openxmlformats.org/officeDocument/2006/math">
                    <m:r>
                      <a:rPr kumimoji="0" lang="en-AU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e>
                          <m:sup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5</m:t>
                            </m:r>
                          </m:sup>
                        </m:s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−3</m:t>
                        </m:r>
                      </m:sup>
                    </m:sSup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5</m:t>
                        </m:r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×(−3)</m:t>
                        </m:r>
                      </m:sup>
                    </m:sSup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−15</m:t>
                        </m:r>
                      </m:sup>
                    </m:sSup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e>
                          <m:sup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15</m:t>
                            </m:r>
                          </m:sup>
                        </m:sSup>
                      </m:den>
                    </m:f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6477" y="1460893"/>
                <a:ext cx="2895600" cy="2053319"/>
              </a:xfrm>
              <a:prstGeom prst="rect">
                <a:avLst/>
              </a:prstGeom>
              <a:blipFill>
                <a:blip r:embed="rId4"/>
                <a:stretch>
                  <a:fillRect l="-3158" b="-178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9138597" y="1460893"/>
                <a:ext cx="2895600" cy="1885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   </a:t>
                </a:r>
                <a14:m>
                  <m:oMath xmlns:m="http://schemas.openxmlformats.org/officeDocument/2006/math">
                    <m:r>
                      <a:rPr kumimoji="0" lang="en-AU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e>
                          <m:sup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5</m:t>
                            </m:r>
                          </m:sup>
                        </m:s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p>
                    </m:sSup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5</m:t>
                        </m:r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×0</m:t>
                        </m:r>
                      </m:sup>
                    </m:sSup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p>
                    </m:sSup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= 1 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8597" y="1460893"/>
                <a:ext cx="2895600" cy="1885773"/>
              </a:xfrm>
              <a:prstGeom prst="rect">
                <a:avLst/>
              </a:prstGeom>
              <a:blipFill>
                <a:blip r:embed="rId5"/>
                <a:stretch>
                  <a:fillRect l="-3158" b="-647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1373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uiExpand="1" build="p"/>
      <p:bldP spid="6" grpId="0" build="p"/>
      <p:bldP spid="7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F22097A-98CC-42F6-BDB0-19C8408C481D}"/>
                  </a:ext>
                </a:extLst>
              </p:cNvPr>
              <p:cNvSpPr txBox="1"/>
              <p:nvPr/>
            </p:nvSpPr>
            <p:spPr>
              <a:xfrm>
                <a:off x="4102069" y="926855"/>
                <a:ext cx="6567728" cy="31434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Simplify.</a:t>
                </a:r>
              </a:p>
              <a:p>
                <a:pPr marL="457200" marR="0" lvl="0" indent="-4572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(3</m:t>
                            </m:r>
                          </m:e>
                          <m:sup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6</m:t>
                            </m:r>
                          </m:sup>
                        </m:s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sup>
                    </m:sSup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457200" marR="0" lvl="0" indent="-4572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kumimoji="0" lang="en-AU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(</m:t>
                            </m:r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7</m:t>
                            </m:r>
                          </m:e>
                          <m:sup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5</m:t>
                            </m:r>
                          </m:sup>
                        </m:sSup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4</m:t>
                        </m:r>
                      </m:sup>
                    </m:sSup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457200" marR="0" lvl="0" indent="-4572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kumimoji="0" lang="en-AU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(</m:t>
                            </m:r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5</m:t>
                            </m:r>
                          </m:e>
                          <m:sup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10</m:t>
                            </m:r>
                          </m:sup>
                        </m:sSup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457200" marR="0" lvl="0" indent="-4572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kumimoji="0" lang="en-AU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(3</m:t>
                            </m:r>
                          </m:e>
                          <m:sup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4</m:t>
                            </m:r>
                          </m:sup>
                        </m:sSup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−2</m:t>
                        </m:r>
                      </m:sup>
                    </m:sSup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457200" marR="0" lvl="0" indent="-4572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kumimoji="0" lang="en-AU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(</m:t>
                            </m:r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e>
                          <m:sup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3</m:t>
                            </m:r>
                          </m:sup>
                        </m:sSup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5</m:t>
                        </m:r>
                      </m:sup>
                    </m:sSup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kumimoji="0" lang="en-AU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(</m:t>
                            </m:r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e>
                          <m:sup>
                            <m:r>
                              <a:rPr kumimoji="0" lang="en-AU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4</m:t>
                            </m:r>
                          </m:sup>
                        </m:sSup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sup>
                    </m:sSup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457200" marR="0" lvl="0" indent="-4572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Tx/>
                  <a:buAutoNum type="arabicPeriod"/>
                  <a:tabLst/>
                  <a:defRPr/>
                </a:pPr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F22097A-98CC-42F6-BDB0-19C8408C4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2069" y="926855"/>
                <a:ext cx="6567728" cy="3143489"/>
              </a:xfrm>
              <a:prstGeom prst="rect">
                <a:avLst/>
              </a:prstGeom>
              <a:blipFill>
                <a:blip r:embed="rId2"/>
                <a:stretch>
                  <a:fillRect l="-1486" t="-155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638997" y="193183"/>
            <a:ext cx="3733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exercise books: You do</a:t>
            </a:r>
          </a:p>
        </p:txBody>
      </p:sp>
    </p:spTree>
    <p:extLst>
      <p:ext uri="{BB962C8B-B14F-4D97-AF65-F5344CB8AC3E}">
        <p14:creationId xmlns:p14="http://schemas.microsoft.com/office/powerpoint/2010/main" val="611414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181261" y="1119874"/>
                <a:ext cx="7094422" cy="4618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Index Laws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722313" marR="0" lvl="0" indent="-722313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FF000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kumimoji="0" lang="en-AU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𝒂</m:t>
                        </m:r>
                      </m:e>
                      <m:sup>
                        <m:r>
                          <a:rPr kumimoji="0" lang="en-AU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𝒎</m:t>
                        </m:r>
                      </m:sup>
                    </m:sSup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  <m:sSup>
                      <m:sSupPr>
                        <m:ctrlPr>
                          <a:rPr kumimoji="0" lang="en-AU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𝒂</m:t>
                        </m:r>
                      </m:e>
                      <m:sup>
                        <m:r>
                          <a:rPr kumimoji="0" lang="en-AU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𝒏</m:t>
                        </m:r>
                      </m:sup>
                    </m:sSup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 </m:t>
                    </m:r>
                    <m:sSup>
                      <m:sSupPr>
                        <m:ctrlPr>
                          <a:rPr kumimoji="0" lang="en-AU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𝒂</m:t>
                        </m:r>
                      </m:e>
                      <m:sup>
                        <m:r>
                          <a:rPr kumimoji="0" lang="en-AU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𝒎</m:t>
                        </m:r>
                        <m:r>
                          <a:rPr kumimoji="0" lang="en-AU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+</m:t>
                        </m:r>
                        <m:r>
                          <a:rPr kumimoji="0" lang="en-AU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𝒏</m:t>
                        </m:r>
                      </m:sup>
                    </m:sSup>
                  </m:oMath>
                </a14:m>
                <a:endParaRPr kumimoji="0" lang="en-AU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Century Gothic" panose="020B0502020202020204"/>
                  <a:ea typeface="Cambria Math" panose="02040503050406030204" pitchFamily="18" charset="0"/>
                  <a:cs typeface="+mn-cs"/>
                </a:endParaRPr>
              </a:p>
              <a:p>
                <a:pPr marL="722313" marR="0" lvl="0" indent="-722313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FF0000"/>
                  </a:buClr>
                  <a:buSzTx/>
                  <a:buFontTx/>
                  <a:buAutoNum type="arabicPeriod"/>
                  <a:tabLst/>
                  <a:defRPr/>
                </a:pPr>
                <a:endParaRPr kumimoji="0" lang="en-AU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Century Gothic" panose="020B0502020202020204"/>
                  <a:ea typeface="Cambria Math" panose="02040503050406030204" pitchFamily="18" charset="0"/>
                  <a:cs typeface="+mn-cs"/>
                </a:endParaRPr>
              </a:p>
              <a:p>
                <a:pPr marL="722313" marR="0" lvl="0" indent="-722313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FF000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kumimoji="0" lang="en-AU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Century Gothic" panose="020B0502020202020204"/>
                    <a:cs typeface="+mn-cs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AU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AU" sz="3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B0F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3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B0F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𝒂</m:t>
                            </m:r>
                          </m:e>
                          <m:sup>
                            <m:r>
                              <a:rPr kumimoji="0" lang="en-AU" sz="3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B0F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𝒎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kumimoji="0" lang="en-AU" sz="3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B0F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3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B0F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𝒂</m:t>
                            </m:r>
                          </m:e>
                          <m:sup>
                            <m:r>
                              <a:rPr kumimoji="0" lang="en-AU" sz="3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B0F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𝒏</m:t>
                            </m:r>
                          </m:sup>
                        </m:sSup>
                      </m:den>
                    </m:f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sSup>
                      <m:sSupPr>
                        <m:ctrlPr>
                          <a:rPr kumimoji="0" lang="en-AU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𝒂</m:t>
                        </m:r>
                      </m:e>
                      <m:sup>
                        <m:r>
                          <a:rPr kumimoji="0" lang="en-AU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𝒎</m:t>
                        </m:r>
                        <m:r>
                          <a:rPr kumimoji="0" lang="en-AU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</m:t>
                        </m:r>
                        <m:r>
                          <a:rPr kumimoji="0" lang="en-AU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𝒏</m:t>
                        </m:r>
                      </m:sup>
                    </m:sSup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 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𝒐𝒓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 </m:t>
                    </m:r>
                    <m:f>
                      <m:fPr>
                        <m:ctrlPr>
                          <a:rPr kumimoji="0" lang="en-AU" sz="3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AU" sz="36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B0F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36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B0F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𝒂</m:t>
                            </m:r>
                          </m:e>
                          <m:sup>
                            <m:r>
                              <a:rPr kumimoji="0" lang="en-AU" sz="36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B0F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𝒎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kumimoji="0" lang="en-AU" sz="36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B0F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36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B0F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𝒂</m:t>
                            </m:r>
                          </m:e>
                          <m:sup>
                            <m:r>
                              <a:rPr kumimoji="0" lang="en-AU" sz="36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B0F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𝒏</m:t>
                            </m:r>
                          </m:sup>
                        </m:sSup>
                      </m:den>
                    </m:f>
                    <m:r>
                      <a:rPr kumimoji="0" lang="en-AU" sz="3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AU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AU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𝟏</m:t>
                        </m:r>
                      </m:num>
                      <m:den>
                        <m:sSup>
                          <m:sSupPr>
                            <m:ctrlPr>
                              <a:rPr kumimoji="0" lang="en-AU" sz="3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B0F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3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B0F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𝒂</m:t>
                            </m:r>
                          </m:e>
                          <m:sup>
                            <m:r>
                              <a:rPr kumimoji="0" lang="en-AU" sz="3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B0F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𝒏</m:t>
                            </m:r>
                            <m:r>
                              <a:rPr kumimoji="0" lang="en-AU" sz="3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B0F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−</m:t>
                            </m:r>
                            <m:r>
                              <a:rPr kumimoji="0" lang="en-AU" sz="3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B0F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𝒎</m:t>
                            </m:r>
                          </m:sup>
                        </m:sSup>
                      </m:den>
                    </m:f>
                  </m:oMath>
                </a14:m>
                <a:endParaRPr kumimoji="0" lang="en-AU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Century Gothic" panose="020B0502020202020204"/>
                  <a:cs typeface="+mn-cs"/>
                </a:endParaRPr>
              </a:p>
              <a:p>
                <a:pPr marL="722313" marR="0" lvl="0" indent="-722313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FF0000"/>
                  </a:buClr>
                  <a:buSzTx/>
                  <a:buFontTx/>
                  <a:buAutoNum type="arabicPeriod"/>
                  <a:tabLst/>
                  <a:defRPr/>
                </a:pPr>
                <a:endParaRPr kumimoji="0" lang="en-AU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Century Gothic" panose="020B0502020202020204"/>
                  <a:cs typeface="+mn-cs"/>
                </a:endParaRPr>
              </a:p>
              <a:p>
                <a:pPr marL="722313" marR="0" lvl="0" indent="-722313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FF000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kumimoji="0" lang="en-AU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Century Gothic" panose="020B0502020202020204"/>
                    <a:cs typeface="+mn-c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kumimoji="0" lang="en-AU" sz="3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B0F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3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B0F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(</m:t>
                            </m:r>
                            <m:r>
                              <a:rPr kumimoji="0" lang="en-AU" sz="3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B0F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𝒂</m:t>
                            </m:r>
                          </m:e>
                          <m:sup>
                            <m:r>
                              <a:rPr kumimoji="0" lang="en-AU" sz="3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B0F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𝒎</m:t>
                            </m:r>
                          </m:sup>
                        </m:sSup>
                        <m:r>
                          <a:rPr kumimoji="0" lang="en-AU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)</m:t>
                        </m:r>
                      </m:e>
                      <m:sup>
                        <m:r>
                          <a:rPr kumimoji="0" lang="en-AU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𝒏</m:t>
                        </m:r>
                      </m:sup>
                    </m:sSup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sSup>
                      <m:sSupPr>
                        <m:ctrlPr>
                          <a:rPr kumimoji="0" lang="en-AU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𝒂</m:t>
                        </m:r>
                      </m:e>
                      <m:sup>
                        <m:r>
                          <a:rPr kumimoji="0" lang="en-AU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𝒎</m:t>
                        </m:r>
                        <m:r>
                          <a:rPr kumimoji="0" lang="en-AU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×</m:t>
                        </m:r>
                        <m:r>
                          <a:rPr kumimoji="0" lang="en-AU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𝒏</m:t>
                        </m:r>
                      </m:sup>
                    </m:sSup>
                  </m:oMath>
                </a14:m>
                <a:endParaRPr kumimoji="0" lang="en-AU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Century Gothic" panose="020B0502020202020204"/>
                  <a:cs typeface="+mn-cs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1261" y="1119874"/>
                <a:ext cx="7094422" cy="4618252"/>
              </a:xfrm>
              <a:prstGeom prst="rect">
                <a:avLst/>
              </a:prstGeom>
              <a:blipFill>
                <a:blip r:embed="rId2"/>
                <a:stretch>
                  <a:fillRect l="-2663" t="-1453" b="-422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641684" y="192506"/>
            <a:ext cx="3368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Copy into exercise book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C71BC5-05B3-4DA2-92A5-F0244CC03E0F}"/>
              </a:ext>
            </a:extLst>
          </p:cNvPr>
          <p:cNvSpPr txBox="1"/>
          <p:nvPr/>
        </p:nvSpPr>
        <p:spPr>
          <a:xfrm>
            <a:off x="6906827" y="266330"/>
            <a:ext cx="438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Start our notes page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91421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967" y="0"/>
            <a:ext cx="9944100" cy="6791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46133" y="1185333"/>
            <a:ext cx="4402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Complete answers on worksheet.</a:t>
            </a:r>
          </a:p>
        </p:txBody>
      </p:sp>
    </p:spTree>
    <p:extLst>
      <p:ext uri="{BB962C8B-B14F-4D97-AF65-F5344CB8AC3E}">
        <p14:creationId xmlns:p14="http://schemas.microsoft.com/office/powerpoint/2010/main" val="336590275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293</Words>
  <Application>Microsoft Office PowerPoint</Application>
  <PresentationFormat>Widescreen</PresentationFormat>
  <Paragraphs>74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Cambria Math</vt:lpstr>
      <vt:lpstr>Century Gothic</vt:lpstr>
      <vt:lpstr>Wingdings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Kevin Wall</dc:creator>
  <cp:lastModifiedBy>DAVIES Rhys [Busselton Senior High School]</cp:lastModifiedBy>
  <cp:revision>7</cp:revision>
  <dcterms:created xsi:type="dcterms:W3CDTF">2022-02-28T13:51:39Z</dcterms:created>
  <dcterms:modified xsi:type="dcterms:W3CDTF">2022-03-02T01:28:08Z</dcterms:modified>
</cp:coreProperties>
</file>
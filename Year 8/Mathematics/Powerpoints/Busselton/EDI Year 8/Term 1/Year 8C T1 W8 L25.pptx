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91" r:id="rId2"/>
    <p:sldId id="256" r:id="rId3"/>
    <p:sldId id="257" r:id="rId4"/>
    <p:sldId id="287" r:id="rId5"/>
    <p:sldId id="285" r:id="rId6"/>
    <p:sldId id="288" r:id="rId7"/>
    <p:sldId id="286" r:id="rId8"/>
    <p:sldId id="289" r:id="rId9"/>
    <p:sldId id="282" r:id="rId10"/>
    <p:sldId id="290" r:id="rId11"/>
    <p:sldId id="295" r:id="rId12"/>
    <p:sldId id="293" r:id="rId13"/>
    <p:sldId id="279" r:id="rId14"/>
    <p:sldId id="292" r:id="rId15"/>
    <p:sldId id="296" r:id="rId16"/>
    <p:sldId id="298" r:id="rId17"/>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Plan" id="{A1FD6CBB-2CD1-DB4F-8B92-F885CACD48BC}">
          <p14:sldIdLst>
            <p14:sldId id="291"/>
          </p14:sldIdLst>
        </p14:section>
        <p14:section name="Lesson Content" id="{B79C6FAA-C5B7-C24E-94BE-3508C3FA1474}">
          <p14:sldIdLst>
            <p14:sldId id="256"/>
            <p14:sldId id="257"/>
            <p14:sldId id="287"/>
            <p14:sldId id="285"/>
            <p14:sldId id="288"/>
            <p14:sldId id="286"/>
            <p14:sldId id="289"/>
            <p14:sldId id="282"/>
            <p14:sldId id="290"/>
            <p14:sldId id="295"/>
            <p14:sldId id="293"/>
            <p14:sldId id="279"/>
          </p14:sldIdLst>
        </p14:section>
        <p14:section name="Student Resources" id="{5AC439AA-8118-B04C-B774-2949BDAF10DA}">
          <p14:sldIdLst>
            <p14:sldId id="292"/>
            <p14:sldId id="296"/>
            <p14:sldId id="2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94660"/>
  </p:normalViewPr>
  <p:slideViewPr>
    <p:cSldViewPr snapToGrid="0">
      <p:cViewPr varScale="1">
        <p:scale>
          <a:sx n="86" d="100"/>
          <a:sy n="86" d="100"/>
        </p:scale>
        <p:origin x="658" y="58"/>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9B5816E-9854-4624-9FCC-2BFE8417AB4A}" type="datetimeFigureOut">
              <a:rPr lang="en-GB" smtClean="0"/>
              <a:pPr/>
              <a:t>21/03/2022</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2C33D5-DD1B-48A4-8220-07294736B45B}" type="slidenum">
              <a:rPr lang="en-GB" smtClean="0"/>
              <a:pPr/>
              <a:t>‹#›</a:t>
            </a:fld>
            <a:endParaRPr lang="en-GB"/>
          </a:p>
        </p:txBody>
      </p:sp>
    </p:spTree>
    <p:extLst>
      <p:ext uri="{BB962C8B-B14F-4D97-AF65-F5344CB8AC3E}">
        <p14:creationId xmlns:p14="http://schemas.microsoft.com/office/powerpoint/2010/main" val="263996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739069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21774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61232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99873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1430085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527406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404737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628143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1019349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42230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21/03/2022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216776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FB5BFB-31C5-4BCE-A275-9F6A028C7FDD}" type="datetimeFigureOut">
              <a:rPr lang="en-GB" smtClean="0"/>
              <a:pPr/>
              <a:t>21/03/2022</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34B555-C9EB-4623-91D5-B1E16899B696}" type="slidenum">
              <a:rPr lang="en-GB" smtClean="0"/>
              <a:pPr/>
              <a:t>‹#›</a:t>
            </a:fld>
            <a:endParaRPr lang="en-GB"/>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40226" y="114491"/>
            <a:ext cx="1503774" cy="1092833"/>
          </a:xfrm>
          <a:prstGeom prst="rect">
            <a:avLst/>
          </a:prstGeom>
        </p:spPr>
      </p:pic>
    </p:spTree>
    <p:extLst>
      <p:ext uri="{BB962C8B-B14F-4D97-AF65-F5344CB8AC3E}">
        <p14:creationId xmlns:p14="http://schemas.microsoft.com/office/powerpoint/2010/main" val="11378060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NUL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0.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668673815"/>
              </p:ext>
            </p:extLst>
          </p:nvPr>
        </p:nvGraphicFramePr>
        <p:xfrm>
          <a:off x="526591" y="1237069"/>
          <a:ext cx="8151778" cy="4167459"/>
        </p:xfrm>
        <a:graphic>
          <a:graphicData uri="http://schemas.openxmlformats.org/drawingml/2006/table">
            <a:tbl>
              <a:tblPr firstRow="1" bandRow="1">
                <a:tableStyleId>{5C22544A-7EE6-4342-B048-85BDC9FD1C3A}</a:tableStyleId>
              </a:tblPr>
              <a:tblGrid>
                <a:gridCol w="1139596">
                  <a:extLst>
                    <a:ext uri="{9D8B030D-6E8A-4147-A177-3AD203B41FA5}">
                      <a16:colId xmlns:a16="http://schemas.microsoft.com/office/drawing/2014/main" val="20000"/>
                    </a:ext>
                  </a:extLst>
                </a:gridCol>
                <a:gridCol w="1856523">
                  <a:extLst>
                    <a:ext uri="{9D8B030D-6E8A-4147-A177-3AD203B41FA5}">
                      <a16:colId xmlns:a16="http://schemas.microsoft.com/office/drawing/2014/main" val="20001"/>
                    </a:ext>
                  </a:extLst>
                </a:gridCol>
                <a:gridCol w="894944">
                  <a:extLst>
                    <a:ext uri="{9D8B030D-6E8A-4147-A177-3AD203B41FA5}">
                      <a16:colId xmlns:a16="http://schemas.microsoft.com/office/drawing/2014/main" val="20002"/>
                    </a:ext>
                  </a:extLst>
                </a:gridCol>
                <a:gridCol w="1798832">
                  <a:extLst>
                    <a:ext uri="{9D8B030D-6E8A-4147-A177-3AD203B41FA5}">
                      <a16:colId xmlns:a16="http://schemas.microsoft.com/office/drawing/2014/main" val="20003"/>
                    </a:ext>
                  </a:extLst>
                </a:gridCol>
                <a:gridCol w="841926">
                  <a:extLst>
                    <a:ext uri="{9D8B030D-6E8A-4147-A177-3AD203B41FA5}">
                      <a16:colId xmlns:a16="http://schemas.microsoft.com/office/drawing/2014/main" val="20004"/>
                    </a:ext>
                  </a:extLst>
                </a:gridCol>
                <a:gridCol w="618008">
                  <a:extLst>
                    <a:ext uri="{9D8B030D-6E8A-4147-A177-3AD203B41FA5}">
                      <a16:colId xmlns:a16="http://schemas.microsoft.com/office/drawing/2014/main" val="20005"/>
                    </a:ext>
                  </a:extLst>
                </a:gridCol>
                <a:gridCol w="544749">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tblGrid>
              <a:tr h="269369">
                <a:tc gridSpan="8">
                  <a:txBody>
                    <a:bodyPr/>
                    <a:lstStyle/>
                    <a:p>
                      <a:r>
                        <a:rPr lang="en-US" sz="1200" b="1" dirty="0">
                          <a:solidFill>
                            <a:schemeClr val="tx1"/>
                          </a:solidFill>
                          <a:latin typeface="+mn-lt"/>
                          <a:ea typeface="Arial" charset="0"/>
                          <a:cs typeface="Arial" charset="0"/>
                        </a:rPr>
                        <a:t>Lesson Overview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9862">
                <a:tc>
                  <a:txBody>
                    <a:bodyPr/>
                    <a:lstStyle/>
                    <a:p>
                      <a:r>
                        <a:rPr lang="en-US" sz="800" b="1" dirty="0">
                          <a:latin typeface="+mn-lt"/>
                        </a:rPr>
                        <a:t>Objective(s)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lang="en-GB" sz="800" dirty="0"/>
                        <a:t>Simplify algebraic expressions by collecting like terms</a:t>
                      </a:r>
                      <a:r>
                        <a:rPr lang="en-GB" sz="800" baseline="0" dirty="0"/>
                        <a:t> </a:t>
                      </a:r>
                      <a:r>
                        <a:rPr lang="en-GB" sz="800" dirty="0"/>
                        <a:t>(adding and subtracting)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sz="1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r>
                        <a:rPr lang="en-US" sz="800" b="1" dirty="0">
                          <a:latin typeface="+mn-lt"/>
                        </a:rPr>
                        <a:t>Grade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800" dirty="0">
                          <a:latin typeface="+mn-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5194">
                <a:tc>
                  <a:txBody>
                    <a:bodyPr/>
                    <a:lstStyle/>
                    <a:p>
                      <a:r>
                        <a:rPr lang="en-US" sz="800" b="1" dirty="0">
                          <a:latin typeface="+mn-lt"/>
                        </a:rPr>
                        <a:t>Prior</a:t>
                      </a:r>
                      <a:r>
                        <a:rPr lang="en-US" sz="800" b="1" baseline="0" dirty="0">
                          <a:latin typeface="+mn-lt"/>
                        </a:rPr>
                        <a:t> Knowledge</a:t>
                      </a:r>
                      <a:endParaRPr lang="en-US" sz="800"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lang="en-US" sz="800" dirty="0"/>
                        <a:t>Number line</a:t>
                      </a:r>
                    </a:p>
                    <a:p>
                      <a:r>
                        <a:rPr lang="en-US" sz="800" dirty="0"/>
                        <a:t>Adding and subtracting positive and negative</a:t>
                      </a:r>
                      <a:r>
                        <a:rPr lang="en-US" sz="800" baseline="0" dirty="0"/>
                        <a:t> integers</a:t>
                      </a:r>
                      <a:endParaRPr lang="en-US" sz="800" dirty="0"/>
                    </a:p>
                    <a:p>
                      <a:r>
                        <a:rPr lang="en-US" sz="800" dirty="0"/>
                        <a:t>Concept</a:t>
                      </a:r>
                      <a:r>
                        <a:rPr lang="en-US" sz="800" baseline="0" dirty="0"/>
                        <a:t> of an algebraic term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46616">
                <a:tc>
                  <a:txBody>
                    <a:bodyPr/>
                    <a:lstStyle/>
                    <a:p>
                      <a:r>
                        <a:rPr lang="en-US" sz="800" b="1" dirty="0">
                          <a:latin typeface="+mn-lt"/>
                        </a:rPr>
                        <a:t>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lang="en-US" sz="800" dirty="0"/>
                        <a:t>Objective is limited to adding and subtracting. Content</a:t>
                      </a:r>
                      <a:r>
                        <a:rPr lang="en-US" sz="800" baseline="0" dirty="0"/>
                        <a:t> can be covered within 40 minutes.</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48354">
                <a:tc>
                  <a:txBody>
                    <a:bodyPr/>
                    <a:lstStyle/>
                    <a:p>
                      <a:r>
                        <a:rPr lang="en-US" sz="800" b="1" dirty="0">
                          <a:latin typeface="+mn-lt"/>
                        </a:rPr>
                        <a:t>Resources</a:t>
                      </a:r>
                      <a:r>
                        <a:rPr lang="en-US" sz="800" b="1" baseline="0" dirty="0">
                          <a:latin typeface="+mn-lt"/>
                        </a:rPr>
                        <a:t> </a:t>
                      </a:r>
                      <a:endParaRPr lang="en-US" sz="800"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r>
                        <a:rPr lang="en-US" sz="800" dirty="0"/>
                        <a:t>Print slides: 23 - 25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a:txBody>
                    <a:bodyPr/>
                    <a:lstStyle/>
                    <a:p>
                      <a:r>
                        <a:rPr lang="en-US" sz="800" b="1" dirty="0">
                          <a:latin typeface="+mn-lt"/>
                        </a:rPr>
                        <a:t>Equipment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69369">
                <a:tc gridSpan="8">
                  <a:txBody>
                    <a:bodyPr/>
                    <a:lstStyle/>
                    <a:p>
                      <a:r>
                        <a:rPr lang="en-US" sz="1200" b="1" dirty="0">
                          <a:latin typeface="+mn-lt"/>
                        </a:rPr>
                        <a:t>Progression of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64147">
                <a:tc gridSpan="2">
                  <a:txBody>
                    <a:bodyPr/>
                    <a:lstStyle/>
                    <a:p>
                      <a:r>
                        <a:rPr lang="en-US" sz="1200" b="1" u="sng" dirty="0">
                          <a:latin typeface="+mn-lt"/>
                        </a:rPr>
                        <a:t>What</a:t>
                      </a:r>
                      <a:r>
                        <a:rPr lang="en-US" sz="1200" baseline="0" dirty="0">
                          <a:latin typeface="+mn-lt"/>
                        </a:rPr>
                        <a:t> are the students learning?</a:t>
                      </a:r>
                      <a:endParaRPr lang="en-US" sz="12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tc>
                <a:tc gridSpan="6">
                  <a:txBody>
                    <a:bodyPr/>
                    <a:lstStyle/>
                    <a:p>
                      <a:r>
                        <a:rPr lang="en-US" sz="1200" b="1" u="sng" dirty="0">
                          <a:latin typeface="+mn-lt"/>
                        </a:rPr>
                        <a:t>How</a:t>
                      </a:r>
                      <a:r>
                        <a:rPr lang="en-US" sz="1200" dirty="0">
                          <a:latin typeface="+mn-lt"/>
                        </a:rPr>
                        <a:t> are the students learning?</a:t>
                      </a:r>
                      <a:r>
                        <a:rPr lang="en-US" sz="1200" baseline="0" dirty="0">
                          <a:latin typeface="+mn-lt"/>
                        </a:rPr>
                        <a:t> (Activities &amp; Differentiation)</a:t>
                      </a:r>
                      <a:endParaRPr lang="en-US" sz="12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568668">
                <a:tc gridSpan="2">
                  <a:txBody>
                    <a:bodyPr/>
                    <a:lstStyle/>
                    <a:p>
                      <a:r>
                        <a:rPr lang="en-US" sz="800" dirty="0">
                          <a:latin typeface="+mn-lt"/>
                        </a:rPr>
                        <a:t>Sign at the front </a:t>
                      </a:r>
                      <a:r>
                        <a:rPr lang="en-US" sz="800" baseline="0" dirty="0">
                          <a:latin typeface="+mn-lt"/>
                        </a:rPr>
                        <a:t>of the term applies to this term</a:t>
                      </a:r>
                    </a:p>
                    <a:p>
                      <a:r>
                        <a:rPr lang="en-US" sz="800" baseline="0" dirty="0">
                          <a:latin typeface="+mn-lt"/>
                        </a:rPr>
                        <a:t>Can add or subtract if term is the same</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dirty="0">
                          <a:solidFill>
                            <a:srgbClr val="FF0000"/>
                          </a:solidFill>
                          <a:latin typeface="+mn-lt"/>
                        </a:rPr>
                        <a:t>PRINT</a:t>
                      </a:r>
                      <a:r>
                        <a:rPr lang="en-US" sz="800" b="1" baseline="0" dirty="0">
                          <a:solidFill>
                            <a:srgbClr val="FF0000"/>
                          </a:solidFill>
                          <a:latin typeface="+mn-lt"/>
                        </a:rPr>
                        <a:t> slide 23</a:t>
                      </a:r>
                      <a:r>
                        <a:rPr lang="en-US" sz="800" baseline="0" dirty="0">
                          <a:latin typeface="+mn-lt"/>
                        </a:rPr>
                        <a:t>. Demonstrate how to ”read” the expressions. That the sign at the front of the term applies to this term. Can be helpful to get students to circle the whole term including the sign. Particularly need to focus on negatives. Use slide 6 to explain each question for the demonstration. Then give students additional time to work on the practice sections.  Solutions given on slide 8 and 10. </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a:txBody>
                    <a:bodyPr/>
                    <a:lstStyle/>
                    <a:p>
                      <a:r>
                        <a:rPr lang="en-US" sz="8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64147">
                <a:tc gridSpan="2">
                  <a:txBody>
                    <a:bodyPr/>
                    <a:lstStyle/>
                    <a:p>
                      <a:r>
                        <a:rPr lang="en-GB" sz="800" dirty="0"/>
                        <a:t>Simplify algebraic expressions by collecting like terms</a:t>
                      </a:r>
                      <a:r>
                        <a:rPr lang="en-GB" sz="800" baseline="0" dirty="0"/>
                        <a:t> </a:t>
                      </a:r>
                      <a:r>
                        <a:rPr lang="en-US" sz="800" baseline="0" dirty="0">
                          <a:latin typeface="+mn-lt"/>
                        </a:rPr>
                        <a:t>in </a:t>
                      </a:r>
                      <a:r>
                        <a:rPr lang="en-US" sz="800" baseline="0" dirty="0" err="1">
                          <a:latin typeface="+mn-lt"/>
                        </a:rPr>
                        <a:t>contextualised</a:t>
                      </a:r>
                      <a:r>
                        <a:rPr lang="en-US" sz="800" baseline="0" dirty="0">
                          <a:latin typeface="+mn-lt"/>
                        </a:rPr>
                        <a:t> problems</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dirty="0">
                          <a:solidFill>
                            <a:srgbClr val="FF0000"/>
                          </a:solidFill>
                          <a:latin typeface="+mn-lt"/>
                        </a:rPr>
                        <a:t>PRINT</a:t>
                      </a:r>
                      <a:r>
                        <a:rPr lang="en-US" sz="800" b="1" baseline="0" dirty="0">
                          <a:solidFill>
                            <a:srgbClr val="FF0000"/>
                          </a:solidFill>
                          <a:latin typeface="+mn-lt"/>
                        </a:rPr>
                        <a:t> slide 24</a:t>
                      </a:r>
                      <a:r>
                        <a:rPr lang="en-US" sz="800" baseline="0" dirty="0">
                          <a:latin typeface="+mn-lt"/>
                        </a:rPr>
                        <a:t>. Explain to students that the algebraic expressions as not always given to them in a straight forward line. Instead they need to form the expressions. Normally this topic is combined with shape knowledge. Allow students to attempt question on their own for 2 minutes. Review question together and model answer. Allow the reasoning questions to be an opportunity to check for understanding.</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sz="1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r>
                        <a:rPr lang="en-US" sz="8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48948">
                <a:tc gridSpan="2">
                  <a:txBody>
                    <a:bodyPr/>
                    <a:lstStyle/>
                    <a:p>
                      <a:r>
                        <a:rPr lang="en-GB" sz="800" dirty="0"/>
                        <a:t>Simplify algebraic expressions by collecting like terms</a:t>
                      </a:r>
                      <a:r>
                        <a:rPr lang="en-GB" sz="800" baseline="0" dirty="0"/>
                        <a:t> </a:t>
                      </a:r>
                      <a:r>
                        <a:rPr lang="en-US" sz="800" dirty="0">
                          <a:latin typeface="+mn-lt"/>
                        </a:rPr>
                        <a:t>in exam questions (from specimen</a:t>
                      </a:r>
                      <a:r>
                        <a:rPr lang="en-US" sz="800" baseline="0" dirty="0">
                          <a:latin typeface="+mn-lt"/>
                        </a:rPr>
                        <a:t> papers)</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dirty="0">
                          <a:solidFill>
                            <a:srgbClr val="FF0000"/>
                          </a:solidFill>
                          <a:latin typeface="+mn-lt"/>
                        </a:rPr>
                        <a:t>PRINT</a:t>
                      </a:r>
                      <a:r>
                        <a:rPr lang="en-US" sz="800" b="1" baseline="0" dirty="0">
                          <a:solidFill>
                            <a:srgbClr val="FF0000"/>
                          </a:solidFill>
                          <a:latin typeface="+mn-lt"/>
                        </a:rPr>
                        <a:t> slide 25</a:t>
                      </a:r>
                      <a:r>
                        <a:rPr lang="en-US" sz="800" dirty="0">
                          <a:solidFill>
                            <a:schemeClr val="tx1"/>
                          </a:solidFill>
                          <a:latin typeface="+mn-lt"/>
                        </a:rPr>
                        <a:t>. This includes 9 exam questions related</a:t>
                      </a:r>
                      <a:r>
                        <a:rPr lang="en-US" sz="800" baseline="0" dirty="0">
                          <a:solidFill>
                            <a:schemeClr val="tx1"/>
                          </a:solidFill>
                          <a:latin typeface="+mn-lt"/>
                        </a:rPr>
                        <a:t> to objective. Students need to use notes from lesson to answer the questions. Ensure that all steps are shown. Relate to mark scheme to show how the marks are allocated.</a:t>
                      </a:r>
                      <a:endParaRPr lang="en-US" sz="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sz="1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r>
                        <a:rPr lang="en-US" sz="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393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dirty="0">
                          <a:latin typeface="+mn-lt"/>
                        </a:rPr>
                        <a:t>Next 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800" dirty="0"/>
                        <a:t>Further</a:t>
                      </a:r>
                      <a:r>
                        <a:rPr lang="en-US" sz="800" baseline="0" dirty="0"/>
                        <a:t> simplification (involving multiplying and dividing), index notation, expanding brackets</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1" dirty="0">
                          <a:latin typeface="+mn-lt"/>
                        </a:rPr>
                        <a:t>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lang="en-US" sz="800" dirty="0"/>
                        <a:t>PLC/Reformed Specification/Target 4/Algebra/Collecting like</a:t>
                      </a:r>
                      <a:r>
                        <a:rPr lang="en-US" sz="800" baseline="0" dirty="0"/>
                        <a:t> terms</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bl>
          </a:graphicData>
        </a:graphic>
      </p:graphicFrame>
      <p:sp>
        <p:nvSpPr>
          <p:cNvPr id="4" name="TextBox 3"/>
          <p:cNvSpPr txBox="1"/>
          <p:nvPr/>
        </p:nvSpPr>
        <p:spPr>
          <a:xfrm>
            <a:off x="389103" y="319693"/>
            <a:ext cx="3599234" cy="769441"/>
          </a:xfrm>
          <a:prstGeom prst="rect">
            <a:avLst/>
          </a:prstGeom>
          <a:noFill/>
        </p:spPr>
        <p:txBody>
          <a:bodyPr wrap="square" rtlCol="0">
            <a:spAutoFit/>
          </a:bodyPr>
          <a:lstStyle/>
          <a:p>
            <a:r>
              <a:rPr lang="en-GB" sz="4400" b="1">
                <a:latin typeface="+mj-lt"/>
              </a:rPr>
              <a:t>Lesson Plan</a:t>
            </a:r>
            <a:endParaRPr lang="en-GB" sz="4400" b="1" dirty="0">
              <a:latin typeface="+mj-lt"/>
            </a:endParaRPr>
          </a:p>
        </p:txBody>
      </p:sp>
    </p:spTree>
    <p:extLst>
      <p:ext uri="{BB962C8B-B14F-4D97-AF65-F5344CB8AC3E}">
        <p14:creationId xmlns:p14="http://schemas.microsoft.com/office/powerpoint/2010/main" val="675201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626" y="0"/>
            <a:ext cx="7772400" cy="2387600"/>
          </a:xfrm>
        </p:spPr>
        <p:txBody>
          <a:bodyPr/>
          <a:lstStyle/>
          <a:p>
            <a:r>
              <a:rPr lang="en-GB" dirty="0"/>
              <a:t>Title: </a:t>
            </a:r>
            <a:br>
              <a:rPr lang="en-GB" dirty="0"/>
            </a:br>
            <a:r>
              <a:rPr lang="en-GB" dirty="0">
                <a:solidFill>
                  <a:srgbClr val="00B0F0"/>
                </a:solidFill>
              </a:rPr>
              <a:t>Collecting Like Terms</a:t>
            </a:r>
          </a:p>
        </p:txBody>
      </p:sp>
      <p:sp>
        <p:nvSpPr>
          <p:cNvPr id="3" name="Subtitle 2"/>
          <p:cNvSpPr>
            <a:spLocks noGrp="1"/>
          </p:cNvSpPr>
          <p:nvPr>
            <p:ph type="subTitle" idx="1"/>
          </p:nvPr>
        </p:nvSpPr>
        <p:spPr>
          <a:xfrm>
            <a:off x="1282848" y="2912824"/>
            <a:ext cx="6858000" cy="3496853"/>
          </a:xfrm>
        </p:spPr>
        <p:txBody>
          <a:bodyPr>
            <a:normAutofit/>
          </a:bodyPr>
          <a:lstStyle/>
          <a:p>
            <a:pPr algn="l"/>
            <a:r>
              <a:rPr lang="en-GB" dirty="0">
                <a:solidFill>
                  <a:srgbClr val="00B0F0"/>
                </a:solidFill>
              </a:rPr>
              <a:t>Aim:</a:t>
            </a:r>
          </a:p>
          <a:p>
            <a:pPr marL="342900" indent="-342900" algn="l">
              <a:buFont typeface="Wingdings" panose="05000000000000000000" pitchFamily="2" charset="2"/>
              <a:buChar char="q"/>
            </a:pPr>
            <a:r>
              <a:rPr lang="en-GB" dirty="0">
                <a:solidFill>
                  <a:srgbClr val="00B0F0"/>
                </a:solidFill>
              </a:rPr>
              <a:t>Simplify algebraic expressions by collecting like terms (adding and subtracting).</a:t>
            </a:r>
          </a:p>
          <a:p>
            <a:pPr algn="l"/>
            <a:r>
              <a:rPr lang="en-GB" dirty="0">
                <a:solidFill>
                  <a:srgbClr val="00B0F0"/>
                </a:solidFill>
              </a:rPr>
              <a:t>Plan</a:t>
            </a:r>
          </a:p>
          <a:p>
            <a:pPr marL="342900" indent="-342900" algn="l">
              <a:buFontTx/>
              <a:buChar char="-"/>
            </a:pPr>
            <a:r>
              <a:rPr lang="en-GB" dirty="0">
                <a:solidFill>
                  <a:srgbClr val="00B0F0"/>
                </a:solidFill>
              </a:rPr>
              <a:t>Daily review </a:t>
            </a:r>
          </a:p>
          <a:p>
            <a:pPr marL="342900" indent="-342900" algn="l">
              <a:buFontTx/>
              <a:buChar char="-"/>
            </a:pPr>
            <a:r>
              <a:rPr lang="en-GB" dirty="0">
                <a:solidFill>
                  <a:srgbClr val="00B0F0"/>
                </a:solidFill>
              </a:rPr>
              <a:t>Skills practice </a:t>
            </a:r>
          </a:p>
          <a:p>
            <a:pPr marL="342900" indent="-342900" algn="l">
              <a:buFontTx/>
              <a:buChar char="-"/>
            </a:pPr>
            <a:r>
              <a:rPr lang="en-GB" dirty="0"/>
              <a:t>HUB?</a:t>
            </a:r>
          </a:p>
          <a:p>
            <a:pPr marL="342900" indent="-342900" algn="l">
              <a:buFontTx/>
              <a:buChar char="-"/>
            </a:pPr>
            <a:endParaRPr lang="en-GB" dirty="0"/>
          </a:p>
        </p:txBody>
      </p:sp>
    </p:spTree>
    <p:extLst>
      <p:ext uri="{BB962C8B-B14F-4D97-AF65-F5344CB8AC3E}">
        <p14:creationId xmlns:p14="http://schemas.microsoft.com/office/powerpoint/2010/main" val="38656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325563"/>
          </a:xfrm>
        </p:spPr>
        <p:txBody>
          <a:bodyPr/>
          <a:lstStyle/>
          <a:p>
            <a:r>
              <a:rPr lang="en-GB" b="1">
                <a:latin typeface="+mn-lt"/>
              </a:rPr>
              <a:t>Key vocabulary</a:t>
            </a:r>
            <a:endParaRPr lang="en-GB" b="1" dirty="0">
              <a:latin typeface="+mn-lt"/>
            </a:endParaRPr>
          </a:p>
        </p:txBody>
      </p:sp>
      <p:sp>
        <p:nvSpPr>
          <p:cNvPr id="3" name="Content Placeholder 2"/>
          <p:cNvSpPr>
            <a:spLocks noGrp="1"/>
          </p:cNvSpPr>
          <p:nvPr>
            <p:ph idx="1"/>
          </p:nvPr>
        </p:nvSpPr>
        <p:spPr/>
        <p:txBody>
          <a:bodyPr>
            <a:normAutofit/>
          </a:bodyPr>
          <a:lstStyle/>
          <a:p>
            <a:pPr marL="0" indent="0">
              <a:buNone/>
            </a:pPr>
            <a:r>
              <a:rPr lang="en-GB" dirty="0"/>
              <a:t>Like terms</a:t>
            </a:r>
          </a:p>
          <a:p>
            <a:pPr marL="0" indent="0">
              <a:buNone/>
            </a:pPr>
            <a:r>
              <a:rPr lang="en-GB"/>
              <a:t>Simplify</a:t>
            </a:r>
            <a:endParaRPr lang="en-GB" dirty="0"/>
          </a:p>
          <a:p>
            <a:pPr marL="0" indent="0">
              <a:buNone/>
            </a:pPr>
            <a:endParaRPr lang="en-GB" dirty="0"/>
          </a:p>
        </p:txBody>
      </p:sp>
    </p:spTree>
    <p:extLst>
      <p:ext uri="{BB962C8B-B14F-4D97-AF65-F5344CB8AC3E}">
        <p14:creationId xmlns:p14="http://schemas.microsoft.com/office/powerpoint/2010/main" val="43352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GB" sz="4000" dirty="0">
                <a:latin typeface="Calibri" pitchFamily="34" charset="0"/>
              </a:rPr>
              <a:t>1) a + a + a + a</a:t>
            </a:r>
          </a:p>
          <a:p>
            <a:endParaRPr lang="en-GB" sz="4000" baseline="-25000" dirty="0">
              <a:latin typeface="Calibri" pitchFamily="34" charset="0"/>
            </a:endParaRPr>
          </a:p>
          <a:p>
            <a:pPr>
              <a:buNone/>
            </a:pPr>
            <a:r>
              <a:rPr lang="en-GB" sz="4000" dirty="0">
                <a:latin typeface="Calibri" pitchFamily="34" charset="0"/>
              </a:rPr>
              <a:t>2) b + c + b + c + b</a:t>
            </a:r>
          </a:p>
          <a:p>
            <a:endParaRPr lang="en-GB" sz="4000" baseline="-25000" dirty="0">
              <a:latin typeface="Calibri" pitchFamily="34" charset="0"/>
            </a:endParaRPr>
          </a:p>
          <a:p>
            <a:pPr>
              <a:buNone/>
            </a:pPr>
            <a:r>
              <a:rPr lang="en-GB" sz="4000" dirty="0">
                <a:latin typeface="Calibri" pitchFamily="34" charset="0"/>
              </a:rPr>
              <a:t>3) 2m + 4p + 5m + 3p</a:t>
            </a:r>
          </a:p>
          <a:p>
            <a:endParaRPr lang="en-GB" sz="4000" dirty="0">
              <a:latin typeface="Calibri" pitchFamily="34" charset="0"/>
            </a:endParaRPr>
          </a:p>
          <a:p>
            <a:pPr>
              <a:buNone/>
            </a:pPr>
            <a:r>
              <a:rPr lang="en-GB" sz="4000" dirty="0">
                <a:latin typeface="Calibri" pitchFamily="34" charset="0"/>
              </a:rPr>
              <a:t>4) 4x + 3y – 3x + 4y</a:t>
            </a:r>
          </a:p>
          <a:p>
            <a:endParaRPr lang="en-GB" sz="4000" baseline="-25000" dirty="0">
              <a:latin typeface="Calibri" pitchFamily="34" charset="0"/>
            </a:endParaRPr>
          </a:p>
          <a:p>
            <a:endParaRPr lang="en-GB" sz="4000" dirty="0">
              <a:latin typeface="Calibri" pitchFamily="34" charset="0"/>
            </a:endParaRPr>
          </a:p>
        </p:txBody>
      </p:sp>
      <p:sp>
        <p:nvSpPr>
          <p:cNvPr id="4" name="TextBox 3"/>
          <p:cNvSpPr txBox="1"/>
          <p:nvPr/>
        </p:nvSpPr>
        <p:spPr>
          <a:xfrm>
            <a:off x="5068389" y="1894114"/>
            <a:ext cx="2991394" cy="646331"/>
          </a:xfrm>
          <a:prstGeom prst="rect">
            <a:avLst/>
          </a:prstGeom>
          <a:noFill/>
        </p:spPr>
        <p:txBody>
          <a:bodyPr wrap="square" rtlCol="0">
            <a:spAutoFit/>
          </a:bodyPr>
          <a:lstStyle/>
          <a:p>
            <a:r>
              <a:rPr lang="en-GB" sz="3600" b="1" dirty="0">
                <a:solidFill>
                  <a:srgbClr val="0070C0"/>
                </a:solidFill>
              </a:rPr>
              <a:t>= 4a (not a</a:t>
            </a:r>
            <a:r>
              <a:rPr lang="en-GB" sz="3600" b="1" baseline="30000" dirty="0">
                <a:solidFill>
                  <a:srgbClr val="0070C0"/>
                </a:solidFill>
              </a:rPr>
              <a:t>4</a:t>
            </a:r>
            <a:r>
              <a:rPr lang="en-GB" sz="3600" b="1" dirty="0">
                <a:solidFill>
                  <a:srgbClr val="0070C0"/>
                </a:solidFill>
              </a:rPr>
              <a:t>)</a:t>
            </a:r>
            <a:endParaRPr lang="en-GB" b="1" dirty="0">
              <a:solidFill>
                <a:srgbClr val="0070C0"/>
              </a:solidFill>
            </a:endParaRPr>
          </a:p>
        </p:txBody>
      </p:sp>
      <p:sp>
        <p:nvSpPr>
          <p:cNvPr id="5" name="TextBox 4"/>
          <p:cNvSpPr txBox="1"/>
          <p:nvPr/>
        </p:nvSpPr>
        <p:spPr>
          <a:xfrm>
            <a:off x="5042264" y="2860765"/>
            <a:ext cx="2704010" cy="646331"/>
          </a:xfrm>
          <a:prstGeom prst="rect">
            <a:avLst/>
          </a:prstGeom>
          <a:noFill/>
        </p:spPr>
        <p:txBody>
          <a:bodyPr wrap="square" rtlCol="0">
            <a:spAutoFit/>
          </a:bodyPr>
          <a:lstStyle/>
          <a:p>
            <a:r>
              <a:rPr lang="en-GB" sz="3600" b="1" dirty="0">
                <a:solidFill>
                  <a:srgbClr val="0070C0"/>
                </a:solidFill>
              </a:rPr>
              <a:t>= 3b</a:t>
            </a:r>
            <a:r>
              <a:rPr lang="en-GB" sz="3600" b="1" dirty="0">
                <a:solidFill>
                  <a:srgbClr val="FF0000"/>
                </a:solidFill>
              </a:rPr>
              <a:t> </a:t>
            </a:r>
            <a:r>
              <a:rPr lang="en-GB" sz="3600" b="1" dirty="0">
                <a:solidFill>
                  <a:schemeClr val="accent6">
                    <a:lumMod val="75000"/>
                  </a:schemeClr>
                </a:solidFill>
              </a:rPr>
              <a:t>+ 2c</a:t>
            </a:r>
            <a:endParaRPr lang="en-GB" b="1" dirty="0">
              <a:solidFill>
                <a:schemeClr val="accent6">
                  <a:lumMod val="75000"/>
                </a:schemeClr>
              </a:solidFill>
            </a:endParaRPr>
          </a:p>
        </p:txBody>
      </p:sp>
      <p:sp>
        <p:nvSpPr>
          <p:cNvPr id="6" name="TextBox 5"/>
          <p:cNvSpPr txBox="1"/>
          <p:nvPr/>
        </p:nvSpPr>
        <p:spPr>
          <a:xfrm>
            <a:off x="5381897" y="4140925"/>
            <a:ext cx="2926079" cy="646331"/>
          </a:xfrm>
          <a:prstGeom prst="rect">
            <a:avLst/>
          </a:prstGeom>
          <a:noFill/>
        </p:spPr>
        <p:txBody>
          <a:bodyPr wrap="square" rtlCol="0">
            <a:spAutoFit/>
          </a:bodyPr>
          <a:lstStyle/>
          <a:p>
            <a:r>
              <a:rPr lang="en-GB" sz="3600" b="1" dirty="0">
                <a:solidFill>
                  <a:srgbClr val="0070C0"/>
                </a:solidFill>
              </a:rPr>
              <a:t>= 7m</a:t>
            </a:r>
            <a:r>
              <a:rPr lang="en-GB" sz="3600" b="1" dirty="0">
                <a:solidFill>
                  <a:srgbClr val="FF0000"/>
                </a:solidFill>
              </a:rPr>
              <a:t> </a:t>
            </a:r>
            <a:r>
              <a:rPr lang="en-GB" sz="3600" b="1" dirty="0">
                <a:solidFill>
                  <a:schemeClr val="accent6">
                    <a:lumMod val="75000"/>
                  </a:schemeClr>
                </a:solidFill>
              </a:rPr>
              <a:t>+ 7p</a:t>
            </a:r>
            <a:endParaRPr lang="en-GB" b="1" dirty="0">
              <a:solidFill>
                <a:schemeClr val="accent6">
                  <a:lumMod val="75000"/>
                </a:schemeClr>
              </a:solidFill>
            </a:endParaRPr>
          </a:p>
        </p:txBody>
      </p:sp>
      <p:sp>
        <p:nvSpPr>
          <p:cNvPr id="7" name="TextBox 6"/>
          <p:cNvSpPr txBox="1"/>
          <p:nvPr/>
        </p:nvSpPr>
        <p:spPr>
          <a:xfrm>
            <a:off x="5116287" y="5495108"/>
            <a:ext cx="1828800" cy="646331"/>
          </a:xfrm>
          <a:prstGeom prst="rect">
            <a:avLst/>
          </a:prstGeom>
          <a:noFill/>
        </p:spPr>
        <p:txBody>
          <a:bodyPr wrap="square" rtlCol="0">
            <a:spAutoFit/>
          </a:bodyPr>
          <a:lstStyle/>
          <a:p>
            <a:r>
              <a:rPr lang="en-GB" sz="3600" b="1" dirty="0">
                <a:solidFill>
                  <a:srgbClr val="0070C0"/>
                </a:solidFill>
              </a:rPr>
              <a:t>= x</a:t>
            </a:r>
            <a:r>
              <a:rPr lang="en-GB" sz="3600" b="1" dirty="0">
                <a:solidFill>
                  <a:srgbClr val="FF0000"/>
                </a:solidFill>
              </a:rPr>
              <a:t> </a:t>
            </a:r>
            <a:r>
              <a:rPr lang="en-GB" sz="3600" b="1" dirty="0">
                <a:solidFill>
                  <a:schemeClr val="accent6">
                    <a:lumMod val="75000"/>
                  </a:schemeClr>
                </a:solidFill>
              </a:rPr>
              <a:t>+ 7y</a:t>
            </a:r>
            <a:endParaRPr lang="en-GB" b="1" dirty="0">
              <a:solidFill>
                <a:schemeClr val="accent6">
                  <a:lumMod val="75000"/>
                </a:schemeClr>
              </a:solidFill>
            </a:endParaRPr>
          </a:p>
        </p:txBody>
      </p:sp>
      <p:sp>
        <p:nvSpPr>
          <p:cNvPr id="8" name="TextBox 7"/>
          <p:cNvSpPr txBox="1"/>
          <p:nvPr/>
        </p:nvSpPr>
        <p:spPr>
          <a:xfrm>
            <a:off x="1136468" y="1436914"/>
            <a:ext cx="613955" cy="461665"/>
          </a:xfrm>
          <a:prstGeom prst="rect">
            <a:avLst/>
          </a:prstGeom>
          <a:noFill/>
        </p:spPr>
        <p:txBody>
          <a:bodyPr wrap="square" rtlCol="0">
            <a:spAutoFit/>
          </a:bodyPr>
          <a:lstStyle/>
          <a:p>
            <a:r>
              <a:rPr lang="en-GB" sz="2400" b="1" dirty="0">
                <a:solidFill>
                  <a:srgbClr val="0070C0"/>
                </a:solidFill>
              </a:rPr>
              <a:t>1a</a:t>
            </a:r>
          </a:p>
        </p:txBody>
      </p:sp>
      <p:sp>
        <p:nvSpPr>
          <p:cNvPr id="9" name="TextBox 8"/>
          <p:cNvSpPr txBox="1"/>
          <p:nvPr/>
        </p:nvSpPr>
        <p:spPr>
          <a:xfrm>
            <a:off x="1746068" y="1432559"/>
            <a:ext cx="613955" cy="461665"/>
          </a:xfrm>
          <a:prstGeom prst="rect">
            <a:avLst/>
          </a:prstGeom>
          <a:noFill/>
        </p:spPr>
        <p:txBody>
          <a:bodyPr wrap="square" rtlCol="0">
            <a:spAutoFit/>
          </a:bodyPr>
          <a:lstStyle/>
          <a:p>
            <a:r>
              <a:rPr lang="en-GB" sz="2400" b="1" dirty="0">
                <a:solidFill>
                  <a:srgbClr val="0070C0"/>
                </a:solidFill>
              </a:rPr>
              <a:t>2a</a:t>
            </a:r>
          </a:p>
        </p:txBody>
      </p:sp>
      <p:sp>
        <p:nvSpPr>
          <p:cNvPr id="10" name="TextBox 9"/>
          <p:cNvSpPr txBox="1"/>
          <p:nvPr/>
        </p:nvSpPr>
        <p:spPr>
          <a:xfrm>
            <a:off x="2451462" y="1419497"/>
            <a:ext cx="613955" cy="461665"/>
          </a:xfrm>
          <a:prstGeom prst="rect">
            <a:avLst/>
          </a:prstGeom>
          <a:noFill/>
        </p:spPr>
        <p:txBody>
          <a:bodyPr wrap="square" rtlCol="0">
            <a:spAutoFit/>
          </a:bodyPr>
          <a:lstStyle/>
          <a:p>
            <a:r>
              <a:rPr lang="en-GB" sz="2400" b="1" dirty="0">
                <a:solidFill>
                  <a:srgbClr val="0070C0"/>
                </a:solidFill>
              </a:rPr>
              <a:t>3a</a:t>
            </a:r>
          </a:p>
        </p:txBody>
      </p:sp>
      <p:sp>
        <p:nvSpPr>
          <p:cNvPr id="11" name="TextBox 10"/>
          <p:cNvSpPr txBox="1"/>
          <p:nvPr/>
        </p:nvSpPr>
        <p:spPr>
          <a:xfrm>
            <a:off x="3169919" y="1458686"/>
            <a:ext cx="613955" cy="461665"/>
          </a:xfrm>
          <a:prstGeom prst="rect">
            <a:avLst/>
          </a:prstGeom>
          <a:noFill/>
        </p:spPr>
        <p:txBody>
          <a:bodyPr wrap="square" rtlCol="0">
            <a:spAutoFit/>
          </a:bodyPr>
          <a:lstStyle/>
          <a:p>
            <a:r>
              <a:rPr lang="en-GB" sz="2400" b="1" dirty="0">
                <a:solidFill>
                  <a:srgbClr val="0070C0"/>
                </a:solidFill>
              </a:rPr>
              <a:t>4a</a:t>
            </a:r>
          </a:p>
        </p:txBody>
      </p:sp>
      <p:sp>
        <p:nvSpPr>
          <p:cNvPr id="12" name="U-Turn Arrow 11"/>
          <p:cNvSpPr/>
          <p:nvPr/>
        </p:nvSpPr>
        <p:spPr>
          <a:xfrm>
            <a:off x="1476103" y="1319349"/>
            <a:ext cx="444137" cy="182880"/>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U-Turn Arrow 12"/>
          <p:cNvSpPr/>
          <p:nvPr/>
        </p:nvSpPr>
        <p:spPr>
          <a:xfrm>
            <a:off x="2164080" y="1301932"/>
            <a:ext cx="444137" cy="182880"/>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U-Turn Arrow 13"/>
          <p:cNvSpPr/>
          <p:nvPr/>
        </p:nvSpPr>
        <p:spPr>
          <a:xfrm>
            <a:off x="2856412" y="1301931"/>
            <a:ext cx="513805" cy="213359"/>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TextBox 15"/>
          <p:cNvSpPr txBox="1"/>
          <p:nvPr/>
        </p:nvSpPr>
        <p:spPr>
          <a:xfrm>
            <a:off x="1001486" y="2516777"/>
            <a:ext cx="613955" cy="461665"/>
          </a:xfrm>
          <a:prstGeom prst="rect">
            <a:avLst/>
          </a:prstGeom>
          <a:noFill/>
        </p:spPr>
        <p:txBody>
          <a:bodyPr wrap="square" rtlCol="0">
            <a:spAutoFit/>
          </a:bodyPr>
          <a:lstStyle/>
          <a:p>
            <a:r>
              <a:rPr lang="en-GB" sz="2400" b="1" dirty="0">
                <a:solidFill>
                  <a:srgbClr val="0070C0"/>
                </a:solidFill>
              </a:rPr>
              <a:t>1b</a:t>
            </a:r>
          </a:p>
        </p:txBody>
      </p:sp>
      <p:sp>
        <p:nvSpPr>
          <p:cNvPr id="17" name="U-Turn Arrow 16"/>
          <p:cNvSpPr/>
          <p:nvPr/>
        </p:nvSpPr>
        <p:spPr>
          <a:xfrm>
            <a:off x="1480458" y="2499359"/>
            <a:ext cx="1314993" cy="178527"/>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TextBox 17"/>
          <p:cNvSpPr txBox="1"/>
          <p:nvPr/>
        </p:nvSpPr>
        <p:spPr>
          <a:xfrm>
            <a:off x="2512423" y="2564675"/>
            <a:ext cx="613955" cy="461665"/>
          </a:xfrm>
          <a:prstGeom prst="rect">
            <a:avLst/>
          </a:prstGeom>
          <a:noFill/>
        </p:spPr>
        <p:txBody>
          <a:bodyPr wrap="square" rtlCol="0">
            <a:spAutoFit/>
          </a:bodyPr>
          <a:lstStyle/>
          <a:p>
            <a:r>
              <a:rPr lang="en-GB" sz="2400" b="1" dirty="0">
                <a:solidFill>
                  <a:srgbClr val="0070C0"/>
                </a:solidFill>
              </a:rPr>
              <a:t>2b</a:t>
            </a:r>
          </a:p>
        </p:txBody>
      </p:sp>
      <p:sp>
        <p:nvSpPr>
          <p:cNvPr id="19" name="U-Turn Arrow 18"/>
          <p:cNvSpPr/>
          <p:nvPr/>
        </p:nvSpPr>
        <p:spPr>
          <a:xfrm>
            <a:off x="2978332" y="2403565"/>
            <a:ext cx="1314993" cy="178527"/>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TextBox 20"/>
          <p:cNvSpPr txBox="1"/>
          <p:nvPr/>
        </p:nvSpPr>
        <p:spPr>
          <a:xfrm>
            <a:off x="3984172" y="2573384"/>
            <a:ext cx="613955" cy="461665"/>
          </a:xfrm>
          <a:prstGeom prst="rect">
            <a:avLst/>
          </a:prstGeom>
          <a:noFill/>
        </p:spPr>
        <p:txBody>
          <a:bodyPr wrap="square" rtlCol="0">
            <a:spAutoFit/>
          </a:bodyPr>
          <a:lstStyle/>
          <a:p>
            <a:r>
              <a:rPr lang="en-GB" sz="2400" b="1" dirty="0">
                <a:solidFill>
                  <a:srgbClr val="0070C0"/>
                </a:solidFill>
              </a:rPr>
              <a:t>3b</a:t>
            </a:r>
          </a:p>
        </p:txBody>
      </p:sp>
      <p:sp>
        <p:nvSpPr>
          <p:cNvPr id="22" name="TextBox 21"/>
          <p:cNvSpPr txBox="1"/>
          <p:nvPr/>
        </p:nvSpPr>
        <p:spPr>
          <a:xfrm>
            <a:off x="1767840" y="2812869"/>
            <a:ext cx="613955" cy="461665"/>
          </a:xfrm>
          <a:prstGeom prst="rect">
            <a:avLst/>
          </a:prstGeom>
          <a:noFill/>
        </p:spPr>
        <p:txBody>
          <a:bodyPr wrap="square" rtlCol="0">
            <a:spAutoFit/>
          </a:bodyPr>
          <a:lstStyle/>
          <a:p>
            <a:r>
              <a:rPr lang="en-GB" sz="2400" b="1" dirty="0">
                <a:solidFill>
                  <a:schemeClr val="accent6">
                    <a:lumMod val="75000"/>
                  </a:schemeClr>
                </a:solidFill>
              </a:rPr>
              <a:t>1c</a:t>
            </a:r>
          </a:p>
        </p:txBody>
      </p:sp>
      <p:sp>
        <p:nvSpPr>
          <p:cNvPr id="24" name="U-Turn Arrow 23"/>
          <p:cNvSpPr/>
          <p:nvPr/>
        </p:nvSpPr>
        <p:spPr>
          <a:xfrm>
            <a:off x="2229395" y="2895599"/>
            <a:ext cx="1314993" cy="178527"/>
          </a:xfrm>
          <a:prstGeom prst="utur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5" name="TextBox 24"/>
          <p:cNvSpPr txBox="1"/>
          <p:nvPr/>
        </p:nvSpPr>
        <p:spPr>
          <a:xfrm>
            <a:off x="3370217" y="2821577"/>
            <a:ext cx="613955" cy="461665"/>
          </a:xfrm>
          <a:prstGeom prst="rect">
            <a:avLst/>
          </a:prstGeom>
          <a:noFill/>
        </p:spPr>
        <p:txBody>
          <a:bodyPr wrap="square" rtlCol="0">
            <a:spAutoFit/>
          </a:bodyPr>
          <a:lstStyle/>
          <a:p>
            <a:r>
              <a:rPr lang="en-GB" sz="2400" b="1" dirty="0">
                <a:solidFill>
                  <a:schemeClr val="accent6">
                    <a:lumMod val="75000"/>
                  </a:schemeClr>
                </a:solidFill>
              </a:rPr>
              <a:t> 2c</a:t>
            </a:r>
          </a:p>
        </p:txBody>
      </p:sp>
      <p:sp>
        <p:nvSpPr>
          <p:cNvPr id="26" name="TextBox 25"/>
          <p:cNvSpPr txBox="1"/>
          <p:nvPr/>
        </p:nvSpPr>
        <p:spPr>
          <a:xfrm>
            <a:off x="1171303" y="3718561"/>
            <a:ext cx="613955" cy="461665"/>
          </a:xfrm>
          <a:prstGeom prst="rect">
            <a:avLst/>
          </a:prstGeom>
          <a:noFill/>
        </p:spPr>
        <p:txBody>
          <a:bodyPr wrap="square" rtlCol="0">
            <a:spAutoFit/>
          </a:bodyPr>
          <a:lstStyle/>
          <a:p>
            <a:r>
              <a:rPr lang="en-GB" sz="2400" b="1" dirty="0">
                <a:solidFill>
                  <a:srgbClr val="0070C0"/>
                </a:solidFill>
              </a:rPr>
              <a:t>2m</a:t>
            </a:r>
          </a:p>
        </p:txBody>
      </p:sp>
      <p:sp>
        <p:nvSpPr>
          <p:cNvPr id="27" name="U-Turn Arrow 26"/>
          <p:cNvSpPr/>
          <p:nvPr/>
        </p:nvSpPr>
        <p:spPr>
          <a:xfrm>
            <a:off x="1759132" y="3587931"/>
            <a:ext cx="1950720" cy="252549"/>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 name="TextBox 27"/>
          <p:cNvSpPr txBox="1"/>
          <p:nvPr/>
        </p:nvSpPr>
        <p:spPr>
          <a:xfrm>
            <a:off x="3570515" y="3675018"/>
            <a:ext cx="613955" cy="461665"/>
          </a:xfrm>
          <a:prstGeom prst="rect">
            <a:avLst/>
          </a:prstGeom>
          <a:noFill/>
        </p:spPr>
        <p:txBody>
          <a:bodyPr wrap="square" rtlCol="0">
            <a:spAutoFit/>
          </a:bodyPr>
          <a:lstStyle/>
          <a:p>
            <a:r>
              <a:rPr lang="en-GB" sz="2400" b="1" dirty="0">
                <a:solidFill>
                  <a:srgbClr val="0070C0"/>
                </a:solidFill>
              </a:rPr>
              <a:t>7m</a:t>
            </a:r>
          </a:p>
        </p:txBody>
      </p:sp>
      <p:sp>
        <p:nvSpPr>
          <p:cNvPr id="29" name="TextBox 28"/>
          <p:cNvSpPr txBox="1"/>
          <p:nvPr/>
        </p:nvSpPr>
        <p:spPr>
          <a:xfrm>
            <a:off x="2360022" y="3810000"/>
            <a:ext cx="613955" cy="461665"/>
          </a:xfrm>
          <a:prstGeom prst="rect">
            <a:avLst/>
          </a:prstGeom>
          <a:noFill/>
        </p:spPr>
        <p:txBody>
          <a:bodyPr wrap="square" rtlCol="0">
            <a:spAutoFit/>
          </a:bodyPr>
          <a:lstStyle/>
          <a:p>
            <a:r>
              <a:rPr lang="en-GB" sz="2400" b="1" dirty="0">
                <a:solidFill>
                  <a:schemeClr val="accent6">
                    <a:lumMod val="75000"/>
                  </a:schemeClr>
                </a:solidFill>
              </a:rPr>
              <a:t> 4p</a:t>
            </a:r>
          </a:p>
        </p:txBody>
      </p:sp>
      <p:sp>
        <p:nvSpPr>
          <p:cNvPr id="30" name="U-Turn Arrow 29"/>
          <p:cNvSpPr/>
          <p:nvPr/>
        </p:nvSpPr>
        <p:spPr>
          <a:xfrm>
            <a:off x="3021875" y="4027713"/>
            <a:ext cx="1641565" cy="152401"/>
          </a:xfrm>
          <a:prstGeom prst="utur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TextBox 30"/>
          <p:cNvSpPr txBox="1"/>
          <p:nvPr/>
        </p:nvSpPr>
        <p:spPr>
          <a:xfrm>
            <a:off x="4628605" y="3805646"/>
            <a:ext cx="613955" cy="461665"/>
          </a:xfrm>
          <a:prstGeom prst="rect">
            <a:avLst/>
          </a:prstGeom>
          <a:noFill/>
        </p:spPr>
        <p:txBody>
          <a:bodyPr wrap="square" rtlCol="0">
            <a:spAutoFit/>
          </a:bodyPr>
          <a:lstStyle/>
          <a:p>
            <a:r>
              <a:rPr lang="en-GB" sz="2400" b="1" dirty="0">
                <a:solidFill>
                  <a:schemeClr val="accent6">
                    <a:lumMod val="75000"/>
                  </a:schemeClr>
                </a:solidFill>
              </a:rPr>
              <a:t>7p</a:t>
            </a:r>
          </a:p>
        </p:txBody>
      </p:sp>
      <p:sp>
        <p:nvSpPr>
          <p:cNvPr id="32" name="TextBox 31"/>
          <p:cNvSpPr txBox="1"/>
          <p:nvPr/>
        </p:nvSpPr>
        <p:spPr>
          <a:xfrm>
            <a:off x="1114698" y="5111933"/>
            <a:ext cx="613955" cy="461665"/>
          </a:xfrm>
          <a:prstGeom prst="rect">
            <a:avLst/>
          </a:prstGeom>
          <a:noFill/>
        </p:spPr>
        <p:txBody>
          <a:bodyPr wrap="square" rtlCol="0">
            <a:spAutoFit/>
          </a:bodyPr>
          <a:lstStyle/>
          <a:p>
            <a:r>
              <a:rPr lang="en-GB" sz="2400" b="1" dirty="0">
                <a:solidFill>
                  <a:srgbClr val="0070C0"/>
                </a:solidFill>
              </a:rPr>
              <a:t>4x</a:t>
            </a:r>
          </a:p>
        </p:txBody>
      </p:sp>
      <p:sp>
        <p:nvSpPr>
          <p:cNvPr id="33" name="U-Turn Arrow 32"/>
          <p:cNvSpPr/>
          <p:nvPr/>
        </p:nvSpPr>
        <p:spPr>
          <a:xfrm>
            <a:off x="1493520" y="4968239"/>
            <a:ext cx="1950720" cy="252549"/>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4" name="Rectangle 33"/>
          <p:cNvSpPr/>
          <p:nvPr/>
        </p:nvSpPr>
        <p:spPr>
          <a:xfrm>
            <a:off x="2704011" y="5603966"/>
            <a:ext cx="418012" cy="431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p:cNvSpPr txBox="1"/>
          <p:nvPr/>
        </p:nvSpPr>
        <p:spPr>
          <a:xfrm>
            <a:off x="3174275" y="5199018"/>
            <a:ext cx="613955" cy="461665"/>
          </a:xfrm>
          <a:prstGeom prst="rect">
            <a:avLst/>
          </a:prstGeom>
          <a:noFill/>
        </p:spPr>
        <p:txBody>
          <a:bodyPr wrap="square" rtlCol="0">
            <a:spAutoFit/>
          </a:bodyPr>
          <a:lstStyle/>
          <a:p>
            <a:r>
              <a:rPr lang="en-GB" sz="2400" b="1" dirty="0">
                <a:solidFill>
                  <a:srgbClr val="0070C0"/>
                </a:solidFill>
              </a:rPr>
              <a:t>1x</a:t>
            </a:r>
          </a:p>
        </p:txBody>
      </p:sp>
      <p:sp>
        <p:nvSpPr>
          <p:cNvPr id="36" name="TextBox 35"/>
          <p:cNvSpPr txBox="1"/>
          <p:nvPr/>
        </p:nvSpPr>
        <p:spPr>
          <a:xfrm>
            <a:off x="2120536" y="6143897"/>
            <a:ext cx="613955" cy="461665"/>
          </a:xfrm>
          <a:prstGeom prst="rect">
            <a:avLst/>
          </a:prstGeom>
          <a:noFill/>
        </p:spPr>
        <p:txBody>
          <a:bodyPr wrap="square" rtlCol="0">
            <a:spAutoFit/>
          </a:bodyPr>
          <a:lstStyle/>
          <a:p>
            <a:r>
              <a:rPr lang="en-GB" sz="2400" b="1" dirty="0">
                <a:solidFill>
                  <a:schemeClr val="accent6">
                    <a:lumMod val="75000"/>
                  </a:schemeClr>
                </a:solidFill>
              </a:rPr>
              <a:t> 3y</a:t>
            </a:r>
          </a:p>
        </p:txBody>
      </p:sp>
      <p:sp>
        <p:nvSpPr>
          <p:cNvPr id="37" name="Bent-Up Arrow 36"/>
          <p:cNvSpPr/>
          <p:nvPr/>
        </p:nvSpPr>
        <p:spPr>
          <a:xfrm>
            <a:off x="2743200" y="6178731"/>
            <a:ext cx="1698171" cy="182880"/>
          </a:xfrm>
          <a:prstGeom prst="bentUp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p:cNvSpPr txBox="1"/>
          <p:nvPr/>
        </p:nvSpPr>
        <p:spPr>
          <a:xfrm>
            <a:off x="4310742" y="6152605"/>
            <a:ext cx="613955" cy="461665"/>
          </a:xfrm>
          <a:prstGeom prst="rect">
            <a:avLst/>
          </a:prstGeom>
          <a:noFill/>
        </p:spPr>
        <p:txBody>
          <a:bodyPr wrap="square" rtlCol="0">
            <a:spAutoFit/>
          </a:bodyPr>
          <a:lstStyle/>
          <a:p>
            <a:r>
              <a:rPr lang="en-GB" sz="2400" b="1" dirty="0">
                <a:solidFill>
                  <a:schemeClr val="accent6">
                    <a:lumMod val="75000"/>
                  </a:schemeClr>
                </a:solidFill>
              </a:rPr>
              <a:t> 7y</a:t>
            </a:r>
          </a:p>
        </p:txBody>
      </p:sp>
      <p:sp>
        <p:nvSpPr>
          <p:cNvPr id="2" name="Title 1"/>
          <p:cNvSpPr>
            <a:spLocks noGrp="1"/>
          </p:cNvSpPr>
          <p:nvPr>
            <p:ph type="title"/>
          </p:nvPr>
        </p:nvSpPr>
        <p:spPr>
          <a:xfrm>
            <a:off x="-4775" y="2494"/>
            <a:ext cx="7886700" cy="1325563"/>
          </a:xfrm>
        </p:spPr>
        <p:txBody>
          <a:bodyPr/>
          <a:lstStyle/>
          <a:p>
            <a:r>
              <a:rPr lang="en-US" b="1" dirty="0">
                <a:latin typeface="+mn-lt"/>
              </a:rPr>
              <a:t>Simplify </a:t>
            </a:r>
            <a:r>
              <a:rPr lang="en-US" b="1">
                <a:latin typeface="+mn-lt"/>
              </a:rPr>
              <a:t>by collecting like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linds(horizontal)">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linds(horizontal)">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blinds(horizontal)">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blinds(horizontal)">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blinds(horizontal)">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blinds(horizontal)">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blinds(horizontal)">
                                      <p:cBhvr>
                                        <p:cTn id="77" dur="5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blinds(horizontal)">
                                      <p:cBhvr>
                                        <p:cTn id="82" dur="500"/>
                                        <p:tgtEl>
                                          <p:spTgt spid="2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blinds(horizontal)">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blinds(horizontal)">
                                      <p:cBhvr>
                                        <p:cTn id="92" dur="500"/>
                                        <p:tgtEl>
                                          <p:spTgt spid="26"/>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blinds(horizontal)">
                                      <p:cBhvr>
                                        <p:cTn id="97" dur="500"/>
                                        <p:tgtEl>
                                          <p:spTgt spid="2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blinds(horizontal)">
                                      <p:cBhvr>
                                        <p:cTn id="102" dur="50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blinds(horizontal)">
                                      <p:cBhvr>
                                        <p:cTn id="107" dur="5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blinds(horizontal)">
                                      <p:cBhvr>
                                        <p:cTn id="112" dur="500"/>
                                        <p:tgtEl>
                                          <p:spTgt spid="30"/>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blinds(horizontal)">
                                      <p:cBhvr>
                                        <p:cTn id="117" dur="500"/>
                                        <p:tgtEl>
                                          <p:spTgt spid="31"/>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6"/>
                                        </p:tgtEl>
                                        <p:attrNameLst>
                                          <p:attrName>style.visibility</p:attrName>
                                        </p:attrNameLst>
                                      </p:cBhvr>
                                      <p:to>
                                        <p:strVal val="visible"/>
                                      </p:to>
                                    </p:set>
                                    <p:animEffect transition="in" filter="blinds(horizontal)">
                                      <p:cBhvr>
                                        <p:cTn id="122" dur="500"/>
                                        <p:tgtEl>
                                          <p:spTgt spid="6"/>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blinds(horizontal)">
                                      <p:cBhvr>
                                        <p:cTn id="127" dur="500"/>
                                        <p:tgtEl>
                                          <p:spTgt spid="3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blinds(horizontal)">
                                      <p:cBhvr>
                                        <p:cTn id="132" dur="5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blinds(horizontal)">
                                      <p:cBhvr>
                                        <p:cTn id="137" dur="500"/>
                                        <p:tgtEl>
                                          <p:spTgt spid="34"/>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blinds(horizontal)">
                                      <p:cBhvr>
                                        <p:cTn id="142" dur="500"/>
                                        <p:tgtEl>
                                          <p:spTgt spid="35"/>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blinds(horizontal)">
                                      <p:cBhvr>
                                        <p:cTn id="147" dur="500"/>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0" nodeType="click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blinds(horizontal)">
                                      <p:cBhvr>
                                        <p:cTn id="152" dur="500"/>
                                        <p:tgtEl>
                                          <p:spTgt spid="37"/>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38"/>
                                        </p:tgtEl>
                                        <p:attrNameLst>
                                          <p:attrName>style.visibility</p:attrName>
                                        </p:attrNameLst>
                                      </p:cBhvr>
                                      <p:to>
                                        <p:strVal val="visible"/>
                                      </p:to>
                                    </p:set>
                                    <p:animEffect transition="in" filter="blinds(horizontal)">
                                      <p:cBhvr>
                                        <p:cTn id="157" dur="500"/>
                                        <p:tgtEl>
                                          <p:spTgt spid="38"/>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ntr" presetSubtype="10" fill="hold" grpId="0" nodeType="clickEffect">
                                  <p:stCondLst>
                                    <p:cond delay="0"/>
                                  </p:stCondLst>
                                  <p:childTnLst>
                                    <p:set>
                                      <p:cBhvr>
                                        <p:cTn id="161" dur="1" fill="hold">
                                          <p:stCondLst>
                                            <p:cond delay="0"/>
                                          </p:stCondLst>
                                        </p:cTn>
                                        <p:tgtEl>
                                          <p:spTgt spid="7"/>
                                        </p:tgtEl>
                                        <p:attrNameLst>
                                          <p:attrName>style.visibility</p:attrName>
                                        </p:attrNameLst>
                                      </p:cBhvr>
                                      <p:to>
                                        <p:strVal val="visible"/>
                                      </p:to>
                                    </p:set>
                                    <p:animEffect transition="in" filter="blinds(horizontal)">
                                      <p:cBhvr>
                                        <p:cTn id="1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animBg="1"/>
      <p:bldP spid="13" grpId="0" animBg="1"/>
      <p:bldP spid="14" grpId="0" animBg="1"/>
      <p:bldP spid="16" grpId="0"/>
      <p:bldP spid="17" grpId="0" animBg="1"/>
      <p:bldP spid="18" grpId="0"/>
      <p:bldP spid="19" grpId="0" animBg="1"/>
      <p:bldP spid="21" grpId="0"/>
      <p:bldP spid="22" grpId="0"/>
      <p:bldP spid="24" grpId="0" animBg="1"/>
      <p:bldP spid="25" grpId="0"/>
      <p:bldP spid="26" grpId="0"/>
      <p:bldP spid="27" grpId="0" animBg="1"/>
      <p:bldP spid="28" grpId="0"/>
      <p:bldP spid="29" grpId="0"/>
      <p:bldP spid="30" grpId="0" animBg="1"/>
      <p:bldP spid="31" grpId="0"/>
      <p:bldP spid="32" grpId="0"/>
      <p:bldP spid="33" grpId="0" animBg="1"/>
      <p:bldP spid="34" grpId="0" animBg="1"/>
      <p:bldP spid="35" grpId="0"/>
      <p:bldP spid="36" grpId="0"/>
      <p:bldP spid="37" grpId="0" animBg="1"/>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68031" y="1581437"/>
            <a:ext cx="4230645"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10a + 4a</a:t>
            </a: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2b + 7b</a:t>
            </a: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3a + a + 4a</a:t>
            </a: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11b – 4b </a:t>
            </a: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14b – 5b + 4b</a:t>
            </a: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3a – 6a + a</a:t>
            </a:r>
            <a:endParaRPr kumimoji="0" lang="en-GB" sz="2800" i="0" u="none" strike="noStrike" cap="none" normalizeH="0" baseline="0" dirty="0">
              <a:ln>
                <a:noFill/>
              </a:ln>
              <a:solidFill>
                <a:schemeClr val="tx1"/>
              </a:solidFill>
              <a:effectLst/>
              <a:cs typeface="Arial" pitchFamily="34" charset="0"/>
            </a:endParaRPr>
          </a:p>
        </p:txBody>
      </p:sp>
      <p:sp>
        <p:nvSpPr>
          <p:cNvPr id="2" name="Title 1"/>
          <p:cNvSpPr>
            <a:spLocks noGrp="1"/>
          </p:cNvSpPr>
          <p:nvPr>
            <p:ph type="title"/>
          </p:nvPr>
        </p:nvSpPr>
        <p:spPr>
          <a:xfrm>
            <a:off x="0" y="0"/>
            <a:ext cx="7886700" cy="1325563"/>
          </a:xfrm>
        </p:spPr>
        <p:txBody>
          <a:bodyPr/>
          <a:lstStyle/>
          <a:p>
            <a:r>
              <a:rPr lang="en-US" b="1">
                <a:latin typeface="+mn-lt"/>
              </a:rPr>
              <a:t>Practice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68031" y="1581439"/>
            <a:ext cx="4230645"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10a + 4a </a:t>
            </a:r>
            <a:r>
              <a:rPr kumimoji="0" lang="en-GB" sz="2800" i="0" u="none" strike="noStrike" cap="none" normalizeH="0" baseline="0" dirty="0">
                <a:ln>
                  <a:noFill/>
                </a:ln>
                <a:solidFill>
                  <a:schemeClr val="accent1"/>
                </a:solidFill>
                <a:effectLst/>
                <a:ea typeface="Calibri" pitchFamily="34" charset="0"/>
                <a:cs typeface="Times New Roman" pitchFamily="18" charset="0"/>
              </a:rPr>
              <a:t>= 14a</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2b + 7b </a:t>
            </a:r>
            <a:r>
              <a:rPr kumimoji="0" lang="en-GB" sz="2800" i="0" u="none" strike="noStrike" cap="none" normalizeH="0" baseline="0" dirty="0">
                <a:ln>
                  <a:noFill/>
                </a:ln>
                <a:solidFill>
                  <a:schemeClr val="accent1"/>
                </a:solidFill>
                <a:effectLst/>
                <a:ea typeface="Calibri" pitchFamily="34" charset="0"/>
                <a:cs typeface="Times New Roman" pitchFamily="18" charset="0"/>
              </a:rPr>
              <a:t> = 9b</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3a + a + 4a </a:t>
            </a:r>
            <a:r>
              <a:rPr kumimoji="0" lang="en-GB" sz="2800" i="0" u="none" strike="noStrike" cap="none" normalizeH="0" baseline="0" dirty="0">
                <a:ln>
                  <a:noFill/>
                </a:ln>
                <a:solidFill>
                  <a:schemeClr val="accent1"/>
                </a:solidFill>
                <a:effectLst/>
                <a:ea typeface="Calibri" pitchFamily="34" charset="0"/>
                <a:cs typeface="Times New Roman" pitchFamily="18" charset="0"/>
              </a:rPr>
              <a:t>=8a</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11b – 4b </a:t>
            </a:r>
            <a:r>
              <a:rPr lang="en-GB" sz="2800" dirty="0">
                <a:solidFill>
                  <a:schemeClr val="accent1"/>
                </a:solidFill>
                <a:ea typeface="Calibri" pitchFamily="34" charset="0"/>
                <a:cs typeface="Times New Roman" pitchFamily="18" charset="0"/>
              </a:rPr>
              <a:t>= 7b</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14b – 5b + 4b </a:t>
            </a:r>
            <a:r>
              <a:rPr kumimoji="0" lang="en-GB" sz="2800" i="0" u="none" strike="noStrike" cap="none" normalizeH="0" baseline="0" dirty="0">
                <a:ln>
                  <a:noFill/>
                </a:ln>
                <a:solidFill>
                  <a:schemeClr val="accent1"/>
                </a:solidFill>
                <a:effectLst/>
                <a:ea typeface="Calibri" pitchFamily="34" charset="0"/>
                <a:cs typeface="Times New Roman" pitchFamily="18" charset="0"/>
              </a:rPr>
              <a:t> = 13b</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endParaRPr kumimoji="0" lang="en-GB" sz="2800" i="0" u="none" strike="noStrike" cap="none" normalizeH="0" baseline="0" dirty="0">
              <a:ln>
                <a:noFill/>
              </a:ln>
              <a:solidFill>
                <a:schemeClr val="tx1"/>
              </a:solidFill>
              <a:effectLst/>
              <a:cs typeface="Arial" pitchFamily="34" charset="0"/>
            </a:endParaRPr>
          </a:p>
          <a:p>
            <a:pPr marL="685800" marR="0" lvl="1" indent="-228600" algn="l" defTabSz="914400" rtl="0" eaLnBrk="0" fontAlgn="base" latinLnBrk="0" hangingPunct="0">
              <a:lnSpc>
                <a:spcPct val="100000"/>
              </a:lnSpc>
              <a:spcBef>
                <a:spcPct val="0"/>
              </a:spcBef>
              <a:spcAft>
                <a:spcPct val="0"/>
              </a:spcAft>
              <a:buClrTx/>
              <a:buSzTx/>
              <a:buFont typeface="+mj-lt"/>
              <a:buAutoNum type="alphaLcParenR"/>
              <a:tabLst/>
            </a:pPr>
            <a:r>
              <a:rPr kumimoji="0" lang="en-GB" sz="2800" i="0" u="none" strike="noStrike" cap="none" normalizeH="0" baseline="0" dirty="0">
                <a:ln>
                  <a:noFill/>
                </a:ln>
                <a:solidFill>
                  <a:schemeClr val="tx1"/>
                </a:solidFill>
                <a:effectLst/>
                <a:ea typeface="Calibri" pitchFamily="34" charset="0"/>
                <a:cs typeface="Times New Roman" pitchFamily="18" charset="0"/>
              </a:rPr>
              <a:t>3a – 6a + a </a:t>
            </a:r>
            <a:r>
              <a:rPr lang="en-GB" sz="2800" dirty="0">
                <a:solidFill>
                  <a:schemeClr val="accent1"/>
                </a:solidFill>
                <a:ea typeface="Calibri" pitchFamily="34" charset="0"/>
                <a:cs typeface="Times New Roman" pitchFamily="18" charset="0"/>
              </a:rPr>
              <a:t>= -2a</a:t>
            </a:r>
            <a:endParaRPr kumimoji="0" lang="en-GB" sz="2800" i="0" u="none" strike="noStrike" cap="none" normalizeH="0" baseline="0" dirty="0">
              <a:ln>
                <a:noFill/>
              </a:ln>
              <a:solidFill>
                <a:schemeClr val="tx1"/>
              </a:solidFill>
              <a:effectLst/>
              <a:cs typeface="Arial" pitchFamily="34" charset="0"/>
            </a:endParaRPr>
          </a:p>
        </p:txBody>
      </p:sp>
      <p:sp>
        <p:nvSpPr>
          <p:cNvPr id="6" name="Title 1"/>
          <p:cNvSpPr>
            <a:spLocks noGrp="1"/>
          </p:cNvSpPr>
          <p:nvPr>
            <p:ph type="title"/>
          </p:nvPr>
        </p:nvSpPr>
        <p:spPr>
          <a:xfrm>
            <a:off x="0" y="0"/>
            <a:ext cx="7886700" cy="1325563"/>
          </a:xfrm>
        </p:spPr>
        <p:txBody>
          <a:bodyPr/>
          <a:lstStyle/>
          <a:p>
            <a:r>
              <a:rPr lang="en-US" b="1" dirty="0">
                <a:latin typeface="+mn-lt"/>
              </a:rPr>
              <a:t>Practice (1) solutions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984300" y="1390987"/>
            <a:ext cx="6466785"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10a + 4b –a +5b</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8a + 5a +5b – 3b</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12b – 7a + 3b +a</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2b – 8b –a + 9a</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-13b + 4a -5b -4a</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11a + 8b + 2c + 6a + 3b -2c</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6b + 4b –a +6c + 5a – 4c</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7c + 4b- 3b + a + 10c – 5a</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10a + 4b + 7a + 10b – 17a – 14b</a:t>
            </a: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latin typeface="Calibri" charset="0"/>
                <a:ea typeface="Calibri" charset="0"/>
                <a:cs typeface="Calibri" charset="0"/>
              </a:rPr>
              <a:t>5b + 4c + 18c – 22a + z</a:t>
            </a:r>
          </a:p>
        </p:txBody>
      </p:sp>
      <p:sp>
        <p:nvSpPr>
          <p:cNvPr id="5" name="Title 1"/>
          <p:cNvSpPr>
            <a:spLocks noGrp="1"/>
          </p:cNvSpPr>
          <p:nvPr>
            <p:ph type="title"/>
          </p:nvPr>
        </p:nvSpPr>
        <p:spPr>
          <a:xfrm>
            <a:off x="0" y="0"/>
            <a:ext cx="7886700" cy="1325563"/>
          </a:xfrm>
        </p:spPr>
        <p:txBody>
          <a:bodyPr/>
          <a:lstStyle/>
          <a:p>
            <a:r>
              <a:rPr lang="en-US" b="1">
                <a:latin typeface="+mn-lt"/>
              </a:rPr>
              <a:t>Practice (2)</a:t>
            </a: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754031" y="1304760"/>
            <a:ext cx="7259669"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10a + 4b –a +5b </a:t>
            </a:r>
            <a:r>
              <a:rPr kumimoji="0" lang="en-GB" sz="2800" i="0" u="none" strike="noStrike" cap="none" normalizeH="0" baseline="0" dirty="0">
                <a:ln>
                  <a:noFill/>
                </a:ln>
                <a:solidFill>
                  <a:schemeClr val="accent1"/>
                </a:solidFill>
                <a:effectLst/>
                <a:ea typeface="Calibri" pitchFamily="34" charset="0"/>
                <a:cs typeface="Times New Roman" pitchFamily="18" charset="0"/>
              </a:rPr>
              <a:t>= 9a + 9b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8a + 5a +5b – 3b </a:t>
            </a:r>
            <a:r>
              <a:rPr kumimoji="0" lang="en-GB" sz="2800" i="0" u="none" strike="noStrike" cap="none" normalizeH="0" baseline="0" dirty="0">
                <a:ln>
                  <a:noFill/>
                </a:ln>
                <a:solidFill>
                  <a:schemeClr val="accent1"/>
                </a:solidFill>
                <a:effectLst/>
                <a:ea typeface="Calibri" pitchFamily="34" charset="0"/>
                <a:cs typeface="Times New Roman" pitchFamily="18" charset="0"/>
              </a:rPr>
              <a:t>= 13a +2b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12b – 7a + 3b +a </a:t>
            </a:r>
            <a:r>
              <a:rPr kumimoji="0" lang="en-GB" sz="2800" i="0" u="none" strike="noStrike" cap="none" normalizeH="0" baseline="0" dirty="0">
                <a:ln>
                  <a:noFill/>
                </a:ln>
                <a:solidFill>
                  <a:schemeClr val="accent1"/>
                </a:solidFill>
                <a:effectLst/>
                <a:ea typeface="Calibri" pitchFamily="34" charset="0"/>
                <a:cs typeface="Times New Roman" pitchFamily="18" charset="0"/>
              </a:rPr>
              <a:t>= -6a + 15b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2b – 8b –a + 9a </a:t>
            </a:r>
            <a:r>
              <a:rPr kumimoji="0" lang="en-GB" sz="2800" i="0" u="none" strike="noStrike" cap="none" normalizeH="0" baseline="0" dirty="0">
                <a:ln>
                  <a:noFill/>
                </a:ln>
                <a:solidFill>
                  <a:schemeClr val="accent1"/>
                </a:solidFill>
                <a:effectLst/>
                <a:ea typeface="Calibri" pitchFamily="34" charset="0"/>
                <a:cs typeface="Times New Roman" pitchFamily="18" charset="0"/>
              </a:rPr>
              <a:t>=</a:t>
            </a:r>
            <a:r>
              <a:rPr kumimoji="0" lang="en-GB" sz="2800" i="0" u="none" strike="noStrike" cap="none" normalizeH="0" dirty="0">
                <a:ln>
                  <a:noFill/>
                </a:ln>
                <a:solidFill>
                  <a:schemeClr val="accent1"/>
                </a:solidFill>
                <a:effectLst/>
                <a:ea typeface="Calibri" pitchFamily="34" charset="0"/>
                <a:cs typeface="Times New Roman" pitchFamily="18" charset="0"/>
              </a:rPr>
              <a:t> 8a -6b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-13b + 4a -5b -4a </a:t>
            </a:r>
            <a:r>
              <a:rPr kumimoji="0" lang="en-GB" sz="2800" i="0" u="none" strike="noStrike" cap="none" normalizeH="0" baseline="0" dirty="0">
                <a:ln>
                  <a:noFill/>
                </a:ln>
                <a:solidFill>
                  <a:schemeClr val="accent1"/>
                </a:solidFill>
                <a:effectLst/>
                <a:ea typeface="Calibri" pitchFamily="34" charset="0"/>
                <a:cs typeface="Times New Roman" pitchFamily="18" charset="0"/>
              </a:rPr>
              <a:t>= -18b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11a + 8b + 2c + 6a + 3b -2c </a:t>
            </a:r>
            <a:r>
              <a:rPr kumimoji="0" lang="en-GB" sz="2800" i="0" u="none" strike="noStrike" cap="none" normalizeH="0" baseline="0" dirty="0">
                <a:ln>
                  <a:noFill/>
                </a:ln>
                <a:solidFill>
                  <a:schemeClr val="accent1"/>
                </a:solidFill>
                <a:effectLst/>
                <a:ea typeface="Calibri" pitchFamily="34" charset="0"/>
                <a:cs typeface="Times New Roman" pitchFamily="18" charset="0"/>
              </a:rPr>
              <a:t>= 17a + 11b</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6b + 4b –a +6c + 5a – 4c </a:t>
            </a:r>
            <a:r>
              <a:rPr kumimoji="0" lang="en-GB" sz="2800" i="0" u="none" strike="noStrike" cap="none" normalizeH="0" baseline="0" dirty="0">
                <a:ln>
                  <a:noFill/>
                </a:ln>
                <a:solidFill>
                  <a:schemeClr val="accent1"/>
                </a:solidFill>
                <a:effectLst/>
                <a:ea typeface="Calibri" pitchFamily="34" charset="0"/>
                <a:cs typeface="Times New Roman" pitchFamily="18" charset="0"/>
              </a:rPr>
              <a:t>= 4a +10b +2c</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7c + 4b- 3b + a + 10c – 5a </a:t>
            </a:r>
            <a:r>
              <a:rPr kumimoji="0" lang="en-GB" sz="2800" i="0" u="none" strike="noStrike" cap="none" normalizeH="0" baseline="0" dirty="0">
                <a:ln>
                  <a:noFill/>
                </a:ln>
                <a:solidFill>
                  <a:schemeClr val="accent1"/>
                </a:solidFill>
                <a:effectLst/>
                <a:ea typeface="Calibri" pitchFamily="34" charset="0"/>
                <a:cs typeface="Times New Roman" pitchFamily="18" charset="0"/>
              </a:rPr>
              <a:t>= -4a +</a:t>
            </a:r>
            <a:r>
              <a:rPr kumimoji="0" lang="en-GB" sz="2800" i="0" u="none" strike="noStrike" cap="none" normalizeH="0" dirty="0">
                <a:ln>
                  <a:noFill/>
                </a:ln>
                <a:solidFill>
                  <a:schemeClr val="accent1"/>
                </a:solidFill>
                <a:effectLst/>
                <a:ea typeface="Calibri" pitchFamily="34" charset="0"/>
                <a:cs typeface="Times New Roman" pitchFamily="18" charset="0"/>
              </a:rPr>
              <a:t> b +17c</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10a + 4b + 7a + 10b – 17a – 14b </a:t>
            </a:r>
            <a:r>
              <a:rPr kumimoji="0" lang="en-GB" sz="2800" i="0" u="none" strike="noStrike" cap="none" normalizeH="0" baseline="0" dirty="0">
                <a:ln>
                  <a:noFill/>
                </a:ln>
                <a:solidFill>
                  <a:schemeClr val="accent1"/>
                </a:solidFill>
                <a:effectLst/>
                <a:ea typeface="Calibri" pitchFamily="34" charset="0"/>
                <a:cs typeface="Times New Roman" pitchFamily="18" charset="0"/>
              </a:rPr>
              <a:t>= 0</a:t>
            </a:r>
            <a:endParaRPr kumimoji="0" lang="en-GB" sz="2800"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sz="2800" i="0" u="none" strike="noStrike" cap="none" normalizeH="0" baseline="0" dirty="0">
                <a:ln>
                  <a:noFill/>
                </a:ln>
                <a:solidFill>
                  <a:schemeClr val="tx1"/>
                </a:solidFill>
                <a:effectLst/>
                <a:ea typeface="Calibri" pitchFamily="34" charset="0"/>
                <a:cs typeface="Times New Roman" pitchFamily="18" charset="0"/>
              </a:rPr>
              <a:t>5b + 4c + 18c – 22a + z </a:t>
            </a:r>
            <a:r>
              <a:rPr kumimoji="0" lang="en-GB" sz="2800" i="0" u="none" strike="noStrike" cap="none" normalizeH="0" baseline="0" dirty="0">
                <a:ln>
                  <a:noFill/>
                </a:ln>
                <a:solidFill>
                  <a:schemeClr val="accent1"/>
                </a:solidFill>
                <a:effectLst/>
                <a:ea typeface="Calibri" pitchFamily="34" charset="0"/>
                <a:cs typeface="Times New Roman" pitchFamily="18" charset="0"/>
              </a:rPr>
              <a:t> = -22a + 5b +22c +</a:t>
            </a:r>
            <a:r>
              <a:rPr kumimoji="0" lang="en-GB" sz="2800" i="0" u="none" strike="noStrike" cap="none" normalizeH="0" dirty="0">
                <a:ln>
                  <a:noFill/>
                </a:ln>
                <a:solidFill>
                  <a:schemeClr val="accent1"/>
                </a:solidFill>
                <a:effectLst/>
                <a:ea typeface="Calibri" pitchFamily="34" charset="0"/>
                <a:cs typeface="Times New Roman" pitchFamily="18" charset="0"/>
              </a:rPr>
              <a:t> z</a:t>
            </a:r>
            <a:endParaRPr kumimoji="0" lang="en-GB" sz="2800" i="0" u="none" strike="noStrike" cap="none" normalizeH="0" baseline="0" dirty="0">
              <a:ln>
                <a:noFill/>
              </a:ln>
              <a:solidFill>
                <a:schemeClr val="tx1"/>
              </a:solidFill>
              <a:effectLst/>
              <a:cs typeface="Arial" pitchFamily="34" charset="0"/>
            </a:endParaRPr>
          </a:p>
        </p:txBody>
      </p:sp>
      <p:sp>
        <p:nvSpPr>
          <p:cNvPr id="5" name="Title 1"/>
          <p:cNvSpPr>
            <a:spLocks noGrp="1"/>
          </p:cNvSpPr>
          <p:nvPr>
            <p:ph type="title"/>
          </p:nvPr>
        </p:nvSpPr>
        <p:spPr>
          <a:xfrm>
            <a:off x="0" y="0"/>
            <a:ext cx="7886700" cy="1325563"/>
          </a:xfrm>
        </p:spPr>
        <p:txBody>
          <a:bodyPr/>
          <a:lstStyle/>
          <a:p>
            <a:r>
              <a:rPr lang="en-US" b="1" dirty="0">
                <a:latin typeface="+mn-lt"/>
              </a:rPr>
              <a:t>Practice (2) solutions</a:t>
            </a: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325563"/>
          </a:xfrm>
        </p:spPr>
        <p:txBody>
          <a:bodyPr/>
          <a:lstStyle/>
          <a:p>
            <a:r>
              <a:rPr lang="en-GB" b="1">
                <a:latin typeface="+mn-lt"/>
              </a:rPr>
              <a:t>Problem solving and reasoning</a:t>
            </a:r>
            <a:endParaRPr lang="en-GB" b="1" dirty="0">
              <a:latin typeface="+mn-lt"/>
            </a:endParaRPr>
          </a:p>
        </p:txBody>
      </p:sp>
      <p:sp>
        <p:nvSpPr>
          <p:cNvPr id="4" name="Isosceles Triangle 3"/>
          <p:cNvSpPr/>
          <p:nvPr/>
        </p:nvSpPr>
        <p:spPr>
          <a:xfrm>
            <a:off x="4493623" y="1894115"/>
            <a:ext cx="2821577" cy="3487783"/>
          </a:xfrm>
          <a:prstGeom prst="triangl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p:cNvCxnSpPr/>
          <p:nvPr/>
        </p:nvCxnSpPr>
        <p:spPr>
          <a:xfrm>
            <a:off x="5042264" y="3422469"/>
            <a:ext cx="431074" cy="156754"/>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6409510" y="3383280"/>
            <a:ext cx="461553" cy="204651"/>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9450" y="2011680"/>
            <a:ext cx="3540035" cy="2246769"/>
          </a:xfrm>
          <a:prstGeom prst="rect">
            <a:avLst/>
          </a:prstGeom>
          <a:noFill/>
        </p:spPr>
        <p:txBody>
          <a:bodyPr wrap="square" rtlCol="0">
            <a:spAutoFit/>
          </a:bodyPr>
          <a:lstStyle/>
          <a:p>
            <a:r>
              <a:rPr lang="en-GB" sz="2800" dirty="0"/>
              <a:t>Here is an isosceles triangle</a:t>
            </a:r>
          </a:p>
          <a:p>
            <a:r>
              <a:rPr lang="en-GB" sz="2800" dirty="0"/>
              <a:t>Find an expression for the perimeter of the triangle</a:t>
            </a:r>
          </a:p>
        </p:txBody>
      </p:sp>
      <p:sp>
        <p:nvSpPr>
          <p:cNvPr id="10" name="TextBox 9"/>
          <p:cNvSpPr txBox="1"/>
          <p:nvPr/>
        </p:nvSpPr>
        <p:spPr>
          <a:xfrm>
            <a:off x="6518366" y="2704012"/>
            <a:ext cx="1580606" cy="584775"/>
          </a:xfrm>
          <a:prstGeom prst="rect">
            <a:avLst/>
          </a:prstGeom>
          <a:noFill/>
        </p:spPr>
        <p:txBody>
          <a:bodyPr wrap="square" rtlCol="0">
            <a:spAutoFit/>
          </a:bodyPr>
          <a:lstStyle/>
          <a:p>
            <a:r>
              <a:rPr lang="en-GB" sz="3200" dirty="0"/>
              <a:t>5x - 2</a:t>
            </a:r>
          </a:p>
        </p:txBody>
      </p:sp>
      <p:sp>
        <p:nvSpPr>
          <p:cNvPr id="11" name="TextBox 10"/>
          <p:cNvSpPr txBox="1"/>
          <p:nvPr/>
        </p:nvSpPr>
        <p:spPr>
          <a:xfrm>
            <a:off x="5403667" y="5508172"/>
            <a:ext cx="1580606" cy="584775"/>
          </a:xfrm>
          <a:prstGeom prst="rect">
            <a:avLst/>
          </a:prstGeom>
          <a:noFill/>
        </p:spPr>
        <p:txBody>
          <a:bodyPr wrap="square" rtlCol="0">
            <a:spAutoFit/>
          </a:bodyPr>
          <a:lstStyle/>
          <a:p>
            <a:r>
              <a:rPr lang="en-GB" sz="3200" dirty="0"/>
              <a:t>22 – 4x</a:t>
            </a:r>
          </a:p>
        </p:txBody>
      </p:sp>
    </p:spTree>
    <p:extLst>
      <p:ext uri="{BB962C8B-B14F-4D97-AF65-F5344CB8AC3E}">
        <p14:creationId xmlns:p14="http://schemas.microsoft.com/office/powerpoint/2010/main" val="1937316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Isosceles Triangle 3"/>
          <p:cNvSpPr/>
          <p:nvPr/>
        </p:nvSpPr>
        <p:spPr>
          <a:xfrm>
            <a:off x="4493623" y="1894115"/>
            <a:ext cx="2821577" cy="3487783"/>
          </a:xfrm>
          <a:prstGeom prst="triangl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p:cNvCxnSpPr/>
          <p:nvPr/>
        </p:nvCxnSpPr>
        <p:spPr>
          <a:xfrm>
            <a:off x="5042264" y="3422469"/>
            <a:ext cx="431074" cy="156754"/>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6409510" y="3383280"/>
            <a:ext cx="461553" cy="204651"/>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31844" y="1280665"/>
            <a:ext cx="4088676" cy="1815882"/>
          </a:xfrm>
          <a:prstGeom prst="rect">
            <a:avLst/>
          </a:prstGeom>
          <a:noFill/>
        </p:spPr>
        <p:txBody>
          <a:bodyPr wrap="square" rtlCol="0">
            <a:spAutoFit/>
          </a:bodyPr>
          <a:lstStyle/>
          <a:p>
            <a:r>
              <a:rPr lang="en-GB" sz="2800" dirty="0"/>
              <a:t>Here is an isosceles triangle</a:t>
            </a:r>
          </a:p>
          <a:p>
            <a:r>
              <a:rPr lang="en-GB" sz="2800" dirty="0"/>
              <a:t>Find an expression for the perimeter of the triangle</a:t>
            </a:r>
          </a:p>
        </p:txBody>
      </p:sp>
      <p:sp>
        <p:nvSpPr>
          <p:cNvPr id="10" name="TextBox 9"/>
          <p:cNvSpPr txBox="1"/>
          <p:nvPr/>
        </p:nvSpPr>
        <p:spPr>
          <a:xfrm>
            <a:off x="6518366" y="2704012"/>
            <a:ext cx="1580606" cy="584775"/>
          </a:xfrm>
          <a:prstGeom prst="rect">
            <a:avLst/>
          </a:prstGeom>
          <a:noFill/>
        </p:spPr>
        <p:txBody>
          <a:bodyPr wrap="square" rtlCol="0">
            <a:spAutoFit/>
          </a:bodyPr>
          <a:lstStyle/>
          <a:p>
            <a:r>
              <a:rPr lang="en-GB" sz="3200" dirty="0"/>
              <a:t>5x - 2</a:t>
            </a:r>
          </a:p>
        </p:txBody>
      </p:sp>
      <p:sp>
        <p:nvSpPr>
          <p:cNvPr id="11" name="TextBox 10"/>
          <p:cNvSpPr txBox="1"/>
          <p:nvPr/>
        </p:nvSpPr>
        <p:spPr>
          <a:xfrm>
            <a:off x="5403667" y="5508172"/>
            <a:ext cx="1580606" cy="584775"/>
          </a:xfrm>
          <a:prstGeom prst="rect">
            <a:avLst/>
          </a:prstGeom>
          <a:noFill/>
        </p:spPr>
        <p:txBody>
          <a:bodyPr wrap="square" rtlCol="0">
            <a:spAutoFit/>
          </a:bodyPr>
          <a:lstStyle/>
          <a:p>
            <a:r>
              <a:rPr lang="en-GB" sz="3200" dirty="0"/>
              <a:t>22 – 4x</a:t>
            </a:r>
          </a:p>
        </p:txBody>
      </p:sp>
      <p:sp>
        <p:nvSpPr>
          <p:cNvPr id="12" name="TextBox 11"/>
          <p:cNvSpPr txBox="1"/>
          <p:nvPr/>
        </p:nvSpPr>
        <p:spPr>
          <a:xfrm>
            <a:off x="222068" y="4075612"/>
            <a:ext cx="4010297" cy="1200329"/>
          </a:xfrm>
          <a:prstGeom prst="rect">
            <a:avLst/>
          </a:prstGeom>
          <a:noFill/>
        </p:spPr>
        <p:txBody>
          <a:bodyPr wrap="square" rtlCol="0">
            <a:spAutoFit/>
          </a:bodyPr>
          <a:lstStyle/>
          <a:p>
            <a:r>
              <a:rPr lang="en-GB" sz="2400" b="1" dirty="0">
                <a:solidFill>
                  <a:srgbClr val="0070C0"/>
                </a:solidFill>
              </a:rPr>
              <a:t>        5x – 2 + 5x – 2 + 22 – 4x </a:t>
            </a:r>
          </a:p>
          <a:p>
            <a:r>
              <a:rPr lang="en-GB" sz="2400" b="1" dirty="0">
                <a:solidFill>
                  <a:srgbClr val="0070C0"/>
                </a:solidFill>
              </a:rPr>
              <a:t>    = 10x – 4  + 22 -  4x </a:t>
            </a:r>
          </a:p>
          <a:p>
            <a:r>
              <a:rPr lang="en-GB" sz="2400" b="1" dirty="0">
                <a:solidFill>
                  <a:srgbClr val="0070C0"/>
                </a:solidFill>
              </a:rPr>
              <a:t>    = 6x + 18</a:t>
            </a:r>
          </a:p>
        </p:txBody>
      </p:sp>
      <p:sp>
        <p:nvSpPr>
          <p:cNvPr id="13" name="TextBox 12"/>
          <p:cNvSpPr txBox="1"/>
          <p:nvPr/>
        </p:nvSpPr>
        <p:spPr>
          <a:xfrm>
            <a:off x="3901440" y="2804160"/>
            <a:ext cx="1580606" cy="584775"/>
          </a:xfrm>
          <a:prstGeom prst="rect">
            <a:avLst/>
          </a:prstGeom>
          <a:noFill/>
        </p:spPr>
        <p:txBody>
          <a:bodyPr wrap="square" rtlCol="0">
            <a:spAutoFit/>
          </a:bodyPr>
          <a:lstStyle/>
          <a:p>
            <a:r>
              <a:rPr lang="en-GB" sz="3200" b="1" dirty="0">
                <a:solidFill>
                  <a:srgbClr val="0070C0"/>
                </a:solidFill>
              </a:rPr>
              <a:t>5x - 2</a:t>
            </a:r>
          </a:p>
        </p:txBody>
      </p:sp>
      <p:sp>
        <p:nvSpPr>
          <p:cNvPr id="17" name="Left Arrow 16"/>
          <p:cNvSpPr/>
          <p:nvPr/>
        </p:nvSpPr>
        <p:spPr>
          <a:xfrm rot="20288061">
            <a:off x="1206379" y="3414662"/>
            <a:ext cx="2715868" cy="30786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Left Arrow 17"/>
          <p:cNvSpPr/>
          <p:nvPr/>
        </p:nvSpPr>
        <p:spPr>
          <a:xfrm rot="20784575">
            <a:off x="2273904" y="3395196"/>
            <a:ext cx="4293232" cy="2796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Left Arrow 18"/>
          <p:cNvSpPr/>
          <p:nvPr/>
        </p:nvSpPr>
        <p:spPr>
          <a:xfrm rot="1309455">
            <a:off x="3404825" y="4800740"/>
            <a:ext cx="2664823" cy="27101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p:cNvSpPr>
            <a:spLocks noGrp="1"/>
          </p:cNvSpPr>
          <p:nvPr>
            <p:ph type="title"/>
          </p:nvPr>
        </p:nvSpPr>
        <p:spPr>
          <a:xfrm>
            <a:off x="0" y="0"/>
            <a:ext cx="7886700" cy="1325563"/>
          </a:xfrm>
        </p:spPr>
        <p:txBody>
          <a:bodyPr/>
          <a:lstStyle/>
          <a:p>
            <a:r>
              <a:rPr lang="en-GB" b="1">
                <a:latin typeface="+mn-lt"/>
              </a:rPr>
              <a:t>Problem solving and reasoning</a:t>
            </a:r>
            <a:endParaRPr lang="en-GB" b="1" dirty="0">
              <a:latin typeface="+mn-lt"/>
            </a:endParaRPr>
          </a:p>
        </p:txBody>
      </p:sp>
    </p:spTree>
    <p:extLst>
      <p:ext uri="{BB962C8B-B14F-4D97-AF65-F5344CB8AC3E}">
        <p14:creationId xmlns:p14="http://schemas.microsoft.com/office/powerpoint/2010/main" val="193731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blinds(horizontal)">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2">
                                            <p:txEl>
                                              <p:pRg st="1" end="1"/>
                                            </p:txEl>
                                          </p:spTgt>
                                        </p:tgtEl>
                                        <p:attrNameLst>
                                          <p:attrName>style.visibility</p:attrName>
                                        </p:attrNameLst>
                                      </p:cBhvr>
                                      <p:to>
                                        <p:strVal val="visible"/>
                                      </p:to>
                                    </p:set>
                                    <p:animEffect transition="in" filter="blinds(horizontal)">
                                      <p:cBhvr>
                                        <p:cTn id="32" dur="500"/>
                                        <p:tgtEl>
                                          <p:spTgt spid="1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animEffect transition="in" filter="blinds(horizontal)">
                                      <p:cBhvr>
                                        <p:cTn id="3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630622" y="2207173"/>
            <a:ext cx="2869324" cy="118241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Isosceles Triangle 10"/>
          <p:cNvSpPr/>
          <p:nvPr/>
        </p:nvSpPr>
        <p:spPr>
          <a:xfrm>
            <a:off x="6668816" y="1229711"/>
            <a:ext cx="1576550" cy="2349062"/>
          </a:xfrm>
          <a:prstGeom prst="triangl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315141" y="4014373"/>
            <a:ext cx="8891751" cy="1077218"/>
          </a:xfrm>
          <a:prstGeom prst="rect">
            <a:avLst/>
          </a:prstGeom>
          <a:noFill/>
        </p:spPr>
        <p:txBody>
          <a:bodyPr wrap="square" rtlCol="0">
            <a:spAutoFit/>
          </a:bodyPr>
          <a:lstStyle/>
          <a:p>
            <a:r>
              <a:rPr lang="en-GB" sz="3200" dirty="0"/>
              <a:t>Show algebraically that the perimeters of these shapes are identical</a:t>
            </a:r>
          </a:p>
        </p:txBody>
      </p:sp>
      <p:sp>
        <p:nvSpPr>
          <p:cNvPr id="13" name="TextBox 12"/>
          <p:cNvSpPr txBox="1"/>
          <p:nvPr/>
        </p:nvSpPr>
        <p:spPr>
          <a:xfrm>
            <a:off x="1198179" y="1655380"/>
            <a:ext cx="2459421" cy="646331"/>
          </a:xfrm>
          <a:prstGeom prst="rect">
            <a:avLst/>
          </a:prstGeom>
          <a:noFill/>
        </p:spPr>
        <p:txBody>
          <a:bodyPr wrap="square" rtlCol="0">
            <a:spAutoFit/>
          </a:bodyPr>
          <a:lstStyle/>
          <a:p>
            <a:r>
              <a:rPr lang="en-GB" sz="3600" dirty="0"/>
              <a:t>Rectangle</a:t>
            </a:r>
          </a:p>
        </p:txBody>
      </p:sp>
      <p:sp>
        <p:nvSpPr>
          <p:cNvPr id="14" name="TextBox 13"/>
          <p:cNvSpPr txBox="1"/>
          <p:nvPr/>
        </p:nvSpPr>
        <p:spPr>
          <a:xfrm>
            <a:off x="5481145" y="1650124"/>
            <a:ext cx="2459421" cy="646331"/>
          </a:xfrm>
          <a:prstGeom prst="rect">
            <a:avLst/>
          </a:prstGeom>
          <a:noFill/>
        </p:spPr>
        <p:txBody>
          <a:bodyPr wrap="square" rtlCol="0">
            <a:spAutoFit/>
          </a:bodyPr>
          <a:lstStyle/>
          <a:p>
            <a:r>
              <a:rPr lang="en-GB" sz="3600" dirty="0"/>
              <a:t>Triangle</a:t>
            </a:r>
          </a:p>
        </p:txBody>
      </p:sp>
      <p:sp>
        <p:nvSpPr>
          <p:cNvPr id="15" name="TextBox 14"/>
          <p:cNvSpPr txBox="1"/>
          <p:nvPr/>
        </p:nvSpPr>
        <p:spPr>
          <a:xfrm>
            <a:off x="1198179" y="3436883"/>
            <a:ext cx="2317531" cy="523220"/>
          </a:xfrm>
          <a:prstGeom prst="rect">
            <a:avLst/>
          </a:prstGeom>
          <a:noFill/>
        </p:spPr>
        <p:txBody>
          <a:bodyPr wrap="square" rtlCol="0">
            <a:spAutoFit/>
          </a:bodyPr>
          <a:lstStyle/>
          <a:p>
            <a:r>
              <a:rPr lang="en-GB" sz="2800" dirty="0"/>
              <a:t>5x + 15</a:t>
            </a:r>
          </a:p>
        </p:txBody>
      </p:sp>
      <p:sp>
        <p:nvSpPr>
          <p:cNvPr id="16" name="TextBox 15"/>
          <p:cNvSpPr txBox="1"/>
          <p:nvPr/>
        </p:nvSpPr>
        <p:spPr>
          <a:xfrm>
            <a:off x="3494689" y="2391104"/>
            <a:ext cx="1408387" cy="523220"/>
          </a:xfrm>
          <a:prstGeom prst="rect">
            <a:avLst/>
          </a:prstGeom>
          <a:noFill/>
        </p:spPr>
        <p:txBody>
          <a:bodyPr wrap="square" rtlCol="0">
            <a:spAutoFit/>
          </a:bodyPr>
          <a:lstStyle/>
          <a:p>
            <a:r>
              <a:rPr lang="en-GB" sz="2800" dirty="0"/>
              <a:t>8x - 4</a:t>
            </a:r>
          </a:p>
        </p:txBody>
      </p:sp>
      <p:sp>
        <p:nvSpPr>
          <p:cNvPr id="17" name="TextBox 16"/>
          <p:cNvSpPr txBox="1"/>
          <p:nvPr/>
        </p:nvSpPr>
        <p:spPr>
          <a:xfrm>
            <a:off x="6973613" y="3631325"/>
            <a:ext cx="1408387" cy="523220"/>
          </a:xfrm>
          <a:prstGeom prst="rect">
            <a:avLst/>
          </a:prstGeom>
          <a:noFill/>
        </p:spPr>
        <p:txBody>
          <a:bodyPr wrap="square" rtlCol="0">
            <a:spAutoFit/>
          </a:bodyPr>
          <a:lstStyle/>
          <a:p>
            <a:r>
              <a:rPr lang="en-GB" sz="2800" dirty="0"/>
              <a:t>    2x </a:t>
            </a:r>
          </a:p>
        </p:txBody>
      </p:sp>
      <p:sp>
        <p:nvSpPr>
          <p:cNvPr id="18" name="TextBox 17"/>
          <p:cNvSpPr txBox="1"/>
          <p:nvPr/>
        </p:nvSpPr>
        <p:spPr>
          <a:xfrm>
            <a:off x="315141" y="5093998"/>
            <a:ext cx="5470635" cy="954107"/>
          </a:xfrm>
          <a:prstGeom prst="rect">
            <a:avLst/>
          </a:prstGeom>
          <a:noFill/>
        </p:spPr>
        <p:txBody>
          <a:bodyPr wrap="square" rtlCol="0">
            <a:spAutoFit/>
          </a:bodyPr>
          <a:lstStyle/>
          <a:p>
            <a:r>
              <a:rPr lang="en-GB" sz="2800" b="1" dirty="0">
                <a:solidFill>
                  <a:srgbClr val="0070C0"/>
                </a:solidFill>
              </a:rPr>
              <a:t>10 x +30 + 16x – 8    </a:t>
            </a:r>
          </a:p>
          <a:p>
            <a:r>
              <a:rPr lang="en-GB" sz="2800" b="1" dirty="0">
                <a:solidFill>
                  <a:srgbClr val="0070C0"/>
                </a:solidFill>
              </a:rPr>
              <a:t>= 26x + 24</a:t>
            </a:r>
          </a:p>
        </p:txBody>
      </p:sp>
      <p:sp>
        <p:nvSpPr>
          <p:cNvPr id="19" name="TextBox 18"/>
          <p:cNvSpPr txBox="1"/>
          <p:nvPr/>
        </p:nvSpPr>
        <p:spPr>
          <a:xfrm>
            <a:off x="7467599" y="1702676"/>
            <a:ext cx="1676401" cy="523220"/>
          </a:xfrm>
          <a:prstGeom prst="rect">
            <a:avLst/>
          </a:prstGeom>
          <a:noFill/>
        </p:spPr>
        <p:txBody>
          <a:bodyPr wrap="square" rtlCol="0">
            <a:spAutoFit/>
          </a:bodyPr>
          <a:lstStyle/>
          <a:p>
            <a:r>
              <a:rPr lang="en-GB" sz="2800" dirty="0"/>
              <a:t>   14+ 20x </a:t>
            </a:r>
          </a:p>
        </p:txBody>
      </p:sp>
      <p:sp>
        <p:nvSpPr>
          <p:cNvPr id="20" name="TextBox 19"/>
          <p:cNvSpPr txBox="1"/>
          <p:nvPr/>
        </p:nvSpPr>
        <p:spPr>
          <a:xfrm>
            <a:off x="5281448" y="2264979"/>
            <a:ext cx="1855077" cy="523220"/>
          </a:xfrm>
          <a:prstGeom prst="rect">
            <a:avLst/>
          </a:prstGeom>
          <a:noFill/>
        </p:spPr>
        <p:txBody>
          <a:bodyPr wrap="square" rtlCol="0">
            <a:spAutoFit/>
          </a:bodyPr>
          <a:lstStyle/>
          <a:p>
            <a:r>
              <a:rPr lang="en-GB" sz="2800" dirty="0"/>
              <a:t>   10 + 4x </a:t>
            </a:r>
          </a:p>
        </p:txBody>
      </p:sp>
      <p:sp>
        <p:nvSpPr>
          <p:cNvPr id="21" name="TextBox 20"/>
          <p:cNvSpPr txBox="1"/>
          <p:nvPr/>
        </p:nvSpPr>
        <p:spPr>
          <a:xfrm>
            <a:off x="5210520" y="5096245"/>
            <a:ext cx="4682358" cy="954107"/>
          </a:xfrm>
          <a:prstGeom prst="rect">
            <a:avLst/>
          </a:prstGeom>
          <a:noFill/>
        </p:spPr>
        <p:txBody>
          <a:bodyPr wrap="square" rtlCol="0">
            <a:spAutoFit/>
          </a:bodyPr>
          <a:lstStyle/>
          <a:p>
            <a:r>
              <a:rPr lang="en-GB" sz="2800" b="1" dirty="0">
                <a:solidFill>
                  <a:srgbClr val="0070C0"/>
                </a:solidFill>
              </a:rPr>
              <a:t>10 + 4x + 14 + 22x </a:t>
            </a:r>
          </a:p>
          <a:p>
            <a:r>
              <a:rPr lang="en-GB" sz="2800" b="1" dirty="0">
                <a:solidFill>
                  <a:srgbClr val="0070C0"/>
                </a:solidFill>
              </a:rPr>
              <a:t>=26x + 24</a:t>
            </a:r>
          </a:p>
        </p:txBody>
      </p:sp>
      <p:sp>
        <p:nvSpPr>
          <p:cNvPr id="23" name="Title 13"/>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a:t>
            </a:r>
          </a:p>
        </p:txBody>
      </p:sp>
    </p:spTree>
    <p:extLst>
      <p:ext uri="{BB962C8B-B14F-4D97-AF65-F5344CB8AC3E}">
        <p14:creationId xmlns:p14="http://schemas.microsoft.com/office/powerpoint/2010/main" val="12934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184813" y="1099432"/>
                <a:ext cx="8864600" cy="738664"/>
              </a:xfrm>
              <a:prstGeom prst="rect">
                <a:avLst/>
              </a:prstGeom>
              <a:noFill/>
            </p:spPr>
            <p:txBody>
              <a:bodyPr wrap="square" rtlCol="0">
                <a:spAutoFit/>
              </a:bodyPr>
              <a:lstStyle/>
              <a:p>
                <a:r>
                  <a:rPr lang="en-GB" sz="1400" dirty="0"/>
                  <a:t>The total perimeter of the shape below is 53 cm.</a:t>
                </a:r>
              </a:p>
              <a:p>
                <a:r>
                  <a:rPr lang="en-GB" sz="1400" b="0" dirty="0"/>
                  <a:t>(a) Write an equation for the perimeter.</a:t>
                </a:r>
              </a:p>
              <a:p>
                <a:r>
                  <a:rPr lang="en-GB" sz="1400" b="0" dirty="0"/>
                  <a:t>(b) Find the value of </a:t>
                </a:r>
                <a14:m>
                  <m:oMath xmlns:m="http://schemas.openxmlformats.org/officeDocument/2006/math">
                    <m:r>
                      <a:rPr lang="en-GB" sz="1400" b="0" i="1" smtClean="0">
                        <a:latin typeface="Cambria Math" panose="02040503050406030204" pitchFamily="18" charset="0"/>
                      </a:rPr>
                      <m:t>𝑥</m:t>
                    </m:r>
                  </m:oMath>
                </a14:m>
                <a:r>
                  <a:rPr lang="en-GB" sz="1400" b="0" dirty="0"/>
                  <a:t> and hence the length of the longest side.</a:t>
                </a:r>
              </a:p>
            </p:txBody>
          </p:sp>
        </mc:Choice>
        <mc:Fallback xmlns="">
          <p:sp>
            <p:nvSpPr>
              <p:cNvPr id="11" name="TextBox 10"/>
              <p:cNvSpPr txBox="1">
                <a:spLocks noRot="1" noChangeAspect="1" noMove="1" noResize="1" noEditPoints="1" noAdjustHandles="1" noChangeArrowheads="1" noChangeShapeType="1" noTextEdit="1"/>
              </p:cNvSpPr>
              <p:nvPr/>
            </p:nvSpPr>
            <p:spPr>
              <a:xfrm>
                <a:off x="184813" y="1099432"/>
                <a:ext cx="8864600" cy="738664"/>
              </a:xfrm>
              <a:prstGeom prst="rect">
                <a:avLst/>
              </a:prstGeom>
              <a:blipFill rotWithShape="0">
                <a:blip r:embed="rId2"/>
                <a:stretch>
                  <a:fillRect l="-206" t="-820" b="-7377"/>
                </a:stretch>
              </a:blipFill>
            </p:spPr>
            <p:txBody>
              <a:bodyPr/>
              <a:lstStyle/>
              <a:p>
                <a:r>
                  <a:rPr lang="en-US">
                    <a:noFill/>
                  </a:rPr>
                  <a:t> </a:t>
                </a:r>
              </a:p>
            </p:txBody>
          </p:sp>
        </mc:Fallback>
      </mc:AlternateContent>
      <p:sp>
        <p:nvSpPr>
          <p:cNvPr id="6" name="Isosceles Triangle 5"/>
          <p:cNvSpPr/>
          <p:nvPr/>
        </p:nvSpPr>
        <p:spPr>
          <a:xfrm>
            <a:off x="748954" y="1935921"/>
            <a:ext cx="3264246" cy="1517248"/>
          </a:xfrm>
          <a:custGeom>
            <a:avLst/>
            <a:gdLst>
              <a:gd name="connsiteX0" fmla="*/ 0 w 3264246"/>
              <a:gd name="connsiteY0" fmla="*/ 1721964 h 1721964"/>
              <a:gd name="connsiteX1" fmla="*/ 1632123 w 3264246"/>
              <a:gd name="connsiteY1" fmla="*/ 0 h 1721964"/>
              <a:gd name="connsiteX2" fmla="*/ 3264246 w 3264246"/>
              <a:gd name="connsiteY2" fmla="*/ 1721964 h 1721964"/>
              <a:gd name="connsiteX3" fmla="*/ 0 w 3264246"/>
              <a:gd name="connsiteY3" fmla="*/ 1721964 h 1721964"/>
              <a:gd name="connsiteX0" fmla="*/ 0 w 3264246"/>
              <a:gd name="connsiteY0" fmla="*/ 1517248 h 1517248"/>
              <a:gd name="connsiteX1" fmla="*/ 867848 w 3264246"/>
              <a:gd name="connsiteY1" fmla="*/ 0 h 1517248"/>
              <a:gd name="connsiteX2" fmla="*/ 3264246 w 3264246"/>
              <a:gd name="connsiteY2" fmla="*/ 1517248 h 1517248"/>
              <a:gd name="connsiteX3" fmla="*/ 0 w 3264246"/>
              <a:gd name="connsiteY3" fmla="*/ 1517248 h 1517248"/>
            </a:gdLst>
            <a:ahLst/>
            <a:cxnLst>
              <a:cxn ang="0">
                <a:pos x="connsiteX0" y="connsiteY0"/>
              </a:cxn>
              <a:cxn ang="0">
                <a:pos x="connsiteX1" y="connsiteY1"/>
              </a:cxn>
              <a:cxn ang="0">
                <a:pos x="connsiteX2" y="connsiteY2"/>
              </a:cxn>
              <a:cxn ang="0">
                <a:pos x="connsiteX3" y="connsiteY3"/>
              </a:cxn>
            </a:cxnLst>
            <a:rect l="l" t="t" r="r" b="b"/>
            <a:pathLst>
              <a:path w="3264246" h="1517248">
                <a:moveTo>
                  <a:pt x="0" y="1517248"/>
                </a:moveTo>
                <a:lnTo>
                  <a:pt x="867848" y="0"/>
                </a:lnTo>
                <a:lnTo>
                  <a:pt x="3264246" y="1517248"/>
                </a:lnTo>
                <a:lnTo>
                  <a:pt x="0" y="1517248"/>
                </a:lnTo>
                <a:close/>
              </a:path>
            </a:pathLst>
          </a:custGeom>
          <a:noFill/>
          <a:ln w="381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p:cNvSpPr txBox="1"/>
              <p:nvPr/>
            </p:nvSpPr>
            <p:spPr>
              <a:xfrm>
                <a:off x="2597798" y="2131572"/>
                <a:ext cx="126695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dirty="0" smtClean="0">
                          <a:latin typeface="Cambria Math" panose="02040503050406030204" pitchFamily="18" charset="0"/>
                        </a:rPr>
                        <m:t>3</m:t>
                      </m:r>
                      <m:r>
                        <a:rPr lang="en-GB" sz="2400" i="1" dirty="0" smtClean="0">
                          <a:latin typeface="Cambria Math" panose="02040503050406030204" pitchFamily="18" charset="0"/>
                        </a:rPr>
                        <m:t>𝑥</m:t>
                      </m:r>
                      <m:r>
                        <a:rPr lang="en-GB" sz="2400" i="1" dirty="0" smtClean="0">
                          <a:latin typeface="Cambria Math" panose="02040503050406030204" pitchFamily="18" charset="0"/>
                        </a:rPr>
                        <m:t> − 8</m:t>
                      </m:r>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2597798" y="2131572"/>
                <a:ext cx="1266950" cy="46166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747602" y="3481792"/>
                <a:ext cx="113229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2</m:t>
                      </m:r>
                      <m:r>
                        <a:rPr lang="en-GB" sz="2400" b="0" i="1" dirty="0" smtClean="0">
                          <a:latin typeface="Cambria Math" panose="02040503050406030204" pitchFamily="18" charset="0"/>
                        </a:rPr>
                        <m:t>𝑥</m:t>
                      </m:r>
                      <m:r>
                        <a:rPr lang="en-GB" sz="2400" b="0" i="1" dirty="0" smtClean="0">
                          <a:latin typeface="Cambria Math" panose="02040503050406030204" pitchFamily="18" charset="0"/>
                        </a:rPr>
                        <m:t>+1</m:t>
                      </m:r>
                    </m:oMath>
                  </m:oMathPara>
                </a14:m>
                <a:endParaRPr lang="en-GB"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1747602" y="3481792"/>
                <a:ext cx="1132298" cy="461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51294" y="2355495"/>
                <a:ext cx="59631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dirty="0" smtClean="0">
                          <a:latin typeface="Cambria Math" panose="02040503050406030204" pitchFamily="18" charset="0"/>
                        </a:rPr>
                        <m:t>3</m:t>
                      </m:r>
                      <m:r>
                        <a:rPr lang="en-GB" sz="2400" b="0" i="1" dirty="0" smtClean="0">
                          <a:latin typeface="Cambria Math" panose="02040503050406030204" pitchFamily="18" charset="0"/>
                        </a:rPr>
                        <m:t>𝑥</m:t>
                      </m:r>
                    </m:oMath>
                  </m:oMathPara>
                </a14:m>
                <a:endParaRPr lang="en-GB"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551294" y="2355495"/>
                <a:ext cx="596317" cy="461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870492" y="1935921"/>
                <a:ext cx="3690819" cy="4832092"/>
              </a:xfrm>
              <a:prstGeom prst="rect">
                <a:avLst/>
              </a:prstGeom>
              <a:noFill/>
            </p:spPr>
            <p:txBody>
              <a:bodyPr wrap="none" rtlCol="0">
                <a:spAutoFit/>
              </a:bodyPr>
              <a:lstStyle/>
              <a:p>
                <a:pPr algn="ctr"/>
                <a:r>
                  <a:rPr lang="en-GB" sz="2800" dirty="0">
                    <a:solidFill>
                      <a:srgbClr val="0070C0"/>
                    </a:solidFill>
                  </a:rPr>
                  <a:t>Total perimeter</a:t>
                </a:r>
              </a:p>
              <a:p>
                <a:pPr/>
                <a14:m>
                  <m:oMathPara xmlns:m="http://schemas.openxmlformats.org/officeDocument/2006/math">
                    <m:oMathParaPr>
                      <m:jc m:val="centerGroup"/>
                    </m:oMathParaPr>
                    <m:oMath xmlns:m="http://schemas.openxmlformats.org/officeDocument/2006/math">
                      <m:r>
                        <a:rPr lang="en-GB" sz="2800" b="0" i="1" smtClean="0">
                          <a:solidFill>
                            <a:srgbClr val="0070C0"/>
                          </a:solidFill>
                          <a:latin typeface="Cambria Math" panose="02040503050406030204" pitchFamily="18" charset="0"/>
                        </a:rPr>
                        <m:t>3</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+3</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−8+2</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+1</m:t>
                      </m:r>
                    </m:oMath>
                  </m:oMathPara>
                </a14:m>
                <a:endParaRPr lang="en-GB" sz="2800" b="0" dirty="0">
                  <a:solidFill>
                    <a:srgbClr val="0070C0"/>
                  </a:solidFill>
                </a:endParaRPr>
              </a:p>
              <a:p>
                <a:pPr algn="ctr"/>
                <a:r>
                  <a:rPr lang="en-GB" sz="2800" b="0" dirty="0">
                    <a:solidFill>
                      <a:srgbClr val="0070C0"/>
                    </a:solidFill>
                  </a:rPr>
                  <a:t>53</a:t>
                </a:r>
                <a14:m>
                  <m:oMath xmlns:m="http://schemas.openxmlformats.org/officeDocument/2006/math">
                    <m:r>
                      <a:rPr lang="en-GB" sz="2800" b="0" i="1" smtClean="0">
                        <a:solidFill>
                          <a:srgbClr val="0070C0"/>
                        </a:solidFill>
                        <a:latin typeface="Cambria Math" panose="02040503050406030204" pitchFamily="18" charset="0"/>
                      </a:rPr>
                      <m:t>=8</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−7</m:t>
                    </m:r>
                  </m:oMath>
                </a14:m>
                <a:endParaRPr lang="en-GB" sz="2800" b="0" dirty="0">
                  <a:solidFill>
                    <a:srgbClr val="0070C0"/>
                  </a:solidFill>
                </a:endParaRPr>
              </a:p>
              <a:p>
                <a:endParaRPr lang="en-GB" sz="2800" dirty="0">
                  <a:solidFill>
                    <a:srgbClr val="0070C0"/>
                  </a:solidFill>
                </a:endParaRPr>
              </a:p>
              <a:p>
                <a:pPr algn="ctr"/>
                <a:r>
                  <a:rPr lang="en-GB" sz="2800" dirty="0">
                    <a:solidFill>
                      <a:srgbClr val="0070C0"/>
                    </a:solidFill>
                  </a:rPr>
                  <a:t>Solving</a:t>
                </a:r>
              </a:p>
              <a:p>
                <a:pPr algn="ctr"/>
                <a14:m>
                  <m:oMathPara xmlns:m="http://schemas.openxmlformats.org/officeDocument/2006/math">
                    <m:oMathParaPr>
                      <m:jc m:val="center"/>
                    </m:oMathParaPr>
                    <m:oMath xmlns:m="http://schemas.openxmlformats.org/officeDocument/2006/math">
                      <m:r>
                        <a:rPr lang="en-GB" sz="2800" b="0" i="1" smtClean="0">
                          <a:solidFill>
                            <a:srgbClr val="0070C0"/>
                          </a:solidFill>
                          <a:latin typeface="Cambria Math" panose="02040503050406030204" pitchFamily="18" charset="0"/>
                        </a:rPr>
                        <m:t>8</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−7=53</m:t>
                      </m:r>
                    </m:oMath>
                    <m:oMath xmlns:m="http://schemas.openxmlformats.org/officeDocument/2006/math">
                      <m:r>
                        <a:rPr lang="en-GB" sz="2800" b="0" i="1" smtClean="0">
                          <a:solidFill>
                            <a:srgbClr val="0070C0"/>
                          </a:solidFill>
                          <a:latin typeface="Cambria Math" panose="02040503050406030204" pitchFamily="18" charset="0"/>
                        </a:rPr>
                        <m:t>8</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=60</m:t>
                      </m:r>
                    </m:oMath>
                    <m:oMath xmlns:m="http://schemas.openxmlformats.org/officeDocument/2006/math">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=7.5</m:t>
                      </m:r>
                      <m:r>
                        <a:rPr lang="en-GB" sz="2800" b="0" i="1" smtClean="0">
                          <a:solidFill>
                            <a:srgbClr val="0070C0"/>
                          </a:solidFill>
                          <a:latin typeface="Cambria Math" panose="02040503050406030204" pitchFamily="18" charset="0"/>
                        </a:rPr>
                        <m:t>𝑐𝑚</m:t>
                      </m:r>
                    </m:oMath>
                  </m:oMathPara>
                </a14:m>
                <a:endParaRPr lang="en-GB" sz="2800" dirty="0">
                  <a:solidFill>
                    <a:srgbClr val="0070C0"/>
                  </a:solidFill>
                </a:endParaRPr>
              </a:p>
              <a:p>
                <a:pPr algn="ctr"/>
                <a:endParaRPr lang="en-GB" sz="2800" dirty="0">
                  <a:solidFill>
                    <a:srgbClr val="0070C0"/>
                  </a:solidFill>
                </a:endParaRPr>
              </a:p>
              <a:p>
                <a:pPr algn="ctr"/>
                <a:r>
                  <a:rPr lang="en-GB" sz="2800" dirty="0">
                    <a:solidFill>
                      <a:srgbClr val="0070C0"/>
                    </a:solidFill>
                  </a:rPr>
                  <a:t>Longest Side</a:t>
                </a:r>
              </a:p>
              <a:p>
                <a:pPr algn="ctr"/>
                <a14:m>
                  <m:oMathPara xmlns:m="http://schemas.openxmlformats.org/officeDocument/2006/math">
                    <m:oMathParaPr>
                      <m:jc m:val="center"/>
                    </m:oMathParaPr>
                    <m:oMath xmlns:m="http://schemas.openxmlformats.org/officeDocument/2006/math">
                      <m:r>
                        <a:rPr lang="en-GB" sz="2800" b="0" i="1" smtClean="0">
                          <a:solidFill>
                            <a:srgbClr val="0070C0"/>
                          </a:solidFill>
                          <a:latin typeface="Cambria Math" panose="02040503050406030204" pitchFamily="18" charset="0"/>
                        </a:rPr>
                        <m:t>2</m:t>
                      </m:r>
                      <m:r>
                        <a:rPr lang="en-GB" sz="2800" b="0" i="1" smtClean="0">
                          <a:solidFill>
                            <a:srgbClr val="0070C0"/>
                          </a:solidFill>
                          <a:latin typeface="Cambria Math" panose="02040503050406030204" pitchFamily="18" charset="0"/>
                        </a:rPr>
                        <m:t>𝑥</m:t>
                      </m:r>
                      <m:r>
                        <a:rPr lang="en-GB" sz="2800" b="0" i="1" smtClean="0">
                          <a:solidFill>
                            <a:srgbClr val="0070C0"/>
                          </a:solidFill>
                          <a:latin typeface="Cambria Math" panose="02040503050406030204" pitchFamily="18" charset="0"/>
                        </a:rPr>
                        <m:t>+1=16</m:t>
                      </m:r>
                    </m:oMath>
                  </m:oMathPara>
                </a14:m>
                <a:endParaRPr lang="en-GB" sz="2800" dirty="0">
                  <a:solidFill>
                    <a:srgbClr val="0070C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870492" y="1935921"/>
                <a:ext cx="3690819" cy="4832092"/>
              </a:xfrm>
              <a:prstGeom prst="rect">
                <a:avLst/>
              </a:prstGeom>
              <a:blipFill rotWithShape="0">
                <a:blip r:embed="rId6"/>
                <a:stretch>
                  <a:fillRect t="-1263"/>
                </a:stretch>
              </a:blipFill>
            </p:spPr>
            <p:txBody>
              <a:bodyPr/>
              <a:lstStyle/>
              <a:p>
                <a:r>
                  <a:rPr lang="en-US">
                    <a:noFill/>
                  </a:rPr>
                  <a:t> </a:t>
                </a:r>
              </a:p>
            </p:txBody>
          </p:sp>
        </mc:Fallback>
      </mc:AlternateContent>
      <p:sp>
        <p:nvSpPr>
          <p:cNvPr id="12" name="Title 13"/>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a:t>
            </a:r>
          </a:p>
        </p:txBody>
      </p:sp>
    </p:spTree>
    <p:extLst>
      <p:ext uri="{BB962C8B-B14F-4D97-AF65-F5344CB8AC3E}">
        <p14:creationId xmlns:p14="http://schemas.microsoft.com/office/powerpoint/2010/main" val="749717212"/>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1101" y="1476680"/>
            <a:ext cx="8505621" cy="4351338"/>
          </a:xfrm>
        </p:spPr>
        <p:txBody>
          <a:bodyPr>
            <a:normAutofit/>
          </a:bodyPr>
          <a:lstStyle/>
          <a:p>
            <a:pPr marL="0" indent="0">
              <a:buNone/>
            </a:pPr>
            <a:r>
              <a:rPr lang="en-GB" sz="2000" dirty="0"/>
              <a:t>What is the difference between 4x and x</a:t>
            </a:r>
            <a:r>
              <a:rPr lang="en-GB" sz="2000" baseline="30000" dirty="0"/>
              <a:t>4</a:t>
            </a:r>
            <a:r>
              <a:rPr lang="en-GB" sz="2000" dirty="0"/>
              <a:t>  ?</a:t>
            </a:r>
          </a:p>
          <a:p>
            <a:pPr marL="0" indent="0">
              <a:buNone/>
            </a:pPr>
            <a:endParaRPr lang="en-GB" sz="2000" baseline="30000" dirty="0"/>
          </a:p>
          <a:p>
            <a:pPr marL="0" indent="0">
              <a:buNone/>
            </a:pPr>
            <a:endParaRPr lang="en-GB" sz="2000" baseline="30000" dirty="0"/>
          </a:p>
          <a:p>
            <a:pPr marL="0" indent="0">
              <a:buNone/>
            </a:pPr>
            <a:r>
              <a:rPr lang="en-GB" sz="2000" dirty="0"/>
              <a:t>Can you write an expression that will simply to 6x – 4y?  Are there any more?</a:t>
            </a:r>
          </a:p>
          <a:p>
            <a:pPr marL="0" indent="0">
              <a:buNone/>
            </a:pPr>
            <a:endParaRPr lang="en-GB" sz="2000" dirty="0"/>
          </a:p>
          <a:p>
            <a:pPr marL="0" indent="0">
              <a:buNone/>
            </a:pPr>
            <a:endParaRPr lang="en-GB" sz="2000" dirty="0"/>
          </a:p>
          <a:p>
            <a:pPr marL="0" indent="0">
              <a:buNone/>
            </a:pPr>
            <a:r>
              <a:rPr lang="en-GB" sz="2000" dirty="0"/>
              <a:t>What do you look for when you simplify an expression?  What is important?</a:t>
            </a:r>
          </a:p>
          <a:p>
            <a:pPr marL="0" indent="0">
              <a:buNone/>
            </a:pPr>
            <a:endParaRPr lang="en-GB" sz="2000" dirty="0"/>
          </a:p>
          <a:p>
            <a:pPr marL="0" indent="0">
              <a:buNone/>
            </a:pPr>
            <a:endParaRPr lang="en-GB" sz="2000" dirty="0"/>
          </a:p>
          <a:p>
            <a:pPr marL="0" indent="0">
              <a:buNone/>
            </a:pPr>
            <a:r>
              <a:rPr lang="en-GB" sz="2000" dirty="0"/>
              <a:t>Spot the mistake:      3x + y – x + 2y = 3 + 3y</a:t>
            </a:r>
          </a:p>
        </p:txBody>
      </p:sp>
      <p:sp>
        <p:nvSpPr>
          <p:cNvPr id="4" name="TextBox 3"/>
          <p:cNvSpPr txBox="1"/>
          <p:nvPr/>
        </p:nvSpPr>
        <p:spPr>
          <a:xfrm>
            <a:off x="2393005" y="1896894"/>
            <a:ext cx="2033081" cy="369332"/>
          </a:xfrm>
          <a:prstGeom prst="rect">
            <a:avLst/>
          </a:prstGeom>
          <a:noFill/>
        </p:spPr>
        <p:txBody>
          <a:bodyPr wrap="square" rtlCol="0">
            <a:spAutoFit/>
          </a:bodyPr>
          <a:lstStyle/>
          <a:p>
            <a:r>
              <a:rPr lang="en-US" dirty="0">
                <a:solidFill>
                  <a:srgbClr val="FF0000"/>
                </a:solidFill>
              </a:rPr>
              <a:t>4x = x + x + x + x</a:t>
            </a:r>
          </a:p>
        </p:txBody>
      </p:sp>
      <p:sp>
        <p:nvSpPr>
          <p:cNvPr id="5" name="TextBox 4"/>
          <p:cNvSpPr txBox="1"/>
          <p:nvPr/>
        </p:nvSpPr>
        <p:spPr>
          <a:xfrm>
            <a:off x="4426086" y="1896894"/>
            <a:ext cx="2033081" cy="369332"/>
          </a:xfrm>
          <a:prstGeom prst="rect">
            <a:avLst/>
          </a:prstGeom>
          <a:noFill/>
        </p:spPr>
        <p:txBody>
          <a:bodyPr wrap="square" rtlCol="0">
            <a:spAutoFit/>
          </a:bodyPr>
          <a:lstStyle/>
          <a:p>
            <a:r>
              <a:rPr lang="en-US" dirty="0">
                <a:solidFill>
                  <a:srgbClr val="FF0000"/>
                </a:solidFill>
              </a:rPr>
              <a:t>x</a:t>
            </a:r>
            <a:r>
              <a:rPr lang="en-US" baseline="30000" dirty="0">
                <a:solidFill>
                  <a:srgbClr val="FF0000"/>
                </a:solidFill>
              </a:rPr>
              <a:t>4</a:t>
            </a:r>
            <a:r>
              <a:rPr lang="en-US" dirty="0">
                <a:solidFill>
                  <a:srgbClr val="FF0000"/>
                </a:solidFill>
              </a:rPr>
              <a:t> = x </a:t>
            </a:r>
            <a:r>
              <a:rPr lang="en-US" sz="800" dirty="0">
                <a:solidFill>
                  <a:srgbClr val="FF0000"/>
                </a:solidFill>
              </a:rPr>
              <a:t>x</a:t>
            </a:r>
            <a:r>
              <a:rPr lang="en-US" dirty="0">
                <a:solidFill>
                  <a:srgbClr val="FF0000"/>
                </a:solidFill>
              </a:rPr>
              <a:t> x </a:t>
            </a:r>
            <a:r>
              <a:rPr lang="en-US" sz="800" dirty="0">
                <a:solidFill>
                  <a:srgbClr val="FF0000"/>
                </a:solidFill>
              </a:rPr>
              <a:t>x</a:t>
            </a:r>
            <a:r>
              <a:rPr lang="en-US" dirty="0">
                <a:solidFill>
                  <a:srgbClr val="FF0000"/>
                </a:solidFill>
              </a:rPr>
              <a:t> x </a:t>
            </a:r>
            <a:r>
              <a:rPr lang="en-US" sz="800" dirty="0">
                <a:solidFill>
                  <a:srgbClr val="FF0000"/>
                </a:solidFill>
              </a:rPr>
              <a:t>x</a:t>
            </a:r>
            <a:r>
              <a:rPr lang="en-US" dirty="0">
                <a:solidFill>
                  <a:srgbClr val="FF0000"/>
                </a:solidFill>
              </a:rPr>
              <a:t> x</a:t>
            </a:r>
          </a:p>
        </p:txBody>
      </p:sp>
      <p:sp>
        <p:nvSpPr>
          <p:cNvPr id="6" name="TextBox 5"/>
          <p:cNvSpPr txBox="1"/>
          <p:nvPr/>
        </p:nvSpPr>
        <p:spPr>
          <a:xfrm>
            <a:off x="2525950" y="3002605"/>
            <a:ext cx="2033081" cy="369332"/>
          </a:xfrm>
          <a:prstGeom prst="rect">
            <a:avLst/>
          </a:prstGeom>
          <a:noFill/>
        </p:spPr>
        <p:txBody>
          <a:bodyPr wrap="square" rtlCol="0">
            <a:spAutoFit/>
          </a:bodyPr>
          <a:lstStyle/>
          <a:p>
            <a:r>
              <a:rPr lang="en-US" dirty="0">
                <a:solidFill>
                  <a:srgbClr val="FF0000"/>
                </a:solidFill>
              </a:rPr>
              <a:t>2x + 10y + 4x </a:t>
            </a:r>
            <a:r>
              <a:rPr lang="mr-IN" dirty="0">
                <a:solidFill>
                  <a:srgbClr val="FF0000"/>
                </a:solidFill>
              </a:rPr>
              <a:t>–</a:t>
            </a:r>
            <a:r>
              <a:rPr lang="en-US" dirty="0">
                <a:solidFill>
                  <a:srgbClr val="FF0000"/>
                </a:solidFill>
              </a:rPr>
              <a:t> 14y</a:t>
            </a:r>
          </a:p>
        </p:txBody>
      </p:sp>
      <p:sp>
        <p:nvSpPr>
          <p:cNvPr id="7" name="TextBox 6"/>
          <p:cNvSpPr txBox="1"/>
          <p:nvPr/>
        </p:nvSpPr>
        <p:spPr>
          <a:xfrm>
            <a:off x="7162803" y="2970180"/>
            <a:ext cx="862518" cy="369332"/>
          </a:xfrm>
          <a:prstGeom prst="rect">
            <a:avLst/>
          </a:prstGeom>
          <a:noFill/>
        </p:spPr>
        <p:txBody>
          <a:bodyPr wrap="square" rtlCol="0">
            <a:spAutoFit/>
          </a:bodyPr>
          <a:lstStyle/>
          <a:p>
            <a:r>
              <a:rPr lang="en-GB">
                <a:solidFill>
                  <a:srgbClr val="FF0000"/>
                </a:solidFill>
              </a:rPr>
              <a:t>LOTS!</a:t>
            </a:r>
            <a:endParaRPr lang="en-US" dirty="0">
              <a:solidFill>
                <a:srgbClr val="FF0000"/>
              </a:solidFill>
            </a:endParaRPr>
          </a:p>
        </p:txBody>
      </p:sp>
      <p:sp>
        <p:nvSpPr>
          <p:cNvPr id="8" name="TextBox 7"/>
          <p:cNvSpPr txBox="1"/>
          <p:nvPr/>
        </p:nvSpPr>
        <p:spPr>
          <a:xfrm>
            <a:off x="2525951" y="4302869"/>
            <a:ext cx="1695854" cy="369332"/>
          </a:xfrm>
          <a:prstGeom prst="rect">
            <a:avLst/>
          </a:prstGeom>
          <a:noFill/>
        </p:spPr>
        <p:txBody>
          <a:bodyPr wrap="square" rtlCol="0">
            <a:spAutoFit/>
          </a:bodyPr>
          <a:lstStyle/>
          <a:p>
            <a:r>
              <a:rPr lang="en-GB">
                <a:solidFill>
                  <a:srgbClr val="FF0000"/>
                </a:solidFill>
              </a:rPr>
              <a:t>The same terms</a:t>
            </a:r>
            <a:endParaRPr lang="en-US" dirty="0">
              <a:solidFill>
                <a:srgbClr val="FF0000"/>
              </a:solidFill>
            </a:endParaRPr>
          </a:p>
        </p:txBody>
      </p:sp>
      <p:sp>
        <p:nvSpPr>
          <p:cNvPr id="9" name="TextBox 8"/>
          <p:cNvSpPr txBox="1"/>
          <p:nvPr/>
        </p:nvSpPr>
        <p:spPr>
          <a:xfrm>
            <a:off x="4594698" y="4302869"/>
            <a:ext cx="2311939" cy="369332"/>
          </a:xfrm>
          <a:prstGeom prst="rect">
            <a:avLst/>
          </a:prstGeom>
          <a:noFill/>
        </p:spPr>
        <p:txBody>
          <a:bodyPr wrap="square" rtlCol="0">
            <a:spAutoFit/>
          </a:bodyPr>
          <a:lstStyle/>
          <a:p>
            <a:r>
              <a:rPr lang="en-GB">
                <a:solidFill>
                  <a:srgbClr val="FF0000"/>
                </a:solidFill>
              </a:rPr>
              <a:t>Check for signs (+/-)</a:t>
            </a:r>
            <a:endParaRPr lang="en-US" dirty="0">
              <a:solidFill>
                <a:srgbClr val="FF0000"/>
              </a:solidFill>
            </a:endParaRPr>
          </a:p>
        </p:txBody>
      </p:sp>
      <p:sp>
        <p:nvSpPr>
          <p:cNvPr id="10" name="Oval 9"/>
          <p:cNvSpPr/>
          <p:nvPr/>
        </p:nvSpPr>
        <p:spPr>
          <a:xfrm>
            <a:off x="2733472" y="4883285"/>
            <a:ext cx="301558" cy="4085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409545" y="4883285"/>
            <a:ext cx="301558" cy="4085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438728" y="5512660"/>
            <a:ext cx="2311939" cy="369332"/>
          </a:xfrm>
          <a:prstGeom prst="rect">
            <a:avLst/>
          </a:prstGeom>
          <a:noFill/>
        </p:spPr>
        <p:txBody>
          <a:bodyPr wrap="square" rtlCol="0">
            <a:spAutoFit/>
          </a:bodyPr>
          <a:lstStyle/>
          <a:p>
            <a:r>
              <a:rPr lang="en-GB" dirty="0">
                <a:solidFill>
                  <a:srgbClr val="FF0000"/>
                </a:solidFill>
              </a:rPr>
              <a:t>Should be 2x NOT 3</a:t>
            </a:r>
            <a:endParaRPr lang="en-US" dirty="0">
              <a:solidFill>
                <a:srgbClr val="FF0000"/>
              </a:solidFill>
            </a:endParaRPr>
          </a:p>
        </p:txBody>
      </p:sp>
      <p:sp>
        <p:nvSpPr>
          <p:cNvPr id="13" name="Oval 12"/>
          <p:cNvSpPr/>
          <p:nvPr/>
        </p:nvSpPr>
        <p:spPr>
          <a:xfrm>
            <a:off x="4333672" y="4883285"/>
            <a:ext cx="301558" cy="4085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3"/>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Reasoning and explain</a:t>
            </a:r>
          </a:p>
        </p:txBody>
      </p:sp>
    </p:spTree>
    <p:extLst>
      <p:ext uri="{BB962C8B-B14F-4D97-AF65-F5344CB8AC3E}">
        <p14:creationId xmlns:p14="http://schemas.microsoft.com/office/powerpoint/2010/main" val="198240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dissolve">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animBg="1"/>
      <p:bldP spid="11" grpId="0" animBg="1"/>
      <p:bldP spid="12" grpId="0"/>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341" y="1757531"/>
            <a:ext cx="2698210" cy="2746375"/>
          </a:xfrm>
          <a:solidFill>
            <a:schemeClr val="accent3">
              <a:lumMod val="20000"/>
              <a:lumOff val="80000"/>
            </a:schemeClr>
          </a:solidFill>
          <a:ln w="19050">
            <a:solidFill>
              <a:srgbClr val="00B050"/>
            </a:solidFill>
          </a:ln>
        </p:spPr>
        <p:txBody>
          <a:bodyPr>
            <a:normAutofit/>
          </a:bodyPr>
          <a:lstStyle/>
          <a:p>
            <a:pPr>
              <a:buNone/>
            </a:pPr>
            <a:r>
              <a:rPr lang="en-GB" sz="1800" dirty="0">
                <a:latin typeface="Calibri" pitchFamily="34" charset="0"/>
              </a:rPr>
              <a:t>1) a + a + a + a</a:t>
            </a:r>
          </a:p>
          <a:p>
            <a:endParaRPr lang="en-GB" sz="1800" baseline="-25000" dirty="0">
              <a:latin typeface="Calibri" pitchFamily="34" charset="0"/>
            </a:endParaRPr>
          </a:p>
          <a:p>
            <a:pPr>
              <a:buNone/>
            </a:pPr>
            <a:r>
              <a:rPr lang="en-GB" sz="1800" dirty="0">
                <a:latin typeface="Calibri" pitchFamily="34" charset="0"/>
              </a:rPr>
              <a:t>2) b + c + b + c + b</a:t>
            </a:r>
          </a:p>
          <a:p>
            <a:endParaRPr lang="en-GB" sz="1800" baseline="-25000" dirty="0">
              <a:latin typeface="Calibri" pitchFamily="34" charset="0"/>
            </a:endParaRPr>
          </a:p>
          <a:p>
            <a:pPr>
              <a:buNone/>
            </a:pPr>
            <a:r>
              <a:rPr lang="en-GB" sz="1800" dirty="0">
                <a:latin typeface="Calibri" pitchFamily="34" charset="0"/>
              </a:rPr>
              <a:t>3) 2m + 4p + 5m + 3p</a:t>
            </a:r>
          </a:p>
          <a:p>
            <a:endParaRPr lang="en-GB" sz="1800" dirty="0">
              <a:latin typeface="Calibri" pitchFamily="34" charset="0"/>
            </a:endParaRPr>
          </a:p>
          <a:p>
            <a:pPr>
              <a:buNone/>
            </a:pPr>
            <a:r>
              <a:rPr lang="en-GB" sz="1800" dirty="0">
                <a:latin typeface="Calibri" pitchFamily="34" charset="0"/>
              </a:rPr>
              <a:t>4) 4x + 3y – 3x + 4y</a:t>
            </a:r>
          </a:p>
          <a:p>
            <a:endParaRPr lang="en-GB" sz="1800" baseline="-25000" dirty="0">
              <a:latin typeface="Calibri" pitchFamily="34" charset="0"/>
            </a:endParaRPr>
          </a:p>
          <a:p>
            <a:endParaRPr lang="en-GB" sz="1800" dirty="0">
              <a:latin typeface="Calibri" pitchFamily="34" charset="0"/>
            </a:endParaRPr>
          </a:p>
        </p:txBody>
      </p:sp>
      <p:sp>
        <p:nvSpPr>
          <p:cNvPr id="4" name="Content Placeholder 2"/>
          <p:cNvSpPr txBox="1">
            <a:spLocks/>
          </p:cNvSpPr>
          <p:nvPr/>
        </p:nvSpPr>
        <p:spPr>
          <a:xfrm>
            <a:off x="810374" y="1232238"/>
            <a:ext cx="1352144" cy="525293"/>
          </a:xfrm>
          <a:prstGeom prst="rect">
            <a:avLst/>
          </a:prstGeom>
          <a:solidFill>
            <a:schemeClr val="accent3">
              <a:lumMod val="20000"/>
              <a:lumOff val="80000"/>
            </a:schemeClr>
          </a:solidFill>
          <a:ln w="19050">
            <a:solidFill>
              <a:srgbClr val="00B050"/>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GB">
                <a:latin typeface="Calibri" pitchFamily="34" charset="0"/>
              </a:rPr>
              <a:t>DEMO</a:t>
            </a:r>
            <a:endParaRPr lang="en-GB" dirty="0">
              <a:latin typeface="Calibri" pitchFamily="34" charset="0"/>
            </a:endParaRPr>
          </a:p>
        </p:txBody>
      </p:sp>
      <p:sp>
        <p:nvSpPr>
          <p:cNvPr id="5" name="Rectangle 4"/>
          <p:cNvSpPr>
            <a:spLocks noChangeArrowheads="1"/>
          </p:cNvSpPr>
          <p:nvPr/>
        </p:nvSpPr>
        <p:spPr bwMode="auto">
          <a:xfrm>
            <a:off x="3051117" y="1757531"/>
            <a:ext cx="2678285" cy="3416320"/>
          </a:xfrm>
          <a:prstGeom prst="rect">
            <a:avLst/>
          </a:prstGeom>
          <a:solidFill>
            <a:schemeClr val="accent1">
              <a:lumMod val="20000"/>
              <a:lumOff val="80000"/>
            </a:schemeClr>
          </a:solidFill>
          <a:ln w="19050">
            <a:solidFill>
              <a:srgbClr val="FF0000"/>
            </a:solidFill>
            <a:miter lim="800000"/>
            <a:headEnd/>
            <a:tailEnd/>
          </a:ln>
          <a:effectLst/>
        </p:spPr>
        <p:txBody>
          <a:bodyPr vert="horz" wrap="square" lIns="91440" tIns="45720" rIns="91440" bIns="45720" numCol="1" anchor="ctr" anchorCtr="0" compatLnSpc="1">
            <a:prstTxWarp prst="textNoShape">
              <a:avLst/>
            </a:prstTxWarp>
            <a:spAutoFit/>
          </a:bodyPr>
          <a:lstStyle/>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10a + 4a</a:t>
            </a: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2b + 7b</a:t>
            </a: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3a + a + 4a</a:t>
            </a: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11b – 4b </a:t>
            </a: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14b – 5b + 4b</a:t>
            </a: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cs typeface="Arial" pitchFamily="34" charset="0"/>
            </a:endParaRPr>
          </a:p>
          <a:p>
            <a:pPr marL="228600" indent="-228600" defTabSz="914400" eaLnBrk="0" fontAlgn="base" hangingPunct="0">
              <a:spcBef>
                <a:spcPct val="0"/>
              </a:spcBef>
              <a:spcAft>
                <a:spcPct val="0"/>
              </a:spcAft>
              <a:buFont typeface="+mj-lt"/>
              <a:buAutoNum type="alphaLcParenR"/>
            </a:pPr>
            <a:r>
              <a:rPr kumimoji="0" lang="en-GB" i="0" u="none" strike="noStrike" cap="none" normalizeH="0" baseline="0" dirty="0">
                <a:ln>
                  <a:noFill/>
                </a:ln>
                <a:solidFill>
                  <a:schemeClr val="tx1"/>
                </a:solidFill>
                <a:effectLst/>
                <a:ea typeface="Calibri" pitchFamily="34" charset="0"/>
                <a:cs typeface="Times New Roman" pitchFamily="18" charset="0"/>
              </a:rPr>
              <a:t>3a – 6a + a</a:t>
            </a:r>
            <a:endParaRPr lang="en-GB" dirty="0">
              <a:cs typeface="Arial" pitchFamily="34" charset="0"/>
            </a:endParaRPr>
          </a:p>
          <a:p>
            <a:pPr marL="228600" indent="-228600" defTabSz="914400" eaLnBrk="0" fontAlgn="base" hangingPunct="0">
              <a:spcBef>
                <a:spcPct val="0"/>
              </a:spcBef>
              <a:spcAft>
                <a:spcPct val="0"/>
              </a:spcAft>
              <a:buFont typeface="+mj-lt"/>
              <a:buAutoNum type="alphaLcParenR"/>
            </a:pPr>
            <a:endParaRPr kumimoji="0" lang="en-GB" i="0" u="none" strike="noStrike" cap="none" normalizeH="0" baseline="0" dirty="0">
              <a:ln>
                <a:noFill/>
              </a:ln>
              <a:solidFill>
                <a:schemeClr val="tx1"/>
              </a:solidFill>
              <a:effectLst/>
              <a:ea typeface="Calibri" pitchFamily="34" charset="0"/>
              <a:cs typeface="Times New Roman" pitchFamily="18" charset="0"/>
            </a:endParaRPr>
          </a:p>
        </p:txBody>
      </p:sp>
      <p:sp>
        <p:nvSpPr>
          <p:cNvPr id="6" name="Rectangle 5"/>
          <p:cNvSpPr>
            <a:spLocks noChangeArrowheads="1"/>
          </p:cNvSpPr>
          <p:nvPr/>
        </p:nvSpPr>
        <p:spPr bwMode="auto">
          <a:xfrm>
            <a:off x="3589380" y="1234311"/>
            <a:ext cx="1601757" cy="523220"/>
          </a:xfrm>
          <a:prstGeom prst="rect">
            <a:avLst/>
          </a:prstGeom>
          <a:solidFill>
            <a:schemeClr val="accent1">
              <a:lumMod val="20000"/>
              <a:lumOff val="80000"/>
            </a:schemeClr>
          </a:solidFill>
          <a:ln w="19050">
            <a:solidFill>
              <a:srgbClr val="FF0000"/>
            </a:solid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ctr" defTabSz="914400" eaLnBrk="0" fontAlgn="base" latinLnBrk="0" hangingPunct="0">
              <a:lnSpc>
                <a:spcPct val="100000"/>
              </a:lnSpc>
              <a:spcBef>
                <a:spcPct val="0"/>
              </a:spcBef>
              <a:spcAft>
                <a:spcPct val="0"/>
              </a:spcAft>
              <a:buClrTx/>
              <a:buSzTx/>
              <a:buFont typeface="+mj-lt"/>
              <a:buNone/>
              <a:tabLst/>
              <a:defRPr/>
            </a:pPr>
            <a:r>
              <a:rPr kumimoji="0" lang="en-GB" sz="2800" i="0" u="none" strike="noStrike" cap="none" normalizeH="0" baseline="0">
                <a:ln>
                  <a:noFill/>
                </a:ln>
                <a:solidFill>
                  <a:schemeClr val="tx1"/>
                </a:solidFill>
                <a:effectLst/>
                <a:ea typeface="Calibri" pitchFamily="34" charset="0"/>
                <a:cs typeface="Times New Roman" pitchFamily="18" charset="0"/>
              </a:rPr>
              <a:t>PRACTICE</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p:txBody>
      </p:sp>
      <p:sp>
        <p:nvSpPr>
          <p:cNvPr id="7" name="Rectangle 6"/>
          <p:cNvSpPr>
            <a:spLocks noChangeArrowheads="1"/>
          </p:cNvSpPr>
          <p:nvPr/>
        </p:nvSpPr>
        <p:spPr bwMode="auto">
          <a:xfrm>
            <a:off x="5944966" y="1755458"/>
            <a:ext cx="2969464" cy="4708981"/>
          </a:xfrm>
          <a:prstGeom prst="rect">
            <a:avLst/>
          </a:prstGeom>
          <a:solidFill>
            <a:schemeClr val="accent4">
              <a:lumMod val="20000"/>
              <a:lumOff val="80000"/>
            </a:schemeClr>
          </a:solidFill>
          <a:ln w="19050">
            <a:solidFill>
              <a:srgbClr val="7030A0"/>
            </a:solidFill>
            <a:miter lim="800000"/>
            <a:headEnd/>
            <a:tailEnd/>
          </a:ln>
          <a:effectLst/>
        </p:spPr>
        <p:txBody>
          <a:bodyPr vert="horz" wrap="square" lIns="91440" tIns="45720" rIns="91440" bIns="45720" numCol="1" anchor="ctr" anchorCtr="0" compatLnSpc="1">
            <a:prstTxWarp prst="textNoShape">
              <a:avLst/>
            </a:prstTxWarp>
            <a:spAutoFit/>
          </a:bodyPr>
          <a:lstStyle/>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10a + 4b –a +5b</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8a + 5a +5b – 3b</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12b – 7a + 3b +a</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2b – 8b –a + 9a</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-13b + 4a -5b -4a</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11a + 8b + 2c + 6a + 3b -2c</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6b + 4b –a +6c + 5a – 4c</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7c + 4b- 3b + a + 10c – 5a</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10a + 4b + 7a + 10b – 17a – 14b</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a:p>
            <a:pPr marL="228600" indent="-228600" defTabSz="914400" eaLnBrk="0" fontAlgn="base" hangingPunct="0">
              <a:spcBef>
                <a:spcPct val="0"/>
              </a:spcBef>
              <a:spcAft>
                <a:spcPct val="0"/>
              </a:spcAft>
              <a:buFont typeface="+mj-lt"/>
              <a:buAutoNum type="alphaLcParenR"/>
            </a:pPr>
            <a:r>
              <a:rPr lang="en-GB" sz="1500" dirty="0">
                <a:latin typeface="Calibri" charset="0"/>
                <a:ea typeface="Calibri" charset="0"/>
                <a:cs typeface="Calibri" charset="0"/>
              </a:rPr>
              <a:t>5b + 4c + 18c – 22a + z</a:t>
            </a:r>
          </a:p>
          <a:p>
            <a:pPr marL="228600" indent="-228600" defTabSz="914400" eaLnBrk="0" fontAlgn="base" hangingPunct="0">
              <a:spcBef>
                <a:spcPct val="0"/>
              </a:spcBef>
              <a:spcAft>
                <a:spcPct val="0"/>
              </a:spcAft>
              <a:buFont typeface="+mj-lt"/>
              <a:buAutoNum type="alphaLcParenR"/>
            </a:pPr>
            <a:endParaRPr lang="en-GB" sz="1500" dirty="0">
              <a:latin typeface="Calibri" charset="0"/>
              <a:ea typeface="Calibri" charset="0"/>
              <a:cs typeface="Calibri" charset="0"/>
            </a:endParaRPr>
          </a:p>
        </p:txBody>
      </p:sp>
      <p:sp>
        <p:nvSpPr>
          <p:cNvPr id="8" name="Rectangle 7"/>
          <p:cNvSpPr>
            <a:spLocks noChangeArrowheads="1"/>
          </p:cNvSpPr>
          <p:nvPr/>
        </p:nvSpPr>
        <p:spPr bwMode="auto">
          <a:xfrm>
            <a:off x="6267665" y="1232238"/>
            <a:ext cx="2005647" cy="523220"/>
          </a:xfrm>
          <a:prstGeom prst="rect">
            <a:avLst/>
          </a:prstGeom>
          <a:solidFill>
            <a:schemeClr val="accent4">
              <a:lumMod val="20000"/>
              <a:lumOff val="80000"/>
            </a:schemeClr>
          </a:solidFill>
          <a:ln w="19050">
            <a:solidFill>
              <a:srgbClr val="7030A0"/>
            </a:solid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ctr" defTabSz="914400" eaLnBrk="0" fontAlgn="base" latinLnBrk="0" hangingPunct="0">
              <a:lnSpc>
                <a:spcPct val="100000"/>
              </a:lnSpc>
              <a:spcBef>
                <a:spcPct val="0"/>
              </a:spcBef>
              <a:spcAft>
                <a:spcPct val="0"/>
              </a:spcAft>
              <a:buClrTx/>
              <a:buSzTx/>
              <a:buFont typeface="+mj-lt"/>
              <a:buNone/>
              <a:tabLst/>
              <a:defRPr/>
            </a:pPr>
            <a:r>
              <a:rPr kumimoji="0" lang="en-GB" sz="2800" i="0" u="none" strike="noStrike" cap="none" normalizeH="0" baseline="0">
                <a:ln>
                  <a:noFill/>
                </a:ln>
                <a:solidFill>
                  <a:schemeClr val="tx1"/>
                </a:solidFill>
                <a:effectLst/>
                <a:ea typeface="Calibri" pitchFamily="34" charset="0"/>
                <a:cs typeface="Times New Roman" pitchFamily="18" charset="0"/>
              </a:rPr>
              <a:t>PRACTICE 2</a:t>
            </a:r>
            <a:endParaRPr kumimoji="0" lang="en-GB" sz="2800" i="0" u="none" strike="noStrike" cap="none" normalizeH="0" baseline="0" dirty="0">
              <a:ln>
                <a:noFill/>
              </a:ln>
              <a:solidFill>
                <a:schemeClr val="tx1"/>
              </a:solidFill>
              <a:effectLst/>
              <a:ea typeface="Calibri" pitchFamily="34" charset="0"/>
              <a:cs typeface="Times New Roman" pitchFamily="18" charset="0"/>
            </a:endParaRPr>
          </a:p>
        </p:txBody>
      </p:sp>
      <p:sp>
        <p:nvSpPr>
          <p:cNvPr id="9" name="TextBox 8"/>
          <p:cNvSpPr txBox="1"/>
          <p:nvPr/>
        </p:nvSpPr>
        <p:spPr>
          <a:xfrm>
            <a:off x="160504" y="6408902"/>
            <a:ext cx="1687961" cy="369332"/>
          </a:xfrm>
          <a:prstGeom prst="rect">
            <a:avLst/>
          </a:prstGeom>
          <a:solidFill>
            <a:schemeClr val="bg2"/>
          </a:solidFill>
        </p:spPr>
        <p:txBody>
          <a:bodyPr wrap="square" rtlCol="0">
            <a:spAutoFit/>
          </a:bodyPr>
          <a:lstStyle/>
          <a:p>
            <a:pPr algn="ctr"/>
            <a:r>
              <a:rPr lang="en-US"/>
              <a:t>Student Sheet 1</a:t>
            </a:r>
          </a:p>
        </p:txBody>
      </p:sp>
      <p:sp>
        <p:nvSpPr>
          <p:cNvPr id="11" name="Title 13"/>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Simplify by collecting like terms</a:t>
            </a:r>
          </a:p>
        </p:txBody>
      </p:sp>
    </p:spTree>
    <p:extLst>
      <p:ext uri="{BB962C8B-B14F-4D97-AF65-F5344CB8AC3E}">
        <p14:creationId xmlns:p14="http://schemas.microsoft.com/office/powerpoint/2010/main" val="1649178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9373"/>
            <a:ext cx="7886700" cy="1325563"/>
          </a:xfrm>
        </p:spPr>
        <p:txBody>
          <a:bodyPr/>
          <a:lstStyle/>
          <a:p>
            <a:r>
              <a:rPr lang="en-GB" b="1">
                <a:latin typeface="+mn-lt"/>
              </a:rPr>
              <a:t>Problem solving and reasoning</a:t>
            </a:r>
            <a:endParaRPr lang="en-GB" b="1" dirty="0">
              <a:latin typeface="+mn-lt"/>
            </a:endParaRPr>
          </a:p>
        </p:txBody>
      </p:sp>
      <p:sp>
        <p:nvSpPr>
          <p:cNvPr id="9" name="TextBox 8"/>
          <p:cNvSpPr txBox="1"/>
          <p:nvPr/>
        </p:nvSpPr>
        <p:spPr>
          <a:xfrm>
            <a:off x="199625" y="1190985"/>
            <a:ext cx="3389882" cy="461665"/>
          </a:xfrm>
          <a:prstGeom prst="rect">
            <a:avLst/>
          </a:prstGeom>
          <a:solidFill>
            <a:schemeClr val="accent4">
              <a:lumMod val="20000"/>
              <a:lumOff val="80000"/>
            </a:schemeClr>
          </a:solidFill>
        </p:spPr>
        <p:txBody>
          <a:bodyPr wrap="square" rtlCol="0">
            <a:spAutoFit/>
          </a:bodyPr>
          <a:lstStyle/>
          <a:p>
            <a:r>
              <a:rPr lang="en-GB" sz="1200" dirty="0"/>
              <a:t>Here is an </a:t>
            </a:r>
            <a:r>
              <a:rPr lang="en-GB" sz="1200"/>
              <a:t>isosceles triangle. </a:t>
            </a:r>
            <a:r>
              <a:rPr lang="en-GB" sz="1200" dirty="0"/>
              <a:t>Find an expression for the perimeter of the triangle</a:t>
            </a:r>
          </a:p>
        </p:txBody>
      </p:sp>
      <p:sp>
        <p:nvSpPr>
          <p:cNvPr id="12" name="TextBox 11"/>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2</a:t>
            </a:r>
          </a:p>
        </p:txBody>
      </p:sp>
      <p:pic>
        <p:nvPicPr>
          <p:cNvPr id="3" name="Picture 2"/>
          <p:cNvPicPr>
            <a:picLocks noChangeAspect="1"/>
          </p:cNvPicPr>
          <p:nvPr/>
        </p:nvPicPr>
        <p:blipFill>
          <a:blip r:embed="rId2"/>
          <a:stretch>
            <a:fillRect/>
          </a:stretch>
        </p:blipFill>
        <p:spPr>
          <a:xfrm>
            <a:off x="199625" y="1715611"/>
            <a:ext cx="977422" cy="1285022"/>
          </a:xfrm>
          <a:prstGeom prst="rect">
            <a:avLst/>
          </a:prstGeom>
        </p:spPr>
      </p:pic>
      <p:sp>
        <p:nvSpPr>
          <p:cNvPr id="13" name="TextBox 12"/>
          <p:cNvSpPr txBox="1"/>
          <p:nvPr/>
        </p:nvSpPr>
        <p:spPr>
          <a:xfrm>
            <a:off x="4382116" y="1201995"/>
            <a:ext cx="4431957" cy="276999"/>
          </a:xfrm>
          <a:prstGeom prst="rect">
            <a:avLst/>
          </a:prstGeom>
          <a:solidFill>
            <a:schemeClr val="accent4">
              <a:lumMod val="20000"/>
              <a:lumOff val="80000"/>
            </a:schemeClr>
          </a:solidFill>
        </p:spPr>
        <p:txBody>
          <a:bodyPr wrap="square" rtlCol="0">
            <a:spAutoFit/>
          </a:bodyPr>
          <a:lstStyle/>
          <a:p>
            <a:r>
              <a:rPr lang="en-GB" sz="1200" dirty="0"/>
              <a:t>Show algebraically that the perimeters of these shapes are identical</a:t>
            </a:r>
          </a:p>
        </p:txBody>
      </p:sp>
      <p:pic>
        <p:nvPicPr>
          <p:cNvPr id="14" name="Picture 13"/>
          <p:cNvPicPr>
            <a:picLocks noChangeAspect="1"/>
          </p:cNvPicPr>
          <p:nvPr/>
        </p:nvPicPr>
        <p:blipFill>
          <a:blip r:embed="rId3"/>
          <a:stretch>
            <a:fillRect/>
          </a:stretch>
        </p:blipFill>
        <p:spPr>
          <a:xfrm>
            <a:off x="4382116" y="1513188"/>
            <a:ext cx="1681290" cy="929460"/>
          </a:xfrm>
          <a:prstGeom prst="rect">
            <a:avLst/>
          </a:prstGeom>
        </p:spPr>
      </p:pic>
      <p:pic>
        <p:nvPicPr>
          <p:cNvPr id="15" name="Picture 14"/>
          <p:cNvPicPr>
            <a:picLocks noChangeAspect="1"/>
          </p:cNvPicPr>
          <p:nvPr/>
        </p:nvPicPr>
        <p:blipFill rotWithShape="1">
          <a:blip r:embed="rId4"/>
          <a:srcRect l="1757" t="2032" r="1"/>
          <a:stretch/>
        </p:blipFill>
        <p:spPr>
          <a:xfrm>
            <a:off x="6996929" y="1478994"/>
            <a:ext cx="1205976" cy="999954"/>
          </a:xfrm>
          <a:prstGeom prst="rect">
            <a:avLst/>
          </a:prstGeom>
        </p:spPr>
      </p:pic>
      <mc:AlternateContent xmlns:mc="http://schemas.openxmlformats.org/markup-compatibility/2006" xmlns:a14="http://schemas.microsoft.com/office/drawing/2010/main">
        <mc:Choice Requires="a14">
          <p:sp>
            <p:nvSpPr>
              <p:cNvPr id="16" name="TextBox 15"/>
              <p:cNvSpPr txBox="1"/>
              <p:nvPr/>
            </p:nvSpPr>
            <p:spPr>
              <a:xfrm>
                <a:off x="106135" y="3460483"/>
                <a:ext cx="4102716" cy="646331"/>
              </a:xfrm>
              <a:prstGeom prst="rect">
                <a:avLst/>
              </a:prstGeom>
              <a:solidFill>
                <a:schemeClr val="accent4">
                  <a:lumMod val="20000"/>
                  <a:lumOff val="80000"/>
                </a:schemeClr>
              </a:solidFill>
            </p:spPr>
            <p:txBody>
              <a:bodyPr wrap="square" rtlCol="0">
                <a:spAutoFit/>
              </a:bodyPr>
              <a:lstStyle/>
              <a:p>
                <a:r>
                  <a:rPr lang="en-GB" sz="1200" dirty="0"/>
                  <a:t>The total perimeter of the shape below is 53 cm.</a:t>
                </a:r>
              </a:p>
              <a:p>
                <a:r>
                  <a:rPr lang="en-GB" sz="1200" b="0" dirty="0"/>
                  <a:t>(a) Write an equation for the perimeter.</a:t>
                </a:r>
              </a:p>
              <a:p>
                <a:r>
                  <a:rPr lang="en-GB" sz="1200" b="0" dirty="0"/>
                  <a:t>(b) Find the value of </a:t>
                </a:r>
                <a14:m>
                  <m:oMath xmlns:m="http://schemas.openxmlformats.org/officeDocument/2006/math">
                    <m:r>
                      <a:rPr lang="en-GB" sz="1200" b="0" i="1" smtClean="0">
                        <a:latin typeface="Cambria Math" panose="02040503050406030204" pitchFamily="18" charset="0"/>
                      </a:rPr>
                      <m:t>𝑥</m:t>
                    </m:r>
                  </m:oMath>
                </a14:m>
                <a:r>
                  <a:rPr lang="en-GB" sz="1200" b="0" dirty="0"/>
                  <a:t> and hence the length of the longest side.</a:t>
                </a:r>
              </a:p>
            </p:txBody>
          </p:sp>
        </mc:Choice>
        <mc:Fallback xmlns="">
          <p:sp>
            <p:nvSpPr>
              <p:cNvPr id="16" name="TextBox 15"/>
              <p:cNvSpPr txBox="1">
                <a:spLocks noRot="1" noChangeAspect="1" noMove="1" noResize="1" noEditPoints="1" noAdjustHandles="1" noChangeArrowheads="1" noChangeShapeType="1" noTextEdit="1"/>
              </p:cNvSpPr>
              <p:nvPr/>
            </p:nvSpPr>
            <p:spPr>
              <a:xfrm>
                <a:off x="106135" y="3460483"/>
                <a:ext cx="4102716" cy="646331"/>
              </a:xfrm>
              <a:prstGeom prst="rect">
                <a:avLst/>
              </a:prstGeom>
              <a:blipFill rotWithShape="0">
                <a:blip r:embed="rId5"/>
                <a:stretch>
                  <a:fillRect t="-943" b="-6604"/>
                </a:stretch>
              </a:blipFill>
            </p:spPr>
            <p:txBody>
              <a:bodyPr/>
              <a:lstStyle/>
              <a:p>
                <a:r>
                  <a:rPr lang="en-US">
                    <a:noFill/>
                  </a:rPr>
                  <a:t> </a:t>
                </a:r>
              </a:p>
            </p:txBody>
          </p:sp>
        </mc:Fallback>
      </mc:AlternateContent>
      <p:pic>
        <p:nvPicPr>
          <p:cNvPr id="5" name="Picture 4"/>
          <p:cNvPicPr>
            <a:picLocks noChangeAspect="1"/>
          </p:cNvPicPr>
          <p:nvPr/>
        </p:nvPicPr>
        <p:blipFill>
          <a:blip r:embed="rId6"/>
          <a:stretch>
            <a:fillRect/>
          </a:stretch>
        </p:blipFill>
        <p:spPr>
          <a:xfrm>
            <a:off x="199625" y="4238994"/>
            <a:ext cx="1799075" cy="1018864"/>
          </a:xfrm>
          <a:prstGeom prst="rect">
            <a:avLst/>
          </a:prstGeom>
        </p:spPr>
      </p:pic>
      <p:sp>
        <p:nvSpPr>
          <p:cNvPr id="17" name="Content Placeholder 2"/>
          <p:cNvSpPr>
            <a:spLocks noGrp="1"/>
          </p:cNvSpPr>
          <p:nvPr>
            <p:ph idx="1"/>
          </p:nvPr>
        </p:nvSpPr>
        <p:spPr>
          <a:xfrm>
            <a:off x="4662748" y="3460483"/>
            <a:ext cx="3870691" cy="2313132"/>
          </a:xfrm>
          <a:solidFill>
            <a:schemeClr val="accent4">
              <a:lumMod val="20000"/>
              <a:lumOff val="80000"/>
            </a:schemeClr>
          </a:solidFill>
        </p:spPr>
        <p:txBody>
          <a:bodyPr>
            <a:normAutofit/>
          </a:bodyPr>
          <a:lstStyle/>
          <a:p>
            <a:r>
              <a:rPr lang="en-GB" sz="1200" dirty="0"/>
              <a:t>What is the difference between 4x and x</a:t>
            </a:r>
            <a:r>
              <a:rPr lang="en-GB" sz="1200" baseline="30000" dirty="0"/>
              <a:t>4</a:t>
            </a:r>
            <a:r>
              <a:rPr lang="en-GB" sz="1200" dirty="0"/>
              <a:t>  ?</a:t>
            </a:r>
          </a:p>
          <a:p>
            <a:endParaRPr lang="en-GB" sz="1200" baseline="30000" dirty="0"/>
          </a:p>
          <a:p>
            <a:r>
              <a:rPr lang="en-GB" sz="1200" dirty="0"/>
              <a:t>Can you write an expression that will simply to 6x – 4y? </a:t>
            </a:r>
          </a:p>
          <a:p>
            <a:endParaRPr lang="en-GB" sz="1200" dirty="0"/>
          </a:p>
          <a:p>
            <a:r>
              <a:rPr lang="en-GB" sz="1200" dirty="0"/>
              <a:t>What do you look for when you simplify an expression? </a:t>
            </a:r>
          </a:p>
          <a:p>
            <a:endParaRPr lang="en-GB" sz="1200" dirty="0"/>
          </a:p>
          <a:p>
            <a:r>
              <a:rPr lang="en-GB" sz="1200" dirty="0"/>
              <a:t>Spot the mistake: 3x + y – x + 2y = 3 + 3y</a:t>
            </a:r>
          </a:p>
        </p:txBody>
      </p:sp>
    </p:spTree>
    <p:extLst>
      <p:ext uri="{BB962C8B-B14F-4D97-AF65-F5344CB8AC3E}">
        <p14:creationId xmlns:p14="http://schemas.microsoft.com/office/powerpoint/2010/main" val="119868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Title 13"/>
          <p:cNvSpPr txBox="1">
            <a:spLocks/>
          </p:cNvSpPr>
          <p:nvPr/>
        </p:nvSpPr>
        <p:spPr>
          <a:xfrm>
            <a:off x="-10448" y="7417"/>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a:latin typeface="+mn-lt"/>
              </a:rPr>
              <a:t>Exam specimen questions</a:t>
            </a:r>
            <a:endParaRPr lang="en-GB" b="1" dirty="0">
              <a:latin typeface="+mn-lt"/>
            </a:endParaRPr>
          </a:p>
        </p:txBody>
      </p:sp>
      <p:sp>
        <p:nvSpPr>
          <p:cNvPr id="10" name="TextBox 9"/>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3</a:t>
            </a:r>
          </a:p>
        </p:txBody>
      </p:sp>
      <p:pic>
        <p:nvPicPr>
          <p:cNvPr id="4" name="Picture 3"/>
          <p:cNvPicPr>
            <a:picLocks noChangeAspect="1"/>
          </p:cNvPicPr>
          <p:nvPr/>
        </p:nvPicPr>
        <p:blipFill rotWithShape="1">
          <a:blip r:embed="rId2"/>
          <a:srcRect r="64203" b="44122"/>
          <a:stretch/>
        </p:blipFill>
        <p:spPr>
          <a:xfrm>
            <a:off x="5477628" y="1045533"/>
            <a:ext cx="1974582" cy="259666"/>
          </a:xfrm>
          <a:prstGeom prst="rect">
            <a:avLst/>
          </a:prstGeom>
        </p:spPr>
      </p:pic>
      <p:pic>
        <p:nvPicPr>
          <p:cNvPr id="6" name="Picture 5"/>
          <p:cNvPicPr>
            <a:picLocks noChangeAspect="1"/>
          </p:cNvPicPr>
          <p:nvPr/>
        </p:nvPicPr>
        <p:blipFill rotWithShape="1">
          <a:blip r:embed="rId3"/>
          <a:srcRect r="63736" b="33607"/>
          <a:stretch/>
        </p:blipFill>
        <p:spPr>
          <a:xfrm>
            <a:off x="2788833" y="1060994"/>
            <a:ext cx="1984761" cy="354231"/>
          </a:xfrm>
          <a:prstGeom prst="rect">
            <a:avLst/>
          </a:prstGeom>
        </p:spPr>
      </p:pic>
      <p:pic>
        <p:nvPicPr>
          <p:cNvPr id="7" name="Picture 6"/>
          <p:cNvPicPr>
            <a:picLocks noChangeAspect="1"/>
          </p:cNvPicPr>
          <p:nvPr/>
        </p:nvPicPr>
        <p:blipFill rotWithShape="1">
          <a:blip r:embed="rId4"/>
          <a:srcRect r="68906" b="79601"/>
          <a:stretch/>
        </p:blipFill>
        <p:spPr>
          <a:xfrm>
            <a:off x="138865" y="1106104"/>
            <a:ext cx="1731237" cy="321246"/>
          </a:xfrm>
          <a:prstGeom prst="rect">
            <a:avLst/>
          </a:prstGeom>
        </p:spPr>
      </p:pic>
      <p:pic>
        <p:nvPicPr>
          <p:cNvPr id="8" name="Picture 7"/>
          <p:cNvPicPr>
            <a:picLocks noChangeAspect="1"/>
          </p:cNvPicPr>
          <p:nvPr/>
        </p:nvPicPr>
        <p:blipFill rotWithShape="1">
          <a:blip r:embed="rId5"/>
          <a:srcRect t="4377" r="62348" b="66788"/>
          <a:stretch/>
        </p:blipFill>
        <p:spPr>
          <a:xfrm>
            <a:off x="114841" y="2077299"/>
            <a:ext cx="1983525" cy="510918"/>
          </a:xfrm>
          <a:prstGeom prst="rect">
            <a:avLst/>
          </a:prstGeom>
        </p:spPr>
      </p:pic>
      <p:pic>
        <p:nvPicPr>
          <p:cNvPr id="9" name="Picture 8"/>
          <p:cNvPicPr>
            <a:picLocks noChangeAspect="1"/>
          </p:cNvPicPr>
          <p:nvPr/>
        </p:nvPicPr>
        <p:blipFill rotWithShape="1">
          <a:blip r:embed="rId6"/>
          <a:srcRect r="71598" b="53710"/>
          <a:stretch/>
        </p:blipFill>
        <p:spPr>
          <a:xfrm>
            <a:off x="154952" y="3982707"/>
            <a:ext cx="1673729" cy="656627"/>
          </a:xfrm>
          <a:prstGeom prst="rect">
            <a:avLst/>
          </a:prstGeom>
        </p:spPr>
      </p:pic>
      <p:pic>
        <p:nvPicPr>
          <p:cNvPr id="14" name="Picture 13"/>
          <p:cNvPicPr>
            <a:picLocks noChangeAspect="1"/>
          </p:cNvPicPr>
          <p:nvPr/>
        </p:nvPicPr>
        <p:blipFill rotWithShape="1">
          <a:blip r:embed="rId7"/>
          <a:srcRect r="19030" b="58164"/>
          <a:stretch/>
        </p:blipFill>
        <p:spPr>
          <a:xfrm>
            <a:off x="4486195" y="1805891"/>
            <a:ext cx="2588888" cy="1295291"/>
          </a:xfrm>
          <a:prstGeom prst="rect">
            <a:avLst/>
          </a:prstGeom>
        </p:spPr>
      </p:pic>
      <p:sp>
        <p:nvSpPr>
          <p:cNvPr id="15" name="TextBox 14"/>
          <p:cNvSpPr txBox="1"/>
          <p:nvPr/>
        </p:nvSpPr>
        <p:spPr>
          <a:xfrm>
            <a:off x="1200213" y="1382684"/>
            <a:ext cx="1179871" cy="276999"/>
          </a:xfrm>
          <a:prstGeom prst="rect">
            <a:avLst/>
          </a:prstGeom>
          <a:noFill/>
        </p:spPr>
        <p:txBody>
          <a:bodyPr wrap="square" rtlCol="0">
            <a:spAutoFit/>
          </a:bodyPr>
          <a:lstStyle/>
          <a:p>
            <a:r>
              <a:rPr lang="en-US" sz="1200" b="1" dirty="0"/>
              <a:t>[1 mark]</a:t>
            </a:r>
          </a:p>
        </p:txBody>
      </p:sp>
      <p:sp>
        <p:nvSpPr>
          <p:cNvPr id="16" name="TextBox 15"/>
          <p:cNvSpPr txBox="1"/>
          <p:nvPr/>
        </p:nvSpPr>
        <p:spPr>
          <a:xfrm>
            <a:off x="3980531" y="1354588"/>
            <a:ext cx="1179871" cy="276999"/>
          </a:xfrm>
          <a:prstGeom prst="rect">
            <a:avLst/>
          </a:prstGeom>
          <a:noFill/>
        </p:spPr>
        <p:txBody>
          <a:bodyPr wrap="square" rtlCol="0">
            <a:spAutoFit/>
          </a:bodyPr>
          <a:lstStyle/>
          <a:p>
            <a:r>
              <a:rPr lang="en-US" sz="1200" b="1"/>
              <a:t>[2 marks]</a:t>
            </a:r>
          </a:p>
        </p:txBody>
      </p:sp>
      <p:sp>
        <p:nvSpPr>
          <p:cNvPr id="17" name="TextBox 16"/>
          <p:cNvSpPr txBox="1"/>
          <p:nvPr/>
        </p:nvSpPr>
        <p:spPr>
          <a:xfrm>
            <a:off x="6647519" y="1320999"/>
            <a:ext cx="1179871" cy="276999"/>
          </a:xfrm>
          <a:prstGeom prst="rect">
            <a:avLst/>
          </a:prstGeom>
          <a:noFill/>
        </p:spPr>
        <p:txBody>
          <a:bodyPr wrap="square" rtlCol="0">
            <a:spAutoFit/>
          </a:bodyPr>
          <a:lstStyle/>
          <a:p>
            <a:r>
              <a:rPr lang="en-US" sz="1200" b="1"/>
              <a:t>[2 marks]</a:t>
            </a:r>
          </a:p>
        </p:txBody>
      </p:sp>
      <p:sp>
        <p:nvSpPr>
          <p:cNvPr id="18" name="TextBox 17"/>
          <p:cNvSpPr txBox="1"/>
          <p:nvPr/>
        </p:nvSpPr>
        <p:spPr>
          <a:xfrm>
            <a:off x="1596844" y="2617669"/>
            <a:ext cx="1179871" cy="276999"/>
          </a:xfrm>
          <a:prstGeom prst="rect">
            <a:avLst/>
          </a:prstGeom>
          <a:noFill/>
        </p:spPr>
        <p:txBody>
          <a:bodyPr wrap="square" rtlCol="0">
            <a:spAutoFit/>
          </a:bodyPr>
          <a:lstStyle/>
          <a:p>
            <a:r>
              <a:rPr lang="en-US" sz="1200" b="1"/>
              <a:t>[2 marks]</a:t>
            </a:r>
          </a:p>
        </p:txBody>
      </p:sp>
      <p:sp>
        <p:nvSpPr>
          <p:cNvPr id="19" name="TextBox 18"/>
          <p:cNvSpPr txBox="1"/>
          <p:nvPr/>
        </p:nvSpPr>
        <p:spPr>
          <a:xfrm>
            <a:off x="1224991" y="4592058"/>
            <a:ext cx="1179871" cy="276999"/>
          </a:xfrm>
          <a:prstGeom prst="rect">
            <a:avLst/>
          </a:prstGeom>
          <a:noFill/>
        </p:spPr>
        <p:txBody>
          <a:bodyPr wrap="square" rtlCol="0">
            <a:spAutoFit/>
          </a:bodyPr>
          <a:lstStyle/>
          <a:p>
            <a:r>
              <a:rPr lang="en-US" sz="1200" b="1" dirty="0"/>
              <a:t>[1 mark]</a:t>
            </a:r>
          </a:p>
        </p:txBody>
      </p:sp>
      <p:pic>
        <p:nvPicPr>
          <p:cNvPr id="20" name="Picture 19"/>
          <p:cNvPicPr>
            <a:picLocks noChangeAspect="1"/>
          </p:cNvPicPr>
          <p:nvPr/>
        </p:nvPicPr>
        <p:blipFill>
          <a:blip r:embed="rId8"/>
          <a:stretch>
            <a:fillRect/>
          </a:stretch>
        </p:blipFill>
        <p:spPr>
          <a:xfrm>
            <a:off x="138865" y="3188375"/>
            <a:ext cx="1984903" cy="317584"/>
          </a:xfrm>
          <a:prstGeom prst="rect">
            <a:avLst/>
          </a:prstGeom>
        </p:spPr>
      </p:pic>
      <p:sp>
        <p:nvSpPr>
          <p:cNvPr id="21" name="TextBox 20"/>
          <p:cNvSpPr txBox="1"/>
          <p:nvPr/>
        </p:nvSpPr>
        <p:spPr>
          <a:xfrm>
            <a:off x="1514048" y="3467776"/>
            <a:ext cx="1179871" cy="276999"/>
          </a:xfrm>
          <a:prstGeom prst="rect">
            <a:avLst/>
          </a:prstGeom>
          <a:noFill/>
        </p:spPr>
        <p:txBody>
          <a:bodyPr wrap="square" rtlCol="0">
            <a:spAutoFit/>
          </a:bodyPr>
          <a:lstStyle/>
          <a:p>
            <a:r>
              <a:rPr lang="en-US" sz="1200" b="1"/>
              <a:t>[2 marks]</a:t>
            </a:r>
          </a:p>
        </p:txBody>
      </p:sp>
      <p:pic>
        <p:nvPicPr>
          <p:cNvPr id="22" name="Picture 21"/>
          <p:cNvPicPr>
            <a:picLocks noChangeAspect="1"/>
          </p:cNvPicPr>
          <p:nvPr/>
        </p:nvPicPr>
        <p:blipFill>
          <a:blip r:embed="rId9"/>
          <a:stretch>
            <a:fillRect/>
          </a:stretch>
        </p:blipFill>
        <p:spPr>
          <a:xfrm>
            <a:off x="138864" y="4891989"/>
            <a:ext cx="1457979" cy="1218871"/>
          </a:xfrm>
          <a:prstGeom prst="rect">
            <a:avLst/>
          </a:prstGeom>
        </p:spPr>
      </p:pic>
      <p:sp>
        <p:nvSpPr>
          <p:cNvPr id="23" name="TextBox 22"/>
          <p:cNvSpPr txBox="1"/>
          <p:nvPr/>
        </p:nvSpPr>
        <p:spPr>
          <a:xfrm>
            <a:off x="1514047" y="5883463"/>
            <a:ext cx="1179871" cy="276999"/>
          </a:xfrm>
          <a:prstGeom prst="rect">
            <a:avLst/>
          </a:prstGeom>
          <a:noFill/>
        </p:spPr>
        <p:txBody>
          <a:bodyPr wrap="square" rtlCol="0">
            <a:spAutoFit/>
          </a:bodyPr>
          <a:lstStyle/>
          <a:p>
            <a:r>
              <a:rPr lang="en-US" sz="1200" b="1" dirty="0"/>
              <a:t>[2 marks]</a:t>
            </a:r>
          </a:p>
        </p:txBody>
      </p:sp>
      <p:sp>
        <p:nvSpPr>
          <p:cNvPr id="24" name="TextBox 23"/>
          <p:cNvSpPr txBox="1"/>
          <p:nvPr/>
        </p:nvSpPr>
        <p:spPr>
          <a:xfrm>
            <a:off x="5505422" y="5241997"/>
            <a:ext cx="1179871" cy="276999"/>
          </a:xfrm>
          <a:prstGeom prst="rect">
            <a:avLst/>
          </a:prstGeom>
          <a:noFill/>
        </p:spPr>
        <p:txBody>
          <a:bodyPr wrap="square" rtlCol="0">
            <a:spAutoFit/>
          </a:bodyPr>
          <a:lstStyle/>
          <a:p>
            <a:r>
              <a:rPr lang="en-US" sz="1200" b="1" dirty="0"/>
              <a:t>[1 mark]</a:t>
            </a:r>
          </a:p>
        </p:txBody>
      </p:sp>
      <p:pic>
        <p:nvPicPr>
          <p:cNvPr id="25" name="Picture 24"/>
          <p:cNvPicPr>
            <a:picLocks noChangeAspect="1"/>
          </p:cNvPicPr>
          <p:nvPr/>
        </p:nvPicPr>
        <p:blipFill rotWithShape="1">
          <a:blip r:embed="rId10"/>
          <a:srcRect r="33295" b="21698"/>
          <a:stretch/>
        </p:blipFill>
        <p:spPr>
          <a:xfrm>
            <a:off x="2972026" y="3744775"/>
            <a:ext cx="2519116" cy="2898777"/>
          </a:xfrm>
          <a:prstGeom prst="rect">
            <a:avLst/>
          </a:prstGeom>
        </p:spPr>
      </p:pic>
      <p:pic>
        <p:nvPicPr>
          <p:cNvPr id="26" name="Picture 25"/>
          <p:cNvPicPr>
            <a:picLocks noChangeAspect="1"/>
          </p:cNvPicPr>
          <p:nvPr/>
        </p:nvPicPr>
        <p:blipFill rotWithShape="1">
          <a:blip r:embed="rId11"/>
          <a:srcRect r="20752" b="32365"/>
          <a:stretch/>
        </p:blipFill>
        <p:spPr>
          <a:xfrm>
            <a:off x="6160682" y="3896057"/>
            <a:ext cx="2858359" cy="2527020"/>
          </a:xfrm>
          <a:prstGeom prst="rect">
            <a:avLst/>
          </a:prstGeom>
        </p:spPr>
      </p:pic>
      <p:sp>
        <p:nvSpPr>
          <p:cNvPr id="27" name="TextBox 26"/>
          <p:cNvSpPr txBox="1"/>
          <p:nvPr/>
        </p:nvSpPr>
        <p:spPr>
          <a:xfrm>
            <a:off x="6330604" y="3032076"/>
            <a:ext cx="1179871" cy="276999"/>
          </a:xfrm>
          <a:prstGeom prst="rect">
            <a:avLst/>
          </a:prstGeom>
          <a:noFill/>
        </p:spPr>
        <p:txBody>
          <a:bodyPr wrap="square" rtlCol="0">
            <a:spAutoFit/>
          </a:bodyPr>
          <a:lstStyle/>
          <a:p>
            <a:r>
              <a:rPr lang="en-US" sz="1200" b="1" dirty="0"/>
              <a:t>[4 marks]</a:t>
            </a:r>
          </a:p>
        </p:txBody>
      </p:sp>
      <p:sp>
        <p:nvSpPr>
          <p:cNvPr id="28" name="TextBox 27"/>
          <p:cNvSpPr txBox="1"/>
          <p:nvPr/>
        </p:nvSpPr>
        <p:spPr>
          <a:xfrm>
            <a:off x="5560914" y="6464157"/>
            <a:ext cx="1179871" cy="276999"/>
          </a:xfrm>
          <a:prstGeom prst="rect">
            <a:avLst/>
          </a:prstGeom>
          <a:noFill/>
        </p:spPr>
        <p:txBody>
          <a:bodyPr wrap="square" rtlCol="0">
            <a:spAutoFit/>
          </a:bodyPr>
          <a:lstStyle/>
          <a:p>
            <a:r>
              <a:rPr lang="en-US" sz="1200" b="1"/>
              <a:t>[2 marks]</a:t>
            </a:r>
            <a:endParaRPr lang="en-US" sz="1200" b="1" dirty="0"/>
          </a:p>
        </p:txBody>
      </p:sp>
      <p:sp>
        <p:nvSpPr>
          <p:cNvPr id="29" name="TextBox 28"/>
          <p:cNvSpPr txBox="1"/>
          <p:nvPr/>
        </p:nvSpPr>
        <p:spPr>
          <a:xfrm>
            <a:off x="8348359" y="6408902"/>
            <a:ext cx="1179871" cy="276999"/>
          </a:xfrm>
          <a:prstGeom prst="rect">
            <a:avLst/>
          </a:prstGeom>
          <a:noFill/>
        </p:spPr>
        <p:txBody>
          <a:bodyPr wrap="square" rtlCol="0">
            <a:spAutoFit/>
          </a:bodyPr>
          <a:lstStyle/>
          <a:p>
            <a:r>
              <a:rPr lang="en-US" sz="1200" b="1" dirty="0"/>
              <a:t>[3 marks]</a:t>
            </a:r>
          </a:p>
        </p:txBody>
      </p:sp>
    </p:spTree>
    <p:extLst>
      <p:ext uri="{BB962C8B-B14F-4D97-AF65-F5344CB8AC3E}">
        <p14:creationId xmlns:p14="http://schemas.microsoft.com/office/powerpoint/2010/main" val="5478987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677</TotalTime>
  <Words>1423</Words>
  <Application>Microsoft Office PowerPoint</Application>
  <PresentationFormat>On-screen Show (4:3)</PresentationFormat>
  <Paragraphs>247</Paragraphs>
  <Slides>16</Slides>
  <Notes>0</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Wingdings</vt:lpstr>
      <vt:lpstr>Office Theme</vt:lpstr>
      <vt:lpstr>PowerPoint Presentation</vt:lpstr>
      <vt:lpstr>Title:  Collecting Like Terms</vt:lpstr>
      <vt:lpstr>Key vocabulary</vt:lpstr>
      <vt:lpstr>Simplify by collecting like terms</vt:lpstr>
      <vt:lpstr>Practice (1)</vt:lpstr>
      <vt:lpstr>Practice (1) solutions</vt:lpstr>
      <vt:lpstr>Practice (2)</vt:lpstr>
      <vt:lpstr>Practice (2) solutions</vt:lpstr>
      <vt:lpstr>Problem solving and reasoning</vt:lpstr>
      <vt:lpstr>Problem solving and reasoning</vt:lpstr>
      <vt:lpstr>PowerPoint Presentation</vt:lpstr>
      <vt:lpstr>PowerPoint Presentation</vt:lpstr>
      <vt:lpstr>PowerPoint Presentation</vt:lpstr>
      <vt:lpstr>PowerPoint Presentation</vt:lpstr>
      <vt:lpstr>Problem solving and reasoning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Christina Moody</dc:creator>
  <cp:lastModifiedBy>DAVIES Rhys [Busselton Senior High School]</cp:lastModifiedBy>
  <cp:revision>108</cp:revision>
  <cp:lastPrinted>2022-03-21T02:19:50Z</cp:lastPrinted>
  <dcterms:created xsi:type="dcterms:W3CDTF">2016-01-18T14:56:17Z</dcterms:created>
  <dcterms:modified xsi:type="dcterms:W3CDTF">2022-03-21T05:59:04Z</dcterms:modified>
</cp:coreProperties>
</file>
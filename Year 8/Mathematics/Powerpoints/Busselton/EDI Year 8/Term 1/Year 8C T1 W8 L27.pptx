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93" r:id="rId2"/>
    <p:sldId id="311" r:id="rId3"/>
    <p:sldId id="312" r:id="rId4"/>
    <p:sldId id="313" r:id="rId5"/>
    <p:sldId id="314" r:id="rId6"/>
    <p:sldId id="309" r:id="rId7"/>
    <p:sldId id="299" r:id="rId8"/>
    <p:sldId id="315" r:id="rId9"/>
    <p:sldId id="310" r:id="rId10"/>
    <p:sldId id="316" r:id="rId11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2E2"/>
    <a:srgbClr val="ECF1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6F99B-1B3D-43A6-9821-04F3D79B9194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77B09-D6A7-4EAC-A5D0-717D82F0B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610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677B09-D6A7-4EAC-A5D0-717D82F0B45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243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817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48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16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72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144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397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623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63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36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604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6879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129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8427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95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149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13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23/03/2022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173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74588" y="182137"/>
            <a:ext cx="166133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1" b="1" dirty="0">
                <a:solidFill>
                  <a:srgbClr val="FF0000"/>
                </a:solidFill>
                <a:latin typeface="Century Gothic" panose="020B0502020202020204"/>
              </a:rPr>
              <a:t>23</a:t>
            </a: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/03/2022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9671" y="2228671"/>
            <a:ext cx="97459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</a:t>
            </a:r>
            <a:r>
              <a:rPr kumimoji="0" lang="en-AU" sz="24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to add and subtract like terms using double sign operations.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09671" y="3775969"/>
            <a:ext cx="93948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</a:t>
            </a:r>
          </a:p>
          <a:p>
            <a:pPr marL="901700" marR="0" lvl="0" indent="-5429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Add / subtract expressions</a:t>
            </a:r>
          </a:p>
          <a:p>
            <a:pPr marL="901700" marR="0" lvl="0" indent="-5429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Double signs </a:t>
            </a:r>
          </a:p>
          <a:p>
            <a:pPr marL="352425" marR="0" lvl="0" indent="-3524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Simplify addition / subtraction expressions with double signs.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076A7-CB9E-4985-B096-4A10DC554547}"/>
              </a:ext>
            </a:extLst>
          </p:cNvPr>
          <p:cNvSpPr txBox="1"/>
          <p:nvPr/>
        </p:nvSpPr>
        <p:spPr>
          <a:xfrm>
            <a:off x="1909671" y="898566"/>
            <a:ext cx="974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Title:</a:t>
            </a:r>
            <a:r>
              <a:rPr lang="en-AU" sz="2400" dirty="0">
                <a:solidFill>
                  <a:srgbClr val="FF0000"/>
                </a:solidFill>
                <a:latin typeface="Century Gothic" panose="020B0502020202020204"/>
              </a:rPr>
              <a:t> </a:t>
            </a: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Simplifying expressions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613F9C-8234-4594-8A4F-6D31E892BED7}"/>
              </a:ext>
            </a:extLst>
          </p:cNvPr>
          <p:cNvSpPr txBox="1"/>
          <p:nvPr/>
        </p:nvSpPr>
        <p:spPr>
          <a:xfrm>
            <a:off x="8682182" y="3429000"/>
            <a:ext cx="2318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highlight>
                  <a:srgbClr val="FFFF00"/>
                </a:highlight>
              </a:rPr>
              <a:t>Need whiteboards for next slides.</a:t>
            </a:r>
          </a:p>
        </p:txBody>
      </p:sp>
    </p:spTree>
    <p:extLst>
      <p:ext uri="{BB962C8B-B14F-4D97-AF65-F5344CB8AC3E}">
        <p14:creationId xmlns:p14="http://schemas.microsoft.com/office/powerpoint/2010/main" val="383999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4908" y="197708"/>
            <a:ext cx="402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White-boards CFU – Simplify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807" y="1885361"/>
            <a:ext cx="9497386" cy="173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487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4908" y="197708"/>
            <a:ext cx="402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White-boards CFU – Simplify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437" y="1631441"/>
            <a:ext cx="8655992" cy="190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02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4908" y="197708"/>
            <a:ext cx="402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White-boards CFU – Simplify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750" y="2065944"/>
            <a:ext cx="8433207" cy="169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41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4908" y="197708"/>
            <a:ext cx="402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White-boards CFU – Simplify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419" y="2253006"/>
            <a:ext cx="10495604" cy="19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50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3883" y="1450689"/>
            <a:ext cx="9279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Same signs add, different signs subtract.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9344" y="2619777"/>
            <a:ext cx="81801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Step 1:	Simplify double signs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Step 2:	Look for ‘like’ terms</a:t>
            </a:r>
          </a:p>
          <a:p>
            <a:r>
              <a:rPr lang="en-AU" sz="2400" b="1" dirty="0">
                <a:solidFill>
                  <a:srgbClr val="FF0000"/>
                </a:solidFill>
              </a:rPr>
              <a:t>Step 3: 	Add and subtract ‘like’ terms – consider number-line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486" y="160638"/>
            <a:ext cx="3459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Daily review – double signs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29031" y="3418030"/>
            <a:ext cx="773329" cy="32479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15725" y="3464973"/>
            <a:ext cx="1246322" cy="27785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45998" y="2709687"/>
            <a:ext cx="1144613" cy="30867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580000" y="1526254"/>
            <a:ext cx="1291432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847453" y="1526254"/>
            <a:ext cx="654908" cy="3578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337726" y="3434818"/>
            <a:ext cx="2560285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98692" y="3057240"/>
            <a:ext cx="738992" cy="3775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869344" y="3790451"/>
            <a:ext cx="1978109" cy="3513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19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20" grpId="0" animBg="1"/>
      <p:bldP spid="2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4455" y="1733361"/>
            <a:ext cx="9227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spcAft>
                <a:spcPts val="600"/>
              </a:spcAft>
              <a:defRPr/>
            </a:pPr>
            <a:r>
              <a:rPr lang="en-AU" sz="2400" dirty="0">
                <a:solidFill>
                  <a:prstClr val="black"/>
                </a:solidFill>
              </a:rPr>
              <a:t>Simplify each of the following 										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325219" y="65490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254455" y="2414156"/>
                <a:ext cx="8301280" cy="22980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defTabSz="457200">
                  <a:spcAft>
                    <a:spcPts val="600"/>
                  </a:spcAft>
                  <a:buClr>
                    <a:srgbClr val="FF0000"/>
                  </a:buClr>
                  <a:buFontTx/>
                  <a:buAutoNum type="arabicPeriod"/>
                  <a:defRPr/>
                </a:pPr>
                <a:r>
                  <a:rPr lang="en-AU" sz="2400" b="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−(–2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)+(–2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–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</a:p>
              <a:p>
                <a:pPr marL="457200" lvl="0" indent="-457200" defTabSz="457200">
                  <a:spcAft>
                    <a:spcPts val="600"/>
                  </a:spcAft>
                  <a:buClr>
                    <a:srgbClr val="FF0000"/>
                  </a:buClr>
                  <a:buAutoNum type="arabicPeriod"/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+7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–</m:t>
                        </m:r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sz="24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+(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–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	</a:t>
                </a:r>
              </a:p>
              <a:p>
                <a:pPr marL="457200" lvl="0" indent="-457200" defTabSz="457200">
                  <a:spcAft>
                    <a:spcPts val="800"/>
                  </a:spcAft>
                  <a:buClr>
                    <a:srgbClr val="FF0000"/>
                  </a:buClr>
                  <a:buFontTx/>
                  <a:buAutoNum type="arabicPeriod" startAt="3"/>
                  <a:defRPr/>
                </a:pPr>
                <a:r>
                  <a:rPr lang="en-AU" sz="2400" b="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+(–9)−(–3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)−9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+ 2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	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  	</a:t>
                </a:r>
              </a:p>
              <a:p>
                <a:pPr marL="457200" lvl="0" indent="-457200" defTabSz="457200">
                  <a:spcAft>
                    <a:spcPts val="800"/>
                  </a:spcAft>
                  <a:buClr>
                    <a:srgbClr val="FF0000"/>
                  </a:buClr>
                  <a:buFontTx/>
                  <a:buAutoNum type="arabicPeriod" startAt="3"/>
                  <a:defRPr/>
                </a:pPr>
                <a:r>
                  <a:rPr lang="en-AU" sz="24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−(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–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)−(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–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–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)+(–5)−(–3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	</a:t>
                </a:r>
              </a:p>
              <a:p>
                <a:pPr marL="457200" lvl="0" indent="-457200" defTabSz="457200">
                  <a:spcAft>
                    <a:spcPts val="800"/>
                  </a:spcAft>
                  <a:buClr>
                    <a:srgbClr val="FF0000"/>
                  </a:buClr>
                  <a:buAutoNum type="arabicPeriod" startAt="5"/>
                  <a:defRPr/>
                </a:pPr>
                <a:r>
                  <a:rPr lang="en-AU" sz="2400" b="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+4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−(–3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)−2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+(–4)+(–6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)+(–2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solidFill>
                      <a:prstClr val="black"/>
                    </a:solidFill>
                  </a:rPr>
                  <a:t>	  	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455" y="2414156"/>
                <a:ext cx="8301280" cy="2298065"/>
              </a:xfrm>
              <a:prstGeom prst="rect">
                <a:avLst/>
              </a:prstGeom>
              <a:blipFill>
                <a:blip r:embed="rId3"/>
                <a:stretch>
                  <a:fillRect l="-1175" t="-2122" b="-504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481912" y="203522"/>
            <a:ext cx="9354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buClr>
                <a:srgbClr val="FF0000"/>
              </a:buClr>
              <a:defRPr/>
            </a:pPr>
            <a:r>
              <a:rPr lang="en-AU" b="1" dirty="0">
                <a:solidFill>
                  <a:srgbClr val="FF0000"/>
                </a:solidFill>
              </a:rPr>
              <a:t>Simplify addition / subtraction expressions, multiple variables.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9857" y="1144778"/>
            <a:ext cx="4150640" cy="369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Exercise books – ‘WE DO’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9950" y="645767"/>
            <a:ext cx="4774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Step 1:	Simplify double signs</a:t>
            </a:r>
          </a:p>
          <a:p>
            <a:r>
              <a:rPr lang="en-AU" b="1" dirty="0">
                <a:solidFill>
                  <a:srgbClr val="002060"/>
                </a:solidFill>
              </a:rPr>
              <a:t>Step 2:	Look for ‘like’ terms</a:t>
            </a:r>
          </a:p>
          <a:p>
            <a:r>
              <a:rPr lang="en-AU" b="1" dirty="0">
                <a:solidFill>
                  <a:srgbClr val="002060"/>
                </a:solidFill>
              </a:rPr>
              <a:t>Step 3: 	Add and subtract ‘like’ terms – 	consider number-line approach</a:t>
            </a:r>
          </a:p>
        </p:txBody>
      </p:sp>
    </p:spTree>
    <p:extLst>
      <p:ext uri="{BB962C8B-B14F-4D97-AF65-F5344CB8AC3E}">
        <p14:creationId xmlns:p14="http://schemas.microsoft.com/office/powerpoint/2010/main" val="28573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49ADF-BD90-4E50-92E4-A588E2138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Reteach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0FAD6-B0EB-4B72-986F-6F826F83E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 do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2818F7-E2A6-4065-B605-D4138D4A481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AutoNum type="alphaLcParenR"/>
            </a:pPr>
            <a:r>
              <a:rPr lang="en-AU" dirty="0"/>
              <a:t>-2(2a + 6)</a:t>
            </a:r>
          </a:p>
          <a:p>
            <a:pPr>
              <a:buAutoNum type="alphaLcParenR"/>
            </a:pPr>
            <a:endParaRPr lang="en-AU" dirty="0"/>
          </a:p>
          <a:p>
            <a:pPr>
              <a:buAutoNum type="alphaLcParenR"/>
            </a:pPr>
            <a:r>
              <a:rPr lang="en-AU" dirty="0"/>
              <a:t>a(a + 4) </a:t>
            </a:r>
          </a:p>
          <a:p>
            <a:pPr>
              <a:buAutoNum type="alphaLcParenR"/>
            </a:pPr>
            <a:endParaRPr lang="en-AU" dirty="0"/>
          </a:p>
          <a:p>
            <a:pPr>
              <a:buAutoNum type="alphaLcParenR"/>
            </a:pPr>
            <a:r>
              <a:rPr lang="en-AU" dirty="0"/>
              <a:t>- (x + 7) </a:t>
            </a:r>
          </a:p>
          <a:p>
            <a:pPr>
              <a:buAutoNum type="alphaLcParenR"/>
            </a:pPr>
            <a:endParaRPr lang="en-AU" dirty="0"/>
          </a:p>
          <a:p>
            <a:pPr>
              <a:buAutoNum type="alphaLcParenR"/>
            </a:pPr>
            <a:r>
              <a:rPr lang="en-AU" dirty="0"/>
              <a:t>- (x – 3)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AA5F0B-3F0B-445B-AF4B-05E572EF56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We do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178385-B520-47DF-8190-0E8B342DAE5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AU" dirty="0"/>
              <a:t>-4(2 + x) </a:t>
            </a:r>
          </a:p>
          <a:p>
            <a:pPr>
              <a:buAutoNum type="arabicPeriod"/>
            </a:pPr>
            <a:endParaRPr lang="en-AU" dirty="0"/>
          </a:p>
          <a:p>
            <a:pPr>
              <a:buAutoNum type="arabicPeriod"/>
            </a:pPr>
            <a:r>
              <a:rPr lang="en-AU" dirty="0"/>
              <a:t>3(x – 4) </a:t>
            </a:r>
          </a:p>
          <a:p>
            <a:pPr>
              <a:buAutoNum type="arabicPeriod"/>
            </a:pPr>
            <a:endParaRPr lang="en-AU" dirty="0"/>
          </a:p>
          <a:p>
            <a:pPr>
              <a:buAutoNum type="arabicPeriod"/>
            </a:pPr>
            <a:r>
              <a:rPr lang="en-AU" dirty="0"/>
              <a:t>- (2x + 7) </a:t>
            </a:r>
          </a:p>
          <a:p>
            <a:pPr>
              <a:buAutoNum type="arabicPeriod"/>
            </a:pPr>
            <a:endParaRPr lang="en-AU" dirty="0"/>
          </a:p>
          <a:p>
            <a:pPr>
              <a:buAutoNum type="arabicPeriod"/>
            </a:pPr>
            <a:r>
              <a:rPr lang="en-AU" dirty="0"/>
              <a:t>- (x – 3) </a:t>
            </a:r>
          </a:p>
          <a:p>
            <a:pPr>
              <a:buAutoNum type="arabicPeriod"/>
            </a:pP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ADBC9E-2E11-4373-8928-D3D495899CEB}"/>
              </a:ext>
            </a:extLst>
          </p:cNvPr>
          <p:cNvSpPr txBox="1"/>
          <p:nvPr/>
        </p:nvSpPr>
        <p:spPr>
          <a:xfrm>
            <a:off x="6761018" y="297455"/>
            <a:ext cx="5278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>
                <a:solidFill>
                  <a:srgbClr val="FF0000"/>
                </a:solidFill>
              </a:rPr>
              <a:t>The term outside the brackets multiplies to EVERY term inside the brackets.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187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4085" y="3770448"/>
            <a:ext cx="98730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FF0000"/>
                </a:solidFill>
              </a:rPr>
              <a:t>The rest can be completed on the work sheet if you have the fluency to be 100% successful.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7525" y="1655991"/>
            <a:ext cx="99966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FF0000"/>
                </a:solidFill>
              </a:rPr>
              <a:t>Copy the first 7 into your exercise book and show full working.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EFC30C-19F5-40A6-B284-E02DBF6AEF50}"/>
              </a:ext>
            </a:extLst>
          </p:cNvPr>
          <p:cNvSpPr txBox="1"/>
          <p:nvPr/>
        </p:nvSpPr>
        <p:spPr>
          <a:xfrm>
            <a:off x="2429164" y="323273"/>
            <a:ext cx="824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Why is belly dancing illegal in </a:t>
            </a:r>
            <a:r>
              <a:rPr lang="en-AU" sz="2400" dirty="0" err="1"/>
              <a:t>Schlumpville</a:t>
            </a:r>
            <a:r>
              <a:rPr lang="en-AU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11478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BAD25-E38E-4BD3-A50D-C35FEE9A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Reflection – fist to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6D2F9-B530-4888-94C3-B458F05F2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</a:t>
            </a:r>
            <a:r>
              <a:rPr kumimoji="0" lang="en-AU" sz="28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to add and subtract like terms using double sign operations.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4265860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401</Words>
  <Application>Microsoft Office PowerPoint</Application>
  <PresentationFormat>Widescreen</PresentationFormat>
  <Paragraphs>56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Reteach </vt:lpstr>
      <vt:lpstr>PowerPoint Presentation</vt:lpstr>
      <vt:lpstr>Reflection – fist to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Wall</dc:creator>
  <cp:lastModifiedBy>DAVIES Rhys [Busselton Senior High School]</cp:lastModifiedBy>
  <cp:revision>82</cp:revision>
  <cp:lastPrinted>2022-03-16T01:39:59Z</cp:lastPrinted>
  <dcterms:created xsi:type="dcterms:W3CDTF">2022-02-28T13:51:39Z</dcterms:created>
  <dcterms:modified xsi:type="dcterms:W3CDTF">2022-03-23T00:43:48Z</dcterms:modified>
</cp:coreProperties>
</file>
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78" r:id="rId3"/>
    <p:sldId id="279" r:id="rId4"/>
    <p:sldId id="280" r:id="rId5"/>
    <p:sldId id="281" r:id="rId6"/>
    <p:sldId id="28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322" r:id="rId19"/>
    <p:sldId id="283" r:id="rId20"/>
    <p:sldId id="269" r:id="rId21"/>
    <p:sldId id="276" r:id="rId22"/>
    <p:sldId id="275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668AC-5E3C-4455-9D69-87FE84F87D28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D199-8258-41D5-A5FE-68D878FBF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1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62493D4-4479-4FC9-8193-210490FBCDBD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8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8A5BD3D-83C8-481C-8029-41BDFE064E6E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2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3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90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96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5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89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97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2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8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05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701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285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161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307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35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5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994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675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183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222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7557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7372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87604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500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2458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87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AA11-BE27-420A-B8E1-11A14B5A3D8B}" type="datetimeFigureOut">
              <a:rPr lang="en-GB" smtClean="0"/>
              <a:t>06/04/2022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1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10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1E3D-7F15-4AFE-91C3-50E5C6FB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6B35-907B-43BC-B704-96A7FA95D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factorizing expressions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To be able to factorize expressions into single brackets.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like terms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HCF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Single brackets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43ADC-8FA4-4CF0-8121-1859C28261FE}"/>
              </a:ext>
            </a:extLst>
          </p:cNvPr>
          <p:cNvSpPr txBox="1"/>
          <p:nvPr/>
        </p:nvSpPr>
        <p:spPr>
          <a:xfrm>
            <a:off x="7539844" y="18125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07/04/2022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691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420D-71F8-4493-9AE0-6FD5279C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terms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A4EC-6C24-486E-A127-1733A8F1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Terms with the same pronumeral/s to the same power. </a:t>
            </a:r>
          </a:p>
          <a:p>
            <a:pPr marL="514350" indent="-514350">
              <a:buAutoNum type="alphaLcParenR"/>
            </a:pPr>
            <a:r>
              <a:rPr lang="en-AU" dirty="0"/>
              <a:t>4y + 5y = 		9y </a:t>
            </a:r>
          </a:p>
          <a:p>
            <a:pPr marL="514350" indent="-514350">
              <a:buAutoNum type="alphaLcParenR"/>
            </a:pPr>
            <a:r>
              <a:rPr lang="en-AU" dirty="0"/>
              <a:t>8c + 4c – 3c = 	9c </a:t>
            </a:r>
          </a:p>
          <a:p>
            <a:pPr marL="514350" indent="-514350">
              <a:buAutoNum type="alphaLcParenR"/>
            </a:pPr>
            <a:r>
              <a:rPr lang="en-AU" dirty="0"/>
              <a:t>7t + 4r + 2t – 2r =	 9t + 2r </a:t>
            </a:r>
          </a:p>
          <a:p>
            <a:pPr marL="0" indent="0">
              <a:buNone/>
            </a:pPr>
            <a:r>
              <a:rPr lang="en-AU" dirty="0"/>
              <a:t>When addition or subtraction is involved, we can only simply terms if they ARE like terms.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8D2-12F5-4AC8-B249-0FA29902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books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E523A3-3CA2-477D-B4A7-BCB6297DE03E}"/>
              </a:ext>
            </a:extLst>
          </p:cNvPr>
          <p:cNvSpPr/>
          <p:nvPr/>
        </p:nvSpPr>
        <p:spPr>
          <a:xfrm>
            <a:off x="611560" y="1844824"/>
            <a:ext cx="3553428" cy="488927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E7D3D7-BF16-429E-8826-007DB5472822}"/>
              </a:ext>
            </a:extLst>
          </p:cNvPr>
          <p:cNvSpPr/>
          <p:nvPr/>
        </p:nvSpPr>
        <p:spPr>
          <a:xfrm>
            <a:off x="5128061" y="1844825"/>
            <a:ext cx="3553428" cy="486794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9528A-2A89-4779-A2C6-C3071E5AF31E}"/>
              </a:ext>
            </a:extLst>
          </p:cNvPr>
          <p:cNvSpPr txBox="1"/>
          <p:nvPr/>
        </p:nvSpPr>
        <p:spPr>
          <a:xfrm>
            <a:off x="912110" y="2276872"/>
            <a:ext cx="29523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/>
              <a:t>4h + 2h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2(x + 3)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5d + 3d – 2d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3(4r – 2)  </a:t>
            </a:r>
            <a:endParaRPr lang="en-AU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E7D0A-F430-4D50-9FF0-8C53135AB2BD}"/>
              </a:ext>
            </a:extLst>
          </p:cNvPr>
          <p:cNvSpPr txBox="1"/>
          <p:nvPr/>
        </p:nvSpPr>
        <p:spPr>
          <a:xfrm>
            <a:off x="2394058" y="1258813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Simplify the following expressions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1EA83-5C10-4F52-8B46-F2DAFB504AB3}"/>
              </a:ext>
            </a:extLst>
          </p:cNvPr>
          <p:cNvSpPr txBox="1"/>
          <p:nvPr/>
        </p:nvSpPr>
        <p:spPr>
          <a:xfrm>
            <a:off x="5160930" y="2282913"/>
            <a:ext cx="33742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/>
              <a:t>4f + 3d + 3f + 5d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2(2v – 3d + 2)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8j – 3f – 2f – 7j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3h + (-4f) – (-3h) 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98274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3022-66A0-4029-B997-24941B42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8AF777-D987-46F6-9220-21783D3E2226}"/>
              </a:ext>
            </a:extLst>
          </p:cNvPr>
          <p:cNvSpPr/>
          <p:nvPr/>
        </p:nvSpPr>
        <p:spPr>
          <a:xfrm>
            <a:off x="611560" y="1844824"/>
            <a:ext cx="3553428" cy="488927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B347BB31-5C29-4C2C-8284-C390BC3D5F1D}"/>
              </a:ext>
            </a:extLst>
          </p:cNvPr>
          <p:cNvSpPr/>
          <p:nvPr/>
        </p:nvSpPr>
        <p:spPr>
          <a:xfrm>
            <a:off x="5128061" y="1844825"/>
            <a:ext cx="3553428" cy="486794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D88A0-2053-46E4-BE77-228F5B3A180E}"/>
              </a:ext>
            </a:extLst>
          </p:cNvPr>
          <p:cNvSpPr txBox="1"/>
          <p:nvPr/>
        </p:nvSpPr>
        <p:spPr>
          <a:xfrm>
            <a:off x="912110" y="2276872"/>
            <a:ext cx="29523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6h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2x + 6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6d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12r – 6   </a:t>
            </a:r>
            <a:endParaRPr lang="en-AU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883BF-6992-453F-AC11-DF98E15E7084}"/>
              </a:ext>
            </a:extLst>
          </p:cNvPr>
          <p:cNvSpPr txBox="1"/>
          <p:nvPr/>
        </p:nvSpPr>
        <p:spPr>
          <a:xfrm>
            <a:off x="5160930" y="2282913"/>
            <a:ext cx="33742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7f + 8d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4v – 6d + 4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J – 5f 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6h – 4f  </a:t>
            </a: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0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9E81-0DC7-431B-A2E0-02762727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55D54-844C-41B3-8623-81AA1134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Factors are numbers that multiply to make another number.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factors are when 2 numbers share a common multiple.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10 and 20 share the factors: 1, 2, 5 and 10 </a:t>
            </a:r>
          </a:p>
          <a:p>
            <a:pPr marL="0" indent="0">
              <a:buNone/>
            </a:pPr>
            <a:r>
              <a:rPr lang="en-US" dirty="0"/>
              <a:t>The HIGHEST common factor is 10.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787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365" name="TextBox 7"/>
          <p:cNvSpPr txBox="1">
            <a:spLocks noChangeArrowheads="1"/>
          </p:cNvSpPr>
          <p:nvPr/>
        </p:nvSpPr>
        <p:spPr bwMode="auto">
          <a:xfrm>
            <a:off x="430908" y="333374"/>
            <a:ext cx="80654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600" dirty="0">
                <a:latin typeface="+mn-lt"/>
              </a:rPr>
              <a:t>What is the highest common factor of .....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10 and 15</a:t>
            </a:r>
          </a:p>
        </p:txBody>
      </p:sp>
      <p:sp>
        <p:nvSpPr>
          <p:cNvPr id="1536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5368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536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5370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7231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6389" name="TextBox 7"/>
          <p:cNvSpPr txBox="1">
            <a:spLocks noChangeArrowheads="1"/>
          </p:cNvSpPr>
          <p:nvPr/>
        </p:nvSpPr>
        <p:spPr bwMode="auto">
          <a:xfrm>
            <a:off x="1233982" y="334241"/>
            <a:ext cx="71649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9 and 12</a:t>
            </a:r>
          </a:p>
        </p:txBody>
      </p:sp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639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6394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1070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413" name="TextBox 7"/>
          <p:cNvSpPr txBox="1">
            <a:spLocks noChangeArrowheads="1"/>
          </p:cNvSpPr>
          <p:nvPr/>
        </p:nvSpPr>
        <p:spPr bwMode="auto">
          <a:xfrm>
            <a:off x="899592" y="333374"/>
            <a:ext cx="75334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15 and 20</a:t>
            </a:r>
          </a:p>
        </p:txBody>
      </p: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741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741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741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6061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1325376" y="333375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18 and 30</a:t>
            </a:r>
          </a:p>
        </p:txBody>
      </p:sp>
      <p:sp>
        <p:nvSpPr>
          <p:cNvPr id="18439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8440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8441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8442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3650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980162" y="361084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16 and 24</a:t>
            </a: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946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946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4716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1146626" y="333375"/>
            <a:ext cx="72417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12 and 36</a:t>
            </a:r>
          </a:p>
        </p:txBody>
      </p:sp>
      <p:sp>
        <p:nvSpPr>
          <p:cNvPr id="2048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048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048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814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2533" name="TextBox 7"/>
          <p:cNvSpPr txBox="1">
            <a:spLocks noChangeArrowheads="1"/>
          </p:cNvSpPr>
          <p:nvPr/>
        </p:nvSpPr>
        <p:spPr bwMode="auto">
          <a:xfrm>
            <a:off x="827584" y="333374"/>
            <a:ext cx="7848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20 and 30</a:t>
            </a: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253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4815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827584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28 and 70</a:t>
            </a:r>
          </a:p>
        </p:txBody>
      </p:sp>
      <p:sp>
        <p:nvSpPr>
          <p:cNvPr id="2458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458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458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850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09739" y="5084763"/>
                <a:ext cx="2483644" cy="143986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1" y="5084763"/>
                <a:ext cx="3311525" cy="14398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7776" y="3429002"/>
                <a:ext cx="2484835" cy="143986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1" y="3429001"/>
                <a:ext cx="3313113" cy="14398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971600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Box 8"/>
              <p:cNvSpPr txBox="1">
                <a:spLocks noChangeArrowheads="1"/>
              </p:cNvSpPr>
              <p:nvPr/>
            </p:nvSpPr>
            <p:spPr bwMode="auto">
              <a:xfrm>
                <a:off x="2250282" y="1484314"/>
                <a:ext cx="4589860" cy="1225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7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72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7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72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7200" i="1">
                        <a:latin typeface="Cambria Math"/>
                      </a:rPr>
                      <m:t>𝑥</m:t>
                    </m:r>
                  </m:oMath>
                </a14:m>
                <a:endParaRPr lang="en-GB" sz="7200" dirty="0">
                  <a:latin typeface="+mn-lt"/>
                </a:endParaRPr>
              </a:p>
            </p:txBody>
          </p:sp>
        </mc:Choice>
        <mc:Fallback xmlns="">
          <p:sp>
            <p:nvSpPr>
              <p:cNvPr id="2560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6" y="1484314"/>
                <a:ext cx="6119813" cy="1225272"/>
              </a:xfrm>
              <a:prstGeom prst="rect">
                <a:avLst/>
              </a:prstGeom>
              <a:blipFill rotWithShape="0">
                <a:blip r:embed="rId4"/>
                <a:stretch>
                  <a:fillRect t="-16418" b="-407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560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560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561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3335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6629" name="TextBox 7"/>
          <p:cNvSpPr txBox="1">
            <a:spLocks noChangeArrowheads="1"/>
          </p:cNvSpPr>
          <p:nvPr/>
        </p:nvSpPr>
        <p:spPr bwMode="auto">
          <a:xfrm>
            <a:off x="1043608" y="333375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38 and 57</a:t>
            </a:r>
          </a:p>
        </p:txBody>
      </p:sp>
      <p:sp>
        <p:nvSpPr>
          <p:cNvPr id="2663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6632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663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6634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83624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9268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b="1" u="sng" dirty="0">
                <a:latin typeface="+mj-lt"/>
              </a:rPr>
              <a:t>Factorising Expressions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Factorising is the opposite of expansion.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It puts an expression back into brackets.</a:t>
            </a: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We have to find the Highest Common Factor 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of all terms to factorise.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0571" y="2118047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Expanding</a:t>
            </a:r>
          </a:p>
        </p:txBody>
      </p:sp>
      <p:sp>
        <p:nvSpPr>
          <p:cNvPr id="5" name="Curved Down Arrow 4"/>
          <p:cNvSpPr/>
          <p:nvPr/>
        </p:nvSpPr>
        <p:spPr>
          <a:xfrm>
            <a:off x="1259632" y="2708920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0800000">
            <a:off x="1166748" y="4026400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490" y="3361564"/>
            <a:ext cx="1717137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3(</a:t>
            </a:r>
            <a:r>
              <a:rPr lang="en-GB" sz="2800" b="1" dirty="0">
                <a:solidFill>
                  <a:srgbClr val="FF0000"/>
                </a:solidFill>
              </a:rPr>
              <a:t>2t</a:t>
            </a:r>
            <a:r>
              <a:rPr lang="en-GB" sz="2800" b="1" dirty="0"/>
              <a:t> + </a:t>
            </a:r>
            <a:r>
              <a:rPr lang="en-GB" sz="2800" b="1" dirty="0">
                <a:solidFill>
                  <a:srgbClr val="00B050"/>
                </a:solidFill>
              </a:rPr>
              <a:t>3m</a:t>
            </a:r>
            <a:r>
              <a:rPr lang="en-GB" sz="2800" b="1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3842" y="3357836"/>
            <a:ext cx="130997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6t + </a:t>
            </a:r>
            <a:r>
              <a:rPr lang="en-GB" sz="2800" b="1" dirty="0">
                <a:solidFill>
                  <a:srgbClr val="00B050"/>
                </a:solidFill>
              </a:rPr>
              <a:t>9m</a:t>
            </a:r>
            <a:endParaRPr lang="en-GB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1405019" y="4653136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Factorising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648" y="2118046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Expanding</a:t>
            </a:r>
          </a:p>
        </p:txBody>
      </p:sp>
      <p:sp>
        <p:nvSpPr>
          <p:cNvPr id="14" name="Curved Down Arrow 13"/>
          <p:cNvSpPr/>
          <p:nvPr/>
        </p:nvSpPr>
        <p:spPr>
          <a:xfrm>
            <a:off x="5290709" y="2708919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 rot="10800000">
            <a:off x="5197825" y="4026399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76587" y="3361563"/>
            <a:ext cx="166263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4(</a:t>
            </a:r>
            <a:r>
              <a:rPr lang="en-GB" sz="2800" b="1" dirty="0">
                <a:solidFill>
                  <a:srgbClr val="FF0000"/>
                </a:solidFill>
              </a:rPr>
              <a:t>5y</a:t>
            </a:r>
            <a:r>
              <a:rPr lang="en-GB" sz="2800" b="1" dirty="0"/>
              <a:t> + </a:t>
            </a:r>
            <a:r>
              <a:rPr lang="en-GB" sz="2800" b="1" dirty="0">
                <a:solidFill>
                  <a:srgbClr val="00B050"/>
                </a:solidFill>
              </a:rPr>
              <a:t>2p</a:t>
            </a:r>
            <a:r>
              <a:rPr lang="en-GB" sz="2800" b="1" dirty="0"/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4919" y="3357835"/>
            <a:ext cx="143821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20y + </a:t>
            </a:r>
            <a:r>
              <a:rPr lang="en-GB" sz="2800" b="1" dirty="0">
                <a:solidFill>
                  <a:srgbClr val="00B050"/>
                </a:solidFill>
              </a:rPr>
              <a:t>8p</a:t>
            </a:r>
            <a:endParaRPr lang="en-GB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5436096" y="4653135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Factorising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5955" y="4026107"/>
            <a:ext cx="973343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HCF =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7032" y="3978452"/>
            <a:ext cx="599844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HCF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4690" y="3978452"/>
            <a:ext cx="500458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249843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7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8" grpId="0" animBg="1"/>
      <p:bldP spid="20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816442" y="1468911"/>
                <a:ext cx="396651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14:m>
                  <m:oMath xmlns:m="http://schemas.openxmlformats.org/officeDocument/2006/math">
                    <m:r>
                      <a:rPr lang="en-AU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𝐹𝑎𝑐𝑡𝑜𝑟𝑖𝑠𝑒</m:t>
                    </m:r>
                  </m:oMath>
                </a14:m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     </a:t>
                </a:r>
                <a:endParaRPr lang="en-AU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442" y="1468911"/>
                <a:ext cx="3966519" cy="1354217"/>
              </a:xfrm>
              <a:prstGeom prst="rect">
                <a:avLst/>
              </a:prstGeom>
              <a:blipFill>
                <a:blip r:embed="rId2"/>
                <a:stretch>
                  <a:fillRect b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816442" y="2994663"/>
                <a:ext cx="396651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     </a:t>
                </a:r>
                <a:endParaRPr lang="en-AU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442" y="2994663"/>
                <a:ext cx="3966519" cy="1354217"/>
              </a:xfrm>
              <a:prstGeom prst="rect">
                <a:avLst/>
              </a:prstGeom>
              <a:blipFill>
                <a:blip r:embed="rId3"/>
                <a:stretch>
                  <a:fillRect l="-461" b="-40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805233" y="2526433"/>
                <a:ext cx="3966519" cy="1000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33" y="2526433"/>
                <a:ext cx="3966519" cy="1000274"/>
              </a:xfrm>
              <a:prstGeom prst="rect">
                <a:avLst/>
              </a:prstGeom>
              <a:blipFill>
                <a:blip r:embed="rId4"/>
                <a:stretch>
                  <a:fillRect b="-4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05233" y="4012584"/>
                <a:ext cx="3864575" cy="1051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14:m>
                  <m:oMath xmlns:m="http://schemas.openxmlformats.org/officeDocument/2006/math">
                    <m:r>
                      <a:rPr lang="en-AU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=</a:t>
                </a:r>
                <a14:m>
                  <m:oMath xmlns:m="http://schemas.openxmlformats.org/officeDocument/2006/math">
                    <m:r>
                      <a:rPr lang="en-AU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AU" b="1" dirty="0">
                  <a:solidFill>
                    <a:schemeClr val="tx1"/>
                  </a:solidFill>
                  <a:latin typeface="Century Gothic" panose="020B0502020202020204"/>
                </a:endParaRPr>
              </a:p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=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tx1"/>
                  </a:solidFill>
                  <a:latin typeface="Century Gothic" panose="020B0502020202020204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33" y="4012584"/>
                <a:ext cx="3864575" cy="1051570"/>
              </a:xfrm>
              <a:prstGeom prst="rect">
                <a:avLst/>
              </a:prstGeom>
              <a:blipFill>
                <a:blip r:embed="rId5"/>
                <a:stretch>
                  <a:fillRect l="-1262" b="-8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18815" y="1122661"/>
            <a:ext cx="47251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500" b="1" dirty="0">
                <a:latin typeface="Century Gothic" panose="020B0502020202020204"/>
              </a:rPr>
              <a:t>Look for highest common factor</a:t>
            </a:r>
          </a:p>
          <a:p>
            <a:pPr defTabSz="685800"/>
            <a:r>
              <a:rPr lang="en-AU" sz="1500" b="1" dirty="0">
                <a:latin typeface="Century Gothic" panose="020B0502020202020204"/>
              </a:rPr>
              <a:t>Write terms as a product of factors using HCF</a:t>
            </a:r>
          </a:p>
          <a:p>
            <a:pPr defTabSz="685800"/>
            <a:r>
              <a:rPr lang="en-AU" sz="1500" b="1" dirty="0">
                <a:latin typeface="Century Gothic" panose="020B0502020202020204"/>
              </a:rPr>
              <a:t>Take highest common factor to front of brackets</a:t>
            </a:r>
            <a:r>
              <a:rPr lang="en-AU" sz="1500" b="1" dirty="0">
                <a:solidFill>
                  <a:srgbClr val="00B0F0"/>
                </a:solidFill>
                <a:latin typeface="Century Gothic" panose="020B0502020202020204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2502E-9B55-4976-9A0C-C57BDE8ACD34}"/>
              </a:ext>
            </a:extLst>
          </p:cNvPr>
          <p:cNvSpPr txBox="1"/>
          <p:nvPr/>
        </p:nvSpPr>
        <p:spPr>
          <a:xfrm>
            <a:off x="2850356" y="179926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4912-9175-4DCF-9FF8-0BF88706A4DF}"/>
              </a:ext>
            </a:extLst>
          </p:cNvPr>
          <p:cNvSpPr txBox="1"/>
          <p:nvPr/>
        </p:nvSpPr>
        <p:spPr>
          <a:xfrm>
            <a:off x="2938593" y="3336410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6F7A8-A36F-4CBF-A1F9-07D05DF7AD2D}"/>
              </a:ext>
            </a:extLst>
          </p:cNvPr>
          <p:cNvSpPr txBox="1"/>
          <p:nvPr/>
        </p:nvSpPr>
        <p:spPr>
          <a:xfrm>
            <a:off x="5650706" y="257160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D209F-9986-497D-80E9-B84B1374BBC2}"/>
              </a:ext>
            </a:extLst>
          </p:cNvPr>
          <p:cNvSpPr txBox="1"/>
          <p:nvPr/>
        </p:nvSpPr>
        <p:spPr>
          <a:xfrm>
            <a:off x="6788492" y="405606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4</a:t>
            </a:r>
          </a:p>
        </p:txBody>
      </p:sp>
    </p:spTree>
    <p:extLst>
      <p:ext uri="{BB962C8B-B14F-4D97-AF65-F5344CB8AC3E}">
        <p14:creationId xmlns:p14="http://schemas.microsoft.com/office/powerpoint/2010/main" val="36983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0A88-983E-4498-BD14-C48A7B6F4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552" y="1844824"/>
            <a:ext cx="7772400" cy="1470025"/>
          </a:xfrm>
        </p:spPr>
        <p:txBody>
          <a:bodyPr/>
          <a:lstStyle/>
          <a:p>
            <a:r>
              <a:rPr lang="en-US" dirty="0"/>
              <a:t>Individual task sheet 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71911E-6DDD-4B61-9C06-D0FDF0C1B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13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2 – Factorise the following: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2746648" cy="471338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Level 5b</a:t>
            </a:r>
          </a:p>
          <a:p>
            <a:pPr marL="514350" indent="-514350">
              <a:buAutoNum type="arabicParenR"/>
            </a:pPr>
            <a:r>
              <a:rPr lang="en-GB" dirty="0"/>
              <a:t>2x + 6</a:t>
            </a:r>
          </a:p>
          <a:p>
            <a:pPr marL="514350" indent="-514350">
              <a:buAutoNum type="arabicParenR"/>
            </a:pPr>
            <a:r>
              <a:rPr lang="en-GB" dirty="0"/>
              <a:t>4m + 12</a:t>
            </a:r>
          </a:p>
          <a:p>
            <a:pPr marL="514350" indent="-514350">
              <a:buAutoNum type="arabicParenR"/>
            </a:pPr>
            <a:r>
              <a:rPr lang="en-GB" dirty="0"/>
              <a:t>16y + 10n</a:t>
            </a:r>
          </a:p>
          <a:p>
            <a:pPr marL="514350" indent="-514350">
              <a:buAutoNum type="arabicParenR"/>
            </a:pPr>
            <a:r>
              <a:rPr lang="en-GB" dirty="0"/>
              <a:t>20p – 15r</a:t>
            </a:r>
          </a:p>
          <a:p>
            <a:pPr marL="514350" indent="-514350">
              <a:buAutoNum type="arabicParenR"/>
            </a:pPr>
            <a:r>
              <a:rPr lang="en-GB" dirty="0"/>
              <a:t>15b – 5t</a:t>
            </a:r>
          </a:p>
          <a:p>
            <a:pPr marL="514350" indent="-514350">
              <a:buAutoNum type="arabicParenR"/>
            </a:pPr>
            <a:r>
              <a:rPr lang="en-GB" dirty="0"/>
              <a:t>9 + 3x</a:t>
            </a:r>
          </a:p>
          <a:p>
            <a:pPr marL="514350" indent="-514350">
              <a:buAutoNum type="arabicParenR"/>
            </a:pPr>
            <a:r>
              <a:rPr lang="en-GB" dirty="0"/>
              <a:t>12x + 16e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endParaRPr lang="en-GB" dirty="0"/>
          </a:p>
          <a:p>
            <a:pPr marL="0" indent="0">
              <a:buNone/>
            </a:pPr>
            <a:endParaRPr lang="en-GB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/>
                  <a:t>Level 5a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12x + 16e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15b - 5t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9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0" smtClean="0">
                        <a:latin typeface="Cambria Math"/>
                      </a:rPr>
                      <m:t>−10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y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4xy + 3x</a:t>
                </a: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blipFill rotWithShape="1">
                <a:blip r:embed="rId2"/>
                <a:stretch>
                  <a:fillRect l="-5765" t="-1680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/>
                  <a:t>Level 6c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4xy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/>
                  <a:t>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+ 4x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/>
                  <a:t>15c - 10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𝑝𝑟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 −</m:t>
                    </m:r>
                    <m:r>
                      <a:rPr lang="en-GB" b="0" i="1" smtClean="0">
                        <a:latin typeface="Cambria Math"/>
                      </a:rPr>
                      <m:t>𝑝𝑟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blipFill rotWithShape="1">
                <a:blip r:embed="rId3"/>
                <a:stretch>
                  <a:fillRect l="-5556" t="-1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45909" y="5915454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516365" y="582438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/>
            <a:r>
              <a:rPr lang="en-GB" sz="2800" dirty="0"/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2160351" y="5843627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2914983" y="6101315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744527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386711" y="60901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4612544" y="5898679"/>
            <a:ext cx="800078" cy="742433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6216255" y="58986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7128959" y="592076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7932398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056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2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9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7000"/>
                            </p:stCondLst>
                            <p:childTnLst>
                              <p:par>
                                <p:cTn id="26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9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6000"/>
                            </p:stCondLst>
                            <p:childTnLst>
                              <p:par>
                                <p:cTn id="33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9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000"/>
                            </p:stCondLst>
                            <p:childTnLst>
                              <p:par>
                                <p:cTn id="40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9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4000"/>
                            </p:stCondLst>
                            <p:childTnLst>
                              <p:par>
                                <p:cTn id="47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9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3000"/>
                            </p:stCondLst>
                            <p:childTnLst>
                              <p:par>
                                <p:cTn id="54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9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00"/>
                            </p:stCondLst>
                            <p:childTnLst>
                              <p:par>
                                <p:cTn id="61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31000"/>
                            </p:stCondLst>
                            <p:childTnLst>
                              <p:par>
                                <p:cTn id="68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9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41991"/>
            <a:ext cx="915318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95536" y="2882"/>
            <a:ext cx="4824536" cy="539109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3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157192"/>
            <a:ext cx="909089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79512" y="4862471"/>
            <a:ext cx="1656184" cy="3014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Extension:</a:t>
            </a:r>
          </a:p>
        </p:txBody>
      </p:sp>
    </p:spTree>
    <p:extLst>
      <p:ext uri="{BB962C8B-B14F-4D97-AF65-F5344CB8AC3E}">
        <p14:creationId xmlns:p14="http://schemas.microsoft.com/office/powerpoint/2010/main" val="4281532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7544" y="23962"/>
            <a:ext cx="4824536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Answers to Activity 1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044"/>
            <a:ext cx="914400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0"/>
            <a:ext cx="9144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71CFE9EA-50D8-4028-BE42-DC2D813BE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251674"/>
            <a:ext cx="8661654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4982" y="452842"/>
            <a:ext cx="5232654" cy="12618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b="1" u="sng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Extension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A218DD6-0CC7-465B-B80F-747F97B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044952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2492896"/>
            <a:ext cx="8208912" cy="15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90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732</Words>
  <Application>Microsoft Office PowerPoint</Application>
  <PresentationFormat>On-screen Show (4:3)</PresentationFormat>
  <Paragraphs>250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Like terms </vt:lpstr>
      <vt:lpstr>Exercise books</vt:lpstr>
      <vt:lpstr>Answers </vt:lpstr>
      <vt:lpstr>Factors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task sheet </vt:lpstr>
      <vt:lpstr>Activity 2 – Factorise the following:</vt:lpstr>
      <vt:lpstr>Activity 3</vt:lpstr>
      <vt:lpstr>Answers to Activity 1</vt:lpstr>
      <vt:lpstr>Extension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Goldspink</dc:creator>
  <cp:lastModifiedBy>DAVIES Rhys [Busselton Senior High School]</cp:lastModifiedBy>
  <cp:revision>12</cp:revision>
  <dcterms:created xsi:type="dcterms:W3CDTF">2014-02-24T16:34:55Z</dcterms:created>
  <dcterms:modified xsi:type="dcterms:W3CDTF">2022-04-06T05:29:59Z</dcterms:modified>
</cp:coreProperties>
</file>
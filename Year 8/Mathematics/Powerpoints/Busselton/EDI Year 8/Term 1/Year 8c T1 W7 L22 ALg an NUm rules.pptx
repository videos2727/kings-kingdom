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3" r:id="rId2"/>
    <p:sldId id="304" r:id="rId3"/>
    <p:sldId id="294" r:id="rId4"/>
    <p:sldId id="298" r:id="rId5"/>
    <p:sldId id="297" r:id="rId6"/>
    <p:sldId id="299" r:id="rId7"/>
    <p:sldId id="302" r:id="rId8"/>
    <p:sldId id="296" r:id="rId9"/>
    <p:sldId id="263" r:id="rId10"/>
    <p:sldId id="305" r:id="rId11"/>
    <p:sldId id="264" r:id="rId12"/>
    <p:sldId id="300" r:id="rId13"/>
    <p:sldId id="301" r:id="rId14"/>
    <p:sldId id="303" r:id="rId15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0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407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767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07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15/03/2022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5359" y="404310"/>
            <a:ext cx="14941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15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3" y="1978332"/>
            <a:ext cx="8204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Understand that Number and Algebra use the same rules.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Describe like terms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8195" y="3821538"/>
            <a:ext cx="854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rules revisited.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relationships.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expressions.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128E2-5B51-4C52-91D9-6A0CBAC6A1BA}"/>
              </a:ext>
            </a:extLst>
          </p:cNvPr>
          <p:cNvSpPr txBox="1"/>
          <p:nvPr/>
        </p:nvSpPr>
        <p:spPr>
          <a:xfrm>
            <a:off x="2518194" y="1370481"/>
            <a:ext cx="8204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 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Rules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EF38-65FD-41B2-A2D7-BF6C880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word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3924-65FD-44BC-846A-E0873071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Pronumeral 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Tx/>
              <a:buChar char="-"/>
            </a:pPr>
            <a:r>
              <a:rPr lang="en-AU" sz="2800" b="1" dirty="0"/>
              <a:t>A letter or symbol used in place of a number</a:t>
            </a:r>
          </a:p>
          <a:p>
            <a:pPr>
              <a:buFontTx/>
              <a:buChar char="-"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Pronumerals represent </a:t>
            </a:r>
            <a:r>
              <a:rPr lang="en-AU" sz="2800" b="1" i="1" dirty="0"/>
              <a:t>numbers, so they MUST follow the same rules as numbers.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757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936" y="153149"/>
            <a:ext cx="5678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22497" y="775676"/>
                <a:ext cx="77216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 Commutative Property of Multiplication.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eg</m:t>
                    </m:r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×4=4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  <a:latin typeface="Century Gothic" panose="020B0502020202020204"/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  <a:latin typeface="Century Gothic" panose="020B0502020202020204"/>
                  </a:rPr>
                  <a:t>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7" y="775676"/>
                <a:ext cx="7721600" cy="1938992"/>
              </a:xfrm>
              <a:prstGeom prst="rect">
                <a:avLst/>
              </a:prstGeom>
              <a:blipFill>
                <a:blip r:embed="rId2"/>
                <a:stretch>
                  <a:fillRect l="-1264" t="-25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64921" y="2437936"/>
                <a:ext cx="7721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Commutative Property of Addition.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4=4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921" y="2437936"/>
                <a:ext cx="7721600" cy="1200329"/>
              </a:xfrm>
              <a:prstGeom prst="rect">
                <a:avLst/>
              </a:prstGeom>
              <a:blipFill>
                <a:blip r:embed="rId3"/>
                <a:stretch>
                  <a:fillRect l="-1263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3765861" y="1991396"/>
            <a:ext cx="1598121" cy="3373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65861" y="1593274"/>
            <a:ext cx="1767589" cy="3590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50596" y="1182223"/>
            <a:ext cx="1598121" cy="3373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89283" y="2861006"/>
            <a:ext cx="1598121" cy="3373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89282" y="3242319"/>
            <a:ext cx="1598121" cy="39594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39622" y="163547"/>
            <a:ext cx="430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Some number properties.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26447" y="3726047"/>
                <a:ext cx="922712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Associative Property of Multiplication.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47" y="3726047"/>
                <a:ext cx="9227127" cy="1569660"/>
              </a:xfrm>
              <a:prstGeom prst="rect">
                <a:avLst/>
              </a:prstGeom>
              <a:blipFill>
                <a:blip r:embed="rId4"/>
                <a:stretch>
                  <a:fillRect l="-991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04000" y="4049212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4000" y="4049212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16795" y="4524525"/>
                <a:ext cx="92271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Associative Property of Addition.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3+4+2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795" y="4524525"/>
                <a:ext cx="9227127" cy="1200329"/>
              </a:xfrm>
              <a:prstGeom prst="rect">
                <a:avLst/>
              </a:prstGeom>
              <a:blipFill>
                <a:blip r:embed="rId5"/>
                <a:stretch>
                  <a:fillRect l="-991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189282" y="4847690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721" y="4880353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4489" y="4418811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4489" y="4418811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852" y="5233280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676" y="5250075"/>
            <a:ext cx="269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(        )</a:t>
            </a:r>
          </a:p>
        </p:txBody>
      </p:sp>
    </p:spTree>
    <p:extLst>
      <p:ext uri="{BB962C8B-B14F-4D97-AF65-F5344CB8AC3E}">
        <p14:creationId xmlns:p14="http://schemas.microsoft.com/office/powerpoint/2010/main" val="42941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936" y="153149"/>
            <a:ext cx="5678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24268" y="627712"/>
                <a:ext cx="77216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The Commutative Property of Multiplication.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eg</m:t>
                    </m:r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×4=4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  <a:latin typeface="Century Gothic" panose="020B0502020202020204"/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  <a:latin typeface="Century Gothic" panose="020B0502020202020204"/>
                  </a:rPr>
                  <a:t>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𝑏𝑎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268" y="627712"/>
                <a:ext cx="7721600" cy="1938992"/>
              </a:xfrm>
              <a:prstGeom prst="rect">
                <a:avLst/>
              </a:prstGeom>
              <a:blipFill>
                <a:blip r:embed="rId3"/>
                <a:stretch>
                  <a:fillRect l="-1184" t="-25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96646" y="2308121"/>
                <a:ext cx="7721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Commutative Property of Addition.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4=4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646" y="2308121"/>
                <a:ext cx="7721600" cy="1200329"/>
              </a:xfrm>
              <a:prstGeom prst="rect">
                <a:avLst/>
              </a:prstGeom>
              <a:blipFill>
                <a:blip r:embed="rId4"/>
                <a:stretch>
                  <a:fillRect l="-1264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6696948" y="2731437"/>
            <a:ext cx="1598121" cy="3373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10721" y="1366866"/>
            <a:ext cx="1767589" cy="3590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10721" y="1006432"/>
            <a:ext cx="1598121" cy="3373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65998" y="1799417"/>
            <a:ext cx="1598121" cy="3373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52000" y="3137262"/>
            <a:ext cx="1598121" cy="3801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24268" y="164189"/>
            <a:ext cx="430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Some number properties.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24268" y="3782805"/>
                <a:ext cx="922712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Associative Property of Multiplication.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</a:rPr>
                  <a:t>       </a:t>
                </a:r>
                <a:r>
                  <a:rPr lang="en-AU" sz="2400" dirty="0">
                    <a:solidFill>
                      <a:srgbClr val="FF0000"/>
                    </a:solidFill>
                  </a:rPr>
                  <a:t>_____________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268" y="3782805"/>
                <a:ext cx="9227127" cy="1569660"/>
              </a:xfrm>
              <a:prstGeom prst="rect">
                <a:avLst/>
              </a:prstGeom>
              <a:blipFill>
                <a:blip r:embed="rId5"/>
                <a:stretch>
                  <a:fillRect l="-991" t="-3113" b="-8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64119" y="5228436"/>
                <a:ext cx="92271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Associative Property of Addition.</a:t>
                </a:r>
              </a:p>
              <a:p>
                <a:pPr lvl="0" defTabSz="45720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3+4+2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119" y="5228436"/>
                <a:ext cx="9227127" cy="1200329"/>
              </a:xfrm>
              <a:prstGeom prst="rect">
                <a:avLst/>
              </a:prstGeom>
              <a:blipFill>
                <a:blip r:embed="rId6"/>
                <a:stretch>
                  <a:fillRect l="-991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58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964873" y="879203"/>
                <a:ext cx="9227127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Multiplication Property of One.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873" y="879203"/>
                <a:ext cx="9227127" cy="1405513"/>
              </a:xfrm>
              <a:prstGeom prst="rect">
                <a:avLst/>
              </a:prstGeom>
              <a:blipFill>
                <a:blip r:embed="rId2"/>
                <a:stretch>
                  <a:fillRect l="-991" t="-34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4542" y="2162371"/>
                <a:ext cx="9227127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Multiplication Property of Zero.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542" y="2162371"/>
                <a:ext cx="9227127" cy="1405513"/>
              </a:xfrm>
              <a:prstGeom prst="rect">
                <a:avLst/>
              </a:prstGeom>
              <a:blipFill>
                <a:blip r:embed="rId3"/>
                <a:stretch>
                  <a:fillRect l="-1057" t="-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1678" y="3984846"/>
                <a:ext cx="9227127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Addition Property of Zero.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78" y="3984846"/>
                <a:ext cx="9227127" cy="1405513"/>
              </a:xfrm>
              <a:prstGeom prst="rect">
                <a:avLst/>
              </a:prstGeom>
              <a:blipFill>
                <a:blip r:embed="rId4"/>
                <a:stretch>
                  <a:fillRect l="-1057" t="-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4569031" y="1925053"/>
            <a:ext cx="564443" cy="3998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39341" y="3204946"/>
            <a:ext cx="639095" cy="3373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95481" y="1411705"/>
            <a:ext cx="537993" cy="3368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9740" y="2704426"/>
            <a:ext cx="438696" cy="3242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59152" y="5062656"/>
            <a:ext cx="470780" cy="3136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58387" y="4528458"/>
            <a:ext cx="468191" cy="3182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8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52000" y="613127"/>
                <a:ext cx="9227127" cy="282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														DPM/A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4+3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00" y="613127"/>
                <a:ext cx="9227127" cy="2821285"/>
              </a:xfrm>
              <a:prstGeom prst="rect">
                <a:avLst/>
              </a:prstGeom>
              <a:blipFill>
                <a:blip r:embed="rId3"/>
                <a:stretch>
                  <a:fillRect l="-1058" t="-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11946" y="3703206"/>
                <a:ext cx="8136264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/>
                  <a:t>Simplify</a:t>
                </a:r>
              </a:p>
              <a:p>
                <a:pPr defTabSz="957263"/>
                <a:r>
                  <a:rPr lang="en-AU" sz="2400" b="1" dirty="0">
                    <a:solidFill>
                      <a:srgbClr val="FF0000"/>
                    </a:solidFill>
                  </a:rPr>
                  <a:t>1.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dirty="0"/>
                  <a:t>		</a:t>
                </a:r>
                <a:r>
                  <a:rPr lang="en-AU" sz="2400" b="1" dirty="0">
                    <a:solidFill>
                      <a:srgbClr val="FF0000"/>
                    </a:solidFill>
                  </a:rPr>
                  <a:t>2.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b="0" dirty="0"/>
                  <a:t>		</a:t>
                </a:r>
                <a:r>
                  <a:rPr lang="en-AU" sz="2400" b="1" dirty="0">
                    <a:solidFill>
                      <a:srgbClr val="FF0000"/>
                    </a:solidFill>
                  </a:rPr>
                  <a:t>3.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3(6−2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946" y="3703206"/>
                <a:ext cx="8136264" cy="1061829"/>
              </a:xfrm>
              <a:prstGeom prst="rect">
                <a:avLst/>
              </a:prstGeom>
              <a:blipFill>
                <a:blip r:embed="rId4"/>
                <a:stretch>
                  <a:fillRect l="-1124" t="-4571" b="-1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4464000" y="1598926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20000" y="2594311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38362" y="2091142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52000" y="613127"/>
                <a:ext cx="9227127" cy="282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														DPM/A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eg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4+3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 err="1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ie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 defTabSz="457200"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00" y="613127"/>
                <a:ext cx="9227127" cy="2821285"/>
              </a:xfrm>
              <a:prstGeom prst="rect">
                <a:avLst/>
              </a:prstGeom>
              <a:blipFill>
                <a:blip r:embed="rId3"/>
                <a:stretch>
                  <a:fillRect l="-1058" t="-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11946" y="3703206"/>
                <a:ext cx="8136264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/>
                  <a:t>Simplify</a:t>
                </a:r>
              </a:p>
              <a:p>
                <a:pPr defTabSz="957263"/>
                <a:r>
                  <a:rPr lang="en-AU" sz="2400" b="1" dirty="0">
                    <a:solidFill>
                      <a:srgbClr val="FF0000"/>
                    </a:solidFill>
                  </a:rPr>
                  <a:t>1.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dirty="0"/>
                  <a:t>		</a:t>
                </a:r>
                <a:r>
                  <a:rPr lang="en-AU" sz="2400" b="1" dirty="0">
                    <a:solidFill>
                      <a:srgbClr val="FF0000"/>
                    </a:solidFill>
                  </a:rPr>
                  <a:t>2. 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b="0" dirty="0"/>
                  <a:t>		</a:t>
                </a:r>
                <a:r>
                  <a:rPr lang="en-AU" sz="2400" b="1" dirty="0">
                    <a:solidFill>
                      <a:srgbClr val="FF0000"/>
                    </a:solidFill>
                  </a:rPr>
                  <a:t>3.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3(6−2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946" y="3703206"/>
                <a:ext cx="8136264" cy="1061829"/>
              </a:xfrm>
              <a:prstGeom prst="rect">
                <a:avLst/>
              </a:prstGeom>
              <a:blipFill>
                <a:blip r:embed="rId4"/>
                <a:stretch>
                  <a:fillRect l="-1124" t="-4571" b="-1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4464000" y="1598926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20000" y="2594311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38362" y="2091142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6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684" y="208548"/>
            <a:ext cx="5678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relationships.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556230" y="672090"/>
                <a:ext cx="7721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</a:rPr>
                  <a:t>If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		6 + 6 + 6 + 6 + 6 + 6 + 6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7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6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400" dirty="0">
                    <a:solidFill>
                      <a:srgbClr val="FF0000"/>
                    </a:solidFill>
                    <a:latin typeface="Century Gothic" panose="020B0502020202020204"/>
                  </a:rPr>
                  <a:t>then</a:t>
                </a:r>
                <a:r>
                  <a:rPr lang="en-AU" sz="2400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=7×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latin typeface="Century Gothic" panose="020B0502020202020204"/>
                  <a:ea typeface="Cambria Math" panose="020405030504060302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									</a:t>
                </a:r>
                <a:r>
                  <a:rPr kumimoji="0" lang="en-AU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=7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30" y="672090"/>
                <a:ext cx="7721600" cy="1200329"/>
              </a:xfrm>
              <a:prstGeom prst="rect">
                <a:avLst/>
              </a:prstGeom>
              <a:blipFill>
                <a:blip r:embed="rId2"/>
                <a:stretch>
                  <a:fillRect l="-1184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10233688" y="4932105"/>
            <a:ext cx="1598121" cy="327757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2865" y="748942"/>
            <a:ext cx="1098304" cy="323166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72866" y="1146018"/>
            <a:ext cx="1098304" cy="3373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2865" y="1527652"/>
            <a:ext cx="640647" cy="300522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83921" y="2283718"/>
                <a:ext cx="7721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</a:rPr>
                  <a:t>If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		3 + 3 + 3 + 3 + 5 + 5 + 5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4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3 + 3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5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400" dirty="0">
                    <a:solidFill>
                      <a:srgbClr val="FF0000"/>
                    </a:solidFill>
                    <a:latin typeface="Century Gothic" panose="020B0502020202020204"/>
                  </a:rPr>
                  <a:t>then</a:t>
                </a:r>
                <a:r>
                  <a:rPr lang="en-AU" sz="2400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=4×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									</a:t>
                </a:r>
                <a:r>
                  <a:rPr kumimoji="0" lang="en-AU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            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=4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+3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21" y="2283718"/>
                <a:ext cx="7721600" cy="1200329"/>
              </a:xfrm>
              <a:prstGeom prst="rect">
                <a:avLst/>
              </a:prstGeom>
              <a:blipFill>
                <a:blip r:embed="rId3"/>
                <a:stretch>
                  <a:fillRect l="-1184" t="-4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1F7A322-BF31-412C-8999-0410043F7313}"/>
                  </a:ext>
                </a:extLst>
              </p:cNvPr>
              <p:cNvSpPr txBox="1"/>
              <p:nvPr/>
            </p:nvSpPr>
            <p:spPr>
              <a:xfrm>
                <a:off x="2604884" y="3658124"/>
                <a:ext cx="7721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</a:rPr>
                  <a:t>If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		2 + 5 + 2 + 5 + 2 + 5 + 5 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3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2 + 4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5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400" dirty="0">
                    <a:solidFill>
                      <a:srgbClr val="FF0000"/>
                    </a:solidFill>
                    <a:latin typeface="Century Gothic" panose="020B0502020202020204"/>
                  </a:rPr>
                  <a:t>then</a:t>
                </a:r>
                <a:r>
                  <a:rPr lang="en-AU" sz="2400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+4×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									</a:t>
                </a:r>
                <a:r>
                  <a:rPr kumimoji="0" lang="en-AU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</a:rPr>
                  <a:t>             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=3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+4</m:t>
                    </m:r>
                    <m:r>
                      <a:rPr kumimoji="0" lang="en-AU" sz="24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1F7A322-BF31-412C-8999-0410043F7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884" y="3658124"/>
                <a:ext cx="7721600" cy="1200329"/>
              </a:xfrm>
              <a:prstGeom prst="rect">
                <a:avLst/>
              </a:prstGeom>
              <a:blipFill>
                <a:blip r:embed="rId4"/>
                <a:stretch>
                  <a:fillRect l="-1184" t="-4061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3A94A9AE-5623-4A03-BA67-0567765D2934}"/>
              </a:ext>
            </a:extLst>
          </p:cNvPr>
          <p:cNvSpPr/>
          <p:nvPr/>
        </p:nvSpPr>
        <p:spPr>
          <a:xfrm>
            <a:off x="7162604" y="3143090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9000F62F-0494-4F7D-AD00-C9D83D2A951F}"/>
              </a:ext>
            </a:extLst>
          </p:cNvPr>
          <p:cNvSpPr/>
          <p:nvPr/>
        </p:nvSpPr>
        <p:spPr>
          <a:xfrm>
            <a:off x="7345637" y="3732371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D543E2F1-2DD6-4B6F-8A2B-CF19869708F4}"/>
              </a:ext>
            </a:extLst>
          </p:cNvPr>
          <p:cNvSpPr/>
          <p:nvPr/>
        </p:nvSpPr>
        <p:spPr>
          <a:xfrm>
            <a:off x="7184768" y="2768919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62604" y="2387305"/>
            <a:ext cx="1980169" cy="353448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9C1E84C6-4688-4D22-92C8-FB8C92C88312}"/>
              </a:ext>
            </a:extLst>
          </p:cNvPr>
          <p:cNvSpPr/>
          <p:nvPr/>
        </p:nvSpPr>
        <p:spPr>
          <a:xfrm>
            <a:off x="7345637" y="4132568"/>
            <a:ext cx="1931713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0481" y="4514850"/>
            <a:ext cx="1854456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63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4" grpId="0" animBg="1"/>
      <p:bldP spid="17" grpId="0" animBg="1"/>
      <p:bldP spid="18" grpId="0" animBg="1"/>
      <p:bldP spid="19" grpId="0" animBg="1"/>
      <p:bldP spid="13" grpId="0" animBg="1"/>
      <p:bldP spid="20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3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NON-examples </a:t>
                </a:r>
              </a:p>
              <a:p>
                <a:endParaRPr lang="en-US" sz="2800" dirty="0"/>
              </a:p>
              <a:p>
                <a:pPr algn="ctr"/>
                <a:r>
                  <a:rPr lang="en-US" sz="2800" dirty="0"/>
                  <a:t>3g + 3h </a:t>
                </a:r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dirty="0"/>
                  <a:t>5 + h 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4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3999345" y="2384686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6082594" y="4483902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33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NON-examples </a:t>
                </a:r>
              </a:p>
              <a:p>
                <a:endParaRPr lang="en-US" sz="2800" dirty="0"/>
              </a:p>
              <a:p>
                <a:pPr algn="ctr"/>
                <a:r>
                  <a:rPr lang="en-US" sz="2800" dirty="0"/>
                  <a:t>3g + 3h </a:t>
                </a:r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dirty="0"/>
                  <a:t>5 + h 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3999345" y="2384686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6082594" y="4483902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DD9B-06CD-4878-AADB-DE5989DF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9BA47-8B62-4586-83B4-8D51875A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9" y="1648980"/>
            <a:ext cx="11723636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86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096EC-7249-475F-9D01-772A915CD212}"/>
              </a:ext>
            </a:extLst>
          </p:cNvPr>
          <p:cNvSpPr txBox="1"/>
          <p:nvPr/>
        </p:nvSpPr>
        <p:spPr>
          <a:xfrm>
            <a:off x="4193309" y="1311563"/>
            <a:ext cx="5597236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Simplify each of the following</a:t>
            </a:r>
          </a:p>
          <a:p>
            <a:pPr marL="457200" indent="-457200">
              <a:spcAft>
                <a:spcPts val="800"/>
              </a:spcAft>
              <a:buClr>
                <a:srgbClr val="FF0000"/>
              </a:buClr>
              <a:buAutoNum type="arabicPeriod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  <a:p>
            <a:pPr marL="457200" indent="-457200">
              <a:spcAft>
                <a:spcPts val="800"/>
              </a:spcAft>
              <a:buClr>
                <a:srgbClr val="FF0000"/>
              </a:buClr>
              <a:buAutoNum type="arabicPeriod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marL="457200" indent="-457200">
              <a:spcAft>
                <a:spcPts val="800"/>
              </a:spcAft>
              <a:buClr>
                <a:srgbClr val="FF0000"/>
              </a:buClr>
              <a:buAutoNum type="arabicPeriod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marL="457200" indent="-457200">
              <a:spcAft>
                <a:spcPts val="800"/>
              </a:spcAft>
              <a:buClr>
                <a:srgbClr val="FF0000"/>
              </a:buClr>
              <a:buAutoNum type="arabicPeriod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457200" indent="-457200">
              <a:spcAft>
                <a:spcPts val="800"/>
              </a:spcAft>
              <a:buClr>
                <a:srgbClr val="FF0000"/>
              </a:buClr>
              <a:buAutoNum type="arabicPeriod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+ 6</a:t>
            </a: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 marL="457200" indent="-457200">
              <a:buAutoNum type="arabicPeriod"/>
            </a:pP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94CAD-68A9-44FA-9944-F8CF98B136D8}"/>
              </a:ext>
            </a:extLst>
          </p:cNvPr>
          <p:cNvSpPr txBox="1"/>
          <p:nvPr/>
        </p:nvSpPr>
        <p:spPr>
          <a:xfrm>
            <a:off x="674254" y="166316"/>
            <a:ext cx="36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books.</a:t>
            </a:r>
          </a:p>
        </p:txBody>
      </p:sp>
    </p:spTree>
    <p:extLst>
      <p:ext uri="{BB962C8B-B14F-4D97-AF65-F5344CB8AC3E}">
        <p14:creationId xmlns:p14="http://schemas.microsoft.com/office/powerpoint/2010/main" val="117048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9E89D5-0BDA-4D35-B986-9E7D89273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4872" y="0"/>
            <a:ext cx="12689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9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F838-9286-4A14-BA88-4315A7BC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– Fist to five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4378-8AAE-4E1F-86A9-B7028064B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Understand that Number and Algebra use the same rules.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AU" sz="3200" b="1" dirty="0">
                <a:solidFill>
                  <a:schemeClr val="tx1"/>
                </a:solidFill>
                <a:latin typeface="Century Gothic" panose="020B0502020202020204"/>
              </a:rPr>
              <a:t>Describe like terms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8280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802</Words>
  <Application>Microsoft Office PowerPoint</Application>
  <PresentationFormat>Widescreen</PresentationFormat>
  <Paragraphs>140</Paragraphs>
  <Slides>14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Century Gothic</vt:lpstr>
      <vt:lpstr>Times New Roman</vt:lpstr>
      <vt:lpstr>Wingdings</vt:lpstr>
      <vt:lpstr>Wingdings 3</vt:lpstr>
      <vt:lpstr>Wisp</vt:lpstr>
      <vt:lpstr>PowerPoint Presentation</vt:lpstr>
      <vt:lpstr>The word 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Terminology</vt:lpstr>
      <vt:lpstr>Terminology</vt:lpstr>
      <vt:lpstr>PowerPoint Presentation</vt:lpstr>
      <vt:lpstr>PowerPoint Presentation</vt:lpstr>
      <vt:lpstr>PowerPoint Presentation</vt:lpstr>
      <vt:lpstr>Reflection – Fist to five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34</cp:revision>
  <cp:lastPrinted>2022-03-14T08:17:14Z</cp:lastPrinted>
  <dcterms:created xsi:type="dcterms:W3CDTF">2022-02-28T13:51:39Z</dcterms:created>
  <dcterms:modified xsi:type="dcterms:W3CDTF">2022-03-15T00:46:11Z</dcterms:modified>
</cp:coreProperties>
</file>
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93" r:id="rId2"/>
    <p:sldId id="326" r:id="rId3"/>
    <p:sldId id="330" r:id="rId4"/>
    <p:sldId id="321" r:id="rId5"/>
    <p:sldId id="331" r:id="rId6"/>
    <p:sldId id="322" r:id="rId7"/>
    <p:sldId id="325" r:id="rId8"/>
    <p:sldId id="328" r:id="rId9"/>
    <p:sldId id="329" r:id="rId10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30/03/2022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3DMFb_7m6mo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88" y="34958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31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8236" y="537055"/>
            <a:ext cx="63938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Factorising continued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2400" b="1" dirty="0">
              <a:solidFill>
                <a:srgbClr val="00B0F0"/>
              </a:solidFill>
              <a:latin typeface="Century Gothic" panose="020B050202020202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factorise expressions and simplify expressions.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48236" y="2696001"/>
            <a:ext cx="93948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</a:t>
            </a:r>
          </a:p>
          <a:p>
            <a:pPr marL="901700" indent="-542925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AU" sz="2400" b="1" dirty="0">
                <a:solidFill>
                  <a:srgbClr val="00B0F0"/>
                </a:solidFill>
              </a:rPr>
              <a:t>Directive numbers</a:t>
            </a:r>
          </a:p>
          <a:p>
            <a:pPr marL="901700" indent="-542925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AU" sz="2400" b="1" dirty="0">
                <a:solidFill>
                  <a:srgbClr val="00B0F0"/>
                </a:solidFill>
              </a:rPr>
              <a:t>Checking through substitution and evaluation.</a:t>
            </a:r>
          </a:p>
          <a:p>
            <a:pPr marL="901700" indent="-542925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AU" sz="2400" b="1" dirty="0">
                <a:solidFill>
                  <a:srgbClr val="00B0F0"/>
                </a:solidFill>
              </a:rPr>
              <a:t>What is HCF?</a:t>
            </a: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Steps to factorise </a:t>
            </a: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Independent practice.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02DA0CC8-AE80-4900-B2DA-1CDE665977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4622913"/>
                  </p:ext>
                </p:extLst>
              </p:nvPr>
            </p:nvGraphicFramePr>
            <p:xfrm>
              <a:off x="2375593" y="1689484"/>
              <a:ext cx="8128000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424338006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7859442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negative multiplied by a negative results in a positive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d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AU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9221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negative multiplied by a positive results in a positive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AU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0958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positive multiplied by a negative</a:t>
                          </a:r>
                        </a:p>
                        <a:p>
                          <a:r>
                            <a:rPr lang="en-AU" sz="2000" dirty="0"/>
                            <a:t>Results in a negative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AU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5240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positive multiplied by a positive results in a positive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AU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6496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02DA0CC8-AE80-4900-B2DA-1CDE665977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4622913"/>
                  </p:ext>
                </p:extLst>
              </p:nvPr>
            </p:nvGraphicFramePr>
            <p:xfrm>
              <a:off x="2375593" y="1689484"/>
              <a:ext cx="8128000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424338006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785944250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negative multiplied by a negative results in a positive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00" t="-4348" r="-300" b="-35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922130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negative multiplied by a positive results in a positive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00" t="-104348" r="-300" b="-25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09587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positive multiplied by a negative</a:t>
                          </a:r>
                        </a:p>
                        <a:p>
                          <a:r>
                            <a:rPr lang="en-AU" sz="2000" dirty="0"/>
                            <a:t>Results in a negative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00" t="-141566" r="-300" b="-79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524047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AU" sz="2000" dirty="0"/>
                            <a:t>A positive multiplied by a positive results in a positive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00" t="-348696" r="-300" b="-147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4961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524B800-4CD3-46C0-8290-4B7736F937EB}"/>
              </a:ext>
            </a:extLst>
          </p:cNvPr>
          <p:cNvSpPr txBox="1"/>
          <p:nvPr/>
        </p:nvSpPr>
        <p:spPr>
          <a:xfrm>
            <a:off x="4095636" y="751635"/>
            <a:ext cx="6099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0" indent="-542925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AU" sz="2400" b="1" u="sng" dirty="0">
                <a:solidFill>
                  <a:prstClr val="black"/>
                </a:solidFill>
              </a:rPr>
              <a:t>Directive numbers</a:t>
            </a:r>
          </a:p>
        </p:txBody>
      </p:sp>
    </p:spTree>
    <p:extLst>
      <p:ext uri="{BB962C8B-B14F-4D97-AF65-F5344CB8AC3E}">
        <p14:creationId xmlns:p14="http://schemas.microsoft.com/office/powerpoint/2010/main" val="272613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ED5A-22C9-4EBC-8359-A1204E33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Refresh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D9ACA-669B-4CC1-ADD3-A0E13510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041715"/>
          </a:xfrm>
        </p:spPr>
        <p:txBody>
          <a:bodyPr/>
          <a:lstStyle/>
          <a:p>
            <a:r>
              <a:rPr lang="en-US" dirty="0"/>
              <a:t>HCF</a:t>
            </a:r>
          </a:p>
          <a:p>
            <a:pPr marL="0" indent="0">
              <a:buNone/>
            </a:pPr>
            <a:r>
              <a:rPr lang="en-US" dirty="0"/>
              <a:t>Highest common factor.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The highest number that goes into both or all terms.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							</a:t>
            </a:r>
            <a:r>
              <a:rPr lang="en-US" sz="4400" dirty="0"/>
              <a:t>24x + 18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A8AE5-845B-4281-B5D8-52437677CDF8}"/>
              </a:ext>
            </a:extLst>
          </p:cNvPr>
          <p:cNvSpPr txBox="1"/>
          <p:nvPr/>
        </p:nvSpPr>
        <p:spPr>
          <a:xfrm>
            <a:off x="3563332" y="5380672"/>
            <a:ext cx="2403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Factors of 24x: 1, 2, 3, 4, 6, 8, 12, 24, x 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D6966-BFD6-4AC5-8D9C-B8B0E2BF762C}"/>
              </a:ext>
            </a:extLst>
          </p:cNvPr>
          <p:cNvSpPr txBox="1"/>
          <p:nvPr/>
        </p:nvSpPr>
        <p:spPr>
          <a:xfrm>
            <a:off x="6224835" y="5251053"/>
            <a:ext cx="24038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Factors of 18: 1, 2, 3, 6, 9, 18  </a:t>
            </a:r>
          </a:p>
          <a:p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9E5273-BC5C-4066-A159-D42F37DDBBD7}"/>
              </a:ext>
            </a:extLst>
          </p:cNvPr>
          <p:cNvSpPr/>
          <p:nvPr/>
        </p:nvSpPr>
        <p:spPr>
          <a:xfrm>
            <a:off x="4868945" y="5805051"/>
            <a:ext cx="499620" cy="37707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2C1ACB-6A31-46E1-B526-7B31E3CB02AB}"/>
              </a:ext>
            </a:extLst>
          </p:cNvPr>
          <p:cNvSpPr/>
          <p:nvPr/>
        </p:nvSpPr>
        <p:spPr>
          <a:xfrm>
            <a:off x="7176942" y="5664995"/>
            <a:ext cx="499620" cy="37707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0CC6C-0432-4075-AF44-0B0FB081286B}"/>
                  </a:ext>
                </a:extLst>
              </p:cNvPr>
              <p:cNvSpPr txBox="1"/>
              <p:nvPr/>
            </p:nvSpPr>
            <p:spPr>
              <a:xfrm>
                <a:off x="8886338" y="5299533"/>
                <a:ext cx="288302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Factorized:</a:t>
                </a:r>
              </a:p>
              <a:p>
                <a:r>
                  <a:rPr lang="en-US" sz="2400" b="1" dirty="0"/>
                  <a:t>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r>
                  <a:rPr lang="en-US" sz="2400" b="1" dirty="0"/>
                  <a:t>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𝟔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0CC6C-0432-4075-AF44-0B0FB081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338" y="5299533"/>
                <a:ext cx="2883029" cy="1200329"/>
              </a:xfrm>
              <a:prstGeom prst="rect">
                <a:avLst/>
              </a:prstGeom>
              <a:blipFill>
                <a:blip r:embed="rId2"/>
                <a:stretch>
                  <a:fillRect l="-3383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207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58960" y="637151"/>
            <a:ext cx="78712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Look for highest common factor (HCF).</a:t>
            </a:r>
          </a:p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Write terms as a product of factors using HCF.</a:t>
            </a:r>
          </a:p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Take highest common factor to front of brackets.</a:t>
            </a:r>
          </a:p>
          <a:p>
            <a:pPr>
              <a:spcAft>
                <a:spcPts val="1200"/>
              </a:spcAft>
            </a:pPr>
            <a:endParaRPr lang="en-AU" sz="2400" b="1" dirty="0">
              <a:solidFill>
                <a:srgbClr val="FF0000"/>
              </a:solidFill>
            </a:endParaRPr>
          </a:p>
          <a:p>
            <a:pPr>
              <a:spcAft>
                <a:spcPts val="1200"/>
              </a:spcAft>
            </a:pP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06797" y="268371"/>
            <a:ext cx="499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The factorisation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FB3A9-5A65-4420-A010-432EDD8ADD57}"/>
              </a:ext>
            </a:extLst>
          </p:cNvPr>
          <p:cNvSpPr txBox="1"/>
          <p:nvPr/>
        </p:nvSpPr>
        <p:spPr>
          <a:xfrm>
            <a:off x="2834703" y="2337179"/>
            <a:ext cx="7428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Checking through substitution and evaluation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62873-409D-4134-B67F-4CB591A402DF}"/>
              </a:ext>
            </a:extLst>
          </p:cNvPr>
          <p:cNvSpPr txBox="1"/>
          <p:nvPr/>
        </p:nvSpPr>
        <p:spPr>
          <a:xfrm>
            <a:off x="2955695" y="2967486"/>
            <a:ext cx="787125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Replace variable in the original and final expression with a number to check if they are the same </a:t>
            </a:r>
          </a:p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  </a:t>
            </a:r>
          </a:p>
          <a:p>
            <a:pPr>
              <a:spcAft>
                <a:spcPts val="1200"/>
              </a:spcAft>
            </a:pPr>
            <a:endParaRPr lang="en-AU" sz="2400" b="1" dirty="0">
              <a:solidFill>
                <a:srgbClr val="FF0000"/>
              </a:solidFill>
            </a:endParaRPr>
          </a:p>
          <a:p>
            <a:pPr>
              <a:spcAft>
                <a:spcPts val="1200"/>
              </a:spcAft>
            </a:pP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8">
                <a:extLst>
                  <a:ext uri="{FF2B5EF4-FFF2-40B4-BE49-F238E27FC236}">
                    <a16:creationId xmlns:a16="http://schemas.microsoft.com/office/drawing/2014/main" id="{DA6F6CA8-15EB-4BC8-B101-B7C9B69638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0748636"/>
                  </p:ext>
                </p:extLst>
              </p:nvPr>
            </p:nvGraphicFramePr>
            <p:xfrm>
              <a:off x="1936435" y="3996543"/>
              <a:ext cx="81280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00384119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4265790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/>
                            <a:t>Simplified form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/>
                            <a:t>Factorised form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836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/>
                            <a:t>10</a:t>
                          </a:r>
                          <a14:m>
                            <m:oMath xmlns:m="http://schemas.openxmlformats.org/officeDocument/2006/math">
                              <m:r>
                                <a:rPr lang="en-AU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AU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sz="28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AU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AU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800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endParaRPr lang="en-AU" sz="2800" b="1" dirty="0"/>
                        </a:p>
                        <a:p>
                          <a:pPr algn="ctr"/>
                          <a:endParaRPr lang="en-AU" sz="2800" b="1" dirty="0"/>
                        </a:p>
                        <a:p>
                          <a:pPr algn="ctr"/>
                          <a:endParaRPr lang="en-AU" sz="2800" b="1" dirty="0"/>
                        </a:p>
                        <a:p>
                          <a:pPr algn="ctr"/>
                          <a:endParaRPr lang="en-AU" sz="2800" b="1" dirty="0"/>
                        </a:p>
                        <a:p>
                          <a:pPr algn="ctr"/>
                          <a:endParaRPr lang="en-AU" sz="2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28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0300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8">
                <a:extLst>
                  <a:ext uri="{FF2B5EF4-FFF2-40B4-BE49-F238E27FC236}">
                    <a16:creationId xmlns:a16="http://schemas.microsoft.com/office/drawing/2014/main" id="{DA6F6CA8-15EB-4BC8-B101-B7C9B69638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0748636"/>
                  </p:ext>
                </p:extLst>
              </p:nvPr>
            </p:nvGraphicFramePr>
            <p:xfrm>
              <a:off x="1936435" y="3996543"/>
              <a:ext cx="81280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00384119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42657904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/>
                            <a:t>Simplified form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/>
                            <a:t>Factorised form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836101"/>
                      </a:ext>
                    </a:extLst>
                  </a:tr>
                  <a:tr h="222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5956" r="-100450" b="-5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5956" r="-450" b="-5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3005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50E1DC-449A-41DF-A994-F5BA92D7F151}"/>
                  </a:ext>
                </a:extLst>
              </p:cNvPr>
              <p:cNvSpPr txBox="1"/>
              <p:nvPr/>
            </p:nvSpPr>
            <p:spPr>
              <a:xfrm>
                <a:off x="10630214" y="4191085"/>
                <a:ext cx="1086152" cy="218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Let </a:t>
                </a:r>
                <a:endParaRPr lang="en-AU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50E1DC-449A-41DF-A994-F5BA92D7F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0214" y="4191085"/>
                <a:ext cx="1086152" cy="2185214"/>
              </a:xfrm>
              <a:prstGeom prst="rect">
                <a:avLst/>
              </a:prstGeom>
              <a:blipFill>
                <a:blip r:embed="rId3"/>
                <a:stretch>
                  <a:fillRect l="-8333" t="-19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815879-FFC0-4852-8EF9-79E29F1AB9C9}"/>
                  </a:ext>
                </a:extLst>
              </p:cNvPr>
              <p:cNvSpPr txBox="1"/>
              <p:nvPr/>
            </p:nvSpPr>
            <p:spPr>
              <a:xfrm>
                <a:off x="2546084" y="5031938"/>
                <a:ext cx="30553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20+18−8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815879-FFC0-4852-8EF9-79E29F1AB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84" y="5031938"/>
                <a:ext cx="3055300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DDD034-C384-4B40-BE52-477125E25A53}"/>
                  </a:ext>
                </a:extLst>
              </p:cNvPr>
              <p:cNvSpPr txBox="1"/>
              <p:nvPr/>
            </p:nvSpPr>
            <p:spPr>
              <a:xfrm>
                <a:off x="6444753" y="5060366"/>
                <a:ext cx="30553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2(5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−4)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10+9−4</m:t>
                          </m:r>
                        </m:e>
                      </m:d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×15</m:t>
                      </m:r>
                    </m:oMath>
                  </m:oMathPara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DDD034-C384-4B40-BE52-477125E25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753" y="5060366"/>
                <a:ext cx="3055300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702BD7-4EE5-4900-9787-C6B5C40BD08D}"/>
              </a:ext>
            </a:extLst>
          </p:cNvPr>
          <p:cNvCxnSpPr/>
          <p:nvPr/>
        </p:nvCxnSpPr>
        <p:spPr>
          <a:xfrm>
            <a:off x="4265900" y="6073991"/>
            <a:ext cx="3502429" cy="293716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D1BCD47-C22A-4074-ABB3-3703A9D6C69D}"/>
              </a:ext>
            </a:extLst>
          </p:cNvPr>
          <p:cNvSpPr txBox="1"/>
          <p:nvPr/>
        </p:nvSpPr>
        <p:spPr>
          <a:xfrm>
            <a:off x="4431774" y="6337970"/>
            <a:ext cx="305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They should be the same </a:t>
            </a:r>
          </a:p>
        </p:txBody>
      </p:sp>
    </p:spTree>
    <p:extLst>
      <p:ext uri="{BB962C8B-B14F-4D97-AF65-F5344CB8AC3E}">
        <p14:creationId xmlns:p14="http://schemas.microsoft.com/office/powerpoint/2010/main" val="287702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build="p"/>
      <p:bldP spid="11" grpId="0" build="p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76EEDA-2184-4D9C-BFD4-D086C032CFEE}"/>
              </a:ext>
            </a:extLst>
          </p:cNvPr>
          <p:cNvSpPr txBox="1"/>
          <p:nvPr/>
        </p:nvSpPr>
        <p:spPr>
          <a:xfrm>
            <a:off x="2960015" y="1630837"/>
            <a:ext cx="70606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linkClick r:id="rId2"/>
              </a:rPr>
              <a:t>https://www.youtube.com/watch?v=3DMFb_7m6mo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Works better if copy and paste link into google chrome.</a:t>
            </a:r>
          </a:p>
          <a:p>
            <a:endParaRPr lang="en-AU" dirty="0"/>
          </a:p>
          <a:p>
            <a:r>
              <a:rPr lang="en-AU" dirty="0"/>
              <a:t>Do the practice 3 from video (requires you to pause)  </a:t>
            </a:r>
          </a:p>
        </p:txBody>
      </p:sp>
    </p:spTree>
    <p:extLst>
      <p:ext uri="{BB962C8B-B14F-4D97-AF65-F5344CB8AC3E}">
        <p14:creationId xmlns:p14="http://schemas.microsoft.com/office/powerpoint/2010/main" val="150384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277145" y="1152664"/>
                <a:ext cx="5288692" cy="1774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𝐹𝑎𝑐𝑡𝑜𝑟𝑖𝑠𝑒</m:t>
                    </m:r>
                  </m:oMath>
                </a14:m>
                <a:r>
                  <a:rPr lang="en-AU" sz="2400" dirty="0"/>
                  <a:t>	     </a:t>
                </a:r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sz="2400" dirty="0"/>
                  <a:t>4 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+7×2</m:t>
                    </m:r>
                  </m:oMath>
                </a14:m>
                <a:r>
                  <a:rPr lang="en-AU" sz="24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=7(3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r>
                  <a:rPr lang="en-AU" sz="2400" dirty="0"/>
                  <a:t>  	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145" y="1152664"/>
                <a:ext cx="5288692" cy="1774845"/>
              </a:xfrm>
              <a:prstGeom prst="rect">
                <a:avLst/>
              </a:prstGeom>
              <a:blipFill>
                <a:blip r:embed="rId2"/>
                <a:stretch>
                  <a:fillRect l="-346" b="-44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163734" y="3111358"/>
                <a:ext cx="5288692" cy="1774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     </a:t>
                </a:r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+39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+13×3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/>
                  <a:t>  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734" y="3111358"/>
                <a:ext cx="5288692" cy="1774845"/>
              </a:xfrm>
              <a:prstGeom prst="rect">
                <a:avLst/>
              </a:prstGeom>
              <a:blipFill>
                <a:blip r:embed="rId3"/>
                <a:stretch>
                  <a:fillRect l="-346" b="-41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339014" y="1945446"/>
                <a:ext cx="2503836" cy="282128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27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sz="2400" dirty="0"/>
                  <a:t>81 </a:t>
                </a: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+9×9</m:t>
                      </m:r>
                    </m:oMath>
                  </m:oMathPara>
                </a14:m>
                <a:endParaRPr lang="en-AU" sz="2400" dirty="0"/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9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</m:oMath>
                  </m:oMathPara>
                </a14:m>
                <a:endParaRPr lang="en-AU" sz="2400" b="0" dirty="0"/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9(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+3×3)</m:t>
                      </m:r>
                    </m:oMath>
                  </m:oMathPara>
                </a14:m>
                <a:endParaRPr lang="en-AU" sz="2400" dirty="0"/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27(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+3)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014" y="1945446"/>
                <a:ext cx="2503836" cy="2821285"/>
              </a:xfrm>
              <a:prstGeom prst="rect">
                <a:avLst/>
              </a:prstGeom>
              <a:blipFill>
                <a:blip r:embed="rId4"/>
                <a:stretch>
                  <a:fillRect l="-730" t="-17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6976" y="4944769"/>
                <a:ext cx="5152767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+2(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AU" sz="2400" b="0" dirty="0"/>
                  <a:t> </a:t>
                </a: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:r>
                  <a:rPr lang="en-AU" sz="2400" dirty="0"/>
                  <a:t>=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2×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AU" sz="24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976" y="4944769"/>
                <a:ext cx="5152767" cy="1354217"/>
              </a:xfrm>
              <a:prstGeom prst="rect">
                <a:avLst/>
              </a:prstGeom>
              <a:blipFill>
                <a:blip r:embed="rId5"/>
                <a:stretch>
                  <a:fillRect l="-1775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236043" y="353882"/>
            <a:ext cx="5955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Steps:</a:t>
            </a:r>
          </a:p>
          <a:p>
            <a:r>
              <a:rPr lang="en-AU" b="1" dirty="0">
                <a:solidFill>
                  <a:srgbClr val="00B0F0"/>
                </a:solidFill>
              </a:rPr>
              <a:t>Look for highest common factor</a:t>
            </a:r>
          </a:p>
          <a:p>
            <a:r>
              <a:rPr lang="en-AU" b="1" dirty="0">
                <a:solidFill>
                  <a:srgbClr val="00B0F0"/>
                </a:solidFill>
              </a:rPr>
              <a:t>Write terms as a product of factors using HCF</a:t>
            </a:r>
          </a:p>
          <a:p>
            <a:r>
              <a:rPr lang="en-AU" b="1" dirty="0">
                <a:solidFill>
                  <a:srgbClr val="00B0F0"/>
                </a:solidFill>
              </a:rPr>
              <a:t>Take highest common factor to front of brackets.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2502E-9B55-4976-9A0C-C57BDE8ACD34}"/>
              </a:ext>
            </a:extLst>
          </p:cNvPr>
          <p:cNvSpPr txBox="1"/>
          <p:nvPr/>
        </p:nvSpPr>
        <p:spPr>
          <a:xfrm>
            <a:off x="2812819" y="155421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HCF = 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E4912-9175-4DCF-9FF8-0BF88706A4DF}"/>
              </a:ext>
            </a:extLst>
          </p:cNvPr>
          <p:cNvSpPr txBox="1"/>
          <p:nvPr/>
        </p:nvSpPr>
        <p:spPr>
          <a:xfrm>
            <a:off x="2669834" y="352411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HCF = 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6F7A8-A36F-4CBF-A1F9-07D05DF7AD2D}"/>
              </a:ext>
            </a:extLst>
          </p:cNvPr>
          <p:cNvSpPr txBox="1"/>
          <p:nvPr/>
        </p:nvSpPr>
        <p:spPr>
          <a:xfrm>
            <a:off x="7710615" y="1986604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HCF =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0D209F-9986-497D-80E9-B84B1374BBC2}"/>
                  </a:ext>
                </a:extLst>
              </p:cNvPr>
              <p:cNvSpPr txBox="1"/>
              <p:nvPr/>
            </p:nvSpPr>
            <p:spPr>
              <a:xfrm>
                <a:off x="9137365" y="5055374"/>
                <a:ext cx="1866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HCF =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0D209F-9986-497D-80E9-B84B1374B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365" y="5055374"/>
                <a:ext cx="1866900" cy="369332"/>
              </a:xfrm>
              <a:prstGeom prst="rect">
                <a:avLst/>
              </a:prstGeom>
              <a:blipFill>
                <a:blip r:embed="rId6"/>
                <a:stretch>
                  <a:fillRect l="-2941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E80365A-F6FE-4D5C-83CB-C67C30DC5ED0}"/>
              </a:ext>
            </a:extLst>
          </p:cNvPr>
          <p:cNvSpPr txBox="1"/>
          <p:nvPr/>
        </p:nvSpPr>
        <p:spPr>
          <a:xfrm>
            <a:off x="466725" y="180975"/>
            <a:ext cx="2447925" cy="375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9656D9-5F38-495A-BF5B-8AB1B7EF9419}"/>
                  </a:ext>
                </a:extLst>
              </p:cNvPr>
              <p:cNvSpPr txBox="1"/>
              <p:nvPr/>
            </p:nvSpPr>
            <p:spPr>
              <a:xfrm>
                <a:off x="2133600" y="5652655"/>
                <a:ext cx="32253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>
                    <a:solidFill>
                      <a:srgbClr val="7030A0"/>
                    </a:solidFill>
                  </a:rPr>
                  <a:t>Check by substituting in a value for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9656D9-5F38-495A-BF5B-8AB1B7EF9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652655"/>
                <a:ext cx="3225338" cy="646331"/>
              </a:xfrm>
              <a:prstGeom prst="rect">
                <a:avLst/>
              </a:prstGeom>
              <a:blipFill>
                <a:blip r:embed="rId7"/>
                <a:stretch>
                  <a:fillRect l="-151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3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C293D1-42E4-4029-92AE-E6E66F8B4338}"/>
                  </a:ext>
                </a:extLst>
              </p:cNvPr>
              <p:cNvSpPr txBox="1"/>
              <p:nvPr/>
            </p:nvSpPr>
            <p:spPr>
              <a:xfrm>
                <a:off x="1655360" y="278953"/>
                <a:ext cx="2642868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Simplify 	     </a:t>
                </a:r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AU" sz="2400" b="0" dirty="0"/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4×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sz="2400" b="0" dirty="0">
                  <a:solidFill>
                    <a:srgbClr val="FF0000"/>
                  </a:solidFill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C293D1-42E4-4029-92AE-E6E66F8B4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360" y="278953"/>
                <a:ext cx="2642868" cy="1877437"/>
              </a:xfrm>
              <a:prstGeom prst="rect">
                <a:avLst/>
              </a:prstGeom>
              <a:blipFill>
                <a:blip r:embed="rId2"/>
                <a:stretch>
                  <a:fillRect l="-3695" t="-25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ADB86-1056-4365-96B7-E7D646278FB3}"/>
                  </a:ext>
                </a:extLst>
              </p:cNvPr>
              <p:cNvSpPr txBox="1"/>
              <p:nvPr/>
            </p:nvSpPr>
            <p:spPr>
              <a:xfrm>
                <a:off x="5448933" y="527598"/>
                <a:ext cx="4072872" cy="1980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13−5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n-AU" sz="2400" b="0" dirty="0"/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13+7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(−5)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−3×</m:t>
                      </m:r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(−5</m:t>
                      </m:r>
                      <m:r>
                        <a:rPr lang="en-AU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0" dirty="0">
                  <a:solidFill>
                    <a:srgbClr val="FF0000"/>
                  </a:solidFill>
                </a:endParaRP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13−35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+15</m:t>
                      </m:r>
                    </m:oMath>
                  </m:oMathPara>
                </a14:m>
                <a:endParaRPr lang="en-AU" sz="2400" b="0" dirty="0"/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+28</m:t>
                      </m:r>
                    </m:oMath>
                  </m:oMathPara>
                </a14:m>
                <a:endParaRPr lang="en-AU" sz="24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EADB86-1056-4365-96B7-E7D64627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933" y="527598"/>
                <a:ext cx="4072872" cy="1980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ADAB43-8520-4FE1-A1EE-B322DBB142FC}"/>
              </a:ext>
            </a:extLst>
          </p:cNvPr>
          <p:cNvSpPr txBox="1"/>
          <p:nvPr/>
        </p:nvSpPr>
        <p:spPr>
          <a:xfrm>
            <a:off x="4748526" y="38614"/>
            <a:ext cx="2447925" cy="375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3EC519-A36C-40A7-88B6-2F7FF0555DCB}"/>
              </a:ext>
            </a:extLst>
          </p:cNvPr>
          <p:cNvSpPr txBox="1"/>
          <p:nvPr/>
        </p:nvSpPr>
        <p:spPr>
          <a:xfrm>
            <a:off x="9744075" y="353882"/>
            <a:ext cx="2447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Steps:</a:t>
            </a:r>
          </a:p>
          <a:p>
            <a:r>
              <a:rPr lang="en-AU" b="1" dirty="0">
                <a:solidFill>
                  <a:srgbClr val="FF0000"/>
                </a:solidFill>
              </a:rPr>
              <a:t>Expand brackets  </a:t>
            </a:r>
          </a:p>
          <a:p>
            <a:r>
              <a:rPr lang="en-AU" b="1" dirty="0">
                <a:solidFill>
                  <a:srgbClr val="FF0000"/>
                </a:solidFill>
              </a:rPr>
              <a:t>Collect like terms</a:t>
            </a:r>
          </a:p>
        </p:txBody>
      </p:sp>
    </p:spTree>
    <p:extLst>
      <p:ext uri="{BB962C8B-B14F-4D97-AF65-F5344CB8AC3E}">
        <p14:creationId xmlns:p14="http://schemas.microsoft.com/office/powerpoint/2010/main" val="267044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BA015A9-2E3A-4018-9B53-A1560B140AF5}"/>
              </a:ext>
            </a:extLst>
          </p:cNvPr>
          <p:cNvSpPr txBox="1"/>
          <p:nvPr/>
        </p:nvSpPr>
        <p:spPr>
          <a:xfrm>
            <a:off x="5649551" y="242130"/>
            <a:ext cx="2447925" cy="375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Exercise books</a:t>
            </a:r>
            <a:endParaRPr lang="en-AU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798A72C-7A60-416F-A4A3-825CF3642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4869078"/>
                  </p:ext>
                </p:extLst>
              </p:nvPr>
            </p:nvGraphicFramePr>
            <p:xfrm>
              <a:off x="2809514" y="812747"/>
              <a:ext cx="8128000" cy="54730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26820474"/>
                        </a:ext>
                      </a:extLst>
                    </a:gridCol>
                  </a:tblGrid>
                  <a:tr h="27365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Simplify         </a:t>
                          </a:r>
                          <a14:m>
                            <m:oMath xmlns:m="http://schemas.openxmlformats.org/officeDocument/2006/math"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d>
                                <m:dPr>
                                  <m:ctrlP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d>
                                <m:dPr>
                                  <m:ctrlP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AU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AU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AU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87701"/>
                      </a:ext>
                    </a:extLst>
                  </a:tr>
                  <a:tr h="273653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dirty="0"/>
                            <a:t>            Factorise</a:t>
                          </a:r>
                          <a:endParaRPr lang="en-AU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40271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798A72C-7A60-416F-A4A3-825CF3642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4869078"/>
                  </p:ext>
                </p:extLst>
              </p:nvPr>
            </p:nvGraphicFramePr>
            <p:xfrm>
              <a:off x="2809514" y="812747"/>
              <a:ext cx="8128000" cy="54730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26820474"/>
                        </a:ext>
                      </a:extLst>
                    </a:gridCol>
                  </a:tblGrid>
                  <a:tr h="27365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222" r="-150" b="-100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87701"/>
                      </a:ext>
                    </a:extLst>
                  </a:tr>
                  <a:tr h="273653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dirty="0"/>
                            <a:t>            Factorise</a:t>
                          </a:r>
                          <a:endParaRPr lang="en-AU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40271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01AD1-7A8B-41F6-9407-E9AFF9908418}"/>
                  </a:ext>
                </a:extLst>
              </p:cNvPr>
              <p:cNvSpPr txBox="1"/>
              <p:nvPr/>
            </p:nvSpPr>
            <p:spPr>
              <a:xfrm>
                <a:off x="6006567" y="2923890"/>
                <a:ext cx="35371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01AD1-7A8B-41F6-9407-E9AFF9908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567" y="2923890"/>
                <a:ext cx="35371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73A75E-F24F-4379-BB55-FC4F6C7BF3E7}"/>
                  </a:ext>
                </a:extLst>
              </p:cNvPr>
              <p:cNvSpPr txBox="1"/>
              <p:nvPr/>
            </p:nvSpPr>
            <p:spPr>
              <a:xfrm>
                <a:off x="5939949" y="5692235"/>
                <a:ext cx="35371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73A75E-F24F-4379-BB55-FC4F6C7BF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949" y="5692235"/>
                <a:ext cx="3537140" cy="461665"/>
              </a:xfrm>
              <a:prstGeom prst="rect">
                <a:avLst/>
              </a:prstGeom>
              <a:blipFill>
                <a:blip r:embed="rId4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FD2F0D-CA87-4B18-BB02-E82837B1398B}"/>
                  </a:ext>
                </a:extLst>
              </p:cNvPr>
              <p:cNvSpPr txBox="1"/>
              <p:nvPr/>
            </p:nvSpPr>
            <p:spPr>
              <a:xfrm>
                <a:off x="5002491" y="3581092"/>
                <a:ext cx="35371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𝟏𝟐𝟎</m:t>
                      </m:r>
                    </m:oMath>
                  </m:oMathPara>
                </a14:m>
                <a:endParaRPr lang="en-AU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FD2F0D-CA87-4B18-BB02-E82837B13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491" y="3581092"/>
                <a:ext cx="353714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51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976C-8835-4EE2-B5EA-5B3B817A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749E99-DEA6-495D-9BA6-43EEC67FBAE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158" y="2703188"/>
            <a:ext cx="5614903" cy="829128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F5949-DFFD-45AB-A920-8A4F247C75E2}"/>
              </a:ext>
            </a:extLst>
          </p:cNvPr>
          <p:cNvSpPr txBox="1"/>
          <p:nvPr/>
        </p:nvSpPr>
        <p:spPr>
          <a:xfrm>
            <a:off x="2794332" y="4522082"/>
            <a:ext cx="6990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Working in book answers on sheet</a:t>
            </a:r>
          </a:p>
        </p:txBody>
      </p:sp>
    </p:spTree>
    <p:extLst>
      <p:ext uri="{BB962C8B-B14F-4D97-AF65-F5344CB8AC3E}">
        <p14:creationId xmlns:p14="http://schemas.microsoft.com/office/powerpoint/2010/main" val="16389789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545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Wingdings 3</vt:lpstr>
      <vt:lpstr>Wisp</vt:lpstr>
      <vt:lpstr>PowerPoint Presentation</vt:lpstr>
      <vt:lpstr>PowerPoint Presentation</vt:lpstr>
      <vt:lpstr>Refresh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128</cp:revision>
  <cp:lastPrinted>2022-03-16T01:39:59Z</cp:lastPrinted>
  <dcterms:created xsi:type="dcterms:W3CDTF">2022-02-28T13:51:39Z</dcterms:created>
  <dcterms:modified xsi:type="dcterms:W3CDTF">2022-03-30T09:09:38Z</dcterms:modified>
</cp:coreProperties>
</file>
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8" r:id="rId2"/>
    <p:sldId id="294" r:id="rId3"/>
    <p:sldId id="301" r:id="rId4"/>
    <p:sldId id="295" r:id="rId5"/>
    <p:sldId id="300" r:id="rId6"/>
    <p:sldId id="296" r:id="rId7"/>
    <p:sldId id="302" r:id="rId8"/>
    <p:sldId id="303" r:id="rId9"/>
    <p:sldId id="304" r:id="rId10"/>
    <p:sldId id="305" r:id="rId1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762" autoAdjust="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40491-5805-4FA2-9B82-C04A5F0BAF29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FD260-3498-43D4-A7DD-735401EEE7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757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guided notes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FD260-3498-43D4-A7DD-735401EEE77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4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FD260-3498-43D4-A7DD-735401EEE776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9234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FD260-3498-43D4-A7DD-735401EEE776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6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9/03/2022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7C6968-6976-47E0-8849-FDD04473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FF079F-F200-42DD-95BC-1A0B25B7F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117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sz="2400" b="1" dirty="0">
                <a:solidFill>
                  <a:srgbClr val="00B0F0"/>
                </a:solidFill>
              </a:rPr>
              <a:t>Topic review </a:t>
            </a:r>
          </a:p>
          <a:p>
            <a:pPr marL="0" indent="0">
              <a:buNone/>
            </a:pPr>
            <a:endParaRPr lang="en-AU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24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400" b="1" dirty="0">
                <a:solidFill>
                  <a:srgbClr val="00B0F0"/>
                </a:solidFill>
              </a:rPr>
              <a:t>Be able to apply index laws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400" b="1" dirty="0">
                <a:solidFill>
                  <a:srgbClr val="00B0F0"/>
                </a:solidFill>
              </a:rPr>
              <a:t>Evaluate index notation </a:t>
            </a:r>
          </a:p>
          <a:p>
            <a:pPr marL="0" indent="0">
              <a:buNone/>
            </a:pPr>
            <a:r>
              <a:rPr lang="en-AU" sz="2400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Review laws </a:t>
            </a:r>
          </a:p>
          <a:p>
            <a:pPr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Skills practice </a:t>
            </a:r>
          </a:p>
          <a:p>
            <a:pPr>
              <a:buFontTx/>
              <a:buChar char="-"/>
            </a:pPr>
            <a:r>
              <a:rPr lang="en-AU" sz="2400" b="1" dirty="0">
                <a:solidFill>
                  <a:srgbClr val="00B0F0"/>
                </a:solidFill>
              </a:rPr>
              <a:t>Evaluating 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452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9209" y="817901"/>
            <a:ext cx="772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index numbers with the same base are multiplied then powers are added.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9209" y="1875405"/>
            <a:ext cx="772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index numbers with the same base are divided then powers are subtracted.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7309" y="1256907"/>
            <a:ext cx="2994909" cy="3373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67161" y="2349573"/>
            <a:ext cx="3466118" cy="35906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09209" y="4015849"/>
            <a:ext cx="89385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If an index number is raised to another power </a:t>
            </a:r>
          </a:p>
          <a:p>
            <a:r>
              <a:rPr lang="en-AU" sz="2400" dirty="0"/>
              <a:t>then the powers are multiplied.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7161" y="4468633"/>
            <a:ext cx="3953024" cy="39594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09209" y="3184852"/>
            <a:ext cx="8781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a base number is raised to the power zero, </a:t>
            </a:r>
          </a:p>
          <a:p>
            <a:r>
              <a:rPr lang="en-AU" sz="2400" dirty="0"/>
              <a:t>then the result is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7161" y="3600350"/>
            <a:ext cx="2371359" cy="36933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17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nimBg="1"/>
      <p:bldP spid="8" grpId="1" animBg="1"/>
      <p:bldP spid="9" grpId="0" animBg="1"/>
      <p:bldP spid="9" grpId="1" animBg="1"/>
      <p:bldP spid="12" grpId="0"/>
      <p:bldP spid="13" grpId="0" animBg="1"/>
      <p:bldP spid="13" grpId="1" animBg="1"/>
      <p:bldP spid="14" grpId="0"/>
      <p:bldP spid="15" grpId="0" animBg="1"/>
      <p:bldP spid="1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09209" y="817901"/>
            <a:ext cx="772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index numbers with the same base are multiplied then powers are added.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9209" y="1875405"/>
            <a:ext cx="772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index numbers with the same base are divided then powers are subtracted.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7309" y="1256907"/>
            <a:ext cx="2994909" cy="3373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67161" y="2349573"/>
            <a:ext cx="3466118" cy="35906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09209" y="4015849"/>
            <a:ext cx="89385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If an index number is raised to another power </a:t>
            </a:r>
          </a:p>
          <a:p>
            <a:r>
              <a:rPr lang="en-AU" sz="2400" dirty="0"/>
              <a:t>then the powers are multiplied.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7161" y="4468633"/>
            <a:ext cx="3953024" cy="395946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09209" y="3184852"/>
            <a:ext cx="8781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a base number is raised to the power zero, </a:t>
            </a:r>
          </a:p>
          <a:p>
            <a:r>
              <a:rPr lang="en-AU" sz="2400" dirty="0"/>
              <a:t>then the result is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7161" y="3600350"/>
            <a:ext cx="2371359" cy="36933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121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nimBg="1"/>
      <p:bldP spid="8" grpId="1" animBg="1"/>
      <p:bldP spid="9" grpId="0" animBg="1"/>
      <p:bldP spid="9" grpId="1" animBg="1"/>
      <p:bldP spid="12" grpId="0"/>
      <p:bldP spid="13" grpId="0" animBg="1"/>
      <p:bldP spid="13" grpId="1" animBg="1"/>
      <p:bldP spid="14" grpId="0"/>
      <p:bldP spid="15" grpId="0" animBg="1"/>
      <p:bldP spid="1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1591761"/>
                  </p:ext>
                </p:extLst>
              </p:nvPr>
            </p:nvGraphicFramePr>
            <p:xfrm>
              <a:off x="2048042" y="495075"/>
              <a:ext cx="8127999" cy="58094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8418744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1255167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788315776"/>
                        </a:ext>
                      </a:extLst>
                    </a:gridCol>
                  </a:tblGrid>
                  <a:tr h="14490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7664956"/>
                      </a:ext>
                    </a:extLst>
                  </a:tr>
                  <a:tr h="14621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30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634933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347376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(2</m:t>
                                            </m:r>
                                          </m:e>
                                          <m:sup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÷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(2</m:t>
                                            </m:r>
                                          </m:e>
                                          <m:sup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(2</m:t>
                                            </m:r>
                                          </m:e>
                                          <m:sup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1484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1591761"/>
                  </p:ext>
                </p:extLst>
              </p:nvPr>
            </p:nvGraphicFramePr>
            <p:xfrm>
              <a:off x="2048042" y="495075"/>
              <a:ext cx="8127999" cy="58094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8418744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1255167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788315776"/>
                        </a:ext>
                      </a:extLst>
                    </a:gridCol>
                  </a:tblGrid>
                  <a:tr h="1449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5" t="-420" r="-200449" b="-3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25" t="-420" r="-100449" b="-3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225" t="-420" r="-449" b="-3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664956"/>
                      </a:ext>
                    </a:extLst>
                  </a:tr>
                  <a:tr h="1462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5" t="-99583" r="-200449" b="-19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25" t="-99583" r="-100449" b="-19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225" t="-99583" r="-449" b="-19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634933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5" t="-201261" r="-200449" b="-1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25" t="-201261" r="-100449" b="-1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225" t="-201261" r="-449" b="-100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47376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25" t="-301261" r="-200449" b="-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225" t="-301261" r="-100449" b="-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225" t="-301261" r="-449" b="-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14847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572167" y="90484"/>
            <a:ext cx="496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Year 8 Indices revision worksheets</a:t>
            </a:r>
          </a:p>
        </p:txBody>
      </p:sp>
    </p:spTree>
    <p:extLst>
      <p:ext uri="{BB962C8B-B14F-4D97-AF65-F5344CB8AC3E}">
        <p14:creationId xmlns:p14="http://schemas.microsoft.com/office/powerpoint/2010/main" val="1356790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048042" y="495075"/>
              <a:ext cx="8127999" cy="58094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8418744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1255167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788315776"/>
                        </a:ext>
                      </a:extLst>
                    </a:gridCol>
                  </a:tblGrid>
                  <a:tr h="14490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7664956"/>
                      </a:ext>
                    </a:extLst>
                  </a:tr>
                  <a:tr h="14621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30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634933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347376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(2</m:t>
                                            </m:r>
                                          </m:e>
                                          <m:sup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÷</m:t>
                                    </m:r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(2</m:t>
                                            </m:r>
                                          </m:e>
                                          <m:sup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(2</m:t>
                                            </m:r>
                                          </m:e>
                                          <m:sup>
                                            <m:r>
                                              <a:rPr lang="en-AU" sz="24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81484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1591761"/>
                  </p:ext>
                </p:extLst>
              </p:nvPr>
            </p:nvGraphicFramePr>
            <p:xfrm>
              <a:off x="2048042" y="495075"/>
              <a:ext cx="8127999" cy="58094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8418744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11255167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788315776"/>
                        </a:ext>
                      </a:extLst>
                    </a:gridCol>
                  </a:tblGrid>
                  <a:tr h="1449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5" t="-420" r="-200449" b="-3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25" t="-420" r="-100449" b="-3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25" t="-420" r="-449" b="-3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664956"/>
                      </a:ext>
                    </a:extLst>
                  </a:tr>
                  <a:tr h="1462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5" t="-99583" r="-200449" b="-19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25" t="-99583" r="-100449" b="-199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25" t="-99583" r="-449" b="-199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634933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5" t="-201261" r="-200449" b="-1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25" t="-201261" r="-100449" b="-100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25" t="-201261" r="-449" b="-100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473762"/>
                      </a:ext>
                    </a:extLst>
                  </a:tr>
                  <a:tr h="1449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25" t="-301261" r="-200449" b="-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225" t="-301261" r="-100449" b="-8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225" t="-301261" r="-449" b="-8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14847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572167" y="90484"/>
            <a:ext cx="496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Year 8 Indices revision worksheets</a:t>
            </a:r>
          </a:p>
        </p:txBody>
      </p:sp>
    </p:spTree>
    <p:extLst>
      <p:ext uri="{BB962C8B-B14F-4D97-AF65-F5344CB8AC3E}">
        <p14:creationId xmlns:p14="http://schemas.microsoft.com/office/powerpoint/2010/main" val="1379308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6090596"/>
                  </p:ext>
                </p:extLst>
              </p:nvPr>
            </p:nvGraphicFramePr>
            <p:xfrm>
              <a:off x="3545306" y="462992"/>
              <a:ext cx="5775157" cy="57613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75157">
                      <a:extLst>
                        <a:ext uri="{9D8B030D-6E8A-4147-A177-3AD203B41FA5}">
                          <a16:colId xmlns:a16="http://schemas.microsoft.com/office/drawing/2014/main" val="1309108796"/>
                        </a:ext>
                      </a:extLst>
                    </a:gridCol>
                  </a:tblGrid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b="0" dirty="0">
                              <a:solidFill>
                                <a:schemeClr val="tx1"/>
                              </a:solidFill>
                            </a:rPr>
                            <a:t>Write 48 as a product of prime factors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8514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b="0" dirty="0">
                              <a:solidFill>
                                <a:schemeClr val="tx1"/>
                              </a:solidFill>
                            </a:rPr>
                            <a:t>Evaluate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0438145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solidFill>
                                <a:schemeClr val="tx1"/>
                              </a:solidFill>
                            </a:rPr>
                            <a:t>Evaluate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endParaRPr lang="en-A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8973828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solidFill>
                                <a:schemeClr val="tx1"/>
                              </a:solidFill>
                            </a:rPr>
                            <a:t>Evaluate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AU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AU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((2</m:t>
                                          </m:r>
                                        </m:e>
                                        <m:sup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AU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  <m:r>
                                        <a:rPr lang="en-AU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AU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p>
                              </m:sSup>
                            </m:oMath>
                          </a14:m>
                          <a:endParaRPr lang="en-A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11481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6090596"/>
                  </p:ext>
                </p:extLst>
              </p:nvPr>
            </p:nvGraphicFramePr>
            <p:xfrm>
              <a:off x="3545306" y="462992"/>
              <a:ext cx="5775157" cy="57613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75157">
                      <a:extLst>
                        <a:ext uri="{9D8B030D-6E8A-4147-A177-3AD203B41FA5}">
                          <a16:colId xmlns:a16="http://schemas.microsoft.com/office/drawing/2014/main" val="1309108796"/>
                        </a:ext>
                      </a:extLst>
                    </a:gridCol>
                  </a:tblGrid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b="0" dirty="0" smtClean="0">
                              <a:solidFill>
                                <a:schemeClr val="tx1"/>
                              </a:solidFill>
                            </a:rPr>
                            <a:t>Write 48 as a product of prime factors</a:t>
                          </a:r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8514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" t="-102954" r="-316" b="-200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0438145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" t="-203814" r="-316" b="-1012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973828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" t="-302532" r="-316" b="-8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11481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333622" y="0"/>
            <a:ext cx="496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Year 8 Indices revision worksheets</a:t>
            </a:r>
          </a:p>
        </p:txBody>
      </p:sp>
    </p:spTree>
    <p:extLst>
      <p:ext uri="{BB962C8B-B14F-4D97-AF65-F5344CB8AC3E}">
        <p14:creationId xmlns:p14="http://schemas.microsoft.com/office/powerpoint/2010/main" val="3160135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3545306" y="462992"/>
              <a:ext cx="5775157" cy="57613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75157">
                      <a:extLst>
                        <a:ext uri="{9D8B030D-6E8A-4147-A177-3AD203B41FA5}">
                          <a16:colId xmlns:a16="http://schemas.microsoft.com/office/drawing/2014/main" val="1309108796"/>
                        </a:ext>
                      </a:extLst>
                    </a:gridCol>
                  </a:tblGrid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b="0" dirty="0">
                              <a:solidFill>
                                <a:schemeClr val="tx1"/>
                              </a:solidFill>
                            </a:rPr>
                            <a:t>Write 48 as a product of prime factors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8514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b="0" dirty="0">
                              <a:solidFill>
                                <a:schemeClr val="tx1"/>
                              </a:solidFill>
                            </a:rPr>
                            <a:t>Evaluate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60438145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solidFill>
                                <a:schemeClr val="tx1"/>
                              </a:solidFill>
                            </a:rPr>
                            <a:t>Evaluate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</m:oMath>
                          </a14:m>
                          <a:endParaRPr lang="en-A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8973828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dirty="0">
                              <a:solidFill>
                                <a:schemeClr val="tx1"/>
                              </a:solidFill>
                            </a:rPr>
                            <a:t>Evaluate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AU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AU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((2</m:t>
                                          </m:r>
                                        </m:e>
                                        <m:sup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AU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sSup>
                                        <m:sSupPr>
                                          <m:ctrlP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AU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  <m:r>
                                        <a:rPr lang="en-AU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AU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sup>
                              </m:sSup>
                            </m:oMath>
                          </a14:m>
                          <a:endParaRPr lang="en-AU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11481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6090596"/>
                  </p:ext>
                </p:extLst>
              </p:nvPr>
            </p:nvGraphicFramePr>
            <p:xfrm>
              <a:off x="3545306" y="462992"/>
              <a:ext cx="5775157" cy="57613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75157">
                      <a:extLst>
                        <a:ext uri="{9D8B030D-6E8A-4147-A177-3AD203B41FA5}">
                          <a16:colId xmlns:a16="http://schemas.microsoft.com/office/drawing/2014/main" val="1309108796"/>
                        </a:ext>
                      </a:extLst>
                    </a:gridCol>
                  </a:tblGrid>
                  <a:tr h="1440336">
                    <a:tc>
                      <a:txBody>
                        <a:bodyPr/>
                        <a:lstStyle/>
                        <a:p>
                          <a:r>
                            <a:rPr lang="en-AU" sz="2400" b="0" dirty="0" smtClean="0">
                              <a:solidFill>
                                <a:schemeClr val="tx1"/>
                              </a:solidFill>
                            </a:rPr>
                            <a:t>Write 48 as a product of prime factors</a:t>
                          </a:r>
                          <a:endParaRPr lang="en-AU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28514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" t="-102954" r="-316" b="-2004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0438145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" t="-203814" r="-316" b="-1012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9738282"/>
                      </a:ext>
                    </a:extLst>
                  </a:tr>
                  <a:tr h="14403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" t="-302532" r="-316" b="-8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11481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333622" y="0"/>
            <a:ext cx="496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Year 8 Indices revision worksheets</a:t>
            </a:r>
          </a:p>
        </p:txBody>
      </p:sp>
    </p:spTree>
    <p:extLst>
      <p:ext uri="{BB962C8B-B14F-4D97-AF65-F5344CB8AC3E}">
        <p14:creationId xmlns:p14="http://schemas.microsoft.com/office/powerpoint/2010/main" val="199899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94E8-31D2-4BAD-872D-F0ACE5E1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Evaluating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10EBE-D93C-429F-963C-20E11D6EE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Means solve or provide an answer for.</a:t>
                </a:r>
              </a:p>
              <a:p>
                <a:pPr marL="0" indent="0">
                  <a:buNone/>
                </a:pPr>
                <a:r>
                  <a:rPr lang="en-AU" dirty="0"/>
                  <a:t>E.g., evaluate 2 + 7 =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Evaluate (I do):</a:t>
                </a:r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b="0" dirty="0"/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dirty="0"/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10EBE-D93C-429F-963C-20E11D6EE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026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8C62-577C-4A22-853F-6FB2F617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Evaluate: exercise books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DA86F0-45B6-41D4-899F-E35E2B608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AU" dirty="0"/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200" b="0" dirty="0"/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5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−10= </m:t>
                    </m:r>
                  </m:oMath>
                </a14:m>
                <a:endParaRPr lang="en-AU" sz="3200" b="0" dirty="0"/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4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200" b="0" dirty="0"/>
              </a:p>
              <a:p>
                <a:pPr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 5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DA86F0-45B6-41D4-899F-E35E2B608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349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6977-8273-451F-ACB4-BF29F7A8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Notes page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78E4-2631-4A8F-9EE8-E559FF120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 laws </a:t>
            </a:r>
          </a:p>
          <a:p>
            <a:r>
              <a:rPr lang="en-US" dirty="0"/>
              <a:t>Examples </a:t>
            </a:r>
          </a:p>
          <a:p>
            <a:r>
              <a:rPr lang="en-US" dirty="0"/>
              <a:t>Worded statements (from our guided notes today)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206235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339</Words>
  <Application>Microsoft Office PowerPoint</Application>
  <PresentationFormat>Widescreen</PresentationFormat>
  <Paragraphs>83</Paragraphs>
  <Slides>10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</vt:lpstr>
      <vt:lpstr>Evaluate: exercise books </vt:lpstr>
      <vt:lpstr>Notes page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26</cp:revision>
  <cp:lastPrinted>2022-03-01T00:10:35Z</cp:lastPrinted>
  <dcterms:created xsi:type="dcterms:W3CDTF">2022-02-28T13:51:39Z</dcterms:created>
  <dcterms:modified xsi:type="dcterms:W3CDTF">2022-03-09T03:02:48Z</dcterms:modified>
</cp:coreProperties>
</file>
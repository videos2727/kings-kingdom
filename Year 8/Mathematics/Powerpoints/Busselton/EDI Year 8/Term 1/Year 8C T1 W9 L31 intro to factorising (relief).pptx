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93" r:id="rId2"/>
    <p:sldId id="326" r:id="rId3"/>
    <p:sldId id="327" r:id="rId4"/>
    <p:sldId id="321" r:id="rId5"/>
    <p:sldId id="330" r:id="rId6"/>
    <p:sldId id="331" r:id="rId7"/>
    <p:sldId id="322" r:id="rId8"/>
    <p:sldId id="325" r:id="rId9"/>
    <p:sldId id="329" r:id="rId10"/>
    <p:sldId id="328" r:id="rId11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2E2"/>
    <a:srgbClr val="ECF1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36F99B-1B3D-43A6-9821-04F3D79B9194}" type="datetimeFigureOut">
              <a:rPr lang="en-AU" smtClean="0"/>
              <a:t>29/03/2022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677B09-D6A7-4EAC-A5D0-717D82F0B4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6106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29/03/2022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8173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29/03/2022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048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29/03/2022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9160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29/03/2022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728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29/03/2022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1442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29/03/2022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3975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29/03/2022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6237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29/03/2022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2630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29/03/2022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636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29/03/2022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6046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29/03/2022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6879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29/03/2022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8129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29/03/2022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8427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29/03/2022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7951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29/03/2022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6149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29/03/2022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4137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29/03/2022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1738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rWLFqOQtBA" TargetMode="External"/><Relationship Id="rId2" Type="http://schemas.openxmlformats.org/officeDocument/2006/relationships/hyperlink" Target="https://www.youtube.com/watch?v=0NvLtTwnUH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02247" y="125195"/>
            <a:ext cx="30226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1" b="1" dirty="0">
                <a:solidFill>
                  <a:srgbClr val="FF0000"/>
                </a:solidFill>
                <a:latin typeface="Century Gothic" panose="020B0502020202020204"/>
              </a:rPr>
              <a:t>30</a:t>
            </a:r>
            <a:r>
              <a:rPr kumimoji="0" lang="en-AU" sz="1801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/03/2022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6150" y="2700055"/>
            <a:ext cx="63938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Aim: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Be able</a:t>
            </a:r>
            <a:r>
              <a:rPr kumimoji="0" lang="en-AU" sz="24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to factorise expressions. 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46150" y="3809181"/>
            <a:ext cx="93948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Plan: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Daily review</a:t>
            </a:r>
          </a:p>
          <a:p>
            <a:pPr marL="901700" marR="0" lvl="0" indent="-5429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Substitution and evaluation.</a:t>
            </a:r>
          </a:p>
          <a:p>
            <a:pPr marL="901700" marR="0" lvl="0" indent="-5429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The factorisation process.</a:t>
            </a:r>
          </a:p>
          <a:p>
            <a:pPr marL="352425" marR="0" lvl="0" indent="-3524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Independent practice.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D63010-5976-4AF8-A69E-E89FDCA9D866}"/>
              </a:ext>
            </a:extLst>
          </p:cNvPr>
          <p:cNvSpPr txBox="1"/>
          <p:nvPr/>
        </p:nvSpPr>
        <p:spPr>
          <a:xfrm>
            <a:off x="2146149" y="1320921"/>
            <a:ext cx="6393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tabLst/>
              <a:defRPr/>
            </a:pPr>
            <a:r>
              <a:rPr kumimoji="0" lang="en-AU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Title: </a:t>
            </a:r>
            <a:r>
              <a:rPr kumimoji="0" lang="en-AU" sz="24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Factorising</a:t>
            </a:r>
            <a:r>
              <a:rPr kumimoji="0" lang="en-AU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9991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E1A79C-D351-4E24-BDD6-613E2035623E}"/>
              </a:ext>
            </a:extLst>
          </p:cNvPr>
          <p:cNvSpPr txBox="1"/>
          <p:nvPr/>
        </p:nvSpPr>
        <p:spPr>
          <a:xfrm>
            <a:off x="480919" y="159746"/>
            <a:ext cx="398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Daily review: Substitution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989437" y="602658"/>
                <a:ext cx="95394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Evaluate the following expressions if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=2,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=3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=−4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437" y="602658"/>
                <a:ext cx="9539417" cy="461665"/>
              </a:xfrm>
              <a:prstGeom prst="rect">
                <a:avLst/>
              </a:prstGeom>
              <a:blipFill>
                <a:blip r:embed="rId2"/>
                <a:stretch>
                  <a:fillRect l="-958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680569" y="1653355"/>
                <a:ext cx="4028303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=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×2+3−3×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e>
                    </m:d>
                  </m:oMath>
                </a14:m>
                <a:endParaRPr lang="en-AU" sz="2400" b="0" dirty="0">
                  <a:ea typeface="Cambria Math" panose="02040503050406030204" pitchFamily="18" charset="0"/>
                </a:endParaRPr>
              </a:p>
              <a:p>
                <a:r>
                  <a:rPr lang="en-AU" sz="2400" dirty="0"/>
                  <a:t>= 4 + 3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sz="2400" dirty="0"/>
                  <a:t> (-12)</a:t>
                </a:r>
              </a:p>
              <a:p>
                <a:r>
                  <a:rPr lang="en-AU" sz="2400" dirty="0"/>
                  <a:t>= 7 + 12</a:t>
                </a:r>
              </a:p>
              <a:p>
                <a:r>
                  <a:rPr lang="en-AU" sz="2400" dirty="0"/>
                  <a:t>= 19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0569" y="1653355"/>
                <a:ext cx="4028303" cy="1569660"/>
              </a:xfrm>
              <a:prstGeom prst="rect">
                <a:avLst/>
              </a:prstGeom>
              <a:blipFill>
                <a:blip r:embed="rId3"/>
                <a:stretch>
                  <a:fillRect l="-2421" t="-3101" b="-7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267153" y="1232665"/>
                <a:ext cx="354638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542925"/>
                <a:r>
                  <a:rPr lang="en-AU" sz="2400" dirty="0">
                    <a:solidFill>
                      <a:srgbClr val="FF0000"/>
                    </a:solidFill>
                  </a:rPr>
                  <a:t>1.</a:t>
                </a:r>
                <a:r>
                  <a:rPr lang="en-AU" sz="2400" dirty="0"/>
                  <a:t>	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AU" sz="2400" dirty="0"/>
                  <a:t>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153" y="1232665"/>
                <a:ext cx="3546389" cy="461665"/>
              </a:xfrm>
              <a:prstGeom prst="rect">
                <a:avLst/>
              </a:prstGeom>
              <a:blipFill>
                <a:blip r:embed="rId4"/>
                <a:stretch>
                  <a:fillRect l="-274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436450" y="3412871"/>
                <a:ext cx="448550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542925"/>
                <a:r>
                  <a:rPr lang="en-AU" sz="2400" dirty="0">
                    <a:solidFill>
                      <a:srgbClr val="FF0000"/>
                    </a:solidFill>
                  </a:rPr>
                  <a:t>2.</a:t>
                </a:r>
                <a:r>
                  <a:rPr lang="en-AU" sz="2400" dirty="0"/>
                  <a:t>	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– 5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+ 4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+ 7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450" y="3412871"/>
                <a:ext cx="4485503" cy="461665"/>
              </a:xfrm>
              <a:prstGeom prst="rect">
                <a:avLst/>
              </a:prstGeom>
              <a:blipFill>
                <a:blip r:embed="rId5"/>
                <a:stretch>
                  <a:fillRect l="-2177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965622" y="3874537"/>
                <a:ext cx="551111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=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×2−5×3+4×2+7×3</m:t>
                    </m:r>
                  </m:oMath>
                </a14:m>
                <a:endParaRPr lang="en-AU" sz="2400" b="0" dirty="0">
                  <a:ea typeface="Cambria Math" panose="02040503050406030204" pitchFamily="18" charset="0"/>
                </a:endParaRPr>
              </a:p>
              <a:p>
                <a:r>
                  <a:rPr lang="en-AU" sz="2400" dirty="0"/>
                  <a:t>= 6 – 15 + 8 + 21</a:t>
                </a:r>
              </a:p>
              <a:p>
                <a:r>
                  <a:rPr lang="en-AU" sz="2400" dirty="0"/>
                  <a:t>= 20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622" y="3874537"/>
                <a:ext cx="5511114" cy="1200329"/>
              </a:xfrm>
              <a:prstGeom prst="rect">
                <a:avLst/>
              </a:prstGeom>
              <a:blipFill>
                <a:blip r:embed="rId6"/>
                <a:stretch>
                  <a:fillRect l="-1657" t="-4082" b="-112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817707" y="3412871"/>
                <a:ext cx="3810001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444500"/>
                <a:r>
                  <a:rPr lang="en-AU" sz="2400" dirty="0">
                    <a:solidFill>
                      <a:srgbClr val="FF0000"/>
                    </a:solidFill>
                  </a:rPr>
                  <a:t>2.</a:t>
                </a:r>
                <a:r>
                  <a:rPr lang="en-AU" sz="2400" dirty="0"/>
                  <a:t>	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– 5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+ 4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+ 7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400" dirty="0"/>
              </a:p>
              <a:p>
                <a:pPr defTabSz="444500"/>
                <a:r>
                  <a:rPr lang="en-AU" sz="2400" dirty="0"/>
                  <a:t>     =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AU" sz="2400" b="0" dirty="0"/>
              </a:p>
              <a:p>
                <a:pPr defTabSz="444500"/>
                <a:r>
                  <a:rPr lang="en-AU" sz="2400" dirty="0"/>
                  <a:t>     =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×2+2×3</m:t>
                    </m:r>
                  </m:oMath>
                </a14:m>
                <a:endParaRPr lang="en-AU" sz="2400" b="0" dirty="0">
                  <a:ea typeface="Cambria Math" panose="02040503050406030204" pitchFamily="18" charset="0"/>
                </a:endParaRPr>
              </a:p>
              <a:p>
                <a:pPr defTabSz="444500"/>
                <a:r>
                  <a:rPr lang="en-AU" sz="2400" dirty="0"/>
                  <a:t>     = 14 + 6</a:t>
                </a:r>
              </a:p>
              <a:p>
                <a:pPr defTabSz="444500"/>
                <a:r>
                  <a:rPr lang="en-AU" sz="2400" dirty="0"/>
                  <a:t>     = 20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7707" y="3412871"/>
                <a:ext cx="3810001" cy="1938992"/>
              </a:xfrm>
              <a:prstGeom prst="rect">
                <a:avLst/>
              </a:prstGeom>
              <a:blipFill>
                <a:blip r:embed="rId7"/>
                <a:stretch>
                  <a:fillRect l="-2400" t="-2516" b="-6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069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/>
      <p:bldP spid="10" grpId="0"/>
      <p:bldP spid="12" grpId="0" build="p"/>
      <p:bldP spid="1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323070" y="738582"/>
                <a:ext cx="95394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Evaluate the following expressions if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=2,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=3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=−4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070" y="738582"/>
                <a:ext cx="9539417" cy="461665"/>
              </a:xfrm>
              <a:prstGeom prst="rect">
                <a:avLst/>
              </a:prstGeom>
              <a:blipFill>
                <a:blip r:embed="rId2"/>
                <a:stretch>
                  <a:fillRect l="-958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583460" y="1618735"/>
                <a:ext cx="5980671" cy="1508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2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2400" b="0" dirty="0"/>
                  <a:t>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AU" sz="2400" b="0" dirty="0"/>
              </a:p>
              <a:p>
                <a:pPr marL="457200" indent="-457200">
                  <a:spcAft>
                    <a:spcPts val="12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2400" b="0" dirty="0"/>
                  <a:t>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AU" sz="2400" b="0" dirty="0"/>
              </a:p>
              <a:p>
                <a:pPr marL="457200" indent="-457200">
                  <a:spcAft>
                    <a:spcPts val="1200"/>
                  </a:spcAft>
                  <a:buClr>
                    <a:srgbClr val="FF0000"/>
                  </a:buClr>
                  <a:buAutoNum type="arabicPeriod"/>
                </a:pPr>
                <a:r>
                  <a:rPr lang="en-AU" sz="2400" b="0" dirty="0"/>
                  <a:t>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460" y="1618735"/>
                <a:ext cx="5980671" cy="1508105"/>
              </a:xfrm>
              <a:prstGeom prst="rect">
                <a:avLst/>
              </a:prstGeom>
              <a:blipFill>
                <a:blip r:embed="rId3"/>
                <a:stretch>
                  <a:fillRect l="-1631" t="-3239" b="-85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9ADD0D7-DF7A-4AD2-91E4-B02061764A69}"/>
              </a:ext>
            </a:extLst>
          </p:cNvPr>
          <p:cNvSpPr txBox="1"/>
          <p:nvPr/>
        </p:nvSpPr>
        <p:spPr>
          <a:xfrm>
            <a:off x="1998482" y="207390"/>
            <a:ext cx="2922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Exercise books</a:t>
            </a:r>
            <a:endParaRPr lang="en-AU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32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77978" y="2038866"/>
            <a:ext cx="787125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sz="2400" b="1" dirty="0">
                <a:solidFill>
                  <a:srgbClr val="FF0000"/>
                </a:solidFill>
              </a:rPr>
              <a:t>Look for highest common factor (HCF).</a:t>
            </a:r>
          </a:p>
          <a:p>
            <a:pPr>
              <a:spcAft>
                <a:spcPts val="1200"/>
              </a:spcAft>
            </a:pPr>
            <a:r>
              <a:rPr lang="en-AU" sz="2400" b="1" dirty="0">
                <a:solidFill>
                  <a:srgbClr val="FF0000"/>
                </a:solidFill>
              </a:rPr>
              <a:t>Write terms as a product of factors using HCF.</a:t>
            </a:r>
          </a:p>
          <a:p>
            <a:pPr>
              <a:spcAft>
                <a:spcPts val="1200"/>
              </a:spcAft>
            </a:pPr>
            <a:r>
              <a:rPr lang="en-AU" sz="2400" b="1" dirty="0">
                <a:solidFill>
                  <a:srgbClr val="FF0000"/>
                </a:solidFill>
              </a:rPr>
              <a:t>Take highest common factor to front of brackets.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7978" y="1396313"/>
            <a:ext cx="4992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The factorisation process</a:t>
            </a:r>
          </a:p>
        </p:txBody>
      </p:sp>
    </p:spTree>
    <p:extLst>
      <p:ext uri="{BB962C8B-B14F-4D97-AF65-F5344CB8AC3E}">
        <p14:creationId xmlns:p14="http://schemas.microsoft.com/office/powerpoint/2010/main" val="2877028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E9B56-D4F0-4AE6-9326-0EEA525BD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a factor?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5A2F1-697A-4016-AF03-385235953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hlinkClick r:id="rId2"/>
              </a:rPr>
              <a:t>https://www.youtube.com/watch?v=0NvLtTwnUHs</a:t>
            </a:r>
            <a:endParaRPr lang="en-AU" dirty="0"/>
          </a:p>
          <a:p>
            <a:endParaRPr lang="en-AU" dirty="0"/>
          </a:p>
          <a:p>
            <a:pPr marL="0" indent="0">
              <a:buNone/>
            </a:pPr>
            <a:r>
              <a:rPr lang="en-AU" dirty="0"/>
              <a:t>(Stop after 1:20) </a:t>
            </a:r>
          </a:p>
          <a:p>
            <a:pPr marL="0" indent="0">
              <a:buNone/>
            </a:pPr>
            <a:endParaRPr lang="en-AU" dirty="0"/>
          </a:p>
          <a:p>
            <a:pPr>
              <a:buFontTx/>
              <a:buChar char="-"/>
            </a:pPr>
            <a:r>
              <a:rPr lang="en-AU" dirty="0"/>
              <a:t>Factorising expressions requires us to identify the Highest/greatest common factor (HCF).</a:t>
            </a:r>
          </a:p>
          <a:p>
            <a:pPr marL="0" indent="0">
              <a:buNone/>
            </a:pPr>
            <a:r>
              <a:rPr lang="en-AU" dirty="0">
                <a:hlinkClick r:id="rId3"/>
              </a:rPr>
              <a:t>https://www.youtube.com/watch?v=crWLFqOQtBA</a:t>
            </a:r>
            <a:endParaRPr lang="en-AU" dirty="0"/>
          </a:p>
          <a:p>
            <a:pPr marL="0" indent="0">
              <a:buNone/>
            </a:pPr>
            <a:r>
              <a:rPr lang="en-AU" dirty="0"/>
              <a:t>(can stop after 4min) </a:t>
            </a:r>
          </a:p>
        </p:txBody>
      </p:sp>
    </p:spTree>
    <p:extLst>
      <p:ext uri="{BB962C8B-B14F-4D97-AF65-F5344CB8AC3E}">
        <p14:creationId xmlns:p14="http://schemas.microsoft.com/office/powerpoint/2010/main" val="3565423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8E077-47AF-43EA-841D-6E55A8A38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highest common factor (HCF)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8FD0B-918E-442D-810A-78AFAF048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138499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List all factors of each term </a:t>
            </a:r>
          </a:p>
          <a:p>
            <a:pPr marL="0" indent="0">
              <a:buNone/>
            </a:pPr>
            <a:r>
              <a:rPr lang="en-AU" dirty="0"/>
              <a:t> e.g., </a:t>
            </a:r>
          </a:p>
          <a:p>
            <a:pPr marL="0" indent="0" algn="ctr">
              <a:buNone/>
            </a:pPr>
            <a:r>
              <a:rPr lang="en-AU" sz="3200" dirty="0"/>
              <a:t>18x + 14 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B79D8C-F4E3-4B8F-B0A4-D0B0ABB70135}"/>
              </a:ext>
            </a:extLst>
          </p:cNvPr>
          <p:cNvSpPr txBox="1"/>
          <p:nvPr/>
        </p:nvSpPr>
        <p:spPr>
          <a:xfrm>
            <a:off x="4231064" y="5421630"/>
            <a:ext cx="5272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2 is the HCF of 18x and 14</a:t>
            </a:r>
            <a:endParaRPr lang="en-AU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E53912-B5B4-40C7-BD6F-57F10BB18FBE}"/>
              </a:ext>
            </a:extLst>
          </p:cNvPr>
          <p:cNvSpPr txBox="1"/>
          <p:nvPr/>
        </p:nvSpPr>
        <p:spPr>
          <a:xfrm>
            <a:off x="7891806" y="3607742"/>
            <a:ext cx="32239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Factors of 14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/>
              <a:t>1, 2, 7, 14</a:t>
            </a:r>
            <a:endParaRPr lang="en-AU" sz="2800" b="1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41DE535-85AC-4620-B5E8-40C80365FDFF}"/>
              </a:ext>
            </a:extLst>
          </p:cNvPr>
          <p:cNvSpPr/>
          <p:nvPr/>
        </p:nvSpPr>
        <p:spPr>
          <a:xfrm>
            <a:off x="2837468" y="4509949"/>
            <a:ext cx="546754" cy="45914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6DED617-43D5-495D-AE7F-2FB971873B1D}"/>
              </a:ext>
            </a:extLst>
          </p:cNvPr>
          <p:cNvSpPr/>
          <p:nvPr/>
        </p:nvSpPr>
        <p:spPr>
          <a:xfrm>
            <a:off x="8957035" y="4509949"/>
            <a:ext cx="546754" cy="45914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96DD45-EA5D-440A-9017-0D1FDF1FA78D}"/>
              </a:ext>
            </a:extLst>
          </p:cNvPr>
          <p:cNvSpPr txBox="1"/>
          <p:nvPr/>
        </p:nvSpPr>
        <p:spPr>
          <a:xfrm>
            <a:off x="2381055" y="3581361"/>
            <a:ext cx="32239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Factors of 18x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/>
              <a:t>1, 2, 3, 6, 9, 18, x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2983782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2421923" y="815547"/>
                <a:ext cx="5288692" cy="17748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𝐹𝑎𝑐𝑡𝑜𝑟𝑖𝑠𝑒</m:t>
                    </m:r>
                  </m:oMath>
                </a14:m>
                <a:r>
                  <a:rPr lang="en-AU" sz="2400" dirty="0"/>
                  <a:t>	     </a:t>
                </a:r>
                <a:endParaRPr lang="en-AU" sz="2400" b="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en-AU" sz="2400" b="1" dirty="0">
                    <a:solidFill>
                      <a:srgbClr val="00B0F0"/>
                    </a:solidFill>
                  </a:rPr>
                  <a:t> </a:t>
                </a: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AU" sz="2400" b="1" dirty="0">
                    <a:solidFill>
                      <a:srgbClr val="00B0F0"/>
                    </a:solidFill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b="1" dirty="0">
                    <a:solidFill>
                      <a:srgbClr val="00B0F0"/>
                    </a:solidFill>
                  </a:rPr>
                  <a:t>  </a:t>
                </a:r>
                <a:r>
                  <a:rPr lang="en-AU" sz="2400" dirty="0"/>
                  <a:t>	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923" y="815547"/>
                <a:ext cx="5288692" cy="1774845"/>
              </a:xfrm>
              <a:prstGeom prst="rect">
                <a:avLst/>
              </a:prstGeom>
              <a:blipFill>
                <a:blip r:embed="rId2"/>
                <a:stretch>
                  <a:fillRect l="-230" b="-44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421923" y="2849884"/>
                <a:ext cx="5288692" cy="17748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     </a:t>
                </a:r>
                <a:endParaRPr lang="en-AU" sz="2400" b="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𝟏𝟔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en-AU" sz="2400" b="1" dirty="0">
                    <a:solidFill>
                      <a:srgbClr val="00B0F0"/>
                    </a:solidFill>
                  </a:rPr>
                  <a:t> </a:t>
                </a: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AU" sz="2400" b="1" dirty="0">
                    <a:solidFill>
                      <a:srgbClr val="00B0F0"/>
                    </a:solidFill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b="1" dirty="0">
                    <a:solidFill>
                      <a:srgbClr val="00B0F0"/>
                    </a:solidFill>
                  </a:rPr>
                  <a:t>  </a:t>
                </a:r>
                <a:r>
                  <a:rPr lang="en-AU" sz="2400" dirty="0"/>
                  <a:t>	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923" y="2849884"/>
                <a:ext cx="5288692" cy="1774845"/>
              </a:xfrm>
              <a:prstGeom prst="rect">
                <a:avLst/>
              </a:prstGeom>
              <a:blipFill>
                <a:blip r:embed="rId3"/>
                <a:stretch>
                  <a:fillRect l="-922" b="-41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6406977" y="2225577"/>
                <a:ext cx="5288692" cy="13029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AU" sz="2400" b="1" dirty="0">
                    <a:solidFill>
                      <a:srgbClr val="00B0F0"/>
                    </a:solidFill>
                  </a:rPr>
                  <a:t> </a:t>
                </a: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AU" sz="2400" b="1" dirty="0">
                    <a:solidFill>
                      <a:srgbClr val="00B0F0"/>
                    </a:solidFill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b="1" dirty="0">
                    <a:solidFill>
                      <a:srgbClr val="00B0F0"/>
                    </a:solidFill>
                  </a:rPr>
                  <a:t>  </a:t>
                </a:r>
                <a:r>
                  <a:rPr lang="en-AU" sz="2400" dirty="0"/>
                  <a:t>	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6977" y="2225577"/>
                <a:ext cx="5288692" cy="1302921"/>
              </a:xfrm>
              <a:prstGeom prst="rect">
                <a:avLst/>
              </a:prstGeom>
              <a:blipFill>
                <a:blip r:embed="rId4"/>
                <a:stretch>
                  <a:fillRect l="-230" b="-65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6406977" y="4207112"/>
                <a:ext cx="5152767" cy="1354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  <a:buClr>
                    <a:srgbClr val="FF0000"/>
                  </a:buClr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AU" sz="2400" b="1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400" b="1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400" b="1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AU" sz="2400" b="1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AU" sz="2400" b="1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2400" b="1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AU" sz="2400" b="1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400" b="1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AU" sz="2400" b="1" dirty="0">
                    <a:solidFill>
                      <a:srgbClr val="00B0F0"/>
                    </a:solidFill>
                  </a:rPr>
                  <a:t> </a:t>
                </a:r>
              </a:p>
              <a:p>
                <a:pPr>
                  <a:spcAft>
                    <a:spcPts val="600"/>
                  </a:spcAft>
                  <a:buClr>
                    <a:srgbClr val="FF0000"/>
                  </a:buClr>
                </a:pPr>
                <a:r>
                  <a:rPr lang="en-AU" sz="2400" b="1" dirty="0">
                    <a:solidFill>
                      <a:srgbClr val="00B0F0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en-AU" sz="2400" b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𝒚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𝒉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endParaRPr lang="en-AU" sz="2400" b="1" dirty="0">
                  <a:solidFill>
                    <a:srgbClr val="00B0F0"/>
                  </a:solidFill>
                </a:endParaRPr>
              </a:p>
              <a:p>
                <a:pPr>
                  <a:spcAft>
                    <a:spcPts val="600"/>
                  </a:spcAft>
                  <a:buClr>
                    <a:srgbClr val="FF0000"/>
                  </a:buClr>
                </a:pPr>
                <a:r>
                  <a:rPr lang="en-AU" sz="2400" b="1" dirty="0">
                    <a:solidFill>
                      <a:srgbClr val="00B0F0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b="1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6977" y="4207112"/>
                <a:ext cx="5152767" cy="1354217"/>
              </a:xfrm>
              <a:prstGeom prst="rect">
                <a:avLst/>
              </a:prstGeom>
              <a:blipFill>
                <a:blip r:embed="rId5"/>
                <a:stretch>
                  <a:fillRect l="-1775" b="-94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891753" y="353882"/>
            <a:ext cx="63002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00B0F0"/>
                </a:solidFill>
              </a:rPr>
              <a:t>Look for highest common factor</a:t>
            </a:r>
          </a:p>
          <a:p>
            <a:r>
              <a:rPr lang="en-AU" sz="2000" b="1" dirty="0">
                <a:solidFill>
                  <a:srgbClr val="00B0F0"/>
                </a:solidFill>
              </a:rPr>
              <a:t>Write terms as a product of factors using HCF</a:t>
            </a:r>
          </a:p>
          <a:p>
            <a:r>
              <a:rPr lang="en-AU" sz="2000" b="1" dirty="0">
                <a:solidFill>
                  <a:srgbClr val="00B0F0"/>
                </a:solidFill>
              </a:rPr>
              <a:t>Take highest common factor to front of brackets.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2502E-9B55-4976-9A0C-C57BDE8ACD34}"/>
              </a:ext>
            </a:extLst>
          </p:cNvPr>
          <p:cNvSpPr txBox="1"/>
          <p:nvPr/>
        </p:nvSpPr>
        <p:spPr>
          <a:xfrm>
            <a:off x="3800475" y="1256019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HCF = 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FE4912-9175-4DCF-9FF8-0BF88706A4DF}"/>
              </a:ext>
            </a:extLst>
          </p:cNvPr>
          <p:cNvSpPr txBox="1"/>
          <p:nvPr/>
        </p:nvSpPr>
        <p:spPr>
          <a:xfrm>
            <a:off x="3918124" y="3305547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HCF =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86F7A8-A36F-4CBF-A1F9-07D05DF7AD2D}"/>
              </a:ext>
            </a:extLst>
          </p:cNvPr>
          <p:cNvSpPr txBox="1"/>
          <p:nvPr/>
        </p:nvSpPr>
        <p:spPr>
          <a:xfrm>
            <a:off x="7534275" y="2285805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HCF = 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0D209F-9986-497D-80E9-B84B1374BBC2}"/>
              </a:ext>
            </a:extLst>
          </p:cNvPr>
          <p:cNvSpPr txBox="1"/>
          <p:nvPr/>
        </p:nvSpPr>
        <p:spPr>
          <a:xfrm>
            <a:off x="9051323" y="4265085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HCF = 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0365A-F6FE-4D5C-83CB-C67C30DC5ED0}"/>
              </a:ext>
            </a:extLst>
          </p:cNvPr>
          <p:cNvSpPr txBox="1"/>
          <p:nvPr/>
        </p:nvSpPr>
        <p:spPr>
          <a:xfrm>
            <a:off x="466725" y="180975"/>
            <a:ext cx="2447925" cy="375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Exercise books</a:t>
            </a:r>
          </a:p>
        </p:txBody>
      </p:sp>
    </p:spTree>
    <p:extLst>
      <p:ext uri="{BB962C8B-B14F-4D97-AF65-F5344CB8AC3E}">
        <p14:creationId xmlns:p14="http://schemas.microsoft.com/office/powerpoint/2010/main" val="369839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8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686" y="360633"/>
            <a:ext cx="7172325" cy="30194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7299" y="4630444"/>
            <a:ext cx="6786949" cy="1092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37299" y="3774418"/>
            <a:ext cx="6462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Write answers on the sheet</a:t>
            </a:r>
          </a:p>
        </p:txBody>
      </p:sp>
    </p:spTree>
    <p:extLst>
      <p:ext uri="{BB962C8B-B14F-4D97-AF65-F5344CB8AC3E}">
        <p14:creationId xmlns:p14="http://schemas.microsoft.com/office/powerpoint/2010/main" val="2670447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695074" y="3384882"/>
                <a:ext cx="676976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Factorise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sz="2400" dirty="0"/>
              </a:p>
              <a:p>
                <a:endParaRPr lang="en-AU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074" y="3384882"/>
                <a:ext cx="6769768" cy="830997"/>
              </a:xfrm>
              <a:prstGeom prst="rect">
                <a:avLst/>
              </a:prstGeom>
              <a:blipFill>
                <a:blip r:embed="rId2"/>
                <a:stretch>
                  <a:fillRect l="-1350" t="-58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903622" y="1155032"/>
                <a:ext cx="63847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Simplify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3622" y="1155032"/>
                <a:ext cx="6384757" cy="461665"/>
              </a:xfrm>
              <a:prstGeom prst="rect">
                <a:avLst/>
              </a:prstGeom>
              <a:blipFill>
                <a:blip r:embed="rId3"/>
                <a:stretch>
                  <a:fillRect l="-1431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695074" y="1900625"/>
                <a:ext cx="436345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+3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en-AU" sz="2400" dirty="0"/>
                  <a:t> </a:t>
                </a:r>
              </a:p>
              <a:p>
                <a:r>
                  <a:rPr lang="en-AU" sz="2400" dirty="0"/>
                  <a:t>=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+3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en-AU" sz="2400" dirty="0"/>
                  <a:t> </a:t>
                </a:r>
              </a:p>
              <a:p>
                <a:endParaRPr lang="en-AU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074" y="1900625"/>
                <a:ext cx="4363453" cy="1200329"/>
              </a:xfrm>
              <a:prstGeom prst="rect">
                <a:avLst/>
              </a:prstGeom>
              <a:blipFill>
                <a:blip r:embed="rId4"/>
                <a:stretch>
                  <a:fillRect l="-209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695074" y="3872475"/>
                <a:ext cx="139846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400" dirty="0"/>
              </a:p>
              <a:p>
                <a:r>
                  <a:rPr lang="en-AU" sz="2400" dirty="0"/>
                  <a:t>=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074" y="3872475"/>
                <a:ext cx="1398460" cy="830997"/>
              </a:xfrm>
              <a:prstGeom prst="rect">
                <a:avLst/>
              </a:prstGeom>
              <a:blipFill>
                <a:blip r:embed="rId5"/>
                <a:stretch>
                  <a:fillRect l="-6522" b="-153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935705" y="4215879"/>
            <a:ext cx="4122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CBF (Can’t be factorised)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952" y="3029684"/>
            <a:ext cx="11189660" cy="329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119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0768" y="172995"/>
            <a:ext cx="5016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Challenge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6128" y="1124464"/>
            <a:ext cx="8044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Simplify and then factorise the following expression.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458994" y="1937433"/>
                <a:ext cx="73646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5−3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+4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994" y="1937433"/>
                <a:ext cx="7364627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181864" y="2519569"/>
                <a:ext cx="5918886" cy="1508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/>
                  <a:t>=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+10−6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+8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+4−2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AU" sz="2400" dirty="0"/>
              </a:p>
              <a:p>
                <a:pPr>
                  <a:spcAft>
                    <a:spcPts val="1200"/>
                  </a:spcAft>
                </a:pPr>
                <a:r>
                  <a:rPr lang="en-AU" sz="2400" dirty="0"/>
                  <a:t>=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+14</m:t>
                    </m:r>
                  </m:oMath>
                </a14:m>
                <a:endParaRPr lang="en-AU" sz="2400" b="0" dirty="0"/>
              </a:p>
              <a:p>
                <a:pPr>
                  <a:spcAft>
                    <a:spcPts val="1200"/>
                  </a:spcAft>
                </a:pPr>
                <a:r>
                  <a:rPr lang="en-AU" sz="2400" dirty="0"/>
                  <a:t>=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2(4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+7)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864" y="2519569"/>
                <a:ext cx="5918886" cy="1508105"/>
              </a:xfrm>
              <a:prstGeom prst="rect">
                <a:avLst/>
              </a:prstGeom>
              <a:blipFill>
                <a:blip r:embed="rId3"/>
                <a:stretch>
                  <a:fillRect l="-1648" t="-3226" b="-80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5710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1436</TotalTime>
  <Words>582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 Math</vt:lpstr>
      <vt:lpstr>Century Gothic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What is a factor? </vt:lpstr>
      <vt:lpstr>Finding highest common factor (HCF)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Wall</dc:creator>
  <cp:lastModifiedBy>DAVIES Rhys [Busselton Senior High School]</cp:lastModifiedBy>
  <cp:revision>120</cp:revision>
  <cp:lastPrinted>2022-03-16T01:39:59Z</cp:lastPrinted>
  <dcterms:created xsi:type="dcterms:W3CDTF">2022-02-28T13:51:39Z</dcterms:created>
  <dcterms:modified xsi:type="dcterms:W3CDTF">2022-03-29T08:58:10Z</dcterms:modified>
</cp:coreProperties>
</file>
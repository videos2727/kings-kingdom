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93" r:id="rId2"/>
    <p:sldId id="327" r:id="rId3"/>
    <p:sldId id="328" r:id="rId4"/>
    <p:sldId id="329" r:id="rId5"/>
    <p:sldId id="326" r:id="rId6"/>
    <p:sldId id="330" r:id="rId7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2E2"/>
    <a:srgbClr val="ECF1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6F99B-1B3D-43A6-9821-04F3D79B9194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77B09-D6A7-4EAC-A5D0-717D82F0B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610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817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48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16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72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144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397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623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63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36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604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6879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129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8427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95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149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13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173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54326" y="176308"/>
            <a:ext cx="1842047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29/03/2022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3795" y="2173134"/>
            <a:ext cx="79405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</a:t>
            </a:r>
            <a:r>
              <a:rPr kumimoji="0" lang="en-AU" sz="24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4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simplify expressions</a:t>
            </a:r>
            <a:endParaRPr lang="en-AU" sz="2400" b="1" dirty="0">
              <a:solidFill>
                <a:srgbClr val="00B0F0"/>
              </a:solidFill>
              <a:latin typeface="Century Gothic" panose="020B0502020202020204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Evaluate expressions through substitution </a:t>
            </a:r>
            <a:r>
              <a:rPr kumimoji="0" lang="en-AU" sz="24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40418" y="4004084"/>
            <a:ext cx="93948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</a:endParaRP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</a:t>
            </a:r>
          </a:p>
          <a:p>
            <a:pPr marL="800109" lvl="1" indent="-342909" defTabSz="457200"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Defining evaluate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901700" marR="0" lvl="0" indent="-5429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Simplify expressions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352425" marR="0" lvl="0" indent="-3524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Independent practice.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8A9F3-E5CE-4411-A90B-DBB79786B64F}"/>
              </a:ext>
            </a:extLst>
          </p:cNvPr>
          <p:cNvSpPr txBox="1"/>
          <p:nvPr/>
        </p:nvSpPr>
        <p:spPr>
          <a:xfrm>
            <a:off x="2240418" y="1469034"/>
            <a:ext cx="6393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Substitution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B74CD3-36A6-4EB1-A7A7-8C5107F69852}"/>
              </a:ext>
            </a:extLst>
          </p:cNvPr>
          <p:cNvSpPr txBox="1"/>
          <p:nvPr/>
        </p:nvSpPr>
        <p:spPr>
          <a:xfrm>
            <a:off x="8634237" y="4769963"/>
            <a:ext cx="21311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3999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0E73C-B4DA-4188-AF2C-A1B27ED47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987FF-7519-4F45-B2AC-8CA60B254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Evaluate </a:t>
            </a:r>
          </a:p>
          <a:p>
            <a:pPr marL="0" indent="0">
              <a:buNone/>
            </a:pPr>
            <a:endParaRPr lang="en-AU" sz="2800" dirty="0"/>
          </a:p>
          <a:p>
            <a:pPr>
              <a:buFontTx/>
              <a:buChar char="-"/>
            </a:pPr>
            <a:r>
              <a:rPr lang="en-AU" sz="2800" u="sng" dirty="0"/>
              <a:t>Substitute pronumerals and solve for a numerical answer.</a:t>
            </a:r>
          </a:p>
          <a:p>
            <a:pPr>
              <a:buFontTx/>
              <a:buChar char="-"/>
            </a:pPr>
            <a:endParaRPr lang="en-AU" sz="2800" dirty="0"/>
          </a:p>
          <a:p>
            <a:pPr marL="0" indent="0">
              <a:buNone/>
            </a:pPr>
            <a:r>
              <a:rPr lang="en-AU" sz="2800" dirty="0"/>
              <a:t>Other words:</a:t>
            </a:r>
          </a:p>
          <a:p>
            <a:pPr marL="0" indent="0">
              <a:buNone/>
            </a:pPr>
            <a:r>
              <a:rPr lang="en-AU" sz="2800" dirty="0"/>
              <a:t>Replace letters and get an answer as a number.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211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9121C-9A9F-4525-B494-D910E809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Substitution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36A89-3618-41BA-8640-E95F4D31B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455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If x = 4 and y = 3, Simplify </a:t>
            </a:r>
            <a:r>
              <a:rPr lang="en-US" sz="2800" i="1" u="sng" dirty="0"/>
              <a:t>then</a:t>
            </a:r>
            <a:r>
              <a:rPr lang="en-US" sz="2800" i="1" dirty="0"/>
              <a:t> </a:t>
            </a:r>
            <a:r>
              <a:rPr lang="en-US" sz="2800" dirty="0"/>
              <a:t>evaluate: </a:t>
            </a:r>
          </a:p>
          <a:p>
            <a:pPr marL="0" indent="0">
              <a:buNone/>
            </a:pPr>
            <a:endParaRPr lang="en-US" sz="2800" dirty="0"/>
          </a:p>
          <a:p>
            <a:pPr marL="514350" indent="-514350">
              <a:buAutoNum type="alphaLcParenR"/>
            </a:pPr>
            <a:r>
              <a:rPr lang="en-US" sz="2800" dirty="0"/>
              <a:t>x + y = </a:t>
            </a:r>
          </a:p>
          <a:p>
            <a:pPr marL="514350" indent="-514350">
              <a:buAutoNum type="alphaLcParenR"/>
            </a:pPr>
            <a:r>
              <a:rPr lang="en-US" sz="2800" dirty="0"/>
              <a:t>2x + 4 + y = </a:t>
            </a:r>
          </a:p>
          <a:p>
            <a:pPr marL="514350" indent="-514350">
              <a:buAutoNum type="alphaLcParenR"/>
            </a:pPr>
            <a:r>
              <a:rPr lang="en-US" sz="2800" dirty="0"/>
              <a:t>9x + 3 – 2x =</a:t>
            </a:r>
          </a:p>
          <a:p>
            <a:pPr marL="514350" indent="-514350">
              <a:buAutoNum type="alphaLcParenR"/>
            </a:pPr>
            <a:r>
              <a:rPr lang="en-US" sz="2800" dirty="0"/>
              <a:t>8 – 5x – 1 = </a:t>
            </a:r>
          </a:p>
          <a:p>
            <a:pPr marL="514350" indent="-514350">
              <a:buAutoNum type="alphaLcParenR"/>
            </a:pPr>
            <a:r>
              <a:rPr lang="en-US" sz="2800" dirty="0"/>
              <a:t>9b – 1 + 8y – 8b + 3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F89786-F487-4CA9-A9A3-20D82FDF8519}"/>
              </a:ext>
            </a:extLst>
          </p:cNvPr>
          <p:cNvSpPr txBox="1"/>
          <p:nvPr/>
        </p:nvSpPr>
        <p:spPr>
          <a:xfrm>
            <a:off x="1809946" y="160256"/>
            <a:ext cx="3412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Copy examples into exercise books.</a:t>
            </a:r>
            <a:endParaRPr lang="en-AU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3910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D2585-A0F9-41A4-8D1D-729F0285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8B43B-807A-4AE0-9B8A-1CF0FFCA3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If x = 3 and y = 7, simplify THEN evaluate these expressions:</a:t>
            </a:r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AutoNum type="alphaLcParenR"/>
            </a:pPr>
            <a:r>
              <a:rPr lang="en-US" sz="3200" b="1" dirty="0"/>
              <a:t>7x + 7 – 2x = </a:t>
            </a:r>
          </a:p>
          <a:p>
            <a:pPr marL="457200" indent="-457200">
              <a:buAutoNum type="alphaLcParenR"/>
            </a:pPr>
            <a:r>
              <a:rPr lang="en-US" sz="3200" b="1" dirty="0"/>
              <a:t>3x + 7y + 2x – 3y + 6 = </a:t>
            </a:r>
          </a:p>
          <a:p>
            <a:pPr marL="457200" indent="-457200">
              <a:buAutoNum type="alphaLcParenR"/>
            </a:pPr>
            <a:r>
              <a:rPr lang="en-US" sz="3200" b="1" dirty="0"/>
              <a:t>2x – (–3x) + 6 </a:t>
            </a:r>
          </a:p>
          <a:p>
            <a:pPr marL="457200" indent="-457200">
              <a:buAutoNum type="alphaLcParenR"/>
            </a:pPr>
            <a:r>
              <a:rPr lang="en-US" sz="3200" b="1" dirty="0"/>
              <a:t>9y + (–7y) + 3x = </a:t>
            </a:r>
          </a:p>
          <a:p>
            <a:pPr marL="457200" indent="-457200">
              <a:buAutoNum type="alphaLcParenR"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22796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548" y="1107790"/>
            <a:ext cx="7172325" cy="34575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17AB5E-B005-40DF-9DB2-B78209330D40}"/>
              </a:ext>
            </a:extLst>
          </p:cNvPr>
          <p:cNvSpPr txBox="1"/>
          <p:nvPr/>
        </p:nvSpPr>
        <p:spPr>
          <a:xfrm>
            <a:off x="7031183" y="4827587"/>
            <a:ext cx="3620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Independent practice. </a:t>
            </a:r>
          </a:p>
          <a:p>
            <a:r>
              <a:rPr lang="en-AU" b="1" dirty="0">
                <a:solidFill>
                  <a:srgbClr val="FF0000"/>
                </a:solidFill>
              </a:rPr>
              <a:t>Questions may be completed on the worksheet. Substitutions do not need to be completed.</a:t>
            </a:r>
          </a:p>
        </p:txBody>
      </p:sp>
    </p:spTree>
    <p:extLst>
      <p:ext uri="{BB962C8B-B14F-4D97-AF65-F5344CB8AC3E}">
        <p14:creationId xmlns:p14="http://schemas.microsoft.com/office/powerpoint/2010/main" val="409069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DF81-0B57-4F65-AF31-0B0CCBB44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4E79A-84F9-45AF-B97D-CAB001C1A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</a:t>
            </a:r>
            <a:r>
              <a:rPr kumimoji="0" lang="en-AU" sz="36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36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simplify expressions</a:t>
            </a:r>
            <a:endParaRPr lang="en-AU" sz="3600" b="1" dirty="0">
              <a:solidFill>
                <a:schemeClr val="tx1"/>
              </a:solidFill>
              <a:latin typeface="Century Gothic" panose="020B0502020202020204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AU" sz="3600" b="1" dirty="0">
                <a:solidFill>
                  <a:schemeClr val="tx1"/>
                </a:solidFill>
                <a:latin typeface="Century Gothic" panose="020B0502020202020204"/>
              </a:rPr>
              <a:t>Evaluate expressions through substitution </a:t>
            </a:r>
            <a:r>
              <a:rPr kumimoji="0" lang="en-AU" sz="36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608579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184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Wingdings</vt:lpstr>
      <vt:lpstr>Wingdings 3</vt:lpstr>
      <vt:lpstr>Wisp</vt:lpstr>
      <vt:lpstr>PowerPoint Presentation</vt:lpstr>
      <vt:lpstr>The word is </vt:lpstr>
      <vt:lpstr>Substitution </vt:lpstr>
      <vt:lpstr>Whiteboards </vt:lpstr>
      <vt:lpstr>PowerPoint Presentation</vt:lpstr>
      <vt:lpstr>Reflection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Wall</dc:creator>
  <cp:lastModifiedBy>DAVIES Rhys [Busselton Senior High School]</cp:lastModifiedBy>
  <cp:revision>111</cp:revision>
  <cp:lastPrinted>2022-03-16T01:39:59Z</cp:lastPrinted>
  <dcterms:created xsi:type="dcterms:W3CDTF">2022-02-28T13:51:39Z</dcterms:created>
  <dcterms:modified xsi:type="dcterms:W3CDTF">2022-03-28T08:49:51Z</dcterms:modified>
</cp:coreProperties>
</file>
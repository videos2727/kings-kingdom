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7" r:id="rId2"/>
  </p:sldMasterIdLst>
  <p:notesMasterIdLst>
    <p:notesMasterId r:id="rId19"/>
  </p:notesMasterIdLst>
  <p:sldIdLst>
    <p:sldId id="257" r:id="rId3"/>
    <p:sldId id="258" r:id="rId4"/>
    <p:sldId id="259" r:id="rId5"/>
    <p:sldId id="260" r:id="rId6"/>
    <p:sldId id="261" r:id="rId7"/>
    <p:sldId id="276" r:id="rId8"/>
    <p:sldId id="294" r:id="rId9"/>
    <p:sldId id="285" r:id="rId10"/>
    <p:sldId id="288" r:id="rId11"/>
    <p:sldId id="287" r:id="rId12"/>
    <p:sldId id="293" r:id="rId13"/>
    <p:sldId id="289" r:id="rId14"/>
    <p:sldId id="290" r:id="rId15"/>
    <p:sldId id="279" r:id="rId16"/>
    <p:sldId id="291" r:id="rId17"/>
    <p:sldId id="292" r:id="rId18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1" d="100"/>
          <a:sy n="81" d="100"/>
        </p:scale>
        <p:origin x="7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C4F6E3-97C5-46D9-A532-02FE330609F2}" type="datetimeFigureOut">
              <a:rPr lang="en-AU" smtClean="0"/>
              <a:t>14/02/2022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5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4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4C0753-0B2E-422D-ADAB-A491182127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5827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C0753-0B2E-422D-ADAB-A49118212793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14075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Worksheet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C0753-0B2E-422D-ADAB-A49118212793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68672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Worksheet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C0753-0B2E-422D-ADAB-A49118212793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7523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14/02/2022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59458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14/02/2022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2653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14/02/2022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7230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14/02/2022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4256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14/02/2022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0342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14/02/2022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8269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14/02/2022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7332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14/02/2022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7738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14/02/2022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1138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14/02/2022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7080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14/02/2022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277464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14/02/2022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69125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14/02/2022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084719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14/02/2022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23435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14/02/2022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55285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14/02/2022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04709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3BC55-BC66-4881-8A80-53381D33BB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8D47DD-B6FB-4574-8E62-4D0D46703F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BA0628-3038-44B7-BA43-6B9F3AB71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6F1F-FBF8-4FC2-8AA0-FDC5F4835707}" type="datetimeFigureOut">
              <a:rPr lang="en-AU" smtClean="0"/>
              <a:t>14/02/2022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3D6D6-FE35-4ED9-B919-D57077182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641AF-E46C-462E-B2B8-236847642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A6E2F-D9AD-4753-A39E-8FEE6685536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89032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90BE8-FBE1-4D31-913F-C3D9959D1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9F881-AD0C-4C0C-AB8A-BA989FD67A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22257B-483E-4C9E-8BBB-E12B8A552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6F1F-FBF8-4FC2-8AA0-FDC5F4835707}" type="datetimeFigureOut">
              <a:rPr lang="en-AU" smtClean="0"/>
              <a:t>14/02/2022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1B16F8-D235-4397-BE14-E285571C7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7BE35-6967-43C6-9B3A-D96A6FAE1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A6E2F-D9AD-4753-A39E-8FEE6685536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12565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03D70-C22B-484B-84C6-01CF59CA0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533354-7A1B-4AED-86AE-B2C209D68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EAD8F5-924B-42AF-8103-D9AAED8D4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6F1F-FBF8-4FC2-8AA0-FDC5F4835707}" type="datetimeFigureOut">
              <a:rPr lang="en-AU" smtClean="0"/>
              <a:t>14/02/2022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80F558-B5F5-41E1-9EA4-C3F7B88F2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AEBE0-6E55-457F-A23E-7808E4877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A6E2F-D9AD-4753-A39E-8FEE6685536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97556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C4316-1139-4D3D-B07A-F7F3DD4C0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F03B7-7033-4886-AC04-A3DB456900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486529-68C9-4D9D-9D39-B5C5A14482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08B002-69FC-486E-86A9-DFD2A2863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6F1F-FBF8-4FC2-8AA0-FDC5F4835707}" type="datetimeFigureOut">
              <a:rPr lang="en-AU" smtClean="0"/>
              <a:t>14/02/2022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F0F76A-80B1-45AF-B6DF-CFACA3DB5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90CBBF-35E7-4E13-9D66-D180A02B2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A6E2F-D9AD-4753-A39E-8FEE6685536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58209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953B1-8138-49AA-ACE1-944C2FFCB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DCD744-0CE8-4134-B542-B74BB42D1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B73F33-7630-4D41-AA51-0E2D9D6C4C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78F9EC-6041-48A2-9BC8-0A23DFF835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8DB6DB-3190-4A58-90FA-C2EF43BEC1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ACF12B-BAF9-4E91-841E-A34E0A7B0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6F1F-FBF8-4FC2-8AA0-FDC5F4835707}" type="datetimeFigureOut">
              <a:rPr lang="en-AU" smtClean="0"/>
              <a:t>14/02/2022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F7C002-1359-4C0D-9FF8-7877B4C91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9BD171-E341-4A54-837F-4D1D03D72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A6E2F-D9AD-4753-A39E-8FEE6685536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6160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0E50A-4800-4262-8F1E-3C84D955E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7BDFC3-DFE7-4392-8088-B8A255933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6F1F-FBF8-4FC2-8AA0-FDC5F4835707}" type="datetimeFigureOut">
              <a:rPr lang="en-AU" smtClean="0"/>
              <a:t>14/02/2022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EDF808-6673-40AD-AAB4-04FE3680C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75E19E-7CCD-4615-94D6-5557F6ADC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A6E2F-D9AD-4753-A39E-8FEE6685536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44842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A04426-ADA9-4112-A222-A0AD09DB4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6F1F-FBF8-4FC2-8AA0-FDC5F4835707}" type="datetimeFigureOut">
              <a:rPr lang="en-AU" smtClean="0"/>
              <a:t>14/02/2022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C5B64B-0812-489B-807C-A9638DCE2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3C871F-A963-4277-B733-52E4ADA71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A6E2F-D9AD-4753-A39E-8FEE6685536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00177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345EF-5DF9-4755-8179-C0977C782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2DD25-0433-4B8C-8C9D-D90CE91B9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1E3B1E-DDA2-4B70-B6CA-4936A5CC8B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B065F5-319F-4621-9C6B-24B5E20CB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6F1F-FBF8-4FC2-8AA0-FDC5F4835707}" type="datetimeFigureOut">
              <a:rPr lang="en-AU" smtClean="0"/>
              <a:t>14/02/2022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D246EC-FDB8-4D7D-83A4-00BB83860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01A86F-335F-494D-A67A-5902386A2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A6E2F-D9AD-4753-A39E-8FEE6685536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14714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50D72-44A2-4DC4-B54A-FF2B605B8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08F2EC-A064-4FCF-89AB-A06451A706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F34235-9EBB-4BD3-BD13-40A83B3BC2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07F25C-7F32-4BD0-BB2C-318B09FFD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6F1F-FBF8-4FC2-8AA0-FDC5F4835707}" type="datetimeFigureOut">
              <a:rPr lang="en-AU" smtClean="0"/>
              <a:t>14/02/2022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3E96DB-238A-41C1-A848-D63558AFA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3F305B-7510-43AF-A99A-0361B98D5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A6E2F-D9AD-4753-A39E-8FEE6685536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980891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CBE9F-B912-4E02-B1FD-2B7C9BB7F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2B526-3493-4145-A2BF-99CA3918D7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EA345-F47E-4AE7-A80D-A50B8668D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6F1F-FBF8-4FC2-8AA0-FDC5F4835707}" type="datetimeFigureOut">
              <a:rPr lang="en-AU" smtClean="0"/>
              <a:t>14/02/2022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D153D6-83B5-455E-873D-49E18FD80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9D5BE-C614-4D62-9470-3F9A2B9A5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A6E2F-D9AD-4753-A39E-8FEE6685536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589559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8F655-2AAA-4CE7-BAF6-B44440E200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936377-A761-436D-ABD7-01BC4743F3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14C395-D3DD-4AA4-9ED8-6A3C4D40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6F1F-FBF8-4FC2-8AA0-FDC5F4835707}" type="datetimeFigureOut">
              <a:rPr lang="en-AU" smtClean="0"/>
              <a:t>14/02/2022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92891-E9B8-4319-8378-0832E5737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E953F-550E-4A1B-80A7-EA64F3F4D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A6E2F-D9AD-4753-A39E-8FEE6685536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5466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B0986-CC5D-441D-9150-EFAE06F4444F}" type="datetimeFigureOut">
              <a:rPr lang="en-AU" smtClean="0"/>
              <a:t>14/02/2022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849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44EB54-D572-4292-96F8-54DCD1C97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4BAFF0-B662-4FE9-A13C-821107805C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F4DE7-B929-450F-B4A0-674D2A225A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D56F1F-FBF8-4FC2-8AA0-FDC5F4835707}" type="datetimeFigureOut">
              <a:rPr lang="en-AU" smtClean="0"/>
              <a:t>14/02/2022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E6BED-BF89-4885-9E22-B49C797A46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6DDA8-C6AE-4D26-B24E-08BD7078D6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EA6E2F-D9AD-4753-A39E-8FEE6685536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2644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ZzeDWFhYv3E" TargetMode="Externa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97784-6F0B-4033-BF32-36CFC3A87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7196D-9A56-4B44-BBFC-9C80236E4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dirty="0">
                <a:solidFill>
                  <a:srgbClr val="00B0F0"/>
                </a:solidFill>
              </a:rPr>
              <a:t>Multiplying strategies 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 Apply BIMDAS.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 Demonstrate mental strategies for multiplication. 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Daily review </a:t>
            </a:r>
          </a:p>
          <a:p>
            <a:pPr lvl="1"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BIMDAS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Multiplication strategies </a:t>
            </a:r>
            <a:endParaRPr 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7392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769E1-EDF5-483C-9C42-367648639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Daily review: on your 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947A3-661C-4DB5-9A94-0B55F57AB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/>
              <a:t>B_________</a:t>
            </a:r>
            <a:br>
              <a:rPr lang="en-US" sz="4400" dirty="0"/>
            </a:br>
            <a:r>
              <a:rPr lang="en-US" sz="4400" dirty="0"/>
              <a:t>I_________</a:t>
            </a:r>
            <a:br>
              <a:rPr lang="en-US" sz="4400" dirty="0"/>
            </a:br>
            <a:r>
              <a:rPr lang="en-US" sz="4400" dirty="0"/>
              <a:t>M________</a:t>
            </a:r>
            <a:br>
              <a:rPr lang="en-US" sz="4400" dirty="0"/>
            </a:br>
            <a:r>
              <a:rPr lang="en-US" sz="4400" dirty="0"/>
              <a:t>D________</a:t>
            </a:r>
            <a:br>
              <a:rPr lang="en-US" sz="4400" dirty="0"/>
            </a:br>
            <a:r>
              <a:rPr lang="en-US" sz="4400" dirty="0"/>
              <a:t>A________</a:t>
            </a:r>
            <a:br>
              <a:rPr lang="en-US" sz="4400" dirty="0"/>
            </a:br>
            <a:r>
              <a:rPr lang="en-US" sz="4400" dirty="0"/>
              <a:t>S________</a:t>
            </a:r>
            <a:endParaRPr lang="en-AU" sz="4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44059C-D65D-40D1-9DEC-D7684DCF4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5257" y="1271747"/>
            <a:ext cx="4218773" cy="54590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72E0104-5BF3-41FF-A318-C8B32AF35B87}"/>
              </a:ext>
            </a:extLst>
          </p:cNvPr>
          <p:cNvSpPr txBox="1"/>
          <p:nvPr/>
        </p:nvSpPr>
        <p:spPr>
          <a:xfrm>
            <a:off x="8922058" y="2556769"/>
            <a:ext cx="26366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 the lattice method: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22 x 24 =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E076B3C9-D5FD-4945-A5EE-E65E45E4BCB1}"/>
              </a:ext>
            </a:extLst>
          </p:cNvPr>
          <p:cNvGraphicFramePr>
            <a:graphicFrameLocks noGrp="1"/>
          </p:cNvGraphicFramePr>
          <p:nvPr/>
        </p:nvGraphicFramePr>
        <p:xfrm>
          <a:off x="9090734" y="3738072"/>
          <a:ext cx="2134584" cy="14553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1528">
                  <a:extLst>
                    <a:ext uri="{9D8B030D-6E8A-4147-A177-3AD203B41FA5}">
                      <a16:colId xmlns:a16="http://schemas.microsoft.com/office/drawing/2014/main" val="1536861746"/>
                    </a:ext>
                  </a:extLst>
                </a:gridCol>
                <a:gridCol w="711528">
                  <a:extLst>
                    <a:ext uri="{9D8B030D-6E8A-4147-A177-3AD203B41FA5}">
                      <a16:colId xmlns:a16="http://schemas.microsoft.com/office/drawing/2014/main" val="414279834"/>
                    </a:ext>
                  </a:extLst>
                </a:gridCol>
                <a:gridCol w="711528">
                  <a:extLst>
                    <a:ext uri="{9D8B030D-6E8A-4147-A177-3AD203B41FA5}">
                      <a16:colId xmlns:a16="http://schemas.microsoft.com/office/drawing/2014/main" val="4254963030"/>
                    </a:ext>
                  </a:extLst>
                </a:gridCol>
              </a:tblGrid>
              <a:tr h="48512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6920105"/>
                  </a:ext>
                </a:extLst>
              </a:tr>
              <a:tr h="485121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504076"/>
                  </a:ext>
                </a:extLst>
              </a:tr>
              <a:tr h="485121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737524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716C11A-E21C-46BE-87BC-996077286A73}"/>
              </a:ext>
            </a:extLst>
          </p:cNvPr>
          <p:cNvSpPr txBox="1"/>
          <p:nvPr/>
        </p:nvSpPr>
        <p:spPr>
          <a:xfrm>
            <a:off x="1159497" y="5665509"/>
            <a:ext cx="18877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highlight>
                  <a:srgbClr val="FFFF00"/>
                </a:highlight>
              </a:rPr>
              <a:t>KEEP THIS ON </a:t>
            </a:r>
            <a:r>
              <a:rPr lang="en-US" sz="2000" b="1">
                <a:highlight>
                  <a:srgbClr val="FFFF00"/>
                </a:highlight>
              </a:rPr>
              <a:t>YOUR WHITEBOARD</a:t>
            </a:r>
            <a:endParaRPr lang="en-AU" sz="20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61621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D1CD3-B96B-42FF-8632-4E8947DD9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BIMDAS video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75BC2-D51C-4069-A0C5-26F4218E8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/>
              <a:t>PEMDAS is BIMDAS but with different names </a:t>
            </a:r>
          </a:p>
          <a:p>
            <a:r>
              <a:rPr lang="en-AU" dirty="0"/>
              <a:t>Parenthesis </a:t>
            </a:r>
            <a:r>
              <a:rPr lang="en-AU" b="1" i="1" dirty="0"/>
              <a:t>are</a:t>
            </a:r>
            <a:r>
              <a:rPr lang="en-AU" dirty="0"/>
              <a:t> </a:t>
            </a:r>
            <a:r>
              <a:rPr lang="en-AU" u="sng" dirty="0"/>
              <a:t>Brackets</a:t>
            </a:r>
            <a:r>
              <a:rPr lang="en-AU" dirty="0"/>
              <a:t> </a:t>
            </a:r>
          </a:p>
          <a:p>
            <a:r>
              <a:rPr lang="en-AU" dirty="0"/>
              <a:t>Exponents </a:t>
            </a:r>
            <a:r>
              <a:rPr lang="en-AU" b="1" i="1" dirty="0"/>
              <a:t>are</a:t>
            </a:r>
            <a:r>
              <a:rPr lang="en-AU" dirty="0"/>
              <a:t> </a:t>
            </a:r>
            <a:r>
              <a:rPr lang="en-AU" u="sng" dirty="0"/>
              <a:t>Indices</a:t>
            </a:r>
            <a:r>
              <a:rPr lang="en-AU" dirty="0"/>
              <a:t> </a:t>
            </a:r>
          </a:p>
          <a:p>
            <a:endParaRPr lang="en-AU" dirty="0"/>
          </a:p>
          <a:p>
            <a:r>
              <a:rPr lang="en-AU" dirty="0">
                <a:hlinkClick r:id="rId2"/>
              </a:rPr>
              <a:t>https://www.youtube.com/watch?v=ZzeDWFhYv3E</a:t>
            </a:r>
            <a:endParaRPr lang="en-AU" dirty="0"/>
          </a:p>
          <a:p>
            <a:endParaRPr lang="en-AU" dirty="0"/>
          </a:p>
          <a:p>
            <a:r>
              <a:rPr lang="en-AU" dirty="0"/>
              <a:t>During practise, I can come around and help people. </a:t>
            </a:r>
          </a:p>
          <a:p>
            <a:r>
              <a:rPr lang="en-AU" dirty="0"/>
              <a:t>It is very important that we remain on task so I can focus on those that need it (R.E.A.L) </a:t>
            </a:r>
          </a:p>
        </p:txBody>
      </p:sp>
    </p:spTree>
    <p:extLst>
      <p:ext uri="{BB962C8B-B14F-4D97-AF65-F5344CB8AC3E}">
        <p14:creationId xmlns:p14="http://schemas.microsoft.com/office/powerpoint/2010/main" val="1429707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87FCA-C1DC-4E71-87ED-7F8735BDB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058B69-0CC1-4EFE-A5CD-52E09CD9EF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Follow with me: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2 + (3 x 3) – 6 </a:t>
                </a:r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+8 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2+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9 −4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 algn="ctr">
                  <a:buNone/>
                </a:pPr>
                <a:endParaRPr lang="en-AU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3 −5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2+10 ÷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058B69-0CC1-4EFE-A5CD-52E09CD9EF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5451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095A9-9071-4A89-99DE-881D2AD04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Whiteboards: you do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C90714-0C3E-4698-BE26-851F6E7D5A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9 −7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2= </m:t>
                    </m:r>
                  </m:oMath>
                </a14:m>
                <a:endParaRPr lang="en-US" b="0" dirty="0"/>
              </a:p>
              <a:p>
                <a:pPr marL="514350" indent="-514350">
                  <a:buAutoNum type="alphaLcParenR"/>
                </a:pPr>
                <a:endParaRPr lang="en-US" b="0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−10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÷2= 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514350" indent="-514350">
                  <a:buAutoNum type="alphaLcParenR"/>
                </a:pPr>
                <a:endParaRPr lang="en-US" b="0" dirty="0">
                  <a:ea typeface="Cambria Math" panose="02040503050406030204" pitchFamily="18" charset="0"/>
                </a:endParaRPr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5 −10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3=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514350" indent="-514350">
                  <a:buAutoNum type="alphaLcParenR"/>
                </a:pPr>
                <a:endParaRPr lang="en-AU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C90714-0C3E-4698-BE26-851F6E7D5A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6494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2429" y="213878"/>
            <a:ext cx="6671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Multiplication strategies - rational numbers.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64773" y="804125"/>
            <a:ext cx="85386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There are a number of written strategies for multiplying rational numbers.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19607" y="1839464"/>
            <a:ext cx="62591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The standard algorithm: </a:t>
            </a:r>
          </a:p>
          <a:p>
            <a:r>
              <a:rPr lang="en-AU" sz="2400" dirty="0">
                <a:solidFill>
                  <a:srgbClr val="002060"/>
                </a:solidFill>
              </a:rPr>
              <a:t>		 36 x 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83260" y="2716628"/>
            <a:ext cx="24598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      36</a:t>
            </a:r>
          </a:p>
          <a:p>
            <a:r>
              <a:rPr lang="en-AU" u="sng" dirty="0"/>
              <a:t>X</a:t>
            </a:r>
            <a:r>
              <a:rPr lang="en-AU" sz="2400" u="sng" dirty="0"/>
              <a:t>    24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H="1" flipV="1">
            <a:off x="6849174" y="3338867"/>
            <a:ext cx="1493951" cy="340749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479306" y="3547625"/>
            <a:ext cx="340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Use the ones digit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64773" y="4366879"/>
            <a:ext cx="340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Use the tens digit second.</a:t>
            </a:r>
          </a:p>
          <a:p>
            <a:r>
              <a:rPr lang="en-AU" b="1" dirty="0">
                <a:solidFill>
                  <a:srgbClr val="FF0000"/>
                </a:solidFill>
              </a:rPr>
              <a:t>Don’t forget to put a zero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4398373" y="3359124"/>
            <a:ext cx="1967844" cy="1007755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87314" y="3407208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1358" y="3728181"/>
            <a:ext cx="11032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6567" y="3704074"/>
            <a:ext cx="620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2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6023973" y="4218850"/>
            <a:ext cx="94826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216857" y="4265705"/>
            <a:ext cx="2369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864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2907" y="4727370"/>
            <a:ext cx="2404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Add them up</a:t>
            </a:r>
          </a:p>
        </p:txBody>
      </p:sp>
      <p:cxnSp>
        <p:nvCxnSpPr>
          <p:cNvPr id="24" name="Straight Arrow Connector 23"/>
          <p:cNvCxnSpPr/>
          <p:nvPr/>
        </p:nvCxnSpPr>
        <p:spPr>
          <a:xfrm flipH="1" flipV="1">
            <a:off x="6972240" y="3860499"/>
            <a:ext cx="2126685" cy="107072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7424D0A-5429-4CB7-A2C0-B70C81B0308B}"/>
              </a:ext>
            </a:extLst>
          </p:cNvPr>
          <p:cNvSpPr txBox="1"/>
          <p:nvPr/>
        </p:nvSpPr>
        <p:spPr>
          <a:xfrm>
            <a:off x="6446074" y="2571945"/>
            <a:ext cx="483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C2B9FB-36FB-486E-B201-CB814B1DE9B7}"/>
              </a:ext>
            </a:extLst>
          </p:cNvPr>
          <p:cNvSpPr txBox="1"/>
          <p:nvPr/>
        </p:nvSpPr>
        <p:spPr>
          <a:xfrm>
            <a:off x="6135231" y="3418719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14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23E402-9BA6-4839-A81B-0EFCC03A248B}"/>
              </a:ext>
            </a:extLst>
          </p:cNvPr>
          <p:cNvSpPr txBox="1"/>
          <p:nvPr/>
        </p:nvSpPr>
        <p:spPr>
          <a:xfrm>
            <a:off x="6292259" y="2907751"/>
            <a:ext cx="483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F006AB7-A260-480E-9852-F007983CBFDD}"/>
              </a:ext>
            </a:extLst>
          </p:cNvPr>
          <p:cNvSpPr txBox="1"/>
          <p:nvPr/>
        </p:nvSpPr>
        <p:spPr>
          <a:xfrm>
            <a:off x="6135610" y="3721998"/>
            <a:ext cx="620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653691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0" grpId="0"/>
      <p:bldP spid="11" grpId="0"/>
      <p:bldP spid="16" grpId="0"/>
      <p:bldP spid="17" grpId="0"/>
      <p:bldP spid="18" grpId="0"/>
      <p:bldP spid="21" grpId="0"/>
      <p:bldP spid="22" grpId="0"/>
      <p:bldP spid="3" grpId="0"/>
      <p:bldP spid="19" grpId="0"/>
      <p:bldP spid="23" grpId="0"/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F1458-5E6E-4AA0-88CC-DBB1E166F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Standard algorithm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267B9-8BC5-402D-B326-596941DCD2E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On your whiteboards copy me: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sz="2800" b="1" dirty="0"/>
              <a:t>15 x 22 =</a:t>
            </a:r>
          </a:p>
          <a:p>
            <a:pPr marL="0" indent="0">
              <a:buNone/>
            </a:pPr>
            <a:endParaRPr lang="en-AU" sz="2800" b="1" dirty="0"/>
          </a:p>
          <a:p>
            <a:pPr marL="0" indent="0">
              <a:buNone/>
            </a:pPr>
            <a:r>
              <a:rPr lang="en-AU" sz="2800" b="1" dirty="0"/>
              <a:t>23 x 45 = </a:t>
            </a:r>
            <a:endParaRPr lang="en-US" sz="28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50F3B9-62C5-4FE3-9568-101A8830401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AU" dirty="0"/>
              <a:t>Your turn: </a:t>
            </a:r>
          </a:p>
          <a:p>
            <a:pPr marL="0" indent="0" algn="ctr">
              <a:buNone/>
            </a:pPr>
            <a:endParaRPr lang="en-AU" dirty="0"/>
          </a:p>
          <a:p>
            <a:pPr marL="0" indent="0" algn="ctr">
              <a:buNone/>
            </a:pPr>
            <a:r>
              <a:rPr lang="en-AU" sz="2800" b="1" dirty="0"/>
              <a:t>18 x 42 =</a:t>
            </a:r>
          </a:p>
          <a:p>
            <a:pPr marL="0" indent="0" algn="ctr">
              <a:buNone/>
            </a:pPr>
            <a:endParaRPr lang="en-AU" sz="2800" b="1" dirty="0"/>
          </a:p>
          <a:p>
            <a:pPr marL="0" indent="0" algn="ctr">
              <a:buNone/>
            </a:pPr>
            <a:r>
              <a:rPr lang="en-AU" sz="2800" b="1" dirty="0"/>
              <a:t>21 x 46 = </a:t>
            </a:r>
          </a:p>
        </p:txBody>
      </p:sp>
    </p:spTree>
    <p:extLst>
      <p:ext uri="{BB962C8B-B14F-4D97-AF65-F5344CB8AC3E}">
        <p14:creationId xmlns:p14="http://schemas.microsoft.com/office/powerpoint/2010/main" val="3586254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51FC70-D67D-489D-B3C6-C95F13A49BF8}"/>
              </a:ext>
            </a:extLst>
          </p:cNvPr>
          <p:cNvSpPr txBox="1"/>
          <p:nvPr/>
        </p:nvSpPr>
        <p:spPr>
          <a:xfrm>
            <a:off x="4890115" y="580623"/>
            <a:ext cx="32248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The grid method: </a:t>
            </a:r>
          </a:p>
          <a:p>
            <a:r>
              <a:rPr lang="en-AU" sz="2400" dirty="0">
                <a:solidFill>
                  <a:srgbClr val="002060"/>
                </a:solidFill>
              </a:rPr>
              <a:t>	36 x 24</a:t>
            </a:r>
          </a:p>
        </p:txBody>
      </p:sp>
      <p:graphicFrame>
        <p:nvGraphicFramePr>
          <p:cNvPr id="15" name="Table 15">
            <a:extLst>
              <a:ext uri="{FF2B5EF4-FFF2-40B4-BE49-F238E27FC236}">
                <a16:creationId xmlns:a16="http://schemas.microsoft.com/office/drawing/2014/main" id="{E46A6E10-6B33-446C-9C22-C5EBB12530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4667234"/>
              </p:ext>
            </p:extLst>
          </p:nvPr>
        </p:nvGraphicFramePr>
        <p:xfrm>
          <a:off x="5010519" y="1940842"/>
          <a:ext cx="2170962" cy="96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5481">
                  <a:extLst>
                    <a:ext uri="{9D8B030D-6E8A-4147-A177-3AD203B41FA5}">
                      <a16:colId xmlns:a16="http://schemas.microsoft.com/office/drawing/2014/main" val="391749892"/>
                    </a:ext>
                  </a:extLst>
                </a:gridCol>
                <a:gridCol w="1085481">
                  <a:extLst>
                    <a:ext uri="{9D8B030D-6E8A-4147-A177-3AD203B41FA5}">
                      <a16:colId xmlns:a16="http://schemas.microsoft.com/office/drawing/2014/main" val="945223962"/>
                    </a:ext>
                  </a:extLst>
                </a:gridCol>
              </a:tblGrid>
              <a:tr h="482174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7234074"/>
                  </a:ext>
                </a:extLst>
              </a:tr>
              <a:tr h="482174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4750975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0ADB2476-24D1-4DA1-A67D-B59D8D759852}"/>
              </a:ext>
            </a:extLst>
          </p:cNvPr>
          <p:cNvSpPr txBox="1"/>
          <p:nvPr/>
        </p:nvSpPr>
        <p:spPr>
          <a:xfrm>
            <a:off x="5371732" y="1555595"/>
            <a:ext cx="523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FC4D90-06D8-4BB4-A430-84B39A9910B2}"/>
              </a:ext>
            </a:extLst>
          </p:cNvPr>
          <p:cNvSpPr txBox="1"/>
          <p:nvPr/>
        </p:nvSpPr>
        <p:spPr>
          <a:xfrm>
            <a:off x="7180140" y="1943704"/>
            <a:ext cx="5341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20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77E854-64D7-4C39-AC78-92A2B756A197}"/>
              </a:ext>
            </a:extLst>
          </p:cNvPr>
          <p:cNvSpPr txBox="1"/>
          <p:nvPr/>
        </p:nvSpPr>
        <p:spPr>
          <a:xfrm>
            <a:off x="7233499" y="2402507"/>
            <a:ext cx="304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C6DA3E-8A55-4131-AEB4-0ED81B3D688D}"/>
              </a:ext>
            </a:extLst>
          </p:cNvPr>
          <p:cNvSpPr txBox="1"/>
          <p:nvPr/>
        </p:nvSpPr>
        <p:spPr>
          <a:xfrm>
            <a:off x="6419482" y="1555595"/>
            <a:ext cx="304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4D1CE4-6BB7-4B14-A79A-6E90AA98D44B}"/>
              </a:ext>
            </a:extLst>
          </p:cNvPr>
          <p:cNvSpPr txBox="1"/>
          <p:nvPr/>
        </p:nvSpPr>
        <p:spPr>
          <a:xfrm>
            <a:off x="6304812" y="2443525"/>
            <a:ext cx="981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296D81-6D50-40B4-92E4-FBBDEC059FED}"/>
              </a:ext>
            </a:extLst>
          </p:cNvPr>
          <p:cNvSpPr txBox="1"/>
          <p:nvPr/>
        </p:nvSpPr>
        <p:spPr>
          <a:xfrm>
            <a:off x="5114925" y="2418759"/>
            <a:ext cx="981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120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EA635D-2B28-435D-9CD2-300D4C5A7D68}"/>
              </a:ext>
            </a:extLst>
          </p:cNvPr>
          <p:cNvSpPr txBox="1"/>
          <p:nvPr/>
        </p:nvSpPr>
        <p:spPr>
          <a:xfrm>
            <a:off x="5143131" y="1940842"/>
            <a:ext cx="981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600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B0619C-1653-46C9-9560-9318496C5A1B}"/>
              </a:ext>
            </a:extLst>
          </p:cNvPr>
          <p:cNvSpPr txBox="1"/>
          <p:nvPr/>
        </p:nvSpPr>
        <p:spPr>
          <a:xfrm>
            <a:off x="6250412" y="1957094"/>
            <a:ext cx="981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120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7AD04B6-3469-438D-B605-7195D9C54674}"/>
                  </a:ext>
                </a:extLst>
              </p:cNvPr>
              <p:cNvSpPr txBox="1"/>
              <p:nvPr/>
            </p:nvSpPr>
            <p:spPr>
              <a:xfrm>
                <a:off x="7922294" y="2171674"/>
                <a:ext cx="3226970" cy="18004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36 x 24</a:t>
                </a:r>
              </a:p>
              <a:p>
                <a:pPr>
                  <a:spcAft>
                    <a:spcPts val="600"/>
                  </a:spcAft>
                </a:pPr>
                <a:r>
                  <a:rPr lang="en-AU" sz="2400" dirty="0">
                    <a:solidFill>
                      <a:srgbClr val="002060"/>
                    </a:solidFill>
                    <a:latin typeface="Century Gothic" panose="020B0502020202020204"/>
                  </a:rPr>
                  <a:t>= 600 + 120 </a:t>
                </a:r>
                <a14:m>
                  <m:oMath xmlns:m="http://schemas.openxmlformats.org/officeDocument/2006/math">
                    <m:r>
                      <a:rPr lang="en-AU" sz="24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>
                    <a:solidFill>
                      <a:srgbClr val="002060"/>
                    </a:solidFill>
                  </a:rPr>
                  <a:t> 2 + 24</a:t>
                </a:r>
              </a:p>
              <a:p>
                <a:pPr>
                  <a:spcAft>
                    <a:spcPts val="600"/>
                  </a:spcAft>
                </a:pPr>
                <a:r>
                  <a:rPr lang="en-AU" sz="2400" dirty="0">
                    <a:solidFill>
                      <a:srgbClr val="002060"/>
                    </a:solidFill>
                  </a:rPr>
                  <a:t>= 600 + 240 +24</a:t>
                </a:r>
              </a:p>
              <a:p>
                <a:r>
                  <a:rPr lang="en-AU" sz="2400" dirty="0">
                    <a:solidFill>
                      <a:srgbClr val="002060"/>
                    </a:solidFill>
                  </a:rPr>
                  <a:t>= 864 </a:t>
                </a:r>
                <a:endParaRPr lang="en-AU" sz="2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7AD04B6-3469-438D-B605-7195D9C546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2294" y="2171674"/>
                <a:ext cx="3226970" cy="1800493"/>
              </a:xfrm>
              <a:prstGeom prst="rect">
                <a:avLst/>
              </a:prstGeom>
              <a:blipFill>
                <a:blip r:embed="rId2"/>
                <a:stretch>
                  <a:fillRect l="-3025" t="-2703" b="-641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8453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1" grpId="0"/>
      <p:bldP spid="22" grpId="0"/>
      <p:bldP spid="23" grpId="0"/>
      <p:bldP spid="24" grpId="0"/>
      <p:bldP spid="2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51FC70-D67D-489D-B3C6-C95F13A49BF8}"/>
              </a:ext>
            </a:extLst>
          </p:cNvPr>
          <p:cNvSpPr txBox="1"/>
          <p:nvPr/>
        </p:nvSpPr>
        <p:spPr>
          <a:xfrm>
            <a:off x="3992501" y="455388"/>
            <a:ext cx="51587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The lattice (Chinese) method: </a:t>
            </a:r>
          </a:p>
          <a:p>
            <a:r>
              <a:rPr lang="en-AU" sz="2400" dirty="0">
                <a:solidFill>
                  <a:srgbClr val="002060"/>
                </a:solidFill>
              </a:rPr>
              <a:t>		36 x 24</a:t>
            </a:r>
          </a:p>
        </p:txBody>
      </p:sp>
      <p:graphicFrame>
        <p:nvGraphicFramePr>
          <p:cNvPr id="15" name="Table 15">
            <a:extLst>
              <a:ext uri="{FF2B5EF4-FFF2-40B4-BE49-F238E27FC236}">
                <a16:creationId xmlns:a16="http://schemas.microsoft.com/office/drawing/2014/main" id="{E46A6E10-6B33-446C-9C22-C5EBB125300A}"/>
              </a:ext>
            </a:extLst>
          </p:cNvPr>
          <p:cNvGraphicFramePr>
            <a:graphicFrameLocks noGrp="1"/>
          </p:cNvGraphicFramePr>
          <p:nvPr/>
        </p:nvGraphicFramePr>
        <p:xfrm>
          <a:off x="5010519" y="1940842"/>
          <a:ext cx="2170962" cy="96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5481">
                  <a:extLst>
                    <a:ext uri="{9D8B030D-6E8A-4147-A177-3AD203B41FA5}">
                      <a16:colId xmlns:a16="http://schemas.microsoft.com/office/drawing/2014/main" val="391749892"/>
                    </a:ext>
                  </a:extLst>
                </a:gridCol>
                <a:gridCol w="1085481">
                  <a:extLst>
                    <a:ext uri="{9D8B030D-6E8A-4147-A177-3AD203B41FA5}">
                      <a16:colId xmlns:a16="http://schemas.microsoft.com/office/drawing/2014/main" val="945223962"/>
                    </a:ext>
                  </a:extLst>
                </a:gridCol>
              </a:tblGrid>
              <a:tr h="482174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7234074"/>
                  </a:ext>
                </a:extLst>
              </a:tr>
              <a:tr h="482174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4750975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0ADB2476-24D1-4DA1-A67D-B59D8D759852}"/>
              </a:ext>
            </a:extLst>
          </p:cNvPr>
          <p:cNvSpPr txBox="1"/>
          <p:nvPr/>
        </p:nvSpPr>
        <p:spPr>
          <a:xfrm>
            <a:off x="5471930" y="1555595"/>
            <a:ext cx="523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FC4D90-06D8-4BB4-A430-84B39A9910B2}"/>
              </a:ext>
            </a:extLst>
          </p:cNvPr>
          <p:cNvSpPr txBox="1"/>
          <p:nvPr/>
        </p:nvSpPr>
        <p:spPr>
          <a:xfrm>
            <a:off x="7190454" y="1934179"/>
            <a:ext cx="5341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77E854-64D7-4C39-AC78-92A2B756A197}"/>
              </a:ext>
            </a:extLst>
          </p:cNvPr>
          <p:cNvSpPr txBox="1"/>
          <p:nvPr/>
        </p:nvSpPr>
        <p:spPr>
          <a:xfrm>
            <a:off x="7166640" y="2413825"/>
            <a:ext cx="304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C6DA3E-8A55-4131-AEB4-0ED81B3D688D}"/>
              </a:ext>
            </a:extLst>
          </p:cNvPr>
          <p:cNvSpPr txBox="1"/>
          <p:nvPr/>
        </p:nvSpPr>
        <p:spPr>
          <a:xfrm>
            <a:off x="6457215" y="1566035"/>
            <a:ext cx="304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AD04B6-3469-438D-B605-7195D9C54674}"/>
              </a:ext>
            </a:extLst>
          </p:cNvPr>
          <p:cNvSpPr txBox="1"/>
          <p:nvPr/>
        </p:nvSpPr>
        <p:spPr>
          <a:xfrm>
            <a:off x="4832806" y="3573436"/>
            <a:ext cx="1624409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36 x 24</a:t>
            </a:r>
          </a:p>
          <a:p>
            <a:pPr>
              <a:spcAft>
                <a:spcPts val="600"/>
              </a:spcAft>
            </a:pPr>
            <a:r>
              <a:rPr lang="en-AU" sz="2400" dirty="0">
                <a:solidFill>
                  <a:srgbClr val="002060"/>
                </a:solidFill>
                <a:latin typeface="Century Gothic" panose="020B0502020202020204"/>
              </a:rPr>
              <a:t>= </a:t>
            </a:r>
            <a:r>
              <a:rPr lang="en-AU" sz="2400" dirty="0">
                <a:solidFill>
                  <a:srgbClr val="002060"/>
                </a:solidFill>
              </a:rPr>
              <a:t>864 </a:t>
            </a:r>
            <a:endParaRPr lang="en-AU" sz="24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201A256-4C37-4C06-9C47-38F9F636FF14}"/>
              </a:ext>
            </a:extLst>
          </p:cNvPr>
          <p:cNvCxnSpPr/>
          <p:nvPr/>
        </p:nvCxnSpPr>
        <p:spPr>
          <a:xfrm flipV="1">
            <a:off x="5010519" y="1940842"/>
            <a:ext cx="2156121" cy="93464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C1C79BD-7555-4970-831E-9EB56EF3AC32}"/>
              </a:ext>
            </a:extLst>
          </p:cNvPr>
          <p:cNvCxnSpPr>
            <a:endCxn id="15" idx="0"/>
          </p:cNvCxnSpPr>
          <p:nvPr/>
        </p:nvCxnSpPr>
        <p:spPr>
          <a:xfrm flipV="1">
            <a:off x="5010519" y="1940842"/>
            <a:ext cx="1085481" cy="48217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6DA8F5-6702-4771-A87A-FB778B35C332}"/>
              </a:ext>
            </a:extLst>
          </p:cNvPr>
          <p:cNvCxnSpPr/>
          <p:nvPr/>
        </p:nvCxnSpPr>
        <p:spPr>
          <a:xfrm flipV="1">
            <a:off x="6096000" y="2423016"/>
            <a:ext cx="1079613" cy="48217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157EF0D-49E1-4EBE-A60B-30A9367B850D}"/>
              </a:ext>
            </a:extLst>
          </p:cNvPr>
          <p:cNvSpPr txBox="1"/>
          <p:nvPr/>
        </p:nvSpPr>
        <p:spPr>
          <a:xfrm>
            <a:off x="8560710" y="1796867"/>
            <a:ext cx="340269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42925" indent="-542925">
              <a:buClr>
                <a:srgbClr val="FF0000"/>
              </a:buClr>
              <a:buAutoNum type="arabicPeriod"/>
            </a:pPr>
            <a:r>
              <a:rPr lang="en-AU" sz="2400" dirty="0"/>
              <a:t>6 x 2 =12</a:t>
            </a:r>
          </a:p>
          <a:p>
            <a:pPr marL="542925" indent="-542925">
              <a:buClr>
                <a:srgbClr val="FF0000"/>
              </a:buClr>
              <a:buAutoNum type="arabicPeriod"/>
            </a:pPr>
            <a:r>
              <a:rPr lang="en-AU" sz="2400" dirty="0"/>
              <a:t>2 x 3 = 06</a:t>
            </a:r>
          </a:p>
          <a:p>
            <a:pPr marL="542925" indent="-542925">
              <a:buClr>
                <a:srgbClr val="FF0000"/>
              </a:buClr>
              <a:buAutoNum type="arabicPeriod"/>
            </a:pPr>
            <a:r>
              <a:rPr lang="en-AU" sz="2400" dirty="0"/>
              <a:t>6 x 4 = 24</a:t>
            </a:r>
          </a:p>
          <a:p>
            <a:pPr marL="542925" indent="-542925">
              <a:buClr>
                <a:srgbClr val="FF0000"/>
              </a:buClr>
              <a:buAutoNum type="arabicPeriod"/>
            </a:pPr>
            <a:r>
              <a:rPr lang="en-AU" sz="2400" dirty="0"/>
              <a:t>3 x 4 = 12</a:t>
            </a:r>
          </a:p>
          <a:p>
            <a:pPr>
              <a:buClr>
                <a:srgbClr val="FF0000"/>
              </a:buClr>
            </a:pPr>
            <a:r>
              <a:rPr lang="en-AU" sz="2400" dirty="0"/>
              <a:t>Add the diagonals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13BB8B-2A36-4EB4-8F3F-03D496FBBFBB}"/>
              </a:ext>
            </a:extLst>
          </p:cNvPr>
          <p:cNvSpPr txBox="1"/>
          <p:nvPr/>
        </p:nvSpPr>
        <p:spPr>
          <a:xfrm>
            <a:off x="6076767" y="1883684"/>
            <a:ext cx="371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7CDEFF-A3C3-4037-80F0-AA127A3434E2}"/>
              </a:ext>
            </a:extLst>
          </p:cNvPr>
          <p:cNvSpPr txBox="1"/>
          <p:nvPr/>
        </p:nvSpPr>
        <p:spPr>
          <a:xfrm>
            <a:off x="6714206" y="2017272"/>
            <a:ext cx="371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D009A8-5CA4-49DD-9648-4D2BDA92DB44}"/>
              </a:ext>
            </a:extLst>
          </p:cNvPr>
          <p:cNvSpPr txBox="1"/>
          <p:nvPr/>
        </p:nvSpPr>
        <p:spPr>
          <a:xfrm>
            <a:off x="5036342" y="1904672"/>
            <a:ext cx="733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0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18C29B-8871-4F4F-8AE8-3E9822555DCC}"/>
              </a:ext>
            </a:extLst>
          </p:cNvPr>
          <p:cNvSpPr txBox="1"/>
          <p:nvPr/>
        </p:nvSpPr>
        <p:spPr>
          <a:xfrm>
            <a:off x="5694661" y="1976201"/>
            <a:ext cx="733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6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6E1E58-5884-46DB-919F-48EA4EBFCF0F}"/>
              </a:ext>
            </a:extLst>
          </p:cNvPr>
          <p:cNvSpPr txBox="1"/>
          <p:nvPr/>
        </p:nvSpPr>
        <p:spPr>
          <a:xfrm>
            <a:off x="6129153" y="2376375"/>
            <a:ext cx="733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2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8786C5A-342D-4307-9AE6-672DD8CEB871}"/>
              </a:ext>
            </a:extLst>
          </p:cNvPr>
          <p:cNvSpPr txBox="1"/>
          <p:nvPr/>
        </p:nvSpPr>
        <p:spPr>
          <a:xfrm>
            <a:off x="6776975" y="2457323"/>
            <a:ext cx="733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4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F5DEB7A-2B9F-4E3A-A1BA-C10D51BFA2CA}"/>
              </a:ext>
            </a:extLst>
          </p:cNvPr>
          <p:cNvSpPr txBox="1"/>
          <p:nvPr/>
        </p:nvSpPr>
        <p:spPr>
          <a:xfrm>
            <a:off x="5694661" y="2440893"/>
            <a:ext cx="733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2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75A7847-C335-4BB6-B8C8-CCD049247EC0}"/>
              </a:ext>
            </a:extLst>
          </p:cNvPr>
          <p:cNvSpPr txBox="1"/>
          <p:nvPr/>
        </p:nvSpPr>
        <p:spPr>
          <a:xfrm>
            <a:off x="5005941" y="2353999"/>
            <a:ext cx="733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1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57034EB-551C-46E8-A396-600FDA185093}"/>
              </a:ext>
            </a:extLst>
          </p:cNvPr>
          <p:cNvSpPr txBox="1"/>
          <p:nvPr/>
        </p:nvSpPr>
        <p:spPr>
          <a:xfrm>
            <a:off x="6389734" y="2880514"/>
            <a:ext cx="733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FF0000"/>
                </a:solidFill>
              </a:rPr>
              <a:t>4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292332F-1204-4D27-B787-3871E847406D}"/>
              </a:ext>
            </a:extLst>
          </p:cNvPr>
          <p:cNvSpPr txBox="1"/>
          <p:nvPr/>
        </p:nvSpPr>
        <p:spPr>
          <a:xfrm>
            <a:off x="5361774" y="2850404"/>
            <a:ext cx="733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FF0000"/>
                </a:solidFill>
              </a:rPr>
              <a:t>6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79AC0C2-7199-45A9-AA22-0A1AE253BE1A}"/>
              </a:ext>
            </a:extLst>
          </p:cNvPr>
          <p:cNvSpPr txBox="1"/>
          <p:nvPr/>
        </p:nvSpPr>
        <p:spPr>
          <a:xfrm>
            <a:off x="4662209" y="2413824"/>
            <a:ext cx="733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FF0000"/>
                </a:solidFill>
              </a:rPr>
              <a:t>8 </a:t>
            </a:r>
          </a:p>
        </p:txBody>
      </p:sp>
    </p:spTree>
    <p:extLst>
      <p:ext uri="{BB962C8B-B14F-4D97-AF65-F5344CB8AC3E}">
        <p14:creationId xmlns:p14="http://schemas.microsoft.com/office/powerpoint/2010/main" val="333595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6" grpId="0"/>
      <p:bldP spid="12" grpId="0"/>
      <p:bldP spid="25" grpId="0"/>
      <p:bldP spid="13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51FC70-D67D-489D-B3C6-C95F13A49BF8}"/>
              </a:ext>
            </a:extLst>
          </p:cNvPr>
          <p:cNvSpPr txBox="1"/>
          <p:nvPr/>
        </p:nvSpPr>
        <p:spPr>
          <a:xfrm>
            <a:off x="3661758" y="340368"/>
            <a:ext cx="6169763" cy="935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AU" sz="2400" dirty="0">
                <a:solidFill>
                  <a:srgbClr val="002060"/>
                </a:solidFill>
              </a:rPr>
              <a:t>The doubling (Egyptian) method: </a:t>
            </a:r>
          </a:p>
          <a:p>
            <a:r>
              <a:rPr lang="en-AU" sz="2400" dirty="0">
                <a:solidFill>
                  <a:srgbClr val="002060"/>
                </a:solidFill>
              </a:rPr>
              <a:t>		</a:t>
            </a:r>
            <a:r>
              <a:rPr lang="en-AU" sz="2400" dirty="0"/>
              <a:t>36 x 24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AD04B6-3469-438D-B605-7195D9C54674}"/>
              </a:ext>
            </a:extLst>
          </p:cNvPr>
          <p:cNvSpPr txBox="1"/>
          <p:nvPr/>
        </p:nvSpPr>
        <p:spPr>
          <a:xfrm>
            <a:off x="3914774" y="1519103"/>
            <a:ext cx="1445907" cy="3234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Left (36)</a:t>
            </a:r>
          </a:p>
          <a:p>
            <a:pPr algn="ctr">
              <a:spcAft>
                <a:spcPts val="600"/>
              </a:spcAft>
            </a:pPr>
            <a:r>
              <a:rPr lang="en-AU" sz="2400" dirty="0">
                <a:solidFill>
                  <a:srgbClr val="FF0000"/>
                </a:solidFill>
                <a:latin typeface="Century Gothic" panose="020B0502020202020204"/>
              </a:rPr>
              <a:t>1</a:t>
            </a:r>
          </a:p>
          <a:p>
            <a:pPr algn="ctr">
              <a:spcAft>
                <a:spcPts val="600"/>
              </a:spcAft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2</a:t>
            </a:r>
          </a:p>
          <a:p>
            <a:pPr algn="ctr">
              <a:spcAft>
                <a:spcPts val="600"/>
              </a:spcAft>
            </a:pPr>
            <a:r>
              <a:rPr lang="en-AU" sz="2400" dirty="0">
                <a:solidFill>
                  <a:srgbClr val="FF0000"/>
                </a:solidFill>
                <a:latin typeface="Century Gothic" panose="020B0502020202020204"/>
              </a:rPr>
              <a:t>4</a:t>
            </a:r>
          </a:p>
          <a:p>
            <a:pPr algn="ctr">
              <a:spcAft>
                <a:spcPts val="600"/>
              </a:spcAft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8</a:t>
            </a:r>
          </a:p>
          <a:p>
            <a:pPr algn="ctr">
              <a:spcAft>
                <a:spcPts val="600"/>
              </a:spcAft>
            </a:pPr>
            <a:r>
              <a:rPr lang="en-AU" sz="2400" dirty="0">
                <a:solidFill>
                  <a:srgbClr val="FF0000"/>
                </a:solidFill>
                <a:latin typeface="Century Gothic" panose="020B0502020202020204"/>
              </a:rPr>
              <a:t>16</a:t>
            </a:r>
          </a:p>
          <a:p>
            <a:pPr algn="ctr">
              <a:spcAft>
                <a:spcPts val="600"/>
              </a:spcAft>
            </a:pPr>
            <a:r>
              <a:rPr lang="en-AU" sz="2400" dirty="0">
                <a:solidFill>
                  <a:srgbClr val="FF0000"/>
                </a:solidFill>
                <a:latin typeface="Century Gothic" panose="020B0502020202020204"/>
              </a:rPr>
              <a:t>32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385692-385F-435B-BEB7-C80DCBC5C713}"/>
              </a:ext>
            </a:extLst>
          </p:cNvPr>
          <p:cNvSpPr txBox="1"/>
          <p:nvPr/>
        </p:nvSpPr>
        <p:spPr>
          <a:xfrm>
            <a:off x="5576887" y="1519103"/>
            <a:ext cx="1070346" cy="3234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Right</a:t>
            </a:r>
          </a:p>
          <a:p>
            <a:pPr algn="ctr">
              <a:spcAft>
                <a:spcPts val="600"/>
              </a:spcAft>
            </a:pPr>
            <a:r>
              <a:rPr lang="en-AU" sz="2400" dirty="0">
                <a:solidFill>
                  <a:srgbClr val="002060"/>
                </a:solidFill>
                <a:latin typeface="Century Gothic" panose="020B0502020202020204"/>
              </a:rPr>
              <a:t>24</a:t>
            </a:r>
          </a:p>
          <a:p>
            <a:pPr algn="ctr">
              <a:spcAft>
                <a:spcPts val="600"/>
              </a:spcAft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48</a:t>
            </a:r>
          </a:p>
          <a:p>
            <a:pPr algn="ctr">
              <a:spcAft>
                <a:spcPts val="600"/>
              </a:spcAft>
            </a:pPr>
            <a:r>
              <a:rPr lang="en-AU" sz="2400" dirty="0">
                <a:solidFill>
                  <a:srgbClr val="002060"/>
                </a:solidFill>
                <a:latin typeface="Century Gothic" panose="020B0502020202020204"/>
              </a:rPr>
              <a:t>96</a:t>
            </a:r>
          </a:p>
          <a:p>
            <a:pPr algn="ctr">
              <a:spcAft>
                <a:spcPts val="600"/>
              </a:spcAft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192</a:t>
            </a:r>
          </a:p>
          <a:p>
            <a:pPr algn="ctr">
              <a:spcAft>
                <a:spcPts val="600"/>
              </a:spcAft>
            </a:pPr>
            <a:r>
              <a:rPr lang="en-AU" sz="2400" dirty="0">
                <a:solidFill>
                  <a:srgbClr val="002060"/>
                </a:solidFill>
                <a:latin typeface="Century Gothic" panose="020B0502020202020204"/>
              </a:rPr>
              <a:t>384</a:t>
            </a:r>
          </a:p>
          <a:p>
            <a:pPr algn="ctr">
              <a:spcAft>
                <a:spcPts val="600"/>
              </a:spcAft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768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E6DB24-B2B6-4102-9D83-2C0A94052D94}"/>
              </a:ext>
            </a:extLst>
          </p:cNvPr>
          <p:cNvSpPr txBox="1"/>
          <p:nvPr/>
        </p:nvSpPr>
        <p:spPr>
          <a:xfrm>
            <a:off x="3409950" y="4877232"/>
            <a:ext cx="1943523" cy="475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36 = </a:t>
            </a:r>
            <a:r>
              <a:rPr lang="en-AU" sz="2400" dirty="0">
                <a:solidFill>
                  <a:srgbClr val="FF0000"/>
                </a:solidFill>
              </a:rPr>
              <a:t>32 + 4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EBA54B-92EF-488A-9CAD-8714C43C2EF0}"/>
              </a:ext>
            </a:extLst>
          </p:cNvPr>
          <p:cNvSpPr txBox="1"/>
          <p:nvPr/>
        </p:nvSpPr>
        <p:spPr>
          <a:xfrm>
            <a:off x="6096000" y="4877231"/>
            <a:ext cx="3609474" cy="1395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36 x 24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= 96 + 768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AU" sz="2400" dirty="0">
                <a:solidFill>
                  <a:srgbClr val="002060"/>
                </a:solidFill>
                <a:latin typeface="Century Gothic" panose="020B0502020202020204"/>
              </a:rPr>
              <a:t> = 864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5060CE7-6D2C-4A79-8024-686ECD5AA38F}"/>
              </a:ext>
            </a:extLst>
          </p:cNvPr>
          <p:cNvSpPr/>
          <p:nvPr/>
        </p:nvSpPr>
        <p:spPr>
          <a:xfrm>
            <a:off x="5681662" y="4210615"/>
            <a:ext cx="854399" cy="382726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08C218F-211C-4F30-A453-A27054113AB8}"/>
              </a:ext>
            </a:extLst>
          </p:cNvPr>
          <p:cNvSpPr/>
          <p:nvPr/>
        </p:nvSpPr>
        <p:spPr>
          <a:xfrm>
            <a:off x="5681662" y="2903025"/>
            <a:ext cx="854399" cy="382726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9756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uild="p"/>
      <p:bldP spid="13" grpId="0" build="p"/>
      <p:bldP spid="3" grpId="0"/>
      <p:bldP spid="25" grpId="0"/>
      <p:bldP spid="6" grpId="0" animBg="1"/>
      <p:bldP spid="2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F1458-5E6E-4AA0-88CC-DBB1E166F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Doubling method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267B9-8BC5-402D-B326-596941DCD2E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On your whiteboards copy me: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sz="2800" b="1" dirty="0"/>
              <a:t>5 x 145 =</a:t>
            </a:r>
            <a:endParaRPr lang="en-US" sz="28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50F3B9-62C5-4FE3-9568-101A8830401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AU" dirty="0"/>
              <a:t>Your turn: </a:t>
            </a:r>
          </a:p>
          <a:p>
            <a:pPr marL="0" indent="0" algn="ctr">
              <a:buNone/>
            </a:pPr>
            <a:endParaRPr lang="en-AU" dirty="0"/>
          </a:p>
          <a:p>
            <a:pPr marL="0" indent="0" algn="ctr">
              <a:buNone/>
            </a:pPr>
            <a:r>
              <a:rPr lang="en-AU" sz="2800" b="1" dirty="0"/>
              <a:t>18 x 42 =</a:t>
            </a:r>
          </a:p>
        </p:txBody>
      </p:sp>
    </p:spTree>
    <p:extLst>
      <p:ext uri="{BB962C8B-B14F-4D97-AF65-F5344CB8AC3E}">
        <p14:creationId xmlns:p14="http://schemas.microsoft.com/office/powerpoint/2010/main" val="649195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144379" y="3561348"/>
            <a:ext cx="12047621" cy="160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5791200" y="898358"/>
            <a:ext cx="64168" cy="59596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44379" y="898358"/>
            <a:ext cx="12047621" cy="160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140810" y="332340"/>
            <a:ext cx="48962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The 4 multiplication strategies.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6084" y="914400"/>
            <a:ext cx="31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Standard Algorithm.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593614"/>
            <a:ext cx="31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Doubling method.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7858" y="3697730"/>
            <a:ext cx="2965784" cy="3039929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6084" y="3609631"/>
            <a:ext cx="3397484" cy="3128028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000" y="1123106"/>
            <a:ext cx="4135321" cy="2341942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379" y="1283732"/>
            <a:ext cx="5644229" cy="2105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7002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144379" y="3561348"/>
            <a:ext cx="12047621" cy="160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5791200" y="898358"/>
            <a:ext cx="64168" cy="59596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44379" y="898358"/>
            <a:ext cx="12047621" cy="160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796716" y="280738"/>
            <a:ext cx="10010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Calculate 127 x 34 using each of the 4 multiplication strategies.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6084" y="914400"/>
            <a:ext cx="31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Standard Algorithm.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593614"/>
            <a:ext cx="31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Doubling method.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3179" y="3593614"/>
            <a:ext cx="31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Lattice method.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034534"/>
            <a:ext cx="31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Grid method.</a:t>
            </a:r>
          </a:p>
        </p:txBody>
      </p:sp>
    </p:spTree>
    <p:extLst>
      <p:ext uri="{BB962C8B-B14F-4D97-AF65-F5344CB8AC3E}">
        <p14:creationId xmlns:p14="http://schemas.microsoft.com/office/powerpoint/2010/main" val="34231685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04895-E788-4B03-90E7-B35EE744C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Lattice method: decimals 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C5D68-316B-4717-BA54-1BB2289F4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</a:rPr>
              <a:t>The number of decimal places in the question </a:t>
            </a:r>
            <a:r>
              <a:rPr lang="en-US" sz="3200" b="1" i="1" u="sng" dirty="0">
                <a:solidFill>
                  <a:srgbClr val="FF0000"/>
                </a:solidFill>
              </a:rPr>
              <a:t>must equal </a:t>
            </a:r>
            <a:r>
              <a:rPr lang="en-US" sz="3200" b="1" dirty="0">
                <a:solidFill>
                  <a:srgbClr val="FF0000"/>
                </a:solidFill>
              </a:rPr>
              <a:t>the number of decimal places in the answer. </a:t>
            </a:r>
          </a:p>
          <a:p>
            <a:pPr marL="0" indent="0">
              <a:buNone/>
            </a:pPr>
            <a:endParaRPr lang="en-US" sz="32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3200" b="1" dirty="0"/>
              <a:t>The number of decimal places in the question _________the number of decimal places in the answer. </a:t>
            </a:r>
            <a:endParaRPr lang="en-AU" sz="3200" b="1" dirty="0"/>
          </a:p>
          <a:p>
            <a:pPr marL="0" indent="0">
              <a:buNone/>
            </a:pPr>
            <a:endParaRPr lang="en-AU" sz="32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AU" sz="3200" b="1" dirty="0"/>
              <a:t>The question has 4 decimal places, how many decimal places will be in my answer? </a:t>
            </a:r>
          </a:p>
        </p:txBody>
      </p:sp>
    </p:spTree>
    <p:extLst>
      <p:ext uri="{BB962C8B-B14F-4D97-AF65-F5344CB8AC3E}">
        <p14:creationId xmlns:p14="http://schemas.microsoft.com/office/powerpoint/2010/main" val="176270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86990" y="593558"/>
            <a:ext cx="34811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u="sng" dirty="0"/>
              <a:t>Multiplying decimals.</a:t>
            </a:r>
          </a:p>
        </p:txBody>
      </p:sp>
      <p:sp>
        <p:nvSpPr>
          <p:cNvPr id="3" name="Rectangle 2"/>
          <p:cNvSpPr/>
          <p:nvPr/>
        </p:nvSpPr>
        <p:spPr>
          <a:xfrm>
            <a:off x="2077451" y="1432967"/>
            <a:ext cx="9801727" cy="830997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AU" sz="2400" dirty="0"/>
              <a:t>The number of decimal places in the question must equal the number of decimal places in the answer.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2004065"/>
              </p:ext>
            </p:extLst>
          </p:nvPr>
        </p:nvGraphicFramePr>
        <p:xfrm>
          <a:off x="3572042" y="2660761"/>
          <a:ext cx="5924885" cy="3153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5630">
                  <a:extLst>
                    <a:ext uri="{9D8B030D-6E8A-4147-A177-3AD203B41FA5}">
                      <a16:colId xmlns:a16="http://schemas.microsoft.com/office/drawing/2014/main" val="3400900021"/>
                    </a:ext>
                  </a:extLst>
                </a:gridCol>
                <a:gridCol w="2181276">
                  <a:extLst>
                    <a:ext uri="{9D8B030D-6E8A-4147-A177-3AD203B41FA5}">
                      <a16:colId xmlns:a16="http://schemas.microsoft.com/office/drawing/2014/main" val="3298088959"/>
                    </a:ext>
                  </a:extLst>
                </a:gridCol>
                <a:gridCol w="2277979">
                  <a:extLst>
                    <a:ext uri="{9D8B030D-6E8A-4147-A177-3AD203B41FA5}">
                      <a16:colId xmlns:a16="http://schemas.microsoft.com/office/drawing/2014/main" val="19052153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Number of decimal places in question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Answer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4392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12.7 x 3.4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367789"/>
                  </a:ext>
                </a:extLst>
              </a:tr>
              <a:tr h="38536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1.27 x 3.4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9417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0.127 x 34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9296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127 x 0.34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6337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0.127 x 0.34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9086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0.0127 x 3.4</a:t>
                      </a: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88921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68375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7095" y="224589"/>
            <a:ext cx="6224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Independent practice: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0" y="2688842"/>
            <a:ext cx="6930189" cy="3559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Calculate each of the following:</a:t>
            </a:r>
          </a:p>
          <a:p>
            <a:endParaRPr lang="en-AU" sz="2400" dirty="0"/>
          </a:p>
          <a:p>
            <a:pPr marL="801688" indent="-801688">
              <a:spcAft>
                <a:spcPts val="800"/>
              </a:spcAft>
              <a:buAutoNum type="arabicPeriod"/>
            </a:pPr>
            <a:r>
              <a:rPr lang="en-AU" sz="2400" dirty="0"/>
              <a:t>4.7 x 2.6</a:t>
            </a:r>
          </a:p>
          <a:p>
            <a:pPr marL="801688" indent="-801688">
              <a:spcAft>
                <a:spcPts val="800"/>
              </a:spcAft>
              <a:buAutoNum type="arabicPeriod"/>
            </a:pPr>
            <a:r>
              <a:rPr lang="en-AU" sz="2400" dirty="0"/>
              <a:t>3.9 x 54</a:t>
            </a:r>
          </a:p>
          <a:p>
            <a:pPr marL="801688" indent="-801688">
              <a:spcAft>
                <a:spcPts val="800"/>
              </a:spcAft>
              <a:buAutoNum type="arabicPeriod"/>
            </a:pPr>
            <a:r>
              <a:rPr lang="en-AU" sz="2400" dirty="0"/>
              <a:t>2.34 x 6.7</a:t>
            </a:r>
          </a:p>
          <a:p>
            <a:pPr marL="801688" indent="-801688">
              <a:spcAft>
                <a:spcPts val="800"/>
              </a:spcAft>
              <a:buAutoNum type="arabicPeriod"/>
            </a:pPr>
            <a:r>
              <a:rPr lang="en-AU" sz="2400" dirty="0"/>
              <a:t>0.59 x 1.8</a:t>
            </a:r>
          </a:p>
          <a:p>
            <a:pPr marL="801688" indent="-801688">
              <a:spcAft>
                <a:spcPts val="800"/>
              </a:spcAft>
              <a:buAutoNum type="arabicPeriod"/>
            </a:pPr>
            <a:r>
              <a:rPr lang="en-AU" sz="2400" dirty="0"/>
              <a:t>0.621 x 27</a:t>
            </a:r>
          </a:p>
          <a:p>
            <a:endParaRPr lang="en-AU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3882190" y="363088"/>
            <a:ext cx="55184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eg: Calculate 4.56 x 2.8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2284" y="792658"/>
            <a:ext cx="4336029" cy="189618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1181060"/>
            <a:ext cx="3008656" cy="12894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882190" y="1480750"/>
                <a:ext cx="112294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8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m:oMathPara>
                </a14:m>
                <a:endParaRPr lang="en-AU" sz="4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2190" y="1480750"/>
                <a:ext cx="1122947" cy="8309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3097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</p:bld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1266</TotalTime>
  <Words>599</Words>
  <Application>Microsoft Office PowerPoint</Application>
  <PresentationFormat>Widescreen</PresentationFormat>
  <Paragraphs>181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Century Gothic</vt:lpstr>
      <vt:lpstr>Wingdings</vt:lpstr>
      <vt:lpstr>Wingdings 3</vt:lpstr>
      <vt:lpstr>Wisp</vt:lpstr>
      <vt:lpstr>Office Theme</vt:lpstr>
      <vt:lpstr>Lesson objective </vt:lpstr>
      <vt:lpstr>Daily review: on your whiteboards </vt:lpstr>
      <vt:lpstr>BIMDAS video </vt:lpstr>
      <vt:lpstr>Whiteboards </vt:lpstr>
      <vt:lpstr>Whiteboards: you do </vt:lpstr>
      <vt:lpstr>PowerPoint Presentation</vt:lpstr>
      <vt:lpstr>Standard algorithm </vt:lpstr>
      <vt:lpstr>PowerPoint Presentation</vt:lpstr>
      <vt:lpstr>PowerPoint Presentation</vt:lpstr>
      <vt:lpstr>PowerPoint Presentation</vt:lpstr>
      <vt:lpstr>Doubling method</vt:lpstr>
      <vt:lpstr>PowerPoint Presentation</vt:lpstr>
      <vt:lpstr>PowerPoint Presentation</vt:lpstr>
      <vt:lpstr>Lattice method: decimals 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Kevin Wall</dc:creator>
  <cp:lastModifiedBy>DAVIES Rhys [Busselton Senior High School]</cp:lastModifiedBy>
  <cp:revision>44</cp:revision>
  <cp:lastPrinted>2022-02-14T02:41:54Z</cp:lastPrinted>
  <dcterms:created xsi:type="dcterms:W3CDTF">2022-02-01T14:04:58Z</dcterms:created>
  <dcterms:modified xsi:type="dcterms:W3CDTF">2022-02-14T05:50:50Z</dcterms:modified>
</cp:coreProperties>
</file>